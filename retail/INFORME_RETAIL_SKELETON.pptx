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01_Repositorios\13_Presentaciones\dash\retail\ppt_slides\sk_00_m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76278" y="5931991"/>
            <a:ext cx="11143249" cy="295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Logro Semestral: La reestructuración estratégica de zonas y canales de Retail (empalme con Tradicional) concentró la operación en puntos de mayor valor. Como resultado, a pesar del menor número de visitas, las ventas efectivas por PDV subieron +137% (de 17,5 a 41,5 pólizas/PDV entre ene y jun), demostrando una alta eficiencia comercial y un canal más enfocado y productivo.</a:t>
            </a:r>
            <a:endParaRPr lang="en-US" sz="864" dirty="0"/>
          </a:p>
        </p:txBody>
      </p:sp>
      <p:sp>
        <p:nvSpPr>
          <p:cNvPr id="4" name="Text 1"/>
          <p:cNvSpPr/>
          <p:nvPr/>
        </p:nvSpPr>
        <p:spPr>
          <a:xfrm>
            <a:off x="723882" y="5132040"/>
            <a:ext cx="482536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96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* Planta = gestores comerciales con actividad transaccional registrados en el "Como vamos" (cierres mensuales).</a:t>
            </a:r>
            <a:endParaRPr lang="en-US" sz="696" dirty="0"/>
          </a:p>
        </p:txBody>
      </p:sp>
      <p:sp>
        <p:nvSpPr>
          <p:cNvPr id="5" name="Text 2"/>
          <p:cNvSpPr/>
          <p:nvPr/>
        </p:nvSpPr>
        <p:spPr>
          <a:xfrm>
            <a:off x="6314917" y="5132040"/>
            <a:ext cx="26284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96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La concentración de visitas potencia la efectividad del canal.</a:t>
            </a:r>
            <a:endParaRPr lang="en-US" sz="696" dirty="0"/>
          </a:p>
        </p:txBody>
      </p:sp>
      <p:sp>
        <p:nvSpPr>
          <p:cNvPr id="6" name="Text 3"/>
          <p:cNvSpPr/>
          <p:nvPr/>
        </p:nvSpPr>
        <p:spPr>
          <a:xfrm>
            <a:off x="781030" y="1421160"/>
            <a:ext cx="2074925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96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Total de formación acumulada (Ene - Jun 2026)</a:t>
            </a:r>
            <a:endParaRPr lang="en-US" sz="696" dirty="0"/>
          </a:p>
        </p:txBody>
      </p:sp>
      <p:sp>
        <p:nvSpPr>
          <p:cNvPr id="7" name="Text 4"/>
          <p:cNvSpPr/>
          <p:nvPr/>
        </p:nvSpPr>
        <p:spPr>
          <a:xfrm>
            <a:off x="571486" y="209550"/>
            <a:ext cx="3817317" cy="1962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6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Ejecución de Visitas de Formación · 1S 2026</a:t>
            </a:r>
            <a:endParaRPr lang="en-US" sz="1260" dirty="0"/>
          </a:p>
        </p:txBody>
      </p:sp>
      <p:sp>
        <p:nvSpPr>
          <p:cNvPr id="8" name="Text 5"/>
          <p:cNvSpPr/>
          <p:nvPr/>
        </p:nvSpPr>
        <p:spPr>
          <a:xfrm>
            <a:off x="6362541" y="1421160"/>
            <a:ext cx="1590621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96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 17.7 a 42.0 pólizas por PDV activo</a:t>
            </a:r>
            <a:endParaRPr lang="en-US" sz="696" dirty="0"/>
          </a:p>
        </p:txBody>
      </p:sp>
      <p:sp>
        <p:nvSpPr>
          <p:cNvPr id="9" name="Text 6"/>
          <p:cNvSpPr/>
          <p:nvPr/>
        </p:nvSpPr>
        <p:spPr>
          <a:xfrm>
            <a:off x="876278" y="2049810"/>
            <a:ext cx="2316920" cy="147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3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Planta activa vs. formaciones por mes</a:t>
            </a:r>
            <a:endParaRPr lang="en-US" sz="936" dirty="0"/>
          </a:p>
        </p:txBody>
      </p:sp>
      <p:sp>
        <p:nvSpPr>
          <p:cNvPr id="10" name="Text 7"/>
          <p:cNvSpPr/>
          <p:nvPr/>
        </p:nvSpPr>
        <p:spPr>
          <a:xfrm>
            <a:off x="6467313" y="2049810"/>
            <a:ext cx="1750583" cy="147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3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Evolución de visitas por mes</a:t>
            </a:r>
            <a:endParaRPr lang="en-US" sz="936" dirty="0"/>
          </a:p>
        </p:txBody>
      </p:sp>
      <p:sp>
        <p:nvSpPr>
          <p:cNvPr id="11" name="Text 8"/>
          <p:cNvSpPr/>
          <p:nvPr/>
        </p:nvSpPr>
        <p:spPr>
          <a:xfrm>
            <a:off x="6362541" y="1009650"/>
            <a:ext cx="161507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Eficiencia por PDV Activo</a:t>
            </a:r>
            <a:endParaRPr lang="en-US" sz="780" dirty="0"/>
          </a:p>
        </p:txBody>
      </p:sp>
      <p:sp>
        <p:nvSpPr>
          <p:cNvPr id="12" name="Text 9"/>
          <p:cNvSpPr/>
          <p:nvPr/>
        </p:nvSpPr>
        <p:spPr>
          <a:xfrm>
            <a:off x="781030" y="1009650"/>
            <a:ext cx="13372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Visitas Realizadas 1S</a:t>
            </a:r>
            <a:endParaRPr lang="en-US" sz="780" dirty="0"/>
          </a:p>
        </p:txBody>
      </p:sp>
      <p:sp>
        <p:nvSpPr>
          <p:cNvPr id="13" name="Text 10"/>
          <p:cNvSpPr/>
          <p:nvPr/>
        </p:nvSpPr>
        <p:spPr>
          <a:xfrm>
            <a:off x="1363517" y="2302245"/>
            <a:ext cx="1262489" cy="228600"/>
          </a:xfrm>
          <a:prstGeom prst="rect">
            <a:avLst/>
          </a:prstGeom>
          <a:noFill/>
          <a:ln/>
        </p:spPr>
        <p:txBody>
          <a:bodyPr wrap="square" lIns="47625" tIns="114300" rIns="114300" bIns="47625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Planta Gestores</a:t>
            </a:r>
            <a:endParaRPr lang="en-US" sz="888" dirty="0"/>
          </a:p>
        </p:txBody>
      </p:sp>
      <p:sp>
        <p:nvSpPr>
          <p:cNvPr id="14" name="Text 11"/>
          <p:cNvSpPr/>
          <p:nvPr/>
        </p:nvSpPr>
        <p:spPr>
          <a:xfrm>
            <a:off x="3606634" y="2302245"/>
            <a:ext cx="1123303" cy="228600"/>
          </a:xfrm>
          <a:prstGeom prst="rect">
            <a:avLst/>
          </a:prstGeom>
          <a:noFill/>
          <a:ln/>
        </p:spPr>
        <p:txBody>
          <a:bodyPr wrap="square" lIns="47625" tIns="114300" rIns="114300" bIns="47625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PDV Visitados</a:t>
            </a:r>
            <a:endParaRPr lang="en-US" sz="888" dirty="0"/>
          </a:p>
        </p:txBody>
      </p:sp>
      <p:sp>
        <p:nvSpPr>
          <p:cNvPr id="15" name="Text 12"/>
          <p:cNvSpPr/>
          <p:nvPr/>
        </p:nvSpPr>
        <p:spPr>
          <a:xfrm>
            <a:off x="4695532" y="2302245"/>
            <a:ext cx="1181246" cy="228600"/>
          </a:xfrm>
          <a:prstGeom prst="rect">
            <a:avLst/>
          </a:prstGeom>
          <a:noFill/>
          <a:ln/>
        </p:spPr>
        <p:txBody>
          <a:bodyPr wrap="square" lIns="47625" tIns="114300" rIns="114300" bIns="47625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% Capacitados</a:t>
            </a:r>
            <a:endParaRPr lang="en-US" sz="888" dirty="0"/>
          </a:p>
        </p:txBody>
      </p:sp>
      <p:sp>
        <p:nvSpPr>
          <p:cNvPr id="16" name="Text 13"/>
          <p:cNvSpPr/>
          <p:nvPr/>
        </p:nvSpPr>
        <p:spPr>
          <a:xfrm>
            <a:off x="2595606" y="2302245"/>
            <a:ext cx="1043746" cy="228600"/>
          </a:xfrm>
          <a:prstGeom prst="rect">
            <a:avLst/>
          </a:prstGeom>
          <a:noFill/>
          <a:ln/>
        </p:spPr>
        <p:txBody>
          <a:bodyPr wrap="square" lIns="47625" tIns="114300" rIns="114300" bIns="47625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Capacitados</a:t>
            </a:r>
            <a:endParaRPr lang="en-US" sz="888" dirty="0"/>
          </a:p>
        </p:txBody>
      </p:sp>
      <p:sp>
        <p:nvSpPr>
          <p:cNvPr id="17" name="Text 14"/>
          <p:cNvSpPr/>
          <p:nvPr/>
        </p:nvSpPr>
        <p:spPr>
          <a:xfrm>
            <a:off x="723882" y="4011983"/>
            <a:ext cx="696699" cy="214313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Total 1S</a:t>
            </a:r>
            <a:endParaRPr lang="en-US" sz="864" dirty="0"/>
          </a:p>
        </p:txBody>
      </p:sp>
      <p:sp>
        <p:nvSpPr>
          <p:cNvPr id="18" name="Text 15"/>
          <p:cNvSpPr/>
          <p:nvPr/>
        </p:nvSpPr>
        <p:spPr>
          <a:xfrm>
            <a:off x="6362541" y="1143000"/>
            <a:ext cx="752948" cy="264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40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+137 %</a:t>
            </a:r>
            <a:endParaRPr lang="en-US" sz="1740" dirty="0"/>
          </a:p>
        </p:txBody>
      </p:sp>
      <p:sp>
        <p:nvSpPr>
          <p:cNvPr id="19" name="Text 16"/>
          <p:cNvSpPr/>
          <p:nvPr/>
        </p:nvSpPr>
        <p:spPr>
          <a:xfrm>
            <a:off x="723882" y="2302245"/>
            <a:ext cx="696699" cy="228600"/>
          </a:xfrm>
          <a:prstGeom prst="rect">
            <a:avLst/>
          </a:prstGeom>
          <a:noFill/>
          <a:ln/>
        </p:spPr>
        <p:txBody>
          <a:bodyPr wrap="square" lIns="47625" tIns="114300" rIns="114300" bIns="47625" rtlCol="0" anchor="ctr"/>
          <a:lstStyle/>
          <a:p>
            <a:pPr algn="l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Mes</a:t>
            </a:r>
            <a:endParaRPr lang="en-US" sz="888" dirty="0"/>
          </a:p>
        </p:txBody>
      </p:sp>
      <p:sp>
        <p:nvSpPr>
          <p:cNvPr id="20" name="Text 17"/>
          <p:cNvSpPr/>
          <p:nvPr/>
        </p:nvSpPr>
        <p:spPr>
          <a:xfrm>
            <a:off x="723882" y="2530845"/>
            <a:ext cx="696699" cy="24288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Ene</a:t>
            </a:r>
            <a:endParaRPr lang="en-US" sz="864" dirty="0"/>
          </a:p>
        </p:txBody>
      </p:sp>
      <p:sp>
        <p:nvSpPr>
          <p:cNvPr id="21" name="Text 18"/>
          <p:cNvSpPr/>
          <p:nvPr/>
        </p:nvSpPr>
        <p:spPr>
          <a:xfrm>
            <a:off x="1363517" y="2530845"/>
            <a:ext cx="1262489" cy="24288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864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147</a:t>
            </a:r>
            <a:endParaRPr lang="en-US" sz="864" dirty="0"/>
          </a:p>
        </p:txBody>
      </p:sp>
      <p:sp>
        <p:nvSpPr>
          <p:cNvPr id="22" name="Text 19"/>
          <p:cNvSpPr/>
          <p:nvPr/>
        </p:nvSpPr>
        <p:spPr>
          <a:xfrm>
            <a:off x="4695532" y="2530845"/>
            <a:ext cx="1181246" cy="24288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48%</a:t>
            </a:r>
            <a:endParaRPr lang="en-US" sz="816" dirty="0"/>
          </a:p>
        </p:txBody>
      </p:sp>
      <p:sp>
        <p:nvSpPr>
          <p:cNvPr id="23" name="Text 20"/>
          <p:cNvSpPr/>
          <p:nvPr/>
        </p:nvSpPr>
        <p:spPr>
          <a:xfrm>
            <a:off x="723882" y="2773733"/>
            <a:ext cx="696699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Feb</a:t>
            </a:r>
            <a:endParaRPr lang="en-US" sz="864" dirty="0"/>
          </a:p>
        </p:txBody>
      </p:sp>
      <p:sp>
        <p:nvSpPr>
          <p:cNvPr id="24" name="Text 21"/>
          <p:cNvSpPr/>
          <p:nvPr/>
        </p:nvSpPr>
        <p:spPr>
          <a:xfrm>
            <a:off x="1363517" y="2773733"/>
            <a:ext cx="1262489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864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146</a:t>
            </a:r>
            <a:endParaRPr lang="en-US" sz="864" dirty="0"/>
          </a:p>
        </p:txBody>
      </p:sp>
      <p:sp>
        <p:nvSpPr>
          <p:cNvPr id="25" name="Text 22"/>
          <p:cNvSpPr/>
          <p:nvPr/>
        </p:nvSpPr>
        <p:spPr>
          <a:xfrm>
            <a:off x="4695532" y="2773733"/>
            <a:ext cx="1181246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8A62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45%</a:t>
            </a:r>
            <a:endParaRPr lang="en-US" sz="816" dirty="0"/>
          </a:p>
        </p:txBody>
      </p:sp>
      <p:sp>
        <p:nvSpPr>
          <p:cNvPr id="26" name="Text 23"/>
          <p:cNvSpPr/>
          <p:nvPr/>
        </p:nvSpPr>
        <p:spPr>
          <a:xfrm>
            <a:off x="723882" y="3021383"/>
            <a:ext cx="696699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Mar</a:t>
            </a:r>
            <a:endParaRPr lang="en-US" sz="864" dirty="0"/>
          </a:p>
        </p:txBody>
      </p:sp>
      <p:sp>
        <p:nvSpPr>
          <p:cNvPr id="27" name="Text 24"/>
          <p:cNvSpPr/>
          <p:nvPr/>
        </p:nvSpPr>
        <p:spPr>
          <a:xfrm>
            <a:off x="1363517" y="3021383"/>
            <a:ext cx="1262489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864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135</a:t>
            </a:r>
            <a:endParaRPr lang="en-US" sz="864" dirty="0"/>
          </a:p>
        </p:txBody>
      </p:sp>
      <p:sp>
        <p:nvSpPr>
          <p:cNvPr id="28" name="Text 25"/>
          <p:cNvSpPr/>
          <p:nvPr/>
        </p:nvSpPr>
        <p:spPr>
          <a:xfrm>
            <a:off x="4695532" y="3021383"/>
            <a:ext cx="1181246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53%</a:t>
            </a:r>
            <a:endParaRPr lang="en-US" sz="816" dirty="0"/>
          </a:p>
        </p:txBody>
      </p:sp>
      <p:sp>
        <p:nvSpPr>
          <p:cNvPr id="29" name="Text 26"/>
          <p:cNvSpPr/>
          <p:nvPr/>
        </p:nvSpPr>
        <p:spPr>
          <a:xfrm>
            <a:off x="723882" y="3269033"/>
            <a:ext cx="696699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Abr</a:t>
            </a:r>
            <a:endParaRPr lang="en-US" sz="864" dirty="0"/>
          </a:p>
        </p:txBody>
      </p:sp>
      <p:sp>
        <p:nvSpPr>
          <p:cNvPr id="30" name="Text 27"/>
          <p:cNvSpPr/>
          <p:nvPr/>
        </p:nvSpPr>
        <p:spPr>
          <a:xfrm>
            <a:off x="1363517" y="3269033"/>
            <a:ext cx="1262489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864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118</a:t>
            </a:r>
            <a:endParaRPr lang="en-US" sz="864" dirty="0"/>
          </a:p>
        </p:txBody>
      </p:sp>
      <p:sp>
        <p:nvSpPr>
          <p:cNvPr id="31" name="Text 28"/>
          <p:cNvSpPr/>
          <p:nvPr/>
        </p:nvSpPr>
        <p:spPr>
          <a:xfrm>
            <a:off x="4695532" y="3269033"/>
            <a:ext cx="1181246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52%</a:t>
            </a:r>
            <a:endParaRPr lang="en-US" sz="816" dirty="0"/>
          </a:p>
        </p:txBody>
      </p:sp>
      <p:sp>
        <p:nvSpPr>
          <p:cNvPr id="32" name="Text 29"/>
          <p:cNvSpPr/>
          <p:nvPr/>
        </p:nvSpPr>
        <p:spPr>
          <a:xfrm>
            <a:off x="723882" y="3516683"/>
            <a:ext cx="696699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May</a:t>
            </a:r>
            <a:endParaRPr lang="en-US" sz="864" dirty="0"/>
          </a:p>
        </p:txBody>
      </p:sp>
      <p:sp>
        <p:nvSpPr>
          <p:cNvPr id="33" name="Text 30"/>
          <p:cNvSpPr/>
          <p:nvPr/>
        </p:nvSpPr>
        <p:spPr>
          <a:xfrm>
            <a:off x="4695532" y="3516683"/>
            <a:ext cx="1181246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8A62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35%</a:t>
            </a:r>
            <a:endParaRPr lang="en-US" sz="816" dirty="0"/>
          </a:p>
        </p:txBody>
      </p:sp>
      <p:sp>
        <p:nvSpPr>
          <p:cNvPr id="34" name="Text 31"/>
          <p:cNvSpPr/>
          <p:nvPr/>
        </p:nvSpPr>
        <p:spPr>
          <a:xfrm>
            <a:off x="723882" y="3764333"/>
            <a:ext cx="696699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Jun</a:t>
            </a:r>
            <a:endParaRPr lang="en-US" sz="864" dirty="0"/>
          </a:p>
        </p:txBody>
      </p:sp>
      <p:sp>
        <p:nvSpPr>
          <p:cNvPr id="35" name="Text 32"/>
          <p:cNvSpPr/>
          <p:nvPr/>
        </p:nvSpPr>
        <p:spPr>
          <a:xfrm>
            <a:off x="4695532" y="3764333"/>
            <a:ext cx="1181246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C44A1A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26%</a:t>
            </a:r>
            <a:endParaRPr lang="en-US" sz="816" dirty="0"/>
          </a:p>
        </p:txBody>
      </p:sp>
      <p:sp>
        <p:nvSpPr>
          <p:cNvPr id="36" name="Text 33"/>
          <p:cNvSpPr/>
          <p:nvPr/>
        </p:nvSpPr>
        <p:spPr>
          <a:xfrm>
            <a:off x="2595606" y="4011983"/>
            <a:ext cx="1043746" cy="214313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86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326</a:t>
            </a:r>
            <a:endParaRPr lang="en-US" sz="864" dirty="0"/>
          </a:p>
        </p:txBody>
      </p:sp>
      <p:sp>
        <p:nvSpPr>
          <p:cNvPr id="37" name="Text 34"/>
          <p:cNvSpPr/>
          <p:nvPr/>
        </p:nvSpPr>
        <p:spPr>
          <a:xfrm>
            <a:off x="3606634" y="4011983"/>
            <a:ext cx="1123303" cy="214313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86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222</a:t>
            </a:r>
            <a:endParaRPr lang="en-US" sz="864" dirty="0"/>
          </a:p>
        </p:txBody>
      </p:sp>
      <p:sp>
        <p:nvSpPr>
          <p:cNvPr id="38" name="Text 35"/>
          <p:cNvSpPr/>
          <p:nvPr/>
        </p:nvSpPr>
        <p:spPr>
          <a:xfrm>
            <a:off x="781030" y="1143000"/>
            <a:ext cx="419772" cy="264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4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373</a:t>
            </a:r>
            <a:endParaRPr lang="en-US" sz="1740" dirty="0"/>
          </a:p>
        </p:txBody>
      </p:sp>
      <p:sp>
        <p:nvSpPr>
          <p:cNvPr id="39" name="Text 36"/>
          <p:cNvSpPr/>
          <p:nvPr/>
        </p:nvSpPr>
        <p:spPr>
          <a:xfrm>
            <a:off x="6440849" y="2354610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8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Ene</a:t>
            </a:r>
            <a:endParaRPr lang="en-US" sz="780" dirty="0"/>
          </a:p>
        </p:txBody>
      </p:sp>
      <p:sp>
        <p:nvSpPr>
          <p:cNvPr id="40" name="Text 37"/>
          <p:cNvSpPr/>
          <p:nvPr/>
        </p:nvSpPr>
        <p:spPr>
          <a:xfrm>
            <a:off x="6443373" y="2583210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8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Feb</a:t>
            </a:r>
            <a:endParaRPr lang="en-US" sz="780" dirty="0"/>
          </a:p>
        </p:txBody>
      </p:sp>
      <p:sp>
        <p:nvSpPr>
          <p:cNvPr id="41" name="Text 38"/>
          <p:cNvSpPr/>
          <p:nvPr/>
        </p:nvSpPr>
        <p:spPr>
          <a:xfrm>
            <a:off x="6438798" y="2811810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8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Mar</a:t>
            </a:r>
            <a:endParaRPr lang="en-US" sz="780" dirty="0"/>
          </a:p>
        </p:txBody>
      </p:sp>
      <p:sp>
        <p:nvSpPr>
          <p:cNvPr id="42" name="Text 39"/>
          <p:cNvSpPr/>
          <p:nvPr/>
        </p:nvSpPr>
        <p:spPr>
          <a:xfrm>
            <a:off x="6452207" y="3040410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8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Abr</a:t>
            </a:r>
            <a:endParaRPr lang="en-US" sz="780" dirty="0"/>
          </a:p>
        </p:txBody>
      </p:sp>
      <p:sp>
        <p:nvSpPr>
          <p:cNvPr id="43" name="Text 40"/>
          <p:cNvSpPr/>
          <p:nvPr/>
        </p:nvSpPr>
        <p:spPr>
          <a:xfrm>
            <a:off x="6423811" y="3269010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8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May</a:t>
            </a:r>
            <a:endParaRPr lang="en-US" sz="780" dirty="0"/>
          </a:p>
        </p:txBody>
      </p:sp>
      <p:sp>
        <p:nvSpPr>
          <p:cNvPr id="44" name="Text 41"/>
          <p:cNvSpPr/>
          <p:nvPr/>
        </p:nvSpPr>
        <p:spPr>
          <a:xfrm>
            <a:off x="6450787" y="3497610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8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Jun</a:t>
            </a:r>
            <a:endParaRPr lang="en-US" sz="780" dirty="0"/>
          </a:p>
        </p:txBody>
      </p:sp>
      <p:sp>
        <p:nvSpPr>
          <p:cNvPr id="45" name="Text 42"/>
          <p:cNvSpPr/>
          <p:nvPr/>
        </p:nvSpPr>
        <p:spPr>
          <a:xfrm>
            <a:off x="2595606" y="2530845"/>
            <a:ext cx="1043746" cy="24288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864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71</a:t>
            </a:r>
            <a:endParaRPr lang="en-US" sz="864" dirty="0"/>
          </a:p>
        </p:txBody>
      </p:sp>
      <p:sp>
        <p:nvSpPr>
          <p:cNvPr id="46" name="Text 43"/>
          <p:cNvSpPr/>
          <p:nvPr/>
        </p:nvSpPr>
        <p:spPr>
          <a:xfrm>
            <a:off x="3606634" y="2530845"/>
            <a:ext cx="1123303" cy="24288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864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56</a:t>
            </a:r>
            <a:endParaRPr lang="en-US" sz="864" dirty="0"/>
          </a:p>
        </p:txBody>
      </p:sp>
      <p:sp>
        <p:nvSpPr>
          <p:cNvPr id="47" name="Text 44"/>
          <p:cNvSpPr/>
          <p:nvPr/>
        </p:nvSpPr>
        <p:spPr>
          <a:xfrm>
            <a:off x="2595606" y="2773733"/>
            <a:ext cx="1043746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864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65</a:t>
            </a:r>
            <a:endParaRPr lang="en-US" sz="864" dirty="0"/>
          </a:p>
        </p:txBody>
      </p:sp>
      <p:sp>
        <p:nvSpPr>
          <p:cNvPr id="48" name="Text 45"/>
          <p:cNvSpPr/>
          <p:nvPr/>
        </p:nvSpPr>
        <p:spPr>
          <a:xfrm>
            <a:off x="3606634" y="2773733"/>
            <a:ext cx="1123303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864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52</a:t>
            </a:r>
            <a:endParaRPr lang="en-US" sz="864" dirty="0"/>
          </a:p>
        </p:txBody>
      </p:sp>
      <p:sp>
        <p:nvSpPr>
          <p:cNvPr id="49" name="Text 46"/>
          <p:cNvSpPr/>
          <p:nvPr/>
        </p:nvSpPr>
        <p:spPr>
          <a:xfrm>
            <a:off x="2595606" y="3021383"/>
            <a:ext cx="1043746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864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71</a:t>
            </a:r>
            <a:endParaRPr lang="en-US" sz="864" dirty="0"/>
          </a:p>
        </p:txBody>
      </p:sp>
      <p:sp>
        <p:nvSpPr>
          <p:cNvPr id="50" name="Text 47"/>
          <p:cNvSpPr/>
          <p:nvPr/>
        </p:nvSpPr>
        <p:spPr>
          <a:xfrm>
            <a:off x="3606634" y="3021383"/>
            <a:ext cx="1123303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864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45</a:t>
            </a:r>
            <a:endParaRPr lang="en-US" sz="864" dirty="0"/>
          </a:p>
        </p:txBody>
      </p:sp>
      <p:sp>
        <p:nvSpPr>
          <p:cNvPr id="51" name="Text 48"/>
          <p:cNvSpPr/>
          <p:nvPr/>
        </p:nvSpPr>
        <p:spPr>
          <a:xfrm>
            <a:off x="2595606" y="3269033"/>
            <a:ext cx="1043746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864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61</a:t>
            </a:r>
            <a:endParaRPr lang="en-US" sz="864" dirty="0"/>
          </a:p>
        </p:txBody>
      </p:sp>
      <p:sp>
        <p:nvSpPr>
          <p:cNvPr id="52" name="Text 49"/>
          <p:cNvSpPr/>
          <p:nvPr/>
        </p:nvSpPr>
        <p:spPr>
          <a:xfrm>
            <a:off x="3606634" y="3269033"/>
            <a:ext cx="1123303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864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36</a:t>
            </a:r>
            <a:endParaRPr lang="en-US" sz="864" dirty="0"/>
          </a:p>
        </p:txBody>
      </p:sp>
      <p:sp>
        <p:nvSpPr>
          <p:cNvPr id="53" name="Text 50"/>
          <p:cNvSpPr/>
          <p:nvPr/>
        </p:nvSpPr>
        <p:spPr>
          <a:xfrm>
            <a:off x="1363517" y="3516683"/>
            <a:ext cx="1262489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864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93</a:t>
            </a:r>
            <a:endParaRPr lang="en-US" sz="864" dirty="0"/>
          </a:p>
        </p:txBody>
      </p:sp>
      <p:sp>
        <p:nvSpPr>
          <p:cNvPr id="54" name="Text 51"/>
          <p:cNvSpPr/>
          <p:nvPr/>
        </p:nvSpPr>
        <p:spPr>
          <a:xfrm>
            <a:off x="2595606" y="3516683"/>
            <a:ext cx="1043746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864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33</a:t>
            </a:r>
            <a:endParaRPr lang="en-US" sz="864" dirty="0"/>
          </a:p>
        </p:txBody>
      </p:sp>
      <p:sp>
        <p:nvSpPr>
          <p:cNvPr id="55" name="Text 52"/>
          <p:cNvSpPr/>
          <p:nvPr/>
        </p:nvSpPr>
        <p:spPr>
          <a:xfrm>
            <a:off x="3606634" y="3516683"/>
            <a:ext cx="1123303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864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19</a:t>
            </a:r>
            <a:endParaRPr lang="en-US" sz="864" dirty="0"/>
          </a:p>
        </p:txBody>
      </p:sp>
      <p:sp>
        <p:nvSpPr>
          <p:cNvPr id="56" name="Text 53"/>
          <p:cNvSpPr/>
          <p:nvPr/>
        </p:nvSpPr>
        <p:spPr>
          <a:xfrm>
            <a:off x="1363517" y="3764333"/>
            <a:ext cx="1262489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864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96</a:t>
            </a:r>
            <a:endParaRPr lang="en-US" sz="864" dirty="0"/>
          </a:p>
        </p:txBody>
      </p:sp>
      <p:sp>
        <p:nvSpPr>
          <p:cNvPr id="57" name="Text 54"/>
          <p:cNvSpPr/>
          <p:nvPr/>
        </p:nvSpPr>
        <p:spPr>
          <a:xfrm>
            <a:off x="2595606" y="3764333"/>
            <a:ext cx="1043746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864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25</a:t>
            </a:r>
            <a:endParaRPr lang="en-US" sz="864" dirty="0"/>
          </a:p>
        </p:txBody>
      </p:sp>
      <p:sp>
        <p:nvSpPr>
          <p:cNvPr id="58" name="Text 55"/>
          <p:cNvSpPr/>
          <p:nvPr/>
        </p:nvSpPr>
        <p:spPr>
          <a:xfrm>
            <a:off x="3606634" y="3764333"/>
            <a:ext cx="1123303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864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</a:t>
            </a:r>
            <a:endParaRPr lang="en-US" sz="864" dirty="0"/>
          </a:p>
        </p:txBody>
      </p:sp>
      <p:sp>
        <p:nvSpPr>
          <p:cNvPr id="59" name="Text 56"/>
          <p:cNvSpPr/>
          <p:nvPr/>
        </p:nvSpPr>
        <p:spPr>
          <a:xfrm>
            <a:off x="11331368" y="2354610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8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81</a:t>
            </a:r>
            <a:endParaRPr lang="en-US" sz="780" dirty="0"/>
          </a:p>
        </p:txBody>
      </p:sp>
      <p:sp>
        <p:nvSpPr>
          <p:cNvPr id="60" name="Text 57"/>
          <p:cNvSpPr/>
          <p:nvPr/>
        </p:nvSpPr>
        <p:spPr>
          <a:xfrm>
            <a:off x="11331841" y="2583210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8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74</a:t>
            </a:r>
            <a:endParaRPr lang="en-US" sz="780" dirty="0"/>
          </a:p>
        </p:txBody>
      </p:sp>
      <p:sp>
        <p:nvSpPr>
          <p:cNvPr id="61" name="Text 58"/>
          <p:cNvSpPr/>
          <p:nvPr/>
        </p:nvSpPr>
        <p:spPr>
          <a:xfrm>
            <a:off x="11331841" y="2811810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8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75</a:t>
            </a:r>
            <a:endParaRPr lang="en-US" sz="780" dirty="0"/>
          </a:p>
        </p:txBody>
      </p:sp>
      <p:sp>
        <p:nvSpPr>
          <p:cNvPr id="62" name="Text 59"/>
          <p:cNvSpPr/>
          <p:nvPr/>
        </p:nvSpPr>
        <p:spPr>
          <a:xfrm>
            <a:off x="11325057" y="3040410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8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76</a:t>
            </a:r>
            <a:endParaRPr lang="en-US" sz="780" dirty="0"/>
          </a:p>
        </p:txBody>
      </p:sp>
      <p:sp>
        <p:nvSpPr>
          <p:cNvPr id="63" name="Text 60"/>
          <p:cNvSpPr/>
          <p:nvPr/>
        </p:nvSpPr>
        <p:spPr>
          <a:xfrm>
            <a:off x="11329159" y="3269010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8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37</a:t>
            </a:r>
            <a:endParaRPr lang="en-US" sz="780" dirty="0"/>
          </a:p>
        </p:txBody>
      </p:sp>
      <p:sp>
        <p:nvSpPr>
          <p:cNvPr id="64" name="Text 61"/>
          <p:cNvSpPr/>
          <p:nvPr/>
        </p:nvSpPr>
        <p:spPr>
          <a:xfrm>
            <a:off x="11325215" y="3497610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8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30</a:t>
            </a:r>
            <a:endParaRPr lang="en-US" sz="78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01_Repositorios\13_Presentaciones\dash\retail\ppt_slides\sk_01_m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95868" y="3766542"/>
            <a:ext cx="5463636" cy="4316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* Universo = PDV físicos distintos observados en los 26 cortes semanales "Como vamos" del semestre. Coberturas &gt;100 % indican PDV que Formación visitó con nombre distinto al registrado en Como vamos ese corte, o puntos sin gestión comercial activa ese mes. </a:t>
            </a:r>
            <a:pPr algn="l" indent="0" marL="0">
              <a:buNone/>
            </a:pPr>
            <a:r>
              <a:rPr lang="en-US" sz="720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Gestores del canal:</a:t>
            </a:r>
            <a:pPr algn="l" indent="0" marL="0">
              <a:buNone/>
            </a:pPr>
            <a:r>
              <a:rPr lang="en-US" sz="720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147 (ene) → 96 (jun), promedio 123; los cortes "Como vamos" no desagregan gestores por aliado.</a:t>
            </a:r>
            <a:endParaRPr lang="en-US" sz="720" dirty="0"/>
          </a:p>
        </p:txBody>
      </p:sp>
      <p:sp>
        <p:nvSpPr>
          <p:cNvPr id="4" name="Text 1"/>
          <p:cNvSpPr/>
          <p:nvPr/>
        </p:nvSpPr>
        <p:spPr>
          <a:xfrm>
            <a:off x="5470636" y="4744641"/>
            <a:ext cx="6244360" cy="2443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Sobre "Serdán" (90 visitas):</a:t>
            </a:r>
            <a:pPr algn="l" indent="0" marL="0">
              <a:buNone/>
            </a:pPr>
            <a:r>
              <a:rPr lang="en-US" sz="72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empresa que provee promotores a ambos canales, no un aliado. De las 90: 33 puras Retail+Tradicional, 33 sedes/roles internos (no PDV) y 14 con cédula activa en ambos canales </a:t>
            </a:r>
            <a:pPr algn="l" indent="0" marL="0">
              <a:buNone/>
            </a:pPr>
            <a:r>
              <a:rPr lang="en-US" sz="72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(contadas en los dos)</a:t>
            </a:r>
            <a:pPr algn="l" indent="0" marL="0">
              <a:buNone/>
            </a:pPr>
            <a:r>
              <a:rPr lang="en-US" sz="72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. Total atribuido: </a:t>
            </a:r>
            <a:pPr algn="l" indent="0" marL="0">
              <a:buNone/>
            </a:pPr>
            <a:r>
              <a:rPr lang="en-US" sz="72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24 a Retail</a:t>
            </a:r>
            <a:pPr algn="l" indent="0" marL="0">
              <a:buNone/>
            </a:pPr>
            <a:r>
              <a:rPr lang="en-US" sz="72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y </a:t>
            </a:r>
            <a:pPr algn="l" indent="0" marL="0">
              <a:buNone/>
            </a:pPr>
            <a:r>
              <a:rPr lang="en-US" sz="72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47 a Tradicional</a:t>
            </a:r>
            <a:pPr algn="l" indent="0" marL="0">
              <a:buNone/>
            </a:pPr>
            <a:r>
              <a:rPr lang="en-US" sz="72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.</a:t>
            </a:r>
            <a:endParaRPr lang="en-US" sz="720" dirty="0"/>
          </a:p>
        </p:txBody>
      </p:sp>
      <p:sp>
        <p:nvSpPr>
          <p:cNvPr id="5" name="Text 2"/>
          <p:cNvSpPr/>
          <p:nvPr/>
        </p:nvSpPr>
        <p:spPr>
          <a:xfrm>
            <a:off x="704832" y="1805880"/>
            <a:ext cx="515901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96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PDV visitados por Formación vs. PDV con gestión comercial activa en Cuota Protegida cada mes (cortes "Como vamos").</a:t>
            </a:r>
            <a:endParaRPr lang="en-US" sz="696" dirty="0"/>
          </a:p>
        </p:txBody>
      </p:sp>
      <p:sp>
        <p:nvSpPr>
          <p:cNvPr id="6" name="Text 3"/>
          <p:cNvSpPr/>
          <p:nvPr/>
        </p:nvSpPr>
        <p:spPr>
          <a:xfrm>
            <a:off x="5470636" y="5765602"/>
            <a:ext cx="450354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96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Solo el 41 % fue a un PDV físico; el resto es actividad real de formación que no suma a cobertura de PDV.</a:t>
            </a:r>
            <a:endParaRPr lang="en-US" sz="696" dirty="0"/>
          </a:p>
        </p:txBody>
      </p:sp>
      <p:sp>
        <p:nvSpPr>
          <p:cNvPr id="7" name="Text 4"/>
          <p:cNvSpPr/>
          <p:nvPr/>
        </p:nvSpPr>
        <p:spPr>
          <a:xfrm>
            <a:off x="704832" y="4623792"/>
            <a:ext cx="3486349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2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Zonas y municipios con al menos una visita de formación registrada en el semestre.</a:t>
            </a:r>
            <a:endParaRPr lang="en-US" sz="672" dirty="0"/>
          </a:p>
        </p:txBody>
      </p:sp>
      <p:sp>
        <p:nvSpPr>
          <p:cNvPr id="8" name="Text 5"/>
          <p:cNvSpPr/>
          <p:nvPr/>
        </p:nvSpPr>
        <p:spPr>
          <a:xfrm>
            <a:off x="571486" y="209550"/>
            <a:ext cx="4616971" cy="1962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6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Cobertura de Puntos de Venta y Municipios Visitados</a:t>
            </a:r>
            <a:endParaRPr lang="en-US" sz="1260" dirty="0"/>
          </a:p>
        </p:txBody>
      </p:sp>
      <p:sp>
        <p:nvSpPr>
          <p:cNvPr id="9" name="Text 6"/>
          <p:cNvSpPr/>
          <p:nvPr/>
        </p:nvSpPr>
        <p:spPr>
          <a:xfrm>
            <a:off x="6448264" y="1567755"/>
            <a:ext cx="3171788" cy="156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Universo de PDV y cobertura real por aliado (1S)</a:t>
            </a:r>
            <a:endParaRPr lang="en-US" sz="1020" dirty="0"/>
          </a:p>
        </p:txBody>
      </p:sp>
      <p:sp>
        <p:nvSpPr>
          <p:cNvPr id="10" name="Text 7"/>
          <p:cNvSpPr/>
          <p:nvPr/>
        </p:nvSpPr>
        <p:spPr>
          <a:xfrm>
            <a:off x="857229" y="1596330"/>
            <a:ext cx="265940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1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Cobertura de formación en Puntos de Venta (PDV)</a:t>
            </a:r>
            <a:endParaRPr lang="en-US" sz="816" dirty="0"/>
          </a:p>
        </p:txBody>
      </p:sp>
      <p:sp>
        <p:nvSpPr>
          <p:cNvPr id="11" name="Text 8"/>
          <p:cNvSpPr/>
          <p:nvPr/>
        </p:nvSpPr>
        <p:spPr>
          <a:xfrm>
            <a:off x="5594458" y="4433292"/>
            <a:ext cx="242955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TIPO DE PUNTO VISITADO EN LAS 90 "SERDÁN"</a:t>
            </a:r>
            <a:endParaRPr lang="en-US" sz="720" dirty="0"/>
          </a:p>
        </p:txBody>
      </p:sp>
      <p:sp>
        <p:nvSpPr>
          <p:cNvPr id="12" name="Text 9"/>
          <p:cNvSpPr/>
          <p:nvPr/>
        </p:nvSpPr>
        <p:spPr>
          <a:xfrm>
            <a:off x="6295868" y="2029741"/>
            <a:ext cx="1675757" cy="347663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l" indent="0" marL="0">
              <a:buNone/>
            </a:pPr>
            <a:r>
              <a:rPr lang="en-US" sz="88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Colombiana de Comercio</a:t>
            </a:r>
            <a:pPr algn="l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(Alkosto/Ktronix)</a:t>
            </a:r>
            <a:endParaRPr lang="en-US" sz="888" dirty="0"/>
          </a:p>
        </p:txBody>
      </p:sp>
      <p:sp>
        <p:nvSpPr>
          <p:cNvPr id="13" name="Text 10"/>
          <p:cNvSpPr/>
          <p:nvPr/>
        </p:nvSpPr>
        <p:spPr>
          <a:xfrm>
            <a:off x="6295868" y="3095797"/>
            <a:ext cx="1675757" cy="36596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l" indent="0" marL="0">
              <a:buNone/>
            </a:pPr>
            <a:r>
              <a:rPr lang="en-US" sz="88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Olímpica </a:t>
            </a:r>
            <a:pPr algn="l" indent="0" marL="0">
              <a:buNone/>
            </a:pPr>
            <a:r>
              <a:rPr lang="en-US" sz="696" b="1" dirty="0">
                <a:solidFill>
                  <a:srgbClr val="C44A1A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solo ene · aliado retirado</a:t>
            </a:r>
            <a:endParaRPr lang="en-US" sz="888" dirty="0"/>
          </a:p>
        </p:txBody>
      </p:sp>
      <p:sp>
        <p:nvSpPr>
          <p:cNvPr id="14" name="Text 11"/>
          <p:cNvSpPr/>
          <p:nvPr/>
        </p:nvSpPr>
        <p:spPr>
          <a:xfrm>
            <a:off x="9067573" y="1272480"/>
            <a:ext cx="130950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 al menos una visita registrada</a:t>
            </a:r>
            <a:endParaRPr lang="en-US" sz="600" dirty="0"/>
          </a:p>
        </p:txBody>
      </p:sp>
      <p:sp>
        <p:nvSpPr>
          <p:cNvPr id="15" name="Text 12"/>
          <p:cNvSpPr/>
          <p:nvPr/>
        </p:nvSpPr>
        <p:spPr>
          <a:xfrm>
            <a:off x="6295868" y="2377403"/>
            <a:ext cx="1675757" cy="36596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l" indent="0" marL="0">
              <a:buNone/>
            </a:pPr>
            <a:r>
              <a:rPr lang="en-US" sz="88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Almacenes Éxito </a:t>
            </a:r>
            <a:pPr algn="l" indent="0" marL="0">
              <a:buNone/>
            </a:pPr>
            <a:r>
              <a:rPr lang="en-US" sz="696" b="1" dirty="0">
                <a:solidFill>
                  <a:srgbClr val="C44A1A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aliado retirado</a:t>
            </a:r>
            <a:endParaRPr lang="en-US" sz="888" dirty="0"/>
          </a:p>
        </p:txBody>
      </p:sp>
      <p:sp>
        <p:nvSpPr>
          <p:cNvPr id="16" name="Text 13"/>
          <p:cNvSpPr/>
          <p:nvPr/>
        </p:nvSpPr>
        <p:spPr>
          <a:xfrm>
            <a:off x="3505112" y="1272480"/>
            <a:ext cx="11422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 de 52 PDV activos visitados</a:t>
            </a:r>
            <a:endParaRPr lang="en-US" sz="600" dirty="0"/>
          </a:p>
        </p:txBody>
      </p:sp>
      <p:sp>
        <p:nvSpPr>
          <p:cNvPr id="17" name="Text 14"/>
          <p:cNvSpPr/>
          <p:nvPr/>
        </p:nvSpPr>
        <p:spPr>
          <a:xfrm>
            <a:off x="6286343" y="1272480"/>
            <a:ext cx="1199707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Capacitando asesores de venta</a:t>
            </a:r>
            <a:endParaRPr lang="en-US" sz="600" dirty="0"/>
          </a:p>
        </p:txBody>
      </p:sp>
      <p:sp>
        <p:nvSpPr>
          <p:cNvPr id="18" name="Text 15"/>
          <p:cNvSpPr/>
          <p:nvPr/>
        </p:nvSpPr>
        <p:spPr>
          <a:xfrm>
            <a:off x="6295868" y="2743372"/>
            <a:ext cx="1675757" cy="352425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l" indent="0" marL="0">
              <a:buNone/>
            </a:pPr>
            <a:r>
              <a:rPr lang="en-US" sz="88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Cencosud</a:t>
            </a:r>
            <a:pPr algn="l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(Jumbo/Metro/Easy)</a:t>
            </a:r>
            <a:endParaRPr lang="en-US" sz="888" dirty="0"/>
          </a:p>
        </p:txBody>
      </p:sp>
      <p:sp>
        <p:nvSpPr>
          <p:cNvPr id="19" name="Text 16"/>
          <p:cNvSpPr/>
          <p:nvPr/>
        </p:nvSpPr>
        <p:spPr>
          <a:xfrm>
            <a:off x="857229" y="4433292"/>
            <a:ext cx="1369134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Municipios Visitados (1S)</a:t>
            </a:r>
            <a:endParaRPr lang="en-US" sz="840" dirty="0"/>
          </a:p>
        </p:txBody>
      </p:sp>
      <p:sp>
        <p:nvSpPr>
          <p:cNvPr id="20" name="Text 17"/>
          <p:cNvSpPr/>
          <p:nvPr/>
        </p:nvSpPr>
        <p:spPr>
          <a:xfrm>
            <a:off x="723882" y="962025"/>
            <a:ext cx="1509851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96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PDV con gestión promedio</a:t>
            </a:r>
            <a:endParaRPr lang="en-US" sz="696" dirty="0"/>
          </a:p>
        </p:txBody>
      </p:sp>
      <p:sp>
        <p:nvSpPr>
          <p:cNvPr id="21" name="Text 18"/>
          <p:cNvSpPr/>
          <p:nvPr/>
        </p:nvSpPr>
        <p:spPr>
          <a:xfrm>
            <a:off x="723882" y="1272480"/>
            <a:ext cx="90770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Total PDV activos en CP</a:t>
            </a:r>
            <a:endParaRPr lang="en-US" sz="600" dirty="0"/>
          </a:p>
        </p:txBody>
      </p:sp>
      <p:sp>
        <p:nvSpPr>
          <p:cNvPr id="22" name="Text 19"/>
          <p:cNvSpPr/>
          <p:nvPr/>
        </p:nvSpPr>
        <p:spPr>
          <a:xfrm>
            <a:off x="6286343" y="962025"/>
            <a:ext cx="1344525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96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Visitas de formación 1S</a:t>
            </a:r>
            <a:endParaRPr lang="en-US" sz="696" dirty="0"/>
          </a:p>
        </p:txBody>
      </p:sp>
      <p:sp>
        <p:nvSpPr>
          <p:cNvPr id="23" name="Text 20"/>
          <p:cNvSpPr/>
          <p:nvPr/>
        </p:nvSpPr>
        <p:spPr>
          <a:xfrm>
            <a:off x="9067573" y="962025"/>
            <a:ext cx="1097955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96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Zonas / municipios</a:t>
            </a:r>
            <a:endParaRPr lang="en-US" sz="696" dirty="0"/>
          </a:p>
        </p:txBody>
      </p:sp>
      <p:sp>
        <p:nvSpPr>
          <p:cNvPr id="24" name="Text 21"/>
          <p:cNvSpPr/>
          <p:nvPr/>
        </p:nvSpPr>
        <p:spPr>
          <a:xfrm>
            <a:off x="704832" y="5146499"/>
            <a:ext cx="1645712" cy="180975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l" indent="0" marL="0">
              <a:buNone/>
            </a:pPr>
            <a:r>
              <a:rPr lang="en-US" sz="67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Bogotá Occidente</a:t>
            </a:r>
            <a:endParaRPr lang="en-US" sz="672" dirty="0"/>
          </a:p>
        </p:txBody>
      </p:sp>
      <p:sp>
        <p:nvSpPr>
          <p:cNvPr id="25" name="Text 22"/>
          <p:cNvSpPr/>
          <p:nvPr/>
        </p:nvSpPr>
        <p:spPr>
          <a:xfrm>
            <a:off x="2544372" y="1976163"/>
            <a:ext cx="1234131" cy="228600"/>
          </a:xfrm>
          <a:prstGeom prst="rect">
            <a:avLst/>
          </a:prstGeom>
          <a:noFill/>
          <a:ln/>
        </p:spPr>
        <p:txBody>
          <a:bodyPr wrap="square" lIns="47625" tIns="114300" rIns="114300" bIns="47625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PDV con Gestión</a:t>
            </a:r>
            <a:endParaRPr lang="en-US" sz="888" dirty="0"/>
          </a:p>
        </p:txBody>
      </p:sp>
      <p:sp>
        <p:nvSpPr>
          <p:cNvPr id="26" name="Text 23"/>
          <p:cNvSpPr/>
          <p:nvPr/>
        </p:nvSpPr>
        <p:spPr>
          <a:xfrm>
            <a:off x="3505112" y="962025"/>
            <a:ext cx="972541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96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Cobertura Junio</a:t>
            </a:r>
            <a:endParaRPr lang="en-US" sz="696" dirty="0"/>
          </a:p>
        </p:txBody>
      </p:sp>
      <p:sp>
        <p:nvSpPr>
          <p:cNvPr id="27" name="Text 24"/>
          <p:cNvSpPr/>
          <p:nvPr/>
        </p:nvSpPr>
        <p:spPr>
          <a:xfrm>
            <a:off x="3745683" y="1976163"/>
            <a:ext cx="1126828" cy="228600"/>
          </a:xfrm>
          <a:prstGeom prst="rect">
            <a:avLst/>
          </a:prstGeom>
          <a:noFill/>
          <a:ln/>
        </p:spPr>
        <p:txBody>
          <a:bodyPr wrap="square" lIns="47625" tIns="114300" rIns="114300" bIns="47625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PDV Visitados</a:t>
            </a:r>
            <a:endParaRPr lang="en-US" sz="888" dirty="0"/>
          </a:p>
        </p:txBody>
      </p:sp>
      <p:sp>
        <p:nvSpPr>
          <p:cNvPr id="28" name="Text 25"/>
          <p:cNvSpPr/>
          <p:nvPr/>
        </p:nvSpPr>
        <p:spPr>
          <a:xfrm>
            <a:off x="7890764" y="1801141"/>
            <a:ext cx="1100463" cy="228600"/>
          </a:xfrm>
          <a:prstGeom prst="rect">
            <a:avLst/>
          </a:prstGeom>
          <a:noFill/>
          <a:ln/>
        </p:spPr>
        <p:txBody>
          <a:bodyPr wrap="square" lIns="47625" tIns="114300" rIns="114300" bIns="47625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Universo PDV*</a:t>
            </a:r>
            <a:endParaRPr lang="en-US" sz="888" dirty="0"/>
          </a:p>
        </p:txBody>
      </p:sp>
      <p:sp>
        <p:nvSpPr>
          <p:cNvPr id="29" name="Text 26"/>
          <p:cNvSpPr/>
          <p:nvPr/>
        </p:nvSpPr>
        <p:spPr>
          <a:xfrm>
            <a:off x="8960429" y="1801141"/>
            <a:ext cx="1057388" cy="228600"/>
          </a:xfrm>
          <a:prstGeom prst="rect">
            <a:avLst/>
          </a:prstGeom>
          <a:noFill/>
          <a:ln/>
        </p:spPr>
        <p:txBody>
          <a:bodyPr wrap="square" lIns="47625" tIns="114300" rIns="114300" bIns="47625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PDV visitados</a:t>
            </a:r>
            <a:endParaRPr lang="en-US" sz="888" dirty="0"/>
          </a:p>
        </p:txBody>
      </p:sp>
      <p:sp>
        <p:nvSpPr>
          <p:cNvPr id="30" name="Text 27"/>
          <p:cNvSpPr/>
          <p:nvPr/>
        </p:nvSpPr>
        <p:spPr>
          <a:xfrm>
            <a:off x="704832" y="4789312"/>
            <a:ext cx="1645712" cy="176212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l" indent="0" marL="0">
              <a:buNone/>
            </a:pPr>
            <a:r>
              <a:rPr lang="en-US" sz="67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Bogotá Centro</a:t>
            </a:r>
            <a:endParaRPr lang="en-US" sz="672" dirty="0"/>
          </a:p>
        </p:txBody>
      </p:sp>
      <p:sp>
        <p:nvSpPr>
          <p:cNvPr id="31" name="Text 28"/>
          <p:cNvSpPr/>
          <p:nvPr/>
        </p:nvSpPr>
        <p:spPr>
          <a:xfrm>
            <a:off x="2968600" y="4789312"/>
            <a:ext cx="1645865" cy="176212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l" indent="0" marL="0">
              <a:buNone/>
            </a:pPr>
            <a:r>
              <a:rPr lang="en-US" sz="67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Bogotá Norte</a:t>
            </a:r>
            <a:endParaRPr lang="en-US" sz="672" dirty="0"/>
          </a:p>
        </p:txBody>
      </p:sp>
      <p:sp>
        <p:nvSpPr>
          <p:cNvPr id="32" name="Text 29"/>
          <p:cNvSpPr/>
          <p:nvPr/>
        </p:nvSpPr>
        <p:spPr>
          <a:xfrm>
            <a:off x="4841240" y="1976163"/>
            <a:ext cx="1073637" cy="228600"/>
          </a:xfrm>
          <a:prstGeom prst="rect">
            <a:avLst/>
          </a:prstGeom>
          <a:noFill/>
          <a:ln/>
        </p:spPr>
        <p:txBody>
          <a:bodyPr wrap="square" lIns="47625" tIns="114300" rIns="114300" bIns="47625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Cobertura %</a:t>
            </a:r>
            <a:endParaRPr lang="en-US" sz="888" dirty="0"/>
          </a:p>
        </p:txBody>
      </p:sp>
      <p:sp>
        <p:nvSpPr>
          <p:cNvPr id="33" name="Text 30"/>
          <p:cNvSpPr/>
          <p:nvPr/>
        </p:nvSpPr>
        <p:spPr>
          <a:xfrm>
            <a:off x="6295868" y="3461765"/>
            <a:ext cx="1675757" cy="24288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l" indent="0" marL="0">
              <a:buNone/>
            </a:pPr>
            <a:r>
              <a:rPr lang="en-US" sz="888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Total canal</a:t>
            </a:r>
            <a:endParaRPr lang="en-US" sz="888" dirty="0"/>
          </a:p>
        </p:txBody>
      </p:sp>
      <p:sp>
        <p:nvSpPr>
          <p:cNvPr id="34" name="Text 31"/>
          <p:cNvSpPr/>
          <p:nvPr/>
        </p:nvSpPr>
        <p:spPr>
          <a:xfrm>
            <a:off x="704832" y="5508449"/>
            <a:ext cx="1645712" cy="180975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l" indent="0" marL="0">
              <a:buNone/>
            </a:pPr>
            <a:r>
              <a:rPr lang="en-US" sz="67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Bucaramanga</a:t>
            </a:r>
            <a:endParaRPr lang="en-US" sz="672" dirty="0"/>
          </a:p>
        </p:txBody>
      </p:sp>
      <p:sp>
        <p:nvSpPr>
          <p:cNvPr id="35" name="Text 32"/>
          <p:cNvSpPr/>
          <p:nvPr/>
        </p:nvSpPr>
        <p:spPr>
          <a:xfrm>
            <a:off x="6969851" y="5416153"/>
            <a:ext cx="57484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96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Sede Serdán</a:t>
            </a:r>
            <a:endParaRPr lang="en-US" sz="696" dirty="0"/>
          </a:p>
        </p:txBody>
      </p:sp>
      <p:sp>
        <p:nvSpPr>
          <p:cNvPr id="36" name="Text 33"/>
          <p:cNvSpPr/>
          <p:nvPr/>
        </p:nvSpPr>
        <p:spPr>
          <a:xfrm>
            <a:off x="10645646" y="5416153"/>
            <a:ext cx="52294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96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Supervisión</a:t>
            </a:r>
            <a:endParaRPr lang="en-US" sz="696" dirty="0"/>
          </a:p>
        </p:txBody>
      </p:sp>
      <p:sp>
        <p:nvSpPr>
          <p:cNvPr id="37" name="Text 34"/>
          <p:cNvSpPr/>
          <p:nvPr/>
        </p:nvSpPr>
        <p:spPr>
          <a:xfrm>
            <a:off x="704832" y="4965524"/>
            <a:ext cx="1645712" cy="180975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l" indent="0" marL="0">
              <a:buNone/>
            </a:pPr>
            <a:r>
              <a:rPr lang="en-US" sz="67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Bogotá Sur</a:t>
            </a:r>
            <a:endParaRPr lang="en-US" sz="672" dirty="0"/>
          </a:p>
        </p:txBody>
      </p:sp>
      <p:sp>
        <p:nvSpPr>
          <p:cNvPr id="38" name="Text 35"/>
          <p:cNvSpPr/>
          <p:nvPr/>
        </p:nvSpPr>
        <p:spPr>
          <a:xfrm>
            <a:off x="2968600" y="5508449"/>
            <a:ext cx="1645865" cy="180975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l" indent="0" marL="0">
              <a:buNone/>
            </a:pPr>
            <a:r>
              <a:rPr lang="en-US" sz="67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Facatativá</a:t>
            </a:r>
            <a:endParaRPr lang="en-US" sz="672" dirty="0"/>
          </a:p>
        </p:txBody>
      </p:sp>
      <p:sp>
        <p:nvSpPr>
          <p:cNvPr id="39" name="Text 36"/>
          <p:cNvSpPr/>
          <p:nvPr/>
        </p:nvSpPr>
        <p:spPr>
          <a:xfrm>
            <a:off x="5816147" y="5416153"/>
            <a:ext cx="4492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96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PDV físico</a:t>
            </a:r>
            <a:endParaRPr lang="en-US" sz="696" dirty="0"/>
          </a:p>
        </p:txBody>
      </p:sp>
      <p:sp>
        <p:nvSpPr>
          <p:cNvPr id="40" name="Text 37"/>
          <p:cNvSpPr/>
          <p:nvPr/>
        </p:nvSpPr>
        <p:spPr>
          <a:xfrm>
            <a:off x="8260797" y="5416153"/>
            <a:ext cx="42608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96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Itinerante</a:t>
            </a:r>
            <a:endParaRPr lang="en-US" sz="696" dirty="0"/>
          </a:p>
        </p:txBody>
      </p:sp>
      <p:sp>
        <p:nvSpPr>
          <p:cNvPr id="41" name="Text 38"/>
          <p:cNvSpPr/>
          <p:nvPr/>
        </p:nvSpPr>
        <p:spPr>
          <a:xfrm>
            <a:off x="9992957" y="1801141"/>
            <a:ext cx="853514" cy="228600"/>
          </a:xfrm>
          <a:prstGeom prst="rect">
            <a:avLst/>
          </a:prstGeom>
          <a:noFill/>
          <a:ln/>
        </p:spPr>
        <p:txBody>
          <a:bodyPr wrap="square" lIns="47625" tIns="114300" rIns="114300" bIns="47625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Cobertura</a:t>
            </a:r>
            <a:endParaRPr lang="en-US" sz="888" dirty="0"/>
          </a:p>
        </p:txBody>
      </p:sp>
      <p:sp>
        <p:nvSpPr>
          <p:cNvPr id="42" name="Text 39"/>
          <p:cNvSpPr/>
          <p:nvPr/>
        </p:nvSpPr>
        <p:spPr>
          <a:xfrm>
            <a:off x="2968600" y="5689424"/>
            <a:ext cx="1645865" cy="176212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l" indent="0" marL="0">
              <a:buNone/>
            </a:pPr>
            <a:r>
              <a:rPr lang="en-US" sz="67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Zipaquirá</a:t>
            </a:r>
            <a:endParaRPr lang="en-US" sz="672" dirty="0"/>
          </a:p>
        </p:txBody>
      </p:sp>
      <p:sp>
        <p:nvSpPr>
          <p:cNvPr id="43" name="Text 40"/>
          <p:cNvSpPr/>
          <p:nvPr/>
        </p:nvSpPr>
        <p:spPr>
          <a:xfrm>
            <a:off x="9485487" y="5416153"/>
            <a:ext cx="40983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96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Ofic. SAC</a:t>
            </a:r>
            <a:endParaRPr lang="en-US" sz="696" dirty="0"/>
          </a:p>
        </p:txBody>
      </p:sp>
      <p:sp>
        <p:nvSpPr>
          <p:cNvPr id="44" name="Text 41"/>
          <p:cNvSpPr/>
          <p:nvPr/>
        </p:nvSpPr>
        <p:spPr>
          <a:xfrm>
            <a:off x="1507140" y="1976163"/>
            <a:ext cx="1073177" cy="228600"/>
          </a:xfrm>
          <a:prstGeom prst="rect">
            <a:avLst/>
          </a:prstGeom>
          <a:noFill/>
          <a:ln/>
        </p:spPr>
        <p:txBody>
          <a:bodyPr wrap="square" lIns="47625" tIns="114300" rIns="114300" bIns="47625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Gestores</a:t>
            </a:r>
            <a:endParaRPr lang="en-US" sz="888" dirty="0"/>
          </a:p>
        </p:txBody>
      </p:sp>
      <p:sp>
        <p:nvSpPr>
          <p:cNvPr id="45" name="Text 42"/>
          <p:cNvSpPr/>
          <p:nvPr/>
        </p:nvSpPr>
        <p:spPr>
          <a:xfrm>
            <a:off x="704832" y="3685900"/>
            <a:ext cx="858572" cy="24288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l" indent="0" marL="0">
              <a:buNone/>
            </a:pPr>
            <a:r>
              <a:rPr lang="en-US" sz="888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Prom. 1S</a:t>
            </a:r>
            <a:endParaRPr lang="en-US" sz="888" dirty="0"/>
          </a:p>
        </p:txBody>
      </p:sp>
      <p:sp>
        <p:nvSpPr>
          <p:cNvPr id="46" name="Text 43"/>
          <p:cNvSpPr/>
          <p:nvPr/>
        </p:nvSpPr>
        <p:spPr>
          <a:xfrm>
            <a:off x="2968600" y="4965524"/>
            <a:ext cx="1645865" cy="180975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l" indent="0" marL="0">
              <a:buNone/>
            </a:pPr>
            <a:r>
              <a:rPr lang="en-US" sz="67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Sogamoso</a:t>
            </a:r>
            <a:endParaRPr lang="en-US" sz="672" dirty="0"/>
          </a:p>
        </p:txBody>
      </p:sp>
      <p:sp>
        <p:nvSpPr>
          <p:cNvPr id="47" name="Text 44"/>
          <p:cNvSpPr/>
          <p:nvPr/>
        </p:nvSpPr>
        <p:spPr>
          <a:xfrm>
            <a:off x="2968600" y="5327474"/>
            <a:ext cx="1645865" cy="180975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l" indent="0" marL="0">
              <a:buNone/>
            </a:pPr>
            <a:r>
              <a:rPr lang="en-US" sz="67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Mosquera</a:t>
            </a:r>
            <a:endParaRPr lang="en-US" sz="672" dirty="0"/>
          </a:p>
        </p:txBody>
      </p:sp>
      <p:sp>
        <p:nvSpPr>
          <p:cNvPr id="48" name="Text 45"/>
          <p:cNvSpPr/>
          <p:nvPr/>
        </p:nvSpPr>
        <p:spPr>
          <a:xfrm>
            <a:off x="10827831" y="1801141"/>
            <a:ext cx="639982" cy="228600"/>
          </a:xfrm>
          <a:prstGeom prst="rect">
            <a:avLst/>
          </a:prstGeom>
          <a:noFill/>
          <a:ln/>
        </p:spPr>
        <p:txBody>
          <a:bodyPr wrap="square" lIns="47625" tIns="114300" rIns="114300" bIns="47625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Visitas</a:t>
            </a:r>
            <a:endParaRPr lang="en-US" sz="888" dirty="0"/>
          </a:p>
        </p:txBody>
      </p:sp>
      <p:sp>
        <p:nvSpPr>
          <p:cNvPr id="49" name="Text 46"/>
          <p:cNvSpPr/>
          <p:nvPr/>
        </p:nvSpPr>
        <p:spPr>
          <a:xfrm>
            <a:off x="9992957" y="3461765"/>
            <a:ext cx="853514" cy="24288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102,9 %</a:t>
            </a:r>
            <a:endParaRPr lang="en-US" sz="816" dirty="0"/>
          </a:p>
        </p:txBody>
      </p:sp>
      <p:sp>
        <p:nvSpPr>
          <p:cNvPr id="50" name="Text 47"/>
          <p:cNvSpPr/>
          <p:nvPr/>
        </p:nvSpPr>
        <p:spPr>
          <a:xfrm>
            <a:off x="6295868" y="1801141"/>
            <a:ext cx="1675757" cy="228600"/>
          </a:xfrm>
          <a:prstGeom prst="rect">
            <a:avLst/>
          </a:prstGeom>
          <a:noFill/>
          <a:ln/>
        </p:spPr>
        <p:txBody>
          <a:bodyPr wrap="square" lIns="47625" tIns="114300" rIns="114300" bIns="47625" rtlCol="0" anchor="ctr"/>
          <a:lstStyle/>
          <a:p>
            <a:pPr algn="l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Aliado</a:t>
            </a:r>
            <a:endParaRPr lang="en-US" sz="888" dirty="0"/>
          </a:p>
        </p:txBody>
      </p:sp>
      <p:sp>
        <p:nvSpPr>
          <p:cNvPr id="51" name="Text 48"/>
          <p:cNvSpPr/>
          <p:nvPr/>
        </p:nvSpPr>
        <p:spPr>
          <a:xfrm>
            <a:off x="9992957" y="2029741"/>
            <a:ext cx="853514" cy="347663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90,5 %</a:t>
            </a:r>
            <a:endParaRPr lang="en-US" sz="816" dirty="0"/>
          </a:p>
        </p:txBody>
      </p:sp>
      <p:sp>
        <p:nvSpPr>
          <p:cNvPr id="52" name="Text 49"/>
          <p:cNvSpPr/>
          <p:nvPr/>
        </p:nvSpPr>
        <p:spPr>
          <a:xfrm>
            <a:off x="704832" y="5689424"/>
            <a:ext cx="1645712" cy="176212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l" indent="0" marL="0">
              <a:buNone/>
            </a:pPr>
            <a:r>
              <a:rPr lang="en-US" sz="67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Soacha</a:t>
            </a:r>
            <a:endParaRPr lang="en-US" sz="672" dirty="0"/>
          </a:p>
        </p:txBody>
      </p:sp>
      <p:sp>
        <p:nvSpPr>
          <p:cNvPr id="53" name="Text 50"/>
          <p:cNvSpPr/>
          <p:nvPr/>
        </p:nvSpPr>
        <p:spPr>
          <a:xfrm>
            <a:off x="3505112" y="1085850"/>
            <a:ext cx="439806" cy="156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FF6B35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26,9 %</a:t>
            </a:r>
            <a:endParaRPr lang="en-US" sz="1020" dirty="0"/>
          </a:p>
        </p:txBody>
      </p:sp>
      <p:sp>
        <p:nvSpPr>
          <p:cNvPr id="54" name="Text 51"/>
          <p:cNvSpPr/>
          <p:nvPr/>
        </p:nvSpPr>
        <p:spPr>
          <a:xfrm>
            <a:off x="4841240" y="2204763"/>
            <a:ext cx="1073637" cy="24288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60,9%</a:t>
            </a:r>
            <a:endParaRPr lang="en-US" sz="816" dirty="0"/>
          </a:p>
        </p:txBody>
      </p:sp>
      <p:sp>
        <p:nvSpPr>
          <p:cNvPr id="55" name="Text 52"/>
          <p:cNvSpPr/>
          <p:nvPr/>
        </p:nvSpPr>
        <p:spPr>
          <a:xfrm>
            <a:off x="4841240" y="2447650"/>
            <a:ext cx="1073637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57,1%</a:t>
            </a:r>
            <a:endParaRPr lang="en-US" sz="816" dirty="0"/>
          </a:p>
        </p:txBody>
      </p:sp>
      <p:sp>
        <p:nvSpPr>
          <p:cNvPr id="56" name="Text 53"/>
          <p:cNvSpPr/>
          <p:nvPr/>
        </p:nvSpPr>
        <p:spPr>
          <a:xfrm>
            <a:off x="4841240" y="2695300"/>
            <a:ext cx="1073637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8A62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54,9%</a:t>
            </a:r>
            <a:endParaRPr lang="en-US" sz="816" dirty="0"/>
          </a:p>
        </p:txBody>
      </p:sp>
      <p:sp>
        <p:nvSpPr>
          <p:cNvPr id="57" name="Text 54"/>
          <p:cNvSpPr/>
          <p:nvPr/>
        </p:nvSpPr>
        <p:spPr>
          <a:xfrm>
            <a:off x="4841240" y="2942950"/>
            <a:ext cx="1073637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8A62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50,0%</a:t>
            </a:r>
            <a:endParaRPr lang="en-US" sz="816" dirty="0"/>
          </a:p>
        </p:txBody>
      </p:sp>
      <p:sp>
        <p:nvSpPr>
          <p:cNvPr id="58" name="Text 55"/>
          <p:cNvSpPr/>
          <p:nvPr/>
        </p:nvSpPr>
        <p:spPr>
          <a:xfrm>
            <a:off x="4841240" y="3190600"/>
            <a:ext cx="1073637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C44A1A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33,3%</a:t>
            </a:r>
            <a:endParaRPr lang="en-US" sz="816" dirty="0"/>
          </a:p>
        </p:txBody>
      </p:sp>
      <p:sp>
        <p:nvSpPr>
          <p:cNvPr id="59" name="Text 56"/>
          <p:cNvSpPr/>
          <p:nvPr/>
        </p:nvSpPr>
        <p:spPr>
          <a:xfrm>
            <a:off x="4841240" y="3438250"/>
            <a:ext cx="1073637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C44A1A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26,9%</a:t>
            </a:r>
            <a:endParaRPr lang="en-US" sz="816" dirty="0"/>
          </a:p>
        </p:txBody>
      </p:sp>
      <p:sp>
        <p:nvSpPr>
          <p:cNvPr id="60" name="Text 57"/>
          <p:cNvSpPr/>
          <p:nvPr/>
        </p:nvSpPr>
        <p:spPr>
          <a:xfrm>
            <a:off x="4841240" y="3685900"/>
            <a:ext cx="1073637" cy="24288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8A62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47,2%</a:t>
            </a:r>
            <a:endParaRPr lang="en-US" sz="816" dirty="0"/>
          </a:p>
        </p:txBody>
      </p:sp>
      <p:sp>
        <p:nvSpPr>
          <p:cNvPr id="61" name="Text 58"/>
          <p:cNvSpPr/>
          <p:nvPr/>
        </p:nvSpPr>
        <p:spPr>
          <a:xfrm>
            <a:off x="9992957" y="2377403"/>
            <a:ext cx="853514" cy="36596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116 %</a:t>
            </a:r>
            <a:endParaRPr lang="en-US" sz="816" dirty="0"/>
          </a:p>
        </p:txBody>
      </p:sp>
      <p:sp>
        <p:nvSpPr>
          <p:cNvPr id="62" name="Text 59"/>
          <p:cNvSpPr/>
          <p:nvPr/>
        </p:nvSpPr>
        <p:spPr>
          <a:xfrm>
            <a:off x="9992957" y="2743372"/>
            <a:ext cx="853514" cy="352425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119 %</a:t>
            </a:r>
            <a:endParaRPr lang="en-US" sz="816" dirty="0"/>
          </a:p>
        </p:txBody>
      </p:sp>
      <p:sp>
        <p:nvSpPr>
          <p:cNvPr id="63" name="Text 60"/>
          <p:cNvSpPr/>
          <p:nvPr/>
        </p:nvSpPr>
        <p:spPr>
          <a:xfrm>
            <a:off x="704832" y="5327474"/>
            <a:ext cx="1645712" cy="180975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l" indent="0" marL="0">
              <a:buNone/>
            </a:pPr>
            <a:r>
              <a:rPr lang="en-US" sz="67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Tunja</a:t>
            </a:r>
            <a:endParaRPr lang="en-US" sz="672" dirty="0"/>
          </a:p>
        </p:txBody>
      </p:sp>
      <p:sp>
        <p:nvSpPr>
          <p:cNvPr id="64" name="Text 61"/>
          <p:cNvSpPr/>
          <p:nvPr/>
        </p:nvSpPr>
        <p:spPr>
          <a:xfrm>
            <a:off x="9992957" y="3095797"/>
            <a:ext cx="853514" cy="36596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8A62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50 %</a:t>
            </a:r>
            <a:endParaRPr lang="en-US" sz="816" dirty="0"/>
          </a:p>
        </p:txBody>
      </p:sp>
      <p:sp>
        <p:nvSpPr>
          <p:cNvPr id="65" name="Text 62"/>
          <p:cNvSpPr/>
          <p:nvPr/>
        </p:nvSpPr>
        <p:spPr>
          <a:xfrm>
            <a:off x="2968600" y="5146499"/>
            <a:ext cx="1645865" cy="180975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l" indent="0" marL="0">
              <a:buNone/>
            </a:pPr>
            <a:r>
              <a:rPr lang="en-US" sz="67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Chía</a:t>
            </a:r>
            <a:endParaRPr lang="en-US" sz="672" dirty="0"/>
          </a:p>
        </p:txBody>
      </p:sp>
      <p:sp>
        <p:nvSpPr>
          <p:cNvPr id="66" name="Text 63"/>
          <p:cNvSpPr/>
          <p:nvPr/>
        </p:nvSpPr>
        <p:spPr>
          <a:xfrm>
            <a:off x="704832" y="1976163"/>
            <a:ext cx="858572" cy="228600"/>
          </a:xfrm>
          <a:prstGeom prst="rect">
            <a:avLst/>
          </a:prstGeom>
          <a:noFill/>
          <a:ln/>
        </p:spPr>
        <p:txBody>
          <a:bodyPr wrap="square" lIns="47625" tIns="114300" rIns="114300" bIns="47625" rtlCol="0" anchor="ctr"/>
          <a:lstStyle/>
          <a:p>
            <a:pPr algn="l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Mes</a:t>
            </a:r>
            <a:endParaRPr lang="en-US" sz="888" dirty="0"/>
          </a:p>
        </p:txBody>
      </p:sp>
      <p:sp>
        <p:nvSpPr>
          <p:cNvPr id="67" name="Text 64"/>
          <p:cNvSpPr/>
          <p:nvPr/>
        </p:nvSpPr>
        <p:spPr>
          <a:xfrm>
            <a:off x="704832" y="2204763"/>
            <a:ext cx="858572" cy="24288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l" indent="0" marL="0">
              <a:buNone/>
            </a:pPr>
            <a:r>
              <a:rPr lang="en-US" sz="88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Ene</a:t>
            </a:r>
            <a:endParaRPr lang="en-US" sz="888" dirty="0"/>
          </a:p>
        </p:txBody>
      </p:sp>
      <p:sp>
        <p:nvSpPr>
          <p:cNvPr id="68" name="Text 65"/>
          <p:cNvSpPr/>
          <p:nvPr/>
        </p:nvSpPr>
        <p:spPr>
          <a:xfrm>
            <a:off x="1507140" y="2204763"/>
            <a:ext cx="1073177" cy="24288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147</a:t>
            </a:r>
            <a:endParaRPr lang="en-US" sz="888" dirty="0"/>
          </a:p>
        </p:txBody>
      </p:sp>
      <p:sp>
        <p:nvSpPr>
          <p:cNvPr id="69" name="Text 66"/>
          <p:cNvSpPr/>
          <p:nvPr/>
        </p:nvSpPr>
        <p:spPr>
          <a:xfrm>
            <a:off x="704832" y="2447650"/>
            <a:ext cx="858572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l" indent="0" marL="0">
              <a:buNone/>
            </a:pPr>
            <a:r>
              <a:rPr lang="en-US" sz="88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Feb</a:t>
            </a:r>
            <a:endParaRPr lang="en-US" sz="888" dirty="0"/>
          </a:p>
        </p:txBody>
      </p:sp>
      <p:sp>
        <p:nvSpPr>
          <p:cNvPr id="70" name="Text 67"/>
          <p:cNvSpPr/>
          <p:nvPr/>
        </p:nvSpPr>
        <p:spPr>
          <a:xfrm>
            <a:off x="1507140" y="2447650"/>
            <a:ext cx="1073177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146</a:t>
            </a:r>
            <a:endParaRPr lang="en-US" sz="888" dirty="0"/>
          </a:p>
        </p:txBody>
      </p:sp>
      <p:sp>
        <p:nvSpPr>
          <p:cNvPr id="71" name="Text 68"/>
          <p:cNvSpPr/>
          <p:nvPr/>
        </p:nvSpPr>
        <p:spPr>
          <a:xfrm>
            <a:off x="704832" y="2695300"/>
            <a:ext cx="858572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l" indent="0" marL="0">
              <a:buNone/>
            </a:pPr>
            <a:r>
              <a:rPr lang="en-US" sz="88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Mar</a:t>
            </a:r>
            <a:endParaRPr lang="en-US" sz="888" dirty="0"/>
          </a:p>
        </p:txBody>
      </p:sp>
      <p:sp>
        <p:nvSpPr>
          <p:cNvPr id="72" name="Text 69"/>
          <p:cNvSpPr/>
          <p:nvPr/>
        </p:nvSpPr>
        <p:spPr>
          <a:xfrm>
            <a:off x="1507140" y="2695300"/>
            <a:ext cx="1073177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135</a:t>
            </a:r>
            <a:endParaRPr lang="en-US" sz="888" dirty="0"/>
          </a:p>
        </p:txBody>
      </p:sp>
      <p:sp>
        <p:nvSpPr>
          <p:cNvPr id="73" name="Text 70"/>
          <p:cNvSpPr/>
          <p:nvPr/>
        </p:nvSpPr>
        <p:spPr>
          <a:xfrm>
            <a:off x="704832" y="2942950"/>
            <a:ext cx="858572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l" indent="0" marL="0">
              <a:buNone/>
            </a:pPr>
            <a:r>
              <a:rPr lang="en-US" sz="88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Abr</a:t>
            </a:r>
            <a:endParaRPr lang="en-US" sz="888" dirty="0"/>
          </a:p>
        </p:txBody>
      </p:sp>
      <p:sp>
        <p:nvSpPr>
          <p:cNvPr id="74" name="Text 71"/>
          <p:cNvSpPr/>
          <p:nvPr/>
        </p:nvSpPr>
        <p:spPr>
          <a:xfrm>
            <a:off x="1507140" y="2942950"/>
            <a:ext cx="1073177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118</a:t>
            </a:r>
            <a:endParaRPr lang="en-US" sz="888" dirty="0"/>
          </a:p>
        </p:txBody>
      </p:sp>
      <p:sp>
        <p:nvSpPr>
          <p:cNvPr id="75" name="Text 72"/>
          <p:cNvSpPr/>
          <p:nvPr/>
        </p:nvSpPr>
        <p:spPr>
          <a:xfrm>
            <a:off x="704832" y="3190600"/>
            <a:ext cx="858572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l" indent="0" marL="0">
              <a:buNone/>
            </a:pPr>
            <a:r>
              <a:rPr lang="en-US" sz="88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May</a:t>
            </a:r>
            <a:endParaRPr lang="en-US" sz="888" dirty="0"/>
          </a:p>
        </p:txBody>
      </p:sp>
      <p:sp>
        <p:nvSpPr>
          <p:cNvPr id="76" name="Text 73"/>
          <p:cNvSpPr/>
          <p:nvPr/>
        </p:nvSpPr>
        <p:spPr>
          <a:xfrm>
            <a:off x="704832" y="3438250"/>
            <a:ext cx="858572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l" indent="0" marL="0">
              <a:buNone/>
            </a:pPr>
            <a:r>
              <a:rPr lang="en-US" sz="88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Jun</a:t>
            </a:r>
            <a:endParaRPr lang="en-US" sz="888" dirty="0"/>
          </a:p>
        </p:txBody>
      </p:sp>
      <p:sp>
        <p:nvSpPr>
          <p:cNvPr id="77" name="Text 74"/>
          <p:cNvSpPr/>
          <p:nvPr/>
        </p:nvSpPr>
        <p:spPr>
          <a:xfrm>
            <a:off x="1507140" y="3685900"/>
            <a:ext cx="1073177" cy="24288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123</a:t>
            </a:r>
            <a:endParaRPr lang="en-US" sz="888" dirty="0"/>
          </a:p>
        </p:txBody>
      </p:sp>
      <p:sp>
        <p:nvSpPr>
          <p:cNvPr id="78" name="Text 75"/>
          <p:cNvSpPr/>
          <p:nvPr/>
        </p:nvSpPr>
        <p:spPr>
          <a:xfrm>
            <a:off x="10827831" y="2029741"/>
            <a:ext cx="639982" cy="347663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184</a:t>
            </a:r>
            <a:endParaRPr lang="en-US" sz="888" dirty="0"/>
          </a:p>
        </p:txBody>
      </p:sp>
      <p:sp>
        <p:nvSpPr>
          <p:cNvPr id="79" name="Text 76"/>
          <p:cNvSpPr/>
          <p:nvPr/>
        </p:nvSpPr>
        <p:spPr>
          <a:xfrm>
            <a:off x="7890764" y="3461765"/>
            <a:ext cx="1100463" cy="24288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105</a:t>
            </a:r>
            <a:endParaRPr lang="en-US" sz="888" dirty="0"/>
          </a:p>
        </p:txBody>
      </p:sp>
      <p:sp>
        <p:nvSpPr>
          <p:cNvPr id="80" name="Text 77"/>
          <p:cNvSpPr/>
          <p:nvPr/>
        </p:nvSpPr>
        <p:spPr>
          <a:xfrm>
            <a:off x="8960429" y="3461765"/>
            <a:ext cx="1057388" cy="24288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108</a:t>
            </a:r>
            <a:endParaRPr lang="en-US" sz="888" dirty="0"/>
          </a:p>
        </p:txBody>
      </p:sp>
      <p:sp>
        <p:nvSpPr>
          <p:cNvPr id="81" name="Text 78"/>
          <p:cNvSpPr/>
          <p:nvPr/>
        </p:nvSpPr>
        <p:spPr>
          <a:xfrm>
            <a:off x="10827831" y="3461765"/>
            <a:ext cx="639982" cy="24288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373</a:t>
            </a:r>
            <a:endParaRPr lang="en-US" sz="888" dirty="0"/>
          </a:p>
        </p:txBody>
      </p:sp>
      <p:sp>
        <p:nvSpPr>
          <p:cNvPr id="82" name="Text 79"/>
          <p:cNvSpPr/>
          <p:nvPr/>
        </p:nvSpPr>
        <p:spPr>
          <a:xfrm>
            <a:off x="2286632" y="4789312"/>
            <a:ext cx="548622" cy="176212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672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111</a:t>
            </a:r>
            <a:endParaRPr lang="en-US" sz="672" dirty="0"/>
          </a:p>
        </p:txBody>
      </p:sp>
      <p:sp>
        <p:nvSpPr>
          <p:cNvPr id="83" name="Text 80"/>
          <p:cNvSpPr/>
          <p:nvPr/>
        </p:nvSpPr>
        <p:spPr>
          <a:xfrm>
            <a:off x="6286343" y="1085850"/>
            <a:ext cx="274320" cy="156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373</a:t>
            </a:r>
            <a:endParaRPr lang="en-US" sz="1020" dirty="0"/>
          </a:p>
        </p:txBody>
      </p:sp>
      <p:sp>
        <p:nvSpPr>
          <p:cNvPr id="84" name="Text 81"/>
          <p:cNvSpPr/>
          <p:nvPr/>
        </p:nvSpPr>
        <p:spPr>
          <a:xfrm>
            <a:off x="2544372" y="2204763"/>
            <a:ext cx="1234131" cy="24288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92</a:t>
            </a:r>
            <a:endParaRPr lang="en-US" sz="888" dirty="0"/>
          </a:p>
        </p:txBody>
      </p:sp>
      <p:sp>
        <p:nvSpPr>
          <p:cNvPr id="85" name="Text 82"/>
          <p:cNvSpPr/>
          <p:nvPr/>
        </p:nvSpPr>
        <p:spPr>
          <a:xfrm>
            <a:off x="3745683" y="2204763"/>
            <a:ext cx="1126828" cy="24288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56</a:t>
            </a:r>
            <a:endParaRPr lang="en-US" sz="888" dirty="0"/>
          </a:p>
        </p:txBody>
      </p:sp>
      <p:sp>
        <p:nvSpPr>
          <p:cNvPr id="86" name="Text 83"/>
          <p:cNvSpPr/>
          <p:nvPr/>
        </p:nvSpPr>
        <p:spPr>
          <a:xfrm>
            <a:off x="2544372" y="2447650"/>
            <a:ext cx="1234131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91</a:t>
            </a:r>
            <a:endParaRPr lang="en-US" sz="888" dirty="0"/>
          </a:p>
        </p:txBody>
      </p:sp>
      <p:sp>
        <p:nvSpPr>
          <p:cNvPr id="87" name="Text 84"/>
          <p:cNvSpPr/>
          <p:nvPr/>
        </p:nvSpPr>
        <p:spPr>
          <a:xfrm>
            <a:off x="3745683" y="2447650"/>
            <a:ext cx="1126828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52</a:t>
            </a:r>
            <a:endParaRPr lang="en-US" sz="888" dirty="0"/>
          </a:p>
        </p:txBody>
      </p:sp>
      <p:sp>
        <p:nvSpPr>
          <p:cNvPr id="88" name="Text 85"/>
          <p:cNvSpPr/>
          <p:nvPr/>
        </p:nvSpPr>
        <p:spPr>
          <a:xfrm>
            <a:off x="2544372" y="2695300"/>
            <a:ext cx="1234131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82</a:t>
            </a:r>
            <a:endParaRPr lang="en-US" sz="888" dirty="0"/>
          </a:p>
        </p:txBody>
      </p:sp>
      <p:sp>
        <p:nvSpPr>
          <p:cNvPr id="89" name="Text 86"/>
          <p:cNvSpPr/>
          <p:nvPr/>
        </p:nvSpPr>
        <p:spPr>
          <a:xfrm>
            <a:off x="3745683" y="2695300"/>
            <a:ext cx="1126828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45</a:t>
            </a:r>
            <a:endParaRPr lang="en-US" sz="888" dirty="0"/>
          </a:p>
        </p:txBody>
      </p:sp>
      <p:sp>
        <p:nvSpPr>
          <p:cNvPr id="90" name="Text 87"/>
          <p:cNvSpPr/>
          <p:nvPr/>
        </p:nvSpPr>
        <p:spPr>
          <a:xfrm>
            <a:off x="2544372" y="2942950"/>
            <a:ext cx="1234131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72</a:t>
            </a:r>
            <a:endParaRPr lang="en-US" sz="888" dirty="0"/>
          </a:p>
        </p:txBody>
      </p:sp>
      <p:sp>
        <p:nvSpPr>
          <p:cNvPr id="91" name="Text 88"/>
          <p:cNvSpPr/>
          <p:nvPr/>
        </p:nvSpPr>
        <p:spPr>
          <a:xfrm>
            <a:off x="3745683" y="2942950"/>
            <a:ext cx="1126828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36</a:t>
            </a:r>
            <a:endParaRPr lang="en-US" sz="888" dirty="0"/>
          </a:p>
        </p:txBody>
      </p:sp>
      <p:sp>
        <p:nvSpPr>
          <p:cNvPr id="92" name="Text 89"/>
          <p:cNvSpPr/>
          <p:nvPr/>
        </p:nvSpPr>
        <p:spPr>
          <a:xfrm>
            <a:off x="1507140" y="3190600"/>
            <a:ext cx="1073177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93</a:t>
            </a:r>
            <a:endParaRPr lang="en-US" sz="888" dirty="0"/>
          </a:p>
        </p:txBody>
      </p:sp>
      <p:sp>
        <p:nvSpPr>
          <p:cNvPr id="93" name="Text 90"/>
          <p:cNvSpPr/>
          <p:nvPr/>
        </p:nvSpPr>
        <p:spPr>
          <a:xfrm>
            <a:off x="2544372" y="3190600"/>
            <a:ext cx="1234131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57</a:t>
            </a:r>
            <a:endParaRPr lang="en-US" sz="888" dirty="0"/>
          </a:p>
        </p:txBody>
      </p:sp>
      <p:sp>
        <p:nvSpPr>
          <p:cNvPr id="94" name="Text 91"/>
          <p:cNvSpPr/>
          <p:nvPr/>
        </p:nvSpPr>
        <p:spPr>
          <a:xfrm>
            <a:off x="3745683" y="3190600"/>
            <a:ext cx="1126828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19</a:t>
            </a:r>
            <a:endParaRPr lang="en-US" sz="888" dirty="0"/>
          </a:p>
        </p:txBody>
      </p:sp>
      <p:sp>
        <p:nvSpPr>
          <p:cNvPr id="95" name="Text 92"/>
          <p:cNvSpPr/>
          <p:nvPr/>
        </p:nvSpPr>
        <p:spPr>
          <a:xfrm>
            <a:off x="1507140" y="3438250"/>
            <a:ext cx="1073177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96</a:t>
            </a:r>
            <a:endParaRPr lang="en-US" sz="888" dirty="0"/>
          </a:p>
        </p:txBody>
      </p:sp>
      <p:sp>
        <p:nvSpPr>
          <p:cNvPr id="96" name="Text 93"/>
          <p:cNvSpPr/>
          <p:nvPr/>
        </p:nvSpPr>
        <p:spPr>
          <a:xfrm>
            <a:off x="2544372" y="3438250"/>
            <a:ext cx="1234131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52</a:t>
            </a:r>
            <a:endParaRPr lang="en-US" sz="888" dirty="0"/>
          </a:p>
        </p:txBody>
      </p:sp>
      <p:sp>
        <p:nvSpPr>
          <p:cNvPr id="97" name="Text 94"/>
          <p:cNvSpPr/>
          <p:nvPr/>
        </p:nvSpPr>
        <p:spPr>
          <a:xfrm>
            <a:off x="3745683" y="3438250"/>
            <a:ext cx="1126828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</a:t>
            </a:r>
            <a:endParaRPr lang="en-US" sz="888" dirty="0"/>
          </a:p>
        </p:txBody>
      </p:sp>
      <p:sp>
        <p:nvSpPr>
          <p:cNvPr id="98" name="Text 95"/>
          <p:cNvSpPr/>
          <p:nvPr/>
        </p:nvSpPr>
        <p:spPr>
          <a:xfrm>
            <a:off x="2544372" y="3685900"/>
            <a:ext cx="1234131" cy="24288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74</a:t>
            </a:r>
            <a:endParaRPr lang="en-US" sz="888" dirty="0"/>
          </a:p>
        </p:txBody>
      </p:sp>
      <p:sp>
        <p:nvSpPr>
          <p:cNvPr id="99" name="Text 96"/>
          <p:cNvSpPr/>
          <p:nvPr/>
        </p:nvSpPr>
        <p:spPr>
          <a:xfrm>
            <a:off x="3745683" y="3685900"/>
            <a:ext cx="1126828" cy="24288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37</a:t>
            </a:r>
            <a:endParaRPr lang="en-US" sz="888" dirty="0"/>
          </a:p>
        </p:txBody>
      </p:sp>
      <p:sp>
        <p:nvSpPr>
          <p:cNvPr id="100" name="Text 97"/>
          <p:cNvSpPr/>
          <p:nvPr/>
        </p:nvSpPr>
        <p:spPr>
          <a:xfrm>
            <a:off x="7890764" y="2029741"/>
            <a:ext cx="1100463" cy="347663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42</a:t>
            </a:r>
            <a:endParaRPr lang="en-US" sz="888" dirty="0"/>
          </a:p>
        </p:txBody>
      </p:sp>
      <p:sp>
        <p:nvSpPr>
          <p:cNvPr id="101" name="Text 98"/>
          <p:cNvSpPr/>
          <p:nvPr/>
        </p:nvSpPr>
        <p:spPr>
          <a:xfrm>
            <a:off x="8960429" y="2029741"/>
            <a:ext cx="1057388" cy="347663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38</a:t>
            </a:r>
            <a:endParaRPr lang="en-US" sz="888" dirty="0"/>
          </a:p>
        </p:txBody>
      </p:sp>
      <p:sp>
        <p:nvSpPr>
          <p:cNvPr id="102" name="Text 99"/>
          <p:cNvSpPr/>
          <p:nvPr/>
        </p:nvSpPr>
        <p:spPr>
          <a:xfrm>
            <a:off x="7890764" y="2377403"/>
            <a:ext cx="1100463" cy="36596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31</a:t>
            </a:r>
            <a:endParaRPr lang="en-US" sz="888" dirty="0"/>
          </a:p>
        </p:txBody>
      </p:sp>
      <p:sp>
        <p:nvSpPr>
          <p:cNvPr id="103" name="Text 100"/>
          <p:cNvSpPr/>
          <p:nvPr/>
        </p:nvSpPr>
        <p:spPr>
          <a:xfrm>
            <a:off x="8960429" y="2377403"/>
            <a:ext cx="1057388" cy="36596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36</a:t>
            </a:r>
            <a:endParaRPr lang="en-US" sz="888" dirty="0"/>
          </a:p>
        </p:txBody>
      </p:sp>
      <p:sp>
        <p:nvSpPr>
          <p:cNvPr id="104" name="Text 101"/>
          <p:cNvSpPr/>
          <p:nvPr/>
        </p:nvSpPr>
        <p:spPr>
          <a:xfrm>
            <a:off x="10827831" y="2377403"/>
            <a:ext cx="639982" cy="36596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99</a:t>
            </a:r>
            <a:endParaRPr lang="en-US" sz="888" dirty="0"/>
          </a:p>
        </p:txBody>
      </p:sp>
      <p:sp>
        <p:nvSpPr>
          <p:cNvPr id="105" name="Text 102"/>
          <p:cNvSpPr/>
          <p:nvPr/>
        </p:nvSpPr>
        <p:spPr>
          <a:xfrm>
            <a:off x="7890764" y="2743372"/>
            <a:ext cx="1100463" cy="352425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26</a:t>
            </a:r>
            <a:endParaRPr lang="en-US" sz="888" dirty="0"/>
          </a:p>
        </p:txBody>
      </p:sp>
      <p:sp>
        <p:nvSpPr>
          <p:cNvPr id="106" name="Text 103"/>
          <p:cNvSpPr/>
          <p:nvPr/>
        </p:nvSpPr>
        <p:spPr>
          <a:xfrm>
            <a:off x="8960429" y="2743372"/>
            <a:ext cx="1057388" cy="352425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31</a:t>
            </a:r>
            <a:endParaRPr lang="en-US" sz="888" dirty="0"/>
          </a:p>
        </p:txBody>
      </p:sp>
      <p:sp>
        <p:nvSpPr>
          <p:cNvPr id="107" name="Text 104"/>
          <p:cNvSpPr/>
          <p:nvPr/>
        </p:nvSpPr>
        <p:spPr>
          <a:xfrm>
            <a:off x="10827831" y="2743372"/>
            <a:ext cx="639982" cy="352425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90</a:t>
            </a:r>
            <a:endParaRPr lang="en-US" sz="888" dirty="0"/>
          </a:p>
        </p:txBody>
      </p:sp>
      <p:sp>
        <p:nvSpPr>
          <p:cNvPr id="108" name="Text 105"/>
          <p:cNvSpPr/>
          <p:nvPr/>
        </p:nvSpPr>
        <p:spPr>
          <a:xfrm>
            <a:off x="2286632" y="4965524"/>
            <a:ext cx="548622" cy="180975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672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74</a:t>
            </a:r>
            <a:endParaRPr lang="en-US" sz="672" dirty="0"/>
          </a:p>
        </p:txBody>
      </p:sp>
      <p:sp>
        <p:nvSpPr>
          <p:cNvPr id="109" name="Text 106"/>
          <p:cNvSpPr/>
          <p:nvPr/>
        </p:nvSpPr>
        <p:spPr>
          <a:xfrm>
            <a:off x="2286632" y="5146499"/>
            <a:ext cx="548622" cy="180975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672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44</a:t>
            </a:r>
            <a:endParaRPr lang="en-US" sz="672" dirty="0"/>
          </a:p>
        </p:txBody>
      </p:sp>
      <p:sp>
        <p:nvSpPr>
          <p:cNvPr id="110" name="Text 107"/>
          <p:cNvSpPr/>
          <p:nvPr/>
        </p:nvSpPr>
        <p:spPr>
          <a:xfrm>
            <a:off x="2286632" y="5327474"/>
            <a:ext cx="548622" cy="180975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672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33</a:t>
            </a:r>
            <a:endParaRPr lang="en-US" sz="672" dirty="0"/>
          </a:p>
        </p:txBody>
      </p:sp>
      <p:sp>
        <p:nvSpPr>
          <p:cNvPr id="111" name="Text 108"/>
          <p:cNvSpPr/>
          <p:nvPr/>
        </p:nvSpPr>
        <p:spPr>
          <a:xfrm>
            <a:off x="2286632" y="5508449"/>
            <a:ext cx="548622" cy="180975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672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25</a:t>
            </a:r>
            <a:endParaRPr lang="en-US" sz="672" dirty="0"/>
          </a:p>
        </p:txBody>
      </p:sp>
      <p:sp>
        <p:nvSpPr>
          <p:cNvPr id="112" name="Text 109"/>
          <p:cNvSpPr/>
          <p:nvPr/>
        </p:nvSpPr>
        <p:spPr>
          <a:xfrm>
            <a:off x="2286632" y="5689424"/>
            <a:ext cx="548622" cy="176212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672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24</a:t>
            </a:r>
            <a:endParaRPr lang="en-US" sz="672" dirty="0"/>
          </a:p>
        </p:txBody>
      </p:sp>
      <p:sp>
        <p:nvSpPr>
          <p:cNvPr id="113" name="Text 110"/>
          <p:cNvSpPr/>
          <p:nvPr/>
        </p:nvSpPr>
        <p:spPr>
          <a:xfrm>
            <a:off x="4550549" y="4789312"/>
            <a:ext cx="548622" cy="176212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672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19</a:t>
            </a:r>
            <a:endParaRPr lang="en-US" sz="672" dirty="0"/>
          </a:p>
        </p:txBody>
      </p:sp>
      <p:sp>
        <p:nvSpPr>
          <p:cNvPr id="114" name="Text 111"/>
          <p:cNvSpPr/>
          <p:nvPr/>
        </p:nvSpPr>
        <p:spPr>
          <a:xfrm>
            <a:off x="4550549" y="4965524"/>
            <a:ext cx="548622" cy="180975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672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15</a:t>
            </a:r>
            <a:endParaRPr lang="en-US" sz="672" dirty="0"/>
          </a:p>
        </p:txBody>
      </p:sp>
      <p:sp>
        <p:nvSpPr>
          <p:cNvPr id="115" name="Text 112"/>
          <p:cNvSpPr/>
          <p:nvPr/>
        </p:nvSpPr>
        <p:spPr>
          <a:xfrm>
            <a:off x="723882" y="1085850"/>
            <a:ext cx="274320" cy="156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74</a:t>
            </a:r>
            <a:endParaRPr lang="en-US" sz="1020" dirty="0"/>
          </a:p>
        </p:txBody>
      </p:sp>
      <p:sp>
        <p:nvSpPr>
          <p:cNvPr id="116" name="Text 113"/>
          <p:cNvSpPr/>
          <p:nvPr/>
        </p:nvSpPr>
        <p:spPr>
          <a:xfrm>
            <a:off x="9067573" y="1085850"/>
            <a:ext cx="274320" cy="156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12</a:t>
            </a:r>
            <a:endParaRPr lang="en-US" sz="1020" dirty="0"/>
          </a:p>
        </p:txBody>
      </p:sp>
      <p:sp>
        <p:nvSpPr>
          <p:cNvPr id="117" name="Text 114"/>
          <p:cNvSpPr/>
          <p:nvPr/>
        </p:nvSpPr>
        <p:spPr>
          <a:xfrm>
            <a:off x="5948345" y="5254228"/>
            <a:ext cx="274320" cy="1667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37</a:t>
            </a:r>
            <a:endParaRPr lang="en-US" sz="1080" dirty="0"/>
          </a:p>
        </p:txBody>
      </p:sp>
      <p:sp>
        <p:nvSpPr>
          <p:cNvPr id="118" name="Text 115"/>
          <p:cNvSpPr/>
          <p:nvPr/>
        </p:nvSpPr>
        <p:spPr>
          <a:xfrm>
            <a:off x="7164673" y="5254228"/>
            <a:ext cx="274320" cy="1667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23</a:t>
            </a:r>
            <a:endParaRPr lang="en-US" sz="1080" dirty="0"/>
          </a:p>
        </p:txBody>
      </p:sp>
      <p:sp>
        <p:nvSpPr>
          <p:cNvPr id="119" name="Text 116"/>
          <p:cNvSpPr/>
          <p:nvPr/>
        </p:nvSpPr>
        <p:spPr>
          <a:xfrm>
            <a:off x="8377851" y="5254228"/>
            <a:ext cx="274320" cy="1667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FF6B35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20</a:t>
            </a:r>
            <a:endParaRPr lang="en-US" sz="108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01_Repositorios\13_Presentaciones\dash\retail\ppt_slides\sk_02_m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28674" y="6463308"/>
            <a:ext cx="10683081" cy="2768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1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Logro Comercial: el canal Retail cerró el semestre con 13.155 ventas efectivas entre Cuota Protegida y Rueda Seguro, sosteniendo una efectividad promedio superior al 69 % durante todo el semestre — un desempeño comercial consistente que valida el enfoque del canal en los puntos de mayor valor.</a:t>
            </a:r>
            <a:endParaRPr lang="en-US" sz="816" dirty="0"/>
          </a:p>
        </p:txBody>
      </p:sp>
      <p:sp>
        <p:nvSpPr>
          <p:cNvPr id="4" name="Text 1"/>
          <p:cNvSpPr/>
          <p:nvPr/>
        </p:nvSpPr>
        <p:spPr>
          <a:xfrm>
            <a:off x="571486" y="6006108"/>
            <a:ext cx="724830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96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* Gestores y PDV en la fila de total corresponden al promedio mensual de la estructura activa del canal (los mismos gestores atienden Cuota Protegida y Rueda Seguro).</a:t>
            </a:r>
            <a:endParaRPr lang="en-US" sz="696" dirty="0"/>
          </a:p>
        </p:txBody>
      </p:sp>
      <p:sp>
        <p:nvSpPr>
          <p:cNvPr id="5" name="Text 2"/>
          <p:cNvSpPr/>
          <p:nvPr/>
        </p:nvSpPr>
        <p:spPr>
          <a:xfrm>
            <a:off x="571486" y="209550"/>
            <a:ext cx="4462214" cy="1962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6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Ventas del Canal · Cuota Protegida y Rueda Seguro</a:t>
            </a:r>
            <a:endParaRPr lang="en-US" sz="1260" dirty="0"/>
          </a:p>
        </p:txBody>
      </p:sp>
      <p:sp>
        <p:nvSpPr>
          <p:cNvPr id="6" name="Text 3"/>
          <p:cNvSpPr/>
          <p:nvPr/>
        </p:nvSpPr>
        <p:spPr>
          <a:xfrm>
            <a:off x="838179" y="1786830"/>
            <a:ext cx="199873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1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Cuota Protegida Retail (Como vamos)</a:t>
            </a:r>
            <a:endParaRPr lang="en-US" sz="816" dirty="0"/>
          </a:p>
        </p:txBody>
      </p:sp>
      <p:sp>
        <p:nvSpPr>
          <p:cNvPr id="7" name="Text 4"/>
          <p:cNvSpPr/>
          <p:nvPr/>
        </p:nvSpPr>
        <p:spPr>
          <a:xfrm>
            <a:off x="723882" y="1272480"/>
            <a:ext cx="1231415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Total de 16.062 cantadas (79,0%)</a:t>
            </a:r>
            <a:endParaRPr lang="en-US" sz="600" dirty="0"/>
          </a:p>
        </p:txBody>
      </p:sp>
      <p:sp>
        <p:nvSpPr>
          <p:cNvPr id="8" name="Text 5"/>
          <p:cNvSpPr/>
          <p:nvPr/>
        </p:nvSpPr>
        <p:spPr>
          <a:xfrm>
            <a:off x="6410165" y="1786830"/>
            <a:ext cx="188861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1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Rueda Seguro Retail (Como vamos)</a:t>
            </a:r>
            <a:endParaRPr lang="en-US" sz="816" dirty="0"/>
          </a:p>
        </p:txBody>
      </p:sp>
      <p:sp>
        <p:nvSpPr>
          <p:cNvPr id="9" name="Text 6"/>
          <p:cNvSpPr/>
          <p:nvPr/>
        </p:nvSpPr>
        <p:spPr>
          <a:xfrm>
            <a:off x="3505112" y="1272480"/>
            <a:ext cx="112177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Total de 675 cantadas (69,2%)</a:t>
            </a:r>
            <a:endParaRPr lang="en-US" sz="600" dirty="0"/>
          </a:p>
        </p:txBody>
      </p:sp>
      <p:sp>
        <p:nvSpPr>
          <p:cNvPr id="10" name="Text 7"/>
          <p:cNvSpPr/>
          <p:nvPr/>
        </p:nvSpPr>
        <p:spPr>
          <a:xfrm>
            <a:off x="9067573" y="1272480"/>
            <a:ext cx="1149541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Reales consolidadas de cierre</a:t>
            </a:r>
            <a:endParaRPr lang="en-US" sz="600" dirty="0"/>
          </a:p>
        </p:txBody>
      </p:sp>
      <p:sp>
        <p:nvSpPr>
          <p:cNvPr id="11" name="Text 8"/>
          <p:cNvSpPr/>
          <p:nvPr/>
        </p:nvSpPr>
        <p:spPr>
          <a:xfrm>
            <a:off x="6286343" y="1272480"/>
            <a:ext cx="106798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Marzo · 135 gestores activos</a:t>
            </a:r>
            <a:endParaRPr lang="en-US" sz="600" dirty="0"/>
          </a:p>
        </p:txBody>
      </p:sp>
      <p:sp>
        <p:nvSpPr>
          <p:cNvPr id="12" name="Text 9"/>
          <p:cNvSpPr/>
          <p:nvPr/>
        </p:nvSpPr>
        <p:spPr>
          <a:xfrm>
            <a:off x="723882" y="962025"/>
            <a:ext cx="1353517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96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Ventas CP 1S (Efectivas)</a:t>
            </a:r>
            <a:endParaRPr lang="en-US" sz="696" dirty="0"/>
          </a:p>
        </p:txBody>
      </p:sp>
      <p:sp>
        <p:nvSpPr>
          <p:cNvPr id="13" name="Text 10"/>
          <p:cNvSpPr/>
          <p:nvPr/>
        </p:nvSpPr>
        <p:spPr>
          <a:xfrm>
            <a:off x="3505112" y="962025"/>
            <a:ext cx="135257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96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Ventas RS 1S (Efectivas)</a:t>
            </a:r>
            <a:endParaRPr lang="en-US" sz="696" dirty="0"/>
          </a:p>
        </p:txBody>
      </p:sp>
      <p:sp>
        <p:nvSpPr>
          <p:cNvPr id="14" name="Text 11"/>
          <p:cNvSpPr/>
          <p:nvPr/>
        </p:nvSpPr>
        <p:spPr>
          <a:xfrm>
            <a:off x="9067573" y="962025"/>
            <a:ext cx="1303509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96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Ventas CP Mayo + Junio</a:t>
            </a:r>
            <a:endParaRPr lang="en-US" sz="696" dirty="0"/>
          </a:p>
        </p:txBody>
      </p:sp>
      <p:sp>
        <p:nvSpPr>
          <p:cNvPr id="15" name="Text 12"/>
          <p:cNvSpPr/>
          <p:nvPr/>
        </p:nvSpPr>
        <p:spPr>
          <a:xfrm>
            <a:off x="6286343" y="962025"/>
            <a:ext cx="97727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96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Pico CP Semestre</a:t>
            </a:r>
            <a:endParaRPr lang="en-US" sz="696" dirty="0"/>
          </a:p>
        </p:txBody>
      </p:sp>
      <p:sp>
        <p:nvSpPr>
          <p:cNvPr id="16" name="Text 13"/>
          <p:cNvSpPr/>
          <p:nvPr/>
        </p:nvSpPr>
        <p:spPr>
          <a:xfrm>
            <a:off x="4040834" y="1982116"/>
            <a:ext cx="1008183" cy="228600"/>
          </a:xfrm>
          <a:prstGeom prst="rect">
            <a:avLst/>
          </a:prstGeom>
          <a:noFill/>
          <a:ln/>
        </p:spPr>
        <p:txBody>
          <a:bodyPr wrap="square" lIns="47625" tIns="114300" rIns="114300" bIns="47625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Efectivas</a:t>
            </a:r>
            <a:endParaRPr lang="en-US" sz="888" dirty="0"/>
          </a:p>
        </p:txBody>
      </p:sp>
      <p:sp>
        <p:nvSpPr>
          <p:cNvPr id="17" name="Text 14"/>
          <p:cNvSpPr/>
          <p:nvPr/>
        </p:nvSpPr>
        <p:spPr>
          <a:xfrm>
            <a:off x="9370044" y="1982116"/>
            <a:ext cx="1137405" cy="228600"/>
          </a:xfrm>
          <a:prstGeom prst="rect">
            <a:avLst/>
          </a:prstGeom>
          <a:noFill/>
          <a:ln/>
        </p:spPr>
        <p:txBody>
          <a:bodyPr wrap="square" lIns="47625" tIns="114300" rIns="114300" bIns="47625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Efectivas</a:t>
            </a:r>
            <a:endParaRPr lang="en-US" sz="888" dirty="0"/>
          </a:p>
        </p:txBody>
      </p:sp>
      <p:sp>
        <p:nvSpPr>
          <p:cNvPr id="18" name="Text 15"/>
          <p:cNvSpPr/>
          <p:nvPr/>
        </p:nvSpPr>
        <p:spPr>
          <a:xfrm>
            <a:off x="1490284" y="1982116"/>
            <a:ext cx="987642" cy="228600"/>
          </a:xfrm>
          <a:prstGeom prst="rect">
            <a:avLst/>
          </a:prstGeom>
          <a:noFill/>
          <a:ln/>
        </p:spPr>
        <p:txBody>
          <a:bodyPr wrap="square" lIns="47625" tIns="114300" rIns="114300" bIns="47625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Gestores</a:t>
            </a:r>
            <a:endParaRPr lang="en-US" sz="888" dirty="0"/>
          </a:p>
        </p:txBody>
      </p:sp>
      <p:sp>
        <p:nvSpPr>
          <p:cNvPr id="19" name="Text 16"/>
          <p:cNvSpPr/>
          <p:nvPr/>
        </p:nvSpPr>
        <p:spPr>
          <a:xfrm>
            <a:off x="3044234" y="1982116"/>
            <a:ext cx="1025964" cy="228600"/>
          </a:xfrm>
          <a:prstGeom prst="rect">
            <a:avLst/>
          </a:prstGeom>
          <a:noFill/>
          <a:ln/>
        </p:spPr>
        <p:txBody>
          <a:bodyPr wrap="square" lIns="47625" tIns="114300" rIns="114300" bIns="47625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Cantadas</a:t>
            </a:r>
            <a:endParaRPr lang="en-US" sz="888" dirty="0"/>
          </a:p>
        </p:txBody>
      </p:sp>
      <p:sp>
        <p:nvSpPr>
          <p:cNvPr id="20" name="Text 17"/>
          <p:cNvSpPr/>
          <p:nvPr/>
        </p:nvSpPr>
        <p:spPr>
          <a:xfrm>
            <a:off x="5022469" y="1982116"/>
            <a:ext cx="911457" cy="228600"/>
          </a:xfrm>
          <a:prstGeom prst="rect">
            <a:avLst/>
          </a:prstGeom>
          <a:noFill/>
          <a:ln/>
        </p:spPr>
        <p:txBody>
          <a:bodyPr wrap="square" lIns="47625" tIns="114300" rIns="114300" bIns="47625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% Efect.</a:t>
            </a:r>
            <a:endParaRPr lang="en-US" sz="888" dirty="0"/>
          </a:p>
        </p:txBody>
      </p:sp>
      <p:sp>
        <p:nvSpPr>
          <p:cNvPr id="21" name="Text 18"/>
          <p:cNvSpPr/>
          <p:nvPr/>
        </p:nvSpPr>
        <p:spPr>
          <a:xfrm>
            <a:off x="685783" y="5227164"/>
            <a:ext cx="858266" cy="459879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l" indent="0" marL="0">
              <a:buNone/>
            </a:pPr>
            <a:r>
              <a:rPr lang="en-US" sz="888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Total 1S</a:t>
            </a:r>
            <a:endParaRPr lang="en-US" sz="888" dirty="0"/>
          </a:p>
        </p:txBody>
      </p:sp>
      <p:sp>
        <p:nvSpPr>
          <p:cNvPr id="22" name="Text 19"/>
          <p:cNvSpPr/>
          <p:nvPr/>
        </p:nvSpPr>
        <p:spPr>
          <a:xfrm>
            <a:off x="7165294" y="1982116"/>
            <a:ext cx="1114105" cy="228600"/>
          </a:xfrm>
          <a:prstGeom prst="rect">
            <a:avLst/>
          </a:prstGeom>
          <a:noFill/>
          <a:ln/>
        </p:spPr>
        <p:txBody>
          <a:bodyPr wrap="square" lIns="47625" tIns="114300" rIns="114300" bIns="47625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Gestores</a:t>
            </a:r>
            <a:endParaRPr lang="en-US" sz="888" dirty="0"/>
          </a:p>
        </p:txBody>
      </p:sp>
      <p:sp>
        <p:nvSpPr>
          <p:cNvPr id="23" name="Text 20"/>
          <p:cNvSpPr/>
          <p:nvPr/>
        </p:nvSpPr>
        <p:spPr>
          <a:xfrm>
            <a:off x="8245686" y="1982116"/>
            <a:ext cx="1157486" cy="228600"/>
          </a:xfrm>
          <a:prstGeom prst="rect">
            <a:avLst/>
          </a:prstGeom>
          <a:noFill/>
          <a:ln/>
        </p:spPr>
        <p:txBody>
          <a:bodyPr wrap="square" lIns="47625" tIns="114300" rIns="114300" bIns="47625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Cantadas</a:t>
            </a:r>
            <a:endParaRPr lang="en-US" sz="888" dirty="0"/>
          </a:p>
        </p:txBody>
      </p:sp>
      <p:sp>
        <p:nvSpPr>
          <p:cNvPr id="24" name="Text 21"/>
          <p:cNvSpPr/>
          <p:nvPr/>
        </p:nvSpPr>
        <p:spPr>
          <a:xfrm>
            <a:off x="10477496" y="1982116"/>
            <a:ext cx="1028417" cy="228600"/>
          </a:xfrm>
          <a:prstGeom prst="rect">
            <a:avLst/>
          </a:prstGeom>
          <a:noFill/>
          <a:ln/>
        </p:spPr>
        <p:txBody>
          <a:bodyPr wrap="square" lIns="47625" tIns="114300" rIns="114300" bIns="47625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% Efect.</a:t>
            </a:r>
            <a:endParaRPr lang="en-US" sz="888" dirty="0"/>
          </a:p>
        </p:txBody>
      </p:sp>
      <p:sp>
        <p:nvSpPr>
          <p:cNvPr id="25" name="Text 22"/>
          <p:cNvSpPr/>
          <p:nvPr/>
        </p:nvSpPr>
        <p:spPr>
          <a:xfrm>
            <a:off x="6257769" y="5227164"/>
            <a:ext cx="968174" cy="459879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l" indent="0" marL="0">
              <a:buNone/>
            </a:pPr>
            <a:r>
              <a:rPr lang="en-US" sz="888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Total 1S</a:t>
            </a:r>
            <a:endParaRPr lang="en-US" sz="888" dirty="0"/>
          </a:p>
        </p:txBody>
      </p:sp>
      <p:sp>
        <p:nvSpPr>
          <p:cNvPr id="26" name="Text 23"/>
          <p:cNvSpPr/>
          <p:nvPr/>
        </p:nvSpPr>
        <p:spPr>
          <a:xfrm>
            <a:off x="3044234" y="5227164"/>
            <a:ext cx="1025964" cy="459879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16.062</a:t>
            </a:r>
            <a:endParaRPr lang="en-US" sz="888" dirty="0"/>
          </a:p>
        </p:txBody>
      </p:sp>
      <p:sp>
        <p:nvSpPr>
          <p:cNvPr id="27" name="Text 24"/>
          <p:cNvSpPr/>
          <p:nvPr/>
        </p:nvSpPr>
        <p:spPr>
          <a:xfrm>
            <a:off x="4040834" y="5227164"/>
            <a:ext cx="1008183" cy="459879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12.688</a:t>
            </a:r>
            <a:endParaRPr lang="en-US" sz="888" dirty="0"/>
          </a:p>
        </p:txBody>
      </p:sp>
      <p:sp>
        <p:nvSpPr>
          <p:cNvPr id="28" name="Text 25"/>
          <p:cNvSpPr/>
          <p:nvPr/>
        </p:nvSpPr>
        <p:spPr>
          <a:xfrm>
            <a:off x="723882" y="1085850"/>
            <a:ext cx="452111" cy="156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12.688</a:t>
            </a:r>
            <a:endParaRPr lang="en-US" sz="1020" dirty="0"/>
          </a:p>
        </p:txBody>
      </p:sp>
      <p:sp>
        <p:nvSpPr>
          <p:cNvPr id="29" name="Text 26"/>
          <p:cNvSpPr/>
          <p:nvPr/>
        </p:nvSpPr>
        <p:spPr>
          <a:xfrm>
            <a:off x="3044234" y="2210716"/>
            <a:ext cx="1025964" cy="49530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1.953</a:t>
            </a:r>
            <a:endParaRPr lang="en-US" sz="888" dirty="0"/>
          </a:p>
        </p:txBody>
      </p:sp>
      <p:sp>
        <p:nvSpPr>
          <p:cNvPr id="30" name="Text 27"/>
          <p:cNvSpPr/>
          <p:nvPr/>
        </p:nvSpPr>
        <p:spPr>
          <a:xfrm>
            <a:off x="4040834" y="2210716"/>
            <a:ext cx="1008183" cy="49530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1.614</a:t>
            </a:r>
            <a:endParaRPr lang="en-US" sz="888" dirty="0"/>
          </a:p>
        </p:txBody>
      </p:sp>
      <p:sp>
        <p:nvSpPr>
          <p:cNvPr id="31" name="Text 28"/>
          <p:cNvSpPr/>
          <p:nvPr/>
        </p:nvSpPr>
        <p:spPr>
          <a:xfrm>
            <a:off x="5022469" y="2210716"/>
            <a:ext cx="911457" cy="49530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82,6%</a:t>
            </a:r>
            <a:endParaRPr lang="en-US" sz="816" dirty="0"/>
          </a:p>
        </p:txBody>
      </p:sp>
      <p:sp>
        <p:nvSpPr>
          <p:cNvPr id="32" name="Text 29"/>
          <p:cNvSpPr/>
          <p:nvPr/>
        </p:nvSpPr>
        <p:spPr>
          <a:xfrm>
            <a:off x="3044234" y="2706016"/>
            <a:ext cx="1025964" cy="50423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2.298</a:t>
            </a:r>
            <a:endParaRPr lang="en-US" sz="888" dirty="0"/>
          </a:p>
        </p:txBody>
      </p:sp>
      <p:sp>
        <p:nvSpPr>
          <p:cNvPr id="33" name="Text 30"/>
          <p:cNvSpPr/>
          <p:nvPr/>
        </p:nvSpPr>
        <p:spPr>
          <a:xfrm>
            <a:off x="4040834" y="2706016"/>
            <a:ext cx="1008183" cy="50423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1.798</a:t>
            </a:r>
            <a:endParaRPr lang="en-US" sz="888" dirty="0"/>
          </a:p>
        </p:txBody>
      </p:sp>
      <p:sp>
        <p:nvSpPr>
          <p:cNvPr id="34" name="Text 31"/>
          <p:cNvSpPr/>
          <p:nvPr/>
        </p:nvSpPr>
        <p:spPr>
          <a:xfrm>
            <a:off x="5022469" y="2706016"/>
            <a:ext cx="911457" cy="50423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8A62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78,2%</a:t>
            </a:r>
            <a:endParaRPr lang="en-US" sz="816" dirty="0"/>
          </a:p>
        </p:txBody>
      </p:sp>
      <p:sp>
        <p:nvSpPr>
          <p:cNvPr id="35" name="Text 32"/>
          <p:cNvSpPr/>
          <p:nvPr/>
        </p:nvSpPr>
        <p:spPr>
          <a:xfrm>
            <a:off x="3044234" y="3210246"/>
            <a:ext cx="1025964" cy="50423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3.344</a:t>
            </a:r>
            <a:endParaRPr lang="en-US" sz="888" dirty="0"/>
          </a:p>
        </p:txBody>
      </p:sp>
      <p:sp>
        <p:nvSpPr>
          <p:cNvPr id="36" name="Text 33"/>
          <p:cNvSpPr/>
          <p:nvPr/>
        </p:nvSpPr>
        <p:spPr>
          <a:xfrm>
            <a:off x="4040834" y="3210246"/>
            <a:ext cx="1008183" cy="50423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2.474</a:t>
            </a:r>
            <a:endParaRPr lang="en-US" sz="888" dirty="0"/>
          </a:p>
        </p:txBody>
      </p:sp>
      <p:sp>
        <p:nvSpPr>
          <p:cNvPr id="37" name="Text 34"/>
          <p:cNvSpPr/>
          <p:nvPr/>
        </p:nvSpPr>
        <p:spPr>
          <a:xfrm>
            <a:off x="5022469" y="3210246"/>
            <a:ext cx="911457" cy="50423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8A62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74,0%</a:t>
            </a:r>
            <a:endParaRPr lang="en-US" sz="816" dirty="0"/>
          </a:p>
        </p:txBody>
      </p:sp>
      <p:sp>
        <p:nvSpPr>
          <p:cNvPr id="38" name="Text 35"/>
          <p:cNvSpPr/>
          <p:nvPr/>
        </p:nvSpPr>
        <p:spPr>
          <a:xfrm>
            <a:off x="3044234" y="3714475"/>
            <a:ext cx="1025964" cy="50423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2.731</a:t>
            </a:r>
            <a:endParaRPr lang="en-US" sz="888" dirty="0"/>
          </a:p>
        </p:txBody>
      </p:sp>
      <p:sp>
        <p:nvSpPr>
          <p:cNvPr id="39" name="Text 36"/>
          <p:cNvSpPr/>
          <p:nvPr/>
        </p:nvSpPr>
        <p:spPr>
          <a:xfrm>
            <a:off x="4040834" y="3714475"/>
            <a:ext cx="1008183" cy="50423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2.177</a:t>
            </a:r>
            <a:endParaRPr lang="en-US" sz="888" dirty="0"/>
          </a:p>
        </p:txBody>
      </p:sp>
      <p:sp>
        <p:nvSpPr>
          <p:cNvPr id="40" name="Text 37"/>
          <p:cNvSpPr/>
          <p:nvPr/>
        </p:nvSpPr>
        <p:spPr>
          <a:xfrm>
            <a:off x="5022469" y="3714475"/>
            <a:ext cx="911457" cy="50423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8A62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79,7%</a:t>
            </a:r>
            <a:endParaRPr lang="en-US" sz="816" dirty="0"/>
          </a:p>
        </p:txBody>
      </p:sp>
      <p:sp>
        <p:nvSpPr>
          <p:cNvPr id="41" name="Text 38"/>
          <p:cNvSpPr/>
          <p:nvPr/>
        </p:nvSpPr>
        <p:spPr>
          <a:xfrm>
            <a:off x="3044234" y="4218705"/>
            <a:ext cx="1025964" cy="50423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3.116</a:t>
            </a:r>
            <a:endParaRPr lang="en-US" sz="888" dirty="0"/>
          </a:p>
        </p:txBody>
      </p:sp>
      <p:sp>
        <p:nvSpPr>
          <p:cNvPr id="42" name="Text 39"/>
          <p:cNvSpPr/>
          <p:nvPr/>
        </p:nvSpPr>
        <p:spPr>
          <a:xfrm>
            <a:off x="4040834" y="4218705"/>
            <a:ext cx="1008183" cy="50423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2.443</a:t>
            </a:r>
            <a:endParaRPr lang="en-US" sz="888" dirty="0"/>
          </a:p>
        </p:txBody>
      </p:sp>
      <p:sp>
        <p:nvSpPr>
          <p:cNvPr id="43" name="Text 40"/>
          <p:cNvSpPr/>
          <p:nvPr/>
        </p:nvSpPr>
        <p:spPr>
          <a:xfrm>
            <a:off x="5022469" y="4218705"/>
            <a:ext cx="911457" cy="50423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8A62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78,4%</a:t>
            </a:r>
            <a:endParaRPr lang="en-US" sz="816" dirty="0"/>
          </a:p>
        </p:txBody>
      </p:sp>
      <p:sp>
        <p:nvSpPr>
          <p:cNvPr id="44" name="Text 41"/>
          <p:cNvSpPr/>
          <p:nvPr/>
        </p:nvSpPr>
        <p:spPr>
          <a:xfrm>
            <a:off x="3044234" y="4722935"/>
            <a:ext cx="1025964" cy="50423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2.620</a:t>
            </a:r>
            <a:endParaRPr lang="en-US" sz="888" dirty="0"/>
          </a:p>
        </p:txBody>
      </p:sp>
      <p:sp>
        <p:nvSpPr>
          <p:cNvPr id="45" name="Text 42"/>
          <p:cNvSpPr/>
          <p:nvPr/>
        </p:nvSpPr>
        <p:spPr>
          <a:xfrm>
            <a:off x="4040834" y="4722935"/>
            <a:ext cx="1008183" cy="50423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2.182</a:t>
            </a:r>
            <a:endParaRPr lang="en-US" sz="888" dirty="0"/>
          </a:p>
        </p:txBody>
      </p:sp>
      <p:sp>
        <p:nvSpPr>
          <p:cNvPr id="46" name="Text 43"/>
          <p:cNvSpPr/>
          <p:nvPr/>
        </p:nvSpPr>
        <p:spPr>
          <a:xfrm>
            <a:off x="5022469" y="4722935"/>
            <a:ext cx="911457" cy="50423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83,3%</a:t>
            </a:r>
            <a:endParaRPr lang="en-US" sz="816" dirty="0"/>
          </a:p>
        </p:txBody>
      </p:sp>
      <p:sp>
        <p:nvSpPr>
          <p:cNvPr id="47" name="Text 44"/>
          <p:cNvSpPr/>
          <p:nvPr/>
        </p:nvSpPr>
        <p:spPr>
          <a:xfrm>
            <a:off x="5022469" y="5227164"/>
            <a:ext cx="911457" cy="459879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79,0%</a:t>
            </a:r>
            <a:endParaRPr lang="en-US" sz="816" dirty="0"/>
          </a:p>
        </p:txBody>
      </p:sp>
      <p:sp>
        <p:nvSpPr>
          <p:cNvPr id="48" name="Text 45"/>
          <p:cNvSpPr/>
          <p:nvPr/>
        </p:nvSpPr>
        <p:spPr>
          <a:xfrm>
            <a:off x="10477496" y="2210716"/>
            <a:ext cx="1028417" cy="49530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8A62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54,0%</a:t>
            </a:r>
            <a:endParaRPr lang="en-US" sz="816" dirty="0"/>
          </a:p>
        </p:txBody>
      </p:sp>
      <p:sp>
        <p:nvSpPr>
          <p:cNvPr id="49" name="Text 46"/>
          <p:cNvSpPr/>
          <p:nvPr/>
        </p:nvSpPr>
        <p:spPr>
          <a:xfrm>
            <a:off x="10477496" y="2706016"/>
            <a:ext cx="1028417" cy="50423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8A62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54,2%</a:t>
            </a:r>
            <a:endParaRPr lang="en-US" sz="816" dirty="0"/>
          </a:p>
        </p:txBody>
      </p:sp>
      <p:sp>
        <p:nvSpPr>
          <p:cNvPr id="50" name="Text 47"/>
          <p:cNvSpPr/>
          <p:nvPr/>
        </p:nvSpPr>
        <p:spPr>
          <a:xfrm>
            <a:off x="10477496" y="3210246"/>
            <a:ext cx="1028417" cy="50423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72,2%</a:t>
            </a:r>
            <a:endParaRPr lang="en-US" sz="816" dirty="0"/>
          </a:p>
        </p:txBody>
      </p:sp>
      <p:sp>
        <p:nvSpPr>
          <p:cNvPr id="51" name="Text 48"/>
          <p:cNvSpPr/>
          <p:nvPr/>
        </p:nvSpPr>
        <p:spPr>
          <a:xfrm>
            <a:off x="10477496" y="3714475"/>
            <a:ext cx="1028417" cy="50423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75,8%</a:t>
            </a:r>
            <a:endParaRPr lang="en-US" sz="816" dirty="0"/>
          </a:p>
        </p:txBody>
      </p:sp>
      <p:sp>
        <p:nvSpPr>
          <p:cNvPr id="52" name="Text 49"/>
          <p:cNvSpPr/>
          <p:nvPr/>
        </p:nvSpPr>
        <p:spPr>
          <a:xfrm>
            <a:off x="10477496" y="4218705"/>
            <a:ext cx="1028417" cy="50423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68,0%</a:t>
            </a:r>
            <a:endParaRPr lang="en-US" sz="816" dirty="0"/>
          </a:p>
        </p:txBody>
      </p:sp>
      <p:sp>
        <p:nvSpPr>
          <p:cNvPr id="53" name="Text 50"/>
          <p:cNvSpPr/>
          <p:nvPr/>
        </p:nvSpPr>
        <p:spPr>
          <a:xfrm>
            <a:off x="10477496" y="4722935"/>
            <a:ext cx="1028417" cy="50423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85,0%</a:t>
            </a:r>
            <a:endParaRPr lang="en-US" sz="816" dirty="0"/>
          </a:p>
        </p:txBody>
      </p:sp>
      <p:sp>
        <p:nvSpPr>
          <p:cNvPr id="54" name="Text 51"/>
          <p:cNvSpPr/>
          <p:nvPr/>
        </p:nvSpPr>
        <p:spPr>
          <a:xfrm>
            <a:off x="10477496" y="5227164"/>
            <a:ext cx="1028417" cy="459879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69,2%</a:t>
            </a:r>
            <a:endParaRPr lang="en-US" sz="816" dirty="0"/>
          </a:p>
        </p:txBody>
      </p:sp>
      <p:sp>
        <p:nvSpPr>
          <p:cNvPr id="55" name="Text 52"/>
          <p:cNvSpPr/>
          <p:nvPr/>
        </p:nvSpPr>
        <p:spPr>
          <a:xfrm>
            <a:off x="6286343" y="1085850"/>
            <a:ext cx="363927" cy="156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2.474</a:t>
            </a:r>
            <a:endParaRPr lang="en-US" sz="1020" dirty="0"/>
          </a:p>
        </p:txBody>
      </p:sp>
      <p:sp>
        <p:nvSpPr>
          <p:cNvPr id="56" name="Text 53"/>
          <p:cNvSpPr/>
          <p:nvPr/>
        </p:nvSpPr>
        <p:spPr>
          <a:xfrm>
            <a:off x="9067573" y="1085850"/>
            <a:ext cx="370237" cy="156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FF6B35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4.625</a:t>
            </a:r>
            <a:endParaRPr lang="en-US" sz="1020" dirty="0"/>
          </a:p>
        </p:txBody>
      </p:sp>
      <p:sp>
        <p:nvSpPr>
          <p:cNvPr id="57" name="Text 54"/>
          <p:cNvSpPr/>
          <p:nvPr/>
        </p:nvSpPr>
        <p:spPr>
          <a:xfrm>
            <a:off x="1490284" y="5227164"/>
            <a:ext cx="987642" cy="459879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123*</a:t>
            </a:r>
            <a:endParaRPr lang="en-US" sz="888" dirty="0"/>
          </a:p>
        </p:txBody>
      </p:sp>
      <p:sp>
        <p:nvSpPr>
          <p:cNvPr id="58" name="Text 55"/>
          <p:cNvSpPr/>
          <p:nvPr/>
        </p:nvSpPr>
        <p:spPr>
          <a:xfrm>
            <a:off x="7165294" y="5227164"/>
            <a:ext cx="1114105" cy="459879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122*</a:t>
            </a:r>
            <a:endParaRPr lang="en-US" sz="888" dirty="0"/>
          </a:p>
        </p:txBody>
      </p:sp>
      <p:sp>
        <p:nvSpPr>
          <p:cNvPr id="59" name="Text 56"/>
          <p:cNvSpPr/>
          <p:nvPr/>
        </p:nvSpPr>
        <p:spPr>
          <a:xfrm>
            <a:off x="685783" y="1982116"/>
            <a:ext cx="858266" cy="228600"/>
          </a:xfrm>
          <a:prstGeom prst="rect">
            <a:avLst/>
          </a:prstGeom>
          <a:noFill/>
          <a:ln/>
        </p:spPr>
        <p:txBody>
          <a:bodyPr wrap="square" lIns="47625" tIns="114300" rIns="114300" bIns="47625" rtlCol="0" anchor="ctr"/>
          <a:lstStyle/>
          <a:p>
            <a:pPr algn="l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Mes</a:t>
            </a:r>
            <a:endParaRPr lang="en-US" sz="888" dirty="0"/>
          </a:p>
        </p:txBody>
      </p:sp>
      <p:sp>
        <p:nvSpPr>
          <p:cNvPr id="60" name="Text 57"/>
          <p:cNvSpPr/>
          <p:nvPr/>
        </p:nvSpPr>
        <p:spPr>
          <a:xfrm>
            <a:off x="2460041" y="1982116"/>
            <a:ext cx="614076" cy="228600"/>
          </a:xfrm>
          <a:prstGeom prst="rect">
            <a:avLst/>
          </a:prstGeom>
          <a:noFill/>
          <a:ln/>
        </p:spPr>
        <p:txBody>
          <a:bodyPr wrap="square" lIns="47625" tIns="114300" rIns="114300" bIns="47625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PDV</a:t>
            </a:r>
            <a:endParaRPr lang="en-US" sz="888" dirty="0"/>
          </a:p>
        </p:txBody>
      </p:sp>
      <p:sp>
        <p:nvSpPr>
          <p:cNvPr id="61" name="Text 58"/>
          <p:cNvSpPr/>
          <p:nvPr/>
        </p:nvSpPr>
        <p:spPr>
          <a:xfrm>
            <a:off x="685783" y="2210716"/>
            <a:ext cx="858266" cy="49530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l" indent="0" marL="0">
              <a:buNone/>
            </a:pPr>
            <a:r>
              <a:rPr lang="en-US" sz="88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Ene</a:t>
            </a:r>
            <a:endParaRPr lang="en-US" sz="888" dirty="0"/>
          </a:p>
        </p:txBody>
      </p:sp>
      <p:sp>
        <p:nvSpPr>
          <p:cNvPr id="62" name="Text 59"/>
          <p:cNvSpPr/>
          <p:nvPr/>
        </p:nvSpPr>
        <p:spPr>
          <a:xfrm>
            <a:off x="1490284" y="2210716"/>
            <a:ext cx="987642" cy="49530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147</a:t>
            </a:r>
            <a:endParaRPr lang="en-US" sz="888" dirty="0"/>
          </a:p>
        </p:txBody>
      </p:sp>
      <p:sp>
        <p:nvSpPr>
          <p:cNvPr id="63" name="Text 60"/>
          <p:cNvSpPr/>
          <p:nvPr/>
        </p:nvSpPr>
        <p:spPr>
          <a:xfrm>
            <a:off x="685783" y="2706016"/>
            <a:ext cx="858266" cy="50423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l" indent="0" marL="0">
              <a:buNone/>
            </a:pPr>
            <a:r>
              <a:rPr lang="en-US" sz="88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Feb</a:t>
            </a:r>
            <a:endParaRPr lang="en-US" sz="888" dirty="0"/>
          </a:p>
        </p:txBody>
      </p:sp>
      <p:sp>
        <p:nvSpPr>
          <p:cNvPr id="64" name="Text 61"/>
          <p:cNvSpPr/>
          <p:nvPr/>
        </p:nvSpPr>
        <p:spPr>
          <a:xfrm>
            <a:off x="1490284" y="2706016"/>
            <a:ext cx="987642" cy="50423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146</a:t>
            </a:r>
            <a:endParaRPr lang="en-US" sz="888" dirty="0"/>
          </a:p>
        </p:txBody>
      </p:sp>
      <p:sp>
        <p:nvSpPr>
          <p:cNvPr id="65" name="Text 62"/>
          <p:cNvSpPr/>
          <p:nvPr/>
        </p:nvSpPr>
        <p:spPr>
          <a:xfrm>
            <a:off x="685783" y="3210246"/>
            <a:ext cx="858266" cy="50423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l" indent="0" marL="0">
              <a:buNone/>
            </a:pPr>
            <a:r>
              <a:rPr lang="en-US" sz="88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Mar</a:t>
            </a:r>
            <a:endParaRPr lang="en-US" sz="888" dirty="0"/>
          </a:p>
        </p:txBody>
      </p:sp>
      <p:sp>
        <p:nvSpPr>
          <p:cNvPr id="66" name="Text 63"/>
          <p:cNvSpPr/>
          <p:nvPr/>
        </p:nvSpPr>
        <p:spPr>
          <a:xfrm>
            <a:off x="1490284" y="3210246"/>
            <a:ext cx="987642" cy="50423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135</a:t>
            </a:r>
            <a:endParaRPr lang="en-US" sz="888" dirty="0"/>
          </a:p>
        </p:txBody>
      </p:sp>
      <p:sp>
        <p:nvSpPr>
          <p:cNvPr id="67" name="Text 64"/>
          <p:cNvSpPr/>
          <p:nvPr/>
        </p:nvSpPr>
        <p:spPr>
          <a:xfrm>
            <a:off x="685783" y="3714475"/>
            <a:ext cx="858266" cy="50423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l" indent="0" marL="0">
              <a:buNone/>
            </a:pPr>
            <a:r>
              <a:rPr lang="en-US" sz="88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Abr</a:t>
            </a:r>
            <a:endParaRPr lang="en-US" sz="888" dirty="0"/>
          </a:p>
        </p:txBody>
      </p:sp>
      <p:sp>
        <p:nvSpPr>
          <p:cNvPr id="68" name="Text 65"/>
          <p:cNvSpPr/>
          <p:nvPr/>
        </p:nvSpPr>
        <p:spPr>
          <a:xfrm>
            <a:off x="1490284" y="3714475"/>
            <a:ext cx="987642" cy="50423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118</a:t>
            </a:r>
            <a:endParaRPr lang="en-US" sz="888" dirty="0"/>
          </a:p>
        </p:txBody>
      </p:sp>
      <p:sp>
        <p:nvSpPr>
          <p:cNvPr id="69" name="Text 66"/>
          <p:cNvSpPr/>
          <p:nvPr/>
        </p:nvSpPr>
        <p:spPr>
          <a:xfrm>
            <a:off x="685783" y="4218705"/>
            <a:ext cx="858266" cy="50423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l" indent="0" marL="0">
              <a:buNone/>
            </a:pPr>
            <a:r>
              <a:rPr lang="en-US" sz="88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May</a:t>
            </a:r>
            <a:endParaRPr lang="en-US" sz="888" dirty="0"/>
          </a:p>
        </p:txBody>
      </p:sp>
      <p:sp>
        <p:nvSpPr>
          <p:cNvPr id="70" name="Text 67"/>
          <p:cNvSpPr/>
          <p:nvPr/>
        </p:nvSpPr>
        <p:spPr>
          <a:xfrm>
            <a:off x="685783" y="4722935"/>
            <a:ext cx="858266" cy="50423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l" indent="0" marL="0">
              <a:buNone/>
            </a:pPr>
            <a:r>
              <a:rPr lang="en-US" sz="88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Jun</a:t>
            </a:r>
            <a:endParaRPr lang="en-US" sz="888" dirty="0"/>
          </a:p>
        </p:txBody>
      </p:sp>
      <p:sp>
        <p:nvSpPr>
          <p:cNvPr id="71" name="Text 68"/>
          <p:cNvSpPr/>
          <p:nvPr/>
        </p:nvSpPr>
        <p:spPr>
          <a:xfrm>
            <a:off x="2460041" y="5227164"/>
            <a:ext cx="614076" cy="459879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74*</a:t>
            </a:r>
            <a:endParaRPr lang="en-US" sz="888" dirty="0"/>
          </a:p>
        </p:txBody>
      </p:sp>
      <p:sp>
        <p:nvSpPr>
          <p:cNvPr id="72" name="Text 69"/>
          <p:cNvSpPr/>
          <p:nvPr/>
        </p:nvSpPr>
        <p:spPr>
          <a:xfrm>
            <a:off x="6257769" y="1982116"/>
            <a:ext cx="968174" cy="228600"/>
          </a:xfrm>
          <a:prstGeom prst="rect">
            <a:avLst/>
          </a:prstGeom>
          <a:noFill/>
          <a:ln/>
        </p:spPr>
        <p:txBody>
          <a:bodyPr wrap="square" lIns="47625" tIns="114300" rIns="114300" bIns="47625" rtlCol="0" anchor="ctr"/>
          <a:lstStyle/>
          <a:p>
            <a:pPr algn="l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Mes</a:t>
            </a:r>
            <a:endParaRPr lang="en-US" sz="888" dirty="0"/>
          </a:p>
        </p:txBody>
      </p:sp>
      <p:sp>
        <p:nvSpPr>
          <p:cNvPr id="73" name="Text 70"/>
          <p:cNvSpPr/>
          <p:nvPr/>
        </p:nvSpPr>
        <p:spPr>
          <a:xfrm>
            <a:off x="6257769" y="2210716"/>
            <a:ext cx="968174" cy="49530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l" indent="0" marL="0">
              <a:buNone/>
            </a:pPr>
            <a:r>
              <a:rPr lang="en-US" sz="88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Ene</a:t>
            </a:r>
            <a:endParaRPr lang="en-US" sz="888" dirty="0"/>
          </a:p>
        </p:txBody>
      </p:sp>
      <p:sp>
        <p:nvSpPr>
          <p:cNvPr id="74" name="Text 71"/>
          <p:cNvSpPr/>
          <p:nvPr/>
        </p:nvSpPr>
        <p:spPr>
          <a:xfrm>
            <a:off x="7165294" y="2210716"/>
            <a:ext cx="1114105" cy="49530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148</a:t>
            </a:r>
            <a:endParaRPr lang="en-US" sz="888" dirty="0"/>
          </a:p>
        </p:txBody>
      </p:sp>
      <p:sp>
        <p:nvSpPr>
          <p:cNvPr id="75" name="Text 72"/>
          <p:cNvSpPr/>
          <p:nvPr/>
        </p:nvSpPr>
        <p:spPr>
          <a:xfrm>
            <a:off x="6257769" y="2706016"/>
            <a:ext cx="968174" cy="50423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l" indent="0" marL="0">
              <a:buNone/>
            </a:pPr>
            <a:r>
              <a:rPr lang="en-US" sz="88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Feb</a:t>
            </a:r>
            <a:endParaRPr lang="en-US" sz="888" dirty="0"/>
          </a:p>
        </p:txBody>
      </p:sp>
      <p:sp>
        <p:nvSpPr>
          <p:cNvPr id="76" name="Text 73"/>
          <p:cNvSpPr/>
          <p:nvPr/>
        </p:nvSpPr>
        <p:spPr>
          <a:xfrm>
            <a:off x="7165294" y="2706016"/>
            <a:ext cx="1114105" cy="50423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139</a:t>
            </a:r>
            <a:endParaRPr lang="en-US" sz="888" dirty="0"/>
          </a:p>
        </p:txBody>
      </p:sp>
      <p:sp>
        <p:nvSpPr>
          <p:cNvPr id="77" name="Text 74"/>
          <p:cNvSpPr/>
          <p:nvPr/>
        </p:nvSpPr>
        <p:spPr>
          <a:xfrm>
            <a:off x="8245686" y="2706016"/>
            <a:ext cx="1157486" cy="50423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120</a:t>
            </a:r>
            <a:endParaRPr lang="en-US" sz="888" dirty="0"/>
          </a:p>
        </p:txBody>
      </p:sp>
      <p:sp>
        <p:nvSpPr>
          <p:cNvPr id="78" name="Text 75"/>
          <p:cNvSpPr/>
          <p:nvPr/>
        </p:nvSpPr>
        <p:spPr>
          <a:xfrm>
            <a:off x="6257769" y="3210246"/>
            <a:ext cx="968174" cy="50423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l" indent="0" marL="0">
              <a:buNone/>
            </a:pPr>
            <a:r>
              <a:rPr lang="en-US" sz="88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Mar</a:t>
            </a:r>
            <a:endParaRPr lang="en-US" sz="888" dirty="0"/>
          </a:p>
        </p:txBody>
      </p:sp>
      <p:sp>
        <p:nvSpPr>
          <p:cNvPr id="79" name="Text 76"/>
          <p:cNvSpPr/>
          <p:nvPr/>
        </p:nvSpPr>
        <p:spPr>
          <a:xfrm>
            <a:off x="7165294" y="3210246"/>
            <a:ext cx="1114105" cy="50423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135</a:t>
            </a:r>
            <a:endParaRPr lang="en-US" sz="888" dirty="0"/>
          </a:p>
        </p:txBody>
      </p:sp>
      <p:sp>
        <p:nvSpPr>
          <p:cNvPr id="80" name="Text 77"/>
          <p:cNvSpPr/>
          <p:nvPr/>
        </p:nvSpPr>
        <p:spPr>
          <a:xfrm>
            <a:off x="8245686" y="3210246"/>
            <a:ext cx="1157486" cy="50423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169</a:t>
            </a:r>
            <a:endParaRPr lang="en-US" sz="888" dirty="0"/>
          </a:p>
        </p:txBody>
      </p:sp>
      <p:sp>
        <p:nvSpPr>
          <p:cNvPr id="81" name="Text 78"/>
          <p:cNvSpPr/>
          <p:nvPr/>
        </p:nvSpPr>
        <p:spPr>
          <a:xfrm>
            <a:off x="9370044" y="3210246"/>
            <a:ext cx="1137405" cy="50423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122</a:t>
            </a:r>
            <a:endParaRPr lang="en-US" sz="888" dirty="0"/>
          </a:p>
        </p:txBody>
      </p:sp>
      <p:sp>
        <p:nvSpPr>
          <p:cNvPr id="82" name="Text 79"/>
          <p:cNvSpPr/>
          <p:nvPr/>
        </p:nvSpPr>
        <p:spPr>
          <a:xfrm>
            <a:off x="6257769" y="3714475"/>
            <a:ext cx="968174" cy="50423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l" indent="0" marL="0">
              <a:buNone/>
            </a:pPr>
            <a:r>
              <a:rPr lang="en-US" sz="88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Abr</a:t>
            </a:r>
            <a:endParaRPr lang="en-US" sz="888" dirty="0"/>
          </a:p>
        </p:txBody>
      </p:sp>
      <p:sp>
        <p:nvSpPr>
          <p:cNvPr id="83" name="Text 80"/>
          <p:cNvSpPr/>
          <p:nvPr/>
        </p:nvSpPr>
        <p:spPr>
          <a:xfrm>
            <a:off x="7165294" y="3714475"/>
            <a:ext cx="1114105" cy="50423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118</a:t>
            </a:r>
            <a:endParaRPr lang="en-US" sz="888" dirty="0"/>
          </a:p>
        </p:txBody>
      </p:sp>
      <p:sp>
        <p:nvSpPr>
          <p:cNvPr id="84" name="Text 81"/>
          <p:cNvSpPr/>
          <p:nvPr/>
        </p:nvSpPr>
        <p:spPr>
          <a:xfrm>
            <a:off x="8245686" y="3714475"/>
            <a:ext cx="1157486" cy="50423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120</a:t>
            </a:r>
            <a:endParaRPr lang="en-US" sz="888" dirty="0"/>
          </a:p>
        </p:txBody>
      </p:sp>
      <p:sp>
        <p:nvSpPr>
          <p:cNvPr id="85" name="Text 82"/>
          <p:cNvSpPr/>
          <p:nvPr/>
        </p:nvSpPr>
        <p:spPr>
          <a:xfrm>
            <a:off x="6257769" y="4218705"/>
            <a:ext cx="968174" cy="50423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l" indent="0" marL="0">
              <a:buNone/>
            </a:pPr>
            <a:r>
              <a:rPr lang="en-US" sz="88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May</a:t>
            </a:r>
            <a:endParaRPr lang="en-US" sz="888" dirty="0"/>
          </a:p>
        </p:txBody>
      </p:sp>
      <p:sp>
        <p:nvSpPr>
          <p:cNvPr id="86" name="Text 83"/>
          <p:cNvSpPr/>
          <p:nvPr/>
        </p:nvSpPr>
        <p:spPr>
          <a:xfrm>
            <a:off x="8245686" y="4218705"/>
            <a:ext cx="1157486" cy="50423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103</a:t>
            </a:r>
            <a:endParaRPr lang="en-US" sz="888" dirty="0"/>
          </a:p>
        </p:txBody>
      </p:sp>
      <p:sp>
        <p:nvSpPr>
          <p:cNvPr id="87" name="Text 84"/>
          <p:cNvSpPr/>
          <p:nvPr/>
        </p:nvSpPr>
        <p:spPr>
          <a:xfrm>
            <a:off x="6257769" y="4722935"/>
            <a:ext cx="968174" cy="50423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l" indent="0" marL="0">
              <a:buNone/>
            </a:pPr>
            <a:r>
              <a:rPr lang="en-US" sz="88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Jun</a:t>
            </a:r>
            <a:endParaRPr lang="en-US" sz="888" dirty="0"/>
          </a:p>
        </p:txBody>
      </p:sp>
      <p:sp>
        <p:nvSpPr>
          <p:cNvPr id="88" name="Text 85"/>
          <p:cNvSpPr/>
          <p:nvPr/>
        </p:nvSpPr>
        <p:spPr>
          <a:xfrm>
            <a:off x="8245686" y="4722935"/>
            <a:ext cx="1157486" cy="50423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100</a:t>
            </a:r>
            <a:endParaRPr lang="en-US" sz="888" dirty="0"/>
          </a:p>
        </p:txBody>
      </p:sp>
      <p:sp>
        <p:nvSpPr>
          <p:cNvPr id="89" name="Text 86"/>
          <p:cNvSpPr/>
          <p:nvPr/>
        </p:nvSpPr>
        <p:spPr>
          <a:xfrm>
            <a:off x="8245686" y="5227164"/>
            <a:ext cx="1157486" cy="459879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675</a:t>
            </a:r>
            <a:endParaRPr lang="en-US" sz="888" dirty="0"/>
          </a:p>
        </p:txBody>
      </p:sp>
      <p:sp>
        <p:nvSpPr>
          <p:cNvPr id="90" name="Text 87"/>
          <p:cNvSpPr/>
          <p:nvPr/>
        </p:nvSpPr>
        <p:spPr>
          <a:xfrm>
            <a:off x="9370044" y="5227164"/>
            <a:ext cx="1137405" cy="459879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467</a:t>
            </a:r>
            <a:endParaRPr lang="en-US" sz="888" dirty="0"/>
          </a:p>
        </p:txBody>
      </p:sp>
      <p:sp>
        <p:nvSpPr>
          <p:cNvPr id="91" name="Text 88"/>
          <p:cNvSpPr/>
          <p:nvPr/>
        </p:nvSpPr>
        <p:spPr>
          <a:xfrm>
            <a:off x="3505112" y="1085850"/>
            <a:ext cx="274320" cy="156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467</a:t>
            </a:r>
            <a:endParaRPr lang="en-US" sz="1020" dirty="0"/>
          </a:p>
        </p:txBody>
      </p:sp>
      <p:sp>
        <p:nvSpPr>
          <p:cNvPr id="92" name="Text 89"/>
          <p:cNvSpPr/>
          <p:nvPr/>
        </p:nvSpPr>
        <p:spPr>
          <a:xfrm>
            <a:off x="2460041" y="2210716"/>
            <a:ext cx="614076" cy="49530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91</a:t>
            </a:r>
            <a:endParaRPr lang="en-US" sz="888" dirty="0"/>
          </a:p>
        </p:txBody>
      </p:sp>
      <p:sp>
        <p:nvSpPr>
          <p:cNvPr id="93" name="Text 90"/>
          <p:cNvSpPr/>
          <p:nvPr/>
        </p:nvSpPr>
        <p:spPr>
          <a:xfrm>
            <a:off x="2460041" y="2706016"/>
            <a:ext cx="614076" cy="50423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90</a:t>
            </a:r>
            <a:endParaRPr lang="en-US" sz="888" dirty="0"/>
          </a:p>
        </p:txBody>
      </p:sp>
      <p:sp>
        <p:nvSpPr>
          <p:cNvPr id="94" name="Text 91"/>
          <p:cNvSpPr/>
          <p:nvPr/>
        </p:nvSpPr>
        <p:spPr>
          <a:xfrm>
            <a:off x="2460041" y="3210246"/>
            <a:ext cx="614076" cy="50423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82</a:t>
            </a:r>
            <a:endParaRPr lang="en-US" sz="888" dirty="0"/>
          </a:p>
        </p:txBody>
      </p:sp>
      <p:sp>
        <p:nvSpPr>
          <p:cNvPr id="95" name="Text 92"/>
          <p:cNvSpPr/>
          <p:nvPr/>
        </p:nvSpPr>
        <p:spPr>
          <a:xfrm>
            <a:off x="2460041" y="3714475"/>
            <a:ext cx="614076" cy="50423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72</a:t>
            </a:r>
            <a:endParaRPr lang="en-US" sz="888" dirty="0"/>
          </a:p>
        </p:txBody>
      </p:sp>
      <p:sp>
        <p:nvSpPr>
          <p:cNvPr id="96" name="Text 93"/>
          <p:cNvSpPr/>
          <p:nvPr/>
        </p:nvSpPr>
        <p:spPr>
          <a:xfrm>
            <a:off x="1490284" y="4218705"/>
            <a:ext cx="987642" cy="50423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93</a:t>
            </a:r>
            <a:endParaRPr lang="en-US" sz="888" dirty="0"/>
          </a:p>
        </p:txBody>
      </p:sp>
      <p:sp>
        <p:nvSpPr>
          <p:cNvPr id="97" name="Text 94"/>
          <p:cNvSpPr/>
          <p:nvPr/>
        </p:nvSpPr>
        <p:spPr>
          <a:xfrm>
            <a:off x="2460041" y="4218705"/>
            <a:ext cx="614076" cy="50423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57</a:t>
            </a:r>
            <a:endParaRPr lang="en-US" sz="888" dirty="0"/>
          </a:p>
        </p:txBody>
      </p:sp>
      <p:sp>
        <p:nvSpPr>
          <p:cNvPr id="98" name="Text 95"/>
          <p:cNvSpPr/>
          <p:nvPr/>
        </p:nvSpPr>
        <p:spPr>
          <a:xfrm>
            <a:off x="1490284" y="4722935"/>
            <a:ext cx="987642" cy="50423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96</a:t>
            </a:r>
            <a:endParaRPr lang="en-US" sz="888" dirty="0"/>
          </a:p>
        </p:txBody>
      </p:sp>
      <p:sp>
        <p:nvSpPr>
          <p:cNvPr id="99" name="Text 96"/>
          <p:cNvSpPr/>
          <p:nvPr/>
        </p:nvSpPr>
        <p:spPr>
          <a:xfrm>
            <a:off x="2460041" y="4722935"/>
            <a:ext cx="614076" cy="50423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52</a:t>
            </a:r>
            <a:endParaRPr lang="en-US" sz="888" dirty="0"/>
          </a:p>
        </p:txBody>
      </p:sp>
      <p:sp>
        <p:nvSpPr>
          <p:cNvPr id="100" name="Text 97"/>
          <p:cNvSpPr/>
          <p:nvPr/>
        </p:nvSpPr>
        <p:spPr>
          <a:xfrm>
            <a:off x="8245686" y="2210716"/>
            <a:ext cx="1157486" cy="49530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63</a:t>
            </a:r>
            <a:endParaRPr lang="en-US" sz="888" dirty="0"/>
          </a:p>
        </p:txBody>
      </p:sp>
      <p:sp>
        <p:nvSpPr>
          <p:cNvPr id="101" name="Text 98"/>
          <p:cNvSpPr/>
          <p:nvPr/>
        </p:nvSpPr>
        <p:spPr>
          <a:xfrm>
            <a:off x="9370044" y="2210716"/>
            <a:ext cx="1137405" cy="49530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34</a:t>
            </a:r>
            <a:endParaRPr lang="en-US" sz="888" dirty="0"/>
          </a:p>
        </p:txBody>
      </p:sp>
      <p:sp>
        <p:nvSpPr>
          <p:cNvPr id="102" name="Text 99"/>
          <p:cNvSpPr/>
          <p:nvPr/>
        </p:nvSpPr>
        <p:spPr>
          <a:xfrm>
            <a:off x="9370044" y="2706016"/>
            <a:ext cx="1137405" cy="50423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65</a:t>
            </a:r>
            <a:endParaRPr lang="en-US" sz="888" dirty="0"/>
          </a:p>
        </p:txBody>
      </p:sp>
      <p:sp>
        <p:nvSpPr>
          <p:cNvPr id="103" name="Text 100"/>
          <p:cNvSpPr/>
          <p:nvPr/>
        </p:nvSpPr>
        <p:spPr>
          <a:xfrm>
            <a:off x="9370044" y="3714475"/>
            <a:ext cx="1137405" cy="50423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91</a:t>
            </a:r>
            <a:endParaRPr lang="en-US" sz="888" dirty="0"/>
          </a:p>
        </p:txBody>
      </p:sp>
      <p:sp>
        <p:nvSpPr>
          <p:cNvPr id="104" name="Text 101"/>
          <p:cNvSpPr/>
          <p:nvPr/>
        </p:nvSpPr>
        <p:spPr>
          <a:xfrm>
            <a:off x="7165294" y="4218705"/>
            <a:ext cx="1114105" cy="50423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93</a:t>
            </a:r>
            <a:endParaRPr lang="en-US" sz="888" dirty="0"/>
          </a:p>
        </p:txBody>
      </p:sp>
      <p:sp>
        <p:nvSpPr>
          <p:cNvPr id="105" name="Text 102"/>
          <p:cNvSpPr/>
          <p:nvPr/>
        </p:nvSpPr>
        <p:spPr>
          <a:xfrm>
            <a:off x="9370044" y="4218705"/>
            <a:ext cx="1137405" cy="50423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70</a:t>
            </a:r>
            <a:endParaRPr lang="en-US" sz="888" dirty="0"/>
          </a:p>
        </p:txBody>
      </p:sp>
      <p:sp>
        <p:nvSpPr>
          <p:cNvPr id="106" name="Text 103"/>
          <p:cNvSpPr/>
          <p:nvPr/>
        </p:nvSpPr>
        <p:spPr>
          <a:xfrm>
            <a:off x="7165294" y="4722935"/>
            <a:ext cx="1114105" cy="50423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96</a:t>
            </a:r>
            <a:endParaRPr lang="en-US" sz="888" dirty="0"/>
          </a:p>
        </p:txBody>
      </p:sp>
      <p:sp>
        <p:nvSpPr>
          <p:cNvPr id="107" name="Text 104"/>
          <p:cNvSpPr/>
          <p:nvPr/>
        </p:nvSpPr>
        <p:spPr>
          <a:xfrm>
            <a:off x="9370044" y="4722935"/>
            <a:ext cx="1137405" cy="50423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algn="r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85</a:t>
            </a:r>
            <a:endParaRPr lang="en-US" sz="888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2026-07-17T20:53:32Z</dcterms:created>
  <dcterms:modified xsi:type="dcterms:W3CDTF">2026-07-17T20:53:32Z</dcterms:modified>
</cp:coreProperties>
</file>