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5931991"/>
            <a:ext cx="11143249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La reestructuración estratégica de zonas y canales de Retail (empalme con Tradicional) concentró la operación en puntos de mayor valor. Como resultado, a pesar del menor número de visitas, las ventas efectivas por PDV subieron +137% (de 17,5 a 41,5 pólizas/PDV entre ene y jun), demostrando una alta eficiencia comercial y un canal más enfocado y productivo.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23882" y="5132040"/>
            <a:ext cx="48253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26284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81030" y="1421160"/>
            <a:ext cx="20749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81731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15906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42.0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23169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6362541" y="1009650"/>
            <a:ext cx="161507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781030" y="1009650"/>
            <a:ext cx="1337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363517" y="2364135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606634" y="2364135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695532" y="2364135"/>
            <a:ext cx="11812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2595606" y="2364135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23882" y="4069110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6362541" y="1143000"/>
            <a:ext cx="752948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+137 %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723882" y="2364135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25974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1363517" y="25974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695532" y="26022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23882" y="28451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1363517" y="28451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4695532" y="28499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723882" y="30927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1363517" y="30927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695532" y="30975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723882" y="33404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1363517" y="33404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4695532" y="33452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723882" y="35880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4695532" y="35928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723882" y="38357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5" name="Text 32"/>
          <p:cNvSpPr/>
          <p:nvPr/>
        </p:nvSpPr>
        <p:spPr>
          <a:xfrm>
            <a:off x="4695532" y="38405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595606" y="4069110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326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3606634" y="4069110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781030" y="1143000"/>
            <a:ext cx="419772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740" dirty="0"/>
          </a:p>
        </p:txBody>
      </p:sp>
      <p:sp>
        <p:nvSpPr>
          <p:cNvPr id="39" name="Text 36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2" name="Text 39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3" name="Text 40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44" name="Text 41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2595606" y="25974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3606634" y="25974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595606" y="28451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3606634" y="28451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595606" y="30927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3606634" y="30927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2595606" y="33404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3606634" y="33404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1363517" y="35880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2595606" y="35880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3606634" y="35880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1363517" y="38357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595606" y="38357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606634" y="38357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11331368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60" name="Text 57"/>
          <p:cNvSpPr/>
          <p:nvPr/>
        </p:nvSpPr>
        <p:spPr>
          <a:xfrm>
            <a:off x="11331841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61" name="Text 58"/>
          <p:cNvSpPr/>
          <p:nvPr/>
        </p:nvSpPr>
        <p:spPr>
          <a:xfrm>
            <a:off x="11331841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62" name="Text 59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3" name="Text 60"/>
          <p:cNvSpPr/>
          <p:nvPr/>
        </p:nvSpPr>
        <p:spPr>
          <a:xfrm>
            <a:off x="11329159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64" name="Text 61"/>
          <p:cNvSpPr/>
          <p:nvPr/>
        </p:nvSpPr>
        <p:spPr>
          <a:xfrm>
            <a:off x="11325215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463636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26 cortes semanales "Como vamos" del semestre. Coberturas &gt;100 % indican PDV que Formación visitó con nombre distinto al registrado en Como vamos ese corte, o puntos sin gestión comercial activa ese mes. </a:t>
            </a:r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 del canal:</a:t>
            </a:r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147 (ene) → 96 (jun), promedio 123;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4744641"/>
            <a:ext cx="6244360" cy="244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(90 visitas):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empresa que provee promotores a ambos canales, no un aliado. De las 90: 33 puras Retail+Tradicional, 33 sedes/roles internos (no PDV) y 14 con cédula activa en ambos canales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(contadas en los dos)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 Total atribuido: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a Retail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 a Tradicional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805880"/>
            <a:ext cx="51590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5765602"/>
            <a:ext cx="45035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623792"/>
            <a:ext cx="34863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semestre.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697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448264" y="1567755"/>
            <a:ext cx="317178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(1S)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857229" y="1596330"/>
            <a:ext cx="26594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5594458" y="4433292"/>
            <a:ext cx="24295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90 "SERDÁN"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6295868" y="2082105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152924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434530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11422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 de 52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286343" y="1272480"/>
            <a:ext cx="11997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6295868" y="2800499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(Jumbo/Metro/Easy)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57229" y="4433292"/>
            <a:ext cx="136913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723882" y="962025"/>
            <a:ext cx="15098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723882" y="1272480"/>
            <a:ext cx="907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286343" y="962025"/>
            <a:ext cx="13445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1S</a:t>
            </a:r>
            <a:endParaRPr lang="en-US" sz="696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10979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20362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44372" y="203805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505112" y="962025"/>
            <a:ext cx="9725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Junio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3745683" y="203805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90764" y="186303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60429" y="186303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484167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2968600" y="484167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4841240" y="2038052"/>
            <a:ext cx="10736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95868" y="353318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04832" y="556557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5" name="Text 32"/>
          <p:cNvSpPr/>
          <p:nvPr/>
        </p:nvSpPr>
        <p:spPr>
          <a:xfrm>
            <a:off x="6969851" y="5416153"/>
            <a:ext cx="5748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10645646" y="5416153"/>
            <a:ext cx="5229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704832" y="502265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8" name="Text 35"/>
          <p:cNvSpPr/>
          <p:nvPr/>
        </p:nvSpPr>
        <p:spPr>
          <a:xfrm>
            <a:off x="2968600" y="556557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5816147" y="5416153"/>
            <a:ext cx="4492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8260797" y="5416153"/>
            <a:ext cx="4260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9992957" y="1863030"/>
            <a:ext cx="853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2968600" y="574655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3" name="Text 40"/>
          <p:cNvSpPr/>
          <p:nvPr/>
        </p:nvSpPr>
        <p:spPr>
          <a:xfrm>
            <a:off x="9485487" y="5416153"/>
            <a:ext cx="4098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4" name="Text 41"/>
          <p:cNvSpPr/>
          <p:nvPr/>
        </p:nvSpPr>
        <p:spPr>
          <a:xfrm>
            <a:off x="1507140" y="203805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04832" y="37573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502265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38460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27831" y="186303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9992957" y="3537942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102,9 %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6295868" y="186303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9992957" y="2153543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90,5 %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704832" y="574655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3" name="Text 50"/>
          <p:cNvSpPr/>
          <p:nvPr/>
        </p:nvSpPr>
        <p:spPr>
          <a:xfrm>
            <a:off x="3505112" y="1085850"/>
            <a:ext cx="43980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26,9 %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4841240" y="22761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60,9%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4841240" y="25238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57,1%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4841240" y="27714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4841240" y="30191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4841240" y="32667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4841240" y="35144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4841240" y="37620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47,2%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992957" y="2512665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9992957" y="2871936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119 %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704832" y="538460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4" name="Text 61"/>
          <p:cNvSpPr/>
          <p:nvPr/>
        </p:nvSpPr>
        <p:spPr>
          <a:xfrm>
            <a:off x="9992957" y="3231059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2968600" y="520362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6" name="Text 63"/>
          <p:cNvSpPr/>
          <p:nvPr/>
        </p:nvSpPr>
        <p:spPr>
          <a:xfrm>
            <a:off x="704832" y="2038052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704832" y="22714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507140" y="22714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5190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07140" y="25190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7667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07140" y="27667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30143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07140" y="30143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2620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04832" y="35096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1507140" y="37573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10827831" y="21487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184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890764" y="35331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960429" y="35331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0827831" y="35331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2286632" y="48416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628634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020" dirty="0"/>
          </a:p>
        </p:txBody>
      </p:sp>
      <p:sp>
        <p:nvSpPr>
          <p:cNvPr id="84" name="Text 81"/>
          <p:cNvSpPr/>
          <p:nvPr/>
        </p:nvSpPr>
        <p:spPr>
          <a:xfrm>
            <a:off x="2544372" y="22714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3745683" y="22714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2544372" y="25190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3745683" y="25190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2544372" y="27667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3745683" y="27667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2544372" y="30143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745683" y="30143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1507140" y="32620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544372" y="32620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3745683" y="32620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1507140" y="35096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2544372" y="35096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3745683" y="35096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544372" y="37573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745683" y="37573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7890764" y="21487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960429" y="21487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890764" y="2507903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8960429" y="2507903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10827831" y="2507903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7890764" y="2867174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960429" y="2867174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10827831" y="2867174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2286632" y="50226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09" name="Text 106"/>
          <p:cNvSpPr/>
          <p:nvPr/>
        </p:nvSpPr>
        <p:spPr>
          <a:xfrm>
            <a:off x="2286632" y="520362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</a:t>
            </a:r>
            <a:endParaRPr lang="en-US" sz="672" dirty="0"/>
          </a:p>
        </p:txBody>
      </p:sp>
      <p:sp>
        <p:nvSpPr>
          <p:cNvPr id="110" name="Text 107"/>
          <p:cNvSpPr/>
          <p:nvPr/>
        </p:nvSpPr>
        <p:spPr>
          <a:xfrm>
            <a:off x="2286632" y="538460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11" name="Text 108"/>
          <p:cNvSpPr/>
          <p:nvPr/>
        </p:nvSpPr>
        <p:spPr>
          <a:xfrm>
            <a:off x="2286632" y="55655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12" name="Text 109"/>
          <p:cNvSpPr/>
          <p:nvPr/>
        </p:nvSpPr>
        <p:spPr>
          <a:xfrm>
            <a:off x="2286632" y="57465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13" name="Text 110"/>
          <p:cNvSpPr/>
          <p:nvPr/>
        </p:nvSpPr>
        <p:spPr>
          <a:xfrm>
            <a:off x="4550549" y="48416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72" dirty="0"/>
          </a:p>
        </p:txBody>
      </p:sp>
      <p:sp>
        <p:nvSpPr>
          <p:cNvPr id="114" name="Text 111"/>
          <p:cNvSpPr/>
          <p:nvPr/>
        </p:nvSpPr>
        <p:spPr>
          <a:xfrm>
            <a:off x="4550549" y="50226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1020" dirty="0"/>
          </a:p>
        </p:txBody>
      </p:sp>
      <p:sp>
        <p:nvSpPr>
          <p:cNvPr id="116" name="Text 113"/>
          <p:cNvSpPr/>
          <p:nvPr/>
        </p:nvSpPr>
        <p:spPr>
          <a:xfrm>
            <a:off x="906757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17" name="Text 114"/>
          <p:cNvSpPr/>
          <p:nvPr/>
        </p:nvSpPr>
        <p:spPr>
          <a:xfrm>
            <a:off x="5948345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1080" dirty="0"/>
          </a:p>
        </p:txBody>
      </p:sp>
      <p:sp>
        <p:nvSpPr>
          <p:cNvPr id="118" name="Text 115"/>
          <p:cNvSpPr/>
          <p:nvPr/>
        </p:nvSpPr>
        <p:spPr>
          <a:xfrm>
            <a:off x="7164673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19" name="Text 116"/>
          <p:cNvSpPr/>
          <p:nvPr/>
        </p:nvSpPr>
        <p:spPr>
          <a:xfrm>
            <a:off x="8377851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1080" dirty="0"/>
          </a:p>
        </p:txBody>
      </p:sp>
      <p:sp>
        <p:nvSpPr>
          <p:cNvPr id="120" name="Text 117"/>
          <p:cNvSpPr/>
          <p:nvPr/>
        </p:nvSpPr>
        <p:spPr>
          <a:xfrm>
            <a:off x="7890764" y="3226296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888" dirty="0"/>
          </a:p>
        </p:txBody>
      </p:sp>
      <p:sp>
        <p:nvSpPr>
          <p:cNvPr id="121" name="Text 118"/>
          <p:cNvSpPr/>
          <p:nvPr/>
        </p:nvSpPr>
        <p:spPr>
          <a:xfrm>
            <a:off x="8960429" y="3226296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10827831" y="3226296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4550549" y="520362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4550549" y="538460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550549" y="55655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4550549" y="57465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27" name="Text 124"/>
          <p:cNvSpPr/>
          <p:nvPr/>
        </p:nvSpPr>
        <p:spPr>
          <a:xfrm>
            <a:off x="9637084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080" dirty="0"/>
          </a:p>
        </p:txBody>
      </p:sp>
      <p:sp>
        <p:nvSpPr>
          <p:cNvPr id="128" name="Text 125"/>
          <p:cNvSpPr/>
          <p:nvPr/>
        </p:nvSpPr>
        <p:spPr>
          <a:xfrm>
            <a:off x="10855932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683081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cerró el semestre con 13.155 ventas efectivas entre Cuota Protegida y Rueda Seguro, sosteniendo una efectividad promedio superior al 69 % durante todo el semestre — un desempeño comercial consistente que valida el enfoque del canal en los puntos de mayor valor.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724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38179" y="1786830"/>
            <a:ext cx="19987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2314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16.062 cantadas (79,0%)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10165" y="1786830"/>
            <a:ext cx="18886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3505112" y="1272480"/>
            <a:ext cx="11217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675 cantadas (69,2%)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9067573" y="1272480"/>
            <a:ext cx="11495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Reales consolidadas de cierre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286343" y="1272480"/>
            <a:ext cx="10679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 · 135 gestores activos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13535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1S (Efectivas)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13525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1S (Efectivas)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13035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Mayo + Junio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6286343" y="962025"/>
            <a:ext cx="9772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Semestre</a:t>
            </a:r>
            <a:endParaRPr lang="en-US" sz="696" dirty="0"/>
          </a:p>
        </p:txBody>
      </p:sp>
      <p:sp>
        <p:nvSpPr>
          <p:cNvPr id="16" name="Text 13"/>
          <p:cNvSpPr/>
          <p:nvPr/>
        </p:nvSpPr>
        <p:spPr>
          <a:xfrm>
            <a:off x="4040834" y="2044005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370044" y="2044005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490284" y="2044005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3044234" y="2044005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5022469" y="2044005"/>
            <a:ext cx="9114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85783" y="5407075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165294" y="2044005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245686" y="2044005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10477496" y="2044005"/>
            <a:ext cx="10284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257769" y="5407075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044234" y="5407075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16.062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040834" y="5407075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085850"/>
            <a:ext cx="45211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044234" y="2403574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040834" y="2379762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22469" y="2408337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044234" y="290572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040834" y="2881908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22469" y="2910483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044234" y="340995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040834" y="3386138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22469" y="3414713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3044234" y="391418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040834" y="389036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22469" y="391894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044234" y="4418409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040834" y="439459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22469" y="442317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3044234" y="4922639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040834" y="489882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22469" y="492740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5022469" y="5411837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477496" y="2408337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477496" y="2910483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10477496" y="3414713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10477496" y="391894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10477496" y="442317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10477496" y="492740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10477496" y="5411837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69,2%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6286343" y="1085850"/>
            <a:ext cx="3639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9067573" y="1085850"/>
            <a:ext cx="37023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4.625</a:t>
            </a:r>
            <a:endParaRPr lang="en-US" sz="1020" dirty="0"/>
          </a:p>
        </p:txBody>
      </p:sp>
      <p:sp>
        <p:nvSpPr>
          <p:cNvPr id="57" name="Text 54"/>
          <p:cNvSpPr/>
          <p:nvPr/>
        </p:nvSpPr>
        <p:spPr>
          <a:xfrm>
            <a:off x="1490284" y="5407075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123*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7165294" y="5407075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122*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685783" y="2044005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2460041" y="2044005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685783" y="2403574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1490284" y="2403574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685783" y="290572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1490284" y="290572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685783" y="340995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1490284" y="340995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85783" y="391418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490284" y="391418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4418409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685783" y="4922639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2460041" y="5407075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74*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2044005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257769" y="2403574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7165294" y="2403574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257769" y="290572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165294" y="290572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8245686" y="290572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257769" y="340995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165294" y="340995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245686" y="340995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9370044" y="3386138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391418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165294" y="391418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8245686" y="391418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4418409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8245686" y="4418409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57769" y="4922639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8245686" y="4922639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8245686" y="5407075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9370044" y="5407075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2460041" y="2403574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460041" y="290572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2460041" y="340995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460041" y="391418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490284" y="4418409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2460041" y="4418409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1490284" y="4922639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2460041" y="4922639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8245686" y="2403574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9370044" y="2379762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370044" y="2881908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9370044" y="389036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7165294" y="4418409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9370044" y="439459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7165294" y="4922639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9370044" y="489882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2026-07-19T18:02:21Z</dcterms:created>
  <dcterms:modified xsi:type="dcterms:W3CDTF">2026-07-19T18:02:21Z</dcterms:modified>
</cp:coreProperties>
</file>