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retail\ppt_slides\sk_00_Form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5808166"/>
            <a:ext cx="11380185" cy="551548"/>
          </a:xfrm>
          <a:prstGeom prst="rect">
            <a:avLst/>
          </a:prstGeom>
          <a:noFill/>
          <a:ln/>
        </p:spPr>
        <p:txBody>
          <a:bodyPr wrap="square" lIns="114300" tIns="171450" rIns="171450" bIns="1143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Semestral: La reestructuración estratégica de zonas y canales de Retail (empalme con Tradicional) concentró la operación en puntos de mayor valor. Como resultado, a pesar del menor número de visitas, las ventas efectivas por PDV subieron +137% (de 17,5 a 41,5 pólizas/PDV entre ene y jun), demostrando una alta eficiencia comercial y un canal más enfocado y productivo.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723882" y="5132040"/>
            <a:ext cx="53074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Planta = gestores comerciales con actividad transaccional registrados en el "Como vamos" (cierres mensuales).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314917" y="5132040"/>
            <a:ext cx="53074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concentración de visitas potencia la efectividad del canal.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781030" y="1421160"/>
            <a:ext cx="523881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formación acumulada (Ene - Jun 2026)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69150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 de Visitas de Formación · 1S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6362541" y="1421160"/>
            <a:ext cx="523881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17.7 a 42.0 pólizas por PDV activo</a:t>
            </a:r>
            <a:endParaRPr lang="en-US" sz="696" dirty="0"/>
          </a:p>
        </p:txBody>
      </p:sp>
      <p:sp>
        <p:nvSpPr>
          <p:cNvPr id="9" name="Text 6"/>
          <p:cNvSpPr/>
          <p:nvPr/>
        </p:nvSpPr>
        <p:spPr>
          <a:xfrm>
            <a:off x="723882" y="2040285"/>
            <a:ext cx="5307483" cy="206026"/>
          </a:xfrm>
          <a:prstGeom prst="rect">
            <a:avLst/>
          </a:prstGeom>
          <a:noFill/>
          <a:ln/>
        </p:spPr>
        <p:txBody>
          <a:bodyPr wrap="square" lIns="0" tIns="0" rIns="0" bIns="3810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Planta activa vs. formaciones por mes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6314917" y="2040285"/>
            <a:ext cx="5307483" cy="206026"/>
          </a:xfrm>
          <a:prstGeom prst="rect">
            <a:avLst/>
          </a:prstGeom>
          <a:noFill/>
          <a:ln/>
        </p:spPr>
        <p:txBody>
          <a:bodyPr wrap="square" lIns="0" tIns="0" rIns="0" bIns="3810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Evolución de visitas por mes</a:t>
            </a:r>
            <a:endParaRPr lang="en-US" sz="936" dirty="0"/>
          </a:p>
        </p:txBody>
      </p:sp>
      <p:sp>
        <p:nvSpPr>
          <p:cNvPr id="11" name="Text 8"/>
          <p:cNvSpPr/>
          <p:nvPr/>
        </p:nvSpPr>
        <p:spPr>
          <a:xfrm>
            <a:off x="6362541" y="1009650"/>
            <a:ext cx="523881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Eficiencia por PDV Activo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781030" y="1009650"/>
            <a:ext cx="523881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Realizadas 1S</a:t>
            </a:r>
            <a:endParaRPr lang="en-US" sz="780" dirty="0"/>
          </a:p>
        </p:txBody>
      </p:sp>
      <p:sp>
        <p:nvSpPr>
          <p:cNvPr id="13" name="Text 10"/>
          <p:cNvSpPr/>
          <p:nvPr/>
        </p:nvSpPr>
        <p:spPr>
          <a:xfrm>
            <a:off x="1400289" y="2302245"/>
            <a:ext cx="126248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Planta Gestores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3639352" y="2302245"/>
            <a:ext cx="1123303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4729937" y="2302245"/>
            <a:ext cx="118124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Capacitados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2626007" y="2302245"/>
            <a:ext cx="104374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Capacitados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723882" y="4011983"/>
            <a:ext cx="696699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1S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6362541" y="1162050"/>
            <a:ext cx="5238810" cy="22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+137 %</a:t>
            </a:r>
            <a:endParaRPr lang="en-US" sz="1740" dirty="0"/>
          </a:p>
        </p:txBody>
      </p:sp>
      <p:sp>
        <p:nvSpPr>
          <p:cNvPr id="19" name="Text 16"/>
          <p:cNvSpPr/>
          <p:nvPr/>
        </p:nvSpPr>
        <p:spPr>
          <a:xfrm>
            <a:off x="723882" y="2302245"/>
            <a:ext cx="69669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723882" y="2530845"/>
            <a:ext cx="69669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1400289" y="2530845"/>
            <a:ext cx="126248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4729937" y="2530845"/>
            <a:ext cx="118124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48%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723882" y="2773733"/>
            <a:ext cx="69669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1400289" y="2773733"/>
            <a:ext cx="1262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4729937" y="2773733"/>
            <a:ext cx="118124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45%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723882" y="3021383"/>
            <a:ext cx="69669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1400289" y="3021383"/>
            <a:ext cx="1262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4729937" y="3021383"/>
            <a:ext cx="118124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53%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723882" y="3269033"/>
            <a:ext cx="69669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64" dirty="0"/>
          </a:p>
        </p:txBody>
      </p:sp>
      <p:sp>
        <p:nvSpPr>
          <p:cNvPr id="30" name="Text 27"/>
          <p:cNvSpPr/>
          <p:nvPr/>
        </p:nvSpPr>
        <p:spPr>
          <a:xfrm>
            <a:off x="1400289" y="3269033"/>
            <a:ext cx="1262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64" dirty="0"/>
          </a:p>
        </p:txBody>
      </p:sp>
      <p:sp>
        <p:nvSpPr>
          <p:cNvPr id="31" name="Text 28"/>
          <p:cNvSpPr/>
          <p:nvPr/>
        </p:nvSpPr>
        <p:spPr>
          <a:xfrm>
            <a:off x="4729937" y="3269033"/>
            <a:ext cx="118124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52%</a:t>
            </a:r>
            <a:endParaRPr lang="en-US" sz="864" dirty="0"/>
          </a:p>
        </p:txBody>
      </p:sp>
      <p:sp>
        <p:nvSpPr>
          <p:cNvPr id="32" name="Text 29"/>
          <p:cNvSpPr/>
          <p:nvPr/>
        </p:nvSpPr>
        <p:spPr>
          <a:xfrm>
            <a:off x="723882" y="3516683"/>
            <a:ext cx="69669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64" dirty="0"/>
          </a:p>
        </p:txBody>
      </p:sp>
      <p:sp>
        <p:nvSpPr>
          <p:cNvPr id="33" name="Text 30"/>
          <p:cNvSpPr/>
          <p:nvPr/>
        </p:nvSpPr>
        <p:spPr>
          <a:xfrm>
            <a:off x="4729937" y="3516683"/>
            <a:ext cx="118124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35%</a:t>
            </a:r>
            <a:endParaRPr lang="en-US" sz="864" dirty="0"/>
          </a:p>
        </p:txBody>
      </p:sp>
      <p:sp>
        <p:nvSpPr>
          <p:cNvPr id="34" name="Text 31"/>
          <p:cNvSpPr/>
          <p:nvPr/>
        </p:nvSpPr>
        <p:spPr>
          <a:xfrm>
            <a:off x="723882" y="3764333"/>
            <a:ext cx="69669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64" dirty="0"/>
          </a:p>
        </p:txBody>
      </p:sp>
      <p:sp>
        <p:nvSpPr>
          <p:cNvPr id="35" name="Text 32"/>
          <p:cNvSpPr/>
          <p:nvPr/>
        </p:nvSpPr>
        <p:spPr>
          <a:xfrm>
            <a:off x="4729937" y="3764333"/>
            <a:ext cx="118124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26%</a:t>
            </a:r>
            <a:endParaRPr lang="en-US" sz="864" dirty="0"/>
          </a:p>
        </p:txBody>
      </p:sp>
      <p:sp>
        <p:nvSpPr>
          <p:cNvPr id="36" name="Text 33"/>
          <p:cNvSpPr/>
          <p:nvPr/>
        </p:nvSpPr>
        <p:spPr>
          <a:xfrm>
            <a:off x="2626007" y="4011983"/>
            <a:ext cx="1043746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326</a:t>
            </a:r>
            <a:endParaRPr lang="en-US" sz="864" dirty="0"/>
          </a:p>
        </p:txBody>
      </p:sp>
      <p:sp>
        <p:nvSpPr>
          <p:cNvPr id="37" name="Text 34"/>
          <p:cNvSpPr/>
          <p:nvPr/>
        </p:nvSpPr>
        <p:spPr>
          <a:xfrm>
            <a:off x="3639352" y="4011983"/>
            <a:ext cx="1123303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864" dirty="0"/>
          </a:p>
        </p:txBody>
      </p:sp>
      <p:sp>
        <p:nvSpPr>
          <p:cNvPr id="38" name="Text 35"/>
          <p:cNvSpPr/>
          <p:nvPr/>
        </p:nvSpPr>
        <p:spPr>
          <a:xfrm>
            <a:off x="781030" y="1162050"/>
            <a:ext cx="5238810" cy="22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</a:t>
            </a:r>
            <a:endParaRPr lang="en-US" sz="1740" dirty="0"/>
          </a:p>
        </p:txBody>
      </p:sp>
      <p:sp>
        <p:nvSpPr>
          <p:cNvPr id="39" name="Text 36"/>
          <p:cNvSpPr/>
          <p:nvPr/>
        </p:nvSpPr>
        <p:spPr>
          <a:xfrm>
            <a:off x="6314917" y="2354610"/>
            <a:ext cx="343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80" dirty="0"/>
          </a:p>
        </p:txBody>
      </p:sp>
      <p:sp>
        <p:nvSpPr>
          <p:cNvPr id="40" name="Text 37"/>
          <p:cNvSpPr/>
          <p:nvPr/>
        </p:nvSpPr>
        <p:spPr>
          <a:xfrm>
            <a:off x="6314917" y="2583210"/>
            <a:ext cx="343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80" dirty="0"/>
          </a:p>
        </p:txBody>
      </p:sp>
      <p:sp>
        <p:nvSpPr>
          <p:cNvPr id="41" name="Text 38"/>
          <p:cNvSpPr/>
          <p:nvPr/>
        </p:nvSpPr>
        <p:spPr>
          <a:xfrm>
            <a:off x="6314917" y="2811810"/>
            <a:ext cx="343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80" dirty="0"/>
          </a:p>
        </p:txBody>
      </p:sp>
      <p:sp>
        <p:nvSpPr>
          <p:cNvPr id="42" name="Text 39"/>
          <p:cNvSpPr/>
          <p:nvPr/>
        </p:nvSpPr>
        <p:spPr>
          <a:xfrm>
            <a:off x="6314917" y="3040410"/>
            <a:ext cx="343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80" dirty="0"/>
          </a:p>
        </p:txBody>
      </p:sp>
      <p:sp>
        <p:nvSpPr>
          <p:cNvPr id="43" name="Text 40"/>
          <p:cNvSpPr/>
          <p:nvPr/>
        </p:nvSpPr>
        <p:spPr>
          <a:xfrm>
            <a:off x="6314917" y="3269010"/>
            <a:ext cx="343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80" dirty="0"/>
          </a:p>
        </p:txBody>
      </p:sp>
      <p:sp>
        <p:nvSpPr>
          <p:cNvPr id="44" name="Text 41"/>
          <p:cNvSpPr/>
          <p:nvPr/>
        </p:nvSpPr>
        <p:spPr>
          <a:xfrm>
            <a:off x="6314917" y="3497610"/>
            <a:ext cx="343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80" dirty="0"/>
          </a:p>
        </p:txBody>
      </p:sp>
      <p:sp>
        <p:nvSpPr>
          <p:cNvPr id="45" name="Text 42"/>
          <p:cNvSpPr/>
          <p:nvPr/>
        </p:nvSpPr>
        <p:spPr>
          <a:xfrm>
            <a:off x="2626007" y="2530845"/>
            <a:ext cx="104374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864" dirty="0"/>
          </a:p>
        </p:txBody>
      </p:sp>
      <p:sp>
        <p:nvSpPr>
          <p:cNvPr id="46" name="Text 43"/>
          <p:cNvSpPr/>
          <p:nvPr/>
        </p:nvSpPr>
        <p:spPr>
          <a:xfrm>
            <a:off x="3639352" y="2530845"/>
            <a:ext cx="112330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864" dirty="0"/>
          </a:p>
        </p:txBody>
      </p:sp>
      <p:sp>
        <p:nvSpPr>
          <p:cNvPr id="47" name="Text 44"/>
          <p:cNvSpPr/>
          <p:nvPr/>
        </p:nvSpPr>
        <p:spPr>
          <a:xfrm>
            <a:off x="2626007" y="2773733"/>
            <a:ext cx="104374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864" dirty="0"/>
          </a:p>
        </p:txBody>
      </p:sp>
      <p:sp>
        <p:nvSpPr>
          <p:cNvPr id="48" name="Text 45"/>
          <p:cNvSpPr/>
          <p:nvPr/>
        </p:nvSpPr>
        <p:spPr>
          <a:xfrm>
            <a:off x="3639352" y="2773733"/>
            <a:ext cx="112330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64" dirty="0"/>
          </a:p>
        </p:txBody>
      </p:sp>
      <p:sp>
        <p:nvSpPr>
          <p:cNvPr id="49" name="Text 46"/>
          <p:cNvSpPr/>
          <p:nvPr/>
        </p:nvSpPr>
        <p:spPr>
          <a:xfrm>
            <a:off x="2626007" y="3021383"/>
            <a:ext cx="104374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864" dirty="0"/>
          </a:p>
        </p:txBody>
      </p:sp>
      <p:sp>
        <p:nvSpPr>
          <p:cNvPr id="50" name="Text 47"/>
          <p:cNvSpPr/>
          <p:nvPr/>
        </p:nvSpPr>
        <p:spPr>
          <a:xfrm>
            <a:off x="3639352" y="3021383"/>
            <a:ext cx="112330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64" dirty="0"/>
          </a:p>
        </p:txBody>
      </p:sp>
      <p:sp>
        <p:nvSpPr>
          <p:cNvPr id="51" name="Text 48"/>
          <p:cNvSpPr/>
          <p:nvPr/>
        </p:nvSpPr>
        <p:spPr>
          <a:xfrm>
            <a:off x="2626007" y="3269033"/>
            <a:ext cx="104374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</a:t>
            </a:r>
            <a:endParaRPr lang="en-US" sz="864" dirty="0"/>
          </a:p>
        </p:txBody>
      </p:sp>
      <p:sp>
        <p:nvSpPr>
          <p:cNvPr id="52" name="Text 49"/>
          <p:cNvSpPr/>
          <p:nvPr/>
        </p:nvSpPr>
        <p:spPr>
          <a:xfrm>
            <a:off x="3639352" y="3269033"/>
            <a:ext cx="112330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64" dirty="0"/>
          </a:p>
        </p:txBody>
      </p:sp>
      <p:sp>
        <p:nvSpPr>
          <p:cNvPr id="53" name="Text 50"/>
          <p:cNvSpPr/>
          <p:nvPr/>
        </p:nvSpPr>
        <p:spPr>
          <a:xfrm>
            <a:off x="1400289" y="3516683"/>
            <a:ext cx="1262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64" dirty="0"/>
          </a:p>
        </p:txBody>
      </p:sp>
      <p:sp>
        <p:nvSpPr>
          <p:cNvPr id="54" name="Text 51"/>
          <p:cNvSpPr/>
          <p:nvPr/>
        </p:nvSpPr>
        <p:spPr>
          <a:xfrm>
            <a:off x="2626007" y="3516683"/>
            <a:ext cx="104374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864" dirty="0"/>
          </a:p>
        </p:txBody>
      </p:sp>
      <p:sp>
        <p:nvSpPr>
          <p:cNvPr id="55" name="Text 52"/>
          <p:cNvSpPr/>
          <p:nvPr/>
        </p:nvSpPr>
        <p:spPr>
          <a:xfrm>
            <a:off x="3639352" y="3516683"/>
            <a:ext cx="112330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64" dirty="0"/>
          </a:p>
        </p:txBody>
      </p:sp>
      <p:sp>
        <p:nvSpPr>
          <p:cNvPr id="56" name="Text 53"/>
          <p:cNvSpPr/>
          <p:nvPr/>
        </p:nvSpPr>
        <p:spPr>
          <a:xfrm>
            <a:off x="1400289" y="3764333"/>
            <a:ext cx="1262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64" dirty="0"/>
          </a:p>
        </p:txBody>
      </p:sp>
      <p:sp>
        <p:nvSpPr>
          <p:cNvPr id="57" name="Text 54"/>
          <p:cNvSpPr/>
          <p:nvPr/>
        </p:nvSpPr>
        <p:spPr>
          <a:xfrm>
            <a:off x="2626007" y="3764333"/>
            <a:ext cx="104374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864" dirty="0"/>
          </a:p>
        </p:txBody>
      </p:sp>
      <p:sp>
        <p:nvSpPr>
          <p:cNvPr id="58" name="Text 55"/>
          <p:cNvSpPr/>
          <p:nvPr/>
        </p:nvSpPr>
        <p:spPr>
          <a:xfrm>
            <a:off x="3639352" y="3764333"/>
            <a:ext cx="112330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64" dirty="0"/>
          </a:p>
        </p:txBody>
      </p:sp>
      <p:sp>
        <p:nvSpPr>
          <p:cNvPr id="59" name="Text 56"/>
          <p:cNvSpPr/>
          <p:nvPr/>
        </p:nvSpPr>
        <p:spPr>
          <a:xfrm>
            <a:off x="11010625" y="2354610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780" dirty="0"/>
          </a:p>
        </p:txBody>
      </p:sp>
      <p:sp>
        <p:nvSpPr>
          <p:cNvPr id="60" name="Text 57"/>
          <p:cNvSpPr/>
          <p:nvPr/>
        </p:nvSpPr>
        <p:spPr>
          <a:xfrm>
            <a:off x="11010625" y="2583210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780" dirty="0"/>
          </a:p>
        </p:txBody>
      </p:sp>
      <p:sp>
        <p:nvSpPr>
          <p:cNvPr id="61" name="Text 58"/>
          <p:cNvSpPr/>
          <p:nvPr/>
        </p:nvSpPr>
        <p:spPr>
          <a:xfrm>
            <a:off x="11010625" y="2811810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780" dirty="0"/>
          </a:p>
        </p:txBody>
      </p:sp>
      <p:sp>
        <p:nvSpPr>
          <p:cNvPr id="62" name="Text 59"/>
          <p:cNvSpPr/>
          <p:nvPr/>
        </p:nvSpPr>
        <p:spPr>
          <a:xfrm>
            <a:off x="11010625" y="3040410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63" name="Text 60"/>
          <p:cNvSpPr/>
          <p:nvPr/>
        </p:nvSpPr>
        <p:spPr>
          <a:xfrm>
            <a:off x="11010625" y="3269010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780" dirty="0"/>
          </a:p>
        </p:txBody>
      </p:sp>
      <p:sp>
        <p:nvSpPr>
          <p:cNvPr id="64" name="Text 61"/>
          <p:cNvSpPr/>
          <p:nvPr/>
        </p:nvSpPr>
        <p:spPr>
          <a:xfrm>
            <a:off x="11010625" y="3497610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retail\ppt_slides\sk_01_Cober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95868" y="3766542"/>
            <a:ext cx="5327104" cy="431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Universo = PDV físicos distintos observados en los 26 cortes semanales "Como vamos" del semestre. Coberturas &gt;100 % indican PDV que Formación visitó con nombre distinto al registrado en Como vamos ese corte, o puntos sin gestión comercial activa ese mes. Gestores del canal: 147 (ene) → 96 (jun), promedio 123; los cortes "Como vamos" no desagregan gestores por aliado.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5470636" y="4735116"/>
            <a:ext cx="6186903" cy="272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 "Serdán" (90 visitas): empresa que provee promotores a ambos canales, no un aliado. De las 90: 33 puras Retail+Tradicional, 33 sedes/roles internos (no PDV) y 14 con cédula activa en ambos canales (contadas en los dos). Total atribuido: 24 a Retail y 47 a Tradicional.</a:t>
            </a:r>
            <a:endParaRPr lang="en-US" sz="720" dirty="0"/>
          </a:p>
        </p:txBody>
      </p:sp>
      <p:sp>
        <p:nvSpPr>
          <p:cNvPr id="5" name="Text 2"/>
          <p:cNvSpPr/>
          <p:nvPr/>
        </p:nvSpPr>
        <p:spPr>
          <a:xfrm>
            <a:off x="704832" y="1796355"/>
            <a:ext cx="5366346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 por Formación vs. PDV con gestión comercial activa en Cuota Protegida cada mes (cortes "Como vamos").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5470636" y="5765602"/>
            <a:ext cx="61869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el 41 % fue a un PDV físico; el resto es actividad real de formación que no suma a cobertura de PDV.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704832" y="4614267"/>
            <a:ext cx="4526168" cy="136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y municipios con al menos una visita de formación registrada en el semestre.</a:t>
            </a:r>
            <a:endParaRPr lang="en-US" sz="672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446853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Puntos de Venta y Municipios Visitados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6295868" y="1567755"/>
            <a:ext cx="5327104" cy="215836"/>
          </a:xfrm>
          <a:prstGeom prst="rect">
            <a:avLst/>
          </a:prstGeom>
          <a:noFill/>
          <a:ln/>
        </p:spPr>
        <p:txBody>
          <a:bodyPr wrap="square" lIns="0" tIns="0" rIns="0" bIns="3810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Universo de PDV y cobertura real por aliado (1S)</a:t>
            </a:r>
            <a:endParaRPr lang="en-US" sz="1020" dirty="0"/>
          </a:p>
        </p:txBody>
      </p:sp>
      <p:sp>
        <p:nvSpPr>
          <p:cNvPr id="10" name="Text 7"/>
          <p:cNvSpPr/>
          <p:nvPr/>
        </p:nvSpPr>
        <p:spPr>
          <a:xfrm>
            <a:off x="704832" y="1567755"/>
            <a:ext cx="5366346" cy="196215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en Puntos de Venta (PDV)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5470636" y="4423767"/>
            <a:ext cx="61869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TIPO DE PUNTO VISITADO EN LAS 90 "SERDÁN"</a:t>
            </a:r>
            <a:endParaRPr lang="en-US" sz="720" dirty="0"/>
          </a:p>
        </p:txBody>
      </p:sp>
      <p:sp>
        <p:nvSpPr>
          <p:cNvPr id="12" name="Text 9"/>
          <p:cNvSpPr/>
          <p:nvPr/>
        </p:nvSpPr>
        <p:spPr>
          <a:xfrm>
            <a:off x="6295868" y="2029741"/>
            <a:ext cx="1675757" cy="3476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Colombiana de Comercio (Alkosto/Ktronix)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6295868" y="3095797"/>
            <a:ext cx="1675757" cy="36596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Olímpica solo ene · aliado retirado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9067573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al menos una visita registrada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6295868" y="2377403"/>
            <a:ext cx="1675757" cy="36596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Almacenes Éxito aliado retirado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3505112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 de 52 PDV activos visitados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6286343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Capacitando asesores de venta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6295868" y="2743372"/>
            <a:ext cx="1675757" cy="3524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Cencosud (Jumbo/Metro/Easy)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04832" y="4414242"/>
            <a:ext cx="4526168" cy="186404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Municipios Visitados (1S)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723882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con gestión promedio</a:t>
            </a:r>
            <a:endParaRPr lang="en-US" sz="696" dirty="0"/>
          </a:p>
        </p:txBody>
      </p:sp>
      <p:sp>
        <p:nvSpPr>
          <p:cNvPr id="21" name="Text 18"/>
          <p:cNvSpPr/>
          <p:nvPr/>
        </p:nvSpPr>
        <p:spPr>
          <a:xfrm>
            <a:off x="723882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PDV activos en CP</a:t>
            </a:r>
            <a:endParaRPr lang="en-US" sz="600" dirty="0"/>
          </a:p>
        </p:txBody>
      </p:sp>
      <p:sp>
        <p:nvSpPr>
          <p:cNvPr id="22" name="Text 19"/>
          <p:cNvSpPr/>
          <p:nvPr/>
        </p:nvSpPr>
        <p:spPr>
          <a:xfrm>
            <a:off x="6286343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de formación 1S</a:t>
            </a:r>
            <a:endParaRPr lang="en-US" sz="696" dirty="0"/>
          </a:p>
        </p:txBody>
      </p:sp>
      <p:sp>
        <p:nvSpPr>
          <p:cNvPr id="23" name="Text 20"/>
          <p:cNvSpPr/>
          <p:nvPr/>
        </p:nvSpPr>
        <p:spPr>
          <a:xfrm>
            <a:off x="9067573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/ municipios</a:t>
            </a:r>
            <a:endParaRPr lang="en-US" sz="696" dirty="0"/>
          </a:p>
        </p:txBody>
      </p:sp>
      <p:sp>
        <p:nvSpPr>
          <p:cNvPr id="24" name="Text 21"/>
          <p:cNvSpPr/>
          <p:nvPr/>
        </p:nvSpPr>
        <p:spPr>
          <a:xfrm>
            <a:off x="704832" y="5146499"/>
            <a:ext cx="1645712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Occidente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2580318" y="1976163"/>
            <a:ext cx="123413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con Gestión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3505112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Junio</a:t>
            </a:r>
            <a:endParaRPr lang="en-US" sz="696" dirty="0"/>
          </a:p>
        </p:txBody>
      </p:sp>
      <p:sp>
        <p:nvSpPr>
          <p:cNvPr id="27" name="Text 24"/>
          <p:cNvSpPr/>
          <p:nvPr/>
        </p:nvSpPr>
        <p:spPr>
          <a:xfrm>
            <a:off x="3778503" y="1976163"/>
            <a:ext cx="112682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922816" y="1801141"/>
            <a:ext cx="1100463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Universo PDV*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991226" y="1801141"/>
            <a:ext cx="105738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04832" y="4789312"/>
            <a:ext cx="1645712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Centro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2968600" y="4789312"/>
            <a:ext cx="1645865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Norte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4872511" y="1976163"/>
            <a:ext cx="107363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%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6295868" y="3461765"/>
            <a:ext cx="167575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canal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704832" y="5508449"/>
            <a:ext cx="1645712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Bucaramanga</a:t>
            </a:r>
            <a:endParaRPr lang="en-US" sz="672" dirty="0"/>
          </a:p>
        </p:txBody>
      </p:sp>
      <p:sp>
        <p:nvSpPr>
          <p:cNvPr id="35" name="Text 32"/>
          <p:cNvSpPr/>
          <p:nvPr/>
        </p:nvSpPr>
        <p:spPr>
          <a:xfrm>
            <a:off x="6734751" y="5416153"/>
            <a:ext cx="10765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Sede Serdán</a:t>
            </a:r>
            <a:endParaRPr lang="en-US" sz="696" dirty="0"/>
          </a:p>
        </p:txBody>
      </p:sp>
      <p:sp>
        <p:nvSpPr>
          <p:cNvPr id="36" name="Text 33"/>
          <p:cNvSpPr/>
          <p:nvPr/>
        </p:nvSpPr>
        <p:spPr>
          <a:xfrm>
            <a:off x="10384520" y="5416153"/>
            <a:ext cx="10765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Supervisión</a:t>
            </a:r>
            <a:endParaRPr lang="en-US" sz="696" dirty="0"/>
          </a:p>
        </p:txBody>
      </p:sp>
      <p:sp>
        <p:nvSpPr>
          <p:cNvPr id="37" name="Text 34"/>
          <p:cNvSpPr/>
          <p:nvPr/>
        </p:nvSpPr>
        <p:spPr>
          <a:xfrm>
            <a:off x="704832" y="4965524"/>
            <a:ext cx="1645712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Sur</a:t>
            </a:r>
            <a:endParaRPr lang="en-US" sz="672" dirty="0"/>
          </a:p>
        </p:txBody>
      </p:sp>
      <p:sp>
        <p:nvSpPr>
          <p:cNvPr id="38" name="Text 35"/>
          <p:cNvSpPr/>
          <p:nvPr/>
        </p:nvSpPr>
        <p:spPr>
          <a:xfrm>
            <a:off x="2968600" y="5508449"/>
            <a:ext cx="1645865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Facatativá</a:t>
            </a:r>
            <a:endParaRPr lang="en-US" sz="672" dirty="0"/>
          </a:p>
        </p:txBody>
      </p:sp>
      <p:sp>
        <p:nvSpPr>
          <p:cNvPr id="39" name="Text 36"/>
          <p:cNvSpPr/>
          <p:nvPr/>
        </p:nvSpPr>
        <p:spPr>
          <a:xfrm>
            <a:off x="5518260" y="5416153"/>
            <a:ext cx="10763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físico</a:t>
            </a:r>
            <a:endParaRPr lang="en-US" sz="696" dirty="0"/>
          </a:p>
        </p:txBody>
      </p:sp>
      <p:sp>
        <p:nvSpPr>
          <p:cNvPr id="40" name="Text 37"/>
          <p:cNvSpPr/>
          <p:nvPr/>
        </p:nvSpPr>
        <p:spPr>
          <a:xfrm>
            <a:off x="7951390" y="5416153"/>
            <a:ext cx="10763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Itinerante</a:t>
            </a:r>
            <a:endParaRPr lang="en-US" sz="696" dirty="0"/>
          </a:p>
        </p:txBody>
      </p:sp>
      <p:sp>
        <p:nvSpPr>
          <p:cNvPr id="41" name="Text 38"/>
          <p:cNvSpPr/>
          <p:nvPr/>
        </p:nvSpPr>
        <p:spPr>
          <a:xfrm>
            <a:off x="10017817" y="1801141"/>
            <a:ext cx="85351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2968600" y="5689424"/>
            <a:ext cx="1645865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Zipaquirá</a:t>
            </a:r>
            <a:endParaRPr lang="en-US" sz="672" dirty="0"/>
          </a:p>
        </p:txBody>
      </p:sp>
      <p:sp>
        <p:nvSpPr>
          <p:cNvPr id="43" name="Text 40"/>
          <p:cNvSpPr/>
          <p:nvPr/>
        </p:nvSpPr>
        <p:spPr>
          <a:xfrm>
            <a:off x="9167881" y="5416153"/>
            <a:ext cx="10765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Ofic. SAC</a:t>
            </a:r>
            <a:endParaRPr lang="en-US" sz="696" dirty="0"/>
          </a:p>
        </p:txBody>
      </p:sp>
      <p:sp>
        <p:nvSpPr>
          <p:cNvPr id="44" name="Text 41"/>
          <p:cNvSpPr/>
          <p:nvPr/>
        </p:nvSpPr>
        <p:spPr>
          <a:xfrm>
            <a:off x="1538398" y="1976163"/>
            <a:ext cx="107317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704832" y="3685900"/>
            <a:ext cx="8585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Prom. 1S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2968600" y="4965524"/>
            <a:ext cx="1645865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Sogamoso</a:t>
            </a:r>
            <a:endParaRPr lang="en-US" sz="672" dirty="0"/>
          </a:p>
        </p:txBody>
      </p:sp>
      <p:sp>
        <p:nvSpPr>
          <p:cNvPr id="47" name="Text 44"/>
          <p:cNvSpPr/>
          <p:nvPr/>
        </p:nvSpPr>
        <p:spPr>
          <a:xfrm>
            <a:off x="2968600" y="5327474"/>
            <a:ext cx="1645865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Mosquera</a:t>
            </a:r>
            <a:endParaRPr lang="en-US" sz="672" dirty="0"/>
          </a:p>
        </p:txBody>
      </p:sp>
      <p:sp>
        <p:nvSpPr>
          <p:cNvPr id="48" name="Text 45"/>
          <p:cNvSpPr/>
          <p:nvPr/>
        </p:nvSpPr>
        <p:spPr>
          <a:xfrm>
            <a:off x="10846471" y="1801141"/>
            <a:ext cx="63998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10017817" y="3461765"/>
            <a:ext cx="85351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102,9 %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6295868" y="1801141"/>
            <a:ext cx="167575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10017817" y="2029741"/>
            <a:ext cx="853514" cy="3476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90,5 %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704832" y="5689424"/>
            <a:ext cx="1645712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Soacha</a:t>
            </a:r>
            <a:endParaRPr lang="en-US" sz="672" dirty="0"/>
          </a:p>
        </p:txBody>
      </p:sp>
      <p:sp>
        <p:nvSpPr>
          <p:cNvPr id="53" name="Text 50"/>
          <p:cNvSpPr/>
          <p:nvPr/>
        </p:nvSpPr>
        <p:spPr>
          <a:xfrm>
            <a:off x="3505112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26,9 %</a:t>
            </a:r>
            <a:endParaRPr lang="en-US" sz="1020" dirty="0"/>
          </a:p>
        </p:txBody>
      </p:sp>
      <p:sp>
        <p:nvSpPr>
          <p:cNvPr id="54" name="Text 51"/>
          <p:cNvSpPr/>
          <p:nvPr/>
        </p:nvSpPr>
        <p:spPr>
          <a:xfrm>
            <a:off x="4872511" y="2204763"/>
            <a:ext cx="107363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60,9%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4872511" y="2447650"/>
            <a:ext cx="107363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57,1%</a:t>
            </a:r>
            <a:endParaRPr lang="en-US" sz="888" dirty="0"/>
          </a:p>
        </p:txBody>
      </p:sp>
      <p:sp>
        <p:nvSpPr>
          <p:cNvPr id="56" name="Text 53"/>
          <p:cNvSpPr/>
          <p:nvPr/>
        </p:nvSpPr>
        <p:spPr>
          <a:xfrm>
            <a:off x="4872511" y="2695300"/>
            <a:ext cx="107363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54,9%</a:t>
            </a:r>
            <a:endParaRPr lang="en-US" sz="888" dirty="0"/>
          </a:p>
        </p:txBody>
      </p:sp>
      <p:sp>
        <p:nvSpPr>
          <p:cNvPr id="57" name="Text 54"/>
          <p:cNvSpPr/>
          <p:nvPr/>
        </p:nvSpPr>
        <p:spPr>
          <a:xfrm>
            <a:off x="4872511" y="2942950"/>
            <a:ext cx="107363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50,0%</a:t>
            </a:r>
            <a:endParaRPr lang="en-US" sz="888" dirty="0"/>
          </a:p>
        </p:txBody>
      </p:sp>
      <p:sp>
        <p:nvSpPr>
          <p:cNvPr id="58" name="Text 55"/>
          <p:cNvSpPr/>
          <p:nvPr/>
        </p:nvSpPr>
        <p:spPr>
          <a:xfrm>
            <a:off x="4872511" y="3190600"/>
            <a:ext cx="107363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33,3%</a:t>
            </a:r>
            <a:endParaRPr lang="en-US" sz="888" dirty="0"/>
          </a:p>
        </p:txBody>
      </p:sp>
      <p:sp>
        <p:nvSpPr>
          <p:cNvPr id="59" name="Text 56"/>
          <p:cNvSpPr/>
          <p:nvPr/>
        </p:nvSpPr>
        <p:spPr>
          <a:xfrm>
            <a:off x="4872511" y="3438250"/>
            <a:ext cx="107363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26,9%</a:t>
            </a:r>
            <a:endParaRPr lang="en-US" sz="888" dirty="0"/>
          </a:p>
        </p:txBody>
      </p:sp>
      <p:sp>
        <p:nvSpPr>
          <p:cNvPr id="60" name="Text 57"/>
          <p:cNvSpPr/>
          <p:nvPr/>
        </p:nvSpPr>
        <p:spPr>
          <a:xfrm>
            <a:off x="4872511" y="3685900"/>
            <a:ext cx="107363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47,2%</a:t>
            </a:r>
            <a:endParaRPr lang="en-US" sz="888" dirty="0"/>
          </a:p>
        </p:txBody>
      </p:sp>
      <p:sp>
        <p:nvSpPr>
          <p:cNvPr id="61" name="Text 58"/>
          <p:cNvSpPr/>
          <p:nvPr/>
        </p:nvSpPr>
        <p:spPr>
          <a:xfrm>
            <a:off x="10017817" y="2377403"/>
            <a:ext cx="853514" cy="36596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116 %</a:t>
            </a:r>
            <a:endParaRPr lang="en-US" sz="888" dirty="0"/>
          </a:p>
        </p:txBody>
      </p:sp>
      <p:sp>
        <p:nvSpPr>
          <p:cNvPr id="62" name="Text 59"/>
          <p:cNvSpPr/>
          <p:nvPr/>
        </p:nvSpPr>
        <p:spPr>
          <a:xfrm>
            <a:off x="10017817" y="2743372"/>
            <a:ext cx="853514" cy="3524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119 %</a:t>
            </a:r>
            <a:endParaRPr lang="en-US" sz="888" dirty="0"/>
          </a:p>
        </p:txBody>
      </p:sp>
      <p:sp>
        <p:nvSpPr>
          <p:cNvPr id="63" name="Text 60"/>
          <p:cNvSpPr/>
          <p:nvPr/>
        </p:nvSpPr>
        <p:spPr>
          <a:xfrm>
            <a:off x="704832" y="5327474"/>
            <a:ext cx="1645712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Tunja</a:t>
            </a:r>
            <a:endParaRPr lang="en-US" sz="672" dirty="0"/>
          </a:p>
        </p:txBody>
      </p:sp>
      <p:sp>
        <p:nvSpPr>
          <p:cNvPr id="64" name="Text 61"/>
          <p:cNvSpPr/>
          <p:nvPr/>
        </p:nvSpPr>
        <p:spPr>
          <a:xfrm>
            <a:off x="10017817" y="3095797"/>
            <a:ext cx="853514" cy="36596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50 %</a:t>
            </a:r>
            <a:endParaRPr lang="en-US" sz="888" dirty="0"/>
          </a:p>
        </p:txBody>
      </p:sp>
      <p:sp>
        <p:nvSpPr>
          <p:cNvPr id="65" name="Text 62"/>
          <p:cNvSpPr/>
          <p:nvPr/>
        </p:nvSpPr>
        <p:spPr>
          <a:xfrm>
            <a:off x="2968600" y="5146499"/>
            <a:ext cx="1645865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Chía</a:t>
            </a:r>
            <a:endParaRPr lang="en-US" sz="672" dirty="0"/>
          </a:p>
        </p:txBody>
      </p:sp>
      <p:sp>
        <p:nvSpPr>
          <p:cNvPr id="66" name="Text 63"/>
          <p:cNvSpPr/>
          <p:nvPr/>
        </p:nvSpPr>
        <p:spPr>
          <a:xfrm>
            <a:off x="704832" y="1976163"/>
            <a:ext cx="85857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704832" y="2204763"/>
            <a:ext cx="8585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68" name="Text 65"/>
          <p:cNvSpPr/>
          <p:nvPr/>
        </p:nvSpPr>
        <p:spPr>
          <a:xfrm>
            <a:off x="1538398" y="2204763"/>
            <a:ext cx="1073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704832" y="2447650"/>
            <a:ext cx="8585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1538398" y="2447650"/>
            <a:ext cx="1073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704832" y="2695300"/>
            <a:ext cx="8585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1538398" y="2695300"/>
            <a:ext cx="1073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704832" y="2942950"/>
            <a:ext cx="8585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1538398" y="2942950"/>
            <a:ext cx="1073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704832" y="3190600"/>
            <a:ext cx="8585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704832" y="3438250"/>
            <a:ext cx="8585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1538398" y="3685900"/>
            <a:ext cx="1073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10846471" y="2029741"/>
            <a:ext cx="639982" cy="3476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184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7922816" y="3461765"/>
            <a:ext cx="110046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8991226" y="3461765"/>
            <a:ext cx="1057388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10846471" y="3461765"/>
            <a:ext cx="63998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2302611" y="4789312"/>
            <a:ext cx="548622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111</a:t>
            </a:r>
            <a:endParaRPr lang="en-US" sz="672" dirty="0"/>
          </a:p>
        </p:txBody>
      </p:sp>
      <p:sp>
        <p:nvSpPr>
          <p:cNvPr id="83" name="Text 80"/>
          <p:cNvSpPr/>
          <p:nvPr/>
        </p:nvSpPr>
        <p:spPr>
          <a:xfrm>
            <a:off x="6286343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</a:t>
            </a:r>
            <a:endParaRPr lang="en-US" sz="1020" dirty="0"/>
          </a:p>
        </p:txBody>
      </p:sp>
      <p:sp>
        <p:nvSpPr>
          <p:cNvPr id="84" name="Text 81"/>
          <p:cNvSpPr/>
          <p:nvPr/>
        </p:nvSpPr>
        <p:spPr>
          <a:xfrm>
            <a:off x="2580318" y="2204763"/>
            <a:ext cx="123413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</a:t>
            </a:r>
            <a:endParaRPr lang="en-US" sz="888" dirty="0"/>
          </a:p>
        </p:txBody>
      </p:sp>
      <p:sp>
        <p:nvSpPr>
          <p:cNvPr id="85" name="Text 82"/>
          <p:cNvSpPr/>
          <p:nvPr/>
        </p:nvSpPr>
        <p:spPr>
          <a:xfrm>
            <a:off x="3778503" y="2204763"/>
            <a:ext cx="1126828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888" dirty="0"/>
          </a:p>
        </p:txBody>
      </p:sp>
      <p:sp>
        <p:nvSpPr>
          <p:cNvPr id="86" name="Text 83"/>
          <p:cNvSpPr/>
          <p:nvPr/>
        </p:nvSpPr>
        <p:spPr>
          <a:xfrm>
            <a:off x="2580318" y="2447650"/>
            <a:ext cx="123413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3778503" y="2447650"/>
            <a:ext cx="112682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2580318" y="2695300"/>
            <a:ext cx="123413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3778503" y="2695300"/>
            <a:ext cx="112682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2580318" y="2942950"/>
            <a:ext cx="123413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3778503" y="2942950"/>
            <a:ext cx="112682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88" dirty="0"/>
          </a:p>
        </p:txBody>
      </p:sp>
      <p:sp>
        <p:nvSpPr>
          <p:cNvPr id="92" name="Text 89"/>
          <p:cNvSpPr/>
          <p:nvPr/>
        </p:nvSpPr>
        <p:spPr>
          <a:xfrm>
            <a:off x="1538398" y="3190600"/>
            <a:ext cx="1073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2580318" y="3190600"/>
            <a:ext cx="123413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3778503" y="3190600"/>
            <a:ext cx="112682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1538398" y="3438250"/>
            <a:ext cx="1073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2580318" y="3438250"/>
            <a:ext cx="123413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3778503" y="3438250"/>
            <a:ext cx="112682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2580318" y="3685900"/>
            <a:ext cx="123413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3778503" y="3685900"/>
            <a:ext cx="1126828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7922816" y="2029741"/>
            <a:ext cx="1100463" cy="3476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8991226" y="2029741"/>
            <a:ext cx="1057388" cy="3476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7922816" y="2377403"/>
            <a:ext cx="1100463" cy="36596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8991226" y="2377403"/>
            <a:ext cx="1057388" cy="36596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10846471" y="2377403"/>
            <a:ext cx="639982" cy="36596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7922816" y="2743372"/>
            <a:ext cx="1100463" cy="3524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8991226" y="2743372"/>
            <a:ext cx="1057388" cy="3524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10846471" y="2743372"/>
            <a:ext cx="639982" cy="3524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2302611" y="4965524"/>
            <a:ext cx="548622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672" dirty="0"/>
          </a:p>
        </p:txBody>
      </p:sp>
      <p:sp>
        <p:nvSpPr>
          <p:cNvPr id="109" name="Text 106"/>
          <p:cNvSpPr/>
          <p:nvPr/>
        </p:nvSpPr>
        <p:spPr>
          <a:xfrm>
            <a:off x="2302611" y="5146499"/>
            <a:ext cx="548622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</a:t>
            </a:r>
            <a:endParaRPr lang="en-US" sz="672" dirty="0"/>
          </a:p>
        </p:txBody>
      </p:sp>
      <p:sp>
        <p:nvSpPr>
          <p:cNvPr id="110" name="Text 107"/>
          <p:cNvSpPr/>
          <p:nvPr/>
        </p:nvSpPr>
        <p:spPr>
          <a:xfrm>
            <a:off x="2302611" y="5327474"/>
            <a:ext cx="548622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672" dirty="0"/>
          </a:p>
        </p:txBody>
      </p:sp>
      <p:sp>
        <p:nvSpPr>
          <p:cNvPr id="111" name="Text 108"/>
          <p:cNvSpPr/>
          <p:nvPr/>
        </p:nvSpPr>
        <p:spPr>
          <a:xfrm>
            <a:off x="2302611" y="5508449"/>
            <a:ext cx="548622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672" dirty="0"/>
          </a:p>
        </p:txBody>
      </p:sp>
      <p:sp>
        <p:nvSpPr>
          <p:cNvPr id="112" name="Text 109"/>
          <p:cNvSpPr/>
          <p:nvPr/>
        </p:nvSpPr>
        <p:spPr>
          <a:xfrm>
            <a:off x="2302611" y="5689424"/>
            <a:ext cx="548622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672" dirty="0"/>
          </a:p>
        </p:txBody>
      </p:sp>
      <p:sp>
        <p:nvSpPr>
          <p:cNvPr id="113" name="Text 110"/>
          <p:cNvSpPr/>
          <p:nvPr/>
        </p:nvSpPr>
        <p:spPr>
          <a:xfrm>
            <a:off x="4566528" y="4789312"/>
            <a:ext cx="548622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72" dirty="0"/>
          </a:p>
        </p:txBody>
      </p:sp>
      <p:sp>
        <p:nvSpPr>
          <p:cNvPr id="114" name="Text 111"/>
          <p:cNvSpPr/>
          <p:nvPr/>
        </p:nvSpPr>
        <p:spPr>
          <a:xfrm>
            <a:off x="4566528" y="4965524"/>
            <a:ext cx="548622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72" dirty="0"/>
          </a:p>
        </p:txBody>
      </p:sp>
      <p:sp>
        <p:nvSpPr>
          <p:cNvPr id="115" name="Text 112"/>
          <p:cNvSpPr/>
          <p:nvPr/>
        </p:nvSpPr>
        <p:spPr>
          <a:xfrm>
            <a:off x="723882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1020" dirty="0"/>
          </a:p>
        </p:txBody>
      </p:sp>
      <p:sp>
        <p:nvSpPr>
          <p:cNvPr id="116" name="Text 113"/>
          <p:cNvSpPr/>
          <p:nvPr/>
        </p:nvSpPr>
        <p:spPr>
          <a:xfrm>
            <a:off x="9067573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1020" dirty="0"/>
          </a:p>
        </p:txBody>
      </p:sp>
      <p:sp>
        <p:nvSpPr>
          <p:cNvPr id="117" name="Text 114"/>
          <p:cNvSpPr/>
          <p:nvPr/>
        </p:nvSpPr>
        <p:spPr>
          <a:xfrm>
            <a:off x="5518260" y="5254228"/>
            <a:ext cx="1076396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1080" dirty="0"/>
          </a:p>
        </p:txBody>
      </p:sp>
      <p:sp>
        <p:nvSpPr>
          <p:cNvPr id="118" name="Text 115"/>
          <p:cNvSpPr/>
          <p:nvPr/>
        </p:nvSpPr>
        <p:spPr>
          <a:xfrm>
            <a:off x="6734751" y="5254228"/>
            <a:ext cx="107655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1080" dirty="0"/>
          </a:p>
        </p:txBody>
      </p:sp>
      <p:sp>
        <p:nvSpPr>
          <p:cNvPr id="119" name="Text 116"/>
          <p:cNvSpPr/>
          <p:nvPr/>
        </p:nvSpPr>
        <p:spPr>
          <a:xfrm>
            <a:off x="7951390" y="5254228"/>
            <a:ext cx="1076396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10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retail\ppt_slides\sk_02_Ven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6339483"/>
            <a:ext cx="11380185" cy="534073"/>
          </a:xfrm>
          <a:prstGeom prst="rect">
            <a:avLst/>
          </a:prstGeom>
          <a:noFill/>
          <a:ln/>
        </p:spPr>
        <p:txBody>
          <a:bodyPr wrap="square" lIns="114300" tIns="171450" rIns="171450" bIns="1143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Comercial: el canal Retail cerró el semestre con 13.155 ventas efectivas entre Cuota Protegida y Rueda Seguro, sosteniendo una efectividad promedio superior al 69 % durante todo el semestre — un desempeño comercial consistente que valida el enfoque del canal en los puntos de mayor valor.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571486" y="6006108"/>
            <a:ext cx="113801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Gestores y PDV en la fila de total corresponden al promedio mensual de la estructura activa del canal (los mismos gestores atienden Cuota Protegida y Rueda Seguro).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318155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del Canal · Cuota Protegida y Rueda Seguro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685783" y="1758255"/>
            <a:ext cx="5405588" cy="206026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Retail (Como vamos)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723882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16.062 cantadas (79,0%)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257769" y="1758255"/>
            <a:ext cx="5405588" cy="206026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Rueda Seguro Retail (Como vamos)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3505112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675 cantadas (69,2%)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9067573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Reales consolidadas de cierre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6286343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 · 135 gestores activos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723882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1S (Efectivas)</a:t>
            </a:r>
            <a:endParaRPr lang="en-US" sz="696" dirty="0"/>
          </a:p>
        </p:txBody>
      </p:sp>
      <p:sp>
        <p:nvSpPr>
          <p:cNvPr id="13" name="Text 10"/>
          <p:cNvSpPr/>
          <p:nvPr/>
        </p:nvSpPr>
        <p:spPr>
          <a:xfrm>
            <a:off x="3505112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RS 1S (Efectivas)</a:t>
            </a:r>
            <a:endParaRPr lang="en-US" sz="696" dirty="0"/>
          </a:p>
        </p:txBody>
      </p:sp>
      <p:sp>
        <p:nvSpPr>
          <p:cNvPr id="14" name="Text 11"/>
          <p:cNvSpPr/>
          <p:nvPr/>
        </p:nvSpPr>
        <p:spPr>
          <a:xfrm>
            <a:off x="9067573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Mayo + Junio</a:t>
            </a:r>
            <a:endParaRPr lang="en-US" sz="696" dirty="0"/>
          </a:p>
        </p:txBody>
      </p:sp>
      <p:sp>
        <p:nvSpPr>
          <p:cNvPr id="15" name="Text 12"/>
          <p:cNvSpPr/>
          <p:nvPr/>
        </p:nvSpPr>
        <p:spPr>
          <a:xfrm>
            <a:off x="6286343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 CP Semestre</a:t>
            </a:r>
            <a:endParaRPr lang="en-US" sz="696" dirty="0"/>
          </a:p>
        </p:txBody>
      </p:sp>
      <p:sp>
        <p:nvSpPr>
          <p:cNvPr id="16" name="Text 13"/>
          <p:cNvSpPr/>
          <p:nvPr/>
        </p:nvSpPr>
        <p:spPr>
          <a:xfrm>
            <a:off x="4070199" y="1982116"/>
            <a:ext cx="1008183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Efectivas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9403172" y="1982116"/>
            <a:ext cx="1137405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Efectivas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1519051" y="1982116"/>
            <a:ext cx="98764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3074117" y="1982116"/>
            <a:ext cx="102596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5049017" y="1982116"/>
            <a:ext cx="91145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Efect.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685783" y="5227164"/>
            <a:ext cx="858266" cy="459879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1S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7197743" y="1982116"/>
            <a:ext cx="1114105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8279399" y="1982116"/>
            <a:ext cx="115748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10507449" y="1982116"/>
            <a:ext cx="102841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Efect.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6257769" y="5227164"/>
            <a:ext cx="968174" cy="459879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1S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3074117" y="5227164"/>
            <a:ext cx="1025964" cy="459879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16.062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4070199" y="5227164"/>
            <a:ext cx="1008183" cy="459879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12.688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23882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12.688</a:t>
            </a:r>
            <a:endParaRPr lang="en-US" sz="1020" dirty="0"/>
          </a:p>
        </p:txBody>
      </p:sp>
      <p:sp>
        <p:nvSpPr>
          <p:cNvPr id="29" name="Text 26"/>
          <p:cNvSpPr/>
          <p:nvPr/>
        </p:nvSpPr>
        <p:spPr>
          <a:xfrm>
            <a:off x="3074117" y="2210716"/>
            <a:ext cx="1025964" cy="49530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1.953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4070199" y="2210716"/>
            <a:ext cx="1008183" cy="49530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1.614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5049017" y="2210716"/>
            <a:ext cx="911457" cy="49530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82,6%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3074117" y="2706016"/>
            <a:ext cx="1025964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2.298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4070199" y="2706016"/>
            <a:ext cx="1008183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1.798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5049017" y="2706016"/>
            <a:ext cx="911457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78,2%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3074117" y="3210246"/>
            <a:ext cx="1025964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3.344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070199" y="3210246"/>
            <a:ext cx="1008183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2.474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5049017" y="3210246"/>
            <a:ext cx="911457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74,0%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3074117" y="3714475"/>
            <a:ext cx="1025964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2.731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070199" y="3714475"/>
            <a:ext cx="1008183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2.177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5049017" y="3714475"/>
            <a:ext cx="911457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79,7%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3074117" y="4218705"/>
            <a:ext cx="1025964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3.116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4070199" y="4218705"/>
            <a:ext cx="1008183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2.443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5049017" y="4218705"/>
            <a:ext cx="911457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78,4%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3074117" y="4722935"/>
            <a:ext cx="1025964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2.620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4070199" y="4722935"/>
            <a:ext cx="1008183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2.182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5049017" y="4722935"/>
            <a:ext cx="911457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83,3%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5049017" y="5227164"/>
            <a:ext cx="911457" cy="459879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79,0%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10507449" y="2210716"/>
            <a:ext cx="1028417" cy="49530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54,0%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10507449" y="2706016"/>
            <a:ext cx="1028417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54,2%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10507449" y="3210246"/>
            <a:ext cx="1028417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72,2%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10507449" y="3714475"/>
            <a:ext cx="1028417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75,8%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10507449" y="4218705"/>
            <a:ext cx="1028417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68,0%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10507449" y="4722935"/>
            <a:ext cx="1028417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85,0%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10507449" y="5227164"/>
            <a:ext cx="1028417" cy="459879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69,2%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6286343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2.474</a:t>
            </a:r>
            <a:endParaRPr lang="en-US" sz="1020" dirty="0"/>
          </a:p>
        </p:txBody>
      </p:sp>
      <p:sp>
        <p:nvSpPr>
          <p:cNvPr id="56" name="Text 53"/>
          <p:cNvSpPr/>
          <p:nvPr/>
        </p:nvSpPr>
        <p:spPr>
          <a:xfrm>
            <a:off x="9067573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4.625</a:t>
            </a:r>
            <a:endParaRPr lang="en-US" sz="1020" dirty="0"/>
          </a:p>
        </p:txBody>
      </p:sp>
      <p:sp>
        <p:nvSpPr>
          <p:cNvPr id="57" name="Text 54"/>
          <p:cNvSpPr/>
          <p:nvPr/>
        </p:nvSpPr>
        <p:spPr>
          <a:xfrm>
            <a:off x="1519051" y="5227164"/>
            <a:ext cx="987642" cy="459879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123*</a:t>
            </a:r>
            <a:endParaRPr lang="en-US" sz="888" dirty="0"/>
          </a:p>
        </p:txBody>
      </p:sp>
      <p:sp>
        <p:nvSpPr>
          <p:cNvPr id="58" name="Text 55"/>
          <p:cNvSpPr/>
          <p:nvPr/>
        </p:nvSpPr>
        <p:spPr>
          <a:xfrm>
            <a:off x="7197743" y="5227164"/>
            <a:ext cx="1114105" cy="459879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122*</a:t>
            </a:r>
            <a:endParaRPr lang="en-US" sz="888" dirty="0"/>
          </a:p>
        </p:txBody>
      </p:sp>
      <p:sp>
        <p:nvSpPr>
          <p:cNvPr id="59" name="Text 56"/>
          <p:cNvSpPr/>
          <p:nvPr/>
        </p:nvSpPr>
        <p:spPr>
          <a:xfrm>
            <a:off x="685783" y="1982116"/>
            <a:ext cx="85826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60" name="Text 57"/>
          <p:cNvSpPr/>
          <p:nvPr/>
        </p:nvSpPr>
        <p:spPr>
          <a:xfrm>
            <a:off x="2477926" y="1982116"/>
            <a:ext cx="61407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</a:t>
            </a:r>
            <a:endParaRPr lang="en-US" sz="888" dirty="0"/>
          </a:p>
        </p:txBody>
      </p:sp>
      <p:sp>
        <p:nvSpPr>
          <p:cNvPr id="61" name="Text 58"/>
          <p:cNvSpPr/>
          <p:nvPr/>
        </p:nvSpPr>
        <p:spPr>
          <a:xfrm>
            <a:off x="685783" y="2210716"/>
            <a:ext cx="858266" cy="49530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62" name="Text 59"/>
          <p:cNvSpPr/>
          <p:nvPr/>
        </p:nvSpPr>
        <p:spPr>
          <a:xfrm>
            <a:off x="1519051" y="2210716"/>
            <a:ext cx="987642" cy="49530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88" dirty="0"/>
          </a:p>
        </p:txBody>
      </p:sp>
      <p:sp>
        <p:nvSpPr>
          <p:cNvPr id="63" name="Text 60"/>
          <p:cNvSpPr/>
          <p:nvPr/>
        </p:nvSpPr>
        <p:spPr>
          <a:xfrm>
            <a:off x="685783" y="2706016"/>
            <a:ext cx="85826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64" name="Text 61"/>
          <p:cNvSpPr/>
          <p:nvPr/>
        </p:nvSpPr>
        <p:spPr>
          <a:xfrm>
            <a:off x="1519051" y="2706016"/>
            <a:ext cx="987642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88" dirty="0"/>
          </a:p>
        </p:txBody>
      </p:sp>
      <p:sp>
        <p:nvSpPr>
          <p:cNvPr id="65" name="Text 62"/>
          <p:cNvSpPr/>
          <p:nvPr/>
        </p:nvSpPr>
        <p:spPr>
          <a:xfrm>
            <a:off x="685783" y="3210246"/>
            <a:ext cx="85826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1519051" y="3210246"/>
            <a:ext cx="987642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685783" y="3714475"/>
            <a:ext cx="85826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68" name="Text 65"/>
          <p:cNvSpPr/>
          <p:nvPr/>
        </p:nvSpPr>
        <p:spPr>
          <a:xfrm>
            <a:off x="1519051" y="3714475"/>
            <a:ext cx="987642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685783" y="4218705"/>
            <a:ext cx="85826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685783" y="4722935"/>
            <a:ext cx="85826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2477926" y="5227164"/>
            <a:ext cx="614076" cy="459879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74*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6257769" y="1982116"/>
            <a:ext cx="96817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6257769" y="2210716"/>
            <a:ext cx="968174" cy="49530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7197743" y="2210716"/>
            <a:ext cx="1114105" cy="49530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6257769" y="2706016"/>
            <a:ext cx="968174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7197743" y="2706016"/>
            <a:ext cx="1114105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8279399" y="2706016"/>
            <a:ext cx="115748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6257769" y="3210246"/>
            <a:ext cx="968174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7197743" y="3210246"/>
            <a:ext cx="1114105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8279399" y="3210246"/>
            <a:ext cx="115748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9403172" y="3210246"/>
            <a:ext cx="1137405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6257769" y="3714475"/>
            <a:ext cx="968174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7197743" y="3714475"/>
            <a:ext cx="1114105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8279399" y="3714475"/>
            <a:ext cx="115748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888" dirty="0"/>
          </a:p>
        </p:txBody>
      </p:sp>
      <p:sp>
        <p:nvSpPr>
          <p:cNvPr id="85" name="Text 82"/>
          <p:cNvSpPr/>
          <p:nvPr/>
        </p:nvSpPr>
        <p:spPr>
          <a:xfrm>
            <a:off x="6257769" y="4218705"/>
            <a:ext cx="968174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86" name="Text 83"/>
          <p:cNvSpPr/>
          <p:nvPr/>
        </p:nvSpPr>
        <p:spPr>
          <a:xfrm>
            <a:off x="8279399" y="4218705"/>
            <a:ext cx="115748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6257769" y="4722935"/>
            <a:ext cx="968174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8279399" y="4722935"/>
            <a:ext cx="115748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8279399" y="5227164"/>
            <a:ext cx="1157486" cy="459879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675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9403172" y="5227164"/>
            <a:ext cx="1137405" cy="459879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467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3505112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467</a:t>
            </a:r>
            <a:endParaRPr lang="en-US" sz="1020" dirty="0"/>
          </a:p>
        </p:txBody>
      </p:sp>
      <p:sp>
        <p:nvSpPr>
          <p:cNvPr id="92" name="Text 89"/>
          <p:cNvSpPr/>
          <p:nvPr/>
        </p:nvSpPr>
        <p:spPr>
          <a:xfrm>
            <a:off x="2477926" y="2210716"/>
            <a:ext cx="614076" cy="49530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2477926" y="2706016"/>
            <a:ext cx="61407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2477926" y="3210246"/>
            <a:ext cx="61407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2477926" y="3714475"/>
            <a:ext cx="61407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1519051" y="4218705"/>
            <a:ext cx="987642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2477926" y="4218705"/>
            <a:ext cx="61407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1519051" y="4722935"/>
            <a:ext cx="987642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2477926" y="4722935"/>
            <a:ext cx="614076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8279399" y="2210716"/>
            <a:ext cx="1157486" cy="49530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9403172" y="2210716"/>
            <a:ext cx="1137405" cy="49530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9403172" y="2706016"/>
            <a:ext cx="1137405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9403172" y="3714475"/>
            <a:ext cx="1137405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7197743" y="4218705"/>
            <a:ext cx="1114105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9403172" y="4218705"/>
            <a:ext cx="1137405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7197743" y="4722935"/>
            <a:ext cx="1114105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9403172" y="4722935"/>
            <a:ext cx="1137405" cy="50423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</a:t>
            </a:r>
            <a:endParaRPr lang="en-US" sz="88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2026-07-17T19:45:43Z</dcterms:created>
  <dcterms:modified xsi:type="dcterms:W3CDTF">2026-07-17T19:45:43Z</dcterms:modified>
</cp:coreProperties>
</file>