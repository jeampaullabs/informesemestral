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5931991"/>
            <a:ext cx="11143249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Semestral: La reestructuración estratégica de zonas y canales de Retail (empalme con Tradicional) concentró la operación en puntos de mayor valor. Como resultado, a pesar del menor número de visitas, las ventas efectivas por PDV subieron +137% (de 17,5 a 41,5 pólizas/PDV entre ene y jun), demostrando una alta eficiencia comercial y un canal más enfocado y productivo.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723882" y="5132040"/>
            <a:ext cx="48253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Planta = gestores comerciales con actividad transaccional registrados en el "Como vamos" (cierres mensuales).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14917" y="5132040"/>
            <a:ext cx="26284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potencia la efectividad del canal.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781030" y="1421160"/>
            <a:ext cx="20749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Jun 2026)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381731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1S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6362541" y="1421160"/>
            <a:ext cx="159062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17.7 a 42.0 pólizas por PDV activo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2316920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activa vs. formaciones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6362541" y="1009650"/>
            <a:ext cx="161507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Eficiencia por PDV Activo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781030" y="1009650"/>
            <a:ext cx="1337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1S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1363517" y="2364135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Planta Gestores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3606634" y="2364135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4695532" y="2364135"/>
            <a:ext cx="11812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Capacitados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2595606" y="2364135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Capacitados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723882" y="4069110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6362541" y="1143000"/>
            <a:ext cx="752948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+137 %</a:t>
            </a:r>
            <a:endParaRPr lang="en-US" sz="1740" dirty="0"/>
          </a:p>
        </p:txBody>
      </p:sp>
      <p:sp>
        <p:nvSpPr>
          <p:cNvPr id="19" name="Text 16"/>
          <p:cNvSpPr/>
          <p:nvPr/>
        </p:nvSpPr>
        <p:spPr>
          <a:xfrm>
            <a:off x="723882" y="2364135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23882" y="259749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1363517" y="259749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4695532" y="260226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723882" y="284514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1363517" y="284514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4695532" y="284991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723882" y="309279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1363517" y="309279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4695532" y="309756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723882" y="334044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30" name="Text 27"/>
          <p:cNvSpPr/>
          <p:nvPr/>
        </p:nvSpPr>
        <p:spPr>
          <a:xfrm>
            <a:off x="1363517" y="334044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4695532" y="334521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723882" y="358809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33" name="Text 30"/>
          <p:cNvSpPr/>
          <p:nvPr/>
        </p:nvSpPr>
        <p:spPr>
          <a:xfrm>
            <a:off x="4695532" y="359286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723882" y="3835747"/>
            <a:ext cx="69669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35" name="Text 32"/>
          <p:cNvSpPr/>
          <p:nvPr/>
        </p:nvSpPr>
        <p:spPr>
          <a:xfrm>
            <a:off x="4695532" y="3840510"/>
            <a:ext cx="118124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595606" y="4069110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326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3606634" y="4069110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781030" y="1143000"/>
            <a:ext cx="419772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1740" dirty="0"/>
          </a:p>
        </p:txBody>
      </p:sp>
      <p:sp>
        <p:nvSpPr>
          <p:cNvPr id="39" name="Text 36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41" name="Text 38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42" name="Text 39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43" name="Text 40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44" name="Text 41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45" name="Text 42"/>
          <p:cNvSpPr/>
          <p:nvPr/>
        </p:nvSpPr>
        <p:spPr>
          <a:xfrm>
            <a:off x="2595606" y="259749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3606634" y="259749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2595606" y="284514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3606634" y="284514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2595606" y="309279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3606634" y="309279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2595606" y="334044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3606634" y="334044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1363517" y="358809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2595606" y="358809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3606634" y="358809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1363517" y="3835747"/>
            <a:ext cx="12624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2595606" y="3835747"/>
            <a:ext cx="104374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3606634" y="3835747"/>
            <a:ext cx="112330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11331368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60" name="Text 57"/>
          <p:cNvSpPr/>
          <p:nvPr/>
        </p:nvSpPr>
        <p:spPr>
          <a:xfrm>
            <a:off x="11331841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80" dirty="0"/>
          </a:p>
        </p:txBody>
      </p:sp>
      <p:sp>
        <p:nvSpPr>
          <p:cNvPr id="61" name="Text 58"/>
          <p:cNvSpPr/>
          <p:nvPr/>
        </p:nvSpPr>
        <p:spPr>
          <a:xfrm>
            <a:off x="11331841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780" dirty="0"/>
          </a:p>
        </p:txBody>
      </p:sp>
      <p:sp>
        <p:nvSpPr>
          <p:cNvPr id="62" name="Text 59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3" name="Text 60"/>
          <p:cNvSpPr/>
          <p:nvPr/>
        </p:nvSpPr>
        <p:spPr>
          <a:xfrm>
            <a:off x="11329159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80" dirty="0"/>
          </a:p>
        </p:txBody>
      </p:sp>
      <p:sp>
        <p:nvSpPr>
          <p:cNvPr id="64" name="Text 61"/>
          <p:cNvSpPr/>
          <p:nvPr/>
        </p:nvSpPr>
        <p:spPr>
          <a:xfrm>
            <a:off x="11325215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95868" y="3766542"/>
            <a:ext cx="5463636" cy="431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Universo = PDV físicos distintos observados en los 26 cortes semanales "Como vamos" del semestre. Coberturas &gt;100 % indican PDV que Formación visitó con nombre distinto al registrado en Como vamos ese corte, o puntos sin gestión comercial activa ese mes. </a:t>
            </a:r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 del canal:</a:t>
            </a:r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147 (ene) → 96 (jun), promedio 123; los cortes "Como vamos" no desagregan gestores por aliado.</a:t>
            </a:r>
            <a:endParaRPr lang="en-US" sz="720" dirty="0"/>
          </a:p>
        </p:txBody>
      </p:sp>
      <p:sp>
        <p:nvSpPr>
          <p:cNvPr id="4" name="Text 1"/>
          <p:cNvSpPr/>
          <p:nvPr/>
        </p:nvSpPr>
        <p:spPr>
          <a:xfrm>
            <a:off x="5470636" y="4744641"/>
            <a:ext cx="6244360" cy="244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 "Serdán" (90 visitas):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empresa que provee promotores a ambos canales, no un aliado. De las 90: 33 puras Retail+Tradicional, 33 sedes/roles internos (no PDV) y 14 con cédula activa en ambos canales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(contadas en los dos)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 Total atribuido: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 a Retail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</a:t>
            </a:r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 a Tradicional</a:t>
            </a:r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.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704832" y="1805880"/>
            <a:ext cx="515901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 por Formación vs. PDV con gestión comercial activa en Cuota Protegida cada mes (cortes "Como vamos").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5470636" y="5765602"/>
            <a:ext cx="450354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el 41 % fue a un PDV físico; el resto es actividad real de formación que no suma a cobertura de PDV.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04832" y="4623792"/>
            <a:ext cx="348634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y municipios con al menos una visita de formación registrada en el semestre.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4616971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Puntos de Venta y Municipios Visitados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448264" y="1567755"/>
            <a:ext cx="3171788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de PDV y cobertura real por aliado (1S)</a:t>
            </a:r>
            <a:endParaRPr lang="en-US" sz="1020" dirty="0"/>
          </a:p>
        </p:txBody>
      </p:sp>
      <p:sp>
        <p:nvSpPr>
          <p:cNvPr id="10" name="Text 7"/>
          <p:cNvSpPr/>
          <p:nvPr/>
        </p:nvSpPr>
        <p:spPr>
          <a:xfrm>
            <a:off x="857229" y="1596330"/>
            <a:ext cx="26594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en Puntos de Venta (PDV)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5594458" y="4433292"/>
            <a:ext cx="24295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TIPO DE PUNTO VISITADO EN LAS 90 "SERDÁN"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6295868" y="2082105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Colombiana de Comercio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(Alkosto/Ktronix)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295868" y="3152924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Olímpica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ene · aliado retirado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9067573" y="1272480"/>
            <a:ext cx="13095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al menos una visita registrada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6295868" y="2434530"/>
            <a:ext cx="1675757" cy="261193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Almacenes Éxito </a:t>
            </a:r>
            <a:pPr algn="l" indent="0" marL="0">
              <a:buNone/>
            </a:pPr>
            <a:r>
              <a:rPr lang="en-US" sz="69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 retirado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3505112" y="1272480"/>
            <a:ext cx="11422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 de 52 PDV activos visitados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286343" y="1272480"/>
            <a:ext cx="119970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Capacitando asesores de venta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6295868" y="2800499"/>
            <a:ext cx="1675757" cy="2667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Cencosud</a:t>
            </a:r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(Jumbo/Metro/Easy)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57229" y="4433292"/>
            <a:ext cx="136913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(1S)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723882" y="962025"/>
            <a:ext cx="15098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 promedio</a:t>
            </a:r>
            <a:endParaRPr lang="en-US" sz="696" dirty="0"/>
          </a:p>
        </p:txBody>
      </p:sp>
      <p:sp>
        <p:nvSpPr>
          <p:cNvPr id="21" name="Text 18"/>
          <p:cNvSpPr/>
          <p:nvPr/>
        </p:nvSpPr>
        <p:spPr>
          <a:xfrm>
            <a:off x="723882" y="1272480"/>
            <a:ext cx="9077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PDV activos en CP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6286343" y="962025"/>
            <a:ext cx="13445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de formación 1S</a:t>
            </a:r>
            <a:endParaRPr lang="en-US" sz="696" dirty="0"/>
          </a:p>
        </p:txBody>
      </p:sp>
      <p:sp>
        <p:nvSpPr>
          <p:cNvPr id="23" name="Text 20"/>
          <p:cNvSpPr/>
          <p:nvPr/>
        </p:nvSpPr>
        <p:spPr>
          <a:xfrm>
            <a:off x="9067573" y="962025"/>
            <a:ext cx="109795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Zonas / municipios</a:t>
            </a:r>
            <a:endParaRPr lang="en-US" sz="696" dirty="0"/>
          </a:p>
        </p:txBody>
      </p:sp>
      <p:sp>
        <p:nvSpPr>
          <p:cNvPr id="24" name="Text 21"/>
          <p:cNvSpPr/>
          <p:nvPr/>
        </p:nvSpPr>
        <p:spPr>
          <a:xfrm>
            <a:off x="704832" y="520362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2544372" y="2038052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con Gestión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505112" y="962025"/>
            <a:ext cx="9725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Junio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3745683" y="2038052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890764" y="186303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Universo PDV*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960429" y="186303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4832" y="484167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2968600" y="484167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Norte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4841240" y="2038052"/>
            <a:ext cx="107363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%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6295868" y="353318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canal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704832" y="5565577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35" name="Text 32"/>
          <p:cNvSpPr/>
          <p:nvPr/>
        </p:nvSpPr>
        <p:spPr>
          <a:xfrm>
            <a:off x="6969851" y="5416153"/>
            <a:ext cx="5748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Sede Serdán</a:t>
            </a:r>
            <a:endParaRPr lang="en-US" sz="696" dirty="0"/>
          </a:p>
        </p:txBody>
      </p:sp>
      <p:sp>
        <p:nvSpPr>
          <p:cNvPr id="36" name="Text 33"/>
          <p:cNvSpPr/>
          <p:nvPr/>
        </p:nvSpPr>
        <p:spPr>
          <a:xfrm>
            <a:off x="10645646" y="5416153"/>
            <a:ext cx="52294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Supervisión</a:t>
            </a:r>
            <a:endParaRPr lang="en-US" sz="696" dirty="0"/>
          </a:p>
        </p:txBody>
      </p:sp>
      <p:sp>
        <p:nvSpPr>
          <p:cNvPr id="37" name="Text 34"/>
          <p:cNvSpPr/>
          <p:nvPr/>
        </p:nvSpPr>
        <p:spPr>
          <a:xfrm>
            <a:off x="704832" y="502265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38" name="Text 35"/>
          <p:cNvSpPr/>
          <p:nvPr/>
        </p:nvSpPr>
        <p:spPr>
          <a:xfrm>
            <a:off x="2968600" y="556557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39" name="Text 36"/>
          <p:cNvSpPr/>
          <p:nvPr/>
        </p:nvSpPr>
        <p:spPr>
          <a:xfrm>
            <a:off x="5816147" y="5416153"/>
            <a:ext cx="4492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físico</a:t>
            </a:r>
            <a:endParaRPr lang="en-US" sz="696" dirty="0"/>
          </a:p>
        </p:txBody>
      </p:sp>
      <p:sp>
        <p:nvSpPr>
          <p:cNvPr id="40" name="Text 37"/>
          <p:cNvSpPr/>
          <p:nvPr/>
        </p:nvSpPr>
        <p:spPr>
          <a:xfrm>
            <a:off x="8260797" y="5416153"/>
            <a:ext cx="4260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Itinerante</a:t>
            </a:r>
            <a:endParaRPr lang="en-US" sz="696" dirty="0"/>
          </a:p>
        </p:txBody>
      </p:sp>
      <p:sp>
        <p:nvSpPr>
          <p:cNvPr id="41" name="Text 38"/>
          <p:cNvSpPr/>
          <p:nvPr/>
        </p:nvSpPr>
        <p:spPr>
          <a:xfrm>
            <a:off x="9992957" y="1863030"/>
            <a:ext cx="85351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2968600" y="574655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43" name="Text 40"/>
          <p:cNvSpPr/>
          <p:nvPr/>
        </p:nvSpPr>
        <p:spPr>
          <a:xfrm>
            <a:off x="9485487" y="5416153"/>
            <a:ext cx="4098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Ofic. SAC</a:t>
            </a:r>
            <a:endParaRPr lang="en-US" sz="696" dirty="0"/>
          </a:p>
        </p:txBody>
      </p:sp>
      <p:sp>
        <p:nvSpPr>
          <p:cNvPr id="44" name="Text 41"/>
          <p:cNvSpPr/>
          <p:nvPr/>
        </p:nvSpPr>
        <p:spPr>
          <a:xfrm>
            <a:off x="1507140" y="2038052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04832" y="37573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1S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2968600" y="502265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47" name="Text 44"/>
          <p:cNvSpPr/>
          <p:nvPr/>
        </p:nvSpPr>
        <p:spPr>
          <a:xfrm>
            <a:off x="2968600" y="5384602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48" name="Text 45"/>
          <p:cNvSpPr/>
          <p:nvPr/>
        </p:nvSpPr>
        <p:spPr>
          <a:xfrm>
            <a:off x="10827831" y="186303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9992957" y="3537942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102,9 %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6295868" y="1863030"/>
            <a:ext cx="16757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9992957" y="2153543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90,5 %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704832" y="574655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53" name="Text 50"/>
          <p:cNvSpPr/>
          <p:nvPr/>
        </p:nvSpPr>
        <p:spPr>
          <a:xfrm>
            <a:off x="3505112" y="1085850"/>
            <a:ext cx="43980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26,9 %</a:t>
            </a:r>
            <a:endParaRPr lang="en-US" sz="1020" dirty="0"/>
          </a:p>
        </p:txBody>
      </p:sp>
      <p:sp>
        <p:nvSpPr>
          <p:cNvPr id="54" name="Text 51"/>
          <p:cNvSpPr/>
          <p:nvPr/>
        </p:nvSpPr>
        <p:spPr>
          <a:xfrm>
            <a:off x="4841240" y="22761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60,9%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4841240" y="25238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57,1%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4841240" y="27714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54,9%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4841240" y="30191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4841240" y="32667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33,3%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4841240" y="351442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26,9%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4841240" y="3762077"/>
            <a:ext cx="107363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47,2%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9992957" y="2512665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116 %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9992957" y="2871936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119 %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704832" y="5384602"/>
            <a:ext cx="164571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64" name="Text 61"/>
          <p:cNvSpPr/>
          <p:nvPr/>
        </p:nvSpPr>
        <p:spPr>
          <a:xfrm>
            <a:off x="9992957" y="3231059"/>
            <a:ext cx="853514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50 %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2968600" y="5203627"/>
            <a:ext cx="1645865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6" name="Text 63"/>
          <p:cNvSpPr/>
          <p:nvPr/>
        </p:nvSpPr>
        <p:spPr>
          <a:xfrm>
            <a:off x="704832" y="2038052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704832" y="22714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1507140" y="22714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704832" y="25190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1507140" y="25190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704832" y="27667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1507140" y="27667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704832" y="30143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1507140" y="30143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704832" y="326201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04832" y="3509665"/>
            <a:ext cx="85857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1507140" y="37573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10827831" y="21487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184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890764" y="35331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8960429" y="35331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0827831" y="3533180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2286632" y="48416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</a:t>
            </a:r>
            <a:endParaRPr lang="en-US" sz="672" dirty="0"/>
          </a:p>
        </p:txBody>
      </p:sp>
      <p:sp>
        <p:nvSpPr>
          <p:cNvPr id="83" name="Text 80"/>
          <p:cNvSpPr/>
          <p:nvPr/>
        </p:nvSpPr>
        <p:spPr>
          <a:xfrm>
            <a:off x="628634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1020" dirty="0"/>
          </a:p>
        </p:txBody>
      </p:sp>
      <p:sp>
        <p:nvSpPr>
          <p:cNvPr id="84" name="Text 81"/>
          <p:cNvSpPr/>
          <p:nvPr/>
        </p:nvSpPr>
        <p:spPr>
          <a:xfrm>
            <a:off x="2544372" y="22714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3745683" y="22714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2544372" y="25190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3745683" y="25190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2544372" y="27667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3745683" y="27667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2544372" y="30143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3745683" y="30143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1507140" y="326201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544372" y="32620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3745683" y="32620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1507140" y="3509665"/>
            <a:ext cx="107317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2544372" y="350966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3745683" y="350966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2544372" y="3757315"/>
            <a:ext cx="12341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3745683" y="3757315"/>
            <a:ext cx="112682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7890764" y="2148780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8960429" y="2148780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7890764" y="2507903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8960429" y="2507903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10827831" y="2507903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7890764" y="2867174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8960429" y="2867174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10827831" y="2867174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2286632" y="50226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672" dirty="0"/>
          </a:p>
        </p:txBody>
      </p:sp>
      <p:sp>
        <p:nvSpPr>
          <p:cNvPr id="109" name="Text 106"/>
          <p:cNvSpPr/>
          <p:nvPr/>
        </p:nvSpPr>
        <p:spPr>
          <a:xfrm>
            <a:off x="2286632" y="520362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</a:t>
            </a:r>
            <a:endParaRPr lang="en-US" sz="672" dirty="0"/>
          </a:p>
        </p:txBody>
      </p:sp>
      <p:sp>
        <p:nvSpPr>
          <p:cNvPr id="110" name="Text 107"/>
          <p:cNvSpPr/>
          <p:nvPr/>
        </p:nvSpPr>
        <p:spPr>
          <a:xfrm>
            <a:off x="2286632" y="538460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72" dirty="0"/>
          </a:p>
        </p:txBody>
      </p:sp>
      <p:sp>
        <p:nvSpPr>
          <p:cNvPr id="111" name="Text 108"/>
          <p:cNvSpPr/>
          <p:nvPr/>
        </p:nvSpPr>
        <p:spPr>
          <a:xfrm>
            <a:off x="2286632" y="55655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12" name="Text 109"/>
          <p:cNvSpPr/>
          <p:nvPr/>
        </p:nvSpPr>
        <p:spPr>
          <a:xfrm>
            <a:off x="2286632" y="57465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13" name="Text 110"/>
          <p:cNvSpPr/>
          <p:nvPr/>
        </p:nvSpPr>
        <p:spPr>
          <a:xfrm>
            <a:off x="4550549" y="48416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72" dirty="0"/>
          </a:p>
        </p:txBody>
      </p:sp>
      <p:sp>
        <p:nvSpPr>
          <p:cNvPr id="114" name="Text 111"/>
          <p:cNvSpPr/>
          <p:nvPr/>
        </p:nvSpPr>
        <p:spPr>
          <a:xfrm>
            <a:off x="4550549" y="50226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15" name="Text 112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1020" dirty="0"/>
          </a:p>
        </p:txBody>
      </p:sp>
      <p:sp>
        <p:nvSpPr>
          <p:cNvPr id="116" name="Text 113"/>
          <p:cNvSpPr/>
          <p:nvPr/>
        </p:nvSpPr>
        <p:spPr>
          <a:xfrm>
            <a:off x="9067573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1020" dirty="0"/>
          </a:p>
        </p:txBody>
      </p:sp>
      <p:sp>
        <p:nvSpPr>
          <p:cNvPr id="117" name="Text 114"/>
          <p:cNvSpPr/>
          <p:nvPr/>
        </p:nvSpPr>
        <p:spPr>
          <a:xfrm>
            <a:off x="5948345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1080" dirty="0"/>
          </a:p>
        </p:txBody>
      </p:sp>
      <p:sp>
        <p:nvSpPr>
          <p:cNvPr id="118" name="Text 115"/>
          <p:cNvSpPr/>
          <p:nvPr/>
        </p:nvSpPr>
        <p:spPr>
          <a:xfrm>
            <a:off x="7164673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1080" dirty="0"/>
          </a:p>
        </p:txBody>
      </p:sp>
      <p:sp>
        <p:nvSpPr>
          <p:cNvPr id="119" name="Text 116"/>
          <p:cNvSpPr/>
          <p:nvPr/>
        </p:nvSpPr>
        <p:spPr>
          <a:xfrm>
            <a:off x="8377851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1080" dirty="0"/>
          </a:p>
        </p:txBody>
      </p:sp>
      <p:sp>
        <p:nvSpPr>
          <p:cNvPr id="120" name="Text 117"/>
          <p:cNvSpPr/>
          <p:nvPr/>
        </p:nvSpPr>
        <p:spPr>
          <a:xfrm>
            <a:off x="7890764" y="3226296"/>
            <a:ext cx="11004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888" dirty="0"/>
          </a:p>
        </p:txBody>
      </p:sp>
      <p:sp>
        <p:nvSpPr>
          <p:cNvPr id="121" name="Text 118"/>
          <p:cNvSpPr/>
          <p:nvPr/>
        </p:nvSpPr>
        <p:spPr>
          <a:xfrm>
            <a:off x="8960429" y="3226296"/>
            <a:ext cx="105738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888" dirty="0"/>
          </a:p>
        </p:txBody>
      </p:sp>
      <p:sp>
        <p:nvSpPr>
          <p:cNvPr id="122" name="Text 119"/>
          <p:cNvSpPr/>
          <p:nvPr/>
        </p:nvSpPr>
        <p:spPr>
          <a:xfrm>
            <a:off x="10827831" y="3226296"/>
            <a:ext cx="63998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888" dirty="0"/>
          </a:p>
        </p:txBody>
      </p:sp>
      <p:sp>
        <p:nvSpPr>
          <p:cNvPr id="123" name="Text 120"/>
          <p:cNvSpPr/>
          <p:nvPr/>
        </p:nvSpPr>
        <p:spPr>
          <a:xfrm>
            <a:off x="4550549" y="520362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4550549" y="538460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4550549" y="5565577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4550549" y="5746552"/>
            <a:ext cx="548622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672" dirty="0"/>
          </a:p>
        </p:txBody>
      </p:sp>
      <p:sp>
        <p:nvSpPr>
          <p:cNvPr id="127" name="Text 124"/>
          <p:cNvSpPr/>
          <p:nvPr/>
        </p:nvSpPr>
        <p:spPr>
          <a:xfrm>
            <a:off x="9637084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080" dirty="0"/>
          </a:p>
        </p:txBody>
      </p:sp>
      <p:sp>
        <p:nvSpPr>
          <p:cNvPr id="128" name="Text 125"/>
          <p:cNvSpPr/>
          <p:nvPr/>
        </p:nvSpPr>
        <p:spPr>
          <a:xfrm>
            <a:off x="10855932" y="5254228"/>
            <a:ext cx="274320" cy="166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0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retai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683081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Retail cerró el semestre con 13.155 ventas efectivas entre Cuota Protegida y Rueda Seguro, sosteniendo una efectividad promedio superior al 69 % durante todo el semestre — un desempeño comercial consistente que valida el enfoque del canal en los puntos de mayor valor.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724830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Gestores y PDV en la fila de total corresponden al promedio mensual de la estructura activa del canal (los mismos gestores atienden Cuota Protegida y Rueda Seguro).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838179" y="1786830"/>
            <a:ext cx="199873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Retail (Como vamos)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1272480"/>
            <a:ext cx="123141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16.062 cantadas (79,0%)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10165" y="1786830"/>
            <a:ext cx="18886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Retail (Como vamos)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3505112" y="1272480"/>
            <a:ext cx="11217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675 cantadas (69,2%)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9067573" y="1272480"/>
            <a:ext cx="114954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Reales consolidadas de cierre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6286343" y="1272480"/>
            <a:ext cx="10679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 · 135 gestores activos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723882" y="962025"/>
            <a:ext cx="13535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1S (Efectivas)</a:t>
            </a:r>
            <a:endParaRPr lang="en-US" sz="696" dirty="0"/>
          </a:p>
        </p:txBody>
      </p:sp>
      <p:sp>
        <p:nvSpPr>
          <p:cNvPr id="13" name="Text 10"/>
          <p:cNvSpPr/>
          <p:nvPr/>
        </p:nvSpPr>
        <p:spPr>
          <a:xfrm>
            <a:off x="3505112" y="962025"/>
            <a:ext cx="13525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1S (Efectivas)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9067573" y="962025"/>
            <a:ext cx="130350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Mayo + Junio</a:t>
            </a:r>
            <a:endParaRPr lang="en-US" sz="696" dirty="0"/>
          </a:p>
        </p:txBody>
      </p:sp>
      <p:sp>
        <p:nvSpPr>
          <p:cNvPr id="15" name="Text 12"/>
          <p:cNvSpPr/>
          <p:nvPr/>
        </p:nvSpPr>
        <p:spPr>
          <a:xfrm>
            <a:off x="6286343" y="962025"/>
            <a:ext cx="9772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 CP Semestre</a:t>
            </a:r>
            <a:endParaRPr lang="en-US" sz="696" dirty="0"/>
          </a:p>
        </p:txBody>
      </p:sp>
      <p:sp>
        <p:nvSpPr>
          <p:cNvPr id="16" name="Text 13"/>
          <p:cNvSpPr/>
          <p:nvPr/>
        </p:nvSpPr>
        <p:spPr>
          <a:xfrm>
            <a:off x="4040834" y="2044005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9370044" y="2044005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Efectivas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490284" y="2044005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3044234" y="2044005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5022469" y="2044005"/>
            <a:ext cx="91145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685783" y="5407075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165294" y="2044005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8245686" y="2044005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10477496" y="2044005"/>
            <a:ext cx="102841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Efect.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6257769" y="5407075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3044234" y="5407075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16.062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4040834" y="5407075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12.688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23882" y="1085850"/>
            <a:ext cx="452111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12.688</a:t>
            </a:r>
            <a:endParaRPr lang="en-US" sz="1020" dirty="0"/>
          </a:p>
        </p:txBody>
      </p:sp>
      <p:sp>
        <p:nvSpPr>
          <p:cNvPr id="29" name="Text 26"/>
          <p:cNvSpPr/>
          <p:nvPr/>
        </p:nvSpPr>
        <p:spPr>
          <a:xfrm>
            <a:off x="3044234" y="2403574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1.953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4040834" y="2379762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1.614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5022469" y="2408337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82,6%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3044234" y="2905720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2.298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040834" y="2881908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1.798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5022469" y="2910483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78,2%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044234" y="3409950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3.344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040834" y="3386138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5022469" y="3414713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74,0%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3044234" y="3914180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2.731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040834" y="3890367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5022469" y="3918942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79,7%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3044234" y="4418409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3.116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040834" y="4394597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2.443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5022469" y="4423172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78,4%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3044234" y="4922639"/>
            <a:ext cx="102596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2.620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4040834" y="4898827"/>
            <a:ext cx="10081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2.182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5022469" y="4927402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83,3%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5022469" y="5411837"/>
            <a:ext cx="91145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477496" y="2408337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54,0%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477496" y="2910483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54,2%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10477496" y="3414713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72,2%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10477496" y="3918942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75,8%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10477496" y="4423172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68,0%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10477496" y="4927402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85,0%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10477496" y="5411837"/>
            <a:ext cx="1028417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69,2%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6286343" y="1085850"/>
            <a:ext cx="36392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2.474</a:t>
            </a:r>
            <a:endParaRPr lang="en-US" sz="1020" dirty="0"/>
          </a:p>
        </p:txBody>
      </p:sp>
      <p:sp>
        <p:nvSpPr>
          <p:cNvPr id="56" name="Text 53"/>
          <p:cNvSpPr/>
          <p:nvPr/>
        </p:nvSpPr>
        <p:spPr>
          <a:xfrm>
            <a:off x="9067573" y="1085850"/>
            <a:ext cx="37023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4.625</a:t>
            </a:r>
            <a:endParaRPr lang="en-US" sz="1020" dirty="0"/>
          </a:p>
        </p:txBody>
      </p:sp>
      <p:sp>
        <p:nvSpPr>
          <p:cNvPr id="57" name="Text 54"/>
          <p:cNvSpPr/>
          <p:nvPr/>
        </p:nvSpPr>
        <p:spPr>
          <a:xfrm>
            <a:off x="1490284" y="5407075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123*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7165294" y="5407075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122*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685783" y="2044005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2460041" y="2044005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685783" y="2403574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1490284" y="2403574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685783" y="2905720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1490284" y="2905720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685783" y="3409950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1490284" y="3409950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685783" y="3914180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1490284" y="3914180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685783" y="4418409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685783" y="4922639"/>
            <a:ext cx="85826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2460041" y="5407075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74*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6257769" y="2044005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6257769" y="2403574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7165294" y="2403574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6257769" y="2905720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165294" y="2905720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8245686" y="2905720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78" name="Text 75"/>
          <p:cNvSpPr/>
          <p:nvPr/>
        </p:nvSpPr>
        <p:spPr>
          <a:xfrm>
            <a:off x="6257769" y="3409950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7165294" y="3409950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8245686" y="3409950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9370044" y="3386138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6257769" y="3914180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165294" y="3914180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118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8245686" y="3914180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6257769" y="4418409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8245686" y="4418409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6257769" y="4922639"/>
            <a:ext cx="96817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8245686" y="4922639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8245686" y="5407075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675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9370044" y="5407075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467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467</a:t>
            </a:r>
            <a:endParaRPr lang="en-US" sz="1020" dirty="0"/>
          </a:p>
        </p:txBody>
      </p:sp>
      <p:sp>
        <p:nvSpPr>
          <p:cNvPr id="92" name="Text 89"/>
          <p:cNvSpPr/>
          <p:nvPr/>
        </p:nvSpPr>
        <p:spPr>
          <a:xfrm>
            <a:off x="2460041" y="2403574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2460041" y="2905720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2460041" y="3409950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460041" y="3914180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1490284" y="4418409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2460041" y="4418409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1490284" y="4922639"/>
            <a:ext cx="9876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2460041" y="4922639"/>
            <a:ext cx="61407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8245686" y="2403574"/>
            <a:ext cx="115748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9370044" y="2379762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9370044" y="2881908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9370044" y="3890367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7165294" y="4418409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9370044" y="4394597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7165294" y="4922639"/>
            <a:ext cx="11141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9370044" y="4898827"/>
            <a:ext cx="11374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8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2026-07-19T18:09:51Z</dcterms:created>
  <dcterms:modified xsi:type="dcterms:W3CDTF">2026-07-19T18:09:51Z</dcterms:modified>
</cp:coreProperties>
</file>