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7837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retail\ppt_slides\sk_00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6278" y="5931991"/>
            <a:ext cx="11215973" cy="29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del periodo: La reestructuración estratégica de zonas y canales de Retail (empalme con Tradicional) concentró la operación en puntos de mayor valor. Como resultado, a pesar del menor número de visitas, las ventas efectivas por PDV subieron +24% (de 17,7 a 22,0 pólizas/PDV entre ene y ago), demostrando una alta eficiencia comercial y un canal más enfocado y productivo.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723882" y="5008364"/>
            <a:ext cx="5345636" cy="235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Planta = gestores comerciales con actividad transaccional registrados en el "Como vamos" (cierres mensuales); en la fila de total corresponde al promedio mensual.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6314917" y="5132040"/>
            <a:ext cx="26284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concentración de visitas potencia la efectividad del canal.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436125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 de Visitas de Formación · Ene-Ago 2026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781030" y="1421160"/>
            <a:ext cx="20948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formación acumulada (Ene - Ago 2026)</a:t>
            </a:r>
            <a:endParaRPr lang="en-US" sz="696" dirty="0"/>
          </a:p>
        </p:txBody>
      </p:sp>
      <p:sp>
        <p:nvSpPr>
          <p:cNvPr id="8" name="Text 5"/>
          <p:cNvSpPr/>
          <p:nvPr/>
        </p:nvSpPr>
        <p:spPr>
          <a:xfrm>
            <a:off x="6362541" y="1421160"/>
            <a:ext cx="15884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17.7 a 22.0 pólizas por PDV activo</a:t>
            </a:r>
            <a:endParaRPr lang="en-US" sz="696" dirty="0"/>
          </a:p>
        </p:txBody>
      </p:sp>
      <p:sp>
        <p:nvSpPr>
          <p:cNvPr id="9" name="Text 6"/>
          <p:cNvSpPr/>
          <p:nvPr/>
        </p:nvSpPr>
        <p:spPr>
          <a:xfrm>
            <a:off x="876278" y="2049810"/>
            <a:ext cx="23169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Planta activa vs. formaciones por mes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6467313" y="2049810"/>
            <a:ext cx="175058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Evolución de visitas por mes</a:t>
            </a:r>
            <a:endParaRPr lang="en-US" sz="936" dirty="0"/>
          </a:p>
        </p:txBody>
      </p:sp>
      <p:sp>
        <p:nvSpPr>
          <p:cNvPr id="11" name="Text 8"/>
          <p:cNvSpPr/>
          <p:nvPr/>
        </p:nvSpPr>
        <p:spPr>
          <a:xfrm>
            <a:off x="781030" y="1009650"/>
            <a:ext cx="172897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Realizadas Ene-Ago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6362541" y="1009650"/>
            <a:ext cx="161507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Eficiencia por PDV Activo</a:t>
            </a:r>
            <a:endParaRPr lang="en-US" sz="780" dirty="0"/>
          </a:p>
        </p:txBody>
      </p:sp>
      <p:sp>
        <p:nvSpPr>
          <p:cNvPr id="13" name="Text 10"/>
          <p:cNvSpPr/>
          <p:nvPr/>
        </p:nvSpPr>
        <p:spPr>
          <a:xfrm>
            <a:off x="1608383" y="2329631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Planta Gestores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3747136" y="2329631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4785373" y="2329631"/>
            <a:ext cx="11259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Capacitados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723882" y="4564410"/>
            <a:ext cx="911610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Ene-Ago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2783178" y="2329631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Capacitados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6362541" y="1143000"/>
            <a:ext cx="633686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+24 %</a:t>
            </a:r>
            <a:endParaRPr lang="en-US" sz="1740" dirty="0"/>
          </a:p>
        </p:txBody>
      </p:sp>
      <p:sp>
        <p:nvSpPr>
          <p:cNvPr id="19" name="Text 16"/>
          <p:cNvSpPr/>
          <p:nvPr/>
        </p:nvSpPr>
        <p:spPr>
          <a:xfrm>
            <a:off x="1573879" y="4631085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115*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758386" y="2329631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723882" y="259749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1573879" y="259749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4750869" y="260226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48%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723882" y="284514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1573879" y="284514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4750869" y="284991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45%</a:t>
            </a:r>
            <a:endParaRPr lang="en-US" sz="816" dirty="0"/>
          </a:p>
        </p:txBody>
      </p:sp>
      <p:sp>
        <p:nvSpPr>
          <p:cNvPr id="27" name="Text 24"/>
          <p:cNvSpPr/>
          <p:nvPr/>
        </p:nvSpPr>
        <p:spPr>
          <a:xfrm>
            <a:off x="723882" y="309279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1573879" y="309279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4750869" y="309756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53%</a:t>
            </a:r>
            <a:endParaRPr lang="en-US" sz="816" dirty="0"/>
          </a:p>
        </p:txBody>
      </p:sp>
      <p:sp>
        <p:nvSpPr>
          <p:cNvPr id="30" name="Text 27"/>
          <p:cNvSpPr/>
          <p:nvPr/>
        </p:nvSpPr>
        <p:spPr>
          <a:xfrm>
            <a:off x="723882" y="334044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64" dirty="0"/>
          </a:p>
        </p:txBody>
      </p:sp>
      <p:sp>
        <p:nvSpPr>
          <p:cNvPr id="31" name="Text 28"/>
          <p:cNvSpPr/>
          <p:nvPr/>
        </p:nvSpPr>
        <p:spPr>
          <a:xfrm>
            <a:off x="1573879" y="334044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64" dirty="0"/>
          </a:p>
        </p:txBody>
      </p:sp>
      <p:sp>
        <p:nvSpPr>
          <p:cNvPr id="32" name="Text 29"/>
          <p:cNvSpPr/>
          <p:nvPr/>
        </p:nvSpPr>
        <p:spPr>
          <a:xfrm>
            <a:off x="4750869" y="334521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723882" y="358809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64" dirty="0"/>
          </a:p>
        </p:txBody>
      </p:sp>
      <p:sp>
        <p:nvSpPr>
          <p:cNvPr id="34" name="Text 31"/>
          <p:cNvSpPr/>
          <p:nvPr/>
        </p:nvSpPr>
        <p:spPr>
          <a:xfrm>
            <a:off x="4750869" y="359286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723882" y="383574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64" dirty="0"/>
          </a:p>
        </p:txBody>
      </p:sp>
      <p:sp>
        <p:nvSpPr>
          <p:cNvPr id="36" name="Text 33"/>
          <p:cNvSpPr/>
          <p:nvPr/>
        </p:nvSpPr>
        <p:spPr>
          <a:xfrm>
            <a:off x="4750869" y="384051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723882" y="408339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64" dirty="0"/>
          </a:p>
        </p:txBody>
      </p:sp>
      <p:sp>
        <p:nvSpPr>
          <p:cNvPr id="38" name="Text 35"/>
          <p:cNvSpPr/>
          <p:nvPr/>
        </p:nvSpPr>
        <p:spPr>
          <a:xfrm>
            <a:off x="4750869" y="408816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723882" y="433104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64" dirty="0"/>
          </a:p>
        </p:txBody>
      </p:sp>
      <p:sp>
        <p:nvSpPr>
          <p:cNvPr id="40" name="Text 37"/>
          <p:cNvSpPr/>
          <p:nvPr/>
        </p:nvSpPr>
        <p:spPr>
          <a:xfrm>
            <a:off x="4750869" y="433581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2748674" y="4631085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380</a:t>
            </a:r>
            <a:endParaRPr lang="en-US" sz="864" dirty="0"/>
          </a:p>
        </p:txBody>
      </p:sp>
      <p:sp>
        <p:nvSpPr>
          <p:cNvPr id="42" name="Text 39"/>
          <p:cNvSpPr/>
          <p:nvPr/>
        </p:nvSpPr>
        <p:spPr>
          <a:xfrm>
            <a:off x="3712632" y="4631085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254</a:t>
            </a:r>
            <a:endParaRPr lang="en-US" sz="864" dirty="0"/>
          </a:p>
        </p:txBody>
      </p:sp>
      <p:sp>
        <p:nvSpPr>
          <p:cNvPr id="43" name="Text 40"/>
          <p:cNvSpPr/>
          <p:nvPr/>
        </p:nvSpPr>
        <p:spPr>
          <a:xfrm>
            <a:off x="4750869" y="4635847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40%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781030" y="1143000"/>
            <a:ext cx="422927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432</a:t>
            </a:r>
            <a:endParaRPr lang="en-US" sz="1740" dirty="0"/>
          </a:p>
        </p:txBody>
      </p:sp>
      <p:sp>
        <p:nvSpPr>
          <p:cNvPr id="45" name="Text 42"/>
          <p:cNvSpPr/>
          <p:nvPr/>
        </p:nvSpPr>
        <p:spPr>
          <a:xfrm>
            <a:off x="6409099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80" dirty="0"/>
          </a:p>
        </p:txBody>
      </p:sp>
      <p:sp>
        <p:nvSpPr>
          <p:cNvPr id="46" name="Text 43"/>
          <p:cNvSpPr/>
          <p:nvPr/>
        </p:nvSpPr>
        <p:spPr>
          <a:xfrm>
            <a:off x="6411623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80" dirty="0"/>
          </a:p>
        </p:txBody>
      </p:sp>
      <p:sp>
        <p:nvSpPr>
          <p:cNvPr id="47" name="Text 44"/>
          <p:cNvSpPr/>
          <p:nvPr/>
        </p:nvSpPr>
        <p:spPr>
          <a:xfrm>
            <a:off x="6407048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80" dirty="0"/>
          </a:p>
        </p:txBody>
      </p:sp>
      <p:sp>
        <p:nvSpPr>
          <p:cNvPr id="48" name="Text 45"/>
          <p:cNvSpPr/>
          <p:nvPr/>
        </p:nvSpPr>
        <p:spPr>
          <a:xfrm>
            <a:off x="642045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80" dirty="0"/>
          </a:p>
        </p:txBody>
      </p:sp>
      <p:sp>
        <p:nvSpPr>
          <p:cNvPr id="49" name="Text 46"/>
          <p:cNvSpPr/>
          <p:nvPr/>
        </p:nvSpPr>
        <p:spPr>
          <a:xfrm>
            <a:off x="6392061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80" dirty="0"/>
          </a:p>
        </p:txBody>
      </p:sp>
      <p:sp>
        <p:nvSpPr>
          <p:cNvPr id="50" name="Text 47"/>
          <p:cNvSpPr/>
          <p:nvPr/>
        </p:nvSpPr>
        <p:spPr>
          <a:xfrm>
            <a:off x="6419037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80" dirty="0"/>
          </a:p>
        </p:txBody>
      </p:sp>
      <p:sp>
        <p:nvSpPr>
          <p:cNvPr id="51" name="Text 48"/>
          <p:cNvSpPr/>
          <p:nvPr/>
        </p:nvSpPr>
        <p:spPr>
          <a:xfrm>
            <a:off x="6449168" y="3726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780" dirty="0"/>
          </a:p>
        </p:txBody>
      </p:sp>
      <p:sp>
        <p:nvSpPr>
          <p:cNvPr id="52" name="Text 49"/>
          <p:cNvSpPr/>
          <p:nvPr/>
        </p:nvSpPr>
        <p:spPr>
          <a:xfrm>
            <a:off x="6399003" y="3954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780" dirty="0"/>
          </a:p>
        </p:txBody>
      </p:sp>
      <p:sp>
        <p:nvSpPr>
          <p:cNvPr id="53" name="Text 50"/>
          <p:cNvSpPr/>
          <p:nvPr/>
        </p:nvSpPr>
        <p:spPr>
          <a:xfrm>
            <a:off x="2748674" y="259749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864" dirty="0"/>
          </a:p>
        </p:txBody>
      </p:sp>
      <p:sp>
        <p:nvSpPr>
          <p:cNvPr id="54" name="Text 51"/>
          <p:cNvSpPr/>
          <p:nvPr/>
        </p:nvSpPr>
        <p:spPr>
          <a:xfrm>
            <a:off x="3712632" y="259749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</a:t>
            </a:r>
            <a:endParaRPr lang="en-US" sz="864" dirty="0"/>
          </a:p>
        </p:txBody>
      </p:sp>
      <p:sp>
        <p:nvSpPr>
          <p:cNvPr id="55" name="Text 52"/>
          <p:cNvSpPr/>
          <p:nvPr/>
        </p:nvSpPr>
        <p:spPr>
          <a:xfrm>
            <a:off x="2748674" y="284514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864" dirty="0"/>
          </a:p>
        </p:txBody>
      </p:sp>
      <p:sp>
        <p:nvSpPr>
          <p:cNvPr id="56" name="Text 53"/>
          <p:cNvSpPr/>
          <p:nvPr/>
        </p:nvSpPr>
        <p:spPr>
          <a:xfrm>
            <a:off x="3712632" y="284514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64" dirty="0"/>
          </a:p>
        </p:txBody>
      </p:sp>
      <p:sp>
        <p:nvSpPr>
          <p:cNvPr id="57" name="Text 54"/>
          <p:cNvSpPr/>
          <p:nvPr/>
        </p:nvSpPr>
        <p:spPr>
          <a:xfrm>
            <a:off x="2748674" y="309279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864" dirty="0"/>
          </a:p>
        </p:txBody>
      </p:sp>
      <p:sp>
        <p:nvSpPr>
          <p:cNvPr id="58" name="Text 55"/>
          <p:cNvSpPr/>
          <p:nvPr/>
        </p:nvSpPr>
        <p:spPr>
          <a:xfrm>
            <a:off x="3712632" y="309279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64" dirty="0"/>
          </a:p>
        </p:txBody>
      </p:sp>
      <p:sp>
        <p:nvSpPr>
          <p:cNvPr id="59" name="Text 56"/>
          <p:cNvSpPr/>
          <p:nvPr/>
        </p:nvSpPr>
        <p:spPr>
          <a:xfrm>
            <a:off x="2748674" y="334044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</a:t>
            </a:r>
            <a:endParaRPr lang="en-US" sz="864" dirty="0"/>
          </a:p>
        </p:txBody>
      </p:sp>
      <p:sp>
        <p:nvSpPr>
          <p:cNvPr id="60" name="Text 57"/>
          <p:cNvSpPr/>
          <p:nvPr/>
        </p:nvSpPr>
        <p:spPr>
          <a:xfrm>
            <a:off x="3712632" y="334044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64" dirty="0"/>
          </a:p>
        </p:txBody>
      </p:sp>
      <p:sp>
        <p:nvSpPr>
          <p:cNvPr id="61" name="Text 58"/>
          <p:cNvSpPr/>
          <p:nvPr/>
        </p:nvSpPr>
        <p:spPr>
          <a:xfrm>
            <a:off x="1573879" y="358809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64" dirty="0"/>
          </a:p>
        </p:txBody>
      </p:sp>
      <p:sp>
        <p:nvSpPr>
          <p:cNvPr id="62" name="Text 59"/>
          <p:cNvSpPr/>
          <p:nvPr/>
        </p:nvSpPr>
        <p:spPr>
          <a:xfrm>
            <a:off x="2748674" y="358809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864" dirty="0"/>
          </a:p>
        </p:txBody>
      </p:sp>
      <p:sp>
        <p:nvSpPr>
          <p:cNvPr id="63" name="Text 60"/>
          <p:cNvSpPr/>
          <p:nvPr/>
        </p:nvSpPr>
        <p:spPr>
          <a:xfrm>
            <a:off x="3712632" y="358809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64" dirty="0"/>
          </a:p>
        </p:txBody>
      </p:sp>
      <p:sp>
        <p:nvSpPr>
          <p:cNvPr id="64" name="Text 61"/>
          <p:cNvSpPr/>
          <p:nvPr/>
        </p:nvSpPr>
        <p:spPr>
          <a:xfrm>
            <a:off x="1573879" y="383574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64" dirty="0"/>
          </a:p>
        </p:txBody>
      </p:sp>
      <p:sp>
        <p:nvSpPr>
          <p:cNvPr id="65" name="Text 62"/>
          <p:cNvSpPr/>
          <p:nvPr/>
        </p:nvSpPr>
        <p:spPr>
          <a:xfrm>
            <a:off x="2748674" y="383574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864" dirty="0"/>
          </a:p>
        </p:txBody>
      </p:sp>
      <p:sp>
        <p:nvSpPr>
          <p:cNvPr id="66" name="Text 63"/>
          <p:cNvSpPr/>
          <p:nvPr/>
        </p:nvSpPr>
        <p:spPr>
          <a:xfrm>
            <a:off x="3712632" y="383574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64" dirty="0"/>
          </a:p>
        </p:txBody>
      </p:sp>
      <p:sp>
        <p:nvSpPr>
          <p:cNvPr id="67" name="Text 64"/>
          <p:cNvSpPr/>
          <p:nvPr/>
        </p:nvSpPr>
        <p:spPr>
          <a:xfrm>
            <a:off x="1573879" y="408339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864" dirty="0"/>
          </a:p>
        </p:txBody>
      </p:sp>
      <p:sp>
        <p:nvSpPr>
          <p:cNvPr id="68" name="Text 65"/>
          <p:cNvSpPr/>
          <p:nvPr/>
        </p:nvSpPr>
        <p:spPr>
          <a:xfrm>
            <a:off x="2748674" y="408339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864" dirty="0"/>
          </a:p>
        </p:txBody>
      </p:sp>
      <p:sp>
        <p:nvSpPr>
          <p:cNvPr id="69" name="Text 66"/>
          <p:cNvSpPr/>
          <p:nvPr/>
        </p:nvSpPr>
        <p:spPr>
          <a:xfrm>
            <a:off x="3712632" y="408339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64" dirty="0"/>
          </a:p>
        </p:txBody>
      </p:sp>
      <p:sp>
        <p:nvSpPr>
          <p:cNvPr id="70" name="Text 67"/>
          <p:cNvSpPr/>
          <p:nvPr/>
        </p:nvSpPr>
        <p:spPr>
          <a:xfrm>
            <a:off x="1573879" y="433104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64" dirty="0"/>
          </a:p>
        </p:txBody>
      </p:sp>
      <p:sp>
        <p:nvSpPr>
          <p:cNvPr id="71" name="Text 68"/>
          <p:cNvSpPr/>
          <p:nvPr/>
        </p:nvSpPr>
        <p:spPr>
          <a:xfrm>
            <a:off x="2748674" y="433104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864" dirty="0"/>
          </a:p>
        </p:txBody>
      </p:sp>
      <p:sp>
        <p:nvSpPr>
          <p:cNvPr id="72" name="Text 69"/>
          <p:cNvSpPr/>
          <p:nvPr/>
        </p:nvSpPr>
        <p:spPr>
          <a:xfrm>
            <a:off x="3712632" y="433104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864" dirty="0"/>
          </a:p>
        </p:txBody>
      </p:sp>
      <p:sp>
        <p:nvSpPr>
          <p:cNvPr id="73" name="Text 70"/>
          <p:cNvSpPr/>
          <p:nvPr/>
        </p:nvSpPr>
        <p:spPr>
          <a:xfrm>
            <a:off x="11331368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780" dirty="0"/>
          </a:p>
        </p:txBody>
      </p:sp>
      <p:sp>
        <p:nvSpPr>
          <p:cNvPr id="74" name="Text 71"/>
          <p:cNvSpPr/>
          <p:nvPr/>
        </p:nvSpPr>
        <p:spPr>
          <a:xfrm>
            <a:off x="11331841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780" dirty="0"/>
          </a:p>
        </p:txBody>
      </p:sp>
      <p:sp>
        <p:nvSpPr>
          <p:cNvPr id="75" name="Text 72"/>
          <p:cNvSpPr/>
          <p:nvPr/>
        </p:nvSpPr>
        <p:spPr>
          <a:xfrm>
            <a:off x="11331841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780" dirty="0"/>
          </a:p>
        </p:txBody>
      </p:sp>
      <p:sp>
        <p:nvSpPr>
          <p:cNvPr id="76" name="Text 73"/>
          <p:cNvSpPr/>
          <p:nvPr/>
        </p:nvSpPr>
        <p:spPr>
          <a:xfrm>
            <a:off x="1132505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77" name="Text 74"/>
          <p:cNvSpPr/>
          <p:nvPr/>
        </p:nvSpPr>
        <p:spPr>
          <a:xfrm>
            <a:off x="11329159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780" dirty="0"/>
          </a:p>
        </p:txBody>
      </p:sp>
      <p:sp>
        <p:nvSpPr>
          <p:cNvPr id="78" name="Text 75"/>
          <p:cNvSpPr/>
          <p:nvPr/>
        </p:nvSpPr>
        <p:spPr>
          <a:xfrm>
            <a:off x="11325215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780" dirty="0"/>
          </a:p>
        </p:txBody>
      </p:sp>
      <p:sp>
        <p:nvSpPr>
          <p:cNvPr id="79" name="Text 76"/>
          <p:cNvSpPr/>
          <p:nvPr/>
        </p:nvSpPr>
        <p:spPr>
          <a:xfrm>
            <a:off x="11324742" y="3726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80" dirty="0"/>
          </a:p>
        </p:txBody>
      </p:sp>
      <p:sp>
        <p:nvSpPr>
          <p:cNvPr id="80" name="Text 77"/>
          <p:cNvSpPr/>
          <p:nvPr/>
        </p:nvSpPr>
        <p:spPr>
          <a:xfrm>
            <a:off x="11335311" y="3954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retail\ppt_slides\sk_01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95868" y="3766542"/>
            <a:ext cx="5434767" cy="431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Universo = PDV físicos distintos observados en los cortes semanales "Como vamos" de Ene-Ago. Coberturas &gt;100 % indican PDV que Formación visitó con nombre distinto al registrado en Como vamos ese corte, o puntos sin gestión comercial activa ese mes. </a:t>
            </a: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 del canal:</a:t>
            </a: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147 (ene) → 90 (ago); los cortes "Como vamos" no desagregan gestores por aliado.</a:t>
            </a:r>
            <a:endParaRPr lang="en-US" sz="720" dirty="0"/>
          </a:p>
        </p:txBody>
      </p:sp>
      <p:sp>
        <p:nvSpPr>
          <p:cNvPr id="4" name="Text 1"/>
          <p:cNvSpPr/>
          <p:nvPr/>
        </p:nvSpPr>
        <p:spPr>
          <a:xfrm>
            <a:off x="5470636" y="5057924"/>
            <a:ext cx="6328285" cy="380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 "Serdán" (103 visitas):</a:t>
            </a: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empresa que provee promotores a ambos canales, no un aliado. De las 103: 48 puras Retail+Tradicional, 39 sedes/roles internos (no PDV), 15 con cédula activa en ambos canales </a:t>
            </a: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(contadas en los dos)</a:t>
            </a: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 1 sin clasificar. Total atribuido: </a:t>
            </a: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 a Retail</a:t>
            </a: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 </a:t>
            </a: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 a Tradicional</a:t>
            </a: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</a:t>
            </a:r>
            <a:endParaRPr lang="en-US" sz="720" dirty="0"/>
          </a:p>
        </p:txBody>
      </p:sp>
      <p:sp>
        <p:nvSpPr>
          <p:cNvPr id="5" name="Text 2"/>
          <p:cNvSpPr/>
          <p:nvPr/>
        </p:nvSpPr>
        <p:spPr>
          <a:xfrm>
            <a:off x="704832" y="1805880"/>
            <a:ext cx="51590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 por Formación vs. PDV con gestión comercial activa en Cuota Protegida cada mes (cortes "Como vamos").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5470636" y="6123087"/>
            <a:ext cx="450354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el 41 % fue a un PDV físico; el resto es actividad real de formación que no suma a cobertura de PDV.</a:t>
            </a:r>
            <a:endParaRPr lang="en-US" sz="696" dirty="0"/>
          </a:p>
        </p:txBody>
      </p:sp>
      <p:sp>
        <p:nvSpPr>
          <p:cNvPr id="7" name="Text 4"/>
          <p:cNvSpPr/>
          <p:nvPr/>
        </p:nvSpPr>
        <p:spPr>
          <a:xfrm>
            <a:off x="704832" y="4981277"/>
            <a:ext cx="341851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y municipios con al menos una visita de formación registrada en el periodo.</a:t>
            </a:r>
            <a:endParaRPr lang="en-US" sz="672" dirty="0"/>
          </a:p>
        </p:txBody>
      </p:sp>
      <p:sp>
        <p:nvSpPr>
          <p:cNvPr id="8" name="Text 5"/>
          <p:cNvSpPr/>
          <p:nvPr/>
        </p:nvSpPr>
        <p:spPr>
          <a:xfrm>
            <a:off x="6448264" y="1567755"/>
            <a:ext cx="3581948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Universo de PDV y cobertura real por aliado (Ene-Ago)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5594458" y="4790777"/>
            <a:ext cx="30137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TIPO DE PUNTO VISITADO EN LAS 103 "SERDÁN" (Ene-Ago)</a:t>
            </a:r>
            <a:endParaRPr lang="en-US" sz="720" dirty="0"/>
          </a:p>
        </p:txBody>
      </p:sp>
      <p:sp>
        <p:nvSpPr>
          <p:cNvPr id="10" name="Text 7"/>
          <p:cNvSpPr/>
          <p:nvPr/>
        </p:nvSpPr>
        <p:spPr>
          <a:xfrm>
            <a:off x="571486" y="209550"/>
            <a:ext cx="4616971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Puntos de Venta y Municipios Visitados</a:t>
            </a:r>
            <a:endParaRPr lang="en-US" sz="1260" dirty="0"/>
          </a:p>
        </p:txBody>
      </p:sp>
      <p:sp>
        <p:nvSpPr>
          <p:cNvPr id="11" name="Text 8"/>
          <p:cNvSpPr/>
          <p:nvPr/>
        </p:nvSpPr>
        <p:spPr>
          <a:xfrm>
            <a:off x="857229" y="1596330"/>
            <a:ext cx="26594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en Puntos de Venta (PDV)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6295868" y="2082105"/>
            <a:ext cx="1675757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Colombiana de Comercio</a:t>
            </a: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(Alkosto/Ktronix)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6295868" y="3152924"/>
            <a:ext cx="1675757" cy="261193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Olímpica </a:t>
            </a:r>
            <a:r>
              <a:rPr lang="en-US" sz="69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ene · aliado retirado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9067573" y="1272480"/>
            <a:ext cx="13095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al menos una visita registrada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6295868" y="2434530"/>
            <a:ext cx="1675757" cy="261193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Almacenes Éxito </a:t>
            </a:r>
            <a:r>
              <a:rPr lang="en-US" sz="69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 retirado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3505112" y="1272480"/>
            <a:ext cx="11386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 de 51 PDV activos visitados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857229" y="4790777"/>
            <a:ext cx="170688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Municipios Visitados (Ene-Ago)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6286343" y="1272480"/>
            <a:ext cx="11997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Capacitando asesores de venta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286343" y="962025"/>
            <a:ext cx="16941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de formación Ene-Ago</a:t>
            </a:r>
            <a:endParaRPr lang="en-US" sz="696" dirty="0"/>
          </a:p>
        </p:txBody>
      </p:sp>
      <p:sp>
        <p:nvSpPr>
          <p:cNvPr id="20" name="Text 17"/>
          <p:cNvSpPr/>
          <p:nvPr/>
        </p:nvSpPr>
        <p:spPr>
          <a:xfrm>
            <a:off x="6295868" y="2800499"/>
            <a:ext cx="1675757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Cencosud</a:t>
            </a: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(Jumbo/Metro/Easy)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723882" y="962025"/>
            <a:ext cx="150985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con gestión promedio</a:t>
            </a:r>
            <a:endParaRPr lang="en-US" sz="696" dirty="0"/>
          </a:p>
        </p:txBody>
      </p:sp>
      <p:sp>
        <p:nvSpPr>
          <p:cNvPr id="22" name="Text 19"/>
          <p:cNvSpPr/>
          <p:nvPr/>
        </p:nvSpPr>
        <p:spPr>
          <a:xfrm>
            <a:off x="723882" y="1272480"/>
            <a:ext cx="907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PDV activos en CP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9067573" y="962025"/>
            <a:ext cx="109795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/ municipios</a:t>
            </a:r>
            <a:endParaRPr lang="en-US" sz="696" dirty="0"/>
          </a:p>
        </p:txBody>
      </p:sp>
      <p:sp>
        <p:nvSpPr>
          <p:cNvPr id="24" name="Text 21"/>
          <p:cNvSpPr/>
          <p:nvPr/>
        </p:nvSpPr>
        <p:spPr>
          <a:xfrm>
            <a:off x="704832" y="5561112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Occidente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2561624" y="1994922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con Gestión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3762935" y="1994922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04832" y="4238327"/>
            <a:ext cx="926754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Prom. Ene-Ago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890764" y="1863030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Universo PDV*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8960429" y="1863030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04832" y="5199162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Centro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3505112" y="962025"/>
            <a:ext cx="8755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Ago</a:t>
            </a:r>
            <a:endParaRPr lang="en-US" sz="696" dirty="0"/>
          </a:p>
        </p:txBody>
      </p:sp>
      <p:sp>
        <p:nvSpPr>
          <p:cNvPr id="32" name="Text 29"/>
          <p:cNvSpPr/>
          <p:nvPr/>
        </p:nvSpPr>
        <p:spPr>
          <a:xfrm>
            <a:off x="2968600" y="5199162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Norte</a:t>
            </a:r>
            <a:endParaRPr lang="en-US" sz="672" dirty="0"/>
          </a:p>
        </p:txBody>
      </p:sp>
      <p:sp>
        <p:nvSpPr>
          <p:cNvPr id="33" name="Text 30"/>
          <p:cNvSpPr/>
          <p:nvPr/>
        </p:nvSpPr>
        <p:spPr>
          <a:xfrm>
            <a:off x="4858492" y="1994922"/>
            <a:ext cx="10736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%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6295868" y="3533180"/>
            <a:ext cx="167575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canal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704832" y="5923062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Bucaramanga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6969851" y="5817840"/>
            <a:ext cx="5748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Sede Serdán</a:t>
            </a:r>
            <a:endParaRPr lang="en-US" sz="696" dirty="0"/>
          </a:p>
        </p:txBody>
      </p:sp>
      <p:sp>
        <p:nvSpPr>
          <p:cNvPr id="37" name="Text 34"/>
          <p:cNvSpPr/>
          <p:nvPr/>
        </p:nvSpPr>
        <p:spPr>
          <a:xfrm>
            <a:off x="10645646" y="5817840"/>
            <a:ext cx="52294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Supervisión</a:t>
            </a:r>
            <a:endParaRPr lang="en-US" sz="696" dirty="0"/>
          </a:p>
        </p:txBody>
      </p:sp>
      <p:sp>
        <p:nvSpPr>
          <p:cNvPr id="38" name="Text 35"/>
          <p:cNvSpPr/>
          <p:nvPr/>
        </p:nvSpPr>
        <p:spPr>
          <a:xfrm>
            <a:off x="704832" y="5380137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Sur</a:t>
            </a:r>
            <a:endParaRPr lang="en-US" sz="672" dirty="0"/>
          </a:p>
        </p:txBody>
      </p:sp>
      <p:sp>
        <p:nvSpPr>
          <p:cNvPr id="39" name="Text 36"/>
          <p:cNvSpPr/>
          <p:nvPr/>
        </p:nvSpPr>
        <p:spPr>
          <a:xfrm>
            <a:off x="2968600" y="5923062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Facatativá</a:t>
            </a:r>
            <a:endParaRPr lang="en-US" sz="672" dirty="0"/>
          </a:p>
        </p:txBody>
      </p:sp>
      <p:sp>
        <p:nvSpPr>
          <p:cNvPr id="40" name="Text 37"/>
          <p:cNvSpPr/>
          <p:nvPr/>
        </p:nvSpPr>
        <p:spPr>
          <a:xfrm>
            <a:off x="5816147" y="5817840"/>
            <a:ext cx="4492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físico</a:t>
            </a:r>
            <a:endParaRPr lang="en-US" sz="696" dirty="0"/>
          </a:p>
        </p:txBody>
      </p:sp>
      <p:sp>
        <p:nvSpPr>
          <p:cNvPr id="41" name="Text 38"/>
          <p:cNvSpPr/>
          <p:nvPr/>
        </p:nvSpPr>
        <p:spPr>
          <a:xfrm>
            <a:off x="8260797" y="5817840"/>
            <a:ext cx="4260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Itinerante</a:t>
            </a:r>
            <a:endParaRPr lang="en-US" sz="696" dirty="0"/>
          </a:p>
        </p:txBody>
      </p:sp>
      <p:sp>
        <p:nvSpPr>
          <p:cNvPr id="42" name="Text 39"/>
          <p:cNvSpPr/>
          <p:nvPr/>
        </p:nvSpPr>
        <p:spPr>
          <a:xfrm>
            <a:off x="9992957" y="1863030"/>
            <a:ext cx="85351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2968600" y="6104037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Zipaquirá</a:t>
            </a:r>
            <a:endParaRPr lang="en-US" sz="672" dirty="0"/>
          </a:p>
        </p:txBody>
      </p:sp>
      <p:sp>
        <p:nvSpPr>
          <p:cNvPr id="44" name="Text 41"/>
          <p:cNvSpPr/>
          <p:nvPr/>
        </p:nvSpPr>
        <p:spPr>
          <a:xfrm>
            <a:off x="9485487" y="5817840"/>
            <a:ext cx="40983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Ofic. SAC</a:t>
            </a:r>
            <a:endParaRPr lang="en-US" sz="696" dirty="0"/>
          </a:p>
        </p:txBody>
      </p:sp>
      <p:sp>
        <p:nvSpPr>
          <p:cNvPr id="45" name="Text 42"/>
          <p:cNvSpPr/>
          <p:nvPr/>
        </p:nvSpPr>
        <p:spPr>
          <a:xfrm>
            <a:off x="1524392" y="1994922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2968600" y="5380137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Sogamoso</a:t>
            </a:r>
            <a:endParaRPr lang="en-US" sz="672" dirty="0"/>
          </a:p>
        </p:txBody>
      </p:sp>
      <p:sp>
        <p:nvSpPr>
          <p:cNvPr id="47" name="Text 44"/>
          <p:cNvSpPr/>
          <p:nvPr/>
        </p:nvSpPr>
        <p:spPr>
          <a:xfrm>
            <a:off x="2968600" y="5561112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Mosquera</a:t>
            </a:r>
            <a:endParaRPr lang="en-US" sz="672" dirty="0"/>
          </a:p>
        </p:txBody>
      </p:sp>
      <p:sp>
        <p:nvSpPr>
          <p:cNvPr id="48" name="Text 45"/>
          <p:cNvSpPr/>
          <p:nvPr/>
        </p:nvSpPr>
        <p:spPr>
          <a:xfrm>
            <a:off x="10827831" y="1863030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6295868" y="1863030"/>
            <a:ext cx="167575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9949827" y="2093160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74,1 %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9949827" y="2811553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91,4 %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9949827" y="3170676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66,7 %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9949827" y="3477559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88,9 %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704832" y="6104037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Soacha</a:t>
            </a:r>
            <a:endParaRPr lang="en-US" sz="672" dirty="0"/>
          </a:p>
        </p:txBody>
      </p:sp>
      <p:sp>
        <p:nvSpPr>
          <p:cNvPr id="55" name="Text 52"/>
          <p:cNvSpPr/>
          <p:nvPr/>
        </p:nvSpPr>
        <p:spPr>
          <a:xfrm>
            <a:off x="3505112" y="1085850"/>
            <a:ext cx="428606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35,3 %</a:t>
            </a:r>
            <a:endParaRPr lang="en-US" sz="1020" dirty="0"/>
          </a:p>
        </p:txBody>
      </p:sp>
      <p:sp>
        <p:nvSpPr>
          <p:cNvPr id="56" name="Text 53"/>
          <p:cNvSpPr/>
          <p:nvPr/>
        </p:nvSpPr>
        <p:spPr>
          <a:xfrm>
            <a:off x="4789484" y="2215795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61,5%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4789484" y="2463445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57,8%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4789484" y="2711095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54,9%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4789484" y="2958745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50,0%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4789484" y="3206395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33,3%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4789484" y="3454045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26,9%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4789484" y="3701695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29,2%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4789484" y="3949345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35,3%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4789484" y="4249383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43,6%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9949827" y="2452282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116 %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704832" y="5742087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Tunja</a:t>
            </a:r>
            <a:endParaRPr lang="en-US" sz="672" dirty="0"/>
          </a:p>
        </p:txBody>
      </p:sp>
      <p:sp>
        <p:nvSpPr>
          <p:cNvPr id="67" name="Text 64"/>
          <p:cNvSpPr/>
          <p:nvPr/>
        </p:nvSpPr>
        <p:spPr>
          <a:xfrm>
            <a:off x="2968600" y="5742087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Chía</a:t>
            </a:r>
            <a:endParaRPr lang="en-US" sz="672" dirty="0"/>
          </a:p>
        </p:txBody>
      </p:sp>
      <p:sp>
        <p:nvSpPr>
          <p:cNvPr id="68" name="Text 65"/>
          <p:cNvSpPr/>
          <p:nvPr/>
        </p:nvSpPr>
        <p:spPr>
          <a:xfrm>
            <a:off x="722084" y="1994922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704832" y="22714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1507140" y="22714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704832" y="25190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1507140" y="25190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704832" y="27667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1507140" y="27667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704832" y="30143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1507140" y="30143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704832" y="32620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78" name="Text 75"/>
          <p:cNvSpPr/>
          <p:nvPr/>
        </p:nvSpPr>
        <p:spPr>
          <a:xfrm>
            <a:off x="704832" y="35096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704832" y="37573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704832" y="40049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1507140" y="4305002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10827831" y="2148780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229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10827831" y="2867174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104</a:t>
            </a:r>
            <a:endParaRPr lang="en-US" sz="888" dirty="0"/>
          </a:p>
        </p:txBody>
      </p:sp>
      <p:sp>
        <p:nvSpPr>
          <p:cNvPr id="84" name="Text 81"/>
          <p:cNvSpPr/>
          <p:nvPr/>
        </p:nvSpPr>
        <p:spPr>
          <a:xfrm>
            <a:off x="7890764" y="3533180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126</a:t>
            </a:r>
            <a:endParaRPr lang="en-US" sz="888" dirty="0"/>
          </a:p>
        </p:txBody>
      </p:sp>
      <p:sp>
        <p:nvSpPr>
          <p:cNvPr id="85" name="Text 82"/>
          <p:cNvSpPr/>
          <p:nvPr/>
        </p:nvSpPr>
        <p:spPr>
          <a:xfrm>
            <a:off x="8960429" y="3533180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</a:t>
            </a:r>
            <a:endParaRPr lang="en-US" sz="888" dirty="0"/>
          </a:p>
        </p:txBody>
      </p:sp>
      <p:sp>
        <p:nvSpPr>
          <p:cNvPr id="86" name="Text 83"/>
          <p:cNvSpPr/>
          <p:nvPr/>
        </p:nvSpPr>
        <p:spPr>
          <a:xfrm>
            <a:off x="10827831" y="3533180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440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2286632" y="519916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72" dirty="0"/>
          </a:p>
        </p:txBody>
      </p:sp>
      <p:sp>
        <p:nvSpPr>
          <p:cNvPr id="88" name="Text 85"/>
          <p:cNvSpPr/>
          <p:nvPr/>
        </p:nvSpPr>
        <p:spPr>
          <a:xfrm>
            <a:off x="6286343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432</a:t>
            </a:r>
            <a:endParaRPr lang="en-US" sz="1020" dirty="0"/>
          </a:p>
        </p:txBody>
      </p:sp>
      <p:sp>
        <p:nvSpPr>
          <p:cNvPr id="89" name="Text 86"/>
          <p:cNvSpPr/>
          <p:nvPr/>
        </p:nvSpPr>
        <p:spPr>
          <a:xfrm>
            <a:off x="2544372" y="22714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3745683" y="22714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</a:t>
            </a:r>
            <a:endParaRPr lang="en-US" sz="888" dirty="0"/>
          </a:p>
        </p:txBody>
      </p:sp>
      <p:sp>
        <p:nvSpPr>
          <p:cNvPr id="91" name="Text 88"/>
          <p:cNvSpPr/>
          <p:nvPr/>
        </p:nvSpPr>
        <p:spPr>
          <a:xfrm>
            <a:off x="2544372" y="25190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92" name="Text 89"/>
          <p:cNvSpPr/>
          <p:nvPr/>
        </p:nvSpPr>
        <p:spPr>
          <a:xfrm>
            <a:off x="3745683" y="25190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93" name="Text 90"/>
          <p:cNvSpPr/>
          <p:nvPr/>
        </p:nvSpPr>
        <p:spPr>
          <a:xfrm>
            <a:off x="2544372" y="27667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</a:t>
            </a:r>
            <a:endParaRPr lang="en-US" sz="888" dirty="0"/>
          </a:p>
        </p:txBody>
      </p:sp>
      <p:sp>
        <p:nvSpPr>
          <p:cNvPr id="94" name="Text 91"/>
          <p:cNvSpPr/>
          <p:nvPr/>
        </p:nvSpPr>
        <p:spPr>
          <a:xfrm>
            <a:off x="3745683" y="27667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2544372" y="30143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3745683" y="30143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1507140" y="32620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2544372" y="32620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3745683" y="32620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1507140" y="35096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2544372" y="35096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3745683" y="35096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1507140" y="37573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2544372" y="37573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3745683" y="37573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1507140" y="40049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2544372" y="40049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3745683" y="40049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2544372" y="4305002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3745683" y="4305002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7890764" y="2148780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8960429" y="2148780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888" dirty="0"/>
          </a:p>
        </p:txBody>
      </p:sp>
      <p:sp>
        <p:nvSpPr>
          <p:cNvPr id="113" name="Text 110"/>
          <p:cNvSpPr/>
          <p:nvPr/>
        </p:nvSpPr>
        <p:spPr>
          <a:xfrm>
            <a:off x="7890764" y="2507903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888" dirty="0"/>
          </a:p>
        </p:txBody>
      </p:sp>
      <p:sp>
        <p:nvSpPr>
          <p:cNvPr id="114" name="Text 111"/>
          <p:cNvSpPr/>
          <p:nvPr/>
        </p:nvSpPr>
        <p:spPr>
          <a:xfrm>
            <a:off x="8960429" y="2507903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88" dirty="0"/>
          </a:p>
        </p:txBody>
      </p:sp>
      <p:sp>
        <p:nvSpPr>
          <p:cNvPr id="115" name="Text 112"/>
          <p:cNvSpPr/>
          <p:nvPr/>
        </p:nvSpPr>
        <p:spPr>
          <a:xfrm>
            <a:off x="10827831" y="2507903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888" dirty="0"/>
          </a:p>
        </p:txBody>
      </p:sp>
      <p:sp>
        <p:nvSpPr>
          <p:cNvPr id="116" name="Text 113"/>
          <p:cNvSpPr/>
          <p:nvPr/>
        </p:nvSpPr>
        <p:spPr>
          <a:xfrm>
            <a:off x="7890764" y="2867174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</a:t>
            </a:r>
            <a:endParaRPr lang="en-US" sz="888" dirty="0"/>
          </a:p>
        </p:txBody>
      </p:sp>
      <p:sp>
        <p:nvSpPr>
          <p:cNvPr id="117" name="Text 114"/>
          <p:cNvSpPr/>
          <p:nvPr/>
        </p:nvSpPr>
        <p:spPr>
          <a:xfrm>
            <a:off x="8960429" y="2867174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</a:t>
            </a:r>
            <a:endParaRPr lang="en-US" sz="888" dirty="0"/>
          </a:p>
        </p:txBody>
      </p:sp>
      <p:sp>
        <p:nvSpPr>
          <p:cNvPr id="118" name="Text 115"/>
          <p:cNvSpPr/>
          <p:nvPr/>
        </p:nvSpPr>
        <p:spPr>
          <a:xfrm>
            <a:off x="2286632" y="538013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</a:t>
            </a:r>
            <a:endParaRPr lang="en-US" sz="672" dirty="0"/>
          </a:p>
        </p:txBody>
      </p:sp>
      <p:sp>
        <p:nvSpPr>
          <p:cNvPr id="119" name="Text 116"/>
          <p:cNvSpPr/>
          <p:nvPr/>
        </p:nvSpPr>
        <p:spPr>
          <a:xfrm>
            <a:off x="2286632" y="556111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672" dirty="0"/>
          </a:p>
        </p:txBody>
      </p:sp>
      <p:sp>
        <p:nvSpPr>
          <p:cNvPr id="120" name="Text 117"/>
          <p:cNvSpPr/>
          <p:nvPr/>
        </p:nvSpPr>
        <p:spPr>
          <a:xfrm>
            <a:off x="2286632" y="574208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672" dirty="0"/>
          </a:p>
        </p:txBody>
      </p:sp>
      <p:sp>
        <p:nvSpPr>
          <p:cNvPr id="121" name="Text 118"/>
          <p:cNvSpPr/>
          <p:nvPr/>
        </p:nvSpPr>
        <p:spPr>
          <a:xfrm>
            <a:off x="2286632" y="592306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672" dirty="0"/>
          </a:p>
        </p:txBody>
      </p:sp>
      <p:sp>
        <p:nvSpPr>
          <p:cNvPr id="122" name="Text 119"/>
          <p:cNvSpPr/>
          <p:nvPr/>
        </p:nvSpPr>
        <p:spPr>
          <a:xfrm>
            <a:off x="2286632" y="610403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672" dirty="0"/>
          </a:p>
        </p:txBody>
      </p:sp>
      <p:sp>
        <p:nvSpPr>
          <p:cNvPr id="123" name="Text 120"/>
          <p:cNvSpPr/>
          <p:nvPr/>
        </p:nvSpPr>
        <p:spPr>
          <a:xfrm>
            <a:off x="4550549" y="519916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672" dirty="0"/>
          </a:p>
        </p:txBody>
      </p:sp>
      <p:sp>
        <p:nvSpPr>
          <p:cNvPr id="124" name="Text 121"/>
          <p:cNvSpPr/>
          <p:nvPr/>
        </p:nvSpPr>
        <p:spPr>
          <a:xfrm>
            <a:off x="4550549" y="538013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72" dirty="0"/>
          </a:p>
        </p:txBody>
      </p:sp>
      <p:sp>
        <p:nvSpPr>
          <p:cNvPr id="125" name="Text 122"/>
          <p:cNvSpPr/>
          <p:nvPr/>
        </p:nvSpPr>
        <p:spPr>
          <a:xfrm>
            <a:off x="4550549" y="556111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72" dirty="0"/>
          </a:p>
        </p:txBody>
      </p:sp>
      <p:sp>
        <p:nvSpPr>
          <p:cNvPr id="126" name="Text 123"/>
          <p:cNvSpPr/>
          <p:nvPr/>
        </p:nvSpPr>
        <p:spPr>
          <a:xfrm>
            <a:off x="72388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1020" dirty="0"/>
          </a:p>
        </p:txBody>
      </p:sp>
      <p:sp>
        <p:nvSpPr>
          <p:cNvPr id="127" name="Text 124"/>
          <p:cNvSpPr/>
          <p:nvPr/>
        </p:nvSpPr>
        <p:spPr>
          <a:xfrm>
            <a:off x="9067573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1020" dirty="0"/>
          </a:p>
        </p:txBody>
      </p:sp>
      <p:sp>
        <p:nvSpPr>
          <p:cNvPr id="128" name="Text 125"/>
          <p:cNvSpPr/>
          <p:nvPr/>
        </p:nvSpPr>
        <p:spPr>
          <a:xfrm>
            <a:off x="5947398" y="5655915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1080" dirty="0"/>
          </a:p>
        </p:txBody>
      </p:sp>
      <p:sp>
        <p:nvSpPr>
          <p:cNvPr id="129" name="Text 126"/>
          <p:cNvSpPr/>
          <p:nvPr/>
        </p:nvSpPr>
        <p:spPr>
          <a:xfrm>
            <a:off x="7164673" y="5655915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1080" dirty="0"/>
          </a:p>
        </p:txBody>
      </p:sp>
      <p:sp>
        <p:nvSpPr>
          <p:cNvPr id="130" name="Text 127"/>
          <p:cNvSpPr/>
          <p:nvPr/>
        </p:nvSpPr>
        <p:spPr>
          <a:xfrm>
            <a:off x="8378477" y="5655915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1080" dirty="0"/>
          </a:p>
        </p:txBody>
      </p:sp>
      <p:sp>
        <p:nvSpPr>
          <p:cNvPr id="131" name="Text 128"/>
          <p:cNvSpPr/>
          <p:nvPr/>
        </p:nvSpPr>
        <p:spPr>
          <a:xfrm>
            <a:off x="7890764" y="3226296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888" dirty="0"/>
          </a:p>
        </p:txBody>
      </p:sp>
      <p:sp>
        <p:nvSpPr>
          <p:cNvPr id="132" name="Text 129"/>
          <p:cNvSpPr/>
          <p:nvPr/>
        </p:nvSpPr>
        <p:spPr>
          <a:xfrm>
            <a:off x="8960429" y="3226296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888" dirty="0"/>
          </a:p>
        </p:txBody>
      </p:sp>
      <p:sp>
        <p:nvSpPr>
          <p:cNvPr id="133" name="Text 130"/>
          <p:cNvSpPr/>
          <p:nvPr/>
        </p:nvSpPr>
        <p:spPr>
          <a:xfrm>
            <a:off x="10827831" y="3226296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888" dirty="0"/>
          </a:p>
        </p:txBody>
      </p:sp>
      <p:sp>
        <p:nvSpPr>
          <p:cNvPr id="134" name="Text 131"/>
          <p:cNvSpPr/>
          <p:nvPr/>
        </p:nvSpPr>
        <p:spPr>
          <a:xfrm>
            <a:off x="4550549" y="574208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672" dirty="0"/>
          </a:p>
        </p:txBody>
      </p:sp>
      <p:sp>
        <p:nvSpPr>
          <p:cNvPr id="135" name="Text 132"/>
          <p:cNvSpPr/>
          <p:nvPr/>
        </p:nvSpPr>
        <p:spPr>
          <a:xfrm>
            <a:off x="4550549" y="592306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672" dirty="0"/>
          </a:p>
        </p:txBody>
      </p:sp>
      <p:sp>
        <p:nvSpPr>
          <p:cNvPr id="136" name="Text 133"/>
          <p:cNvSpPr/>
          <p:nvPr/>
        </p:nvSpPr>
        <p:spPr>
          <a:xfrm>
            <a:off x="4550549" y="610403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72" dirty="0"/>
          </a:p>
        </p:txBody>
      </p:sp>
      <p:sp>
        <p:nvSpPr>
          <p:cNvPr id="137" name="Text 134"/>
          <p:cNvSpPr/>
          <p:nvPr/>
        </p:nvSpPr>
        <p:spPr>
          <a:xfrm>
            <a:off x="9637084" y="5655915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080" dirty="0"/>
          </a:p>
        </p:txBody>
      </p:sp>
      <p:sp>
        <p:nvSpPr>
          <p:cNvPr id="138" name="Text 135"/>
          <p:cNvSpPr/>
          <p:nvPr/>
        </p:nvSpPr>
        <p:spPr>
          <a:xfrm>
            <a:off x="10855932" y="5655915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0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retail\ppt_slides\sk_02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6463308"/>
            <a:ext cx="10714947" cy="27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Comercial: el canal Retail acumula a corte agosto 16.490 ventas efectivas entre Cuota Protegida y Rueda Seguro, sosteniendo una efectividad promedio superior al 72 % durante todo el periodo — un desempeño comercial consistente que valida el enfoque del canal en los puntos de mayor valor.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571486" y="6006108"/>
            <a:ext cx="724830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Gestores y PDV en la fila de total corresponden al promedio mensual de la estructura activa del canal (los mismos gestores atienden Cuota Protegida y Rueda Seguro).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571486" y="209550"/>
            <a:ext cx="446221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del Canal · Cuota Protegida y Rueda Seguro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838179" y="1786830"/>
            <a:ext cx="199873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Retail (Como vamos)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723882" y="1272480"/>
            <a:ext cx="123204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20.839 cantadas (76,3%)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410165" y="1786830"/>
            <a:ext cx="18886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Rueda Seguro Retail (Como vamos)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723882" y="962025"/>
            <a:ext cx="170309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Ene-Ago (Efectivas)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3505112" y="962025"/>
            <a:ext cx="17023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RS Ene-Ago (Efectivas)</a:t>
            </a:r>
            <a:endParaRPr lang="en-US" sz="696" dirty="0"/>
          </a:p>
        </p:txBody>
      </p:sp>
      <p:sp>
        <p:nvSpPr>
          <p:cNvPr id="11" name="Text 8"/>
          <p:cNvSpPr/>
          <p:nvPr/>
        </p:nvSpPr>
        <p:spPr>
          <a:xfrm>
            <a:off x="3505112" y="1272480"/>
            <a:ext cx="11306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806 cantadas (72,0%)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6286343" y="1272480"/>
            <a:ext cx="97869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 · 135 gestores activos</a:t>
            </a:r>
            <a:endParaRPr lang="en-US" sz="600" dirty="0"/>
          </a:p>
        </p:txBody>
      </p:sp>
      <p:sp>
        <p:nvSpPr>
          <p:cNvPr id="13" name="Text 10"/>
          <p:cNvSpPr/>
          <p:nvPr/>
        </p:nvSpPr>
        <p:spPr>
          <a:xfrm>
            <a:off x="6286343" y="962025"/>
            <a:ext cx="111799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 CP del periodo</a:t>
            </a:r>
            <a:endParaRPr lang="en-US" sz="696" dirty="0"/>
          </a:p>
        </p:txBody>
      </p:sp>
      <p:sp>
        <p:nvSpPr>
          <p:cNvPr id="14" name="Text 11"/>
          <p:cNvSpPr/>
          <p:nvPr/>
        </p:nvSpPr>
        <p:spPr>
          <a:xfrm>
            <a:off x="9067573" y="962025"/>
            <a:ext cx="11012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Jul + Ago</a:t>
            </a:r>
            <a:endParaRPr lang="en-US" sz="696" dirty="0"/>
          </a:p>
        </p:txBody>
      </p:sp>
      <p:sp>
        <p:nvSpPr>
          <p:cNvPr id="15" name="Text 12"/>
          <p:cNvSpPr/>
          <p:nvPr/>
        </p:nvSpPr>
        <p:spPr>
          <a:xfrm>
            <a:off x="9067573" y="1272480"/>
            <a:ext cx="67533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Agosto a corte 16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85783" y="5458569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Ene-Ago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6257769" y="5458569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Ene-Ago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4192620" y="2009501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Efectivas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9585193" y="2018127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Efectivas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1835200" y="2009501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3271515" y="2009501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5099922" y="2009501"/>
            <a:ext cx="842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Efect.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7566861" y="2018127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8555987" y="2018127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10599068" y="2018127"/>
            <a:ext cx="94134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Efect.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3262889" y="5458569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20.839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4183994" y="5458569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15.910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23882" y="1085850"/>
            <a:ext cx="435231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15.910</a:t>
            </a:r>
            <a:endParaRPr lang="en-US" sz="1020" dirty="0"/>
          </a:p>
        </p:txBody>
      </p:sp>
      <p:sp>
        <p:nvSpPr>
          <p:cNvPr id="29" name="Text 26"/>
          <p:cNvSpPr/>
          <p:nvPr/>
        </p:nvSpPr>
        <p:spPr>
          <a:xfrm>
            <a:off x="3262889" y="2347764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1.953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4132238" y="2254943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1.614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5039540" y="2283518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82,6%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3262889" y="2737545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2.298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4132238" y="2644724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1.798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5039540" y="2673299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78,2%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3262889" y="3128367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3.344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4132238" y="3035547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2.474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5039540" y="3064122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74,0%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3262889" y="3519190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2.731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132238" y="3426369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2.177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5039540" y="3454944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79,7%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3262889" y="3910012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3.116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4132238" y="3817192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2.443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5039540" y="3845767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78,4%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3262889" y="4300835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2.620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4132238" y="4208015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2.182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5039540" y="4236590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83,3%</a:t>
            </a:r>
            <a:endParaRPr lang="en-US" sz="816" dirty="0"/>
          </a:p>
        </p:txBody>
      </p:sp>
      <p:sp>
        <p:nvSpPr>
          <p:cNvPr id="47" name="Text 44"/>
          <p:cNvSpPr/>
          <p:nvPr/>
        </p:nvSpPr>
        <p:spPr>
          <a:xfrm>
            <a:off x="3262889" y="4691658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2.592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4132238" y="4598837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2.100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5039540" y="4627412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81,0%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3262889" y="5082480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2.185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4132238" y="4989660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1.122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5039540" y="5018235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51,4%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5039540" y="5394324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76,3%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10504182" y="2292144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54,0%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10504182" y="2681925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54,2%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10504182" y="3072748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72,2%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10504182" y="3463570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75,8%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10504182" y="3854393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68,0%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10504182" y="4245216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85,0%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10504182" y="4636038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88,6%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10504182" y="5026861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81,4%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10504182" y="5402950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72,0%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6286343" y="1085850"/>
            <a:ext cx="36392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2.474</a:t>
            </a:r>
            <a:endParaRPr lang="en-US" sz="1020" dirty="0"/>
          </a:p>
        </p:txBody>
      </p:sp>
      <p:sp>
        <p:nvSpPr>
          <p:cNvPr id="64" name="Text 61"/>
          <p:cNvSpPr/>
          <p:nvPr/>
        </p:nvSpPr>
        <p:spPr>
          <a:xfrm>
            <a:off x="9067573" y="1085850"/>
            <a:ext cx="368186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3.222</a:t>
            </a:r>
            <a:endParaRPr lang="en-US" sz="1020" dirty="0"/>
          </a:p>
        </p:txBody>
      </p:sp>
      <p:sp>
        <p:nvSpPr>
          <p:cNvPr id="65" name="Text 62"/>
          <p:cNvSpPr/>
          <p:nvPr/>
        </p:nvSpPr>
        <p:spPr>
          <a:xfrm>
            <a:off x="1826574" y="5458569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115*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7532357" y="5458569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114*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694409" y="2009501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68" name="Text 65"/>
          <p:cNvSpPr/>
          <p:nvPr/>
        </p:nvSpPr>
        <p:spPr>
          <a:xfrm>
            <a:off x="2731504" y="2009501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685783" y="2347764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1826574" y="2347764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685783" y="2737545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1826574" y="2737545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685783" y="3128367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1826574" y="3128367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685783" y="3519190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1826574" y="3519190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685783" y="3910012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78" name="Text 75"/>
          <p:cNvSpPr/>
          <p:nvPr/>
        </p:nvSpPr>
        <p:spPr>
          <a:xfrm>
            <a:off x="685783" y="4300835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685783" y="4691658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685783" y="5082480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2722878" y="5458569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68*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6292273" y="2018127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6257769" y="2347764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84" name="Text 81"/>
          <p:cNvSpPr/>
          <p:nvPr/>
        </p:nvSpPr>
        <p:spPr>
          <a:xfrm>
            <a:off x="7532357" y="2347764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888" dirty="0"/>
          </a:p>
        </p:txBody>
      </p:sp>
      <p:sp>
        <p:nvSpPr>
          <p:cNvPr id="85" name="Text 82"/>
          <p:cNvSpPr/>
          <p:nvPr/>
        </p:nvSpPr>
        <p:spPr>
          <a:xfrm>
            <a:off x="6257769" y="2737545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86" name="Text 83"/>
          <p:cNvSpPr/>
          <p:nvPr/>
        </p:nvSpPr>
        <p:spPr>
          <a:xfrm>
            <a:off x="7532357" y="2737545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8521483" y="2737545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888" dirty="0"/>
          </a:p>
        </p:txBody>
      </p:sp>
      <p:sp>
        <p:nvSpPr>
          <p:cNvPr id="88" name="Text 85"/>
          <p:cNvSpPr/>
          <p:nvPr/>
        </p:nvSpPr>
        <p:spPr>
          <a:xfrm>
            <a:off x="6257769" y="3128367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89" name="Text 86"/>
          <p:cNvSpPr/>
          <p:nvPr/>
        </p:nvSpPr>
        <p:spPr>
          <a:xfrm>
            <a:off x="7532357" y="3128367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8521483" y="3128367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888" dirty="0"/>
          </a:p>
        </p:txBody>
      </p:sp>
      <p:sp>
        <p:nvSpPr>
          <p:cNvPr id="91" name="Text 88"/>
          <p:cNvSpPr/>
          <p:nvPr/>
        </p:nvSpPr>
        <p:spPr>
          <a:xfrm>
            <a:off x="9490307" y="3044173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122</a:t>
            </a:r>
            <a:endParaRPr lang="en-US" sz="888" dirty="0"/>
          </a:p>
        </p:txBody>
      </p:sp>
      <p:sp>
        <p:nvSpPr>
          <p:cNvPr id="92" name="Text 89"/>
          <p:cNvSpPr/>
          <p:nvPr/>
        </p:nvSpPr>
        <p:spPr>
          <a:xfrm>
            <a:off x="6257769" y="3519190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93" name="Text 90"/>
          <p:cNvSpPr/>
          <p:nvPr/>
        </p:nvSpPr>
        <p:spPr>
          <a:xfrm>
            <a:off x="7532357" y="3519190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94" name="Text 91"/>
          <p:cNvSpPr/>
          <p:nvPr/>
        </p:nvSpPr>
        <p:spPr>
          <a:xfrm>
            <a:off x="8521483" y="3519190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6257769" y="3910012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8521483" y="3910012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6257769" y="4300835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8521483" y="4300835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6257769" y="4691658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6257769" y="5082480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8521483" y="5458569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806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9550689" y="5458569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580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350511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580</a:t>
            </a:r>
            <a:endParaRPr lang="en-US" sz="1020" dirty="0"/>
          </a:p>
        </p:txBody>
      </p:sp>
      <p:sp>
        <p:nvSpPr>
          <p:cNvPr id="104" name="Text 101"/>
          <p:cNvSpPr/>
          <p:nvPr/>
        </p:nvSpPr>
        <p:spPr>
          <a:xfrm>
            <a:off x="2722878" y="2347764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2722878" y="2737545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2722878" y="3128367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2722878" y="3519190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1826574" y="3910012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2722878" y="3910012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1826574" y="4300835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2722878" y="4300835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1826574" y="4691658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888" dirty="0"/>
          </a:p>
        </p:txBody>
      </p:sp>
      <p:sp>
        <p:nvSpPr>
          <p:cNvPr id="113" name="Text 110"/>
          <p:cNvSpPr/>
          <p:nvPr/>
        </p:nvSpPr>
        <p:spPr>
          <a:xfrm>
            <a:off x="2722878" y="4691658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888" dirty="0"/>
          </a:p>
        </p:txBody>
      </p:sp>
      <p:sp>
        <p:nvSpPr>
          <p:cNvPr id="114" name="Text 111"/>
          <p:cNvSpPr/>
          <p:nvPr/>
        </p:nvSpPr>
        <p:spPr>
          <a:xfrm>
            <a:off x="1826574" y="5082480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115" name="Text 112"/>
          <p:cNvSpPr/>
          <p:nvPr/>
        </p:nvSpPr>
        <p:spPr>
          <a:xfrm>
            <a:off x="2722878" y="5082480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888" dirty="0"/>
          </a:p>
        </p:txBody>
      </p:sp>
      <p:sp>
        <p:nvSpPr>
          <p:cNvPr id="116" name="Text 113"/>
          <p:cNvSpPr/>
          <p:nvPr/>
        </p:nvSpPr>
        <p:spPr>
          <a:xfrm>
            <a:off x="8521483" y="2347764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</a:t>
            </a:r>
            <a:endParaRPr lang="en-US" sz="888" dirty="0"/>
          </a:p>
        </p:txBody>
      </p:sp>
      <p:sp>
        <p:nvSpPr>
          <p:cNvPr id="117" name="Text 114"/>
          <p:cNvSpPr/>
          <p:nvPr/>
        </p:nvSpPr>
        <p:spPr>
          <a:xfrm>
            <a:off x="9490307" y="2263569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888" dirty="0"/>
          </a:p>
        </p:txBody>
      </p:sp>
      <p:sp>
        <p:nvSpPr>
          <p:cNvPr id="118" name="Text 115"/>
          <p:cNvSpPr/>
          <p:nvPr/>
        </p:nvSpPr>
        <p:spPr>
          <a:xfrm>
            <a:off x="9490307" y="2653350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888" dirty="0"/>
          </a:p>
        </p:txBody>
      </p:sp>
      <p:sp>
        <p:nvSpPr>
          <p:cNvPr id="119" name="Text 116"/>
          <p:cNvSpPr/>
          <p:nvPr/>
        </p:nvSpPr>
        <p:spPr>
          <a:xfrm>
            <a:off x="9490307" y="3434995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120" name="Text 117"/>
          <p:cNvSpPr/>
          <p:nvPr/>
        </p:nvSpPr>
        <p:spPr>
          <a:xfrm>
            <a:off x="7532357" y="3910012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121" name="Text 118"/>
          <p:cNvSpPr/>
          <p:nvPr/>
        </p:nvSpPr>
        <p:spPr>
          <a:xfrm>
            <a:off x="9490307" y="3825818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</a:t>
            </a:r>
            <a:endParaRPr lang="en-US" sz="888" dirty="0"/>
          </a:p>
        </p:txBody>
      </p:sp>
      <p:sp>
        <p:nvSpPr>
          <p:cNvPr id="122" name="Text 119"/>
          <p:cNvSpPr/>
          <p:nvPr/>
        </p:nvSpPr>
        <p:spPr>
          <a:xfrm>
            <a:off x="7532357" y="4300835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123" name="Text 120"/>
          <p:cNvSpPr/>
          <p:nvPr/>
        </p:nvSpPr>
        <p:spPr>
          <a:xfrm>
            <a:off x="9490307" y="4216641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</a:t>
            </a:r>
            <a:endParaRPr lang="en-US" sz="888" dirty="0"/>
          </a:p>
        </p:txBody>
      </p:sp>
      <p:sp>
        <p:nvSpPr>
          <p:cNvPr id="124" name="Text 121"/>
          <p:cNvSpPr/>
          <p:nvPr/>
        </p:nvSpPr>
        <p:spPr>
          <a:xfrm>
            <a:off x="7532357" y="4691658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888" dirty="0"/>
          </a:p>
        </p:txBody>
      </p:sp>
      <p:sp>
        <p:nvSpPr>
          <p:cNvPr id="125" name="Text 122"/>
          <p:cNvSpPr/>
          <p:nvPr/>
        </p:nvSpPr>
        <p:spPr>
          <a:xfrm>
            <a:off x="8521483" y="4691658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</a:t>
            </a:r>
            <a:endParaRPr lang="en-US" sz="888" dirty="0"/>
          </a:p>
        </p:txBody>
      </p:sp>
      <p:sp>
        <p:nvSpPr>
          <p:cNvPr id="126" name="Text 123"/>
          <p:cNvSpPr/>
          <p:nvPr/>
        </p:nvSpPr>
        <p:spPr>
          <a:xfrm>
            <a:off x="9490307" y="4607463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</a:t>
            </a:r>
            <a:endParaRPr lang="en-US" sz="888" dirty="0"/>
          </a:p>
        </p:txBody>
      </p:sp>
      <p:sp>
        <p:nvSpPr>
          <p:cNvPr id="127" name="Text 124"/>
          <p:cNvSpPr/>
          <p:nvPr/>
        </p:nvSpPr>
        <p:spPr>
          <a:xfrm>
            <a:off x="7532357" y="5082480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128" name="Text 125"/>
          <p:cNvSpPr/>
          <p:nvPr/>
        </p:nvSpPr>
        <p:spPr>
          <a:xfrm>
            <a:off x="8521483" y="5082480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888" dirty="0"/>
          </a:p>
        </p:txBody>
      </p:sp>
      <p:sp>
        <p:nvSpPr>
          <p:cNvPr id="129" name="Text 126"/>
          <p:cNvSpPr/>
          <p:nvPr/>
        </p:nvSpPr>
        <p:spPr>
          <a:xfrm>
            <a:off x="9490307" y="4998286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</a:t>
            </a:r>
            <a:endParaRPr lang="en-US" sz="88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988</Words>
  <Application>Microsoft Office PowerPoint</Application>
  <PresentationFormat>Widescreen</PresentationFormat>
  <Paragraphs>344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Raleway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Jean  Arcon Solano</cp:lastModifiedBy>
  <cp:revision>3</cp:revision>
  <dcterms:created xsi:type="dcterms:W3CDTF">2026-08-25T14:08:55Z</dcterms:created>
  <dcterms:modified xsi:type="dcterms:W3CDTF">2026-08-25T14:15:43Z</dcterms:modified>
</cp:coreProperties>
</file>