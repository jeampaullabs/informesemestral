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5931991"/>
            <a:ext cx="11215973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La reestructuración estratégica de zonas y canales de Retail (empalme con Tradicional) concentró la operación en puntos de mayor valor. Como resultado, a pesar del menor número de visitas, las ventas efectivas por PDV subieron +24% (de 17,7 a 22,0 pólizas/PDV entre ene y ago), demostrando una alta eficiencia comercial y un canal más enfocado y productivo.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23882" y="5008364"/>
            <a:ext cx="5345636" cy="235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mensuales); en la fila de total corresponde al promedio mensual.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26284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15884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22.0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23169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1507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573879" y="2364135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712632" y="2364135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750869" y="2364135"/>
            <a:ext cx="1125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723882" y="4564410"/>
            <a:ext cx="911610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2748674" y="2364135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6362541" y="1143000"/>
            <a:ext cx="633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+24 %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1573879" y="4631085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364135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25974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73879" y="25974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4750869" y="26022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723882" y="28451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1573879" y="28451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4750869" y="28499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723882" y="30927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573879" y="30927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750869" y="30975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723882" y="33404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1573879" y="33404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4750869" y="33452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723882" y="35880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4750869" y="35928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723882" y="38357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6" name="Text 33"/>
          <p:cNvSpPr/>
          <p:nvPr/>
        </p:nvSpPr>
        <p:spPr>
          <a:xfrm>
            <a:off x="4750869" y="38405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723882" y="40833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4750869" y="40881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723882" y="43310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4750869" y="43358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48674" y="4631085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3712632" y="4631085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750869" y="4635847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781030" y="1143000"/>
            <a:ext cx="422927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432</a:t>
            </a:r>
            <a:endParaRPr lang="en-US" sz="1740" dirty="0"/>
          </a:p>
        </p:txBody>
      </p:sp>
      <p:sp>
        <p:nvSpPr>
          <p:cNvPr id="45" name="Text 42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7" name="Text 44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8" name="Text 45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9" name="Text 46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50" name="Text 47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51" name="Text 48"/>
          <p:cNvSpPr/>
          <p:nvPr/>
        </p:nvSpPr>
        <p:spPr>
          <a:xfrm>
            <a:off x="648091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52" name="Text 49"/>
          <p:cNvSpPr/>
          <p:nvPr/>
        </p:nvSpPr>
        <p:spPr>
          <a:xfrm>
            <a:off x="643075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53" name="Text 50"/>
          <p:cNvSpPr/>
          <p:nvPr/>
        </p:nvSpPr>
        <p:spPr>
          <a:xfrm>
            <a:off x="2748674" y="25974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3712632" y="25974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2748674" y="28451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3712632" y="28451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748674" y="30927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712632" y="30927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748674" y="33404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3712632" y="33404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573879" y="35880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748674" y="35880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3712632" y="35880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573879" y="38357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65" name="Text 62"/>
          <p:cNvSpPr/>
          <p:nvPr/>
        </p:nvSpPr>
        <p:spPr>
          <a:xfrm>
            <a:off x="2748674" y="38357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66" name="Text 63"/>
          <p:cNvSpPr/>
          <p:nvPr/>
        </p:nvSpPr>
        <p:spPr>
          <a:xfrm>
            <a:off x="3712632" y="38357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67" name="Text 64"/>
          <p:cNvSpPr/>
          <p:nvPr/>
        </p:nvSpPr>
        <p:spPr>
          <a:xfrm>
            <a:off x="1573879" y="40833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64" dirty="0"/>
          </a:p>
        </p:txBody>
      </p:sp>
      <p:sp>
        <p:nvSpPr>
          <p:cNvPr id="68" name="Text 65"/>
          <p:cNvSpPr/>
          <p:nvPr/>
        </p:nvSpPr>
        <p:spPr>
          <a:xfrm>
            <a:off x="2748674" y="40833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9" name="Text 66"/>
          <p:cNvSpPr/>
          <p:nvPr/>
        </p:nvSpPr>
        <p:spPr>
          <a:xfrm>
            <a:off x="3712632" y="40833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70" name="Text 67"/>
          <p:cNvSpPr/>
          <p:nvPr/>
        </p:nvSpPr>
        <p:spPr>
          <a:xfrm>
            <a:off x="1573879" y="43310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64" dirty="0"/>
          </a:p>
        </p:txBody>
      </p:sp>
      <p:sp>
        <p:nvSpPr>
          <p:cNvPr id="71" name="Text 68"/>
          <p:cNvSpPr/>
          <p:nvPr/>
        </p:nvSpPr>
        <p:spPr>
          <a:xfrm>
            <a:off x="2748674" y="43310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864" dirty="0"/>
          </a:p>
        </p:txBody>
      </p:sp>
      <p:sp>
        <p:nvSpPr>
          <p:cNvPr id="72" name="Text 69"/>
          <p:cNvSpPr/>
          <p:nvPr/>
        </p:nvSpPr>
        <p:spPr>
          <a:xfrm>
            <a:off x="3712632" y="43310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64" dirty="0"/>
          </a:p>
        </p:txBody>
      </p:sp>
      <p:sp>
        <p:nvSpPr>
          <p:cNvPr id="73" name="Text 70"/>
          <p:cNvSpPr/>
          <p:nvPr/>
        </p:nvSpPr>
        <p:spPr>
          <a:xfrm>
            <a:off x="11331368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4" name="Text 71"/>
          <p:cNvSpPr/>
          <p:nvPr/>
        </p:nvSpPr>
        <p:spPr>
          <a:xfrm>
            <a:off x="11331841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75" name="Text 72"/>
          <p:cNvSpPr/>
          <p:nvPr/>
        </p:nvSpPr>
        <p:spPr>
          <a:xfrm>
            <a:off x="11331841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76" name="Text 7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77" name="Text 74"/>
          <p:cNvSpPr/>
          <p:nvPr/>
        </p:nvSpPr>
        <p:spPr>
          <a:xfrm>
            <a:off x="11329159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78" name="Text 75"/>
          <p:cNvSpPr/>
          <p:nvPr/>
        </p:nvSpPr>
        <p:spPr>
          <a:xfrm>
            <a:off x="11325215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  <p:sp>
        <p:nvSpPr>
          <p:cNvPr id="79" name="Text 76"/>
          <p:cNvSpPr/>
          <p:nvPr/>
        </p:nvSpPr>
        <p:spPr>
          <a:xfrm>
            <a:off x="11324742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80" dirty="0"/>
          </a:p>
        </p:txBody>
      </p:sp>
      <p:sp>
        <p:nvSpPr>
          <p:cNvPr id="80" name="Text 77"/>
          <p:cNvSpPr/>
          <p:nvPr/>
        </p:nvSpPr>
        <p:spPr>
          <a:xfrm>
            <a:off x="11335311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434767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cortes semanales "Como vamos" de Ene-Ago. Coberturas &gt;100 % indican PDV que Formación visitó con nombre distinto al registrado en Como vamos ese corte, o puntos sin gestión comercial activa ese mes. </a:t>
            </a:r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 del canal:</a:t>
            </a:r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147 (ene) → 90 (ago);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5057924"/>
            <a:ext cx="6328285" cy="380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(103 visitas):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empresa que provee promotores a ambos canales, no un aliado. De las 103: 48 puras Retail+Tradicional, 39 sedes/roles internos (no PDV), 15 con cédula activa en ambos canales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(contadas en los dos)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1 sin clasificar. Total atribuido: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a Retail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 a Tradicional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805880"/>
            <a:ext cx="51590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6123087"/>
            <a:ext cx="45035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981277"/>
            <a:ext cx="34185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periodo.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6448264" y="1567755"/>
            <a:ext cx="358194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(Ene-Ago)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5594458" y="4790777"/>
            <a:ext cx="30137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103 "SERDÁN" (Ene-Ago)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461697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857229" y="1596330"/>
            <a:ext cx="26594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95868" y="2082105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152924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434530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1138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de 51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857229" y="4790777"/>
            <a:ext cx="170688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6286343" y="1272480"/>
            <a:ext cx="11997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286343" y="962025"/>
            <a:ext cx="16941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Ene-Ago</a:t>
            </a:r>
            <a:endParaRPr lang="en-US" sz="696" dirty="0"/>
          </a:p>
        </p:txBody>
      </p:sp>
      <p:sp>
        <p:nvSpPr>
          <p:cNvPr id="20" name="Text 17"/>
          <p:cNvSpPr/>
          <p:nvPr/>
        </p:nvSpPr>
        <p:spPr>
          <a:xfrm>
            <a:off x="6295868" y="2800499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(Jumbo/Metro/Easy)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962025"/>
            <a:ext cx="15098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723882" y="1272480"/>
            <a:ext cx="907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10979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56111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44372" y="203805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745683" y="203805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4832" y="4238327"/>
            <a:ext cx="858572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90764" y="186303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60429" y="186303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51991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3505112" y="962025"/>
            <a:ext cx="8755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Ago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2968600" y="51991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4841240" y="2038052"/>
            <a:ext cx="10736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95868" y="353318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04832" y="59230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969851" y="5817840"/>
            <a:ext cx="5748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10645646" y="5817840"/>
            <a:ext cx="5229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04832" y="53801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2968600" y="59230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5816147" y="5817840"/>
            <a:ext cx="4492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8260797" y="5817840"/>
            <a:ext cx="4260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2" name="Text 39"/>
          <p:cNvSpPr/>
          <p:nvPr/>
        </p:nvSpPr>
        <p:spPr>
          <a:xfrm>
            <a:off x="9992957" y="1863030"/>
            <a:ext cx="853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968600" y="61040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485487" y="5817840"/>
            <a:ext cx="4098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5" name="Text 42"/>
          <p:cNvSpPr/>
          <p:nvPr/>
        </p:nvSpPr>
        <p:spPr>
          <a:xfrm>
            <a:off x="1507140" y="203805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53801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56111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27831" y="186303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186303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9992957" y="2153543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74,1 %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992957" y="2871936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91,4 %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9992957" y="3231059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66,7 %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992957" y="3537942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88,9 %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704832" y="61040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5" name="Text 52"/>
          <p:cNvSpPr/>
          <p:nvPr/>
        </p:nvSpPr>
        <p:spPr>
          <a:xfrm>
            <a:off x="3505112" y="1085850"/>
            <a:ext cx="42860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35,3 %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4841240" y="22761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61,5%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4841240" y="25238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4841240" y="27714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4841240" y="30191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4841240" y="32667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4841240" y="35144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4841240" y="37620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29,2%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4841240" y="40097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35,3%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4841240" y="430976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992957" y="2512665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04832" y="574208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968600" y="574208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8" name="Text 65"/>
          <p:cNvSpPr/>
          <p:nvPr/>
        </p:nvSpPr>
        <p:spPr>
          <a:xfrm>
            <a:off x="704832" y="2038052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2714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07140" y="22714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5190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07140" y="25190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27667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07140" y="27667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0143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507140" y="30143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704832" y="32620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704832" y="35096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04832" y="37573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704832" y="40049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507140" y="430500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10827831" y="21487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229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10827831" y="2867174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890764" y="35331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126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8960429" y="35331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10827831" y="35331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440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2286632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72" dirty="0"/>
          </a:p>
        </p:txBody>
      </p:sp>
      <p:sp>
        <p:nvSpPr>
          <p:cNvPr id="88" name="Text 85"/>
          <p:cNvSpPr/>
          <p:nvPr/>
        </p:nvSpPr>
        <p:spPr>
          <a:xfrm>
            <a:off x="628634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432</a:t>
            </a:r>
            <a:endParaRPr lang="en-US" sz="1020" dirty="0"/>
          </a:p>
        </p:txBody>
      </p:sp>
      <p:sp>
        <p:nvSpPr>
          <p:cNvPr id="89" name="Text 86"/>
          <p:cNvSpPr/>
          <p:nvPr/>
        </p:nvSpPr>
        <p:spPr>
          <a:xfrm>
            <a:off x="2544372" y="22714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3745683" y="22714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2544372" y="25190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3745683" y="25190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544372" y="27667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3745683" y="27667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544372" y="30143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3745683" y="30143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1507140" y="32620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544372" y="32620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745683" y="32620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1507140" y="35096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2544372" y="35096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3745683" y="35096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1507140" y="37573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544372" y="37573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745683" y="37573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1507140" y="40049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2544372" y="40049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3745683" y="40049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544372" y="430500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3745683" y="430500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7890764" y="21487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8960429" y="21487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7890764" y="2507903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8960429" y="2507903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827831" y="2507903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7890764" y="2867174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8960429" y="2867174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2286632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2286632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2286632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2286632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22" name="Text 119"/>
          <p:cNvSpPr/>
          <p:nvPr/>
        </p:nvSpPr>
        <p:spPr>
          <a:xfrm>
            <a:off x="2286632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4550549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4550549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550549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1020" dirty="0"/>
          </a:p>
        </p:txBody>
      </p:sp>
      <p:sp>
        <p:nvSpPr>
          <p:cNvPr id="127" name="Text 124"/>
          <p:cNvSpPr/>
          <p:nvPr/>
        </p:nvSpPr>
        <p:spPr>
          <a:xfrm>
            <a:off x="906757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5947398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1080" dirty="0"/>
          </a:p>
        </p:txBody>
      </p:sp>
      <p:sp>
        <p:nvSpPr>
          <p:cNvPr id="129" name="Text 126"/>
          <p:cNvSpPr/>
          <p:nvPr/>
        </p:nvSpPr>
        <p:spPr>
          <a:xfrm>
            <a:off x="7164673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30" name="Text 127"/>
          <p:cNvSpPr/>
          <p:nvPr/>
        </p:nvSpPr>
        <p:spPr>
          <a:xfrm>
            <a:off x="8378477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1080" dirty="0"/>
          </a:p>
        </p:txBody>
      </p:sp>
      <p:sp>
        <p:nvSpPr>
          <p:cNvPr id="131" name="Text 128"/>
          <p:cNvSpPr/>
          <p:nvPr/>
        </p:nvSpPr>
        <p:spPr>
          <a:xfrm>
            <a:off x="7890764" y="3226296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888" dirty="0"/>
          </a:p>
        </p:txBody>
      </p:sp>
      <p:sp>
        <p:nvSpPr>
          <p:cNvPr id="132" name="Text 129"/>
          <p:cNvSpPr/>
          <p:nvPr/>
        </p:nvSpPr>
        <p:spPr>
          <a:xfrm>
            <a:off x="8960429" y="3226296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888" dirty="0"/>
          </a:p>
        </p:txBody>
      </p:sp>
      <p:sp>
        <p:nvSpPr>
          <p:cNvPr id="133" name="Text 130"/>
          <p:cNvSpPr/>
          <p:nvPr/>
        </p:nvSpPr>
        <p:spPr>
          <a:xfrm>
            <a:off x="10827831" y="3226296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888" dirty="0"/>
          </a:p>
        </p:txBody>
      </p:sp>
      <p:sp>
        <p:nvSpPr>
          <p:cNvPr id="134" name="Text 131"/>
          <p:cNvSpPr/>
          <p:nvPr/>
        </p:nvSpPr>
        <p:spPr>
          <a:xfrm>
            <a:off x="4550549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4550549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4550549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9637084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080" dirty="0"/>
          </a:p>
        </p:txBody>
      </p:sp>
      <p:sp>
        <p:nvSpPr>
          <p:cNvPr id="138" name="Text 135"/>
          <p:cNvSpPr/>
          <p:nvPr/>
        </p:nvSpPr>
        <p:spPr>
          <a:xfrm>
            <a:off x="10855932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714947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acumula a corte agosto 16.490 ventas efectivas entre Cuota Protegida y Rueda Seguro, sosteniendo una efectividad promedio superior al 72 % durante todo el periodo — un desempeño comercial consistente que valida el enfoque del canal en los puntos de mayor valor.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724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38179" y="1786830"/>
            <a:ext cx="19987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2320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20.839 cantadas (76,3%)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10165" y="1786830"/>
            <a:ext cx="18886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962025"/>
            <a:ext cx="170309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Ene-Ago (Efectivas)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3505112" y="962025"/>
            <a:ext cx="17023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Ene-Ago (Efectivas)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3505112" y="1272480"/>
            <a:ext cx="11306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806 cantadas (72,0%)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286343" y="1272480"/>
            <a:ext cx="978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· 135 gestores activos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286343" y="962025"/>
            <a:ext cx="1117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del periodo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1101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Jul + Ago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753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a corte 16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85783" y="5458569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257769" y="5458569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183994" y="204400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550689" y="204400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26574" y="204400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262889" y="204400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91296" y="2044005"/>
            <a:ext cx="842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532357" y="204400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521483" y="204400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564564" y="2044005"/>
            <a:ext cx="94134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262889" y="5458569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20.839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183994" y="5458569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085850"/>
            <a:ext cx="43523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262889" y="2347764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183994" y="2323951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91296" y="2352526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262889" y="273754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183994" y="2713732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91296" y="2742307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262889" y="3128367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183994" y="310455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91296" y="3133130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3262889" y="351919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183994" y="3495377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91296" y="352395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262889" y="3910012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183994" y="3886200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91296" y="3914775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3262889" y="430083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183994" y="4277023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91296" y="4305598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3262889" y="4691658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2.592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183994" y="466784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5091296" y="4696420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81,0%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3262889" y="508248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2.185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183994" y="5058668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1.122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5091296" y="5087243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51,4%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5091296" y="546333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10564564" y="2352526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10564564" y="2742307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10564564" y="313313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10564564" y="3523952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10564564" y="3914775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564564" y="4305598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564564" y="469642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88,6%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564564" y="5087243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564564" y="5463332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72,0%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6286343" y="1085850"/>
            <a:ext cx="3639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64" name="Text 61"/>
          <p:cNvSpPr/>
          <p:nvPr/>
        </p:nvSpPr>
        <p:spPr>
          <a:xfrm>
            <a:off x="9067573" y="1085850"/>
            <a:ext cx="36818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3.222</a:t>
            </a:r>
            <a:endParaRPr lang="en-US" sz="1020" dirty="0"/>
          </a:p>
        </p:txBody>
      </p:sp>
      <p:sp>
        <p:nvSpPr>
          <p:cNvPr id="65" name="Text 62"/>
          <p:cNvSpPr/>
          <p:nvPr/>
        </p:nvSpPr>
        <p:spPr>
          <a:xfrm>
            <a:off x="1826574" y="5458569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532357" y="5458569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114*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85783" y="204400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2722878" y="204400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2347764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826574" y="2347764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685783" y="273754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826574" y="273754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85783" y="3128367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826574" y="3128367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85783" y="351919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826574" y="351919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685783" y="3910012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85783" y="430083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85783" y="4691658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685783" y="508248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2722878" y="5458569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68*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204400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6257769" y="2347764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532357" y="2347764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273754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7532357" y="273754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8521483" y="273754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6257769" y="3128367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532357" y="3128367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521483" y="3128367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9550689" y="310455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6257769" y="351919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7532357" y="351919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8521483" y="351919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257769" y="3910012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8521483" y="3910012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6257769" y="430083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8521483" y="430083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257769" y="4691658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6257769" y="508248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521483" y="5458569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550689" y="5458569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2722878" y="2347764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2722878" y="273754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2722878" y="3128367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2722878" y="351919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1826574" y="3910012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722878" y="3910012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826574" y="430083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2722878" y="430083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1826574" y="4691658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2722878" y="4691658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826574" y="508248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2722878" y="508248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8521483" y="2347764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9550689" y="2323951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9550689" y="2713732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19" name="Text 116"/>
          <p:cNvSpPr/>
          <p:nvPr/>
        </p:nvSpPr>
        <p:spPr>
          <a:xfrm>
            <a:off x="9550689" y="3495377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20" name="Text 117"/>
          <p:cNvSpPr/>
          <p:nvPr/>
        </p:nvSpPr>
        <p:spPr>
          <a:xfrm>
            <a:off x="7532357" y="3910012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21" name="Text 118"/>
          <p:cNvSpPr/>
          <p:nvPr/>
        </p:nvSpPr>
        <p:spPr>
          <a:xfrm>
            <a:off x="9550689" y="3886200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7532357" y="430083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9550689" y="4277023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  <p:sp>
        <p:nvSpPr>
          <p:cNvPr id="124" name="Text 121"/>
          <p:cNvSpPr/>
          <p:nvPr/>
        </p:nvSpPr>
        <p:spPr>
          <a:xfrm>
            <a:off x="7532357" y="4691658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8521483" y="4691658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50689" y="466784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7532357" y="508248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28" name="Text 125"/>
          <p:cNvSpPr/>
          <p:nvPr/>
        </p:nvSpPr>
        <p:spPr>
          <a:xfrm>
            <a:off x="8521483" y="508248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29" name="Text 126"/>
          <p:cNvSpPr/>
          <p:nvPr/>
        </p:nvSpPr>
        <p:spPr>
          <a:xfrm>
            <a:off x="9550689" y="5058668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2026-08-25T14:08:55Z</dcterms:created>
  <dcterms:modified xsi:type="dcterms:W3CDTF">2026-08-25T14:08:55Z</dcterms:modified>
</cp:coreProperties>
</file>