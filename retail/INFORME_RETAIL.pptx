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retail\ppt_slides\sk_00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6278" y="5931991"/>
            <a:ext cx="11215973" cy="295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Logro del periodo: La reestructuración estratégica de zonas y canales de Retail (empalme con Tradicional) concentró la operación en puntos de mayor valor. Como resultado, a pesar del menor número de visitas, las ventas efectivas por PDV subieron +24% (de 17,7 a 22,0 pólizas/PDV entre ene y ago), demostrando una alta eficiencia comercial y un canal más enfocado y productivo.</a:t>
            </a:r>
            <a:endParaRPr lang="en-US" sz="864" dirty="0"/>
          </a:p>
        </p:txBody>
      </p:sp>
      <p:sp>
        <p:nvSpPr>
          <p:cNvPr id="4" name="Text 1"/>
          <p:cNvSpPr/>
          <p:nvPr/>
        </p:nvSpPr>
        <p:spPr>
          <a:xfrm>
            <a:off x="723882" y="5008364"/>
            <a:ext cx="5345636" cy="23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* Planta = gestores comerciales con actividad transaccional registrados en el "Como vamos" (cierres mensuales); en la fila de total corresponde al promedio mensual.</a:t>
            </a:r>
            <a:endParaRPr lang="en-US" sz="696" dirty="0"/>
          </a:p>
        </p:txBody>
      </p:sp>
      <p:sp>
        <p:nvSpPr>
          <p:cNvPr id="5" name="Text 2"/>
          <p:cNvSpPr/>
          <p:nvPr/>
        </p:nvSpPr>
        <p:spPr>
          <a:xfrm>
            <a:off x="6314917" y="5132040"/>
            <a:ext cx="26284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concentración de visitas potencia la efectividad del canal.</a:t>
            </a:r>
            <a:endParaRPr lang="en-US" sz="696" dirty="0"/>
          </a:p>
        </p:txBody>
      </p:sp>
      <p:sp>
        <p:nvSpPr>
          <p:cNvPr id="6" name="Text 3"/>
          <p:cNvSpPr/>
          <p:nvPr/>
        </p:nvSpPr>
        <p:spPr>
          <a:xfrm>
            <a:off x="571486" y="209550"/>
            <a:ext cx="436125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Ejecución de Visitas de Formación · Ene-Ago 2026</a:t>
            </a:r>
            <a:endParaRPr lang="en-US" sz="1260" dirty="0"/>
          </a:p>
        </p:txBody>
      </p:sp>
      <p:sp>
        <p:nvSpPr>
          <p:cNvPr id="7" name="Text 4"/>
          <p:cNvSpPr/>
          <p:nvPr/>
        </p:nvSpPr>
        <p:spPr>
          <a:xfrm>
            <a:off x="781030" y="1421160"/>
            <a:ext cx="20948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de formación acumulada (Ene - Ago 2026)</a:t>
            </a:r>
            <a:endParaRPr lang="en-US" sz="696" dirty="0"/>
          </a:p>
        </p:txBody>
      </p:sp>
      <p:sp>
        <p:nvSpPr>
          <p:cNvPr id="8" name="Text 5"/>
          <p:cNvSpPr/>
          <p:nvPr/>
        </p:nvSpPr>
        <p:spPr>
          <a:xfrm>
            <a:off x="6362541" y="1421160"/>
            <a:ext cx="15884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 17.7 a 22.0 pólizas por PDV activo</a:t>
            </a:r>
            <a:endParaRPr lang="en-US" sz="696" dirty="0"/>
          </a:p>
        </p:txBody>
      </p:sp>
      <p:sp>
        <p:nvSpPr>
          <p:cNvPr id="9" name="Text 6"/>
          <p:cNvSpPr/>
          <p:nvPr/>
        </p:nvSpPr>
        <p:spPr>
          <a:xfrm>
            <a:off x="876278" y="2049810"/>
            <a:ext cx="23169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Planta activa vs. formaciones por mes</a:t>
            </a:r>
            <a:endParaRPr lang="en-US" sz="936" dirty="0"/>
          </a:p>
        </p:txBody>
      </p:sp>
      <p:sp>
        <p:nvSpPr>
          <p:cNvPr id="10" name="Text 7"/>
          <p:cNvSpPr/>
          <p:nvPr/>
        </p:nvSpPr>
        <p:spPr>
          <a:xfrm>
            <a:off x="6467313" y="2049810"/>
            <a:ext cx="17505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Evolución de visitas por mes</a:t>
            </a:r>
            <a:endParaRPr lang="en-US" sz="936" dirty="0"/>
          </a:p>
        </p:txBody>
      </p:sp>
      <p:sp>
        <p:nvSpPr>
          <p:cNvPr id="11" name="Text 8"/>
          <p:cNvSpPr/>
          <p:nvPr/>
        </p:nvSpPr>
        <p:spPr>
          <a:xfrm>
            <a:off x="781030" y="1009650"/>
            <a:ext cx="172897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Visitas Realizadas Ene-Ago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6362541" y="1009650"/>
            <a:ext cx="161507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Eficiencia por PDV Activo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1573879" y="2364135"/>
            <a:ext cx="120378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Planta Gestores</a:t>
            </a:r>
            <a:endParaRPr lang="en-US" sz="888" dirty="0"/>
          </a:p>
        </p:txBody>
      </p:sp>
      <p:sp>
        <p:nvSpPr>
          <p:cNvPr id="14" name="Text 11"/>
          <p:cNvSpPr/>
          <p:nvPr/>
        </p:nvSpPr>
        <p:spPr>
          <a:xfrm>
            <a:off x="3712632" y="2364135"/>
            <a:ext cx="107103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PDV Visitados</a:t>
            </a:r>
            <a:endParaRPr lang="en-US" sz="888" dirty="0"/>
          </a:p>
        </p:txBody>
      </p:sp>
      <p:sp>
        <p:nvSpPr>
          <p:cNvPr id="15" name="Text 12"/>
          <p:cNvSpPr/>
          <p:nvPr/>
        </p:nvSpPr>
        <p:spPr>
          <a:xfrm>
            <a:off x="4750869" y="2364135"/>
            <a:ext cx="1125909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Capacitados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723882" y="4564410"/>
            <a:ext cx="911610" cy="2667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Ene-Ago</a:t>
            </a:r>
            <a:endParaRPr lang="en-US" sz="864" dirty="0"/>
          </a:p>
        </p:txBody>
      </p:sp>
      <p:sp>
        <p:nvSpPr>
          <p:cNvPr id="17" name="Text 14"/>
          <p:cNvSpPr/>
          <p:nvPr/>
        </p:nvSpPr>
        <p:spPr>
          <a:xfrm>
            <a:off x="2748674" y="2364135"/>
            <a:ext cx="995153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Capacitados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6362541" y="1143000"/>
            <a:ext cx="633686" cy="264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4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+24 %</a:t>
            </a:r>
            <a:endParaRPr lang="en-US" sz="1740" dirty="0"/>
          </a:p>
        </p:txBody>
      </p:sp>
      <p:sp>
        <p:nvSpPr>
          <p:cNvPr id="19" name="Text 16"/>
          <p:cNvSpPr/>
          <p:nvPr/>
        </p:nvSpPr>
        <p:spPr>
          <a:xfrm>
            <a:off x="1573879" y="4631085"/>
            <a:ext cx="120378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115*</a:t>
            </a:r>
            <a:endParaRPr lang="en-US" sz="864" dirty="0"/>
          </a:p>
        </p:txBody>
      </p:sp>
      <p:sp>
        <p:nvSpPr>
          <p:cNvPr id="20" name="Text 17"/>
          <p:cNvSpPr/>
          <p:nvPr/>
        </p:nvSpPr>
        <p:spPr>
          <a:xfrm>
            <a:off x="723882" y="2364135"/>
            <a:ext cx="91161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723882" y="2597497"/>
            <a:ext cx="91161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1573879" y="2597497"/>
            <a:ext cx="120378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</a:t>
            </a:r>
            <a:endParaRPr lang="en-US" sz="864" dirty="0"/>
          </a:p>
        </p:txBody>
      </p:sp>
      <p:sp>
        <p:nvSpPr>
          <p:cNvPr id="23" name="Text 20"/>
          <p:cNvSpPr/>
          <p:nvPr/>
        </p:nvSpPr>
        <p:spPr>
          <a:xfrm>
            <a:off x="4750869" y="2602260"/>
            <a:ext cx="112590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48%</a:t>
            </a:r>
            <a:endParaRPr lang="en-US" sz="816" dirty="0"/>
          </a:p>
        </p:txBody>
      </p:sp>
      <p:sp>
        <p:nvSpPr>
          <p:cNvPr id="24" name="Text 21"/>
          <p:cNvSpPr/>
          <p:nvPr/>
        </p:nvSpPr>
        <p:spPr>
          <a:xfrm>
            <a:off x="723882" y="2845147"/>
            <a:ext cx="91161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64" dirty="0"/>
          </a:p>
        </p:txBody>
      </p:sp>
      <p:sp>
        <p:nvSpPr>
          <p:cNvPr id="25" name="Text 22"/>
          <p:cNvSpPr/>
          <p:nvPr/>
        </p:nvSpPr>
        <p:spPr>
          <a:xfrm>
            <a:off x="1573879" y="2845147"/>
            <a:ext cx="120378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864" dirty="0"/>
          </a:p>
        </p:txBody>
      </p:sp>
      <p:sp>
        <p:nvSpPr>
          <p:cNvPr id="26" name="Text 23"/>
          <p:cNvSpPr/>
          <p:nvPr/>
        </p:nvSpPr>
        <p:spPr>
          <a:xfrm>
            <a:off x="4750869" y="2849910"/>
            <a:ext cx="112590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45%</a:t>
            </a:r>
            <a:endParaRPr lang="en-US" sz="816" dirty="0"/>
          </a:p>
        </p:txBody>
      </p:sp>
      <p:sp>
        <p:nvSpPr>
          <p:cNvPr id="27" name="Text 24"/>
          <p:cNvSpPr/>
          <p:nvPr/>
        </p:nvSpPr>
        <p:spPr>
          <a:xfrm>
            <a:off x="723882" y="3092797"/>
            <a:ext cx="91161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64" dirty="0"/>
          </a:p>
        </p:txBody>
      </p:sp>
      <p:sp>
        <p:nvSpPr>
          <p:cNvPr id="28" name="Text 25"/>
          <p:cNvSpPr/>
          <p:nvPr/>
        </p:nvSpPr>
        <p:spPr>
          <a:xfrm>
            <a:off x="1573879" y="3092797"/>
            <a:ext cx="120378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864" dirty="0"/>
          </a:p>
        </p:txBody>
      </p:sp>
      <p:sp>
        <p:nvSpPr>
          <p:cNvPr id="29" name="Text 26"/>
          <p:cNvSpPr/>
          <p:nvPr/>
        </p:nvSpPr>
        <p:spPr>
          <a:xfrm>
            <a:off x="4750869" y="3097560"/>
            <a:ext cx="112590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53%</a:t>
            </a:r>
            <a:endParaRPr lang="en-US" sz="816" dirty="0"/>
          </a:p>
        </p:txBody>
      </p:sp>
      <p:sp>
        <p:nvSpPr>
          <p:cNvPr id="30" name="Text 27"/>
          <p:cNvSpPr/>
          <p:nvPr/>
        </p:nvSpPr>
        <p:spPr>
          <a:xfrm>
            <a:off x="723882" y="3340447"/>
            <a:ext cx="91161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64" dirty="0"/>
          </a:p>
        </p:txBody>
      </p:sp>
      <p:sp>
        <p:nvSpPr>
          <p:cNvPr id="31" name="Text 28"/>
          <p:cNvSpPr/>
          <p:nvPr/>
        </p:nvSpPr>
        <p:spPr>
          <a:xfrm>
            <a:off x="1573879" y="3340447"/>
            <a:ext cx="120378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118</a:t>
            </a:r>
            <a:endParaRPr lang="en-US" sz="864" dirty="0"/>
          </a:p>
        </p:txBody>
      </p:sp>
      <p:sp>
        <p:nvSpPr>
          <p:cNvPr id="32" name="Text 29"/>
          <p:cNvSpPr/>
          <p:nvPr/>
        </p:nvSpPr>
        <p:spPr>
          <a:xfrm>
            <a:off x="4750869" y="3345210"/>
            <a:ext cx="112590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52%</a:t>
            </a:r>
            <a:endParaRPr lang="en-US" sz="816" dirty="0"/>
          </a:p>
        </p:txBody>
      </p:sp>
      <p:sp>
        <p:nvSpPr>
          <p:cNvPr id="33" name="Text 30"/>
          <p:cNvSpPr/>
          <p:nvPr/>
        </p:nvSpPr>
        <p:spPr>
          <a:xfrm>
            <a:off x="723882" y="3588097"/>
            <a:ext cx="91161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64" dirty="0"/>
          </a:p>
        </p:txBody>
      </p:sp>
      <p:sp>
        <p:nvSpPr>
          <p:cNvPr id="34" name="Text 31"/>
          <p:cNvSpPr/>
          <p:nvPr/>
        </p:nvSpPr>
        <p:spPr>
          <a:xfrm>
            <a:off x="4750869" y="3592860"/>
            <a:ext cx="112590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35%</a:t>
            </a:r>
            <a:endParaRPr lang="en-US" sz="816" dirty="0"/>
          </a:p>
        </p:txBody>
      </p:sp>
      <p:sp>
        <p:nvSpPr>
          <p:cNvPr id="35" name="Text 32"/>
          <p:cNvSpPr/>
          <p:nvPr/>
        </p:nvSpPr>
        <p:spPr>
          <a:xfrm>
            <a:off x="723882" y="3835747"/>
            <a:ext cx="91161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64" dirty="0"/>
          </a:p>
        </p:txBody>
      </p:sp>
      <p:sp>
        <p:nvSpPr>
          <p:cNvPr id="36" name="Text 33"/>
          <p:cNvSpPr/>
          <p:nvPr/>
        </p:nvSpPr>
        <p:spPr>
          <a:xfrm>
            <a:off x="4750869" y="3840510"/>
            <a:ext cx="112590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26%</a:t>
            </a:r>
            <a:endParaRPr lang="en-US" sz="816" dirty="0"/>
          </a:p>
        </p:txBody>
      </p:sp>
      <p:sp>
        <p:nvSpPr>
          <p:cNvPr id="37" name="Text 34"/>
          <p:cNvSpPr/>
          <p:nvPr/>
        </p:nvSpPr>
        <p:spPr>
          <a:xfrm>
            <a:off x="723882" y="4083397"/>
            <a:ext cx="91161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</a:t>
            </a:r>
            <a:endParaRPr lang="en-US" sz="864" dirty="0"/>
          </a:p>
        </p:txBody>
      </p:sp>
      <p:sp>
        <p:nvSpPr>
          <p:cNvPr id="38" name="Text 35"/>
          <p:cNvSpPr/>
          <p:nvPr/>
        </p:nvSpPr>
        <p:spPr>
          <a:xfrm>
            <a:off x="4750869" y="4088160"/>
            <a:ext cx="112590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25%</a:t>
            </a:r>
            <a:endParaRPr lang="en-US" sz="816" dirty="0"/>
          </a:p>
        </p:txBody>
      </p:sp>
      <p:sp>
        <p:nvSpPr>
          <p:cNvPr id="39" name="Text 36"/>
          <p:cNvSpPr/>
          <p:nvPr/>
        </p:nvSpPr>
        <p:spPr>
          <a:xfrm>
            <a:off x="723882" y="4331047"/>
            <a:ext cx="91161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</a:t>
            </a:r>
            <a:endParaRPr lang="en-US" sz="864" dirty="0"/>
          </a:p>
        </p:txBody>
      </p:sp>
      <p:sp>
        <p:nvSpPr>
          <p:cNvPr id="40" name="Text 37"/>
          <p:cNvSpPr/>
          <p:nvPr/>
        </p:nvSpPr>
        <p:spPr>
          <a:xfrm>
            <a:off x="4750869" y="4335810"/>
            <a:ext cx="112590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64%</a:t>
            </a:r>
            <a:endParaRPr lang="en-US" sz="816" dirty="0"/>
          </a:p>
        </p:txBody>
      </p:sp>
      <p:sp>
        <p:nvSpPr>
          <p:cNvPr id="41" name="Text 38"/>
          <p:cNvSpPr/>
          <p:nvPr/>
        </p:nvSpPr>
        <p:spPr>
          <a:xfrm>
            <a:off x="2748674" y="4631085"/>
            <a:ext cx="995153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408</a:t>
            </a:r>
            <a:endParaRPr lang="en-US" sz="864" dirty="0"/>
          </a:p>
        </p:txBody>
      </p:sp>
      <p:sp>
        <p:nvSpPr>
          <p:cNvPr id="42" name="Text 39"/>
          <p:cNvSpPr/>
          <p:nvPr/>
        </p:nvSpPr>
        <p:spPr>
          <a:xfrm>
            <a:off x="3712632" y="4631085"/>
            <a:ext cx="107103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270</a:t>
            </a:r>
            <a:endParaRPr lang="en-US" sz="864" dirty="0"/>
          </a:p>
        </p:txBody>
      </p:sp>
      <p:sp>
        <p:nvSpPr>
          <p:cNvPr id="43" name="Text 40"/>
          <p:cNvSpPr/>
          <p:nvPr/>
        </p:nvSpPr>
        <p:spPr>
          <a:xfrm>
            <a:off x="4750869" y="4635847"/>
            <a:ext cx="112590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44%</a:t>
            </a:r>
            <a:endParaRPr lang="en-US" sz="816" dirty="0"/>
          </a:p>
        </p:txBody>
      </p:sp>
      <p:sp>
        <p:nvSpPr>
          <p:cNvPr id="44" name="Text 41"/>
          <p:cNvSpPr/>
          <p:nvPr/>
        </p:nvSpPr>
        <p:spPr>
          <a:xfrm>
            <a:off x="781030" y="1143000"/>
            <a:ext cx="439806" cy="264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480</a:t>
            </a:r>
            <a:endParaRPr lang="en-US" sz="1740" dirty="0"/>
          </a:p>
        </p:txBody>
      </p:sp>
      <p:sp>
        <p:nvSpPr>
          <p:cNvPr id="45" name="Text 42"/>
          <p:cNvSpPr/>
          <p:nvPr/>
        </p:nvSpPr>
        <p:spPr>
          <a:xfrm>
            <a:off x="6440849" y="23546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780" dirty="0"/>
          </a:p>
        </p:txBody>
      </p:sp>
      <p:sp>
        <p:nvSpPr>
          <p:cNvPr id="46" name="Text 43"/>
          <p:cNvSpPr/>
          <p:nvPr/>
        </p:nvSpPr>
        <p:spPr>
          <a:xfrm>
            <a:off x="6443373" y="25832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780" dirty="0"/>
          </a:p>
        </p:txBody>
      </p:sp>
      <p:sp>
        <p:nvSpPr>
          <p:cNvPr id="47" name="Text 44"/>
          <p:cNvSpPr/>
          <p:nvPr/>
        </p:nvSpPr>
        <p:spPr>
          <a:xfrm>
            <a:off x="6438798" y="28118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780" dirty="0"/>
          </a:p>
        </p:txBody>
      </p:sp>
      <p:sp>
        <p:nvSpPr>
          <p:cNvPr id="48" name="Text 45"/>
          <p:cNvSpPr/>
          <p:nvPr/>
        </p:nvSpPr>
        <p:spPr>
          <a:xfrm>
            <a:off x="6452207" y="30404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780" dirty="0"/>
          </a:p>
        </p:txBody>
      </p:sp>
      <p:sp>
        <p:nvSpPr>
          <p:cNvPr id="49" name="Text 46"/>
          <p:cNvSpPr/>
          <p:nvPr/>
        </p:nvSpPr>
        <p:spPr>
          <a:xfrm>
            <a:off x="6423811" y="32690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780" dirty="0"/>
          </a:p>
        </p:txBody>
      </p:sp>
      <p:sp>
        <p:nvSpPr>
          <p:cNvPr id="50" name="Text 47"/>
          <p:cNvSpPr/>
          <p:nvPr/>
        </p:nvSpPr>
        <p:spPr>
          <a:xfrm>
            <a:off x="6450787" y="34976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780" dirty="0"/>
          </a:p>
        </p:txBody>
      </p:sp>
      <p:sp>
        <p:nvSpPr>
          <p:cNvPr id="51" name="Text 48"/>
          <p:cNvSpPr/>
          <p:nvPr/>
        </p:nvSpPr>
        <p:spPr>
          <a:xfrm>
            <a:off x="6480918" y="37262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</a:t>
            </a:r>
            <a:endParaRPr lang="en-US" sz="780" dirty="0"/>
          </a:p>
        </p:txBody>
      </p:sp>
      <p:sp>
        <p:nvSpPr>
          <p:cNvPr id="52" name="Text 49"/>
          <p:cNvSpPr/>
          <p:nvPr/>
        </p:nvSpPr>
        <p:spPr>
          <a:xfrm>
            <a:off x="6430753" y="39548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</a:t>
            </a:r>
            <a:endParaRPr lang="en-US" sz="780" dirty="0"/>
          </a:p>
        </p:txBody>
      </p:sp>
      <p:sp>
        <p:nvSpPr>
          <p:cNvPr id="53" name="Text 50"/>
          <p:cNvSpPr/>
          <p:nvPr/>
        </p:nvSpPr>
        <p:spPr>
          <a:xfrm>
            <a:off x="2748674" y="2597497"/>
            <a:ext cx="995153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</a:t>
            </a:r>
            <a:endParaRPr lang="en-US" sz="864" dirty="0"/>
          </a:p>
        </p:txBody>
      </p:sp>
      <p:sp>
        <p:nvSpPr>
          <p:cNvPr id="54" name="Text 51"/>
          <p:cNvSpPr/>
          <p:nvPr/>
        </p:nvSpPr>
        <p:spPr>
          <a:xfrm>
            <a:off x="3712632" y="2597497"/>
            <a:ext cx="107103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</a:t>
            </a:r>
            <a:endParaRPr lang="en-US" sz="864" dirty="0"/>
          </a:p>
        </p:txBody>
      </p:sp>
      <p:sp>
        <p:nvSpPr>
          <p:cNvPr id="55" name="Text 52"/>
          <p:cNvSpPr/>
          <p:nvPr/>
        </p:nvSpPr>
        <p:spPr>
          <a:xfrm>
            <a:off x="2748674" y="2845147"/>
            <a:ext cx="995153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</a:t>
            </a:r>
            <a:endParaRPr lang="en-US" sz="864" dirty="0"/>
          </a:p>
        </p:txBody>
      </p:sp>
      <p:sp>
        <p:nvSpPr>
          <p:cNvPr id="56" name="Text 53"/>
          <p:cNvSpPr/>
          <p:nvPr/>
        </p:nvSpPr>
        <p:spPr>
          <a:xfrm>
            <a:off x="3712632" y="2845147"/>
            <a:ext cx="107103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</a:t>
            </a:r>
            <a:endParaRPr lang="en-US" sz="864" dirty="0"/>
          </a:p>
        </p:txBody>
      </p:sp>
      <p:sp>
        <p:nvSpPr>
          <p:cNvPr id="57" name="Text 54"/>
          <p:cNvSpPr/>
          <p:nvPr/>
        </p:nvSpPr>
        <p:spPr>
          <a:xfrm>
            <a:off x="2748674" y="3092797"/>
            <a:ext cx="995153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</a:t>
            </a:r>
            <a:endParaRPr lang="en-US" sz="864" dirty="0"/>
          </a:p>
        </p:txBody>
      </p:sp>
      <p:sp>
        <p:nvSpPr>
          <p:cNvPr id="58" name="Text 55"/>
          <p:cNvSpPr/>
          <p:nvPr/>
        </p:nvSpPr>
        <p:spPr>
          <a:xfrm>
            <a:off x="3712632" y="3092797"/>
            <a:ext cx="107103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864" dirty="0"/>
          </a:p>
        </p:txBody>
      </p:sp>
      <p:sp>
        <p:nvSpPr>
          <p:cNvPr id="59" name="Text 56"/>
          <p:cNvSpPr/>
          <p:nvPr/>
        </p:nvSpPr>
        <p:spPr>
          <a:xfrm>
            <a:off x="2748674" y="3340447"/>
            <a:ext cx="995153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</a:t>
            </a:r>
            <a:endParaRPr lang="en-US" sz="864" dirty="0"/>
          </a:p>
        </p:txBody>
      </p:sp>
      <p:sp>
        <p:nvSpPr>
          <p:cNvPr id="60" name="Text 57"/>
          <p:cNvSpPr/>
          <p:nvPr/>
        </p:nvSpPr>
        <p:spPr>
          <a:xfrm>
            <a:off x="3712632" y="3340447"/>
            <a:ext cx="107103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</a:t>
            </a:r>
            <a:endParaRPr lang="en-US" sz="864" dirty="0"/>
          </a:p>
        </p:txBody>
      </p:sp>
      <p:sp>
        <p:nvSpPr>
          <p:cNvPr id="61" name="Text 58"/>
          <p:cNvSpPr/>
          <p:nvPr/>
        </p:nvSpPr>
        <p:spPr>
          <a:xfrm>
            <a:off x="1573879" y="3588097"/>
            <a:ext cx="120378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</a:t>
            </a:r>
            <a:endParaRPr lang="en-US" sz="864" dirty="0"/>
          </a:p>
        </p:txBody>
      </p:sp>
      <p:sp>
        <p:nvSpPr>
          <p:cNvPr id="62" name="Text 59"/>
          <p:cNvSpPr/>
          <p:nvPr/>
        </p:nvSpPr>
        <p:spPr>
          <a:xfrm>
            <a:off x="2748674" y="3588097"/>
            <a:ext cx="995153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</a:t>
            </a:r>
            <a:endParaRPr lang="en-US" sz="864" dirty="0"/>
          </a:p>
        </p:txBody>
      </p:sp>
      <p:sp>
        <p:nvSpPr>
          <p:cNvPr id="63" name="Text 60"/>
          <p:cNvSpPr/>
          <p:nvPr/>
        </p:nvSpPr>
        <p:spPr>
          <a:xfrm>
            <a:off x="3712632" y="3588097"/>
            <a:ext cx="107103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864" dirty="0"/>
          </a:p>
        </p:txBody>
      </p:sp>
      <p:sp>
        <p:nvSpPr>
          <p:cNvPr id="64" name="Text 61"/>
          <p:cNvSpPr/>
          <p:nvPr/>
        </p:nvSpPr>
        <p:spPr>
          <a:xfrm>
            <a:off x="1573879" y="3835747"/>
            <a:ext cx="120378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</a:t>
            </a:r>
            <a:endParaRPr lang="en-US" sz="864" dirty="0"/>
          </a:p>
        </p:txBody>
      </p:sp>
      <p:sp>
        <p:nvSpPr>
          <p:cNvPr id="65" name="Text 62"/>
          <p:cNvSpPr/>
          <p:nvPr/>
        </p:nvSpPr>
        <p:spPr>
          <a:xfrm>
            <a:off x="2748674" y="3835747"/>
            <a:ext cx="995153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</a:t>
            </a:r>
            <a:endParaRPr lang="en-US" sz="864" dirty="0"/>
          </a:p>
        </p:txBody>
      </p:sp>
      <p:sp>
        <p:nvSpPr>
          <p:cNvPr id="66" name="Text 63"/>
          <p:cNvSpPr/>
          <p:nvPr/>
        </p:nvSpPr>
        <p:spPr>
          <a:xfrm>
            <a:off x="3712632" y="3835747"/>
            <a:ext cx="107103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864" dirty="0"/>
          </a:p>
        </p:txBody>
      </p:sp>
      <p:sp>
        <p:nvSpPr>
          <p:cNvPr id="67" name="Text 64"/>
          <p:cNvSpPr/>
          <p:nvPr/>
        </p:nvSpPr>
        <p:spPr>
          <a:xfrm>
            <a:off x="1573879" y="4083397"/>
            <a:ext cx="120378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</a:t>
            </a:r>
            <a:endParaRPr lang="en-US" sz="864" dirty="0"/>
          </a:p>
        </p:txBody>
      </p:sp>
      <p:sp>
        <p:nvSpPr>
          <p:cNvPr id="68" name="Text 65"/>
          <p:cNvSpPr/>
          <p:nvPr/>
        </p:nvSpPr>
        <p:spPr>
          <a:xfrm>
            <a:off x="2748674" y="4083397"/>
            <a:ext cx="995153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</a:t>
            </a:r>
            <a:endParaRPr lang="en-US" sz="864" dirty="0"/>
          </a:p>
        </p:txBody>
      </p:sp>
      <p:sp>
        <p:nvSpPr>
          <p:cNvPr id="69" name="Text 66"/>
          <p:cNvSpPr/>
          <p:nvPr/>
        </p:nvSpPr>
        <p:spPr>
          <a:xfrm>
            <a:off x="3712632" y="4083397"/>
            <a:ext cx="107103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864" dirty="0"/>
          </a:p>
        </p:txBody>
      </p:sp>
      <p:sp>
        <p:nvSpPr>
          <p:cNvPr id="70" name="Text 67"/>
          <p:cNvSpPr/>
          <p:nvPr/>
        </p:nvSpPr>
        <p:spPr>
          <a:xfrm>
            <a:off x="1573879" y="4331047"/>
            <a:ext cx="120378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</a:t>
            </a:r>
            <a:endParaRPr lang="en-US" sz="864" dirty="0"/>
          </a:p>
        </p:txBody>
      </p:sp>
      <p:sp>
        <p:nvSpPr>
          <p:cNvPr id="71" name="Text 68"/>
          <p:cNvSpPr/>
          <p:nvPr/>
        </p:nvSpPr>
        <p:spPr>
          <a:xfrm>
            <a:off x="2748674" y="4331047"/>
            <a:ext cx="995153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</a:t>
            </a:r>
            <a:endParaRPr lang="en-US" sz="864" dirty="0"/>
          </a:p>
        </p:txBody>
      </p:sp>
      <p:sp>
        <p:nvSpPr>
          <p:cNvPr id="72" name="Text 69"/>
          <p:cNvSpPr/>
          <p:nvPr/>
        </p:nvSpPr>
        <p:spPr>
          <a:xfrm>
            <a:off x="3712632" y="4331047"/>
            <a:ext cx="107103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864" dirty="0"/>
          </a:p>
        </p:txBody>
      </p:sp>
      <p:sp>
        <p:nvSpPr>
          <p:cNvPr id="73" name="Text 70"/>
          <p:cNvSpPr/>
          <p:nvPr/>
        </p:nvSpPr>
        <p:spPr>
          <a:xfrm>
            <a:off x="11331368" y="23546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</a:t>
            </a:r>
            <a:endParaRPr lang="en-US" sz="780" dirty="0"/>
          </a:p>
        </p:txBody>
      </p:sp>
      <p:sp>
        <p:nvSpPr>
          <p:cNvPr id="74" name="Text 71"/>
          <p:cNvSpPr/>
          <p:nvPr/>
        </p:nvSpPr>
        <p:spPr>
          <a:xfrm>
            <a:off x="11331841" y="25832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</a:t>
            </a:r>
            <a:endParaRPr lang="en-US" sz="780" dirty="0"/>
          </a:p>
        </p:txBody>
      </p:sp>
      <p:sp>
        <p:nvSpPr>
          <p:cNvPr id="75" name="Text 72"/>
          <p:cNvSpPr/>
          <p:nvPr/>
        </p:nvSpPr>
        <p:spPr>
          <a:xfrm>
            <a:off x="11331841" y="28118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</a:t>
            </a:r>
            <a:endParaRPr lang="en-US" sz="780" dirty="0"/>
          </a:p>
        </p:txBody>
      </p:sp>
      <p:sp>
        <p:nvSpPr>
          <p:cNvPr id="76" name="Text 73"/>
          <p:cNvSpPr/>
          <p:nvPr/>
        </p:nvSpPr>
        <p:spPr>
          <a:xfrm>
            <a:off x="11325057" y="30404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780" dirty="0"/>
          </a:p>
        </p:txBody>
      </p:sp>
      <p:sp>
        <p:nvSpPr>
          <p:cNvPr id="77" name="Text 74"/>
          <p:cNvSpPr/>
          <p:nvPr/>
        </p:nvSpPr>
        <p:spPr>
          <a:xfrm>
            <a:off x="11329159" y="32690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</a:t>
            </a:r>
            <a:endParaRPr lang="en-US" sz="780" dirty="0"/>
          </a:p>
        </p:txBody>
      </p:sp>
      <p:sp>
        <p:nvSpPr>
          <p:cNvPr id="78" name="Text 75"/>
          <p:cNvSpPr/>
          <p:nvPr/>
        </p:nvSpPr>
        <p:spPr>
          <a:xfrm>
            <a:off x="11325215" y="34976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</a:t>
            </a:r>
            <a:endParaRPr lang="en-US" sz="780" dirty="0"/>
          </a:p>
        </p:txBody>
      </p:sp>
      <p:sp>
        <p:nvSpPr>
          <p:cNvPr id="79" name="Text 76"/>
          <p:cNvSpPr/>
          <p:nvPr/>
        </p:nvSpPr>
        <p:spPr>
          <a:xfrm>
            <a:off x="11324742" y="37262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</a:t>
            </a:r>
            <a:endParaRPr lang="en-US" sz="780" dirty="0"/>
          </a:p>
        </p:txBody>
      </p:sp>
      <p:sp>
        <p:nvSpPr>
          <p:cNvPr id="80" name="Text 77"/>
          <p:cNvSpPr/>
          <p:nvPr/>
        </p:nvSpPr>
        <p:spPr>
          <a:xfrm>
            <a:off x="11327108" y="39548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retail\ppt_slides\sk_01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95868" y="3766542"/>
            <a:ext cx="5434767" cy="431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* Universo = PDV físicos distintos observados en los cortes semanales "Como vamos" de Ene-Ago. Coberturas &gt;100 % indican PDV que Formación visitó con nombre distinto al registrado en Como vamos ese corte, o puntos sin gestión comercial activa ese mes. </a:t>
            </a:r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Gestores del canal:</a:t>
            </a:r>
            <a:pPr algn="l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147 (ene) → 90 (ago); los cortes "Como vamos" no desagregan gestores por aliado.</a:t>
            </a:r>
            <a:endParaRPr lang="en-US" sz="720" dirty="0"/>
          </a:p>
        </p:txBody>
      </p:sp>
      <p:sp>
        <p:nvSpPr>
          <p:cNvPr id="4" name="Text 1"/>
          <p:cNvSpPr/>
          <p:nvPr/>
        </p:nvSpPr>
        <p:spPr>
          <a:xfrm>
            <a:off x="5470636" y="5057924"/>
            <a:ext cx="6330967" cy="380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Sobre "Serdán" (106 visitas):</a:t>
            </a:r>
            <a:pPr algn="l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empresa que provee promotores a ambos canales, no un aliado. De las 106: 48 puras Retail+Tradicional, 39 sedes/roles internos (no PDV), 18 con cédula activa en ambos canales </a:t>
            </a:r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(contadas en los dos)</a:t>
            </a:r>
            <a:pPr algn="l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y 1 sin clasificar. Total atribuido: </a:t>
            </a:r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 a Retail</a:t>
            </a:r>
            <a:pPr algn="l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y </a:t>
            </a:r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 a Tradicional</a:t>
            </a:r>
            <a:pPr algn="l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.</a:t>
            </a:r>
            <a:endParaRPr lang="en-US" sz="720" dirty="0"/>
          </a:p>
        </p:txBody>
      </p:sp>
      <p:sp>
        <p:nvSpPr>
          <p:cNvPr id="5" name="Text 2"/>
          <p:cNvSpPr/>
          <p:nvPr/>
        </p:nvSpPr>
        <p:spPr>
          <a:xfrm>
            <a:off x="704832" y="1805880"/>
            <a:ext cx="51590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PDV visitados por Formación vs. PDV con gestión comercial activa en Cuota Protegida cada mes (cortes "Como vamos").</a:t>
            </a:r>
            <a:endParaRPr lang="en-US" sz="696" dirty="0"/>
          </a:p>
        </p:txBody>
      </p:sp>
      <p:sp>
        <p:nvSpPr>
          <p:cNvPr id="6" name="Text 3"/>
          <p:cNvSpPr/>
          <p:nvPr/>
        </p:nvSpPr>
        <p:spPr>
          <a:xfrm>
            <a:off x="5470636" y="6123087"/>
            <a:ext cx="450354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Solo el 41 % fue a un PDV físico; el resto es actividad real de formación que no suma a cobertura de PDV.</a:t>
            </a:r>
            <a:endParaRPr lang="en-US" sz="696" dirty="0"/>
          </a:p>
        </p:txBody>
      </p:sp>
      <p:sp>
        <p:nvSpPr>
          <p:cNvPr id="7" name="Text 4"/>
          <p:cNvSpPr/>
          <p:nvPr/>
        </p:nvSpPr>
        <p:spPr>
          <a:xfrm>
            <a:off x="704832" y="4981277"/>
            <a:ext cx="341851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Zonas y municipios con al menos una visita de formación registrada en el periodo.</a:t>
            </a:r>
            <a:endParaRPr lang="en-US" sz="672" dirty="0"/>
          </a:p>
        </p:txBody>
      </p:sp>
      <p:sp>
        <p:nvSpPr>
          <p:cNvPr id="8" name="Text 5"/>
          <p:cNvSpPr/>
          <p:nvPr/>
        </p:nvSpPr>
        <p:spPr>
          <a:xfrm>
            <a:off x="6448264" y="1567755"/>
            <a:ext cx="3581948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Universo de PDV y cobertura real por aliado (Ene-Ago)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5594458" y="4790777"/>
            <a:ext cx="30173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TIPO DE PUNTO VISITADO EN LAS 106 "SERDÁN" (Ene-Ago)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571486" y="209550"/>
            <a:ext cx="4616971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 de Puntos de Venta y Municipios Visitados</a:t>
            </a:r>
            <a:endParaRPr lang="en-US" sz="1260" dirty="0"/>
          </a:p>
        </p:txBody>
      </p:sp>
      <p:sp>
        <p:nvSpPr>
          <p:cNvPr id="11" name="Text 8"/>
          <p:cNvSpPr/>
          <p:nvPr/>
        </p:nvSpPr>
        <p:spPr>
          <a:xfrm>
            <a:off x="857229" y="1596330"/>
            <a:ext cx="26594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 de formación en Puntos de Venta (PDV)</a:t>
            </a:r>
            <a:endParaRPr lang="en-US" sz="816" dirty="0"/>
          </a:p>
        </p:txBody>
      </p:sp>
      <p:sp>
        <p:nvSpPr>
          <p:cNvPr id="12" name="Text 9"/>
          <p:cNvSpPr/>
          <p:nvPr/>
        </p:nvSpPr>
        <p:spPr>
          <a:xfrm>
            <a:off x="6295868" y="2082105"/>
            <a:ext cx="1675757" cy="2667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Colombiana de Comercio</a:t>
            </a:r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(Alkosto/Ktronix)</a:t>
            </a:r>
            <a:endParaRPr lang="en-US" sz="888" dirty="0"/>
          </a:p>
        </p:txBody>
      </p:sp>
      <p:sp>
        <p:nvSpPr>
          <p:cNvPr id="13" name="Text 10"/>
          <p:cNvSpPr/>
          <p:nvPr/>
        </p:nvSpPr>
        <p:spPr>
          <a:xfrm>
            <a:off x="6295868" y="3152924"/>
            <a:ext cx="1675757" cy="261193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Olímpica </a:t>
            </a:r>
            <a:pPr algn="l" indent="0" marL="0">
              <a:buNone/>
            </a:pPr>
            <a:r>
              <a:rPr lang="en-US" sz="69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solo ene · aliado retirado</a:t>
            </a:r>
            <a:endParaRPr lang="en-US" sz="888" dirty="0"/>
          </a:p>
        </p:txBody>
      </p:sp>
      <p:sp>
        <p:nvSpPr>
          <p:cNvPr id="14" name="Text 11"/>
          <p:cNvSpPr/>
          <p:nvPr/>
        </p:nvSpPr>
        <p:spPr>
          <a:xfrm>
            <a:off x="9067573" y="1272480"/>
            <a:ext cx="13095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al menos una visita registrada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6295868" y="2434530"/>
            <a:ext cx="1675757" cy="261193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Almacenes Éxito </a:t>
            </a:r>
            <a:pPr algn="l" indent="0" marL="0">
              <a:buNone/>
            </a:pPr>
            <a:r>
              <a:rPr lang="en-US" sz="69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aliado retirado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3505112" y="1272480"/>
            <a:ext cx="114275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 de 51 PDV activos visitados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857229" y="4790777"/>
            <a:ext cx="170688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Municipios Visitados (Ene-Ago)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6286343" y="1272480"/>
            <a:ext cx="11997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Capacitando asesores de venta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6286343" y="962025"/>
            <a:ext cx="16941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Visitas de formación Ene-Ago</a:t>
            </a:r>
            <a:endParaRPr lang="en-US" sz="696" dirty="0"/>
          </a:p>
        </p:txBody>
      </p:sp>
      <p:sp>
        <p:nvSpPr>
          <p:cNvPr id="20" name="Text 17"/>
          <p:cNvSpPr/>
          <p:nvPr/>
        </p:nvSpPr>
        <p:spPr>
          <a:xfrm>
            <a:off x="6295868" y="2800499"/>
            <a:ext cx="1675757" cy="2667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Cencosud</a:t>
            </a:r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(Jumbo/Metro/Easy)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723882" y="962025"/>
            <a:ext cx="150985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PDV con gestión promedio</a:t>
            </a:r>
            <a:endParaRPr lang="en-US" sz="696" dirty="0"/>
          </a:p>
        </p:txBody>
      </p:sp>
      <p:sp>
        <p:nvSpPr>
          <p:cNvPr id="22" name="Text 19"/>
          <p:cNvSpPr/>
          <p:nvPr/>
        </p:nvSpPr>
        <p:spPr>
          <a:xfrm>
            <a:off x="723882" y="1272480"/>
            <a:ext cx="907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PDV activos en CP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9067573" y="962025"/>
            <a:ext cx="109795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Zonas / municipios</a:t>
            </a:r>
            <a:endParaRPr lang="en-US" sz="696" dirty="0"/>
          </a:p>
        </p:txBody>
      </p:sp>
      <p:sp>
        <p:nvSpPr>
          <p:cNvPr id="24" name="Text 21"/>
          <p:cNvSpPr/>
          <p:nvPr/>
        </p:nvSpPr>
        <p:spPr>
          <a:xfrm>
            <a:off x="704832" y="5561112"/>
            <a:ext cx="1645712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Bogotá Occidente</a:t>
            </a:r>
            <a:endParaRPr lang="en-US" sz="672" dirty="0"/>
          </a:p>
        </p:txBody>
      </p:sp>
      <p:sp>
        <p:nvSpPr>
          <p:cNvPr id="25" name="Text 22"/>
          <p:cNvSpPr/>
          <p:nvPr/>
        </p:nvSpPr>
        <p:spPr>
          <a:xfrm>
            <a:off x="2544372" y="2038052"/>
            <a:ext cx="123413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PDV con Gestión</a:t>
            </a:r>
            <a:endParaRPr lang="en-US" sz="888" dirty="0"/>
          </a:p>
        </p:txBody>
      </p:sp>
      <p:sp>
        <p:nvSpPr>
          <p:cNvPr id="26" name="Text 23"/>
          <p:cNvSpPr/>
          <p:nvPr/>
        </p:nvSpPr>
        <p:spPr>
          <a:xfrm>
            <a:off x="3745683" y="2038052"/>
            <a:ext cx="112682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PDV Visitados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704832" y="4238327"/>
            <a:ext cx="858572" cy="2667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Prom. Ene-Ago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7890764" y="1863030"/>
            <a:ext cx="1100463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Universo PDV*</a:t>
            </a:r>
            <a:endParaRPr lang="en-US" sz="888" dirty="0"/>
          </a:p>
        </p:txBody>
      </p:sp>
      <p:sp>
        <p:nvSpPr>
          <p:cNvPr id="29" name="Text 26"/>
          <p:cNvSpPr/>
          <p:nvPr/>
        </p:nvSpPr>
        <p:spPr>
          <a:xfrm>
            <a:off x="8960429" y="1863030"/>
            <a:ext cx="105738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PDV visitados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704832" y="5199162"/>
            <a:ext cx="1645712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Bogotá Centro</a:t>
            </a:r>
            <a:endParaRPr lang="en-US" sz="672" dirty="0"/>
          </a:p>
        </p:txBody>
      </p:sp>
      <p:sp>
        <p:nvSpPr>
          <p:cNvPr id="31" name="Text 28"/>
          <p:cNvSpPr/>
          <p:nvPr/>
        </p:nvSpPr>
        <p:spPr>
          <a:xfrm>
            <a:off x="3505112" y="962025"/>
            <a:ext cx="8755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 Ago</a:t>
            </a:r>
            <a:endParaRPr lang="en-US" sz="696" dirty="0"/>
          </a:p>
        </p:txBody>
      </p:sp>
      <p:sp>
        <p:nvSpPr>
          <p:cNvPr id="32" name="Text 29"/>
          <p:cNvSpPr/>
          <p:nvPr/>
        </p:nvSpPr>
        <p:spPr>
          <a:xfrm>
            <a:off x="2968600" y="5199162"/>
            <a:ext cx="1645865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Bogotá Norte</a:t>
            </a:r>
            <a:endParaRPr lang="en-US" sz="672" dirty="0"/>
          </a:p>
        </p:txBody>
      </p:sp>
      <p:sp>
        <p:nvSpPr>
          <p:cNvPr id="33" name="Text 30"/>
          <p:cNvSpPr/>
          <p:nvPr/>
        </p:nvSpPr>
        <p:spPr>
          <a:xfrm>
            <a:off x="4841240" y="2038052"/>
            <a:ext cx="107363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 %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6295868" y="3533180"/>
            <a:ext cx="167575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canal</a:t>
            </a:r>
            <a:endParaRPr lang="en-US" sz="888" dirty="0"/>
          </a:p>
        </p:txBody>
      </p:sp>
      <p:sp>
        <p:nvSpPr>
          <p:cNvPr id="35" name="Text 32"/>
          <p:cNvSpPr/>
          <p:nvPr/>
        </p:nvSpPr>
        <p:spPr>
          <a:xfrm>
            <a:off x="704832" y="5923062"/>
            <a:ext cx="1645712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Bucaramanga</a:t>
            </a:r>
            <a:endParaRPr lang="en-US" sz="672" dirty="0"/>
          </a:p>
        </p:txBody>
      </p:sp>
      <p:sp>
        <p:nvSpPr>
          <p:cNvPr id="36" name="Text 33"/>
          <p:cNvSpPr/>
          <p:nvPr/>
        </p:nvSpPr>
        <p:spPr>
          <a:xfrm>
            <a:off x="6969851" y="5817840"/>
            <a:ext cx="5748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Sede Serdán</a:t>
            </a:r>
            <a:endParaRPr lang="en-US" sz="696" dirty="0"/>
          </a:p>
        </p:txBody>
      </p:sp>
      <p:sp>
        <p:nvSpPr>
          <p:cNvPr id="37" name="Text 34"/>
          <p:cNvSpPr/>
          <p:nvPr/>
        </p:nvSpPr>
        <p:spPr>
          <a:xfrm>
            <a:off x="10645646" y="5817840"/>
            <a:ext cx="52294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Supervisión</a:t>
            </a:r>
            <a:endParaRPr lang="en-US" sz="696" dirty="0"/>
          </a:p>
        </p:txBody>
      </p:sp>
      <p:sp>
        <p:nvSpPr>
          <p:cNvPr id="38" name="Text 35"/>
          <p:cNvSpPr/>
          <p:nvPr/>
        </p:nvSpPr>
        <p:spPr>
          <a:xfrm>
            <a:off x="704832" y="5380137"/>
            <a:ext cx="1645712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Bogotá Sur</a:t>
            </a:r>
            <a:endParaRPr lang="en-US" sz="672" dirty="0"/>
          </a:p>
        </p:txBody>
      </p:sp>
      <p:sp>
        <p:nvSpPr>
          <p:cNvPr id="39" name="Text 36"/>
          <p:cNvSpPr/>
          <p:nvPr/>
        </p:nvSpPr>
        <p:spPr>
          <a:xfrm>
            <a:off x="2968600" y="5923062"/>
            <a:ext cx="1645865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Facatativá</a:t>
            </a:r>
            <a:endParaRPr lang="en-US" sz="672" dirty="0"/>
          </a:p>
        </p:txBody>
      </p:sp>
      <p:sp>
        <p:nvSpPr>
          <p:cNvPr id="40" name="Text 37"/>
          <p:cNvSpPr/>
          <p:nvPr/>
        </p:nvSpPr>
        <p:spPr>
          <a:xfrm>
            <a:off x="5816147" y="5817840"/>
            <a:ext cx="4492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PDV físico</a:t>
            </a:r>
            <a:endParaRPr lang="en-US" sz="696" dirty="0"/>
          </a:p>
        </p:txBody>
      </p:sp>
      <p:sp>
        <p:nvSpPr>
          <p:cNvPr id="41" name="Text 38"/>
          <p:cNvSpPr/>
          <p:nvPr/>
        </p:nvSpPr>
        <p:spPr>
          <a:xfrm>
            <a:off x="8260797" y="5817840"/>
            <a:ext cx="4260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Itinerante</a:t>
            </a:r>
            <a:endParaRPr lang="en-US" sz="696" dirty="0"/>
          </a:p>
        </p:txBody>
      </p:sp>
      <p:sp>
        <p:nvSpPr>
          <p:cNvPr id="42" name="Text 39"/>
          <p:cNvSpPr/>
          <p:nvPr/>
        </p:nvSpPr>
        <p:spPr>
          <a:xfrm>
            <a:off x="9992957" y="1863030"/>
            <a:ext cx="853514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2968600" y="6104037"/>
            <a:ext cx="1645865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Zipaquirá</a:t>
            </a:r>
            <a:endParaRPr lang="en-US" sz="672" dirty="0"/>
          </a:p>
        </p:txBody>
      </p:sp>
      <p:sp>
        <p:nvSpPr>
          <p:cNvPr id="44" name="Text 41"/>
          <p:cNvSpPr/>
          <p:nvPr/>
        </p:nvSpPr>
        <p:spPr>
          <a:xfrm>
            <a:off x="9485487" y="5817840"/>
            <a:ext cx="40983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Ofic. SAC</a:t>
            </a:r>
            <a:endParaRPr lang="en-US" sz="696" dirty="0"/>
          </a:p>
        </p:txBody>
      </p:sp>
      <p:sp>
        <p:nvSpPr>
          <p:cNvPr id="45" name="Text 42"/>
          <p:cNvSpPr/>
          <p:nvPr/>
        </p:nvSpPr>
        <p:spPr>
          <a:xfrm>
            <a:off x="1507140" y="2038052"/>
            <a:ext cx="107317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Gestores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2968600" y="5380137"/>
            <a:ext cx="1645865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Sogamoso</a:t>
            </a:r>
            <a:endParaRPr lang="en-US" sz="672" dirty="0"/>
          </a:p>
        </p:txBody>
      </p:sp>
      <p:sp>
        <p:nvSpPr>
          <p:cNvPr id="47" name="Text 44"/>
          <p:cNvSpPr/>
          <p:nvPr/>
        </p:nvSpPr>
        <p:spPr>
          <a:xfrm>
            <a:off x="2968600" y="5561112"/>
            <a:ext cx="1645865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Mosquera</a:t>
            </a:r>
            <a:endParaRPr lang="en-US" sz="672" dirty="0"/>
          </a:p>
        </p:txBody>
      </p:sp>
      <p:sp>
        <p:nvSpPr>
          <p:cNvPr id="48" name="Text 45"/>
          <p:cNvSpPr/>
          <p:nvPr/>
        </p:nvSpPr>
        <p:spPr>
          <a:xfrm>
            <a:off x="10827831" y="1863030"/>
            <a:ext cx="63998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Visitas</a:t>
            </a:r>
            <a:endParaRPr lang="en-US" sz="888" dirty="0"/>
          </a:p>
        </p:txBody>
      </p:sp>
      <p:sp>
        <p:nvSpPr>
          <p:cNvPr id="49" name="Text 46"/>
          <p:cNvSpPr/>
          <p:nvPr/>
        </p:nvSpPr>
        <p:spPr>
          <a:xfrm>
            <a:off x="6295868" y="1863030"/>
            <a:ext cx="167575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Aliado</a:t>
            </a:r>
            <a:endParaRPr lang="en-US" sz="888" dirty="0"/>
          </a:p>
        </p:txBody>
      </p:sp>
      <p:sp>
        <p:nvSpPr>
          <p:cNvPr id="50" name="Text 47"/>
          <p:cNvSpPr/>
          <p:nvPr/>
        </p:nvSpPr>
        <p:spPr>
          <a:xfrm>
            <a:off x="9992957" y="2153543"/>
            <a:ext cx="853514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83,3 %</a:t>
            </a:r>
            <a:endParaRPr lang="en-US" sz="816" dirty="0"/>
          </a:p>
        </p:txBody>
      </p:sp>
      <p:sp>
        <p:nvSpPr>
          <p:cNvPr id="51" name="Text 48"/>
          <p:cNvSpPr/>
          <p:nvPr/>
        </p:nvSpPr>
        <p:spPr>
          <a:xfrm>
            <a:off x="9992957" y="2871936"/>
            <a:ext cx="853514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94,3 %</a:t>
            </a:r>
            <a:endParaRPr lang="en-US" sz="816" dirty="0"/>
          </a:p>
        </p:txBody>
      </p:sp>
      <p:sp>
        <p:nvSpPr>
          <p:cNvPr id="52" name="Text 49"/>
          <p:cNvSpPr/>
          <p:nvPr/>
        </p:nvSpPr>
        <p:spPr>
          <a:xfrm>
            <a:off x="9992957" y="3231059"/>
            <a:ext cx="853514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66,7 %</a:t>
            </a:r>
            <a:endParaRPr lang="en-US" sz="816" dirty="0"/>
          </a:p>
        </p:txBody>
      </p:sp>
      <p:sp>
        <p:nvSpPr>
          <p:cNvPr id="53" name="Text 50"/>
          <p:cNvSpPr/>
          <p:nvPr/>
        </p:nvSpPr>
        <p:spPr>
          <a:xfrm>
            <a:off x="9992957" y="3537942"/>
            <a:ext cx="853514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93,7 %</a:t>
            </a:r>
            <a:endParaRPr lang="en-US" sz="816" dirty="0"/>
          </a:p>
        </p:txBody>
      </p:sp>
      <p:sp>
        <p:nvSpPr>
          <p:cNvPr id="54" name="Text 51"/>
          <p:cNvSpPr/>
          <p:nvPr/>
        </p:nvSpPr>
        <p:spPr>
          <a:xfrm>
            <a:off x="704832" y="6104037"/>
            <a:ext cx="1645712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Soacha</a:t>
            </a:r>
            <a:endParaRPr lang="en-US" sz="672" dirty="0"/>
          </a:p>
        </p:txBody>
      </p:sp>
      <p:sp>
        <p:nvSpPr>
          <p:cNvPr id="55" name="Text 52"/>
          <p:cNvSpPr/>
          <p:nvPr/>
        </p:nvSpPr>
        <p:spPr>
          <a:xfrm>
            <a:off x="3505112" y="1085850"/>
            <a:ext cx="439333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66,7 %</a:t>
            </a:r>
            <a:endParaRPr lang="en-US" sz="1020" dirty="0"/>
          </a:p>
        </p:txBody>
      </p:sp>
      <p:sp>
        <p:nvSpPr>
          <p:cNvPr id="56" name="Text 53"/>
          <p:cNvSpPr/>
          <p:nvPr/>
        </p:nvSpPr>
        <p:spPr>
          <a:xfrm>
            <a:off x="4841240" y="2276177"/>
            <a:ext cx="107363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61,5%</a:t>
            </a:r>
            <a:endParaRPr lang="en-US" sz="816" dirty="0"/>
          </a:p>
        </p:txBody>
      </p:sp>
      <p:sp>
        <p:nvSpPr>
          <p:cNvPr id="57" name="Text 54"/>
          <p:cNvSpPr/>
          <p:nvPr/>
        </p:nvSpPr>
        <p:spPr>
          <a:xfrm>
            <a:off x="4841240" y="2523827"/>
            <a:ext cx="107363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57,8%</a:t>
            </a:r>
            <a:endParaRPr lang="en-US" sz="816" dirty="0"/>
          </a:p>
        </p:txBody>
      </p:sp>
      <p:sp>
        <p:nvSpPr>
          <p:cNvPr id="58" name="Text 55"/>
          <p:cNvSpPr/>
          <p:nvPr/>
        </p:nvSpPr>
        <p:spPr>
          <a:xfrm>
            <a:off x="4841240" y="2771477"/>
            <a:ext cx="107363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54,9%</a:t>
            </a:r>
            <a:endParaRPr lang="en-US" sz="816" dirty="0"/>
          </a:p>
        </p:txBody>
      </p:sp>
      <p:sp>
        <p:nvSpPr>
          <p:cNvPr id="59" name="Text 56"/>
          <p:cNvSpPr/>
          <p:nvPr/>
        </p:nvSpPr>
        <p:spPr>
          <a:xfrm>
            <a:off x="4841240" y="3019127"/>
            <a:ext cx="107363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50,0%</a:t>
            </a:r>
            <a:endParaRPr lang="en-US" sz="816" dirty="0"/>
          </a:p>
        </p:txBody>
      </p:sp>
      <p:sp>
        <p:nvSpPr>
          <p:cNvPr id="60" name="Text 57"/>
          <p:cNvSpPr/>
          <p:nvPr/>
        </p:nvSpPr>
        <p:spPr>
          <a:xfrm>
            <a:off x="4841240" y="3266777"/>
            <a:ext cx="107363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33,3%</a:t>
            </a:r>
            <a:endParaRPr lang="en-US" sz="816" dirty="0"/>
          </a:p>
        </p:txBody>
      </p:sp>
      <p:sp>
        <p:nvSpPr>
          <p:cNvPr id="61" name="Text 58"/>
          <p:cNvSpPr/>
          <p:nvPr/>
        </p:nvSpPr>
        <p:spPr>
          <a:xfrm>
            <a:off x="4841240" y="3514427"/>
            <a:ext cx="107363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26,9%</a:t>
            </a:r>
            <a:endParaRPr lang="en-US" sz="816" dirty="0"/>
          </a:p>
        </p:txBody>
      </p:sp>
      <p:sp>
        <p:nvSpPr>
          <p:cNvPr id="62" name="Text 59"/>
          <p:cNvSpPr/>
          <p:nvPr/>
        </p:nvSpPr>
        <p:spPr>
          <a:xfrm>
            <a:off x="4841240" y="3762077"/>
            <a:ext cx="107363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29,2%</a:t>
            </a:r>
            <a:endParaRPr lang="en-US" sz="816" dirty="0"/>
          </a:p>
        </p:txBody>
      </p:sp>
      <p:sp>
        <p:nvSpPr>
          <p:cNvPr id="63" name="Text 60"/>
          <p:cNvSpPr/>
          <p:nvPr/>
        </p:nvSpPr>
        <p:spPr>
          <a:xfrm>
            <a:off x="4841240" y="4009727"/>
            <a:ext cx="107363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66,7%</a:t>
            </a:r>
            <a:endParaRPr lang="en-US" sz="816" dirty="0"/>
          </a:p>
        </p:txBody>
      </p:sp>
      <p:sp>
        <p:nvSpPr>
          <p:cNvPr id="64" name="Text 61"/>
          <p:cNvSpPr/>
          <p:nvPr/>
        </p:nvSpPr>
        <p:spPr>
          <a:xfrm>
            <a:off x="4841240" y="4309765"/>
            <a:ext cx="107363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47,5%</a:t>
            </a:r>
            <a:endParaRPr lang="en-US" sz="816" dirty="0"/>
          </a:p>
        </p:txBody>
      </p:sp>
      <p:sp>
        <p:nvSpPr>
          <p:cNvPr id="65" name="Text 62"/>
          <p:cNvSpPr/>
          <p:nvPr/>
        </p:nvSpPr>
        <p:spPr>
          <a:xfrm>
            <a:off x="9992957" y="2512665"/>
            <a:ext cx="853514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116 %</a:t>
            </a:r>
            <a:endParaRPr lang="en-US" sz="816" dirty="0"/>
          </a:p>
        </p:txBody>
      </p:sp>
      <p:sp>
        <p:nvSpPr>
          <p:cNvPr id="66" name="Text 63"/>
          <p:cNvSpPr/>
          <p:nvPr/>
        </p:nvSpPr>
        <p:spPr>
          <a:xfrm>
            <a:off x="704832" y="5742087"/>
            <a:ext cx="1645712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Tunja</a:t>
            </a:r>
            <a:endParaRPr lang="en-US" sz="672" dirty="0"/>
          </a:p>
        </p:txBody>
      </p:sp>
      <p:sp>
        <p:nvSpPr>
          <p:cNvPr id="67" name="Text 64"/>
          <p:cNvSpPr/>
          <p:nvPr/>
        </p:nvSpPr>
        <p:spPr>
          <a:xfrm>
            <a:off x="2968600" y="5742087"/>
            <a:ext cx="1645865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Chía</a:t>
            </a:r>
            <a:endParaRPr lang="en-US" sz="672" dirty="0"/>
          </a:p>
        </p:txBody>
      </p:sp>
      <p:sp>
        <p:nvSpPr>
          <p:cNvPr id="68" name="Text 65"/>
          <p:cNvSpPr/>
          <p:nvPr/>
        </p:nvSpPr>
        <p:spPr>
          <a:xfrm>
            <a:off x="704832" y="2038052"/>
            <a:ext cx="85857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69" name="Text 66"/>
          <p:cNvSpPr/>
          <p:nvPr/>
        </p:nvSpPr>
        <p:spPr>
          <a:xfrm>
            <a:off x="704832" y="2271415"/>
            <a:ext cx="85857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70" name="Text 67"/>
          <p:cNvSpPr/>
          <p:nvPr/>
        </p:nvSpPr>
        <p:spPr>
          <a:xfrm>
            <a:off x="1507140" y="2271415"/>
            <a:ext cx="107317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</a:t>
            </a:r>
            <a:endParaRPr lang="en-US" sz="888" dirty="0"/>
          </a:p>
        </p:txBody>
      </p:sp>
      <p:sp>
        <p:nvSpPr>
          <p:cNvPr id="71" name="Text 68"/>
          <p:cNvSpPr/>
          <p:nvPr/>
        </p:nvSpPr>
        <p:spPr>
          <a:xfrm>
            <a:off x="704832" y="2519065"/>
            <a:ext cx="85857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72" name="Text 69"/>
          <p:cNvSpPr/>
          <p:nvPr/>
        </p:nvSpPr>
        <p:spPr>
          <a:xfrm>
            <a:off x="1507140" y="2519065"/>
            <a:ext cx="107317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888" dirty="0"/>
          </a:p>
        </p:txBody>
      </p:sp>
      <p:sp>
        <p:nvSpPr>
          <p:cNvPr id="73" name="Text 70"/>
          <p:cNvSpPr/>
          <p:nvPr/>
        </p:nvSpPr>
        <p:spPr>
          <a:xfrm>
            <a:off x="704832" y="2766715"/>
            <a:ext cx="85857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74" name="Text 71"/>
          <p:cNvSpPr/>
          <p:nvPr/>
        </p:nvSpPr>
        <p:spPr>
          <a:xfrm>
            <a:off x="1507140" y="2766715"/>
            <a:ext cx="107317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888" dirty="0"/>
          </a:p>
        </p:txBody>
      </p:sp>
      <p:sp>
        <p:nvSpPr>
          <p:cNvPr id="75" name="Text 72"/>
          <p:cNvSpPr/>
          <p:nvPr/>
        </p:nvSpPr>
        <p:spPr>
          <a:xfrm>
            <a:off x="704832" y="3014365"/>
            <a:ext cx="85857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76" name="Text 73"/>
          <p:cNvSpPr/>
          <p:nvPr/>
        </p:nvSpPr>
        <p:spPr>
          <a:xfrm>
            <a:off x="1507140" y="3014365"/>
            <a:ext cx="107317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118</a:t>
            </a:r>
            <a:endParaRPr lang="en-US" sz="888" dirty="0"/>
          </a:p>
        </p:txBody>
      </p:sp>
      <p:sp>
        <p:nvSpPr>
          <p:cNvPr id="77" name="Text 74"/>
          <p:cNvSpPr/>
          <p:nvPr/>
        </p:nvSpPr>
        <p:spPr>
          <a:xfrm>
            <a:off x="704832" y="3262015"/>
            <a:ext cx="85857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78" name="Text 75"/>
          <p:cNvSpPr/>
          <p:nvPr/>
        </p:nvSpPr>
        <p:spPr>
          <a:xfrm>
            <a:off x="704832" y="3509665"/>
            <a:ext cx="85857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79" name="Text 76"/>
          <p:cNvSpPr/>
          <p:nvPr/>
        </p:nvSpPr>
        <p:spPr>
          <a:xfrm>
            <a:off x="704832" y="3757315"/>
            <a:ext cx="85857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</a:t>
            </a:r>
            <a:endParaRPr lang="en-US" sz="888" dirty="0"/>
          </a:p>
        </p:txBody>
      </p:sp>
      <p:sp>
        <p:nvSpPr>
          <p:cNvPr id="80" name="Text 77"/>
          <p:cNvSpPr/>
          <p:nvPr/>
        </p:nvSpPr>
        <p:spPr>
          <a:xfrm>
            <a:off x="704832" y="4004965"/>
            <a:ext cx="85857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1507140" y="4305002"/>
            <a:ext cx="107317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115</a:t>
            </a:r>
            <a:endParaRPr lang="en-US" sz="888" dirty="0"/>
          </a:p>
        </p:txBody>
      </p:sp>
      <p:sp>
        <p:nvSpPr>
          <p:cNvPr id="82" name="Text 79"/>
          <p:cNvSpPr/>
          <p:nvPr/>
        </p:nvSpPr>
        <p:spPr>
          <a:xfrm>
            <a:off x="10827831" y="2148780"/>
            <a:ext cx="63998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261</a:t>
            </a:r>
            <a:endParaRPr lang="en-US" sz="888" dirty="0"/>
          </a:p>
        </p:txBody>
      </p:sp>
      <p:sp>
        <p:nvSpPr>
          <p:cNvPr id="83" name="Text 80"/>
          <p:cNvSpPr/>
          <p:nvPr/>
        </p:nvSpPr>
        <p:spPr>
          <a:xfrm>
            <a:off x="10827831" y="2867174"/>
            <a:ext cx="63998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120</a:t>
            </a:r>
            <a:endParaRPr lang="en-US" sz="888" dirty="0"/>
          </a:p>
        </p:txBody>
      </p:sp>
      <p:sp>
        <p:nvSpPr>
          <p:cNvPr id="84" name="Text 81"/>
          <p:cNvSpPr/>
          <p:nvPr/>
        </p:nvSpPr>
        <p:spPr>
          <a:xfrm>
            <a:off x="7890764" y="3533180"/>
            <a:ext cx="1100463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126</a:t>
            </a:r>
            <a:endParaRPr lang="en-US" sz="888" dirty="0"/>
          </a:p>
        </p:txBody>
      </p:sp>
      <p:sp>
        <p:nvSpPr>
          <p:cNvPr id="85" name="Text 82"/>
          <p:cNvSpPr/>
          <p:nvPr/>
        </p:nvSpPr>
        <p:spPr>
          <a:xfrm>
            <a:off x="8960429" y="3533180"/>
            <a:ext cx="105738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118</a:t>
            </a:r>
            <a:endParaRPr lang="en-US" sz="888" dirty="0"/>
          </a:p>
        </p:txBody>
      </p:sp>
      <p:sp>
        <p:nvSpPr>
          <p:cNvPr id="86" name="Text 83"/>
          <p:cNvSpPr/>
          <p:nvPr/>
        </p:nvSpPr>
        <p:spPr>
          <a:xfrm>
            <a:off x="10827831" y="3533180"/>
            <a:ext cx="63998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488</a:t>
            </a:r>
            <a:endParaRPr lang="en-US" sz="888" dirty="0"/>
          </a:p>
        </p:txBody>
      </p:sp>
      <p:sp>
        <p:nvSpPr>
          <p:cNvPr id="87" name="Text 84"/>
          <p:cNvSpPr/>
          <p:nvPr/>
        </p:nvSpPr>
        <p:spPr>
          <a:xfrm>
            <a:off x="2286632" y="5199162"/>
            <a:ext cx="548622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143</a:t>
            </a:r>
            <a:endParaRPr lang="en-US" sz="672" dirty="0"/>
          </a:p>
        </p:txBody>
      </p:sp>
      <p:sp>
        <p:nvSpPr>
          <p:cNvPr id="88" name="Text 85"/>
          <p:cNvSpPr/>
          <p:nvPr/>
        </p:nvSpPr>
        <p:spPr>
          <a:xfrm>
            <a:off x="2286632" y="5380137"/>
            <a:ext cx="548622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</a:t>
            </a:r>
            <a:endParaRPr lang="en-US" sz="672" dirty="0"/>
          </a:p>
        </p:txBody>
      </p:sp>
      <p:sp>
        <p:nvSpPr>
          <p:cNvPr id="89" name="Text 86"/>
          <p:cNvSpPr/>
          <p:nvPr/>
        </p:nvSpPr>
        <p:spPr>
          <a:xfrm>
            <a:off x="6286343" y="1085850"/>
            <a:ext cx="2743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480</a:t>
            </a:r>
            <a:endParaRPr lang="en-US" sz="1020" dirty="0"/>
          </a:p>
        </p:txBody>
      </p:sp>
      <p:sp>
        <p:nvSpPr>
          <p:cNvPr id="90" name="Text 87"/>
          <p:cNvSpPr/>
          <p:nvPr/>
        </p:nvSpPr>
        <p:spPr>
          <a:xfrm>
            <a:off x="2544372" y="2271415"/>
            <a:ext cx="123413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</a:t>
            </a:r>
            <a:endParaRPr lang="en-US" sz="888" dirty="0"/>
          </a:p>
        </p:txBody>
      </p:sp>
      <p:sp>
        <p:nvSpPr>
          <p:cNvPr id="91" name="Text 88"/>
          <p:cNvSpPr/>
          <p:nvPr/>
        </p:nvSpPr>
        <p:spPr>
          <a:xfrm>
            <a:off x="3745683" y="2271415"/>
            <a:ext cx="112682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</a:t>
            </a:r>
            <a:endParaRPr lang="en-US" sz="888" dirty="0"/>
          </a:p>
        </p:txBody>
      </p:sp>
      <p:sp>
        <p:nvSpPr>
          <p:cNvPr id="92" name="Text 89"/>
          <p:cNvSpPr/>
          <p:nvPr/>
        </p:nvSpPr>
        <p:spPr>
          <a:xfrm>
            <a:off x="2544372" y="2519065"/>
            <a:ext cx="123413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</a:t>
            </a:r>
            <a:endParaRPr lang="en-US" sz="888" dirty="0"/>
          </a:p>
        </p:txBody>
      </p:sp>
      <p:sp>
        <p:nvSpPr>
          <p:cNvPr id="93" name="Text 90"/>
          <p:cNvSpPr/>
          <p:nvPr/>
        </p:nvSpPr>
        <p:spPr>
          <a:xfrm>
            <a:off x="3745683" y="2519065"/>
            <a:ext cx="112682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</a:t>
            </a:r>
            <a:endParaRPr lang="en-US" sz="888" dirty="0"/>
          </a:p>
        </p:txBody>
      </p:sp>
      <p:sp>
        <p:nvSpPr>
          <p:cNvPr id="94" name="Text 91"/>
          <p:cNvSpPr/>
          <p:nvPr/>
        </p:nvSpPr>
        <p:spPr>
          <a:xfrm>
            <a:off x="2544372" y="2766715"/>
            <a:ext cx="123413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</a:t>
            </a:r>
            <a:endParaRPr lang="en-US" sz="888" dirty="0"/>
          </a:p>
        </p:txBody>
      </p:sp>
      <p:sp>
        <p:nvSpPr>
          <p:cNvPr id="95" name="Text 92"/>
          <p:cNvSpPr/>
          <p:nvPr/>
        </p:nvSpPr>
        <p:spPr>
          <a:xfrm>
            <a:off x="3745683" y="2766715"/>
            <a:ext cx="112682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888" dirty="0"/>
          </a:p>
        </p:txBody>
      </p:sp>
      <p:sp>
        <p:nvSpPr>
          <p:cNvPr id="96" name="Text 93"/>
          <p:cNvSpPr/>
          <p:nvPr/>
        </p:nvSpPr>
        <p:spPr>
          <a:xfrm>
            <a:off x="2544372" y="3014365"/>
            <a:ext cx="123413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</a:t>
            </a:r>
            <a:endParaRPr lang="en-US" sz="888" dirty="0"/>
          </a:p>
        </p:txBody>
      </p:sp>
      <p:sp>
        <p:nvSpPr>
          <p:cNvPr id="97" name="Text 94"/>
          <p:cNvSpPr/>
          <p:nvPr/>
        </p:nvSpPr>
        <p:spPr>
          <a:xfrm>
            <a:off x="3745683" y="3014365"/>
            <a:ext cx="112682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</a:t>
            </a:r>
            <a:endParaRPr lang="en-US" sz="888" dirty="0"/>
          </a:p>
        </p:txBody>
      </p:sp>
      <p:sp>
        <p:nvSpPr>
          <p:cNvPr id="98" name="Text 95"/>
          <p:cNvSpPr/>
          <p:nvPr/>
        </p:nvSpPr>
        <p:spPr>
          <a:xfrm>
            <a:off x="1507140" y="3262015"/>
            <a:ext cx="107317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</a:t>
            </a:r>
            <a:endParaRPr lang="en-US" sz="888" dirty="0"/>
          </a:p>
        </p:txBody>
      </p:sp>
      <p:sp>
        <p:nvSpPr>
          <p:cNvPr id="99" name="Text 96"/>
          <p:cNvSpPr/>
          <p:nvPr/>
        </p:nvSpPr>
        <p:spPr>
          <a:xfrm>
            <a:off x="2544372" y="3262015"/>
            <a:ext cx="123413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</a:t>
            </a:r>
            <a:endParaRPr lang="en-US" sz="888" dirty="0"/>
          </a:p>
        </p:txBody>
      </p:sp>
      <p:sp>
        <p:nvSpPr>
          <p:cNvPr id="100" name="Text 97"/>
          <p:cNvSpPr/>
          <p:nvPr/>
        </p:nvSpPr>
        <p:spPr>
          <a:xfrm>
            <a:off x="3745683" y="3262015"/>
            <a:ext cx="112682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888" dirty="0"/>
          </a:p>
        </p:txBody>
      </p:sp>
      <p:sp>
        <p:nvSpPr>
          <p:cNvPr id="101" name="Text 98"/>
          <p:cNvSpPr/>
          <p:nvPr/>
        </p:nvSpPr>
        <p:spPr>
          <a:xfrm>
            <a:off x="1507140" y="3509665"/>
            <a:ext cx="107317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</a:t>
            </a:r>
            <a:endParaRPr lang="en-US" sz="888" dirty="0"/>
          </a:p>
        </p:txBody>
      </p:sp>
      <p:sp>
        <p:nvSpPr>
          <p:cNvPr id="102" name="Text 99"/>
          <p:cNvSpPr/>
          <p:nvPr/>
        </p:nvSpPr>
        <p:spPr>
          <a:xfrm>
            <a:off x="2544372" y="3509665"/>
            <a:ext cx="123413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</a:t>
            </a:r>
            <a:endParaRPr lang="en-US" sz="888" dirty="0"/>
          </a:p>
        </p:txBody>
      </p:sp>
      <p:sp>
        <p:nvSpPr>
          <p:cNvPr id="103" name="Text 100"/>
          <p:cNvSpPr/>
          <p:nvPr/>
        </p:nvSpPr>
        <p:spPr>
          <a:xfrm>
            <a:off x="3745683" y="3509665"/>
            <a:ext cx="112682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888" dirty="0"/>
          </a:p>
        </p:txBody>
      </p:sp>
      <p:sp>
        <p:nvSpPr>
          <p:cNvPr id="104" name="Text 101"/>
          <p:cNvSpPr/>
          <p:nvPr/>
        </p:nvSpPr>
        <p:spPr>
          <a:xfrm>
            <a:off x="1507140" y="3757315"/>
            <a:ext cx="107317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</a:t>
            </a:r>
            <a:endParaRPr lang="en-US" sz="888" dirty="0"/>
          </a:p>
        </p:txBody>
      </p:sp>
      <p:sp>
        <p:nvSpPr>
          <p:cNvPr id="105" name="Text 102"/>
          <p:cNvSpPr/>
          <p:nvPr/>
        </p:nvSpPr>
        <p:spPr>
          <a:xfrm>
            <a:off x="2544372" y="3757315"/>
            <a:ext cx="123413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</a:t>
            </a:r>
            <a:endParaRPr lang="en-US" sz="888" dirty="0"/>
          </a:p>
        </p:txBody>
      </p:sp>
      <p:sp>
        <p:nvSpPr>
          <p:cNvPr id="106" name="Text 103"/>
          <p:cNvSpPr/>
          <p:nvPr/>
        </p:nvSpPr>
        <p:spPr>
          <a:xfrm>
            <a:off x="3745683" y="3757315"/>
            <a:ext cx="112682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888" dirty="0"/>
          </a:p>
        </p:txBody>
      </p:sp>
      <p:sp>
        <p:nvSpPr>
          <p:cNvPr id="107" name="Text 104"/>
          <p:cNvSpPr/>
          <p:nvPr/>
        </p:nvSpPr>
        <p:spPr>
          <a:xfrm>
            <a:off x="1507140" y="4004965"/>
            <a:ext cx="107317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</a:t>
            </a:r>
            <a:endParaRPr lang="en-US" sz="888" dirty="0"/>
          </a:p>
        </p:txBody>
      </p:sp>
      <p:sp>
        <p:nvSpPr>
          <p:cNvPr id="108" name="Text 105"/>
          <p:cNvSpPr/>
          <p:nvPr/>
        </p:nvSpPr>
        <p:spPr>
          <a:xfrm>
            <a:off x="2544372" y="4004965"/>
            <a:ext cx="123413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</a:t>
            </a:r>
            <a:endParaRPr lang="en-US" sz="888" dirty="0"/>
          </a:p>
        </p:txBody>
      </p:sp>
      <p:sp>
        <p:nvSpPr>
          <p:cNvPr id="109" name="Text 106"/>
          <p:cNvSpPr/>
          <p:nvPr/>
        </p:nvSpPr>
        <p:spPr>
          <a:xfrm>
            <a:off x="3745683" y="4004965"/>
            <a:ext cx="112682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888" dirty="0"/>
          </a:p>
        </p:txBody>
      </p:sp>
      <p:sp>
        <p:nvSpPr>
          <p:cNvPr id="110" name="Text 107"/>
          <p:cNvSpPr/>
          <p:nvPr/>
        </p:nvSpPr>
        <p:spPr>
          <a:xfrm>
            <a:off x="2544372" y="4305002"/>
            <a:ext cx="123413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</a:t>
            </a:r>
            <a:endParaRPr lang="en-US" sz="888" dirty="0"/>
          </a:p>
        </p:txBody>
      </p:sp>
      <p:sp>
        <p:nvSpPr>
          <p:cNvPr id="111" name="Text 108"/>
          <p:cNvSpPr/>
          <p:nvPr/>
        </p:nvSpPr>
        <p:spPr>
          <a:xfrm>
            <a:off x="3745683" y="4305002"/>
            <a:ext cx="112682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888" dirty="0"/>
          </a:p>
        </p:txBody>
      </p:sp>
      <p:sp>
        <p:nvSpPr>
          <p:cNvPr id="112" name="Text 109"/>
          <p:cNvSpPr/>
          <p:nvPr/>
        </p:nvSpPr>
        <p:spPr>
          <a:xfrm>
            <a:off x="7890764" y="2148780"/>
            <a:ext cx="1100463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</a:t>
            </a:r>
            <a:endParaRPr lang="en-US" sz="888" dirty="0"/>
          </a:p>
        </p:txBody>
      </p:sp>
      <p:sp>
        <p:nvSpPr>
          <p:cNvPr id="113" name="Text 110"/>
          <p:cNvSpPr/>
          <p:nvPr/>
        </p:nvSpPr>
        <p:spPr>
          <a:xfrm>
            <a:off x="8960429" y="2148780"/>
            <a:ext cx="105738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888" dirty="0"/>
          </a:p>
        </p:txBody>
      </p:sp>
      <p:sp>
        <p:nvSpPr>
          <p:cNvPr id="114" name="Text 111"/>
          <p:cNvSpPr/>
          <p:nvPr/>
        </p:nvSpPr>
        <p:spPr>
          <a:xfrm>
            <a:off x="7890764" y="2507903"/>
            <a:ext cx="1100463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888" dirty="0"/>
          </a:p>
        </p:txBody>
      </p:sp>
      <p:sp>
        <p:nvSpPr>
          <p:cNvPr id="115" name="Text 112"/>
          <p:cNvSpPr/>
          <p:nvPr/>
        </p:nvSpPr>
        <p:spPr>
          <a:xfrm>
            <a:off x="8960429" y="2507903"/>
            <a:ext cx="105738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</a:t>
            </a:r>
            <a:endParaRPr lang="en-US" sz="888" dirty="0"/>
          </a:p>
        </p:txBody>
      </p:sp>
      <p:sp>
        <p:nvSpPr>
          <p:cNvPr id="116" name="Text 113"/>
          <p:cNvSpPr/>
          <p:nvPr/>
        </p:nvSpPr>
        <p:spPr>
          <a:xfrm>
            <a:off x="10827831" y="2507903"/>
            <a:ext cx="63998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</a:t>
            </a:r>
            <a:endParaRPr lang="en-US" sz="888" dirty="0"/>
          </a:p>
        </p:txBody>
      </p:sp>
      <p:sp>
        <p:nvSpPr>
          <p:cNvPr id="117" name="Text 114"/>
          <p:cNvSpPr/>
          <p:nvPr/>
        </p:nvSpPr>
        <p:spPr>
          <a:xfrm>
            <a:off x="7890764" y="2867174"/>
            <a:ext cx="1100463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</a:t>
            </a:r>
            <a:endParaRPr lang="en-US" sz="888" dirty="0"/>
          </a:p>
        </p:txBody>
      </p:sp>
      <p:sp>
        <p:nvSpPr>
          <p:cNvPr id="118" name="Text 115"/>
          <p:cNvSpPr/>
          <p:nvPr/>
        </p:nvSpPr>
        <p:spPr>
          <a:xfrm>
            <a:off x="8960429" y="2867174"/>
            <a:ext cx="105738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</a:t>
            </a:r>
            <a:endParaRPr lang="en-US" sz="888" dirty="0"/>
          </a:p>
        </p:txBody>
      </p:sp>
      <p:sp>
        <p:nvSpPr>
          <p:cNvPr id="119" name="Text 116"/>
          <p:cNvSpPr/>
          <p:nvPr/>
        </p:nvSpPr>
        <p:spPr>
          <a:xfrm>
            <a:off x="2286632" y="5561112"/>
            <a:ext cx="548622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</a:t>
            </a:r>
            <a:endParaRPr lang="en-US" sz="672" dirty="0"/>
          </a:p>
        </p:txBody>
      </p:sp>
      <p:sp>
        <p:nvSpPr>
          <p:cNvPr id="120" name="Text 117"/>
          <p:cNvSpPr/>
          <p:nvPr/>
        </p:nvSpPr>
        <p:spPr>
          <a:xfrm>
            <a:off x="2286632" y="5742087"/>
            <a:ext cx="548622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</a:t>
            </a:r>
            <a:endParaRPr lang="en-US" sz="672" dirty="0"/>
          </a:p>
        </p:txBody>
      </p:sp>
      <p:sp>
        <p:nvSpPr>
          <p:cNvPr id="121" name="Text 118"/>
          <p:cNvSpPr/>
          <p:nvPr/>
        </p:nvSpPr>
        <p:spPr>
          <a:xfrm>
            <a:off x="2286632" y="5923062"/>
            <a:ext cx="548622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</a:t>
            </a:r>
            <a:endParaRPr lang="en-US" sz="672" dirty="0"/>
          </a:p>
        </p:txBody>
      </p:sp>
      <p:sp>
        <p:nvSpPr>
          <p:cNvPr id="122" name="Text 119"/>
          <p:cNvSpPr/>
          <p:nvPr/>
        </p:nvSpPr>
        <p:spPr>
          <a:xfrm>
            <a:off x="2286632" y="6104037"/>
            <a:ext cx="548622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</a:t>
            </a:r>
            <a:endParaRPr lang="en-US" sz="672" dirty="0"/>
          </a:p>
        </p:txBody>
      </p:sp>
      <p:sp>
        <p:nvSpPr>
          <p:cNvPr id="123" name="Text 120"/>
          <p:cNvSpPr/>
          <p:nvPr/>
        </p:nvSpPr>
        <p:spPr>
          <a:xfrm>
            <a:off x="4550549" y="5199162"/>
            <a:ext cx="548622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</a:t>
            </a:r>
            <a:endParaRPr lang="en-US" sz="672" dirty="0"/>
          </a:p>
        </p:txBody>
      </p:sp>
      <p:sp>
        <p:nvSpPr>
          <p:cNvPr id="124" name="Text 121"/>
          <p:cNvSpPr/>
          <p:nvPr/>
        </p:nvSpPr>
        <p:spPr>
          <a:xfrm>
            <a:off x="4550549" y="5380137"/>
            <a:ext cx="548622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</a:t>
            </a:r>
            <a:endParaRPr lang="en-US" sz="672" dirty="0"/>
          </a:p>
        </p:txBody>
      </p:sp>
      <p:sp>
        <p:nvSpPr>
          <p:cNvPr id="125" name="Text 122"/>
          <p:cNvSpPr/>
          <p:nvPr/>
        </p:nvSpPr>
        <p:spPr>
          <a:xfrm>
            <a:off x="4550549" y="5561112"/>
            <a:ext cx="548622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672" dirty="0"/>
          </a:p>
        </p:txBody>
      </p:sp>
      <p:sp>
        <p:nvSpPr>
          <p:cNvPr id="126" name="Text 123"/>
          <p:cNvSpPr/>
          <p:nvPr/>
        </p:nvSpPr>
        <p:spPr>
          <a:xfrm>
            <a:off x="723882" y="1085850"/>
            <a:ext cx="2743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</a:t>
            </a:r>
            <a:endParaRPr lang="en-US" sz="1020" dirty="0"/>
          </a:p>
        </p:txBody>
      </p:sp>
      <p:sp>
        <p:nvSpPr>
          <p:cNvPr id="127" name="Text 124"/>
          <p:cNvSpPr/>
          <p:nvPr/>
        </p:nvSpPr>
        <p:spPr>
          <a:xfrm>
            <a:off x="9067573" y="1085850"/>
            <a:ext cx="2743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1020" dirty="0"/>
          </a:p>
        </p:txBody>
      </p:sp>
      <p:sp>
        <p:nvSpPr>
          <p:cNvPr id="128" name="Text 125"/>
          <p:cNvSpPr/>
          <p:nvPr/>
        </p:nvSpPr>
        <p:spPr>
          <a:xfrm>
            <a:off x="5948187" y="5655915"/>
            <a:ext cx="27432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1080" dirty="0"/>
          </a:p>
        </p:txBody>
      </p:sp>
      <p:sp>
        <p:nvSpPr>
          <p:cNvPr id="129" name="Text 126"/>
          <p:cNvSpPr/>
          <p:nvPr/>
        </p:nvSpPr>
        <p:spPr>
          <a:xfrm>
            <a:off x="7164673" y="5655915"/>
            <a:ext cx="27432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</a:t>
            </a:r>
            <a:endParaRPr lang="en-US" sz="1080" dirty="0"/>
          </a:p>
        </p:txBody>
      </p:sp>
      <p:sp>
        <p:nvSpPr>
          <p:cNvPr id="130" name="Text 127"/>
          <p:cNvSpPr/>
          <p:nvPr/>
        </p:nvSpPr>
        <p:spPr>
          <a:xfrm>
            <a:off x="8379739" y="5655915"/>
            <a:ext cx="27432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</a:t>
            </a:r>
            <a:endParaRPr lang="en-US" sz="1080" dirty="0"/>
          </a:p>
        </p:txBody>
      </p:sp>
      <p:sp>
        <p:nvSpPr>
          <p:cNvPr id="131" name="Text 128"/>
          <p:cNvSpPr/>
          <p:nvPr/>
        </p:nvSpPr>
        <p:spPr>
          <a:xfrm>
            <a:off x="7890764" y="3226296"/>
            <a:ext cx="1100463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888" dirty="0"/>
          </a:p>
        </p:txBody>
      </p:sp>
      <p:sp>
        <p:nvSpPr>
          <p:cNvPr id="132" name="Text 129"/>
          <p:cNvSpPr/>
          <p:nvPr/>
        </p:nvSpPr>
        <p:spPr>
          <a:xfrm>
            <a:off x="8960429" y="3226296"/>
            <a:ext cx="105738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888" dirty="0"/>
          </a:p>
        </p:txBody>
      </p:sp>
      <p:sp>
        <p:nvSpPr>
          <p:cNvPr id="133" name="Text 130"/>
          <p:cNvSpPr/>
          <p:nvPr/>
        </p:nvSpPr>
        <p:spPr>
          <a:xfrm>
            <a:off x="10827831" y="3226296"/>
            <a:ext cx="63998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</a:t>
            </a:r>
            <a:endParaRPr lang="en-US" sz="888" dirty="0"/>
          </a:p>
        </p:txBody>
      </p:sp>
      <p:sp>
        <p:nvSpPr>
          <p:cNvPr id="134" name="Text 131"/>
          <p:cNvSpPr/>
          <p:nvPr/>
        </p:nvSpPr>
        <p:spPr>
          <a:xfrm>
            <a:off x="4550549" y="5742087"/>
            <a:ext cx="548622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</a:t>
            </a:r>
            <a:endParaRPr lang="en-US" sz="672" dirty="0"/>
          </a:p>
        </p:txBody>
      </p:sp>
      <p:sp>
        <p:nvSpPr>
          <p:cNvPr id="135" name="Text 132"/>
          <p:cNvSpPr/>
          <p:nvPr/>
        </p:nvSpPr>
        <p:spPr>
          <a:xfrm>
            <a:off x="4550549" y="5923062"/>
            <a:ext cx="548622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</a:t>
            </a:r>
            <a:endParaRPr lang="en-US" sz="672" dirty="0"/>
          </a:p>
        </p:txBody>
      </p:sp>
      <p:sp>
        <p:nvSpPr>
          <p:cNvPr id="136" name="Text 133"/>
          <p:cNvSpPr/>
          <p:nvPr/>
        </p:nvSpPr>
        <p:spPr>
          <a:xfrm>
            <a:off x="4550549" y="6104037"/>
            <a:ext cx="548622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</a:t>
            </a:r>
            <a:endParaRPr lang="en-US" sz="672" dirty="0"/>
          </a:p>
        </p:txBody>
      </p:sp>
      <p:sp>
        <p:nvSpPr>
          <p:cNvPr id="137" name="Text 134"/>
          <p:cNvSpPr/>
          <p:nvPr/>
        </p:nvSpPr>
        <p:spPr>
          <a:xfrm>
            <a:off x="9637084" y="5655915"/>
            <a:ext cx="27432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1080" dirty="0"/>
          </a:p>
        </p:txBody>
      </p:sp>
      <p:sp>
        <p:nvSpPr>
          <p:cNvPr id="138" name="Text 135"/>
          <p:cNvSpPr/>
          <p:nvPr/>
        </p:nvSpPr>
        <p:spPr>
          <a:xfrm>
            <a:off x="10857352" y="5655915"/>
            <a:ext cx="27432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retail\ppt_slides\sk_02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8674" y="6463308"/>
            <a:ext cx="10714947" cy="276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Logro Comercial: el canal Retail acumula a corte agosto 16.490 ventas efectivas entre Cuota Protegida y Rueda Seguro, sosteniendo una efectividad promedio superior al 72 % durante todo el periodo — un desempeño comercial consistente que valida el enfoque del canal en los puntos de mayor valor.</a:t>
            </a:r>
            <a:endParaRPr lang="en-US" sz="816" dirty="0"/>
          </a:p>
        </p:txBody>
      </p:sp>
      <p:sp>
        <p:nvSpPr>
          <p:cNvPr id="4" name="Text 1"/>
          <p:cNvSpPr/>
          <p:nvPr/>
        </p:nvSpPr>
        <p:spPr>
          <a:xfrm>
            <a:off x="571486" y="6006108"/>
            <a:ext cx="724830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* Gestores y PDV en la fila de total corresponden al promedio mensual de la estructura activa del canal (los mismos gestores atienden Cuota Protegida y Rueda Seguro).</a:t>
            </a:r>
            <a:endParaRPr lang="en-US" sz="696" dirty="0"/>
          </a:p>
        </p:txBody>
      </p:sp>
      <p:sp>
        <p:nvSpPr>
          <p:cNvPr id="5" name="Text 2"/>
          <p:cNvSpPr/>
          <p:nvPr/>
        </p:nvSpPr>
        <p:spPr>
          <a:xfrm>
            <a:off x="571486" y="209550"/>
            <a:ext cx="4462214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del Canal · Cuota Protegida y Rueda Seguro</a:t>
            </a:r>
            <a:endParaRPr lang="en-US" sz="1260" dirty="0"/>
          </a:p>
        </p:txBody>
      </p:sp>
      <p:sp>
        <p:nvSpPr>
          <p:cNvPr id="6" name="Text 3"/>
          <p:cNvSpPr/>
          <p:nvPr/>
        </p:nvSpPr>
        <p:spPr>
          <a:xfrm>
            <a:off x="838179" y="1786830"/>
            <a:ext cx="199873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Retail (Como vamos)</a:t>
            </a:r>
            <a:endParaRPr lang="en-US" sz="816" dirty="0"/>
          </a:p>
        </p:txBody>
      </p:sp>
      <p:sp>
        <p:nvSpPr>
          <p:cNvPr id="7" name="Text 4"/>
          <p:cNvSpPr/>
          <p:nvPr/>
        </p:nvSpPr>
        <p:spPr>
          <a:xfrm>
            <a:off x="723882" y="1272480"/>
            <a:ext cx="123204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de 20.839 cantadas (76,3%)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410165" y="1786830"/>
            <a:ext cx="18886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Rueda Seguro Retail (Como vamos)</a:t>
            </a:r>
            <a:endParaRPr lang="en-US" sz="816" dirty="0"/>
          </a:p>
        </p:txBody>
      </p:sp>
      <p:sp>
        <p:nvSpPr>
          <p:cNvPr id="9" name="Text 6"/>
          <p:cNvSpPr/>
          <p:nvPr/>
        </p:nvSpPr>
        <p:spPr>
          <a:xfrm>
            <a:off x="723882" y="962025"/>
            <a:ext cx="170309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CP Ene-Ago (Efectivas)</a:t>
            </a:r>
            <a:endParaRPr lang="en-US" sz="696" dirty="0"/>
          </a:p>
        </p:txBody>
      </p:sp>
      <p:sp>
        <p:nvSpPr>
          <p:cNvPr id="10" name="Text 7"/>
          <p:cNvSpPr/>
          <p:nvPr/>
        </p:nvSpPr>
        <p:spPr>
          <a:xfrm>
            <a:off x="3505112" y="962025"/>
            <a:ext cx="170231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RS Ene-Ago (Efectivas)</a:t>
            </a:r>
            <a:endParaRPr lang="en-US" sz="696" dirty="0"/>
          </a:p>
        </p:txBody>
      </p:sp>
      <p:sp>
        <p:nvSpPr>
          <p:cNvPr id="11" name="Text 8"/>
          <p:cNvSpPr/>
          <p:nvPr/>
        </p:nvSpPr>
        <p:spPr>
          <a:xfrm>
            <a:off x="3505112" y="1272480"/>
            <a:ext cx="113061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de 806 cantadas (72,0%)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6286343" y="1272480"/>
            <a:ext cx="9786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 · 135 gestores activos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6286343" y="962025"/>
            <a:ext cx="111799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Pico CP del periodo</a:t>
            </a:r>
            <a:endParaRPr lang="en-US" sz="696" dirty="0"/>
          </a:p>
        </p:txBody>
      </p:sp>
      <p:sp>
        <p:nvSpPr>
          <p:cNvPr id="14" name="Text 11"/>
          <p:cNvSpPr/>
          <p:nvPr/>
        </p:nvSpPr>
        <p:spPr>
          <a:xfrm>
            <a:off x="9067573" y="962025"/>
            <a:ext cx="11012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CP Jul + Ago</a:t>
            </a:r>
            <a:endParaRPr lang="en-US" sz="696" dirty="0"/>
          </a:p>
        </p:txBody>
      </p:sp>
      <p:sp>
        <p:nvSpPr>
          <p:cNvPr id="15" name="Text 12"/>
          <p:cNvSpPr/>
          <p:nvPr/>
        </p:nvSpPr>
        <p:spPr>
          <a:xfrm>
            <a:off x="9067573" y="1272480"/>
            <a:ext cx="67533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Agosto a corte 16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685783" y="5458569"/>
            <a:ext cx="120240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Ene-Ago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6257769" y="5458569"/>
            <a:ext cx="134342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Ene-Ago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4183994" y="2044005"/>
            <a:ext cx="93184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Efectivas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9550689" y="2044005"/>
            <a:ext cx="1041293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Efectivas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1826574" y="2044005"/>
            <a:ext cx="91283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Gestores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3262889" y="2044005"/>
            <a:ext cx="94824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Cantadas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5091296" y="2044005"/>
            <a:ext cx="84263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Efect.</a:t>
            </a:r>
            <a:endParaRPr lang="en-US" sz="888" dirty="0"/>
          </a:p>
        </p:txBody>
      </p:sp>
      <p:sp>
        <p:nvSpPr>
          <p:cNvPr id="23" name="Text 20"/>
          <p:cNvSpPr/>
          <p:nvPr/>
        </p:nvSpPr>
        <p:spPr>
          <a:xfrm>
            <a:off x="7532357" y="2044005"/>
            <a:ext cx="101998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Gestores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8521483" y="2044005"/>
            <a:ext cx="105953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Cantadas</a:t>
            </a:r>
            <a:endParaRPr lang="en-US" sz="888" dirty="0"/>
          </a:p>
        </p:txBody>
      </p:sp>
      <p:sp>
        <p:nvSpPr>
          <p:cNvPr id="25" name="Text 22"/>
          <p:cNvSpPr/>
          <p:nvPr/>
        </p:nvSpPr>
        <p:spPr>
          <a:xfrm>
            <a:off x="10564564" y="2044005"/>
            <a:ext cx="941349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Efect.</a:t>
            </a:r>
            <a:endParaRPr lang="en-US" sz="888" dirty="0"/>
          </a:p>
        </p:txBody>
      </p:sp>
      <p:sp>
        <p:nvSpPr>
          <p:cNvPr id="26" name="Text 23"/>
          <p:cNvSpPr/>
          <p:nvPr/>
        </p:nvSpPr>
        <p:spPr>
          <a:xfrm>
            <a:off x="3262889" y="5458569"/>
            <a:ext cx="94824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20.839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4183994" y="5458569"/>
            <a:ext cx="93184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15.910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723882" y="1085850"/>
            <a:ext cx="43523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15.910</a:t>
            </a:r>
            <a:endParaRPr lang="en-US" sz="1020" dirty="0"/>
          </a:p>
        </p:txBody>
      </p:sp>
      <p:sp>
        <p:nvSpPr>
          <p:cNvPr id="29" name="Text 26"/>
          <p:cNvSpPr/>
          <p:nvPr/>
        </p:nvSpPr>
        <p:spPr>
          <a:xfrm>
            <a:off x="3262889" y="2347764"/>
            <a:ext cx="94824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1.953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4183994" y="2323951"/>
            <a:ext cx="93184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1.614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5091296" y="2352526"/>
            <a:ext cx="842630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82,6%</a:t>
            </a:r>
            <a:endParaRPr lang="en-US" sz="816" dirty="0"/>
          </a:p>
        </p:txBody>
      </p:sp>
      <p:sp>
        <p:nvSpPr>
          <p:cNvPr id="32" name="Text 29"/>
          <p:cNvSpPr/>
          <p:nvPr/>
        </p:nvSpPr>
        <p:spPr>
          <a:xfrm>
            <a:off x="3262889" y="2737545"/>
            <a:ext cx="94824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2.298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4183994" y="2713732"/>
            <a:ext cx="93184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1.798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5091296" y="2742307"/>
            <a:ext cx="842630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78,2%</a:t>
            </a:r>
            <a:endParaRPr lang="en-US" sz="816" dirty="0"/>
          </a:p>
        </p:txBody>
      </p:sp>
      <p:sp>
        <p:nvSpPr>
          <p:cNvPr id="35" name="Text 32"/>
          <p:cNvSpPr/>
          <p:nvPr/>
        </p:nvSpPr>
        <p:spPr>
          <a:xfrm>
            <a:off x="3262889" y="3128367"/>
            <a:ext cx="94824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3.344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4183994" y="3104555"/>
            <a:ext cx="93184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2.474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5091296" y="3133130"/>
            <a:ext cx="842630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74,0%</a:t>
            </a:r>
            <a:endParaRPr lang="en-US" sz="816" dirty="0"/>
          </a:p>
        </p:txBody>
      </p:sp>
      <p:sp>
        <p:nvSpPr>
          <p:cNvPr id="38" name="Text 35"/>
          <p:cNvSpPr/>
          <p:nvPr/>
        </p:nvSpPr>
        <p:spPr>
          <a:xfrm>
            <a:off x="3262889" y="3519190"/>
            <a:ext cx="94824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2.731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4183994" y="3495377"/>
            <a:ext cx="93184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2.177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5091296" y="3523952"/>
            <a:ext cx="842630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79,7%</a:t>
            </a:r>
            <a:endParaRPr lang="en-US" sz="816" dirty="0"/>
          </a:p>
        </p:txBody>
      </p:sp>
      <p:sp>
        <p:nvSpPr>
          <p:cNvPr id="41" name="Text 38"/>
          <p:cNvSpPr/>
          <p:nvPr/>
        </p:nvSpPr>
        <p:spPr>
          <a:xfrm>
            <a:off x="3262889" y="3910012"/>
            <a:ext cx="94824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3.116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4183994" y="3886200"/>
            <a:ext cx="93184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2.443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5091296" y="3914775"/>
            <a:ext cx="842630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78,4%</a:t>
            </a:r>
            <a:endParaRPr lang="en-US" sz="816" dirty="0"/>
          </a:p>
        </p:txBody>
      </p:sp>
      <p:sp>
        <p:nvSpPr>
          <p:cNvPr id="44" name="Text 41"/>
          <p:cNvSpPr/>
          <p:nvPr/>
        </p:nvSpPr>
        <p:spPr>
          <a:xfrm>
            <a:off x="3262889" y="4300835"/>
            <a:ext cx="94824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2.620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4183994" y="4277023"/>
            <a:ext cx="93184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2.182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5091296" y="4305598"/>
            <a:ext cx="842630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83,3%</a:t>
            </a:r>
            <a:endParaRPr lang="en-US" sz="816" dirty="0"/>
          </a:p>
        </p:txBody>
      </p:sp>
      <p:sp>
        <p:nvSpPr>
          <p:cNvPr id="47" name="Text 44"/>
          <p:cNvSpPr/>
          <p:nvPr/>
        </p:nvSpPr>
        <p:spPr>
          <a:xfrm>
            <a:off x="3262889" y="4691658"/>
            <a:ext cx="94824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2.592</a:t>
            </a:r>
            <a:endParaRPr lang="en-US" sz="888" dirty="0"/>
          </a:p>
        </p:txBody>
      </p:sp>
      <p:sp>
        <p:nvSpPr>
          <p:cNvPr id="48" name="Text 45"/>
          <p:cNvSpPr/>
          <p:nvPr/>
        </p:nvSpPr>
        <p:spPr>
          <a:xfrm>
            <a:off x="4183994" y="4667845"/>
            <a:ext cx="93184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2.100</a:t>
            </a:r>
            <a:endParaRPr lang="en-US" sz="888" dirty="0"/>
          </a:p>
        </p:txBody>
      </p:sp>
      <p:sp>
        <p:nvSpPr>
          <p:cNvPr id="49" name="Text 46"/>
          <p:cNvSpPr/>
          <p:nvPr/>
        </p:nvSpPr>
        <p:spPr>
          <a:xfrm>
            <a:off x="5091296" y="4696420"/>
            <a:ext cx="842630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81,0%</a:t>
            </a:r>
            <a:endParaRPr lang="en-US" sz="816" dirty="0"/>
          </a:p>
        </p:txBody>
      </p:sp>
      <p:sp>
        <p:nvSpPr>
          <p:cNvPr id="50" name="Text 47"/>
          <p:cNvSpPr/>
          <p:nvPr/>
        </p:nvSpPr>
        <p:spPr>
          <a:xfrm>
            <a:off x="3262889" y="5082480"/>
            <a:ext cx="94824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2.185</a:t>
            </a:r>
            <a:endParaRPr lang="en-US" sz="888" dirty="0"/>
          </a:p>
        </p:txBody>
      </p:sp>
      <p:sp>
        <p:nvSpPr>
          <p:cNvPr id="51" name="Text 48"/>
          <p:cNvSpPr/>
          <p:nvPr/>
        </p:nvSpPr>
        <p:spPr>
          <a:xfrm>
            <a:off x="4183994" y="5058668"/>
            <a:ext cx="93184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1.122</a:t>
            </a:r>
            <a:endParaRPr lang="en-US" sz="888" dirty="0"/>
          </a:p>
        </p:txBody>
      </p:sp>
      <p:sp>
        <p:nvSpPr>
          <p:cNvPr id="52" name="Text 49"/>
          <p:cNvSpPr/>
          <p:nvPr/>
        </p:nvSpPr>
        <p:spPr>
          <a:xfrm>
            <a:off x="5091296" y="5087243"/>
            <a:ext cx="842630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51,4%</a:t>
            </a:r>
            <a:endParaRPr lang="en-US" sz="816" dirty="0"/>
          </a:p>
        </p:txBody>
      </p:sp>
      <p:sp>
        <p:nvSpPr>
          <p:cNvPr id="53" name="Text 50"/>
          <p:cNvSpPr/>
          <p:nvPr/>
        </p:nvSpPr>
        <p:spPr>
          <a:xfrm>
            <a:off x="5091296" y="5463332"/>
            <a:ext cx="842630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76,3%</a:t>
            </a:r>
            <a:endParaRPr lang="en-US" sz="816" dirty="0"/>
          </a:p>
        </p:txBody>
      </p:sp>
      <p:sp>
        <p:nvSpPr>
          <p:cNvPr id="54" name="Text 51"/>
          <p:cNvSpPr/>
          <p:nvPr/>
        </p:nvSpPr>
        <p:spPr>
          <a:xfrm>
            <a:off x="10564564" y="2352526"/>
            <a:ext cx="94134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54,0%</a:t>
            </a:r>
            <a:endParaRPr lang="en-US" sz="816" dirty="0"/>
          </a:p>
        </p:txBody>
      </p:sp>
      <p:sp>
        <p:nvSpPr>
          <p:cNvPr id="55" name="Text 52"/>
          <p:cNvSpPr/>
          <p:nvPr/>
        </p:nvSpPr>
        <p:spPr>
          <a:xfrm>
            <a:off x="10564564" y="2742307"/>
            <a:ext cx="94134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54,2%</a:t>
            </a:r>
            <a:endParaRPr lang="en-US" sz="816" dirty="0"/>
          </a:p>
        </p:txBody>
      </p:sp>
      <p:sp>
        <p:nvSpPr>
          <p:cNvPr id="56" name="Text 53"/>
          <p:cNvSpPr/>
          <p:nvPr/>
        </p:nvSpPr>
        <p:spPr>
          <a:xfrm>
            <a:off x="10564564" y="3133130"/>
            <a:ext cx="94134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72,2%</a:t>
            </a:r>
            <a:endParaRPr lang="en-US" sz="816" dirty="0"/>
          </a:p>
        </p:txBody>
      </p:sp>
      <p:sp>
        <p:nvSpPr>
          <p:cNvPr id="57" name="Text 54"/>
          <p:cNvSpPr/>
          <p:nvPr/>
        </p:nvSpPr>
        <p:spPr>
          <a:xfrm>
            <a:off x="10564564" y="3523952"/>
            <a:ext cx="94134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75,8%</a:t>
            </a:r>
            <a:endParaRPr lang="en-US" sz="816" dirty="0"/>
          </a:p>
        </p:txBody>
      </p:sp>
      <p:sp>
        <p:nvSpPr>
          <p:cNvPr id="58" name="Text 55"/>
          <p:cNvSpPr/>
          <p:nvPr/>
        </p:nvSpPr>
        <p:spPr>
          <a:xfrm>
            <a:off x="10564564" y="3914775"/>
            <a:ext cx="94134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68,0%</a:t>
            </a:r>
            <a:endParaRPr lang="en-US" sz="816" dirty="0"/>
          </a:p>
        </p:txBody>
      </p:sp>
      <p:sp>
        <p:nvSpPr>
          <p:cNvPr id="59" name="Text 56"/>
          <p:cNvSpPr/>
          <p:nvPr/>
        </p:nvSpPr>
        <p:spPr>
          <a:xfrm>
            <a:off x="10564564" y="4305598"/>
            <a:ext cx="94134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85,0%</a:t>
            </a:r>
            <a:endParaRPr lang="en-US" sz="816" dirty="0"/>
          </a:p>
        </p:txBody>
      </p:sp>
      <p:sp>
        <p:nvSpPr>
          <p:cNvPr id="60" name="Text 57"/>
          <p:cNvSpPr/>
          <p:nvPr/>
        </p:nvSpPr>
        <p:spPr>
          <a:xfrm>
            <a:off x="10564564" y="4696420"/>
            <a:ext cx="94134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88,6%</a:t>
            </a:r>
            <a:endParaRPr lang="en-US" sz="816" dirty="0"/>
          </a:p>
        </p:txBody>
      </p:sp>
      <p:sp>
        <p:nvSpPr>
          <p:cNvPr id="61" name="Text 58"/>
          <p:cNvSpPr/>
          <p:nvPr/>
        </p:nvSpPr>
        <p:spPr>
          <a:xfrm>
            <a:off x="10564564" y="5087243"/>
            <a:ext cx="94134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81,4%</a:t>
            </a:r>
            <a:endParaRPr lang="en-US" sz="816" dirty="0"/>
          </a:p>
        </p:txBody>
      </p:sp>
      <p:sp>
        <p:nvSpPr>
          <p:cNvPr id="62" name="Text 59"/>
          <p:cNvSpPr/>
          <p:nvPr/>
        </p:nvSpPr>
        <p:spPr>
          <a:xfrm>
            <a:off x="10564564" y="5463332"/>
            <a:ext cx="94134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72,0%</a:t>
            </a:r>
            <a:endParaRPr lang="en-US" sz="816" dirty="0"/>
          </a:p>
        </p:txBody>
      </p:sp>
      <p:sp>
        <p:nvSpPr>
          <p:cNvPr id="63" name="Text 60"/>
          <p:cNvSpPr/>
          <p:nvPr/>
        </p:nvSpPr>
        <p:spPr>
          <a:xfrm>
            <a:off x="6286343" y="1085850"/>
            <a:ext cx="363927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2.474</a:t>
            </a:r>
            <a:endParaRPr lang="en-US" sz="1020" dirty="0"/>
          </a:p>
        </p:txBody>
      </p:sp>
      <p:sp>
        <p:nvSpPr>
          <p:cNvPr id="64" name="Text 61"/>
          <p:cNvSpPr/>
          <p:nvPr/>
        </p:nvSpPr>
        <p:spPr>
          <a:xfrm>
            <a:off x="9067573" y="1085850"/>
            <a:ext cx="36818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3.222</a:t>
            </a:r>
            <a:endParaRPr lang="en-US" sz="1020" dirty="0"/>
          </a:p>
        </p:txBody>
      </p:sp>
      <p:sp>
        <p:nvSpPr>
          <p:cNvPr id="65" name="Text 62"/>
          <p:cNvSpPr/>
          <p:nvPr/>
        </p:nvSpPr>
        <p:spPr>
          <a:xfrm>
            <a:off x="1826574" y="5458569"/>
            <a:ext cx="91283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115*</a:t>
            </a:r>
            <a:endParaRPr lang="en-US" sz="888" dirty="0"/>
          </a:p>
        </p:txBody>
      </p:sp>
      <p:sp>
        <p:nvSpPr>
          <p:cNvPr id="66" name="Text 63"/>
          <p:cNvSpPr/>
          <p:nvPr/>
        </p:nvSpPr>
        <p:spPr>
          <a:xfrm>
            <a:off x="7532357" y="5458569"/>
            <a:ext cx="101998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114*</a:t>
            </a:r>
            <a:endParaRPr lang="en-US" sz="888" dirty="0"/>
          </a:p>
        </p:txBody>
      </p:sp>
      <p:sp>
        <p:nvSpPr>
          <p:cNvPr id="67" name="Text 64"/>
          <p:cNvSpPr/>
          <p:nvPr/>
        </p:nvSpPr>
        <p:spPr>
          <a:xfrm>
            <a:off x="685783" y="2044005"/>
            <a:ext cx="120240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68" name="Text 65"/>
          <p:cNvSpPr/>
          <p:nvPr/>
        </p:nvSpPr>
        <p:spPr>
          <a:xfrm>
            <a:off x="2722878" y="2044005"/>
            <a:ext cx="56763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PDV</a:t>
            </a:r>
            <a:endParaRPr lang="en-US" sz="888" dirty="0"/>
          </a:p>
        </p:txBody>
      </p:sp>
      <p:sp>
        <p:nvSpPr>
          <p:cNvPr id="69" name="Text 66"/>
          <p:cNvSpPr/>
          <p:nvPr/>
        </p:nvSpPr>
        <p:spPr>
          <a:xfrm>
            <a:off x="685783" y="2347764"/>
            <a:ext cx="120240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70" name="Text 67"/>
          <p:cNvSpPr/>
          <p:nvPr/>
        </p:nvSpPr>
        <p:spPr>
          <a:xfrm>
            <a:off x="1826574" y="2347764"/>
            <a:ext cx="91283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</a:t>
            </a:r>
            <a:endParaRPr lang="en-US" sz="888" dirty="0"/>
          </a:p>
        </p:txBody>
      </p:sp>
      <p:sp>
        <p:nvSpPr>
          <p:cNvPr id="71" name="Text 68"/>
          <p:cNvSpPr/>
          <p:nvPr/>
        </p:nvSpPr>
        <p:spPr>
          <a:xfrm>
            <a:off x="685783" y="2737545"/>
            <a:ext cx="120240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72" name="Text 69"/>
          <p:cNvSpPr/>
          <p:nvPr/>
        </p:nvSpPr>
        <p:spPr>
          <a:xfrm>
            <a:off x="1826574" y="2737545"/>
            <a:ext cx="91283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888" dirty="0"/>
          </a:p>
        </p:txBody>
      </p:sp>
      <p:sp>
        <p:nvSpPr>
          <p:cNvPr id="73" name="Text 70"/>
          <p:cNvSpPr/>
          <p:nvPr/>
        </p:nvSpPr>
        <p:spPr>
          <a:xfrm>
            <a:off x="685783" y="3128367"/>
            <a:ext cx="120240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74" name="Text 71"/>
          <p:cNvSpPr/>
          <p:nvPr/>
        </p:nvSpPr>
        <p:spPr>
          <a:xfrm>
            <a:off x="1826574" y="3128367"/>
            <a:ext cx="91283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888" dirty="0"/>
          </a:p>
        </p:txBody>
      </p:sp>
      <p:sp>
        <p:nvSpPr>
          <p:cNvPr id="75" name="Text 72"/>
          <p:cNvSpPr/>
          <p:nvPr/>
        </p:nvSpPr>
        <p:spPr>
          <a:xfrm>
            <a:off x="685783" y="3519190"/>
            <a:ext cx="120240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76" name="Text 73"/>
          <p:cNvSpPr/>
          <p:nvPr/>
        </p:nvSpPr>
        <p:spPr>
          <a:xfrm>
            <a:off x="1826574" y="3519190"/>
            <a:ext cx="91283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118</a:t>
            </a:r>
            <a:endParaRPr lang="en-US" sz="888" dirty="0"/>
          </a:p>
        </p:txBody>
      </p:sp>
      <p:sp>
        <p:nvSpPr>
          <p:cNvPr id="77" name="Text 74"/>
          <p:cNvSpPr/>
          <p:nvPr/>
        </p:nvSpPr>
        <p:spPr>
          <a:xfrm>
            <a:off x="685783" y="3910012"/>
            <a:ext cx="120240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78" name="Text 75"/>
          <p:cNvSpPr/>
          <p:nvPr/>
        </p:nvSpPr>
        <p:spPr>
          <a:xfrm>
            <a:off x="685783" y="4300835"/>
            <a:ext cx="120240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79" name="Text 76"/>
          <p:cNvSpPr/>
          <p:nvPr/>
        </p:nvSpPr>
        <p:spPr>
          <a:xfrm>
            <a:off x="685783" y="4691658"/>
            <a:ext cx="120240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</a:t>
            </a:r>
            <a:endParaRPr lang="en-US" sz="888" dirty="0"/>
          </a:p>
        </p:txBody>
      </p:sp>
      <p:sp>
        <p:nvSpPr>
          <p:cNvPr id="80" name="Text 77"/>
          <p:cNvSpPr/>
          <p:nvPr/>
        </p:nvSpPr>
        <p:spPr>
          <a:xfrm>
            <a:off x="685783" y="5082480"/>
            <a:ext cx="120240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2722878" y="5458569"/>
            <a:ext cx="56763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68*</a:t>
            </a:r>
            <a:endParaRPr lang="en-US" sz="888" dirty="0"/>
          </a:p>
        </p:txBody>
      </p:sp>
      <p:sp>
        <p:nvSpPr>
          <p:cNvPr id="82" name="Text 79"/>
          <p:cNvSpPr/>
          <p:nvPr/>
        </p:nvSpPr>
        <p:spPr>
          <a:xfrm>
            <a:off x="6257769" y="2044005"/>
            <a:ext cx="134342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83" name="Text 80"/>
          <p:cNvSpPr/>
          <p:nvPr/>
        </p:nvSpPr>
        <p:spPr>
          <a:xfrm>
            <a:off x="6257769" y="2347764"/>
            <a:ext cx="134342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84" name="Text 81"/>
          <p:cNvSpPr/>
          <p:nvPr/>
        </p:nvSpPr>
        <p:spPr>
          <a:xfrm>
            <a:off x="7532357" y="2347764"/>
            <a:ext cx="101998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888" dirty="0"/>
          </a:p>
        </p:txBody>
      </p:sp>
      <p:sp>
        <p:nvSpPr>
          <p:cNvPr id="85" name="Text 82"/>
          <p:cNvSpPr/>
          <p:nvPr/>
        </p:nvSpPr>
        <p:spPr>
          <a:xfrm>
            <a:off x="6257769" y="2737545"/>
            <a:ext cx="134342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86" name="Text 83"/>
          <p:cNvSpPr/>
          <p:nvPr/>
        </p:nvSpPr>
        <p:spPr>
          <a:xfrm>
            <a:off x="7532357" y="2737545"/>
            <a:ext cx="101998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139</a:t>
            </a:r>
            <a:endParaRPr lang="en-US" sz="888" dirty="0"/>
          </a:p>
        </p:txBody>
      </p:sp>
      <p:sp>
        <p:nvSpPr>
          <p:cNvPr id="87" name="Text 84"/>
          <p:cNvSpPr/>
          <p:nvPr/>
        </p:nvSpPr>
        <p:spPr>
          <a:xfrm>
            <a:off x="8521483" y="2737545"/>
            <a:ext cx="105953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120</a:t>
            </a:r>
            <a:endParaRPr lang="en-US" sz="888" dirty="0"/>
          </a:p>
        </p:txBody>
      </p:sp>
      <p:sp>
        <p:nvSpPr>
          <p:cNvPr id="88" name="Text 85"/>
          <p:cNvSpPr/>
          <p:nvPr/>
        </p:nvSpPr>
        <p:spPr>
          <a:xfrm>
            <a:off x="6257769" y="3128367"/>
            <a:ext cx="134342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89" name="Text 86"/>
          <p:cNvSpPr/>
          <p:nvPr/>
        </p:nvSpPr>
        <p:spPr>
          <a:xfrm>
            <a:off x="7532357" y="3128367"/>
            <a:ext cx="101998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888" dirty="0"/>
          </a:p>
        </p:txBody>
      </p:sp>
      <p:sp>
        <p:nvSpPr>
          <p:cNvPr id="90" name="Text 87"/>
          <p:cNvSpPr/>
          <p:nvPr/>
        </p:nvSpPr>
        <p:spPr>
          <a:xfrm>
            <a:off x="8521483" y="3128367"/>
            <a:ext cx="105953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169</a:t>
            </a:r>
            <a:endParaRPr lang="en-US" sz="888" dirty="0"/>
          </a:p>
        </p:txBody>
      </p:sp>
      <p:sp>
        <p:nvSpPr>
          <p:cNvPr id="91" name="Text 88"/>
          <p:cNvSpPr/>
          <p:nvPr/>
        </p:nvSpPr>
        <p:spPr>
          <a:xfrm>
            <a:off x="9550689" y="3104555"/>
            <a:ext cx="1041293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122</a:t>
            </a:r>
            <a:endParaRPr lang="en-US" sz="888" dirty="0"/>
          </a:p>
        </p:txBody>
      </p:sp>
      <p:sp>
        <p:nvSpPr>
          <p:cNvPr id="92" name="Text 89"/>
          <p:cNvSpPr/>
          <p:nvPr/>
        </p:nvSpPr>
        <p:spPr>
          <a:xfrm>
            <a:off x="6257769" y="3519190"/>
            <a:ext cx="134342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93" name="Text 90"/>
          <p:cNvSpPr/>
          <p:nvPr/>
        </p:nvSpPr>
        <p:spPr>
          <a:xfrm>
            <a:off x="7532357" y="3519190"/>
            <a:ext cx="101998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118</a:t>
            </a:r>
            <a:endParaRPr lang="en-US" sz="888" dirty="0"/>
          </a:p>
        </p:txBody>
      </p:sp>
      <p:sp>
        <p:nvSpPr>
          <p:cNvPr id="94" name="Text 91"/>
          <p:cNvSpPr/>
          <p:nvPr/>
        </p:nvSpPr>
        <p:spPr>
          <a:xfrm>
            <a:off x="8521483" y="3519190"/>
            <a:ext cx="105953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120</a:t>
            </a:r>
            <a:endParaRPr lang="en-US" sz="888" dirty="0"/>
          </a:p>
        </p:txBody>
      </p:sp>
      <p:sp>
        <p:nvSpPr>
          <p:cNvPr id="95" name="Text 92"/>
          <p:cNvSpPr/>
          <p:nvPr/>
        </p:nvSpPr>
        <p:spPr>
          <a:xfrm>
            <a:off x="6257769" y="3910012"/>
            <a:ext cx="134342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96" name="Text 93"/>
          <p:cNvSpPr/>
          <p:nvPr/>
        </p:nvSpPr>
        <p:spPr>
          <a:xfrm>
            <a:off x="8521483" y="3910012"/>
            <a:ext cx="105953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</a:t>
            </a:r>
            <a:endParaRPr lang="en-US" sz="888" dirty="0"/>
          </a:p>
        </p:txBody>
      </p:sp>
      <p:sp>
        <p:nvSpPr>
          <p:cNvPr id="97" name="Text 94"/>
          <p:cNvSpPr/>
          <p:nvPr/>
        </p:nvSpPr>
        <p:spPr>
          <a:xfrm>
            <a:off x="6257769" y="4300835"/>
            <a:ext cx="134342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98" name="Text 95"/>
          <p:cNvSpPr/>
          <p:nvPr/>
        </p:nvSpPr>
        <p:spPr>
          <a:xfrm>
            <a:off x="8521483" y="4300835"/>
            <a:ext cx="105953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</a:t>
            </a:r>
            <a:endParaRPr lang="en-US" sz="888" dirty="0"/>
          </a:p>
        </p:txBody>
      </p:sp>
      <p:sp>
        <p:nvSpPr>
          <p:cNvPr id="99" name="Text 96"/>
          <p:cNvSpPr/>
          <p:nvPr/>
        </p:nvSpPr>
        <p:spPr>
          <a:xfrm>
            <a:off x="6257769" y="4691658"/>
            <a:ext cx="134342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</a:t>
            </a:r>
            <a:endParaRPr lang="en-US" sz="888" dirty="0"/>
          </a:p>
        </p:txBody>
      </p:sp>
      <p:sp>
        <p:nvSpPr>
          <p:cNvPr id="100" name="Text 97"/>
          <p:cNvSpPr/>
          <p:nvPr/>
        </p:nvSpPr>
        <p:spPr>
          <a:xfrm>
            <a:off x="6257769" y="5082480"/>
            <a:ext cx="134342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</a:t>
            </a:r>
            <a:endParaRPr lang="en-US" sz="888" dirty="0"/>
          </a:p>
        </p:txBody>
      </p:sp>
      <p:sp>
        <p:nvSpPr>
          <p:cNvPr id="101" name="Text 98"/>
          <p:cNvSpPr/>
          <p:nvPr/>
        </p:nvSpPr>
        <p:spPr>
          <a:xfrm>
            <a:off x="8521483" y="5458569"/>
            <a:ext cx="105953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806</a:t>
            </a:r>
            <a:endParaRPr lang="en-US" sz="888" dirty="0"/>
          </a:p>
        </p:txBody>
      </p:sp>
      <p:sp>
        <p:nvSpPr>
          <p:cNvPr id="102" name="Text 99"/>
          <p:cNvSpPr/>
          <p:nvPr/>
        </p:nvSpPr>
        <p:spPr>
          <a:xfrm>
            <a:off x="9550689" y="5458569"/>
            <a:ext cx="1041293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580</a:t>
            </a:r>
            <a:endParaRPr lang="en-US" sz="888" dirty="0"/>
          </a:p>
        </p:txBody>
      </p:sp>
      <p:sp>
        <p:nvSpPr>
          <p:cNvPr id="103" name="Text 100"/>
          <p:cNvSpPr/>
          <p:nvPr/>
        </p:nvSpPr>
        <p:spPr>
          <a:xfrm>
            <a:off x="3505112" y="1085850"/>
            <a:ext cx="2743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580</a:t>
            </a:r>
            <a:endParaRPr lang="en-US" sz="1020" dirty="0"/>
          </a:p>
        </p:txBody>
      </p:sp>
      <p:sp>
        <p:nvSpPr>
          <p:cNvPr id="104" name="Text 101"/>
          <p:cNvSpPr/>
          <p:nvPr/>
        </p:nvSpPr>
        <p:spPr>
          <a:xfrm>
            <a:off x="2722878" y="2347764"/>
            <a:ext cx="56763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</a:t>
            </a:r>
            <a:endParaRPr lang="en-US" sz="888" dirty="0"/>
          </a:p>
        </p:txBody>
      </p:sp>
      <p:sp>
        <p:nvSpPr>
          <p:cNvPr id="105" name="Text 102"/>
          <p:cNvSpPr/>
          <p:nvPr/>
        </p:nvSpPr>
        <p:spPr>
          <a:xfrm>
            <a:off x="2722878" y="2737545"/>
            <a:ext cx="56763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</a:t>
            </a:r>
            <a:endParaRPr lang="en-US" sz="888" dirty="0"/>
          </a:p>
        </p:txBody>
      </p:sp>
      <p:sp>
        <p:nvSpPr>
          <p:cNvPr id="106" name="Text 103"/>
          <p:cNvSpPr/>
          <p:nvPr/>
        </p:nvSpPr>
        <p:spPr>
          <a:xfrm>
            <a:off x="2722878" y="3128367"/>
            <a:ext cx="56763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</a:t>
            </a:r>
            <a:endParaRPr lang="en-US" sz="888" dirty="0"/>
          </a:p>
        </p:txBody>
      </p:sp>
      <p:sp>
        <p:nvSpPr>
          <p:cNvPr id="107" name="Text 104"/>
          <p:cNvSpPr/>
          <p:nvPr/>
        </p:nvSpPr>
        <p:spPr>
          <a:xfrm>
            <a:off x="2722878" y="3519190"/>
            <a:ext cx="56763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</a:t>
            </a:r>
            <a:endParaRPr lang="en-US" sz="888" dirty="0"/>
          </a:p>
        </p:txBody>
      </p:sp>
      <p:sp>
        <p:nvSpPr>
          <p:cNvPr id="108" name="Text 105"/>
          <p:cNvSpPr/>
          <p:nvPr/>
        </p:nvSpPr>
        <p:spPr>
          <a:xfrm>
            <a:off x="1826574" y="3910012"/>
            <a:ext cx="91283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</a:t>
            </a:r>
            <a:endParaRPr lang="en-US" sz="888" dirty="0"/>
          </a:p>
        </p:txBody>
      </p:sp>
      <p:sp>
        <p:nvSpPr>
          <p:cNvPr id="109" name="Text 106"/>
          <p:cNvSpPr/>
          <p:nvPr/>
        </p:nvSpPr>
        <p:spPr>
          <a:xfrm>
            <a:off x="2722878" y="3910012"/>
            <a:ext cx="56763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</a:t>
            </a:r>
            <a:endParaRPr lang="en-US" sz="888" dirty="0"/>
          </a:p>
        </p:txBody>
      </p:sp>
      <p:sp>
        <p:nvSpPr>
          <p:cNvPr id="110" name="Text 107"/>
          <p:cNvSpPr/>
          <p:nvPr/>
        </p:nvSpPr>
        <p:spPr>
          <a:xfrm>
            <a:off x="1826574" y="4300835"/>
            <a:ext cx="91283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</a:t>
            </a:r>
            <a:endParaRPr lang="en-US" sz="888" dirty="0"/>
          </a:p>
        </p:txBody>
      </p:sp>
      <p:sp>
        <p:nvSpPr>
          <p:cNvPr id="111" name="Text 108"/>
          <p:cNvSpPr/>
          <p:nvPr/>
        </p:nvSpPr>
        <p:spPr>
          <a:xfrm>
            <a:off x="2722878" y="4300835"/>
            <a:ext cx="56763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</a:t>
            </a:r>
            <a:endParaRPr lang="en-US" sz="888" dirty="0"/>
          </a:p>
        </p:txBody>
      </p:sp>
      <p:sp>
        <p:nvSpPr>
          <p:cNvPr id="112" name="Text 109"/>
          <p:cNvSpPr/>
          <p:nvPr/>
        </p:nvSpPr>
        <p:spPr>
          <a:xfrm>
            <a:off x="1826574" y="4691658"/>
            <a:ext cx="91283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</a:t>
            </a:r>
            <a:endParaRPr lang="en-US" sz="888" dirty="0"/>
          </a:p>
        </p:txBody>
      </p:sp>
      <p:sp>
        <p:nvSpPr>
          <p:cNvPr id="113" name="Text 110"/>
          <p:cNvSpPr/>
          <p:nvPr/>
        </p:nvSpPr>
        <p:spPr>
          <a:xfrm>
            <a:off x="2722878" y="4691658"/>
            <a:ext cx="56763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</a:t>
            </a:r>
            <a:endParaRPr lang="en-US" sz="888" dirty="0"/>
          </a:p>
        </p:txBody>
      </p:sp>
      <p:sp>
        <p:nvSpPr>
          <p:cNvPr id="114" name="Text 111"/>
          <p:cNvSpPr/>
          <p:nvPr/>
        </p:nvSpPr>
        <p:spPr>
          <a:xfrm>
            <a:off x="1826574" y="5082480"/>
            <a:ext cx="91283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</a:t>
            </a:r>
            <a:endParaRPr lang="en-US" sz="888" dirty="0"/>
          </a:p>
        </p:txBody>
      </p:sp>
      <p:sp>
        <p:nvSpPr>
          <p:cNvPr id="115" name="Text 112"/>
          <p:cNvSpPr/>
          <p:nvPr/>
        </p:nvSpPr>
        <p:spPr>
          <a:xfrm>
            <a:off x="2722878" y="5082480"/>
            <a:ext cx="56763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</a:t>
            </a:r>
            <a:endParaRPr lang="en-US" sz="888" dirty="0"/>
          </a:p>
        </p:txBody>
      </p:sp>
      <p:sp>
        <p:nvSpPr>
          <p:cNvPr id="116" name="Text 113"/>
          <p:cNvSpPr/>
          <p:nvPr/>
        </p:nvSpPr>
        <p:spPr>
          <a:xfrm>
            <a:off x="8521483" y="2347764"/>
            <a:ext cx="105953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</a:t>
            </a:r>
            <a:endParaRPr lang="en-US" sz="888" dirty="0"/>
          </a:p>
        </p:txBody>
      </p:sp>
      <p:sp>
        <p:nvSpPr>
          <p:cNvPr id="117" name="Text 114"/>
          <p:cNvSpPr/>
          <p:nvPr/>
        </p:nvSpPr>
        <p:spPr>
          <a:xfrm>
            <a:off x="9550689" y="2323951"/>
            <a:ext cx="1041293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888" dirty="0"/>
          </a:p>
        </p:txBody>
      </p:sp>
      <p:sp>
        <p:nvSpPr>
          <p:cNvPr id="118" name="Text 115"/>
          <p:cNvSpPr/>
          <p:nvPr/>
        </p:nvSpPr>
        <p:spPr>
          <a:xfrm>
            <a:off x="9550689" y="2713732"/>
            <a:ext cx="1041293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</a:t>
            </a:r>
            <a:endParaRPr lang="en-US" sz="888" dirty="0"/>
          </a:p>
        </p:txBody>
      </p:sp>
      <p:sp>
        <p:nvSpPr>
          <p:cNvPr id="119" name="Text 116"/>
          <p:cNvSpPr/>
          <p:nvPr/>
        </p:nvSpPr>
        <p:spPr>
          <a:xfrm>
            <a:off x="9550689" y="3495377"/>
            <a:ext cx="1041293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</a:t>
            </a:r>
            <a:endParaRPr lang="en-US" sz="888" dirty="0"/>
          </a:p>
        </p:txBody>
      </p:sp>
      <p:sp>
        <p:nvSpPr>
          <p:cNvPr id="120" name="Text 117"/>
          <p:cNvSpPr/>
          <p:nvPr/>
        </p:nvSpPr>
        <p:spPr>
          <a:xfrm>
            <a:off x="7532357" y="3910012"/>
            <a:ext cx="101998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</a:t>
            </a:r>
            <a:endParaRPr lang="en-US" sz="888" dirty="0"/>
          </a:p>
        </p:txBody>
      </p:sp>
      <p:sp>
        <p:nvSpPr>
          <p:cNvPr id="121" name="Text 118"/>
          <p:cNvSpPr/>
          <p:nvPr/>
        </p:nvSpPr>
        <p:spPr>
          <a:xfrm>
            <a:off x="9550689" y="3886200"/>
            <a:ext cx="1041293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</a:t>
            </a:r>
            <a:endParaRPr lang="en-US" sz="888" dirty="0"/>
          </a:p>
        </p:txBody>
      </p:sp>
      <p:sp>
        <p:nvSpPr>
          <p:cNvPr id="122" name="Text 119"/>
          <p:cNvSpPr/>
          <p:nvPr/>
        </p:nvSpPr>
        <p:spPr>
          <a:xfrm>
            <a:off x="7532357" y="4300835"/>
            <a:ext cx="101998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</a:t>
            </a:r>
            <a:endParaRPr lang="en-US" sz="888" dirty="0"/>
          </a:p>
        </p:txBody>
      </p:sp>
      <p:sp>
        <p:nvSpPr>
          <p:cNvPr id="123" name="Text 120"/>
          <p:cNvSpPr/>
          <p:nvPr/>
        </p:nvSpPr>
        <p:spPr>
          <a:xfrm>
            <a:off x="9550689" y="4277023"/>
            <a:ext cx="1041293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</a:t>
            </a:r>
            <a:endParaRPr lang="en-US" sz="888" dirty="0"/>
          </a:p>
        </p:txBody>
      </p:sp>
      <p:sp>
        <p:nvSpPr>
          <p:cNvPr id="124" name="Text 121"/>
          <p:cNvSpPr/>
          <p:nvPr/>
        </p:nvSpPr>
        <p:spPr>
          <a:xfrm>
            <a:off x="7532357" y="4691658"/>
            <a:ext cx="101998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</a:t>
            </a:r>
            <a:endParaRPr lang="en-US" sz="888" dirty="0"/>
          </a:p>
        </p:txBody>
      </p:sp>
      <p:sp>
        <p:nvSpPr>
          <p:cNvPr id="125" name="Text 122"/>
          <p:cNvSpPr/>
          <p:nvPr/>
        </p:nvSpPr>
        <p:spPr>
          <a:xfrm>
            <a:off x="8521483" y="4691658"/>
            <a:ext cx="105953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</a:t>
            </a:r>
            <a:endParaRPr lang="en-US" sz="888" dirty="0"/>
          </a:p>
        </p:txBody>
      </p:sp>
      <p:sp>
        <p:nvSpPr>
          <p:cNvPr id="126" name="Text 123"/>
          <p:cNvSpPr/>
          <p:nvPr/>
        </p:nvSpPr>
        <p:spPr>
          <a:xfrm>
            <a:off x="9550689" y="4667845"/>
            <a:ext cx="1041293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</a:t>
            </a:r>
            <a:endParaRPr lang="en-US" sz="888" dirty="0"/>
          </a:p>
        </p:txBody>
      </p:sp>
      <p:sp>
        <p:nvSpPr>
          <p:cNvPr id="127" name="Text 124"/>
          <p:cNvSpPr/>
          <p:nvPr/>
        </p:nvSpPr>
        <p:spPr>
          <a:xfrm>
            <a:off x="7532357" y="5082480"/>
            <a:ext cx="101998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</a:t>
            </a:r>
            <a:endParaRPr lang="en-US" sz="888" dirty="0"/>
          </a:p>
        </p:txBody>
      </p:sp>
      <p:sp>
        <p:nvSpPr>
          <p:cNvPr id="128" name="Text 125"/>
          <p:cNvSpPr/>
          <p:nvPr/>
        </p:nvSpPr>
        <p:spPr>
          <a:xfrm>
            <a:off x="8521483" y="5082480"/>
            <a:ext cx="105953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888" dirty="0"/>
          </a:p>
        </p:txBody>
      </p:sp>
      <p:sp>
        <p:nvSpPr>
          <p:cNvPr id="129" name="Text 126"/>
          <p:cNvSpPr/>
          <p:nvPr/>
        </p:nvSpPr>
        <p:spPr>
          <a:xfrm>
            <a:off x="9550689" y="5058668"/>
            <a:ext cx="1041293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</a:t>
            </a:r>
            <a:endParaRPr lang="en-US" sz="88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2026-09-22T22:29:51Z</dcterms:created>
  <dcterms:modified xsi:type="dcterms:W3CDTF">2026-09-22T22:29:51Z</dcterms:modified>
</cp:coreProperties>
</file>