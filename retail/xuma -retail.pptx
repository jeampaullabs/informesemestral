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18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0_For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824" y="5689847"/>
            <a:ext cx="11380185" cy="551548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Semestral: La reestructuración estratégica de zonas y canales de Retail (empalme con Tradicional) concentró la operación en puntos de mayor valor. Como resultado, a pesar del menor número de visitas, las ventas efectivas por PDV subieron +137% (de 17,5 a 41,5 pólizas/PDV entre ene y jun), demostrando una alta eficiencia comercial y un canal más enfocado y productivo.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23882" y="513204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Planta = gestores comerciales con actividad transaccional registrados en el "Como vamos" (cierres mensuales).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314917" y="513204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potencia la efectividad del canal.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781030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Jun 2026)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6915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362541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17.7 a 42.0 pólizas por PDV activo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723882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Planta activa vs. formaciones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314917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93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</a:t>
            </a: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6362541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 por PDV Activo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81030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1S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400289" y="2302245"/>
            <a:ext cx="1262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Planta Gestores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3639352" y="2302245"/>
            <a:ext cx="112330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729937" y="2302245"/>
            <a:ext cx="11812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Capacitados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2626007" y="2302245"/>
            <a:ext cx="10437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Capacitados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23882" y="4011983"/>
            <a:ext cx="69669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6362541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+137 %</a:t>
            </a:r>
            <a:endParaRPr lang="en-US" sz="1740" dirty="0"/>
          </a:p>
        </p:txBody>
      </p:sp>
      <p:sp>
        <p:nvSpPr>
          <p:cNvPr id="19" name="Text 16"/>
          <p:cNvSpPr/>
          <p:nvPr/>
        </p:nvSpPr>
        <p:spPr>
          <a:xfrm>
            <a:off x="723882" y="2302245"/>
            <a:ext cx="69669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23882" y="2530845"/>
            <a:ext cx="69669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1400289" y="2530845"/>
            <a:ext cx="1262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4660929" y="2496341"/>
            <a:ext cx="11812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48%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23882" y="27737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400289" y="27737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4660929" y="2739229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23882" y="30213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400289" y="30213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4660929" y="2986879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723882" y="32690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1400289" y="32690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4660929" y="3234529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723882" y="35166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4660929" y="3482179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723882" y="37643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35" name="Text 32"/>
          <p:cNvSpPr/>
          <p:nvPr/>
        </p:nvSpPr>
        <p:spPr>
          <a:xfrm>
            <a:off x="4660929" y="3729829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26%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2626007" y="4011983"/>
            <a:ext cx="1043746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326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3639352" y="4011983"/>
            <a:ext cx="112330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781030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1740" dirty="0"/>
          </a:p>
        </p:txBody>
      </p:sp>
      <p:sp>
        <p:nvSpPr>
          <p:cNvPr id="39" name="Text 36"/>
          <p:cNvSpPr/>
          <p:nvPr/>
        </p:nvSpPr>
        <p:spPr>
          <a:xfrm>
            <a:off x="6314917" y="2354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314917" y="25832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6314917" y="28118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6314917" y="30404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6314917" y="32690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6314917" y="3497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2626007" y="2530845"/>
            <a:ext cx="10437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46" name="Text 43"/>
          <p:cNvSpPr/>
          <p:nvPr/>
        </p:nvSpPr>
        <p:spPr>
          <a:xfrm>
            <a:off x="3639352" y="2530845"/>
            <a:ext cx="112330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64" dirty="0"/>
          </a:p>
        </p:txBody>
      </p:sp>
      <p:sp>
        <p:nvSpPr>
          <p:cNvPr id="47" name="Text 44"/>
          <p:cNvSpPr/>
          <p:nvPr/>
        </p:nvSpPr>
        <p:spPr>
          <a:xfrm>
            <a:off x="2626007" y="27737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64" dirty="0"/>
          </a:p>
        </p:txBody>
      </p:sp>
      <p:sp>
        <p:nvSpPr>
          <p:cNvPr id="48" name="Text 45"/>
          <p:cNvSpPr/>
          <p:nvPr/>
        </p:nvSpPr>
        <p:spPr>
          <a:xfrm>
            <a:off x="3639352" y="27737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64" dirty="0"/>
          </a:p>
        </p:txBody>
      </p:sp>
      <p:sp>
        <p:nvSpPr>
          <p:cNvPr id="49" name="Text 46"/>
          <p:cNvSpPr/>
          <p:nvPr/>
        </p:nvSpPr>
        <p:spPr>
          <a:xfrm>
            <a:off x="2626007" y="30213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50" name="Text 47"/>
          <p:cNvSpPr/>
          <p:nvPr/>
        </p:nvSpPr>
        <p:spPr>
          <a:xfrm>
            <a:off x="3639352" y="30213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64" dirty="0"/>
          </a:p>
        </p:txBody>
      </p:sp>
      <p:sp>
        <p:nvSpPr>
          <p:cNvPr id="51" name="Text 48"/>
          <p:cNvSpPr/>
          <p:nvPr/>
        </p:nvSpPr>
        <p:spPr>
          <a:xfrm>
            <a:off x="2626007" y="32690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</a:t>
            </a:r>
            <a:endParaRPr lang="en-US" sz="864" dirty="0"/>
          </a:p>
        </p:txBody>
      </p:sp>
      <p:sp>
        <p:nvSpPr>
          <p:cNvPr id="52" name="Text 49"/>
          <p:cNvSpPr/>
          <p:nvPr/>
        </p:nvSpPr>
        <p:spPr>
          <a:xfrm>
            <a:off x="3639352" y="32690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64" dirty="0"/>
          </a:p>
        </p:txBody>
      </p:sp>
      <p:sp>
        <p:nvSpPr>
          <p:cNvPr id="53" name="Text 50"/>
          <p:cNvSpPr/>
          <p:nvPr/>
        </p:nvSpPr>
        <p:spPr>
          <a:xfrm>
            <a:off x="1400289" y="35166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2626007" y="35166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864" dirty="0"/>
          </a:p>
        </p:txBody>
      </p:sp>
      <p:sp>
        <p:nvSpPr>
          <p:cNvPr id="55" name="Text 52"/>
          <p:cNvSpPr/>
          <p:nvPr/>
        </p:nvSpPr>
        <p:spPr>
          <a:xfrm>
            <a:off x="3639352" y="35166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64" dirty="0"/>
          </a:p>
        </p:txBody>
      </p:sp>
      <p:sp>
        <p:nvSpPr>
          <p:cNvPr id="56" name="Text 53"/>
          <p:cNvSpPr/>
          <p:nvPr/>
        </p:nvSpPr>
        <p:spPr>
          <a:xfrm>
            <a:off x="1400289" y="37643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64" dirty="0"/>
          </a:p>
        </p:txBody>
      </p:sp>
      <p:sp>
        <p:nvSpPr>
          <p:cNvPr id="57" name="Text 54"/>
          <p:cNvSpPr/>
          <p:nvPr/>
        </p:nvSpPr>
        <p:spPr>
          <a:xfrm>
            <a:off x="2626007" y="37643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58" name="Text 55"/>
          <p:cNvSpPr/>
          <p:nvPr/>
        </p:nvSpPr>
        <p:spPr>
          <a:xfrm>
            <a:off x="3639352" y="37643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64" dirty="0"/>
          </a:p>
        </p:txBody>
      </p:sp>
      <p:sp>
        <p:nvSpPr>
          <p:cNvPr id="59" name="Text 56"/>
          <p:cNvSpPr/>
          <p:nvPr/>
        </p:nvSpPr>
        <p:spPr>
          <a:xfrm>
            <a:off x="11010625" y="2354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780" dirty="0"/>
          </a:p>
        </p:txBody>
      </p:sp>
      <p:sp>
        <p:nvSpPr>
          <p:cNvPr id="60" name="Text 57"/>
          <p:cNvSpPr/>
          <p:nvPr/>
        </p:nvSpPr>
        <p:spPr>
          <a:xfrm>
            <a:off x="11010625" y="25832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80" dirty="0"/>
          </a:p>
        </p:txBody>
      </p:sp>
      <p:sp>
        <p:nvSpPr>
          <p:cNvPr id="61" name="Text 58"/>
          <p:cNvSpPr/>
          <p:nvPr/>
        </p:nvSpPr>
        <p:spPr>
          <a:xfrm>
            <a:off x="11010625" y="28118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780" dirty="0"/>
          </a:p>
        </p:txBody>
      </p:sp>
      <p:sp>
        <p:nvSpPr>
          <p:cNvPr id="62" name="Text 59"/>
          <p:cNvSpPr/>
          <p:nvPr/>
        </p:nvSpPr>
        <p:spPr>
          <a:xfrm>
            <a:off x="11010625" y="30404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11010625" y="32690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11010625" y="3497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1_Cober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5868" y="3766542"/>
            <a:ext cx="5327104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Universo = PDV físicos distintos observados en los 26 cortes semanales "Como vamos" del semestre. Coberturas &gt;100 % indican PDV que Formación visitó con nombre distinto al registrado en Como vamos ese corte, o puntos sin gestión comercial activa ese mes. Gestores del canal: 147 (ene) → 96 (jun), promedio 123; los cortes "Como vamos" no desagregan gestores por aliado.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5470636" y="4735116"/>
            <a:ext cx="6186903" cy="272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"Serdán" (90 visitas): empresa que provee promotores a ambos canales, no un aliado. De las 90: 33 puras Retail+Tradicional, 33 sedes/roles internos (no PDV) y 14 con cédula activa en ambos canales (contadas en los dos). Total atribuido: 24 a Retail y 47 a Tradicional.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704832" y="1796355"/>
            <a:ext cx="536634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 por Formación vs. PDV con gestión comercial activa en Cuota Protegida cada mes (cortes "Como vamos").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5470636" y="5765602"/>
            <a:ext cx="61869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el 41 % fue a un PDV físico; el resto es actividad real de formación que no suma a cobertura de PDV.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704832" y="4614267"/>
            <a:ext cx="4526168" cy="13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y municipios con al menos una visita de formación registrada en el semestre.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46853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Puntos de Venta y Municipios Visitados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295868" y="1567755"/>
            <a:ext cx="5327104" cy="21583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Universo de PDV y cobertura real por aliado (1S)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04832" y="1567755"/>
            <a:ext cx="5366346" cy="196215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1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formación en Puntos de Venta (PDV)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5470636" y="4423767"/>
            <a:ext cx="61869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TIPO DE PUNTO VISITADO EN LAS 90 "SERDÁN"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295868" y="2029741"/>
            <a:ext cx="1675757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Colombiana de Comercio (Alkosto/Ktronix)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23490" y="2984292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Olímpica solo ene · </a:t>
            </a:r>
            <a:r>
              <a:rPr lang="en-US" sz="888" b="1" dirty="0" err="1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al menos una visita registrada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307363" y="2274859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Almacenes </a:t>
            </a:r>
            <a:r>
              <a:rPr lang="en-US" sz="888" b="1" dirty="0" err="1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Éxito</a:t>
            </a: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888" b="1" dirty="0" err="1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0511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 de 52 PDV activos visitados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28634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Capacitando asesores de venta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295868" y="2743372"/>
            <a:ext cx="1675757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Cencosud (Jumbo/Metro/Easy)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4832" y="4414242"/>
            <a:ext cx="4526168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Municipios Visitados (1S)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2388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 promedio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72388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PDV activos en CP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28634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de formación 1S</a:t>
            </a:r>
            <a:endParaRPr lang="en-US" sz="696" dirty="0"/>
          </a:p>
        </p:txBody>
      </p:sp>
      <p:sp>
        <p:nvSpPr>
          <p:cNvPr id="23" name="Text 20"/>
          <p:cNvSpPr/>
          <p:nvPr/>
        </p:nvSpPr>
        <p:spPr>
          <a:xfrm>
            <a:off x="906757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/ municipios</a:t>
            </a:r>
            <a:endParaRPr lang="en-US" sz="696" dirty="0"/>
          </a:p>
        </p:txBody>
      </p:sp>
      <p:sp>
        <p:nvSpPr>
          <p:cNvPr id="24" name="Text 21"/>
          <p:cNvSpPr/>
          <p:nvPr/>
        </p:nvSpPr>
        <p:spPr>
          <a:xfrm>
            <a:off x="704832" y="514649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2580318" y="1976163"/>
            <a:ext cx="12341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50511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Junio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3778503" y="1976163"/>
            <a:ext cx="112682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922816" y="1801141"/>
            <a:ext cx="11004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Universo PDV*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991226" y="1801141"/>
            <a:ext cx="105738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4789312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2968600" y="4789312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Norte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4872511" y="1976163"/>
            <a:ext cx="10736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295868" y="3461765"/>
            <a:ext cx="167575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canal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704832" y="550844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35" name="Text 32"/>
          <p:cNvSpPr/>
          <p:nvPr/>
        </p:nvSpPr>
        <p:spPr>
          <a:xfrm>
            <a:off x="6734751" y="5416153"/>
            <a:ext cx="1076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Sede Serdán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10384520" y="5416153"/>
            <a:ext cx="1076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Supervisión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704832" y="496552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38" name="Text 35"/>
          <p:cNvSpPr/>
          <p:nvPr/>
        </p:nvSpPr>
        <p:spPr>
          <a:xfrm>
            <a:off x="2968600" y="550844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39" name="Text 36"/>
          <p:cNvSpPr/>
          <p:nvPr/>
        </p:nvSpPr>
        <p:spPr>
          <a:xfrm>
            <a:off x="5518260" y="5416153"/>
            <a:ext cx="10763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físico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7951390" y="5416153"/>
            <a:ext cx="10763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Itinerante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10017817" y="1801141"/>
            <a:ext cx="853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2968600" y="5689424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43" name="Text 40"/>
          <p:cNvSpPr/>
          <p:nvPr/>
        </p:nvSpPr>
        <p:spPr>
          <a:xfrm>
            <a:off x="9167881" y="5416153"/>
            <a:ext cx="1076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Ofic. SAC</a:t>
            </a:r>
            <a:endParaRPr lang="en-US" sz="696" dirty="0"/>
          </a:p>
        </p:txBody>
      </p:sp>
      <p:sp>
        <p:nvSpPr>
          <p:cNvPr id="44" name="Text 41"/>
          <p:cNvSpPr/>
          <p:nvPr/>
        </p:nvSpPr>
        <p:spPr>
          <a:xfrm>
            <a:off x="1538398" y="1976163"/>
            <a:ext cx="1073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04832" y="3685900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1S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968600" y="496552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47" name="Text 44"/>
          <p:cNvSpPr/>
          <p:nvPr/>
        </p:nvSpPr>
        <p:spPr>
          <a:xfrm>
            <a:off x="2968600" y="532747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48" name="Text 45"/>
          <p:cNvSpPr/>
          <p:nvPr/>
        </p:nvSpPr>
        <p:spPr>
          <a:xfrm>
            <a:off x="10846471" y="1801141"/>
            <a:ext cx="63998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9966061" y="3427261"/>
            <a:ext cx="85351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102,9 %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6295868" y="1801141"/>
            <a:ext cx="16757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9966061" y="1995237"/>
            <a:ext cx="853514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90,5 %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704832" y="5689424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350511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26,9 %</a:t>
            </a:r>
            <a:endParaRPr lang="en-US" sz="1020" dirty="0"/>
          </a:p>
        </p:txBody>
      </p:sp>
      <p:sp>
        <p:nvSpPr>
          <p:cNvPr id="54" name="Text 51"/>
          <p:cNvSpPr/>
          <p:nvPr/>
        </p:nvSpPr>
        <p:spPr>
          <a:xfrm>
            <a:off x="4803501" y="2178884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60,9%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4803501" y="2421771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57,1%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803501" y="2669421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54,9%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4803501" y="2917071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50,0%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4803501" y="3164721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33,3%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803501" y="3412371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26,9%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4803501" y="3660021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47,2%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9966061" y="2342899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116 %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9966061" y="2708868"/>
            <a:ext cx="853514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119 %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704832" y="532747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64" name="Text 61"/>
          <p:cNvSpPr/>
          <p:nvPr/>
        </p:nvSpPr>
        <p:spPr>
          <a:xfrm>
            <a:off x="9966061" y="3061293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2968600" y="514649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6" name="Text 63"/>
          <p:cNvSpPr/>
          <p:nvPr/>
        </p:nvSpPr>
        <p:spPr>
          <a:xfrm>
            <a:off x="704832" y="1976163"/>
            <a:ext cx="8585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704832" y="2204763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538398" y="2204763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704832" y="24476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538398" y="24476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704832" y="26953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538398" y="26953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704832" y="29429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538398" y="29429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704832" y="31906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04832" y="34382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1538398" y="3685900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10846471" y="2029741"/>
            <a:ext cx="639982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184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922816" y="3461765"/>
            <a:ext cx="11004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991226" y="3461765"/>
            <a:ext cx="105738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10846471" y="3461765"/>
            <a:ext cx="6399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2302611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628634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1020" dirty="0"/>
          </a:p>
        </p:txBody>
      </p:sp>
      <p:sp>
        <p:nvSpPr>
          <p:cNvPr id="84" name="Text 81"/>
          <p:cNvSpPr/>
          <p:nvPr/>
        </p:nvSpPr>
        <p:spPr>
          <a:xfrm>
            <a:off x="2580318" y="2204763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3778503" y="2204763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2580318" y="24476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3778503" y="24476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2580318" y="26953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3778503" y="26953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2580318" y="29429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778503" y="29429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1538398" y="31906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580318" y="31906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3778503" y="31906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1538398" y="34382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580318" y="34382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3778503" y="34382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580318" y="3685900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3778503" y="3685900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7922816" y="2029741"/>
            <a:ext cx="1100463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8991226" y="2029741"/>
            <a:ext cx="1057388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7922816" y="2377403"/>
            <a:ext cx="1100463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8991226" y="2377403"/>
            <a:ext cx="1057388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10846471" y="2377403"/>
            <a:ext cx="639982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7922816" y="2743372"/>
            <a:ext cx="1100463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991226" y="2743372"/>
            <a:ext cx="1057388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10846471" y="2743372"/>
            <a:ext cx="639982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2302611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09" name="Text 106"/>
          <p:cNvSpPr/>
          <p:nvPr/>
        </p:nvSpPr>
        <p:spPr>
          <a:xfrm>
            <a:off x="2302611" y="514649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</a:t>
            </a:r>
            <a:endParaRPr lang="en-US" sz="672" dirty="0"/>
          </a:p>
        </p:txBody>
      </p:sp>
      <p:sp>
        <p:nvSpPr>
          <p:cNvPr id="110" name="Text 107"/>
          <p:cNvSpPr/>
          <p:nvPr/>
        </p:nvSpPr>
        <p:spPr>
          <a:xfrm>
            <a:off x="2302611" y="532747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72" dirty="0"/>
          </a:p>
        </p:txBody>
      </p:sp>
      <p:sp>
        <p:nvSpPr>
          <p:cNvPr id="111" name="Text 108"/>
          <p:cNvSpPr/>
          <p:nvPr/>
        </p:nvSpPr>
        <p:spPr>
          <a:xfrm>
            <a:off x="2302611" y="550844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72" dirty="0"/>
          </a:p>
        </p:txBody>
      </p:sp>
      <p:sp>
        <p:nvSpPr>
          <p:cNvPr id="112" name="Text 109"/>
          <p:cNvSpPr/>
          <p:nvPr/>
        </p:nvSpPr>
        <p:spPr>
          <a:xfrm>
            <a:off x="2302611" y="5689424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13" name="Text 110"/>
          <p:cNvSpPr/>
          <p:nvPr/>
        </p:nvSpPr>
        <p:spPr>
          <a:xfrm>
            <a:off x="4566528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72" dirty="0"/>
          </a:p>
        </p:txBody>
      </p:sp>
      <p:sp>
        <p:nvSpPr>
          <p:cNvPr id="114" name="Text 111"/>
          <p:cNvSpPr/>
          <p:nvPr/>
        </p:nvSpPr>
        <p:spPr>
          <a:xfrm>
            <a:off x="4566528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15" name="Text 112"/>
          <p:cNvSpPr/>
          <p:nvPr/>
        </p:nvSpPr>
        <p:spPr>
          <a:xfrm>
            <a:off x="72388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1020" dirty="0"/>
          </a:p>
        </p:txBody>
      </p:sp>
      <p:sp>
        <p:nvSpPr>
          <p:cNvPr id="116" name="Text 113"/>
          <p:cNvSpPr/>
          <p:nvPr/>
        </p:nvSpPr>
        <p:spPr>
          <a:xfrm>
            <a:off x="906757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1020" dirty="0"/>
          </a:p>
        </p:txBody>
      </p:sp>
      <p:sp>
        <p:nvSpPr>
          <p:cNvPr id="117" name="Text 114"/>
          <p:cNvSpPr/>
          <p:nvPr/>
        </p:nvSpPr>
        <p:spPr>
          <a:xfrm>
            <a:off x="5518260" y="5254228"/>
            <a:ext cx="107639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1080" dirty="0"/>
          </a:p>
        </p:txBody>
      </p:sp>
      <p:sp>
        <p:nvSpPr>
          <p:cNvPr id="118" name="Text 115"/>
          <p:cNvSpPr/>
          <p:nvPr/>
        </p:nvSpPr>
        <p:spPr>
          <a:xfrm>
            <a:off x="6734751" y="5254228"/>
            <a:ext cx="107655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1080" dirty="0"/>
          </a:p>
        </p:txBody>
      </p:sp>
      <p:sp>
        <p:nvSpPr>
          <p:cNvPr id="119" name="Text 116"/>
          <p:cNvSpPr/>
          <p:nvPr/>
        </p:nvSpPr>
        <p:spPr>
          <a:xfrm>
            <a:off x="7951390" y="5254228"/>
            <a:ext cx="107639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ED67A9-B319-F783-5A2D-DF8738C25517}"/>
              </a:ext>
            </a:extLst>
          </p:cNvPr>
          <p:cNvSpPr txBox="1"/>
          <p:nvPr/>
        </p:nvSpPr>
        <p:spPr>
          <a:xfrm>
            <a:off x="6455479" y="2525538"/>
            <a:ext cx="1543768" cy="228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8" b="1" dirty="0" err="1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retirado</a:t>
            </a:r>
            <a:endParaRPr lang="es-CO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7E6A873-A669-FDD6-E637-425F592D9871}"/>
              </a:ext>
            </a:extLst>
          </p:cNvPr>
          <p:cNvSpPr txBox="1"/>
          <p:nvPr/>
        </p:nvSpPr>
        <p:spPr>
          <a:xfrm>
            <a:off x="6560425" y="3246033"/>
            <a:ext cx="1508639" cy="228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8" b="1" dirty="0" err="1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retirado</a:t>
            </a:r>
            <a:endParaRPr lang="es-CO" dirty="0"/>
          </a:p>
        </p:txBody>
      </p:sp>
      <p:sp>
        <p:nvSpPr>
          <p:cNvPr id="125" name="Text 115">
            <a:extLst>
              <a:ext uri="{FF2B5EF4-FFF2-40B4-BE49-F238E27FC236}">
                <a16:creationId xmlns:a16="http://schemas.microsoft.com/office/drawing/2014/main" id="{6BB81A21-02C6-7DC9-8357-F8F8BBF1567A}"/>
              </a:ext>
            </a:extLst>
          </p:cNvPr>
          <p:cNvSpPr/>
          <p:nvPr/>
        </p:nvSpPr>
        <p:spPr>
          <a:xfrm>
            <a:off x="9167881" y="5224730"/>
            <a:ext cx="107655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080" dirty="0"/>
          </a:p>
        </p:txBody>
      </p:sp>
      <p:sp>
        <p:nvSpPr>
          <p:cNvPr id="127" name="Text 115">
            <a:extLst>
              <a:ext uri="{FF2B5EF4-FFF2-40B4-BE49-F238E27FC236}">
                <a16:creationId xmlns:a16="http://schemas.microsoft.com/office/drawing/2014/main" id="{C93BD352-9589-193F-1840-9E0240F270B4}"/>
              </a:ext>
            </a:extLst>
          </p:cNvPr>
          <p:cNvSpPr/>
          <p:nvPr/>
        </p:nvSpPr>
        <p:spPr>
          <a:xfrm>
            <a:off x="10409903" y="5191310"/>
            <a:ext cx="107655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80" dirty="0"/>
          </a:p>
        </p:txBody>
      </p:sp>
      <p:sp>
        <p:nvSpPr>
          <p:cNvPr id="131" name="Text 111">
            <a:extLst>
              <a:ext uri="{FF2B5EF4-FFF2-40B4-BE49-F238E27FC236}">
                <a16:creationId xmlns:a16="http://schemas.microsoft.com/office/drawing/2014/main" id="{734923F6-66EA-E101-594A-ECCC61D09E74}"/>
              </a:ext>
            </a:extLst>
          </p:cNvPr>
          <p:cNvSpPr/>
          <p:nvPr/>
        </p:nvSpPr>
        <p:spPr>
          <a:xfrm>
            <a:off x="4566528" y="5130448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72" dirty="0"/>
          </a:p>
        </p:txBody>
      </p:sp>
      <p:sp>
        <p:nvSpPr>
          <p:cNvPr id="133" name="Text 111">
            <a:extLst>
              <a:ext uri="{FF2B5EF4-FFF2-40B4-BE49-F238E27FC236}">
                <a16:creationId xmlns:a16="http://schemas.microsoft.com/office/drawing/2014/main" id="{6AE3336D-B47F-A8BA-A635-E9021EAA1B9B}"/>
              </a:ext>
            </a:extLst>
          </p:cNvPr>
          <p:cNvSpPr/>
          <p:nvPr/>
        </p:nvSpPr>
        <p:spPr>
          <a:xfrm>
            <a:off x="4566528" y="5302315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72" dirty="0"/>
          </a:p>
        </p:txBody>
      </p:sp>
      <p:sp>
        <p:nvSpPr>
          <p:cNvPr id="135" name="Text 111">
            <a:extLst>
              <a:ext uri="{FF2B5EF4-FFF2-40B4-BE49-F238E27FC236}">
                <a16:creationId xmlns:a16="http://schemas.microsoft.com/office/drawing/2014/main" id="{951120E3-0FD1-626D-9DC0-1716374F8B4C}"/>
              </a:ext>
            </a:extLst>
          </p:cNvPr>
          <p:cNvSpPr/>
          <p:nvPr/>
        </p:nvSpPr>
        <p:spPr>
          <a:xfrm>
            <a:off x="4566528" y="5495638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72" dirty="0"/>
          </a:p>
        </p:txBody>
      </p:sp>
      <p:sp>
        <p:nvSpPr>
          <p:cNvPr id="137" name="Text 111">
            <a:extLst>
              <a:ext uri="{FF2B5EF4-FFF2-40B4-BE49-F238E27FC236}">
                <a16:creationId xmlns:a16="http://schemas.microsoft.com/office/drawing/2014/main" id="{781C82A5-9AA1-19E0-4CF3-352F09CE308B}"/>
              </a:ext>
            </a:extLst>
          </p:cNvPr>
          <p:cNvSpPr/>
          <p:nvPr/>
        </p:nvSpPr>
        <p:spPr>
          <a:xfrm>
            <a:off x="4566528" y="5662612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2_V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3411" y="6286830"/>
            <a:ext cx="10377578" cy="534073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Retail cerró el semestre con 13.155 ventas efectivas entre Cuota Protegida y Rueda Seguro, sosteniendo una efectividad promedio superior al 69 % durante todo el semestre — un desempeño comercial consistente que valida el enfoque del canal en los puntos de mayor valor.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113801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Gestores y PDV en la fila de total corresponden al promedio mensual de la estructura activa del canal (los mismos gestores atienden Cuota Protegida y Rueda Seguro).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31815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685783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81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</a:t>
            </a: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Protegida Retail (Como vamos)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16.062 cantadas (79,0%)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257769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Rueda Seguro Retail (Como vamos)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350511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675 cantadas (69,2%)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06757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Reales consolidadas de cierre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8634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 · 135 gestores activos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1S (Efectivas)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1S (Efectivas)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906757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Mayo + Junio</a:t>
            </a:r>
            <a:endParaRPr lang="en-US" sz="696" dirty="0"/>
          </a:p>
        </p:txBody>
      </p:sp>
      <p:sp>
        <p:nvSpPr>
          <p:cNvPr id="15" name="Text 12"/>
          <p:cNvSpPr/>
          <p:nvPr/>
        </p:nvSpPr>
        <p:spPr>
          <a:xfrm>
            <a:off x="628634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 CP Semestre</a:t>
            </a:r>
            <a:endParaRPr lang="en-US" sz="696" dirty="0"/>
          </a:p>
        </p:txBody>
      </p:sp>
      <p:sp>
        <p:nvSpPr>
          <p:cNvPr id="16" name="Text 13"/>
          <p:cNvSpPr/>
          <p:nvPr/>
        </p:nvSpPr>
        <p:spPr>
          <a:xfrm>
            <a:off x="4070199" y="1982116"/>
            <a:ext cx="10081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403172" y="1982116"/>
            <a:ext cx="11374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519051" y="1982116"/>
            <a:ext cx="987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074117" y="1982116"/>
            <a:ext cx="102596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5049017" y="1982116"/>
            <a:ext cx="9114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85783" y="5227164"/>
            <a:ext cx="85826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197743" y="1982116"/>
            <a:ext cx="11141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279399" y="1982116"/>
            <a:ext cx="115748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10507449" y="1982116"/>
            <a:ext cx="10284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257769" y="5227164"/>
            <a:ext cx="96817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074117" y="5227164"/>
            <a:ext cx="102596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16.062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4070199" y="5227164"/>
            <a:ext cx="1008183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2388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3074117" y="2210716"/>
            <a:ext cx="102596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1.953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3992565" y="2176212"/>
            <a:ext cx="1008183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1.614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4971383" y="2176212"/>
            <a:ext cx="91145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82,6%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3074117" y="270601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2.298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3992565" y="2671512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1.798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4971383" y="2671512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78,2%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3074117" y="321024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3.344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3992565" y="3175742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971383" y="3175742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74,0%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3074117" y="371447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2.731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3992565" y="3679971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971383" y="3679971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79,7%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3074117" y="421870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3992565" y="4184201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2.443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4971383" y="4184201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78,4%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3074117" y="472293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2.620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3992565" y="4688431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2.182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971383" y="4688431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83,3%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971383" y="5192660"/>
            <a:ext cx="91145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10412562" y="2184838"/>
            <a:ext cx="102841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54,0%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10412562" y="2680138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54,2%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10412562" y="3184368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72,2%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10412562" y="3688597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75,8%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10412562" y="4192827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68,0%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10412562" y="4697057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10412562" y="5201286"/>
            <a:ext cx="102841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69,2%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628634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1020" dirty="0"/>
          </a:p>
        </p:txBody>
      </p:sp>
      <p:sp>
        <p:nvSpPr>
          <p:cNvPr id="56" name="Text 53"/>
          <p:cNvSpPr/>
          <p:nvPr/>
        </p:nvSpPr>
        <p:spPr>
          <a:xfrm>
            <a:off x="906757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4.625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1519051" y="5227164"/>
            <a:ext cx="987642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123*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7197743" y="5227164"/>
            <a:ext cx="11141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122*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685783" y="1982116"/>
            <a:ext cx="8582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2477926" y="1982116"/>
            <a:ext cx="61407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685783" y="2210716"/>
            <a:ext cx="85826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1519051" y="2210716"/>
            <a:ext cx="987642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685783" y="270601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1519051" y="270601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685783" y="321024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1519051" y="321024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685783" y="371447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519051" y="371447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85783" y="421870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685783" y="472293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2477926" y="5227164"/>
            <a:ext cx="61407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74*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6257769" y="1982116"/>
            <a:ext cx="96817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6257769" y="2210716"/>
            <a:ext cx="96817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7197743" y="2210716"/>
            <a:ext cx="11141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6257769" y="270601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197743" y="270601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8279399" y="270601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57769" y="321024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197743" y="321024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279399" y="321024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9308285" y="3184368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371447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197743" y="371447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8279399" y="371447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6257769" y="421870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8279399" y="421870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6257769" y="472293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8279399" y="472293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8279399" y="5227164"/>
            <a:ext cx="115748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9403172" y="5227164"/>
            <a:ext cx="11374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50511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1020" dirty="0"/>
          </a:p>
        </p:txBody>
      </p:sp>
      <p:sp>
        <p:nvSpPr>
          <p:cNvPr id="92" name="Text 89"/>
          <p:cNvSpPr/>
          <p:nvPr/>
        </p:nvSpPr>
        <p:spPr>
          <a:xfrm>
            <a:off x="2477926" y="2210716"/>
            <a:ext cx="61407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477926" y="270601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477926" y="321024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477926" y="371447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519051" y="421870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2477926" y="421870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1519051" y="472293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477926" y="472293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8279399" y="2210716"/>
            <a:ext cx="115748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9308285" y="2184838"/>
            <a:ext cx="11374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9308285" y="2680138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9308285" y="3688597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7197743" y="421870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9308285" y="4192827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7197743" y="472293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9308285" y="4697057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8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920</Words>
  <Application>Microsoft Office PowerPoint</Application>
  <PresentationFormat>Widescreen</PresentationFormat>
  <Paragraphs>295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Raleway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2</cp:revision>
  <dcterms:created xsi:type="dcterms:W3CDTF">2026-07-17T19:45:43Z</dcterms:created>
  <dcterms:modified xsi:type="dcterms:W3CDTF">2026-07-17T19:58:00Z</dcterms:modified>
</cp:coreProperties>
</file>