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168527"/>
            <a:ext cx="4912054" cy="570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Estrategia para alcanzar</a:t>
            </a:r>
            <a:endParaRPr lang="en-US" sz="1380" dirty="0"/>
          </a:p>
        </p:txBody>
      </p:sp>
      <p:sp>
        <p:nvSpPr>
          <p:cNvPr id="4" name="Text 1"/>
          <p:cNvSpPr/>
          <p:nvPr/>
        </p:nvSpPr>
        <p:spPr>
          <a:xfrm>
            <a:off x="952476" y="1872704"/>
            <a:ext cx="339143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4022872" y="5149900"/>
            <a:ext cx="1841590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Data Marshall, Gestión Integral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4959400"/>
            <a:ext cx="176314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</a:t>
            </a:r>
            <a:endParaRPr lang="en-US" sz="768" dirty="0"/>
          </a:p>
        </p:txBody>
      </p:sp>
      <p:sp>
        <p:nvSpPr>
          <p:cNvPr id="7" name="Text 4"/>
          <p:cNvSpPr/>
          <p:nvPr/>
        </p:nvSpPr>
        <p:spPr>
          <a:xfrm>
            <a:off x="3951734" y="5737771"/>
            <a:ext cx="1952539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15–21 asesores activos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2411997" y="5737771"/>
            <a:ext cx="1496712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 ventas 1S</a:t>
            </a:r>
            <a:endParaRPr lang="en-US" sz="936" dirty="0"/>
          </a:p>
        </p:txBody>
      </p:sp>
      <p:sp>
        <p:nvSpPr>
          <p:cNvPr id="9" name="Text 6"/>
          <p:cNvSpPr/>
          <p:nvPr/>
        </p:nvSpPr>
        <p:spPr>
          <a:xfrm>
            <a:off x="952476" y="5121325"/>
            <a:ext cx="1763145" cy="206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Martha Carvajal</a:t>
            </a:r>
            <a:endParaRPr lang="en-US" sz="1032" dirty="0"/>
          </a:p>
        </p:txBody>
      </p:sp>
      <p:sp>
        <p:nvSpPr>
          <p:cNvPr id="10" name="Text 7"/>
          <p:cNvSpPr/>
          <p:nvPr/>
        </p:nvSpPr>
        <p:spPr>
          <a:xfrm>
            <a:off x="3174573" y="4959400"/>
            <a:ext cx="273230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</a:t>
            </a:r>
            <a:endParaRPr lang="en-US" sz="768" dirty="0"/>
          </a:p>
        </p:txBody>
      </p:sp>
      <p:sp>
        <p:nvSpPr>
          <p:cNvPr id="11" name="Text 8"/>
          <p:cNvSpPr/>
          <p:nvPr/>
        </p:nvSpPr>
        <p:spPr>
          <a:xfrm>
            <a:off x="952476" y="5737771"/>
            <a:ext cx="1412485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Jun 2026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3174573" y="5121325"/>
            <a:ext cx="2732304" cy="20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</a:t>
            </a:r>
            <a:endParaRPr lang="en-US" sz="1032" dirty="0"/>
          </a:p>
        </p:txBody>
      </p:sp>
      <p:sp>
        <p:nvSpPr>
          <p:cNvPr id="13" name="Text 10"/>
          <p:cNvSpPr/>
          <p:nvPr/>
        </p:nvSpPr>
        <p:spPr>
          <a:xfrm>
            <a:off x="5925592" y="5737771"/>
            <a:ext cx="1233092" cy="330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· Xuma</a:t>
            </a:r>
            <a:endParaRPr lang="en-US" sz="936" dirty="0"/>
          </a:p>
        </p:txBody>
      </p:sp>
      <p:sp>
        <p:nvSpPr>
          <p:cNvPr id="14" name="Text 11"/>
          <p:cNvSpPr/>
          <p:nvPr/>
        </p:nvSpPr>
        <p:spPr>
          <a:xfrm>
            <a:off x="952476" y="2771329"/>
            <a:ext cx="3049367" cy="670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52476" y="2187029"/>
            <a:ext cx="3049367" cy="1900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800580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ventas, desempeño por asesor, eficiencia por campaña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 iniciativas ejecutadas durante el primer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142545" cy="110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59002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300599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021" y="5876925"/>
            <a:ext cx="6844434" cy="1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superada al  — 13.917 pólizas vendidas vs 9.444 de meta. CP 10.534 (145 %) · VOL 3.383 (154 %).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918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00080" y="1009650"/>
            <a:ext cx="3346897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· Semestre completo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1514475"/>
            <a:ext cx="334689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 ene–jun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2458579" y="2243160"/>
            <a:ext cx="31576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5465874" y="2243160"/>
            <a:ext cx="315765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4520988" y="1009650"/>
            <a:ext cx="3347053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4520988" y="1423095"/>
            <a:ext cx="334705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 del total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8242044" y="1423095"/>
            <a:ext cx="334689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24 % del total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3980904" y="2471760"/>
            <a:ext cx="1559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988199" y="2471760"/>
            <a:ext cx="155921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9995493" y="2471760"/>
            <a:ext cx="1545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8242044" y="1009650"/>
            <a:ext cx="3346897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1391657" y="2243160"/>
            <a:ext cx="1120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8473169" y="2243160"/>
            <a:ext cx="3144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3980904" y="2700360"/>
            <a:ext cx="155921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988199" y="2700360"/>
            <a:ext cx="155921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9995493" y="2700360"/>
            <a:ext cx="154593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132,0 %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3980904" y="2943248"/>
            <a:ext cx="15592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6988199" y="2943248"/>
            <a:ext cx="15592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286,0 %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9995493" y="2943248"/>
            <a:ext cx="15459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3980904" y="3190898"/>
            <a:ext cx="15592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159,0 %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6988199" y="3190898"/>
            <a:ext cx="15592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9995493" y="3190898"/>
            <a:ext cx="15459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3980904" y="3438548"/>
            <a:ext cx="15592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9995493" y="3438548"/>
            <a:ext cx="15459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3980904" y="3686198"/>
            <a:ext cx="15592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6988199" y="3686198"/>
            <a:ext cx="15592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9995493" y="3686198"/>
            <a:ext cx="15459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3980904" y="3933848"/>
            <a:ext cx="15592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6988199" y="3933848"/>
            <a:ext cx="15592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9995493" y="3933848"/>
            <a:ext cx="154593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980904" y="4181498"/>
            <a:ext cx="155921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6988199" y="4181498"/>
            <a:ext cx="155921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9995493" y="4181498"/>
            <a:ext cx="154593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147,0 %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6988199" y="3438548"/>
            <a:ext cx="155921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89,0 %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2458579" y="4181498"/>
            <a:ext cx="8396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8473169" y="4181498"/>
            <a:ext cx="8396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800080" y="1171575"/>
            <a:ext cx="33468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4520988" y="1171575"/>
            <a:ext cx="3347053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2458579" y="2471760"/>
            <a:ext cx="839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5465874" y="2471760"/>
            <a:ext cx="839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8473169" y="2471760"/>
            <a:ext cx="8396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2458579" y="2700360"/>
            <a:ext cx="8396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3258213" y="2700360"/>
            <a:ext cx="75882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8473169" y="2700360"/>
            <a:ext cx="8396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9272802" y="2700360"/>
            <a:ext cx="75882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1.695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2458579" y="294324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3258213" y="294324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8473169" y="294324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9272802" y="294324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1.391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2458579" y="319089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3258213" y="319089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8473169" y="319089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9272802" y="319089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2458579" y="343854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3258213" y="343854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8473169" y="343854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9272802" y="343854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1.818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2458579" y="368619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3258213" y="368619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8473169" y="368619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9272802" y="368619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1.452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2458579" y="393384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3258213" y="393384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8473169" y="393384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9272802" y="393384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723882" y="4181498"/>
            <a:ext cx="70116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3258213" y="4181498"/>
            <a:ext cx="75882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7.250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5465874" y="4181498"/>
            <a:ext cx="8396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6265507" y="4181498"/>
            <a:ext cx="75882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2.194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9272802" y="4181498"/>
            <a:ext cx="75882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9.444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8242044" y="1171575"/>
            <a:ext cx="3346897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10378419" y="1990725"/>
            <a:ext cx="524896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3258213" y="2471760"/>
            <a:ext cx="758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6265507" y="2471760"/>
            <a:ext cx="758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9272802" y="2471760"/>
            <a:ext cx="7588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10935468" y="1990725"/>
            <a:ext cx="55896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81" name="Text 78"/>
          <p:cNvSpPr/>
          <p:nvPr/>
        </p:nvSpPr>
        <p:spPr>
          <a:xfrm>
            <a:off x="723882" y="2243160"/>
            <a:ext cx="7011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723882" y="2700360"/>
            <a:ext cx="70116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83" name="Text 80"/>
          <p:cNvSpPr/>
          <p:nvPr/>
        </p:nvSpPr>
        <p:spPr>
          <a:xfrm>
            <a:off x="5465874" y="2700360"/>
            <a:ext cx="83961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84" name="Text 81"/>
          <p:cNvSpPr/>
          <p:nvPr/>
        </p:nvSpPr>
        <p:spPr>
          <a:xfrm>
            <a:off x="6265507" y="2700360"/>
            <a:ext cx="75882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723882" y="2943248"/>
            <a:ext cx="7011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5465874" y="294324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6265507" y="294324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194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723882" y="3190898"/>
            <a:ext cx="7011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5465874" y="319089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6265507" y="319089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371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723882" y="3438548"/>
            <a:ext cx="7011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5465874" y="343854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6265507" y="343854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621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723882" y="3686198"/>
            <a:ext cx="7011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5465874" y="368619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6265507" y="368619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221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723882" y="3933848"/>
            <a:ext cx="70116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5465874" y="3933848"/>
            <a:ext cx="8396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6265507" y="3933848"/>
            <a:ext cx="75882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289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1391657" y="2700360"/>
            <a:ext cx="112026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1391657" y="2943248"/>
            <a:ext cx="11202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1391657" y="3190898"/>
            <a:ext cx="11202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1391657" y="3438548"/>
            <a:ext cx="11202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1391657" y="3686198"/>
            <a:ext cx="11202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1391657" y="3933848"/>
            <a:ext cx="112026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1391657" y="4181498"/>
            <a:ext cx="112026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62021" y="5876925"/>
            <a:ext cx="9261707" cy="196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GAAP del  frente a la meta general, equivalente a  no emitidas en el semestre. Cumplimiento general 96 % (CP 90 % · VOL 116 %).</a:t>
            </a:r>
            <a:endParaRPr lang="en-US" sz="984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9182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800080" y="1009650"/>
            <a:ext cx="3346897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· Semestre completo</a:t>
            </a:r>
            <a:endParaRPr lang="en-US" sz="816" dirty="0"/>
          </a:p>
        </p:txBody>
      </p:sp>
      <p:sp>
        <p:nvSpPr>
          <p:cNvPr id="6" name="Text 3"/>
          <p:cNvSpPr/>
          <p:nvPr/>
        </p:nvSpPr>
        <p:spPr>
          <a:xfrm>
            <a:off x="800080" y="1514475"/>
            <a:ext cx="334689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 ene–jun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2449352" y="2246502"/>
            <a:ext cx="31693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5467809" y="2246502"/>
            <a:ext cx="31406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4520988" y="1009650"/>
            <a:ext cx="3347053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</a:t>
            </a:r>
            <a:endParaRPr lang="en-US" sz="816" dirty="0"/>
          </a:p>
        </p:txBody>
      </p:sp>
      <p:sp>
        <p:nvSpPr>
          <p:cNvPr id="10" name="Text 7"/>
          <p:cNvSpPr/>
          <p:nvPr/>
        </p:nvSpPr>
        <p:spPr>
          <a:xfrm>
            <a:off x="4520988" y="1423095"/>
            <a:ext cx="334705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 del total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8242044" y="1423095"/>
            <a:ext cx="3346897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24 % del total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3990875" y="2475102"/>
            <a:ext cx="1550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6981948" y="2475102"/>
            <a:ext cx="15507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10003232" y="2475102"/>
            <a:ext cx="15378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8242044" y="1009650"/>
            <a:ext cx="3346897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1388085" y="2246502"/>
            <a:ext cx="111433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8458881" y="2246502"/>
            <a:ext cx="31593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6981948" y="2703702"/>
            <a:ext cx="155078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10003232" y="2703702"/>
            <a:ext cx="15378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105,0 %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3990875" y="2946590"/>
            <a:ext cx="1550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6981948" y="2946590"/>
            <a:ext cx="1550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111,0 %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10003232" y="2946590"/>
            <a:ext cx="15378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3990875" y="3194240"/>
            <a:ext cx="1550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6981948" y="3194240"/>
            <a:ext cx="1550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106,0 %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10003232" y="3194240"/>
            <a:ext cx="15378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6981948" y="3441890"/>
            <a:ext cx="1550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6981948" y="3689540"/>
            <a:ext cx="1550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124,0 %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6981948" y="3937190"/>
            <a:ext cx="1550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6981948" y="4184840"/>
            <a:ext cx="155078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3990875" y="2703702"/>
            <a:ext cx="155078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3990875" y="3441890"/>
            <a:ext cx="1550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10003232" y="3441890"/>
            <a:ext cx="15378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3990875" y="3689540"/>
            <a:ext cx="1550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10003232" y="3689540"/>
            <a:ext cx="15378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3990875" y="3937190"/>
            <a:ext cx="15507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10003232" y="3937190"/>
            <a:ext cx="15378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2449352" y="4184840"/>
            <a:ext cx="83508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3244670" y="4184840"/>
            <a:ext cx="78351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11.643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3990875" y="4184840"/>
            <a:ext cx="155078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90,0 %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8458881" y="4184840"/>
            <a:ext cx="83508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9254199" y="4184840"/>
            <a:ext cx="78648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14.572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10003232" y="4184840"/>
            <a:ext cx="15378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96,0 %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800080" y="1171575"/>
            <a:ext cx="3346897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4520988" y="1171575"/>
            <a:ext cx="3347053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2449352" y="2475102"/>
            <a:ext cx="835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5467809" y="2475102"/>
            <a:ext cx="835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8458881" y="2475102"/>
            <a:ext cx="83508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2449352" y="2703702"/>
            <a:ext cx="83508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3244670" y="2703702"/>
            <a:ext cx="78351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1.703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8458881" y="2703702"/>
            <a:ext cx="83508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9254199" y="2703702"/>
            <a:ext cx="78648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2.132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2449352" y="294659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3244670" y="2946590"/>
            <a:ext cx="783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8458881" y="294659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9254199" y="2946590"/>
            <a:ext cx="7864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2449352" y="319424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3244670" y="3194240"/>
            <a:ext cx="783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8458881" y="319424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9254199" y="3194240"/>
            <a:ext cx="7864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2449352" y="344189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3244670" y="3441890"/>
            <a:ext cx="783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8458881" y="344189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9254199" y="3441890"/>
            <a:ext cx="7864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2449352" y="368954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3244670" y="3689540"/>
            <a:ext cx="783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2.100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8458881" y="368954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9254199" y="3689540"/>
            <a:ext cx="7864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2.600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2449352" y="393719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3244670" y="3937190"/>
            <a:ext cx="7835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2.000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8458881" y="393719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9254199" y="3937190"/>
            <a:ext cx="7864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723882" y="4184840"/>
            <a:ext cx="6974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5467809" y="4184840"/>
            <a:ext cx="83508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6263126" y="4184840"/>
            <a:ext cx="7547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2.929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8242044" y="1171575"/>
            <a:ext cx="3346897" cy="2240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1400" dirty="0"/>
          </a:p>
        </p:txBody>
      </p:sp>
      <p:sp>
        <p:nvSpPr>
          <p:cNvPr id="76" name="Text 73"/>
          <p:cNvSpPr/>
          <p:nvPr/>
        </p:nvSpPr>
        <p:spPr>
          <a:xfrm>
            <a:off x="10378419" y="1990725"/>
            <a:ext cx="524896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3244670" y="2475102"/>
            <a:ext cx="7835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6263126" y="2475102"/>
            <a:ext cx="7547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79" name="Text 76"/>
          <p:cNvSpPr/>
          <p:nvPr/>
        </p:nvSpPr>
        <p:spPr>
          <a:xfrm>
            <a:off x="9254199" y="2475102"/>
            <a:ext cx="7864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10935468" y="1990725"/>
            <a:ext cx="558962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81" name="Text 78"/>
          <p:cNvSpPr/>
          <p:nvPr/>
        </p:nvSpPr>
        <p:spPr>
          <a:xfrm>
            <a:off x="723882" y="2246502"/>
            <a:ext cx="69741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723882" y="2703702"/>
            <a:ext cx="69741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83" name="Text 80"/>
          <p:cNvSpPr/>
          <p:nvPr/>
        </p:nvSpPr>
        <p:spPr>
          <a:xfrm>
            <a:off x="5467809" y="2703702"/>
            <a:ext cx="83508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84" name="Text 81"/>
          <p:cNvSpPr/>
          <p:nvPr/>
        </p:nvSpPr>
        <p:spPr>
          <a:xfrm>
            <a:off x="6263126" y="2703702"/>
            <a:ext cx="75476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429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723882" y="2946590"/>
            <a:ext cx="6974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5467809" y="294659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6263126" y="2946590"/>
            <a:ext cx="7547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723882" y="3194240"/>
            <a:ext cx="6974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5467809" y="319424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6263126" y="3194240"/>
            <a:ext cx="7547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723882" y="3441890"/>
            <a:ext cx="6974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5467809" y="344189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6263126" y="3441890"/>
            <a:ext cx="7547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723882" y="3689540"/>
            <a:ext cx="6974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5467809" y="368954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6263126" y="3689540"/>
            <a:ext cx="7547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723882" y="3937190"/>
            <a:ext cx="69741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5467809" y="3937190"/>
            <a:ext cx="83508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6263126" y="3937190"/>
            <a:ext cx="75476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1388085" y="2703702"/>
            <a:ext cx="111433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1388085" y="2946590"/>
            <a:ext cx="11143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1388085" y="3194240"/>
            <a:ext cx="11143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1388085" y="3441890"/>
            <a:ext cx="11143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1388085" y="3689540"/>
            <a:ext cx="11143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1388085" y="3937190"/>
            <a:ext cx="111433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1388085" y="4184840"/>
            <a:ext cx="111433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339929"/>
            <a:ext cx="7381988" cy="16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 del descarte son, registros recibidos anteriormente y el  y clientes con el producto activo es el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6276818" y="5977979"/>
            <a:ext cx="54705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624" dirty="0"/>
          </a:p>
        </p:txBody>
      </p:sp>
      <p:sp>
        <p:nvSpPr>
          <p:cNvPr id="5" name="Text 2"/>
          <p:cNvSpPr/>
          <p:nvPr/>
        </p:nvSpPr>
        <p:spPr>
          <a:xfrm>
            <a:off x="9100910" y="1470720"/>
            <a:ext cx="25052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66 registros recibidos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571486" y="209550"/>
            <a:ext cx="302045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742931" y="971550"/>
            <a:ext cx="25052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(ene–jun)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742931" y="1470720"/>
            <a:ext cx="25052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dashboards Power BI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3528924" y="1470720"/>
            <a:ext cx="25052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40 % apto para gestión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276818" y="5587008"/>
            <a:ext cx="16351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liquidación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9929564" y="2467124"/>
            <a:ext cx="163516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744" dirty="0"/>
          </a:p>
        </p:txBody>
      </p:sp>
      <p:sp>
        <p:nvSpPr>
          <p:cNvPr id="12" name="Text 9"/>
          <p:cNvSpPr/>
          <p:nvPr/>
        </p:nvSpPr>
        <p:spPr>
          <a:xfrm>
            <a:off x="6314917" y="971550"/>
            <a:ext cx="25052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6314917" y="1470720"/>
            <a:ext cx="25052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921.480 recibidos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6276818" y="2407146"/>
            <a:ext cx="1635163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6276818" y="3171379"/>
            <a:ext cx="1635163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6276818" y="4058394"/>
            <a:ext cx="16351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marcados</a:t>
            </a:r>
            <a:endParaRPr lang="en-US" sz="672" dirty="0"/>
          </a:p>
        </p:txBody>
      </p:sp>
      <p:sp>
        <p:nvSpPr>
          <p:cNvPr id="17" name="Text 14"/>
          <p:cNvSpPr/>
          <p:nvPr/>
        </p:nvSpPr>
        <p:spPr>
          <a:xfrm>
            <a:off x="9929564" y="3231505"/>
            <a:ext cx="163516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18" name="Text 15"/>
          <p:cNvSpPr/>
          <p:nvPr/>
        </p:nvSpPr>
        <p:spPr>
          <a:xfrm>
            <a:off x="9929564" y="3995737"/>
            <a:ext cx="163516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19" name="Text 16"/>
          <p:cNvSpPr/>
          <p:nvPr/>
        </p:nvSpPr>
        <p:spPr>
          <a:xfrm>
            <a:off x="6276818" y="4822627"/>
            <a:ext cx="16351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9929564" y="4760119"/>
            <a:ext cx="163516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1" name="Text 18"/>
          <p:cNvSpPr/>
          <p:nvPr/>
        </p:nvSpPr>
        <p:spPr>
          <a:xfrm>
            <a:off x="9929564" y="5524351"/>
            <a:ext cx="163516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2" name="Text 19"/>
          <p:cNvSpPr/>
          <p:nvPr/>
        </p:nvSpPr>
        <p:spPr>
          <a:xfrm>
            <a:off x="3528924" y="971550"/>
            <a:ext cx="25052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6276818" y="3294013"/>
            <a:ext cx="16351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6276818" y="3935760"/>
            <a:ext cx="1635163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276818" y="4699992"/>
            <a:ext cx="1635163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2267489" y="2066055"/>
            <a:ext cx="11854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6276818" y="2529780"/>
            <a:ext cx="16351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Vanti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1294475" y="2066055"/>
            <a:ext cx="1021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3396471" y="2066055"/>
            <a:ext cx="10793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9100910" y="971550"/>
            <a:ext cx="25052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1S</a:t>
            </a:r>
            <a:endParaRPr lang="en-US" sz="864" dirty="0"/>
          </a:p>
        </p:txBody>
      </p:sp>
      <p:sp>
        <p:nvSpPr>
          <p:cNvPr id="31" name="Text 28"/>
          <p:cNvSpPr/>
          <p:nvPr/>
        </p:nvSpPr>
        <p:spPr>
          <a:xfrm>
            <a:off x="1294475" y="2294655"/>
            <a:ext cx="1021665" cy="5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202.777</a:t>
            </a:r>
            <a:endParaRPr lang="en-US" sz="840" dirty="0"/>
          </a:p>
        </p:txBody>
      </p:sp>
      <p:sp>
        <p:nvSpPr>
          <p:cNvPr id="32" name="Text 29"/>
          <p:cNvSpPr/>
          <p:nvPr/>
        </p:nvSpPr>
        <p:spPr>
          <a:xfrm>
            <a:off x="4424401" y="2294655"/>
            <a:ext cx="769296" cy="5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103.536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1294475" y="3383630"/>
            <a:ext cx="1021665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136.044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1294475" y="3933401"/>
            <a:ext cx="1021665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154.848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2267489" y="3933401"/>
            <a:ext cx="1185431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1294475" y="4483172"/>
            <a:ext cx="1021665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156.200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2267489" y="4483172"/>
            <a:ext cx="1185431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1294475" y="5032944"/>
            <a:ext cx="1021665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175.118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2267489" y="5032944"/>
            <a:ext cx="1185431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1294475" y="5582715"/>
            <a:ext cx="102166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2267489" y="5582715"/>
            <a:ext cx="1185431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4424401" y="5582715"/>
            <a:ext cx="769296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742931" y="1143000"/>
            <a:ext cx="2505250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6314917" y="1143000"/>
            <a:ext cx="2505250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7929364" y="2137470"/>
            <a:ext cx="2000200" cy="80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912" dirty="0"/>
          </a:p>
        </p:txBody>
      </p:sp>
      <p:sp>
        <p:nvSpPr>
          <p:cNvPr id="46" name="Text 43"/>
          <p:cNvSpPr/>
          <p:nvPr/>
        </p:nvSpPr>
        <p:spPr>
          <a:xfrm>
            <a:off x="7929364" y="2901702"/>
            <a:ext cx="2000200" cy="80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912" dirty="0"/>
          </a:p>
        </p:txBody>
      </p:sp>
      <p:sp>
        <p:nvSpPr>
          <p:cNvPr id="47" name="Text 44"/>
          <p:cNvSpPr/>
          <p:nvPr/>
        </p:nvSpPr>
        <p:spPr>
          <a:xfrm>
            <a:off x="7929364" y="3666083"/>
            <a:ext cx="2000200" cy="80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365.090</a:t>
            </a:r>
            <a:endParaRPr lang="en-US" sz="912" dirty="0"/>
          </a:p>
        </p:txBody>
      </p:sp>
      <p:sp>
        <p:nvSpPr>
          <p:cNvPr id="48" name="Text 45"/>
          <p:cNvSpPr/>
          <p:nvPr/>
        </p:nvSpPr>
        <p:spPr>
          <a:xfrm>
            <a:off x="7929364" y="4430316"/>
            <a:ext cx="2000200" cy="80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</a:t>
            </a:r>
            <a:endParaRPr lang="en-US" sz="912" dirty="0"/>
          </a:p>
        </p:txBody>
      </p:sp>
      <p:sp>
        <p:nvSpPr>
          <p:cNvPr id="49" name="Text 46"/>
          <p:cNvSpPr/>
          <p:nvPr/>
        </p:nvSpPr>
        <p:spPr>
          <a:xfrm>
            <a:off x="5157063" y="2066055"/>
            <a:ext cx="7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2267489" y="2294655"/>
            <a:ext cx="1185431" cy="5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1294475" y="2833859"/>
            <a:ext cx="1021665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96.493</a:t>
            </a:r>
            <a:endParaRPr lang="en-US" sz="840" dirty="0"/>
          </a:p>
        </p:txBody>
      </p:sp>
      <p:sp>
        <p:nvSpPr>
          <p:cNvPr id="52" name="Text 49"/>
          <p:cNvSpPr/>
          <p:nvPr/>
        </p:nvSpPr>
        <p:spPr>
          <a:xfrm>
            <a:off x="2267489" y="2833859"/>
            <a:ext cx="1185431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840" dirty="0"/>
          </a:p>
        </p:txBody>
      </p:sp>
      <p:sp>
        <p:nvSpPr>
          <p:cNvPr id="53" name="Text 50"/>
          <p:cNvSpPr/>
          <p:nvPr/>
        </p:nvSpPr>
        <p:spPr>
          <a:xfrm>
            <a:off x="4424401" y="2833859"/>
            <a:ext cx="769296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48.308</a:t>
            </a:r>
            <a:endParaRPr lang="en-US" sz="840" dirty="0"/>
          </a:p>
        </p:txBody>
      </p:sp>
      <p:sp>
        <p:nvSpPr>
          <p:cNvPr id="54" name="Text 51"/>
          <p:cNvSpPr/>
          <p:nvPr/>
        </p:nvSpPr>
        <p:spPr>
          <a:xfrm>
            <a:off x="2267489" y="3383630"/>
            <a:ext cx="1185431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840" dirty="0"/>
          </a:p>
        </p:txBody>
      </p:sp>
      <p:sp>
        <p:nvSpPr>
          <p:cNvPr id="55" name="Text 52"/>
          <p:cNvSpPr/>
          <p:nvPr/>
        </p:nvSpPr>
        <p:spPr>
          <a:xfrm>
            <a:off x="4424401" y="3383630"/>
            <a:ext cx="769296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75.046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4424401" y="3933401"/>
            <a:ext cx="769296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40.725</a:t>
            </a:r>
            <a:endParaRPr lang="en-US" sz="840" dirty="0"/>
          </a:p>
        </p:txBody>
      </p:sp>
      <p:sp>
        <p:nvSpPr>
          <p:cNvPr id="57" name="Text 54"/>
          <p:cNvSpPr/>
          <p:nvPr/>
        </p:nvSpPr>
        <p:spPr>
          <a:xfrm>
            <a:off x="4424401" y="4483172"/>
            <a:ext cx="769296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39.509</a:t>
            </a:r>
            <a:endParaRPr lang="en-US" sz="840" dirty="0"/>
          </a:p>
        </p:txBody>
      </p:sp>
      <p:sp>
        <p:nvSpPr>
          <p:cNvPr id="58" name="Text 55"/>
          <p:cNvSpPr/>
          <p:nvPr/>
        </p:nvSpPr>
        <p:spPr>
          <a:xfrm>
            <a:off x="4424401" y="5032944"/>
            <a:ext cx="769296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65.988</a:t>
            </a:r>
            <a:endParaRPr lang="en-US" sz="840" dirty="0"/>
          </a:p>
        </p:txBody>
      </p:sp>
      <p:sp>
        <p:nvSpPr>
          <p:cNvPr id="59" name="Text 56"/>
          <p:cNvSpPr/>
          <p:nvPr/>
        </p:nvSpPr>
        <p:spPr>
          <a:xfrm>
            <a:off x="5157063" y="5582715"/>
            <a:ext cx="795705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40" dirty="0"/>
          </a:p>
        </p:txBody>
      </p:sp>
      <p:sp>
        <p:nvSpPr>
          <p:cNvPr id="60" name="Text 57"/>
          <p:cNvSpPr/>
          <p:nvPr/>
        </p:nvSpPr>
        <p:spPr>
          <a:xfrm>
            <a:off x="9100910" y="1143000"/>
            <a:ext cx="2505250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6276818" y="5464373"/>
            <a:ext cx="1635163" cy="1287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40" dirty="0"/>
          </a:p>
        </p:txBody>
      </p:sp>
      <p:sp>
        <p:nvSpPr>
          <p:cNvPr id="62" name="Text 59"/>
          <p:cNvSpPr/>
          <p:nvPr/>
        </p:nvSpPr>
        <p:spPr>
          <a:xfrm>
            <a:off x="7929364" y="5194697"/>
            <a:ext cx="2000200" cy="8024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12" dirty="0"/>
          </a:p>
        </p:txBody>
      </p:sp>
      <p:sp>
        <p:nvSpPr>
          <p:cNvPr id="63" name="Text 60"/>
          <p:cNvSpPr/>
          <p:nvPr/>
        </p:nvSpPr>
        <p:spPr>
          <a:xfrm>
            <a:off x="4424401" y="2066055"/>
            <a:ext cx="769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5157063" y="2294655"/>
            <a:ext cx="795705" cy="5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40" dirty="0"/>
          </a:p>
        </p:txBody>
      </p:sp>
      <p:sp>
        <p:nvSpPr>
          <p:cNvPr id="65" name="Text 62"/>
          <p:cNvSpPr/>
          <p:nvPr/>
        </p:nvSpPr>
        <p:spPr>
          <a:xfrm>
            <a:off x="5157063" y="2833859"/>
            <a:ext cx="795705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40" dirty="0"/>
          </a:p>
        </p:txBody>
      </p:sp>
      <p:sp>
        <p:nvSpPr>
          <p:cNvPr id="66" name="Text 63"/>
          <p:cNvSpPr/>
          <p:nvPr/>
        </p:nvSpPr>
        <p:spPr>
          <a:xfrm>
            <a:off x="5157063" y="3383630"/>
            <a:ext cx="795705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40" dirty="0"/>
          </a:p>
        </p:txBody>
      </p:sp>
      <p:sp>
        <p:nvSpPr>
          <p:cNvPr id="67" name="Text 64"/>
          <p:cNvSpPr/>
          <p:nvPr/>
        </p:nvSpPr>
        <p:spPr>
          <a:xfrm>
            <a:off x="5157063" y="3933401"/>
            <a:ext cx="795705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40" dirty="0"/>
          </a:p>
        </p:txBody>
      </p:sp>
      <p:sp>
        <p:nvSpPr>
          <p:cNvPr id="68" name="Text 65"/>
          <p:cNvSpPr/>
          <p:nvPr/>
        </p:nvSpPr>
        <p:spPr>
          <a:xfrm>
            <a:off x="5157063" y="4483172"/>
            <a:ext cx="795705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40" dirty="0"/>
          </a:p>
        </p:txBody>
      </p:sp>
      <p:sp>
        <p:nvSpPr>
          <p:cNvPr id="69" name="Text 66"/>
          <p:cNvSpPr/>
          <p:nvPr/>
        </p:nvSpPr>
        <p:spPr>
          <a:xfrm>
            <a:off x="5157063" y="5032944"/>
            <a:ext cx="795705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40" dirty="0"/>
          </a:p>
        </p:txBody>
      </p:sp>
      <p:sp>
        <p:nvSpPr>
          <p:cNvPr id="70" name="Text 67"/>
          <p:cNvSpPr/>
          <p:nvPr/>
        </p:nvSpPr>
        <p:spPr>
          <a:xfrm>
            <a:off x="704832" y="5582715"/>
            <a:ext cx="619124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0" dirty="0"/>
          </a:p>
        </p:txBody>
      </p:sp>
      <p:sp>
        <p:nvSpPr>
          <p:cNvPr id="71" name="Text 68"/>
          <p:cNvSpPr/>
          <p:nvPr/>
        </p:nvSpPr>
        <p:spPr>
          <a:xfrm>
            <a:off x="3396471" y="2294655"/>
            <a:ext cx="1079327" cy="5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840" dirty="0"/>
          </a:p>
        </p:txBody>
      </p:sp>
      <p:sp>
        <p:nvSpPr>
          <p:cNvPr id="72" name="Text 69"/>
          <p:cNvSpPr/>
          <p:nvPr/>
        </p:nvSpPr>
        <p:spPr>
          <a:xfrm>
            <a:off x="3396471" y="2833859"/>
            <a:ext cx="1079327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</a:t>
            </a:r>
            <a:endParaRPr lang="en-US" sz="840" dirty="0"/>
          </a:p>
        </p:txBody>
      </p:sp>
      <p:sp>
        <p:nvSpPr>
          <p:cNvPr id="73" name="Text 70"/>
          <p:cNvSpPr/>
          <p:nvPr/>
        </p:nvSpPr>
        <p:spPr>
          <a:xfrm>
            <a:off x="3396471" y="3383630"/>
            <a:ext cx="1079327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45 %</a:t>
            </a:r>
            <a:endParaRPr lang="en-US" sz="840" dirty="0"/>
          </a:p>
        </p:txBody>
      </p:sp>
      <p:sp>
        <p:nvSpPr>
          <p:cNvPr id="74" name="Text 71"/>
          <p:cNvSpPr/>
          <p:nvPr/>
        </p:nvSpPr>
        <p:spPr>
          <a:xfrm>
            <a:off x="3396471" y="3933401"/>
            <a:ext cx="1079327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74 %</a:t>
            </a:r>
            <a:endParaRPr lang="en-US" sz="840" dirty="0"/>
          </a:p>
        </p:txBody>
      </p:sp>
      <p:sp>
        <p:nvSpPr>
          <p:cNvPr id="75" name="Text 72"/>
          <p:cNvSpPr/>
          <p:nvPr/>
        </p:nvSpPr>
        <p:spPr>
          <a:xfrm>
            <a:off x="3396471" y="4483172"/>
            <a:ext cx="1079327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75 %</a:t>
            </a:r>
            <a:endParaRPr lang="en-US" sz="840" dirty="0"/>
          </a:p>
        </p:txBody>
      </p:sp>
      <p:sp>
        <p:nvSpPr>
          <p:cNvPr id="76" name="Text 73"/>
          <p:cNvSpPr/>
          <p:nvPr/>
        </p:nvSpPr>
        <p:spPr>
          <a:xfrm>
            <a:off x="3396471" y="5032944"/>
            <a:ext cx="1079327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</a:t>
            </a:r>
            <a:endParaRPr lang="en-US" sz="840" dirty="0"/>
          </a:p>
        </p:txBody>
      </p:sp>
      <p:sp>
        <p:nvSpPr>
          <p:cNvPr id="77" name="Text 74"/>
          <p:cNvSpPr/>
          <p:nvPr/>
        </p:nvSpPr>
        <p:spPr>
          <a:xfrm>
            <a:off x="3396471" y="5582715"/>
            <a:ext cx="1079327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840" dirty="0"/>
          </a:p>
        </p:txBody>
      </p:sp>
      <p:sp>
        <p:nvSpPr>
          <p:cNvPr id="78" name="Text 75"/>
          <p:cNvSpPr/>
          <p:nvPr/>
        </p:nvSpPr>
        <p:spPr>
          <a:xfrm>
            <a:off x="3528924" y="1143000"/>
            <a:ext cx="2505250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1400" dirty="0"/>
          </a:p>
        </p:txBody>
      </p:sp>
      <p:sp>
        <p:nvSpPr>
          <p:cNvPr id="79" name="Text 76"/>
          <p:cNvSpPr/>
          <p:nvPr/>
        </p:nvSpPr>
        <p:spPr>
          <a:xfrm>
            <a:off x="704832" y="2066055"/>
            <a:ext cx="619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704832" y="2294655"/>
            <a:ext cx="619124" cy="5392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40" dirty="0"/>
          </a:p>
        </p:txBody>
      </p:sp>
      <p:sp>
        <p:nvSpPr>
          <p:cNvPr id="81" name="Text 78"/>
          <p:cNvSpPr/>
          <p:nvPr/>
        </p:nvSpPr>
        <p:spPr>
          <a:xfrm>
            <a:off x="704832" y="2833859"/>
            <a:ext cx="619124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40" dirty="0"/>
          </a:p>
        </p:txBody>
      </p:sp>
      <p:sp>
        <p:nvSpPr>
          <p:cNvPr id="82" name="Text 79"/>
          <p:cNvSpPr/>
          <p:nvPr/>
        </p:nvSpPr>
        <p:spPr>
          <a:xfrm>
            <a:off x="704832" y="3383630"/>
            <a:ext cx="619124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40" dirty="0"/>
          </a:p>
        </p:txBody>
      </p:sp>
      <p:sp>
        <p:nvSpPr>
          <p:cNvPr id="83" name="Text 80"/>
          <p:cNvSpPr/>
          <p:nvPr/>
        </p:nvSpPr>
        <p:spPr>
          <a:xfrm>
            <a:off x="704832" y="3933401"/>
            <a:ext cx="619124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40" dirty="0"/>
          </a:p>
        </p:txBody>
      </p:sp>
      <p:sp>
        <p:nvSpPr>
          <p:cNvPr id="84" name="Text 81"/>
          <p:cNvSpPr/>
          <p:nvPr/>
        </p:nvSpPr>
        <p:spPr>
          <a:xfrm>
            <a:off x="704832" y="4483172"/>
            <a:ext cx="619124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40" dirty="0"/>
          </a:p>
        </p:txBody>
      </p:sp>
      <p:sp>
        <p:nvSpPr>
          <p:cNvPr id="85" name="Text 82"/>
          <p:cNvSpPr/>
          <p:nvPr/>
        </p:nvSpPr>
        <p:spPr>
          <a:xfrm>
            <a:off x="704832" y="5032944"/>
            <a:ext cx="619124" cy="549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28674" y="6358979"/>
            <a:ext cx="10024909" cy="16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semestre cerró en : la base de junio no llegó a tiempo — ingresó sobre el cierre del mes y ~8.000 registros quedaron sin tiempo de marcación.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6286343" y="1262955"/>
            <a:ext cx="54805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· 2,9× el promedio del canal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286343" y="3715643"/>
            <a:ext cx="54605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 del semestre: 60 % de la base recibida.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723882" y="1262955"/>
            <a:ext cx="54805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50 % de las ventas del semestre · 19,6 % de conversión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286343" y="5987504"/>
            <a:ext cx="54605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 registros descartados (60 % de la base total)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704832" y="3706118"/>
            <a:ext cx="54605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Campañas puntuales solo de enero (no recurrentes).</a:t>
            </a:r>
            <a:endParaRPr lang="en-US" sz="600" dirty="0"/>
          </a:p>
        </p:txBody>
      </p:sp>
      <p:sp>
        <p:nvSpPr>
          <p:cNvPr id="9" name="Text 6"/>
          <p:cNvSpPr/>
          <p:nvPr/>
        </p:nvSpPr>
        <p:spPr>
          <a:xfrm>
            <a:off x="704832" y="5987504"/>
            <a:ext cx="546054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</a:t>
            </a:r>
            <a:endParaRPr lang="en-US" sz="576" dirty="0"/>
          </a:p>
        </p:txBody>
      </p:sp>
      <p:sp>
        <p:nvSpPr>
          <p:cNvPr id="10" name="Text 7"/>
          <p:cNvSpPr/>
          <p:nvPr/>
        </p:nvSpPr>
        <p:spPr>
          <a:xfrm>
            <a:off x="6286343" y="3887093"/>
            <a:ext cx="5460546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(semestre)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6286343" y="4232970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2" name="Text 9"/>
          <p:cNvSpPr/>
          <p:nvPr/>
        </p:nvSpPr>
        <p:spPr>
          <a:xfrm>
            <a:off x="6286343" y="4483596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6286343" y="4734223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6286343" y="4984849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704832" y="3253703"/>
            <a:ext cx="1593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Volunt. Cancelaciones*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571486" y="209550"/>
            <a:ext cx="223084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704832" y="3006053"/>
            <a:ext cx="1593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Clientes Satisf.*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704832" y="2758403"/>
            <a:ext cx="1593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6286343" y="5486251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576" dirty="0"/>
          </a:p>
        </p:txBody>
      </p:sp>
      <p:sp>
        <p:nvSpPr>
          <p:cNvPr id="20" name="Text 17"/>
          <p:cNvSpPr/>
          <p:nvPr/>
        </p:nvSpPr>
        <p:spPr>
          <a:xfrm>
            <a:off x="4634243" y="1791616"/>
            <a:ext cx="13346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704832" y="2020216"/>
            <a:ext cx="159375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723882" y="952500"/>
            <a:ext cx="548054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704832" y="2263103"/>
            <a:ext cx="1593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6286343" y="952500"/>
            <a:ext cx="548054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6286343" y="5235625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3723438" y="1791616"/>
            <a:ext cx="9563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8493706" y="1791616"/>
            <a:ext cx="185268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2222692" y="1791616"/>
            <a:ext cx="85367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7013350" y="1791616"/>
            <a:ext cx="15543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04832" y="2510753"/>
            <a:ext cx="159375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720" dirty="0"/>
          </a:p>
        </p:txBody>
      </p:sp>
      <p:sp>
        <p:nvSpPr>
          <p:cNvPr id="31" name="Text 28"/>
          <p:cNvSpPr/>
          <p:nvPr/>
        </p:nvSpPr>
        <p:spPr>
          <a:xfrm>
            <a:off x="3075159" y="4082378"/>
            <a:ext cx="870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04832" y="1791616"/>
            <a:ext cx="159375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2222692" y="2020216"/>
            <a:ext cx="853679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114.694</a:t>
            </a:r>
            <a:endParaRPr lang="en-US" sz="720" dirty="0"/>
          </a:p>
        </p:txBody>
      </p:sp>
      <p:sp>
        <p:nvSpPr>
          <p:cNvPr id="34" name="Text 31"/>
          <p:cNvSpPr/>
          <p:nvPr/>
        </p:nvSpPr>
        <p:spPr>
          <a:xfrm>
            <a:off x="2222692" y="2510753"/>
            <a:ext cx="8536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720" dirty="0"/>
          </a:p>
        </p:txBody>
      </p:sp>
      <p:sp>
        <p:nvSpPr>
          <p:cNvPr id="35" name="Text 32"/>
          <p:cNvSpPr/>
          <p:nvPr/>
        </p:nvSpPr>
        <p:spPr>
          <a:xfrm>
            <a:off x="2222692" y="2758403"/>
            <a:ext cx="8536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255.141</a:t>
            </a:r>
            <a:endParaRPr lang="en-US" sz="720" dirty="0"/>
          </a:p>
        </p:txBody>
      </p:sp>
      <p:sp>
        <p:nvSpPr>
          <p:cNvPr id="36" name="Text 33"/>
          <p:cNvSpPr/>
          <p:nvPr/>
        </p:nvSpPr>
        <p:spPr>
          <a:xfrm>
            <a:off x="2222692" y="3006053"/>
            <a:ext cx="8536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720" dirty="0"/>
          </a:p>
        </p:txBody>
      </p:sp>
      <p:sp>
        <p:nvSpPr>
          <p:cNvPr id="37" name="Text 34"/>
          <p:cNvSpPr/>
          <p:nvPr/>
        </p:nvSpPr>
        <p:spPr>
          <a:xfrm>
            <a:off x="2222692" y="3501353"/>
            <a:ext cx="853679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720" dirty="0"/>
          </a:p>
        </p:txBody>
      </p:sp>
      <p:sp>
        <p:nvSpPr>
          <p:cNvPr id="38" name="Text 35"/>
          <p:cNvSpPr/>
          <p:nvPr/>
        </p:nvSpPr>
        <p:spPr>
          <a:xfrm>
            <a:off x="1686329" y="4082378"/>
            <a:ext cx="74616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2396966" y="4082378"/>
            <a:ext cx="71210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3904408" y="4082378"/>
            <a:ext cx="68694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Ctto.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5200520" y="4082378"/>
            <a:ext cx="7400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Conv.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125261" y="4253828"/>
            <a:ext cx="589121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103.536</a:t>
            </a:r>
            <a:endParaRPr lang="en-US" sz="660" dirty="0"/>
          </a:p>
        </p:txBody>
      </p:sp>
      <p:sp>
        <p:nvSpPr>
          <p:cNvPr id="43" name="Text 40"/>
          <p:cNvSpPr/>
          <p:nvPr/>
        </p:nvSpPr>
        <p:spPr>
          <a:xfrm>
            <a:off x="1686329" y="4253828"/>
            <a:ext cx="746168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103.531</a:t>
            </a:r>
            <a:endParaRPr lang="en-US" sz="660" dirty="0"/>
          </a:p>
        </p:txBody>
      </p:sp>
      <p:sp>
        <p:nvSpPr>
          <p:cNvPr id="44" name="Text 41"/>
          <p:cNvSpPr/>
          <p:nvPr/>
        </p:nvSpPr>
        <p:spPr>
          <a:xfrm>
            <a:off x="1125261" y="5714576"/>
            <a:ext cx="589121" cy="23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373.112</a:t>
            </a:r>
            <a:endParaRPr lang="en-US" sz="624" dirty="0"/>
          </a:p>
        </p:txBody>
      </p:sp>
      <p:sp>
        <p:nvSpPr>
          <p:cNvPr id="45" name="Text 42"/>
          <p:cNvSpPr/>
          <p:nvPr/>
        </p:nvSpPr>
        <p:spPr>
          <a:xfrm>
            <a:off x="1686329" y="5714576"/>
            <a:ext cx="746168" cy="23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365.090</a:t>
            </a:r>
            <a:endParaRPr lang="en-US" sz="624" dirty="0"/>
          </a:p>
        </p:txBody>
      </p:sp>
      <p:sp>
        <p:nvSpPr>
          <p:cNvPr id="46" name="Text 43"/>
          <p:cNvSpPr/>
          <p:nvPr/>
        </p:nvSpPr>
        <p:spPr>
          <a:xfrm>
            <a:off x="3075159" y="5714576"/>
            <a:ext cx="870712" cy="23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</a:t>
            </a:r>
            <a:endParaRPr lang="en-US" sz="624" dirty="0"/>
          </a:p>
        </p:txBody>
      </p:sp>
      <p:sp>
        <p:nvSpPr>
          <p:cNvPr id="47" name="Text 44"/>
          <p:cNvSpPr/>
          <p:nvPr/>
        </p:nvSpPr>
        <p:spPr>
          <a:xfrm>
            <a:off x="10258169" y="1791616"/>
            <a:ext cx="12901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7013350" y="1963066"/>
            <a:ext cx="1554374" cy="240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202.777</a:t>
            </a:r>
            <a:endParaRPr lang="en-US" sz="672" dirty="0"/>
          </a:p>
        </p:txBody>
      </p:sp>
      <p:sp>
        <p:nvSpPr>
          <p:cNvPr id="49" name="Text 46"/>
          <p:cNvSpPr/>
          <p:nvPr/>
        </p:nvSpPr>
        <p:spPr>
          <a:xfrm>
            <a:off x="7013350" y="2448990"/>
            <a:ext cx="1554374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136.044</a:t>
            </a:r>
            <a:endParaRPr lang="en-US" sz="672" dirty="0"/>
          </a:p>
        </p:txBody>
      </p:sp>
      <p:sp>
        <p:nvSpPr>
          <p:cNvPr id="50" name="Text 47"/>
          <p:cNvSpPr/>
          <p:nvPr/>
        </p:nvSpPr>
        <p:spPr>
          <a:xfrm>
            <a:off x="7013350" y="2694705"/>
            <a:ext cx="1554374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154.848</a:t>
            </a:r>
            <a:endParaRPr lang="en-US" sz="672" dirty="0"/>
          </a:p>
        </p:txBody>
      </p:sp>
      <p:sp>
        <p:nvSpPr>
          <p:cNvPr id="51" name="Text 48"/>
          <p:cNvSpPr/>
          <p:nvPr/>
        </p:nvSpPr>
        <p:spPr>
          <a:xfrm>
            <a:off x="8493706" y="2694705"/>
            <a:ext cx="1852685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672" dirty="0"/>
          </a:p>
        </p:txBody>
      </p:sp>
      <p:sp>
        <p:nvSpPr>
          <p:cNvPr id="52" name="Text 49"/>
          <p:cNvSpPr/>
          <p:nvPr/>
        </p:nvSpPr>
        <p:spPr>
          <a:xfrm>
            <a:off x="7013350" y="2940420"/>
            <a:ext cx="1554374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156.200</a:t>
            </a:r>
            <a:endParaRPr lang="en-US" sz="672" dirty="0"/>
          </a:p>
        </p:txBody>
      </p:sp>
      <p:sp>
        <p:nvSpPr>
          <p:cNvPr id="53" name="Text 50"/>
          <p:cNvSpPr/>
          <p:nvPr/>
        </p:nvSpPr>
        <p:spPr>
          <a:xfrm>
            <a:off x="8493706" y="2940420"/>
            <a:ext cx="1852685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672" dirty="0"/>
          </a:p>
        </p:txBody>
      </p:sp>
      <p:sp>
        <p:nvSpPr>
          <p:cNvPr id="54" name="Text 51"/>
          <p:cNvSpPr/>
          <p:nvPr/>
        </p:nvSpPr>
        <p:spPr>
          <a:xfrm>
            <a:off x="7013350" y="3186135"/>
            <a:ext cx="1554374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175.118</a:t>
            </a:r>
            <a:endParaRPr lang="en-US" sz="672" dirty="0"/>
          </a:p>
        </p:txBody>
      </p:sp>
      <p:sp>
        <p:nvSpPr>
          <p:cNvPr id="55" name="Text 52"/>
          <p:cNvSpPr/>
          <p:nvPr/>
        </p:nvSpPr>
        <p:spPr>
          <a:xfrm>
            <a:off x="8493706" y="3186135"/>
            <a:ext cx="1852685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672" dirty="0"/>
          </a:p>
        </p:txBody>
      </p:sp>
      <p:sp>
        <p:nvSpPr>
          <p:cNvPr id="56" name="Text 53"/>
          <p:cNvSpPr/>
          <p:nvPr/>
        </p:nvSpPr>
        <p:spPr>
          <a:xfrm>
            <a:off x="7013350" y="3431851"/>
            <a:ext cx="1554374" cy="24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921.480</a:t>
            </a:r>
            <a:endParaRPr lang="en-US" sz="624" dirty="0"/>
          </a:p>
        </p:txBody>
      </p:sp>
      <p:sp>
        <p:nvSpPr>
          <p:cNvPr id="57" name="Text 54"/>
          <p:cNvSpPr/>
          <p:nvPr/>
        </p:nvSpPr>
        <p:spPr>
          <a:xfrm>
            <a:off x="8493706" y="3431851"/>
            <a:ext cx="1852685" cy="24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</a:t>
            </a:r>
            <a:endParaRPr lang="en-US" sz="624" dirty="0"/>
          </a:p>
        </p:txBody>
      </p:sp>
      <p:sp>
        <p:nvSpPr>
          <p:cNvPr id="58" name="Text 55"/>
          <p:cNvSpPr/>
          <p:nvPr/>
        </p:nvSpPr>
        <p:spPr>
          <a:xfrm>
            <a:off x="3035720" y="1791616"/>
            <a:ext cx="7221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4634243" y="2020216"/>
            <a:ext cx="133466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19,6 %</a:t>
            </a:r>
            <a:endParaRPr lang="en-US" sz="720" dirty="0"/>
          </a:p>
        </p:txBody>
      </p:sp>
      <p:sp>
        <p:nvSpPr>
          <p:cNvPr id="60" name="Text 57"/>
          <p:cNvSpPr/>
          <p:nvPr/>
        </p:nvSpPr>
        <p:spPr>
          <a:xfrm>
            <a:off x="2222692" y="2263103"/>
            <a:ext cx="8536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11.685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4634243" y="2263103"/>
            <a:ext cx="13346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720" dirty="0"/>
          </a:p>
        </p:txBody>
      </p:sp>
      <p:sp>
        <p:nvSpPr>
          <p:cNvPr id="62" name="Text 59"/>
          <p:cNvSpPr/>
          <p:nvPr/>
        </p:nvSpPr>
        <p:spPr>
          <a:xfrm>
            <a:off x="3035720" y="3501353"/>
            <a:ext cx="72210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10.967</a:t>
            </a:r>
            <a:endParaRPr lang="en-US" sz="720" dirty="0"/>
          </a:p>
        </p:txBody>
      </p:sp>
      <p:sp>
        <p:nvSpPr>
          <p:cNvPr id="63" name="Text 60"/>
          <p:cNvSpPr/>
          <p:nvPr/>
        </p:nvSpPr>
        <p:spPr>
          <a:xfrm>
            <a:off x="4558640" y="4082378"/>
            <a:ext cx="67397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3075159" y="4253828"/>
            <a:ext cx="870712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22.402</a:t>
            </a:r>
            <a:endParaRPr lang="en-US" sz="660" dirty="0"/>
          </a:p>
        </p:txBody>
      </p:sp>
      <p:sp>
        <p:nvSpPr>
          <p:cNvPr id="65" name="Text 62"/>
          <p:cNvSpPr/>
          <p:nvPr/>
        </p:nvSpPr>
        <p:spPr>
          <a:xfrm>
            <a:off x="1125261" y="4492697"/>
            <a:ext cx="589121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48.308</a:t>
            </a:r>
            <a:endParaRPr lang="en-US" sz="660" dirty="0"/>
          </a:p>
        </p:txBody>
      </p:sp>
      <p:sp>
        <p:nvSpPr>
          <p:cNvPr id="66" name="Text 63"/>
          <p:cNvSpPr/>
          <p:nvPr/>
        </p:nvSpPr>
        <p:spPr>
          <a:xfrm>
            <a:off x="1686329" y="4492697"/>
            <a:ext cx="746168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47.997</a:t>
            </a:r>
            <a:endParaRPr lang="en-US" sz="660" dirty="0"/>
          </a:p>
        </p:txBody>
      </p:sp>
      <p:sp>
        <p:nvSpPr>
          <p:cNvPr id="67" name="Text 64"/>
          <p:cNvSpPr/>
          <p:nvPr/>
        </p:nvSpPr>
        <p:spPr>
          <a:xfrm>
            <a:off x="3075159" y="4492697"/>
            <a:ext cx="870712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21.171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1125261" y="4737073"/>
            <a:ext cx="589121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75.046</a:t>
            </a:r>
            <a:endParaRPr lang="en-US" sz="660" dirty="0"/>
          </a:p>
        </p:txBody>
      </p:sp>
      <p:sp>
        <p:nvSpPr>
          <p:cNvPr id="69" name="Text 66"/>
          <p:cNvSpPr/>
          <p:nvPr/>
        </p:nvSpPr>
        <p:spPr>
          <a:xfrm>
            <a:off x="1686329" y="4737073"/>
            <a:ext cx="746168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71.926</a:t>
            </a:r>
            <a:endParaRPr lang="en-US" sz="660" dirty="0"/>
          </a:p>
        </p:txBody>
      </p:sp>
      <p:sp>
        <p:nvSpPr>
          <p:cNvPr id="70" name="Text 67"/>
          <p:cNvSpPr/>
          <p:nvPr/>
        </p:nvSpPr>
        <p:spPr>
          <a:xfrm>
            <a:off x="3075159" y="4737073"/>
            <a:ext cx="870712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32.546</a:t>
            </a:r>
            <a:endParaRPr lang="en-US" sz="660" dirty="0"/>
          </a:p>
        </p:txBody>
      </p:sp>
      <p:sp>
        <p:nvSpPr>
          <p:cNvPr id="71" name="Text 68"/>
          <p:cNvSpPr/>
          <p:nvPr/>
        </p:nvSpPr>
        <p:spPr>
          <a:xfrm>
            <a:off x="1125261" y="4981449"/>
            <a:ext cx="589121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40.725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1686329" y="4981449"/>
            <a:ext cx="746168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40.682</a:t>
            </a:r>
            <a:endParaRPr lang="en-US" sz="660" dirty="0"/>
          </a:p>
        </p:txBody>
      </p:sp>
      <p:sp>
        <p:nvSpPr>
          <p:cNvPr id="73" name="Text 70"/>
          <p:cNvSpPr/>
          <p:nvPr/>
        </p:nvSpPr>
        <p:spPr>
          <a:xfrm>
            <a:off x="3075159" y="4981449"/>
            <a:ext cx="870712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24.520</a:t>
            </a:r>
            <a:endParaRPr lang="en-US" sz="660" dirty="0"/>
          </a:p>
        </p:txBody>
      </p:sp>
      <p:sp>
        <p:nvSpPr>
          <p:cNvPr id="74" name="Text 71"/>
          <p:cNvSpPr/>
          <p:nvPr/>
        </p:nvSpPr>
        <p:spPr>
          <a:xfrm>
            <a:off x="1125261" y="5225825"/>
            <a:ext cx="589121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39.509</a:t>
            </a:r>
            <a:endParaRPr lang="en-US" sz="660" dirty="0"/>
          </a:p>
        </p:txBody>
      </p:sp>
      <p:sp>
        <p:nvSpPr>
          <p:cNvPr id="75" name="Text 72"/>
          <p:cNvSpPr/>
          <p:nvPr/>
        </p:nvSpPr>
        <p:spPr>
          <a:xfrm>
            <a:off x="1686329" y="5225825"/>
            <a:ext cx="746168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39.504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3075159" y="5225825"/>
            <a:ext cx="870712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25.647</a:t>
            </a:r>
            <a:endParaRPr lang="en-US" sz="660" dirty="0"/>
          </a:p>
        </p:txBody>
      </p:sp>
      <p:sp>
        <p:nvSpPr>
          <p:cNvPr id="77" name="Text 74"/>
          <p:cNvSpPr/>
          <p:nvPr/>
        </p:nvSpPr>
        <p:spPr>
          <a:xfrm>
            <a:off x="1125261" y="5470201"/>
            <a:ext cx="589121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65.988</a:t>
            </a:r>
            <a:endParaRPr lang="en-US" sz="660" dirty="0"/>
          </a:p>
        </p:txBody>
      </p:sp>
      <p:sp>
        <p:nvSpPr>
          <p:cNvPr id="78" name="Text 75"/>
          <p:cNvSpPr/>
          <p:nvPr/>
        </p:nvSpPr>
        <p:spPr>
          <a:xfrm>
            <a:off x="1686329" y="5470201"/>
            <a:ext cx="746168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61.450</a:t>
            </a:r>
            <a:endParaRPr lang="en-US" sz="660" dirty="0"/>
          </a:p>
        </p:txBody>
      </p:sp>
      <p:sp>
        <p:nvSpPr>
          <p:cNvPr id="79" name="Text 76"/>
          <p:cNvSpPr/>
          <p:nvPr/>
        </p:nvSpPr>
        <p:spPr>
          <a:xfrm>
            <a:off x="3075159" y="5470201"/>
            <a:ext cx="870712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28.552</a:t>
            </a:r>
            <a:endParaRPr lang="en-US" sz="660" dirty="0"/>
          </a:p>
        </p:txBody>
      </p:sp>
      <p:sp>
        <p:nvSpPr>
          <p:cNvPr id="80" name="Text 77"/>
          <p:cNvSpPr/>
          <p:nvPr/>
        </p:nvSpPr>
        <p:spPr>
          <a:xfrm>
            <a:off x="4558640" y="5714576"/>
            <a:ext cx="673974" cy="23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624" dirty="0"/>
          </a:p>
        </p:txBody>
      </p:sp>
      <p:sp>
        <p:nvSpPr>
          <p:cNvPr id="81" name="Text 78"/>
          <p:cNvSpPr/>
          <p:nvPr/>
        </p:nvSpPr>
        <p:spPr>
          <a:xfrm>
            <a:off x="8493706" y="1963066"/>
            <a:ext cx="1852685" cy="240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672" dirty="0"/>
          </a:p>
        </p:txBody>
      </p:sp>
      <p:sp>
        <p:nvSpPr>
          <p:cNvPr id="82" name="Text 79"/>
          <p:cNvSpPr/>
          <p:nvPr/>
        </p:nvSpPr>
        <p:spPr>
          <a:xfrm>
            <a:off x="10258169" y="1963066"/>
            <a:ext cx="1290129" cy="240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48,9 %</a:t>
            </a:r>
            <a:endParaRPr lang="en-US" sz="672" dirty="0"/>
          </a:p>
        </p:txBody>
      </p:sp>
      <p:sp>
        <p:nvSpPr>
          <p:cNvPr id="83" name="Text 80"/>
          <p:cNvSpPr/>
          <p:nvPr/>
        </p:nvSpPr>
        <p:spPr>
          <a:xfrm>
            <a:off x="7013350" y="2203274"/>
            <a:ext cx="1554374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96.493</a:t>
            </a:r>
            <a:endParaRPr lang="en-US" sz="672" dirty="0"/>
          </a:p>
        </p:txBody>
      </p:sp>
      <p:sp>
        <p:nvSpPr>
          <p:cNvPr id="84" name="Text 81"/>
          <p:cNvSpPr/>
          <p:nvPr/>
        </p:nvSpPr>
        <p:spPr>
          <a:xfrm>
            <a:off x="8493706" y="2203274"/>
            <a:ext cx="1852685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672" dirty="0"/>
          </a:p>
        </p:txBody>
      </p:sp>
      <p:sp>
        <p:nvSpPr>
          <p:cNvPr id="85" name="Text 82"/>
          <p:cNvSpPr/>
          <p:nvPr/>
        </p:nvSpPr>
        <p:spPr>
          <a:xfrm>
            <a:off x="10258169" y="2203274"/>
            <a:ext cx="1290129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49,9 %</a:t>
            </a:r>
            <a:endParaRPr lang="en-US" sz="672" dirty="0"/>
          </a:p>
        </p:txBody>
      </p:sp>
      <p:sp>
        <p:nvSpPr>
          <p:cNvPr id="86" name="Text 83"/>
          <p:cNvSpPr/>
          <p:nvPr/>
        </p:nvSpPr>
        <p:spPr>
          <a:xfrm>
            <a:off x="8493706" y="2448990"/>
            <a:ext cx="1852685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672" dirty="0"/>
          </a:p>
        </p:txBody>
      </p:sp>
      <p:sp>
        <p:nvSpPr>
          <p:cNvPr id="87" name="Text 84"/>
          <p:cNvSpPr/>
          <p:nvPr/>
        </p:nvSpPr>
        <p:spPr>
          <a:xfrm>
            <a:off x="10258169" y="2448990"/>
            <a:ext cx="1290129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44,8 %</a:t>
            </a:r>
            <a:endParaRPr lang="en-US" sz="672" dirty="0"/>
          </a:p>
        </p:txBody>
      </p:sp>
      <p:sp>
        <p:nvSpPr>
          <p:cNvPr id="88" name="Text 85"/>
          <p:cNvSpPr/>
          <p:nvPr/>
        </p:nvSpPr>
        <p:spPr>
          <a:xfrm>
            <a:off x="10258169" y="2694705"/>
            <a:ext cx="1290129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73,7 %</a:t>
            </a:r>
            <a:endParaRPr lang="en-US" sz="672" dirty="0"/>
          </a:p>
        </p:txBody>
      </p:sp>
      <p:sp>
        <p:nvSpPr>
          <p:cNvPr id="89" name="Text 86"/>
          <p:cNvSpPr/>
          <p:nvPr/>
        </p:nvSpPr>
        <p:spPr>
          <a:xfrm>
            <a:off x="10258169" y="2940420"/>
            <a:ext cx="1290129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74,7 %</a:t>
            </a:r>
            <a:endParaRPr lang="en-US" sz="672" dirty="0"/>
          </a:p>
        </p:txBody>
      </p:sp>
      <p:sp>
        <p:nvSpPr>
          <p:cNvPr id="90" name="Text 87"/>
          <p:cNvSpPr/>
          <p:nvPr/>
        </p:nvSpPr>
        <p:spPr>
          <a:xfrm>
            <a:off x="10258169" y="3186135"/>
            <a:ext cx="1290129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62,3 %</a:t>
            </a:r>
            <a:endParaRPr lang="en-US" sz="672" dirty="0"/>
          </a:p>
        </p:txBody>
      </p:sp>
      <p:sp>
        <p:nvSpPr>
          <p:cNvPr id="91" name="Text 88"/>
          <p:cNvSpPr/>
          <p:nvPr/>
        </p:nvSpPr>
        <p:spPr>
          <a:xfrm>
            <a:off x="10258169" y="3431851"/>
            <a:ext cx="1290129" cy="24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59,5 %</a:t>
            </a:r>
            <a:endParaRPr lang="en-US" sz="624" dirty="0"/>
          </a:p>
        </p:txBody>
      </p:sp>
      <p:sp>
        <p:nvSpPr>
          <p:cNvPr id="92" name="Text 89"/>
          <p:cNvSpPr/>
          <p:nvPr/>
        </p:nvSpPr>
        <p:spPr>
          <a:xfrm>
            <a:off x="1082400" y="112395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93" name="Text 90"/>
          <p:cNvSpPr/>
          <p:nvPr/>
        </p:nvSpPr>
        <p:spPr>
          <a:xfrm>
            <a:off x="6286343" y="1095375"/>
            <a:ext cx="5480548" cy="13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1020" dirty="0"/>
          </a:p>
        </p:txBody>
      </p:sp>
      <p:sp>
        <p:nvSpPr>
          <p:cNvPr id="94" name="Text 91"/>
          <p:cNvSpPr/>
          <p:nvPr/>
        </p:nvSpPr>
        <p:spPr>
          <a:xfrm>
            <a:off x="3035720" y="2020216"/>
            <a:ext cx="72210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6.912</a:t>
            </a:r>
            <a:endParaRPr lang="en-US" sz="720" dirty="0"/>
          </a:p>
        </p:txBody>
      </p:sp>
      <p:sp>
        <p:nvSpPr>
          <p:cNvPr id="95" name="Text 92"/>
          <p:cNvSpPr/>
          <p:nvPr/>
        </p:nvSpPr>
        <p:spPr>
          <a:xfrm>
            <a:off x="3035720" y="2510753"/>
            <a:ext cx="7221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720" dirty="0"/>
          </a:p>
        </p:txBody>
      </p:sp>
      <p:sp>
        <p:nvSpPr>
          <p:cNvPr id="96" name="Text 93"/>
          <p:cNvSpPr/>
          <p:nvPr/>
        </p:nvSpPr>
        <p:spPr>
          <a:xfrm>
            <a:off x="4634243" y="2510753"/>
            <a:ext cx="13346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720" dirty="0"/>
          </a:p>
        </p:txBody>
      </p:sp>
      <p:sp>
        <p:nvSpPr>
          <p:cNvPr id="97" name="Text 94"/>
          <p:cNvSpPr/>
          <p:nvPr/>
        </p:nvSpPr>
        <p:spPr>
          <a:xfrm>
            <a:off x="4634243" y="2758403"/>
            <a:ext cx="13346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720" dirty="0"/>
          </a:p>
        </p:txBody>
      </p:sp>
      <p:sp>
        <p:nvSpPr>
          <p:cNvPr id="98" name="Text 95"/>
          <p:cNvSpPr/>
          <p:nvPr/>
        </p:nvSpPr>
        <p:spPr>
          <a:xfrm>
            <a:off x="4634243" y="3006053"/>
            <a:ext cx="13346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720" dirty="0"/>
          </a:p>
        </p:txBody>
      </p:sp>
      <p:sp>
        <p:nvSpPr>
          <p:cNvPr id="99" name="Text 96"/>
          <p:cNvSpPr/>
          <p:nvPr/>
        </p:nvSpPr>
        <p:spPr>
          <a:xfrm>
            <a:off x="2222692" y="3253703"/>
            <a:ext cx="853679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720" dirty="0"/>
          </a:p>
        </p:txBody>
      </p:sp>
      <p:sp>
        <p:nvSpPr>
          <p:cNvPr id="100" name="Text 97"/>
          <p:cNvSpPr/>
          <p:nvPr/>
        </p:nvSpPr>
        <p:spPr>
          <a:xfrm>
            <a:off x="4634243" y="3253703"/>
            <a:ext cx="133466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720" dirty="0"/>
          </a:p>
        </p:txBody>
      </p:sp>
      <p:sp>
        <p:nvSpPr>
          <p:cNvPr id="101" name="Text 98"/>
          <p:cNvSpPr/>
          <p:nvPr/>
        </p:nvSpPr>
        <p:spPr>
          <a:xfrm>
            <a:off x="704832" y="3501353"/>
            <a:ext cx="1593753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4634243" y="3501353"/>
            <a:ext cx="1334665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7,4 %</a:t>
            </a:r>
            <a:endParaRPr lang="en-US" sz="720" dirty="0"/>
          </a:p>
        </p:txBody>
      </p:sp>
      <p:sp>
        <p:nvSpPr>
          <p:cNvPr id="103" name="Text 100"/>
          <p:cNvSpPr/>
          <p:nvPr/>
        </p:nvSpPr>
        <p:spPr>
          <a:xfrm>
            <a:off x="1125261" y="4082378"/>
            <a:ext cx="589121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4558640" y="4253828"/>
            <a:ext cx="673974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660" dirty="0"/>
          </a:p>
        </p:txBody>
      </p:sp>
      <p:sp>
        <p:nvSpPr>
          <p:cNvPr id="105" name="Text 102"/>
          <p:cNvSpPr/>
          <p:nvPr/>
        </p:nvSpPr>
        <p:spPr>
          <a:xfrm>
            <a:off x="4558640" y="4492697"/>
            <a:ext cx="67397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660" dirty="0"/>
          </a:p>
        </p:txBody>
      </p:sp>
      <p:sp>
        <p:nvSpPr>
          <p:cNvPr id="106" name="Text 103"/>
          <p:cNvSpPr/>
          <p:nvPr/>
        </p:nvSpPr>
        <p:spPr>
          <a:xfrm>
            <a:off x="4558640" y="4737073"/>
            <a:ext cx="67397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660" dirty="0"/>
          </a:p>
        </p:txBody>
      </p:sp>
      <p:sp>
        <p:nvSpPr>
          <p:cNvPr id="107" name="Text 104"/>
          <p:cNvSpPr/>
          <p:nvPr/>
        </p:nvSpPr>
        <p:spPr>
          <a:xfrm>
            <a:off x="4558640" y="4981449"/>
            <a:ext cx="67397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660" dirty="0"/>
          </a:p>
        </p:txBody>
      </p:sp>
      <p:sp>
        <p:nvSpPr>
          <p:cNvPr id="108" name="Text 105"/>
          <p:cNvSpPr/>
          <p:nvPr/>
        </p:nvSpPr>
        <p:spPr>
          <a:xfrm>
            <a:off x="4558640" y="5225825"/>
            <a:ext cx="67397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660" dirty="0"/>
          </a:p>
        </p:txBody>
      </p:sp>
      <p:sp>
        <p:nvSpPr>
          <p:cNvPr id="109" name="Text 106"/>
          <p:cNvSpPr/>
          <p:nvPr/>
        </p:nvSpPr>
        <p:spPr>
          <a:xfrm>
            <a:off x="4558640" y="5470201"/>
            <a:ext cx="67397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704832" y="5714576"/>
            <a:ext cx="441450" cy="23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24" dirty="0"/>
          </a:p>
        </p:txBody>
      </p:sp>
      <p:sp>
        <p:nvSpPr>
          <p:cNvPr id="111" name="Text 108"/>
          <p:cNvSpPr/>
          <p:nvPr/>
        </p:nvSpPr>
        <p:spPr>
          <a:xfrm>
            <a:off x="6286343" y="3431851"/>
            <a:ext cx="763358" cy="2409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24" dirty="0"/>
          </a:p>
        </p:txBody>
      </p:sp>
      <p:sp>
        <p:nvSpPr>
          <p:cNvPr id="112" name="Text 109"/>
          <p:cNvSpPr/>
          <p:nvPr/>
        </p:nvSpPr>
        <p:spPr>
          <a:xfrm>
            <a:off x="723882" y="1095375"/>
            <a:ext cx="5480548" cy="1359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6.912</a:t>
            </a:r>
            <a:endParaRPr lang="en-US" sz="1020" dirty="0"/>
          </a:p>
        </p:txBody>
      </p:sp>
      <p:sp>
        <p:nvSpPr>
          <p:cNvPr id="113" name="Text 110"/>
          <p:cNvSpPr/>
          <p:nvPr/>
        </p:nvSpPr>
        <p:spPr>
          <a:xfrm>
            <a:off x="6286343" y="5736878"/>
            <a:ext cx="120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576" dirty="0"/>
          </a:p>
        </p:txBody>
      </p:sp>
      <p:sp>
        <p:nvSpPr>
          <p:cNvPr id="114" name="Text 111"/>
          <p:cNvSpPr/>
          <p:nvPr/>
        </p:nvSpPr>
        <p:spPr>
          <a:xfrm>
            <a:off x="3723438" y="2020216"/>
            <a:ext cx="95634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720" dirty="0"/>
          </a:p>
        </p:txBody>
      </p:sp>
      <p:sp>
        <p:nvSpPr>
          <p:cNvPr id="115" name="Text 112"/>
          <p:cNvSpPr/>
          <p:nvPr/>
        </p:nvSpPr>
        <p:spPr>
          <a:xfrm>
            <a:off x="3723438" y="2263103"/>
            <a:ext cx="9563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73 %</a:t>
            </a:r>
            <a:endParaRPr lang="en-US" sz="720" dirty="0"/>
          </a:p>
        </p:txBody>
      </p:sp>
      <p:sp>
        <p:nvSpPr>
          <p:cNvPr id="116" name="Text 113"/>
          <p:cNvSpPr/>
          <p:nvPr/>
        </p:nvSpPr>
        <p:spPr>
          <a:xfrm>
            <a:off x="3723438" y="2510753"/>
            <a:ext cx="9563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52 %</a:t>
            </a:r>
            <a:endParaRPr lang="en-US" sz="720" dirty="0"/>
          </a:p>
        </p:txBody>
      </p:sp>
      <p:sp>
        <p:nvSpPr>
          <p:cNvPr id="117" name="Text 114"/>
          <p:cNvSpPr/>
          <p:nvPr/>
        </p:nvSpPr>
        <p:spPr>
          <a:xfrm>
            <a:off x="3723438" y="2758403"/>
            <a:ext cx="9563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720" dirty="0"/>
          </a:p>
        </p:txBody>
      </p:sp>
      <p:sp>
        <p:nvSpPr>
          <p:cNvPr id="118" name="Text 115"/>
          <p:cNvSpPr/>
          <p:nvPr/>
        </p:nvSpPr>
        <p:spPr>
          <a:xfrm>
            <a:off x="3723438" y="3006053"/>
            <a:ext cx="9563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720" dirty="0"/>
          </a:p>
        </p:txBody>
      </p:sp>
      <p:sp>
        <p:nvSpPr>
          <p:cNvPr id="119" name="Text 116"/>
          <p:cNvSpPr/>
          <p:nvPr/>
        </p:nvSpPr>
        <p:spPr>
          <a:xfrm>
            <a:off x="3723438" y="3253703"/>
            <a:ext cx="9563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53 %</a:t>
            </a:r>
            <a:endParaRPr lang="en-US" sz="720" dirty="0"/>
          </a:p>
        </p:txBody>
      </p:sp>
      <p:sp>
        <p:nvSpPr>
          <p:cNvPr id="120" name="Text 117"/>
          <p:cNvSpPr/>
          <p:nvPr/>
        </p:nvSpPr>
        <p:spPr>
          <a:xfrm>
            <a:off x="3723438" y="3501353"/>
            <a:ext cx="956346" cy="1857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41 %</a:t>
            </a:r>
            <a:endParaRPr lang="en-US" sz="720" dirty="0"/>
          </a:p>
        </p:txBody>
      </p:sp>
      <p:sp>
        <p:nvSpPr>
          <p:cNvPr id="121" name="Text 118"/>
          <p:cNvSpPr/>
          <p:nvPr/>
        </p:nvSpPr>
        <p:spPr>
          <a:xfrm>
            <a:off x="2396966" y="4253828"/>
            <a:ext cx="712102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660" dirty="0"/>
          </a:p>
        </p:txBody>
      </p:sp>
      <p:sp>
        <p:nvSpPr>
          <p:cNvPr id="122" name="Text 119"/>
          <p:cNvSpPr/>
          <p:nvPr/>
        </p:nvSpPr>
        <p:spPr>
          <a:xfrm>
            <a:off x="2396966" y="4981449"/>
            <a:ext cx="712102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660" dirty="0"/>
          </a:p>
        </p:txBody>
      </p:sp>
      <p:sp>
        <p:nvSpPr>
          <p:cNvPr id="123" name="Text 120"/>
          <p:cNvSpPr/>
          <p:nvPr/>
        </p:nvSpPr>
        <p:spPr>
          <a:xfrm>
            <a:off x="2396966" y="5225825"/>
            <a:ext cx="712102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660" dirty="0"/>
          </a:p>
        </p:txBody>
      </p:sp>
      <p:sp>
        <p:nvSpPr>
          <p:cNvPr id="124" name="Text 121"/>
          <p:cNvSpPr/>
          <p:nvPr/>
        </p:nvSpPr>
        <p:spPr>
          <a:xfrm>
            <a:off x="3035720" y="2263103"/>
            <a:ext cx="7221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720" dirty="0"/>
          </a:p>
        </p:txBody>
      </p:sp>
      <p:sp>
        <p:nvSpPr>
          <p:cNvPr id="125" name="Text 122"/>
          <p:cNvSpPr/>
          <p:nvPr/>
        </p:nvSpPr>
        <p:spPr>
          <a:xfrm>
            <a:off x="3035720" y="2758403"/>
            <a:ext cx="7221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720" dirty="0"/>
          </a:p>
        </p:txBody>
      </p:sp>
      <p:sp>
        <p:nvSpPr>
          <p:cNvPr id="126" name="Text 123"/>
          <p:cNvSpPr/>
          <p:nvPr/>
        </p:nvSpPr>
        <p:spPr>
          <a:xfrm>
            <a:off x="704832" y="4082378"/>
            <a:ext cx="44145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27" name="Text 124"/>
          <p:cNvSpPr/>
          <p:nvPr/>
        </p:nvSpPr>
        <p:spPr>
          <a:xfrm>
            <a:off x="704832" y="4253828"/>
            <a:ext cx="441450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60" dirty="0"/>
          </a:p>
        </p:txBody>
      </p:sp>
      <p:sp>
        <p:nvSpPr>
          <p:cNvPr id="128" name="Text 125"/>
          <p:cNvSpPr/>
          <p:nvPr/>
        </p:nvSpPr>
        <p:spPr>
          <a:xfrm>
            <a:off x="3904408" y="4253828"/>
            <a:ext cx="686944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22%</a:t>
            </a:r>
            <a:endParaRPr lang="en-US" sz="660" dirty="0"/>
          </a:p>
        </p:txBody>
      </p:sp>
      <p:sp>
        <p:nvSpPr>
          <p:cNvPr id="129" name="Text 126"/>
          <p:cNvSpPr/>
          <p:nvPr/>
        </p:nvSpPr>
        <p:spPr>
          <a:xfrm>
            <a:off x="5200520" y="4253828"/>
            <a:ext cx="740074" cy="2388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660" dirty="0"/>
          </a:p>
        </p:txBody>
      </p:sp>
      <p:sp>
        <p:nvSpPr>
          <p:cNvPr id="130" name="Text 127"/>
          <p:cNvSpPr/>
          <p:nvPr/>
        </p:nvSpPr>
        <p:spPr>
          <a:xfrm>
            <a:off x="704832" y="4492697"/>
            <a:ext cx="441450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60" dirty="0"/>
          </a:p>
        </p:txBody>
      </p:sp>
      <p:sp>
        <p:nvSpPr>
          <p:cNvPr id="131" name="Text 128"/>
          <p:cNvSpPr/>
          <p:nvPr/>
        </p:nvSpPr>
        <p:spPr>
          <a:xfrm>
            <a:off x="2396966" y="4492697"/>
            <a:ext cx="712102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660" dirty="0"/>
          </a:p>
        </p:txBody>
      </p:sp>
      <p:sp>
        <p:nvSpPr>
          <p:cNvPr id="132" name="Text 129"/>
          <p:cNvSpPr/>
          <p:nvPr/>
        </p:nvSpPr>
        <p:spPr>
          <a:xfrm>
            <a:off x="3904408" y="4492697"/>
            <a:ext cx="68694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44%</a:t>
            </a:r>
            <a:endParaRPr lang="en-US" sz="660" dirty="0"/>
          </a:p>
        </p:txBody>
      </p:sp>
      <p:sp>
        <p:nvSpPr>
          <p:cNvPr id="133" name="Text 130"/>
          <p:cNvSpPr/>
          <p:nvPr/>
        </p:nvSpPr>
        <p:spPr>
          <a:xfrm>
            <a:off x="5200520" y="4492697"/>
            <a:ext cx="74007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660" dirty="0"/>
          </a:p>
        </p:txBody>
      </p:sp>
      <p:sp>
        <p:nvSpPr>
          <p:cNvPr id="134" name="Text 131"/>
          <p:cNvSpPr/>
          <p:nvPr/>
        </p:nvSpPr>
        <p:spPr>
          <a:xfrm>
            <a:off x="704832" y="4737073"/>
            <a:ext cx="441450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60" dirty="0"/>
          </a:p>
        </p:txBody>
      </p:sp>
      <p:sp>
        <p:nvSpPr>
          <p:cNvPr id="135" name="Text 132"/>
          <p:cNvSpPr/>
          <p:nvPr/>
        </p:nvSpPr>
        <p:spPr>
          <a:xfrm>
            <a:off x="2396966" y="4737073"/>
            <a:ext cx="712102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96%</a:t>
            </a:r>
            <a:endParaRPr lang="en-US" sz="660" dirty="0"/>
          </a:p>
        </p:txBody>
      </p:sp>
      <p:sp>
        <p:nvSpPr>
          <p:cNvPr id="136" name="Text 133"/>
          <p:cNvSpPr/>
          <p:nvPr/>
        </p:nvSpPr>
        <p:spPr>
          <a:xfrm>
            <a:off x="3904408" y="4737073"/>
            <a:ext cx="68694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660" dirty="0"/>
          </a:p>
        </p:txBody>
      </p:sp>
      <p:sp>
        <p:nvSpPr>
          <p:cNvPr id="137" name="Text 134"/>
          <p:cNvSpPr/>
          <p:nvPr/>
        </p:nvSpPr>
        <p:spPr>
          <a:xfrm>
            <a:off x="704832" y="4981449"/>
            <a:ext cx="441450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60" dirty="0"/>
          </a:p>
        </p:txBody>
      </p:sp>
      <p:sp>
        <p:nvSpPr>
          <p:cNvPr id="138" name="Text 135"/>
          <p:cNvSpPr/>
          <p:nvPr/>
        </p:nvSpPr>
        <p:spPr>
          <a:xfrm>
            <a:off x="3904408" y="4981449"/>
            <a:ext cx="68694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60%</a:t>
            </a:r>
            <a:endParaRPr lang="en-US" sz="660" dirty="0"/>
          </a:p>
        </p:txBody>
      </p:sp>
      <p:sp>
        <p:nvSpPr>
          <p:cNvPr id="139" name="Text 136"/>
          <p:cNvSpPr/>
          <p:nvPr/>
        </p:nvSpPr>
        <p:spPr>
          <a:xfrm>
            <a:off x="5200520" y="4981449"/>
            <a:ext cx="74007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10%</a:t>
            </a:r>
            <a:endParaRPr lang="en-US" sz="660" dirty="0"/>
          </a:p>
        </p:txBody>
      </p:sp>
      <p:sp>
        <p:nvSpPr>
          <p:cNvPr id="140" name="Text 137"/>
          <p:cNvSpPr/>
          <p:nvPr/>
        </p:nvSpPr>
        <p:spPr>
          <a:xfrm>
            <a:off x="704832" y="5225825"/>
            <a:ext cx="441450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60" dirty="0"/>
          </a:p>
        </p:txBody>
      </p:sp>
      <p:sp>
        <p:nvSpPr>
          <p:cNvPr id="141" name="Text 138"/>
          <p:cNvSpPr/>
          <p:nvPr/>
        </p:nvSpPr>
        <p:spPr>
          <a:xfrm>
            <a:off x="3904408" y="5225825"/>
            <a:ext cx="68694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65%</a:t>
            </a:r>
            <a:endParaRPr lang="en-US" sz="660" dirty="0"/>
          </a:p>
        </p:txBody>
      </p:sp>
      <p:sp>
        <p:nvSpPr>
          <p:cNvPr id="142" name="Text 139"/>
          <p:cNvSpPr/>
          <p:nvPr/>
        </p:nvSpPr>
        <p:spPr>
          <a:xfrm>
            <a:off x="704832" y="5470201"/>
            <a:ext cx="441450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60" dirty="0"/>
          </a:p>
        </p:txBody>
      </p:sp>
      <p:sp>
        <p:nvSpPr>
          <p:cNvPr id="143" name="Text 140"/>
          <p:cNvSpPr/>
          <p:nvPr/>
        </p:nvSpPr>
        <p:spPr>
          <a:xfrm>
            <a:off x="2396966" y="5470201"/>
            <a:ext cx="712102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93%</a:t>
            </a:r>
            <a:endParaRPr lang="en-US" sz="660" dirty="0"/>
          </a:p>
        </p:txBody>
      </p:sp>
      <p:sp>
        <p:nvSpPr>
          <p:cNvPr id="144" name="Text 141"/>
          <p:cNvSpPr/>
          <p:nvPr/>
        </p:nvSpPr>
        <p:spPr>
          <a:xfrm>
            <a:off x="3904408" y="5470201"/>
            <a:ext cx="68694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46%</a:t>
            </a:r>
            <a:endParaRPr lang="en-US" sz="660" dirty="0"/>
          </a:p>
        </p:txBody>
      </p:sp>
      <p:sp>
        <p:nvSpPr>
          <p:cNvPr id="145" name="Text 142"/>
          <p:cNvSpPr/>
          <p:nvPr/>
        </p:nvSpPr>
        <p:spPr>
          <a:xfrm>
            <a:off x="2396966" y="5714576"/>
            <a:ext cx="712102" cy="23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98%</a:t>
            </a:r>
            <a:endParaRPr lang="en-US" sz="624" dirty="0"/>
          </a:p>
        </p:txBody>
      </p:sp>
      <p:sp>
        <p:nvSpPr>
          <p:cNvPr id="146" name="Text 143"/>
          <p:cNvSpPr/>
          <p:nvPr/>
        </p:nvSpPr>
        <p:spPr>
          <a:xfrm>
            <a:off x="3904408" y="5714576"/>
            <a:ext cx="686944" cy="23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42%</a:t>
            </a:r>
            <a:endParaRPr lang="en-US" sz="624" dirty="0"/>
          </a:p>
        </p:txBody>
      </p:sp>
      <p:sp>
        <p:nvSpPr>
          <p:cNvPr id="147" name="Text 144"/>
          <p:cNvSpPr/>
          <p:nvPr/>
        </p:nvSpPr>
        <p:spPr>
          <a:xfrm>
            <a:off x="6286343" y="1791616"/>
            <a:ext cx="76335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48" name="Text 145"/>
          <p:cNvSpPr/>
          <p:nvPr/>
        </p:nvSpPr>
        <p:spPr>
          <a:xfrm>
            <a:off x="6286343" y="1963066"/>
            <a:ext cx="763358" cy="2402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72" dirty="0"/>
          </a:p>
        </p:txBody>
      </p:sp>
      <p:sp>
        <p:nvSpPr>
          <p:cNvPr id="149" name="Text 146"/>
          <p:cNvSpPr/>
          <p:nvPr/>
        </p:nvSpPr>
        <p:spPr>
          <a:xfrm>
            <a:off x="6286343" y="2203274"/>
            <a:ext cx="763358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72" dirty="0"/>
          </a:p>
        </p:txBody>
      </p:sp>
      <p:sp>
        <p:nvSpPr>
          <p:cNvPr id="150" name="Text 147"/>
          <p:cNvSpPr/>
          <p:nvPr/>
        </p:nvSpPr>
        <p:spPr>
          <a:xfrm>
            <a:off x="6286343" y="2448990"/>
            <a:ext cx="763358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72" dirty="0"/>
          </a:p>
        </p:txBody>
      </p:sp>
      <p:sp>
        <p:nvSpPr>
          <p:cNvPr id="151" name="Text 148"/>
          <p:cNvSpPr/>
          <p:nvPr/>
        </p:nvSpPr>
        <p:spPr>
          <a:xfrm>
            <a:off x="6286343" y="2694705"/>
            <a:ext cx="763358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72" dirty="0"/>
          </a:p>
        </p:txBody>
      </p:sp>
      <p:sp>
        <p:nvSpPr>
          <p:cNvPr id="152" name="Text 149"/>
          <p:cNvSpPr/>
          <p:nvPr/>
        </p:nvSpPr>
        <p:spPr>
          <a:xfrm>
            <a:off x="6286343" y="2940420"/>
            <a:ext cx="763358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72" dirty="0"/>
          </a:p>
        </p:txBody>
      </p:sp>
      <p:sp>
        <p:nvSpPr>
          <p:cNvPr id="153" name="Text 150"/>
          <p:cNvSpPr/>
          <p:nvPr/>
        </p:nvSpPr>
        <p:spPr>
          <a:xfrm>
            <a:off x="6286343" y="3186135"/>
            <a:ext cx="763358" cy="2457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72" dirty="0"/>
          </a:p>
        </p:txBody>
      </p:sp>
      <p:sp>
        <p:nvSpPr>
          <p:cNvPr id="154" name="Text 151"/>
          <p:cNvSpPr/>
          <p:nvPr/>
        </p:nvSpPr>
        <p:spPr>
          <a:xfrm>
            <a:off x="11220169" y="4232970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11220169" y="4483596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3035720" y="3006053"/>
            <a:ext cx="72210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20" dirty="0"/>
          </a:p>
        </p:txBody>
      </p:sp>
      <p:sp>
        <p:nvSpPr>
          <p:cNvPr id="157" name="Text 154"/>
          <p:cNvSpPr/>
          <p:nvPr/>
        </p:nvSpPr>
        <p:spPr>
          <a:xfrm>
            <a:off x="5200520" y="4737073"/>
            <a:ext cx="74007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7%</a:t>
            </a:r>
            <a:endParaRPr lang="en-US" sz="660" dirty="0"/>
          </a:p>
        </p:txBody>
      </p:sp>
      <p:sp>
        <p:nvSpPr>
          <p:cNvPr id="158" name="Text 155"/>
          <p:cNvSpPr/>
          <p:nvPr/>
        </p:nvSpPr>
        <p:spPr>
          <a:xfrm>
            <a:off x="5200520" y="5225825"/>
            <a:ext cx="74007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660" dirty="0"/>
          </a:p>
        </p:txBody>
      </p:sp>
      <p:sp>
        <p:nvSpPr>
          <p:cNvPr id="159" name="Text 156"/>
          <p:cNvSpPr/>
          <p:nvPr/>
        </p:nvSpPr>
        <p:spPr>
          <a:xfrm>
            <a:off x="5200520" y="5470201"/>
            <a:ext cx="740074" cy="244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660" dirty="0"/>
          </a:p>
        </p:txBody>
      </p:sp>
      <p:sp>
        <p:nvSpPr>
          <p:cNvPr id="160" name="Text 157"/>
          <p:cNvSpPr/>
          <p:nvPr/>
        </p:nvSpPr>
        <p:spPr>
          <a:xfrm>
            <a:off x="5200520" y="5714576"/>
            <a:ext cx="740074" cy="239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624" dirty="0"/>
          </a:p>
        </p:txBody>
      </p:sp>
      <p:sp>
        <p:nvSpPr>
          <p:cNvPr id="161" name="Text 158"/>
          <p:cNvSpPr/>
          <p:nvPr/>
        </p:nvSpPr>
        <p:spPr>
          <a:xfrm>
            <a:off x="11220169" y="4734223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11220169" y="4984849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11220169" y="5235625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11220169" y="5486251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11220169" y="5736878"/>
            <a:ext cx="2800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57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81050" y="6358979"/>
            <a:ext cx="4084783" cy="16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estrategia de cabinas dedicadas logro una tasa de crecimiento de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6314917" y="3754041"/>
            <a:ext cx="5410541" cy="1800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 — autogestión)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6314917" y="5237262"/>
            <a:ext cx="541054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 de la base total · 7.460 registros descartados en 1S</a:t>
            </a:r>
            <a:endParaRPr lang="en-US" sz="576" dirty="0"/>
          </a:p>
        </p:txBody>
      </p:sp>
      <p:sp>
        <p:nvSpPr>
          <p:cNvPr id="6" name="Text 3"/>
          <p:cNvSpPr/>
          <p:nvPr/>
        </p:nvSpPr>
        <p:spPr>
          <a:xfrm>
            <a:off x="9134247" y="150882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3.2 veces mejor que el resto de la base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67771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34349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 registros descartados en el semestre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314917" y="4181921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6314917" y="4533602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 sobre contactados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6314917" y="4006007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723882" y="5483297"/>
            <a:ext cx="1460146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4ª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6314917" y="4885432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9019057" y="5884962"/>
            <a:ext cx="1131519" cy="11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768" dirty="0"/>
          </a:p>
        </p:txBody>
      </p:sp>
      <p:sp>
        <p:nvSpPr>
          <p:cNvPr id="18" name="Text 15"/>
          <p:cNvSpPr/>
          <p:nvPr/>
        </p:nvSpPr>
        <p:spPr>
          <a:xfrm>
            <a:off x="723882" y="4884115"/>
            <a:ext cx="1460146" cy="2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Melissa P. Orozco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6314917" y="4357836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314917" y="4709517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723882" y="5785419"/>
            <a:ext cx="1460146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4 asesores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686036" y="5884962"/>
            <a:ext cx="1131519" cy="11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768" dirty="0"/>
          </a:p>
        </p:txBody>
      </p:sp>
      <p:sp>
        <p:nvSpPr>
          <p:cNvPr id="24" name="Text 21"/>
          <p:cNvSpPr/>
          <p:nvPr/>
        </p:nvSpPr>
        <p:spPr>
          <a:xfrm>
            <a:off x="723882" y="4591073"/>
            <a:ext cx="1460146" cy="293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Jesús D. Cortés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314917" y="5061347"/>
            <a:ext cx="12801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600" dirty="0"/>
          </a:p>
        </p:txBody>
      </p:sp>
      <p:sp>
        <p:nvSpPr>
          <p:cNvPr id="26" name="Text 23"/>
          <p:cNvSpPr/>
          <p:nvPr/>
        </p:nvSpPr>
        <p:spPr>
          <a:xfrm>
            <a:off x="723882" y="5183706"/>
            <a:ext cx="1460146" cy="2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Luisa L. Percy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(1S)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6353016" y="5884962"/>
            <a:ext cx="1131519" cy="11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768" dirty="0"/>
          </a:p>
        </p:txBody>
      </p:sp>
      <p:sp>
        <p:nvSpPr>
          <p:cNvPr id="29" name="Text 26"/>
          <p:cNvSpPr/>
          <p:nvPr/>
        </p:nvSpPr>
        <p:spPr>
          <a:xfrm>
            <a:off x="10352077" y="5884962"/>
            <a:ext cx="1131519" cy="117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768" dirty="0"/>
          </a:p>
        </p:txBody>
      </p:sp>
      <p:sp>
        <p:nvSpPr>
          <p:cNvPr id="30" name="Text 27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(1S)</a:t>
            </a:r>
            <a:endParaRPr lang="en-US" sz="864" dirty="0"/>
          </a:p>
        </p:txBody>
      </p:sp>
      <p:sp>
        <p:nvSpPr>
          <p:cNvPr id="31" name="Text 28"/>
          <p:cNvSpPr/>
          <p:nvPr/>
        </p:nvSpPr>
        <p:spPr>
          <a:xfrm>
            <a:off x="4091927" y="2361330"/>
            <a:ext cx="9288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4976539" y="2361330"/>
            <a:ext cx="9452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1234945" y="2361330"/>
            <a:ext cx="834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2666636" y="2361330"/>
            <a:ext cx="7730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3402870" y="2361330"/>
            <a:ext cx="7235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2029518" y="2361330"/>
            <a:ext cx="66897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3402870" y="2589930"/>
            <a:ext cx="7235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41,2 %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4091927" y="2589930"/>
            <a:ext cx="92884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80,9 %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976539" y="2589930"/>
            <a:ext cx="94525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3402870" y="2832817"/>
            <a:ext cx="7235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57,9 %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4091927" y="2832817"/>
            <a:ext cx="9288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81,3 %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4976539" y="2832817"/>
            <a:ext cx="9452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32,4 %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3402870" y="3080467"/>
            <a:ext cx="7235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4091927" y="3080467"/>
            <a:ext cx="9288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76,3 %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4976539" y="3080467"/>
            <a:ext cx="9452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18,4 %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3402870" y="3328117"/>
            <a:ext cx="7235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58,3 %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091927" y="3328117"/>
            <a:ext cx="9288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4976539" y="3328117"/>
            <a:ext cx="9452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20,4 %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3402870" y="3575767"/>
            <a:ext cx="7235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60,4 %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4091927" y="3575767"/>
            <a:ext cx="9288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75,8 %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4976539" y="3575767"/>
            <a:ext cx="9452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33,0 %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3402870" y="3823417"/>
            <a:ext cx="72351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69,4 %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4091927" y="3823417"/>
            <a:ext cx="92884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68,4 %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4976539" y="3823417"/>
            <a:ext cx="94525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27,6 %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1234945" y="4071067"/>
            <a:ext cx="83430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11.685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3402870" y="4071067"/>
            <a:ext cx="72351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4091927" y="4071067"/>
            <a:ext cx="92884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72,4 %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4976539" y="4071067"/>
            <a:ext cx="94525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723882" y="4362473"/>
            <a:ext cx="146014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11.685</a:t>
            </a:r>
            <a:endParaRPr lang="en-US" sz="1400" dirty="0"/>
          </a:p>
        </p:txBody>
      </p:sp>
      <p:sp>
        <p:nvSpPr>
          <p:cNvPr id="61" name="Text 58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62" name="Text 59"/>
          <p:cNvSpPr/>
          <p:nvPr/>
        </p:nvSpPr>
        <p:spPr>
          <a:xfrm>
            <a:off x="1234945" y="3080467"/>
            <a:ext cx="834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1.864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2666636" y="3080467"/>
            <a:ext cx="773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1.189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1234945" y="3328117"/>
            <a:ext cx="834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1.950</a:t>
            </a:r>
            <a:endParaRPr lang="en-US" sz="888" dirty="0"/>
          </a:p>
        </p:txBody>
      </p:sp>
      <p:sp>
        <p:nvSpPr>
          <p:cNvPr id="65" name="Text 62"/>
          <p:cNvSpPr/>
          <p:nvPr/>
        </p:nvSpPr>
        <p:spPr>
          <a:xfrm>
            <a:off x="2666636" y="3328117"/>
            <a:ext cx="773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1.137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1234945" y="3575767"/>
            <a:ext cx="834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2.203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2666636" y="3575767"/>
            <a:ext cx="773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1.331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1234945" y="3823417"/>
            <a:ext cx="834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4.968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2666636" y="3823417"/>
            <a:ext cx="773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3.447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723882" y="4071067"/>
            <a:ext cx="53661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2666636" y="4071067"/>
            <a:ext cx="77304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5267789" y="4362473"/>
            <a:ext cx="63943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20" dirty="0"/>
          </a:p>
        </p:txBody>
      </p:sp>
      <p:sp>
        <p:nvSpPr>
          <p:cNvPr id="73" name="Text 70"/>
          <p:cNvSpPr/>
          <p:nvPr/>
        </p:nvSpPr>
        <p:spPr>
          <a:xfrm>
            <a:off x="8352770" y="296227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+111%</a:t>
            </a:r>
            <a:endParaRPr lang="en-US" sz="672" dirty="0"/>
          </a:p>
        </p:txBody>
      </p:sp>
      <p:sp>
        <p:nvSpPr>
          <p:cNvPr id="74" name="Text 71"/>
          <p:cNvSpPr/>
          <p:nvPr/>
        </p:nvSpPr>
        <p:spPr>
          <a:xfrm>
            <a:off x="11182070" y="4006007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600" dirty="0"/>
          </a:p>
        </p:txBody>
      </p:sp>
      <p:sp>
        <p:nvSpPr>
          <p:cNvPr id="75" name="Text 72"/>
          <p:cNvSpPr/>
          <p:nvPr/>
        </p:nvSpPr>
        <p:spPr>
          <a:xfrm>
            <a:off x="11182070" y="4181921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600" dirty="0"/>
          </a:p>
        </p:txBody>
      </p:sp>
      <p:sp>
        <p:nvSpPr>
          <p:cNvPr id="76" name="Text 73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3.2×</a:t>
            </a:r>
            <a:endParaRPr lang="en-US" sz="1400" dirty="0"/>
          </a:p>
        </p:txBody>
      </p:sp>
      <p:sp>
        <p:nvSpPr>
          <p:cNvPr id="77" name="Text 74"/>
          <p:cNvSpPr/>
          <p:nvPr/>
        </p:nvSpPr>
        <p:spPr>
          <a:xfrm>
            <a:off x="9218779" y="2873127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+21%</a:t>
            </a:r>
            <a:endParaRPr lang="en-US" sz="672" dirty="0"/>
          </a:p>
        </p:txBody>
      </p:sp>
      <p:sp>
        <p:nvSpPr>
          <p:cNvPr id="78" name="Text 75"/>
          <p:cNvSpPr/>
          <p:nvPr/>
        </p:nvSpPr>
        <p:spPr>
          <a:xfrm>
            <a:off x="10060083" y="2460129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+90%</a:t>
            </a:r>
            <a:endParaRPr lang="en-US" sz="672" dirty="0"/>
          </a:p>
        </p:txBody>
      </p:sp>
      <p:sp>
        <p:nvSpPr>
          <p:cNvPr id="79" name="Text 76"/>
          <p:cNvSpPr/>
          <p:nvPr/>
        </p:nvSpPr>
        <p:spPr>
          <a:xfrm>
            <a:off x="10911508" y="2460129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+32%</a:t>
            </a:r>
            <a:endParaRPr lang="en-US" sz="672" dirty="0"/>
          </a:p>
        </p:txBody>
      </p:sp>
      <p:sp>
        <p:nvSpPr>
          <p:cNvPr id="80" name="Text 77"/>
          <p:cNvSpPr/>
          <p:nvPr/>
        </p:nvSpPr>
        <p:spPr>
          <a:xfrm>
            <a:off x="11182070" y="4357836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600" dirty="0"/>
          </a:p>
        </p:txBody>
      </p:sp>
      <p:sp>
        <p:nvSpPr>
          <p:cNvPr id="81" name="Text 78"/>
          <p:cNvSpPr/>
          <p:nvPr/>
        </p:nvSpPr>
        <p:spPr>
          <a:xfrm>
            <a:off x="11182070" y="4533602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600" dirty="0"/>
          </a:p>
        </p:txBody>
      </p:sp>
      <p:sp>
        <p:nvSpPr>
          <p:cNvPr id="82" name="Text 79"/>
          <p:cNvSpPr/>
          <p:nvPr/>
        </p:nvSpPr>
        <p:spPr>
          <a:xfrm>
            <a:off x="11182070" y="4709517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600" dirty="0"/>
          </a:p>
        </p:txBody>
      </p:sp>
      <p:sp>
        <p:nvSpPr>
          <p:cNvPr id="83" name="Text 80"/>
          <p:cNvSpPr/>
          <p:nvPr/>
        </p:nvSpPr>
        <p:spPr>
          <a:xfrm>
            <a:off x="11182070" y="4885432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11182070" y="5061347"/>
            <a:ext cx="30003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600" dirty="0"/>
          </a:p>
        </p:txBody>
      </p:sp>
      <p:sp>
        <p:nvSpPr>
          <p:cNvPr id="85" name="Text 82"/>
          <p:cNvSpPr/>
          <p:nvPr/>
        </p:nvSpPr>
        <p:spPr>
          <a:xfrm>
            <a:off x="723882" y="2361330"/>
            <a:ext cx="536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6" name="Text 83"/>
          <p:cNvSpPr/>
          <p:nvPr/>
        </p:nvSpPr>
        <p:spPr>
          <a:xfrm>
            <a:off x="723882" y="2589930"/>
            <a:ext cx="53661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87" name="Text 84"/>
          <p:cNvSpPr/>
          <p:nvPr/>
        </p:nvSpPr>
        <p:spPr>
          <a:xfrm>
            <a:off x="1234945" y="2589930"/>
            <a:ext cx="834302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888" dirty="0"/>
          </a:p>
        </p:txBody>
      </p:sp>
      <p:sp>
        <p:nvSpPr>
          <p:cNvPr id="88" name="Text 85"/>
          <p:cNvSpPr/>
          <p:nvPr/>
        </p:nvSpPr>
        <p:spPr>
          <a:xfrm>
            <a:off x="2666636" y="2589930"/>
            <a:ext cx="773046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121</a:t>
            </a:r>
            <a:endParaRPr lang="en-US" sz="888" dirty="0"/>
          </a:p>
        </p:txBody>
      </p:sp>
      <p:sp>
        <p:nvSpPr>
          <p:cNvPr id="89" name="Text 86"/>
          <p:cNvSpPr/>
          <p:nvPr/>
        </p:nvSpPr>
        <p:spPr>
          <a:xfrm>
            <a:off x="723882" y="2832817"/>
            <a:ext cx="5366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1234945" y="2832817"/>
            <a:ext cx="834302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406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2666636" y="2832817"/>
            <a:ext cx="77304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235</a:t>
            </a:r>
            <a:endParaRPr lang="en-US" sz="888" dirty="0"/>
          </a:p>
        </p:txBody>
      </p:sp>
      <p:sp>
        <p:nvSpPr>
          <p:cNvPr id="92" name="Text 89"/>
          <p:cNvSpPr/>
          <p:nvPr/>
        </p:nvSpPr>
        <p:spPr>
          <a:xfrm>
            <a:off x="723882" y="3080467"/>
            <a:ext cx="5366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723882" y="3328117"/>
            <a:ext cx="5366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2029518" y="3328117"/>
            <a:ext cx="668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723882" y="3575767"/>
            <a:ext cx="5366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2029518" y="3575767"/>
            <a:ext cx="668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723882" y="3823417"/>
            <a:ext cx="53661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2029518" y="3823417"/>
            <a:ext cx="668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2029518" y="4071067"/>
            <a:ext cx="66897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2114497" y="4362473"/>
            <a:ext cx="5527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20" dirty="0"/>
          </a:p>
        </p:txBody>
      </p:sp>
      <p:sp>
        <p:nvSpPr>
          <p:cNvPr id="101" name="Text 98"/>
          <p:cNvSpPr/>
          <p:nvPr/>
        </p:nvSpPr>
        <p:spPr>
          <a:xfrm>
            <a:off x="2640889" y="4362473"/>
            <a:ext cx="5497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20" dirty="0"/>
          </a:p>
        </p:txBody>
      </p:sp>
      <p:sp>
        <p:nvSpPr>
          <p:cNvPr id="102" name="Text 99"/>
          <p:cNvSpPr/>
          <p:nvPr/>
        </p:nvSpPr>
        <p:spPr>
          <a:xfrm>
            <a:off x="3164453" y="4362473"/>
            <a:ext cx="555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20" dirty="0"/>
          </a:p>
        </p:txBody>
      </p:sp>
      <p:sp>
        <p:nvSpPr>
          <p:cNvPr id="103" name="Text 100"/>
          <p:cNvSpPr/>
          <p:nvPr/>
        </p:nvSpPr>
        <p:spPr>
          <a:xfrm>
            <a:off x="3693226" y="4362473"/>
            <a:ext cx="5394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20" dirty="0"/>
          </a:p>
        </p:txBody>
      </p:sp>
      <p:sp>
        <p:nvSpPr>
          <p:cNvPr id="104" name="Text 101"/>
          <p:cNvSpPr/>
          <p:nvPr/>
        </p:nvSpPr>
        <p:spPr>
          <a:xfrm>
            <a:off x="4206968" y="4362473"/>
            <a:ext cx="5728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20" dirty="0"/>
          </a:p>
        </p:txBody>
      </p:sp>
      <p:sp>
        <p:nvSpPr>
          <p:cNvPr id="105" name="Text 102"/>
          <p:cNvSpPr/>
          <p:nvPr/>
        </p:nvSpPr>
        <p:spPr>
          <a:xfrm>
            <a:off x="4752559" y="4362473"/>
            <a:ext cx="540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20" dirty="0"/>
          </a:p>
        </p:txBody>
      </p:sp>
      <p:sp>
        <p:nvSpPr>
          <p:cNvPr id="106" name="Text 103"/>
          <p:cNvSpPr/>
          <p:nvPr/>
        </p:nvSpPr>
        <p:spPr>
          <a:xfrm>
            <a:off x="4206968" y="4591073"/>
            <a:ext cx="572870" cy="293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720" dirty="0"/>
          </a:p>
        </p:txBody>
      </p:sp>
      <p:sp>
        <p:nvSpPr>
          <p:cNvPr id="107" name="Text 104"/>
          <p:cNvSpPr/>
          <p:nvPr/>
        </p:nvSpPr>
        <p:spPr>
          <a:xfrm>
            <a:off x="5267789" y="4591073"/>
            <a:ext cx="639439" cy="293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</a:t>
            </a:r>
            <a:endParaRPr lang="en-US" sz="744" dirty="0"/>
          </a:p>
        </p:txBody>
      </p:sp>
      <p:sp>
        <p:nvSpPr>
          <p:cNvPr id="108" name="Text 105"/>
          <p:cNvSpPr/>
          <p:nvPr/>
        </p:nvSpPr>
        <p:spPr>
          <a:xfrm>
            <a:off x="5267789" y="4884115"/>
            <a:ext cx="639439" cy="2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165</a:t>
            </a:r>
            <a:endParaRPr lang="en-US" sz="744" dirty="0"/>
          </a:p>
        </p:txBody>
      </p:sp>
      <p:sp>
        <p:nvSpPr>
          <p:cNvPr id="109" name="Text 106"/>
          <p:cNvSpPr/>
          <p:nvPr/>
        </p:nvSpPr>
        <p:spPr>
          <a:xfrm>
            <a:off x="5267789" y="5183706"/>
            <a:ext cx="639439" cy="2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744" dirty="0"/>
          </a:p>
        </p:txBody>
      </p:sp>
      <p:sp>
        <p:nvSpPr>
          <p:cNvPr id="110" name="Text 107"/>
          <p:cNvSpPr/>
          <p:nvPr/>
        </p:nvSpPr>
        <p:spPr>
          <a:xfrm>
            <a:off x="4206968" y="5785419"/>
            <a:ext cx="572870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204</a:t>
            </a:r>
            <a:endParaRPr lang="en-US" sz="720" dirty="0"/>
          </a:p>
        </p:txBody>
      </p:sp>
      <p:sp>
        <p:nvSpPr>
          <p:cNvPr id="111" name="Text 108"/>
          <p:cNvSpPr/>
          <p:nvPr/>
        </p:nvSpPr>
        <p:spPr>
          <a:xfrm>
            <a:off x="4752559" y="5785419"/>
            <a:ext cx="540992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266</a:t>
            </a:r>
            <a:endParaRPr lang="en-US" sz="720" dirty="0"/>
          </a:p>
        </p:txBody>
      </p:sp>
      <p:sp>
        <p:nvSpPr>
          <p:cNvPr id="112" name="Text 109"/>
          <p:cNvSpPr/>
          <p:nvPr/>
        </p:nvSpPr>
        <p:spPr>
          <a:xfrm>
            <a:off x="5267789" y="5785419"/>
            <a:ext cx="639439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605</a:t>
            </a:r>
            <a:endParaRPr lang="en-US" sz="744" dirty="0"/>
          </a:p>
        </p:txBody>
      </p:sp>
      <p:sp>
        <p:nvSpPr>
          <p:cNvPr id="113" name="Text 110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803</a:t>
            </a:r>
            <a:endParaRPr lang="en-US" sz="1400" dirty="0"/>
          </a:p>
        </p:txBody>
      </p:sp>
      <p:sp>
        <p:nvSpPr>
          <p:cNvPr id="114" name="Text 111"/>
          <p:cNvSpPr/>
          <p:nvPr/>
        </p:nvSpPr>
        <p:spPr>
          <a:xfrm>
            <a:off x="6686978" y="3515916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44" dirty="0"/>
          </a:p>
        </p:txBody>
      </p:sp>
      <p:sp>
        <p:nvSpPr>
          <p:cNvPr id="115" name="Text 112"/>
          <p:cNvSpPr/>
          <p:nvPr/>
        </p:nvSpPr>
        <p:spPr>
          <a:xfrm>
            <a:off x="7544653" y="31788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672" dirty="0"/>
          </a:p>
        </p:txBody>
      </p:sp>
      <p:sp>
        <p:nvSpPr>
          <p:cNvPr id="116" name="Text 113"/>
          <p:cNvSpPr/>
          <p:nvPr/>
        </p:nvSpPr>
        <p:spPr>
          <a:xfrm>
            <a:off x="7535873" y="3515916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44" dirty="0"/>
          </a:p>
        </p:txBody>
      </p:sp>
      <p:sp>
        <p:nvSpPr>
          <p:cNvPr id="117" name="Text 114"/>
          <p:cNvSpPr/>
          <p:nvPr/>
        </p:nvSpPr>
        <p:spPr>
          <a:xfrm>
            <a:off x="8381493" y="3515916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44" dirty="0"/>
          </a:p>
        </p:txBody>
      </p:sp>
      <p:sp>
        <p:nvSpPr>
          <p:cNvPr id="118" name="Text 115"/>
          <p:cNvSpPr/>
          <p:nvPr/>
        </p:nvSpPr>
        <p:spPr>
          <a:xfrm>
            <a:off x="9232620" y="2760018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</a:t>
            </a:r>
            <a:endParaRPr lang="en-US" sz="816" dirty="0"/>
          </a:p>
        </p:txBody>
      </p:sp>
      <p:sp>
        <p:nvSpPr>
          <p:cNvPr id="119" name="Text 116"/>
          <p:cNvSpPr/>
          <p:nvPr/>
        </p:nvSpPr>
        <p:spPr>
          <a:xfrm>
            <a:off x="9235150" y="3515916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44" dirty="0"/>
          </a:p>
        </p:txBody>
      </p:sp>
      <p:sp>
        <p:nvSpPr>
          <p:cNvPr id="120" name="Text 117"/>
          <p:cNvSpPr/>
          <p:nvPr/>
        </p:nvSpPr>
        <p:spPr>
          <a:xfrm>
            <a:off x="10074519" y="23470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816" dirty="0"/>
          </a:p>
        </p:txBody>
      </p:sp>
      <p:sp>
        <p:nvSpPr>
          <p:cNvPr id="121" name="Text 118"/>
          <p:cNvSpPr/>
          <p:nvPr/>
        </p:nvSpPr>
        <p:spPr>
          <a:xfrm>
            <a:off x="10070203" y="3515916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44" dirty="0"/>
          </a:p>
        </p:txBody>
      </p:sp>
      <p:sp>
        <p:nvSpPr>
          <p:cNvPr id="122" name="Text 119"/>
          <p:cNvSpPr/>
          <p:nvPr/>
        </p:nvSpPr>
        <p:spPr>
          <a:xfrm>
            <a:off x="10919247" y="234702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816" dirty="0"/>
          </a:p>
        </p:txBody>
      </p:sp>
      <p:sp>
        <p:nvSpPr>
          <p:cNvPr id="123" name="Text 120"/>
          <p:cNvSpPr/>
          <p:nvPr/>
        </p:nvSpPr>
        <p:spPr>
          <a:xfrm>
            <a:off x="10929962" y="3515916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44" dirty="0"/>
          </a:p>
        </p:txBody>
      </p:sp>
      <p:sp>
        <p:nvSpPr>
          <p:cNvPr id="124" name="Text 121"/>
          <p:cNvSpPr/>
          <p:nvPr/>
        </p:nvSpPr>
        <p:spPr>
          <a:xfrm>
            <a:off x="2029518" y="2589930"/>
            <a:ext cx="66897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888" dirty="0"/>
          </a:p>
        </p:txBody>
      </p:sp>
      <p:sp>
        <p:nvSpPr>
          <p:cNvPr id="125" name="Text 122"/>
          <p:cNvSpPr/>
          <p:nvPr/>
        </p:nvSpPr>
        <p:spPr>
          <a:xfrm>
            <a:off x="2029518" y="2832817"/>
            <a:ext cx="668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88" dirty="0"/>
          </a:p>
        </p:txBody>
      </p:sp>
      <p:sp>
        <p:nvSpPr>
          <p:cNvPr id="126" name="Text 123"/>
          <p:cNvSpPr/>
          <p:nvPr/>
        </p:nvSpPr>
        <p:spPr>
          <a:xfrm>
            <a:off x="2029518" y="3080467"/>
            <a:ext cx="66897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888" dirty="0"/>
          </a:p>
        </p:txBody>
      </p:sp>
      <p:sp>
        <p:nvSpPr>
          <p:cNvPr id="127" name="Text 124"/>
          <p:cNvSpPr/>
          <p:nvPr/>
        </p:nvSpPr>
        <p:spPr>
          <a:xfrm>
            <a:off x="3164453" y="4591073"/>
            <a:ext cx="555212" cy="293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720" dirty="0"/>
          </a:p>
        </p:txBody>
      </p:sp>
      <p:sp>
        <p:nvSpPr>
          <p:cNvPr id="128" name="Text 125"/>
          <p:cNvSpPr/>
          <p:nvPr/>
        </p:nvSpPr>
        <p:spPr>
          <a:xfrm>
            <a:off x="3693226" y="4591073"/>
            <a:ext cx="539429" cy="293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720" dirty="0"/>
          </a:p>
        </p:txBody>
      </p:sp>
      <p:sp>
        <p:nvSpPr>
          <p:cNvPr id="129" name="Text 126"/>
          <p:cNvSpPr/>
          <p:nvPr/>
        </p:nvSpPr>
        <p:spPr>
          <a:xfrm>
            <a:off x="4752559" y="4591073"/>
            <a:ext cx="540992" cy="2930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</a:t>
            </a:r>
            <a:endParaRPr lang="en-US" sz="720" dirty="0"/>
          </a:p>
        </p:txBody>
      </p:sp>
      <p:sp>
        <p:nvSpPr>
          <p:cNvPr id="130" name="Text 127"/>
          <p:cNvSpPr/>
          <p:nvPr/>
        </p:nvSpPr>
        <p:spPr>
          <a:xfrm>
            <a:off x="3693226" y="4884115"/>
            <a:ext cx="539429" cy="2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20" dirty="0"/>
          </a:p>
        </p:txBody>
      </p:sp>
      <p:sp>
        <p:nvSpPr>
          <p:cNvPr id="131" name="Text 128"/>
          <p:cNvSpPr/>
          <p:nvPr/>
        </p:nvSpPr>
        <p:spPr>
          <a:xfrm>
            <a:off x="4206968" y="4884115"/>
            <a:ext cx="572870" cy="2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4752559" y="4884115"/>
            <a:ext cx="540992" cy="2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720" dirty="0"/>
          </a:p>
        </p:txBody>
      </p:sp>
      <p:sp>
        <p:nvSpPr>
          <p:cNvPr id="133" name="Text 130"/>
          <p:cNvSpPr/>
          <p:nvPr/>
        </p:nvSpPr>
        <p:spPr>
          <a:xfrm>
            <a:off x="3693226" y="5183706"/>
            <a:ext cx="539429" cy="2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20" dirty="0"/>
          </a:p>
        </p:txBody>
      </p:sp>
      <p:sp>
        <p:nvSpPr>
          <p:cNvPr id="134" name="Text 131"/>
          <p:cNvSpPr/>
          <p:nvPr/>
        </p:nvSpPr>
        <p:spPr>
          <a:xfrm>
            <a:off x="4206968" y="5183706"/>
            <a:ext cx="572870" cy="2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20" dirty="0"/>
          </a:p>
        </p:txBody>
      </p:sp>
      <p:sp>
        <p:nvSpPr>
          <p:cNvPr id="135" name="Text 132"/>
          <p:cNvSpPr/>
          <p:nvPr/>
        </p:nvSpPr>
        <p:spPr>
          <a:xfrm>
            <a:off x="4752559" y="5183706"/>
            <a:ext cx="540992" cy="2995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</a:t>
            </a:r>
            <a:endParaRPr lang="en-US" sz="720" dirty="0"/>
          </a:p>
        </p:txBody>
      </p:sp>
      <p:sp>
        <p:nvSpPr>
          <p:cNvPr id="136" name="Text 133"/>
          <p:cNvSpPr/>
          <p:nvPr/>
        </p:nvSpPr>
        <p:spPr>
          <a:xfrm>
            <a:off x="4752559" y="5483297"/>
            <a:ext cx="540992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720" dirty="0"/>
          </a:p>
        </p:txBody>
      </p:sp>
      <p:sp>
        <p:nvSpPr>
          <p:cNvPr id="137" name="Text 134"/>
          <p:cNvSpPr/>
          <p:nvPr/>
        </p:nvSpPr>
        <p:spPr>
          <a:xfrm>
            <a:off x="5267789" y="5483297"/>
            <a:ext cx="639439" cy="302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</a:t>
            </a:r>
            <a:endParaRPr lang="en-US" sz="744" dirty="0"/>
          </a:p>
        </p:txBody>
      </p:sp>
      <p:sp>
        <p:nvSpPr>
          <p:cNvPr id="138" name="Text 135"/>
          <p:cNvSpPr/>
          <p:nvPr/>
        </p:nvSpPr>
        <p:spPr>
          <a:xfrm>
            <a:off x="2114497" y="5785419"/>
            <a:ext cx="552712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720" dirty="0"/>
          </a:p>
        </p:txBody>
      </p:sp>
      <p:sp>
        <p:nvSpPr>
          <p:cNvPr id="139" name="Text 136"/>
          <p:cNvSpPr/>
          <p:nvPr/>
        </p:nvSpPr>
        <p:spPr>
          <a:xfrm>
            <a:off x="2640889" y="5785419"/>
            <a:ext cx="549742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20" dirty="0"/>
          </a:p>
        </p:txBody>
      </p:sp>
      <p:sp>
        <p:nvSpPr>
          <p:cNvPr id="140" name="Text 137"/>
          <p:cNvSpPr/>
          <p:nvPr/>
        </p:nvSpPr>
        <p:spPr>
          <a:xfrm>
            <a:off x="3164453" y="5785419"/>
            <a:ext cx="555212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720" dirty="0"/>
          </a:p>
        </p:txBody>
      </p:sp>
      <p:sp>
        <p:nvSpPr>
          <p:cNvPr id="141" name="Text 138"/>
          <p:cNvSpPr/>
          <p:nvPr/>
        </p:nvSpPr>
        <p:spPr>
          <a:xfrm>
            <a:off x="3693226" y="5785419"/>
            <a:ext cx="539429" cy="25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6712576" y="307851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816" dirty="0"/>
          </a:p>
        </p:txBody>
      </p:sp>
      <p:sp>
        <p:nvSpPr>
          <p:cNvPr id="143" name="Text 140"/>
          <p:cNvSpPr/>
          <p:nvPr/>
        </p:nvSpPr>
        <p:spPr>
          <a:xfrm>
            <a:off x="7560875" y="3065711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16" dirty="0"/>
          </a:p>
        </p:txBody>
      </p:sp>
      <p:sp>
        <p:nvSpPr>
          <p:cNvPr id="144" name="Text 141"/>
          <p:cNvSpPr/>
          <p:nvPr/>
        </p:nvSpPr>
        <p:spPr>
          <a:xfrm>
            <a:off x="8407984" y="2849166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81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237684"/>
            <a:ext cx="8937456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es , lo que indica que el 1S se depuró correctamente contra clientes vigentes antes de lanzar el marcador.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84131"/>
            <a:ext cx="8937456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vez hay menos clientes nuevos en la base — hay mucho cliente que ya gestionamos en algún momento (los re-envíos suman el ).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85783" y="6530578"/>
            <a:ext cx="8937456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 el , convirtiéndose en el motor de ventas del canal.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1493602" y="6100763"/>
            <a:ext cx="247681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contactabilidad del canal (79,0 % Semestre)</a:t>
            </a:r>
            <a:endParaRPr lang="en-US" sz="744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86866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8216595" y="120089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6267293" y="48870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0" name="Text 7"/>
          <p:cNvSpPr/>
          <p:nvPr/>
        </p:nvSpPr>
        <p:spPr>
          <a:xfrm>
            <a:off x="533387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</a:t>
            </a:r>
            <a:endParaRPr lang="en-US" sz="648" dirty="0"/>
          </a:p>
        </p:txBody>
      </p:sp>
      <p:sp>
        <p:nvSpPr>
          <p:cNvPr id="11" name="Text 8"/>
          <p:cNvSpPr/>
          <p:nvPr/>
        </p:nvSpPr>
        <p:spPr>
          <a:xfrm>
            <a:off x="504812" y="42203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2" name="Text 9"/>
          <p:cNvSpPr/>
          <p:nvPr/>
        </p:nvSpPr>
        <p:spPr>
          <a:xfrm>
            <a:off x="504812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504812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504812" y="39536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con Localidad Errónea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495288" y="29153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6267293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7" name="Text 14"/>
          <p:cNvSpPr/>
          <p:nvPr/>
        </p:nvSpPr>
        <p:spPr>
          <a:xfrm>
            <a:off x="6267293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6267293" y="40869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6267293" y="42203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6267293" y="39536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4374991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Motor de ventas del canal</a:t>
            </a:r>
            <a:endParaRPr lang="en-US" sz="648" dirty="0"/>
          </a:p>
        </p:txBody>
      </p:sp>
      <p:sp>
        <p:nvSpPr>
          <p:cNvPr id="22" name="Text 19"/>
          <p:cNvSpPr/>
          <p:nvPr/>
        </p:nvSpPr>
        <p:spPr>
          <a:xfrm>
            <a:off x="504812" y="40869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Cédula/Teléfono Repetido</a:t>
            </a:r>
            <a:endParaRPr lang="en-US" sz="576" dirty="0"/>
          </a:p>
        </p:txBody>
      </p:sp>
      <p:sp>
        <p:nvSpPr>
          <p:cNvPr id="23" name="Text 20"/>
          <p:cNvSpPr/>
          <p:nvPr/>
        </p:nvSpPr>
        <p:spPr>
          <a:xfrm>
            <a:off x="533387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504812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6267293" y="46203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504812" y="43536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6267293" y="43536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8216595" y="80962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504812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504812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6267293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6267293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6267293" y="50204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4" name="Text 31"/>
          <p:cNvSpPr/>
          <p:nvPr/>
        </p:nvSpPr>
        <p:spPr>
          <a:xfrm>
            <a:off x="6267293" y="515379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4374991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10281832" y="1681930"/>
            <a:ext cx="1485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6267293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8" name="Text 35"/>
          <p:cNvSpPr/>
          <p:nvPr/>
        </p:nvSpPr>
        <p:spPr>
          <a:xfrm>
            <a:off x="6267293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6267293" y="44870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40" name="Text 37"/>
          <p:cNvSpPr/>
          <p:nvPr/>
        </p:nvSpPr>
        <p:spPr>
          <a:xfrm>
            <a:off x="6267293" y="47537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1" name="Text 38"/>
          <p:cNvSpPr/>
          <p:nvPr/>
        </p:nvSpPr>
        <p:spPr>
          <a:xfrm>
            <a:off x="2996877" y="1681930"/>
            <a:ext cx="1598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8324195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1582896" y="1681930"/>
            <a:ext cx="1484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4519648" y="1681930"/>
            <a:ext cx="1484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495288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1582896" y="2705867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114.694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6257769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1582896" y="1853380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14.772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4519648" y="1853380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1582896" y="199149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19.573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2996877" y="1991492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4519648" y="199149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56,9 %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1582896" y="2134367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21.419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2996877" y="2134367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4519648" y="2134367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63,0 %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1582896" y="227724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19.096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2996877" y="2277242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519648" y="227724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56,5 %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82896" y="2420117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20.067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2996877" y="2420117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519648" y="2420117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1582896" y="256299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19.767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2996877" y="2562992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519648" y="256299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66,8 %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2996877" y="2705867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4519648" y="2705867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504812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5226118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35.758</a:t>
            </a:r>
            <a:endParaRPr lang="en-US" sz="576" dirty="0"/>
          </a:p>
        </p:txBody>
      </p:sp>
      <p:sp>
        <p:nvSpPr>
          <p:cNvPr id="69" name="Text 66"/>
          <p:cNvSpPr/>
          <p:nvPr/>
        </p:nvSpPr>
        <p:spPr>
          <a:xfrm>
            <a:off x="5226118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12.760</a:t>
            </a:r>
            <a:endParaRPr lang="en-US" sz="576" dirty="0"/>
          </a:p>
        </p:txBody>
      </p:sp>
      <p:sp>
        <p:nvSpPr>
          <p:cNvPr id="70" name="Text 67"/>
          <p:cNvSpPr/>
          <p:nvPr/>
        </p:nvSpPr>
        <p:spPr>
          <a:xfrm>
            <a:off x="2812186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576" dirty="0"/>
          </a:p>
        </p:txBody>
      </p:sp>
      <p:sp>
        <p:nvSpPr>
          <p:cNvPr id="71" name="Text 68"/>
          <p:cNvSpPr/>
          <p:nvPr/>
        </p:nvSpPr>
        <p:spPr>
          <a:xfrm>
            <a:off x="3294972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576" dirty="0"/>
          </a:p>
        </p:txBody>
      </p:sp>
      <p:sp>
        <p:nvSpPr>
          <p:cNvPr id="72" name="Text 69"/>
          <p:cNvSpPr/>
          <p:nvPr/>
        </p:nvSpPr>
        <p:spPr>
          <a:xfrm>
            <a:off x="3777759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4260545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4743331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26118" y="448704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9303014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8324195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636" dirty="0"/>
          </a:p>
        </p:txBody>
      </p:sp>
      <p:sp>
        <p:nvSpPr>
          <p:cNvPr id="78" name="Text 75"/>
          <p:cNvSpPr/>
          <p:nvPr/>
        </p:nvSpPr>
        <p:spPr>
          <a:xfrm>
            <a:off x="10281832" y="1853380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23,8 %</a:t>
            </a:r>
            <a:endParaRPr lang="en-US" sz="636" dirty="0"/>
          </a:p>
        </p:txBody>
      </p:sp>
      <p:sp>
        <p:nvSpPr>
          <p:cNvPr id="79" name="Text 76"/>
          <p:cNvSpPr/>
          <p:nvPr/>
        </p:nvSpPr>
        <p:spPr>
          <a:xfrm>
            <a:off x="8324195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79,1 %</a:t>
            </a:r>
            <a:endParaRPr lang="en-US" sz="636" dirty="0"/>
          </a:p>
        </p:txBody>
      </p:sp>
      <p:sp>
        <p:nvSpPr>
          <p:cNvPr id="80" name="Text 77"/>
          <p:cNvSpPr/>
          <p:nvPr/>
        </p:nvSpPr>
        <p:spPr>
          <a:xfrm>
            <a:off x="10281832" y="199149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21,7 %</a:t>
            </a:r>
            <a:endParaRPr lang="en-US" sz="636" dirty="0"/>
          </a:p>
        </p:txBody>
      </p:sp>
      <p:sp>
        <p:nvSpPr>
          <p:cNvPr id="81" name="Text 78"/>
          <p:cNvSpPr/>
          <p:nvPr/>
        </p:nvSpPr>
        <p:spPr>
          <a:xfrm>
            <a:off x="8324195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78,5 %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10281832" y="2134367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8324195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10281832" y="227724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8324195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82,3 %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10281832" y="2420117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8324195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77,9 %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10281832" y="256299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19,9 %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7345377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48.652</a:t>
            </a:r>
            <a:endParaRPr lang="en-US" sz="636" dirty="0"/>
          </a:p>
        </p:txBody>
      </p:sp>
      <p:sp>
        <p:nvSpPr>
          <p:cNvPr id="90" name="Text 87"/>
          <p:cNvSpPr/>
          <p:nvPr/>
        </p:nvSpPr>
        <p:spPr>
          <a:xfrm>
            <a:off x="8324195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636" dirty="0"/>
          </a:p>
        </p:txBody>
      </p:sp>
      <p:sp>
        <p:nvSpPr>
          <p:cNvPr id="91" name="Text 88"/>
          <p:cNvSpPr/>
          <p:nvPr/>
        </p:nvSpPr>
        <p:spPr>
          <a:xfrm>
            <a:off x="10281832" y="2705867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636" dirty="0"/>
          </a:p>
        </p:txBody>
      </p:sp>
      <p:sp>
        <p:nvSpPr>
          <p:cNvPr id="92" name="Text 89"/>
          <p:cNvSpPr/>
          <p:nvPr/>
        </p:nvSpPr>
        <p:spPr>
          <a:xfrm>
            <a:off x="8091881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8574667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79,1 %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9057453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78,5 %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9540240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10023026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82,3 %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10505812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77,9 %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10988599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8091881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8574667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9057453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14,7 %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9540240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12,9 %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10023026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16,5 %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10505812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15,5 %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10988599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15,9 %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8091881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31,6 %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8574667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9057453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30,4 %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9540240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29,3 %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10023026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31,9 %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10505812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30,2 %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10988599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30,6 %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8091881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10,3 %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8574667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10023026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10,4 %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10988599" y="36869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117" name="Text 114"/>
          <p:cNvSpPr/>
          <p:nvPr/>
        </p:nvSpPr>
        <p:spPr>
          <a:xfrm>
            <a:off x="8091881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18,5 %</a:t>
            </a:r>
            <a:endParaRPr lang="en-US" sz="552" dirty="0"/>
          </a:p>
        </p:txBody>
      </p:sp>
      <p:sp>
        <p:nvSpPr>
          <p:cNvPr id="118" name="Text 115"/>
          <p:cNvSpPr/>
          <p:nvPr/>
        </p:nvSpPr>
        <p:spPr>
          <a:xfrm>
            <a:off x="8574667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552" dirty="0"/>
          </a:p>
        </p:txBody>
      </p:sp>
      <p:sp>
        <p:nvSpPr>
          <p:cNvPr id="119" name="Text 116"/>
          <p:cNvSpPr/>
          <p:nvPr/>
        </p:nvSpPr>
        <p:spPr>
          <a:xfrm>
            <a:off x="9057453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21,5 %</a:t>
            </a:r>
            <a:endParaRPr lang="en-US" sz="552" dirty="0"/>
          </a:p>
        </p:txBody>
      </p:sp>
      <p:sp>
        <p:nvSpPr>
          <p:cNvPr id="120" name="Text 117"/>
          <p:cNvSpPr/>
          <p:nvPr/>
        </p:nvSpPr>
        <p:spPr>
          <a:xfrm>
            <a:off x="9540240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24,4 %</a:t>
            </a:r>
            <a:endParaRPr lang="en-US" sz="552" dirty="0"/>
          </a:p>
        </p:txBody>
      </p:sp>
      <p:sp>
        <p:nvSpPr>
          <p:cNvPr id="121" name="Text 118"/>
          <p:cNvSpPr/>
          <p:nvPr/>
        </p:nvSpPr>
        <p:spPr>
          <a:xfrm>
            <a:off x="10023026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122" name="Text 119"/>
          <p:cNvSpPr/>
          <p:nvPr/>
        </p:nvSpPr>
        <p:spPr>
          <a:xfrm>
            <a:off x="10505812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22,1 %</a:t>
            </a:r>
            <a:endParaRPr lang="en-US" sz="552" dirty="0"/>
          </a:p>
        </p:txBody>
      </p:sp>
      <p:sp>
        <p:nvSpPr>
          <p:cNvPr id="123" name="Text 120"/>
          <p:cNvSpPr/>
          <p:nvPr/>
        </p:nvSpPr>
        <p:spPr>
          <a:xfrm>
            <a:off x="10988599" y="44870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21,0 %</a:t>
            </a:r>
            <a:endParaRPr lang="en-US" sz="552" dirty="0"/>
          </a:p>
        </p:txBody>
      </p:sp>
      <p:sp>
        <p:nvSpPr>
          <p:cNvPr id="124" name="Text 121"/>
          <p:cNvSpPr/>
          <p:nvPr/>
        </p:nvSpPr>
        <p:spPr>
          <a:xfrm>
            <a:off x="8091881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125" name="Text 122"/>
          <p:cNvSpPr/>
          <p:nvPr/>
        </p:nvSpPr>
        <p:spPr>
          <a:xfrm>
            <a:off x="8574667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13,7 %</a:t>
            </a:r>
            <a:endParaRPr lang="en-US" sz="552" dirty="0"/>
          </a:p>
        </p:txBody>
      </p:sp>
      <p:sp>
        <p:nvSpPr>
          <p:cNvPr id="126" name="Text 123"/>
          <p:cNvSpPr/>
          <p:nvPr/>
        </p:nvSpPr>
        <p:spPr>
          <a:xfrm>
            <a:off x="9057453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14,1 %</a:t>
            </a:r>
            <a:endParaRPr lang="en-US" sz="552" dirty="0"/>
          </a:p>
        </p:txBody>
      </p:sp>
      <p:sp>
        <p:nvSpPr>
          <p:cNvPr id="127" name="Text 124"/>
          <p:cNvSpPr/>
          <p:nvPr/>
        </p:nvSpPr>
        <p:spPr>
          <a:xfrm>
            <a:off x="9540240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16,0 %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10023026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11,6 %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10505812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14,5 %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10988599" y="46203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8216595" y="95250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20,1 %</a:t>
            </a:r>
            <a:endParaRPr lang="en-US" sz="1380" dirty="0"/>
          </a:p>
        </p:txBody>
      </p:sp>
      <p:sp>
        <p:nvSpPr>
          <p:cNvPr id="132" name="Text 129"/>
          <p:cNvSpPr/>
          <p:nvPr/>
        </p:nvSpPr>
        <p:spPr>
          <a:xfrm>
            <a:off x="495288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33" name="Text 130"/>
          <p:cNvSpPr/>
          <p:nvPr/>
        </p:nvSpPr>
        <p:spPr>
          <a:xfrm>
            <a:off x="2996877" y="1853380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636" dirty="0"/>
          </a:p>
        </p:txBody>
      </p:sp>
      <p:sp>
        <p:nvSpPr>
          <p:cNvPr id="134" name="Text 131"/>
          <p:cNvSpPr/>
          <p:nvPr/>
        </p:nvSpPr>
        <p:spPr>
          <a:xfrm>
            <a:off x="495288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35" name="Text 132"/>
          <p:cNvSpPr/>
          <p:nvPr/>
        </p:nvSpPr>
        <p:spPr>
          <a:xfrm>
            <a:off x="495288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36" name="Text 133"/>
          <p:cNvSpPr/>
          <p:nvPr/>
        </p:nvSpPr>
        <p:spPr>
          <a:xfrm>
            <a:off x="495288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37" name="Text 134"/>
          <p:cNvSpPr/>
          <p:nvPr/>
        </p:nvSpPr>
        <p:spPr>
          <a:xfrm>
            <a:off x="495288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38" name="Text 135"/>
          <p:cNvSpPr/>
          <p:nvPr/>
        </p:nvSpPr>
        <p:spPr>
          <a:xfrm>
            <a:off x="5226118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39" name="Text 136"/>
          <p:cNvSpPr/>
          <p:nvPr/>
        </p:nvSpPr>
        <p:spPr>
          <a:xfrm>
            <a:off x="2329400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4.318</a:t>
            </a:r>
            <a:endParaRPr lang="en-US" sz="576" dirty="0"/>
          </a:p>
        </p:txBody>
      </p:sp>
      <p:sp>
        <p:nvSpPr>
          <p:cNvPr id="140" name="Text 137"/>
          <p:cNvSpPr/>
          <p:nvPr/>
        </p:nvSpPr>
        <p:spPr>
          <a:xfrm>
            <a:off x="2812186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5.666</a:t>
            </a:r>
            <a:endParaRPr lang="en-US" sz="576" dirty="0"/>
          </a:p>
        </p:txBody>
      </p:sp>
      <p:sp>
        <p:nvSpPr>
          <p:cNvPr id="141" name="Text 138"/>
          <p:cNvSpPr/>
          <p:nvPr/>
        </p:nvSpPr>
        <p:spPr>
          <a:xfrm>
            <a:off x="3294972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6.863</a:t>
            </a:r>
            <a:endParaRPr lang="en-US" sz="576" dirty="0"/>
          </a:p>
        </p:txBody>
      </p:sp>
      <p:sp>
        <p:nvSpPr>
          <p:cNvPr id="142" name="Text 139"/>
          <p:cNvSpPr/>
          <p:nvPr/>
        </p:nvSpPr>
        <p:spPr>
          <a:xfrm>
            <a:off x="3777759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5.492</a:t>
            </a:r>
            <a:endParaRPr lang="en-US" sz="576" dirty="0"/>
          </a:p>
        </p:txBody>
      </p:sp>
      <p:sp>
        <p:nvSpPr>
          <p:cNvPr id="143" name="Text 140"/>
          <p:cNvSpPr/>
          <p:nvPr/>
        </p:nvSpPr>
        <p:spPr>
          <a:xfrm>
            <a:off x="4260545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6.700</a:t>
            </a:r>
            <a:endParaRPr lang="en-US" sz="576" dirty="0"/>
          </a:p>
        </p:txBody>
      </p:sp>
      <p:sp>
        <p:nvSpPr>
          <p:cNvPr id="144" name="Text 141"/>
          <p:cNvSpPr/>
          <p:nvPr/>
        </p:nvSpPr>
        <p:spPr>
          <a:xfrm>
            <a:off x="4743331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6.719</a:t>
            </a:r>
            <a:endParaRPr lang="en-US" sz="576" dirty="0"/>
          </a:p>
        </p:txBody>
      </p:sp>
      <p:sp>
        <p:nvSpPr>
          <p:cNvPr id="145" name="Text 142"/>
          <p:cNvSpPr/>
          <p:nvPr/>
        </p:nvSpPr>
        <p:spPr>
          <a:xfrm>
            <a:off x="2329400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1.541</a:t>
            </a:r>
            <a:endParaRPr lang="en-US" sz="576" dirty="0"/>
          </a:p>
        </p:txBody>
      </p:sp>
      <p:sp>
        <p:nvSpPr>
          <p:cNvPr id="146" name="Text 143"/>
          <p:cNvSpPr/>
          <p:nvPr/>
        </p:nvSpPr>
        <p:spPr>
          <a:xfrm>
            <a:off x="2812186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2.022</a:t>
            </a:r>
            <a:endParaRPr lang="en-US" sz="576" dirty="0"/>
          </a:p>
        </p:txBody>
      </p:sp>
      <p:sp>
        <p:nvSpPr>
          <p:cNvPr id="147" name="Text 144"/>
          <p:cNvSpPr/>
          <p:nvPr/>
        </p:nvSpPr>
        <p:spPr>
          <a:xfrm>
            <a:off x="3294972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2.448</a:t>
            </a:r>
            <a:endParaRPr lang="en-US" sz="576" dirty="0"/>
          </a:p>
        </p:txBody>
      </p:sp>
      <p:sp>
        <p:nvSpPr>
          <p:cNvPr id="148" name="Text 145"/>
          <p:cNvSpPr/>
          <p:nvPr/>
        </p:nvSpPr>
        <p:spPr>
          <a:xfrm>
            <a:off x="3777759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1.960</a:t>
            </a:r>
            <a:endParaRPr lang="en-US" sz="576" dirty="0"/>
          </a:p>
        </p:txBody>
      </p:sp>
      <p:sp>
        <p:nvSpPr>
          <p:cNvPr id="149" name="Text 146"/>
          <p:cNvSpPr/>
          <p:nvPr/>
        </p:nvSpPr>
        <p:spPr>
          <a:xfrm>
            <a:off x="4260545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2.391</a:t>
            </a:r>
            <a:endParaRPr lang="en-US" sz="576" dirty="0"/>
          </a:p>
        </p:txBody>
      </p:sp>
      <p:sp>
        <p:nvSpPr>
          <p:cNvPr id="150" name="Text 147"/>
          <p:cNvSpPr/>
          <p:nvPr/>
        </p:nvSpPr>
        <p:spPr>
          <a:xfrm>
            <a:off x="4743331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2.398</a:t>
            </a:r>
            <a:endParaRPr lang="en-US" sz="576" dirty="0"/>
          </a:p>
        </p:txBody>
      </p:sp>
      <p:sp>
        <p:nvSpPr>
          <p:cNvPr id="151" name="Text 148"/>
          <p:cNvSpPr/>
          <p:nvPr/>
        </p:nvSpPr>
        <p:spPr>
          <a:xfrm>
            <a:off x="2812186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1.113</a:t>
            </a:r>
            <a:endParaRPr lang="en-US" sz="576" dirty="0"/>
          </a:p>
        </p:txBody>
      </p:sp>
      <p:sp>
        <p:nvSpPr>
          <p:cNvPr id="152" name="Text 149"/>
          <p:cNvSpPr/>
          <p:nvPr/>
        </p:nvSpPr>
        <p:spPr>
          <a:xfrm>
            <a:off x="3294972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1.349</a:t>
            </a:r>
            <a:endParaRPr lang="en-US" sz="576" dirty="0"/>
          </a:p>
        </p:txBody>
      </p:sp>
      <p:sp>
        <p:nvSpPr>
          <p:cNvPr id="153" name="Text 150"/>
          <p:cNvSpPr/>
          <p:nvPr/>
        </p:nvSpPr>
        <p:spPr>
          <a:xfrm>
            <a:off x="3777759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1.079</a:t>
            </a:r>
            <a:endParaRPr lang="en-US" sz="576" dirty="0"/>
          </a:p>
        </p:txBody>
      </p:sp>
      <p:sp>
        <p:nvSpPr>
          <p:cNvPr id="154" name="Text 151"/>
          <p:cNvSpPr/>
          <p:nvPr/>
        </p:nvSpPr>
        <p:spPr>
          <a:xfrm>
            <a:off x="4260545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1.317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4743331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1.320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5226118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7.027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3294972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1.135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4260545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1.109</a:t>
            </a:r>
            <a:endParaRPr lang="en-US" sz="576" dirty="0"/>
          </a:p>
        </p:txBody>
      </p:sp>
      <p:sp>
        <p:nvSpPr>
          <p:cNvPr id="159" name="Text 156"/>
          <p:cNvSpPr/>
          <p:nvPr/>
        </p:nvSpPr>
        <p:spPr>
          <a:xfrm>
            <a:off x="4743331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1.112</a:t>
            </a:r>
            <a:endParaRPr lang="en-US" sz="576" dirty="0"/>
          </a:p>
        </p:txBody>
      </p:sp>
      <p:sp>
        <p:nvSpPr>
          <p:cNvPr id="160" name="Text 157"/>
          <p:cNvSpPr/>
          <p:nvPr/>
        </p:nvSpPr>
        <p:spPr>
          <a:xfrm>
            <a:off x="5226118" y="36869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5.916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5226118" y="38202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4.624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5226118" y="39536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1.912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5226118" y="40869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1.070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504812" y="448704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2329400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7345377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67" name="Text 164"/>
          <p:cNvSpPr/>
          <p:nvPr/>
        </p:nvSpPr>
        <p:spPr>
          <a:xfrm>
            <a:off x="6257769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68" name="Text 165"/>
          <p:cNvSpPr/>
          <p:nvPr/>
        </p:nvSpPr>
        <p:spPr>
          <a:xfrm>
            <a:off x="7345377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6.459</a:t>
            </a:r>
            <a:endParaRPr lang="en-US" sz="636" dirty="0"/>
          </a:p>
        </p:txBody>
      </p:sp>
      <p:sp>
        <p:nvSpPr>
          <p:cNvPr id="169" name="Text 166"/>
          <p:cNvSpPr/>
          <p:nvPr/>
        </p:nvSpPr>
        <p:spPr>
          <a:xfrm>
            <a:off x="9303014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1.251</a:t>
            </a:r>
            <a:endParaRPr lang="en-US" sz="636" dirty="0"/>
          </a:p>
        </p:txBody>
      </p:sp>
      <p:sp>
        <p:nvSpPr>
          <p:cNvPr id="170" name="Text 167"/>
          <p:cNvSpPr/>
          <p:nvPr/>
        </p:nvSpPr>
        <p:spPr>
          <a:xfrm>
            <a:off x="7345377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8.610</a:t>
            </a:r>
            <a:endParaRPr lang="en-US" sz="636" dirty="0"/>
          </a:p>
        </p:txBody>
      </p:sp>
      <p:sp>
        <p:nvSpPr>
          <p:cNvPr id="171" name="Text 168"/>
          <p:cNvSpPr/>
          <p:nvPr/>
        </p:nvSpPr>
        <p:spPr>
          <a:xfrm>
            <a:off x="9303014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1.480</a:t>
            </a:r>
            <a:endParaRPr lang="en-US" sz="636" dirty="0"/>
          </a:p>
        </p:txBody>
      </p:sp>
      <p:sp>
        <p:nvSpPr>
          <p:cNvPr id="172" name="Text 169"/>
          <p:cNvSpPr/>
          <p:nvPr/>
        </p:nvSpPr>
        <p:spPr>
          <a:xfrm>
            <a:off x="6257769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73" name="Text 170"/>
          <p:cNvSpPr/>
          <p:nvPr/>
        </p:nvSpPr>
        <p:spPr>
          <a:xfrm>
            <a:off x="7345377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8.608</a:t>
            </a:r>
            <a:endParaRPr lang="en-US" sz="636" dirty="0"/>
          </a:p>
        </p:txBody>
      </p:sp>
      <p:sp>
        <p:nvSpPr>
          <p:cNvPr id="174" name="Text 171"/>
          <p:cNvSpPr/>
          <p:nvPr/>
        </p:nvSpPr>
        <p:spPr>
          <a:xfrm>
            <a:off x="9303014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1.265</a:t>
            </a:r>
            <a:endParaRPr lang="en-US" sz="636" dirty="0"/>
          </a:p>
        </p:txBody>
      </p:sp>
      <p:sp>
        <p:nvSpPr>
          <p:cNvPr id="175" name="Text 172"/>
          <p:cNvSpPr/>
          <p:nvPr/>
        </p:nvSpPr>
        <p:spPr>
          <a:xfrm>
            <a:off x="6257769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76" name="Text 173"/>
          <p:cNvSpPr/>
          <p:nvPr/>
        </p:nvSpPr>
        <p:spPr>
          <a:xfrm>
            <a:off x="7345377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9.117</a:t>
            </a:r>
            <a:endParaRPr lang="en-US" sz="636" dirty="0"/>
          </a:p>
        </p:txBody>
      </p:sp>
      <p:sp>
        <p:nvSpPr>
          <p:cNvPr id="177" name="Text 174"/>
          <p:cNvSpPr/>
          <p:nvPr/>
        </p:nvSpPr>
        <p:spPr>
          <a:xfrm>
            <a:off x="9303014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1.180</a:t>
            </a:r>
            <a:endParaRPr lang="en-US" sz="636" dirty="0"/>
          </a:p>
        </p:txBody>
      </p:sp>
      <p:sp>
        <p:nvSpPr>
          <p:cNvPr id="178" name="Text 175"/>
          <p:cNvSpPr/>
          <p:nvPr/>
        </p:nvSpPr>
        <p:spPr>
          <a:xfrm>
            <a:off x="7345377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7.773</a:t>
            </a:r>
            <a:endParaRPr lang="en-US" sz="636" dirty="0"/>
          </a:p>
        </p:txBody>
      </p:sp>
      <p:sp>
        <p:nvSpPr>
          <p:cNvPr id="179" name="Text 176"/>
          <p:cNvSpPr/>
          <p:nvPr/>
        </p:nvSpPr>
        <p:spPr>
          <a:xfrm>
            <a:off x="9303014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1.286</a:t>
            </a:r>
            <a:endParaRPr lang="en-US" sz="636" dirty="0"/>
          </a:p>
        </p:txBody>
      </p:sp>
      <p:sp>
        <p:nvSpPr>
          <p:cNvPr id="180" name="Text 177"/>
          <p:cNvSpPr/>
          <p:nvPr/>
        </p:nvSpPr>
        <p:spPr>
          <a:xfrm>
            <a:off x="6257769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81" name="Text 178"/>
          <p:cNvSpPr/>
          <p:nvPr/>
        </p:nvSpPr>
        <p:spPr>
          <a:xfrm>
            <a:off x="7345377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8.085</a:t>
            </a:r>
            <a:endParaRPr lang="en-US" sz="636" dirty="0"/>
          </a:p>
        </p:txBody>
      </p:sp>
      <p:sp>
        <p:nvSpPr>
          <p:cNvPr id="182" name="Text 179"/>
          <p:cNvSpPr/>
          <p:nvPr/>
        </p:nvSpPr>
        <p:spPr>
          <a:xfrm>
            <a:off x="9303014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1.253</a:t>
            </a:r>
            <a:endParaRPr lang="en-US" sz="636" dirty="0"/>
          </a:p>
        </p:txBody>
      </p:sp>
      <p:sp>
        <p:nvSpPr>
          <p:cNvPr id="183" name="Text 180"/>
          <p:cNvSpPr/>
          <p:nvPr/>
        </p:nvSpPr>
        <p:spPr>
          <a:xfrm>
            <a:off x="6257769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84" name="Text 181"/>
          <p:cNvSpPr/>
          <p:nvPr/>
        </p:nvSpPr>
        <p:spPr>
          <a:xfrm>
            <a:off x="9303014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7.715</a:t>
            </a:r>
            <a:endParaRPr lang="en-US" sz="636" dirty="0"/>
          </a:p>
        </p:txBody>
      </p:sp>
      <p:sp>
        <p:nvSpPr>
          <p:cNvPr id="185" name="Text 182"/>
          <p:cNvSpPr/>
          <p:nvPr/>
        </p:nvSpPr>
        <p:spPr>
          <a:xfrm>
            <a:off x="10988599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86" name="Text 183"/>
          <p:cNvSpPr/>
          <p:nvPr/>
        </p:nvSpPr>
        <p:spPr>
          <a:xfrm>
            <a:off x="9057453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187" name="Text 184"/>
          <p:cNvSpPr/>
          <p:nvPr/>
        </p:nvSpPr>
        <p:spPr>
          <a:xfrm>
            <a:off x="9540240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9,5 %</a:t>
            </a:r>
            <a:endParaRPr lang="en-US" sz="552" dirty="0"/>
          </a:p>
        </p:txBody>
      </p:sp>
      <p:sp>
        <p:nvSpPr>
          <p:cNvPr id="188" name="Text 185"/>
          <p:cNvSpPr/>
          <p:nvPr/>
        </p:nvSpPr>
        <p:spPr>
          <a:xfrm>
            <a:off x="10505812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9,8 %</a:t>
            </a:r>
            <a:endParaRPr lang="en-US" sz="552" dirty="0"/>
          </a:p>
        </p:txBody>
      </p:sp>
      <p:sp>
        <p:nvSpPr>
          <p:cNvPr id="189" name="Text 186"/>
          <p:cNvSpPr/>
          <p:nvPr/>
        </p:nvSpPr>
        <p:spPr>
          <a:xfrm>
            <a:off x="8091881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90" name="Text 187"/>
          <p:cNvSpPr/>
          <p:nvPr/>
        </p:nvSpPr>
        <p:spPr>
          <a:xfrm>
            <a:off x="8574667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9057453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9540240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10023026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10505812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10988599" y="38202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8091881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8574667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9057453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9540240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10023026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10505812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10988599" y="39536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8091881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8574667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9057453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9540240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10023026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10505812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10988599" y="40869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8091881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8574667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9057453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9540240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10023026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10505812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10988599" y="42203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8091881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8574667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9057453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9540240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10023026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10505812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10988599" y="43536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8091881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8574667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9057453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9540240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10023026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10505812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10988599" y="47537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8091881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8574667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9057453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34" name="Text 231"/>
          <p:cNvSpPr/>
          <p:nvPr/>
        </p:nvSpPr>
        <p:spPr>
          <a:xfrm>
            <a:off x="9540240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5" name="Text 232"/>
          <p:cNvSpPr/>
          <p:nvPr/>
        </p:nvSpPr>
        <p:spPr>
          <a:xfrm>
            <a:off x="10023026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10505812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10988599" y="48870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8091881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39" name="Text 236"/>
          <p:cNvSpPr/>
          <p:nvPr/>
        </p:nvSpPr>
        <p:spPr>
          <a:xfrm>
            <a:off x="8574667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0" name="Text 237"/>
          <p:cNvSpPr/>
          <p:nvPr/>
        </p:nvSpPr>
        <p:spPr>
          <a:xfrm>
            <a:off x="9057453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1" name="Text 238"/>
          <p:cNvSpPr/>
          <p:nvPr/>
        </p:nvSpPr>
        <p:spPr>
          <a:xfrm>
            <a:off x="9540240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10023026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3" name="Text 240"/>
          <p:cNvSpPr/>
          <p:nvPr/>
        </p:nvSpPr>
        <p:spPr>
          <a:xfrm>
            <a:off x="10505812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4" name="Text 241"/>
          <p:cNvSpPr/>
          <p:nvPr/>
        </p:nvSpPr>
        <p:spPr>
          <a:xfrm>
            <a:off x="10988599" y="50204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245" name="Text 242"/>
          <p:cNvSpPr/>
          <p:nvPr/>
        </p:nvSpPr>
        <p:spPr>
          <a:xfrm>
            <a:off x="8091881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46" name="Text 243"/>
          <p:cNvSpPr/>
          <p:nvPr/>
        </p:nvSpPr>
        <p:spPr>
          <a:xfrm>
            <a:off x="8574667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47" name="Text 244"/>
          <p:cNvSpPr/>
          <p:nvPr/>
        </p:nvSpPr>
        <p:spPr>
          <a:xfrm>
            <a:off x="9057453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9540240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10023026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10505812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10988599" y="515379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4374991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7.715</a:t>
            </a:r>
            <a:endParaRPr lang="en-US" sz="1380" dirty="0"/>
          </a:p>
        </p:txBody>
      </p:sp>
      <p:sp>
        <p:nvSpPr>
          <p:cNvPr id="253" name="Text 250"/>
          <p:cNvSpPr/>
          <p:nvPr/>
        </p:nvSpPr>
        <p:spPr>
          <a:xfrm>
            <a:off x="495288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54" name="Text 251"/>
          <p:cNvSpPr/>
          <p:nvPr/>
        </p:nvSpPr>
        <p:spPr>
          <a:xfrm>
            <a:off x="6257769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55" name="Text 252"/>
          <p:cNvSpPr/>
          <p:nvPr/>
        </p:nvSpPr>
        <p:spPr>
          <a:xfrm>
            <a:off x="533387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380" dirty="0"/>
          </a:p>
        </p:txBody>
      </p:sp>
      <p:sp>
        <p:nvSpPr>
          <p:cNvPr id="256" name="Text 253"/>
          <p:cNvSpPr/>
          <p:nvPr/>
        </p:nvSpPr>
        <p:spPr>
          <a:xfrm>
            <a:off x="495288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57" name="Text 254"/>
          <p:cNvSpPr/>
          <p:nvPr/>
        </p:nvSpPr>
        <p:spPr>
          <a:xfrm>
            <a:off x="232940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58" name="Text 255"/>
          <p:cNvSpPr/>
          <p:nvPr/>
        </p:nvSpPr>
        <p:spPr>
          <a:xfrm>
            <a:off x="281218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59" name="Text 256"/>
          <p:cNvSpPr/>
          <p:nvPr/>
        </p:nvSpPr>
        <p:spPr>
          <a:xfrm>
            <a:off x="329497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60" name="Text 257"/>
          <p:cNvSpPr/>
          <p:nvPr/>
        </p:nvSpPr>
        <p:spPr>
          <a:xfrm>
            <a:off x="3777759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61" name="Text 258"/>
          <p:cNvSpPr/>
          <p:nvPr/>
        </p:nvSpPr>
        <p:spPr>
          <a:xfrm>
            <a:off x="4260545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62" name="Text 259"/>
          <p:cNvSpPr/>
          <p:nvPr/>
        </p:nvSpPr>
        <p:spPr>
          <a:xfrm>
            <a:off x="474333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63" name="Text 260"/>
          <p:cNvSpPr/>
          <p:nvPr/>
        </p:nvSpPr>
        <p:spPr>
          <a:xfrm>
            <a:off x="2329400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849</a:t>
            </a:r>
            <a:endParaRPr lang="en-US" sz="576" dirty="0"/>
          </a:p>
        </p:txBody>
      </p:sp>
      <p:sp>
        <p:nvSpPr>
          <p:cNvPr id="264" name="Text 261"/>
          <p:cNvSpPr/>
          <p:nvPr/>
        </p:nvSpPr>
        <p:spPr>
          <a:xfrm>
            <a:off x="2329400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714</a:t>
            </a:r>
            <a:endParaRPr lang="en-US" sz="576" dirty="0"/>
          </a:p>
        </p:txBody>
      </p:sp>
      <p:sp>
        <p:nvSpPr>
          <p:cNvPr id="265" name="Text 262"/>
          <p:cNvSpPr/>
          <p:nvPr/>
        </p:nvSpPr>
        <p:spPr>
          <a:xfrm>
            <a:off x="2812186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937</a:t>
            </a:r>
            <a:endParaRPr lang="en-US" sz="576" dirty="0"/>
          </a:p>
        </p:txBody>
      </p:sp>
      <p:sp>
        <p:nvSpPr>
          <p:cNvPr id="266" name="Text 263"/>
          <p:cNvSpPr/>
          <p:nvPr/>
        </p:nvSpPr>
        <p:spPr>
          <a:xfrm>
            <a:off x="3777759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909</a:t>
            </a:r>
            <a:endParaRPr lang="en-US" sz="576" dirty="0"/>
          </a:p>
        </p:txBody>
      </p:sp>
      <p:sp>
        <p:nvSpPr>
          <p:cNvPr id="267" name="Text 264"/>
          <p:cNvSpPr/>
          <p:nvPr/>
        </p:nvSpPr>
        <p:spPr>
          <a:xfrm>
            <a:off x="2329400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558</a:t>
            </a:r>
            <a:endParaRPr lang="en-US" sz="576" dirty="0"/>
          </a:p>
        </p:txBody>
      </p:sp>
      <p:sp>
        <p:nvSpPr>
          <p:cNvPr id="268" name="Text 265"/>
          <p:cNvSpPr/>
          <p:nvPr/>
        </p:nvSpPr>
        <p:spPr>
          <a:xfrm>
            <a:off x="2812186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733</a:t>
            </a:r>
            <a:endParaRPr lang="en-US" sz="576" dirty="0"/>
          </a:p>
        </p:txBody>
      </p:sp>
      <p:sp>
        <p:nvSpPr>
          <p:cNvPr id="269" name="Text 266"/>
          <p:cNvSpPr/>
          <p:nvPr/>
        </p:nvSpPr>
        <p:spPr>
          <a:xfrm>
            <a:off x="3294972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888</a:t>
            </a:r>
            <a:endParaRPr lang="en-US" sz="576" dirty="0"/>
          </a:p>
        </p:txBody>
      </p:sp>
      <p:sp>
        <p:nvSpPr>
          <p:cNvPr id="270" name="Text 267"/>
          <p:cNvSpPr/>
          <p:nvPr/>
        </p:nvSpPr>
        <p:spPr>
          <a:xfrm>
            <a:off x="3777759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710</a:t>
            </a:r>
            <a:endParaRPr lang="en-US" sz="576" dirty="0"/>
          </a:p>
        </p:txBody>
      </p:sp>
      <p:sp>
        <p:nvSpPr>
          <p:cNvPr id="271" name="Text 268"/>
          <p:cNvSpPr/>
          <p:nvPr/>
        </p:nvSpPr>
        <p:spPr>
          <a:xfrm>
            <a:off x="4260545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866</a:t>
            </a:r>
            <a:endParaRPr lang="en-US" sz="576" dirty="0"/>
          </a:p>
        </p:txBody>
      </p:sp>
      <p:sp>
        <p:nvSpPr>
          <p:cNvPr id="272" name="Text 269"/>
          <p:cNvSpPr/>
          <p:nvPr/>
        </p:nvSpPr>
        <p:spPr>
          <a:xfrm>
            <a:off x="4743331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869</a:t>
            </a:r>
            <a:endParaRPr lang="en-US" sz="576" dirty="0"/>
          </a:p>
        </p:txBody>
      </p:sp>
      <p:sp>
        <p:nvSpPr>
          <p:cNvPr id="273" name="Text 270"/>
          <p:cNvSpPr/>
          <p:nvPr/>
        </p:nvSpPr>
        <p:spPr>
          <a:xfrm>
            <a:off x="2329400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231</a:t>
            </a:r>
            <a:endParaRPr lang="en-US" sz="576" dirty="0"/>
          </a:p>
        </p:txBody>
      </p:sp>
      <p:sp>
        <p:nvSpPr>
          <p:cNvPr id="274" name="Text 271"/>
          <p:cNvSpPr/>
          <p:nvPr/>
        </p:nvSpPr>
        <p:spPr>
          <a:xfrm>
            <a:off x="2812186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303</a:t>
            </a:r>
            <a:endParaRPr lang="en-US" sz="576" dirty="0"/>
          </a:p>
        </p:txBody>
      </p:sp>
      <p:sp>
        <p:nvSpPr>
          <p:cNvPr id="275" name="Text 272"/>
          <p:cNvSpPr/>
          <p:nvPr/>
        </p:nvSpPr>
        <p:spPr>
          <a:xfrm>
            <a:off x="3294972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367</a:t>
            </a:r>
            <a:endParaRPr lang="en-US" sz="576" dirty="0"/>
          </a:p>
        </p:txBody>
      </p:sp>
      <p:sp>
        <p:nvSpPr>
          <p:cNvPr id="276" name="Text 273"/>
          <p:cNvSpPr/>
          <p:nvPr/>
        </p:nvSpPr>
        <p:spPr>
          <a:xfrm>
            <a:off x="3777759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576" dirty="0"/>
          </a:p>
        </p:txBody>
      </p:sp>
      <p:sp>
        <p:nvSpPr>
          <p:cNvPr id="277" name="Text 274"/>
          <p:cNvSpPr/>
          <p:nvPr/>
        </p:nvSpPr>
        <p:spPr>
          <a:xfrm>
            <a:off x="4260545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358</a:t>
            </a:r>
            <a:endParaRPr lang="en-US" sz="576" dirty="0"/>
          </a:p>
        </p:txBody>
      </p:sp>
      <p:sp>
        <p:nvSpPr>
          <p:cNvPr id="278" name="Text 275"/>
          <p:cNvSpPr/>
          <p:nvPr/>
        </p:nvSpPr>
        <p:spPr>
          <a:xfrm>
            <a:off x="4743331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359</a:t>
            </a:r>
            <a:endParaRPr lang="en-US" sz="576" dirty="0"/>
          </a:p>
        </p:txBody>
      </p:sp>
      <p:sp>
        <p:nvSpPr>
          <p:cNvPr id="279" name="Text 276"/>
          <p:cNvSpPr/>
          <p:nvPr/>
        </p:nvSpPr>
        <p:spPr>
          <a:xfrm>
            <a:off x="2329400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576" dirty="0"/>
          </a:p>
        </p:txBody>
      </p:sp>
      <p:sp>
        <p:nvSpPr>
          <p:cNvPr id="280" name="Text 277"/>
          <p:cNvSpPr/>
          <p:nvPr/>
        </p:nvSpPr>
        <p:spPr>
          <a:xfrm>
            <a:off x="2812186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170</a:t>
            </a:r>
            <a:endParaRPr lang="en-US" sz="576" dirty="0"/>
          </a:p>
        </p:txBody>
      </p:sp>
      <p:sp>
        <p:nvSpPr>
          <p:cNvPr id="281" name="Text 278"/>
          <p:cNvSpPr/>
          <p:nvPr/>
        </p:nvSpPr>
        <p:spPr>
          <a:xfrm>
            <a:off x="3294972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206</a:t>
            </a:r>
            <a:endParaRPr lang="en-US" sz="576" dirty="0"/>
          </a:p>
        </p:txBody>
      </p:sp>
      <p:sp>
        <p:nvSpPr>
          <p:cNvPr id="282" name="Text 279"/>
          <p:cNvSpPr/>
          <p:nvPr/>
        </p:nvSpPr>
        <p:spPr>
          <a:xfrm>
            <a:off x="3777759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164</a:t>
            </a:r>
            <a:endParaRPr lang="en-US" sz="576" dirty="0"/>
          </a:p>
        </p:txBody>
      </p:sp>
      <p:sp>
        <p:nvSpPr>
          <p:cNvPr id="283" name="Text 280"/>
          <p:cNvSpPr/>
          <p:nvPr/>
        </p:nvSpPr>
        <p:spPr>
          <a:xfrm>
            <a:off x="4260545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4743331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5226118" y="42203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2812186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3294972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150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3777759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4260545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4743331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291" name="Text 288"/>
          <p:cNvSpPr/>
          <p:nvPr/>
        </p:nvSpPr>
        <p:spPr>
          <a:xfrm>
            <a:off x="5226118" y="43536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779</a:t>
            </a:r>
            <a:endParaRPr lang="en-US" sz="576" dirty="0"/>
          </a:p>
        </p:txBody>
      </p:sp>
      <p:sp>
        <p:nvSpPr>
          <p:cNvPr id="292" name="Text 289"/>
          <p:cNvSpPr/>
          <p:nvPr/>
        </p:nvSpPr>
        <p:spPr>
          <a:xfrm>
            <a:off x="6257769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93" name="Text 290"/>
          <p:cNvSpPr/>
          <p:nvPr/>
        </p:nvSpPr>
        <p:spPr>
          <a:xfrm>
            <a:off x="809188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94" name="Text 291"/>
          <p:cNvSpPr/>
          <p:nvPr/>
        </p:nvSpPr>
        <p:spPr>
          <a:xfrm>
            <a:off x="8574667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95" name="Text 292"/>
          <p:cNvSpPr/>
          <p:nvPr/>
        </p:nvSpPr>
        <p:spPr>
          <a:xfrm>
            <a:off x="9057453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96" name="Text 293"/>
          <p:cNvSpPr/>
          <p:nvPr/>
        </p:nvSpPr>
        <p:spPr>
          <a:xfrm>
            <a:off x="954024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97" name="Text 294"/>
          <p:cNvSpPr/>
          <p:nvPr/>
        </p:nvSpPr>
        <p:spPr>
          <a:xfrm>
            <a:off x="1002302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98" name="Text 295"/>
          <p:cNvSpPr/>
          <p:nvPr/>
        </p:nvSpPr>
        <p:spPr>
          <a:xfrm>
            <a:off x="1050581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99" name="Text 296"/>
          <p:cNvSpPr/>
          <p:nvPr/>
        </p:nvSpPr>
        <p:spPr>
          <a:xfrm>
            <a:off x="2329400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576" dirty="0"/>
          </a:p>
        </p:txBody>
      </p:sp>
      <p:sp>
        <p:nvSpPr>
          <p:cNvPr id="300" name="Text 297"/>
          <p:cNvSpPr/>
          <p:nvPr/>
        </p:nvSpPr>
        <p:spPr>
          <a:xfrm>
            <a:off x="2812186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301" name="Text 298"/>
          <p:cNvSpPr/>
          <p:nvPr/>
        </p:nvSpPr>
        <p:spPr>
          <a:xfrm>
            <a:off x="3294972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2" name="Text 299"/>
          <p:cNvSpPr/>
          <p:nvPr/>
        </p:nvSpPr>
        <p:spPr>
          <a:xfrm>
            <a:off x="3777759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576" dirty="0"/>
          </a:p>
        </p:txBody>
      </p:sp>
      <p:sp>
        <p:nvSpPr>
          <p:cNvPr id="303" name="Text 300"/>
          <p:cNvSpPr/>
          <p:nvPr/>
        </p:nvSpPr>
        <p:spPr>
          <a:xfrm>
            <a:off x="4260545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4" name="Text 301"/>
          <p:cNvSpPr/>
          <p:nvPr/>
        </p:nvSpPr>
        <p:spPr>
          <a:xfrm>
            <a:off x="4743331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305" name="Text 302"/>
          <p:cNvSpPr/>
          <p:nvPr/>
        </p:nvSpPr>
        <p:spPr>
          <a:xfrm>
            <a:off x="2329400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</a:t>
            </a:r>
            <a:endParaRPr lang="en-US" sz="57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530578"/>
            <a:ext cx="753294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muy alto (), impulsado por contestadores automáticos (), lo que exige depuración telefónica en 2S.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84131"/>
            <a:ext cx="753294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estructural de  y  suma el , confirmando el agotamiento de la base.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1336741" y="6247209"/>
            <a:ext cx="256228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volumen (420.641 registros recibidos)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8216595" y="120089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 contacto (4,6 % sobre contacto apto)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6267293" y="48870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3298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4374991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504812" y="42203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1" name="Text 8"/>
          <p:cNvSpPr/>
          <p:nvPr/>
        </p:nvSpPr>
        <p:spPr>
          <a:xfrm>
            <a:off x="504812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2" name="Text 9"/>
          <p:cNvSpPr/>
          <p:nvPr/>
        </p:nvSpPr>
        <p:spPr>
          <a:xfrm>
            <a:off x="504812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533387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648" dirty="0"/>
          </a:p>
        </p:txBody>
      </p:sp>
      <p:sp>
        <p:nvSpPr>
          <p:cNvPr id="14" name="Text 11"/>
          <p:cNvSpPr/>
          <p:nvPr/>
        </p:nvSpPr>
        <p:spPr>
          <a:xfrm>
            <a:off x="495288" y="29153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6267293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6" name="Text 13"/>
          <p:cNvSpPr/>
          <p:nvPr/>
        </p:nvSpPr>
        <p:spPr>
          <a:xfrm>
            <a:off x="6267293" y="42203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17" name="Text 14"/>
          <p:cNvSpPr/>
          <p:nvPr/>
        </p:nvSpPr>
        <p:spPr>
          <a:xfrm>
            <a:off x="6267293" y="39536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6267293" y="40869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6267293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504812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1" name="Text 18"/>
          <p:cNvSpPr/>
          <p:nvPr/>
        </p:nvSpPr>
        <p:spPr>
          <a:xfrm>
            <a:off x="6267293" y="46203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504812" y="43536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3" name="Text 20"/>
          <p:cNvSpPr/>
          <p:nvPr/>
        </p:nvSpPr>
        <p:spPr>
          <a:xfrm>
            <a:off x="6267293" y="43536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533387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4374991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8216595" y="80962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504812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</a:t>
            </a:r>
            <a:endParaRPr lang="en-US" sz="576" dirty="0"/>
          </a:p>
        </p:txBody>
      </p:sp>
      <p:sp>
        <p:nvSpPr>
          <p:cNvPr id="28" name="Text 25"/>
          <p:cNvSpPr/>
          <p:nvPr/>
        </p:nvSpPr>
        <p:spPr>
          <a:xfrm>
            <a:off x="504812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9" name="Text 26"/>
          <p:cNvSpPr/>
          <p:nvPr/>
        </p:nvSpPr>
        <p:spPr>
          <a:xfrm>
            <a:off x="504812" y="39536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Repetido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6267293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1" name="Text 28"/>
          <p:cNvSpPr/>
          <p:nvPr/>
        </p:nvSpPr>
        <p:spPr>
          <a:xfrm>
            <a:off x="6267293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6267293" y="50204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6267293" y="515379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4" name="Text 31"/>
          <p:cNvSpPr/>
          <p:nvPr/>
        </p:nvSpPr>
        <p:spPr>
          <a:xfrm>
            <a:off x="504812" y="40869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Repetida</a:t>
            </a:r>
            <a:endParaRPr lang="en-US" sz="576" dirty="0"/>
          </a:p>
        </p:txBody>
      </p:sp>
      <p:sp>
        <p:nvSpPr>
          <p:cNvPr id="35" name="Text 32"/>
          <p:cNvSpPr/>
          <p:nvPr/>
        </p:nvSpPr>
        <p:spPr>
          <a:xfrm>
            <a:off x="10281832" y="1681930"/>
            <a:ext cx="1485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6267293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6267293" y="44870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9" name="Text 36"/>
          <p:cNvSpPr/>
          <p:nvPr/>
        </p:nvSpPr>
        <p:spPr>
          <a:xfrm>
            <a:off x="6267293" y="47537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0" name="Text 37"/>
          <p:cNvSpPr/>
          <p:nvPr/>
        </p:nvSpPr>
        <p:spPr>
          <a:xfrm>
            <a:off x="2996877" y="1681930"/>
            <a:ext cx="1598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8324195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582896" y="1681930"/>
            <a:ext cx="1484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4519648" y="1681930"/>
            <a:ext cx="1484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495288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1582896" y="256299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114.104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1582896" y="2705867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2996877" y="2705867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5226118" y="448704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576" dirty="0"/>
          </a:p>
        </p:txBody>
      </p:sp>
      <p:sp>
        <p:nvSpPr>
          <p:cNvPr id="49" name="Text 46"/>
          <p:cNvSpPr/>
          <p:nvPr/>
        </p:nvSpPr>
        <p:spPr>
          <a:xfrm>
            <a:off x="6257769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7345377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158.941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533387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380" dirty="0"/>
          </a:p>
        </p:txBody>
      </p:sp>
      <p:sp>
        <p:nvSpPr>
          <p:cNvPr id="52" name="Text 49"/>
          <p:cNvSpPr/>
          <p:nvPr/>
        </p:nvSpPr>
        <p:spPr>
          <a:xfrm>
            <a:off x="1582896" y="1853380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20.864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2996877" y="1853380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4519648" y="1853380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1582896" y="199149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50.266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2996877" y="1991492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4519648" y="199149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50,6 %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1582896" y="2134367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69.741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2996877" y="2134367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4519648" y="2134367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59,9 %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1582896" y="227724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2996877" y="2277242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4519648" y="227724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1582896" y="2420117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2996877" y="2420117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4519648" y="2420117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2996877" y="2562992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4519648" y="256299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519648" y="2705867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62,2 %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504812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3294972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15.354</a:t>
            </a:r>
            <a:endParaRPr lang="en-US" sz="576" dirty="0"/>
          </a:p>
        </p:txBody>
      </p:sp>
      <p:sp>
        <p:nvSpPr>
          <p:cNvPr id="72" name="Text 69"/>
          <p:cNvSpPr/>
          <p:nvPr/>
        </p:nvSpPr>
        <p:spPr>
          <a:xfrm>
            <a:off x="3777759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4260545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4743331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27.509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26118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96.218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3294972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3777759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260545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4743331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24.431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5226118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85.455</a:t>
            </a:r>
            <a:endParaRPr lang="en-US" sz="576" dirty="0"/>
          </a:p>
        </p:txBody>
      </p:sp>
      <p:sp>
        <p:nvSpPr>
          <p:cNvPr id="81" name="Text 78"/>
          <p:cNvSpPr/>
          <p:nvPr/>
        </p:nvSpPr>
        <p:spPr>
          <a:xfrm>
            <a:off x="5226118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21.047</a:t>
            </a:r>
            <a:endParaRPr lang="en-US" sz="576" dirty="0"/>
          </a:p>
        </p:txBody>
      </p:sp>
      <p:sp>
        <p:nvSpPr>
          <p:cNvPr id="82" name="Text 79"/>
          <p:cNvSpPr/>
          <p:nvPr/>
        </p:nvSpPr>
        <p:spPr>
          <a:xfrm>
            <a:off x="5226118" y="36869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19.533</a:t>
            </a:r>
            <a:endParaRPr lang="en-US" sz="576" dirty="0"/>
          </a:p>
        </p:txBody>
      </p:sp>
      <p:sp>
        <p:nvSpPr>
          <p:cNvPr id="83" name="Text 80"/>
          <p:cNvSpPr/>
          <p:nvPr/>
        </p:nvSpPr>
        <p:spPr>
          <a:xfrm>
            <a:off x="5226118" y="38202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84" name="Text 81"/>
          <p:cNvSpPr/>
          <p:nvPr/>
        </p:nvSpPr>
        <p:spPr>
          <a:xfrm>
            <a:off x="2329400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576" dirty="0"/>
          </a:p>
        </p:txBody>
      </p:sp>
      <p:sp>
        <p:nvSpPr>
          <p:cNvPr id="85" name="Text 82"/>
          <p:cNvSpPr/>
          <p:nvPr/>
        </p:nvSpPr>
        <p:spPr>
          <a:xfrm>
            <a:off x="2812186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576" dirty="0"/>
          </a:p>
        </p:txBody>
      </p:sp>
      <p:sp>
        <p:nvSpPr>
          <p:cNvPr id="86" name="Text 83"/>
          <p:cNvSpPr/>
          <p:nvPr/>
        </p:nvSpPr>
        <p:spPr>
          <a:xfrm>
            <a:off x="3294972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576" dirty="0"/>
          </a:p>
        </p:txBody>
      </p:sp>
      <p:sp>
        <p:nvSpPr>
          <p:cNvPr id="87" name="Text 84"/>
          <p:cNvSpPr/>
          <p:nvPr/>
        </p:nvSpPr>
        <p:spPr>
          <a:xfrm>
            <a:off x="3777759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576" dirty="0"/>
          </a:p>
        </p:txBody>
      </p:sp>
      <p:sp>
        <p:nvSpPr>
          <p:cNvPr id="88" name="Text 85"/>
          <p:cNvSpPr/>
          <p:nvPr/>
        </p:nvSpPr>
        <p:spPr>
          <a:xfrm>
            <a:off x="4260545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576" dirty="0"/>
          </a:p>
        </p:txBody>
      </p:sp>
      <p:sp>
        <p:nvSpPr>
          <p:cNvPr id="89" name="Text 86"/>
          <p:cNvSpPr/>
          <p:nvPr/>
        </p:nvSpPr>
        <p:spPr>
          <a:xfrm>
            <a:off x="4743331" y="44870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576" dirty="0"/>
          </a:p>
        </p:txBody>
      </p:sp>
      <p:sp>
        <p:nvSpPr>
          <p:cNvPr id="90" name="Text 87"/>
          <p:cNvSpPr/>
          <p:nvPr/>
        </p:nvSpPr>
        <p:spPr>
          <a:xfrm>
            <a:off x="9303014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8324195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92" name="Text 89"/>
          <p:cNvSpPr/>
          <p:nvPr/>
        </p:nvSpPr>
        <p:spPr>
          <a:xfrm>
            <a:off x="7345377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24.847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8324195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636" dirty="0"/>
          </a:p>
        </p:txBody>
      </p:sp>
      <p:sp>
        <p:nvSpPr>
          <p:cNvPr id="94" name="Text 91"/>
          <p:cNvSpPr/>
          <p:nvPr/>
        </p:nvSpPr>
        <p:spPr>
          <a:xfrm>
            <a:off x="7345377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27.980</a:t>
            </a:r>
            <a:endParaRPr lang="en-US" sz="636" dirty="0"/>
          </a:p>
        </p:txBody>
      </p:sp>
      <p:sp>
        <p:nvSpPr>
          <p:cNvPr id="95" name="Text 92"/>
          <p:cNvSpPr/>
          <p:nvPr/>
        </p:nvSpPr>
        <p:spPr>
          <a:xfrm>
            <a:off x="8324195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59,2 %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7345377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8324195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56,4 %</a:t>
            </a:r>
            <a:endParaRPr lang="en-US" sz="636" dirty="0"/>
          </a:p>
        </p:txBody>
      </p:sp>
      <p:sp>
        <p:nvSpPr>
          <p:cNvPr id="98" name="Text 95"/>
          <p:cNvSpPr/>
          <p:nvPr/>
        </p:nvSpPr>
        <p:spPr>
          <a:xfrm>
            <a:off x="7345377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636" dirty="0"/>
          </a:p>
        </p:txBody>
      </p:sp>
      <p:sp>
        <p:nvSpPr>
          <p:cNvPr id="99" name="Text 96"/>
          <p:cNvSpPr/>
          <p:nvPr/>
        </p:nvSpPr>
        <p:spPr>
          <a:xfrm>
            <a:off x="8324195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636" dirty="0"/>
          </a:p>
        </p:txBody>
      </p:sp>
      <p:sp>
        <p:nvSpPr>
          <p:cNvPr id="100" name="Text 97"/>
          <p:cNvSpPr/>
          <p:nvPr/>
        </p:nvSpPr>
        <p:spPr>
          <a:xfrm>
            <a:off x="7345377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39.285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8324195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8324195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51,6 %</a:t>
            </a:r>
            <a:endParaRPr lang="en-US" sz="636" dirty="0"/>
          </a:p>
        </p:txBody>
      </p:sp>
      <p:sp>
        <p:nvSpPr>
          <p:cNvPr id="103" name="Text 100"/>
          <p:cNvSpPr/>
          <p:nvPr/>
        </p:nvSpPr>
        <p:spPr>
          <a:xfrm>
            <a:off x="8091881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8574667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9057453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59,2 %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9540240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56,4 %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10023026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10505812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10988599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51,7 %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8091881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19,1 %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8574667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9057453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22,2 %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9540240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10023026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22,2 %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10505812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17,3 %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10988599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552" dirty="0"/>
          </a:p>
        </p:txBody>
      </p:sp>
      <p:sp>
        <p:nvSpPr>
          <p:cNvPr id="117" name="Text 114"/>
          <p:cNvSpPr/>
          <p:nvPr/>
        </p:nvSpPr>
        <p:spPr>
          <a:xfrm>
            <a:off x="8091881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118" name="Text 115"/>
          <p:cNvSpPr/>
          <p:nvPr/>
        </p:nvSpPr>
        <p:spPr>
          <a:xfrm>
            <a:off x="9057453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12,7 %</a:t>
            </a:r>
            <a:endParaRPr lang="en-US" sz="552" dirty="0"/>
          </a:p>
        </p:txBody>
      </p:sp>
      <p:sp>
        <p:nvSpPr>
          <p:cNvPr id="119" name="Text 116"/>
          <p:cNvSpPr/>
          <p:nvPr/>
        </p:nvSpPr>
        <p:spPr>
          <a:xfrm>
            <a:off x="9540240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120" name="Text 117"/>
          <p:cNvSpPr/>
          <p:nvPr/>
        </p:nvSpPr>
        <p:spPr>
          <a:xfrm>
            <a:off x="10023026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12,7 %</a:t>
            </a:r>
            <a:endParaRPr lang="en-US" sz="552" dirty="0"/>
          </a:p>
        </p:txBody>
      </p:sp>
      <p:sp>
        <p:nvSpPr>
          <p:cNvPr id="121" name="Text 118"/>
          <p:cNvSpPr/>
          <p:nvPr/>
        </p:nvSpPr>
        <p:spPr>
          <a:xfrm>
            <a:off x="10988599" y="36869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552" dirty="0"/>
          </a:p>
        </p:txBody>
      </p:sp>
      <p:sp>
        <p:nvSpPr>
          <p:cNvPr id="122" name="Text 119"/>
          <p:cNvSpPr/>
          <p:nvPr/>
        </p:nvSpPr>
        <p:spPr>
          <a:xfrm>
            <a:off x="8091881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48,9 %</a:t>
            </a:r>
            <a:endParaRPr lang="en-US" sz="552" dirty="0"/>
          </a:p>
        </p:txBody>
      </p:sp>
      <p:sp>
        <p:nvSpPr>
          <p:cNvPr id="123" name="Text 120"/>
          <p:cNvSpPr/>
          <p:nvPr/>
        </p:nvSpPr>
        <p:spPr>
          <a:xfrm>
            <a:off x="8574667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63,2 %</a:t>
            </a:r>
            <a:endParaRPr lang="en-US" sz="552" dirty="0"/>
          </a:p>
        </p:txBody>
      </p:sp>
      <p:sp>
        <p:nvSpPr>
          <p:cNvPr id="124" name="Text 121"/>
          <p:cNvSpPr/>
          <p:nvPr/>
        </p:nvSpPr>
        <p:spPr>
          <a:xfrm>
            <a:off x="9057453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40,8 %</a:t>
            </a:r>
            <a:endParaRPr lang="en-US" sz="552" dirty="0"/>
          </a:p>
        </p:txBody>
      </p:sp>
      <p:sp>
        <p:nvSpPr>
          <p:cNvPr id="125" name="Text 122"/>
          <p:cNvSpPr/>
          <p:nvPr/>
        </p:nvSpPr>
        <p:spPr>
          <a:xfrm>
            <a:off x="9540240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43,6 %</a:t>
            </a:r>
            <a:endParaRPr lang="en-US" sz="552" dirty="0"/>
          </a:p>
        </p:txBody>
      </p:sp>
      <p:sp>
        <p:nvSpPr>
          <p:cNvPr id="126" name="Text 123"/>
          <p:cNvSpPr/>
          <p:nvPr/>
        </p:nvSpPr>
        <p:spPr>
          <a:xfrm>
            <a:off x="10023026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40,7 %</a:t>
            </a:r>
            <a:endParaRPr lang="en-US" sz="552" dirty="0"/>
          </a:p>
        </p:txBody>
      </p:sp>
      <p:sp>
        <p:nvSpPr>
          <p:cNvPr id="127" name="Text 124"/>
          <p:cNvSpPr/>
          <p:nvPr/>
        </p:nvSpPr>
        <p:spPr>
          <a:xfrm>
            <a:off x="10505812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53,8 %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10988599" y="44870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48,3 %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8091881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39,1 %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8574667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50,5 %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9057453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32,6 %</a:t>
            </a:r>
            <a:endParaRPr lang="en-US" sz="552" dirty="0"/>
          </a:p>
        </p:txBody>
      </p:sp>
      <p:sp>
        <p:nvSpPr>
          <p:cNvPr id="132" name="Text 129"/>
          <p:cNvSpPr/>
          <p:nvPr/>
        </p:nvSpPr>
        <p:spPr>
          <a:xfrm>
            <a:off x="9540240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34,9 %</a:t>
            </a:r>
            <a:endParaRPr lang="en-US" sz="552" dirty="0"/>
          </a:p>
        </p:txBody>
      </p:sp>
      <p:sp>
        <p:nvSpPr>
          <p:cNvPr id="133" name="Text 130"/>
          <p:cNvSpPr/>
          <p:nvPr/>
        </p:nvSpPr>
        <p:spPr>
          <a:xfrm>
            <a:off x="10023026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32,5 %</a:t>
            </a:r>
            <a:endParaRPr lang="en-US" sz="552" dirty="0"/>
          </a:p>
        </p:txBody>
      </p:sp>
      <p:sp>
        <p:nvSpPr>
          <p:cNvPr id="134" name="Text 131"/>
          <p:cNvSpPr/>
          <p:nvPr/>
        </p:nvSpPr>
        <p:spPr>
          <a:xfrm>
            <a:off x="10505812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43,0 %</a:t>
            </a:r>
            <a:endParaRPr lang="en-US" sz="552" dirty="0"/>
          </a:p>
        </p:txBody>
      </p:sp>
      <p:sp>
        <p:nvSpPr>
          <p:cNvPr id="135" name="Text 132"/>
          <p:cNvSpPr/>
          <p:nvPr/>
        </p:nvSpPr>
        <p:spPr>
          <a:xfrm>
            <a:off x="10988599" y="46203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38,6 %</a:t>
            </a:r>
            <a:endParaRPr lang="en-US" sz="552" dirty="0"/>
          </a:p>
        </p:txBody>
      </p:sp>
      <p:sp>
        <p:nvSpPr>
          <p:cNvPr id="136" name="Text 133"/>
          <p:cNvSpPr/>
          <p:nvPr/>
        </p:nvSpPr>
        <p:spPr>
          <a:xfrm>
            <a:off x="495288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37" name="Text 134"/>
          <p:cNvSpPr/>
          <p:nvPr/>
        </p:nvSpPr>
        <p:spPr>
          <a:xfrm>
            <a:off x="495288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38" name="Text 135"/>
          <p:cNvSpPr/>
          <p:nvPr/>
        </p:nvSpPr>
        <p:spPr>
          <a:xfrm>
            <a:off x="495288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39" name="Text 136"/>
          <p:cNvSpPr/>
          <p:nvPr/>
        </p:nvSpPr>
        <p:spPr>
          <a:xfrm>
            <a:off x="495288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40" name="Text 137"/>
          <p:cNvSpPr/>
          <p:nvPr/>
        </p:nvSpPr>
        <p:spPr>
          <a:xfrm>
            <a:off x="495288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41" name="Text 138"/>
          <p:cNvSpPr/>
          <p:nvPr/>
        </p:nvSpPr>
        <p:spPr>
          <a:xfrm>
            <a:off x="5226118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2" name="Text 139"/>
          <p:cNvSpPr/>
          <p:nvPr/>
        </p:nvSpPr>
        <p:spPr>
          <a:xfrm>
            <a:off x="2329400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4.699</a:t>
            </a:r>
            <a:endParaRPr lang="en-US" sz="576" dirty="0"/>
          </a:p>
        </p:txBody>
      </p:sp>
      <p:sp>
        <p:nvSpPr>
          <p:cNvPr id="143" name="Text 140"/>
          <p:cNvSpPr/>
          <p:nvPr/>
        </p:nvSpPr>
        <p:spPr>
          <a:xfrm>
            <a:off x="2812186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9.346</a:t>
            </a:r>
            <a:endParaRPr lang="en-US" sz="576" dirty="0"/>
          </a:p>
        </p:txBody>
      </p:sp>
      <p:sp>
        <p:nvSpPr>
          <p:cNvPr id="144" name="Text 141"/>
          <p:cNvSpPr/>
          <p:nvPr/>
        </p:nvSpPr>
        <p:spPr>
          <a:xfrm>
            <a:off x="2329400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4.173</a:t>
            </a:r>
            <a:endParaRPr lang="en-US" sz="576" dirty="0"/>
          </a:p>
        </p:txBody>
      </p:sp>
      <p:sp>
        <p:nvSpPr>
          <p:cNvPr id="145" name="Text 142"/>
          <p:cNvSpPr/>
          <p:nvPr/>
        </p:nvSpPr>
        <p:spPr>
          <a:xfrm>
            <a:off x="2812186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8.300</a:t>
            </a:r>
            <a:endParaRPr lang="en-US" sz="576" dirty="0"/>
          </a:p>
        </p:txBody>
      </p:sp>
      <p:sp>
        <p:nvSpPr>
          <p:cNvPr id="146" name="Text 143"/>
          <p:cNvSpPr/>
          <p:nvPr/>
        </p:nvSpPr>
        <p:spPr>
          <a:xfrm>
            <a:off x="2329400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1.028</a:t>
            </a:r>
            <a:endParaRPr lang="en-US" sz="576" dirty="0"/>
          </a:p>
        </p:txBody>
      </p:sp>
      <p:sp>
        <p:nvSpPr>
          <p:cNvPr id="147" name="Text 144"/>
          <p:cNvSpPr/>
          <p:nvPr/>
        </p:nvSpPr>
        <p:spPr>
          <a:xfrm>
            <a:off x="2812186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2.044</a:t>
            </a:r>
            <a:endParaRPr lang="en-US" sz="576" dirty="0"/>
          </a:p>
        </p:txBody>
      </p:sp>
      <p:sp>
        <p:nvSpPr>
          <p:cNvPr id="148" name="Text 145"/>
          <p:cNvSpPr/>
          <p:nvPr/>
        </p:nvSpPr>
        <p:spPr>
          <a:xfrm>
            <a:off x="3294972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3.359</a:t>
            </a:r>
            <a:endParaRPr lang="en-US" sz="576" dirty="0"/>
          </a:p>
        </p:txBody>
      </p:sp>
      <p:sp>
        <p:nvSpPr>
          <p:cNvPr id="149" name="Text 146"/>
          <p:cNvSpPr/>
          <p:nvPr/>
        </p:nvSpPr>
        <p:spPr>
          <a:xfrm>
            <a:off x="3777759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50" name="Text 147"/>
          <p:cNvSpPr/>
          <p:nvPr/>
        </p:nvSpPr>
        <p:spPr>
          <a:xfrm>
            <a:off x="4260545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51" name="Text 148"/>
          <p:cNvSpPr/>
          <p:nvPr/>
        </p:nvSpPr>
        <p:spPr>
          <a:xfrm>
            <a:off x="4743331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6.018</a:t>
            </a:r>
            <a:endParaRPr lang="en-US" sz="576" dirty="0"/>
          </a:p>
        </p:txBody>
      </p:sp>
      <p:sp>
        <p:nvSpPr>
          <p:cNvPr id="152" name="Text 149"/>
          <p:cNvSpPr/>
          <p:nvPr/>
        </p:nvSpPr>
        <p:spPr>
          <a:xfrm>
            <a:off x="2812186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1.897</a:t>
            </a:r>
            <a:endParaRPr lang="en-US" sz="576" dirty="0"/>
          </a:p>
        </p:txBody>
      </p:sp>
      <p:sp>
        <p:nvSpPr>
          <p:cNvPr id="153" name="Text 150"/>
          <p:cNvSpPr/>
          <p:nvPr/>
        </p:nvSpPr>
        <p:spPr>
          <a:xfrm>
            <a:off x="3294972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3.117</a:t>
            </a:r>
            <a:endParaRPr lang="en-US" sz="576" dirty="0"/>
          </a:p>
        </p:txBody>
      </p:sp>
      <p:sp>
        <p:nvSpPr>
          <p:cNvPr id="154" name="Text 151"/>
          <p:cNvSpPr/>
          <p:nvPr/>
        </p:nvSpPr>
        <p:spPr>
          <a:xfrm>
            <a:off x="3777759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4260545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4743331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5.585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2812186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1.325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3294972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2.176</a:t>
            </a:r>
            <a:endParaRPr lang="en-US" sz="576" dirty="0"/>
          </a:p>
        </p:txBody>
      </p:sp>
      <p:sp>
        <p:nvSpPr>
          <p:cNvPr id="159" name="Text 156"/>
          <p:cNvSpPr/>
          <p:nvPr/>
        </p:nvSpPr>
        <p:spPr>
          <a:xfrm>
            <a:off x="3777759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60" name="Text 157"/>
          <p:cNvSpPr/>
          <p:nvPr/>
        </p:nvSpPr>
        <p:spPr>
          <a:xfrm>
            <a:off x="4260545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4743331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3.898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3294972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1.126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3777759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4260545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4743331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2.018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5226118" y="39536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7.059</a:t>
            </a:r>
            <a:endParaRPr lang="en-US" sz="576" dirty="0"/>
          </a:p>
        </p:txBody>
      </p:sp>
      <p:sp>
        <p:nvSpPr>
          <p:cNvPr id="167" name="Text 164"/>
          <p:cNvSpPr/>
          <p:nvPr/>
        </p:nvSpPr>
        <p:spPr>
          <a:xfrm>
            <a:off x="3777759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68" name="Text 165"/>
          <p:cNvSpPr/>
          <p:nvPr/>
        </p:nvSpPr>
        <p:spPr>
          <a:xfrm>
            <a:off x="4260545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69" name="Text 166"/>
          <p:cNvSpPr/>
          <p:nvPr/>
        </p:nvSpPr>
        <p:spPr>
          <a:xfrm>
            <a:off x="4743331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1.445</a:t>
            </a:r>
            <a:endParaRPr lang="en-US" sz="576" dirty="0"/>
          </a:p>
        </p:txBody>
      </p:sp>
      <p:sp>
        <p:nvSpPr>
          <p:cNvPr id="170" name="Text 167"/>
          <p:cNvSpPr/>
          <p:nvPr/>
        </p:nvSpPr>
        <p:spPr>
          <a:xfrm>
            <a:off x="5226118" y="40869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5.053</a:t>
            </a:r>
            <a:endParaRPr lang="en-US" sz="576" dirty="0"/>
          </a:p>
        </p:txBody>
      </p:sp>
      <p:sp>
        <p:nvSpPr>
          <p:cNvPr id="171" name="Text 168"/>
          <p:cNvSpPr/>
          <p:nvPr/>
        </p:nvSpPr>
        <p:spPr>
          <a:xfrm>
            <a:off x="4743331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1.300</a:t>
            </a:r>
            <a:endParaRPr lang="en-US" sz="576" dirty="0"/>
          </a:p>
        </p:txBody>
      </p:sp>
      <p:sp>
        <p:nvSpPr>
          <p:cNvPr id="172" name="Text 169"/>
          <p:cNvSpPr/>
          <p:nvPr/>
        </p:nvSpPr>
        <p:spPr>
          <a:xfrm>
            <a:off x="5226118" y="42203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4.544</a:t>
            </a:r>
            <a:endParaRPr lang="en-US" sz="576" dirty="0"/>
          </a:p>
        </p:txBody>
      </p:sp>
      <p:sp>
        <p:nvSpPr>
          <p:cNvPr id="173" name="Text 170"/>
          <p:cNvSpPr/>
          <p:nvPr/>
        </p:nvSpPr>
        <p:spPr>
          <a:xfrm>
            <a:off x="3294972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1.461</a:t>
            </a:r>
            <a:endParaRPr lang="en-US" sz="576" dirty="0"/>
          </a:p>
        </p:txBody>
      </p:sp>
      <p:sp>
        <p:nvSpPr>
          <p:cNvPr id="174" name="Text 171"/>
          <p:cNvSpPr/>
          <p:nvPr/>
        </p:nvSpPr>
        <p:spPr>
          <a:xfrm>
            <a:off x="3777759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75" name="Text 172"/>
          <p:cNvSpPr/>
          <p:nvPr/>
        </p:nvSpPr>
        <p:spPr>
          <a:xfrm>
            <a:off x="4260545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76" name="Text 173"/>
          <p:cNvSpPr/>
          <p:nvPr/>
        </p:nvSpPr>
        <p:spPr>
          <a:xfrm>
            <a:off x="4743331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2.617</a:t>
            </a:r>
            <a:endParaRPr lang="en-US" sz="576" dirty="0"/>
          </a:p>
        </p:txBody>
      </p:sp>
      <p:sp>
        <p:nvSpPr>
          <p:cNvPr id="177" name="Text 174"/>
          <p:cNvSpPr/>
          <p:nvPr/>
        </p:nvSpPr>
        <p:spPr>
          <a:xfrm>
            <a:off x="5226118" y="43536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9.154</a:t>
            </a:r>
            <a:endParaRPr lang="en-US" sz="576" dirty="0"/>
          </a:p>
        </p:txBody>
      </p:sp>
      <p:sp>
        <p:nvSpPr>
          <p:cNvPr id="178" name="Text 175"/>
          <p:cNvSpPr/>
          <p:nvPr/>
        </p:nvSpPr>
        <p:spPr>
          <a:xfrm>
            <a:off x="504812" y="448704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79" name="Text 176"/>
          <p:cNvSpPr/>
          <p:nvPr/>
        </p:nvSpPr>
        <p:spPr>
          <a:xfrm>
            <a:off x="7345377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80" name="Text 177"/>
          <p:cNvSpPr/>
          <p:nvPr/>
        </p:nvSpPr>
        <p:spPr>
          <a:xfrm>
            <a:off x="6257769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81" name="Text 178"/>
          <p:cNvSpPr/>
          <p:nvPr/>
        </p:nvSpPr>
        <p:spPr>
          <a:xfrm>
            <a:off x="7345377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8.083</a:t>
            </a:r>
            <a:endParaRPr lang="en-US" sz="636" dirty="0"/>
          </a:p>
        </p:txBody>
      </p:sp>
      <p:sp>
        <p:nvSpPr>
          <p:cNvPr id="182" name="Text 179"/>
          <p:cNvSpPr/>
          <p:nvPr/>
        </p:nvSpPr>
        <p:spPr>
          <a:xfrm>
            <a:off x="10281832" y="1853380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636" dirty="0"/>
          </a:p>
        </p:txBody>
      </p:sp>
      <p:sp>
        <p:nvSpPr>
          <p:cNvPr id="183" name="Text 180"/>
          <p:cNvSpPr/>
          <p:nvPr/>
        </p:nvSpPr>
        <p:spPr>
          <a:xfrm>
            <a:off x="10281832" y="199149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636" dirty="0"/>
          </a:p>
        </p:txBody>
      </p:sp>
      <p:sp>
        <p:nvSpPr>
          <p:cNvPr id="184" name="Text 181"/>
          <p:cNvSpPr/>
          <p:nvPr/>
        </p:nvSpPr>
        <p:spPr>
          <a:xfrm>
            <a:off x="6257769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85" name="Text 182"/>
          <p:cNvSpPr/>
          <p:nvPr/>
        </p:nvSpPr>
        <p:spPr>
          <a:xfrm>
            <a:off x="10281832" y="2134367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636" dirty="0"/>
          </a:p>
        </p:txBody>
      </p:sp>
      <p:sp>
        <p:nvSpPr>
          <p:cNvPr id="186" name="Text 183"/>
          <p:cNvSpPr/>
          <p:nvPr/>
        </p:nvSpPr>
        <p:spPr>
          <a:xfrm>
            <a:off x="6257769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87" name="Text 184"/>
          <p:cNvSpPr/>
          <p:nvPr/>
        </p:nvSpPr>
        <p:spPr>
          <a:xfrm>
            <a:off x="10281832" y="227724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636" dirty="0"/>
          </a:p>
        </p:txBody>
      </p:sp>
      <p:sp>
        <p:nvSpPr>
          <p:cNvPr id="188" name="Text 185"/>
          <p:cNvSpPr/>
          <p:nvPr/>
        </p:nvSpPr>
        <p:spPr>
          <a:xfrm>
            <a:off x="10281832" y="2420117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636" dirty="0"/>
          </a:p>
        </p:txBody>
      </p:sp>
      <p:sp>
        <p:nvSpPr>
          <p:cNvPr id="189" name="Text 186"/>
          <p:cNvSpPr/>
          <p:nvPr/>
        </p:nvSpPr>
        <p:spPr>
          <a:xfrm>
            <a:off x="6257769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90" name="Text 187"/>
          <p:cNvSpPr/>
          <p:nvPr/>
        </p:nvSpPr>
        <p:spPr>
          <a:xfrm>
            <a:off x="10281832" y="256299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636" dirty="0"/>
          </a:p>
        </p:txBody>
      </p:sp>
      <p:sp>
        <p:nvSpPr>
          <p:cNvPr id="191" name="Text 188"/>
          <p:cNvSpPr/>
          <p:nvPr/>
        </p:nvSpPr>
        <p:spPr>
          <a:xfrm>
            <a:off x="6257769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92" name="Text 189"/>
          <p:cNvSpPr/>
          <p:nvPr/>
        </p:nvSpPr>
        <p:spPr>
          <a:xfrm>
            <a:off x="9303014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636" dirty="0"/>
          </a:p>
        </p:txBody>
      </p:sp>
      <p:sp>
        <p:nvSpPr>
          <p:cNvPr id="193" name="Text 190"/>
          <p:cNvSpPr/>
          <p:nvPr/>
        </p:nvSpPr>
        <p:spPr>
          <a:xfrm>
            <a:off x="10281832" y="2705867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3,5 %</a:t>
            </a:r>
            <a:endParaRPr lang="en-US" sz="636" dirty="0"/>
          </a:p>
        </p:txBody>
      </p:sp>
      <p:sp>
        <p:nvSpPr>
          <p:cNvPr id="194" name="Text 191"/>
          <p:cNvSpPr/>
          <p:nvPr/>
        </p:nvSpPr>
        <p:spPr>
          <a:xfrm>
            <a:off x="10988599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95" name="Text 192"/>
          <p:cNvSpPr/>
          <p:nvPr/>
        </p:nvSpPr>
        <p:spPr>
          <a:xfrm>
            <a:off x="8091881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8574667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9057453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9540240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10023026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10505812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10988599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8574667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7,9 %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10505812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8091881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8574667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9057453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9540240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10023026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10505812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10988599" y="38202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8091881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8574667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3,8 %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9057453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9540240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10023026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6,1 %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10505812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10988599" y="39536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8091881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8574667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9057453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9540240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2,9 %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10023026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10505812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10988599" y="40869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2,7 %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8091881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8574667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9057453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9540240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10023026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10505812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10988599" y="42203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2,2 %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8091881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8574667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3,3 %</a:t>
            </a:r>
            <a:endParaRPr lang="en-US" sz="552" dirty="0"/>
          </a:p>
        </p:txBody>
      </p:sp>
      <p:sp>
        <p:nvSpPr>
          <p:cNvPr id="234" name="Text 231"/>
          <p:cNvSpPr/>
          <p:nvPr/>
        </p:nvSpPr>
        <p:spPr>
          <a:xfrm>
            <a:off x="9057453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35" name="Text 232"/>
          <p:cNvSpPr/>
          <p:nvPr/>
        </p:nvSpPr>
        <p:spPr>
          <a:xfrm>
            <a:off x="9540240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5,1 %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10023026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10505812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10988599" y="43536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239" name="Text 236"/>
          <p:cNvSpPr/>
          <p:nvPr/>
        </p:nvSpPr>
        <p:spPr>
          <a:xfrm>
            <a:off x="8091881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552" dirty="0"/>
          </a:p>
        </p:txBody>
      </p:sp>
      <p:sp>
        <p:nvSpPr>
          <p:cNvPr id="240" name="Text 237"/>
          <p:cNvSpPr/>
          <p:nvPr/>
        </p:nvSpPr>
        <p:spPr>
          <a:xfrm>
            <a:off x="8574667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552" dirty="0"/>
          </a:p>
        </p:txBody>
      </p:sp>
      <p:sp>
        <p:nvSpPr>
          <p:cNvPr id="241" name="Text 238"/>
          <p:cNvSpPr/>
          <p:nvPr/>
        </p:nvSpPr>
        <p:spPr>
          <a:xfrm>
            <a:off x="9057453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9540240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243" name="Text 240"/>
          <p:cNvSpPr/>
          <p:nvPr/>
        </p:nvSpPr>
        <p:spPr>
          <a:xfrm>
            <a:off x="10023026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5,6 %</a:t>
            </a:r>
            <a:endParaRPr lang="en-US" sz="552" dirty="0"/>
          </a:p>
        </p:txBody>
      </p:sp>
      <p:sp>
        <p:nvSpPr>
          <p:cNvPr id="244" name="Text 241"/>
          <p:cNvSpPr/>
          <p:nvPr/>
        </p:nvSpPr>
        <p:spPr>
          <a:xfrm>
            <a:off x="10505812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7,4 %</a:t>
            </a:r>
            <a:endParaRPr lang="en-US" sz="552" dirty="0"/>
          </a:p>
        </p:txBody>
      </p:sp>
      <p:sp>
        <p:nvSpPr>
          <p:cNvPr id="245" name="Text 242"/>
          <p:cNvSpPr/>
          <p:nvPr/>
        </p:nvSpPr>
        <p:spPr>
          <a:xfrm>
            <a:off x="10988599" y="47537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246" name="Text 243"/>
          <p:cNvSpPr/>
          <p:nvPr/>
        </p:nvSpPr>
        <p:spPr>
          <a:xfrm>
            <a:off x="8091881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47" name="Text 244"/>
          <p:cNvSpPr/>
          <p:nvPr/>
        </p:nvSpPr>
        <p:spPr>
          <a:xfrm>
            <a:off x="8574667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9057453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9540240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2,5 %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10023026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10505812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10988599" y="48870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253" name="Text 250"/>
          <p:cNvSpPr/>
          <p:nvPr/>
        </p:nvSpPr>
        <p:spPr>
          <a:xfrm>
            <a:off x="8091881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54" name="Text 251"/>
          <p:cNvSpPr/>
          <p:nvPr/>
        </p:nvSpPr>
        <p:spPr>
          <a:xfrm>
            <a:off x="8574667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55" name="Text 252"/>
          <p:cNvSpPr/>
          <p:nvPr/>
        </p:nvSpPr>
        <p:spPr>
          <a:xfrm>
            <a:off x="9057453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56" name="Text 253"/>
          <p:cNvSpPr/>
          <p:nvPr/>
        </p:nvSpPr>
        <p:spPr>
          <a:xfrm>
            <a:off x="9540240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57" name="Text 254"/>
          <p:cNvSpPr/>
          <p:nvPr/>
        </p:nvSpPr>
        <p:spPr>
          <a:xfrm>
            <a:off x="10023026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58" name="Text 255"/>
          <p:cNvSpPr/>
          <p:nvPr/>
        </p:nvSpPr>
        <p:spPr>
          <a:xfrm>
            <a:off x="10505812" y="50204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259" name="Text 256"/>
          <p:cNvSpPr/>
          <p:nvPr/>
        </p:nvSpPr>
        <p:spPr>
          <a:xfrm>
            <a:off x="10988599" y="50204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60" name="Text 257"/>
          <p:cNvSpPr/>
          <p:nvPr/>
        </p:nvSpPr>
        <p:spPr>
          <a:xfrm>
            <a:off x="8091881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1" name="Text 258"/>
          <p:cNvSpPr/>
          <p:nvPr/>
        </p:nvSpPr>
        <p:spPr>
          <a:xfrm>
            <a:off x="8574667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2" name="Text 259"/>
          <p:cNvSpPr/>
          <p:nvPr/>
        </p:nvSpPr>
        <p:spPr>
          <a:xfrm>
            <a:off x="9057453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3" name="Text 260"/>
          <p:cNvSpPr/>
          <p:nvPr/>
        </p:nvSpPr>
        <p:spPr>
          <a:xfrm>
            <a:off x="9540240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4" name="Text 261"/>
          <p:cNvSpPr/>
          <p:nvPr/>
        </p:nvSpPr>
        <p:spPr>
          <a:xfrm>
            <a:off x="10023026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5" name="Text 262"/>
          <p:cNvSpPr/>
          <p:nvPr/>
        </p:nvSpPr>
        <p:spPr>
          <a:xfrm>
            <a:off x="10505812" y="51537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6" name="Text 263"/>
          <p:cNvSpPr/>
          <p:nvPr/>
        </p:nvSpPr>
        <p:spPr>
          <a:xfrm>
            <a:off x="10988599" y="515379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67" name="Text 264"/>
          <p:cNvSpPr/>
          <p:nvPr/>
        </p:nvSpPr>
        <p:spPr>
          <a:xfrm>
            <a:off x="4374991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2.845</a:t>
            </a:r>
            <a:endParaRPr lang="en-US" sz="1380" dirty="0"/>
          </a:p>
        </p:txBody>
      </p:sp>
      <p:sp>
        <p:nvSpPr>
          <p:cNvPr id="268" name="Text 265"/>
          <p:cNvSpPr/>
          <p:nvPr/>
        </p:nvSpPr>
        <p:spPr>
          <a:xfrm>
            <a:off x="8216595" y="95250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1380" dirty="0"/>
          </a:p>
        </p:txBody>
      </p:sp>
      <p:sp>
        <p:nvSpPr>
          <p:cNvPr id="269" name="Text 266"/>
          <p:cNvSpPr/>
          <p:nvPr/>
        </p:nvSpPr>
        <p:spPr>
          <a:xfrm>
            <a:off x="495288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70" name="Text 267"/>
          <p:cNvSpPr/>
          <p:nvPr/>
        </p:nvSpPr>
        <p:spPr>
          <a:xfrm>
            <a:off x="6257769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71" name="Text 268"/>
          <p:cNvSpPr/>
          <p:nvPr/>
        </p:nvSpPr>
        <p:spPr>
          <a:xfrm>
            <a:off x="495288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72" name="Text 269"/>
          <p:cNvSpPr/>
          <p:nvPr/>
        </p:nvSpPr>
        <p:spPr>
          <a:xfrm>
            <a:off x="232940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73" name="Text 270"/>
          <p:cNvSpPr/>
          <p:nvPr/>
        </p:nvSpPr>
        <p:spPr>
          <a:xfrm>
            <a:off x="281218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74" name="Text 271"/>
          <p:cNvSpPr/>
          <p:nvPr/>
        </p:nvSpPr>
        <p:spPr>
          <a:xfrm>
            <a:off x="329497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75" name="Text 272"/>
          <p:cNvSpPr/>
          <p:nvPr/>
        </p:nvSpPr>
        <p:spPr>
          <a:xfrm>
            <a:off x="3777759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76" name="Text 273"/>
          <p:cNvSpPr/>
          <p:nvPr/>
        </p:nvSpPr>
        <p:spPr>
          <a:xfrm>
            <a:off x="4260545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77" name="Text 274"/>
          <p:cNvSpPr/>
          <p:nvPr/>
        </p:nvSpPr>
        <p:spPr>
          <a:xfrm>
            <a:off x="474333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78" name="Text 275"/>
          <p:cNvSpPr/>
          <p:nvPr/>
        </p:nvSpPr>
        <p:spPr>
          <a:xfrm>
            <a:off x="2329400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954</a:t>
            </a:r>
            <a:endParaRPr lang="en-US" sz="576" dirty="0"/>
          </a:p>
        </p:txBody>
      </p:sp>
      <p:sp>
        <p:nvSpPr>
          <p:cNvPr id="279" name="Text 276"/>
          <p:cNvSpPr/>
          <p:nvPr/>
        </p:nvSpPr>
        <p:spPr>
          <a:xfrm>
            <a:off x="2329400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666</a:t>
            </a:r>
            <a:endParaRPr lang="en-US" sz="576" dirty="0"/>
          </a:p>
        </p:txBody>
      </p:sp>
      <p:sp>
        <p:nvSpPr>
          <p:cNvPr id="280" name="Text 277"/>
          <p:cNvSpPr/>
          <p:nvPr/>
        </p:nvSpPr>
        <p:spPr>
          <a:xfrm>
            <a:off x="2329400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576" dirty="0"/>
          </a:p>
        </p:txBody>
      </p:sp>
      <p:sp>
        <p:nvSpPr>
          <p:cNvPr id="281" name="Text 278"/>
          <p:cNvSpPr/>
          <p:nvPr/>
        </p:nvSpPr>
        <p:spPr>
          <a:xfrm>
            <a:off x="2812186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686</a:t>
            </a:r>
            <a:endParaRPr lang="en-US" sz="576" dirty="0"/>
          </a:p>
        </p:txBody>
      </p:sp>
      <p:sp>
        <p:nvSpPr>
          <p:cNvPr id="282" name="Text 279"/>
          <p:cNvSpPr/>
          <p:nvPr/>
        </p:nvSpPr>
        <p:spPr>
          <a:xfrm>
            <a:off x="2329400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247</a:t>
            </a:r>
            <a:endParaRPr lang="en-US" sz="576" dirty="0"/>
          </a:p>
        </p:txBody>
      </p:sp>
      <p:sp>
        <p:nvSpPr>
          <p:cNvPr id="283" name="Text 280"/>
          <p:cNvSpPr/>
          <p:nvPr/>
        </p:nvSpPr>
        <p:spPr>
          <a:xfrm>
            <a:off x="2812186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491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3294972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806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2329400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2812186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3294972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725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3777759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4260545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2329400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576" dirty="0"/>
          </a:p>
        </p:txBody>
      </p:sp>
      <p:sp>
        <p:nvSpPr>
          <p:cNvPr id="291" name="Text 288"/>
          <p:cNvSpPr/>
          <p:nvPr/>
        </p:nvSpPr>
        <p:spPr>
          <a:xfrm>
            <a:off x="2812186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889</a:t>
            </a:r>
            <a:endParaRPr lang="en-US" sz="576" dirty="0"/>
          </a:p>
        </p:txBody>
      </p:sp>
      <p:sp>
        <p:nvSpPr>
          <p:cNvPr id="292" name="Text 289"/>
          <p:cNvSpPr/>
          <p:nvPr/>
        </p:nvSpPr>
        <p:spPr>
          <a:xfrm>
            <a:off x="6257769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93" name="Text 290"/>
          <p:cNvSpPr/>
          <p:nvPr/>
        </p:nvSpPr>
        <p:spPr>
          <a:xfrm>
            <a:off x="9303014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322</a:t>
            </a:r>
            <a:endParaRPr lang="en-US" sz="636" dirty="0"/>
          </a:p>
        </p:txBody>
      </p:sp>
      <p:sp>
        <p:nvSpPr>
          <p:cNvPr id="294" name="Text 291"/>
          <p:cNvSpPr/>
          <p:nvPr/>
        </p:nvSpPr>
        <p:spPr>
          <a:xfrm>
            <a:off x="9303014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636" dirty="0"/>
          </a:p>
        </p:txBody>
      </p:sp>
      <p:sp>
        <p:nvSpPr>
          <p:cNvPr id="295" name="Text 292"/>
          <p:cNvSpPr/>
          <p:nvPr/>
        </p:nvSpPr>
        <p:spPr>
          <a:xfrm>
            <a:off x="9303014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626</a:t>
            </a:r>
            <a:endParaRPr lang="en-US" sz="636" dirty="0"/>
          </a:p>
        </p:txBody>
      </p:sp>
      <p:sp>
        <p:nvSpPr>
          <p:cNvPr id="296" name="Text 293"/>
          <p:cNvSpPr/>
          <p:nvPr/>
        </p:nvSpPr>
        <p:spPr>
          <a:xfrm>
            <a:off x="9303014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750</a:t>
            </a:r>
            <a:endParaRPr lang="en-US" sz="636" dirty="0"/>
          </a:p>
        </p:txBody>
      </p:sp>
      <p:sp>
        <p:nvSpPr>
          <p:cNvPr id="297" name="Text 294"/>
          <p:cNvSpPr/>
          <p:nvPr/>
        </p:nvSpPr>
        <p:spPr>
          <a:xfrm>
            <a:off x="9303014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629</a:t>
            </a:r>
            <a:endParaRPr lang="en-US" sz="636" dirty="0"/>
          </a:p>
        </p:txBody>
      </p:sp>
      <p:sp>
        <p:nvSpPr>
          <p:cNvPr id="298" name="Text 295"/>
          <p:cNvSpPr/>
          <p:nvPr/>
        </p:nvSpPr>
        <p:spPr>
          <a:xfrm>
            <a:off x="809188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99" name="Text 296"/>
          <p:cNvSpPr/>
          <p:nvPr/>
        </p:nvSpPr>
        <p:spPr>
          <a:xfrm>
            <a:off x="8574667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300" name="Text 297"/>
          <p:cNvSpPr/>
          <p:nvPr/>
        </p:nvSpPr>
        <p:spPr>
          <a:xfrm>
            <a:off x="9057453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301" name="Text 298"/>
          <p:cNvSpPr/>
          <p:nvPr/>
        </p:nvSpPr>
        <p:spPr>
          <a:xfrm>
            <a:off x="954024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302" name="Text 299"/>
          <p:cNvSpPr/>
          <p:nvPr/>
        </p:nvSpPr>
        <p:spPr>
          <a:xfrm>
            <a:off x="1002302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303" name="Text 300"/>
          <p:cNvSpPr/>
          <p:nvPr/>
        </p:nvSpPr>
        <p:spPr>
          <a:xfrm>
            <a:off x="1050581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304" name="Text 301"/>
          <p:cNvSpPr/>
          <p:nvPr/>
        </p:nvSpPr>
        <p:spPr>
          <a:xfrm>
            <a:off x="9303014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</a:t>
            </a:r>
            <a:endParaRPr lang="en-US" sz="63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530578"/>
            <a:ext cx="9836140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corte, la base presenta un saludable porcentaje de conversión cercano al , impulsado principalmente por la calidad de los registros y la integridad de la información suministrada en la base de datos.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384131"/>
            <a:ext cx="9836140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Cabinas exclusivas, actualmente no se encuentran activas.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15869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4374991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04812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 para Microseguro (69 años)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533387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6267293" y="47537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0" name="Text 7"/>
          <p:cNvSpPr/>
          <p:nvPr/>
        </p:nvSpPr>
        <p:spPr>
          <a:xfrm>
            <a:off x="6267293" y="39536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 / datos</a:t>
            </a:r>
            <a:endParaRPr lang="en-US" sz="552" dirty="0"/>
          </a:p>
        </p:txBody>
      </p:sp>
      <p:sp>
        <p:nvSpPr>
          <p:cNvPr id="11" name="Text 8"/>
          <p:cNvSpPr/>
          <p:nvPr/>
        </p:nvSpPr>
        <p:spPr>
          <a:xfrm>
            <a:off x="504812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(&gt;69 años)</a:t>
            </a:r>
            <a:endParaRPr lang="en-US" sz="576" dirty="0"/>
          </a:p>
        </p:txBody>
      </p:sp>
      <p:sp>
        <p:nvSpPr>
          <p:cNvPr id="12" name="Text 9"/>
          <p:cNvSpPr/>
          <p:nvPr/>
        </p:nvSpPr>
        <p:spPr>
          <a:xfrm>
            <a:off x="504812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504812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495288" y="29153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6267293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6" name="Text 13"/>
          <p:cNvSpPr/>
          <p:nvPr/>
        </p:nvSpPr>
        <p:spPr>
          <a:xfrm>
            <a:off x="685783" y="6237684"/>
            <a:ext cx="9836140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Densa y baja contactabilidad.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6267293" y="40869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8216595" y="120089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648" dirty="0"/>
          </a:p>
        </p:txBody>
      </p:sp>
      <p:sp>
        <p:nvSpPr>
          <p:cNvPr id="19" name="Text 16"/>
          <p:cNvSpPr/>
          <p:nvPr/>
        </p:nvSpPr>
        <p:spPr>
          <a:xfrm>
            <a:off x="6267293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504812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Seguro Voluntario Activo</a:t>
            </a:r>
            <a:endParaRPr lang="en-US" sz="576" dirty="0"/>
          </a:p>
        </p:txBody>
      </p:sp>
      <p:sp>
        <p:nvSpPr>
          <p:cNvPr id="21" name="Text 18"/>
          <p:cNvSpPr/>
          <p:nvPr/>
        </p:nvSpPr>
        <p:spPr>
          <a:xfrm>
            <a:off x="6267293" y="44870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504812" y="42203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3" name="Text 20"/>
          <p:cNvSpPr/>
          <p:nvPr/>
        </p:nvSpPr>
        <p:spPr>
          <a:xfrm>
            <a:off x="6267293" y="42203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4374991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504812" y="40869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8216595" y="80962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6267293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6267293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6267293" y="48870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533387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6267293" y="502044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504812" y="39536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Vacío</a:t>
            </a:r>
            <a:endParaRPr lang="en-US" sz="576" dirty="0"/>
          </a:p>
        </p:txBody>
      </p:sp>
      <p:sp>
        <p:nvSpPr>
          <p:cNvPr id="33" name="Text 30"/>
          <p:cNvSpPr/>
          <p:nvPr/>
        </p:nvSpPr>
        <p:spPr>
          <a:xfrm>
            <a:off x="10281832" y="1681930"/>
            <a:ext cx="1485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6267293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6267293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6267293" y="43536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46203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38" name="Text 35"/>
          <p:cNvSpPr/>
          <p:nvPr/>
        </p:nvSpPr>
        <p:spPr>
          <a:xfrm>
            <a:off x="2996877" y="1681930"/>
            <a:ext cx="1598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8324195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1582896" y="1681930"/>
            <a:ext cx="1484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4519648" y="1681930"/>
            <a:ext cx="1484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495288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1582896" y="2705867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255.141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2996877" y="2705867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5226118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103.678</a:t>
            </a:r>
            <a:endParaRPr lang="en-US" sz="576" dirty="0"/>
          </a:p>
        </p:txBody>
      </p:sp>
      <p:sp>
        <p:nvSpPr>
          <p:cNvPr id="46" name="Text 43"/>
          <p:cNvSpPr/>
          <p:nvPr/>
        </p:nvSpPr>
        <p:spPr>
          <a:xfrm>
            <a:off x="5226118" y="435369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576" dirty="0"/>
          </a:p>
        </p:txBody>
      </p:sp>
      <p:sp>
        <p:nvSpPr>
          <p:cNvPr id="47" name="Text 44"/>
          <p:cNvSpPr/>
          <p:nvPr/>
        </p:nvSpPr>
        <p:spPr>
          <a:xfrm>
            <a:off x="6257769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7345377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533387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380" dirty="0"/>
          </a:p>
        </p:txBody>
      </p:sp>
      <p:sp>
        <p:nvSpPr>
          <p:cNvPr id="50" name="Text 47"/>
          <p:cNvSpPr/>
          <p:nvPr/>
        </p:nvSpPr>
        <p:spPr>
          <a:xfrm>
            <a:off x="1582896" y="1853380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55.557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1582896" y="199149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24.673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2996877" y="1991492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4519648" y="199149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1582896" y="2134367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41.873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4519648" y="2134367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10,9 %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1582896" y="227724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2996877" y="2277242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519648" y="227724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82896" y="2420117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2996877" y="2420117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519648" y="2420117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1582896" y="256299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34.574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2996877" y="2562992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519648" y="256299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4519648" y="2705867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504812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3777759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37.342</a:t>
            </a:r>
            <a:endParaRPr lang="en-US" sz="576" dirty="0"/>
          </a:p>
        </p:txBody>
      </p:sp>
      <p:sp>
        <p:nvSpPr>
          <p:cNvPr id="68" name="Text 65"/>
          <p:cNvSpPr/>
          <p:nvPr/>
        </p:nvSpPr>
        <p:spPr>
          <a:xfrm>
            <a:off x="4260545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37.340</a:t>
            </a:r>
            <a:endParaRPr lang="en-US" sz="576" dirty="0"/>
          </a:p>
        </p:txBody>
      </p:sp>
      <p:sp>
        <p:nvSpPr>
          <p:cNvPr id="69" name="Text 66"/>
          <p:cNvSpPr/>
          <p:nvPr/>
        </p:nvSpPr>
        <p:spPr>
          <a:xfrm>
            <a:off x="4743331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13.532</a:t>
            </a:r>
            <a:endParaRPr lang="en-US" sz="576" dirty="0"/>
          </a:p>
        </p:txBody>
      </p:sp>
      <p:sp>
        <p:nvSpPr>
          <p:cNvPr id="70" name="Text 67"/>
          <p:cNvSpPr/>
          <p:nvPr/>
        </p:nvSpPr>
        <p:spPr>
          <a:xfrm>
            <a:off x="5226118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11.261</a:t>
            </a:r>
            <a:endParaRPr lang="en-US" sz="576" dirty="0"/>
          </a:p>
        </p:txBody>
      </p:sp>
      <p:sp>
        <p:nvSpPr>
          <p:cNvPr id="71" name="Text 68"/>
          <p:cNvSpPr/>
          <p:nvPr/>
        </p:nvSpPr>
        <p:spPr>
          <a:xfrm>
            <a:off x="2812186" y="43536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576" dirty="0"/>
          </a:p>
        </p:txBody>
      </p:sp>
      <p:sp>
        <p:nvSpPr>
          <p:cNvPr id="72" name="Text 69"/>
          <p:cNvSpPr/>
          <p:nvPr/>
        </p:nvSpPr>
        <p:spPr>
          <a:xfrm>
            <a:off x="3777759" y="43536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4260545" y="43536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4743331" y="43536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9303014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7345377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51.332</a:t>
            </a:r>
            <a:endParaRPr lang="en-US" sz="636" dirty="0"/>
          </a:p>
        </p:txBody>
      </p:sp>
      <p:sp>
        <p:nvSpPr>
          <p:cNvPr id="77" name="Text 74"/>
          <p:cNvSpPr/>
          <p:nvPr/>
        </p:nvSpPr>
        <p:spPr>
          <a:xfrm>
            <a:off x="7345377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13.276</a:t>
            </a:r>
            <a:endParaRPr lang="en-US" sz="636" dirty="0"/>
          </a:p>
        </p:txBody>
      </p:sp>
      <p:sp>
        <p:nvSpPr>
          <p:cNvPr id="78" name="Text 75"/>
          <p:cNvSpPr/>
          <p:nvPr/>
        </p:nvSpPr>
        <p:spPr>
          <a:xfrm>
            <a:off x="8324195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636" dirty="0"/>
          </a:p>
        </p:txBody>
      </p:sp>
      <p:sp>
        <p:nvSpPr>
          <p:cNvPr id="79" name="Text 76"/>
          <p:cNvSpPr/>
          <p:nvPr/>
        </p:nvSpPr>
        <p:spPr>
          <a:xfrm>
            <a:off x="7345377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37.311</a:t>
            </a:r>
            <a:endParaRPr lang="en-US" sz="636" dirty="0"/>
          </a:p>
        </p:txBody>
      </p:sp>
      <p:sp>
        <p:nvSpPr>
          <p:cNvPr id="80" name="Text 77"/>
          <p:cNvSpPr/>
          <p:nvPr/>
        </p:nvSpPr>
        <p:spPr>
          <a:xfrm>
            <a:off x="8324195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24,5 %</a:t>
            </a:r>
            <a:endParaRPr lang="en-US" sz="636" dirty="0"/>
          </a:p>
        </p:txBody>
      </p:sp>
      <p:sp>
        <p:nvSpPr>
          <p:cNvPr id="81" name="Text 78"/>
          <p:cNvSpPr/>
          <p:nvPr/>
        </p:nvSpPr>
        <p:spPr>
          <a:xfrm>
            <a:off x="8324195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42,6 %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8324195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7345377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16.913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8324195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27,7 %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8324195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19,2 %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8574667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9057453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24,5 %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9540240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42,6 %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10023026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10505812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27,7 %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988599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18,9 %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8574667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9540240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10023026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16,0 %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505812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10,2 %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10023026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8091881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90,8 %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8574667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70,0 %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9057453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75,5 %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9540240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10023026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56,8 %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10505812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72,3 %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10988599" y="43536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81,1 %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8091881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88,1 %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8574667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67,9 %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9057453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73,2 %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9540240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55,7 %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10023026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55,1 %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10505812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70,1 %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10988599" y="44870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78,6 %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495288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12" name="Text 109"/>
          <p:cNvSpPr/>
          <p:nvPr/>
        </p:nvSpPr>
        <p:spPr>
          <a:xfrm>
            <a:off x="2996877" y="1853380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636" dirty="0"/>
          </a:p>
        </p:txBody>
      </p:sp>
      <p:sp>
        <p:nvSpPr>
          <p:cNvPr id="113" name="Text 110"/>
          <p:cNvSpPr/>
          <p:nvPr/>
        </p:nvSpPr>
        <p:spPr>
          <a:xfrm>
            <a:off x="4519648" y="1853380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636" dirty="0"/>
          </a:p>
        </p:txBody>
      </p:sp>
      <p:sp>
        <p:nvSpPr>
          <p:cNvPr id="114" name="Text 111"/>
          <p:cNvSpPr/>
          <p:nvPr/>
        </p:nvSpPr>
        <p:spPr>
          <a:xfrm>
            <a:off x="495288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15" name="Text 112"/>
          <p:cNvSpPr/>
          <p:nvPr/>
        </p:nvSpPr>
        <p:spPr>
          <a:xfrm>
            <a:off x="2996877" y="2134367"/>
            <a:ext cx="15989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636" dirty="0"/>
          </a:p>
        </p:txBody>
      </p:sp>
      <p:sp>
        <p:nvSpPr>
          <p:cNvPr id="116" name="Text 113"/>
          <p:cNvSpPr/>
          <p:nvPr/>
        </p:nvSpPr>
        <p:spPr>
          <a:xfrm>
            <a:off x="495288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495288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495288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19" name="Text 116"/>
          <p:cNvSpPr/>
          <p:nvPr/>
        </p:nvSpPr>
        <p:spPr>
          <a:xfrm>
            <a:off x="5226118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20" name="Text 117"/>
          <p:cNvSpPr/>
          <p:nvPr/>
        </p:nvSpPr>
        <p:spPr>
          <a:xfrm>
            <a:off x="2329400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3.237</a:t>
            </a:r>
            <a:endParaRPr lang="en-US" sz="576" dirty="0"/>
          </a:p>
        </p:txBody>
      </p:sp>
      <p:sp>
        <p:nvSpPr>
          <p:cNvPr id="121" name="Text 118"/>
          <p:cNvSpPr/>
          <p:nvPr/>
        </p:nvSpPr>
        <p:spPr>
          <a:xfrm>
            <a:off x="2812186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8.732</a:t>
            </a:r>
            <a:endParaRPr lang="en-US" sz="576" dirty="0"/>
          </a:p>
        </p:txBody>
      </p:sp>
      <p:sp>
        <p:nvSpPr>
          <p:cNvPr id="122" name="Text 119"/>
          <p:cNvSpPr/>
          <p:nvPr/>
        </p:nvSpPr>
        <p:spPr>
          <a:xfrm>
            <a:off x="3294972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3.495</a:t>
            </a:r>
            <a:endParaRPr lang="en-US" sz="576" dirty="0"/>
          </a:p>
        </p:txBody>
      </p:sp>
      <p:sp>
        <p:nvSpPr>
          <p:cNvPr id="123" name="Text 120"/>
          <p:cNvSpPr/>
          <p:nvPr/>
        </p:nvSpPr>
        <p:spPr>
          <a:xfrm>
            <a:off x="3777759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4.055</a:t>
            </a:r>
            <a:endParaRPr lang="en-US" sz="576" dirty="0"/>
          </a:p>
        </p:txBody>
      </p:sp>
      <p:sp>
        <p:nvSpPr>
          <p:cNvPr id="124" name="Text 121"/>
          <p:cNvSpPr/>
          <p:nvPr/>
        </p:nvSpPr>
        <p:spPr>
          <a:xfrm>
            <a:off x="4260545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4.056</a:t>
            </a:r>
            <a:endParaRPr lang="en-US" sz="576" dirty="0"/>
          </a:p>
        </p:txBody>
      </p:sp>
      <p:sp>
        <p:nvSpPr>
          <p:cNvPr id="125" name="Text 122"/>
          <p:cNvSpPr/>
          <p:nvPr/>
        </p:nvSpPr>
        <p:spPr>
          <a:xfrm>
            <a:off x="4743331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1.470</a:t>
            </a:r>
            <a:endParaRPr lang="en-US" sz="576" dirty="0"/>
          </a:p>
        </p:txBody>
      </p:sp>
      <p:sp>
        <p:nvSpPr>
          <p:cNvPr id="126" name="Text 123"/>
          <p:cNvSpPr/>
          <p:nvPr/>
        </p:nvSpPr>
        <p:spPr>
          <a:xfrm>
            <a:off x="3777759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27" name="Text 124"/>
          <p:cNvSpPr/>
          <p:nvPr/>
        </p:nvSpPr>
        <p:spPr>
          <a:xfrm>
            <a:off x="4260545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28" name="Text 125"/>
          <p:cNvSpPr/>
          <p:nvPr/>
        </p:nvSpPr>
        <p:spPr>
          <a:xfrm>
            <a:off x="5226118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5.948</a:t>
            </a:r>
            <a:endParaRPr lang="en-US" sz="576" dirty="0"/>
          </a:p>
        </p:txBody>
      </p:sp>
      <p:sp>
        <p:nvSpPr>
          <p:cNvPr id="129" name="Text 126"/>
          <p:cNvSpPr/>
          <p:nvPr/>
        </p:nvSpPr>
        <p:spPr>
          <a:xfrm>
            <a:off x="3777759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1.618</a:t>
            </a:r>
            <a:endParaRPr lang="en-US" sz="576" dirty="0"/>
          </a:p>
        </p:txBody>
      </p:sp>
      <p:sp>
        <p:nvSpPr>
          <p:cNvPr id="130" name="Text 127"/>
          <p:cNvSpPr/>
          <p:nvPr/>
        </p:nvSpPr>
        <p:spPr>
          <a:xfrm>
            <a:off x="4260545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1.619</a:t>
            </a:r>
            <a:endParaRPr lang="en-US" sz="576" dirty="0"/>
          </a:p>
        </p:txBody>
      </p:sp>
      <p:sp>
        <p:nvSpPr>
          <p:cNvPr id="131" name="Text 128"/>
          <p:cNvSpPr/>
          <p:nvPr/>
        </p:nvSpPr>
        <p:spPr>
          <a:xfrm>
            <a:off x="5226118" y="36869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4.495</a:t>
            </a:r>
            <a:endParaRPr lang="en-US" sz="576" dirty="0"/>
          </a:p>
        </p:txBody>
      </p:sp>
      <p:sp>
        <p:nvSpPr>
          <p:cNvPr id="132" name="Text 129"/>
          <p:cNvSpPr/>
          <p:nvPr/>
        </p:nvSpPr>
        <p:spPr>
          <a:xfrm>
            <a:off x="5226118" y="38202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2.330</a:t>
            </a:r>
            <a:endParaRPr lang="en-US" sz="576" dirty="0"/>
          </a:p>
        </p:txBody>
      </p:sp>
      <p:sp>
        <p:nvSpPr>
          <p:cNvPr id="133" name="Text 130"/>
          <p:cNvSpPr/>
          <p:nvPr/>
        </p:nvSpPr>
        <p:spPr>
          <a:xfrm>
            <a:off x="5226118" y="39536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2.145</a:t>
            </a:r>
            <a:endParaRPr lang="en-US" sz="576" dirty="0"/>
          </a:p>
        </p:txBody>
      </p:sp>
      <p:sp>
        <p:nvSpPr>
          <p:cNvPr id="134" name="Text 131"/>
          <p:cNvSpPr/>
          <p:nvPr/>
        </p:nvSpPr>
        <p:spPr>
          <a:xfrm>
            <a:off x="3777759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1.632</a:t>
            </a:r>
            <a:endParaRPr lang="en-US" sz="576" dirty="0"/>
          </a:p>
        </p:txBody>
      </p:sp>
      <p:sp>
        <p:nvSpPr>
          <p:cNvPr id="135" name="Text 132"/>
          <p:cNvSpPr/>
          <p:nvPr/>
        </p:nvSpPr>
        <p:spPr>
          <a:xfrm>
            <a:off x="4260545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1.633</a:t>
            </a:r>
            <a:endParaRPr lang="en-US" sz="576" dirty="0"/>
          </a:p>
        </p:txBody>
      </p:sp>
      <p:sp>
        <p:nvSpPr>
          <p:cNvPr id="136" name="Text 133"/>
          <p:cNvSpPr/>
          <p:nvPr/>
        </p:nvSpPr>
        <p:spPr>
          <a:xfrm>
            <a:off x="5226118" y="42203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4.534</a:t>
            </a:r>
            <a:endParaRPr lang="en-US" sz="576" dirty="0"/>
          </a:p>
        </p:txBody>
      </p:sp>
      <p:sp>
        <p:nvSpPr>
          <p:cNvPr id="137" name="Text 134"/>
          <p:cNvSpPr/>
          <p:nvPr/>
        </p:nvSpPr>
        <p:spPr>
          <a:xfrm>
            <a:off x="504812" y="435369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38" name="Text 135"/>
          <p:cNvSpPr/>
          <p:nvPr/>
        </p:nvSpPr>
        <p:spPr>
          <a:xfrm>
            <a:off x="2329400" y="43536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576" dirty="0"/>
          </a:p>
        </p:txBody>
      </p:sp>
      <p:sp>
        <p:nvSpPr>
          <p:cNvPr id="139" name="Text 136"/>
          <p:cNvSpPr/>
          <p:nvPr/>
        </p:nvSpPr>
        <p:spPr>
          <a:xfrm>
            <a:off x="3294972" y="43536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576" dirty="0"/>
          </a:p>
        </p:txBody>
      </p:sp>
      <p:sp>
        <p:nvSpPr>
          <p:cNvPr id="140" name="Text 137"/>
          <p:cNvSpPr/>
          <p:nvPr/>
        </p:nvSpPr>
        <p:spPr>
          <a:xfrm>
            <a:off x="7345377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41" name="Text 138"/>
          <p:cNvSpPr/>
          <p:nvPr/>
        </p:nvSpPr>
        <p:spPr>
          <a:xfrm>
            <a:off x="6257769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42" name="Text 139"/>
          <p:cNvSpPr/>
          <p:nvPr/>
        </p:nvSpPr>
        <p:spPr>
          <a:xfrm>
            <a:off x="8324195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636" dirty="0"/>
          </a:p>
        </p:txBody>
      </p:sp>
      <p:sp>
        <p:nvSpPr>
          <p:cNvPr id="143" name="Text 140"/>
          <p:cNvSpPr/>
          <p:nvPr/>
        </p:nvSpPr>
        <p:spPr>
          <a:xfrm>
            <a:off x="10281832" y="1853380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144" name="Text 141"/>
          <p:cNvSpPr/>
          <p:nvPr/>
        </p:nvSpPr>
        <p:spPr>
          <a:xfrm>
            <a:off x="10281832" y="199149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636" dirty="0"/>
          </a:p>
        </p:txBody>
      </p:sp>
      <p:sp>
        <p:nvSpPr>
          <p:cNvPr id="145" name="Text 142"/>
          <p:cNvSpPr/>
          <p:nvPr/>
        </p:nvSpPr>
        <p:spPr>
          <a:xfrm>
            <a:off x="6257769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46" name="Text 143"/>
          <p:cNvSpPr/>
          <p:nvPr/>
        </p:nvSpPr>
        <p:spPr>
          <a:xfrm>
            <a:off x="10281832" y="2134367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636" dirty="0"/>
          </a:p>
        </p:txBody>
      </p:sp>
      <p:sp>
        <p:nvSpPr>
          <p:cNvPr id="147" name="Text 144"/>
          <p:cNvSpPr/>
          <p:nvPr/>
        </p:nvSpPr>
        <p:spPr>
          <a:xfrm>
            <a:off x="6257769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48" name="Text 145"/>
          <p:cNvSpPr/>
          <p:nvPr/>
        </p:nvSpPr>
        <p:spPr>
          <a:xfrm>
            <a:off x="10281832" y="227724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636" dirty="0"/>
          </a:p>
        </p:txBody>
      </p:sp>
      <p:sp>
        <p:nvSpPr>
          <p:cNvPr id="149" name="Text 146"/>
          <p:cNvSpPr/>
          <p:nvPr/>
        </p:nvSpPr>
        <p:spPr>
          <a:xfrm>
            <a:off x="10281832" y="2420117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636" dirty="0"/>
          </a:p>
        </p:txBody>
      </p:sp>
      <p:sp>
        <p:nvSpPr>
          <p:cNvPr id="150" name="Text 147"/>
          <p:cNvSpPr/>
          <p:nvPr/>
        </p:nvSpPr>
        <p:spPr>
          <a:xfrm>
            <a:off x="6257769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51" name="Text 148"/>
          <p:cNvSpPr/>
          <p:nvPr/>
        </p:nvSpPr>
        <p:spPr>
          <a:xfrm>
            <a:off x="10281832" y="256299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636" dirty="0"/>
          </a:p>
        </p:txBody>
      </p:sp>
      <p:sp>
        <p:nvSpPr>
          <p:cNvPr id="152" name="Text 149"/>
          <p:cNvSpPr/>
          <p:nvPr/>
        </p:nvSpPr>
        <p:spPr>
          <a:xfrm>
            <a:off x="6257769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53" name="Text 150"/>
          <p:cNvSpPr/>
          <p:nvPr/>
        </p:nvSpPr>
        <p:spPr>
          <a:xfrm>
            <a:off x="10281832" y="2705867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636" dirty="0"/>
          </a:p>
        </p:txBody>
      </p:sp>
      <p:sp>
        <p:nvSpPr>
          <p:cNvPr id="154" name="Text 151"/>
          <p:cNvSpPr/>
          <p:nvPr/>
        </p:nvSpPr>
        <p:spPr>
          <a:xfrm>
            <a:off x="10988599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55" name="Text 152"/>
          <p:cNvSpPr/>
          <p:nvPr/>
        </p:nvSpPr>
        <p:spPr>
          <a:xfrm>
            <a:off x="8091881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552" dirty="0"/>
          </a:p>
        </p:txBody>
      </p:sp>
      <p:sp>
        <p:nvSpPr>
          <p:cNvPr id="156" name="Text 153"/>
          <p:cNvSpPr/>
          <p:nvPr/>
        </p:nvSpPr>
        <p:spPr>
          <a:xfrm>
            <a:off x="8091881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57" name="Text 154"/>
          <p:cNvSpPr/>
          <p:nvPr/>
        </p:nvSpPr>
        <p:spPr>
          <a:xfrm>
            <a:off x="8574667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58" name="Text 155"/>
          <p:cNvSpPr/>
          <p:nvPr/>
        </p:nvSpPr>
        <p:spPr>
          <a:xfrm>
            <a:off x="9057453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59" name="Text 156"/>
          <p:cNvSpPr/>
          <p:nvPr/>
        </p:nvSpPr>
        <p:spPr>
          <a:xfrm>
            <a:off x="9540240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552" dirty="0"/>
          </a:p>
        </p:txBody>
      </p:sp>
      <p:sp>
        <p:nvSpPr>
          <p:cNvPr id="160" name="Text 157"/>
          <p:cNvSpPr/>
          <p:nvPr/>
        </p:nvSpPr>
        <p:spPr>
          <a:xfrm>
            <a:off x="10023026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61" name="Text 158"/>
          <p:cNvSpPr/>
          <p:nvPr/>
        </p:nvSpPr>
        <p:spPr>
          <a:xfrm>
            <a:off x="10505812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552" dirty="0"/>
          </a:p>
        </p:txBody>
      </p:sp>
      <p:sp>
        <p:nvSpPr>
          <p:cNvPr id="162" name="Text 159"/>
          <p:cNvSpPr/>
          <p:nvPr/>
        </p:nvSpPr>
        <p:spPr>
          <a:xfrm>
            <a:off x="10988599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163" name="Text 160"/>
          <p:cNvSpPr/>
          <p:nvPr/>
        </p:nvSpPr>
        <p:spPr>
          <a:xfrm>
            <a:off x="8091881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64" name="Text 161"/>
          <p:cNvSpPr/>
          <p:nvPr/>
        </p:nvSpPr>
        <p:spPr>
          <a:xfrm>
            <a:off x="9057453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10988599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7,0 %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8091881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2,1 %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8574667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6,9 %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9057453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5,7 %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9540240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9,9 %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10505812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10988599" y="36869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8091881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8574667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9057453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2,4 %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9540240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10023026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10505812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10988599" y="38202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8091881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180" name="Text 177"/>
          <p:cNvSpPr/>
          <p:nvPr/>
        </p:nvSpPr>
        <p:spPr>
          <a:xfrm>
            <a:off x="8574667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4,7 %</a:t>
            </a:r>
            <a:endParaRPr lang="en-US" sz="552" dirty="0"/>
          </a:p>
        </p:txBody>
      </p:sp>
      <p:sp>
        <p:nvSpPr>
          <p:cNvPr id="181" name="Text 178"/>
          <p:cNvSpPr/>
          <p:nvPr/>
        </p:nvSpPr>
        <p:spPr>
          <a:xfrm>
            <a:off x="9057453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552" dirty="0"/>
          </a:p>
        </p:txBody>
      </p:sp>
      <p:sp>
        <p:nvSpPr>
          <p:cNvPr id="182" name="Text 179"/>
          <p:cNvSpPr/>
          <p:nvPr/>
        </p:nvSpPr>
        <p:spPr>
          <a:xfrm>
            <a:off x="9540240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183" name="Text 180"/>
          <p:cNvSpPr/>
          <p:nvPr/>
        </p:nvSpPr>
        <p:spPr>
          <a:xfrm>
            <a:off x="10023026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6,8 %</a:t>
            </a:r>
            <a:endParaRPr lang="en-US" sz="552" dirty="0"/>
          </a:p>
        </p:txBody>
      </p:sp>
      <p:sp>
        <p:nvSpPr>
          <p:cNvPr id="184" name="Text 181"/>
          <p:cNvSpPr/>
          <p:nvPr/>
        </p:nvSpPr>
        <p:spPr>
          <a:xfrm>
            <a:off x="10505812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85" name="Text 182"/>
          <p:cNvSpPr/>
          <p:nvPr/>
        </p:nvSpPr>
        <p:spPr>
          <a:xfrm>
            <a:off x="10988599" y="39536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3,0 %</a:t>
            </a:r>
            <a:endParaRPr lang="en-US" sz="552" dirty="0"/>
          </a:p>
        </p:txBody>
      </p:sp>
      <p:sp>
        <p:nvSpPr>
          <p:cNvPr id="186" name="Text 183"/>
          <p:cNvSpPr/>
          <p:nvPr/>
        </p:nvSpPr>
        <p:spPr>
          <a:xfrm>
            <a:off x="8091881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552" dirty="0"/>
          </a:p>
        </p:txBody>
      </p:sp>
      <p:sp>
        <p:nvSpPr>
          <p:cNvPr id="187" name="Text 184"/>
          <p:cNvSpPr/>
          <p:nvPr/>
        </p:nvSpPr>
        <p:spPr>
          <a:xfrm>
            <a:off x="8574667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88" name="Text 185"/>
          <p:cNvSpPr/>
          <p:nvPr/>
        </p:nvSpPr>
        <p:spPr>
          <a:xfrm>
            <a:off x="9057453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0,8 %</a:t>
            </a:r>
            <a:endParaRPr lang="en-US" sz="552" dirty="0"/>
          </a:p>
        </p:txBody>
      </p:sp>
      <p:sp>
        <p:nvSpPr>
          <p:cNvPr id="189" name="Text 186"/>
          <p:cNvSpPr/>
          <p:nvPr/>
        </p:nvSpPr>
        <p:spPr>
          <a:xfrm>
            <a:off x="9540240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190" name="Text 187"/>
          <p:cNvSpPr/>
          <p:nvPr/>
        </p:nvSpPr>
        <p:spPr>
          <a:xfrm>
            <a:off x="10023026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10505812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10988599" y="40869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8091881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0,9 %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8574667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2,8 %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9057453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9540240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10023026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10505812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10988599" y="42203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1,8 %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8091881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8574667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9057453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1,6 %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9540240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023026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10505812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10988599" y="46203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8091881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8574667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9057453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9540240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10023026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10505812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0,5 %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10988599" y="47537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0,6 %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8091881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8574667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9057453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9540240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10023026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10505812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10988599" y="48870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8091881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8574667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9057453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9540240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10023026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10505812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10988599" y="502044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4374991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3,1 %</a:t>
            </a:r>
            <a:endParaRPr lang="en-US" sz="1380" dirty="0"/>
          </a:p>
        </p:txBody>
      </p:sp>
      <p:sp>
        <p:nvSpPr>
          <p:cNvPr id="229" name="Text 226"/>
          <p:cNvSpPr/>
          <p:nvPr/>
        </p:nvSpPr>
        <p:spPr>
          <a:xfrm>
            <a:off x="495288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30" name="Text 227"/>
          <p:cNvSpPr/>
          <p:nvPr/>
        </p:nvSpPr>
        <p:spPr>
          <a:xfrm>
            <a:off x="6257769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31" name="Text 228"/>
          <p:cNvSpPr/>
          <p:nvPr/>
        </p:nvSpPr>
        <p:spPr>
          <a:xfrm>
            <a:off x="495288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32" name="Text 229"/>
          <p:cNvSpPr/>
          <p:nvPr/>
        </p:nvSpPr>
        <p:spPr>
          <a:xfrm>
            <a:off x="232940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33" name="Text 230"/>
          <p:cNvSpPr/>
          <p:nvPr/>
        </p:nvSpPr>
        <p:spPr>
          <a:xfrm>
            <a:off x="281218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34" name="Text 231"/>
          <p:cNvSpPr/>
          <p:nvPr/>
        </p:nvSpPr>
        <p:spPr>
          <a:xfrm>
            <a:off x="329497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35" name="Text 232"/>
          <p:cNvSpPr/>
          <p:nvPr/>
        </p:nvSpPr>
        <p:spPr>
          <a:xfrm>
            <a:off x="3777759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36" name="Text 233"/>
          <p:cNvSpPr/>
          <p:nvPr/>
        </p:nvSpPr>
        <p:spPr>
          <a:xfrm>
            <a:off x="4260545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37" name="Text 234"/>
          <p:cNvSpPr/>
          <p:nvPr/>
        </p:nvSpPr>
        <p:spPr>
          <a:xfrm>
            <a:off x="474333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38" name="Text 235"/>
          <p:cNvSpPr/>
          <p:nvPr/>
        </p:nvSpPr>
        <p:spPr>
          <a:xfrm>
            <a:off x="2329400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352</a:t>
            </a:r>
            <a:endParaRPr lang="en-US" sz="576" dirty="0"/>
          </a:p>
        </p:txBody>
      </p:sp>
      <p:sp>
        <p:nvSpPr>
          <p:cNvPr id="239" name="Text 236"/>
          <p:cNvSpPr/>
          <p:nvPr/>
        </p:nvSpPr>
        <p:spPr>
          <a:xfrm>
            <a:off x="2812186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948</a:t>
            </a:r>
            <a:endParaRPr lang="en-US" sz="576" dirty="0"/>
          </a:p>
        </p:txBody>
      </p:sp>
      <p:sp>
        <p:nvSpPr>
          <p:cNvPr id="240" name="Text 237"/>
          <p:cNvSpPr/>
          <p:nvPr/>
        </p:nvSpPr>
        <p:spPr>
          <a:xfrm>
            <a:off x="3294972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380</a:t>
            </a:r>
            <a:endParaRPr lang="en-US" sz="576" dirty="0"/>
          </a:p>
        </p:txBody>
      </p:sp>
      <p:sp>
        <p:nvSpPr>
          <p:cNvPr id="241" name="Text 238"/>
          <p:cNvSpPr/>
          <p:nvPr/>
        </p:nvSpPr>
        <p:spPr>
          <a:xfrm>
            <a:off x="2329400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186</a:t>
            </a:r>
            <a:endParaRPr lang="en-US" sz="576" dirty="0"/>
          </a:p>
        </p:txBody>
      </p:sp>
      <p:sp>
        <p:nvSpPr>
          <p:cNvPr id="242" name="Text 239"/>
          <p:cNvSpPr/>
          <p:nvPr/>
        </p:nvSpPr>
        <p:spPr>
          <a:xfrm>
            <a:off x="2812186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576" dirty="0"/>
          </a:p>
        </p:txBody>
      </p:sp>
      <p:sp>
        <p:nvSpPr>
          <p:cNvPr id="243" name="Text 240"/>
          <p:cNvSpPr/>
          <p:nvPr/>
        </p:nvSpPr>
        <p:spPr>
          <a:xfrm>
            <a:off x="3294972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244" name="Text 241"/>
          <p:cNvSpPr/>
          <p:nvPr/>
        </p:nvSpPr>
        <p:spPr>
          <a:xfrm>
            <a:off x="4743331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776</a:t>
            </a:r>
            <a:endParaRPr lang="en-US" sz="576" dirty="0"/>
          </a:p>
        </p:txBody>
      </p:sp>
      <p:sp>
        <p:nvSpPr>
          <p:cNvPr id="245" name="Text 242"/>
          <p:cNvSpPr/>
          <p:nvPr/>
        </p:nvSpPr>
        <p:spPr>
          <a:xfrm>
            <a:off x="2329400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576" dirty="0"/>
          </a:p>
        </p:txBody>
      </p:sp>
      <p:sp>
        <p:nvSpPr>
          <p:cNvPr id="246" name="Text 243"/>
          <p:cNvSpPr/>
          <p:nvPr/>
        </p:nvSpPr>
        <p:spPr>
          <a:xfrm>
            <a:off x="2812186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379</a:t>
            </a:r>
            <a:endParaRPr lang="en-US" sz="576" dirty="0"/>
          </a:p>
        </p:txBody>
      </p:sp>
      <p:sp>
        <p:nvSpPr>
          <p:cNvPr id="247" name="Text 244"/>
          <p:cNvSpPr/>
          <p:nvPr/>
        </p:nvSpPr>
        <p:spPr>
          <a:xfrm>
            <a:off x="3294972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576" dirty="0"/>
          </a:p>
        </p:txBody>
      </p:sp>
      <p:sp>
        <p:nvSpPr>
          <p:cNvPr id="248" name="Text 245"/>
          <p:cNvSpPr/>
          <p:nvPr/>
        </p:nvSpPr>
        <p:spPr>
          <a:xfrm>
            <a:off x="4743331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587</a:t>
            </a:r>
            <a:endParaRPr lang="en-US" sz="576" dirty="0"/>
          </a:p>
        </p:txBody>
      </p:sp>
      <p:sp>
        <p:nvSpPr>
          <p:cNvPr id="249" name="Text 246"/>
          <p:cNvSpPr/>
          <p:nvPr/>
        </p:nvSpPr>
        <p:spPr>
          <a:xfrm>
            <a:off x="2812186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196</a:t>
            </a:r>
            <a:endParaRPr lang="en-US" sz="576" dirty="0"/>
          </a:p>
        </p:txBody>
      </p:sp>
      <p:sp>
        <p:nvSpPr>
          <p:cNvPr id="250" name="Text 247"/>
          <p:cNvSpPr/>
          <p:nvPr/>
        </p:nvSpPr>
        <p:spPr>
          <a:xfrm>
            <a:off x="3777759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251" name="Text 248"/>
          <p:cNvSpPr/>
          <p:nvPr/>
        </p:nvSpPr>
        <p:spPr>
          <a:xfrm>
            <a:off x="4260545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252" name="Text 249"/>
          <p:cNvSpPr/>
          <p:nvPr/>
        </p:nvSpPr>
        <p:spPr>
          <a:xfrm>
            <a:off x="4743331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304</a:t>
            </a:r>
            <a:endParaRPr lang="en-US" sz="576" dirty="0"/>
          </a:p>
        </p:txBody>
      </p:sp>
      <p:sp>
        <p:nvSpPr>
          <p:cNvPr id="253" name="Text 250"/>
          <p:cNvSpPr/>
          <p:nvPr/>
        </p:nvSpPr>
        <p:spPr>
          <a:xfrm>
            <a:off x="2812186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576" dirty="0"/>
          </a:p>
        </p:txBody>
      </p:sp>
      <p:sp>
        <p:nvSpPr>
          <p:cNvPr id="254" name="Text 251"/>
          <p:cNvSpPr/>
          <p:nvPr/>
        </p:nvSpPr>
        <p:spPr>
          <a:xfrm>
            <a:off x="3777759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772</a:t>
            </a:r>
            <a:endParaRPr lang="en-US" sz="576" dirty="0"/>
          </a:p>
        </p:txBody>
      </p:sp>
      <p:sp>
        <p:nvSpPr>
          <p:cNvPr id="255" name="Text 252"/>
          <p:cNvSpPr/>
          <p:nvPr/>
        </p:nvSpPr>
        <p:spPr>
          <a:xfrm>
            <a:off x="4260545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773</a:t>
            </a:r>
            <a:endParaRPr lang="en-US" sz="576" dirty="0"/>
          </a:p>
        </p:txBody>
      </p:sp>
      <p:sp>
        <p:nvSpPr>
          <p:cNvPr id="256" name="Text 253"/>
          <p:cNvSpPr/>
          <p:nvPr/>
        </p:nvSpPr>
        <p:spPr>
          <a:xfrm>
            <a:off x="4743331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</a:t>
            </a:r>
            <a:endParaRPr lang="en-US" sz="576" dirty="0"/>
          </a:p>
        </p:txBody>
      </p:sp>
      <p:sp>
        <p:nvSpPr>
          <p:cNvPr id="257" name="Text 254"/>
          <p:cNvSpPr/>
          <p:nvPr/>
        </p:nvSpPr>
        <p:spPr>
          <a:xfrm>
            <a:off x="3777759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258" name="Text 255"/>
          <p:cNvSpPr/>
          <p:nvPr/>
        </p:nvSpPr>
        <p:spPr>
          <a:xfrm>
            <a:off x="4260545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259" name="Text 256"/>
          <p:cNvSpPr/>
          <p:nvPr/>
        </p:nvSpPr>
        <p:spPr>
          <a:xfrm>
            <a:off x="4743331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260" name="Text 257"/>
          <p:cNvSpPr/>
          <p:nvPr/>
        </p:nvSpPr>
        <p:spPr>
          <a:xfrm>
            <a:off x="5226118" y="40869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922</a:t>
            </a:r>
            <a:endParaRPr lang="en-US" sz="576" dirty="0"/>
          </a:p>
        </p:txBody>
      </p:sp>
      <p:sp>
        <p:nvSpPr>
          <p:cNvPr id="261" name="Text 258"/>
          <p:cNvSpPr/>
          <p:nvPr/>
        </p:nvSpPr>
        <p:spPr>
          <a:xfrm>
            <a:off x="2329400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576" dirty="0"/>
          </a:p>
        </p:txBody>
      </p:sp>
      <p:sp>
        <p:nvSpPr>
          <p:cNvPr id="262" name="Text 259"/>
          <p:cNvSpPr/>
          <p:nvPr/>
        </p:nvSpPr>
        <p:spPr>
          <a:xfrm>
            <a:off x="2812186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382</a:t>
            </a:r>
            <a:endParaRPr lang="en-US" sz="576" dirty="0"/>
          </a:p>
        </p:txBody>
      </p:sp>
      <p:sp>
        <p:nvSpPr>
          <p:cNvPr id="263" name="Text 260"/>
          <p:cNvSpPr/>
          <p:nvPr/>
        </p:nvSpPr>
        <p:spPr>
          <a:xfrm>
            <a:off x="3294972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576" dirty="0"/>
          </a:p>
        </p:txBody>
      </p:sp>
      <p:sp>
        <p:nvSpPr>
          <p:cNvPr id="264" name="Text 261"/>
          <p:cNvSpPr/>
          <p:nvPr/>
        </p:nvSpPr>
        <p:spPr>
          <a:xfrm>
            <a:off x="4743331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592</a:t>
            </a:r>
            <a:endParaRPr lang="en-US" sz="576" dirty="0"/>
          </a:p>
        </p:txBody>
      </p:sp>
      <p:sp>
        <p:nvSpPr>
          <p:cNvPr id="265" name="Text 262"/>
          <p:cNvSpPr/>
          <p:nvPr/>
        </p:nvSpPr>
        <p:spPr>
          <a:xfrm>
            <a:off x="6257769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66" name="Text 263"/>
          <p:cNvSpPr/>
          <p:nvPr/>
        </p:nvSpPr>
        <p:spPr>
          <a:xfrm>
            <a:off x="9303014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36" dirty="0"/>
          </a:p>
        </p:txBody>
      </p:sp>
      <p:sp>
        <p:nvSpPr>
          <p:cNvPr id="267" name="Text 264"/>
          <p:cNvSpPr/>
          <p:nvPr/>
        </p:nvSpPr>
        <p:spPr>
          <a:xfrm>
            <a:off x="7345377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636" dirty="0"/>
          </a:p>
        </p:txBody>
      </p:sp>
      <p:sp>
        <p:nvSpPr>
          <p:cNvPr id="268" name="Text 265"/>
          <p:cNvSpPr/>
          <p:nvPr/>
        </p:nvSpPr>
        <p:spPr>
          <a:xfrm>
            <a:off x="7345377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636" dirty="0"/>
          </a:p>
        </p:txBody>
      </p:sp>
      <p:sp>
        <p:nvSpPr>
          <p:cNvPr id="269" name="Text 266"/>
          <p:cNvSpPr/>
          <p:nvPr/>
        </p:nvSpPr>
        <p:spPr>
          <a:xfrm>
            <a:off x="9303014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36" dirty="0"/>
          </a:p>
        </p:txBody>
      </p:sp>
      <p:sp>
        <p:nvSpPr>
          <p:cNvPr id="270" name="Text 267"/>
          <p:cNvSpPr/>
          <p:nvPr/>
        </p:nvSpPr>
        <p:spPr>
          <a:xfrm>
            <a:off x="9303014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636" dirty="0"/>
          </a:p>
        </p:txBody>
      </p:sp>
      <p:sp>
        <p:nvSpPr>
          <p:cNvPr id="271" name="Text 268"/>
          <p:cNvSpPr/>
          <p:nvPr/>
        </p:nvSpPr>
        <p:spPr>
          <a:xfrm>
            <a:off x="809188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72" name="Text 269"/>
          <p:cNvSpPr/>
          <p:nvPr/>
        </p:nvSpPr>
        <p:spPr>
          <a:xfrm>
            <a:off x="8574667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73" name="Text 270"/>
          <p:cNvSpPr/>
          <p:nvPr/>
        </p:nvSpPr>
        <p:spPr>
          <a:xfrm>
            <a:off x="9057453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74" name="Text 271"/>
          <p:cNvSpPr/>
          <p:nvPr/>
        </p:nvSpPr>
        <p:spPr>
          <a:xfrm>
            <a:off x="954024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75" name="Text 272"/>
          <p:cNvSpPr/>
          <p:nvPr/>
        </p:nvSpPr>
        <p:spPr>
          <a:xfrm>
            <a:off x="1002302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76" name="Text 273"/>
          <p:cNvSpPr/>
          <p:nvPr/>
        </p:nvSpPr>
        <p:spPr>
          <a:xfrm>
            <a:off x="1050581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77" name="Text 274"/>
          <p:cNvSpPr/>
          <p:nvPr/>
        </p:nvSpPr>
        <p:spPr>
          <a:xfrm>
            <a:off x="8216595" y="95250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324</a:t>
            </a:r>
            <a:endParaRPr lang="en-US" sz="1380" dirty="0"/>
          </a:p>
        </p:txBody>
      </p:sp>
      <p:sp>
        <p:nvSpPr>
          <p:cNvPr id="278" name="Text 275"/>
          <p:cNvSpPr/>
          <p:nvPr/>
        </p:nvSpPr>
        <p:spPr>
          <a:xfrm>
            <a:off x="2329400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576" dirty="0"/>
          </a:p>
        </p:txBody>
      </p:sp>
      <p:sp>
        <p:nvSpPr>
          <p:cNvPr id="279" name="Text 276"/>
          <p:cNvSpPr/>
          <p:nvPr/>
        </p:nvSpPr>
        <p:spPr>
          <a:xfrm>
            <a:off x="3294972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280" name="Text 277"/>
          <p:cNvSpPr/>
          <p:nvPr/>
        </p:nvSpPr>
        <p:spPr>
          <a:xfrm>
            <a:off x="2329400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281" name="Text 278"/>
          <p:cNvSpPr/>
          <p:nvPr/>
        </p:nvSpPr>
        <p:spPr>
          <a:xfrm>
            <a:off x="3294972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576" dirty="0"/>
          </a:p>
        </p:txBody>
      </p:sp>
      <p:sp>
        <p:nvSpPr>
          <p:cNvPr id="282" name="Text 279"/>
          <p:cNvSpPr/>
          <p:nvPr/>
        </p:nvSpPr>
        <p:spPr>
          <a:xfrm>
            <a:off x="2329400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576" dirty="0"/>
          </a:p>
        </p:txBody>
      </p:sp>
      <p:sp>
        <p:nvSpPr>
          <p:cNvPr id="283" name="Text 280"/>
          <p:cNvSpPr/>
          <p:nvPr/>
        </p:nvSpPr>
        <p:spPr>
          <a:xfrm>
            <a:off x="2812186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576" dirty="0"/>
          </a:p>
        </p:txBody>
      </p:sp>
      <p:sp>
        <p:nvSpPr>
          <p:cNvPr id="284" name="Text 281"/>
          <p:cNvSpPr/>
          <p:nvPr/>
        </p:nvSpPr>
        <p:spPr>
          <a:xfrm>
            <a:off x="3294972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9303014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36" dirty="0"/>
          </a:p>
        </p:txBody>
      </p:sp>
      <p:sp>
        <p:nvSpPr>
          <p:cNvPr id="286" name="Text 283"/>
          <p:cNvSpPr/>
          <p:nvPr/>
        </p:nvSpPr>
        <p:spPr>
          <a:xfrm>
            <a:off x="9303014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636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9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84131"/>
            <a:ext cx="6778959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 descarte muy alto () y una bajísima efectividad sobre contacto (), lo que justifica que se haya pausado a partir de febrero.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530578"/>
            <a:ext cx="6778959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contestador fue el gran bloqueador en enero, consumiendo el 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457561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8216595" y="120089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04812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 / Producto Activo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533387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648" dirty="0"/>
          </a:p>
        </p:txBody>
      </p:sp>
      <p:sp>
        <p:nvSpPr>
          <p:cNvPr id="9" name="Text 6"/>
          <p:cNvSpPr/>
          <p:nvPr/>
        </p:nvSpPr>
        <p:spPr>
          <a:xfrm>
            <a:off x="4374991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1138953" y="6247209"/>
            <a:ext cx="174423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11" name="Text 8"/>
          <p:cNvSpPr/>
          <p:nvPr/>
        </p:nvSpPr>
        <p:spPr>
          <a:xfrm>
            <a:off x="6267293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 / experiencia</a:t>
            </a:r>
            <a:endParaRPr lang="en-US" sz="552" dirty="0"/>
          </a:p>
        </p:txBody>
      </p:sp>
      <p:sp>
        <p:nvSpPr>
          <p:cNvPr id="12" name="Text 9"/>
          <p:cNvSpPr/>
          <p:nvPr/>
        </p:nvSpPr>
        <p:spPr>
          <a:xfrm>
            <a:off x="504812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504812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 / Sin Teléfono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495288" y="29153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6267293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6" name="Text 13"/>
          <p:cNvSpPr/>
          <p:nvPr/>
        </p:nvSpPr>
        <p:spPr>
          <a:xfrm>
            <a:off x="533387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672" dirty="0"/>
          </a:p>
        </p:txBody>
      </p:sp>
      <p:sp>
        <p:nvSpPr>
          <p:cNvPr id="17" name="Text 14"/>
          <p:cNvSpPr/>
          <p:nvPr/>
        </p:nvSpPr>
        <p:spPr>
          <a:xfrm>
            <a:off x="504812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 / No apto</a:t>
            </a:r>
            <a:endParaRPr lang="en-US" sz="576" dirty="0"/>
          </a:p>
        </p:txBody>
      </p:sp>
      <p:sp>
        <p:nvSpPr>
          <p:cNvPr id="18" name="Text 15"/>
          <p:cNvSpPr/>
          <p:nvPr/>
        </p:nvSpPr>
        <p:spPr>
          <a:xfrm>
            <a:off x="6267293" y="40869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504812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0" name="Text 17"/>
          <p:cNvSpPr/>
          <p:nvPr/>
        </p:nvSpPr>
        <p:spPr>
          <a:xfrm>
            <a:off x="6267293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267293" y="42203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8216595" y="80962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672" dirty="0"/>
          </a:p>
        </p:txBody>
      </p:sp>
      <p:sp>
        <p:nvSpPr>
          <p:cNvPr id="23" name="Text 20"/>
          <p:cNvSpPr/>
          <p:nvPr/>
        </p:nvSpPr>
        <p:spPr>
          <a:xfrm>
            <a:off x="4374991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6267293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6267293" y="435369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10281832" y="1681930"/>
            <a:ext cx="1485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6267293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6267293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6267293" y="39536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2996877" y="1681930"/>
            <a:ext cx="1598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8324195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1582896" y="1681930"/>
            <a:ext cx="1484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4519648" y="1681930"/>
            <a:ext cx="1484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1582896" y="1853380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35" name="Text 32"/>
          <p:cNvSpPr/>
          <p:nvPr/>
        </p:nvSpPr>
        <p:spPr>
          <a:xfrm>
            <a:off x="495288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6" name="Text 33"/>
          <p:cNvSpPr/>
          <p:nvPr/>
        </p:nvSpPr>
        <p:spPr>
          <a:xfrm>
            <a:off x="1582896" y="2705867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37" name="Text 34"/>
          <p:cNvSpPr/>
          <p:nvPr/>
        </p:nvSpPr>
        <p:spPr>
          <a:xfrm>
            <a:off x="6257769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2996877" y="1853380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4519648" y="1853380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2996877" y="2705867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4519648" y="2705867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504812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2329400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4" name="Text 41"/>
          <p:cNvSpPr/>
          <p:nvPr/>
        </p:nvSpPr>
        <p:spPr>
          <a:xfrm>
            <a:off x="5226118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5" name="Text 42"/>
          <p:cNvSpPr/>
          <p:nvPr/>
        </p:nvSpPr>
        <p:spPr>
          <a:xfrm>
            <a:off x="2329400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46" name="Text 43"/>
          <p:cNvSpPr/>
          <p:nvPr/>
        </p:nvSpPr>
        <p:spPr>
          <a:xfrm>
            <a:off x="5226118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47" name="Text 44"/>
          <p:cNvSpPr/>
          <p:nvPr/>
        </p:nvSpPr>
        <p:spPr>
          <a:xfrm>
            <a:off x="2329400" y="39536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48" name="Text 45"/>
          <p:cNvSpPr/>
          <p:nvPr/>
        </p:nvSpPr>
        <p:spPr>
          <a:xfrm>
            <a:off x="5226118" y="395364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49" name="Text 46"/>
          <p:cNvSpPr/>
          <p:nvPr/>
        </p:nvSpPr>
        <p:spPr>
          <a:xfrm>
            <a:off x="9303014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7345377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8324195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7345377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8324195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8091881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55" name="Text 52"/>
          <p:cNvSpPr/>
          <p:nvPr/>
        </p:nvSpPr>
        <p:spPr>
          <a:xfrm>
            <a:off x="10988599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552" dirty="0"/>
          </a:p>
        </p:txBody>
      </p:sp>
      <p:sp>
        <p:nvSpPr>
          <p:cNvPr id="56" name="Text 53"/>
          <p:cNvSpPr/>
          <p:nvPr/>
        </p:nvSpPr>
        <p:spPr>
          <a:xfrm>
            <a:off x="8091881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81,4 %</a:t>
            </a:r>
            <a:endParaRPr lang="en-US" sz="552" dirty="0"/>
          </a:p>
        </p:txBody>
      </p:sp>
      <p:sp>
        <p:nvSpPr>
          <p:cNvPr id="57" name="Text 54"/>
          <p:cNvSpPr/>
          <p:nvPr/>
        </p:nvSpPr>
        <p:spPr>
          <a:xfrm>
            <a:off x="10988599" y="39536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81,4 %</a:t>
            </a:r>
            <a:endParaRPr lang="en-US" sz="552" dirty="0"/>
          </a:p>
        </p:txBody>
      </p:sp>
      <p:sp>
        <p:nvSpPr>
          <p:cNvPr id="58" name="Text 55"/>
          <p:cNvSpPr/>
          <p:nvPr/>
        </p:nvSpPr>
        <p:spPr>
          <a:xfrm>
            <a:off x="8091881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62,7 %</a:t>
            </a:r>
            <a:endParaRPr lang="en-US" sz="552" dirty="0"/>
          </a:p>
        </p:txBody>
      </p:sp>
      <p:sp>
        <p:nvSpPr>
          <p:cNvPr id="59" name="Text 56"/>
          <p:cNvSpPr/>
          <p:nvPr/>
        </p:nvSpPr>
        <p:spPr>
          <a:xfrm>
            <a:off x="10988599" y="40869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62,7 %</a:t>
            </a:r>
            <a:endParaRPr lang="en-US" sz="552" dirty="0"/>
          </a:p>
        </p:txBody>
      </p:sp>
      <p:sp>
        <p:nvSpPr>
          <p:cNvPr id="60" name="Text 57"/>
          <p:cNvSpPr/>
          <p:nvPr/>
        </p:nvSpPr>
        <p:spPr>
          <a:xfrm>
            <a:off x="8091881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552" dirty="0"/>
          </a:p>
        </p:txBody>
      </p:sp>
      <p:sp>
        <p:nvSpPr>
          <p:cNvPr id="61" name="Text 58"/>
          <p:cNvSpPr/>
          <p:nvPr/>
        </p:nvSpPr>
        <p:spPr>
          <a:xfrm>
            <a:off x="10988599" y="42203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18,7 %</a:t>
            </a:r>
            <a:endParaRPr lang="en-US" sz="552" dirty="0"/>
          </a:p>
        </p:txBody>
      </p:sp>
      <p:sp>
        <p:nvSpPr>
          <p:cNvPr id="62" name="Text 59"/>
          <p:cNvSpPr/>
          <p:nvPr/>
        </p:nvSpPr>
        <p:spPr>
          <a:xfrm>
            <a:off x="533387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380" dirty="0"/>
          </a:p>
        </p:txBody>
      </p:sp>
      <p:sp>
        <p:nvSpPr>
          <p:cNvPr id="63" name="Text 60"/>
          <p:cNvSpPr/>
          <p:nvPr/>
        </p:nvSpPr>
        <p:spPr>
          <a:xfrm>
            <a:off x="8216595" y="95250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380" dirty="0"/>
          </a:p>
        </p:txBody>
      </p:sp>
      <p:sp>
        <p:nvSpPr>
          <p:cNvPr id="64" name="Text 61"/>
          <p:cNvSpPr/>
          <p:nvPr/>
        </p:nvSpPr>
        <p:spPr>
          <a:xfrm>
            <a:off x="495288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495288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495288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495288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495288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5226118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2329400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71" name="Text 68"/>
          <p:cNvSpPr/>
          <p:nvPr/>
        </p:nvSpPr>
        <p:spPr>
          <a:xfrm>
            <a:off x="5226118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72" name="Text 69"/>
          <p:cNvSpPr/>
          <p:nvPr/>
        </p:nvSpPr>
        <p:spPr>
          <a:xfrm>
            <a:off x="2329400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5226118" y="36869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2329400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26118" y="38202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504812" y="395364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7345377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6257769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79" name="Text 76"/>
          <p:cNvSpPr/>
          <p:nvPr/>
        </p:nvSpPr>
        <p:spPr>
          <a:xfrm>
            <a:off x="10281832" y="1853380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36" dirty="0"/>
          </a:p>
        </p:txBody>
      </p:sp>
      <p:sp>
        <p:nvSpPr>
          <p:cNvPr id="80" name="Text 77"/>
          <p:cNvSpPr/>
          <p:nvPr/>
        </p:nvSpPr>
        <p:spPr>
          <a:xfrm>
            <a:off x="6257769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81" name="Text 78"/>
          <p:cNvSpPr/>
          <p:nvPr/>
        </p:nvSpPr>
        <p:spPr>
          <a:xfrm>
            <a:off x="6257769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6257769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6257769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10281832" y="2705867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10988599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86" name="Text 83"/>
          <p:cNvSpPr/>
          <p:nvPr/>
        </p:nvSpPr>
        <p:spPr>
          <a:xfrm>
            <a:off x="8091881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10988599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8091881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10988599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8091881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5,3 %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988599" y="36869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5,2 %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8091881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10988599" y="38202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8091881" y="43536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988599" y="435369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495288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6257769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8" name="Text 95"/>
          <p:cNvSpPr/>
          <p:nvPr/>
        </p:nvSpPr>
        <p:spPr>
          <a:xfrm>
            <a:off x="495288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232940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281218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329497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3777759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4260545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474333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6257769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809188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8574667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9057453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954024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1002302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1050581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9303014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36" dirty="0"/>
          </a:p>
        </p:txBody>
      </p:sp>
      <p:sp>
        <p:nvSpPr>
          <p:cNvPr id="113" name="Text 110"/>
          <p:cNvSpPr/>
          <p:nvPr/>
        </p:nvSpPr>
        <p:spPr>
          <a:xfrm>
            <a:off x="9303014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36" dirty="0"/>
          </a:p>
        </p:txBody>
      </p:sp>
      <p:sp>
        <p:nvSpPr>
          <p:cNvPr id="114" name="Text 111"/>
          <p:cNvSpPr/>
          <p:nvPr/>
        </p:nvSpPr>
        <p:spPr>
          <a:xfrm>
            <a:off x="4374991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3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74991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</a:t>
            </a:r>
            <a:endParaRPr lang="en-US" sz="648" dirty="0"/>
          </a:p>
        </p:txBody>
      </p:sp>
      <p:sp>
        <p:nvSpPr>
          <p:cNvPr id="4" name="Text 1"/>
          <p:cNvSpPr/>
          <p:nvPr/>
        </p:nvSpPr>
        <p:spPr>
          <a:xfrm>
            <a:off x="685783" y="6530578"/>
            <a:ext cx="263495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soporte efectiva para Masiva Voluntarios.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504812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 / Ya Posee el Producto</a:t>
            </a:r>
            <a:endParaRPr lang="en-US" sz="576" dirty="0"/>
          </a:p>
        </p:txBody>
      </p:sp>
      <p:sp>
        <p:nvSpPr>
          <p:cNvPr id="6" name="Text 3"/>
          <p:cNvSpPr/>
          <p:nvPr/>
        </p:nvSpPr>
        <p:spPr>
          <a:xfrm>
            <a:off x="533387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6169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267293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cumple requisito de edad (&gt;69 años)</a:t>
            </a:r>
            <a:endParaRPr lang="en-US" sz="552" dirty="0"/>
          </a:p>
        </p:txBody>
      </p:sp>
      <p:sp>
        <p:nvSpPr>
          <p:cNvPr id="9" name="Text 6"/>
          <p:cNvSpPr/>
          <p:nvPr/>
        </p:nvSpPr>
        <p:spPr>
          <a:xfrm>
            <a:off x="685783" y="6384131"/>
            <a:ext cx="263495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Alto porcentaje de contactabilidad = .</a:t>
            </a:r>
            <a:endParaRPr lang="en-US" sz="744" dirty="0"/>
          </a:p>
        </p:txBody>
      </p:sp>
      <p:sp>
        <p:nvSpPr>
          <p:cNvPr id="10" name="Text 7"/>
          <p:cNvSpPr/>
          <p:nvPr/>
        </p:nvSpPr>
        <p:spPr>
          <a:xfrm>
            <a:off x="6267293" y="47537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1" name="Text 8"/>
          <p:cNvSpPr/>
          <p:nvPr/>
        </p:nvSpPr>
        <p:spPr>
          <a:xfrm>
            <a:off x="8216595" y="120089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</a:t>
            </a:r>
            <a:endParaRPr lang="en-US" sz="648" dirty="0"/>
          </a:p>
        </p:txBody>
      </p:sp>
      <p:sp>
        <p:nvSpPr>
          <p:cNvPr id="12" name="Text 9"/>
          <p:cNvSpPr/>
          <p:nvPr/>
        </p:nvSpPr>
        <p:spPr>
          <a:xfrm>
            <a:off x="504812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495288" y="29153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6267293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5" name="Text 12"/>
          <p:cNvSpPr/>
          <p:nvPr/>
        </p:nvSpPr>
        <p:spPr>
          <a:xfrm>
            <a:off x="6267293" y="39536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16" name="Text 13"/>
          <p:cNvSpPr/>
          <p:nvPr/>
        </p:nvSpPr>
        <p:spPr>
          <a:xfrm>
            <a:off x="685783" y="6237684"/>
            <a:ext cx="2634951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oportunidad de venta.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6267293" y="40869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533387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6267293" y="44870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504812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1" name="Text 18"/>
          <p:cNvSpPr/>
          <p:nvPr/>
        </p:nvSpPr>
        <p:spPr>
          <a:xfrm>
            <a:off x="6267293" y="42203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4374991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23" name="Text 20"/>
          <p:cNvSpPr/>
          <p:nvPr/>
        </p:nvSpPr>
        <p:spPr>
          <a:xfrm>
            <a:off x="8216595" y="80962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6267293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6267293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6267293" y="48870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27" name="Text 24"/>
          <p:cNvSpPr/>
          <p:nvPr/>
        </p:nvSpPr>
        <p:spPr>
          <a:xfrm>
            <a:off x="6267293" y="502044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10281832" y="1681930"/>
            <a:ext cx="1485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6267293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6267293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6267293" y="43536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6267293" y="46203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2996877" y="1681930"/>
            <a:ext cx="1598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8324195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1582896" y="1681930"/>
            <a:ext cx="1484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519648" y="1681930"/>
            <a:ext cx="1484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495288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6257769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504812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9303014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8324195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10281832" y="1853380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22,0 %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8324195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10281832" y="199149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8324195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10281832" y="2134367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8324195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10281832" y="227724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8324195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10281832" y="2420117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17,8 %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8324195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10281832" y="2562992"/>
            <a:ext cx="14853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14,3 %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8324195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10281832" y="2705867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8091881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552" dirty="0"/>
          </a:p>
        </p:txBody>
      </p:sp>
      <p:sp>
        <p:nvSpPr>
          <p:cNvPr id="56" name="Text 53"/>
          <p:cNvSpPr/>
          <p:nvPr/>
        </p:nvSpPr>
        <p:spPr>
          <a:xfrm>
            <a:off x="8574667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552" dirty="0"/>
          </a:p>
        </p:txBody>
      </p:sp>
      <p:sp>
        <p:nvSpPr>
          <p:cNvPr id="57" name="Text 54"/>
          <p:cNvSpPr/>
          <p:nvPr/>
        </p:nvSpPr>
        <p:spPr>
          <a:xfrm>
            <a:off x="9057453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552" dirty="0"/>
          </a:p>
        </p:txBody>
      </p:sp>
      <p:sp>
        <p:nvSpPr>
          <p:cNvPr id="58" name="Text 55"/>
          <p:cNvSpPr/>
          <p:nvPr/>
        </p:nvSpPr>
        <p:spPr>
          <a:xfrm>
            <a:off x="9540240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552" dirty="0"/>
          </a:p>
        </p:txBody>
      </p:sp>
      <p:sp>
        <p:nvSpPr>
          <p:cNvPr id="59" name="Text 56"/>
          <p:cNvSpPr/>
          <p:nvPr/>
        </p:nvSpPr>
        <p:spPr>
          <a:xfrm>
            <a:off x="10023026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552" dirty="0"/>
          </a:p>
        </p:txBody>
      </p:sp>
      <p:sp>
        <p:nvSpPr>
          <p:cNvPr id="60" name="Text 57"/>
          <p:cNvSpPr/>
          <p:nvPr/>
        </p:nvSpPr>
        <p:spPr>
          <a:xfrm>
            <a:off x="10505812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552" dirty="0"/>
          </a:p>
        </p:txBody>
      </p:sp>
      <p:sp>
        <p:nvSpPr>
          <p:cNvPr id="61" name="Text 58"/>
          <p:cNvSpPr/>
          <p:nvPr/>
        </p:nvSpPr>
        <p:spPr>
          <a:xfrm>
            <a:off x="10988599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552" dirty="0"/>
          </a:p>
        </p:txBody>
      </p:sp>
      <p:sp>
        <p:nvSpPr>
          <p:cNvPr id="62" name="Text 59"/>
          <p:cNvSpPr/>
          <p:nvPr/>
        </p:nvSpPr>
        <p:spPr>
          <a:xfrm>
            <a:off x="8091881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552" dirty="0"/>
          </a:p>
        </p:txBody>
      </p:sp>
      <p:sp>
        <p:nvSpPr>
          <p:cNvPr id="63" name="Text 60"/>
          <p:cNvSpPr/>
          <p:nvPr/>
        </p:nvSpPr>
        <p:spPr>
          <a:xfrm>
            <a:off x="8574667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16,2 %</a:t>
            </a:r>
            <a:endParaRPr lang="en-US" sz="552" dirty="0"/>
          </a:p>
        </p:txBody>
      </p:sp>
      <p:sp>
        <p:nvSpPr>
          <p:cNvPr id="64" name="Text 61"/>
          <p:cNvSpPr/>
          <p:nvPr/>
        </p:nvSpPr>
        <p:spPr>
          <a:xfrm>
            <a:off x="9057453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13,8 %</a:t>
            </a:r>
            <a:endParaRPr lang="en-US" sz="552" dirty="0"/>
          </a:p>
        </p:txBody>
      </p:sp>
      <p:sp>
        <p:nvSpPr>
          <p:cNvPr id="65" name="Text 62"/>
          <p:cNvSpPr/>
          <p:nvPr/>
        </p:nvSpPr>
        <p:spPr>
          <a:xfrm>
            <a:off x="10023026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15,4 %</a:t>
            </a:r>
            <a:endParaRPr lang="en-US" sz="552" dirty="0"/>
          </a:p>
        </p:txBody>
      </p:sp>
      <p:sp>
        <p:nvSpPr>
          <p:cNvPr id="66" name="Text 63"/>
          <p:cNvSpPr/>
          <p:nvPr/>
        </p:nvSpPr>
        <p:spPr>
          <a:xfrm>
            <a:off x="10505812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12,4 %</a:t>
            </a:r>
            <a:endParaRPr lang="en-US" sz="552" dirty="0"/>
          </a:p>
        </p:txBody>
      </p:sp>
      <p:sp>
        <p:nvSpPr>
          <p:cNvPr id="67" name="Text 64"/>
          <p:cNvSpPr/>
          <p:nvPr/>
        </p:nvSpPr>
        <p:spPr>
          <a:xfrm>
            <a:off x="10988599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14,0 %</a:t>
            </a:r>
            <a:endParaRPr lang="en-US" sz="552" dirty="0"/>
          </a:p>
        </p:txBody>
      </p:sp>
      <p:sp>
        <p:nvSpPr>
          <p:cNvPr id="68" name="Text 65"/>
          <p:cNvSpPr/>
          <p:nvPr/>
        </p:nvSpPr>
        <p:spPr>
          <a:xfrm>
            <a:off x="8091881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29,5 %</a:t>
            </a:r>
            <a:endParaRPr lang="en-US" sz="552" dirty="0"/>
          </a:p>
        </p:txBody>
      </p:sp>
      <p:sp>
        <p:nvSpPr>
          <p:cNvPr id="69" name="Text 66"/>
          <p:cNvSpPr/>
          <p:nvPr/>
        </p:nvSpPr>
        <p:spPr>
          <a:xfrm>
            <a:off x="8574667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28,6 %</a:t>
            </a:r>
            <a:endParaRPr lang="en-US" sz="552" dirty="0"/>
          </a:p>
        </p:txBody>
      </p:sp>
      <p:sp>
        <p:nvSpPr>
          <p:cNvPr id="70" name="Text 67"/>
          <p:cNvSpPr/>
          <p:nvPr/>
        </p:nvSpPr>
        <p:spPr>
          <a:xfrm>
            <a:off x="9057453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26,4 %</a:t>
            </a:r>
            <a:endParaRPr lang="en-US" sz="552" dirty="0"/>
          </a:p>
        </p:txBody>
      </p:sp>
      <p:sp>
        <p:nvSpPr>
          <p:cNvPr id="71" name="Text 68"/>
          <p:cNvSpPr/>
          <p:nvPr/>
        </p:nvSpPr>
        <p:spPr>
          <a:xfrm>
            <a:off x="9540240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16,8 %</a:t>
            </a:r>
            <a:endParaRPr lang="en-US" sz="552" dirty="0"/>
          </a:p>
        </p:txBody>
      </p:sp>
      <p:sp>
        <p:nvSpPr>
          <p:cNvPr id="72" name="Text 69"/>
          <p:cNvSpPr/>
          <p:nvPr/>
        </p:nvSpPr>
        <p:spPr>
          <a:xfrm>
            <a:off x="10023026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29,1 %</a:t>
            </a:r>
            <a:endParaRPr lang="en-US" sz="552" dirty="0"/>
          </a:p>
        </p:txBody>
      </p:sp>
      <p:sp>
        <p:nvSpPr>
          <p:cNvPr id="73" name="Text 70"/>
          <p:cNvSpPr/>
          <p:nvPr/>
        </p:nvSpPr>
        <p:spPr>
          <a:xfrm>
            <a:off x="10505812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29,1 %</a:t>
            </a:r>
            <a:endParaRPr lang="en-US" sz="552" dirty="0"/>
          </a:p>
        </p:txBody>
      </p:sp>
      <p:sp>
        <p:nvSpPr>
          <p:cNvPr id="74" name="Text 71"/>
          <p:cNvSpPr/>
          <p:nvPr/>
        </p:nvSpPr>
        <p:spPr>
          <a:xfrm>
            <a:off x="10988599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26,4 %</a:t>
            </a:r>
            <a:endParaRPr lang="en-US" sz="552" dirty="0"/>
          </a:p>
        </p:txBody>
      </p:sp>
      <p:sp>
        <p:nvSpPr>
          <p:cNvPr id="75" name="Text 72"/>
          <p:cNvSpPr/>
          <p:nvPr/>
        </p:nvSpPr>
        <p:spPr>
          <a:xfrm>
            <a:off x="8091881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11,2 %</a:t>
            </a:r>
            <a:endParaRPr lang="en-US" sz="552" dirty="0"/>
          </a:p>
        </p:txBody>
      </p:sp>
      <p:sp>
        <p:nvSpPr>
          <p:cNvPr id="76" name="Text 73"/>
          <p:cNvSpPr/>
          <p:nvPr/>
        </p:nvSpPr>
        <p:spPr>
          <a:xfrm>
            <a:off x="8574667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10,8 %</a:t>
            </a:r>
            <a:endParaRPr lang="en-US" sz="552" dirty="0"/>
          </a:p>
        </p:txBody>
      </p:sp>
      <p:sp>
        <p:nvSpPr>
          <p:cNvPr id="77" name="Text 74"/>
          <p:cNvSpPr/>
          <p:nvPr/>
        </p:nvSpPr>
        <p:spPr>
          <a:xfrm>
            <a:off x="9057453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78" name="Text 75"/>
          <p:cNvSpPr/>
          <p:nvPr/>
        </p:nvSpPr>
        <p:spPr>
          <a:xfrm>
            <a:off x="10023026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79" name="Text 76"/>
          <p:cNvSpPr/>
          <p:nvPr/>
        </p:nvSpPr>
        <p:spPr>
          <a:xfrm>
            <a:off x="10505812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80" name="Text 77"/>
          <p:cNvSpPr/>
          <p:nvPr/>
        </p:nvSpPr>
        <p:spPr>
          <a:xfrm>
            <a:off x="10988599" y="36869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552" dirty="0"/>
          </a:p>
        </p:txBody>
      </p:sp>
      <p:sp>
        <p:nvSpPr>
          <p:cNvPr id="81" name="Text 78"/>
          <p:cNvSpPr/>
          <p:nvPr/>
        </p:nvSpPr>
        <p:spPr>
          <a:xfrm>
            <a:off x="8091881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12,3 %</a:t>
            </a:r>
            <a:endParaRPr lang="en-US" sz="552" dirty="0"/>
          </a:p>
        </p:txBody>
      </p:sp>
      <p:sp>
        <p:nvSpPr>
          <p:cNvPr id="82" name="Text 79"/>
          <p:cNvSpPr/>
          <p:nvPr/>
        </p:nvSpPr>
        <p:spPr>
          <a:xfrm>
            <a:off x="8574667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11,9 %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9057453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10023026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10505812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10988599" y="42203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11,0 %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8091881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12,1 %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8574667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14,8 %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9057453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9540240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023026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13,2 %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10505812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10988599" y="43536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21,1 %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9057453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9540240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31,5 %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10988599" y="44870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13,3 %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9540240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14,0 %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533387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1380" dirty="0"/>
          </a:p>
        </p:txBody>
      </p:sp>
      <p:sp>
        <p:nvSpPr>
          <p:cNvPr id="99" name="Text 96"/>
          <p:cNvSpPr/>
          <p:nvPr/>
        </p:nvSpPr>
        <p:spPr>
          <a:xfrm>
            <a:off x="4374991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1380" dirty="0"/>
          </a:p>
        </p:txBody>
      </p:sp>
      <p:sp>
        <p:nvSpPr>
          <p:cNvPr id="100" name="Text 97"/>
          <p:cNvSpPr/>
          <p:nvPr/>
        </p:nvSpPr>
        <p:spPr>
          <a:xfrm>
            <a:off x="495288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1582896" y="1853380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1.368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4519648" y="1853380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636" dirty="0"/>
          </a:p>
        </p:txBody>
      </p:sp>
      <p:sp>
        <p:nvSpPr>
          <p:cNvPr id="103" name="Text 100"/>
          <p:cNvSpPr/>
          <p:nvPr/>
        </p:nvSpPr>
        <p:spPr>
          <a:xfrm>
            <a:off x="1582896" y="199149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1.575</a:t>
            </a:r>
            <a:endParaRPr lang="en-US" sz="636" dirty="0"/>
          </a:p>
        </p:txBody>
      </p:sp>
      <p:sp>
        <p:nvSpPr>
          <p:cNvPr id="104" name="Text 101"/>
          <p:cNvSpPr/>
          <p:nvPr/>
        </p:nvSpPr>
        <p:spPr>
          <a:xfrm>
            <a:off x="4519648" y="199149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636" dirty="0"/>
          </a:p>
        </p:txBody>
      </p:sp>
      <p:sp>
        <p:nvSpPr>
          <p:cNvPr id="105" name="Text 102"/>
          <p:cNvSpPr/>
          <p:nvPr/>
        </p:nvSpPr>
        <p:spPr>
          <a:xfrm>
            <a:off x="495288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06" name="Text 103"/>
          <p:cNvSpPr/>
          <p:nvPr/>
        </p:nvSpPr>
        <p:spPr>
          <a:xfrm>
            <a:off x="1582896" y="2134367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1.147</a:t>
            </a:r>
            <a:endParaRPr lang="en-US" sz="636" dirty="0"/>
          </a:p>
        </p:txBody>
      </p:sp>
      <p:sp>
        <p:nvSpPr>
          <p:cNvPr id="107" name="Text 104"/>
          <p:cNvSpPr/>
          <p:nvPr/>
        </p:nvSpPr>
        <p:spPr>
          <a:xfrm>
            <a:off x="4519648" y="2134367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636" dirty="0"/>
          </a:p>
        </p:txBody>
      </p:sp>
      <p:sp>
        <p:nvSpPr>
          <p:cNvPr id="108" name="Text 105"/>
          <p:cNvSpPr/>
          <p:nvPr/>
        </p:nvSpPr>
        <p:spPr>
          <a:xfrm>
            <a:off x="495288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09" name="Text 106"/>
          <p:cNvSpPr/>
          <p:nvPr/>
        </p:nvSpPr>
        <p:spPr>
          <a:xfrm>
            <a:off x="1582896" y="227724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1.737</a:t>
            </a:r>
            <a:endParaRPr lang="en-US" sz="636" dirty="0"/>
          </a:p>
        </p:txBody>
      </p:sp>
      <p:sp>
        <p:nvSpPr>
          <p:cNvPr id="110" name="Text 107"/>
          <p:cNvSpPr/>
          <p:nvPr/>
        </p:nvSpPr>
        <p:spPr>
          <a:xfrm>
            <a:off x="4519648" y="227724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636" dirty="0"/>
          </a:p>
        </p:txBody>
      </p:sp>
      <p:sp>
        <p:nvSpPr>
          <p:cNvPr id="111" name="Text 108"/>
          <p:cNvSpPr/>
          <p:nvPr/>
        </p:nvSpPr>
        <p:spPr>
          <a:xfrm>
            <a:off x="1582896" y="2420117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636" dirty="0"/>
          </a:p>
        </p:txBody>
      </p:sp>
      <p:sp>
        <p:nvSpPr>
          <p:cNvPr id="112" name="Text 109"/>
          <p:cNvSpPr/>
          <p:nvPr/>
        </p:nvSpPr>
        <p:spPr>
          <a:xfrm>
            <a:off x="4519648" y="2420117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636" dirty="0"/>
          </a:p>
        </p:txBody>
      </p:sp>
      <p:sp>
        <p:nvSpPr>
          <p:cNvPr id="113" name="Text 110"/>
          <p:cNvSpPr/>
          <p:nvPr/>
        </p:nvSpPr>
        <p:spPr>
          <a:xfrm>
            <a:off x="495288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14" name="Text 111"/>
          <p:cNvSpPr/>
          <p:nvPr/>
        </p:nvSpPr>
        <p:spPr>
          <a:xfrm>
            <a:off x="1582896" y="2562992"/>
            <a:ext cx="14846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1.705</a:t>
            </a:r>
            <a:endParaRPr lang="en-US" sz="636" dirty="0"/>
          </a:p>
        </p:txBody>
      </p:sp>
      <p:sp>
        <p:nvSpPr>
          <p:cNvPr id="115" name="Text 112"/>
          <p:cNvSpPr/>
          <p:nvPr/>
        </p:nvSpPr>
        <p:spPr>
          <a:xfrm>
            <a:off x="4519648" y="2562992"/>
            <a:ext cx="148499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636" dirty="0"/>
          </a:p>
        </p:txBody>
      </p:sp>
      <p:sp>
        <p:nvSpPr>
          <p:cNvPr id="116" name="Text 113"/>
          <p:cNvSpPr/>
          <p:nvPr/>
        </p:nvSpPr>
        <p:spPr>
          <a:xfrm>
            <a:off x="495288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1582896" y="2705867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9.397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4519648" y="2705867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636" dirty="0"/>
          </a:p>
        </p:txBody>
      </p:sp>
      <p:sp>
        <p:nvSpPr>
          <p:cNvPr id="119" name="Text 116"/>
          <p:cNvSpPr/>
          <p:nvPr/>
        </p:nvSpPr>
        <p:spPr>
          <a:xfrm>
            <a:off x="5226118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20" name="Text 117"/>
          <p:cNvSpPr/>
          <p:nvPr/>
        </p:nvSpPr>
        <p:spPr>
          <a:xfrm>
            <a:off x="504812" y="368694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21" name="Text 118"/>
          <p:cNvSpPr/>
          <p:nvPr/>
        </p:nvSpPr>
        <p:spPr>
          <a:xfrm>
            <a:off x="7345377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22" name="Text 119"/>
          <p:cNvSpPr/>
          <p:nvPr/>
        </p:nvSpPr>
        <p:spPr>
          <a:xfrm>
            <a:off x="6257769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23" name="Text 120"/>
          <p:cNvSpPr/>
          <p:nvPr/>
        </p:nvSpPr>
        <p:spPr>
          <a:xfrm>
            <a:off x="7345377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1.363</a:t>
            </a:r>
            <a:endParaRPr lang="en-US" sz="636" dirty="0"/>
          </a:p>
        </p:txBody>
      </p:sp>
      <p:sp>
        <p:nvSpPr>
          <p:cNvPr id="124" name="Text 121"/>
          <p:cNvSpPr/>
          <p:nvPr/>
        </p:nvSpPr>
        <p:spPr>
          <a:xfrm>
            <a:off x="7345377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1.571</a:t>
            </a:r>
            <a:endParaRPr lang="en-US" sz="636" dirty="0"/>
          </a:p>
        </p:txBody>
      </p:sp>
      <p:sp>
        <p:nvSpPr>
          <p:cNvPr id="125" name="Text 122"/>
          <p:cNvSpPr/>
          <p:nvPr/>
        </p:nvSpPr>
        <p:spPr>
          <a:xfrm>
            <a:off x="6257769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26" name="Text 123"/>
          <p:cNvSpPr/>
          <p:nvPr/>
        </p:nvSpPr>
        <p:spPr>
          <a:xfrm>
            <a:off x="7345377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1.143</a:t>
            </a:r>
            <a:endParaRPr lang="en-US" sz="636" dirty="0"/>
          </a:p>
        </p:txBody>
      </p:sp>
      <p:sp>
        <p:nvSpPr>
          <p:cNvPr id="127" name="Text 124"/>
          <p:cNvSpPr/>
          <p:nvPr/>
        </p:nvSpPr>
        <p:spPr>
          <a:xfrm>
            <a:off x="6257769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28" name="Text 125"/>
          <p:cNvSpPr/>
          <p:nvPr/>
        </p:nvSpPr>
        <p:spPr>
          <a:xfrm>
            <a:off x="7345377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1.735</a:t>
            </a:r>
            <a:endParaRPr lang="en-US" sz="636" dirty="0"/>
          </a:p>
        </p:txBody>
      </p:sp>
      <p:sp>
        <p:nvSpPr>
          <p:cNvPr id="129" name="Text 126"/>
          <p:cNvSpPr/>
          <p:nvPr/>
        </p:nvSpPr>
        <p:spPr>
          <a:xfrm>
            <a:off x="7345377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1.862</a:t>
            </a:r>
            <a:endParaRPr lang="en-US" sz="636" dirty="0"/>
          </a:p>
        </p:txBody>
      </p:sp>
      <p:sp>
        <p:nvSpPr>
          <p:cNvPr id="130" name="Text 127"/>
          <p:cNvSpPr/>
          <p:nvPr/>
        </p:nvSpPr>
        <p:spPr>
          <a:xfrm>
            <a:off x="6257769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31" name="Text 128"/>
          <p:cNvSpPr/>
          <p:nvPr/>
        </p:nvSpPr>
        <p:spPr>
          <a:xfrm>
            <a:off x="7345377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1.704</a:t>
            </a:r>
            <a:endParaRPr lang="en-US" sz="636" dirty="0"/>
          </a:p>
        </p:txBody>
      </p:sp>
      <p:sp>
        <p:nvSpPr>
          <p:cNvPr id="132" name="Text 129"/>
          <p:cNvSpPr/>
          <p:nvPr/>
        </p:nvSpPr>
        <p:spPr>
          <a:xfrm>
            <a:off x="6257769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33" name="Text 130"/>
          <p:cNvSpPr/>
          <p:nvPr/>
        </p:nvSpPr>
        <p:spPr>
          <a:xfrm>
            <a:off x="7345377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9.378</a:t>
            </a:r>
            <a:endParaRPr lang="en-US" sz="636" dirty="0"/>
          </a:p>
        </p:txBody>
      </p:sp>
      <p:sp>
        <p:nvSpPr>
          <p:cNvPr id="134" name="Text 131"/>
          <p:cNvSpPr/>
          <p:nvPr/>
        </p:nvSpPr>
        <p:spPr>
          <a:xfrm>
            <a:off x="9303014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636" dirty="0"/>
          </a:p>
        </p:txBody>
      </p:sp>
      <p:sp>
        <p:nvSpPr>
          <p:cNvPr id="135" name="Text 132"/>
          <p:cNvSpPr/>
          <p:nvPr/>
        </p:nvSpPr>
        <p:spPr>
          <a:xfrm>
            <a:off x="10988599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36" name="Text 133"/>
          <p:cNvSpPr/>
          <p:nvPr/>
        </p:nvSpPr>
        <p:spPr>
          <a:xfrm>
            <a:off x="9540240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552" dirty="0"/>
          </a:p>
        </p:txBody>
      </p:sp>
      <p:sp>
        <p:nvSpPr>
          <p:cNvPr id="137" name="Text 134"/>
          <p:cNvSpPr/>
          <p:nvPr/>
        </p:nvSpPr>
        <p:spPr>
          <a:xfrm>
            <a:off x="9540240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6,3 %</a:t>
            </a:r>
            <a:endParaRPr lang="en-US" sz="552" dirty="0"/>
          </a:p>
        </p:txBody>
      </p:sp>
      <p:sp>
        <p:nvSpPr>
          <p:cNvPr id="138" name="Text 135"/>
          <p:cNvSpPr/>
          <p:nvPr/>
        </p:nvSpPr>
        <p:spPr>
          <a:xfrm>
            <a:off x="8091881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8,9 %</a:t>
            </a:r>
            <a:endParaRPr lang="en-US" sz="552" dirty="0"/>
          </a:p>
        </p:txBody>
      </p:sp>
      <p:sp>
        <p:nvSpPr>
          <p:cNvPr id="139" name="Text 136"/>
          <p:cNvSpPr/>
          <p:nvPr/>
        </p:nvSpPr>
        <p:spPr>
          <a:xfrm>
            <a:off x="8574667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552" dirty="0"/>
          </a:p>
        </p:txBody>
      </p:sp>
      <p:sp>
        <p:nvSpPr>
          <p:cNvPr id="140" name="Text 137"/>
          <p:cNvSpPr/>
          <p:nvPr/>
        </p:nvSpPr>
        <p:spPr>
          <a:xfrm>
            <a:off x="9057453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8,0 %</a:t>
            </a:r>
            <a:endParaRPr lang="en-US" sz="552" dirty="0"/>
          </a:p>
        </p:txBody>
      </p:sp>
      <p:sp>
        <p:nvSpPr>
          <p:cNvPr id="141" name="Text 138"/>
          <p:cNvSpPr/>
          <p:nvPr/>
        </p:nvSpPr>
        <p:spPr>
          <a:xfrm>
            <a:off x="9540240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552" dirty="0"/>
          </a:p>
        </p:txBody>
      </p:sp>
      <p:sp>
        <p:nvSpPr>
          <p:cNvPr id="142" name="Text 139"/>
          <p:cNvSpPr/>
          <p:nvPr/>
        </p:nvSpPr>
        <p:spPr>
          <a:xfrm>
            <a:off x="10023026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8,8 %</a:t>
            </a:r>
            <a:endParaRPr lang="en-US" sz="552" dirty="0"/>
          </a:p>
        </p:txBody>
      </p:sp>
      <p:sp>
        <p:nvSpPr>
          <p:cNvPr id="143" name="Text 140"/>
          <p:cNvSpPr/>
          <p:nvPr/>
        </p:nvSpPr>
        <p:spPr>
          <a:xfrm>
            <a:off x="10505812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8,7 %</a:t>
            </a:r>
            <a:endParaRPr lang="en-US" sz="552" dirty="0"/>
          </a:p>
        </p:txBody>
      </p:sp>
      <p:sp>
        <p:nvSpPr>
          <p:cNvPr id="144" name="Text 141"/>
          <p:cNvSpPr/>
          <p:nvPr/>
        </p:nvSpPr>
        <p:spPr>
          <a:xfrm>
            <a:off x="10988599" y="38202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8,0 %</a:t>
            </a:r>
            <a:endParaRPr lang="en-US" sz="552" dirty="0"/>
          </a:p>
        </p:txBody>
      </p:sp>
      <p:sp>
        <p:nvSpPr>
          <p:cNvPr id="145" name="Text 142"/>
          <p:cNvSpPr/>
          <p:nvPr/>
        </p:nvSpPr>
        <p:spPr>
          <a:xfrm>
            <a:off x="8091881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552" dirty="0"/>
          </a:p>
        </p:txBody>
      </p:sp>
      <p:sp>
        <p:nvSpPr>
          <p:cNvPr id="146" name="Text 143"/>
          <p:cNvSpPr/>
          <p:nvPr/>
        </p:nvSpPr>
        <p:spPr>
          <a:xfrm>
            <a:off x="8574667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5,8 %</a:t>
            </a:r>
            <a:endParaRPr lang="en-US" sz="552" dirty="0"/>
          </a:p>
        </p:txBody>
      </p:sp>
      <p:sp>
        <p:nvSpPr>
          <p:cNvPr id="147" name="Text 144"/>
          <p:cNvSpPr/>
          <p:nvPr/>
        </p:nvSpPr>
        <p:spPr>
          <a:xfrm>
            <a:off x="9057453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148" name="Text 145"/>
          <p:cNvSpPr/>
          <p:nvPr/>
        </p:nvSpPr>
        <p:spPr>
          <a:xfrm>
            <a:off x="9540240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49" name="Text 146"/>
          <p:cNvSpPr/>
          <p:nvPr/>
        </p:nvSpPr>
        <p:spPr>
          <a:xfrm>
            <a:off x="10023026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50" name="Text 147"/>
          <p:cNvSpPr/>
          <p:nvPr/>
        </p:nvSpPr>
        <p:spPr>
          <a:xfrm>
            <a:off x="10505812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51" name="Text 148"/>
          <p:cNvSpPr/>
          <p:nvPr/>
        </p:nvSpPr>
        <p:spPr>
          <a:xfrm>
            <a:off x="10988599" y="39536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5,4 %</a:t>
            </a:r>
            <a:endParaRPr lang="en-US" sz="552" dirty="0"/>
          </a:p>
        </p:txBody>
      </p:sp>
      <p:sp>
        <p:nvSpPr>
          <p:cNvPr id="152" name="Text 149"/>
          <p:cNvSpPr/>
          <p:nvPr/>
        </p:nvSpPr>
        <p:spPr>
          <a:xfrm>
            <a:off x="8091881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552" dirty="0"/>
          </a:p>
        </p:txBody>
      </p:sp>
      <p:sp>
        <p:nvSpPr>
          <p:cNvPr id="153" name="Text 150"/>
          <p:cNvSpPr/>
          <p:nvPr/>
        </p:nvSpPr>
        <p:spPr>
          <a:xfrm>
            <a:off x="8574667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4,4 %</a:t>
            </a:r>
            <a:endParaRPr lang="en-US" sz="552" dirty="0"/>
          </a:p>
        </p:txBody>
      </p:sp>
      <p:sp>
        <p:nvSpPr>
          <p:cNvPr id="154" name="Text 151"/>
          <p:cNvSpPr/>
          <p:nvPr/>
        </p:nvSpPr>
        <p:spPr>
          <a:xfrm>
            <a:off x="9057453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55" name="Text 152"/>
          <p:cNvSpPr/>
          <p:nvPr/>
        </p:nvSpPr>
        <p:spPr>
          <a:xfrm>
            <a:off x="9540240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2,6 %</a:t>
            </a:r>
            <a:endParaRPr lang="en-US" sz="552" dirty="0"/>
          </a:p>
        </p:txBody>
      </p:sp>
      <p:sp>
        <p:nvSpPr>
          <p:cNvPr id="156" name="Text 153"/>
          <p:cNvSpPr/>
          <p:nvPr/>
        </p:nvSpPr>
        <p:spPr>
          <a:xfrm>
            <a:off x="10023026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157" name="Text 154"/>
          <p:cNvSpPr/>
          <p:nvPr/>
        </p:nvSpPr>
        <p:spPr>
          <a:xfrm>
            <a:off x="10505812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4,5 %</a:t>
            </a:r>
            <a:endParaRPr lang="en-US" sz="552" dirty="0"/>
          </a:p>
        </p:txBody>
      </p:sp>
      <p:sp>
        <p:nvSpPr>
          <p:cNvPr id="158" name="Text 155"/>
          <p:cNvSpPr/>
          <p:nvPr/>
        </p:nvSpPr>
        <p:spPr>
          <a:xfrm>
            <a:off x="10988599" y="40869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59" name="Text 156"/>
          <p:cNvSpPr/>
          <p:nvPr/>
        </p:nvSpPr>
        <p:spPr>
          <a:xfrm>
            <a:off x="9540240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7,0 %</a:t>
            </a:r>
            <a:endParaRPr lang="en-US" sz="552" dirty="0"/>
          </a:p>
        </p:txBody>
      </p:sp>
      <p:sp>
        <p:nvSpPr>
          <p:cNvPr id="160" name="Text 157"/>
          <p:cNvSpPr/>
          <p:nvPr/>
        </p:nvSpPr>
        <p:spPr>
          <a:xfrm>
            <a:off x="8091881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552" dirty="0"/>
          </a:p>
        </p:txBody>
      </p:sp>
      <p:sp>
        <p:nvSpPr>
          <p:cNvPr id="161" name="Text 158"/>
          <p:cNvSpPr/>
          <p:nvPr/>
        </p:nvSpPr>
        <p:spPr>
          <a:xfrm>
            <a:off x="8574667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9,3 %</a:t>
            </a:r>
            <a:endParaRPr lang="en-US" sz="552" dirty="0"/>
          </a:p>
        </p:txBody>
      </p:sp>
      <p:sp>
        <p:nvSpPr>
          <p:cNvPr id="162" name="Text 159"/>
          <p:cNvSpPr/>
          <p:nvPr/>
        </p:nvSpPr>
        <p:spPr>
          <a:xfrm>
            <a:off x="10023026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8,3 %</a:t>
            </a:r>
            <a:endParaRPr lang="en-US" sz="552" dirty="0"/>
          </a:p>
        </p:txBody>
      </p:sp>
      <p:sp>
        <p:nvSpPr>
          <p:cNvPr id="163" name="Text 160"/>
          <p:cNvSpPr/>
          <p:nvPr/>
        </p:nvSpPr>
        <p:spPr>
          <a:xfrm>
            <a:off x="10505812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8,4 %</a:t>
            </a:r>
            <a:endParaRPr lang="en-US" sz="552" dirty="0"/>
          </a:p>
        </p:txBody>
      </p:sp>
      <p:sp>
        <p:nvSpPr>
          <p:cNvPr id="164" name="Text 161"/>
          <p:cNvSpPr/>
          <p:nvPr/>
        </p:nvSpPr>
        <p:spPr>
          <a:xfrm>
            <a:off x="8091881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3,4 %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8574667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4,2 %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9057453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10023026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10505812" y="46203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10988599" y="46203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5,9 %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8091881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1,0 %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8574667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9057453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9540240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10023026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1,1 %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10505812" y="47537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1,1 %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10988599" y="47537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1,7 %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8091881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8574667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9057453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180" name="Text 177"/>
          <p:cNvSpPr/>
          <p:nvPr/>
        </p:nvSpPr>
        <p:spPr>
          <a:xfrm>
            <a:off x="9540240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181" name="Text 178"/>
          <p:cNvSpPr/>
          <p:nvPr/>
        </p:nvSpPr>
        <p:spPr>
          <a:xfrm>
            <a:off x="10023026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82" name="Text 179"/>
          <p:cNvSpPr/>
          <p:nvPr/>
        </p:nvSpPr>
        <p:spPr>
          <a:xfrm>
            <a:off x="10505812" y="48870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552" dirty="0"/>
          </a:p>
        </p:txBody>
      </p:sp>
      <p:sp>
        <p:nvSpPr>
          <p:cNvPr id="183" name="Text 180"/>
          <p:cNvSpPr/>
          <p:nvPr/>
        </p:nvSpPr>
        <p:spPr>
          <a:xfrm>
            <a:off x="10988599" y="48870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552" dirty="0"/>
          </a:p>
        </p:txBody>
      </p:sp>
      <p:sp>
        <p:nvSpPr>
          <p:cNvPr id="184" name="Text 181"/>
          <p:cNvSpPr/>
          <p:nvPr/>
        </p:nvSpPr>
        <p:spPr>
          <a:xfrm>
            <a:off x="8091881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85" name="Text 182"/>
          <p:cNvSpPr/>
          <p:nvPr/>
        </p:nvSpPr>
        <p:spPr>
          <a:xfrm>
            <a:off x="8574667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86" name="Text 183"/>
          <p:cNvSpPr/>
          <p:nvPr/>
        </p:nvSpPr>
        <p:spPr>
          <a:xfrm>
            <a:off x="9057453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87" name="Text 184"/>
          <p:cNvSpPr/>
          <p:nvPr/>
        </p:nvSpPr>
        <p:spPr>
          <a:xfrm>
            <a:off x="9540240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88" name="Text 185"/>
          <p:cNvSpPr/>
          <p:nvPr/>
        </p:nvSpPr>
        <p:spPr>
          <a:xfrm>
            <a:off x="10023026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89" name="Text 186"/>
          <p:cNvSpPr/>
          <p:nvPr/>
        </p:nvSpPr>
        <p:spPr>
          <a:xfrm>
            <a:off x="10505812" y="50204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90" name="Text 187"/>
          <p:cNvSpPr/>
          <p:nvPr/>
        </p:nvSpPr>
        <p:spPr>
          <a:xfrm>
            <a:off x="10988599" y="502044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8216595" y="952500"/>
            <a:ext cx="3653803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1380" dirty="0"/>
          </a:p>
        </p:txBody>
      </p:sp>
      <p:sp>
        <p:nvSpPr>
          <p:cNvPr id="192" name="Text 189"/>
          <p:cNvSpPr/>
          <p:nvPr/>
        </p:nvSpPr>
        <p:spPr>
          <a:xfrm>
            <a:off x="495288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93" name="Text 190"/>
          <p:cNvSpPr/>
          <p:nvPr/>
        </p:nvSpPr>
        <p:spPr>
          <a:xfrm>
            <a:off x="6257769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94" name="Text 191"/>
          <p:cNvSpPr/>
          <p:nvPr/>
        </p:nvSpPr>
        <p:spPr>
          <a:xfrm>
            <a:off x="495288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95" name="Text 192"/>
          <p:cNvSpPr/>
          <p:nvPr/>
        </p:nvSpPr>
        <p:spPr>
          <a:xfrm>
            <a:off x="232940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96" name="Text 193"/>
          <p:cNvSpPr/>
          <p:nvPr/>
        </p:nvSpPr>
        <p:spPr>
          <a:xfrm>
            <a:off x="281218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97" name="Text 194"/>
          <p:cNvSpPr/>
          <p:nvPr/>
        </p:nvSpPr>
        <p:spPr>
          <a:xfrm>
            <a:off x="329497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98" name="Text 195"/>
          <p:cNvSpPr/>
          <p:nvPr/>
        </p:nvSpPr>
        <p:spPr>
          <a:xfrm>
            <a:off x="3777759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99" name="Text 196"/>
          <p:cNvSpPr/>
          <p:nvPr/>
        </p:nvSpPr>
        <p:spPr>
          <a:xfrm>
            <a:off x="4260545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00" name="Text 197"/>
          <p:cNvSpPr/>
          <p:nvPr/>
        </p:nvSpPr>
        <p:spPr>
          <a:xfrm>
            <a:off x="474333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01" name="Text 198"/>
          <p:cNvSpPr/>
          <p:nvPr/>
        </p:nvSpPr>
        <p:spPr>
          <a:xfrm>
            <a:off x="6257769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02" name="Text 199"/>
          <p:cNvSpPr/>
          <p:nvPr/>
        </p:nvSpPr>
        <p:spPr>
          <a:xfrm>
            <a:off x="9303014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264</a:t>
            </a:r>
            <a:endParaRPr lang="en-US" sz="636" dirty="0"/>
          </a:p>
        </p:txBody>
      </p:sp>
      <p:sp>
        <p:nvSpPr>
          <p:cNvPr id="203" name="Text 200"/>
          <p:cNvSpPr/>
          <p:nvPr/>
        </p:nvSpPr>
        <p:spPr>
          <a:xfrm>
            <a:off x="9303014" y="19914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254</a:t>
            </a:r>
            <a:endParaRPr lang="en-US" sz="636" dirty="0"/>
          </a:p>
        </p:txBody>
      </p:sp>
      <p:sp>
        <p:nvSpPr>
          <p:cNvPr id="204" name="Text 201"/>
          <p:cNvSpPr/>
          <p:nvPr/>
        </p:nvSpPr>
        <p:spPr>
          <a:xfrm>
            <a:off x="9303014" y="213436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</a:t>
            </a:r>
            <a:endParaRPr lang="en-US" sz="636" dirty="0"/>
          </a:p>
        </p:txBody>
      </p:sp>
      <p:sp>
        <p:nvSpPr>
          <p:cNvPr id="205" name="Text 202"/>
          <p:cNvSpPr/>
          <p:nvPr/>
        </p:nvSpPr>
        <p:spPr>
          <a:xfrm>
            <a:off x="9303014" y="227724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36" dirty="0"/>
          </a:p>
        </p:txBody>
      </p:sp>
      <p:sp>
        <p:nvSpPr>
          <p:cNvPr id="206" name="Text 203"/>
          <p:cNvSpPr/>
          <p:nvPr/>
        </p:nvSpPr>
        <p:spPr>
          <a:xfrm>
            <a:off x="9303014" y="2420117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636" dirty="0"/>
          </a:p>
        </p:txBody>
      </p:sp>
      <p:sp>
        <p:nvSpPr>
          <p:cNvPr id="207" name="Text 204"/>
          <p:cNvSpPr/>
          <p:nvPr/>
        </p:nvSpPr>
        <p:spPr>
          <a:xfrm>
            <a:off x="9303014" y="2562992"/>
            <a:ext cx="102775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211</a:t>
            </a:r>
            <a:endParaRPr lang="en-US" sz="636" dirty="0"/>
          </a:p>
        </p:txBody>
      </p:sp>
      <p:sp>
        <p:nvSpPr>
          <p:cNvPr id="208" name="Text 205"/>
          <p:cNvSpPr/>
          <p:nvPr/>
        </p:nvSpPr>
        <p:spPr>
          <a:xfrm>
            <a:off x="809188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09" name="Text 206"/>
          <p:cNvSpPr/>
          <p:nvPr/>
        </p:nvSpPr>
        <p:spPr>
          <a:xfrm>
            <a:off x="8574667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10" name="Text 207"/>
          <p:cNvSpPr/>
          <p:nvPr/>
        </p:nvSpPr>
        <p:spPr>
          <a:xfrm>
            <a:off x="9057453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11" name="Text 208"/>
          <p:cNvSpPr/>
          <p:nvPr/>
        </p:nvSpPr>
        <p:spPr>
          <a:xfrm>
            <a:off x="954024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12" name="Text 209"/>
          <p:cNvSpPr/>
          <p:nvPr/>
        </p:nvSpPr>
        <p:spPr>
          <a:xfrm>
            <a:off x="1002302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13" name="Text 210"/>
          <p:cNvSpPr/>
          <p:nvPr/>
        </p:nvSpPr>
        <p:spPr>
          <a:xfrm>
            <a:off x="1050581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14" name="Text 211"/>
          <p:cNvSpPr/>
          <p:nvPr/>
        </p:nvSpPr>
        <p:spPr>
          <a:xfrm>
            <a:off x="2996877" y="2705867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36" dirty="0"/>
          </a:p>
        </p:txBody>
      </p:sp>
      <p:sp>
        <p:nvSpPr>
          <p:cNvPr id="215" name="Text 212"/>
          <p:cNvSpPr/>
          <p:nvPr/>
        </p:nvSpPr>
        <p:spPr>
          <a:xfrm>
            <a:off x="5226118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576" dirty="0"/>
          </a:p>
        </p:txBody>
      </p:sp>
      <p:sp>
        <p:nvSpPr>
          <p:cNvPr id="216" name="Text 213"/>
          <p:cNvSpPr/>
          <p:nvPr/>
        </p:nvSpPr>
        <p:spPr>
          <a:xfrm>
            <a:off x="5226118" y="368694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576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384131"/>
            <a:ext cx="5763076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una efectividad extremadamente baja (), lo que sustentó su suspensión inmediata.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483423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533387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648" dirty="0"/>
          </a:p>
        </p:txBody>
      </p:sp>
      <p:sp>
        <p:nvSpPr>
          <p:cNvPr id="6" name="Text 3"/>
          <p:cNvSpPr/>
          <p:nvPr/>
        </p:nvSpPr>
        <p:spPr>
          <a:xfrm>
            <a:off x="685783" y="6530578"/>
            <a:ext cx="5763076" cy="143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se concentró en  y .</a:t>
            </a:r>
            <a:endParaRPr lang="en-US" sz="744" dirty="0"/>
          </a:p>
        </p:txBody>
      </p:sp>
      <p:sp>
        <p:nvSpPr>
          <p:cNvPr id="7" name="Text 4"/>
          <p:cNvSpPr/>
          <p:nvPr/>
        </p:nvSpPr>
        <p:spPr>
          <a:xfrm>
            <a:off x="4374991" y="1200894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1138953" y="6247209"/>
            <a:ext cx="1744237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9" name="Text 6"/>
          <p:cNvSpPr/>
          <p:nvPr/>
        </p:nvSpPr>
        <p:spPr>
          <a:xfrm>
            <a:off x="8216595" y="1200894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504812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1" name="Text 8"/>
          <p:cNvSpPr/>
          <p:nvPr/>
        </p:nvSpPr>
        <p:spPr>
          <a:xfrm>
            <a:off x="495288" y="2915394"/>
            <a:ext cx="571057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6267293" y="35535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3" name="Text 10"/>
          <p:cNvSpPr/>
          <p:nvPr/>
        </p:nvSpPr>
        <p:spPr>
          <a:xfrm>
            <a:off x="6267293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14" name="Text 11"/>
          <p:cNvSpPr/>
          <p:nvPr/>
        </p:nvSpPr>
        <p:spPr>
          <a:xfrm>
            <a:off x="6267293" y="39536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15" name="Text 12"/>
          <p:cNvSpPr/>
          <p:nvPr/>
        </p:nvSpPr>
        <p:spPr>
          <a:xfrm>
            <a:off x="533387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4374991" y="809625"/>
            <a:ext cx="365364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672" dirty="0"/>
          </a:p>
        </p:txBody>
      </p:sp>
      <p:sp>
        <p:nvSpPr>
          <p:cNvPr id="17" name="Text 14"/>
          <p:cNvSpPr/>
          <p:nvPr/>
        </p:nvSpPr>
        <p:spPr>
          <a:xfrm>
            <a:off x="6267293" y="43536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6267293" y="40869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6267293" y="44870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504812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1" name="Text 18"/>
          <p:cNvSpPr/>
          <p:nvPr/>
        </p:nvSpPr>
        <p:spPr>
          <a:xfrm>
            <a:off x="6267293" y="3291655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462039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gestionado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8216595" y="809625"/>
            <a:ext cx="365380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504812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504812" y="36869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Errada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10281832" y="1681930"/>
            <a:ext cx="1485305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6267293" y="34202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504812" y="382029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Vacío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6267293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6267293" y="4220342"/>
            <a:ext cx="19158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2996877" y="1681930"/>
            <a:ext cx="159891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8324195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1582896" y="1681930"/>
            <a:ext cx="148468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4519648" y="1681930"/>
            <a:ext cx="148499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95288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7" name="Text 34"/>
          <p:cNvSpPr/>
          <p:nvPr/>
        </p:nvSpPr>
        <p:spPr>
          <a:xfrm>
            <a:off x="6257769" y="19914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4519648" y="1853380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4519648" y="2705867"/>
            <a:ext cx="1484992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504812" y="3120205"/>
            <a:ext cx="191581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9303014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8324195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8324195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8091881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552" dirty="0"/>
          </a:p>
        </p:txBody>
      </p:sp>
      <p:sp>
        <p:nvSpPr>
          <p:cNvPr id="45" name="Text 42"/>
          <p:cNvSpPr/>
          <p:nvPr/>
        </p:nvSpPr>
        <p:spPr>
          <a:xfrm>
            <a:off x="10988599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552" dirty="0"/>
          </a:p>
        </p:txBody>
      </p:sp>
      <p:sp>
        <p:nvSpPr>
          <p:cNvPr id="46" name="Text 43"/>
          <p:cNvSpPr/>
          <p:nvPr/>
        </p:nvSpPr>
        <p:spPr>
          <a:xfrm>
            <a:off x="8091881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552" dirty="0"/>
          </a:p>
        </p:txBody>
      </p:sp>
      <p:sp>
        <p:nvSpPr>
          <p:cNvPr id="47" name="Text 44"/>
          <p:cNvSpPr/>
          <p:nvPr/>
        </p:nvSpPr>
        <p:spPr>
          <a:xfrm>
            <a:off x="10988599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13,4 %</a:t>
            </a:r>
            <a:endParaRPr lang="en-US" sz="552" dirty="0"/>
          </a:p>
        </p:txBody>
      </p:sp>
      <p:sp>
        <p:nvSpPr>
          <p:cNvPr id="48" name="Text 45"/>
          <p:cNvSpPr/>
          <p:nvPr/>
        </p:nvSpPr>
        <p:spPr>
          <a:xfrm>
            <a:off x="8091881" y="36869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49" name="Text 46"/>
          <p:cNvSpPr/>
          <p:nvPr/>
        </p:nvSpPr>
        <p:spPr>
          <a:xfrm>
            <a:off x="10988599" y="36869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552" dirty="0"/>
          </a:p>
        </p:txBody>
      </p:sp>
      <p:sp>
        <p:nvSpPr>
          <p:cNvPr id="50" name="Text 47"/>
          <p:cNvSpPr/>
          <p:nvPr/>
        </p:nvSpPr>
        <p:spPr>
          <a:xfrm>
            <a:off x="8091881" y="42203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47,0 %</a:t>
            </a:r>
            <a:endParaRPr lang="en-US" sz="552" dirty="0"/>
          </a:p>
        </p:txBody>
      </p:sp>
      <p:sp>
        <p:nvSpPr>
          <p:cNvPr id="51" name="Text 48"/>
          <p:cNvSpPr/>
          <p:nvPr/>
        </p:nvSpPr>
        <p:spPr>
          <a:xfrm>
            <a:off x="10988599" y="42203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47,0 %</a:t>
            </a:r>
            <a:endParaRPr lang="en-US" sz="552" dirty="0"/>
          </a:p>
        </p:txBody>
      </p:sp>
      <p:sp>
        <p:nvSpPr>
          <p:cNvPr id="52" name="Text 49"/>
          <p:cNvSpPr/>
          <p:nvPr/>
        </p:nvSpPr>
        <p:spPr>
          <a:xfrm>
            <a:off x="8091881" y="43536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552" dirty="0"/>
          </a:p>
        </p:txBody>
      </p:sp>
      <p:sp>
        <p:nvSpPr>
          <p:cNvPr id="53" name="Text 50"/>
          <p:cNvSpPr/>
          <p:nvPr/>
        </p:nvSpPr>
        <p:spPr>
          <a:xfrm>
            <a:off x="10988599" y="43536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552" dirty="0"/>
          </a:p>
        </p:txBody>
      </p:sp>
      <p:sp>
        <p:nvSpPr>
          <p:cNvPr id="54" name="Text 51"/>
          <p:cNvSpPr/>
          <p:nvPr/>
        </p:nvSpPr>
        <p:spPr>
          <a:xfrm>
            <a:off x="533387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380" dirty="0"/>
          </a:p>
        </p:txBody>
      </p:sp>
      <p:sp>
        <p:nvSpPr>
          <p:cNvPr id="55" name="Text 52"/>
          <p:cNvSpPr/>
          <p:nvPr/>
        </p:nvSpPr>
        <p:spPr>
          <a:xfrm>
            <a:off x="495288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1582896" y="1853380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495288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95288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495288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495288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1582896" y="2705867"/>
            <a:ext cx="148468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5226118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504812" y="3953642"/>
            <a:ext cx="1915817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64" name="Text 61"/>
          <p:cNvSpPr/>
          <p:nvPr/>
        </p:nvSpPr>
        <p:spPr>
          <a:xfrm>
            <a:off x="7345377" y="1681930"/>
            <a:ext cx="102775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5" name="Text 62"/>
          <p:cNvSpPr/>
          <p:nvPr/>
        </p:nvSpPr>
        <p:spPr>
          <a:xfrm>
            <a:off x="6257769" y="1853380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7345377" y="1853380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10281832" y="1853380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6257769" y="213436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6257769" y="227724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6257769" y="2562992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6257769" y="2705867"/>
            <a:ext cx="114198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7345377" y="2705867"/>
            <a:ext cx="1027759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10281832" y="2705867"/>
            <a:ext cx="1485305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74" name="Text 71"/>
          <p:cNvSpPr/>
          <p:nvPr/>
        </p:nvSpPr>
        <p:spPr>
          <a:xfrm>
            <a:off x="10988599" y="3120205"/>
            <a:ext cx="73319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8091881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76" name="Text 73"/>
          <p:cNvSpPr/>
          <p:nvPr/>
        </p:nvSpPr>
        <p:spPr>
          <a:xfrm>
            <a:off x="10988599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552" dirty="0"/>
          </a:p>
        </p:txBody>
      </p:sp>
      <p:sp>
        <p:nvSpPr>
          <p:cNvPr id="77" name="Text 74"/>
          <p:cNvSpPr/>
          <p:nvPr/>
        </p:nvSpPr>
        <p:spPr>
          <a:xfrm>
            <a:off x="8091881" y="38202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552" dirty="0"/>
          </a:p>
        </p:txBody>
      </p:sp>
      <p:sp>
        <p:nvSpPr>
          <p:cNvPr id="78" name="Text 75"/>
          <p:cNvSpPr/>
          <p:nvPr/>
        </p:nvSpPr>
        <p:spPr>
          <a:xfrm>
            <a:off x="10988599" y="38202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552" dirty="0"/>
          </a:p>
        </p:txBody>
      </p:sp>
      <p:sp>
        <p:nvSpPr>
          <p:cNvPr id="79" name="Text 76"/>
          <p:cNvSpPr/>
          <p:nvPr/>
        </p:nvSpPr>
        <p:spPr>
          <a:xfrm>
            <a:off x="8091881" y="39536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80" name="Text 77"/>
          <p:cNvSpPr/>
          <p:nvPr/>
        </p:nvSpPr>
        <p:spPr>
          <a:xfrm>
            <a:off x="10988599" y="39536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6,4 %</a:t>
            </a:r>
            <a:endParaRPr lang="en-US" sz="552" dirty="0"/>
          </a:p>
        </p:txBody>
      </p:sp>
      <p:sp>
        <p:nvSpPr>
          <p:cNvPr id="81" name="Text 78"/>
          <p:cNvSpPr/>
          <p:nvPr/>
        </p:nvSpPr>
        <p:spPr>
          <a:xfrm>
            <a:off x="8091881" y="40869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82" name="Text 79"/>
          <p:cNvSpPr/>
          <p:nvPr/>
        </p:nvSpPr>
        <p:spPr>
          <a:xfrm>
            <a:off x="10988599" y="40869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6,7 %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8091881" y="44870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10988599" y="44870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8091881" y="462039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10988599" y="462039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4374991" y="952500"/>
            <a:ext cx="3653647" cy="2208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380" dirty="0"/>
          </a:p>
        </p:txBody>
      </p:sp>
      <p:sp>
        <p:nvSpPr>
          <p:cNvPr id="88" name="Text 85"/>
          <p:cNvSpPr/>
          <p:nvPr/>
        </p:nvSpPr>
        <p:spPr>
          <a:xfrm>
            <a:off x="495288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6257769" y="2420117"/>
            <a:ext cx="11419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0" name="Text 87"/>
          <p:cNvSpPr/>
          <p:nvPr/>
        </p:nvSpPr>
        <p:spPr>
          <a:xfrm>
            <a:off x="495288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2996877" y="1853380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92" name="Text 89"/>
          <p:cNvSpPr/>
          <p:nvPr/>
        </p:nvSpPr>
        <p:spPr>
          <a:xfrm>
            <a:off x="2996877" y="2705867"/>
            <a:ext cx="1598910" cy="1381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232940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281218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329497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3777759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4260545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474333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2329400" y="3953642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100" name="Text 97"/>
          <p:cNvSpPr/>
          <p:nvPr/>
        </p:nvSpPr>
        <p:spPr>
          <a:xfrm>
            <a:off x="5226118" y="3953642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101" name="Text 98"/>
          <p:cNvSpPr/>
          <p:nvPr/>
        </p:nvSpPr>
        <p:spPr>
          <a:xfrm>
            <a:off x="6257769" y="1681930"/>
            <a:ext cx="114198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8091881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8574667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9057453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9540240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10023026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10505812" y="3120205"/>
            <a:ext cx="50692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2329400" y="3291655"/>
            <a:ext cx="506926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109" name="Text 106"/>
          <p:cNvSpPr/>
          <p:nvPr/>
        </p:nvSpPr>
        <p:spPr>
          <a:xfrm>
            <a:off x="5226118" y="3291655"/>
            <a:ext cx="733198" cy="1285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110" name="Text 107"/>
          <p:cNvSpPr/>
          <p:nvPr/>
        </p:nvSpPr>
        <p:spPr>
          <a:xfrm>
            <a:off x="2329400" y="342024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11" name="Text 108"/>
          <p:cNvSpPr/>
          <p:nvPr/>
        </p:nvSpPr>
        <p:spPr>
          <a:xfrm>
            <a:off x="5226118" y="342024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12" name="Text 109"/>
          <p:cNvSpPr/>
          <p:nvPr/>
        </p:nvSpPr>
        <p:spPr>
          <a:xfrm>
            <a:off x="2329400" y="3553592"/>
            <a:ext cx="50692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  <p:sp>
        <p:nvSpPr>
          <p:cNvPr id="113" name="Text 110"/>
          <p:cNvSpPr/>
          <p:nvPr/>
        </p:nvSpPr>
        <p:spPr>
          <a:xfrm>
            <a:off x="5226118" y="3553592"/>
            <a:ext cx="73319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11871" y="6041678"/>
            <a:ext cx="6128738" cy="503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equipo creció de 15 a 21 asesores (+40 %), pero la productividad media bajó de 150 a 110 pólizas/asesor. El top 5 concentra el : el reto del 2S no es sumar gente, es nivelar al resto hacia ese estándar.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27642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1240749" y="3079574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Julithza Milagros Padilla MejíA</a:t>
            </a:r>
            <a:endParaRPr lang="en-US" sz="660" dirty="0"/>
          </a:p>
        </p:txBody>
      </p:sp>
      <p:sp>
        <p:nvSpPr>
          <p:cNvPr id="6" name="Text 3"/>
          <p:cNvSpPr/>
          <p:nvPr/>
        </p:nvSpPr>
        <p:spPr>
          <a:xfrm>
            <a:off x="1240749" y="4752551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Karina Yisell Marquez Hernandez</a:t>
            </a:r>
            <a:endParaRPr lang="en-US" sz="660" dirty="0"/>
          </a:p>
        </p:txBody>
      </p:sp>
      <p:sp>
        <p:nvSpPr>
          <p:cNvPr id="7" name="Text 4"/>
          <p:cNvSpPr/>
          <p:nvPr/>
        </p:nvSpPr>
        <p:spPr>
          <a:xfrm>
            <a:off x="1240749" y="1975865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Dayana D. Guerrero HernáNdez</a:t>
            </a:r>
            <a:endParaRPr lang="en-US" sz="660" dirty="0"/>
          </a:p>
        </p:txBody>
      </p:sp>
      <p:sp>
        <p:nvSpPr>
          <p:cNvPr id="8" name="Text 5"/>
          <p:cNvSpPr/>
          <p:nvPr/>
        </p:nvSpPr>
        <p:spPr>
          <a:xfrm>
            <a:off x="1240749" y="2161751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Anderson Monterrosa Castilla</a:t>
            </a:r>
            <a:endParaRPr lang="en-US" sz="660" dirty="0"/>
          </a:p>
        </p:txBody>
      </p:sp>
      <p:sp>
        <p:nvSpPr>
          <p:cNvPr id="9" name="Text 6"/>
          <p:cNvSpPr/>
          <p:nvPr/>
        </p:nvSpPr>
        <p:spPr>
          <a:xfrm>
            <a:off x="1240749" y="1604092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Melissa Paola Orozco Jinete</a:t>
            </a:r>
            <a:endParaRPr lang="en-US" sz="660" dirty="0"/>
          </a:p>
        </p:txBody>
      </p:sp>
      <p:sp>
        <p:nvSpPr>
          <p:cNvPr id="10" name="Text 7"/>
          <p:cNvSpPr/>
          <p:nvPr/>
        </p:nvSpPr>
        <p:spPr>
          <a:xfrm>
            <a:off x="1240749" y="3451347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Isabella SofíA Rueda Caserta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240749" y="1424010"/>
            <a:ext cx="4040873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JesúS David CortéS Ortega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1240749" y="2893688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Santiago Elí CháVez Carmona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1240749" y="3265461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Nohelia H. Salas Monterrosa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1240749" y="2707802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Alan José HernáNdez Loaiza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1240749" y="4009006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Rhoymar HernáNdez AlbarráN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1846316" y="5962650"/>
            <a:ext cx="11058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asesores activos por mes</a:t>
            </a:r>
            <a:endParaRPr lang="en-US" sz="672" dirty="0"/>
          </a:p>
        </p:txBody>
      </p:sp>
      <p:sp>
        <p:nvSpPr>
          <p:cNvPr id="17" name="Text 14"/>
          <p:cNvSpPr/>
          <p:nvPr/>
        </p:nvSpPr>
        <p:spPr>
          <a:xfrm>
            <a:off x="1240749" y="3637233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Laura L. Herrera Palomino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1240749" y="1789979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Luisa L. Percy Jaraba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1240749" y="5124324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Rosalinda Rivera Senior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1240749" y="4194892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CéSar Barrera PáJaro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1240749" y="4566665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Yannecce MejíA GóMez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1467706" y="6534150"/>
            <a:ext cx="87633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4.279 pólizas (37 %)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1240749" y="2347638"/>
            <a:ext cx="4040873" cy="174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B.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1240749" y="4938438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Ruddy Olmos Simanca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1240749" y="3823120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Valentina Orozco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1240749" y="2521915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Yulieth Pacheco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1240749" y="4380779"/>
            <a:ext cx="404087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Jean J. GuzmáN</a:t>
            </a:r>
            <a:endParaRPr lang="en-US" sz="660" dirty="0"/>
          </a:p>
        </p:txBody>
      </p:sp>
      <p:sp>
        <p:nvSpPr>
          <p:cNvPr id="28" name="Text 25"/>
          <p:cNvSpPr/>
          <p:nvPr/>
        </p:nvSpPr>
        <p:spPr>
          <a:xfrm>
            <a:off x="1240749" y="1233510"/>
            <a:ext cx="40408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10409969" y="5310210"/>
            <a:ext cx="11307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13.499</a:t>
            </a:r>
            <a:endParaRPr lang="en-US" sz="696" dirty="0"/>
          </a:p>
        </p:txBody>
      </p:sp>
      <p:sp>
        <p:nvSpPr>
          <p:cNvPr id="30" name="Text 27"/>
          <p:cNvSpPr/>
          <p:nvPr/>
        </p:nvSpPr>
        <p:spPr>
          <a:xfrm>
            <a:off x="10409969" y="1233510"/>
            <a:ext cx="11307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10409969" y="1424010"/>
            <a:ext cx="1130738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1.276</a:t>
            </a:r>
            <a:endParaRPr lang="en-US" sz="660" dirty="0"/>
          </a:p>
        </p:txBody>
      </p:sp>
      <p:sp>
        <p:nvSpPr>
          <p:cNvPr id="32" name="Text 29"/>
          <p:cNvSpPr/>
          <p:nvPr/>
        </p:nvSpPr>
        <p:spPr>
          <a:xfrm>
            <a:off x="10409969" y="1604092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660" dirty="0"/>
          </a:p>
        </p:txBody>
      </p:sp>
      <p:sp>
        <p:nvSpPr>
          <p:cNvPr id="33" name="Text 30"/>
          <p:cNvSpPr/>
          <p:nvPr/>
        </p:nvSpPr>
        <p:spPr>
          <a:xfrm>
            <a:off x="1240749" y="5310210"/>
            <a:ext cx="404087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96" dirty="0"/>
          </a:p>
        </p:txBody>
      </p:sp>
      <p:sp>
        <p:nvSpPr>
          <p:cNvPr id="34" name="Text 31"/>
          <p:cNvSpPr/>
          <p:nvPr/>
        </p:nvSpPr>
        <p:spPr>
          <a:xfrm>
            <a:off x="5089199" y="5310210"/>
            <a:ext cx="92853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2.109</a:t>
            </a:r>
            <a:endParaRPr lang="en-US" sz="696" dirty="0"/>
          </a:p>
        </p:txBody>
      </p:sp>
      <p:sp>
        <p:nvSpPr>
          <p:cNvPr id="35" name="Text 32"/>
          <p:cNvSpPr/>
          <p:nvPr/>
        </p:nvSpPr>
        <p:spPr>
          <a:xfrm>
            <a:off x="5973514" y="5310210"/>
            <a:ext cx="92946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2.344</a:t>
            </a:r>
            <a:endParaRPr lang="en-US" sz="696" dirty="0"/>
          </a:p>
        </p:txBody>
      </p:sp>
      <p:sp>
        <p:nvSpPr>
          <p:cNvPr id="36" name="Text 33"/>
          <p:cNvSpPr/>
          <p:nvPr/>
        </p:nvSpPr>
        <p:spPr>
          <a:xfrm>
            <a:off x="6858721" y="5310210"/>
            <a:ext cx="92212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2.313</a:t>
            </a:r>
            <a:endParaRPr lang="en-US" sz="696" dirty="0"/>
          </a:p>
        </p:txBody>
      </p:sp>
      <p:sp>
        <p:nvSpPr>
          <p:cNvPr id="37" name="Text 34"/>
          <p:cNvSpPr/>
          <p:nvPr/>
        </p:nvSpPr>
        <p:spPr>
          <a:xfrm>
            <a:off x="7736934" y="5310210"/>
            <a:ext cx="9254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2.235</a:t>
            </a:r>
            <a:endParaRPr lang="en-US" sz="696" dirty="0"/>
          </a:p>
        </p:txBody>
      </p:sp>
      <p:sp>
        <p:nvSpPr>
          <p:cNvPr id="38" name="Text 35"/>
          <p:cNvSpPr/>
          <p:nvPr/>
        </p:nvSpPr>
        <p:spPr>
          <a:xfrm>
            <a:off x="8618272" y="5310210"/>
            <a:ext cx="96619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2.184</a:t>
            </a:r>
            <a:endParaRPr lang="en-US" sz="696" dirty="0"/>
          </a:p>
        </p:txBody>
      </p:sp>
      <p:sp>
        <p:nvSpPr>
          <p:cNvPr id="39" name="Text 36"/>
          <p:cNvSpPr/>
          <p:nvPr/>
        </p:nvSpPr>
        <p:spPr>
          <a:xfrm>
            <a:off x="9538454" y="5310210"/>
            <a:ext cx="9150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96" dirty="0"/>
          </a:p>
        </p:txBody>
      </p:sp>
      <p:sp>
        <p:nvSpPr>
          <p:cNvPr id="40" name="Text 37"/>
          <p:cNvSpPr/>
          <p:nvPr/>
        </p:nvSpPr>
        <p:spPr>
          <a:xfrm>
            <a:off x="5089199" y="1233510"/>
            <a:ext cx="92853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5973514" y="1233510"/>
            <a:ext cx="92946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6858721" y="1233510"/>
            <a:ext cx="92212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7736934" y="1233510"/>
            <a:ext cx="9254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8618272" y="1233510"/>
            <a:ext cx="96619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9538454" y="1233510"/>
            <a:ext cx="915091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5089199" y="1424010"/>
            <a:ext cx="928530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660" dirty="0"/>
          </a:p>
        </p:txBody>
      </p:sp>
      <p:sp>
        <p:nvSpPr>
          <p:cNvPr id="47" name="Text 44"/>
          <p:cNvSpPr/>
          <p:nvPr/>
        </p:nvSpPr>
        <p:spPr>
          <a:xfrm>
            <a:off x="5973514" y="1424010"/>
            <a:ext cx="929468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234</a:t>
            </a:r>
            <a:endParaRPr lang="en-US" sz="660" dirty="0"/>
          </a:p>
        </p:txBody>
      </p:sp>
      <p:sp>
        <p:nvSpPr>
          <p:cNvPr id="48" name="Text 45"/>
          <p:cNvSpPr/>
          <p:nvPr/>
        </p:nvSpPr>
        <p:spPr>
          <a:xfrm>
            <a:off x="6858721" y="1424010"/>
            <a:ext cx="922123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660" dirty="0"/>
          </a:p>
        </p:txBody>
      </p:sp>
      <p:sp>
        <p:nvSpPr>
          <p:cNvPr id="49" name="Text 46"/>
          <p:cNvSpPr/>
          <p:nvPr/>
        </p:nvSpPr>
        <p:spPr>
          <a:xfrm>
            <a:off x="7736934" y="1424010"/>
            <a:ext cx="925405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660" dirty="0"/>
          </a:p>
        </p:txBody>
      </p:sp>
      <p:sp>
        <p:nvSpPr>
          <p:cNvPr id="50" name="Text 47"/>
          <p:cNvSpPr/>
          <p:nvPr/>
        </p:nvSpPr>
        <p:spPr>
          <a:xfrm>
            <a:off x="8618272" y="1424010"/>
            <a:ext cx="966190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660" dirty="0"/>
          </a:p>
        </p:txBody>
      </p:sp>
      <p:sp>
        <p:nvSpPr>
          <p:cNvPr id="51" name="Text 48"/>
          <p:cNvSpPr/>
          <p:nvPr/>
        </p:nvSpPr>
        <p:spPr>
          <a:xfrm>
            <a:off x="9538454" y="1424010"/>
            <a:ext cx="915091" cy="1800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660" dirty="0"/>
          </a:p>
        </p:txBody>
      </p:sp>
      <p:sp>
        <p:nvSpPr>
          <p:cNvPr id="52" name="Text 49"/>
          <p:cNvSpPr/>
          <p:nvPr/>
        </p:nvSpPr>
        <p:spPr>
          <a:xfrm>
            <a:off x="5089199" y="1604092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53" name="Text 50"/>
          <p:cNvSpPr/>
          <p:nvPr/>
        </p:nvSpPr>
        <p:spPr>
          <a:xfrm>
            <a:off x="5973514" y="1604092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195</a:t>
            </a:r>
            <a:endParaRPr lang="en-US" sz="660" dirty="0"/>
          </a:p>
        </p:txBody>
      </p:sp>
      <p:sp>
        <p:nvSpPr>
          <p:cNvPr id="54" name="Text 51"/>
          <p:cNvSpPr/>
          <p:nvPr/>
        </p:nvSpPr>
        <p:spPr>
          <a:xfrm>
            <a:off x="6858721" y="1604092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189</a:t>
            </a:r>
            <a:endParaRPr lang="en-US" sz="660" dirty="0"/>
          </a:p>
        </p:txBody>
      </p:sp>
      <p:sp>
        <p:nvSpPr>
          <p:cNvPr id="55" name="Text 52"/>
          <p:cNvSpPr/>
          <p:nvPr/>
        </p:nvSpPr>
        <p:spPr>
          <a:xfrm>
            <a:off x="7736934" y="1604092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56" name="Text 53"/>
          <p:cNvSpPr/>
          <p:nvPr/>
        </p:nvSpPr>
        <p:spPr>
          <a:xfrm>
            <a:off x="8618272" y="1604092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660" dirty="0"/>
          </a:p>
        </p:txBody>
      </p:sp>
      <p:sp>
        <p:nvSpPr>
          <p:cNvPr id="57" name="Text 54"/>
          <p:cNvSpPr/>
          <p:nvPr/>
        </p:nvSpPr>
        <p:spPr>
          <a:xfrm>
            <a:off x="9538454" y="1604092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58" name="Text 55"/>
          <p:cNvSpPr/>
          <p:nvPr/>
        </p:nvSpPr>
        <p:spPr>
          <a:xfrm>
            <a:off x="5089199" y="1789979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</a:t>
            </a:r>
            <a:endParaRPr lang="en-US" sz="660" dirty="0"/>
          </a:p>
        </p:txBody>
      </p:sp>
      <p:sp>
        <p:nvSpPr>
          <p:cNvPr id="59" name="Text 56"/>
          <p:cNvSpPr/>
          <p:nvPr/>
        </p:nvSpPr>
        <p:spPr>
          <a:xfrm>
            <a:off x="5973514" y="1789979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60" name="Text 57"/>
          <p:cNvSpPr/>
          <p:nvPr/>
        </p:nvSpPr>
        <p:spPr>
          <a:xfrm>
            <a:off x="6858721" y="1789979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178</a:t>
            </a:r>
            <a:endParaRPr lang="en-US" sz="660" dirty="0"/>
          </a:p>
        </p:txBody>
      </p:sp>
      <p:sp>
        <p:nvSpPr>
          <p:cNvPr id="61" name="Text 58"/>
          <p:cNvSpPr/>
          <p:nvPr/>
        </p:nvSpPr>
        <p:spPr>
          <a:xfrm>
            <a:off x="7736934" y="1789979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62" name="Text 59"/>
          <p:cNvSpPr/>
          <p:nvPr/>
        </p:nvSpPr>
        <p:spPr>
          <a:xfrm>
            <a:off x="8618272" y="1789979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63" name="Text 60"/>
          <p:cNvSpPr/>
          <p:nvPr/>
        </p:nvSpPr>
        <p:spPr>
          <a:xfrm>
            <a:off x="9538454" y="1789979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660" dirty="0"/>
          </a:p>
        </p:txBody>
      </p:sp>
      <p:sp>
        <p:nvSpPr>
          <p:cNvPr id="64" name="Text 61"/>
          <p:cNvSpPr/>
          <p:nvPr/>
        </p:nvSpPr>
        <p:spPr>
          <a:xfrm>
            <a:off x="10409969" y="1789979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952</a:t>
            </a:r>
            <a:endParaRPr lang="en-US" sz="660" dirty="0"/>
          </a:p>
        </p:txBody>
      </p:sp>
      <p:sp>
        <p:nvSpPr>
          <p:cNvPr id="65" name="Text 62"/>
          <p:cNvSpPr/>
          <p:nvPr/>
        </p:nvSpPr>
        <p:spPr>
          <a:xfrm>
            <a:off x="5089199" y="1975865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</a:t>
            </a:r>
            <a:endParaRPr lang="en-US" sz="660" dirty="0"/>
          </a:p>
        </p:txBody>
      </p:sp>
      <p:sp>
        <p:nvSpPr>
          <p:cNvPr id="66" name="Text 63"/>
          <p:cNvSpPr/>
          <p:nvPr/>
        </p:nvSpPr>
        <p:spPr>
          <a:xfrm>
            <a:off x="5973514" y="1975865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660" dirty="0"/>
          </a:p>
        </p:txBody>
      </p:sp>
      <p:sp>
        <p:nvSpPr>
          <p:cNvPr id="67" name="Text 64"/>
          <p:cNvSpPr/>
          <p:nvPr/>
        </p:nvSpPr>
        <p:spPr>
          <a:xfrm>
            <a:off x="6858721" y="1975865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7736934" y="1975865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69" name="Text 66"/>
          <p:cNvSpPr/>
          <p:nvPr/>
        </p:nvSpPr>
        <p:spPr>
          <a:xfrm>
            <a:off x="8618272" y="1975865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70" name="Text 67"/>
          <p:cNvSpPr/>
          <p:nvPr/>
        </p:nvSpPr>
        <p:spPr>
          <a:xfrm>
            <a:off x="9538454" y="1975865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71" name="Text 68"/>
          <p:cNvSpPr/>
          <p:nvPr/>
        </p:nvSpPr>
        <p:spPr>
          <a:xfrm>
            <a:off x="10409969" y="1975865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935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5089199" y="2161751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73" name="Text 70"/>
          <p:cNvSpPr/>
          <p:nvPr/>
        </p:nvSpPr>
        <p:spPr>
          <a:xfrm>
            <a:off x="5973514" y="2161751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74" name="Text 71"/>
          <p:cNvSpPr/>
          <p:nvPr/>
        </p:nvSpPr>
        <p:spPr>
          <a:xfrm>
            <a:off x="6858721" y="2161751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75" name="Text 72"/>
          <p:cNvSpPr/>
          <p:nvPr/>
        </p:nvSpPr>
        <p:spPr>
          <a:xfrm>
            <a:off x="7736934" y="2161751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8618272" y="2161751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77" name="Text 74"/>
          <p:cNvSpPr/>
          <p:nvPr/>
        </p:nvSpPr>
        <p:spPr>
          <a:xfrm>
            <a:off x="9538454" y="2161751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78" name="Text 75"/>
          <p:cNvSpPr/>
          <p:nvPr/>
        </p:nvSpPr>
        <p:spPr>
          <a:xfrm>
            <a:off x="10409969" y="2161751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925</a:t>
            </a:r>
            <a:endParaRPr lang="en-US" sz="660" dirty="0"/>
          </a:p>
        </p:txBody>
      </p:sp>
      <p:sp>
        <p:nvSpPr>
          <p:cNvPr id="79" name="Text 76"/>
          <p:cNvSpPr/>
          <p:nvPr/>
        </p:nvSpPr>
        <p:spPr>
          <a:xfrm>
            <a:off x="5089199" y="2347638"/>
            <a:ext cx="928530" cy="174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</a:t>
            </a:r>
            <a:endParaRPr lang="en-US" sz="660" dirty="0"/>
          </a:p>
        </p:txBody>
      </p:sp>
      <p:sp>
        <p:nvSpPr>
          <p:cNvPr id="80" name="Text 77"/>
          <p:cNvSpPr/>
          <p:nvPr/>
        </p:nvSpPr>
        <p:spPr>
          <a:xfrm>
            <a:off x="5973514" y="2347638"/>
            <a:ext cx="929468" cy="174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</a:t>
            </a:r>
            <a:endParaRPr lang="en-US" sz="660" dirty="0"/>
          </a:p>
        </p:txBody>
      </p:sp>
      <p:sp>
        <p:nvSpPr>
          <p:cNvPr id="81" name="Text 78"/>
          <p:cNvSpPr/>
          <p:nvPr/>
        </p:nvSpPr>
        <p:spPr>
          <a:xfrm>
            <a:off x="6858721" y="2347638"/>
            <a:ext cx="922123" cy="174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168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7736934" y="2347638"/>
            <a:ext cx="925405" cy="174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9538454" y="2347638"/>
            <a:ext cx="915091" cy="174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10409969" y="2347638"/>
            <a:ext cx="1130738" cy="174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886</a:t>
            </a:r>
            <a:endParaRPr lang="en-US" sz="660" dirty="0"/>
          </a:p>
        </p:txBody>
      </p:sp>
      <p:sp>
        <p:nvSpPr>
          <p:cNvPr id="85" name="Text 82"/>
          <p:cNvSpPr/>
          <p:nvPr/>
        </p:nvSpPr>
        <p:spPr>
          <a:xfrm>
            <a:off x="5089199" y="2521915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86" name="Text 83"/>
          <p:cNvSpPr/>
          <p:nvPr/>
        </p:nvSpPr>
        <p:spPr>
          <a:xfrm>
            <a:off x="5973514" y="2521915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176</a:t>
            </a:r>
            <a:endParaRPr lang="en-US" sz="660" dirty="0"/>
          </a:p>
        </p:txBody>
      </p:sp>
      <p:sp>
        <p:nvSpPr>
          <p:cNvPr id="87" name="Text 84"/>
          <p:cNvSpPr/>
          <p:nvPr/>
        </p:nvSpPr>
        <p:spPr>
          <a:xfrm>
            <a:off x="6858721" y="2521915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88" name="Text 85"/>
          <p:cNvSpPr/>
          <p:nvPr/>
        </p:nvSpPr>
        <p:spPr>
          <a:xfrm>
            <a:off x="7736934" y="2521915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89" name="Text 86"/>
          <p:cNvSpPr/>
          <p:nvPr/>
        </p:nvSpPr>
        <p:spPr>
          <a:xfrm>
            <a:off x="8618272" y="2521915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90" name="Text 87"/>
          <p:cNvSpPr/>
          <p:nvPr/>
        </p:nvSpPr>
        <p:spPr>
          <a:xfrm>
            <a:off x="9538454" y="2521915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91" name="Text 88"/>
          <p:cNvSpPr/>
          <p:nvPr/>
        </p:nvSpPr>
        <p:spPr>
          <a:xfrm>
            <a:off x="10409969" y="2521915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885</a:t>
            </a:r>
            <a:endParaRPr lang="en-US" sz="660" dirty="0"/>
          </a:p>
        </p:txBody>
      </p:sp>
      <p:sp>
        <p:nvSpPr>
          <p:cNvPr id="92" name="Text 89"/>
          <p:cNvSpPr/>
          <p:nvPr/>
        </p:nvSpPr>
        <p:spPr>
          <a:xfrm>
            <a:off x="5089199" y="2707802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93" name="Text 90"/>
          <p:cNvSpPr/>
          <p:nvPr/>
        </p:nvSpPr>
        <p:spPr>
          <a:xfrm>
            <a:off x="5973514" y="2707802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60" dirty="0"/>
          </a:p>
        </p:txBody>
      </p:sp>
      <p:sp>
        <p:nvSpPr>
          <p:cNvPr id="94" name="Text 91"/>
          <p:cNvSpPr/>
          <p:nvPr/>
        </p:nvSpPr>
        <p:spPr>
          <a:xfrm>
            <a:off x="6858721" y="2707802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660" dirty="0"/>
          </a:p>
        </p:txBody>
      </p:sp>
      <p:sp>
        <p:nvSpPr>
          <p:cNvPr id="95" name="Text 92"/>
          <p:cNvSpPr/>
          <p:nvPr/>
        </p:nvSpPr>
        <p:spPr>
          <a:xfrm>
            <a:off x="7736934" y="2707802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96" name="Text 93"/>
          <p:cNvSpPr/>
          <p:nvPr/>
        </p:nvSpPr>
        <p:spPr>
          <a:xfrm>
            <a:off x="8618272" y="2707802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97" name="Text 94"/>
          <p:cNvSpPr/>
          <p:nvPr/>
        </p:nvSpPr>
        <p:spPr>
          <a:xfrm>
            <a:off x="9538454" y="2707802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</a:t>
            </a:r>
            <a:endParaRPr lang="en-US" sz="696" dirty="0"/>
          </a:p>
        </p:txBody>
      </p:sp>
      <p:sp>
        <p:nvSpPr>
          <p:cNvPr id="98" name="Text 95"/>
          <p:cNvSpPr/>
          <p:nvPr/>
        </p:nvSpPr>
        <p:spPr>
          <a:xfrm>
            <a:off x="10409969" y="2707802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865</a:t>
            </a:r>
            <a:endParaRPr lang="en-US" sz="660" dirty="0"/>
          </a:p>
        </p:txBody>
      </p:sp>
      <p:sp>
        <p:nvSpPr>
          <p:cNvPr id="99" name="Text 96"/>
          <p:cNvSpPr/>
          <p:nvPr/>
        </p:nvSpPr>
        <p:spPr>
          <a:xfrm>
            <a:off x="5089199" y="2893688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00" name="Text 97"/>
          <p:cNvSpPr/>
          <p:nvPr/>
        </p:nvSpPr>
        <p:spPr>
          <a:xfrm>
            <a:off x="5973514" y="2893688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01" name="Text 98"/>
          <p:cNvSpPr/>
          <p:nvPr/>
        </p:nvSpPr>
        <p:spPr>
          <a:xfrm>
            <a:off x="6858721" y="2893688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660" dirty="0"/>
          </a:p>
        </p:txBody>
      </p:sp>
      <p:sp>
        <p:nvSpPr>
          <p:cNvPr id="102" name="Text 99"/>
          <p:cNvSpPr/>
          <p:nvPr/>
        </p:nvSpPr>
        <p:spPr>
          <a:xfrm>
            <a:off x="7736934" y="2893688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03" name="Text 100"/>
          <p:cNvSpPr/>
          <p:nvPr/>
        </p:nvSpPr>
        <p:spPr>
          <a:xfrm>
            <a:off x="8618272" y="2893688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04" name="Text 101"/>
          <p:cNvSpPr/>
          <p:nvPr/>
        </p:nvSpPr>
        <p:spPr>
          <a:xfrm>
            <a:off x="9538454" y="2893688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105" name="Text 102"/>
          <p:cNvSpPr/>
          <p:nvPr/>
        </p:nvSpPr>
        <p:spPr>
          <a:xfrm>
            <a:off x="10409969" y="2893688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829</a:t>
            </a:r>
            <a:endParaRPr lang="en-US" sz="660" dirty="0"/>
          </a:p>
        </p:txBody>
      </p:sp>
      <p:sp>
        <p:nvSpPr>
          <p:cNvPr id="106" name="Text 103"/>
          <p:cNvSpPr/>
          <p:nvPr/>
        </p:nvSpPr>
        <p:spPr>
          <a:xfrm>
            <a:off x="5089199" y="3079574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60" dirty="0"/>
          </a:p>
        </p:txBody>
      </p:sp>
      <p:sp>
        <p:nvSpPr>
          <p:cNvPr id="107" name="Text 104"/>
          <p:cNvSpPr/>
          <p:nvPr/>
        </p:nvSpPr>
        <p:spPr>
          <a:xfrm>
            <a:off x="5973514" y="3079574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08" name="Text 105"/>
          <p:cNvSpPr/>
          <p:nvPr/>
        </p:nvSpPr>
        <p:spPr>
          <a:xfrm>
            <a:off x="6858721" y="3079574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109" name="Text 106"/>
          <p:cNvSpPr/>
          <p:nvPr/>
        </p:nvSpPr>
        <p:spPr>
          <a:xfrm>
            <a:off x="7736934" y="3079574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8618272" y="3079574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11" name="Text 108"/>
          <p:cNvSpPr/>
          <p:nvPr/>
        </p:nvSpPr>
        <p:spPr>
          <a:xfrm>
            <a:off x="10409969" y="3079574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769</a:t>
            </a:r>
            <a:endParaRPr lang="en-US" sz="660" dirty="0"/>
          </a:p>
        </p:txBody>
      </p:sp>
      <p:sp>
        <p:nvSpPr>
          <p:cNvPr id="112" name="Text 109"/>
          <p:cNvSpPr/>
          <p:nvPr/>
        </p:nvSpPr>
        <p:spPr>
          <a:xfrm>
            <a:off x="5089199" y="3265461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131</a:t>
            </a:r>
            <a:endParaRPr lang="en-US" sz="696" dirty="0"/>
          </a:p>
        </p:txBody>
      </p:sp>
      <p:sp>
        <p:nvSpPr>
          <p:cNvPr id="113" name="Text 110"/>
          <p:cNvSpPr/>
          <p:nvPr/>
        </p:nvSpPr>
        <p:spPr>
          <a:xfrm>
            <a:off x="5973514" y="3265461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14" name="Text 111"/>
          <p:cNvSpPr/>
          <p:nvPr/>
        </p:nvSpPr>
        <p:spPr>
          <a:xfrm>
            <a:off x="6858721" y="3265461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15" name="Text 112"/>
          <p:cNvSpPr/>
          <p:nvPr/>
        </p:nvSpPr>
        <p:spPr>
          <a:xfrm>
            <a:off x="7736934" y="3265461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116" name="Text 113"/>
          <p:cNvSpPr/>
          <p:nvPr/>
        </p:nvSpPr>
        <p:spPr>
          <a:xfrm>
            <a:off x="8618272" y="3265461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696" dirty="0"/>
          </a:p>
        </p:txBody>
      </p:sp>
      <p:sp>
        <p:nvSpPr>
          <p:cNvPr id="117" name="Text 114"/>
          <p:cNvSpPr/>
          <p:nvPr/>
        </p:nvSpPr>
        <p:spPr>
          <a:xfrm>
            <a:off x="10409969" y="3265461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732</a:t>
            </a:r>
            <a:endParaRPr lang="en-US" sz="660" dirty="0"/>
          </a:p>
        </p:txBody>
      </p:sp>
      <p:sp>
        <p:nvSpPr>
          <p:cNvPr id="118" name="Text 115"/>
          <p:cNvSpPr/>
          <p:nvPr/>
        </p:nvSpPr>
        <p:spPr>
          <a:xfrm>
            <a:off x="5089199" y="3451347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119" name="Text 116"/>
          <p:cNvSpPr/>
          <p:nvPr/>
        </p:nvSpPr>
        <p:spPr>
          <a:xfrm>
            <a:off x="5973514" y="3451347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20" name="Text 117"/>
          <p:cNvSpPr/>
          <p:nvPr/>
        </p:nvSpPr>
        <p:spPr>
          <a:xfrm>
            <a:off x="7736934" y="3451347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96" dirty="0"/>
          </a:p>
        </p:txBody>
      </p:sp>
      <p:sp>
        <p:nvSpPr>
          <p:cNvPr id="121" name="Text 118"/>
          <p:cNvSpPr/>
          <p:nvPr/>
        </p:nvSpPr>
        <p:spPr>
          <a:xfrm>
            <a:off x="9538454" y="3451347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696" dirty="0"/>
          </a:p>
        </p:txBody>
      </p:sp>
      <p:sp>
        <p:nvSpPr>
          <p:cNvPr id="122" name="Text 119"/>
          <p:cNvSpPr/>
          <p:nvPr/>
        </p:nvSpPr>
        <p:spPr>
          <a:xfrm>
            <a:off x="10409969" y="3451347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647</a:t>
            </a:r>
            <a:endParaRPr lang="en-US" sz="660" dirty="0"/>
          </a:p>
        </p:txBody>
      </p:sp>
      <p:sp>
        <p:nvSpPr>
          <p:cNvPr id="123" name="Text 120"/>
          <p:cNvSpPr/>
          <p:nvPr/>
        </p:nvSpPr>
        <p:spPr>
          <a:xfrm>
            <a:off x="5089199" y="3637233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24" name="Text 121"/>
          <p:cNvSpPr/>
          <p:nvPr/>
        </p:nvSpPr>
        <p:spPr>
          <a:xfrm>
            <a:off x="5973514" y="3637233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125" name="Text 122"/>
          <p:cNvSpPr/>
          <p:nvPr/>
        </p:nvSpPr>
        <p:spPr>
          <a:xfrm>
            <a:off x="6858721" y="3637233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126" name="Text 123"/>
          <p:cNvSpPr/>
          <p:nvPr/>
        </p:nvSpPr>
        <p:spPr>
          <a:xfrm>
            <a:off x="10409969" y="3637233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633</a:t>
            </a:r>
            <a:endParaRPr lang="en-US" sz="660" dirty="0"/>
          </a:p>
        </p:txBody>
      </p:sp>
      <p:sp>
        <p:nvSpPr>
          <p:cNvPr id="127" name="Text 124"/>
          <p:cNvSpPr/>
          <p:nvPr/>
        </p:nvSpPr>
        <p:spPr>
          <a:xfrm>
            <a:off x="5089199" y="3823120"/>
            <a:ext cx="92853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696" dirty="0"/>
          </a:p>
        </p:txBody>
      </p:sp>
      <p:sp>
        <p:nvSpPr>
          <p:cNvPr id="128" name="Text 125"/>
          <p:cNvSpPr/>
          <p:nvPr/>
        </p:nvSpPr>
        <p:spPr>
          <a:xfrm>
            <a:off x="5973514" y="3823120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29" name="Text 126"/>
          <p:cNvSpPr/>
          <p:nvPr/>
        </p:nvSpPr>
        <p:spPr>
          <a:xfrm>
            <a:off x="7736934" y="3823120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696" dirty="0"/>
          </a:p>
        </p:txBody>
      </p:sp>
      <p:sp>
        <p:nvSpPr>
          <p:cNvPr id="130" name="Text 127"/>
          <p:cNvSpPr/>
          <p:nvPr/>
        </p:nvSpPr>
        <p:spPr>
          <a:xfrm>
            <a:off x="10409969" y="3823120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622</a:t>
            </a:r>
            <a:endParaRPr lang="en-US" sz="660" dirty="0"/>
          </a:p>
        </p:txBody>
      </p:sp>
      <p:sp>
        <p:nvSpPr>
          <p:cNvPr id="131" name="Text 128"/>
          <p:cNvSpPr/>
          <p:nvPr/>
        </p:nvSpPr>
        <p:spPr>
          <a:xfrm>
            <a:off x="6858721" y="4009006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132" name="Text 129"/>
          <p:cNvSpPr/>
          <p:nvPr/>
        </p:nvSpPr>
        <p:spPr>
          <a:xfrm>
            <a:off x="7736934" y="4009006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33" name="Text 130"/>
          <p:cNvSpPr/>
          <p:nvPr/>
        </p:nvSpPr>
        <p:spPr>
          <a:xfrm>
            <a:off x="8618272" y="4009006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34" name="Text 131"/>
          <p:cNvSpPr/>
          <p:nvPr/>
        </p:nvSpPr>
        <p:spPr>
          <a:xfrm>
            <a:off x="9538454" y="4009006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96" dirty="0"/>
          </a:p>
        </p:txBody>
      </p:sp>
      <p:sp>
        <p:nvSpPr>
          <p:cNvPr id="135" name="Text 132"/>
          <p:cNvSpPr/>
          <p:nvPr/>
        </p:nvSpPr>
        <p:spPr>
          <a:xfrm>
            <a:off x="10409969" y="4009006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602</a:t>
            </a:r>
            <a:endParaRPr lang="en-US" sz="660" dirty="0"/>
          </a:p>
        </p:txBody>
      </p:sp>
      <p:sp>
        <p:nvSpPr>
          <p:cNvPr id="136" name="Text 133"/>
          <p:cNvSpPr/>
          <p:nvPr/>
        </p:nvSpPr>
        <p:spPr>
          <a:xfrm>
            <a:off x="6858721" y="4194892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</a:t>
            </a:r>
            <a:endParaRPr lang="en-US" sz="696" dirty="0"/>
          </a:p>
        </p:txBody>
      </p:sp>
      <p:sp>
        <p:nvSpPr>
          <p:cNvPr id="137" name="Text 134"/>
          <p:cNvSpPr/>
          <p:nvPr/>
        </p:nvSpPr>
        <p:spPr>
          <a:xfrm>
            <a:off x="8618272" y="4194892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104</a:t>
            </a:r>
            <a:endParaRPr lang="en-US" sz="696" dirty="0"/>
          </a:p>
        </p:txBody>
      </p:sp>
      <p:sp>
        <p:nvSpPr>
          <p:cNvPr id="138" name="Text 135"/>
          <p:cNvSpPr/>
          <p:nvPr/>
        </p:nvSpPr>
        <p:spPr>
          <a:xfrm>
            <a:off x="9538454" y="4194892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696" dirty="0"/>
          </a:p>
        </p:txBody>
      </p:sp>
      <p:sp>
        <p:nvSpPr>
          <p:cNvPr id="139" name="Text 136"/>
          <p:cNvSpPr/>
          <p:nvPr/>
        </p:nvSpPr>
        <p:spPr>
          <a:xfrm>
            <a:off x="10409969" y="4194892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451</a:t>
            </a:r>
            <a:endParaRPr lang="en-US" sz="660" dirty="0"/>
          </a:p>
        </p:txBody>
      </p:sp>
      <p:sp>
        <p:nvSpPr>
          <p:cNvPr id="140" name="Text 137"/>
          <p:cNvSpPr/>
          <p:nvPr/>
        </p:nvSpPr>
        <p:spPr>
          <a:xfrm>
            <a:off x="8618272" y="4380779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96" dirty="0"/>
          </a:p>
        </p:txBody>
      </p:sp>
      <p:sp>
        <p:nvSpPr>
          <p:cNvPr id="141" name="Text 138"/>
          <p:cNvSpPr/>
          <p:nvPr/>
        </p:nvSpPr>
        <p:spPr>
          <a:xfrm>
            <a:off x="9538454" y="4380779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42" name="Text 139"/>
          <p:cNvSpPr/>
          <p:nvPr/>
        </p:nvSpPr>
        <p:spPr>
          <a:xfrm>
            <a:off x="10409969" y="4380779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220</a:t>
            </a:r>
            <a:endParaRPr lang="en-US" sz="660" dirty="0"/>
          </a:p>
        </p:txBody>
      </p:sp>
      <p:sp>
        <p:nvSpPr>
          <p:cNvPr id="143" name="Text 140"/>
          <p:cNvSpPr/>
          <p:nvPr/>
        </p:nvSpPr>
        <p:spPr>
          <a:xfrm>
            <a:off x="10409969" y="4566665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44" name="Text 141"/>
          <p:cNvSpPr/>
          <p:nvPr/>
        </p:nvSpPr>
        <p:spPr>
          <a:xfrm>
            <a:off x="704832" y="639127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24" dirty="0"/>
          </a:p>
        </p:txBody>
      </p:sp>
      <p:sp>
        <p:nvSpPr>
          <p:cNvPr id="145" name="Text 142"/>
          <p:cNvSpPr/>
          <p:nvPr/>
        </p:nvSpPr>
        <p:spPr>
          <a:xfrm>
            <a:off x="1009625" y="639127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24" dirty="0"/>
          </a:p>
        </p:txBody>
      </p:sp>
      <p:sp>
        <p:nvSpPr>
          <p:cNvPr id="146" name="Text 143"/>
          <p:cNvSpPr/>
          <p:nvPr/>
        </p:nvSpPr>
        <p:spPr>
          <a:xfrm>
            <a:off x="1314417" y="639127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24" dirty="0"/>
          </a:p>
        </p:txBody>
      </p:sp>
      <p:sp>
        <p:nvSpPr>
          <p:cNvPr id="147" name="Text 144"/>
          <p:cNvSpPr/>
          <p:nvPr/>
        </p:nvSpPr>
        <p:spPr>
          <a:xfrm>
            <a:off x="1619210" y="639127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24" dirty="0"/>
          </a:p>
        </p:txBody>
      </p:sp>
      <p:sp>
        <p:nvSpPr>
          <p:cNvPr id="148" name="Text 145"/>
          <p:cNvSpPr/>
          <p:nvPr/>
        </p:nvSpPr>
        <p:spPr>
          <a:xfrm>
            <a:off x="1924002" y="639127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24" dirty="0"/>
          </a:p>
        </p:txBody>
      </p:sp>
      <p:sp>
        <p:nvSpPr>
          <p:cNvPr id="149" name="Text 146"/>
          <p:cNvSpPr/>
          <p:nvPr/>
        </p:nvSpPr>
        <p:spPr>
          <a:xfrm>
            <a:off x="2228794" y="6391275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24" dirty="0"/>
          </a:p>
        </p:txBody>
      </p:sp>
      <p:sp>
        <p:nvSpPr>
          <p:cNvPr id="150" name="Text 147"/>
          <p:cNvSpPr/>
          <p:nvPr/>
        </p:nvSpPr>
        <p:spPr>
          <a:xfrm>
            <a:off x="8618272" y="2347638"/>
            <a:ext cx="966190" cy="1742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60" dirty="0"/>
          </a:p>
        </p:txBody>
      </p:sp>
      <p:sp>
        <p:nvSpPr>
          <p:cNvPr id="151" name="Text 148"/>
          <p:cNvSpPr/>
          <p:nvPr/>
        </p:nvSpPr>
        <p:spPr>
          <a:xfrm>
            <a:off x="704832" y="3079574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624" dirty="0"/>
          </a:p>
        </p:txBody>
      </p:sp>
      <p:sp>
        <p:nvSpPr>
          <p:cNvPr id="152" name="Text 149"/>
          <p:cNvSpPr/>
          <p:nvPr/>
        </p:nvSpPr>
        <p:spPr>
          <a:xfrm>
            <a:off x="9538454" y="3079574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96" dirty="0"/>
          </a:p>
        </p:txBody>
      </p:sp>
      <p:sp>
        <p:nvSpPr>
          <p:cNvPr id="153" name="Text 150"/>
          <p:cNvSpPr/>
          <p:nvPr/>
        </p:nvSpPr>
        <p:spPr>
          <a:xfrm>
            <a:off x="704832" y="3265461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624" dirty="0"/>
          </a:p>
        </p:txBody>
      </p:sp>
      <p:sp>
        <p:nvSpPr>
          <p:cNvPr id="154" name="Text 151"/>
          <p:cNvSpPr/>
          <p:nvPr/>
        </p:nvSpPr>
        <p:spPr>
          <a:xfrm>
            <a:off x="9538454" y="3265461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60" dirty="0"/>
          </a:p>
        </p:txBody>
      </p:sp>
      <p:sp>
        <p:nvSpPr>
          <p:cNvPr id="155" name="Text 152"/>
          <p:cNvSpPr/>
          <p:nvPr/>
        </p:nvSpPr>
        <p:spPr>
          <a:xfrm>
            <a:off x="704832" y="3451347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624" dirty="0"/>
          </a:p>
        </p:txBody>
      </p:sp>
      <p:sp>
        <p:nvSpPr>
          <p:cNvPr id="156" name="Text 153"/>
          <p:cNvSpPr/>
          <p:nvPr/>
        </p:nvSpPr>
        <p:spPr>
          <a:xfrm>
            <a:off x="6858721" y="3451347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696" dirty="0"/>
          </a:p>
        </p:txBody>
      </p:sp>
      <p:sp>
        <p:nvSpPr>
          <p:cNvPr id="157" name="Text 154"/>
          <p:cNvSpPr/>
          <p:nvPr/>
        </p:nvSpPr>
        <p:spPr>
          <a:xfrm>
            <a:off x="8618272" y="3451347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58" name="Text 155"/>
          <p:cNvSpPr/>
          <p:nvPr/>
        </p:nvSpPr>
        <p:spPr>
          <a:xfrm>
            <a:off x="704832" y="3637233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24" dirty="0"/>
          </a:p>
        </p:txBody>
      </p:sp>
      <p:sp>
        <p:nvSpPr>
          <p:cNvPr id="159" name="Text 156"/>
          <p:cNvSpPr/>
          <p:nvPr/>
        </p:nvSpPr>
        <p:spPr>
          <a:xfrm>
            <a:off x="7736934" y="3637233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696" dirty="0"/>
          </a:p>
        </p:txBody>
      </p:sp>
      <p:sp>
        <p:nvSpPr>
          <p:cNvPr id="160" name="Text 157"/>
          <p:cNvSpPr/>
          <p:nvPr/>
        </p:nvSpPr>
        <p:spPr>
          <a:xfrm>
            <a:off x="8618272" y="3637233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696" dirty="0"/>
          </a:p>
        </p:txBody>
      </p:sp>
      <p:sp>
        <p:nvSpPr>
          <p:cNvPr id="161" name="Text 158"/>
          <p:cNvSpPr/>
          <p:nvPr/>
        </p:nvSpPr>
        <p:spPr>
          <a:xfrm>
            <a:off x="9538454" y="3637233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96" dirty="0"/>
          </a:p>
        </p:txBody>
      </p:sp>
      <p:sp>
        <p:nvSpPr>
          <p:cNvPr id="162" name="Text 159"/>
          <p:cNvSpPr/>
          <p:nvPr/>
        </p:nvSpPr>
        <p:spPr>
          <a:xfrm>
            <a:off x="704832" y="3823120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24" dirty="0"/>
          </a:p>
        </p:txBody>
      </p:sp>
      <p:sp>
        <p:nvSpPr>
          <p:cNvPr id="163" name="Text 160"/>
          <p:cNvSpPr/>
          <p:nvPr/>
        </p:nvSpPr>
        <p:spPr>
          <a:xfrm>
            <a:off x="6858721" y="3823120"/>
            <a:ext cx="92212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96" dirty="0"/>
          </a:p>
        </p:txBody>
      </p:sp>
      <p:sp>
        <p:nvSpPr>
          <p:cNvPr id="164" name="Text 161"/>
          <p:cNvSpPr/>
          <p:nvPr/>
        </p:nvSpPr>
        <p:spPr>
          <a:xfrm>
            <a:off x="8618272" y="3823120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65" name="Text 162"/>
          <p:cNvSpPr/>
          <p:nvPr/>
        </p:nvSpPr>
        <p:spPr>
          <a:xfrm>
            <a:off x="9538454" y="3823120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696" dirty="0"/>
          </a:p>
        </p:txBody>
      </p:sp>
      <p:sp>
        <p:nvSpPr>
          <p:cNvPr id="166" name="Text 163"/>
          <p:cNvSpPr/>
          <p:nvPr/>
        </p:nvSpPr>
        <p:spPr>
          <a:xfrm>
            <a:off x="704832" y="4009006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24" dirty="0"/>
          </a:p>
        </p:txBody>
      </p:sp>
      <p:sp>
        <p:nvSpPr>
          <p:cNvPr id="167" name="Text 164"/>
          <p:cNvSpPr/>
          <p:nvPr/>
        </p:nvSpPr>
        <p:spPr>
          <a:xfrm>
            <a:off x="5973514" y="4009006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696" dirty="0"/>
          </a:p>
        </p:txBody>
      </p:sp>
      <p:sp>
        <p:nvSpPr>
          <p:cNvPr id="168" name="Text 165"/>
          <p:cNvSpPr/>
          <p:nvPr/>
        </p:nvSpPr>
        <p:spPr>
          <a:xfrm>
            <a:off x="704832" y="4194892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624" dirty="0"/>
          </a:p>
        </p:txBody>
      </p:sp>
      <p:sp>
        <p:nvSpPr>
          <p:cNvPr id="169" name="Text 166"/>
          <p:cNvSpPr/>
          <p:nvPr/>
        </p:nvSpPr>
        <p:spPr>
          <a:xfrm>
            <a:off x="5973514" y="4194892"/>
            <a:ext cx="92946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696" dirty="0"/>
          </a:p>
        </p:txBody>
      </p:sp>
      <p:sp>
        <p:nvSpPr>
          <p:cNvPr id="170" name="Text 167"/>
          <p:cNvSpPr/>
          <p:nvPr/>
        </p:nvSpPr>
        <p:spPr>
          <a:xfrm>
            <a:off x="7736934" y="4194892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96" dirty="0"/>
          </a:p>
        </p:txBody>
      </p:sp>
      <p:sp>
        <p:nvSpPr>
          <p:cNvPr id="171" name="Text 168"/>
          <p:cNvSpPr/>
          <p:nvPr/>
        </p:nvSpPr>
        <p:spPr>
          <a:xfrm>
            <a:off x="704832" y="4380779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624" dirty="0"/>
          </a:p>
        </p:txBody>
      </p:sp>
      <p:sp>
        <p:nvSpPr>
          <p:cNvPr id="172" name="Text 169"/>
          <p:cNvSpPr/>
          <p:nvPr/>
        </p:nvSpPr>
        <p:spPr>
          <a:xfrm>
            <a:off x="704832" y="4566665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24" dirty="0"/>
          </a:p>
        </p:txBody>
      </p:sp>
      <p:sp>
        <p:nvSpPr>
          <p:cNvPr id="173" name="Text 170"/>
          <p:cNvSpPr/>
          <p:nvPr/>
        </p:nvSpPr>
        <p:spPr>
          <a:xfrm>
            <a:off x="7736934" y="4566665"/>
            <a:ext cx="925405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96" dirty="0"/>
          </a:p>
        </p:txBody>
      </p:sp>
      <p:sp>
        <p:nvSpPr>
          <p:cNvPr id="174" name="Text 171"/>
          <p:cNvSpPr/>
          <p:nvPr/>
        </p:nvSpPr>
        <p:spPr>
          <a:xfrm>
            <a:off x="8618272" y="4566665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96" dirty="0"/>
          </a:p>
        </p:txBody>
      </p:sp>
      <p:sp>
        <p:nvSpPr>
          <p:cNvPr id="175" name="Text 172"/>
          <p:cNvSpPr/>
          <p:nvPr/>
        </p:nvSpPr>
        <p:spPr>
          <a:xfrm>
            <a:off x="9538454" y="4566665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96" dirty="0"/>
          </a:p>
        </p:txBody>
      </p:sp>
      <p:sp>
        <p:nvSpPr>
          <p:cNvPr id="176" name="Text 173"/>
          <p:cNvSpPr/>
          <p:nvPr/>
        </p:nvSpPr>
        <p:spPr>
          <a:xfrm>
            <a:off x="704832" y="4752551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24" dirty="0"/>
          </a:p>
        </p:txBody>
      </p:sp>
      <p:sp>
        <p:nvSpPr>
          <p:cNvPr id="177" name="Text 174"/>
          <p:cNvSpPr/>
          <p:nvPr/>
        </p:nvSpPr>
        <p:spPr>
          <a:xfrm>
            <a:off x="9538454" y="4752551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96" dirty="0"/>
          </a:p>
        </p:txBody>
      </p:sp>
      <p:sp>
        <p:nvSpPr>
          <p:cNvPr id="178" name="Text 175"/>
          <p:cNvSpPr/>
          <p:nvPr/>
        </p:nvSpPr>
        <p:spPr>
          <a:xfrm>
            <a:off x="10409969" y="4752551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60" dirty="0"/>
          </a:p>
        </p:txBody>
      </p:sp>
      <p:sp>
        <p:nvSpPr>
          <p:cNvPr id="179" name="Text 176"/>
          <p:cNvSpPr/>
          <p:nvPr/>
        </p:nvSpPr>
        <p:spPr>
          <a:xfrm>
            <a:off x="704832" y="4938438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24" dirty="0"/>
          </a:p>
        </p:txBody>
      </p:sp>
      <p:sp>
        <p:nvSpPr>
          <p:cNvPr id="180" name="Text 177"/>
          <p:cNvSpPr/>
          <p:nvPr/>
        </p:nvSpPr>
        <p:spPr>
          <a:xfrm>
            <a:off x="8618272" y="4938438"/>
            <a:ext cx="966190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96" dirty="0"/>
          </a:p>
        </p:txBody>
      </p:sp>
      <p:sp>
        <p:nvSpPr>
          <p:cNvPr id="181" name="Text 178"/>
          <p:cNvSpPr/>
          <p:nvPr/>
        </p:nvSpPr>
        <p:spPr>
          <a:xfrm>
            <a:off x="9538454" y="4938438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96" dirty="0"/>
          </a:p>
        </p:txBody>
      </p:sp>
      <p:sp>
        <p:nvSpPr>
          <p:cNvPr id="182" name="Text 179"/>
          <p:cNvSpPr/>
          <p:nvPr/>
        </p:nvSpPr>
        <p:spPr>
          <a:xfrm>
            <a:off x="10409969" y="4938438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60" dirty="0"/>
          </a:p>
        </p:txBody>
      </p:sp>
      <p:sp>
        <p:nvSpPr>
          <p:cNvPr id="183" name="Text 180"/>
          <p:cNvSpPr/>
          <p:nvPr/>
        </p:nvSpPr>
        <p:spPr>
          <a:xfrm>
            <a:off x="704832" y="5124324"/>
            <a:ext cx="562713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24" dirty="0"/>
          </a:p>
        </p:txBody>
      </p:sp>
      <p:sp>
        <p:nvSpPr>
          <p:cNvPr id="184" name="Text 181"/>
          <p:cNvSpPr/>
          <p:nvPr/>
        </p:nvSpPr>
        <p:spPr>
          <a:xfrm>
            <a:off x="9538454" y="5124324"/>
            <a:ext cx="915091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96" dirty="0"/>
          </a:p>
        </p:txBody>
      </p:sp>
      <p:sp>
        <p:nvSpPr>
          <p:cNvPr id="185" name="Text 182"/>
          <p:cNvSpPr/>
          <p:nvPr/>
        </p:nvSpPr>
        <p:spPr>
          <a:xfrm>
            <a:off x="10409969" y="5124324"/>
            <a:ext cx="1130738" cy="18588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60" dirty="0"/>
          </a:p>
        </p:txBody>
      </p:sp>
      <p:sp>
        <p:nvSpPr>
          <p:cNvPr id="186" name="Text 183"/>
          <p:cNvSpPr/>
          <p:nvPr/>
        </p:nvSpPr>
        <p:spPr>
          <a:xfrm>
            <a:off x="704832" y="6143625"/>
            <a:ext cx="274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68" dirty="0"/>
          </a:p>
        </p:txBody>
      </p:sp>
      <p:sp>
        <p:nvSpPr>
          <p:cNvPr id="187" name="Text 184"/>
          <p:cNvSpPr/>
          <p:nvPr/>
        </p:nvSpPr>
        <p:spPr>
          <a:xfrm>
            <a:off x="1009625" y="6143625"/>
            <a:ext cx="274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768" dirty="0"/>
          </a:p>
        </p:txBody>
      </p:sp>
      <p:sp>
        <p:nvSpPr>
          <p:cNvPr id="188" name="Text 185"/>
          <p:cNvSpPr/>
          <p:nvPr/>
        </p:nvSpPr>
        <p:spPr>
          <a:xfrm>
            <a:off x="1314417" y="6143625"/>
            <a:ext cx="274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68" dirty="0"/>
          </a:p>
        </p:txBody>
      </p:sp>
      <p:sp>
        <p:nvSpPr>
          <p:cNvPr id="189" name="Text 186"/>
          <p:cNvSpPr/>
          <p:nvPr/>
        </p:nvSpPr>
        <p:spPr>
          <a:xfrm>
            <a:off x="1619210" y="6143625"/>
            <a:ext cx="274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68" dirty="0"/>
          </a:p>
        </p:txBody>
      </p:sp>
      <p:sp>
        <p:nvSpPr>
          <p:cNvPr id="190" name="Text 187"/>
          <p:cNvSpPr/>
          <p:nvPr/>
        </p:nvSpPr>
        <p:spPr>
          <a:xfrm>
            <a:off x="1924002" y="6143625"/>
            <a:ext cx="274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768" dirty="0"/>
          </a:p>
        </p:txBody>
      </p:sp>
      <p:sp>
        <p:nvSpPr>
          <p:cNvPr id="191" name="Text 188"/>
          <p:cNvSpPr/>
          <p:nvPr/>
        </p:nvSpPr>
        <p:spPr>
          <a:xfrm>
            <a:off x="2228794" y="6143625"/>
            <a:ext cx="274320" cy="240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6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768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281121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175025" y="1133475"/>
            <a:ext cx="2347422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8 iniciativas ·  ·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719417" y="3284190"/>
            <a:ext cx="1580158" cy="1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9967217" y="4533900"/>
            <a:ext cx="1580158" cy="1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3361943" y="3179415"/>
            <a:ext cx="158015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 · Vanti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7324691" y="4533900"/>
            <a:ext cx="1580158" cy="1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2040680" y="4429125"/>
            <a:ext cx="158015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 · Xuma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3361943" y="3284190"/>
            <a:ext cx="1580158" cy="1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719417" y="3179415"/>
            <a:ext cx="158015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 · Vanti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2040680" y="4533900"/>
            <a:ext cx="1580158" cy="1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4683206" y="4533900"/>
            <a:ext cx="1580158" cy="1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4683206" y="4429125"/>
            <a:ext cx="158015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 · Xuma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003428" y="3179415"/>
            <a:ext cx="158015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 · Xuma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7324691" y="4429125"/>
            <a:ext cx="158015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C9890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 · Vanti</a:t>
            </a:r>
            <a:endParaRPr lang="en-US" sz="672" dirty="0"/>
          </a:p>
        </p:txBody>
      </p:sp>
      <p:sp>
        <p:nvSpPr>
          <p:cNvPr id="17" name="Text 14"/>
          <p:cNvSpPr/>
          <p:nvPr/>
        </p:nvSpPr>
        <p:spPr>
          <a:xfrm>
            <a:off x="9967217" y="4429125"/>
            <a:ext cx="158015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 · Xuma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003428" y="3284190"/>
            <a:ext cx="1580158" cy="1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8645954" y="3179415"/>
            <a:ext cx="158015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b="1" dirty="0">
                <a:solidFill>
                  <a:srgbClr val="009A7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 · Xuma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8645954" y="3284190"/>
            <a:ext cx="1580158" cy="142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3888931" y="3467100"/>
            <a:ext cx="29924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4.200</a:t>
            </a:r>
            <a:endParaRPr lang="en-US" sz="672" dirty="0"/>
          </a:p>
        </p:txBody>
      </p:sp>
      <p:sp>
        <p:nvSpPr>
          <p:cNvPr id="22" name="Text 19"/>
          <p:cNvSpPr/>
          <p:nvPr/>
        </p:nvSpPr>
        <p:spPr>
          <a:xfrm>
            <a:off x="10492121" y="4716810"/>
            <a:ext cx="28877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1.200</a:t>
            </a:r>
            <a:endParaRPr lang="en-US" sz="672" dirty="0"/>
          </a:p>
        </p:txBody>
      </p:sp>
      <p:sp>
        <p:nvSpPr>
          <p:cNvPr id="23" name="Text 20"/>
          <p:cNvSpPr/>
          <p:nvPr/>
        </p:nvSpPr>
        <p:spPr>
          <a:xfrm>
            <a:off x="997124" y="3448050"/>
            <a:ext cx="27432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</a:t>
            </a:r>
            <a:endParaRPr lang="en-US" sz="792" dirty="0"/>
          </a:p>
        </p:txBody>
      </p:sp>
      <p:sp>
        <p:nvSpPr>
          <p:cNvPr id="24" name="Text 21"/>
          <p:cNvSpPr/>
          <p:nvPr/>
        </p:nvSpPr>
        <p:spPr>
          <a:xfrm>
            <a:off x="1267984" y="346710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950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1515925" y="3429000"/>
            <a:ext cx="452233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2554124" y="471681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2809209" y="4678710"/>
            <a:ext cx="44598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3608694" y="3448050"/>
            <a:ext cx="27432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</a:t>
            </a:r>
            <a:endParaRPr lang="en-US" sz="792" dirty="0"/>
          </a:p>
        </p:txBody>
      </p:sp>
      <p:sp>
        <p:nvSpPr>
          <p:cNvPr id="29" name="Text 26"/>
          <p:cNvSpPr/>
          <p:nvPr/>
        </p:nvSpPr>
        <p:spPr>
          <a:xfrm>
            <a:off x="4199676" y="3429000"/>
            <a:ext cx="44129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5198288" y="471681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672" dirty="0"/>
          </a:p>
        </p:txBody>
      </p:sp>
      <p:sp>
        <p:nvSpPr>
          <p:cNvPr id="31" name="Text 28"/>
          <p:cNvSpPr/>
          <p:nvPr/>
        </p:nvSpPr>
        <p:spPr>
          <a:xfrm>
            <a:off x="5453373" y="4678710"/>
            <a:ext cx="44598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6508984" y="346710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672" dirty="0"/>
          </a:p>
        </p:txBody>
      </p:sp>
      <p:sp>
        <p:nvSpPr>
          <p:cNvPr id="33" name="Text 30"/>
          <p:cNvSpPr/>
          <p:nvPr/>
        </p:nvSpPr>
        <p:spPr>
          <a:xfrm>
            <a:off x="6759009" y="3429000"/>
            <a:ext cx="453014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7862542" y="471681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650</a:t>
            </a:r>
            <a:endParaRPr lang="en-US" sz="672" dirty="0"/>
          </a:p>
        </p:txBody>
      </p:sp>
      <p:sp>
        <p:nvSpPr>
          <p:cNvPr id="35" name="Text 32"/>
          <p:cNvSpPr/>
          <p:nvPr/>
        </p:nvSpPr>
        <p:spPr>
          <a:xfrm>
            <a:off x="9166393" y="3467100"/>
            <a:ext cx="274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9416418" y="3429000"/>
            <a:ext cx="433012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10219772" y="4697760"/>
            <a:ext cx="27432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792" dirty="0"/>
          </a:p>
        </p:txBody>
      </p:sp>
      <p:sp>
        <p:nvSpPr>
          <p:cNvPr id="38" name="Text 35"/>
          <p:cNvSpPr/>
          <p:nvPr/>
        </p:nvSpPr>
        <p:spPr>
          <a:xfrm>
            <a:off x="10792895" y="4678710"/>
            <a:ext cx="447857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8111823" y="4678710"/>
            <a:ext cx="403478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2352319" y="4697760"/>
            <a:ext cx="27432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</a:t>
            </a:r>
            <a:endParaRPr lang="en-US" sz="792" dirty="0"/>
          </a:p>
        </p:txBody>
      </p:sp>
      <p:sp>
        <p:nvSpPr>
          <p:cNvPr id="41" name="Text 38"/>
          <p:cNvSpPr/>
          <p:nvPr/>
        </p:nvSpPr>
        <p:spPr>
          <a:xfrm>
            <a:off x="4993208" y="4697760"/>
            <a:ext cx="27432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</a:t>
            </a:r>
            <a:endParaRPr lang="en-US" sz="792" dirty="0"/>
          </a:p>
        </p:txBody>
      </p:sp>
      <p:sp>
        <p:nvSpPr>
          <p:cNvPr id="42" name="Text 39"/>
          <p:cNvSpPr/>
          <p:nvPr/>
        </p:nvSpPr>
        <p:spPr>
          <a:xfrm>
            <a:off x="6321317" y="3448050"/>
            <a:ext cx="27432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</a:t>
            </a:r>
            <a:endParaRPr lang="en-US" sz="792" dirty="0"/>
          </a:p>
        </p:txBody>
      </p:sp>
      <p:sp>
        <p:nvSpPr>
          <p:cNvPr id="43" name="Text 40"/>
          <p:cNvSpPr/>
          <p:nvPr/>
        </p:nvSpPr>
        <p:spPr>
          <a:xfrm>
            <a:off x="7658206" y="4697760"/>
            <a:ext cx="27432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</a:t>
            </a:r>
            <a:endParaRPr lang="en-US" sz="792" dirty="0"/>
          </a:p>
        </p:txBody>
      </p:sp>
      <p:sp>
        <p:nvSpPr>
          <p:cNvPr id="44" name="Text 41"/>
          <p:cNvSpPr/>
          <p:nvPr/>
        </p:nvSpPr>
        <p:spPr>
          <a:xfrm>
            <a:off x="8968010" y="3448050"/>
            <a:ext cx="274320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79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366458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6514937" y="1067842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09585" y="6619875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Parte de La Gran Jugada · 114% meta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981050" y="1067842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514937" y="4049167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43471" y="6619875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ventas en dos semanas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981050" y="4049167"/>
            <a:ext cx="50058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09585" y="3638550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ventas logradas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6143471" y="3638550"/>
            <a:ext cx="5710571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1.266 ventas logradas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981050" y="959197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3" name="Text 10"/>
          <p:cNvSpPr/>
          <p:nvPr/>
        </p:nvSpPr>
        <p:spPr>
          <a:xfrm>
            <a:off x="6514937" y="959197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981050" y="3940522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6514937" y="3940522"/>
            <a:ext cx="5005813" cy="1140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609585" y="3457575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6143471" y="3457575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609585" y="6438900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143471" y="6438900"/>
            <a:ext cx="5710571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5815165" y="995362"/>
            <a:ext cx="27432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11349051" y="995362"/>
            <a:ext cx="27432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5815165" y="3976687"/>
            <a:ext cx="27432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11349051" y="3976687"/>
            <a:ext cx="27432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72106" y="6399609"/>
            <a:ext cx="4174636" cy="1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Fortalecimiento del Cumplimiento de Lineamientos Operativos y de Calidad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019150" y="5701754"/>
            <a:ext cx="3863980" cy="1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Lineamientos para la Aplicación del Guion y Control de Modificaciones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6772106" y="4432399"/>
            <a:ext cx="3853198" cy="1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Implementación de Herramientas de Apoyo para la Gestión Comercial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1019150" y="1767185"/>
            <a:ext cx="3446438" cy="1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Socialización y Alineación de Estándares de Calidad Comercial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6772106" y="2808089"/>
            <a:ext cx="3567700" cy="1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Fortalecimiento de Conocimientos del Producto Cuota Protegida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1019150" y="3620244"/>
            <a:ext cx="3363149" cy="1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Aplicación Correcta de la Cláusula de Cobro y Autorizaciones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1019150" y="5473154"/>
            <a:ext cx="3386589" cy="1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Técnicas Efectivas para el Manejo de Objeciones Comerciales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1019150" y="5244554"/>
            <a:ext cx="3045773" cy="1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Actualización Comercial del Producto Plan Combo Vida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6772106" y="2579489"/>
            <a:ext cx="2774027" cy="1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Estandarización del Protocolo de Cierre Comercial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571486" y="209550"/>
            <a:ext cx="41036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260" dirty="0"/>
          </a:p>
        </p:txBody>
      </p:sp>
      <p:sp>
        <p:nvSpPr>
          <p:cNvPr id="13" name="Text 10"/>
          <p:cNvSpPr/>
          <p:nvPr/>
        </p:nvSpPr>
        <p:spPr>
          <a:xfrm>
            <a:off x="6772106" y="4660999"/>
            <a:ext cx="2594166" cy="1497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Estandarización del Guion Comercial Aprobado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4670259" y="1002655"/>
            <a:ext cx="3293767" cy="158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9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ejecutadas por Xuma — al menos una por mes.</a:t>
            </a:r>
            <a:endParaRPr lang="en-US" sz="792" dirty="0"/>
          </a:p>
        </p:txBody>
      </p:sp>
      <p:sp>
        <p:nvSpPr>
          <p:cNvPr id="15" name="Text 12"/>
          <p:cNvSpPr/>
          <p:nvPr/>
        </p:nvSpPr>
        <p:spPr>
          <a:xfrm>
            <a:off x="6839672" y="2426940"/>
            <a:ext cx="39910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624" dirty="0"/>
          </a:p>
        </p:txBody>
      </p:sp>
      <p:sp>
        <p:nvSpPr>
          <p:cNvPr id="16" name="Text 13"/>
          <p:cNvSpPr/>
          <p:nvPr/>
        </p:nvSpPr>
        <p:spPr>
          <a:xfrm>
            <a:off x="6855447" y="4279850"/>
            <a:ext cx="39910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624" dirty="0"/>
          </a:p>
        </p:txBody>
      </p:sp>
      <p:sp>
        <p:nvSpPr>
          <p:cNvPr id="17" name="Text 14"/>
          <p:cNvSpPr/>
          <p:nvPr/>
        </p:nvSpPr>
        <p:spPr>
          <a:xfrm>
            <a:off x="1111123" y="5092005"/>
            <a:ext cx="4001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sesiónes</a:t>
            </a:r>
            <a:endParaRPr lang="en-US" sz="624" dirty="0"/>
          </a:p>
        </p:txBody>
      </p:sp>
      <p:sp>
        <p:nvSpPr>
          <p:cNvPr id="18" name="Text 15"/>
          <p:cNvSpPr/>
          <p:nvPr/>
        </p:nvSpPr>
        <p:spPr>
          <a:xfrm>
            <a:off x="1096241" y="1614636"/>
            <a:ext cx="30221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624" dirty="0"/>
          </a:p>
        </p:txBody>
      </p:sp>
      <p:sp>
        <p:nvSpPr>
          <p:cNvPr id="19" name="Text 16"/>
          <p:cNvSpPr/>
          <p:nvPr/>
        </p:nvSpPr>
        <p:spPr>
          <a:xfrm>
            <a:off x="1118564" y="3467695"/>
            <a:ext cx="30221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624" dirty="0"/>
          </a:p>
        </p:txBody>
      </p:sp>
      <p:sp>
        <p:nvSpPr>
          <p:cNvPr id="20" name="Text 17"/>
          <p:cNvSpPr/>
          <p:nvPr/>
        </p:nvSpPr>
        <p:spPr>
          <a:xfrm>
            <a:off x="6853215" y="6247061"/>
            <a:ext cx="30221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624" dirty="0"/>
          </a:p>
        </p:txBody>
      </p:sp>
      <p:sp>
        <p:nvSpPr>
          <p:cNvPr id="21" name="Text 18"/>
          <p:cNvSpPr/>
          <p:nvPr/>
        </p:nvSpPr>
        <p:spPr>
          <a:xfrm>
            <a:off x="790555" y="1609874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6543511" y="2422178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790555" y="3462933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6543511" y="4275088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790555" y="5087243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6543511" y="6242298"/>
            <a:ext cx="274320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2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6041975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743531" y="1912888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6743531" y="4665613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743531" y="3289250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1200120" y="3289250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1200120" y="4665613"/>
            <a:ext cx="4820482" cy="26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1200120" y="1976735"/>
            <a:ext cx="4565144" cy="13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1200120" y="6105823"/>
            <a:ext cx="3851948" cy="134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1200120" y="1852910"/>
            <a:ext cx="45651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6743531" y="3165425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1200120" y="3165425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1200120" y="4541788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743531" y="4541788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571486" y="209550"/>
            <a:ext cx="363395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743531" y="5918150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743531" y="1789063"/>
            <a:ext cx="4820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1200120" y="5981998"/>
            <a:ext cx="38519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743531" y="4398913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743531" y="5775275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200120" y="5839123"/>
            <a:ext cx="38519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1200120" y="1710035"/>
            <a:ext cx="456514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1200120" y="3022550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743531" y="1646188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6743531" y="3022550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1200120" y="4398913"/>
            <a:ext cx="4820482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864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800580" cy="5375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Contactabilidad, conversión, motivos de rechazo y proyección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del volumen necesario para lograr 3.000 ventas/mes en el segundo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816207" cy="110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6775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35873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575" y="4442520"/>
            <a:ext cx="11021102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entre enero (22 %) y mayo (65 %) triplicamos la contactabilidad sin cambiar quién llamamos, solo . Eso sostuvo el nivel de ventas pese a que la base apta cayó un 62 %.  el calendario, horarios y estrategia de llamadas son tan poderosos como la base misma. Febrero y junio bajan porque cambia el mix de campañas (vimos esto arriba). En el 2S, Isaac propone seguir con análisis por franja horaria para identificar ventanas óptimas.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3351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3552736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46,5 % (+56 % volumen gestionado)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761981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 contactos en el semestre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9134247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761981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343491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(7,5–11,2 %)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343491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134247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7166044" y="2475630"/>
            <a:ext cx="192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3552736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999263" y="2475630"/>
            <a:ext cx="12371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10177506" y="2475630"/>
            <a:ext cx="135482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Efect.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7166044" y="2704230"/>
            <a:ext cx="192488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22.402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10177506" y="2704230"/>
            <a:ext cx="135482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10,0 %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7166044" y="2947117"/>
            <a:ext cx="1924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21.171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10177506" y="2947117"/>
            <a:ext cx="135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11,2 %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166044" y="3194767"/>
            <a:ext cx="1924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32.546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7166044" y="3442417"/>
            <a:ext cx="1924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24.520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7166044" y="3690067"/>
            <a:ext cx="192488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25.647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7166044" y="3937717"/>
            <a:ext cx="192488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28.552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61981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552736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5438639" y="2508945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21,6 %</a:t>
            </a:r>
            <a:endParaRPr lang="en-US" sz="768" dirty="0"/>
          </a:p>
        </p:txBody>
      </p:sp>
      <p:sp>
        <p:nvSpPr>
          <p:cNvPr id="27" name="Text 24"/>
          <p:cNvSpPr/>
          <p:nvPr/>
        </p:nvSpPr>
        <p:spPr>
          <a:xfrm>
            <a:off x="5438639" y="2689920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44,1 %</a:t>
            </a:r>
            <a:endParaRPr lang="en-US" sz="768" dirty="0"/>
          </a:p>
        </p:txBody>
      </p:sp>
      <p:sp>
        <p:nvSpPr>
          <p:cNvPr id="28" name="Text 25"/>
          <p:cNvSpPr/>
          <p:nvPr/>
        </p:nvSpPr>
        <p:spPr>
          <a:xfrm>
            <a:off x="5438639" y="2870895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45,3 %</a:t>
            </a:r>
            <a:endParaRPr lang="en-US" sz="768" dirty="0"/>
          </a:p>
        </p:txBody>
      </p:sp>
      <p:sp>
        <p:nvSpPr>
          <p:cNvPr id="29" name="Text 26"/>
          <p:cNvSpPr/>
          <p:nvPr/>
        </p:nvSpPr>
        <p:spPr>
          <a:xfrm>
            <a:off x="5438639" y="3051870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60,3 %</a:t>
            </a:r>
            <a:endParaRPr lang="en-US" sz="768" dirty="0"/>
          </a:p>
        </p:txBody>
      </p:sp>
      <p:sp>
        <p:nvSpPr>
          <p:cNvPr id="30" name="Text 27"/>
          <p:cNvSpPr/>
          <p:nvPr/>
        </p:nvSpPr>
        <p:spPr>
          <a:xfrm>
            <a:off x="5438639" y="3232845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768" dirty="0"/>
          </a:p>
        </p:txBody>
      </p:sp>
      <p:sp>
        <p:nvSpPr>
          <p:cNvPr id="31" name="Text 28"/>
          <p:cNvSpPr/>
          <p:nvPr/>
        </p:nvSpPr>
        <p:spPr>
          <a:xfrm>
            <a:off x="5438639" y="3413820"/>
            <a:ext cx="480048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46,5 %</a:t>
            </a:r>
            <a:endParaRPr lang="en-US" sz="768" dirty="0"/>
          </a:p>
        </p:txBody>
      </p:sp>
      <p:sp>
        <p:nvSpPr>
          <p:cNvPr id="32" name="Text 29"/>
          <p:cNvSpPr/>
          <p:nvPr/>
        </p:nvSpPr>
        <p:spPr>
          <a:xfrm>
            <a:off x="8999263" y="2704230"/>
            <a:ext cx="123715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8999263" y="2947117"/>
            <a:ext cx="1237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8999263" y="3194767"/>
            <a:ext cx="1237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10177506" y="3194767"/>
            <a:ext cx="135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7,5 %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8999263" y="3442417"/>
            <a:ext cx="1237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10177506" y="3442417"/>
            <a:ext cx="135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9,7 %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8999263" y="3690067"/>
            <a:ext cx="123715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10177506" y="3690067"/>
            <a:ext cx="1354823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8,5 %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8999263" y="3937717"/>
            <a:ext cx="123715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10177506" y="3937717"/>
            <a:ext cx="135482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8,1 %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6343491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9,0 %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9134247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~51 %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6295868" y="2475630"/>
            <a:ext cx="913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6295868" y="2704230"/>
            <a:ext cx="91368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6295868" y="2947117"/>
            <a:ext cx="9136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6295868" y="3194767"/>
            <a:ext cx="9136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6295868" y="3442417"/>
            <a:ext cx="9136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6295868" y="3690067"/>
            <a:ext cx="91368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6295868" y="3937717"/>
            <a:ext cx="91368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723882" y="2504182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723882" y="2685157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723882" y="2866132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723882" y="3047107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723882" y="3228082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723882" y="3409057"/>
            <a:ext cx="740074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Camp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1070" y="4134477"/>
            <a:ext cx="10621062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números en el calendario cambian según qué tipo de cliente estamos llamando. Cuando trabajamos con gente que ya nos conoce (CP y Autogestión) los contactamos unas 4 veces mejor (73-79 %) que números nuevos en Masiva Voluntarios (19 %).  mejorar contactabilidad no es solo cuestión de horarios — es el tipo de base. Mejor calidad de números = mejores resultados.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723882" y="3806162"/>
            <a:ext cx="11281128" cy="124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Las ventas en base (operativo) no incluyen campañas fuera de base como Microseguro Activo (). La liquidación consolida ambos orígenes.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571486" y="209550"/>
            <a:ext cx="335127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3552736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46,5 % (+56 % volumen gestionado)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761981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154.838 contactos en el semestre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9134247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761981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343491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(7,5–11,2 %)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723882" y="2772723"/>
            <a:ext cx="402743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Cuota Protegida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6343491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9134247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723882" y="3263260"/>
            <a:ext cx="40274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Stock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723882" y="3510910"/>
            <a:ext cx="402743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4559533" y="2544123"/>
            <a:ext cx="26555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7088655" y="2544123"/>
            <a:ext cx="259604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723882" y="3015610"/>
            <a:ext cx="4027434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3552736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9561075" y="2772723"/>
            <a:ext cx="20020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9561075" y="3015610"/>
            <a:ext cx="2002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9561075" y="3263260"/>
            <a:ext cx="20020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Moderado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723882" y="2544123"/>
            <a:ext cx="402743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9561075" y="2544123"/>
            <a:ext cx="200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Perfil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088655" y="2772723"/>
            <a:ext cx="259604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19,6 %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7088655" y="3015610"/>
            <a:ext cx="25960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26,3 %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61981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552736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64,9 %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7088655" y="3263260"/>
            <a:ext cx="2596041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3,6 %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088655" y="3510910"/>
            <a:ext cx="2596041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6343491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9,0 %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9134247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~51 %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559533" y="2772723"/>
            <a:ext cx="265557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4559533" y="3015610"/>
            <a:ext cx="26555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73 %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4559533" y="3263260"/>
            <a:ext cx="2655578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52 %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559533" y="3510910"/>
            <a:ext cx="2655578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9561075" y="3510910"/>
            <a:ext cx="20020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Bajo</a:t>
            </a:r>
            <a:endParaRPr lang="en-US" sz="888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4007" y="4271070"/>
            <a:ext cx="4830483" cy="518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57,6 % de "no contacto", al menos  nunca se cursaron por fallas de red.  parte de ese insumo termina descartándose luego como "re-enviado" — cruce pendiente de confirmar registro por registro.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142971" y="5042595"/>
            <a:ext cx="4830483" cy="575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7A301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 con la red menos estable de las dos: pierde 17 de cada 100 llamadas por congestión o rechazo de troncal, frente a 0,86 % en Tigo.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6314917" y="3994845"/>
            <a:ext cx="5410541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Estimación con la efectividad del semestre; validar con Isaac el período de la muestra.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6314917" y="5145435"/>
            <a:ext cx="5410541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Rebalancear troncales hacia Tigo en zonas periféricas (San Cristóbal, Ciudad Bolívar)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6314917" y="5558582"/>
            <a:ext cx="5410541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Enrutamiento dinámico: salida obligada por Tigo donde Movistar falla &gt;17 %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314917" y="5352008"/>
            <a:ext cx="5410541" cy="16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 formal a Movistar: códigos 34 (congestión) y 21 (rechazo)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343491" y="150882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9134247" y="150882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571486" y="209550"/>
            <a:ext cx="38375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42,4 % operativo del 1S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10059488" y="3574405"/>
            <a:ext cx="1388733" cy="2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ventas, a la efectividad histórica (9,0 %)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400640" y="3574405"/>
            <a:ext cx="1388733" cy="2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 (backup Movistar)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8229990" y="3574405"/>
            <a:ext cx="1388889" cy="2587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contactos, a la tasa de Tigo (71 %)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5065983" y="3109020"/>
            <a:ext cx="851335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173.548 llamadas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5045445" y="4061520"/>
            <a:ext cx="872900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448.057 llamadas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1035074" y="3109020"/>
            <a:ext cx="60240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(principal)</a:t>
            </a:r>
            <a:endParaRPr lang="en-US" sz="792" dirty="0"/>
          </a:p>
        </p:txBody>
      </p:sp>
      <p:sp>
        <p:nvSpPr>
          <p:cNvPr id="24" name="Text 21"/>
          <p:cNvSpPr/>
          <p:nvPr/>
        </p:nvSpPr>
        <p:spPr>
          <a:xfrm>
            <a:off x="8229990" y="3235375"/>
            <a:ext cx="138888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Recuperable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723882" y="3661470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723882" y="4613970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059488" y="3235375"/>
            <a:ext cx="138873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723882" y="3347145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723882" y="4032945"/>
            <a:ext cx="1087921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</a:t>
            </a:r>
            <a:endParaRPr lang="en-US" sz="1032" dirty="0"/>
          </a:p>
        </p:txBody>
      </p:sp>
      <p:sp>
        <p:nvSpPr>
          <p:cNvPr id="30" name="Text 27"/>
          <p:cNvSpPr/>
          <p:nvPr/>
        </p:nvSpPr>
        <p:spPr>
          <a:xfrm>
            <a:off x="723882" y="4299645"/>
            <a:ext cx="78007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8229990" y="3368725"/>
            <a:ext cx="1388889" cy="17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49.500</a:t>
            </a:r>
            <a:endParaRPr lang="en-US" sz="1320" dirty="0"/>
          </a:p>
        </p:txBody>
      </p:sp>
      <p:sp>
        <p:nvSpPr>
          <p:cNvPr id="32" name="Text 29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10059488" y="3368725"/>
            <a:ext cx="1388733" cy="17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4.450</a:t>
            </a:r>
            <a:endParaRPr lang="en-US" sz="1320" dirty="0"/>
          </a:p>
        </p:txBody>
      </p:sp>
      <p:sp>
        <p:nvSpPr>
          <p:cNvPr id="34" name="Text 31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5419590" y="3347145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64" dirty="0"/>
          </a:p>
        </p:txBody>
      </p:sp>
      <p:sp>
        <p:nvSpPr>
          <p:cNvPr id="38" name="Text 35"/>
          <p:cNvSpPr/>
          <p:nvPr/>
        </p:nvSpPr>
        <p:spPr>
          <a:xfrm>
            <a:off x="5419590" y="4299645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25,6 %</a:t>
            </a:r>
            <a:endParaRPr lang="en-US" sz="864" dirty="0"/>
          </a:p>
        </p:txBody>
      </p:sp>
      <p:sp>
        <p:nvSpPr>
          <p:cNvPr id="39" name="Text 36"/>
          <p:cNvSpPr/>
          <p:nvPr/>
        </p:nvSpPr>
        <p:spPr>
          <a:xfrm>
            <a:off x="5419590" y="4613970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6400640" y="3368725"/>
            <a:ext cx="1388733" cy="1759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320" dirty="0"/>
          </a:p>
        </p:txBody>
      </p:sp>
      <p:sp>
        <p:nvSpPr>
          <p:cNvPr id="41" name="Text 38"/>
          <p:cNvSpPr/>
          <p:nvPr/>
        </p:nvSpPr>
        <p:spPr>
          <a:xfrm>
            <a:off x="5419590" y="3661470"/>
            <a:ext cx="480048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64" dirty="0"/>
          </a:p>
        </p:txBody>
      </p:sp>
      <p:sp>
        <p:nvSpPr>
          <p:cNvPr id="42" name="Text 39"/>
          <p:cNvSpPr/>
          <p:nvPr/>
        </p:nvSpPr>
        <p:spPr>
          <a:xfrm>
            <a:off x="723882" y="3080445"/>
            <a:ext cx="929155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</a:t>
            </a:r>
            <a:endParaRPr lang="en-US" sz="1032" dirty="0"/>
          </a:p>
        </p:txBody>
      </p:sp>
      <p:sp>
        <p:nvSpPr>
          <p:cNvPr id="43" name="Text 40"/>
          <p:cNvSpPr/>
          <p:nvPr/>
        </p:nvSpPr>
        <p:spPr>
          <a:xfrm>
            <a:off x="6400640" y="3235375"/>
            <a:ext cx="1388733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7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Zo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3491" y="150882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9134247" y="1508820"/>
            <a:ext cx="2450245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2528080" y="3263243"/>
            <a:ext cx="258166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71,9 % contacto · Movistar 24,1 % contacto)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7997972" y="3263243"/>
            <a:ext cx="2592603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72,4 % contacto · Movistar 25,7 % contacto)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571486" y="209550"/>
            <a:ext cx="383757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3552736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42,4 % operativo del 1S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761981" y="150882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172046" y="3263243"/>
            <a:ext cx="55005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 Bolívar — 28.819 llamadas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781030" y="3263243"/>
            <a:ext cx="55005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 Cristóbal — 32.619 llamadas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3552736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9134247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781030" y="3763328"/>
            <a:ext cx="1811275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Gloria Occidental</a:t>
            </a:r>
            <a:endParaRPr lang="en-US" sz="840" dirty="0"/>
          </a:p>
        </p:txBody>
      </p:sp>
      <p:sp>
        <p:nvSpPr>
          <p:cNvPr id="15" name="Text 12"/>
          <p:cNvSpPr/>
          <p:nvPr/>
        </p:nvSpPr>
        <p:spPr>
          <a:xfrm>
            <a:off x="76198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6172046" y="3763328"/>
            <a:ext cx="1671261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Arborizadora Alta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6343491" y="100965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781030" y="4101466"/>
            <a:ext cx="18112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Bello Horizonte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4498664" y="3439478"/>
            <a:ext cx="159703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9832084" y="3439478"/>
            <a:ext cx="16575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6172046" y="4101466"/>
            <a:ext cx="16712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Mochuelo</a:t>
            </a:r>
            <a:endParaRPr lang="en-US" sz="840" dirty="0"/>
          </a:p>
        </p:txBody>
      </p:sp>
      <p:sp>
        <p:nvSpPr>
          <p:cNvPr id="22" name="Text 19"/>
          <p:cNvSpPr/>
          <p:nvPr/>
        </p:nvSpPr>
        <p:spPr>
          <a:xfrm>
            <a:off x="3305539" y="3439478"/>
            <a:ext cx="125278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8593568" y="3439478"/>
            <a:ext cx="1300443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81030" y="4444366"/>
            <a:ext cx="1811275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Calvo Sur</a:t>
            </a:r>
            <a:endParaRPr lang="en-US" sz="840" dirty="0"/>
          </a:p>
        </p:txBody>
      </p:sp>
      <p:sp>
        <p:nvSpPr>
          <p:cNvPr id="25" name="Text 22"/>
          <p:cNvSpPr/>
          <p:nvPr/>
        </p:nvSpPr>
        <p:spPr>
          <a:xfrm>
            <a:off x="6172046" y="4444366"/>
            <a:ext cx="1671261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Tesoro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76198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781030" y="3439478"/>
            <a:ext cx="1811275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4498664" y="3763328"/>
            <a:ext cx="1597035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4498664" y="4101466"/>
            <a:ext cx="159703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17,6 %</a:t>
            </a:r>
            <a:endParaRPr lang="en-US" sz="840" dirty="0"/>
          </a:p>
        </p:txBody>
      </p:sp>
      <p:sp>
        <p:nvSpPr>
          <p:cNvPr id="30" name="Text 27"/>
          <p:cNvSpPr/>
          <p:nvPr/>
        </p:nvSpPr>
        <p:spPr>
          <a:xfrm>
            <a:off x="4498664" y="4444366"/>
            <a:ext cx="1597035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840" dirty="0"/>
          </a:p>
        </p:txBody>
      </p:sp>
      <p:sp>
        <p:nvSpPr>
          <p:cNvPr id="31" name="Text 28"/>
          <p:cNvSpPr/>
          <p:nvPr/>
        </p:nvSpPr>
        <p:spPr>
          <a:xfrm>
            <a:off x="6172046" y="3439478"/>
            <a:ext cx="16712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9832084" y="3763328"/>
            <a:ext cx="1657509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15,0 %</a:t>
            </a:r>
            <a:endParaRPr lang="en-US" sz="840" dirty="0"/>
          </a:p>
        </p:txBody>
      </p:sp>
      <p:sp>
        <p:nvSpPr>
          <p:cNvPr id="33" name="Text 30"/>
          <p:cNvSpPr/>
          <p:nvPr/>
        </p:nvSpPr>
        <p:spPr>
          <a:xfrm>
            <a:off x="9832084" y="4101466"/>
            <a:ext cx="165750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840" dirty="0"/>
          </a:p>
        </p:txBody>
      </p:sp>
      <p:sp>
        <p:nvSpPr>
          <p:cNvPr id="34" name="Text 31"/>
          <p:cNvSpPr/>
          <p:nvPr/>
        </p:nvSpPr>
        <p:spPr>
          <a:xfrm>
            <a:off x="9832084" y="4444366"/>
            <a:ext cx="1657509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3552736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343491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134247" y="118110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2506054" y="3439478"/>
            <a:ext cx="83945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2506054" y="3763328"/>
            <a:ext cx="839459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3.346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3305539" y="3763328"/>
            <a:ext cx="1252782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2506054" y="4101466"/>
            <a:ext cx="839459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2.384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3305539" y="4101466"/>
            <a:ext cx="125278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2506054" y="4444366"/>
            <a:ext cx="839459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3305539" y="4444366"/>
            <a:ext cx="1252782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7763723" y="3439478"/>
            <a:ext cx="87133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7763723" y="3763328"/>
            <a:ext cx="871337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4.546</a:t>
            </a:r>
            <a:endParaRPr lang="en-US" sz="840" dirty="0"/>
          </a:p>
        </p:txBody>
      </p:sp>
      <p:sp>
        <p:nvSpPr>
          <p:cNvPr id="47" name="Text 44"/>
          <p:cNvSpPr/>
          <p:nvPr/>
        </p:nvSpPr>
        <p:spPr>
          <a:xfrm>
            <a:off x="8593568" y="3763328"/>
            <a:ext cx="1300443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8593568" y="4101466"/>
            <a:ext cx="130044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8593568" y="4444366"/>
            <a:ext cx="1300443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7763723" y="4101466"/>
            <a:ext cx="87133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531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7763723" y="4444366"/>
            <a:ext cx="871337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566</a:t>
            </a:r>
            <a:endParaRPr lang="en-US" sz="84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Cal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4704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2791946" y="5671245"/>
            <a:ext cx="2461965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Metas diferenciadas: top performers a 150 pólizas</a:t>
            </a:r>
            <a:endParaRPr lang="en-US" sz="768" dirty="0"/>
          </a:p>
        </p:txBody>
      </p:sp>
      <p:sp>
        <p:nvSpPr>
          <p:cNvPr id="5" name="Text 2"/>
          <p:cNvSpPr/>
          <p:nvPr/>
        </p:nvSpPr>
        <p:spPr>
          <a:xfrm>
            <a:off x="2791946" y="5309295"/>
            <a:ext cx="228835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sube 3,7 % — equipo llega a 20 asesores</a:t>
            </a:r>
            <a:endParaRPr lang="en-US" sz="768" dirty="0"/>
          </a:p>
        </p:txBody>
      </p:sp>
      <p:sp>
        <p:nvSpPr>
          <p:cNvPr id="6" name="Text 3"/>
          <p:cNvSpPr/>
          <p:nvPr/>
        </p:nvSpPr>
        <p:spPr>
          <a:xfrm>
            <a:off x="3671200" y="5490270"/>
            <a:ext cx="2075207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Volante: +Bono por 120 pólizas extra</a:t>
            </a:r>
            <a:endParaRPr lang="en-US" sz="768" dirty="0"/>
          </a:p>
        </p:txBody>
      </p:sp>
      <p:sp>
        <p:nvSpPr>
          <p:cNvPr id="7" name="Text 4"/>
          <p:cNvSpPr/>
          <p:nvPr/>
        </p:nvSpPr>
        <p:spPr>
          <a:xfrm>
            <a:off x="6343491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9134247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3552736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742931" y="4566345"/>
            <a:ext cx="11241124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COMISIONES 1S — EVOLUCIÓN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742931" y="4223467"/>
            <a:ext cx="6768646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mínimos requeridos/mes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3552736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1142971" y="4766370"/>
            <a:ext cx="1643446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1142971" y="4947345"/>
            <a:ext cx="1643446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1142971" y="5128320"/>
            <a:ext cx="1643446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1142971" y="5309295"/>
            <a:ext cx="1651415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1142971" y="5490270"/>
            <a:ext cx="2574632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1142971" y="5671245"/>
            <a:ext cx="1651415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7189260" y="3566242"/>
            <a:ext cx="44724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42,4 % = 78.700 gestionados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189260" y="4004392"/>
            <a:ext cx="44724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40,5 % = ~198.600 recibidos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7189260" y="3347167"/>
            <a:ext cx="44724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8,99 % = 33.370 contactos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742931" y="3347167"/>
            <a:ext cx="40336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/ contactados</a:t>
            </a:r>
            <a:endParaRPr lang="en-US" sz="888" dirty="0"/>
          </a:p>
        </p:txBody>
      </p:sp>
      <p:sp>
        <p:nvSpPr>
          <p:cNvPr id="23" name="Text 20"/>
          <p:cNvSpPr/>
          <p:nvPr/>
        </p:nvSpPr>
        <p:spPr>
          <a:xfrm>
            <a:off x="2784356" y="4766370"/>
            <a:ext cx="1188244" cy="1200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inicial del equipo</a:t>
            </a:r>
            <a:endParaRPr lang="en-US" sz="768" dirty="0"/>
          </a:p>
        </p:txBody>
      </p:sp>
      <p:sp>
        <p:nvSpPr>
          <p:cNvPr id="24" name="Text 21"/>
          <p:cNvSpPr/>
          <p:nvPr/>
        </p:nvSpPr>
        <p:spPr>
          <a:xfrm>
            <a:off x="9134247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7189260" y="3785317"/>
            <a:ext cx="4472478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97,9 % = 80.400 aptos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742931" y="3785317"/>
            <a:ext cx="40336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Gestión sobre aptos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61981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742931" y="4004392"/>
            <a:ext cx="40336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Aptos (1–rechazo)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7189260" y="2904255"/>
            <a:ext cx="44724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para 3.000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6343491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31" name="Text 28"/>
          <p:cNvSpPr/>
          <p:nvPr/>
        </p:nvSpPr>
        <p:spPr>
          <a:xfrm>
            <a:off x="4584536" y="2904255"/>
            <a:ext cx="27349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 histórico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42931" y="3132855"/>
            <a:ext cx="4033685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ventas/mes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742931" y="3566242"/>
            <a:ext cx="40336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7189260" y="4223467"/>
            <a:ext cx="4472478" cy="233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190.000–210.000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761981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6" name="Text 33"/>
          <p:cNvSpPr/>
          <p:nvPr/>
        </p:nvSpPr>
        <p:spPr>
          <a:xfrm>
            <a:off x="6343491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42931" y="2904255"/>
            <a:ext cx="40336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Parámetro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4584536" y="3347167"/>
            <a:ext cx="27349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8,99 %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584536" y="3566242"/>
            <a:ext cx="27349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42,4 %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584536" y="3785317"/>
            <a:ext cx="27349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97,9 %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4584536" y="4004392"/>
            <a:ext cx="273496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40,5 %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7189260" y="3132855"/>
            <a:ext cx="4472478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761981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3552736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~200K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9134247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800080" y="4766370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800080" y="4947345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800080" y="5128320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800080" y="5309295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800080" y="5490270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800080" y="5671245"/>
            <a:ext cx="280028" cy="13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E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3882" y="3501365"/>
            <a:ext cx="11281128" cy="1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deduplicación en origen es viable (registro del distribuidor + validación de fuentes). Su meta de corto plazo: rechazo  como escalón intermedio hacia el 35 %.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1142971" y="5533018"/>
            <a:ext cx="9969122" cy="167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camino a 3.000 pasa más por  que por aumentar el volumen bruto de registros. Cálculo con el semestre completo (ene–jun), liquidación de junio ya incluida.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723882" y="3377540"/>
            <a:ext cx="11281128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Premisas del cálculo: 97,8 % gestión · 45 % contactabilidad · 9,0 % conversión (históricos 1S)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723882" y="3661058"/>
            <a:ext cx="11281128" cy="1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 y  (conversión 17–33 % sobre contacto) reduce el volumen necesario a la mitad.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723882" y="3820750"/>
            <a:ext cx="11281128" cy="1576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Capacidad del equipo: meta agregada jun =  (18 asesores, 134 pol/asesor). Para 3.000 → .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571486" y="209550"/>
            <a:ext cx="470484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28654" y="3144624"/>
            <a:ext cx="3316269" cy="1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rechazo, excluyendo re-envíos y producto activo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4516672" y="3144624"/>
            <a:ext cx="3316269" cy="1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aptos/mes con los mismos ~170K recibidos</a:t>
            </a:r>
            <a:endParaRPr lang="en-US" sz="696" dirty="0"/>
          </a:p>
        </p:txBody>
      </p:sp>
      <p:sp>
        <p:nvSpPr>
          <p:cNvPr id="11" name="Text 8"/>
          <p:cNvSpPr/>
          <p:nvPr/>
        </p:nvSpPr>
        <p:spPr>
          <a:xfrm>
            <a:off x="8204689" y="3144624"/>
            <a:ext cx="3316269" cy="115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ventas/mes potenciales — supera la meta de 3.000</a:t>
            </a:r>
            <a:endParaRPr lang="en-US" sz="696" dirty="0"/>
          </a:p>
        </p:txBody>
      </p:sp>
      <p:sp>
        <p:nvSpPr>
          <p:cNvPr id="12" name="Text 9"/>
          <p:cNvSpPr/>
          <p:nvPr/>
        </p:nvSpPr>
        <p:spPr>
          <a:xfrm>
            <a:off x="6343491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9134247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3552736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3552736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4377968" y="4375753"/>
            <a:ext cx="489392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ventas (liquidación)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4377968" y="5247291"/>
            <a:ext cx="4893927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 / gestionados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9134247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4377968" y="4590066"/>
            <a:ext cx="489392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≥ meta / total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4377968" y="4809141"/>
            <a:ext cx="489392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asesor activo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4377968" y="5028216"/>
            <a:ext cx="4893927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 / recibidos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761981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23882" y="4375753"/>
            <a:ext cx="383679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equipo/mes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6343491" y="99060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828654" y="2852326"/>
            <a:ext cx="331626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 · Depurar</a:t>
            </a:r>
            <a:endParaRPr lang="en-US" sz="696" dirty="0"/>
          </a:p>
        </p:txBody>
      </p:sp>
      <p:sp>
        <p:nvSpPr>
          <p:cNvPr id="26" name="Text 23"/>
          <p:cNvSpPr/>
          <p:nvPr/>
        </p:nvSpPr>
        <p:spPr>
          <a:xfrm>
            <a:off x="723882" y="4590066"/>
            <a:ext cx="38367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E1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23882" y="5247291"/>
            <a:ext cx="3836790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8204689" y="2852326"/>
            <a:ext cx="331626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 · Ventas</a:t>
            </a:r>
            <a:endParaRPr lang="en-US" sz="696" dirty="0"/>
          </a:p>
        </p:txBody>
      </p:sp>
      <p:sp>
        <p:nvSpPr>
          <p:cNvPr id="29" name="Text 26"/>
          <p:cNvSpPr/>
          <p:nvPr/>
        </p:nvSpPr>
        <p:spPr>
          <a:xfrm>
            <a:off x="723882" y="5028216"/>
            <a:ext cx="38367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 base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4516672" y="2852326"/>
            <a:ext cx="3316269" cy="110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 · Aptos</a:t>
            </a:r>
            <a:endParaRPr lang="en-US" sz="696" dirty="0"/>
          </a:p>
        </p:txBody>
      </p:sp>
      <p:sp>
        <p:nvSpPr>
          <p:cNvPr id="31" name="Text 28"/>
          <p:cNvSpPr/>
          <p:nvPr/>
        </p:nvSpPr>
        <p:spPr>
          <a:xfrm>
            <a:off x="9038850" y="4375753"/>
            <a:ext cx="255041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 (dic)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23882" y="4809141"/>
            <a:ext cx="383679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Productividad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761981" y="1489770"/>
            <a:ext cx="245024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4" name="Text 31"/>
          <p:cNvSpPr/>
          <p:nvPr/>
        </p:nvSpPr>
        <p:spPr>
          <a:xfrm>
            <a:off x="6343491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28654" y="2976151"/>
            <a:ext cx="3316269" cy="156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 → 35 %</a:t>
            </a:r>
            <a:endParaRPr lang="en-US" sz="1176" dirty="0"/>
          </a:p>
        </p:txBody>
      </p:sp>
      <p:sp>
        <p:nvSpPr>
          <p:cNvPr id="36" name="Text 33"/>
          <p:cNvSpPr/>
          <p:nvPr/>
        </p:nvSpPr>
        <p:spPr>
          <a:xfrm>
            <a:off x="4516672" y="2976151"/>
            <a:ext cx="3316269" cy="156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62K → 110K</a:t>
            </a:r>
            <a:endParaRPr lang="en-US" sz="1176" dirty="0"/>
          </a:p>
        </p:txBody>
      </p:sp>
      <p:sp>
        <p:nvSpPr>
          <p:cNvPr id="37" name="Text 34"/>
          <p:cNvSpPr/>
          <p:nvPr/>
        </p:nvSpPr>
        <p:spPr>
          <a:xfrm>
            <a:off x="4377968" y="4147153"/>
            <a:ext cx="489392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Fórmula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9038850" y="4147153"/>
            <a:ext cx="25504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8204689" y="2976151"/>
            <a:ext cx="3316269" cy="1568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4.380</a:t>
            </a:r>
            <a:endParaRPr lang="en-US" sz="1176" dirty="0"/>
          </a:p>
        </p:txBody>
      </p:sp>
      <p:sp>
        <p:nvSpPr>
          <p:cNvPr id="40" name="Text 37"/>
          <p:cNvSpPr/>
          <p:nvPr/>
        </p:nvSpPr>
        <p:spPr>
          <a:xfrm>
            <a:off x="9038850" y="4590066"/>
            <a:ext cx="255041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90 %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9038850" y="5028216"/>
            <a:ext cx="255041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&lt; 40 %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9038850" y="5247291"/>
            <a:ext cx="2550411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55 %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9038850" y="4809141"/>
            <a:ext cx="2550411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140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761981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3552736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~200K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9134247" y="1162050"/>
            <a:ext cx="2450245" cy="304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723882" y="4147153"/>
            <a:ext cx="383679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KPI</a:t>
            </a:r>
            <a:endParaRPr lang="en-US" sz="888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Iniciati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3902" y="1914525"/>
            <a:ext cx="10861086" cy="2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individual de dificultades, talleres guiados en la Universidad ILAO y seguimiento cercano por asesor.</a:t>
            </a:r>
            <a:endParaRPr lang="en-US" sz="888" dirty="0"/>
          </a:p>
        </p:txBody>
      </p:sp>
      <p:sp>
        <p:nvSpPr>
          <p:cNvPr id="4" name="Text 1"/>
          <p:cNvSpPr/>
          <p:nvPr/>
        </p:nvSpPr>
        <p:spPr>
          <a:xfrm>
            <a:off x="571486" y="209550"/>
            <a:ext cx="461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1304892" y="1743075"/>
            <a:ext cx="1025102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 1-a-1 para baja conversión en CP.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1304892" y="2607618"/>
            <a:ext cx="1025102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Replicar las técnicas de Jesús, Melissa y Luisa.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1304892" y="3179118"/>
            <a:ext cx="10251025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Resiliencia y manejo del estrés del equipo.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1304892" y="3026718"/>
            <a:ext cx="10251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Emocional (Gestión Humana)</a:t>
            </a:r>
            <a:endParaRPr lang="en-US" sz="984" dirty="0"/>
          </a:p>
        </p:txBody>
      </p:sp>
      <p:sp>
        <p:nvSpPr>
          <p:cNvPr id="9" name="Text 6"/>
          <p:cNvSpPr/>
          <p:nvPr/>
        </p:nvSpPr>
        <p:spPr>
          <a:xfrm>
            <a:off x="1304892" y="2455218"/>
            <a:ext cx="10251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Top Performers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1304892" y="1590675"/>
            <a:ext cx="10251025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</a:t>
            </a:r>
            <a:endParaRPr lang="en-US" sz="984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Cr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461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781030" y="2125913"/>
            <a:ext cx="360020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desarrollo emocional</a:t>
            </a:r>
            <a:endParaRPr lang="en-US" sz="888" dirty="0"/>
          </a:p>
        </p:txBody>
      </p:sp>
      <p:sp>
        <p:nvSpPr>
          <p:cNvPr id="5" name="Text 2"/>
          <p:cNvSpPr/>
          <p:nvPr/>
        </p:nvSpPr>
        <p:spPr>
          <a:xfrm>
            <a:off x="781030" y="2459288"/>
            <a:ext cx="3600204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limpias y actualizadas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781030" y="2792663"/>
            <a:ext cx="3600204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de equipos PC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781030" y="1797301"/>
            <a:ext cx="3600204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 de tiempos</a:t>
            </a:r>
            <a:endParaRPr lang="en-US" sz="888" dirty="0"/>
          </a:p>
        </p:txBody>
      </p:sp>
      <p:sp>
        <p:nvSpPr>
          <p:cNvPr id="8" name="Text 5"/>
          <p:cNvSpPr/>
          <p:nvPr/>
        </p:nvSpPr>
        <p:spPr>
          <a:xfrm>
            <a:off x="781030" y="1473451"/>
            <a:ext cx="3600204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Frente / Acción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4209796" y="2125913"/>
            <a:ext cx="19980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GH / Líderes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4209796" y="1473451"/>
            <a:ext cx="199801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Responsable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4209796" y="2792663"/>
            <a:ext cx="1998012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209796" y="1797301"/>
            <a:ext cx="1998012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4209796" y="2459288"/>
            <a:ext cx="1998012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6112665" y="1473451"/>
            <a:ext cx="86196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6933580" y="1473451"/>
            <a:ext cx="96697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7854506" y="1473451"/>
            <a:ext cx="9557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8764716" y="1473451"/>
            <a:ext cx="924467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9645161" y="1473451"/>
            <a:ext cx="96587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Nov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10565044" y="1473451"/>
            <a:ext cx="88790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Dic</a:t>
            </a:r>
            <a:endParaRPr lang="en-US" sz="888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486" y="209550"/>
            <a:ext cx="461264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4681569" y="2135446"/>
            <a:ext cx="5147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Autogestión</a:t>
            </a:r>
            <a:endParaRPr lang="en-US" sz="912" dirty="0"/>
          </a:p>
        </p:txBody>
      </p:sp>
      <p:sp>
        <p:nvSpPr>
          <p:cNvPr id="5" name="Text 2"/>
          <p:cNvSpPr/>
          <p:nvPr/>
        </p:nvSpPr>
        <p:spPr>
          <a:xfrm>
            <a:off x="4681569" y="2478346"/>
            <a:ext cx="514770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Bienvenida</a:t>
            </a:r>
            <a:endParaRPr lang="en-US" sz="912" dirty="0"/>
          </a:p>
        </p:txBody>
      </p:sp>
      <p:sp>
        <p:nvSpPr>
          <p:cNvPr id="6" name="Text 3"/>
          <p:cNvSpPr/>
          <p:nvPr/>
        </p:nvSpPr>
        <p:spPr>
          <a:xfrm>
            <a:off x="4681569" y="2821246"/>
            <a:ext cx="5147702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Sesiones individuales / asesor</a:t>
            </a:r>
            <a:endParaRPr lang="en-US" sz="912" dirty="0"/>
          </a:p>
        </p:txBody>
      </p:sp>
      <p:sp>
        <p:nvSpPr>
          <p:cNvPr id="7" name="Text 4"/>
          <p:cNvSpPr/>
          <p:nvPr/>
        </p:nvSpPr>
        <p:spPr>
          <a:xfrm>
            <a:off x="4681569" y="1797309"/>
            <a:ext cx="5147702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liquidadas totales/mes</a:t>
            </a:r>
            <a:endParaRPr lang="en-US" sz="912" dirty="0"/>
          </a:p>
        </p:txBody>
      </p:sp>
      <p:sp>
        <p:nvSpPr>
          <p:cNvPr id="8" name="Text 5"/>
          <p:cNvSpPr/>
          <p:nvPr/>
        </p:nvSpPr>
        <p:spPr>
          <a:xfrm>
            <a:off x="781030" y="2478346"/>
            <a:ext cx="40955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Bienvenida CP</a:t>
            </a:r>
            <a:endParaRPr lang="en-US" sz="912" dirty="0"/>
          </a:p>
        </p:txBody>
      </p:sp>
      <p:sp>
        <p:nvSpPr>
          <p:cNvPr id="9" name="Text 6"/>
          <p:cNvSpPr/>
          <p:nvPr/>
        </p:nvSpPr>
        <p:spPr>
          <a:xfrm>
            <a:off x="781030" y="2135446"/>
            <a:ext cx="409556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Autogestión</a:t>
            </a:r>
            <a:endParaRPr lang="en-US" sz="912" dirty="0"/>
          </a:p>
        </p:txBody>
      </p:sp>
      <p:sp>
        <p:nvSpPr>
          <p:cNvPr id="10" name="Text 7"/>
          <p:cNvSpPr/>
          <p:nvPr/>
        </p:nvSpPr>
        <p:spPr>
          <a:xfrm>
            <a:off x="781030" y="1797309"/>
            <a:ext cx="4095566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ventas</a:t>
            </a:r>
            <a:endParaRPr lang="en-US" sz="912" dirty="0"/>
          </a:p>
        </p:txBody>
      </p:sp>
      <p:sp>
        <p:nvSpPr>
          <p:cNvPr id="11" name="Text 8"/>
          <p:cNvSpPr/>
          <p:nvPr/>
        </p:nvSpPr>
        <p:spPr>
          <a:xfrm>
            <a:off x="781030" y="2821246"/>
            <a:ext cx="4095566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Escuela de ventas</a:t>
            </a:r>
            <a:endParaRPr lang="en-US" sz="912" dirty="0"/>
          </a:p>
        </p:txBody>
      </p:sp>
      <p:sp>
        <p:nvSpPr>
          <p:cNvPr id="12" name="Text 9"/>
          <p:cNvSpPr/>
          <p:nvPr/>
        </p:nvSpPr>
        <p:spPr>
          <a:xfrm>
            <a:off x="4681569" y="1473459"/>
            <a:ext cx="5147702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781030" y="1473459"/>
            <a:ext cx="4095566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Métrica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9584143" y="1473459"/>
            <a:ext cx="191784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9584143" y="1797309"/>
            <a:ext cx="1917848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</a:t>
            </a:r>
            <a:endParaRPr lang="en-US" sz="912" dirty="0"/>
          </a:p>
        </p:txBody>
      </p:sp>
      <p:sp>
        <p:nvSpPr>
          <p:cNvPr id="16" name="Text 13"/>
          <p:cNvSpPr/>
          <p:nvPr/>
        </p:nvSpPr>
        <p:spPr>
          <a:xfrm>
            <a:off x="9584143" y="2821246"/>
            <a:ext cx="1917848" cy="3381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/ mes</a:t>
            </a:r>
            <a:endParaRPr lang="en-US" sz="912" dirty="0"/>
          </a:p>
        </p:txBody>
      </p:sp>
      <p:sp>
        <p:nvSpPr>
          <p:cNvPr id="17" name="Text 14"/>
          <p:cNvSpPr/>
          <p:nvPr/>
        </p:nvSpPr>
        <p:spPr>
          <a:xfrm>
            <a:off x="9584143" y="2135446"/>
            <a:ext cx="19178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40 %</a:t>
            </a:r>
            <a:endParaRPr lang="en-US" sz="912" dirty="0"/>
          </a:p>
        </p:txBody>
      </p:sp>
      <p:sp>
        <p:nvSpPr>
          <p:cNvPr id="18" name="Text 15"/>
          <p:cNvSpPr/>
          <p:nvPr/>
        </p:nvSpPr>
        <p:spPr>
          <a:xfrm>
            <a:off x="9584143" y="2478346"/>
            <a:ext cx="191784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1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30 %</a:t>
            </a:r>
            <a:endParaRPr lang="en-US" sz="912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774502"/>
            <a:ext cx="7000700" cy="1103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190595" y="3635573"/>
            <a:ext cx="35003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⚽  : 1.520 ventas en dos semanas.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1190595" y="3016448"/>
            <a:ext cx="350035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🎮  : 4.798 ventas (114% meta).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1190595" y="2311598"/>
            <a:ext cx="35003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1S Ejecutadas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1394187" y="2797373"/>
            <a:ext cx="1690794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(Feb &amp; Abr)</a:t>
            </a:r>
            <a:endParaRPr lang="en-US" sz="984" dirty="0"/>
          </a:p>
        </p:txBody>
      </p:sp>
      <p:sp>
        <p:nvSpPr>
          <p:cNvPr id="8" name="Text 5"/>
          <p:cNvSpPr/>
          <p:nvPr/>
        </p:nvSpPr>
        <p:spPr>
          <a:xfrm>
            <a:off x="5190995" y="2311598"/>
            <a:ext cx="3500350" cy="140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y Plan Comercial 2S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1394187" y="3416498"/>
            <a:ext cx="1364511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Ferias Vanti (Abr-May)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1190595" y="2778323"/>
            <a:ext cx="350035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🍔  : 1.266 ventas.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1190595" y="3397448"/>
            <a:ext cx="3500350" cy="1700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  : 1.073 ventas.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952476" y="498277"/>
            <a:ext cx="1741737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5363334" y="3140273"/>
            <a:ext cx="1130738" cy="190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Top: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44044" y="2559248"/>
            <a:ext cx="355973" cy="150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endParaRPr lang="en-US" sz="9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2026-07-17T16:28:15Z</dcterms:created>
  <dcterms:modified xsi:type="dcterms:W3CDTF">2026-07-17T16:28:15Z</dcterms:modified>
</cp:coreProperties>
</file>