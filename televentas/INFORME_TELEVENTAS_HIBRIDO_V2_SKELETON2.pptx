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56096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01_Repositorios\13_Presentaciones\dash\televentas\ppt_slides\sk_00_main.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952476" y="4168527"/>
            <a:ext cx="4818491" cy="559519"/>
          </a:xfrm>
          <a:prstGeom prst="rect">
            <a:avLst/>
          </a:prstGeom>
          <a:noFill/>
          <a:ln/>
        </p:spPr>
        <p:txBody>
          <a:bodyPr wrap="square" lIns="0" tIns="0" rIns="0" bIns="0" rtlCol="0" anchor="t"/>
          <a:lstStyle/>
          <a:p>
            <a:pPr marL="0" indent="0" algn="l">
              <a:buNone/>
            </a:pPr>
            <a:r>
              <a:rPr lang="en-US" sz="1380" dirty="0">
                <a:solidFill>
                  <a:srgbClr val="555555"/>
                </a:solidFill>
                <a:latin typeface="Raleway" pitchFamily="34" charset="0"/>
                <a:ea typeface="Raleway" pitchFamily="34" charset="-122"/>
                <a:cs typeface="Raleway" pitchFamily="34" charset="-120"/>
              </a:rPr>
              <a:t>Gestión del primer semestre · Análisis de bases operativas</a:t>
            </a:r>
            <a:endParaRPr lang="en-US" sz="1380" dirty="0"/>
          </a:p>
          <a:p>
            <a:pPr marL="0" indent="0" algn="l">
              <a:buNone/>
            </a:pPr>
            <a:r>
              <a:rPr lang="en-US" sz="1380" dirty="0">
                <a:solidFill>
                  <a:srgbClr val="555555"/>
                </a:solidFill>
                <a:latin typeface="Raleway" pitchFamily="34" charset="0"/>
                <a:ea typeface="Raleway" pitchFamily="34" charset="-122"/>
                <a:cs typeface="Raleway" pitchFamily="34" charset="-120"/>
              </a:rPr>
              <a:t> </a:t>
            </a:r>
            <a:r>
              <a:rPr lang="en-US" sz="1380" dirty="0" err="1">
                <a:solidFill>
                  <a:srgbClr val="555555"/>
                </a:solidFill>
                <a:latin typeface="Raleway" pitchFamily="34" charset="0"/>
                <a:ea typeface="Raleway" pitchFamily="34" charset="-122"/>
                <a:cs typeface="Raleway" pitchFamily="34" charset="-120"/>
              </a:rPr>
              <a:t>Estrategia</a:t>
            </a:r>
            <a:r>
              <a:rPr lang="en-US" sz="1380" dirty="0">
                <a:solidFill>
                  <a:srgbClr val="555555"/>
                </a:solidFill>
                <a:latin typeface="Raleway" pitchFamily="34" charset="0"/>
                <a:ea typeface="Raleway" pitchFamily="34" charset="-122"/>
                <a:cs typeface="Raleway" pitchFamily="34" charset="-120"/>
              </a:rPr>
              <a:t> para alcanzar</a:t>
            </a:r>
            <a:endParaRPr lang="en-US" sz="1380" dirty="0"/>
          </a:p>
        </p:txBody>
      </p:sp>
      <p:sp>
        <p:nvSpPr>
          <p:cNvPr id="4" name="Text 1"/>
          <p:cNvSpPr/>
          <p:nvPr/>
        </p:nvSpPr>
        <p:spPr>
          <a:xfrm>
            <a:off x="952476" y="1872704"/>
            <a:ext cx="3326834" cy="147161"/>
          </a:xfrm>
          <a:prstGeom prst="rect">
            <a:avLst/>
          </a:prstGeom>
          <a:noFill/>
          <a:ln/>
        </p:spPr>
        <p:txBody>
          <a:bodyPr wrap="square" lIns="0" tIns="0" rIns="0" bIns="0" rtlCol="0" anchor="t"/>
          <a:lstStyle/>
          <a:p>
            <a:pPr marL="0" indent="0" algn="l">
              <a:buNone/>
            </a:pPr>
            <a:r>
              <a:rPr lang="en-US" sz="936" b="1" dirty="0">
                <a:solidFill>
                  <a:srgbClr val="00CD93"/>
                </a:solidFill>
                <a:latin typeface="Raleway" pitchFamily="34" charset="0"/>
                <a:ea typeface="Raleway" pitchFamily="34" charset="-122"/>
                <a:cs typeface="Raleway" pitchFamily="34" charset="-120"/>
              </a:rPr>
              <a:t>Informe Ejecutivo · Canal Televentas</a:t>
            </a:r>
            <a:endParaRPr lang="en-US" sz="936" dirty="0"/>
          </a:p>
        </p:txBody>
      </p:sp>
      <p:sp>
        <p:nvSpPr>
          <p:cNvPr id="5" name="Text 2"/>
          <p:cNvSpPr/>
          <p:nvPr/>
        </p:nvSpPr>
        <p:spPr>
          <a:xfrm>
            <a:off x="4022872" y="5149900"/>
            <a:ext cx="1806512" cy="147161"/>
          </a:xfrm>
          <a:prstGeom prst="rect">
            <a:avLst/>
          </a:prstGeom>
          <a:noFill/>
          <a:ln/>
        </p:spPr>
        <p:txBody>
          <a:bodyPr wrap="square" lIns="0" tIns="0" rIns="0" bIns="0" rtlCol="0" anchor="t"/>
          <a:lstStyle/>
          <a:p>
            <a:pPr marL="0" indent="0" algn="l">
              <a:buNone/>
            </a:pPr>
            <a:r>
              <a:rPr lang="en-US" sz="936" dirty="0">
                <a:solidFill>
                  <a:srgbClr val="9098B0"/>
                </a:solidFill>
                <a:latin typeface="Raleway" pitchFamily="34" charset="0"/>
                <a:ea typeface="Raleway" pitchFamily="34" charset="-122"/>
                <a:cs typeface="Raleway" pitchFamily="34" charset="-120"/>
              </a:rPr>
              <a:t>· Data Marshall, Gestión Integral</a:t>
            </a:r>
            <a:endParaRPr lang="en-US" sz="936" dirty="0"/>
          </a:p>
        </p:txBody>
      </p:sp>
      <p:sp>
        <p:nvSpPr>
          <p:cNvPr id="6" name="Text 3"/>
          <p:cNvSpPr/>
          <p:nvPr/>
        </p:nvSpPr>
        <p:spPr>
          <a:xfrm>
            <a:off x="952476" y="4959400"/>
            <a:ext cx="1729561" cy="128016"/>
          </a:xfrm>
          <a:prstGeom prst="rect">
            <a:avLst/>
          </a:prstGeom>
          <a:noFill/>
          <a:ln/>
        </p:spPr>
        <p:txBody>
          <a:bodyPr wrap="square" lIns="0" tIns="0" rIns="0" bIns="0" rtlCol="0" anchor="t"/>
          <a:lstStyle/>
          <a:p>
            <a:pPr marL="0" indent="0" algn="l">
              <a:buNone/>
            </a:pPr>
            <a:r>
              <a:rPr lang="en-US" sz="768" b="1" dirty="0">
                <a:solidFill>
                  <a:srgbClr val="00CD93"/>
                </a:solidFill>
                <a:latin typeface="Raleway" pitchFamily="34" charset="0"/>
                <a:ea typeface="Raleway" pitchFamily="34" charset="-122"/>
                <a:cs typeface="Raleway" pitchFamily="34" charset="-120"/>
              </a:rPr>
              <a:t>Coordinadora Comercial</a:t>
            </a:r>
            <a:endParaRPr lang="en-US" sz="768" dirty="0"/>
          </a:p>
        </p:txBody>
      </p:sp>
      <p:sp>
        <p:nvSpPr>
          <p:cNvPr id="7" name="Text 4"/>
          <p:cNvSpPr/>
          <p:nvPr/>
        </p:nvSpPr>
        <p:spPr>
          <a:xfrm>
            <a:off x="4098376" y="5651511"/>
            <a:ext cx="1915348" cy="323755"/>
          </a:xfrm>
          <a:prstGeom prst="rect">
            <a:avLst/>
          </a:prstGeom>
          <a:noFill/>
          <a:ln/>
        </p:spPr>
        <p:txBody>
          <a:bodyPr wrap="square" lIns="76200" tIns="171450" rIns="171450" bIns="76200" rtlCol="0" anchor="t"/>
          <a:lstStyle/>
          <a:p>
            <a:pPr marL="0" indent="0" algn="l">
              <a:buNone/>
            </a:pPr>
            <a:r>
              <a:rPr lang="en-US" sz="936" b="1" dirty="0">
                <a:solidFill>
                  <a:srgbClr val="00CD93"/>
                </a:solidFill>
                <a:latin typeface="Raleway" pitchFamily="34" charset="0"/>
                <a:ea typeface="Raleway" pitchFamily="34" charset="-122"/>
                <a:cs typeface="Raleway" pitchFamily="34" charset="-120"/>
              </a:rPr>
              <a:t>15–21 asesores activos</a:t>
            </a:r>
            <a:endParaRPr lang="en-US" sz="936" dirty="0"/>
          </a:p>
        </p:txBody>
      </p:sp>
      <p:sp>
        <p:nvSpPr>
          <p:cNvPr id="8" name="Text 5"/>
          <p:cNvSpPr/>
          <p:nvPr/>
        </p:nvSpPr>
        <p:spPr>
          <a:xfrm>
            <a:off x="2558639" y="5651511"/>
            <a:ext cx="1468203" cy="323755"/>
          </a:xfrm>
          <a:prstGeom prst="rect">
            <a:avLst/>
          </a:prstGeom>
          <a:noFill/>
          <a:ln/>
        </p:spPr>
        <p:txBody>
          <a:bodyPr wrap="square" lIns="76200" tIns="171450" rIns="171450" bIns="76200" rtlCol="0" anchor="t"/>
          <a:lstStyle/>
          <a:p>
            <a:pPr marL="0" indent="0" algn="l">
              <a:buNone/>
            </a:pPr>
            <a:r>
              <a:rPr lang="en-US" sz="936" b="1" dirty="0">
                <a:solidFill>
                  <a:srgbClr val="00CD93"/>
                </a:solidFill>
                <a:latin typeface="Raleway" pitchFamily="34" charset="0"/>
                <a:ea typeface="Raleway" pitchFamily="34" charset="-122"/>
                <a:cs typeface="Raleway" pitchFamily="34" charset="-120"/>
              </a:rPr>
              <a:t>13.917 ventas 1S</a:t>
            </a:r>
            <a:endParaRPr lang="en-US" sz="936" dirty="0"/>
          </a:p>
        </p:txBody>
      </p:sp>
      <p:sp>
        <p:nvSpPr>
          <p:cNvPr id="9" name="Text 6"/>
          <p:cNvSpPr/>
          <p:nvPr/>
        </p:nvSpPr>
        <p:spPr>
          <a:xfrm>
            <a:off x="952476" y="5121325"/>
            <a:ext cx="1729561" cy="202500"/>
          </a:xfrm>
          <a:prstGeom prst="rect">
            <a:avLst/>
          </a:prstGeom>
          <a:noFill/>
          <a:ln/>
        </p:spPr>
        <p:txBody>
          <a:bodyPr wrap="square" lIns="0" tIns="0" rIns="0" bIns="0" rtlCol="0" anchor="t"/>
          <a:lstStyle/>
          <a:p>
            <a:pPr marL="0" indent="0" algn="l">
              <a:buNone/>
            </a:pPr>
            <a:r>
              <a:rPr lang="en-US" sz="1032" b="1" dirty="0">
                <a:solidFill>
                  <a:srgbClr val="120180"/>
                </a:solidFill>
                <a:latin typeface="Raleway" pitchFamily="34" charset="0"/>
                <a:ea typeface="Raleway" pitchFamily="34" charset="-122"/>
                <a:cs typeface="Raleway" pitchFamily="34" charset="-120"/>
              </a:rPr>
              <a:t>Martha Carvajal</a:t>
            </a:r>
            <a:endParaRPr lang="en-US" sz="1032" dirty="0"/>
          </a:p>
        </p:txBody>
      </p:sp>
      <p:sp>
        <p:nvSpPr>
          <p:cNvPr id="10" name="Text 7"/>
          <p:cNvSpPr/>
          <p:nvPr/>
        </p:nvSpPr>
        <p:spPr>
          <a:xfrm>
            <a:off x="3174573" y="4959400"/>
            <a:ext cx="2680261" cy="128016"/>
          </a:xfrm>
          <a:prstGeom prst="rect">
            <a:avLst/>
          </a:prstGeom>
          <a:noFill/>
          <a:ln/>
        </p:spPr>
        <p:txBody>
          <a:bodyPr wrap="square" lIns="0" tIns="0" rIns="0" bIns="0" rtlCol="0" anchor="t"/>
          <a:lstStyle/>
          <a:p>
            <a:pPr marL="0" indent="0" algn="l">
              <a:buNone/>
            </a:pPr>
            <a:r>
              <a:rPr lang="en-US" sz="768" b="1" dirty="0">
                <a:solidFill>
                  <a:srgbClr val="00CD93"/>
                </a:solidFill>
                <a:latin typeface="Raleway" pitchFamily="34" charset="0"/>
                <a:ea typeface="Raleway" pitchFamily="34" charset="-122"/>
                <a:cs typeface="Raleway" pitchFamily="34" charset="-120"/>
              </a:rPr>
              <a:t>Contribuyentes</a:t>
            </a:r>
            <a:endParaRPr lang="en-US" sz="768" dirty="0"/>
          </a:p>
        </p:txBody>
      </p:sp>
      <p:sp>
        <p:nvSpPr>
          <p:cNvPr id="11" name="Text 8"/>
          <p:cNvSpPr/>
          <p:nvPr/>
        </p:nvSpPr>
        <p:spPr>
          <a:xfrm>
            <a:off x="1099118" y="5651511"/>
            <a:ext cx="1385581" cy="323755"/>
          </a:xfrm>
          <a:prstGeom prst="rect">
            <a:avLst/>
          </a:prstGeom>
          <a:noFill/>
          <a:ln/>
        </p:spPr>
        <p:txBody>
          <a:bodyPr wrap="square" lIns="76200" tIns="171450" rIns="171450" bIns="76200" rtlCol="0" anchor="t"/>
          <a:lstStyle/>
          <a:p>
            <a:pPr marL="0" indent="0" algn="l">
              <a:buNone/>
            </a:pPr>
            <a:r>
              <a:rPr lang="en-US" sz="936" b="1" dirty="0">
                <a:solidFill>
                  <a:srgbClr val="00CD93"/>
                </a:solidFill>
                <a:latin typeface="Raleway" pitchFamily="34" charset="0"/>
                <a:ea typeface="Raleway" pitchFamily="34" charset="-122"/>
                <a:cs typeface="Raleway" pitchFamily="34" charset="-120"/>
              </a:rPr>
              <a:t>Ene – Jun 2026</a:t>
            </a:r>
            <a:endParaRPr lang="en-US" sz="936" dirty="0"/>
          </a:p>
        </p:txBody>
      </p:sp>
      <p:sp>
        <p:nvSpPr>
          <p:cNvPr id="12" name="Text 9"/>
          <p:cNvSpPr/>
          <p:nvPr/>
        </p:nvSpPr>
        <p:spPr>
          <a:xfrm>
            <a:off x="3174573" y="5121325"/>
            <a:ext cx="2680261" cy="203266"/>
          </a:xfrm>
          <a:prstGeom prst="rect">
            <a:avLst/>
          </a:prstGeom>
          <a:noFill/>
          <a:ln/>
        </p:spPr>
        <p:txBody>
          <a:bodyPr wrap="square" lIns="0" tIns="0" rIns="0" bIns="0" rtlCol="0" anchor="t"/>
          <a:lstStyle/>
          <a:p>
            <a:pPr marL="0" indent="0" algn="l">
              <a:buNone/>
            </a:pPr>
            <a:r>
              <a:rPr lang="en-US" sz="1032" b="1" dirty="0">
                <a:solidFill>
                  <a:srgbClr val="120180"/>
                </a:solidFill>
                <a:latin typeface="Raleway" pitchFamily="34" charset="0"/>
                <a:ea typeface="Raleway" pitchFamily="34" charset="-122"/>
                <a:cs typeface="Raleway" pitchFamily="34" charset="-120"/>
              </a:rPr>
              <a:t>Isaac Álvarez</a:t>
            </a:r>
            <a:endParaRPr lang="en-US" sz="1032" dirty="0"/>
          </a:p>
        </p:txBody>
      </p:sp>
      <p:sp>
        <p:nvSpPr>
          <p:cNvPr id="13" name="Text 10"/>
          <p:cNvSpPr/>
          <p:nvPr/>
        </p:nvSpPr>
        <p:spPr>
          <a:xfrm>
            <a:off x="6072234" y="5651511"/>
            <a:ext cx="1209605" cy="323755"/>
          </a:xfrm>
          <a:prstGeom prst="rect">
            <a:avLst/>
          </a:prstGeom>
          <a:noFill/>
          <a:ln/>
        </p:spPr>
        <p:txBody>
          <a:bodyPr wrap="square" lIns="76200" tIns="171450" rIns="171450" bIns="76200" rtlCol="0" anchor="t"/>
          <a:lstStyle/>
          <a:p>
            <a:pPr marL="0" indent="0" algn="l">
              <a:buNone/>
            </a:pPr>
            <a:r>
              <a:rPr lang="en-US" sz="936" b="1" dirty="0">
                <a:solidFill>
                  <a:srgbClr val="00CD93"/>
                </a:solidFill>
                <a:latin typeface="Raleway" pitchFamily="34" charset="0"/>
                <a:ea typeface="Raleway" pitchFamily="34" charset="-122"/>
                <a:cs typeface="Raleway" pitchFamily="34" charset="-120"/>
              </a:rPr>
              <a:t>Vanti · Xuma</a:t>
            </a:r>
            <a:endParaRPr lang="en-US" sz="936" dirty="0"/>
          </a:p>
        </p:txBody>
      </p:sp>
      <p:sp>
        <p:nvSpPr>
          <p:cNvPr id="14" name="Text 11"/>
          <p:cNvSpPr/>
          <p:nvPr/>
        </p:nvSpPr>
        <p:spPr>
          <a:xfrm>
            <a:off x="952476" y="2771329"/>
            <a:ext cx="2991284" cy="657320"/>
          </a:xfrm>
          <a:prstGeom prst="rect">
            <a:avLst/>
          </a:prstGeom>
          <a:noFill/>
          <a:ln/>
        </p:spPr>
        <p:txBody>
          <a:bodyPr wrap="square" lIns="0" tIns="0" rIns="0" bIns="0" rtlCol="0" anchor="t"/>
          <a:lstStyle/>
          <a:p>
            <a:pPr marL="0" indent="0" algn="l">
              <a:buNone/>
            </a:pPr>
            <a:r>
              <a:rPr lang="en-US" sz="3600" b="1" dirty="0">
                <a:solidFill>
                  <a:srgbClr val="00CD93"/>
                </a:solidFill>
                <a:latin typeface="Raleway" pitchFamily="34" charset="0"/>
                <a:ea typeface="Raleway" pitchFamily="34" charset="-122"/>
                <a:cs typeface="Raleway" pitchFamily="34" charset="-120"/>
              </a:rPr>
              <a:t>Televentas</a:t>
            </a:r>
            <a:endParaRPr lang="en-US" sz="3600" dirty="0"/>
          </a:p>
        </p:txBody>
      </p:sp>
      <p:sp>
        <p:nvSpPr>
          <p:cNvPr id="15" name="Text 12"/>
          <p:cNvSpPr/>
          <p:nvPr/>
        </p:nvSpPr>
        <p:spPr>
          <a:xfrm>
            <a:off x="952476" y="2187030"/>
            <a:ext cx="2991284" cy="352946"/>
          </a:xfrm>
          <a:prstGeom prst="rect">
            <a:avLst/>
          </a:prstGeom>
          <a:noFill/>
          <a:ln/>
        </p:spPr>
        <p:txBody>
          <a:bodyPr wrap="square" lIns="0" tIns="0" rIns="0" bIns="0" rtlCol="0" anchor="t"/>
          <a:lstStyle/>
          <a:p>
            <a:pPr marL="0" indent="0" algn="l">
              <a:buNone/>
            </a:pPr>
            <a:r>
              <a:rPr lang="en-US" sz="3200" b="1" dirty="0">
                <a:solidFill>
                  <a:srgbClr val="120180"/>
                </a:solidFill>
                <a:latin typeface="Raleway" pitchFamily="34" charset="0"/>
                <a:ea typeface="Raleway" pitchFamily="34" charset="-122"/>
                <a:cs typeface="Raleway" pitchFamily="34" charset="-120"/>
              </a:rPr>
              <a:t>Canal</a:t>
            </a:r>
            <a:endParaRPr lang="en-US" sz="3200" dirty="0"/>
          </a:p>
        </p:txBody>
      </p:sp>
      <p:sp>
        <p:nvSpPr>
          <p:cNvPr id="17" name="TextBox 16">
            <a:extLst>
              <a:ext uri="{FF2B5EF4-FFF2-40B4-BE49-F238E27FC236}">
                <a16:creationId xmlns:a16="http://schemas.microsoft.com/office/drawing/2014/main" id="{0FFA3823-9CC4-F59B-6FD8-5F98D1F21802}"/>
              </a:ext>
            </a:extLst>
          </p:cNvPr>
          <p:cNvSpPr txBox="1"/>
          <p:nvPr/>
        </p:nvSpPr>
        <p:spPr>
          <a:xfrm>
            <a:off x="945399" y="3336923"/>
            <a:ext cx="6154946" cy="646331"/>
          </a:xfrm>
          <a:prstGeom prst="rect">
            <a:avLst/>
          </a:prstGeom>
          <a:noFill/>
        </p:spPr>
        <p:txBody>
          <a:bodyPr wrap="square">
            <a:spAutoFit/>
          </a:bodyPr>
          <a:lstStyle/>
          <a:p>
            <a:r>
              <a:rPr lang="en-US" sz="3600" b="1" dirty="0">
                <a:solidFill>
                  <a:srgbClr val="120180"/>
                </a:solidFill>
                <a:latin typeface="Raleway" pitchFamily="34" charset="0"/>
                <a:ea typeface="Raleway" pitchFamily="34" charset="-122"/>
                <a:cs typeface="Raleway" pitchFamily="34" charset="-120"/>
              </a:rPr>
              <a:t>2026</a:t>
            </a:r>
            <a:endParaRPr lang="es-CO"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C:\01_Repositorios\13_Presentaciones\dash\televentas\ppt_slides\sk_01_main.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952476" y="4370189"/>
            <a:ext cx="5690093" cy="527328"/>
          </a:xfrm>
          <a:prstGeom prst="rect">
            <a:avLst/>
          </a:prstGeom>
          <a:noFill/>
          <a:ln/>
        </p:spPr>
        <p:txBody>
          <a:bodyPr wrap="square" lIns="0" tIns="0" rIns="0" bIns="0" rtlCol="0" anchor="t"/>
          <a:lstStyle/>
          <a:p>
            <a:pPr marL="0" indent="0" algn="l">
              <a:buNone/>
            </a:pPr>
            <a:r>
              <a:rPr lang="en-US" sz="1260" dirty="0">
                <a:solidFill>
                  <a:srgbClr val="555555"/>
                </a:solidFill>
                <a:latin typeface="Raleway" pitchFamily="34" charset="0"/>
                <a:ea typeface="Raleway" pitchFamily="34" charset="-122"/>
                <a:cs typeface="Raleway" pitchFamily="34" charset="-120"/>
              </a:rPr>
              <a:t>Resultados de ventas, desempeño por asesor, eficiencia </a:t>
            </a:r>
            <a:r>
              <a:rPr lang="en-US" sz="1260" dirty="0" err="1">
                <a:solidFill>
                  <a:srgbClr val="555555"/>
                </a:solidFill>
                <a:latin typeface="Raleway" pitchFamily="34" charset="0"/>
                <a:ea typeface="Raleway" pitchFamily="34" charset="-122"/>
                <a:cs typeface="Raleway" pitchFamily="34" charset="-120"/>
              </a:rPr>
              <a:t>por</a:t>
            </a:r>
            <a:r>
              <a:rPr lang="en-US" sz="1260" dirty="0">
                <a:solidFill>
                  <a:srgbClr val="555555"/>
                </a:solidFill>
                <a:latin typeface="Raleway" pitchFamily="34" charset="0"/>
                <a:ea typeface="Raleway" pitchFamily="34" charset="-122"/>
                <a:cs typeface="Raleway" pitchFamily="34" charset="-120"/>
              </a:rPr>
              <a:t> campana</a:t>
            </a:r>
            <a:endParaRPr lang="en-US" sz="1260" dirty="0"/>
          </a:p>
          <a:p>
            <a:pPr marL="0" indent="0" algn="l">
              <a:buNone/>
            </a:pPr>
            <a:r>
              <a:rPr lang="en-US" sz="1260" dirty="0">
                <a:solidFill>
                  <a:srgbClr val="555555"/>
                </a:solidFill>
                <a:latin typeface="Raleway" pitchFamily="34" charset="0"/>
                <a:ea typeface="Raleway" pitchFamily="34" charset="-122"/>
                <a:cs typeface="Raleway" pitchFamily="34" charset="-120"/>
              </a:rPr>
              <a:t>e iniciativas ejecutadas durante el primer semestre.</a:t>
            </a:r>
            <a:endParaRPr lang="en-US" sz="1260" dirty="0"/>
          </a:p>
        </p:txBody>
      </p:sp>
      <p:sp>
        <p:nvSpPr>
          <p:cNvPr id="4" name="Text 1"/>
          <p:cNvSpPr/>
          <p:nvPr/>
        </p:nvSpPr>
        <p:spPr>
          <a:xfrm>
            <a:off x="952476" y="3128367"/>
            <a:ext cx="5044592" cy="1082862"/>
          </a:xfrm>
          <a:prstGeom prst="rect">
            <a:avLst/>
          </a:prstGeom>
          <a:noFill/>
          <a:ln/>
        </p:spPr>
        <p:txBody>
          <a:bodyPr wrap="square" lIns="0" tIns="0" rIns="0" bIns="0" rtlCol="0" anchor="t"/>
          <a:lstStyle/>
          <a:p>
            <a:pPr marL="0" indent="0" algn="l">
              <a:buNone/>
            </a:pPr>
            <a:r>
              <a:rPr lang="en-US" sz="2800" b="1" dirty="0">
                <a:solidFill>
                  <a:srgbClr val="120180"/>
                </a:solidFill>
                <a:latin typeface="Raleway" pitchFamily="34" charset="0"/>
                <a:ea typeface="Raleway" pitchFamily="34" charset="-122"/>
                <a:cs typeface="Raleway" pitchFamily="34" charset="-120"/>
              </a:rPr>
              <a:t>Gestión del Canal</a:t>
            </a:r>
          </a:p>
          <a:p>
            <a:pPr marL="0" indent="0" algn="l">
              <a:buNone/>
            </a:pPr>
            <a:r>
              <a:rPr lang="en-US" sz="2800" b="1" dirty="0">
                <a:solidFill>
                  <a:srgbClr val="120180"/>
                </a:solidFill>
                <a:latin typeface="Raleway" pitchFamily="34" charset="0"/>
                <a:ea typeface="Raleway" pitchFamily="34" charset="-122"/>
                <a:cs typeface="Raleway" pitchFamily="34" charset="-120"/>
              </a:rPr>
              <a:t>Primer Semestre 2026</a:t>
            </a:r>
            <a:endParaRPr lang="en-US" sz="2800" dirty="0"/>
          </a:p>
        </p:txBody>
      </p:sp>
      <p:sp>
        <p:nvSpPr>
          <p:cNvPr id="5" name="Text 2"/>
          <p:cNvSpPr/>
          <p:nvPr/>
        </p:nvSpPr>
        <p:spPr>
          <a:xfrm>
            <a:off x="952476" y="2852142"/>
            <a:ext cx="940735" cy="147161"/>
          </a:xfrm>
          <a:prstGeom prst="rect">
            <a:avLst/>
          </a:prstGeom>
          <a:noFill/>
          <a:ln/>
        </p:spPr>
        <p:txBody>
          <a:bodyPr wrap="square" lIns="0" tIns="0" rIns="0" bIns="0" rtlCol="0" anchor="t"/>
          <a:lstStyle/>
          <a:p>
            <a:pPr marL="0" indent="0" algn="l">
              <a:buNone/>
            </a:pPr>
            <a:r>
              <a:rPr lang="en-US" sz="936" b="1" dirty="0">
                <a:solidFill>
                  <a:srgbClr val="00CD93"/>
                </a:solidFill>
                <a:latin typeface="Raleway" pitchFamily="34" charset="0"/>
                <a:ea typeface="Raleway" pitchFamily="34" charset="-122"/>
                <a:cs typeface="Raleway" pitchFamily="34" charset="-120"/>
              </a:rPr>
              <a:t>Capítulo 1</a:t>
            </a:r>
            <a:endParaRPr lang="en-US" sz="936" dirty="0"/>
          </a:p>
        </p:txBody>
      </p:sp>
      <p:sp>
        <p:nvSpPr>
          <p:cNvPr id="6" name="Text 3"/>
          <p:cNvSpPr/>
          <p:nvPr/>
        </p:nvSpPr>
        <p:spPr>
          <a:xfrm>
            <a:off x="952476" y="1975842"/>
            <a:ext cx="1275825" cy="1098804"/>
          </a:xfrm>
          <a:prstGeom prst="rect">
            <a:avLst/>
          </a:prstGeom>
          <a:noFill/>
          <a:ln/>
        </p:spPr>
        <p:txBody>
          <a:bodyPr wrap="square" lIns="0" tIns="0" rIns="0" bIns="0" rtlCol="0" anchor="t"/>
          <a:lstStyle/>
          <a:p>
            <a:pPr marL="0" indent="0" algn="l">
              <a:buNone/>
            </a:pPr>
            <a:r>
              <a:rPr lang="en-US" sz="7200" b="1" dirty="0">
                <a:solidFill>
                  <a:srgbClr val="120180"/>
                </a:solidFill>
                <a:latin typeface="Raleway" pitchFamily="34" charset="0"/>
                <a:ea typeface="Raleway" pitchFamily="34" charset="-122"/>
                <a:cs typeface="Raleway" pitchFamily="34" charset="-120"/>
              </a:rPr>
              <a:t>01</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C:\01_Repositorios\13_Presentaciones\dash\televentas\ppt_slides\sk_02_Vanti.png"/>
          <p:cNvPicPr>
            <a:picLocks noChangeAspect="1"/>
          </p:cNvPicPr>
          <p:nvPr/>
        </p:nvPicPr>
        <p:blipFill>
          <a:blip r:embed="rId3"/>
          <a:stretch>
            <a:fillRect/>
          </a:stretch>
        </p:blipFill>
        <p:spPr>
          <a:xfrm>
            <a:off x="0" y="0"/>
            <a:ext cx="12191695" cy="6858000"/>
          </a:xfrm>
          <a:prstGeom prst="rect">
            <a:avLst/>
          </a:prstGeom>
        </p:spPr>
      </p:pic>
      <p:sp>
        <p:nvSpPr>
          <p:cNvPr id="4" name="Text 1"/>
          <p:cNvSpPr/>
          <p:nvPr/>
        </p:nvSpPr>
        <p:spPr>
          <a:xfrm>
            <a:off x="8203945" y="1489770"/>
            <a:ext cx="3361631" cy="137350"/>
          </a:xfrm>
          <a:prstGeom prst="rect">
            <a:avLst/>
          </a:prstGeom>
          <a:noFill/>
          <a:ln/>
        </p:spPr>
        <p:txBody>
          <a:bodyPr wrap="square" lIns="0" tIns="0" rIns="0" bIns="0" rtlCol="0" anchor="t"/>
          <a:lstStyle/>
          <a:p>
            <a:pPr marL="0" indent="0" algn="l">
              <a:buNone/>
            </a:pPr>
            <a:r>
              <a:rPr lang="en-US" sz="864" dirty="0">
                <a:solidFill>
                  <a:srgbClr val="9098B0"/>
                </a:solidFill>
                <a:latin typeface="Raleway" pitchFamily="34" charset="0"/>
                <a:ea typeface="Raleway" pitchFamily="34" charset="-122"/>
                <a:cs typeface="Raleway" pitchFamily="34" charset="-120"/>
              </a:rPr>
              <a:t>Crecimiento necesario sobre junio (2.314) · mejor mes: 2.431</a:t>
            </a:r>
            <a:endParaRPr lang="en-US" sz="864" dirty="0"/>
          </a:p>
        </p:txBody>
      </p:sp>
      <p:sp>
        <p:nvSpPr>
          <p:cNvPr id="5" name="Text 2"/>
          <p:cNvSpPr/>
          <p:nvPr/>
        </p:nvSpPr>
        <p:spPr>
          <a:xfrm>
            <a:off x="1213514" y="219075"/>
            <a:ext cx="3843572" cy="196215"/>
          </a:xfrm>
          <a:prstGeom prst="rect">
            <a:avLst/>
          </a:prstGeom>
          <a:noFill/>
          <a:ln/>
        </p:spPr>
        <p:txBody>
          <a:bodyPr wrap="square" lIns="0" tIns="0" rIns="0" bIns="0" rtlCol="0" anchor="t"/>
          <a:lstStyle/>
          <a:p>
            <a:pPr marL="0" indent="0" algn="l">
              <a:buNone/>
            </a:pPr>
            <a:r>
              <a:rPr lang="en-US" sz="1260" b="1" dirty="0">
                <a:solidFill>
                  <a:srgbClr val="FFFFFF"/>
                </a:solidFill>
                <a:latin typeface="Raleway" pitchFamily="34" charset="0"/>
                <a:ea typeface="Raleway" pitchFamily="34" charset="-122"/>
                <a:cs typeface="Raleway" pitchFamily="34" charset="-120"/>
              </a:rPr>
              <a:t>Resultados de Ventas · Primer Semestre 2026</a:t>
            </a:r>
            <a:endParaRPr lang="en-US" sz="1260" dirty="0"/>
          </a:p>
        </p:txBody>
      </p:sp>
      <p:sp>
        <p:nvSpPr>
          <p:cNvPr id="6" name="Text 3"/>
          <p:cNvSpPr/>
          <p:nvPr/>
        </p:nvSpPr>
        <p:spPr>
          <a:xfrm>
            <a:off x="761981" y="990600"/>
            <a:ext cx="3361631" cy="137350"/>
          </a:xfrm>
          <a:prstGeom prst="rect">
            <a:avLst/>
          </a:prstGeom>
          <a:noFill/>
          <a:ln/>
        </p:spPr>
        <p:txBody>
          <a:bodyPr wrap="square" lIns="0" tIns="0" rIns="0" bIns="0" rtlCol="0" anchor="t"/>
          <a:lstStyle/>
          <a:p>
            <a:pPr marL="0" indent="0" algn="l">
              <a:buNone/>
            </a:pPr>
            <a:r>
              <a:rPr lang="en-US" sz="864" b="1" dirty="0">
                <a:solidFill>
                  <a:srgbClr val="9098B0"/>
                </a:solidFill>
                <a:latin typeface="Raleway" pitchFamily="34" charset="0"/>
                <a:ea typeface="Raleway" pitchFamily="34" charset="-122"/>
                <a:cs typeface="Raleway" pitchFamily="34" charset="-120"/>
              </a:rPr>
              <a:t>Pólizas liquidadas (1S completo)</a:t>
            </a:r>
            <a:endParaRPr lang="en-US" sz="864" dirty="0"/>
          </a:p>
        </p:txBody>
      </p:sp>
      <p:sp>
        <p:nvSpPr>
          <p:cNvPr id="7" name="Text 4"/>
          <p:cNvSpPr/>
          <p:nvPr/>
        </p:nvSpPr>
        <p:spPr>
          <a:xfrm>
            <a:off x="969368" y="4470200"/>
            <a:ext cx="5199568" cy="186404"/>
          </a:xfrm>
          <a:prstGeom prst="rect">
            <a:avLst/>
          </a:prstGeom>
          <a:noFill/>
          <a:ln/>
        </p:spPr>
        <p:txBody>
          <a:bodyPr wrap="square" lIns="0" tIns="0" rIns="0" bIns="19050" rtlCol="0" anchor="t"/>
          <a:lstStyle/>
          <a:p>
            <a:pPr marL="0" indent="0" algn="l">
              <a:buNone/>
            </a:pPr>
            <a:r>
              <a:rPr lang="en-US" sz="936" b="1" dirty="0">
                <a:solidFill>
                  <a:srgbClr val="120180"/>
                </a:solidFill>
                <a:latin typeface="Raleway" pitchFamily="34" charset="0"/>
                <a:ea typeface="Raleway" pitchFamily="34" charset="-122"/>
                <a:cs typeface="Raleway" pitchFamily="34" charset="-120"/>
              </a:rPr>
              <a:t>Crecimiento Cuota Protegida</a:t>
            </a:r>
            <a:endParaRPr lang="en-US" sz="936" dirty="0"/>
          </a:p>
        </p:txBody>
      </p:sp>
      <p:sp>
        <p:nvSpPr>
          <p:cNvPr id="8" name="Text 5"/>
          <p:cNvSpPr/>
          <p:nvPr/>
        </p:nvSpPr>
        <p:spPr>
          <a:xfrm>
            <a:off x="4482889" y="1489770"/>
            <a:ext cx="3361784" cy="137350"/>
          </a:xfrm>
          <a:prstGeom prst="rect">
            <a:avLst/>
          </a:prstGeom>
          <a:noFill/>
          <a:ln/>
        </p:spPr>
        <p:txBody>
          <a:bodyPr wrap="square" lIns="0" tIns="0" rIns="0" bIns="0" rtlCol="0" anchor="t"/>
          <a:lstStyle/>
          <a:p>
            <a:pPr marL="0" indent="0" algn="l">
              <a:buNone/>
            </a:pPr>
            <a:r>
              <a:rPr lang="en-US" sz="864" dirty="0">
                <a:solidFill>
                  <a:srgbClr val="9098B0"/>
                </a:solidFill>
                <a:latin typeface="Raleway" pitchFamily="34" charset="0"/>
                <a:ea typeface="Raleway" pitchFamily="34" charset="-122"/>
                <a:cs typeface="Raleway" pitchFamily="34" charset="-120"/>
              </a:rPr>
              <a:t>Ene · Pico (abr–may) · Jun</a:t>
            </a:r>
            <a:endParaRPr lang="en-US" sz="864" dirty="0"/>
          </a:p>
        </p:txBody>
      </p:sp>
      <p:sp>
        <p:nvSpPr>
          <p:cNvPr id="9" name="Text 6"/>
          <p:cNvSpPr/>
          <p:nvPr/>
        </p:nvSpPr>
        <p:spPr>
          <a:xfrm>
            <a:off x="8203945" y="990600"/>
            <a:ext cx="3361631" cy="137350"/>
          </a:xfrm>
          <a:prstGeom prst="rect">
            <a:avLst/>
          </a:prstGeom>
          <a:noFill/>
          <a:ln/>
        </p:spPr>
        <p:txBody>
          <a:bodyPr wrap="square" lIns="0" tIns="0" rIns="0" bIns="0" rtlCol="0" anchor="t"/>
          <a:lstStyle/>
          <a:p>
            <a:pPr marL="0" indent="0" algn="l">
              <a:buNone/>
            </a:pPr>
            <a:r>
              <a:rPr lang="en-US" sz="864" b="1" dirty="0">
                <a:solidFill>
                  <a:srgbClr val="9098B0"/>
                </a:solidFill>
                <a:latin typeface="Raleway" pitchFamily="34" charset="0"/>
                <a:ea typeface="Raleway" pitchFamily="34" charset="-122"/>
                <a:cs typeface="Raleway" pitchFamily="34" charset="-120"/>
              </a:rPr>
              <a:t>Brecha vs. meta 3.000/mes</a:t>
            </a:r>
            <a:endParaRPr lang="en-US" sz="864" dirty="0"/>
          </a:p>
        </p:txBody>
      </p:sp>
      <p:sp>
        <p:nvSpPr>
          <p:cNvPr id="10" name="Text 7"/>
          <p:cNvSpPr/>
          <p:nvPr/>
        </p:nvSpPr>
        <p:spPr>
          <a:xfrm>
            <a:off x="896408" y="1951732"/>
            <a:ext cx="1804060" cy="156972"/>
          </a:xfrm>
          <a:prstGeom prst="rect">
            <a:avLst/>
          </a:prstGeom>
          <a:noFill/>
          <a:ln/>
        </p:spPr>
        <p:txBody>
          <a:bodyPr wrap="square" lIns="0" tIns="0" rIns="0" bIns="0" rtlCol="0" anchor="t"/>
          <a:lstStyle/>
          <a:p>
            <a:pPr marL="0" indent="0" algn="l">
              <a:buNone/>
            </a:pPr>
            <a:r>
              <a:rPr lang="en-US" sz="1020" b="1" dirty="0">
                <a:solidFill>
                  <a:srgbClr val="120180"/>
                </a:solidFill>
                <a:latin typeface="Raleway" pitchFamily="34" charset="0"/>
                <a:ea typeface="Raleway" pitchFamily="34" charset="-122"/>
                <a:cs typeface="Raleway" pitchFamily="34" charset="-120"/>
              </a:rPr>
              <a:t>Pólizas vendidas vs. meta</a:t>
            </a:r>
            <a:endParaRPr lang="en-US" sz="1020" dirty="0"/>
          </a:p>
        </p:txBody>
      </p:sp>
      <p:sp>
        <p:nvSpPr>
          <p:cNvPr id="11" name="Text 8"/>
          <p:cNvSpPr/>
          <p:nvPr/>
        </p:nvSpPr>
        <p:spPr>
          <a:xfrm>
            <a:off x="6398482" y="4472491"/>
            <a:ext cx="5199568" cy="186404"/>
          </a:xfrm>
          <a:prstGeom prst="rect">
            <a:avLst/>
          </a:prstGeom>
          <a:noFill/>
          <a:ln/>
        </p:spPr>
        <p:txBody>
          <a:bodyPr wrap="square" lIns="0" tIns="0" rIns="0" bIns="19050" rtlCol="0" anchor="t"/>
          <a:lstStyle/>
          <a:p>
            <a:pPr marL="0" indent="0" algn="l">
              <a:buNone/>
            </a:pPr>
            <a:r>
              <a:rPr lang="en-US" sz="936" b="1" dirty="0">
                <a:solidFill>
                  <a:srgbClr val="120180"/>
                </a:solidFill>
                <a:latin typeface="Raleway" pitchFamily="34" charset="0"/>
                <a:ea typeface="Raleway" pitchFamily="34" charset="-122"/>
                <a:cs typeface="Raleway" pitchFamily="34" charset="-120"/>
              </a:rPr>
              <a:t>Crecimiento Combo Vida</a:t>
            </a:r>
            <a:endParaRPr lang="en-US" sz="936" dirty="0"/>
          </a:p>
        </p:txBody>
      </p:sp>
      <p:sp>
        <p:nvSpPr>
          <p:cNvPr id="12" name="Text 9"/>
          <p:cNvSpPr/>
          <p:nvPr/>
        </p:nvSpPr>
        <p:spPr>
          <a:xfrm>
            <a:off x="761981" y="1489770"/>
            <a:ext cx="3361631" cy="137350"/>
          </a:xfrm>
          <a:prstGeom prst="rect">
            <a:avLst/>
          </a:prstGeom>
          <a:noFill/>
          <a:ln/>
        </p:spPr>
        <p:txBody>
          <a:bodyPr wrap="square" lIns="0" tIns="0" rIns="0" bIns="0" rtlCol="0" anchor="t"/>
          <a:lstStyle/>
          <a:p>
            <a:pPr marL="0" indent="0" algn="l">
              <a:buNone/>
            </a:pPr>
            <a:r>
              <a:rPr lang="en-US" sz="864" dirty="0">
                <a:solidFill>
                  <a:srgbClr val="9098B0"/>
                </a:solidFill>
                <a:latin typeface="Raleway" pitchFamily="34" charset="0"/>
                <a:ea typeface="Raleway" pitchFamily="34" charset="-122"/>
                <a:cs typeface="Raleway" pitchFamily="34" charset="-120"/>
              </a:rPr>
              <a:t>Cifra oficial ene–jun</a:t>
            </a:r>
            <a:endParaRPr lang="en-US" sz="864" dirty="0"/>
          </a:p>
        </p:txBody>
      </p:sp>
      <p:sp>
        <p:nvSpPr>
          <p:cNvPr id="13" name="Text 10"/>
          <p:cNvSpPr/>
          <p:nvPr/>
        </p:nvSpPr>
        <p:spPr>
          <a:xfrm>
            <a:off x="2458579" y="2164646"/>
            <a:ext cx="3097514" cy="228600"/>
          </a:xfrm>
          <a:prstGeom prst="rect">
            <a:avLst/>
          </a:prstGeom>
          <a:noFill/>
          <a:ln/>
        </p:spPr>
        <p:txBody>
          <a:bodyPr wrap="square" lIns="47625" tIns="114300" rIns="114300" bIns="47625" rtlCol="0" anchor="ctr"/>
          <a:lstStyle/>
          <a:p>
            <a:pPr marL="0" indent="0" algn="ctr">
              <a:buNone/>
            </a:pPr>
            <a:r>
              <a:rPr lang="en-US" sz="888" b="1" dirty="0">
                <a:solidFill>
                  <a:srgbClr val="FFFFFF"/>
                </a:solidFill>
                <a:latin typeface="Raleway" pitchFamily="34" charset="0"/>
                <a:ea typeface="Raleway" pitchFamily="34" charset="-122"/>
                <a:cs typeface="Raleway" pitchFamily="34" charset="-120"/>
              </a:rPr>
              <a:t>Cuota Protegida (CP)</a:t>
            </a:r>
            <a:endParaRPr lang="en-US" sz="888" dirty="0"/>
          </a:p>
        </p:txBody>
      </p:sp>
      <p:sp>
        <p:nvSpPr>
          <p:cNvPr id="14" name="Text 11"/>
          <p:cNvSpPr/>
          <p:nvPr/>
        </p:nvSpPr>
        <p:spPr>
          <a:xfrm>
            <a:off x="4482889" y="990600"/>
            <a:ext cx="3361784" cy="137350"/>
          </a:xfrm>
          <a:prstGeom prst="rect">
            <a:avLst/>
          </a:prstGeom>
          <a:noFill/>
          <a:ln/>
        </p:spPr>
        <p:txBody>
          <a:bodyPr wrap="square" lIns="0" tIns="0" rIns="0" bIns="0" rtlCol="0" anchor="t"/>
          <a:lstStyle/>
          <a:p>
            <a:pPr marL="0" indent="0" algn="l">
              <a:buNone/>
            </a:pPr>
            <a:r>
              <a:rPr lang="en-US" sz="864" b="1" dirty="0">
                <a:solidFill>
                  <a:srgbClr val="9098B0"/>
                </a:solidFill>
                <a:latin typeface="Raleway" pitchFamily="34" charset="0"/>
                <a:ea typeface="Raleway" pitchFamily="34" charset="-122"/>
                <a:cs typeface="Raleway" pitchFamily="34" charset="-120"/>
              </a:rPr>
              <a:t>Asesores en equipo</a:t>
            </a:r>
            <a:endParaRPr lang="en-US" sz="864" dirty="0"/>
          </a:p>
        </p:txBody>
      </p:sp>
      <p:sp>
        <p:nvSpPr>
          <p:cNvPr id="15" name="Text 12"/>
          <p:cNvSpPr/>
          <p:nvPr/>
        </p:nvSpPr>
        <p:spPr>
          <a:xfrm>
            <a:off x="5465874" y="2164646"/>
            <a:ext cx="3097514" cy="228600"/>
          </a:xfrm>
          <a:prstGeom prst="rect">
            <a:avLst/>
          </a:prstGeom>
          <a:noFill/>
          <a:ln/>
        </p:spPr>
        <p:txBody>
          <a:bodyPr wrap="square" lIns="47625" tIns="114300" rIns="114300" bIns="47625" rtlCol="0" anchor="ctr"/>
          <a:lstStyle/>
          <a:p>
            <a:pPr marL="0" indent="0" algn="ctr">
              <a:buNone/>
            </a:pPr>
            <a:r>
              <a:rPr lang="en-US" sz="888" b="1" dirty="0">
                <a:solidFill>
                  <a:srgbClr val="FFFFFF"/>
                </a:solidFill>
                <a:latin typeface="Raleway" pitchFamily="34" charset="0"/>
                <a:ea typeface="Raleway" pitchFamily="34" charset="-122"/>
                <a:cs typeface="Raleway" pitchFamily="34" charset="-120"/>
              </a:rPr>
              <a:t>Combo Vida (VOL)</a:t>
            </a:r>
            <a:endParaRPr lang="en-US" sz="888" dirty="0"/>
          </a:p>
        </p:txBody>
      </p:sp>
      <p:sp>
        <p:nvSpPr>
          <p:cNvPr id="16" name="Text 13"/>
          <p:cNvSpPr/>
          <p:nvPr/>
        </p:nvSpPr>
        <p:spPr>
          <a:xfrm>
            <a:off x="10362941" y="209550"/>
            <a:ext cx="1294987" cy="215836"/>
          </a:xfrm>
          <a:prstGeom prst="rect">
            <a:avLst/>
          </a:prstGeom>
          <a:noFill/>
          <a:ln/>
        </p:spPr>
        <p:txBody>
          <a:bodyPr wrap="square" lIns="38100" tIns="114300" rIns="114300" bIns="38100" rtlCol="0" anchor="t"/>
          <a:lstStyle/>
          <a:p>
            <a:pPr marL="0" indent="0" algn="l">
              <a:buNone/>
            </a:pPr>
            <a:r>
              <a:rPr lang="en-US" sz="840" b="1" dirty="0">
                <a:solidFill>
                  <a:srgbClr val="5AE280"/>
                </a:solidFill>
                <a:latin typeface="Raleway" pitchFamily="34" charset="0"/>
                <a:ea typeface="Raleway" pitchFamily="34" charset="-122"/>
                <a:cs typeface="Raleway" pitchFamily="34" charset="-120"/>
              </a:rPr>
              <a:t>Cap. 1 · Ventas</a:t>
            </a:r>
            <a:endParaRPr lang="en-US" sz="840" dirty="0"/>
          </a:p>
        </p:txBody>
      </p:sp>
      <p:sp>
        <p:nvSpPr>
          <p:cNvPr id="17" name="Text 14"/>
          <p:cNvSpPr/>
          <p:nvPr/>
        </p:nvSpPr>
        <p:spPr>
          <a:xfrm>
            <a:off x="3877392" y="2341490"/>
            <a:ext cx="1529519"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Cumplimiento</a:t>
            </a:r>
            <a:endParaRPr lang="en-US" sz="888" dirty="0"/>
          </a:p>
        </p:txBody>
      </p:sp>
      <p:sp>
        <p:nvSpPr>
          <p:cNvPr id="18" name="Text 15"/>
          <p:cNvSpPr/>
          <p:nvPr/>
        </p:nvSpPr>
        <p:spPr>
          <a:xfrm>
            <a:off x="6884687" y="2341490"/>
            <a:ext cx="1529519"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Cumplimiento</a:t>
            </a:r>
            <a:endParaRPr lang="en-US" sz="888" dirty="0"/>
          </a:p>
        </p:txBody>
      </p:sp>
      <p:sp>
        <p:nvSpPr>
          <p:cNvPr id="19" name="Text 16"/>
          <p:cNvSpPr/>
          <p:nvPr/>
        </p:nvSpPr>
        <p:spPr>
          <a:xfrm>
            <a:off x="9891981" y="2341490"/>
            <a:ext cx="1516489"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Cumplimiento</a:t>
            </a:r>
            <a:endParaRPr lang="en-US" sz="888" dirty="0"/>
          </a:p>
        </p:txBody>
      </p:sp>
      <p:sp>
        <p:nvSpPr>
          <p:cNvPr id="20" name="Text 17"/>
          <p:cNvSpPr/>
          <p:nvPr/>
        </p:nvSpPr>
        <p:spPr>
          <a:xfrm>
            <a:off x="4482889" y="1162050"/>
            <a:ext cx="3361784" cy="298308"/>
          </a:xfrm>
          <a:prstGeom prst="rect">
            <a:avLst/>
          </a:prstGeom>
          <a:noFill/>
          <a:ln/>
        </p:spPr>
        <p:txBody>
          <a:bodyPr wrap="square" lIns="0" tIns="0" rIns="0" bIns="0" rtlCol="0" anchor="t"/>
          <a:lstStyle/>
          <a:p>
            <a:pPr marL="0" indent="0" algn="l">
              <a:buNone/>
            </a:pPr>
            <a:r>
              <a:rPr lang="en-US" sz="1400" b="1" dirty="0">
                <a:solidFill>
                  <a:srgbClr val="120180"/>
                </a:solidFill>
                <a:latin typeface="Raleway" pitchFamily="34" charset="0"/>
                <a:ea typeface="Raleway" pitchFamily="34" charset="-122"/>
                <a:cs typeface="Raleway" pitchFamily="34" charset="-120"/>
              </a:rPr>
              <a:t>15 → 21 → 21</a:t>
            </a:r>
            <a:endParaRPr lang="en-US" sz="1400" dirty="0"/>
          </a:p>
        </p:txBody>
      </p:sp>
      <p:sp>
        <p:nvSpPr>
          <p:cNvPr id="21" name="Text 18"/>
          <p:cNvSpPr/>
          <p:nvPr/>
        </p:nvSpPr>
        <p:spPr>
          <a:xfrm>
            <a:off x="1096382" y="2216402"/>
            <a:ext cx="1098930" cy="4572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Asesores</a:t>
            </a:r>
            <a:endParaRPr lang="en-US" sz="888" dirty="0"/>
          </a:p>
        </p:txBody>
      </p:sp>
      <p:sp>
        <p:nvSpPr>
          <p:cNvPr id="22" name="Text 19"/>
          <p:cNvSpPr/>
          <p:nvPr/>
        </p:nvSpPr>
        <p:spPr>
          <a:xfrm>
            <a:off x="8473169" y="2164646"/>
            <a:ext cx="3084484" cy="228600"/>
          </a:xfrm>
          <a:prstGeom prst="rect">
            <a:avLst/>
          </a:prstGeom>
          <a:noFill/>
          <a:ln/>
        </p:spPr>
        <p:txBody>
          <a:bodyPr wrap="square" lIns="47625" tIns="114300" rIns="114300" bIns="47625" rtlCol="0" anchor="ctr"/>
          <a:lstStyle/>
          <a:p>
            <a:pPr marL="0" indent="0" algn="ctr">
              <a:buNone/>
            </a:pPr>
            <a:r>
              <a:rPr lang="en-US" sz="888" b="1" dirty="0">
                <a:solidFill>
                  <a:srgbClr val="FFFFFF"/>
                </a:solidFill>
                <a:latin typeface="Raleway" pitchFamily="34" charset="0"/>
                <a:ea typeface="Raleway" pitchFamily="34" charset="-122"/>
                <a:cs typeface="Raleway" pitchFamily="34" charset="-120"/>
              </a:rPr>
              <a:t>General</a:t>
            </a:r>
            <a:endParaRPr lang="en-US" sz="888" dirty="0"/>
          </a:p>
        </p:txBody>
      </p:sp>
      <p:sp>
        <p:nvSpPr>
          <p:cNvPr id="23" name="Text 20"/>
          <p:cNvSpPr/>
          <p:nvPr/>
        </p:nvSpPr>
        <p:spPr>
          <a:xfrm>
            <a:off x="3877392" y="2570090"/>
            <a:ext cx="1529519" cy="242888"/>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141,0 %</a:t>
            </a:r>
            <a:endParaRPr lang="en-US" sz="816" dirty="0"/>
          </a:p>
        </p:txBody>
      </p:sp>
      <p:sp>
        <p:nvSpPr>
          <p:cNvPr id="24" name="Text 21"/>
          <p:cNvSpPr/>
          <p:nvPr/>
        </p:nvSpPr>
        <p:spPr>
          <a:xfrm>
            <a:off x="6884687" y="2570090"/>
            <a:ext cx="1529519" cy="242888"/>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112,0 %</a:t>
            </a:r>
            <a:endParaRPr lang="en-US" sz="816" dirty="0"/>
          </a:p>
        </p:txBody>
      </p:sp>
      <p:sp>
        <p:nvSpPr>
          <p:cNvPr id="25" name="Text 22"/>
          <p:cNvSpPr/>
          <p:nvPr/>
        </p:nvSpPr>
        <p:spPr>
          <a:xfrm>
            <a:off x="9891981" y="2570090"/>
            <a:ext cx="1516489" cy="242888"/>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132,0 %</a:t>
            </a:r>
            <a:endParaRPr lang="en-US" sz="816" dirty="0"/>
          </a:p>
        </p:txBody>
      </p:sp>
      <p:sp>
        <p:nvSpPr>
          <p:cNvPr id="26" name="Text 23"/>
          <p:cNvSpPr/>
          <p:nvPr/>
        </p:nvSpPr>
        <p:spPr>
          <a:xfrm>
            <a:off x="3877392" y="2812978"/>
            <a:ext cx="1529519"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152,0 %</a:t>
            </a:r>
            <a:endParaRPr lang="en-US" sz="816" dirty="0"/>
          </a:p>
        </p:txBody>
      </p:sp>
      <p:sp>
        <p:nvSpPr>
          <p:cNvPr id="27" name="Text 24"/>
          <p:cNvSpPr/>
          <p:nvPr/>
        </p:nvSpPr>
        <p:spPr>
          <a:xfrm>
            <a:off x="6884687" y="2812978"/>
            <a:ext cx="1529519"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286,0 %</a:t>
            </a:r>
            <a:endParaRPr lang="en-US" sz="816" dirty="0"/>
          </a:p>
        </p:txBody>
      </p:sp>
      <p:sp>
        <p:nvSpPr>
          <p:cNvPr id="28" name="Text 25"/>
          <p:cNvSpPr/>
          <p:nvPr/>
        </p:nvSpPr>
        <p:spPr>
          <a:xfrm>
            <a:off x="9891981" y="2812978"/>
            <a:ext cx="1516489"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171,0 %</a:t>
            </a:r>
            <a:endParaRPr lang="en-US" sz="816" dirty="0"/>
          </a:p>
        </p:txBody>
      </p:sp>
      <p:sp>
        <p:nvSpPr>
          <p:cNvPr id="29" name="Text 26"/>
          <p:cNvSpPr/>
          <p:nvPr/>
        </p:nvSpPr>
        <p:spPr>
          <a:xfrm>
            <a:off x="3877392" y="3060628"/>
            <a:ext cx="1529519"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159,0 %</a:t>
            </a:r>
            <a:endParaRPr lang="en-US" sz="816" dirty="0"/>
          </a:p>
        </p:txBody>
      </p:sp>
      <p:sp>
        <p:nvSpPr>
          <p:cNvPr id="30" name="Text 27"/>
          <p:cNvSpPr/>
          <p:nvPr/>
        </p:nvSpPr>
        <p:spPr>
          <a:xfrm>
            <a:off x="6884687" y="3060628"/>
            <a:ext cx="1529519"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143,0 %</a:t>
            </a:r>
            <a:endParaRPr lang="en-US" sz="816" dirty="0"/>
          </a:p>
        </p:txBody>
      </p:sp>
      <p:sp>
        <p:nvSpPr>
          <p:cNvPr id="31" name="Text 28"/>
          <p:cNvSpPr/>
          <p:nvPr/>
        </p:nvSpPr>
        <p:spPr>
          <a:xfrm>
            <a:off x="9891981" y="3060628"/>
            <a:ext cx="1516489"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155,0 %</a:t>
            </a:r>
            <a:endParaRPr lang="en-US" sz="816" dirty="0"/>
          </a:p>
        </p:txBody>
      </p:sp>
      <p:sp>
        <p:nvSpPr>
          <p:cNvPr id="32" name="Text 29"/>
          <p:cNvSpPr/>
          <p:nvPr/>
        </p:nvSpPr>
        <p:spPr>
          <a:xfrm>
            <a:off x="3877392" y="3308278"/>
            <a:ext cx="1529519"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152,0 %</a:t>
            </a:r>
            <a:endParaRPr lang="en-US" sz="816" dirty="0"/>
          </a:p>
        </p:txBody>
      </p:sp>
      <p:sp>
        <p:nvSpPr>
          <p:cNvPr id="33" name="Text 30"/>
          <p:cNvSpPr/>
          <p:nvPr/>
        </p:nvSpPr>
        <p:spPr>
          <a:xfrm>
            <a:off x="9891981" y="3308278"/>
            <a:ext cx="1516489"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130,0 %</a:t>
            </a:r>
            <a:endParaRPr lang="en-US" sz="816" dirty="0"/>
          </a:p>
        </p:txBody>
      </p:sp>
      <p:sp>
        <p:nvSpPr>
          <p:cNvPr id="34" name="Text 31"/>
          <p:cNvSpPr/>
          <p:nvPr/>
        </p:nvSpPr>
        <p:spPr>
          <a:xfrm>
            <a:off x="3877392" y="3555928"/>
            <a:ext cx="1529519"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127,0 %</a:t>
            </a:r>
            <a:endParaRPr lang="en-US" sz="816" dirty="0"/>
          </a:p>
        </p:txBody>
      </p:sp>
      <p:sp>
        <p:nvSpPr>
          <p:cNvPr id="35" name="Text 32"/>
          <p:cNvSpPr/>
          <p:nvPr/>
        </p:nvSpPr>
        <p:spPr>
          <a:xfrm>
            <a:off x="6884687" y="3555928"/>
            <a:ext cx="1529519"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280,0 %</a:t>
            </a:r>
            <a:endParaRPr lang="en-US" sz="816" dirty="0"/>
          </a:p>
        </p:txBody>
      </p:sp>
      <p:sp>
        <p:nvSpPr>
          <p:cNvPr id="36" name="Text 33"/>
          <p:cNvSpPr/>
          <p:nvPr/>
        </p:nvSpPr>
        <p:spPr>
          <a:xfrm>
            <a:off x="9891981" y="3555928"/>
            <a:ext cx="1516489"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151,0 %</a:t>
            </a:r>
            <a:endParaRPr lang="en-US" sz="816" dirty="0"/>
          </a:p>
        </p:txBody>
      </p:sp>
      <p:sp>
        <p:nvSpPr>
          <p:cNvPr id="37" name="Text 34"/>
          <p:cNvSpPr/>
          <p:nvPr/>
        </p:nvSpPr>
        <p:spPr>
          <a:xfrm>
            <a:off x="3877392" y="3803578"/>
            <a:ext cx="1529519"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141,0 %</a:t>
            </a:r>
            <a:endParaRPr lang="en-US" sz="816" dirty="0"/>
          </a:p>
        </p:txBody>
      </p:sp>
      <p:sp>
        <p:nvSpPr>
          <p:cNvPr id="38" name="Text 35"/>
          <p:cNvSpPr/>
          <p:nvPr/>
        </p:nvSpPr>
        <p:spPr>
          <a:xfrm>
            <a:off x="6884687" y="3803578"/>
            <a:ext cx="1529519"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198,0 %</a:t>
            </a:r>
            <a:endParaRPr lang="en-US" sz="816" dirty="0"/>
          </a:p>
        </p:txBody>
      </p:sp>
      <p:sp>
        <p:nvSpPr>
          <p:cNvPr id="39" name="Text 36"/>
          <p:cNvSpPr/>
          <p:nvPr/>
        </p:nvSpPr>
        <p:spPr>
          <a:xfrm>
            <a:off x="9891981" y="3803578"/>
            <a:ext cx="1516489"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152,0 %</a:t>
            </a:r>
            <a:endParaRPr lang="en-US" sz="816" dirty="0"/>
          </a:p>
        </p:txBody>
      </p:sp>
      <p:sp>
        <p:nvSpPr>
          <p:cNvPr id="40" name="Text 37"/>
          <p:cNvSpPr/>
          <p:nvPr/>
        </p:nvSpPr>
        <p:spPr>
          <a:xfrm>
            <a:off x="3877392" y="4051228"/>
            <a:ext cx="1529519" cy="242888"/>
          </a:xfrm>
          <a:prstGeom prst="rect">
            <a:avLst/>
          </a:prstGeom>
          <a:noFill/>
          <a:ln/>
        </p:spPr>
        <p:txBody>
          <a:bodyPr wrap="square" lIns="38100" tIns="114300" rIns="114300" bIns="38100" rtlCol="0" anchor="ctr"/>
          <a:lstStyle/>
          <a:p>
            <a:pPr marL="0" indent="0" algn="r">
              <a:buNone/>
            </a:pPr>
            <a:r>
              <a:rPr lang="en-US" sz="816" b="1" dirty="0">
                <a:solidFill>
                  <a:srgbClr val="120180"/>
                </a:solidFill>
                <a:latin typeface="Raleway" pitchFamily="34" charset="0"/>
                <a:ea typeface="Raleway" pitchFamily="34" charset="-122"/>
                <a:cs typeface="Raleway" pitchFamily="34" charset="-120"/>
              </a:rPr>
              <a:t>145,0 %</a:t>
            </a:r>
            <a:endParaRPr lang="en-US" sz="816" dirty="0"/>
          </a:p>
        </p:txBody>
      </p:sp>
      <p:sp>
        <p:nvSpPr>
          <p:cNvPr id="41" name="Text 38"/>
          <p:cNvSpPr/>
          <p:nvPr/>
        </p:nvSpPr>
        <p:spPr>
          <a:xfrm>
            <a:off x="6884687" y="4051228"/>
            <a:ext cx="1529519" cy="242888"/>
          </a:xfrm>
          <a:prstGeom prst="rect">
            <a:avLst/>
          </a:prstGeom>
          <a:noFill/>
          <a:ln/>
        </p:spPr>
        <p:txBody>
          <a:bodyPr wrap="square" lIns="38100" tIns="114300" rIns="114300" bIns="38100" rtlCol="0" anchor="ctr"/>
          <a:lstStyle/>
          <a:p>
            <a:pPr marL="0" indent="0" algn="r">
              <a:buNone/>
            </a:pPr>
            <a:r>
              <a:rPr lang="en-US" sz="816" b="1" dirty="0">
                <a:solidFill>
                  <a:srgbClr val="120180"/>
                </a:solidFill>
                <a:latin typeface="Raleway" pitchFamily="34" charset="0"/>
                <a:ea typeface="Raleway" pitchFamily="34" charset="-122"/>
                <a:cs typeface="Raleway" pitchFamily="34" charset="-120"/>
              </a:rPr>
              <a:t>154,0 %</a:t>
            </a:r>
            <a:endParaRPr lang="en-US" sz="816" dirty="0"/>
          </a:p>
        </p:txBody>
      </p:sp>
      <p:sp>
        <p:nvSpPr>
          <p:cNvPr id="42" name="Text 39"/>
          <p:cNvSpPr/>
          <p:nvPr/>
        </p:nvSpPr>
        <p:spPr>
          <a:xfrm>
            <a:off x="9891981" y="4051228"/>
            <a:ext cx="1516489" cy="242888"/>
          </a:xfrm>
          <a:prstGeom prst="rect">
            <a:avLst/>
          </a:prstGeom>
          <a:noFill/>
          <a:ln/>
        </p:spPr>
        <p:txBody>
          <a:bodyPr wrap="square" lIns="38100" tIns="114300" rIns="114300" bIns="38100" rtlCol="0" anchor="ctr"/>
          <a:lstStyle/>
          <a:p>
            <a:pPr marL="0" indent="0" algn="r">
              <a:buNone/>
            </a:pPr>
            <a:r>
              <a:rPr lang="en-US" sz="816" b="1" dirty="0">
                <a:solidFill>
                  <a:srgbClr val="120180"/>
                </a:solidFill>
                <a:latin typeface="Raleway" pitchFamily="34" charset="0"/>
                <a:ea typeface="Raleway" pitchFamily="34" charset="-122"/>
                <a:cs typeface="Raleway" pitchFamily="34" charset="-120"/>
              </a:rPr>
              <a:t>147,0 %</a:t>
            </a:r>
            <a:endParaRPr lang="en-US" sz="816" dirty="0"/>
          </a:p>
        </p:txBody>
      </p:sp>
      <p:sp>
        <p:nvSpPr>
          <p:cNvPr id="43" name="Text 40"/>
          <p:cNvSpPr/>
          <p:nvPr/>
        </p:nvSpPr>
        <p:spPr>
          <a:xfrm>
            <a:off x="6884687" y="3308278"/>
            <a:ext cx="1529519"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89,0 %</a:t>
            </a:r>
            <a:endParaRPr lang="en-US" sz="816" dirty="0"/>
          </a:p>
        </p:txBody>
      </p:sp>
      <p:sp>
        <p:nvSpPr>
          <p:cNvPr id="44" name="Text 41"/>
          <p:cNvSpPr/>
          <p:nvPr/>
        </p:nvSpPr>
        <p:spPr>
          <a:xfrm>
            <a:off x="2355067" y="4051228"/>
            <a:ext cx="823623" cy="242888"/>
          </a:xfrm>
          <a:prstGeom prst="rect">
            <a:avLst/>
          </a:prstGeom>
          <a:noFill/>
          <a:ln/>
        </p:spPr>
        <p:txBody>
          <a:bodyPr wrap="square" lIns="38100" tIns="114300" rIns="114300" bIns="38100" rtlCol="0" anchor="ctr"/>
          <a:lstStyle/>
          <a:p>
            <a:pPr marL="0" indent="0" algn="r">
              <a:buNone/>
            </a:pPr>
            <a:r>
              <a:rPr lang="en-US" sz="816" b="1" dirty="0">
                <a:solidFill>
                  <a:srgbClr val="120180"/>
                </a:solidFill>
                <a:latin typeface="Raleway" pitchFamily="34" charset="0"/>
                <a:ea typeface="Raleway" pitchFamily="34" charset="-122"/>
                <a:cs typeface="Raleway" pitchFamily="34" charset="-120"/>
              </a:rPr>
              <a:t>10.534</a:t>
            </a:r>
            <a:endParaRPr lang="en-US" sz="816" dirty="0"/>
          </a:p>
        </p:txBody>
      </p:sp>
      <p:sp>
        <p:nvSpPr>
          <p:cNvPr id="45" name="Text 42"/>
          <p:cNvSpPr/>
          <p:nvPr/>
        </p:nvSpPr>
        <p:spPr>
          <a:xfrm>
            <a:off x="8369657" y="4051228"/>
            <a:ext cx="823623" cy="242888"/>
          </a:xfrm>
          <a:prstGeom prst="rect">
            <a:avLst/>
          </a:prstGeom>
          <a:noFill/>
          <a:ln/>
        </p:spPr>
        <p:txBody>
          <a:bodyPr wrap="square" lIns="38100" tIns="114300" rIns="114300" bIns="38100" rtlCol="0" anchor="ctr"/>
          <a:lstStyle/>
          <a:p>
            <a:pPr marL="0" indent="0" algn="r">
              <a:buNone/>
            </a:pPr>
            <a:r>
              <a:rPr lang="en-US" sz="816" b="1" dirty="0">
                <a:solidFill>
                  <a:srgbClr val="120180"/>
                </a:solidFill>
                <a:latin typeface="Raleway" pitchFamily="34" charset="0"/>
                <a:ea typeface="Raleway" pitchFamily="34" charset="-122"/>
                <a:cs typeface="Raleway" pitchFamily="34" charset="-120"/>
              </a:rPr>
              <a:t>13.917</a:t>
            </a:r>
            <a:endParaRPr lang="en-US" sz="816" dirty="0"/>
          </a:p>
        </p:txBody>
      </p:sp>
      <p:sp>
        <p:nvSpPr>
          <p:cNvPr id="46" name="Text 43"/>
          <p:cNvSpPr/>
          <p:nvPr/>
        </p:nvSpPr>
        <p:spPr>
          <a:xfrm>
            <a:off x="761981" y="1162050"/>
            <a:ext cx="3361631" cy="298308"/>
          </a:xfrm>
          <a:prstGeom prst="rect">
            <a:avLst/>
          </a:prstGeom>
          <a:noFill/>
          <a:ln/>
        </p:spPr>
        <p:txBody>
          <a:bodyPr wrap="square" lIns="0" tIns="0" rIns="0" bIns="0" rtlCol="0" anchor="t"/>
          <a:lstStyle/>
          <a:p>
            <a:pPr marL="0" indent="0" algn="l">
              <a:buNone/>
            </a:pPr>
            <a:r>
              <a:rPr lang="en-US" sz="1400" b="1" dirty="0">
                <a:solidFill>
                  <a:srgbClr val="120180"/>
                </a:solidFill>
                <a:latin typeface="Raleway" pitchFamily="34" charset="0"/>
                <a:ea typeface="Raleway" pitchFamily="34" charset="-122"/>
                <a:cs typeface="Raleway" pitchFamily="34" charset="-120"/>
              </a:rPr>
              <a:t>13.917</a:t>
            </a:r>
            <a:endParaRPr lang="en-US" sz="1400" dirty="0"/>
          </a:p>
        </p:txBody>
      </p:sp>
      <p:sp>
        <p:nvSpPr>
          <p:cNvPr id="47" name="Text 44"/>
          <p:cNvSpPr/>
          <p:nvPr/>
        </p:nvSpPr>
        <p:spPr>
          <a:xfrm>
            <a:off x="2355067" y="2341490"/>
            <a:ext cx="823623"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Venta</a:t>
            </a:r>
            <a:endParaRPr lang="en-US" sz="888" dirty="0"/>
          </a:p>
        </p:txBody>
      </p:sp>
      <p:sp>
        <p:nvSpPr>
          <p:cNvPr id="48" name="Text 45"/>
          <p:cNvSpPr/>
          <p:nvPr/>
        </p:nvSpPr>
        <p:spPr>
          <a:xfrm>
            <a:off x="5362362" y="2341490"/>
            <a:ext cx="823623"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Venta</a:t>
            </a:r>
            <a:endParaRPr lang="en-US" sz="888" dirty="0"/>
          </a:p>
        </p:txBody>
      </p:sp>
      <p:sp>
        <p:nvSpPr>
          <p:cNvPr id="49" name="Text 46"/>
          <p:cNvSpPr/>
          <p:nvPr/>
        </p:nvSpPr>
        <p:spPr>
          <a:xfrm>
            <a:off x="8369657" y="2341490"/>
            <a:ext cx="823623"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Venta</a:t>
            </a:r>
            <a:endParaRPr lang="en-US" sz="888" dirty="0"/>
          </a:p>
        </p:txBody>
      </p:sp>
      <p:sp>
        <p:nvSpPr>
          <p:cNvPr id="50" name="Text 47"/>
          <p:cNvSpPr/>
          <p:nvPr/>
        </p:nvSpPr>
        <p:spPr>
          <a:xfrm>
            <a:off x="2355067" y="2570090"/>
            <a:ext cx="823623" cy="242888"/>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1.689</a:t>
            </a:r>
            <a:endParaRPr lang="en-US" sz="816" dirty="0"/>
          </a:p>
        </p:txBody>
      </p:sp>
      <p:sp>
        <p:nvSpPr>
          <p:cNvPr id="51" name="Text 48"/>
          <p:cNvSpPr/>
          <p:nvPr/>
        </p:nvSpPr>
        <p:spPr>
          <a:xfrm>
            <a:off x="3402351" y="2570090"/>
            <a:ext cx="744372" cy="242888"/>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1.197</a:t>
            </a:r>
            <a:endParaRPr lang="en-US" sz="816" dirty="0"/>
          </a:p>
        </p:txBody>
      </p:sp>
      <p:sp>
        <p:nvSpPr>
          <p:cNvPr id="52" name="Text 49"/>
          <p:cNvSpPr/>
          <p:nvPr/>
        </p:nvSpPr>
        <p:spPr>
          <a:xfrm>
            <a:off x="8369657" y="2570090"/>
            <a:ext cx="823623" cy="242888"/>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2.245</a:t>
            </a:r>
            <a:endParaRPr lang="en-US" sz="816" dirty="0"/>
          </a:p>
        </p:txBody>
      </p:sp>
      <p:sp>
        <p:nvSpPr>
          <p:cNvPr id="53" name="Text 50"/>
          <p:cNvSpPr/>
          <p:nvPr/>
        </p:nvSpPr>
        <p:spPr>
          <a:xfrm>
            <a:off x="9445515" y="2570090"/>
            <a:ext cx="744372" cy="242888"/>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1.695</a:t>
            </a:r>
            <a:endParaRPr lang="en-US" sz="816" dirty="0"/>
          </a:p>
        </p:txBody>
      </p:sp>
      <p:sp>
        <p:nvSpPr>
          <p:cNvPr id="54" name="Text 51"/>
          <p:cNvSpPr/>
          <p:nvPr/>
        </p:nvSpPr>
        <p:spPr>
          <a:xfrm>
            <a:off x="2355067" y="2812978"/>
            <a:ext cx="823623"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1.819</a:t>
            </a:r>
            <a:endParaRPr lang="en-US" sz="816" dirty="0"/>
          </a:p>
        </p:txBody>
      </p:sp>
      <p:sp>
        <p:nvSpPr>
          <p:cNvPr id="55" name="Text 52"/>
          <p:cNvSpPr/>
          <p:nvPr/>
        </p:nvSpPr>
        <p:spPr>
          <a:xfrm>
            <a:off x="3402351" y="2812978"/>
            <a:ext cx="744372"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1.197</a:t>
            </a:r>
            <a:endParaRPr lang="en-US" sz="816" dirty="0"/>
          </a:p>
        </p:txBody>
      </p:sp>
      <p:sp>
        <p:nvSpPr>
          <p:cNvPr id="56" name="Text 53"/>
          <p:cNvSpPr/>
          <p:nvPr/>
        </p:nvSpPr>
        <p:spPr>
          <a:xfrm>
            <a:off x="8369657" y="2812978"/>
            <a:ext cx="823623"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2.374</a:t>
            </a:r>
            <a:endParaRPr lang="en-US" sz="816" dirty="0"/>
          </a:p>
        </p:txBody>
      </p:sp>
      <p:sp>
        <p:nvSpPr>
          <p:cNvPr id="57" name="Text 54"/>
          <p:cNvSpPr/>
          <p:nvPr/>
        </p:nvSpPr>
        <p:spPr>
          <a:xfrm>
            <a:off x="9445515" y="2812978"/>
            <a:ext cx="744372"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1.391</a:t>
            </a:r>
            <a:endParaRPr lang="en-US" sz="816" dirty="0"/>
          </a:p>
        </p:txBody>
      </p:sp>
      <p:sp>
        <p:nvSpPr>
          <p:cNvPr id="58" name="Text 55"/>
          <p:cNvSpPr/>
          <p:nvPr/>
        </p:nvSpPr>
        <p:spPr>
          <a:xfrm>
            <a:off x="2355067" y="3060628"/>
            <a:ext cx="823623"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1.901</a:t>
            </a:r>
            <a:endParaRPr lang="en-US" sz="816" dirty="0"/>
          </a:p>
        </p:txBody>
      </p:sp>
      <p:sp>
        <p:nvSpPr>
          <p:cNvPr id="59" name="Text 56"/>
          <p:cNvSpPr/>
          <p:nvPr/>
        </p:nvSpPr>
        <p:spPr>
          <a:xfrm>
            <a:off x="3402351" y="3060628"/>
            <a:ext cx="744372"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1.197</a:t>
            </a:r>
            <a:endParaRPr lang="en-US" sz="816" dirty="0"/>
          </a:p>
        </p:txBody>
      </p:sp>
      <p:sp>
        <p:nvSpPr>
          <p:cNvPr id="60" name="Text 57"/>
          <p:cNvSpPr/>
          <p:nvPr/>
        </p:nvSpPr>
        <p:spPr>
          <a:xfrm>
            <a:off x="8369657" y="3060628"/>
            <a:ext cx="823623"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2.431</a:t>
            </a:r>
            <a:endParaRPr lang="en-US" sz="816" dirty="0"/>
          </a:p>
        </p:txBody>
      </p:sp>
      <p:sp>
        <p:nvSpPr>
          <p:cNvPr id="61" name="Text 58"/>
          <p:cNvSpPr/>
          <p:nvPr/>
        </p:nvSpPr>
        <p:spPr>
          <a:xfrm>
            <a:off x="9445515" y="3060628"/>
            <a:ext cx="744372"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1.568</a:t>
            </a:r>
            <a:endParaRPr lang="en-US" sz="816" dirty="0"/>
          </a:p>
        </p:txBody>
      </p:sp>
      <p:sp>
        <p:nvSpPr>
          <p:cNvPr id="62" name="Text 59"/>
          <p:cNvSpPr/>
          <p:nvPr/>
        </p:nvSpPr>
        <p:spPr>
          <a:xfrm>
            <a:off x="2355067" y="3308278"/>
            <a:ext cx="823623"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1.816</a:t>
            </a:r>
            <a:endParaRPr lang="en-US" sz="816" dirty="0"/>
          </a:p>
        </p:txBody>
      </p:sp>
      <p:sp>
        <p:nvSpPr>
          <p:cNvPr id="63" name="Text 60"/>
          <p:cNvSpPr/>
          <p:nvPr/>
        </p:nvSpPr>
        <p:spPr>
          <a:xfrm>
            <a:off x="3402351" y="3308278"/>
            <a:ext cx="744372"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1.197</a:t>
            </a:r>
            <a:endParaRPr lang="en-US" sz="816" dirty="0"/>
          </a:p>
        </p:txBody>
      </p:sp>
      <p:sp>
        <p:nvSpPr>
          <p:cNvPr id="64" name="Text 61"/>
          <p:cNvSpPr/>
          <p:nvPr/>
        </p:nvSpPr>
        <p:spPr>
          <a:xfrm>
            <a:off x="8369657" y="3308278"/>
            <a:ext cx="823623"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2.367</a:t>
            </a:r>
            <a:endParaRPr lang="en-US" sz="816" dirty="0"/>
          </a:p>
        </p:txBody>
      </p:sp>
      <p:sp>
        <p:nvSpPr>
          <p:cNvPr id="65" name="Text 62"/>
          <p:cNvSpPr/>
          <p:nvPr/>
        </p:nvSpPr>
        <p:spPr>
          <a:xfrm>
            <a:off x="9445515" y="3308278"/>
            <a:ext cx="744372"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1.818</a:t>
            </a:r>
            <a:endParaRPr lang="en-US" sz="816" dirty="0"/>
          </a:p>
        </p:txBody>
      </p:sp>
      <p:sp>
        <p:nvSpPr>
          <p:cNvPr id="66" name="Text 63"/>
          <p:cNvSpPr/>
          <p:nvPr/>
        </p:nvSpPr>
        <p:spPr>
          <a:xfrm>
            <a:off x="2355067" y="3555928"/>
            <a:ext cx="823623"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1.568</a:t>
            </a:r>
            <a:endParaRPr lang="en-US" sz="816" dirty="0"/>
          </a:p>
        </p:txBody>
      </p:sp>
      <p:sp>
        <p:nvSpPr>
          <p:cNvPr id="67" name="Text 64"/>
          <p:cNvSpPr/>
          <p:nvPr/>
        </p:nvSpPr>
        <p:spPr>
          <a:xfrm>
            <a:off x="3402351" y="3555928"/>
            <a:ext cx="744372"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1.231</a:t>
            </a:r>
            <a:endParaRPr lang="en-US" sz="816" dirty="0"/>
          </a:p>
        </p:txBody>
      </p:sp>
      <p:sp>
        <p:nvSpPr>
          <p:cNvPr id="68" name="Text 65"/>
          <p:cNvSpPr/>
          <p:nvPr/>
        </p:nvSpPr>
        <p:spPr>
          <a:xfrm>
            <a:off x="8369657" y="3555928"/>
            <a:ext cx="823623"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2.186</a:t>
            </a:r>
            <a:endParaRPr lang="en-US" sz="816" dirty="0"/>
          </a:p>
        </p:txBody>
      </p:sp>
      <p:sp>
        <p:nvSpPr>
          <p:cNvPr id="69" name="Text 66"/>
          <p:cNvSpPr/>
          <p:nvPr/>
        </p:nvSpPr>
        <p:spPr>
          <a:xfrm>
            <a:off x="9445515" y="3555928"/>
            <a:ext cx="744372"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1.452</a:t>
            </a:r>
            <a:endParaRPr lang="en-US" sz="816" dirty="0"/>
          </a:p>
        </p:txBody>
      </p:sp>
      <p:sp>
        <p:nvSpPr>
          <p:cNvPr id="70" name="Text 67"/>
          <p:cNvSpPr/>
          <p:nvPr/>
        </p:nvSpPr>
        <p:spPr>
          <a:xfrm>
            <a:off x="2355067" y="3803578"/>
            <a:ext cx="823623"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1.741</a:t>
            </a:r>
            <a:endParaRPr lang="en-US" sz="816" dirty="0"/>
          </a:p>
        </p:txBody>
      </p:sp>
      <p:sp>
        <p:nvSpPr>
          <p:cNvPr id="71" name="Text 68"/>
          <p:cNvSpPr/>
          <p:nvPr/>
        </p:nvSpPr>
        <p:spPr>
          <a:xfrm>
            <a:off x="3402351" y="3803578"/>
            <a:ext cx="744372"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1.231</a:t>
            </a:r>
            <a:endParaRPr lang="en-US" sz="816" dirty="0"/>
          </a:p>
        </p:txBody>
      </p:sp>
      <p:sp>
        <p:nvSpPr>
          <p:cNvPr id="72" name="Text 69"/>
          <p:cNvSpPr/>
          <p:nvPr/>
        </p:nvSpPr>
        <p:spPr>
          <a:xfrm>
            <a:off x="8369657" y="3803578"/>
            <a:ext cx="823623"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2.314</a:t>
            </a:r>
            <a:endParaRPr lang="en-US" sz="816" dirty="0"/>
          </a:p>
        </p:txBody>
      </p:sp>
      <p:sp>
        <p:nvSpPr>
          <p:cNvPr id="73" name="Text 70"/>
          <p:cNvSpPr/>
          <p:nvPr/>
        </p:nvSpPr>
        <p:spPr>
          <a:xfrm>
            <a:off x="9445515" y="3803578"/>
            <a:ext cx="744372"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1.520</a:t>
            </a:r>
            <a:endParaRPr lang="en-US" sz="816" dirty="0"/>
          </a:p>
        </p:txBody>
      </p:sp>
      <p:sp>
        <p:nvSpPr>
          <p:cNvPr id="74" name="Text 71"/>
          <p:cNvSpPr/>
          <p:nvPr/>
        </p:nvSpPr>
        <p:spPr>
          <a:xfrm>
            <a:off x="723882" y="4102984"/>
            <a:ext cx="687808" cy="242888"/>
          </a:xfrm>
          <a:prstGeom prst="rect">
            <a:avLst/>
          </a:prstGeom>
          <a:noFill/>
          <a:ln/>
        </p:spPr>
        <p:txBody>
          <a:bodyPr wrap="square" lIns="38100" tIns="114300" rIns="114300" bIns="38100" rtlCol="0" anchor="ctr"/>
          <a:lstStyle/>
          <a:p>
            <a:pPr marL="0" indent="0" algn="l">
              <a:buNone/>
            </a:pPr>
            <a:r>
              <a:rPr lang="en-US" sz="816" b="1" dirty="0">
                <a:solidFill>
                  <a:srgbClr val="120180"/>
                </a:solidFill>
                <a:latin typeface="Raleway" pitchFamily="34" charset="0"/>
                <a:ea typeface="Raleway" pitchFamily="34" charset="-122"/>
                <a:cs typeface="Raleway" pitchFamily="34" charset="-120"/>
              </a:rPr>
              <a:t>Total</a:t>
            </a:r>
            <a:endParaRPr lang="en-US" sz="816" dirty="0"/>
          </a:p>
        </p:txBody>
      </p:sp>
      <p:sp>
        <p:nvSpPr>
          <p:cNvPr id="75" name="Text 72"/>
          <p:cNvSpPr/>
          <p:nvPr/>
        </p:nvSpPr>
        <p:spPr>
          <a:xfrm>
            <a:off x="3402351" y="4051228"/>
            <a:ext cx="744372" cy="242888"/>
          </a:xfrm>
          <a:prstGeom prst="rect">
            <a:avLst/>
          </a:prstGeom>
          <a:noFill/>
          <a:ln/>
        </p:spPr>
        <p:txBody>
          <a:bodyPr wrap="square" lIns="38100" tIns="114300" rIns="114300" bIns="38100" rtlCol="0" anchor="ctr"/>
          <a:lstStyle/>
          <a:p>
            <a:pPr marL="0" indent="0" algn="r">
              <a:buNone/>
            </a:pPr>
            <a:r>
              <a:rPr lang="en-US" sz="816" b="1" dirty="0">
                <a:solidFill>
                  <a:srgbClr val="120180"/>
                </a:solidFill>
                <a:latin typeface="Raleway" pitchFamily="34" charset="0"/>
                <a:ea typeface="Raleway" pitchFamily="34" charset="-122"/>
                <a:cs typeface="Raleway" pitchFamily="34" charset="-120"/>
              </a:rPr>
              <a:t>7.250</a:t>
            </a:r>
            <a:endParaRPr lang="en-US" sz="816" dirty="0"/>
          </a:p>
        </p:txBody>
      </p:sp>
      <p:sp>
        <p:nvSpPr>
          <p:cNvPr id="76" name="Text 73"/>
          <p:cNvSpPr/>
          <p:nvPr/>
        </p:nvSpPr>
        <p:spPr>
          <a:xfrm>
            <a:off x="5362362" y="4051228"/>
            <a:ext cx="823623" cy="242888"/>
          </a:xfrm>
          <a:prstGeom prst="rect">
            <a:avLst/>
          </a:prstGeom>
          <a:noFill/>
          <a:ln/>
        </p:spPr>
        <p:txBody>
          <a:bodyPr wrap="square" lIns="38100" tIns="114300" rIns="114300" bIns="38100" rtlCol="0" anchor="ctr"/>
          <a:lstStyle/>
          <a:p>
            <a:pPr marL="0" indent="0" algn="r">
              <a:buNone/>
            </a:pPr>
            <a:r>
              <a:rPr lang="en-US" sz="816" b="1" dirty="0">
                <a:solidFill>
                  <a:srgbClr val="120180"/>
                </a:solidFill>
                <a:latin typeface="Raleway" pitchFamily="34" charset="0"/>
                <a:ea typeface="Raleway" pitchFamily="34" charset="-122"/>
                <a:cs typeface="Raleway" pitchFamily="34" charset="-120"/>
              </a:rPr>
              <a:t>3.383</a:t>
            </a:r>
            <a:endParaRPr lang="en-US" sz="816" dirty="0"/>
          </a:p>
        </p:txBody>
      </p:sp>
      <p:sp>
        <p:nvSpPr>
          <p:cNvPr id="77" name="Text 74"/>
          <p:cNvSpPr/>
          <p:nvPr/>
        </p:nvSpPr>
        <p:spPr>
          <a:xfrm>
            <a:off x="6381070" y="4051228"/>
            <a:ext cx="744372" cy="242888"/>
          </a:xfrm>
          <a:prstGeom prst="rect">
            <a:avLst/>
          </a:prstGeom>
          <a:noFill/>
          <a:ln/>
        </p:spPr>
        <p:txBody>
          <a:bodyPr wrap="square" lIns="38100" tIns="114300" rIns="114300" bIns="38100" rtlCol="0" anchor="ctr"/>
          <a:lstStyle/>
          <a:p>
            <a:pPr marL="0" indent="0" algn="r">
              <a:buNone/>
            </a:pPr>
            <a:r>
              <a:rPr lang="en-US" sz="816" b="1" dirty="0">
                <a:solidFill>
                  <a:srgbClr val="120180"/>
                </a:solidFill>
                <a:latin typeface="Raleway" pitchFamily="34" charset="0"/>
                <a:ea typeface="Raleway" pitchFamily="34" charset="-122"/>
                <a:cs typeface="Raleway" pitchFamily="34" charset="-120"/>
              </a:rPr>
              <a:t>2.194</a:t>
            </a:r>
            <a:endParaRPr lang="en-US" sz="816" dirty="0"/>
          </a:p>
        </p:txBody>
      </p:sp>
      <p:sp>
        <p:nvSpPr>
          <p:cNvPr id="78" name="Text 75"/>
          <p:cNvSpPr/>
          <p:nvPr/>
        </p:nvSpPr>
        <p:spPr>
          <a:xfrm>
            <a:off x="9445515" y="4051228"/>
            <a:ext cx="744372" cy="242888"/>
          </a:xfrm>
          <a:prstGeom prst="rect">
            <a:avLst/>
          </a:prstGeom>
          <a:noFill/>
          <a:ln/>
        </p:spPr>
        <p:txBody>
          <a:bodyPr wrap="square" lIns="38100" tIns="114300" rIns="114300" bIns="38100" rtlCol="0" anchor="ctr"/>
          <a:lstStyle/>
          <a:p>
            <a:pPr marL="0" indent="0" algn="r">
              <a:buNone/>
            </a:pPr>
            <a:r>
              <a:rPr lang="en-US" sz="816" b="1" dirty="0">
                <a:solidFill>
                  <a:srgbClr val="120180"/>
                </a:solidFill>
                <a:latin typeface="Raleway" pitchFamily="34" charset="0"/>
                <a:ea typeface="Raleway" pitchFamily="34" charset="-122"/>
                <a:cs typeface="Raleway" pitchFamily="34" charset="-120"/>
              </a:rPr>
              <a:t>9.444</a:t>
            </a:r>
            <a:endParaRPr lang="en-US" sz="816" dirty="0"/>
          </a:p>
        </p:txBody>
      </p:sp>
      <p:sp>
        <p:nvSpPr>
          <p:cNvPr id="79" name="Text 76"/>
          <p:cNvSpPr/>
          <p:nvPr/>
        </p:nvSpPr>
        <p:spPr>
          <a:xfrm>
            <a:off x="8203945" y="1162050"/>
            <a:ext cx="3361631" cy="298308"/>
          </a:xfrm>
          <a:prstGeom prst="rect">
            <a:avLst/>
          </a:prstGeom>
          <a:noFill/>
          <a:ln/>
        </p:spPr>
        <p:txBody>
          <a:bodyPr wrap="square" lIns="0" tIns="0" rIns="0" bIns="0" rtlCol="0" anchor="t"/>
          <a:lstStyle/>
          <a:p>
            <a:pPr marL="0" indent="0" algn="l">
              <a:buNone/>
            </a:pPr>
            <a:r>
              <a:rPr lang="en-US" sz="1400" b="1" dirty="0">
                <a:solidFill>
                  <a:srgbClr val="FF6B35"/>
                </a:solidFill>
                <a:latin typeface="Raleway" pitchFamily="34" charset="0"/>
                <a:ea typeface="Raleway" pitchFamily="34" charset="-122"/>
                <a:cs typeface="Raleway" pitchFamily="34" charset="-120"/>
              </a:rPr>
              <a:t>+30 %</a:t>
            </a:r>
            <a:endParaRPr lang="en-US" sz="1400" dirty="0"/>
          </a:p>
        </p:txBody>
      </p:sp>
      <p:sp>
        <p:nvSpPr>
          <p:cNvPr id="80" name="Text 77"/>
          <p:cNvSpPr/>
          <p:nvPr/>
        </p:nvSpPr>
        <p:spPr>
          <a:xfrm>
            <a:off x="10392776" y="1848571"/>
            <a:ext cx="514898" cy="245269"/>
          </a:xfrm>
          <a:prstGeom prst="rect">
            <a:avLst/>
          </a:prstGeom>
          <a:noFill/>
          <a:ln/>
        </p:spPr>
        <p:txBody>
          <a:bodyPr wrap="square" lIns="47625" tIns="114300" rIns="114300" bIns="47625" rtlCol="0" anchor="t"/>
          <a:lstStyle/>
          <a:p>
            <a:pPr marL="0" indent="0" algn="ctr">
              <a:buNone/>
            </a:pPr>
            <a:r>
              <a:rPr lang="en-US" sz="816" b="1" dirty="0">
                <a:solidFill>
                  <a:srgbClr val="FFFFFF"/>
                </a:solidFill>
                <a:latin typeface="Raleway" pitchFamily="34" charset="0"/>
                <a:ea typeface="Raleway" pitchFamily="34" charset="-122"/>
                <a:cs typeface="Raleway" pitchFamily="34" charset="-120"/>
              </a:rPr>
              <a:t>Vanti</a:t>
            </a:r>
            <a:endParaRPr lang="en-US" sz="816" dirty="0"/>
          </a:p>
        </p:txBody>
      </p:sp>
      <p:sp>
        <p:nvSpPr>
          <p:cNvPr id="87" name="Text 84"/>
          <p:cNvSpPr/>
          <p:nvPr/>
        </p:nvSpPr>
        <p:spPr>
          <a:xfrm>
            <a:off x="3402351" y="2341490"/>
            <a:ext cx="744372"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Meta</a:t>
            </a:r>
            <a:endParaRPr lang="en-US" sz="888" dirty="0"/>
          </a:p>
        </p:txBody>
      </p:sp>
      <p:sp>
        <p:nvSpPr>
          <p:cNvPr id="88" name="Text 85"/>
          <p:cNvSpPr/>
          <p:nvPr/>
        </p:nvSpPr>
        <p:spPr>
          <a:xfrm>
            <a:off x="6381070" y="2341490"/>
            <a:ext cx="744372"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Meta</a:t>
            </a:r>
            <a:endParaRPr lang="en-US" sz="888" dirty="0"/>
          </a:p>
        </p:txBody>
      </p:sp>
      <p:sp>
        <p:nvSpPr>
          <p:cNvPr id="89" name="Text 86"/>
          <p:cNvSpPr/>
          <p:nvPr/>
        </p:nvSpPr>
        <p:spPr>
          <a:xfrm>
            <a:off x="9445515" y="2341490"/>
            <a:ext cx="744372"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Meta</a:t>
            </a:r>
            <a:endParaRPr lang="en-US" sz="888" dirty="0"/>
          </a:p>
        </p:txBody>
      </p:sp>
      <p:sp>
        <p:nvSpPr>
          <p:cNvPr id="91" name="Text 88"/>
          <p:cNvSpPr/>
          <p:nvPr/>
        </p:nvSpPr>
        <p:spPr>
          <a:xfrm>
            <a:off x="723882" y="2216402"/>
            <a:ext cx="687808" cy="457200"/>
          </a:xfrm>
          <a:prstGeom prst="rect">
            <a:avLst/>
          </a:prstGeom>
          <a:noFill/>
          <a:ln/>
        </p:spPr>
        <p:txBody>
          <a:bodyPr wrap="square" lIns="47625" tIns="114300" rIns="114300" bIns="47625"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92" name="Text 89"/>
          <p:cNvSpPr/>
          <p:nvPr/>
        </p:nvSpPr>
        <p:spPr>
          <a:xfrm>
            <a:off x="723882" y="2621846"/>
            <a:ext cx="687808" cy="242888"/>
          </a:xfrm>
          <a:prstGeom prst="rect">
            <a:avLst/>
          </a:prstGeom>
          <a:noFill/>
          <a:ln/>
        </p:spPr>
        <p:txBody>
          <a:bodyPr wrap="square" lIns="38100" tIns="114300" rIns="114300" bIns="38100" rtlCol="0" anchor="ctr"/>
          <a:lstStyle/>
          <a:p>
            <a:pPr marL="0" indent="0" algn="l">
              <a:buNone/>
            </a:pPr>
            <a:r>
              <a:rPr lang="en-US" sz="816" b="1" dirty="0">
                <a:solidFill>
                  <a:srgbClr val="333333"/>
                </a:solidFill>
                <a:latin typeface="Raleway" pitchFamily="34" charset="0"/>
                <a:ea typeface="Raleway" pitchFamily="34" charset="-122"/>
                <a:cs typeface="Raleway" pitchFamily="34" charset="-120"/>
              </a:rPr>
              <a:t>Ene</a:t>
            </a:r>
            <a:endParaRPr lang="en-US" sz="816" dirty="0"/>
          </a:p>
        </p:txBody>
      </p:sp>
      <p:sp>
        <p:nvSpPr>
          <p:cNvPr id="93" name="Text 90"/>
          <p:cNvSpPr/>
          <p:nvPr/>
        </p:nvSpPr>
        <p:spPr>
          <a:xfrm>
            <a:off x="5362362" y="2570090"/>
            <a:ext cx="823623" cy="242888"/>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556</a:t>
            </a:r>
            <a:endParaRPr lang="en-US" sz="816" dirty="0"/>
          </a:p>
        </p:txBody>
      </p:sp>
      <p:sp>
        <p:nvSpPr>
          <p:cNvPr id="94" name="Text 91"/>
          <p:cNvSpPr/>
          <p:nvPr/>
        </p:nvSpPr>
        <p:spPr>
          <a:xfrm>
            <a:off x="6381070" y="2570090"/>
            <a:ext cx="744372" cy="242888"/>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498</a:t>
            </a:r>
            <a:endParaRPr lang="en-US" sz="816" dirty="0"/>
          </a:p>
        </p:txBody>
      </p:sp>
      <p:sp>
        <p:nvSpPr>
          <p:cNvPr id="95" name="Text 92"/>
          <p:cNvSpPr/>
          <p:nvPr/>
        </p:nvSpPr>
        <p:spPr>
          <a:xfrm>
            <a:off x="723882" y="2864734"/>
            <a:ext cx="687808" cy="247650"/>
          </a:xfrm>
          <a:prstGeom prst="rect">
            <a:avLst/>
          </a:prstGeom>
          <a:noFill/>
          <a:ln/>
        </p:spPr>
        <p:txBody>
          <a:bodyPr wrap="square" lIns="38100" tIns="114300" rIns="114300" bIns="38100" rtlCol="0" anchor="ctr"/>
          <a:lstStyle/>
          <a:p>
            <a:pPr marL="0" indent="0" algn="l">
              <a:buNone/>
            </a:pPr>
            <a:r>
              <a:rPr lang="en-US" sz="816" b="1" dirty="0">
                <a:solidFill>
                  <a:srgbClr val="333333"/>
                </a:solidFill>
                <a:latin typeface="Raleway" pitchFamily="34" charset="0"/>
                <a:ea typeface="Raleway" pitchFamily="34" charset="-122"/>
                <a:cs typeface="Raleway" pitchFamily="34" charset="-120"/>
              </a:rPr>
              <a:t>Feb</a:t>
            </a:r>
            <a:endParaRPr lang="en-US" sz="816" dirty="0"/>
          </a:p>
        </p:txBody>
      </p:sp>
      <p:sp>
        <p:nvSpPr>
          <p:cNvPr id="96" name="Text 93"/>
          <p:cNvSpPr/>
          <p:nvPr/>
        </p:nvSpPr>
        <p:spPr>
          <a:xfrm>
            <a:off x="5362362" y="2812978"/>
            <a:ext cx="823623"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555</a:t>
            </a:r>
            <a:endParaRPr lang="en-US" sz="816" dirty="0"/>
          </a:p>
        </p:txBody>
      </p:sp>
      <p:sp>
        <p:nvSpPr>
          <p:cNvPr id="97" name="Text 94"/>
          <p:cNvSpPr/>
          <p:nvPr/>
        </p:nvSpPr>
        <p:spPr>
          <a:xfrm>
            <a:off x="6381070" y="2812978"/>
            <a:ext cx="744372"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194</a:t>
            </a:r>
            <a:endParaRPr lang="en-US" sz="816" dirty="0"/>
          </a:p>
        </p:txBody>
      </p:sp>
      <p:sp>
        <p:nvSpPr>
          <p:cNvPr id="98" name="Text 95"/>
          <p:cNvSpPr/>
          <p:nvPr/>
        </p:nvSpPr>
        <p:spPr>
          <a:xfrm>
            <a:off x="723882" y="3112384"/>
            <a:ext cx="687808" cy="247650"/>
          </a:xfrm>
          <a:prstGeom prst="rect">
            <a:avLst/>
          </a:prstGeom>
          <a:noFill/>
          <a:ln/>
        </p:spPr>
        <p:txBody>
          <a:bodyPr wrap="square" lIns="38100" tIns="114300" rIns="114300" bIns="38100" rtlCol="0" anchor="ctr"/>
          <a:lstStyle/>
          <a:p>
            <a:pPr marL="0" indent="0" algn="l">
              <a:buNone/>
            </a:pPr>
            <a:r>
              <a:rPr lang="en-US" sz="816" b="1" dirty="0">
                <a:solidFill>
                  <a:srgbClr val="333333"/>
                </a:solidFill>
                <a:latin typeface="Raleway" pitchFamily="34" charset="0"/>
                <a:ea typeface="Raleway" pitchFamily="34" charset="-122"/>
                <a:cs typeface="Raleway" pitchFamily="34" charset="-120"/>
              </a:rPr>
              <a:t>Mar</a:t>
            </a:r>
            <a:endParaRPr lang="en-US" sz="816" dirty="0"/>
          </a:p>
        </p:txBody>
      </p:sp>
      <p:sp>
        <p:nvSpPr>
          <p:cNvPr id="99" name="Text 96"/>
          <p:cNvSpPr/>
          <p:nvPr/>
        </p:nvSpPr>
        <p:spPr>
          <a:xfrm>
            <a:off x="5362362" y="3060628"/>
            <a:ext cx="823623"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530</a:t>
            </a:r>
            <a:endParaRPr lang="en-US" sz="816" dirty="0"/>
          </a:p>
        </p:txBody>
      </p:sp>
      <p:sp>
        <p:nvSpPr>
          <p:cNvPr id="100" name="Text 97"/>
          <p:cNvSpPr/>
          <p:nvPr/>
        </p:nvSpPr>
        <p:spPr>
          <a:xfrm>
            <a:off x="6381070" y="3060628"/>
            <a:ext cx="744372"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371</a:t>
            </a:r>
            <a:endParaRPr lang="en-US" sz="816" dirty="0"/>
          </a:p>
        </p:txBody>
      </p:sp>
      <p:sp>
        <p:nvSpPr>
          <p:cNvPr id="101" name="Text 98"/>
          <p:cNvSpPr/>
          <p:nvPr/>
        </p:nvSpPr>
        <p:spPr>
          <a:xfrm>
            <a:off x="723882" y="3360034"/>
            <a:ext cx="687808" cy="247650"/>
          </a:xfrm>
          <a:prstGeom prst="rect">
            <a:avLst/>
          </a:prstGeom>
          <a:noFill/>
          <a:ln/>
        </p:spPr>
        <p:txBody>
          <a:bodyPr wrap="square" lIns="38100" tIns="114300" rIns="114300" bIns="38100" rtlCol="0" anchor="ctr"/>
          <a:lstStyle/>
          <a:p>
            <a:pPr marL="0" indent="0" algn="l">
              <a:buNone/>
            </a:pPr>
            <a:r>
              <a:rPr lang="en-US" sz="816" b="1" dirty="0">
                <a:solidFill>
                  <a:srgbClr val="333333"/>
                </a:solidFill>
                <a:latin typeface="Raleway" pitchFamily="34" charset="0"/>
                <a:ea typeface="Raleway" pitchFamily="34" charset="-122"/>
                <a:cs typeface="Raleway" pitchFamily="34" charset="-120"/>
              </a:rPr>
              <a:t>Abr</a:t>
            </a:r>
            <a:endParaRPr lang="en-US" sz="816" dirty="0"/>
          </a:p>
        </p:txBody>
      </p:sp>
      <p:sp>
        <p:nvSpPr>
          <p:cNvPr id="102" name="Text 99"/>
          <p:cNvSpPr/>
          <p:nvPr/>
        </p:nvSpPr>
        <p:spPr>
          <a:xfrm>
            <a:off x="5362362" y="3308278"/>
            <a:ext cx="823623"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551</a:t>
            </a:r>
            <a:endParaRPr lang="en-US" sz="816" dirty="0"/>
          </a:p>
        </p:txBody>
      </p:sp>
      <p:sp>
        <p:nvSpPr>
          <p:cNvPr id="103" name="Text 100"/>
          <p:cNvSpPr/>
          <p:nvPr/>
        </p:nvSpPr>
        <p:spPr>
          <a:xfrm>
            <a:off x="6381070" y="3308278"/>
            <a:ext cx="744372"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621</a:t>
            </a:r>
            <a:endParaRPr lang="en-US" sz="816" dirty="0"/>
          </a:p>
        </p:txBody>
      </p:sp>
      <p:sp>
        <p:nvSpPr>
          <p:cNvPr id="104" name="Text 101"/>
          <p:cNvSpPr/>
          <p:nvPr/>
        </p:nvSpPr>
        <p:spPr>
          <a:xfrm>
            <a:off x="723882" y="3607684"/>
            <a:ext cx="687808" cy="247650"/>
          </a:xfrm>
          <a:prstGeom prst="rect">
            <a:avLst/>
          </a:prstGeom>
          <a:noFill/>
          <a:ln/>
        </p:spPr>
        <p:txBody>
          <a:bodyPr wrap="square" lIns="38100" tIns="114300" rIns="114300" bIns="38100" rtlCol="0" anchor="ctr"/>
          <a:lstStyle/>
          <a:p>
            <a:pPr marL="0" indent="0" algn="l">
              <a:buNone/>
            </a:pPr>
            <a:r>
              <a:rPr lang="en-US" sz="816" b="1" dirty="0">
                <a:solidFill>
                  <a:srgbClr val="333333"/>
                </a:solidFill>
                <a:latin typeface="Raleway" pitchFamily="34" charset="0"/>
                <a:ea typeface="Raleway" pitchFamily="34" charset="-122"/>
                <a:cs typeface="Raleway" pitchFamily="34" charset="-120"/>
              </a:rPr>
              <a:t>May</a:t>
            </a:r>
            <a:endParaRPr lang="en-US" sz="816" dirty="0"/>
          </a:p>
        </p:txBody>
      </p:sp>
      <p:sp>
        <p:nvSpPr>
          <p:cNvPr id="105" name="Text 102"/>
          <p:cNvSpPr/>
          <p:nvPr/>
        </p:nvSpPr>
        <p:spPr>
          <a:xfrm>
            <a:off x="5362362" y="3555928"/>
            <a:ext cx="823623"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618</a:t>
            </a:r>
            <a:endParaRPr lang="en-US" sz="816" dirty="0"/>
          </a:p>
        </p:txBody>
      </p:sp>
      <p:sp>
        <p:nvSpPr>
          <p:cNvPr id="106" name="Text 103"/>
          <p:cNvSpPr/>
          <p:nvPr/>
        </p:nvSpPr>
        <p:spPr>
          <a:xfrm>
            <a:off x="6381070" y="3555928"/>
            <a:ext cx="744372"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221</a:t>
            </a:r>
            <a:endParaRPr lang="en-US" sz="816" dirty="0"/>
          </a:p>
        </p:txBody>
      </p:sp>
      <p:sp>
        <p:nvSpPr>
          <p:cNvPr id="107" name="Text 104"/>
          <p:cNvSpPr/>
          <p:nvPr/>
        </p:nvSpPr>
        <p:spPr>
          <a:xfrm>
            <a:off x="723882" y="3855334"/>
            <a:ext cx="687808" cy="247650"/>
          </a:xfrm>
          <a:prstGeom prst="rect">
            <a:avLst/>
          </a:prstGeom>
          <a:noFill/>
          <a:ln/>
        </p:spPr>
        <p:txBody>
          <a:bodyPr wrap="square" lIns="38100" tIns="114300" rIns="114300" bIns="38100" rtlCol="0" anchor="ctr"/>
          <a:lstStyle/>
          <a:p>
            <a:pPr marL="0" indent="0" algn="l">
              <a:buNone/>
            </a:pPr>
            <a:r>
              <a:rPr lang="en-US" sz="816" b="1" dirty="0">
                <a:solidFill>
                  <a:srgbClr val="333333"/>
                </a:solidFill>
                <a:latin typeface="Raleway" pitchFamily="34" charset="0"/>
                <a:ea typeface="Raleway" pitchFamily="34" charset="-122"/>
                <a:cs typeface="Raleway" pitchFamily="34" charset="-120"/>
              </a:rPr>
              <a:t>Jun</a:t>
            </a:r>
            <a:endParaRPr lang="en-US" sz="816" dirty="0"/>
          </a:p>
        </p:txBody>
      </p:sp>
      <p:sp>
        <p:nvSpPr>
          <p:cNvPr id="108" name="Text 105"/>
          <p:cNvSpPr/>
          <p:nvPr/>
        </p:nvSpPr>
        <p:spPr>
          <a:xfrm>
            <a:off x="5362362" y="3803578"/>
            <a:ext cx="823623"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573</a:t>
            </a:r>
            <a:endParaRPr lang="en-US" sz="816" dirty="0"/>
          </a:p>
        </p:txBody>
      </p:sp>
      <p:sp>
        <p:nvSpPr>
          <p:cNvPr id="109" name="Text 106"/>
          <p:cNvSpPr/>
          <p:nvPr/>
        </p:nvSpPr>
        <p:spPr>
          <a:xfrm>
            <a:off x="6381070" y="3803578"/>
            <a:ext cx="744372"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289</a:t>
            </a:r>
            <a:endParaRPr lang="en-US" sz="816" dirty="0"/>
          </a:p>
        </p:txBody>
      </p:sp>
      <p:sp>
        <p:nvSpPr>
          <p:cNvPr id="128" name="Text 125"/>
          <p:cNvSpPr/>
          <p:nvPr/>
        </p:nvSpPr>
        <p:spPr>
          <a:xfrm>
            <a:off x="1096382" y="2621846"/>
            <a:ext cx="1098930" cy="242888"/>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15</a:t>
            </a:r>
            <a:endParaRPr lang="en-US" sz="816" dirty="0"/>
          </a:p>
        </p:txBody>
      </p:sp>
      <p:sp>
        <p:nvSpPr>
          <p:cNvPr id="129" name="Text 126"/>
          <p:cNvSpPr/>
          <p:nvPr/>
        </p:nvSpPr>
        <p:spPr>
          <a:xfrm>
            <a:off x="1096382" y="2864734"/>
            <a:ext cx="1098930"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17</a:t>
            </a:r>
            <a:endParaRPr lang="en-US" sz="816" dirty="0"/>
          </a:p>
        </p:txBody>
      </p:sp>
      <p:sp>
        <p:nvSpPr>
          <p:cNvPr id="130" name="Text 127"/>
          <p:cNvSpPr/>
          <p:nvPr/>
        </p:nvSpPr>
        <p:spPr>
          <a:xfrm>
            <a:off x="1096382" y="3112384"/>
            <a:ext cx="1098930"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18</a:t>
            </a:r>
            <a:endParaRPr lang="en-US" sz="816" dirty="0"/>
          </a:p>
        </p:txBody>
      </p:sp>
      <p:sp>
        <p:nvSpPr>
          <p:cNvPr id="131" name="Text 128"/>
          <p:cNvSpPr/>
          <p:nvPr/>
        </p:nvSpPr>
        <p:spPr>
          <a:xfrm>
            <a:off x="1096382" y="3360034"/>
            <a:ext cx="1098930"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20</a:t>
            </a:r>
            <a:endParaRPr lang="en-US" sz="816" dirty="0"/>
          </a:p>
        </p:txBody>
      </p:sp>
      <p:sp>
        <p:nvSpPr>
          <p:cNvPr id="132" name="Text 129"/>
          <p:cNvSpPr/>
          <p:nvPr/>
        </p:nvSpPr>
        <p:spPr>
          <a:xfrm>
            <a:off x="1096382" y="3607684"/>
            <a:ext cx="1098930"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20</a:t>
            </a:r>
            <a:endParaRPr lang="en-US" sz="816" dirty="0"/>
          </a:p>
        </p:txBody>
      </p:sp>
      <p:sp>
        <p:nvSpPr>
          <p:cNvPr id="133" name="Text 130"/>
          <p:cNvSpPr/>
          <p:nvPr/>
        </p:nvSpPr>
        <p:spPr>
          <a:xfrm>
            <a:off x="1096382" y="3855334"/>
            <a:ext cx="1098930"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21</a:t>
            </a:r>
            <a:endParaRPr lang="en-US" sz="816" dirty="0"/>
          </a:p>
        </p:txBody>
      </p:sp>
      <p:sp>
        <p:nvSpPr>
          <p:cNvPr id="134" name="Text 131"/>
          <p:cNvSpPr/>
          <p:nvPr/>
        </p:nvSpPr>
        <p:spPr>
          <a:xfrm>
            <a:off x="1096382" y="4102984"/>
            <a:ext cx="1098930" cy="242888"/>
          </a:xfrm>
          <a:prstGeom prst="rect">
            <a:avLst/>
          </a:prstGeom>
          <a:noFill/>
          <a:ln/>
        </p:spPr>
        <p:txBody>
          <a:bodyPr wrap="square" lIns="38100" tIns="114300" rIns="114300" bIns="38100" rtlCol="0" anchor="ctr"/>
          <a:lstStyle/>
          <a:p>
            <a:pPr marL="0" indent="0" algn="r">
              <a:buNone/>
            </a:pPr>
            <a:r>
              <a:rPr lang="en-US" sz="816" b="1" dirty="0">
                <a:solidFill>
                  <a:srgbClr val="120180"/>
                </a:solidFill>
                <a:latin typeface="Raleway" pitchFamily="34" charset="0"/>
                <a:ea typeface="Raleway" pitchFamily="34" charset="-122"/>
                <a:cs typeface="Raleway" pitchFamily="34" charset="-120"/>
              </a:rPr>
              <a:t>19</a:t>
            </a:r>
            <a:endParaRPr lang="en-US" sz="816" dirty="0"/>
          </a:p>
        </p:txBody>
      </p:sp>
      <p:sp>
        <p:nvSpPr>
          <p:cNvPr id="136" name="TextBox 135">
            <a:extLst>
              <a:ext uri="{FF2B5EF4-FFF2-40B4-BE49-F238E27FC236}">
                <a16:creationId xmlns:a16="http://schemas.microsoft.com/office/drawing/2014/main" id="{0893E923-E4CD-6DA5-C955-0650C0453C1D}"/>
              </a:ext>
            </a:extLst>
          </p:cNvPr>
          <p:cNvSpPr txBox="1"/>
          <p:nvPr/>
        </p:nvSpPr>
        <p:spPr>
          <a:xfrm>
            <a:off x="1067786" y="5492180"/>
            <a:ext cx="9711213" cy="225318"/>
          </a:xfrm>
          <a:prstGeom prst="rect">
            <a:avLst/>
          </a:prstGeom>
          <a:noFill/>
        </p:spPr>
        <p:txBody>
          <a:bodyPr wrap="square">
            <a:spAutoFit/>
          </a:bodyPr>
          <a:lstStyle/>
          <a:p>
            <a:r>
              <a:rPr lang="es-CO" sz="864" b="1" i="0" dirty="0">
                <a:solidFill>
                  <a:srgbClr val="120180"/>
                </a:solidFill>
                <a:effectLst/>
                <a:latin typeface="Raleway" pitchFamily="2" charset="0"/>
              </a:rPr>
              <a:t>Vanti: 13.917 pólizas vendidas en el semestre — 147 % de la meta general, cumpliendo los 6 meses. Cuota Protegida aportó 10.534 (145 %) y Combo Vida 3.383 (154 %).</a:t>
            </a:r>
            <a:endParaRPr lang="es-CO"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C:\01_Repositorios\13_Presentaciones\dash\televentas\ppt_slides\sk_02_Xuma.png"/>
          <p:cNvPicPr>
            <a:picLocks noChangeAspect="1"/>
          </p:cNvPicPr>
          <p:nvPr/>
        </p:nvPicPr>
        <p:blipFill>
          <a:blip r:embed="rId3"/>
          <a:stretch>
            <a:fillRect/>
          </a:stretch>
        </p:blipFill>
        <p:spPr>
          <a:xfrm>
            <a:off x="0" y="0"/>
            <a:ext cx="12191695" cy="6858000"/>
          </a:xfrm>
          <a:prstGeom prst="rect">
            <a:avLst/>
          </a:prstGeom>
        </p:spPr>
      </p:pic>
      <p:sp>
        <p:nvSpPr>
          <p:cNvPr id="4" name="Text 1"/>
          <p:cNvSpPr/>
          <p:nvPr/>
        </p:nvSpPr>
        <p:spPr>
          <a:xfrm>
            <a:off x="8203945" y="1489770"/>
            <a:ext cx="3361631" cy="137350"/>
          </a:xfrm>
          <a:prstGeom prst="rect">
            <a:avLst/>
          </a:prstGeom>
          <a:noFill/>
          <a:ln/>
        </p:spPr>
        <p:txBody>
          <a:bodyPr wrap="square" lIns="0" tIns="0" rIns="0" bIns="0" rtlCol="0" anchor="t"/>
          <a:lstStyle/>
          <a:p>
            <a:pPr marL="0" indent="0" algn="l">
              <a:buNone/>
            </a:pPr>
            <a:r>
              <a:rPr lang="en-US" sz="864" dirty="0">
                <a:solidFill>
                  <a:srgbClr val="9098B0"/>
                </a:solidFill>
                <a:latin typeface="Raleway" pitchFamily="34" charset="0"/>
                <a:ea typeface="Raleway" pitchFamily="34" charset="-122"/>
                <a:cs typeface="Raleway" pitchFamily="34" charset="-120"/>
              </a:rPr>
              <a:t>Crecimiento necesario sobre junio (2.314) · mejor mes: 2.431</a:t>
            </a:r>
            <a:endParaRPr lang="en-US" sz="864" dirty="0"/>
          </a:p>
        </p:txBody>
      </p:sp>
      <p:sp>
        <p:nvSpPr>
          <p:cNvPr id="5" name="Text 2"/>
          <p:cNvSpPr/>
          <p:nvPr/>
        </p:nvSpPr>
        <p:spPr>
          <a:xfrm>
            <a:off x="1213514" y="219075"/>
            <a:ext cx="3843572" cy="196215"/>
          </a:xfrm>
          <a:prstGeom prst="rect">
            <a:avLst/>
          </a:prstGeom>
          <a:noFill/>
          <a:ln/>
        </p:spPr>
        <p:txBody>
          <a:bodyPr wrap="square" lIns="0" tIns="0" rIns="0" bIns="0" rtlCol="0" anchor="t"/>
          <a:lstStyle/>
          <a:p>
            <a:pPr marL="0" indent="0" algn="l">
              <a:buNone/>
            </a:pPr>
            <a:r>
              <a:rPr lang="en-US" sz="1260" b="1" dirty="0">
                <a:solidFill>
                  <a:srgbClr val="FFFFFF"/>
                </a:solidFill>
                <a:latin typeface="Raleway" pitchFamily="34" charset="0"/>
                <a:ea typeface="Raleway" pitchFamily="34" charset="-122"/>
                <a:cs typeface="Raleway" pitchFamily="34" charset="-120"/>
              </a:rPr>
              <a:t>Resultados de Ventas · Primer Semestre 2026</a:t>
            </a:r>
            <a:endParaRPr lang="en-US" sz="1260" dirty="0"/>
          </a:p>
        </p:txBody>
      </p:sp>
      <p:sp>
        <p:nvSpPr>
          <p:cNvPr id="6" name="Text 3"/>
          <p:cNvSpPr/>
          <p:nvPr/>
        </p:nvSpPr>
        <p:spPr>
          <a:xfrm>
            <a:off x="761981" y="990600"/>
            <a:ext cx="3361631" cy="137350"/>
          </a:xfrm>
          <a:prstGeom prst="rect">
            <a:avLst/>
          </a:prstGeom>
          <a:noFill/>
          <a:ln/>
        </p:spPr>
        <p:txBody>
          <a:bodyPr wrap="square" lIns="0" tIns="0" rIns="0" bIns="0" rtlCol="0" anchor="t"/>
          <a:lstStyle/>
          <a:p>
            <a:pPr marL="0" indent="0" algn="l">
              <a:buNone/>
            </a:pPr>
            <a:r>
              <a:rPr lang="en-US" sz="864" b="1" dirty="0">
                <a:solidFill>
                  <a:srgbClr val="9098B0"/>
                </a:solidFill>
                <a:latin typeface="Raleway" pitchFamily="34" charset="0"/>
                <a:ea typeface="Raleway" pitchFamily="34" charset="-122"/>
                <a:cs typeface="Raleway" pitchFamily="34" charset="-120"/>
              </a:rPr>
              <a:t>Pólizas liquidadas (1S completo)</a:t>
            </a:r>
            <a:endParaRPr lang="en-US" sz="864" dirty="0"/>
          </a:p>
        </p:txBody>
      </p:sp>
      <p:sp>
        <p:nvSpPr>
          <p:cNvPr id="7" name="Text 4"/>
          <p:cNvSpPr/>
          <p:nvPr/>
        </p:nvSpPr>
        <p:spPr>
          <a:xfrm>
            <a:off x="992532" y="4466332"/>
            <a:ext cx="5199568" cy="186404"/>
          </a:xfrm>
          <a:prstGeom prst="rect">
            <a:avLst/>
          </a:prstGeom>
          <a:noFill/>
          <a:ln/>
        </p:spPr>
        <p:txBody>
          <a:bodyPr wrap="square" lIns="0" tIns="0" rIns="0" bIns="19050" rtlCol="0" anchor="t"/>
          <a:lstStyle/>
          <a:p>
            <a:pPr marL="0" indent="0" algn="l">
              <a:buNone/>
            </a:pPr>
            <a:r>
              <a:rPr lang="en-US" sz="936" b="1" dirty="0">
                <a:solidFill>
                  <a:srgbClr val="120180"/>
                </a:solidFill>
                <a:latin typeface="Raleway" pitchFamily="34" charset="0"/>
                <a:ea typeface="Raleway" pitchFamily="34" charset="-122"/>
                <a:cs typeface="Raleway" pitchFamily="34" charset="-120"/>
              </a:rPr>
              <a:t>Crecimiento Cuota Protegida</a:t>
            </a:r>
            <a:endParaRPr lang="en-US" sz="936" dirty="0"/>
          </a:p>
        </p:txBody>
      </p:sp>
      <p:sp>
        <p:nvSpPr>
          <p:cNvPr id="8" name="Text 5"/>
          <p:cNvSpPr/>
          <p:nvPr/>
        </p:nvSpPr>
        <p:spPr>
          <a:xfrm>
            <a:off x="4482889" y="1489770"/>
            <a:ext cx="3361784" cy="137350"/>
          </a:xfrm>
          <a:prstGeom prst="rect">
            <a:avLst/>
          </a:prstGeom>
          <a:noFill/>
          <a:ln/>
        </p:spPr>
        <p:txBody>
          <a:bodyPr wrap="square" lIns="0" tIns="0" rIns="0" bIns="0" rtlCol="0" anchor="t"/>
          <a:lstStyle/>
          <a:p>
            <a:pPr marL="0" indent="0" algn="l">
              <a:buNone/>
            </a:pPr>
            <a:r>
              <a:rPr lang="en-US" sz="864" dirty="0">
                <a:solidFill>
                  <a:srgbClr val="9098B0"/>
                </a:solidFill>
                <a:latin typeface="Raleway" pitchFamily="34" charset="0"/>
                <a:ea typeface="Raleway" pitchFamily="34" charset="-122"/>
                <a:cs typeface="Raleway" pitchFamily="34" charset="-120"/>
              </a:rPr>
              <a:t>Ene · Pico (abr–may) · Jun</a:t>
            </a:r>
            <a:endParaRPr lang="en-US" sz="864" dirty="0"/>
          </a:p>
        </p:txBody>
      </p:sp>
      <p:sp>
        <p:nvSpPr>
          <p:cNvPr id="9" name="Text 6"/>
          <p:cNvSpPr/>
          <p:nvPr/>
        </p:nvSpPr>
        <p:spPr>
          <a:xfrm>
            <a:off x="8203945" y="990600"/>
            <a:ext cx="3361631" cy="137350"/>
          </a:xfrm>
          <a:prstGeom prst="rect">
            <a:avLst/>
          </a:prstGeom>
          <a:noFill/>
          <a:ln/>
        </p:spPr>
        <p:txBody>
          <a:bodyPr wrap="square" lIns="0" tIns="0" rIns="0" bIns="0" rtlCol="0" anchor="t"/>
          <a:lstStyle/>
          <a:p>
            <a:pPr marL="0" indent="0" algn="l">
              <a:buNone/>
            </a:pPr>
            <a:r>
              <a:rPr lang="en-US" sz="864" b="1" dirty="0">
                <a:solidFill>
                  <a:srgbClr val="9098B0"/>
                </a:solidFill>
                <a:latin typeface="Raleway" pitchFamily="34" charset="0"/>
                <a:ea typeface="Raleway" pitchFamily="34" charset="-122"/>
                <a:cs typeface="Raleway" pitchFamily="34" charset="-120"/>
              </a:rPr>
              <a:t>Brecha vs. meta 3.000/mes</a:t>
            </a:r>
            <a:endParaRPr lang="en-US" sz="864" dirty="0"/>
          </a:p>
        </p:txBody>
      </p:sp>
      <p:sp>
        <p:nvSpPr>
          <p:cNvPr id="10" name="Text 7"/>
          <p:cNvSpPr/>
          <p:nvPr/>
        </p:nvSpPr>
        <p:spPr>
          <a:xfrm>
            <a:off x="905039" y="1951732"/>
            <a:ext cx="1804060" cy="156972"/>
          </a:xfrm>
          <a:prstGeom prst="rect">
            <a:avLst/>
          </a:prstGeom>
          <a:noFill/>
          <a:ln/>
        </p:spPr>
        <p:txBody>
          <a:bodyPr wrap="square" lIns="0" tIns="0" rIns="0" bIns="0" rtlCol="0" anchor="t"/>
          <a:lstStyle/>
          <a:p>
            <a:pPr marL="0" indent="0" algn="l">
              <a:buNone/>
            </a:pPr>
            <a:r>
              <a:rPr lang="en-US" sz="1020" b="1" dirty="0">
                <a:solidFill>
                  <a:srgbClr val="120180"/>
                </a:solidFill>
                <a:latin typeface="Raleway" pitchFamily="34" charset="0"/>
                <a:ea typeface="Raleway" pitchFamily="34" charset="-122"/>
                <a:cs typeface="Raleway" pitchFamily="34" charset="-120"/>
              </a:rPr>
              <a:t>Pólizas vendidas vs. meta</a:t>
            </a:r>
            <a:endParaRPr lang="en-US" sz="1020" dirty="0"/>
          </a:p>
        </p:txBody>
      </p:sp>
      <p:sp>
        <p:nvSpPr>
          <p:cNvPr id="11" name="Text 8"/>
          <p:cNvSpPr/>
          <p:nvPr/>
        </p:nvSpPr>
        <p:spPr>
          <a:xfrm>
            <a:off x="6408944" y="4469061"/>
            <a:ext cx="5199568" cy="186404"/>
          </a:xfrm>
          <a:prstGeom prst="rect">
            <a:avLst/>
          </a:prstGeom>
          <a:noFill/>
          <a:ln/>
        </p:spPr>
        <p:txBody>
          <a:bodyPr wrap="square" lIns="0" tIns="0" rIns="0" bIns="19050" rtlCol="0" anchor="t"/>
          <a:lstStyle/>
          <a:p>
            <a:pPr marL="0" indent="0" algn="l">
              <a:buNone/>
            </a:pPr>
            <a:r>
              <a:rPr lang="en-US" sz="936" b="1" dirty="0">
                <a:solidFill>
                  <a:srgbClr val="120180"/>
                </a:solidFill>
                <a:latin typeface="Raleway" pitchFamily="34" charset="0"/>
                <a:ea typeface="Raleway" pitchFamily="34" charset="-122"/>
                <a:cs typeface="Raleway" pitchFamily="34" charset="-120"/>
              </a:rPr>
              <a:t>Crecimiento Combo Vida</a:t>
            </a:r>
            <a:endParaRPr lang="en-US" sz="936" dirty="0"/>
          </a:p>
        </p:txBody>
      </p:sp>
      <p:sp>
        <p:nvSpPr>
          <p:cNvPr id="12" name="Text 9"/>
          <p:cNvSpPr/>
          <p:nvPr/>
        </p:nvSpPr>
        <p:spPr>
          <a:xfrm>
            <a:off x="761981" y="1489770"/>
            <a:ext cx="3361631" cy="137350"/>
          </a:xfrm>
          <a:prstGeom prst="rect">
            <a:avLst/>
          </a:prstGeom>
          <a:noFill/>
          <a:ln/>
        </p:spPr>
        <p:txBody>
          <a:bodyPr wrap="square" lIns="0" tIns="0" rIns="0" bIns="0" rtlCol="0" anchor="t"/>
          <a:lstStyle/>
          <a:p>
            <a:pPr marL="0" indent="0" algn="l">
              <a:buNone/>
            </a:pPr>
            <a:r>
              <a:rPr lang="en-US" sz="864" dirty="0">
                <a:solidFill>
                  <a:srgbClr val="9098B0"/>
                </a:solidFill>
                <a:latin typeface="Raleway" pitchFamily="34" charset="0"/>
                <a:ea typeface="Raleway" pitchFamily="34" charset="-122"/>
                <a:cs typeface="Raleway" pitchFamily="34" charset="-120"/>
              </a:rPr>
              <a:t>Cifra oficial ene–jun</a:t>
            </a:r>
            <a:endParaRPr lang="en-US" sz="864" dirty="0"/>
          </a:p>
        </p:txBody>
      </p:sp>
      <p:sp>
        <p:nvSpPr>
          <p:cNvPr id="13" name="Text 10"/>
          <p:cNvSpPr/>
          <p:nvPr/>
        </p:nvSpPr>
        <p:spPr>
          <a:xfrm>
            <a:off x="2449352" y="2163129"/>
            <a:ext cx="3109010" cy="228600"/>
          </a:xfrm>
          <a:prstGeom prst="rect">
            <a:avLst/>
          </a:prstGeom>
          <a:noFill/>
          <a:ln/>
        </p:spPr>
        <p:txBody>
          <a:bodyPr wrap="square" lIns="47625" tIns="114300" rIns="114300" bIns="47625" rtlCol="0" anchor="ctr"/>
          <a:lstStyle/>
          <a:p>
            <a:pPr marL="0" indent="0" algn="ctr">
              <a:buNone/>
            </a:pPr>
            <a:r>
              <a:rPr lang="en-US" sz="888" b="1" dirty="0">
                <a:solidFill>
                  <a:srgbClr val="FFFFFF"/>
                </a:solidFill>
                <a:latin typeface="Raleway" pitchFamily="34" charset="0"/>
                <a:ea typeface="Raleway" pitchFamily="34" charset="-122"/>
                <a:cs typeface="Raleway" pitchFamily="34" charset="-120"/>
              </a:rPr>
              <a:t>Cuota Protegida (CP)</a:t>
            </a:r>
            <a:endParaRPr lang="en-US" sz="888" dirty="0"/>
          </a:p>
        </p:txBody>
      </p:sp>
      <p:sp>
        <p:nvSpPr>
          <p:cNvPr id="14" name="Text 11"/>
          <p:cNvSpPr/>
          <p:nvPr/>
        </p:nvSpPr>
        <p:spPr>
          <a:xfrm>
            <a:off x="4482889" y="990600"/>
            <a:ext cx="3361784" cy="137350"/>
          </a:xfrm>
          <a:prstGeom prst="rect">
            <a:avLst/>
          </a:prstGeom>
          <a:noFill/>
          <a:ln/>
        </p:spPr>
        <p:txBody>
          <a:bodyPr wrap="square" lIns="0" tIns="0" rIns="0" bIns="0" rtlCol="0" anchor="t"/>
          <a:lstStyle/>
          <a:p>
            <a:pPr marL="0" indent="0" algn="l">
              <a:buNone/>
            </a:pPr>
            <a:r>
              <a:rPr lang="en-US" sz="864" b="1" dirty="0">
                <a:solidFill>
                  <a:srgbClr val="9098B0"/>
                </a:solidFill>
                <a:latin typeface="Raleway" pitchFamily="34" charset="0"/>
                <a:ea typeface="Raleway" pitchFamily="34" charset="-122"/>
                <a:cs typeface="Raleway" pitchFamily="34" charset="-120"/>
              </a:rPr>
              <a:t>Asesores en equipo</a:t>
            </a:r>
            <a:endParaRPr lang="en-US" sz="864" dirty="0"/>
          </a:p>
        </p:txBody>
      </p:sp>
      <p:sp>
        <p:nvSpPr>
          <p:cNvPr id="15" name="Text 12"/>
          <p:cNvSpPr/>
          <p:nvPr/>
        </p:nvSpPr>
        <p:spPr>
          <a:xfrm>
            <a:off x="5467809" y="2163129"/>
            <a:ext cx="3080805" cy="228600"/>
          </a:xfrm>
          <a:prstGeom prst="rect">
            <a:avLst/>
          </a:prstGeom>
          <a:noFill/>
          <a:ln/>
        </p:spPr>
        <p:txBody>
          <a:bodyPr wrap="square" lIns="47625" tIns="114300" rIns="114300" bIns="47625" rtlCol="0" anchor="ctr"/>
          <a:lstStyle/>
          <a:p>
            <a:pPr marL="0" indent="0" algn="ctr">
              <a:buNone/>
            </a:pPr>
            <a:r>
              <a:rPr lang="en-US" sz="888" b="1" dirty="0">
                <a:solidFill>
                  <a:srgbClr val="FFFFFF"/>
                </a:solidFill>
                <a:latin typeface="Raleway" pitchFamily="34" charset="0"/>
                <a:ea typeface="Raleway" pitchFamily="34" charset="-122"/>
                <a:cs typeface="Raleway" pitchFamily="34" charset="-120"/>
              </a:rPr>
              <a:t>Combo Vida (VOL)</a:t>
            </a:r>
            <a:endParaRPr lang="en-US" sz="888" dirty="0"/>
          </a:p>
        </p:txBody>
      </p:sp>
      <p:sp>
        <p:nvSpPr>
          <p:cNvPr id="16" name="Text 13"/>
          <p:cNvSpPr/>
          <p:nvPr/>
        </p:nvSpPr>
        <p:spPr>
          <a:xfrm>
            <a:off x="10769370" y="121848"/>
            <a:ext cx="1294987" cy="215836"/>
          </a:xfrm>
          <a:prstGeom prst="rect">
            <a:avLst/>
          </a:prstGeom>
          <a:noFill/>
          <a:ln/>
        </p:spPr>
        <p:txBody>
          <a:bodyPr wrap="square" lIns="38100" tIns="114300" rIns="114300" bIns="38100" rtlCol="0" anchor="t"/>
          <a:lstStyle/>
          <a:p>
            <a:pPr marL="0" indent="0" algn="l">
              <a:buNone/>
            </a:pPr>
            <a:r>
              <a:rPr lang="en-US" sz="840" b="1" dirty="0">
                <a:solidFill>
                  <a:srgbClr val="5AE280"/>
                </a:solidFill>
                <a:latin typeface="Raleway" pitchFamily="34" charset="0"/>
                <a:ea typeface="Raleway" pitchFamily="34" charset="-122"/>
                <a:cs typeface="Raleway" pitchFamily="34" charset="-120"/>
              </a:rPr>
              <a:t>Ventas</a:t>
            </a:r>
            <a:endParaRPr lang="en-US" sz="840" dirty="0"/>
          </a:p>
        </p:txBody>
      </p:sp>
      <p:sp>
        <p:nvSpPr>
          <p:cNvPr id="17" name="Text 14"/>
          <p:cNvSpPr/>
          <p:nvPr/>
        </p:nvSpPr>
        <p:spPr>
          <a:xfrm>
            <a:off x="3895989" y="2357225"/>
            <a:ext cx="1521241"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Cumplimiento</a:t>
            </a:r>
            <a:endParaRPr lang="en-US" sz="888" dirty="0"/>
          </a:p>
        </p:txBody>
      </p:sp>
      <p:sp>
        <p:nvSpPr>
          <p:cNvPr id="18" name="Text 15"/>
          <p:cNvSpPr/>
          <p:nvPr/>
        </p:nvSpPr>
        <p:spPr>
          <a:xfrm>
            <a:off x="6887062" y="2357225"/>
            <a:ext cx="1521241"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Cumplimiento</a:t>
            </a:r>
            <a:endParaRPr lang="en-US" sz="888" dirty="0"/>
          </a:p>
        </p:txBody>
      </p:sp>
      <p:sp>
        <p:nvSpPr>
          <p:cNvPr id="19" name="Text 16"/>
          <p:cNvSpPr/>
          <p:nvPr/>
        </p:nvSpPr>
        <p:spPr>
          <a:xfrm>
            <a:off x="9908346" y="2357225"/>
            <a:ext cx="1508518"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Cumplimiento</a:t>
            </a:r>
            <a:endParaRPr lang="en-US" sz="888" dirty="0"/>
          </a:p>
        </p:txBody>
      </p:sp>
      <p:sp>
        <p:nvSpPr>
          <p:cNvPr id="20" name="Text 17"/>
          <p:cNvSpPr/>
          <p:nvPr/>
        </p:nvSpPr>
        <p:spPr>
          <a:xfrm>
            <a:off x="4482889" y="1162050"/>
            <a:ext cx="3361784" cy="298308"/>
          </a:xfrm>
          <a:prstGeom prst="rect">
            <a:avLst/>
          </a:prstGeom>
          <a:noFill/>
          <a:ln/>
        </p:spPr>
        <p:txBody>
          <a:bodyPr wrap="square" lIns="0" tIns="0" rIns="0" bIns="0" rtlCol="0" anchor="t"/>
          <a:lstStyle/>
          <a:p>
            <a:pPr marL="0" indent="0" algn="l">
              <a:buNone/>
            </a:pPr>
            <a:r>
              <a:rPr lang="en-US" sz="1400" b="1" dirty="0">
                <a:solidFill>
                  <a:srgbClr val="120180"/>
                </a:solidFill>
                <a:latin typeface="Raleway" pitchFamily="34" charset="0"/>
                <a:ea typeface="Raleway" pitchFamily="34" charset="-122"/>
                <a:cs typeface="Raleway" pitchFamily="34" charset="-120"/>
              </a:rPr>
              <a:t>15 → 21 → 21</a:t>
            </a:r>
            <a:endParaRPr lang="en-US" sz="1400" dirty="0"/>
          </a:p>
        </p:txBody>
      </p:sp>
      <p:sp>
        <p:nvSpPr>
          <p:cNvPr id="21" name="Text 18"/>
          <p:cNvSpPr/>
          <p:nvPr/>
        </p:nvSpPr>
        <p:spPr>
          <a:xfrm>
            <a:off x="1216635" y="2240763"/>
            <a:ext cx="1093105" cy="4572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Asesores</a:t>
            </a:r>
            <a:endParaRPr lang="en-US" sz="888" dirty="0"/>
          </a:p>
        </p:txBody>
      </p:sp>
      <p:sp>
        <p:nvSpPr>
          <p:cNvPr id="22" name="Text 19"/>
          <p:cNvSpPr/>
          <p:nvPr/>
        </p:nvSpPr>
        <p:spPr>
          <a:xfrm>
            <a:off x="8458881" y="2163129"/>
            <a:ext cx="3099200" cy="228600"/>
          </a:xfrm>
          <a:prstGeom prst="rect">
            <a:avLst/>
          </a:prstGeom>
          <a:noFill/>
          <a:ln/>
        </p:spPr>
        <p:txBody>
          <a:bodyPr wrap="square" lIns="47625" tIns="114300" rIns="114300" bIns="47625" rtlCol="0" anchor="ctr"/>
          <a:lstStyle/>
          <a:p>
            <a:pPr marL="0" indent="0" algn="ctr">
              <a:buNone/>
            </a:pPr>
            <a:r>
              <a:rPr lang="en-US" sz="888" b="1" dirty="0">
                <a:solidFill>
                  <a:srgbClr val="FFFFFF"/>
                </a:solidFill>
                <a:latin typeface="Raleway" pitchFamily="34" charset="0"/>
                <a:ea typeface="Raleway" pitchFamily="34" charset="-122"/>
                <a:cs typeface="Raleway" pitchFamily="34" charset="-120"/>
              </a:rPr>
              <a:t>General</a:t>
            </a:r>
            <a:endParaRPr lang="en-US" sz="888" dirty="0"/>
          </a:p>
        </p:txBody>
      </p:sp>
      <p:sp>
        <p:nvSpPr>
          <p:cNvPr id="23" name="Text 20"/>
          <p:cNvSpPr/>
          <p:nvPr/>
        </p:nvSpPr>
        <p:spPr>
          <a:xfrm>
            <a:off x="6887062" y="2585825"/>
            <a:ext cx="1521241" cy="242888"/>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130,0 %</a:t>
            </a:r>
            <a:endParaRPr lang="en-US" sz="816" dirty="0"/>
          </a:p>
        </p:txBody>
      </p:sp>
      <p:sp>
        <p:nvSpPr>
          <p:cNvPr id="24" name="Text 21"/>
          <p:cNvSpPr/>
          <p:nvPr/>
        </p:nvSpPr>
        <p:spPr>
          <a:xfrm>
            <a:off x="9908346" y="2585825"/>
            <a:ext cx="1508518" cy="242888"/>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105,0 %</a:t>
            </a:r>
            <a:endParaRPr lang="en-US" sz="816" dirty="0"/>
          </a:p>
        </p:txBody>
      </p:sp>
      <p:sp>
        <p:nvSpPr>
          <p:cNvPr id="25" name="Text 22"/>
          <p:cNvSpPr/>
          <p:nvPr/>
        </p:nvSpPr>
        <p:spPr>
          <a:xfrm>
            <a:off x="3895989" y="2828713"/>
            <a:ext cx="1521241"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109,0 %</a:t>
            </a:r>
            <a:endParaRPr lang="en-US" sz="816" dirty="0"/>
          </a:p>
        </p:txBody>
      </p:sp>
      <p:sp>
        <p:nvSpPr>
          <p:cNvPr id="26" name="Text 23"/>
          <p:cNvSpPr/>
          <p:nvPr/>
        </p:nvSpPr>
        <p:spPr>
          <a:xfrm>
            <a:off x="6887062" y="2828713"/>
            <a:ext cx="1521241"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111,0 %</a:t>
            </a:r>
            <a:endParaRPr lang="en-US" sz="816" dirty="0"/>
          </a:p>
        </p:txBody>
      </p:sp>
      <p:sp>
        <p:nvSpPr>
          <p:cNvPr id="27" name="Text 24"/>
          <p:cNvSpPr/>
          <p:nvPr/>
        </p:nvSpPr>
        <p:spPr>
          <a:xfrm>
            <a:off x="9908346" y="2828713"/>
            <a:ext cx="1508518"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109,0 %</a:t>
            </a:r>
            <a:endParaRPr lang="en-US" sz="816" dirty="0"/>
          </a:p>
        </p:txBody>
      </p:sp>
      <p:sp>
        <p:nvSpPr>
          <p:cNvPr id="28" name="Text 25"/>
          <p:cNvSpPr/>
          <p:nvPr/>
        </p:nvSpPr>
        <p:spPr>
          <a:xfrm>
            <a:off x="3895989" y="3076363"/>
            <a:ext cx="1521241"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114,0 %</a:t>
            </a:r>
            <a:endParaRPr lang="en-US" sz="816" dirty="0"/>
          </a:p>
        </p:txBody>
      </p:sp>
      <p:sp>
        <p:nvSpPr>
          <p:cNvPr id="29" name="Text 26"/>
          <p:cNvSpPr/>
          <p:nvPr/>
        </p:nvSpPr>
        <p:spPr>
          <a:xfrm>
            <a:off x="6887062" y="3076363"/>
            <a:ext cx="1521241"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106,0 %</a:t>
            </a:r>
            <a:endParaRPr lang="en-US" sz="816" dirty="0"/>
          </a:p>
        </p:txBody>
      </p:sp>
      <p:sp>
        <p:nvSpPr>
          <p:cNvPr id="30" name="Text 27"/>
          <p:cNvSpPr/>
          <p:nvPr/>
        </p:nvSpPr>
        <p:spPr>
          <a:xfrm>
            <a:off x="9908346" y="3076363"/>
            <a:ext cx="1508518"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112,0 %</a:t>
            </a:r>
            <a:endParaRPr lang="en-US" sz="816" dirty="0"/>
          </a:p>
        </p:txBody>
      </p:sp>
      <p:sp>
        <p:nvSpPr>
          <p:cNvPr id="31" name="Text 28"/>
          <p:cNvSpPr/>
          <p:nvPr/>
        </p:nvSpPr>
        <p:spPr>
          <a:xfrm>
            <a:off x="6887062" y="3324013"/>
            <a:ext cx="1521241"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110,0 %</a:t>
            </a:r>
            <a:endParaRPr lang="en-US" sz="816" dirty="0"/>
          </a:p>
        </p:txBody>
      </p:sp>
      <p:sp>
        <p:nvSpPr>
          <p:cNvPr id="32" name="Text 29"/>
          <p:cNvSpPr/>
          <p:nvPr/>
        </p:nvSpPr>
        <p:spPr>
          <a:xfrm>
            <a:off x="6887062" y="3571663"/>
            <a:ext cx="1521241"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124,0 %</a:t>
            </a:r>
            <a:endParaRPr lang="en-US" sz="816" dirty="0"/>
          </a:p>
        </p:txBody>
      </p:sp>
      <p:sp>
        <p:nvSpPr>
          <p:cNvPr id="33" name="Text 30"/>
          <p:cNvSpPr/>
          <p:nvPr/>
        </p:nvSpPr>
        <p:spPr>
          <a:xfrm>
            <a:off x="6887062" y="3819313"/>
            <a:ext cx="1521241"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115,0 %</a:t>
            </a:r>
            <a:endParaRPr lang="en-US" sz="816" dirty="0"/>
          </a:p>
        </p:txBody>
      </p:sp>
      <p:sp>
        <p:nvSpPr>
          <p:cNvPr id="34" name="Text 31"/>
          <p:cNvSpPr/>
          <p:nvPr/>
        </p:nvSpPr>
        <p:spPr>
          <a:xfrm>
            <a:off x="6887062" y="4066963"/>
            <a:ext cx="1521241" cy="242888"/>
          </a:xfrm>
          <a:prstGeom prst="rect">
            <a:avLst/>
          </a:prstGeom>
          <a:noFill/>
          <a:ln/>
        </p:spPr>
        <p:txBody>
          <a:bodyPr wrap="square" lIns="38100" tIns="114300" rIns="114300" bIns="38100" rtlCol="0" anchor="ctr"/>
          <a:lstStyle/>
          <a:p>
            <a:pPr marL="0" indent="0" algn="r">
              <a:buNone/>
            </a:pPr>
            <a:r>
              <a:rPr lang="en-US" sz="816" b="1" dirty="0">
                <a:solidFill>
                  <a:srgbClr val="120180"/>
                </a:solidFill>
                <a:latin typeface="Raleway" pitchFamily="34" charset="0"/>
                <a:ea typeface="Raleway" pitchFamily="34" charset="-122"/>
                <a:cs typeface="Raleway" pitchFamily="34" charset="-120"/>
              </a:rPr>
              <a:t>116,0 %</a:t>
            </a:r>
            <a:endParaRPr lang="en-US" sz="816" dirty="0"/>
          </a:p>
        </p:txBody>
      </p:sp>
      <p:sp>
        <p:nvSpPr>
          <p:cNvPr id="35" name="Text 32"/>
          <p:cNvSpPr/>
          <p:nvPr/>
        </p:nvSpPr>
        <p:spPr>
          <a:xfrm>
            <a:off x="3895989" y="2585825"/>
            <a:ext cx="1521241" cy="242888"/>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99,0 %</a:t>
            </a:r>
            <a:endParaRPr lang="en-US" sz="816" dirty="0"/>
          </a:p>
        </p:txBody>
      </p:sp>
      <p:sp>
        <p:nvSpPr>
          <p:cNvPr id="36" name="Text 33"/>
          <p:cNvSpPr/>
          <p:nvPr/>
        </p:nvSpPr>
        <p:spPr>
          <a:xfrm>
            <a:off x="3895989" y="3324013"/>
            <a:ext cx="1521241"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73,0 %</a:t>
            </a:r>
            <a:endParaRPr lang="en-US" sz="816" dirty="0"/>
          </a:p>
        </p:txBody>
      </p:sp>
      <p:sp>
        <p:nvSpPr>
          <p:cNvPr id="37" name="Text 34"/>
          <p:cNvSpPr/>
          <p:nvPr/>
        </p:nvSpPr>
        <p:spPr>
          <a:xfrm>
            <a:off x="9908346" y="3324013"/>
            <a:ext cx="1508518"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79,0 %</a:t>
            </a:r>
            <a:endParaRPr lang="en-US" sz="816" dirty="0"/>
          </a:p>
        </p:txBody>
      </p:sp>
      <p:sp>
        <p:nvSpPr>
          <p:cNvPr id="38" name="Text 35"/>
          <p:cNvSpPr/>
          <p:nvPr/>
        </p:nvSpPr>
        <p:spPr>
          <a:xfrm>
            <a:off x="3895989" y="3571663"/>
            <a:ext cx="1521241"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75,0 %</a:t>
            </a:r>
            <a:endParaRPr lang="en-US" sz="816" dirty="0"/>
          </a:p>
        </p:txBody>
      </p:sp>
      <p:sp>
        <p:nvSpPr>
          <p:cNvPr id="39" name="Text 36"/>
          <p:cNvSpPr/>
          <p:nvPr/>
        </p:nvSpPr>
        <p:spPr>
          <a:xfrm>
            <a:off x="9908346" y="3571663"/>
            <a:ext cx="1508518"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84,0 %</a:t>
            </a:r>
            <a:endParaRPr lang="en-US" sz="816" dirty="0"/>
          </a:p>
        </p:txBody>
      </p:sp>
      <p:sp>
        <p:nvSpPr>
          <p:cNvPr id="40" name="Text 37"/>
          <p:cNvSpPr/>
          <p:nvPr/>
        </p:nvSpPr>
        <p:spPr>
          <a:xfrm>
            <a:off x="3895989" y="3819313"/>
            <a:ext cx="1521241"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87,0 %</a:t>
            </a:r>
            <a:endParaRPr lang="en-US" sz="816" dirty="0"/>
          </a:p>
        </p:txBody>
      </p:sp>
      <p:sp>
        <p:nvSpPr>
          <p:cNvPr id="41" name="Text 38"/>
          <p:cNvSpPr/>
          <p:nvPr/>
        </p:nvSpPr>
        <p:spPr>
          <a:xfrm>
            <a:off x="9908346" y="3819313"/>
            <a:ext cx="1508518"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93,0 %</a:t>
            </a:r>
            <a:endParaRPr lang="en-US" sz="816" dirty="0"/>
          </a:p>
        </p:txBody>
      </p:sp>
      <p:sp>
        <p:nvSpPr>
          <p:cNvPr id="42" name="Text 39"/>
          <p:cNvSpPr/>
          <p:nvPr/>
        </p:nvSpPr>
        <p:spPr>
          <a:xfrm>
            <a:off x="2354466" y="4066963"/>
            <a:ext cx="819177" cy="242888"/>
          </a:xfrm>
          <a:prstGeom prst="rect">
            <a:avLst/>
          </a:prstGeom>
          <a:noFill/>
          <a:ln/>
        </p:spPr>
        <p:txBody>
          <a:bodyPr wrap="square" lIns="38100" tIns="114300" rIns="114300" bIns="38100" rtlCol="0" anchor="ctr"/>
          <a:lstStyle/>
          <a:p>
            <a:pPr marL="0" indent="0" algn="r">
              <a:buNone/>
            </a:pPr>
            <a:r>
              <a:rPr lang="en-US" sz="816" b="1" dirty="0">
                <a:solidFill>
                  <a:srgbClr val="120180"/>
                </a:solidFill>
                <a:latin typeface="Raleway" pitchFamily="34" charset="0"/>
                <a:ea typeface="Raleway" pitchFamily="34" charset="-122"/>
                <a:cs typeface="Raleway" pitchFamily="34" charset="-120"/>
              </a:rPr>
              <a:t>10.534</a:t>
            </a:r>
            <a:endParaRPr lang="en-US" sz="816" dirty="0"/>
          </a:p>
        </p:txBody>
      </p:sp>
      <p:sp>
        <p:nvSpPr>
          <p:cNvPr id="43" name="Text 40"/>
          <p:cNvSpPr/>
          <p:nvPr/>
        </p:nvSpPr>
        <p:spPr>
          <a:xfrm>
            <a:off x="3378384" y="4066963"/>
            <a:ext cx="768592" cy="242888"/>
          </a:xfrm>
          <a:prstGeom prst="rect">
            <a:avLst/>
          </a:prstGeom>
          <a:noFill/>
          <a:ln/>
        </p:spPr>
        <p:txBody>
          <a:bodyPr wrap="square" lIns="38100" tIns="114300" rIns="114300" bIns="38100" rtlCol="0" anchor="ctr"/>
          <a:lstStyle/>
          <a:p>
            <a:pPr marL="0" indent="0" algn="r">
              <a:buNone/>
            </a:pPr>
            <a:r>
              <a:rPr lang="en-US" sz="816" b="1" dirty="0">
                <a:solidFill>
                  <a:srgbClr val="120180"/>
                </a:solidFill>
                <a:latin typeface="Raleway" pitchFamily="34" charset="0"/>
                <a:ea typeface="Raleway" pitchFamily="34" charset="-122"/>
                <a:cs typeface="Raleway" pitchFamily="34" charset="-120"/>
              </a:rPr>
              <a:t>11.643</a:t>
            </a:r>
            <a:endParaRPr lang="en-US" sz="816" dirty="0"/>
          </a:p>
        </p:txBody>
      </p:sp>
      <p:sp>
        <p:nvSpPr>
          <p:cNvPr id="44" name="Text 41"/>
          <p:cNvSpPr/>
          <p:nvPr/>
        </p:nvSpPr>
        <p:spPr>
          <a:xfrm>
            <a:off x="3895989" y="4066963"/>
            <a:ext cx="1521241" cy="242888"/>
          </a:xfrm>
          <a:prstGeom prst="rect">
            <a:avLst/>
          </a:prstGeom>
          <a:noFill/>
          <a:ln/>
        </p:spPr>
        <p:txBody>
          <a:bodyPr wrap="square" lIns="38100" tIns="114300" rIns="114300" bIns="38100" rtlCol="0" anchor="ctr"/>
          <a:lstStyle/>
          <a:p>
            <a:pPr marL="0" indent="0" algn="r">
              <a:buNone/>
            </a:pPr>
            <a:r>
              <a:rPr lang="en-US" sz="816" b="1" dirty="0">
                <a:solidFill>
                  <a:srgbClr val="120180"/>
                </a:solidFill>
                <a:latin typeface="Raleway" pitchFamily="34" charset="0"/>
                <a:ea typeface="Raleway" pitchFamily="34" charset="-122"/>
                <a:cs typeface="Raleway" pitchFamily="34" charset="-120"/>
              </a:rPr>
              <a:t>90,0 %</a:t>
            </a:r>
            <a:endParaRPr lang="en-US" sz="816" dirty="0"/>
          </a:p>
        </p:txBody>
      </p:sp>
      <p:sp>
        <p:nvSpPr>
          <p:cNvPr id="45" name="Text 42"/>
          <p:cNvSpPr/>
          <p:nvPr/>
        </p:nvSpPr>
        <p:spPr>
          <a:xfrm>
            <a:off x="8363995" y="4066963"/>
            <a:ext cx="819177" cy="242888"/>
          </a:xfrm>
          <a:prstGeom prst="rect">
            <a:avLst/>
          </a:prstGeom>
          <a:noFill/>
          <a:ln/>
        </p:spPr>
        <p:txBody>
          <a:bodyPr wrap="square" lIns="38100" tIns="114300" rIns="114300" bIns="38100" rtlCol="0" anchor="ctr"/>
          <a:lstStyle/>
          <a:p>
            <a:pPr marL="0" indent="0" algn="r">
              <a:buNone/>
            </a:pPr>
            <a:r>
              <a:rPr lang="en-US" sz="816" b="1" dirty="0">
                <a:solidFill>
                  <a:srgbClr val="120180"/>
                </a:solidFill>
                <a:latin typeface="Raleway" pitchFamily="34" charset="0"/>
                <a:ea typeface="Raleway" pitchFamily="34" charset="-122"/>
                <a:cs typeface="Raleway" pitchFamily="34" charset="-120"/>
              </a:rPr>
              <a:t>13.917</a:t>
            </a:r>
            <a:endParaRPr lang="en-US" sz="816" dirty="0"/>
          </a:p>
        </p:txBody>
      </p:sp>
      <p:sp>
        <p:nvSpPr>
          <p:cNvPr id="46" name="Text 43"/>
          <p:cNvSpPr/>
          <p:nvPr/>
        </p:nvSpPr>
        <p:spPr>
          <a:xfrm>
            <a:off x="9368863" y="4066963"/>
            <a:ext cx="771504" cy="242888"/>
          </a:xfrm>
          <a:prstGeom prst="rect">
            <a:avLst/>
          </a:prstGeom>
          <a:noFill/>
          <a:ln/>
        </p:spPr>
        <p:txBody>
          <a:bodyPr wrap="square" lIns="38100" tIns="114300" rIns="114300" bIns="38100" rtlCol="0" anchor="ctr"/>
          <a:lstStyle/>
          <a:p>
            <a:pPr marL="0" indent="0" algn="r">
              <a:buNone/>
            </a:pPr>
            <a:r>
              <a:rPr lang="en-US" sz="816" b="1" dirty="0">
                <a:solidFill>
                  <a:srgbClr val="120180"/>
                </a:solidFill>
                <a:latin typeface="Raleway" pitchFamily="34" charset="0"/>
                <a:ea typeface="Raleway" pitchFamily="34" charset="-122"/>
                <a:cs typeface="Raleway" pitchFamily="34" charset="-120"/>
              </a:rPr>
              <a:t>14.572</a:t>
            </a:r>
            <a:endParaRPr lang="en-US" sz="816" dirty="0"/>
          </a:p>
        </p:txBody>
      </p:sp>
      <p:sp>
        <p:nvSpPr>
          <p:cNvPr id="47" name="Text 44"/>
          <p:cNvSpPr/>
          <p:nvPr/>
        </p:nvSpPr>
        <p:spPr>
          <a:xfrm>
            <a:off x="9908346" y="4066963"/>
            <a:ext cx="1508518" cy="242888"/>
          </a:xfrm>
          <a:prstGeom prst="rect">
            <a:avLst/>
          </a:prstGeom>
          <a:noFill/>
          <a:ln/>
        </p:spPr>
        <p:txBody>
          <a:bodyPr wrap="square" lIns="38100" tIns="114300" rIns="114300" bIns="38100" rtlCol="0" anchor="ctr"/>
          <a:lstStyle/>
          <a:p>
            <a:pPr marL="0" indent="0" algn="r">
              <a:buNone/>
            </a:pPr>
            <a:r>
              <a:rPr lang="en-US" sz="816" b="1" dirty="0">
                <a:solidFill>
                  <a:srgbClr val="120180"/>
                </a:solidFill>
                <a:latin typeface="Raleway" pitchFamily="34" charset="0"/>
                <a:ea typeface="Raleway" pitchFamily="34" charset="-122"/>
                <a:cs typeface="Raleway" pitchFamily="34" charset="-120"/>
              </a:rPr>
              <a:t>96,0 %</a:t>
            </a:r>
            <a:endParaRPr lang="en-US" sz="816" dirty="0"/>
          </a:p>
        </p:txBody>
      </p:sp>
      <p:sp>
        <p:nvSpPr>
          <p:cNvPr id="48" name="Text 45"/>
          <p:cNvSpPr/>
          <p:nvPr/>
        </p:nvSpPr>
        <p:spPr>
          <a:xfrm>
            <a:off x="761981" y="1162050"/>
            <a:ext cx="3361631" cy="298308"/>
          </a:xfrm>
          <a:prstGeom prst="rect">
            <a:avLst/>
          </a:prstGeom>
          <a:noFill/>
          <a:ln/>
        </p:spPr>
        <p:txBody>
          <a:bodyPr wrap="square" lIns="0" tIns="0" rIns="0" bIns="0" rtlCol="0" anchor="t"/>
          <a:lstStyle/>
          <a:p>
            <a:pPr marL="0" indent="0" algn="l">
              <a:buNone/>
            </a:pPr>
            <a:r>
              <a:rPr lang="en-US" sz="1400" b="1" dirty="0">
                <a:solidFill>
                  <a:srgbClr val="120180"/>
                </a:solidFill>
                <a:latin typeface="Raleway" pitchFamily="34" charset="0"/>
                <a:ea typeface="Raleway" pitchFamily="34" charset="-122"/>
                <a:cs typeface="Raleway" pitchFamily="34" charset="-120"/>
              </a:rPr>
              <a:t>13.917</a:t>
            </a:r>
            <a:endParaRPr lang="en-US" sz="1400" dirty="0"/>
          </a:p>
        </p:txBody>
      </p:sp>
      <p:sp>
        <p:nvSpPr>
          <p:cNvPr id="49" name="Text 46"/>
          <p:cNvSpPr/>
          <p:nvPr/>
        </p:nvSpPr>
        <p:spPr>
          <a:xfrm>
            <a:off x="2354466" y="2357225"/>
            <a:ext cx="819177"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Venta</a:t>
            </a:r>
            <a:endParaRPr lang="en-US" sz="888" dirty="0"/>
          </a:p>
        </p:txBody>
      </p:sp>
      <p:sp>
        <p:nvSpPr>
          <p:cNvPr id="50" name="Text 47"/>
          <p:cNvSpPr/>
          <p:nvPr/>
        </p:nvSpPr>
        <p:spPr>
          <a:xfrm>
            <a:off x="5372923" y="2357225"/>
            <a:ext cx="819177"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Venta</a:t>
            </a:r>
            <a:endParaRPr lang="en-US" sz="888" dirty="0"/>
          </a:p>
        </p:txBody>
      </p:sp>
      <p:sp>
        <p:nvSpPr>
          <p:cNvPr id="51" name="Text 48"/>
          <p:cNvSpPr/>
          <p:nvPr/>
        </p:nvSpPr>
        <p:spPr>
          <a:xfrm>
            <a:off x="8363995" y="2357225"/>
            <a:ext cx="819177"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Venta</a:t>
            </a:r>
            <a:endParaRPr lang="en-US" sz="888" dirty="0"/>
          </a:p>
        </p:txBody>
      </p:sp>
      <p:sp>
        <p:nvSpPr>
          <p:cNvPr id="52" name="Text 49"/>
          <p:cNvSpPr/>
          <p:nvPr/>
        </p:nvSpPr>
        <p:spPr>
          <a:xfrm>
            <a:off x="2354466" y="2585825"/>
            <a:ext cx="819177" cy="242888"/>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1.689</a:t>
            </a:r>
            <a:endParaRPr lang="en-US" sz="816" dirty="0"/>
          </a:p>
        </p:txBody>
      </p:sp>
      <p:sp>
        <p:nvSpPr>
          <p:cNvPr id="53" name="Text 50"/>
          <p:cNvSpPr/>
          <p:nvPr/>
        </p:nvSpPr>
        <p:spPr>
          <a:xfrm>
            <a:off x="3378384" y="2585825"/>
            <a:ext cx="768592" cy="242888"/>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1.703</a:t>
            </a:r>
            <a:endParaRPr lang="en-US" sz="816" dirty="0"/>
          </a:p>
        </p:txBody>
      </p:sp>
      <p:sp>
        <p:nvSpPr>
          <p:cNvPr id="54" name="Text 51"/>
          <p:cNvSpPr/>
          <p:nvPr/>
        </p:nvSpPr>
        <p:spPr>
          <a:xfrm>
            <a:off x="8363995" y="2585825"/>
            <a:ext cx="819177" cy="242888"/>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2.245</a:t>
            </a:r>
            <a:endParaRPr lang="en-US" sz="816" dirty="0"/>
          </a:p>
        </p:txBody>
      </p:sp>
      <p:sp>
        <p:nvSpPr>
          <p:cNvPr id="55" name="Text 52"/>
          <p:cNvSpPr/>
          <p:nvPr/>
        </p:nvSpPr>
        <p:spPr>
          <a:xfrm>
            <a:off x="9368863" y="2585825"/>
            <a:ext cx="771504" cy="242888"/>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2.132</a:t>
            </a:r>
            <a:endParaRPr lang="en-US" sz="816" dirty="0"/>
          </a:p>
        </p:txBody>
      </p:sp>
      <p:sp>
        <p:nvSpPr>
          <p:cNvPr id="56" name="Text 53"/>
          <p:cNvSpPr/>
          <p:nvPr/>
        </p:nvSpPr>
        <p:spPr>
          <a:xfrm>
            <a:off x="2354466" y="2828713"/>
            <a:ext cx="81917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1.819</a:t>
            </a:r>
            <a:endParaRPr lang="en-US" sz="816" dirty="0"/>
          </a:p>
        </p:txBody>
      </p:sp>
      <p:sp>
        <p:nvSpPr>
          <p:cNvPr id="57" name="Text 54"/>
          <p:cNvSpPr/>
          <p:nvPr/>
        </p:nvSpPr>
        <p:spPr>
          <a:xfrm>
            <a:off x="3378384" y="2828713"/>
            <a:ext cx="768592"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1.670</a:t>
            </a:r>
            <a:endParaRPr lang="en-US" sz="816" dirty="0"/>
          </a:p>
        </p:txBody>
      </p:sp>
      <p:sp>
        <p:nvSpPr>
          <p:cNvPr id="58" name="Text 55"/>
          <p:cNvSpPr/>
          <p:nvPr/>
        </p:nvSpPr>
        <p:spPr>
          <a:xfrm>
            <a:off x="8363995" y="2828713"/>
            <a:ext cx="81917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2.374</a:t>
            </a:r>
            <a:endParaRPr lang="en-US" sz="816" dirty="0"/>
          </a:p>
        </p:txBody>
      </p:sp>
      <p:sp>
        <p:nvSpPr>
          <p:cNvPr id="59" name="Text 56"/>
          <p:cNvSpPr/>
          <p:nvPr/>
        </p:nvSpPr>
        <p:spPr>
          <a:xfrm>
            <a:off x="9368863" y="2828713"/>
            <a:ext cx="771504"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2.170</a:t>
            </a:r>
            <a:endParaRPr lang="en-US" sz="816" dirty="0"/>
          </a:p>
        </p:txBody>
      </p:sp>
      <p:sp>
        <p:nvSpPr>
          <p:cNvPr id="60" name="Text 57"/>
          <p:cNvSpPr/>
          <p:nvPr/>
        </p:nvSpPr>
        <p:spPr>
          <a:xfrm>
            <a:off x="2354466" y="3076363"/>
            <a:ext cx="81917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1.901</a:t>
            </a:r>
            <a:endParaRPr lang="en-US" sz="816" dirty="0"/>
          </a:p>
        </p:txBody>
      </p:sp>
      <p:sp>
        <p:nvSpPr>
          <p:cNvPr id="61" name="Text 58"/>
          <p:cNvSpPr/>
          <p:nvPr/>
        </p:nvSpPr>
        <p:spPr>
          <a:xfrm>
            <a:off x="3378384" y="3076363"/>
            <a:ext cx="768592"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1.670</a:t>
            </a:r>
            <a:endParaRPr lang="en-US" sz="816" dirty="0"/>
          </a:p>
        </p:txBody>
      </p:sp>
      <p:sp>
        <p:nvSpPr>
          <p:cNvPr id="62" name="Text 59"/>
          <p:cNvSpPr/>
          <p:nvPr/>
        </p:nvSpPr>
        <p:spPr>
          <a:xfrm>
            <a:off x="8363995" y="3076363"/>
            <a:ext cx="81917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2.431</a:t>
            </a:r>
            <a:endParaRPr lang="en-US" sz="816" dirty="0"/>
          </a:p>
        </p:txBody>
      </p:sp>
      <p:sp>
        <p:nvSpPr>
          <p:cNvPr id="63" name="Text 60"/>
          <p:cNvSpPr/>
          <p:nvPr/>
        </p:nvSpPr>
        <p:spPr>
          <a:xfrm>
            <a:off x="9368863" y="3076363"/>
            <a:ext cx="771504"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2.170</a:t>
            </a:r>
            <a:endParaRPr lang="en-US" sz="816" dirty="0"/>
          </a:p>
        </p:txBody>
      </p:sp>
      <p:sp>
        <p:nvSpPr>
          <p:cNvPr id="64" name="Text 61"/>
          <p:cNvSpPr/>
          <p:nvPr/>
        </p:nvSpPr>
        <p:spPr>
          <a:xfrm>
            <a:off x="2354466" y="3324013"/>
            <a:ext cx="81917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1.816</a:t>
            </a:r>
            <a:endParaRPr lang="en-US" sz="816" dirty="0"/>
          </a:p>
        </p:txBody>
      </p:sp>
      <p:sp>
        <p:nvSpPr>
          <p:cNvPr id="65" name="Text 62"/>
          <p:cNvSpPr/>
          <p:nvPr/>
        </p:nvSpPr>
        <p:spPr>
          <a:xfrm>
            <a:off x="3378384" y="3324013"/>
            <a:ext cx="768592"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2.500</a:t>
            </a:r>
            <a:endParaRPr lang="en-US" sz="816" dirty="0"/>
          </a:p>
        </p:txBody>
      </p:sp>
      <p:sp>
        <p:nvSpPr>
          <p:cNvPr id="66" name="Text 63"/>
          <p:cNvSpPr/>
          <p:nvPr/>
        </p:nvSpPr>
        <p:spPr>
          <a:xfrm>
            <a:off x="8363995" y="3324013"/>
            <a:ext cx="81917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2.367</a:t>
            </a:r>
            <a:endParaRPr lang="en-US" sz="816" dirty="0"/>
          </a:p>
        </p:txBody>
      </p:sp>
      <p:sp>
        <p:nvSpPr>
          <p:cNvPr id="67" name="Text 64"/>
          <p:cNvSpPr/>
          <p:nvPr/>
        </p:nvSpPr>
        <p:spPr>
          <a:xfrm>
            <a:off x="9368863" y="3324013"/>
            <a:ext cx="771504"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3.000</a:t>
            </a:r>
            <a:endParaRPr lang="en-US" sz="816" dirty="0"/>
          </a:p>
        </p:txBody>
      </p:sp>
      <p:sp>
        <p:nvSpPr>
          <p:cNvPr id="68" name="Text 65"/>
          <p:cNvSpPr/>
          <p:nvPr/>
        </p:nvSpPr>
        <p:spPr>
          <a:xfrm>
            <a:off x="2354466" y="3571663"/>
            <a:ext cx="81917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1.568</a:t>
            </a:r>
            <a:endParaRPr lang="en-US" sz="816" dirty="0"/>
          </a:p>
        </p:txBody>
      </p:sp>
      <p:sp>
        <p:nvSpPr>
          <p:cNvPr id="69" name="Text 66"/>
          <p:cNvSpPr/>
          <p:nvPr/>
        </p:nvSpPr>
        <p:spPr>
          <a:xfrm>
            <a:off x="3378384" y="3571663"/>
            <a:ext cx="768592"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2.100</a:t>
            </a:r>
            <a:endParaRPr lang="en-US" sz="816" dirty="0"/>
          </a:p>
        </p:txBody>
      </p:sp>
      <p:sp>
        <p:nvSpPr>
          <p:cNvPr id="70" name="Text 67"/>
          <p:cNvSpPr/>
          <p:nvPr/>
        </p:nvSpPr>
        <p:spPr>
          <a:xfrm>
            <a:off x="8363995" y="3571663"/>
            <a:ext cx="81917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2.186</a:t>
            </a:r>
            <a:endParaRPr lang="en-US" sz="816" dirty="0"/>
          </a:p>
        </p:txBody>
      </p:sp>
      <p:sp>
        <p:nvSpPr>
          <p:cNvPr id="71" name="Text 68"/>
          <p:cNvSpPr/>
          <p:nvPr/>
        </p:nvSpPr>
        <p:spPr>
          <a:xfrm>
            <a:off x="9368863" y="3571663"/>
            <a:ext cx="771504"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2.600</a:t>
            </a:r>
            <a:endParaRPr lang="en-US" sz="816" dirty="0"/>
          </a:p>
        </p:txBody>
      </p:sp>
      <p:sp>
        <p:nvSpPr>
          <p:cNvPr id="72" name="Text 69"/>
          <p:cNvSpPr/>
          <p:nvPr/>
        </p:nvSpPr>
        <p:spPr>
          <a:xfrm>
            <a:off x="2354466" y="3819313"/>
            <a:ext cx="81917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1.741</a:t>
            </a:r>
            <a:endParaRPr lang="en-US" sz="816" dirty="0"/>
          </a:p>
        </p:txBody>
      </p:sp>
      <p:sp>
        <p:nvSpPr>
          <p:cNvPr id="73" name="Text 70"/>
          <p:cNvSpPr/>
          <p:nvPr/>
        </p:nvSpPr>
        <p:spPr>
          <a:xfrm>
            <a:off x="3378384" y="3819313"/>
            <a:ext cx="768592"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2.000</a:t>
            </a:r>
            <a:endParaRPr lang="en-US" sz="816" dirty="0"/>
          </a:p>
        </p:txBody>
      </p:sp>
      <p:sp>
        <p:nvSpPr>
          <p:cNvPr id="74" name="Text 71"/>
          <p:cNvSpPr/>
          <p:nvPr/>
        </p:nvSpPr>
        <p:spPr>
          <a:xfrm>
            <a:off x="8363995" y="3819313"/>
            <a:ext cx="81917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2.314</a:t>
            </a:r>
            <a:endParaRPr lang="en-US" sz="816" dirty="0"/>
          </a:p>
        </p:txBody>
      </p:sp>
      <p:sp>
        <p:nvSpPr>
          <p:cNvPr id="75" name="Text 72"/>
          <p:cNvSpPr/>
          <p:nvPr/>
        </p:nvSpPr>
        <p:spPr>
          <a:xfrm>
            <a:off x="9368863" y="3819313"/>
            <a:ext cx="771504"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2.500</a:t>
            </a:r>
            <a:endParaRPr lang="en-US" sz="816" dirty="0"/>
          </a:p>
        </p:txBody>
      </p:sp>
      <p:sp>
        <p:nvSpPr>
          <p:cNvPr id="76" name="Text 73"/>
          <p:cNvSpPr/>
          <p:nvPr/>
        </p:nvSpPr>
        <p:spPr>
          <a:xfrm>
            <a:off x="723882" y="4101467"/>
            <a:ext cx="684129" cy="242888"/>
          </a:xfrm>
          <a:prstGeom prst="rect">
            <a:avLst/>
          </a:prstGeom>
          <a:noFill/>
          <a:ln/>
        </p:spPr>
        <p:txBody>
          <a:bodyPr wrap="square" lIns="38100" tIns="114300" rIns="114300" bIns="38100" rtlCol="0" anchor="ctr"/>
          <a:lstStyle/>
          <a:p>
            <a:pPr marL="0" indent="0" algn="l">
              <a:buNone/>
            </a:pPr>
            <a:r>
              <a:rPr lang="en-US" sz="816" b="1" dirty="0">
                <a:solidFill>
                  <a:srgbClr val="120180"/>
                </a:solidFill>
                <a:latin typeface="Raleway" pitchFamily="34" charset="0"/>
                <a:ea typeface="Raleway" pitchFamily="34" charset="-122"/>
                <a:cs typeface="Raleway" pitchFamily="34" charset="-120"/>
              </a:rPr>
              <a:t>Total</a:t>
            </a:r>
            <a:endParaRPr lang="en-US" sz="816" dirty="0"/>
          </a:p>
        </p:txBody>
      </p:sp>
      <p:sp>
        <p:nvSpPr>
          <p:cNvPr id="77" name="Text 74"/>
          <p:cNvSpPr/>
          <p:nvPr/>
        </p:nvSpPr>
        <p:spPr>
          <a:xfrm>
            <a:off x="5372923" y="4066963"/>
            <a:ext cx="819177" cy="242888"/>
          </a:xfrm>
          <a:prstGeom prst="rect">
            <a:avLst/>
          </a:prstGeom>
          <a:noFill/>
          <a:ln/>
        </p:spPr>
        <p:txBody>
          <a:bodyPr wrap="square" lIns="38100" tIns="114300" rIns="114300" bIns="38100" rtlCol="0" anchor="ctr"/>
          <a:lstStyle/>
          <a:p>
            <a:pPr marL="0" indent="0" algn="r">
              <a:buNone/>
            </a:pPr>
            <a:r>
              <a:rPr lang="en-US" sz="816" b="1" dirty="0">
                <a:solidFill>
                  <a:srgbClr val="120180"/>
                </a:solidFill>
                <a:latin typeface="Raleway" pitchFamily="34" charset="0"/>
                <a:ea typeface="Raleway" pitchFamily="34" charset="-122"/>
                <a:cs typeface="Raleway" pitchFamily="34" charset="-120"/>
              </a:rPr>
              <a:t>3.383</a:t>
            </a:r>
            <a:endParaRPr lang="en-US" sz="816" dirty="0"/>
          </a:p>
        </p:txBody>
      </p:sp>
      <p:sp>
        <p:nvSpPr>
          <p:cNvPr id="78" name="Text 75"/>
          <p:cNvSpPr/>
          <p:nvPr/>
        </p:nvSpPr>
        <p:spPr>
          <a:xfrm>
            <a:off x="6425415" y="4066963"/>
            <a:ext cx="740387" cy="242888"/>
          </a:xfrm>
          <a:prstGeom prst="rect">
            <a:avLst/>
          </a:prstGeom>
          <a:noFill/>
          <a:ln/>
        </p:spPr>
        <p:txBody>
          <a:bodyPr wrap="square" lIns="38100" tIns="114300" rIns="114300" bIns="38100" rtlCol="0" anchor="ctr"/>
          <a:lstStyle/>
          <a:p>
            <a:pPr marL="0" indent="0" algn="r">
              <a:buNone/>
            </a:pPr>
            <a:r>
              <a:rPr lang="en-US" sz="816" b="1" dirty="0">
                <a:solidFill>
                  <a:srgbClr val="120180"/>
                </a:solidFill>
                <a:latin typeface="Raleway" pitchFamily="34" charset="0"/>
                <a:ea typeface="Raleway" pitchFamily="34" charset="-122"/>
                <a:cs typeface="Raleway" pitchFamily="34" charset="-120"/>
              </a:rPr>
              <a:t>2.929</a:t>
            </a:r>
            <a:endParaRPr lang="en-US" sz="816" dirty="0"/>
          </a:p>
        </p:txBody>
      </p:sp>
      <p:sp>
        <p:nvSpPr>
          <p:cNvPr id="79" name="Text 76"/>
          <p:cNvSpPr/>
          <p:nvPr/>
        </p:nvSpPr>
        <p:spPr>
          <a:xfrm>
            <a:off x="8203945" y="1162050"/>
            <a:ext cx="3361631" cy="298308"/>
          </a:xfrm>
          <a:prstGeom prst="rect">
            <a:avLst/>
          </a:prstGeom>
          <a:noFill/>
          <a:ln/>
        </p:spPr>
        <p:txBody>
          <a:bodyPr wrap="square" lIns="0" tIns="0" rIns="0" bIns="0" rtlCol="0" anchor="t"/>
          <a:lstStyle/>
          <a:p>
            <a:pPr marL="0" indent="0" algn="l">
              <a:buNone/>
            </a:pPr>
            <a:r>
              <a:rPr lang="en-US" sz="1400" b="1" dirty="0">
                <a:solidFill>
                  <a:srgbClr val="FF6B35"/>
                </a:solidFill>
                <a:latin typeface="Raleway" pitchFamily="34" charset="0"/>
                <a:ea typeface="Raleway" pitchFamily="34" charset="-122"/>
                <a:cs typeface="Raleway" pitchFamily="34" charset="-120"/>
              </a:rPr>
              <a:t>+30 %</a:t>
            </a:r>
            <a:endParaRPr lang="en-US" sz="1400" dirty="0"/>
          </a:p>
        </p:txBody>
      </p:sp>
      <p:sp>
        <p:nvSpPr>
          <p:cNvPr id="87" name="Text 84"/>
          <p:cNvSpPr/>
          <p:nvPr/>
        </p:nvSpPr>
        <p:spPr>
          <a:xfrm>
            <a:off x="3378384" y="2357225"/>
            <a:ext cx="768592"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Meta</a:t>
            </a:r>
            <a:endParaRPr lang="en-US" sz="888" dirty="0"/>
          </a:p>
        </p:txBody>
      </p:sp>
      <p:sp>
        <p:nvSpPr>
          <p:cNvPr id="88" name="Text 85"/>
          <p:cNvSpPr/>
          <p:nvPr/>
        </p:nvSpPr>
        <p:spPr>
          <a:xfrm>
            <a:off x="6425415" y="2357225"/>
            <a:ext cx="740387"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Meta</a:t>
            </a:r>
            <a:endParaRPr lang="en-US" sz="888" dirty="0"/>
          </a:p>
        </p:txBody>
      </p:sp>
      <p:sp>
        <p:nvSpPr>
          <p:cNvPr id="89" name="Text 86"/>
          <p:cNvSpPr/>
          <p:nvPr/>
        </p:nvSpPr>
        <p:spPr>
          <a:xfrm>
            <a:off x="9368863" y="2357225"/>
            <a:ext cx="771504"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Meta</a:t>
            </a:r>
            <a:endParaRPr lang="en-US" sz="888" dirty="0"/>
          </a:p>
        </p:txBody>
      </p:sp>
      <p:sp>
        <p:nvSpPr>
          <p:cNvPr id="90" name="Text 87"/>
          <p:cNvSpPr/>
          <p:nvPr/>
        </p:nvSpPr>
        <p:spPr>
          <a:xfrm>
            <a:off x="10969762" y="1846183"/>
            <a:ext cx="548315" cy="245269"/>
          </a:xfrm>
          <a:prstGeom prst="rect">
            <a:avLst/>
          </a:prstGeom>
          <a:noFill/>
          <a:ln/>
        </p:spPr>
        <p:txBody>
          <a:bodyPr wrap="square" lIns="47625" tIns="114300" rIns="114300" bIns="47625" rtlCol="0" anchor="t"/>
          <a:lstStyle/>
          <a:p>
            <a:pPr marL="0" indent="0" algn="ctr">
              <a:buNone/>
            </a:pPr>
            <a:r>
              <a:rPr lang="en-US" sz="816" b="1" dirty="0">
                <a:solidFill>
                  <a:srgbClr val="FFFFFF"/>
                </a:solidFill>
                <a:latin typeface="Raleway" pitchFamily="34" charset="0"/>
                <a:ea typeface="Raleway" pitchFamily="34" charset="-122"/>
                <a:cs typeface="Raleway" pitchFamily="34" charset="-120"/>
              </a:rPr>
              <a:t>Xuma</a:t>
            </a:r>
            <a:endParaRPr lang="en-US" sz="816" dirty="0"/>
          </a:p>
        </p:txBody>
      </p:sp>
      <p:sp>
        <p:nvSpPr>
          <p:cNvPr id="91" name="Text 88"/>
          <p:cNvSpPr/>
          <p:nvPr/>
        </p:nvSpPr>
        <p:spPr>
          <a:xfrm>
            <a:off x="723882" y="2240763"/>
            <a:ext cx="684129" cy="457200"/>
          </a:xfrm>
          <a:prstGeom prst="rect">
            <a:avLst/>
          </a:prstGeom>
          <a:noFill/>
          <a:ln/>
        </p:spPr>
        <p:txBody>
          <a:bodyPr wrap="square" lIns="47625" tIns="114300" rIns="114300" bIns="47625"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92" name="Text 89"/>
          <p:cNvSpPr/>
          <p:nvPr/>
        </p:nvSpPr>
        <p:spPr>
          <a:xfrm>
            <a:off x="723882" y="2620329"/>
            <a:ext cx="684129" cy="242888"/>
          </a:xfrm>
          <a:prstGeom prst="rect">
            <a:avLst/>
          </a:prstGeom>
          <a:noFill/>
          <a:ln/>
        </p:spPr>
        <p:txBody>
          <a:bodyPr wrap="square" lIns="38100" tIns="114300" rIns="114300" bIns="38100" rtlCol="0" anchor="ctr"/>
          <a:lstStyle/>
          <a:p>
            <a:pPr marL="0" indent="0" algn="l">
              <a:buNone/>
            </a:pPr>
            <a:r>
              <a:rPr lang="en-US" sz="816" b="1" dirty="0">
                <a:solidFill>
                  <a:srgbClr val="333333"/>
                </a:solidFill>
                <a:latin typeface="Raleway" pitchFamily="34" charset="0"/>
                <a:ea typeface="Raleway" pitchFamily="34" charset="-122"/>
                <a:cs typeface="Raleway" pitchFamily="34" charset="-120"/>
              </a:rPr>
              <a:t>Ene</a:t>
            </a:r>
            <a:endParaRPr lang="en-US" sz="816" dirty="0"/>
          </a:p>
        </p:txBody>
      </p:sp>
      <p:sp>
        <p:nvSpPr>
          <p:cNvPr id="93" name="Text 90"/>
          <p:cNvSpPr/>
          <p:nvPr/>
        </p:nvSpPr>
        <p:spPr>
          <a:xfrm>
            <a:off x="5372923" y="2585825"/>
            <a:ext cx="819177" cy="242888"/>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556</a:t>
            </a:r>
            <a:endParaRPr lang="en-US" sz="816" dirty="0"/>
          </a:p>
        </p:txBody>
      </p:sp>
      <p:sp>
        <p:nvSpPr>
          <p:cNvPr id="94" name="Text 91"/>
          <p:cNvSpPr/>
          <p:nvPr/>
        </p:nvSpPr>
        <p:spPr>
          <a:xfrm>
            <a:off x="6425415" y="2585825"/>
            <a:ext cx="740387" cy="242888"/>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429</a:t>
            </a:r>
            <a:endParaRPr lang="en-US" sz="816" dirty="0"/>
          </a:p>
        </p:txBody>
      </p:sp>
      <p:sp>
        <p:nvSpPr>
          <p:cNvPr id="95" name="Text 92"/>
          <p:cNvSpPr/>
          <p:nvPr/>
        </p:nvSpPr>
        <p:spPr>
          <a:xfrm>
            <a:off x="723882" y="2863217"/>
            <a:ext cx="684129" cy="247650"/>
          </a:xfrm>
          <a:prstGeom prst="rect">
            <a:avLst/>
          </a:prstGeom>
          <a:noFill/>
          <a:ln/>
        </p:spPr>
        <p:txBody>
          <a:bodyPr wrap="square" lIns="38100" tIns="114300" rIns="114300" bIns="38100" rtlCol="0" anchor="ctr"/>
          <a:lstStyle/>
          <a:p>
            <a:pPr marL="0" indent="0" algn="l">
              <a:buNone/>
            </a:pPr>
            <a:r>
              <a:rPr lang="en-US" sz="816" b="1" dirty="0">
                <a:solidFill>
                  <a:srgbClr val="333333"/>
                </a:solidFill>
                <a:latin typeface="Raleway" pitchFamily="34" charset="0"/>
                <a:ea typeface="Raleway" pitchFamily="34" charset="-122"/>
                <a:cs typeface="Raleway" pitchFamily="34" charset="-120"/>
              </a:rPr>
              <a:t>Feb</a:t>
            </a:r>
            <a:endParaRPr lang="en-US" sz="816" dirty="0"/>
          </a:p>
        </p:txBody>
      </p:sp>
      <p:sp>
        <p:nvSpPr>
          <p:cNvPr id="96" name="Text 93"/>
          <p:cNvSpPr/>
          <p:nvPr/>
        </p:nvSpPr>
        <p:spPr>
          <a:xfrm>
            <a:off x="5372923" y="2828713"/>
            <a:ext cx="81917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555</a:t>
            </a:r>
            <a:endParaRPr lang="en-US" sz="816" dirty="0"/>
          </a:p>
        </p:txBody>
      </p:sp>
      <p:sp>
        <p:nvSpPr>
          <p:cNvPr id="97" name="Text 94"/>
          <p:cNvSpPr/>
          <p:nvPr/>
        </p:nvSpPr>
        <p:spPr>
          <a:xfrm>
            <a:off x="6425415" y="2828713"/>
            <a:ext cx="74038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500</a:t>
            </a:r>
            <a:endParaRPr lang="en-US" sz="816" dirty="0"/>
          </a:p>
        </p:txBody>
      </p:sp>
      <p:sp>
        <p:nvSpPr>
          <p:cNvPr id="98" name="Text 95"/>
          <p:cNvSpPr/>
          <p:nvPr/>
        </p:nvSpPr>
        <p:spPr>
          <a:xfrm>
            <a:off x="723882" y="3110867"/>
            <a:ext cx="684129" cy="247650"/>
          </a:xfrm>
          <a:prstGeom prst="rect">
            <a:avLst/>
          </a:prstGeom>
          <a:noFill/>
          <a:ln/>
        </p:spPr>
        <p:txBody>
          <a:bodyPr wrap="square" lIns="38100" tIns="114300" rIns="114300" bIns="38100" rtlCol="0" anchor="ctr"/>
          <a:lstStyle/>
          <a:p>
            <a:pPr marL="0" indent="0" algn="l">
              <a:buNone/>
            </a:pPr>
            <a:r>
              <a:rPr lang="en-US" sz="816" b="1" dirty="0">
                <a:solidFill>
                  <a:srgbClr val="333333"/>
                </a:solidFill>
                <a:latin typeface="Raleway" pitchFamily="34" charset="0"/>
                <a:ea typeface="Raleway" pitchFamily="34" charset="-122"/>
                <a:cs typeface="Raleway" pitchFamily="34" charset="-120"/>
              </a:rPr>
              <a:t>Mar</a:t>
            </a:r>
            <a:endParaRPr lang="en-US" sz="816" dirty="0"/>
          </a:p>
        </p:txBody>
      </p:sp>
      <p:sp>
        <p:nvSpPr>
          <p:cNvPr id="99" name="Text 96"/>
          <p:cNvSpPr/>
          <p:nvPr/>
        </p:nvSpPr>
        <p:spPr>
          <a:xfrm>
            <a:off x="5372923" y="3076363"/>
            <a:ext cx="81917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530</a:t>
            </a:r>
            <a:endParaRPr lang="en-US" sz="816" dirty="0"/>
          </a:p>
        </p:txBody>
      </p:sp>
      <p:sp>
        <p:nvSpPr>
          <p:cNvPr id="100" name="Text 97"/>
          <p:cNvSpPr/>
          <p:nvPr/>
        </p:nvSpPr>
        <p:spPr>
          <a:xfrm>
            <a:off x="6425415" y="3076363"/>
            <a:ext cx="74038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500</a:t>
            </a:r>
            <a:endParaRPr lang="en-US" sz="816" dirty="0"/>
          </a:p>
        </p:txBody>
      </p:sp>
      <p:sp>
        <p:nvSpPr>
          <p:cNvPr id="101" name="Text 98"/>
          <p:cNvSpPr/>
          <p:nvPr/>
        </p:nvSpPr>
        <p:spPr>
          <a:xfrm>
            <a:off x="723882" y="3358517"/>
            <a:ext cx="684129" cy="247650"/>
          </a:xfrm>
          <a:prstGeom prst="rect">
            <a:avLst/>
          </a:prstGeom>
          <a:noFill/>
          <a:ln/>
        </p:spPr>
        <p:txBody>
          <a:bodyPr wrap="square" lIns="38100" tIns="114300" rIns="114300" bIns="38100" rtlCol="0" anchor="ctr"/>
          <a:lstStyle/>
          <a:p>
            <a:pPr marL="0" indent="0" algn="l">
              <a:buNone/>
            </a:pPr>
            <a:r>
              <a:rPr lang="en-US" sz="816" b="1" dirty="0">
                <a:solidFill>
                  <a:srgbClr val="333333"/>
                </a:solidFill>
                <a:latin typeface="Raleway" pitchFamily="34" charset="0"/>
                <a:ea typeface="Raleway" pitchFamily="34" charset="-122"/>
                <a:cs typeface="Raleway" pitchFamily="34" charset="-120"/>
              </a:rPr>
              <a:t>Abr</a:t>
            </a:r>
            <a:endParaRPr lang="en-US" sz="816" dirty="0"/>
          </a:p>
        </p:txBody>
      </p:sp>
      <p:sp>
        <p:nvSpPr>
          <p:cNvPr id="102" name="Text 99"/>
          <p:cNvSpPr/>
          <p:nvPr/>
        </p:nvSpPr>
        <p:spPr>
          <a:xfrm>
            <a:off x="5372923" y="3324013"/>
            <a:ext cx="81917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551</a:t>
            </a:r>
            <a:endParaRPr lang="en-US" sz="816" dirty="0"/>
          </a:p>
        </p:txBody>
      </p:sp>
      <p:sp>
        <p:nvSpPr>
          <p:cNvPr id="103" name="Text 100"/>
          <p:cNvSpPr/>
          <p:nvPr/>
        </p:nvSpPr>
        <p:spPr>
          <a:xfrm>
            <a:off x="6425415" y="3324013"/>
            <a:ext cx="74038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500</a:t>
            </a:r>
            <a:endParaRPr lang="en-US" sz="816" dirty="0"/>
          </a:p>
        </p:txBody>
      </p:sp>
      <p:sp>
        <p:nvSpPr>
          <p:cNvPr id="104" name="Text 101"/>
          <p:cNvSpPr/>
          <p:nvPr/>
        </p:nvSpPr>
        <p:spPr>
          <a:xfrm>
            <a:off x="723882" y="3606167"/>
            <a:ext cx="684129" cy="247650"/>
          </a:xfrm>
          <a:prstGeom prst="rect">
            <a:avLst/>
          </a:prstGeom>
          <a:noFill/>
          <a:ln/>
        </p:spPr>
        <p:txBody>
          <a:bodyPr wrap="square" lIns="38100" tIns="114300" rIns="114300" bIns="38100" rtlCol="0" anchor="ctr"/>
          <a:lstStyle/>
          <a:p>
            <a:pPr marL="0" indent="0" algn="l">
              <a:buNone/>
            </a:pPr>
            <a:r>
              <a:rPr lang="en-US" sz="816" b="1" dirty="0">
                <a:solidFill>
                  <a:srgbClr val="333333"/>
                </a:solidFill>
                <a:latin typeface="Raleway" pitchFamily="34" charset="0"/>
                <a:ea typeface="Raleway" pitchFamily="34" charset="-122"/>
                <a:cs typeface="Raleway" pitchFamily="34" charset="-120"/>
              </a:rPr>
              <a:t>May</a:t>
            </a:r>
            <a:endParaRPr lang="en-US" sz="816" dirty="0"/>
          </a:p>
        </p:txBody>
      </p:sp>
      <p:sp>
        <p:nvSpPr>
          <p:cNvPr id="105" name="Text 102"/>
          <p:cNvSpPr/>
          <p:nvPr/>
        </p:nvSpPr>
        <p:spPr>
          <a:xfrm>
            <a:off x="5372923" y="3571663"/>
            <a:ext cx="81917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618</a:t>
            </a:r>
            <a:endParaRPr lang="en-US" sz="816" dirty="0"/>
          </a:p>
        </p:txBody>
      </p:sp>
      <p:sp>
        <p:nvSpPr>
          <p:cNvPr id="106" name="Text 103"/>
          <p:cNvSpPr/>
          <p:nvPr/>
        </p:nvSpPr>
        <p:spPr>
          <a:xfrm>
            <a:off x="6425415" y="3571663"/>
            <a:ext cx="74038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500</a:t>
            </a:r>
            <a:endParaRPr lang="en-US" sz="816" dirty="0"/>
          </a:p>
        </p:txBody>
      </p:sp>
      <p:sp>
        <p:nvSpPr>
          <p:cNvPr id="107" name="Text 104"/>
          <p:cNvSpPr/>
          <p:nvPr/>
        </p:nvSpPr>
        <p:spPr>
          <a:xfrm>
            <a:off x="723882" y="3853817"/>
            <a:ext cx="684129" cy="247650"/>
          </a:xfrm>
          <a:prstGeom prst="rect">
            <a:avLst/>
          </a:prstGeom>
          <a:noFill/>
          <a:ln/>
        </p:spPr>
        <p:txBody>
          <a:bodyPr wrap="square" lIns="38100" tIns="114300" rIns="114300" bIns="38100" rtlCol="0" anchor="ctr"/>
          <a:lstStyle/>
          <a:p>
            <a:pPr marL="0" indent="0" algn="l">
              <a:buNone/>
            </a:pPr>
            <a:r>
              <a:rPr lang="en-US" sz="816" b="1" dirty="0">
                <a:solidFill>
                  <a:srgbClr val="333333"/>
                </a:solidFill>
                <a:latin typeface="Raleway" pitchFamily="34" charset="0"/>
                <a:ea typeface="Raleway" pitchFamily="34" charset="-122"/>
                <a:cs typeface="Raleway" pitchFamily="34" charset="-120"/>
              </a:rPr>
              <a:t>Jun</a:t>
            </a:r>
            <a:endParaRPr lang="en-US" sz="816" dirty="0"/>
          </a:p>
        </p:txBody>
      </p:sp>
      <p:sp>
        <p:nvSpPr>
          <p:cNvPr id="108" name="Text 105"/>
          <p:cNvSpPr/>
          <p:nvPr/>
        </p:nvSpPr>
        <p:spPr>
          <a:xfrm>
            <a:off x="5372923" y="3819313"/>
            <a:ext cx="81917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573</a:t>
            </a:r>
            <a:endParaRPr lang="en-US" sz="816" dirty="0"/>
          </a:p>
        </p:txBody>
      </p:sp>
      <p:sp>
        <p:nvSpPr>
          <p:cNvPr id="109" name="Text 106"/>
          <p:cNvSpPr/>
          <p:nvPr/>
        </p:nvSpPr>
        <p:spPr>
          <a:xfrm>
            <a:off x="6425415" y="3819313"/>
            <a:ext cx="740387"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500</a:t>
            </a:r>
            <a:endParaRPr lang="en-US" sz="816" dirty="0"/>
          </a:p>
        </p:txBody>
      </p:sp>
      <p:sp>
        <p:nvSpPr>
          <p:cNvPr id="128" name="Text 125"/>
          <p:cNvSpPr/>
          <p:nvPr/>
        </p:nvSpPr>
        <p:spPr>
          <a:xfrm>
            <a:off x="1216635" y="2620329"/>
            <a:ext cx="1093105" cy="242888"/>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15</a:t>
            </a:r>
            <a:endParaRPr lang="en-US" sz="816" dirty="0"/>
          </a:p>
        </p:txBody>
      </p:sp>
      <p:sp>
        <p:nvSpPr>
          <p:cNvPr id="129" name="Text 126"/>
          <p:cNvSpPr/>
          <p:nvPr/>
        </p:nvSpPr>
        <p:spPr>
          <a:xfrm>
            <a:off x="1216635" y="2863217"/>
            <a:ext cx="1093105"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17</a:t>
            </a:r>
            <a:endParaRPr lang="en-US" sz="816" dirty="0"/>
          </a:p>
        </p:txBody>
      </p:sp>
      <p:sp>
        <p:nvSpPr>
          <p:cNvPr id="130" name="Text 127"/>
          <p:cNvSpPr/>
          <p:nvPr/>
        </p:nvSpPr>
        <p:spPr>
          <a:xfrm>
            <a:off x="1216635" y="3110867"/>
            <a:ext cx="1093105"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18</a:t>
            </a:r>
            <a:endParaRPr lang="en-US" sz="816" dirty="0"/>
          </a:p>
        </p:txBody>
      </p:sp>
      <p:sp>
        <p:nvSpPr>
          <p:cNvPr id="131" name="Text 128"/>
          <p:cNvSpPr/>
          <p:nvPr/>
        </p:nvSpPr>
        <p:spPr>
          <a:xfrm>
            <a:off x="1216635" y="3358517"/>
            <a:ext cx="1093105"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20</a:t>
            </a:r>
            <a:endParaRPr lang="en-US" sz="816" dirty="0"/>
          </a:p>
        </p:txBody>
      </p:sp>
      <p:sp>
        <p:nvSpPr>
          <p:cNvPr id="132" name="Text 129"/>
          <p:cNvSpPr/>
          <p:nvPr/>
        </p:nvSpPr>
        <p:spPr>
          <a:xfrm>
            <a:off x="1216635" y="3606167"/>
            <a:ext cx="1093105"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20</a:t>
            </a:r>
            <a:endParaRPr lang="en-US" sz="816" dirty="0"/>
          </a:p>
        </p:txBody>
      </p:sp>
      <p:sp>
        <p:nvSpPr>
          <p:cNvPr id="133" name="Text 130"/>
          <p:cNvSpPr/>
          <p:nvPr/>
        </p:nvSpPr>
        <p:spPr>
          <a:xfrm>
            <a:off x="1216635" y="3853817"/>
            <a:ext cx="1093105" cy="247650"/>
          </a:xfrm>
          <a:prstGeom prst="rect">
            <a:avLst/>
          </a:prstGeom>
          <a:noFill/>
          <a:ln/>
        </p:spPr>
        <p:txBody>
          <a:bodyPr wrap="square" lIns="38100" tIns="114300" rIns="114300" bIns="38100" rtlCol="0" anchor="ctr"/>
          <a:lstStyle/>
          <a:p>
            <a:pPr marL="0" indent="0" algn="r">
              <a:buNone/>
            </a:pPr>
            <a:r>
              <a:rPr lang="en-US" sz="816" dirty="0">
                <a:solidFill>
                  <a:srgbClr val="333333"/>
                </a:solidFill>
                <a:latin typeface="Raleway" pitchFamily="34" charset="0"/>
                <a:ea typeface="Raleway" pitchFamily="34" charset="-122"/>
                <a:cs typeface="Raleway" pitchFamily="34" charset="-120"/>
              </a:rPr>
              <a:t>21</a:t>
            </a:r>
            <a:endParaRPr lang="en-US" sz="816" dirty="0"/>
          </a:p>
        </p:txBody>
      </p:sp>
      <p:sp>
        <p:nvSpPr>
          <p:cNvPr id="134" name="Text 131"/>
          <p:cNvSpPr/>
          <p:nvPr/>
        </p:nvSpPr>
        <p:spPr>
          <a:xfrm>
            <a:off x="1216635" y="4101467"/>
            <a:ext cx="1093105" cy="242888"/>
          </a:xfrm>
          <a:prstGeom prst="rect">
            <a:avLst/>
          </a:prstGeom>
          <a:noFill/>
          <a:ln/>
        </p:spPr>
        <p:txBody>
          <a:bodyPr wrap="square" lIns="38100" tIns="114300" rIns="114300" bIns="38100" rtlCol="0" anchor="ctr"/>
          <a:lstStyle/>
          <a:p>
            <a:pPr marL="0" indent="0" algn="r">
              <a:buNone/>
            </a:pPr>
            <a:r>
              <a:rPr lang="en-US" sz="816" b="1" dirty="0">
                <a:solidFill>
                  <a:srgbClr val="120180"/>
                </a:solidFill>
                <a:latin typeface="Raleway" pitchFamily="34" charset="0"/>
                <a:ea typeface="Raleway" pitchFamily="34" charset="-122"/>
                <a:cs typeface="Raleway" pitchFamily="34" charset="-120"/>
              </a:rPr>
              <a:t>19</a:t>
            </a:r>
            <a:endParaRPr lang="en-US" sz="816" dirty="0"/>
          </a:p>
        </p:txBody>
      </p:sp>
      <p:sp>
        <p:nvSpPr>
          <p:cNvPr id="136" name="TextBox 135">
            <a:extLst>
              <a:ext uri="{FF2B5EF4-FFF2-40B4-BE49-F238E27FC236}">
                <a16:creationId xmlns:a16="http://schemas.microsoft.com/office/drawing/2014/main" id="{109F0C3D-9190-E5CE-D685-9ECA22602270}"/>
              </a:ext>
            </a:extLst>
          </p:cNvPr>
          <p:cNvSpPr txBox="1"/>
          <p:nvPr/>
        </p:nvSpPr>
        <p:spPr>
          <a:xfrm>
            <a:off x="1095467" y="5486674"/>
            <a:ext cx="10470109" cy="400110"/>
          </a:xfrm>
          <a:prstGeom prst="rect">
            <a:avLst/>
          </a:prstGeom>
          <a:noFill/>
        </p:spPr>
        <p:txBody>
          <a:bodyPr wrap="square">
            <a:spAutoFit/>
          </a:bodyPr>
          <a:lstStyle/>
          <a:p>
            <a:pPr marL="0" marR="0" indent="0" algn="l">
              <a:spcBef>
                <a:spcPts val="450"/>
              </a:spcBef>
              <a:buNone/>
            </a:pPr>
            <a:r>
              <a:rPr lang="es-CO" sz="900" b="1" i="0" dirty="0" err="1">
                <a:solidFill>
                  <a:srgbClr val="120180"/>
                </a:solidFill>
                <a:effectLst/>
                <a:latin typeface="Raleway" pitchFamily="2" charset="0"/>
              </a:rPr>
              <a:t>Xuma</a:t>
            </a:r>
            <a:r>
              <a:rPr lang="es-CO" sz="900" b="1" i="0" dirty="0">
                <a:solidFill>
                  <a:srgbClr val="120180"/>
                </a:solidFill>
                <a:effectLst/>
                <a:latin typeface="Raleway" pitchFamily="2" charset="0"/>
              </a:rPr>
              <a:t>: 13.917 pólizas vendidas en el semestre — 96 % de la meta general, con 3 de 6 meses sobre la meta. Cuota Protegida aportó 10.534 (90 %) y Combo Vida 3.383 (116 %).</a:t>
            </a:r>
            <a:br>
              <a:rPr lang="es-CO" sz="1100" dirty="0"/>
            </a:br>
            <a:endParaRPr lang="es-CO"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C:\01_Repositorios\13_Presentaciones\dash\televentas\ppt_slides\sk_03_main.png"/>
          <p:cNvPicPr>
            <a:picLocks noChangeAspect="1"/>
          </p:cNvPicPr>
          <p:nvPr/>
        </p:nvPicPr>
        <p:blipFill>
          <a:blip r:embed="rId3"/>
          <a:stretch>
            <a:fillRect/>
          </a:stretch>
        </p:blipFill>
        <p:spPr>
          <a:xfrm>
            <a:off x="0" y="0"/>
            <a:ext cx="12191695" cy="6858000"/>
          </a:xfrm>
          <a:prstGeom prst="rect">
            <a:avLst/>
          </a:prstGeom>
        </p:spPr>
      </p:pic>
      <p:sp>
        <p:nvSpPr>
          <p:cNvPr id="4" name="Text 1"/>
          <p:cNvSpPr/>
          <p:nvPr/>
        </p:nvSpPr>
        <p:spPr>
          <a:xfrm>
            <a:off x="6314917" y="4956870"/>
            <a:ext cx="5307483" cy="128016"/>
          </a:xfrm>
          <a:prstGeom prst="rect">
            <a:avLst/>
          </a:prstGeom>
          <a:noFill/>
          <a:ln/>
        </p:spPr>
        <p:txBody>
          <a:bodyPr wrap="square" lIns="0" tIns="0" rIns="0" bIns="0" rtlCol="0" anchor="t"/>
          <a:lstStyle/>
          <a:p>
            <a:pPr marL="0" indent="0" algn="ctr">
              <a:buNone/>
            </a:pPr>
            <a:r>
              <a:rPr lang="en-US" sz="648" dirty="0">
                <a:solidFill>
                  <a:srgbClr val="9098B0"/>
                </a:solidFill>
                <a:latin typeface="Raleway" pitchFamily="34" charset="0"/>
                <a:ea typeface="Raleway" pitchFamily="34" charset="-122"/>
                <a:cs typeface="Raleway" pitchFamily="34" charset="-120"/>
              </a:rPr>
              <a:t>Ancho del embudo en escala visual (no lineal) — los valores y porcentajes son los reales.</a:t>
            </a:r>
            <a:endParaRPr lang="en-US" sz="648" dirty="0"/>
          </a:p>
        </p:txBody>
      </p:sp>
      <p:sp>
        <p:nvSpPr>
          <p:cNvPr id="5" name="Text 2"/>
          <p:cNvSpPr/>
          <p:nvPr/>
        </p:nvSpPr>
        <p:spPr>
          <a:xfrm>
            <a:off x="6524467" y="1985070"/>
            <a:ext cx="5307483" cy="215836"/>
          </a:xfrm>
          <a:prstGeom prst="rect">
            <a:avLst/>
          </a:prstGeom>
          <a:noFill/>
          <a:ln/>
        </p:spPr>
        <p:txBody>
          <a:bodyPr wrap="square" lIns="0" tIns="0" rIns="0" bIns="38100" rtlCol="0" anchor="t"/>
          <a:lstStyle/>
          <a:p>
            <a:pPr marL="0" indent="0" algn="l">
              <a:buNone/>
            </a:pPr>
            <a:r>
              <a:rPr lang="en-US" sz="1020" b="1" dirty="0">
                <a:solidFill>
                  <a:srgbClr val="120180"/>
                </a:solidFill>
                <a:latin typeface="Raleway" pitchFamily="34" charset="0"/>
                <a:ea typeface="Raleway" pitchFamily="34" charset="-122"/>
                <a:cs typeface="Raleway" pitchFamily="34" charset="-120"/>
              </a:rPr>
              <a:t>Embudo de la gestión · de la base a la venta (semestre)</a:t>
            </a:r>
            <a:endParaRPr lang="en-US" sz="1020" dirty="0"/>
          </a:p>
        </p:txBody>
      </p:sp>
      <p:sp>
        <p:nvSpPr>
          <p:cNvPr id="6" name="Text 3"/>
          <p:cNvSpPr/>
          <p:nvPr/>
        </p:nvSpPr>
        <p:spPr>
          <a:xfrm>
            <a:off x="6314917" y="3544342"/>
            <a:ext cx="1574586" cy="210625"/>
          </a:xfrm>
          <a:prstGeom prst="rect">
            <a:avLst/>
          </a:prstGeom>
          <a:noFill/>
          <a:ln/>
        </p:spPr>
        <p:txBody>
          <a:bodyPr wrap="square" lIns="0" tIns="0" rIns="0" bIns="0" rtlCol="0" anchor="t"/>
          <a:lstStyle/>
          <a:p>
            <a:pPr marL="0" indent="0" algn="r">
              <a:buNone/>
            </a:pPr>
            <a:r>
              <a:rPr lang="en-US" sz="672" dirty="0">
                <a:solidFill>
                  <a:srgbClr val="9098B0"/>
                </a:solidFill>
                <a:latin typeface="Raleway" pitchFamily="34" charset="0"/>
                <a:ea typeface="Raleway" pitchFamily="34" charset="-122"/>
                <a:cs typeface="Raleway" pitchFamily="34" charset="-120"/>
              </a:rPr>
              <a:t>Registros efectivamente marcados por el equipo</a:t>
            </a:r>
            <a:endParaRPr lang="en-US" sz="672" dirty="0"/>
          </a:p>
        </p:txBody>
      </p:sp>
      <p:sp>
        <p:nvSpPr>
          <p:cNvPr id="7" name="Text 4"/>
          <p:cNvSpPr/>
          <p:nvPr/>
        </p:nvSpPr>
        <p:spPr>
          <a:xfrm>
            <a:off x="9134247" y="1508820"/>
            <a:ext cx="2403574" cy="137350"/>
          </a:xfrm>
          <a:prstGeom prst="rect">
            <a:avLst/>
          </a:prstGeom>
          <a:noFill/>
          <a:ln/>
        </p:spPr>
        <p:txBody>
          <a:bodyPr wrap="square" lIns="0" tIns="0" rIns="0" bIns="0" rtlCol="0" anchor="t"/>
          <a:lstStyle/>
          <a:p>
            <a:pPr marL="0" indent="0" algn="l">
              <a:buNone/>
            </a:pPr>
            <a:r>
              <a:rPr lang="en-US" sz="864" dirty="0">
                <a:solidFill>
                  <a:srgbClr val="9098B0"/>
                </a:solidFill>
                <a:latin typeface="Raleway" pitchFamily="34" charset="0"/>
                <a:ea typeface="Raleway" pitchFamily="34" charset="-122"/>
                <a:cs typeface="Raleway" pitchFamily="34" charset="-120"/>
              </a:rPr>
              <a:t>1 venta por cada 66 registros recibidos</a:t>
            </a:r>
            <a:endParaRPr lang="en-US" sz="864" dirty="0"/>
          </a:p>
        </p:txBody>
      </p:sp>
      <p:sp>
        <p:nvSpPr>
          <p:cNvPr id="8" name="Text 5"/>
          <p:cNvSpPr/>
          <p:nvPr/>
        </p:nvSpPr>
        <p:spPr>
          <a:xfrm>
            <a:off x="6314917" y="2528590"/>
            <a:ext cx="1574586" cy="128016"/>
          </a:xfrm>
          <a:prstGeom prst="rect">
            <a:avLst/>
          </a:prstGeom>
          <a:noFill/>
          <a:ln/>
        </p:spPr>
        <p:txBody>
          <a:bodyPr wrap="square" lIns="0" tIns="0" rIns="0" bIns="0" rtlCol="0" anchor="t"/>
          <a:lstStyle/>
          <a:p>
            <a:pPr marL="0" indent="0" algn="r">
              <a:buNone/>
            </a:pPr>
            <a:r>
              <a:rPr lang="en-US" sz="672" dirty="0">
                <a:solidFill>
                  <a:srgbClr val="9098B0"/>
                </a:solidFill>
                <a:latin typeface="Raleway" pitchFamily="34" charset="0"/>
                <a:ea typeface="Raleway" pitchFamily="34" charset="-122"/>
                <a:cs typeface="Raleway" pitchFamily="34" charset="-120"/>
              </a:rPr>
              <a:t>Bases enviadas por Vanti (Power BI)</a:t>
            </a:r>
            <a:endParaRPr lang="en-US" sz="672" dirty="0"/>
          </a:p>
        </p:txBody>
      </p:sp>
      <p:sp>
        <p:nvSpPr>
          <p:cNvPr id="9" name="Text 6"/>
          <p:cNvSpPr/>
          <p:nvPr/>
        </p:nvSpPr>
        <p:spPr>
          <a:xfrm>
            <a:off x="1213514" y="219075"/>
            <a:ext cx="2962926" cy="196215"/>
          </a:xfrm>
          <a:prstGeom prst="rect">
            <a:avLst/>
          </a:prstGeom>
          <a:noFill/>
          <a:ln/>
        </p:spPr>
        <p:txBody>
          <a:bodyPr wrap="square" lIns="0" tIns="0" rIns="0" bIns="0" rtlCol="0" anchor="t"/>
          <a:lstStyle/>
          <a:p>
            <a:pPr marL="0" indent="0" algn="l">
              <a:buNone/>
            </a:pPr>
            <a:r>
              <a:rPr lang="en-US" sz="1260" b="1" dirty="0">
                <a:solidFill>
                  <a:srgbClr val="FFFFFF"/>
                </a:solidFill>
                <a:latin typeface="Raleway" pitchFamily="34" charset="0"/>
                <a:ea typeface="Raleway" pitchFamily="34" charset="-122"/>
                <a:cs typeface="Raleway" pitchFamily="34" charset="-120"/>
              </a:rPr>
              <a:t>Consolidado de las Bases · 1S 2026</a:t>
            </a:r>
            <a:endParaRPr lang="en-US" sz="1260" dirty="0"/>
          </a:p>
        </p:txBody>
      </p:sp>
      <p:sp>
        <p:nvSpPr>
          <p:cNvPr id="10" name="Text 7"/>
          <p:cNvSpPr/>
          <p:nvPr/>
        </p:nvSpPr>
        <p:spPr>
          <a:xfrm>
            <a:off x="923907" y="1985070"/>
            <a:ext cx="5307483" cy="215836"/>
          </a:xfrm>
          <a:prstGeom prst="rect">
            <a:avLst/>
          </a:prstGeom>
          <a:noFill/>
          <a:ln/>
        </p:spPr>
        <p:txBody>
          <a:bodyPr wrap="square" lIns="0" tIns="0" rIns="0" bIns="38100" rtlCol="0" anchor="t"/>
          <a:lstStyle/>
          <a:p>
            <a:pPr marL="0" indent="0" algn="l">
              <a:buNone/>
            </a:pPr>
            <a:r>
              <a:rPr lang="en-US" sz="1020" b="1" dirty="0">
                <a:solidFill>
                  <a:srgbClr val="120180"/>
                </a:solidFill>
                <a:latin typeface="Raleway" pitchFamily="34" charset="0"/>
                <a:ea typeface="Raleway" pitchFamily="34" charset="-122"/>
                <a:cs typeface="Raleway" pitchFamily="34" charset="-120"/>
              </a:rPr>
              <a:t>Volumen y calidad de base por mes</a:t>
            </a:r>
            <a:endParaRPr lang="en-US" sz="1020" dirty="0"/>
          </a:p>
        </p:txBody>
      </p:sp>
      <p:sp>
        <p:nvSpPr>
          <p:cNvPr id="11" name="Text 8"/>
          <p:cNvSpPr/>
          <p:nvPr/>
        </p:nvSpPr>
        <p:spPr>
          <a:xfrm>
            <a:off x="6314917" y="4128790"/>
            <a:ext cx="1574586" cy="128016"/>
          </a:xfrm>
          <a:prstGeom prst="rect">
            <a:avLst/>
          </a:prstGeom>
          <a:noFill/>
          <a:ln/>
        </p:spPr>
        <p:txBody>
          <a:bodyPr wrap="square" lIns="0" tIns="0" rIns="0" bIns="0" rtlCol="0" anchor="t"/>
          <a:lstStyle/>
          <a:p>
            <a:pPr marL="0" indent="0" algn="r">
              <a:buNone/>
            </a:pPr>
            <a:r>
              <a:rPr lang="en-US" sz="672" dirty="0">
                <a:solidFill>
                  <a:srgbClr val="9098B0"/>
                </a:solidFill>
                <a:latin typeface="Raleway" pitchFamily="34" charset="0"/>
                <a:ea typeface="Raleway" pitchFamily="34" charset="-122"/>
                <a:cs typeface="Raleway" pitchFamily="34" charset="-120"/>
              </a:rPr>
              <a:t>Clientes con contacto efectivo</a:t>
            </a:r>
            <a:endParaRPr lang="en-US" sz="672" dirty="0"/>
          </a:p>
        </p:txBody>
      </p:sp>
      <p:sp>
        <p:nvSpPr>
          <p:cNvPr id="12" name="Text 9"/>
          <p:cNvSpPr/>
          <p:nvPr/>
        </p:nvSpPr>
        <p:spPr>
          <a:xfrm>
            <a:off x="761981" y="1009650"/>
            <a:ext cx="2403574" cy="137350"/>
          </a:xfrm>
          <a:prstGeom prst="rect">
            <a:avLst/>
          </a:prstGeom>
          <a:noFill/>
          <a:ln/>
        </p:spPr>
        <p:txBody>
          <a:bodyPr wrap="square" lIns="0" tIns="0" rIns="0" bIns="0" rtlCol="0" anchor="t"/>
          <a:lstStyle/>
          <a:p>
            <a:pPr marL="0" indent="0" algn="l">
              <a:buNone/>
            </a:pPr>
            <a:r>
              <a:rPr lang="en-US" sz="864" b="1" dirty="0">
                <a:solidFill>
                  <a:srgbClr val="9098B0"/>
                </a:solidFill>
                <a:latin typeface="Raleway" pitchFamily="34" charset="0"/>
                <a:ea typeface="Raleway" pitchFamily="34" charset="-122"/>
                <a:cs typeface="Raleway" pitchFamily="34" charset="-120"/>
              </a:rPr>
              <a:t>Registros recibidos (ene–jun)</a:t>
            </a:r>
            <a:endParaRPr lang="en-US" sz="864" dirty="0"/>
          </a:p>
        </p:txBody>
      </p:sp>
      <p:sp>
        <p:nvSpPr>
          <p:cNvPr id="13" name="Text 10"/>
          <p:cNvSpPr/>
          <p:nvPr/>
        </p:nvSpPr>
        <p:spPr>
          <a:xfrm>
            <a:off x="761981" y="1508820"/>
            <a:ext cx="2403574" cy="137350"/>
          </a:xfrm>
          <a:prstGeom prst="rect">
            <a:avLst/>
          </a:prstGeom>
          <a:noFill/>
          <a:ln/>
        </p:spPr>
        <p:txBody>
          <a:bodyPr wrap="square" lIns="0" tIns="0" rIns="0" bIns="0" rtlCol="0" anchor="t"/>
          <a:lstStyle/>
          <a:p>
            <a:pPr marL="0" indent="0" algn="l">
              <a:buNone/>
            </a:pPr>
            <a:r>
              <a:rPr lang="en-US" sz="864" dirty="0">
                <a:solidFill>
                  <a:srgbClr val="9098B0"/>
                </a:solidFill>
                <a:latin typeface="Raleway" pitchFamily="34" charset="0"/>
                <a:ea typeface="Raleway" pitchFamily="34" charset="-122"/>
                <a:cs typeface="Raleway" pitchFamily="34" charset="-120"/>
              </a:rPr>
              <a:t>Fuente: dashboards Power BI</a:t>
            </a:r>
            <a:endParaRPr lang="en-US" sz="864" dirty="0"/>
          </a:p>
        </p:txBody>
      </p:sp>
      <p:sp>
        <p:nvSpPr>
          <p:cNvPr id="14" name="Text 11"/>
          <p:cNvSpPr/>
          <p:nvPr/>
        </p:nvSpPr>
        <p:spPr>
          <a:xfrm>
            <a:off x="3552736" y="1508820"/>
            <a:ext cx="2403574" cy="137350"/>
          </a:xfrm>
          <a:prstGeom prst="rect">
            <a:avLst/>
          </a:prstGeom>
          <a:noFill/>
          <a:ln/>
        </p:spPr>
        <p:txBody>
          <a:bodyPr wrap="square" lIns="0" tIns="0" rIns="0" bIns="0" rtlCol="0" anchor="t"/>
          <a:lstStyle/>
          <a:p>
            <a:pPr marL="0" indent="0" algn="l">
              <a:buNone/>
            </a:pPr>
            <a:r>
              <a:rPr lang="en-US" sz="864" dirty="0">
                <a:solidFill>
                  <a:srgbClr val="9098B0"/>
                </a:solidFill>
                <a:latin typeface="Raleway" pitchFamily="34" charset="0"/>
                <a:ea typeface="Raleway" pitchFamily="34" charset="-122"/>
                <a:cs typeface="Raleway" pitchFamily="34" charset="-120"/>
              </a:rPr>
              <a:t>Solo 40 % apto para gestión</a:t>
            </a:r>
            <a:endParaRPr lang="en-US" sz="864" dirty="0"/>
          </a:p>
        </p:txBody>
      </p:sp>
      <p:sp>
        <p:nvSpPr>
          <p:cNvPr id="15" name="Text 12"/>
          <p:cNvSpPr/>
          <p:nvPr/>
        </p:nvSpPr>
        <p:spPr>
          <a:xfrm>
            <a:off x="6314917" y="3061990"/>
            <a:ext cx="1574586" cy="128016"/>
          </a:xfrm>
          <a:prstGeom prst="rect">
            <a:avLst/>
          </a:prstGeom>
          <a:noFill/>
          <a:ln/>
        </p:spPr>
        <p:txBody>
          <a:bodyPr wrap="square" lIns="0" tIns="0" rIns="0" bIns="0" rtlCol="0" anchor="t"/>
          <a:lstStyle/>
          <a:p>
            <a:pPr marL="0" indent="0" algn="r">
              <a:buNone/>
            </a:pPr>
            <a:r>
              <a:rPr lang="en-US" sz="672" dirty="0">
                <a:solidFill>
                  <a:srgbClr val="9098B0"/>
                </a:solidFill>
                <a:latin typeface="Raleway" pitchFamily="34" charset="0"/>
                <a:ea typeface="Raleway" pitchFamily="34" charset="-122"/>
                <a:cs typeface="Raleway" pitchFamily="34" charset="-120"/>
              </a:rPr>
              <a:t>Tras depuración y descarte</a:t>
            </a:r>
            <a:endParaRPr lang="en-US" sz="672" dirty="0"/>
          </a:p>
        </p:txBody>
      </p:sp>
      <p:sp>
        <p:nvSpPr>
          <p:cNvPr id="16" name="Text 13"/>
          <p:cNvSpPr/>
          <p:nvPr/>
        </p:nvSpPr>
        <p:spPr>
          <a:xfrm>
            <a:off x="3552736" y="1009650"/>
            <a:ext cx="2403574" cy="137350"/>
          </a:xfrm>
          <a:prstGeom prst="rect">
            <a:avLst/>
          </a:prstGeom>
          <a:noFill/>
          <a:ln/>
        </p:spPr>
        <p:txBody>
          <a:bodyPr wrap="square" lIns="0" tIns="0" rIns="0" bIns="0" rtlCol="0" anchor="t"/>
          <a:lstStyle/>
          <a:p>
            <a:pPr marL="0" indent="0" algn="l">
              <a:buNone/>
            </a:pPr>
            <a:r>
              <a:rPr lang="en-US" sz="864" b="1" dirty="0">
                <a:solidFill>
                  <a:srgbClr val="9098B0"/>
                </a:solidFill>
                <a:latin typeface="Raleway" pitchFamily="34" charset="0"/>
                <a:ea typeface="Raleway" pitchFamily="34" charset="-122"/>
                <a:cs typeface="Raleway" pitchFamily="34" charset="-120"/>
              </a:rPr>
              <a:t>Rechazo promedio de base</a:t>
            </a:r>
            <a:endParaRPr lang="en-US" sz="864" dirty="0"/>
          </a:p>
        </p:txBody>
      </p:sp>
      <p:sp>
        <p:nvSpPr>
          <p:cNvPr id="17" name="Text 14"/>
          <p:cNvSpPr/>
          <p:nvPr/>
        </p:nvSpPr>
        <p:spPr>
          <a:xfrm>
            <a:off x="9939089" y="2466082"/>
            <a:ext cx="1574586" cy="128016"/>
          </a:xfrm>
          <a:prstGeom prst="rect">
            <a:avLst/>
          </a:prstGeom>
          <a:noFill/>
          <a:ln/>
        </p:spPr>
        <p:txBody>
          <a:bodyPr wrap="square" lIns="0" tIns="0" rIns="0" bIns="0" rtlCol="0" anchor="t"/>
          <a:lstStyle/>
          <a:p>
            <a:pPr marL="0" indent="0" algn="l">
              <a:buNone/>
            </a:pPr>
            <a:r>
              <a:rPr lang="en-US" sz="744" dirty="0">
                <a:solidFill>
                  <a:srgbClr val="9098B0"/>
                </a:solidFill>
                <a:latin typeface="Raleway" pitchFamily="34" charset="0"/>
                <a:ea typeface="Raleway" pitchFamily="34" charset="-122"/>
                <a:cs typeface="Raleway" pitchFamily="34" charset="-120"/>
              </a:rPr>
              <a:t>100 % · punto de partida</a:t>
            </a:r>
            <a:endParaRPr lang="en-US" sz="744" dirty="0"/>
          </a:p>
        </p:txBody>
      </p:sp>
      <p:sp>
        <p:nvSpPr>
          <p:cNvPr id="18" name="Text 15"/>
          <p:cNvSpPr/>
          <p:nvPr/>
        </p:nvSpPr>
        <p:spPr>
          <a:xfrm>
            <a:off x="9134247" y="1009650"/>
            <a:ext cx="2403574" cy="137350"/>
          </a:xfrm>
          <a:prstGeom prst="rect">
            <a:avLst/>
          </a:prstGeom>
          <a:noFill/>
          <a:ln/>
        </p:spPr>
        <p:txBody>
          <a:bodyPr wrap="square" lIns="0" tIns="0" rIns="0" bIns="0" rtlCol="0" anchor="t"/>
          <a:lstStyle/>
          <a:p>
            <a:pPr marL="0" indent="0" algn="l">
              <a:buNone/>
            </a:pPr>
            <a:r>
              <a:rPr lang="en-US" sz="864" b="1" dirty="0">
                <a:solidFill>
                  <a:srgbClr val="9098B0"/>
                </a:solidFill>
                <a:latin typeface="Raleway" pitchFamily="34" charset="0"/>
                <a:ea typeface="Raleway" pitchFamily="34" charset="-122"/>
                <a:cs typeface="Raleway" pitchFamily="34" charset="-120"/>
              </a:rPr>
              <a:t>Ventas 1S (liquidación)</a:t>
            </a:r>
            <a:endParaRPr lang="en-US" sz="864" dirty="0"/>
          </a:p>
        </p:txBody>
      </p:sp>
      <p:sp>
        <p:nvSpPr>
          <p:cNvPr id="19" name="Text 16"/>
          <p:cNvSpPr/>
          <p:nvPr/>
        </p:nvSpPr>
        <p:spPr>
          <a:xfrm>
            <a:off x="6343491" y="1009650"/>
            <a:ext cx="2403574" cy="137350"/>
          </a:xfrm>
          <a:prstGeom prst="rect">
            <a:avLst/>
          </a:prstGeom>
          <a:noFill/>
          <a:ln/>
        </p:spPr>
        <p:txBody>
          <a:bodyPr wrap="square" lIns="0" tIns="0" rIns="0" bIns="0" rtlCol="0" anchor="t"/>
          <a:lstStyle/>
          <a:p>
            <a:pPr marL="0" indent="0" algn="l">
              <a:buNone/>
            </a:pPr>
            <a:r>
              <a:rPr lang="en-US" sz="864" b="1" dirty="0">
                <a:solidFill>
                  <a:srgbClr val="9098B0"/>
                </a:solidFill>
                <a:latin typeface="Raleway" pitchFamily="34" charset="0"/>
                <a:ea typeface="Raleway" pitchFamily="34" charset="-122"/>
                <a:cs typeface="Raleway" pitchFamily="34" charset="-120"/>
              </a:rPr>
              <a:t>Aptos (gestionables)</a:t>
            </a:r>
            <a:endParaRPr lang="en-US" sz="864" dirty="0"/>
          </a:p>
        </p:txBody>
      </p:sp>
      <p:sp>
        <p:nvSpPr>
          <p:cNvPr id="20" name="Text 17"/>
          <p:cNvSpPr/>
          <p:nvPr/>
        </p:nvSpPr>
        <p:spPr>
          <a:xfrm>
            <a:off x="6343491" y="1508820"/>
            <a:ext cx="2403574" cy="137350"/>
          </a:xfrm>
          <a:prstGeom prst="rect">
            <a:avLst/>
          </a:prstGeom>
          <a:noFill/>
          <a:ln/>
        </p:spPr>
        <p:txBody>
          <a:bodyPr wrap="square" lIns="0" tIns="0" rIns="0" bIns="0" rtlCol="0" anchor="t"/>
          <a:lstStyle/>
          <a:p>
            <a:pPr marL="0" indent="0" algn="l">
              <a:buNone/>
            </a:pPr>
            <a:r>
              <a:rPr lang="en-US" sz="864" dirty="0">
                <a:solidFill>
                  <a:srgbClr val="9098B0"/>
                </a:solidFill>
                <a:latin typeface="Raleway" pitchFamily="34" charset="0"/>
                <a:ea typeface="Raleway" pitchFamily="34" charset="-122"/>
                <a:cs typeface="Raleway" pitchFamily="34" charset="-120"/>
              </a:rPr>
              <a:t>De 912.083 recibidos</a:t>
            </a:r>
            <a:endParaRPr lang="en-US" sz="864" dirty="0"/>
          </a:p>
        </p:txBody>
      </p:sp>
      <p:sp>
        <p:nvSpPr>
          <p:cNvPr id="21" name="Text 18"/>
          <p:cNvSpPr/>
          <p:nvPr/>
        </p:nvSpPr>
        <p:spPr>
          <a:xfrm>
            <a:off x="6314917" y="2405955"/>
            <a:ext cx="1574586" cy="128016"/>
          </a:xfrm>
          <a:prstGeom prst="rect">
            <a:avLst/>
          </a:prstGeom>
          <a:noFill/>
          <a:ln/>
        </p:spPr>
        <p:txBody>
          <a:bodyPr wrap="square" lIns="0" tIns="0" rIns="0" bIns="0" rtlCol="0" anchor="t"/>
          <a:lstStyle/>
          <a:p>
            <a:pPr marL="0" indent="0" algn="r">
              <a:buNone/>
            </a:pPr>
            <a:r>
              <a:rPr lang="en-US" sz="840" b="1" dirty="0">
                <a:solidFill>
                  <a:srgbClr val="120180"/>
                </a:solidFill>
                <a:latin typeface="Raleway" pitchFamily="34" charset="0"/>
                <a:ea typeface="Raleway" pitchFamily="34" charset="-122"/>
                <a:cs typeface="Raleway" pitchFamily="34" charset="-120"/>
              </a:rPr>
              <a:t>Registros recibidos</a:t>
            </a:r>
            <a:endParaRPr lang="en-US" sz="840" dirty="0"/>
          </a:p>
        </p:txBody>
      </p:sp>
      <p:sp>
        <p:nvSpPr>
          <p:cNvPr id="22" name="Text 19"/>
          <p:cNvSpPr/>
          <p:nvPr/>
        </p:nvSpPr>
        <p:spPr>
          <a:xfrm>
            <a:off x="6314917" y="2939355"/>
            <a:ext cx="1574586" cy="128016"/>
          </a:xfrm>
          <a:prstGeom prst="rect">
            <a:avLst/>
          </a:prstGeom>
          <a:noFill/>
          <a:ln/>
        </p:spPr>
        <p:txBody>
          <a:bodyPr wrap="square" lIns="0" tIns="0" rIns="0" bIns="0" rtlCol="0" anchor="t"/>
          <a:lstStyle/>
          <a:p>
            <a:pPr marL="0" indent="0" algn="r">
              <a:buNone/>
            </a:pPr>
            <a:r>
              <a:rPr lang="en-US" sz="840" b="1" dirty="0">
                <a:solidFill>
                  <a:srgbClr val="120180"/>
                </a:solidFill>
                <a:latin typeface="Raleway" pitchFamily="34" charset="0"/>
                <a:ea typeface="Raleway" pitchFamily="34" charset="-122"/>
                <a:cs typeface="Raleway" pitchFamily="34" charset="-120"/>
              </a:rPr>
              <a:t>Aptos para gestión</a:t>
            </a:r>
            <a:endParaRPr lang="en-US" sz="840" dirty="0"/>
          </a:p>
        </p:txBody>
      </p:sp>
      <p:sp>
        <p:nvSpPr>
          <p:cNvPr id="27" name="Text 24"/>
          <p:cNvSpPr/>
          <p:nvPr/>
        </p:nvSpPr>
        <p:spPr>
          <a:xfrm>
            <a:off x="10788340" y="128433"/>
            <a:ext cx="1203626" cy="215836"/>
          </a:xfrm>
          <a:prstGeom prst="rect">
            <a:avLst/>
          </a:prstGeom>
          <a:noFill/>
          <a:ln/>
        </p:spPr>
        <p:txBody>
          <a:bodyPr wrap="square" lIns="38100" tIns="114300" rIns="114300" bIns="38100" rtlCol="0" anchor="t"/>
          <a:lstStyle/>
          <a:p>
            <a:pPr marL="0" indent="0" algn="l">
              <a:buNone/>
            </a:pPr>
            <a:r>
              <a:rPr lang="en-US" sz="840" b="1" dirty="0">
                <a:solidFill>
                  <a:srgbClr val="5AE280"/>
                </a:solidFill>
                <a:latin typeface="Raleway" pitchFamily="34" charset="0"/>
                <a:ea typeface="Raleway" pitchFamily="34" charset="-122"/>
                <a:cs typeface="Raleway" pitchFamily="34" charset="-120"/>
              </a:rPr>
              <a:t>Bases</a:t>
            </a:r>
            <a:endParaRPr lang="en-US" sz="840" dirty="0"/>
          </a:p>
        </p:txBody>
      </p:sp>
      <p:sp>
        <p:nvSpPr>
          <p:cNvPr id="28" name="Text 25"/>
          <p:cNvSpPr/>
          <p:nvPr/>
        </p:nvSpPr>
        <p:spPr>
          <a:xfrm>
            <a:off x="6314917" y="4662190"/>
            <a:ext cx="1574586" cy="128016"/>
          </a:xfrm>
          <a:prstGeom prst="rect">
            <a:avLst/>
          </a:prstGeom>
          <a:noFill/>
          <a:ln/>
        </p:spPr>
        <p:txBody>
          <a:bodyPr wrap="square" lIns="0" tIns="0" rIns="0" bIns="0" rtlCol="0" anchor="t"/>
          <a:lstStyle/>
          <a:p>
            <a:pPr marL="0" indent="0" algn="r">
              <a:buNone/>
            </a:pPr>
            <a:r>
              <a:rPr lang="en-US" sz="672" dirty="0">
                <a:solidFill>
                  <a:srgbClr val="9098B0"/>
                </a:solidFill>
                <a:latin typeface="Raleway" pitchFamily="34" charset="0"/>
                <a:ea typeface="Raleway" pitchFamily="34" charset="-122"/>
                <a:cs typeface="Raleway" pitchFamily="34" charset="-120"/>
              </a:rPr>
              <a:t>Cifra oficial</a:t>
            </a:r>
            <a:endParaRPr lang="en-US" sz="672" dirty="0"/>
          </a:p>
        </p:txBody>
      </p:sp>
      <p:sp>
        <p:nvSpPr>
          <p:cNvPr id="29" name="Text 26"/>
          <p:cNvSpPr/>
          <p:nvPr/>
        </p:nvSpPr>
        <p:spPr>
          <a:xfrm>
            <a:off x="6314917" y="3421707"/>
            <a:ext cx="1574586" cy="128016"/>
          </a:xfrm>
          <a:prstGeom prst="rect">
            <a:avLst/>
          </a:prstGeom>
          <a:noFill/>
          <a:ln/>
        </p:spPr>
        <p:txBody>
          <a:bodyPr wrap="square" lIns="0" tIns="0" rIns="0" bIns="0" rtlCol="0" anchor="t"/>
          <a:lstStyle/>
          <a:p>
            <a:pPr marL="0" indent="0" algn="r">
              <a:buNone/>
            </a:pPr>
            <a:r>
              <a:rPr lang="en-US" sz="840" b="1" dirty="0">
                <a:solidFill>
                  <a:srgbClr val="120180"/>
                </a:solidFill>
                <a:latin typeface="Raleway" pitchFamily="34" charset="0"/>
                <a:ea typeface="Raleway" pitchFamily="34" charset="-122"/>
                <a:cs typeface="Raleway" pitchFamily="34" charset="-120"/>
              </a:rPr>
              <a:t>Gestionados</a:t>
            </a:r>
            <a:endParaRPr lang="en-US" sz="840" dirty="0"/>
          </a:p>
        </p:txBody>
      </p:sp>
      <p:sp>
        <p:nvSpPr>
          <p:cNvPr id="30" name="Text 27"/>
          <p:cNvSpPr/>
          <p:nvPr/>
        </p:nvSpPr>
        <p:spPr>
          <a:xfrm>
            <a:off x="6314917" y="4006155"/>
            <a:ext cx="1574586" cy="128016"/>
          </a:xfrm>
          <a:prstGeom prst="rect">
            <a:avLst/>
          </a:prstGeom>
          <a:noFill/>
          <a:ln/>
        </p:spPr>
        <p:txBody>
          <a:bodyPr wrap="square" lIns="0" tIns="0" rIns="0" bIns="0" rtlCol="0" anchor="t"/>
          <a:lstStyle/>
          <a:p>
            <a:pPr marL="0" indent="0" algn="r">
              <a:buNone/>
            </a:pPr>
            <a:r>
              <a:rPr lang="en-US" sz="840" b="1" dirty="0">
                <a:solidFill>
                  <a:srgbClr val="120180"/>
                </a:solidFill>
                <a:latin typeface="Raleway" pitchFamily="34" charset="0"/>
                <a:ea typeface="Raleway" pitchFamily="34" charset="-122"/>
                <a:cs typeface="Raleway" pitchFamily="34" charset="-120"/>
              </a:rPr>
              <a:t>Contactados</a:t>
            </a:r>
            <a:endParaRPr lang="en-US" sz="840" dirty="0"/>
          </a:p>
        </p:txBody>
      </p:sp>
      <p:sp>
        <p:nvSpPr>
          <p:cNvPr id="31" name="Text 28"/>
          <p:cNvSpPr/>
          <p:nvPr/>
        </p:nvSpPr>
        <p:spPr>
          <a:xfrm>
            <a:off x="2267786" y="2218455"/>
            <a:ext cx="1148902"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32" name="Text 29"/>
          <p:cNvSpPr/>
          <p:nvPr/>
        </p:nvSpPr>
        <p:spPr>
          <a:xfrm>
            <a:off x="1306529" y="2218455"/>
            <a:ext cx="990095"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33" name="Text 30"/>
          <p:cNvSpPr/>
          <p:nvPr/>
        </p:nvSpPr>
        <p:spPr>
          <a:xfrm>
            <a:off x="3383225" y="2218455"/>
            <a:ext cx="1046045"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34" name="Text 31"/>
          <p:cNvSpPr/>
          <p:nvPr/>
        </p:nvSpPr>
        <p:spPr>
          <a:xfrm>
            <a:off x="1306529" y="2447055"/>
            <a:ext cx="990095" cy="242888"/>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201.409</a:t>
            </a:r>
            <a:endParaRPr lang="en-US" sz="840" dirty="0"/>
          </a:p>
        </p:txBody>
      </p:sp>
      <p:sp>
        <p:nvSpPr>
          <p:cNvPr id="35" name="Text 32"/>
          <p:cNvSpPr/>
          <p:nvPr/>
        </p:nvSpPr>
        <p:spPr>
          <a:xfrm>
            <a:off x="4398803" y="2447055"/>
            <a:ext cx="750810" cy="242888"/>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102.168</a:t>
            </a:r>
            <a:endParaRPr lang="en-US" sz="840" dirty="0"/>
          </a:p>
        </p:txBody>
      </p:sp>
      <p:sp>
        <p:nvSpPr>
          <p:cNvPr id="36" name="Text 33"/>
          <p:cNvSpPr/>
          <p:nvPr/>
        </p:nvSpPr>
        <p:spPr>
          <a:xfrm>
            <a:off x="1306529" y="2937592"/>
            <a:ext cx="990095"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134.897</a:t>
            </a:r>
            <a:endParaRPr lang="en-US" sz="840" dirty="0"/>
          </a:p>
        </p:txBody>
      </p:sp>
      <p:sp>
        <p:nvSpPr>
          <p:cNvPr id="37" name="Text 34"/>
          <p:cNvSpPr/>
          <p:nvPr/>
        </p:nvSpPr>
        <p:spPr>
          <a:xfrm>
            <a:off x="1306529" y="3185242"/>
            <a:ext cx="990095"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153.111</a:t>
            </a:r>
            <a:endParaRPr lang="en-US" sz="840" dirty="0"/>
          </a:p>
        </p:txBody>
      </p:sp>
      <p:sp>
        <p:nvSpPr>
          <p:cNvPr id="38" name="Text 35"/>
          <p:cNvSpPr/>
          <p:nvPr/>
        </p:nvSpPr>
        <p:spPr>
          <a:xfrm>
            <a:off x="2267786" y="3185242"/>
            <a:ext cx="1148902"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114.123</a:t>
            </a:r>
            <a:endParaRPr lang="en-US" sz="840" dirty="0"/>
          </a:p>
        </p:txBody>
      </p:sp>
      <p:sp>
        <p:nvSpPr>
          <p:cNvPr id="39" name="Text 36"/>
          <p:cNvSpPr/>
          <p:nvPr/>
        </p:nvSpPr>
        <p:spPr>
          <a:xfrm>
            <a:off x="1306529" y="3432892"/>
            <a:ext cx="990095"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154.335</a:t>
            </a:r>
            <a:endParaRPr lang="en-US" sz="840" dirty="0"/>
          </a:p>
        </p:txBody>
      </p:sp>
      <p:sp>
        <p:nvSpPr>
          <p:cNvPr id="40" name="Text 37"/>
          <p:cNvSpPr/>
          <p:nvPr/>
        </p:nvSpPr>
        <p:spPr>
          <a:xfrm>
            <a:off x="2267786" y="3432892"/>
            <a:ext cx="1148902"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116.691</a:t>
            </a:r>
            <a:endParaRPr lang="en-US" sz="840" dirty="0"/>
          </a:p>
        </p:txBody>
      </p:sp>
      <p:sp>
        <p:nvSpPr>
          <p:cNvPr id="41" name="Text 38"/>
          <p:cNvSpPr/>
          <p:nvPr/>
        </p:nvSpPr>
        <p:spPr>
          <a:xfrm>
            <a:off x="1306529" y="3680542"/>
            <a:ext cx="990095"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173.413</a:t>
            </a:r>
            <a:endParaRPr lang="en-US" sz="840" dirty="0"/>
          </a:p>
        </p:txBody>
      </p:sp>
      <p:sp>
        <p:nvSpPr>
          <p:cNvPr id="42" name="Text 39"/>
          <p:cNvSpPr/>
          <p:nvPr/>
        </p:nvSpPr>
        <p:spPr>
          <a:xfrm>
            <a:off x="2267786" y="3680542"/>
            <a:ext cx="1148902"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109.130</a:t>
            </a:r>
            <a:endParaRPr lang="en-US" sz="840" dirty="0"/>
          </a:p>
        </p:txBody>
      </p:sp>
      <p:sp>
        <p:nvSpPr>
          <p:cNvPr id="43" name="Text 40"/>
          <p:cNvSpPr/>
          <p:nvPr/>
        </p:nvSpPr>
        <p:spPr>
          <a:xfrm>
            <a:off x="1306529" y="3928192"/>
            <a:ext cx="990095" cy="214313"/>
          </a:xfrm>
          <a:prstGeom prst="rect">
            <a:avLst/>
          </a:prstGeom>
          <a:noFill/>
          <a:ln/>
        </p:spPr>
        <p:txBody>
          <a:bodyPr wrap="square" lIns="38100" tIns="114300" rIns="114300" bIns="38100" rtlCol="0" anchor="ctr"/>
          <a:lstStyle/>
          <a:p>
            <a:pPr marL="0" indent="0" algn="r">
              <a:buNone/>
            </a:pPr>
            <a:r>
              <a:rPr lang="en-US" sz="840" b="1" dirty="0">
                <a:solidFill>
                  <a:srgbClr val="120180"/>
                </a:solidFill>
                <a:latin typeface="Raleway" pitchFamily="34" charset="0"/>
                <a:ea typeface="Raleway" pitchFamily="34" charset="-122"/>
                <a:cs typeface="Raleway" pitchFamily="34" charset="-120"/>
              </a:rPr>
              <a:t>912.083</a:t>
            </a:r>
            <a:endParaRPr lang="en-US" sz="840" dirty="0"/>
          </a:p>
        </p:txBody>
      </p:sp>
      <p:sp>
        <p:nvSpPr>
          <p:cNvPr id="44" name="Text 41"/>
          <p:cNvSpPr/>
          <p:nvPr/>
        </p:nvSpPr>
        <p:spPr>
          <a:xfrm>
            <a:off x="2267786" y="3928192"/>
            <a:ext cx="1148902" cy="214313"/>
          </a:xfrm>
          <a:prstGeom prst="rect">
            <a:avLst/>
          </a:prstGeom>
          <a:noFill/>
          <a:ln/>
        </p:spPr>
        <p:txBody>
          <a:bodyPr wrap="square" lIns="38100" tIns="114300" rIns="114300" bIns="38100" rtlCol="0" anchor="ctr"/>
          <a:lstStyle/>
          <a:p>
            <a:pPr marL="0" indent="0" algn="r">
              <a:buNone/>
            </a:pPr>
            <a:r>
              <a:rPr lang="en-US" sz="840" b="1" dirty="0">
                <a:solidFill>
                  <a:srgbClr val="120180"/>
                </a:solidFill>
                <a:latin typeface="Raleway" pitchFamily="34" charset="0"/>
                <a:ea typeface="Raleway" pitchFamily="34" charset="-122"/>
                <a:cs typeface="Raleway" pitchFamily="34" charset="-120"/>
              </a:rPr>
              <a:t>548.368</a:t>
            </a:r>
            <a:endParaRPr lang="en-US" sz="840" dirty="0"/>
          </a:p>
        </p:txBody>
      </p:sp>
      <p:sp>
        <p:nvSpPr>
          <p:cNvPr id="45" name="Text 42"/>
          <p:cNvSpPr/>
          <p:nvPr/>
        </p:nvSpPr>
        <p:spPr>
          <a:xfrm>
            <a:off x="4398803" y="3928192"/>
            <a:ext cx="750810" cy="214313"/>
          </a:xfrm>
          <a:prstGeom prst="rect">
            <a:avLst/>
          </a:prstGeom>
          <a:noFill/>
          <a:ln/>
        </p:spPr>
        <p:txBody>
          <a:bodyPr wrap="square" lIns="38100" tIns="114300" rIns="114300" bIns="38100" rtlCol="0" anchor="ctr"/>
          <a:lstStyle/>
          <a:p>
            <a:pPr marL="0" indent="0" algn="r">
              <a:buNone/>
            </a:pPr>
            <a:r>
              <a:rPr lang="en-US" sz="840" b="1" dirty="0">
                <a:solidFill>
                  <a:srgbClr val="120180"/>
                </a:solidFill>
                <a:latin typeface="Raleway" pitchFamily="34" charset="0"/>
                <a:ea typeface="Raleway" pitchFamily="34" charset="-122"/>
                <a:cs typeface="Raleway" pitchFamily="34" charset="-120"/>
              </a:rPr>
              <a:t>363.715</a:t>
            </a:r>
            <a:endParaRPr lang="en-US" sz="840" dirty="0"/>
          </a:p>
        </p:txBody>
      </p:sp>
      <p:sp>
        <p:nvSpPr>
          <p:cNvPr id="46" name="Text 43"/>
          <p:cNvSpPr/>
          <p:nvPr/>
        </p:nvSpPr>
        <p:spPr>
          <a:xfrm>
            <a:off x="761981" y="1181100"/>
            <a:ext cx="2403574" cy="298308"/>
          </a:xfrm>
          <a:prstGeom prst="rect">
            <a:avLst/>
          </a:prstGeom>
          <a:noFill/>
          <a:ln/>
        </p:spPr>
        <p:txBody>
          <a:bodyPr wrap="square" lIns="0" tIns="0" rIns="0" bIns="0" rtlCol="0" anchor="t"/>
          <a:lstStyle/>
          <a:p>
            <a:pPr marL="0" indent="0" algn="l">
              <a:buNone/>
            </a:pPr>
            <a:r>
              <a:rPr lang="en-US" sz="1400" b="1" dirty="0">
                <a:solidFill>
                  <a:srgbClr val="120180"/>
                </a:solidFill>
                <a:latin typeface="Raleway" pitchFamily="34" charset="0"/>
                <a:ea typeface="Raleway" pitchFamily="34" charset="-122"/>
                <a:cs typeface="Raleway" pitchFamily="34" charset="-120"/>
              </a:rPr>
              <a:t>912.083</a:t>
            </a:r>
            <a:endParaRPr lang="en-US" sz="1400" dirty="0"/>
          </a:p>
        </p:txBody>
      </p:sp>
      <p:sp>
        <p:nvSpPr>
          <p:cNvPr id="47" name="Text 44"/>
          <p:cNvSpPr/>
          <p:nvPr/>
        </p:nvSpPr>
        <p:spPr>
          <a:xfrm>
            <a:off x="6343491" y="1181100"/>
            <a:ext cx="2403574" cy="298308"/>
          </a:xfrm>
          <a:prstGeom prst="rect">
            <a:avLst/>
          </a:prstGeom>
          <a:noFill/>
          <a:ln/>
        </p:spPr>
        <p:txBody>
          <a:bodyPr wrap="square" lIns="0" tIns="0" rIns="0" bIns="0" rtlCol="0" anchor="t"/>
          <a:lstStyle/>
          <a:p>
            <a:pPr marL="0" indent="0" algn="l">
              <a:buNone/>
            </a:pPr>
            <a:r>
              <a:rPr lang="en-US" sz="1400" b="1" dirty="0">
                <a:solidFill>
                  <a:srgbClr val="00CD93"/>
                </a:solidFill>
                <a:latin typeface="Raleway" pitchFamily="34" charset="0"/>
                <a:ea typeface="Raleway" pitchFamily="34" charset="-122"/>
                <a:cs typeface="Raleway" pitchFamily="34" charset="-120"/>
              </a:rPr>
              <a:t>363.715</a:t>
            </a:r>
            <a:endParaRPr lang="en-US" sz="1400" dirty="0"/>
          </a:p>
        </p:txBody>
      </p:sp>
      <p:sp>
        <p:nvSpPr>
          <p:cNvPr id="48" name="Text 45"/>
          <p:cNvSpPr/>
          <p:nvPr/>
        </p:nvSpPr>
        <p:spPr>
          <a:xfrm>
            <a:off x="7938889" y="2251770"/>
            <a:ext cx="1962101" cy="549402"/>
          </a:xfrm>
          <a:prstGeom prst="rect">
            <a:avLst/>
          </a:prstGeom>
          <a:noFill/>
          <a:ln/>
        </p:spPr>
        <p:txBody>
          <a:bodyPr wrap="square" lIns="0" tIns="0" rIns="0" bIns="0" rtlCol="0" anchor="t"/>
          <a:lstStyle/>
          <a:p>
            <a:pPr marL="0" indent="0" algn="ctr">
              <a:buNone/>
            </a:pPr>
            <a:r>
              <a:rPr lang="en-US" sz="912" b="1" dirty="0">
                <a:solidFill>
                  <a:srgbClr val="FFFFFF"/>
                </a:solidFill>
                <a:latin typeface="Raleway" pitchFamily="34" charset="0"/>
                <a:ea typeface="Raleway" pitchFamily="34" charset="-122"/>
                <a:cs typeface="Raleway" pitchFamily="34" charset="-120"/>
              </a:rPr>
              <a:t>912.083</a:t>
            </a:r>
            <a:endParaRPr lang="en-US" sz="912" dirty="0"/>
          </a:p>
        </p:txBody>
      </p:sp>
      <p:sp>
        <p:nvSpPr>
          <p:cNvPr id="49" name="Text 46"/>
          <p:cNvSpPr/>
          <p:nvPr/>
        </p:nvSpPr>
        <p:spPr>
          <a:xfrm>
            <a:off x="7938889" y="2785170"/>
            <a:ext cx="1962101" cy="549402"/>
          </a:xfrm>
          <a:prstGeom prst="rect">
            <a:avLst/>
          </a:prstGeom>
          <a:noFill/>
          <a:ln/>
        </p:spPr>
        <p:txBody>
          <a:bodyPr wrap="square" lIns="0" tIns="0" rIns="0" bIns="0" rtlCol="0" anchor="t"/>
          <a:lstStyle/>
          <a:p>
            <a:pPr marL="0" indent="0" algn="ctr">
              <a:buNone/>
            </a:pPr>
            <a:r>
              <a:rPr lang="en-US" sz="912" b="1" dirty="0">
                <a:solidFill>
                  <a:srgbClr val="FFFFFF"/>
                </a:solidFill>
                <a:latin typeface="Raleway" pitchFamily="34" charset="0"/>
                <a:ea typeface="Raleway" pitchFamily="34" charset="-122"/>
                <a:cs typeface="Raleway" pitchFamily="34" charset="-120"/>
              </a:rPr>
              <a:t>363.715</a:t>
            </a:r>
            <a:endParaRPr lang="en-US" sz="912" dirty="0"/>
          </a:p>
        </p:txBody>
      </p:sp>
      <p:sp>
        <p:nvSpPr>
          <p:cNvPr id="50" name="Text 47"/>
          <p:cNvSpPr/>
          <p:nvPr/>
        </p:nvSpPr>
        <p:spPr>
          <a:xfrm>
            <a:off x="7938889" y="3318570"/>
            <a:ext cx="1962101" cy="549402"/>
          </a:xfrm>
          <a:prstGeom prst="rect">
            <a:avLst/>
          </a:prstGeom>
          <a:noFill/>
          <a:ln/>
        </p:spPr>
        <p:txBody>
          <a:bodyPr wrap="square" lIns="0" tIns="0" rIns="0" bIns="0" rtlCol="0" anchor="t"/>
          <a:lstStyle/>
          <a:p>
            <a:pPr marL="0" indent="0" algn="ctr">
              <a:buNone/>
            </a:pPr>
            <a:r>
              <a:rPr lang="en-US" sz="912" b="1" dirty="0">
                <a:solidFill>
                  <a:srgbClr val="120180"/>
                </a:solidFill>
                <a:latin typeface="Raleway" pitchFamily="34" charset="0"/>
                <a:ea typeface="Raleway" pitchFamily="34" charset="-122"/>
                <a:cs typeface="Raleway" pitchFamily="34" charset="-120"/>
              </a:rPr>
              <a:t>321.087</a:t>
            </a:r>
            <a:endParaRPr lang="en-US" sz="912" dirty="0"/>
          </a:p>
        </p:txBody>
      </p:sp>
      <p:sp>
        <p:nvSpPr>
          <p:cNvPr id="51" name="Text 48"/>
          <p:cNvSpPr/>
          <p:nvPr/>
        </p:nvSpPr>
        <p:spPr>
          <a:xfrm>
            <a:off x="7938889" y="3851970"/>
            <a:ext cx="1962101" cy="549402"/>
          </a:xfrm>
          <a:prstGeom prst="rect">
            <a:avLst/>
          </a:prstGeom>
          <a:noFill/>
          <a:ln/>
        </p:spPr>
        <p:txBody>
          <a:bodyPr wrap="square" lIns="0" tIns="0" rIns="0" bIns="0" rtlCol="0" anchor="t"/>
          <a:lstStyle/>
          <a:p>
            <a:pPr marL="0" indent="0" algn="ctr">
              <a:buNone/>
            </a:pPr>
            <a:r>
              <a:rPr lang="en-US" sz="912" b="1" dirty="0">
                <a:solidFill>
                  <a:srgbClr val="120180"/>
                </a:solidFill>
                <a:latin typeface="Raleway" pitchFamily="34" charset="0"/>
                <a:ea typeface="Raleway" pitchFamily="34" charset="-122"/>
                <a:cs typeface="Raleway" pitchFamily="34" charset="-120"/>
              </a:rPr>
              <a:t>129.696</a:t>
            </a:r>
            <a:endParaRPr lang="en-US" sz="912" dirty="0"/>
          </a:p>
        </p:txBody>
      </p:sp>
      <p:sp>
        <p:nvSpPr>
          <p:cNvPr id="52" name="Text 49"/>
          <p:cNvSpPr/>
          <p:nvPr/>
        </p:nvSpPr>
        <p:spPr>
          <a:xfrm>
            <a:off x="5127745" y="2218455"/>
            <a:ext cx="771504"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53" name="Text 50"/>
          <p:cNvSpPr/>
          <p:nvPr/>
        </p:nvSpPr>
        <p:spPr>
          <a:xfrm>
            <a:off x="2267786" y="2447055"/>
            <a:ext cx="1148902" cy="242888"/>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99.241</a:t>
            </a:r>
            <a:endParaRPr lang="en-US" sz="840" dirty="0"/>
          </a:p>
        </p:txBody>
      </p:sp>
      <p:sp>
        <p:nvSpPr>
          <p:cNvPr id="54" name="Text 51"/>
          <p:cNvSpPr/>
          <p:nvPr/>
        </p:nvSpPr>
        <p:spPr>
          <a:xfrm>
            <a:off x="1306529" y="2689942"/>
            <a:ext cx="990095"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94.918</a:t>
            </a:r>
            <a:endParaRPr lang="en-US" sz="840" dirty="0"/>
          </a:p>
        </p:txBody>
      </p:sp>
      <p:sp>
        <p:nvSpPr>
          <p:cNvPr id="55" name="Text 52"/>
          <p:cNvSpPr/>
          <p:nvPr/>
        </p:nvSpPr>
        <p:spPr>
          <a:xfrm>
            <a:off x="2267786" y="2689942"/>
            <a:ext cx="1148902"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48.185</a:t>
            </a:r>
            <a:endParaRPr lang="en-US" sz="840" dirty="0"/>
          </a:p>
        </p:txBody>
      </p:sp>
      <p:sp>
        <p:nvSpPr>
          <p:cNvPr id="56" name="Text 53"/>
          <p:cNvSpPr/>
          <p:nvPr/>
        </p:nvSpPr>
        <p:spPr>
          <a:xfrm>
            <a:off x="4398803" y="2689942"/>
            <a:ext cx="750810"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46.733</a:t>
            </a:r>
            <a:endParaRPr lang="en-US" sz="840" dirty="0"/>
          </a:p>
        </p:txBody>
      </p:sp>
      <p:sp>
        <p:nvSpPr>
          <p:cNvPr id="57" name="Text 54"/>
          <p:cNvSpPr/>
          <p:nvPr/>
        </p:nvSpPr>
        <p:spPr>
          <a:xfrm>
            <a:off x="2267786" y="2937592"/>
            <a:ext cx="1148902"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60.998</a:t>
            </a:r>
            <a:endParaRPr lang="en-US" sz="840" dirty="0"/>
          </a:p>
        </p:txBody>
      </p:sp>
      <p:sp>
        <p:nvSpPr>
          <p:cNvPr id="58" name="Text 55"/>
          <p:cNvSpPr/>
          <p:nvPr/>
        </p:nvSpPr>
        <p:spPr>
          <a:xfrm>
            <a:off x="4398803" y="2937592"/>
            <a:ext cx="750810"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73.899</a:t>
            </a:r>
            <a:endParaRPr lang="en-US" sz="840" dirty="0"/>
          </a:p>
        </p:txBody>
      </p:sp>
      <p:sp>
        <p:nvSpPr>
          <p:cNvPr id="59" name="Text 56"/>
          <p:cNvSpPr/>
          <p:nvPr/>
        </p:nvSpPr>
        <p:spPr>
          <a:xfrm>
            <a:off x="4398803" y="3185242"/>
            <a:ext cx="750810"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38.988</a:t>
            </a:r>
            <a:endParaRPr lang="en-US" sz="840" dirty="0"/>
          </a:p>
        </p:txBody>
      </p:sp>
      <p:sp>
        <p:nvSpPr>
          <p:cNvPr id="60" name="Text 57"/>
          <p:cNvSpPr/>
          <p:nvPr/>
        </p:nvSpPr>
        <p:spPr>
          <a:xfrm>
            <a:off x="4398803" y="3432892"/>
            <a:ext cx="750810"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37.644</a:t>
            </a:r>
            <a:endParaRPr lang="en-US" sz="840" dirty="0"/>
          </a:p>
        </p:txBody>
      </p:sp>
      <p:sp>
        <p:nvSpPr>
          <p:cNvPr id="61" name="Text 58"/>
          <p:cNvSpPr/>
          <p:nvPr/>
        </p:nvSpPr>
        <p:spPr>
          <a:xfrm>
            <a:off x="4398803" y="3680542"/>
            <a:ext cx="750810"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64.283</a:t>
            </a:r>
            <a:endParaRPr lang="en-US" sz="840" dirty="0"/>
          </a:p>
        </p:txBody>
      </p:sp>
      <p:sp>
        <p:nvSpPr>
          <p:cNvPr id="62" name="Text 59"/>
          <p:cNvSpPr/>
          <p:nvPr/>
        </p:nvSpPr>
        <p:spPr>
          <a:xfrm>
            <a:off x="5127745" y="3928192"/>
            <a:ext cx="771504" cy="214313"/>
          </a:xfrm>
          <a:prstGeom prst="rect">
            <a:avLst/>
          </a:prstGeom>
          <a:noFill/>
          <a:ln/>
        </p:spPr>
        <p:txBody>
          <a:bodyPr wrap="square" lIns="38100" tIns="114300" rIns="114300" bIns="38100" rtlCol="0" anchor="ctr"/>
          <a:lstStyle/>
          <a:p>
            <a:pPr marL="0" indent="0" algn="r">
              <a:buNone/>
            </a:pPr>
            <a:r>
              <a:rPr lang="en-US" sz="840" b="1" dirty="0">
                <a:solidFill>
                  <a:srgbClr val="120180"/>
                </a:solidFill>
                <a:latin typeface="Raleway" pitchFamily="34" charset="0"/>
                <a:ea typeface="Raleway" pitchFamily="34" charset="-122"/>
                <a:cs typeface="Raleway" pitchFamily="34" charset="-120"/>
              </a:rPr>
              <a:t>13.917</a:t>
            </a:r>
            <a:endParaRPr lang="en-US" sz="840" dirty="0"/>
          </a:p>
        </p:txBody>
      </p:sp>
      <p:sp>
        <p:nvSpPr>
          <p:cNvPr id="63" name="Text 60"/>
          <p:cNvSpPr/>
          <p:nvPr/>
        </p:nvSpPr>
        <p:spPr>
          <a:xfrm>
            <a:off x="9134247" y="1181100"/>
            <a:ext cx="2403574" cy="298308"/>
          </a:xfrm>
          <a:prstGeom prst="rect">
            <a:avLst/>
          </a:prstGeom>
          <a:noFill/>
          <a:ln/>
        </p:spPr>
        <p:txBody>
          <a:bodyPr wrap="square" lIns="0" tIns="0" rIns="0" bIns="0" rtlCol="0" anchor="t"/>
          <a:lstStyle/>
          <a:p>
            <a:pPr marL="0" indent="0" algn="l">
              <a:buNone/>
            </a:pPr>
            <a:r>
              <a:rPr lang="en-US" sz="1400" b="1" dirty="0">
                <a:solidFill>
                  <a:srgbClr val="00CD93"/>
                </a:solidFill>
                <a:latin typeface="Raleway" pitchFamily="34" charset="0"/>
                <a:ea typeface="Raleway" pitchFamily="34" charset="-122"/>
                <a:cs typeface="Raleway" pitchFamily="34" charset="-120"/>
              </a:rPr>
              <a:t>13.917</a:t>
            </a:r>
            <a:endParaRPr lang="en-US" sz="1400" dirty="0"/>
          </a:p>
        </p:txBody>
      </p:sp>
      <p:sp>
        <p:nvSpPr>
          <p:cNvPr id="64" name="Text 61"/>
          <p:cNvSpPr/>
          <p:nvPr/>
        </p:nvSpPr>
        <p:spPr>
          <a:xfrm>
            <a:off x="7938889" y="4385370"/>
            <a:ext cx="1962101" cy="549402"/>
          </a:xfrm>
          <a:prstGeom prst="rect">
            <a:avLst/>
          </a:prstGeom>
          <a:noFill/>
          <a:ln/>
        </p:spPr>
        <p:txBody>
          <a:bodyPr wrap="square" lIns="0" tIns="0" rIns="0" bIns="0" rtlCol="0" anchor="t"/>
          <a:lstStyle/>
          <a:p>
            <a:pPr marL="0" indent="0" algn="ctr">
              <a:buNone/>
            </a:pPr>
            <a:r>
              <a:rPr lang="en-US" sz="912" b="1" dirty="0">
                <a:solidFill>
                  <a:srgbClr val="120180"/>
                </a:solidFill>
                <a:latin typeface="Raleway" pitchFamily="34" charset="0"/>
                <a:ea typeface="Raleway" pitchFamily="34" charset="-122"/>
                <a:cs typeface="Raleway" pitchFamily="34" charset="-120"/>
              </a:rPr>
              <a:t>13.917</a:t>
            </a:r>
            <a:endParaRPr lang="en-US" sz="912" dirty="0"/>
          </a:p>
        </p:txBody>
      </p:sp>
      <p:sp>
        <p:nvSpPr>
          <p:cNvPr id="65" name="Text 62"/>
          <p:cNvSpPr/>
          <p:nvPr/>
        </p:nvSpPr>
        <p:spPr>
          <a:xfrm>
            <a:off x="4398803" y="2218455"/>
            <a:ext cx="750810"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66" name="Text 63"/>
          <p:cNvSpPr/>
          <p:nvPr/>
        </p:nvSpPr>
        <p:spPr>
          <a:xfrm>
            <a:off x="5127745" y="2447055"/>
            <a:ext cx="771504" cy="242888"/>
          </a:xfrm>
          <a:prstGeom prst="rect">
            <a:avLst/>
          </a:prstGeom>
          <a:noFill/>
          <a:ln/>
        </p:spPr>
        <p:txBody>
          <a:bodyPr wrap="square" lIns="38100" tIns="114300" rIns="114300" bIns="38100" rtlCol="0" anchor="ctr"/>
          <a:lstStyle/>
          <a:p>
            <a:pPr marL="0" indent="0" algn="r">
              <a:buNone/>
            </a:pPr>
            <a:r>
              <a:rPr lang="en-US" sz="840" b="1" dirty="0">
                <a:solidFill>
                  <a:srgbClr val="333333"/>
                </a:solidFill>
                <a:latin typeface="Raleway" pitchFamily="34" charset="0"/>
                <a:ea typeface="Raleway" pitchFamily="34" charset="-122"/>
                <a:cs typeface="Raleway" pitchFamily="34" charset="-120"/>
              </a:rPr>
              <a:t>2.245</a:t>
            </a:r>
            <a:endParaRPr lang="en-US" sz="840" dirty="0"/>
          </a:p>
        </p:txBody>
      </p:sp>
      <p:sp>
        <p:nvSpPr>
          <p:cNvPr id="67" name="Text 64"/>
          <p:cNvSpPr/>
          <p:nvPr/>
        </p:nvSpPr>
        <p:spPr>
          <a:xfrm>
            <a:off x="5127745" y="2689942"/>
            <a:ext cx="771504" cy="247650"/>
          </a:xfrm>
          <a:prstGeom prst="rect">
            <a:avLst/>
          </a:prstGeom>
          <a:noFill/>
          <a:ln/>
        </p:spPr>
        <p:txBody>
          <a:bodyPr wrap="square" lIns="38100" tIns="114300" rIns="114300" bIns="38100" rtlCol="0" anchor="ctr"/>
          <a:lstStyle/>
          <a:p>
            <a:pPr marL="0" indent="0" algn="r">
              <a:buNone/>
            </a:pPr>
            <a:r>
              <a:rPr lang="en-US" sz="840" b="1" dirty="0">
                <a:solidFill>
                  <a:srgbClr val="333333"/>
                </a:solidFill>
                <a:latin typeface="Raleway" pitchFamily="34" charset="0"/>
                <a:ea typeface="Raleway" pitchFamily="34" charset="-122"/>
                <a:cs typeface="Raleway" pitchFamily="34" charset="-120"/>
              </a:rPr>
              <a:t>2.374</a:t>
            </a:r>
            <a:endParaRPr lang="en-US" sz="840" dirty="0"/>
          </a:p>
        </p:txBody>
      </p:sp>
      <p:sp>
        <p:nvSpPr>
          <p:cNvPr id="68" name="Text 65"/>
          <p:cNvSpPr/>
          <p:nvPr/>
        </p:nvSpPr>
        <p:spPr>
          <a:xfrm>
            <a:off x="5127745" y="2937592"/>
            <a:ext cx="771504" cy="247650"/>
          </a:xfrm>
          <a:prstGeom prst="rect">
            <a:avLst/>
          </a:prstGeom>
          <a:noFill/>
          <a:ln/>
        </p:spPr>
        <p:txBody>
          <a:bodyPr wrap="square" lIns="38100" tIns="114300" rIns="114300" bIns="38100" rtlCol="0" anchor="ctr"/>
          <a:lstStyle/>
          <a:p>
            <a:pPr marL="0" indent="0" algn="r">
              <a:buNone/>
            </a:pPr>
            <a:r>
              <a:rPr lang="en-US" sz="840" b="1" dirty="0">
                <a:solidFill>
                  <a:srgbClr val="333333"/>
                </a:solidFill>
                <a:latin typeface="Raleway" pitchFamily="34" charset="0"/>
                <a:ea typeface="Raleway" pitchFamily="34" charset="-122"/>
                <a:cs typeface="Raleway" pitchFamily="34" charset="-120"/>
              </a:rPr>
              <a:t>2.431</a:t>
            </a:r>
            <a:endParaRPr lang="en-US" sz="840" dirty="0"/>
          </a:p>
        </p:txBody>
      </p:sp>
      <p:sp>
        <p:nvSpPr>
          <p:cNvPr id="69" name="Text 66"/>
          <p:cNvSpPr/>
          <p:nvPr/>
        </p:nvSpPr>
        <p:spPr>
          <a:xfrm>
            <a:off x="5127745" y="3185242"/>
            <a:ext cx="771504" cy="247650"/>
          </a:xfrm>
          <a:prstGeom prst="rect">
            <a:avLst/>
          </a:prstGeom>
          <a:noFill/>
          <a:ln/>
        </p:spPr>
        <p:txBody>
          <a:bodyPr wrap="square" lIns="38100" tIns="114300" rIns="114300" bIns="38100" rtlCol="0" anchor="ctr"/>
          <a:lstStyle/>
          <a:p>
            <a:pPr marL="0" indent="0" algn="r">
              <a:buNone/>
            </a:pPr>
            <a:r>
              <a:rPr lang="en-US" sz="840" b="1" dirty="0">
                <a:solidFill>
                  <a:srgbClr val="333333"/>
                </a:solidFill>
                <a:latin typeface="Raleway" pitchFamily="34" charset="0"/>
                <a:ea typeface="Raleway" pitchFamily="34" charset="-122"/>
                <a:cs typeface="Raleway" pitchFamily="34" charset="-120"/>
              </a:rPr>
              <a:t>2.367</a:t>
            </a:r>
            <a:endParaRPr lang="en-US" sz="840" dirty="0"/>
          </a:p>
        </p:txBody>
      </p:sp>
      <p:sp>
        <p:nvSpPr>
          <p:cNvPr id="70" name="Text 67"/>
          <p:cNvSpPr/>
          <p:nvPr/>
        </p:nvSpPr>
        <p:spPr>
          <a:xfrm>
            <a:off x="5127745" y="3432892"/>
            <a:ext cx="771504" cy="247650"/>
          </a:xfrm>
          <a:prstGeom prst="rect">
            <a:avLst/>
          </a:prstGeom>
          <a:noFill/>
          <a:ln/>
        </p:spPr>
        <p:txBody>
          <a:bodyPr wrap="square" lIns="38100" tIns="114300" rIns="114300" bIns="38100" rtlCol="0" anchor="ctr"/>
          <a:lstStyle/>
          <a:p>
            <a:pPr marL="0" indent="0" algn="r">
              <a:buNone/>
            </a:pPr>
            <a:r>
              <a:rPr lang="en-US" sz="840" b="1" dirty="0">
                <a:solidFill>
                  <a:srgbClr val="333333"/>
                </a:solidFill>
                <a:latin typeface="Raleway" pitchFamily="34" charset="0"/>
                <a:ea typeface="Raleway" pitchFamily="34" charset="-122"/>
                <a:cs typeface="Raleway" pitchFamily="34" charset="-120"/>
              </a:rPr>
              <a:t>2.186</a:t>
            </a:r>
            <a:endParaRPr lang="en-US" sz="840" dirty="0"/>
          </a:p>
        </p:txBody>
      </p:sp>
      <p:sp>
        <p:nvSpPr>
          <p:cNvPr id="71" name="Text 68"/>
          <p:cNvSpPr/>
          <p:nvPr/>
        </p:nvSpPr>
        <p:spPr>
          <a:xfrm>
            <a:off x="5127745" y="3680542"/>
            <a:ext cx="771504" cy="247650"/>
          </a:xfrm>
          <a:prstGeom prst="rect">
            <a:avLst/>
          </a:prstGeom>
          <a:noFill/>
          <a:ln/>
        </p:spPr>
        <p:txBody>
          <a:bodyPr wrap="square" lIns="38100" tIns="114300" rIns="114300" bIns="38100" rtlCol="0" anchor="ctr"/>
          <a:lstStyle/>
          <a:p>
            <a:pPr marL="0" indent="0" algn="r">
              <a:buNone/>
            </a:pPr>
            <a:r>
              <a:rPr lang="en-US" sz="840" b="1" dirty="0">
                <a:solidFill>
                  <a:srgbClr val="333333"/>
                </a:solidFill>
                <a:latin typeface="Raleway" pitchFamily="34" charset="0"/>
                <a:ea typeface="Raleway" pitchFamily="34" charset="-122"/>
                <a:cs typeface="Raleway" pitchFamily="34" charset="-120"/>
              </a:rPr>
              <a:t>2.314</a:t>
            </a:r>
            <a:endParaRPr lang="en-US" sz="840" dirty="0"/>
          </a:p>
        </p:txBody>
      </p:sp>
      <p:sp>
        <p:nvSpPr>
          <p:cNvPr id="72" name="Text 69"/>
          <p:cNvSpPr/>
          <p:nvPr/>
        </p:nvSpPr>
        <p:spPr>
          <a:xfrm>
            <a:off x="723882" y="3928192"/>
            <a:ext cx="600127" cy="214313"/>
          </a:xfrm>
          <a:prstGeom prst="rect">
            <a:avLst/>
          </a:prstGeom>
          <a:noFill/>
          <a:ln/>
        </p:spPr>
        <p:txBody>
          <a:bodyPr wrap="square" lIns="38100" tIns="114300" rIns="114300" bIns="38100" rtlCol="0" anchor="ctr"/>
          <a:lstStyle/>
          <a:p>
            <a:pPr marL="0" indent="0" algn="l">
              <a:buNone/>
            </a:pPr>
            <a:r>
              <a:rPr lang="en-US" sz="840" b="1" dirty="0">
                <a:solidFill>
                  <a:srgbClr val="120180"/>
                </a:solidFill>
                <a:latin typeface="Raleway" pitchFamily="34" charset="0"/>
                <a:ea typeface="Raleway" pitchFamily="34" charset="-122"/>
                <a:cs typeface="Raleway" pitchFamily="34" charset="-120"/>
              </a:rPr>
              <a:t>Total</a:t>
            </a:r>
            <a:endParaRPr lang="en-US" sz="840" dirty="0"/>
          </a:p>
        </p:txBody>
      </p:sp>
      <p:sp>
        <p:nvSpPr>
          <p:cNvPr id="73" name="Text 70"/>
          <p:cNvSpPr/>
          <p:nvPr/>
        </p:nvSpPr>
        <p:spPr>
          <a:xfrm>
            <a:off x="6314917" y="4539555"/>
            <a:ext cx="1574586" cy="128016"/>
          </a:xfrm>
          <a:prstGeom prst="rect">
            <a:avLst/>
          </a:prstGeom>
          <a:noFill/>
          <a:ln/>
        </p:spPr>
        <p:txBody>
          <a:bodyPr wrap="square" lIns="0" tIns="0" rIns="0" bIns="0" rtlCol="0" anchor="t"/>
          <a:lstStyle/>
          <a:p>
            <a:pPr marL="0" indent="0" algn="r">
              <a:buNone/>
            </a:pPr>
            <a:r>
              <a:rPr lang="en-US" sz="840" b="1" dirty="0">
                <a:solidFill>
                  <a:srgbClr val="120180"/>
                </a:solidFill>
                <a:latin typeface="Raleway" pitchFamily="34" charset="0"/>
                <a:ea typeface="Raleway" pitchFamily="34" charset="-122"/>
                <a:cs typeface="Raleway" pitchFamily="34" charset="-120"/>
              </a:rPr>
              <a:t>Venta</a:t>
            </a:r>
            <a:endParaRPr lang="en-US" sz="840" dirty="0"/>
          </a:p>
        </p:txBody>
      </p:sp>
      <p:sp>
        <p:nvSpPr>
          <p:cNvPr id="74" name="Text 71"/>
          <p:cNvSpPr/>
          <p:nvPr/>
        </p:nvSpPr>
        <p:spPr>
          <a:xfrm>
            <a:off x="3383225" y="2447055"/>
            <a:ext cx="1046045" cy="242888"/>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49 %</a:t>
            </a:r>
            <a:endParaRPr lang="en-US" sz="840" dirty="0"/>
          </a:p>
        </p:txBody>
      </p:sp>
      <p:sp>
        <p:nvSpPr>
          <p:cNvPr id="75" name="Text 72"/>
          <p:cNvSpPr/>
          <p:nvPr/>
        </p:nvSpPr>
        <p:spPr>
          <a:xfrm>
            <a:off x="3383225" y="2689942"/>
            <a:ext cx="1046045"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51 %</a:t>
            </a:r>
            <a:endParaRPr lang="en-US" sz="840" dirty="0"/>
          </a:p>
        </p:txBody>
      </p:sp>
      <p:sp>
        <p:nvSpPr>
          <p:cNvPr id="76" name="Text 73"/>
          <p:cNvSpPr/>
          <p:nvPr/>
        </p:nvSpPr>
        <p:spPr>
          <a:xfrm>
            <a:off x="3383225" y="2937592"/>
            <a:ext cx="1046045"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45 %</a:t>
            </a:r>
            <a:endParaRPr lang="en-US" sz="840" dirty="0"/>
          </a:p>
        </p:txBody>
      </p:sp>
      <p:sp>
        <p:nvSpPr>
          <p:cNvPr id="77" name="Text 74"/>
          <p:cNvSpPr/>
          <p:nvPr/>
        </p:nvSpPr>
        <p:spPr>
          <a:xfrm>
            <a:off x="3383225" y="3185242"/>
            <a:ext cx="1046045"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75 %</a:t>
            </a:r>
            <a:endParaRPr lang="en-US" sz="840" dirty="0"/>
          </a:p>
        </p:txBody>
      </p:sp>
      <p:sp>
        <p:nvSpPr>
          <p:cNvPr id="78" name="Text 75"/>
          <p:cNvSpPr/>
          <p:nvPr/>
        </p:nvSpPr>
        <p:spPr>
          <a:xfrm>
            <a:off x="3383225" y="3432892"/>
            <a:ext cx="1046045"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76 %</a:t>
            </a:r>
            <a:endParaRPr lang="en-US" sz="840" dirty="0"/>
          </a:p>
        </p:txBody>
      </p:sp>
      <p:sp>
        <p:nvSpPr>
          <p:cNvPr id="79" name="Text 76"/>
          <p:cNvSpPr/>
          <p:nvPr/>
        </p:nvSpPr>
        <p:spPr>
          <a:xfrm>
            <a:off x="3383225" y="3680542"/>
            <a:ext cx="1046045" cy="247650"/>
          </a:xfrm>
          <a:prstGeom prst="rect">
            <a:avLst/>
          </a:prstGeom>
          <a:noFill/>
          <a:ln/>
        </p:spPr>
        <p:txBody>
          <a:bodyPr wrap="square" lIns="38100" tIns="114300" rIns="114300" bIns="38100" rtlCol="0" anchor="ctr"/>
          <a:lstStyle/>
          <a:p>
            <a:pPr marL="0" indent="0" algn="r">
              <a:buNone/>
            </a:pPr>
            <a:r>
              <a:rPr lang="en-US" sz="840" dirty="0">
                <a:solidFill>
                  <a:srgbClr val="333333"/>
                </a:solidFill>
                <a:latin typeface="Raleway" pitchFamily="34" charset="0"/>
                <a:ea typeface="Raleway" pitchFamily="34" charset="-122"/>
                <a:cs typeface="Raleway" pitchFamily="34" charset="-120"/>
              </a:rPr>
              <a:t>63 %</a:t>
            </a:r>
            <a:endParaRPr lang="en-US" sz="840" dirty="0"/>
          </a:p>
        </p:txBody>
      </p:sp>
      <p:sp>
        <p:nvSpPr>
          <p:cNvPr id="80" name="Text 77"/>
          <p:cNvSpPr/>
          <p:nvPr/>
        </p:nvSpPr>
        <p:spPr>
          <a:xfrm>
            <a:off x="3383225" y="3928192"/>
            <a:ext cx="1046045" cy="214313"/>
          </a:xfrm>
          <a:prstGeom prst="rect">
            <a:avLst/>
          </a:prstGeom>
          <a:noFill/>
          <a:ln/>
        </p:spPr>
        <p:txBody>
          <a:bodyPr wrap="square" lIns="38100" tIns="114300" rIns="114300" bIns="38100" rtlCol="0" anchor="ctr"/>
          <a:lstStyle/>
          <a:p>
            <a:pPr marL="0" indent="0" algn="r">
              <a:buNone/>
            </a:pPr>
            <a:r>
              <a:rPr lang="en-US" sz="840" b="1" dirty="0">
                <a:solidFill>
                  <a:srgbClr val="120180"/>
                </a:solidFill>
                <a:latin typeface="Raleway" pitchFamily="34" charset="0"/>
                <a:ea typeface="Raleway" pitchFamily="34" charset="-122"/>
                <a:cs typeface="Raleway" pitchFamily="34" charset="-120"/>
              </a:rPr>
              <a:t>60 %</a:t>
            </a:r>
            <a:endParaRPr lang="en-US" sz="840" dirty="0"/>
          </a:p>
        </p:txBody>
      </p:sp>
      <p:sp>
        <p:nvSpPr>
          <p:cNvPr id="81" name="Text 78"/>
          <p:cNvSpPr/>
          <p:nvPr/>
        </p:nvSpPr>
        <p:spPr>
          <a:xfrm>
            <a:off x="3552736" y="1181100"/>
            <a:ext cx="2403574" cy="298308"/>
          </a:xfrm>
          <a:prstGeom prst="rect">
            <a:avLst/>
          </a:prstGeom>
          <a:noFill/>
          <a:ln/>
        </p:spPr>
        <p:txBody>
          <a:bodyPr wrap="square" lIns="0" tIns="0" rIns="0" bIns="0" rtlCol="0" anchor="t"/>
          <a:lstStyle/>
          <a:p>
            <a:pPr marL="0" indent="0" algn="l">
              <a:buNone/>
            </a:pPr>
            <a:r>
              <a:rPr lang="en-US" sz="1400" b="1" dirty="0">
                <a:solidFill>
                  <a:srgbClr val="FF6B35"/>
                </a:solidFill>
                <a:latin typeface="Raleway" pitchFamily="34" charset="0"/>
                <a:ea typeface="Raleway" pitchFamily="34" charset="-122"/>
                <a:cs typeface="Raleway" pitchFamily="34" charset="-120"/>
              </a:rPr>
              <a:t>60 %</a:t>
            </a:r>
            <a:endParaRPr lang="en-US" sz="1400" dirty="0"/>
          </a:p>
        </p:txBody>
      </p:sp>
      <p:sp>
        <p:nvSpPr>
          <p:cNvPr id="82" name="Text 79"/>
          <p:cNvSpPr/>
          <p:nvPr/>
        </p:nvSpPr>
        <p:spPr>
          <a:xfrm>
            <a:off x="723882" y="2218455"/>
            <a:ext cx="600127" cy="228600"/>
          </a:xfrm>
          <a:prstGeom prst="rect">
            <a:avLst/>
          </a:prstGeom>
          <a:noFill/>
          <a:ln/>
        </p:spPr>
        <p:txBody>
          <a:bodyPr wrap="square" lIns="47625" tIns="114300" rIns="114300" bIns="47625"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83" name="Text 80"/>
          <p:cNvSpPr/>
          <p:nvPr/>
        </p:nvSpPr>
        <p:spPr>
          <a:xfrm>
            <a:off x="723882" y="2447055"/>
            <a:ext cx="600127" cy="242888"/>
          </a:xfrm>
          <a:prstGeom prst="rect">
            <a:avLst/>
          </a:prstGeom>
          <a:noFill/>
          <a:ln/>
        </p:spPr>
        <p:txBody>
          <a:bodyPr wrap="square" lIns="38100" tIns="114300" rIns="114300" bIns="38100" rtlCol="0" anchor="ctr"/>
          <a:lstStyle/>
          <a:p>
            <a:pPr marL="0" indent="0" algn="l">
              <a:buNone/>
            </a:pPr>
            <a:r>
              <a:rPr lang="en-US" sz="840" b="1" dirty="0">
                <a:solidFill>
                  <a:srgbClr val="333333"/>
                </a:solidFill>
                <a:latin typeface="Raleway" pitchFamily="34" charset="0"/>
                <a:ea typeface="Raleway" pitchFamily="34" charset="-122"/>
                <a:cs typeface="Raleway" pitchFamily="34" charset="-120"/>
              </a:rPr>
              <a:t>Ene</a:t>
            </a:r>
            <a:endParaRPr lang="en-US" sz="840" dirty="0"/>
          </a:p>
        </p:txBody>
      </p:sp>
      <p:sp>
        <p:nvSpPr>
          <p:cNvPr id="84" name="Text 81"/>
          <p:cNvSpPr/>
          <p:nvPr/>
        </p:nvSpPr>
        <p:spPr>
          <a:xfrm>
            <a:off x="723882" y="2689942"/>
            <a:ext cx="600127" cy="247650"/>
          </a:xfrm>
          <a:prstGeom prst="rect">
            <a:avLst/>
          </a:prstGeom>
          <a:noFill/>
          <a:ln/>
        </p:spPr>
        <p:txBody>
          <a:bodyPr wrap="square" lIns="38100" tIns="114300" rIns="114300" bIns="38100" rtlCol="0" anchor="ctr"/>
          <a:lstStyle/>
          <a:p>
            <a:pPr marL="0" indent="0" algn="l">
              <a:buNone/>
            </a:pPr>
            <a:r>
              <a:rPr lang="en-US" sz="840" b="1" dirty="0">
                <a:solidFill>
                  <a:srgbClr val="333333"/>
                </a:solidFill>
                <a:latin typeface="Raleway" pitchFamily="34" charset="0"/>
                <a:ea typeface="Raleway" pitchFamily="34" charset="-122"/>
                <a:cs typeface="Raleway" pitchFamily="34" charset="-120"/>
              </a:rPr>
              <a:t>Feb</a:t>
            </a:r>
            <a:endParaRPr lang="en-US" sz="840" dirty="0"/>
          </a:p>
        </p:txBody>
      </p:sp>
      <p:sp>
        <p:nvSpPr>
          <p:cNvPr id="85" name="Text 82"/>
          <p:cNvSpPr/>
          <p:nvPr/>
        </p:nvSpPr>
        <p:spPr>
          <a:xfrm>
            <a:off x="723882" y="2937592"/>
            <a:ext cx="600127" cy="247650"/>
          </a:xfrm>
          <a:prstGeom prst="rect">
            <a:avLst/>
          </a:prstGeom>
          <a:noFill/>
          <a:ln/>
        </p:spPr>
        <p:txBody>
          <a:bodyPr wrap="square" lIns="38100" tIns="114300" rIns="114300" bIns="38100" rtlCol="0" anchor="ctr"/>
          <a:lstStyle/>
          <a:p>
            <a:pPr marL="0" indent="0" algn="l">
              <a:buNone/>
            </a:pPr>
            <a:r>
              <a:rPr lang="en-US" sz="840" b="1" dirty="0">
                <a:solidFill>
                  <a:srgbClr val="333333"/>
                </a:solidFill>
                <a:latin typeface="Raleway" pitchFamily="34" charset="0"/>
                <a:ea typeface="Raleway" pitchFamily="34" charset="-122"/>
                <a:cs typeface="Raleway" pitchFamily="34" charset="-120"/>
              </a:rPr>
              <a:t>Mar</a:t>
            </a:r>
            <a:endParaRPr lang="en-US" sz="840" dirty="0"/>
          </a:p>
        </p:txBody>
      </p:sp>
      <p:sp>
        <p:nvSpPr>
          <p:cNvPr id="86" name="Text 83"/>
          <p:cNvSpPr/>
          <p:nvPr/>
        </p:nvSpPr>
        <p:spPr>
          <a:xfrm>
            <a:off x="723882" y="3185242"/>
            <a:ext cx="600127" cy="247650"/>
          </a:xfrm>
          <a:prstGeom prst="rect">
            <a:avLst/>
          </a:prstGeom>
          <a:noFill/>
          <a:ln/>
        </p:spPr>
        <p:txBody>
          <a:bodyPr wrap="square" lIns="38100" tIns="114300" rIns="114300" bIns="38100" rtlCol="0" anchor="ctr"/>
          <a:lstStyle/>
          <a:p>
            <a:pPr marL="0" indent="0" algn="l">
              <a:buNone/>
            </a:pPr>
            <a:r>
              <a:rPr lang="en-US" sz="840" b="1" dirty="0">
                <a:solidFill>
                  <a:srgbClr val="333333"/>
                </a:solidFill>
                <a:latin typeface="Raleway" pitchFamily="34" charset="0"/>
                <a:ea typeface="Raleway" pitchFamily="34" charset="-122"/>
                <a:cs typeface="Raleway" pitchFamily="34" charset="-120"/>
              </a:rPr>
              <a:t>Abr</a:t>
            </a:r>
            <a:endParaRPr lang="en-US" sz="840" dirty="0"/>
          </a:p>
        </p:txBody>
      </p:sp>
      <p:sp>
        <p:nvSpPr>
          <p:cNvPr id="87" name="Text 84"/>
          <p:cNvSpPr/>
          <p:nvPr/>
        </p:nvSpPr>
        <p:spPr>
          <a:xfrm>
            <a:off x="723882" y="3432892"/>
            <a:ext cx="600127" cy="247650"/>
          </a:xfrm>
          <a:prstGeom prst="rect">
            <a:avLst/>
          </a:prstGeom>
          <a:noFill/>
          <a:ln/>
        </p:spPr>
        <p:txBody>
          <a:bodyPr wrap="square" lIns="38100" tIns="114300" rIns="114300" bIns="38100" rtlCol="0" anchor="ctr"/>
          <a:lstStyle/>
          <a:p>
            <a:pPr marL="0" indent="0" algn="l">
              <a:buNone/>
            </a:pPr>
            <a:r>
              <a:rPr lang="en-US" sz="840" b="1" dirty="0">
                <a:solidFill>
                  <a:srgbClr val="333333"/>
                </a:solidFill>
                <a:latin typeface="Raleway" pitchFamily="34" charset="0"/>
                <a:ea typeface="Raleway" pitchFamily="34" charset="-122"/>
                <a:cs typeface="Raleway" pitchFamily="34" charset="-120"/>
              </a:rPr>
              <a:t>May</a:t>
            </a:r>
            <a:endParaRPr lang="en-US" sz="840" dirty="0"/>
          </a:p>
        </p:txBody>
      </p:sp>
      <p:sp>
        <p:nvSpPr>
          <p:cNvPr id="88" name="Text 85"/>
          <p:cNvSpPr/>
          <p:nvPr/>
        </p:nvSpPr>
        <p:spPr>
          <a:xfrm>
            <a:off x="723882" y="3680542"/>
            <a:ext cx="600127" cy="247650"/>
          </a:xfrm>
          <a:prstGeom prst="rect">
            <a:avLst/>
          </a:prstGeom>
          <a:noFill/>
          <a:ln/>
        </p:spPr>
        <p:txBody>
          <a:bodyPr wrap="square" lIns="38100" tIns="114300" rIns="114300" bIns="38100" rtlCol="0" anchor="ctr"/>
          <a:lstStyle/>
          <a:p>
            <a:pPr marL="0" indent="0" algn="l">
              <a:buNone/>
            </a:pPr>
            <a:r>
              <a:rPr lang="en-US" sz="840" b="1" dirty="0">
                <a:solidFill>
                  <a:srgbClr val="333333"/>
                </a:solidFill>
                <a:latin typeface="Raleway" pitchFamily="34" charset="0"/>
                <a:ea typeface="Raleway" pitchFamily="34" charset="-122"/>
                <a:cs typeface="Raleway" pitchFamily="34" charset="-120"/>
              </a:rPr>
              <a:t>Jun</a:t>
            </a:r>
            <a:endParaRPr lang="en-US" sz="840" dirty="0"/>
          </a:p>
        </p:txBody>
      </p:sp>
      <p:sp>
        <p:nvSpPr>
          <p:cNvPr id="90" name="TextBox 89">
            <a:extLst>
              <a:ext uri="{FF2B5EF4-FFF2-40B4-BE49-F238E27FC236}">
                <a16:creationId xmlns:a16="http://schemas.microsoft.com/office/drawing/2014/main" id="{D9E2139E-E6D9-EBD8-B3DF-CC86BDDDCE74}"/>
              </a:ext>
            </a:extLst>
          </p:cNvPr>
          <p:cNvSpPr txBox="1"/>
          <p:nvPr/>
        </p:nvSpPr>
        <p:spPr>
          <a:xfrm>
            <a:off x="9900990" y="2958747"/>
            <a:ext cx="1311507" cy="206851"/>
          </a:xfrm>
          <a:prstGeom prst="rect">
            <a:avLst/>
          </a:prstGeom>
          <a:noFill/>
        </p:spPr>
        <p:txBody>
          <a:bodyPr wrap="square">
            <a:spAutoFit/>
          </a:bodyPr>
          <a:lstStyle/>
          <a:p>
            <a:r>
              <a:rPr lang="es-CO" sz="744" b="1" i="0" dirty="0">
                <a:solidFill>
                  <a:srgbClr val="00CD93"/>
                </a:solidFill>
                <a:effectLst/>
                <a:latin typeface="Raleway" pitchFamily="2" charset="0"/>
              </a:rPr>
              <a:t>40 %</a:t>
            </a:r>
            <a:r>
              <a:rPr lang="es-CO" sz="744" b="0" i="0" dirty="0">
                <a:solidFill>
                  <a:srgbClr val="9098B0"/>
                </a:solidFill>
                <a:effectLst/>
                <a:latin typeface="Raleway" pitchFamily="2" charset="0"/>
              </a:rPr>
              <a:t> del paso anterior</a:t>
            </a:r>
            <a:endParaRPr lang="es-CO" dirty="0"/>
          </a:p>
        </p:txBody>
      </p:sp>
      <p:sp>
        <p:nvSpPr>
          <p:cNvPr id="92" name="TextBox 91">
            <a:extLst>
              <a:ext uri="{FF2B5EF4-FFF2-40B4-BE49-F238E27FC236}">
                <a16:creationId xmlns:a16="http://schemas.microsoft.com/office/drawing/2014/main" id="{FDE82920-577C-9D84-2A20-2D943DFF5006}"/>
              </a:ext>
            </a:extLst>
          </p:cNvPr>
          <p:cNvSpPr txBox="1"/>
          <p:nvPr/>
        </p:nvSpPr>
        <p:spPr>
          <a:xfrm>
            <a:off x="9894760" y="3515512"/>
            <a:ext cx="2097206" cy="206851"/>
          </a:xfrm>
          <a:prstGeom prst="rect">
            <a:avLst/>
          </a:prstGeom>
          <a:noFill/>
        </p:spPr>
        <p:txBody>
          <a:bodyPr wrap="square">
            <a:spAutoFit/>
          </a:bodyPr>
          <a:lstStyle/>
          <a:p>
            <a:r>
              <a:rPr lang="es-CO" sz="744" b="1" i="0" dirty="0">
                <a:solidFill>
                  <a:srgbClr val="00CD93"/>
                </a:solidFill>
                <a:effectLst/>
                <a:latin typeface="Raleway" pitchFamily="2" charset="0"/>
              </a:rPr>
              <a:t>88 %</a:t>
            </a:r>
            <a:r>
              <a:rPr lang="es-CO" sz="744" b="0" i="0" dirty="0">
                <a:solidFill>
                  <a:srgbClr val="9098B0"/>
                </a:solidFill>
                <a:effectLst/>
                <a:latin typeface="Raleway" pitchFamily="2" charset="0"/>
              </a:rPr>
              <a:t> del paso anterior</a:t>
            </a:r>
            <a:endParaRPr lang="es-CO" dirty="0"/>
          </a:p>
        </p:txBody>
      </p:sp>
      <p:sp>
        <p:nvSpPr>
          <p:cNvPr id="96" name="TextBox 95">
            <a:extLst>
              <a:ext uri="{FF2B5EF4-FFF2-40B4-BE49-F238E27FC236}">
                <a16:creationId xmlns:a16="http://schemas.microsoft.com/office/drawing/2014/main" id="{59FAE9C8-5B07-8179-9F41-065B777DC22C}"/>
              </a:ext>
            </a:extLst>
          </p:cNvPr>
          <p:cNvSpPr txBox="1"/>
          <p:nvPr/>
        </p:nvSpPr>
        <p:spPr>
          <a:xfrm>
            <a:off x="9891185" y="4084450"/>
            <a:ext cx="1311507" cy="206851"/>
          </a:xfrm>
          <a:prstGeom prst="rect">
            <a:avLst/>
          </a:prstGeom>
          <a:noFill/>
        </p:spPr>
        <p:txBody>
          <a:bodyPr wrap="square">
            <a:spAutoFit/>
          </a:bodyPr>
          <a:lstStyle/>
          <a:p>
            <a:r>
              <a:rPr lang="es-CO" sz="744" b="1" i="0" dirty="0">
                <a:solidFill>
                  <a:srgbClr val="00CD93"/>
                </a:solidFill>
                <a:effectLst/>
                <a:latin typeface="Raleway" pitchFamily="2" charset="0"/>
              </a:rPr>
              <a:t>40 %</a:t>
            </a:r>
            <a:r>
              <a:rPr lang="es-CO" sz="744" b="0" i="0" dirty="0">
                <a:solidFill>
                  <a:srgbClr val="9098B0"/>
                </a:solidFill>
                <a:effectLst/>
                <a:latin typeface="Raleway" pitchFamily="2" charset="0"/>
              </a:rPr>
              <a:t> del paso anterior</a:t>
            </a:r>
            <a:endParaRPr lang="es-CO" dirty="0"/>
          </a:p>
        </p:txBody>
      </p:sp>
      <p:sp>
        <p:nvSpPr>
          <p:cNvPr id="98" name="TextBox 97">
            <a:extLst>
              <a:ext uri="{FF2B5EF4-FFF2-40B4-BE49-F238E27FC236}">
                <a16:creationId xmlns:a16="http://schemas.microsoft.com/office/drawing/2014/main" id="{9FBFD070-3988-66FB-9B9B-3CD51919CFE6}"/>
              </a:ext>
            </a:extLst>
          </p:cNvPr>
          <p:cNvSpPr txBox="1"/>
          <p:nvPr/>
        </p:nvSpPr>
        <p:spPr>
          <a:xfrm>
            <a:off x="9900990" y="4539555"/>
            <a:ext cx="1311507" cy="206851"/>
          </a:xfrm>
          <a:prstGeom prst="rect">
            <a:avLst/>
          </a:prstGeom>
          <a:noFill/>
        </p:spPr>
        <p:txBody>
          <a:bodyPr wrap="square">
            <a:spAutoFit/>
          </a:bodyPr>
          <a:lstStyle/>
          <a:p>
            <a:r>
              <a:rPr lang="es-CO" sz="744" b="1" i="0" dirty="0">
                <a:solidFill>
                  <a:srgbClr val="00CD93"/>
                </a:solidFill>
                <a:effectLst/>
                <a:latin typeface="Raleway" pitchFamily="2" charset="0"/>
              </a:rPr>
              <a:t>11 %</a:t>
            </a:r>
            <a:r>
              <a:rPr lang="es-CO" sz="744" b="0" i="0" dirty="0">
                <a:solidFill>
                  <a:srgbClr val="9098B0"/>
                </a:solidFill>
                <a:effectLst/>
                <a:latin typeface="Raleway" pitchFamily="2" charset="0"/>
              </a:rPr>
              <a:t> del paso anterior</a:t>
            </a:r>
            <a:endParaRPr lang="es-CO" dirty="0"/>
          </a:p>
        </p:txBody>
      </p:sp>
      <p:sp>
        <p:nvSpPr>
          <p:cNvPr id="100" name="TextBox 99">
            <a:extLst>
              <a:ext uri="{FF2B5EF4-FFF2-40B4-BE49-F238E27FC236}">
                <a16:creationId xmlns:a16="http://schemas.microsoft.com/office/drawing/2014/main" id="{309381F9-7745-8399-8FEC-6D8F17BE5285}"/>
              </a:ext>
            </a:extLst>
          </p:cNvPr>
          <p:cNvSpPr txBox="1"/>
          <p:nvPr/>
        </p:nvSpPr>
        <p:spPr>
          <a:xfrm>
            <a:off x="836953" y="5492475"/>
            <a:ext cx="11013076" cy="221599"/>
          </a:xfrm>
          <a:prstGeom prst="rect">
            <a:avLst/>
          </a:prstGeom>
          <a:noFill/>
        </p:spPr>
        <p:txBody>
          <a:bodyPr wrap="square">
            <a:spAutoFit/>
          </a:bodyPr>
          <a:lstStyle/>
          <a:p>
            <a:r>
              <a:rPr lang="es-CO" sz="840" b="1" i="0" dirty="0">
                <a:solidFill>
                  <a:srgbClr val="120180"/>
                </a:solidFill>
                <a:effectLst/>
                <a:latin typeface="Raleway" pitchFamily="2" charset="0"/>
              </a:rPr>
              <a:t>Oportunidad identificada: el 78 % del descarte son registros </a:t>
            </a:r>
            <a:r>
              <a:rPr lang="es-CO" sz="840" b="1" i="0" dirty="0" err="1">
                <a:solidFill>
                  <a:srgbClr val="120180"/>
                </a:solidFill>
                <a:effectLst/>
                <a:latin typeface="Raleway" pitchFamily="2" charset="0"/>
              </a:rPr>
              <a:t>re-enviados</a:t>
            </a:r>
            <a:r>
              <a:rPr lang="es-CO" sz="840" b="1" i="0" dirty="0">
                <a:solidFill>
                  <a:srgbClr val="120180"/>
                </a:solidFill>
                <a:effectLst/>
                <a:latin typeface="Raleway" pitchFamily="2" charset="0"/>
              </a:rPr>
              <a:t> (49 %) y clientes con el producto activo (29 %) — depurar la base en origen podría liberar +110.000 registros gestionables al semestre.</a:t>
            </a:r>
            <a:endParaRPr lang="es-CO"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C:\01_Repositorios\13_Presentaciones\dash\televentas\ppt_slides\sk_04_main.png"/>
          <p:cNvPicPr>
            <a:picLocks noChangeAspect="1"/>
          </p:cNvPicPr>
          <p:nvPr/>
        </p:nvPicPr>
        <p:blipFill>
          <a:blip r:embed="rId3"/>
          <a:stretch>
            <a:fillRect/>
          </a:stretch>
        </p:blipFill>
        <p:spPr>
          <a:xfrm>
            <a:off x="13159" y="-3847"/>
            <a:ext cx="12191695" cy="6858000"/>
          </a:xfrm>
          <a:prstGeom prst="rect">
            <a:avLst/>
          </a:prstGeom>
        </p:spPr>
      </p:pic>
      <p:sp>
        <p:nvSpPr>
          <p:cNvPr id="4" name="Text 1"/>
          <p:cNvSpPr/>
          <p:nvPr/>
        </p:nvSpPr>
        <p:spPr>
          <a:xfrm>
            <a:off x="704832" y="3720405"/>
            <a:ext cx="5356536" cy="128016"/>
          </a:xfrm>
          <a:prstGeom prst="rect">
            <a:avLst/>
          </a:prstGeom>
          <a:noFill/>
          <a:ln/>
        </p:spPr>
        <p:txBody>
          <a:bodyPr wrap="square" lIns="0" tIns="0" rIns="0" bIns="0" rtlCol="0" anchor="t"/>
          <a:lstStyle/>
          <a:p>
            <a:pPr marL="0" indent="0" algn="l">
              <a:buNone/>
            </a:pPr>
            <a:r>
              <a:rPr lang="en-US" sz="600" dirty="0">
                <a:solidFill>
                  <a:srgbClr val="9098B0"/>
                </a:solidFill>
                <a:latin typeface="Raleway" pitchFamily="34" charset="0"/>
                <a:ea typeface="Raleway" pitchFamily="34" charset="-122"/>
                <a:cs typeface="Raleway" pitchFamily="34" charset="-120"/>
              </a:rPr>
              <a:t>* CP Clientes Satisfechos: campaña puntual solo en enero (no recurrente).</a:t>
            </a:r>
            <a:endParaRPr lang="en-US" sz="600" dirty="0"/>
          </a:p>
        </p:txBody>
      </p:sp>
      <p:sp>
        <p:nvSpPr>
          <p:cNvPr id="5" name="Text 2"/>
          <p:cNvSpPr/>
          <p:nvPr/>
        </p:nvSpPr>
        <p:spPr>
          <a:xfrm>
            <a:off x="9067573" y="1282005"/>
            <a:ext cx="2511489" cy="128016"/>
          </a:xfrm>
          <a:prstGeom prst="rect">
            <a:avLst/>
          </a:prstGeom>
          <a:noFill/>
          <a:ln/>
        </p:spPr>
        <p:txBody>
          <a:bodyPr wrap="square" lIns="0" tIns="0" rIns="0" bIns="0" rtlCol="0" anchor="t"/>
          <a:lstStyle/>
          <a:p>
            <a:pPr marL="0" indent="0" algn="l">
              <a:buNone/>
            </a:pPr>
            <a:r>
              <a:rPr lang="en-US" sz="600" dirty="0">
                <a:solidFill>
                  <a:srgbClr val="9098B0"/>
                </a:solidFill>
                <a:latin typeface="Raleway" pitchFamily="34" charset="0"/>
                <a:ea typeface="Raleway" pitchFamily="34" charset="-122"/>
                <a:cs typeface="Raleway" pitchFamily="34" charset="-120"/>
              </a:rPr>
              <a:t>Campaña con mayor volumen de registros (255.138) en el semestre</a:t>
            </a:r>
            <a:endParaRPr lang="en-US" sz="600" dirty="0"/>
          </a:p>
        </p:txBody>
      </p:sp>
      <p:sp>
        <p:nvSpPr>
          <p:cNvPr id="6" name="Text 3"/>
          <p:cNvSpPr/>
          <p:nvPr/>
        </p:nvSpPr>
        <p:spPr>
          <a:xfrm>
            <a:off x="3505112" y="1282005"/>
            <a:ext cx="2511489" cy="128016"/>
          </a:xfrm>
          <a:prstGeom prst="rect">
            <a:avLst/>
          </a:prstGeom>
          <a:noFill/>
          <a:ln/>
        </p:spPr>
        <p:txBody>
          <a:bodyPr wrap="square" lIns="0" tIns="0" rIns="0" bIns="0" rtlCol="0" anchor="t"/>
          <a:lstStyle/>
          <a:p>
            <a:pPr marL="0" indent="0" algn="l">
              <a:buNone/>
            </a:pPr>
            <a:r>
              <a:rPr lang="en-US" sz="600" dirty="0">
                <a:solidFill>
                  <a:srgbClr val="9098B0"/>
                </a:solidFill>
                <a:latin typeface="Raleway" pitchFamily="34" charset="0"/>
                <a:ea typeface="Raleway" pitchFamily="34" charset="-122"/>
                <a:cs typeface="Raleway" pitchFamily="34" charset="-120"/>
              </a:rPr>
              <a:t>Conversión más alta del portafolio · 3× el promedio del canal</a:t>
            </a:r>
            <a:endParaRPr lang="en-US" sz="600" dirty="0"/>
          </a:p>
        </p:txBody>
      </p:sp>
      <p:sp>
        <p:nvSpPr>
          <p:cNvPr id="7" name="Text 4"/>
          <p:cNvSpPr/>
          <p:nvPr/>
        </p:nvSpPr>
        <p:spPr>
          <a:xfrm>
            <a:off x="6286343" y="1282005"/>
            <a:ext cx="2511489" cy="128016"/>
          </a:xfrm>
          <a:prstGeom prst="rect">
            <a:avLst/>
          </a:prstGeom>
          <a:noFill/>
          <a:ln/>
        </p:spPr>
        <p:txBody>
          <a:bodyPr wrap="square" lIns="0" tIns="0" rIns="0" bIns="0" rtlCol="0" anchor="t"/>
          <a:lstStyle/>
          <a:p>
            <a:pPr marL="0" indent="0" algn="l">
              <a:buNone/>
            </a:pPr>
            <a:r>
              <a:rPr lang="en-US" sz="600" dirty="0">
                <a:solidFill>
                  <a:srgbClr val="9098B0"/>
                </a:solidFill>
                <a:latin typeface="Raleway" pitchFamily="34" charset="0"/>
                <a:ea typeface="Raleway" pitchFamily="34" charset="-122"/>
                <a:cs typeface="Raleway" pitchFamily="34" charset="-120"/>
              </a:rPr>
              <a:t>4,6 % de conversión · en el objetivo de la campaña (5 %)</a:t>
            </a:r>
            <a:endParaRPr lang="en-US" sz="600" dirty="0"/>
          </a:p>
        </p:txBody>
      </p:sp>
      <p:sp>
        <p:nvSpPr>
          <p:cNvPr id="8" name="Text 5"/>
          <p:cNvSpPr/>
          <p:nvPr/>
        </p:nvSpPr>
        <p:spPr>
          <a:xfrm>
            <a:off x="6010118" y="4691955"/>
            <a:ext cx="5356536" cy="128016"/>
          </a:xfrm>
          <a:prstGeom prst="rect">
            <a:avLst/>
          </a:prstGeom>
          <a:noFill/>
          <a:ln/>
        </p:spPr>
        <p:txBody>
          <a:bodyPr wrap="square" lIns="0" tIns="0" rIns="0" bIns="0" rtlCol="0" anchor="t"/>
          <a:lstStyle/>
          <a:p>
            <a:pPr marL="0" indent="0" algn="r">
              <a:buNone/>
            </a:pPr>
            <a:r>
              <a:rPr lang="en-US" sz="576" dirty="0">
                <a:solidFill>
                  <a:srgbClr val="9098B0"/>
                </a:solidFill>
                <a:latin typeface="Raleway" pitchFamily="34" charset="0"/>
                <a:ea typeface="Raleway" pitchFamily="34" charset="-122"/>
                <a:cs typeface="Raleway" pitchFamily="34" charset="-120"/>
              </a:rPr>
              <a:t>548.368 registros descartados (60 % de la base total)</a:t>
            </a:r>
            <a:endParaRPr lang="en-US" sz="576" dirty="0"/>
          </a:p>
        </p:txBody>
      </p:sp>
      <p:sp>
        <p:nvSpPr>
          <p:cNvPr id="9" name="Text 6"/>
          <p:cNvSpPr/>
          <p:nvPr/>
        </p:nvSpPr>
        <p:spPr>
          <a:xfrm>
            <a:off x="723882" y="1282005"/>
            <a:ext cx="2511489" cy="128016"/>
          </a:xfrm>
          <a:prstGeom prst="rect">
            <a:avLst/>
          </a:prstGeom>
          <a:noFill/>
          <a:ln/>
        </p:spPr>
        <p:txBody>
          <a:bodyPr wrap="square" lIns="0" tIns="0" rIns="0" bIns="0" rtlCol="0" anchor="t"/>
          <a:lstStyle/>
          <a:p>
            <a:pPr marL="0" indent="0" algn="l">
              <a:buNone/>
            </a:pPr>
            <a:r>
              <a:rPr lang="en-US" sz="600" dirty="0">
                <a:solidFill>
                  <a:srgbClr val="9098B0"/>
                </a:solidFill>
                <a:latin typeface="Raleway" pitchFamily="34" charset="0"/>
                <a:ea typeface="Raleway" pitchFamily="34" charset="-122"/>
                <a:cs typeface="Raleway" pitchFamily="34" charset="-120"/>
              </a:rPr>
              <a:t>62 % del total del semestre · 19,5 % de conversión</a:t>
            </a:r>
            <a:endParaRPr lang="en-US" sz="600" dirty="0"/>
          </a:p>
        </p:txBody>
      </p:sp>
      <p:sp>
        <p:nvSpPr>
          <p:cNvPr id="10" name="Text 7"/>
          <p:cNvSpPr/>
          <p:nvPr/>
        </p:nvSpPr>
        <p:spPr>
          <a:xfrm>
            <a:off x="390507" y="5796855"/>
            <a:ext cx="5356536" cy="128016"/>
          </a:xfrm>
          <a:prstGeom prst="rect">
            <a:avLst/>
          </a:prstGeom>
          <a:noFill/>
          <a:ln/>
        </p:spPr>
        <p:txBody>
          <a:bodyPr wrap="square" lIns="0" tIns="0" rIns="0" bIns="0" rtlCol="0" anchor="t"/>
          <a:lstStyle/>
          <a:p>
            <a:pPr marL="0" indent="0" algn="r">
              <a:buNone/>
            </a:pPr>
            <a:r>
              <a:rPr lang="en-US" sz="576" dirty="0">
                <a:solidFill>
                  <a:srgbClr val="9098B0"/>
                </a:solidFill>
                <a:latin typeface="Raleway" pitchFamily="34" charset="0"/>
                <a:ea typeface="Raleway" pitchFamily="34" charset="-122"/>
                <a:cs typeface="Raleway" pitchFamily="34" charset="-120"/>
              </a:rPr>
              <a:t>Cada mes: aptos → gestión → contacto → ventas</a:t>
            </a:r>
            <a:endParaRPr lang="en-US" sz="576" dirty="0"/>
          </a:p>
        </p:txBody>
      </p:sp>
      <p:sp>
        <p:nvSpPr>
          <p:cNvPr id="11" name="Text 8"/>
          <p:cNvSpPr/>
          <p:nvPr/>
        </p:nvSpPr>
        <p:spPr>
          <a:xfrm>
            <a:off x="6286343" y="3720405"/>
            <a:ext cx="5356536" cy="176594"/>
          </a:xfrm>
          <a:prstGeom prst="rect">
            <a:avLst/>
          </a:prstGeom>
          <a:noFill/>
          <a:ln/>
        </p:spPr>
        <p:txBody>
          <a:bodyPr wrap="square" lIns="0" tIns="0" rIns="0" bIns="19050" rtlCol="0" anchor="t"/>
          <a:lstStyle/>
          <a:p>
            <a:pPr marL="0" indent="0" algn="l">
              <a:buNone/>
            </a:pPr>
            <a:r>
              <a:rPr lang="en-US" sz="840" b="1" dirty="0">
                <a:solidFill>
                  <a:srgbClr val="120180"/>
                </a:solidFill>
                <a:latin typeface="Raleway" pitchFamily="34" charset="0"/>
                <a:ea typeface="Raleway" pitchFamily="34" charset="-122"/>
                <a:cs typeface="Raleway" pitchFamily="34" charset="-120"/>
              </a:rPr>
              <a:t>Tipificación de rechazo (semestre)</a:t>
            </a:r>
            <a:endParaRPr lang="en-US" sz="840" dirty="0"/>
          </a:p>
        </p:txBody>
      </p:sp>
      <p:sp>
        <p:nvSpPr>
          <p:cNvPr id="12" name="Text 9"/>
          <p:cNvSpPr/>
          <p:nvPr/>
        </p:nvSpPr>
        <p:spPr>
          <a:xfrm>
            <a:off x="894614" y="1777305"/>
            <a:ext cx="5356536" cy="215836"/>
          </a:xfrm>
          <a:prstGeom prst="rect">
            <a:avLst/>
          </a:prstGeom>
          <a:noFill/>
          <a:ln/>
        </p:spPr>
        <p:txBody>
          <a:bodyPr wrap="square" lIns="0" tIns="0" rIns="0" bIns="38100" rtlCol="0" anchor="t"/>
          <a:lstStyle/>
          <a:p>
            <a:pPr marL="0" indent="0" algn="l">
              <a:buNone/>
            </a:pPr>
            <a:r>
              <a:rPr lang="en-US" sz="912" b="1" dirty="0">
                <a:solidFill>
                  <a:srgbClr val="120180"/>
                </a:solidFill>
                <a:latin typeface="Raleway" pitchFamily="34" charset="0"/>
                <a:ea typeface="Raleway" pitchFamily="34" charset="-122"/>
                <a:cs typeface="Raleway" pitchFamily="34" charset="-120"/>
              </a:rPr>
              <a:t>Rendimiento por campaña (ene–jun)</a:t>
            </a:r>
            <a:endParaRPr lang="en-US" sz="912" dirty="0"/>
          </a:p>
        </p:txBody>
      </p:sp>
      <p:sp>
        <p:nvSpPr>
          <p:cNvPr id="13" name="Text 10"/>
          <p:cNvSpPr/>
          <p:nvPr/>
        </p:nvSpPr>
        <p:spPr>
          <a:xfrm>
            <a:off x="6286343" y="3920430"/>
            <a:ext cx="1177261" cy="128016"/>
          </a:xfrm>
          <a:prstGeom prst="rect">
            <a:avLst/>
          </a:prstGeom>
          <a:noFill/>
          <a:ln/>
        </p:spPr>
        <p:txBody>
          <a:bodyPr wrap="square" lIns="0" tIns="0" rIns="0" bIns="0" rtlCol="0" anchor="t"/>
          <a:lstStyle/>
          <a:p>
            <a:pPr marL="0" indent="0" algn="r">
              <a:buNone/>
            </a:pPr>
            <a:r>
              <a:rPr lang="en-US" sz="576" dirty="0">
                <a:solidFill>
                  <a:srgbClr val="9098B0"/>
                </a:solidFill>
                <a:latin typeface="Raleway" pitchFamily="34" charset="0"/>
                <a:ea typeface="Raleway" pitchFamily="34" charset="-122"/>
                <a:cs typeface="Raleway" pitchFamily="34" charset="-120"/>
              </a:rPr>
              <a:t>Registro enviado anteriormente</a:t>
            </a:r>
            <a:endParaRPr lang="en-US" sz="576" dirty="0"/>
          </a:p>
        </p:txBody>
      </p:sp>
      <p:sp>
        <p:nvSpPr>
          <p:cNvPr id="14" name="Text 11"/>
          <p:cNvSpPr/>
          <p:nvPr/>
        </p:nvSpPr>
        <p:spPr>
          <a:xfrm>
            <a:off x="866757" y="3891855"/>
            <a:ext cx="5356536" cy="196215"/>
          </a:xfrm>
          <a:prstGeom prst="rect">
            <a:avLst/>
          </a:prstGeom>
          <a:noFill/>
          <a:ln/>
        </p:spPr>
        <p:txBody>
          <a:bodyPr wrap="square" lIns="0" tIns="0" rIns="0" bIns="19050" rtlCol="0" anchor="t"/>
          <a:lstStyle/>
          <a:p>
            <a:pPr marL="0" indent="0" algn="l">
              <a:buNone/>
            </a:pPr>
            <a:r>
              <a:rPr lang="en-US" sz="840" b="1" dirty="0">
                <a:solidFill>
                  <a:srgbClr val="120180"/>
                </a:solidFill>
                <a:latin typeface="Raleway" pitchFamily="34" charset="0"/>
                <a:ea typeface="Raleway" pitchFamily="34" charset="-122"/>
                <a:cs typeface="Raleway" pitchFamily="34" charset="-120"/>
              </a:rPr>
              <a:t>Tipificación de aptos por mes</a:t>
            </a:r>
            <a:endParaRPr lang="en-US" sz="840" dirty="0"/>
          </a:p>
        </p:txBody>
      </p:sp>
      <p:sp>
        <p:nvSpPr>
          <p:cNvPr id="15" name="Text 12"/>
          <p:cNvSpPr/>
          <p:nvPr/>
        </p:nvSpPr>
        <p:spPr>
          <a:xfrm>
            <a:off x="6458867" y="1777305"/>
            <a:ext cx="5356536" cy="206026"/>
          </a:xfrm>
          <a:prstGeom prst="rect">
            <a:avLst/>
          </a:prstGeom>
          <a:noFill/>
          <a:ln/>
        </p:spPr>
        <p:txBody>
          <a:bodyPr wrap="square" lIns="0" tIns="0" rIns="0" bIns="28575" rtlCol="0" anchor="t"/>
          <a:lstStyle/>
          <a:p>
            <a:pPr marL="0" indent="0" algn="l">
              <a:buNone/>
            </a:pPr>
            <a:r>
              <a:rPr lang="en-US" sz="840" b="1" dirty="0">
                <a:solidFill>
                  <a:srgbClr val="120180"/>
                </a:solidFill>
                <a:latin typeface="Raleway" pitchFamily="34" charset="0"/>
                <a:ea typeface="Raleway" pitchFamily="34" charset="-122"/>
                <a:cs typeface="Raleway" pitchFamily="34" charset="-120"/>
              </a:rPr>
              <a:t>Evolución del rechazo por mes</a:t>
            </a:r>
            <a:endParaRPr lang="en-US" sz="840" dirty="0"/>
          </a:p>
        </p:txBody>
      </p:sp>
      <p:sp>
        <p:nvSpPr>
          <p:cNvPr id="16" name="Text 13"/>
          <p:cNvSpPr/>
          <p:nvPr/>
        </p:nvSpPr>
        <p:spPr>
          <a:xfrm>
            <a:off x="6286343" y="4025205"/>
            <a:ext cx="1177261" cy="128016"/>
          </a:xfrm>
          <a:prstGeom prst="rect">
            <a:avLst/>
          </a:prstGeom>
          <a:noFill/>
          <a:ln/>
        </p:spPr>
        <p:txBody>
          <a:bodyPr wrap="square" lIns="0" tIns="0" rIns="0" bIns="0" rtlCol="0" anchor="t"/>
          <a:lstStyle/>
          <a:p>
            <a:pPr marL="0" indent="0" algn="r">
              <a:buNone/>
            </a:pPr>
            <a:r>
              <a:rPr lang="en-US" sz="576" dirty="0">
                <a:solidFill>
                  <a:srgbClr val="9098B0"/>
                </a:solidFill>
                <a:latin typeface="Raleway" pitchFamily="34" charset="0"/>
                <a:ea typeface="Raleway" pitchFamily="34" charset="-122"/>
                <a:cs typeface="Raleway" pitchFamily="34" charset="-120"/>
              </a:rPr>
              <a:t>Producto ya activo (CP / MS)</a:t>
            </a:r>
            <a:endParaRPr lang="en-US" sz="576" dirty="0"/>
          </a:p>
        </p:txBody>
      </p:sp>
      <p:sp>
        <p:nvSpPr>
          <p:cNvPr id="17" name="Text 14"/>
          <p:cNvSpPr/>
          <p:nvPr/>
        </p:nvSpPr>
        <p:spPr>
          <a:xfrm>
            <a:off x="6286343" y="4129980"/>
            <a:ext cx="1177261" cy="128016"/>
          </a:xfrm>
          <a:prstGeom prst="rect">
            <a:avLst/>
          </a:prstGeom>
          <a:noFill/>
          <a:ln/>
        </p:spPr>
        <p:txBody>
          <a:bodyPr wrap="square" lIns="0" tIns="0" rIns="0" bIns="0" rtlCol="0" anchor="t"/>
          <a:lstStyle/>
          <a:p>
            <a:pPr marL="0" indent="0" algn="r">
              <a:buNone/>
            </a:pPr>
            <a:r>
              <a:rPr lang="en-US" sz="576" dirty="0">
                <a:solidFill>
                  <a:srgbClr val="9098B0"/>
                </a:solidFill>
                <a:latin typeface="Raleway" pitchFamily="34" charset="0"/>
                <a:ea typeface="Raleway" pitchFamily="34" charset="-122"/>
                <a:cs typeface="Raleway" pitchFamily="34" charset="-120"/>
              </a:rPr>
              <a:t>Dirección repetida/errónea</a:t>
            </a:r>
            <a:endParaRPr lang="en-US" sz="576" dirty="0"/>
          </a:p>
        </p:txBody>
      </p:sp>
      <p:sp>
        <p:nvSpPr>
          <p:cNvPr id="18" name="Text 15"/>
          <p:cNvSpPr/>
          <p:nvPr/>
        </p:nvSpPr>
        <p:spPr>
          <a:xfrm>
            <a:off x="6286343" y="4234755"/>
            <a:ext cx="1177261" cy="128016"/>
          </a:xfrm>
          <a:prstGeom prst="rect">
            <a:avLst/>
          </a:prstGeom>
          <a:noFill/>
          <a:ln/>
        </p:spPr>
        <p:txBody>
          <a:bodyPr wrap="square" lIns="0" tIns="0" rIns="0" bIns="0" rtlCol="0" anchor="t"/>
          <a:lstStyle/>
          <a:p>
            <a:pPr marL="0" indent="0" algn="r">
              <a:buNone/>
            </a:pPr>
            <a:r>
              <a:rPr lang="en-US" sz="576" dirty="0">
                <a:solidFill>
                  <a:srgbClr val="9098B0"/>
                </a:solidFill>
                <a:latin typeface="Raleway" pitchFamily="34" charset="0"/>
                <a:ea typeface="Raleway" pitchFamily="34" charset="-122"/>
                <a:cs typeface="Raleway" pitchFamily="34" charset="-120"/>
              </a:rPr>
              <a:t>Contrato / cédula repetida</a:t>
            </a:r>
            <a:endParaRPr lang="en-US" sz="576" dirty="0"/>
          </a:p>
        </p:txBody>
      </p:sp>
      <p:sp>
        <p:nvSpPr>
          <p:cNvPr id="19" name="Text 16"/>
          <p:cNvSpPr/>
          <p:nvPr/>
        </p:nvSpPr>
        <p:spPr>
          <a:xfrm>
            <a:off x="1213514" y="219075"/>
            <a:ext cx="2188356" cy="196215"/>
          </a:xfrm>
          <a:prstGeom prst="rect">
            <a:avLst/>
          </a:prstGeom>
          <a:noFill/>
          <a:ln/>
        </p:spPr>
        <p:txBody>
          <a:bodyPr wrap="square" lIns="0" tIns="0" rIns="0" bIns="0" rtlCol="0" anchor="t"/>
          <a:lstStyle/>
          <a:p>
            <a:pPr marL="0" indent="0" algn="l">
              <a:buNone/>
            </a:pPr>
            <a:r>
              <a:rPr lang="en-US" sz="1260" b="1" dirty="0">
                <a:solidFill>
                  <a:srgbClr val="FFFFFF"/>
                </a:solidFill>
                <a:latin typeface="Raleway" pitchFamily="34" charset="0"/>
                <a:ea typeface="Raleway" pitchFamily="34" charset="-122"/>
                <a:cs typeface="Raleway" pitchFamily="34" charset="-120"/>
              </a:rPr>
              <a:t>Desempeño por Campaña</a:t>
            </a:r>
            <a:endParaRPr lang="en-US" sz="1260" dirty="0"/>
          </a:p>
        </p:txBody>
      </p:sp>
      <p:sp>
        <p:nvSpPr>
          <p:cNvPr id="20" name="Text 17"/>
          <p:cNvSpPr/>
          <p:nvPr/>
        </p:nvSpPr>
        <p:spPr>
          <a:xfrm>
            <a:off x="808347" y="3218300"/>
            <a:ext cx="1392632" cy="247650"/>
          </a:xfrm>
          <a:prstGeom prst="rect">
            <a:avLst/>
          </a:prstGeom>
          <a:noFill/>
          <a:ln/>
        </p:spPr>
        <p:txBody>
          <a:bodyPr wrap="square" lIns="38100" tIns="114300" rIns="114300" bIns="38100" rtlCol="0" anchor="ctr"/>
          <a:lstStyle/>
          <a:p>
            <a:pPr marL="0" indent="0" algn="l">
              <a:buNone/>
            </a:pPr>
            <a:r>
              <a:rPr lang="en-US" sz="792" dirty="0">
                <a:solidFill>
                  <a:srgbClr val="333333"/>
                </a:solidFill>
                <a:latin typeface="Raleway" pitchFamily="34" charset="0"/>
                <a:ea typeface="Raleway" pitchFamily="34" charset="-122"/>
                <a:cs typeface="Raleway" pitchFamily="34" charset="-120"/>
              </a:rPr>
              <a:t>CP Clientes Satisf.*</a:t>
            </a:r>
            <a:endParaRPr lang="en-US" sz="792" dirty="0"/>
          </a:p>
        </p:txBody>
      </p:sp>
      <p:sp>
        <p:nvSpPr>
          <p:cNvPr id="21" name="Text 18"/>
          <p:cNvSpPr/>
          <p:nvPr/>
        </p:nvSpPr>
        <p:spPr>
          <a:xfrm>
            <a:off x="808347" y="2970650"/>
            <a:ext cx="1392632" cy="247650"/>
          </a:xfrm>
          <a:prstGeom prst="rect">
            <a:avLst/>
          </a:prstGeom>
          <a:noFill/>
          <a:ln/>
        </p:spPr>
        <p:txBody>
          <a:bodyPr wrap="square" lIns="38100" tIns="114300" rIns="114300" bIns="38100" rtlCol="0" anchor="ctr"/>
          <a:lstStyle/>
          <a:p>
            <a:pPr marL="0" indent="0" algn="l">
              <a:buNone/>
            </a:pPr>
            <a:r>
              <a:rPr lang="en-US" sz="792" dirty="0">
                <a:solidFill>
                  <a:srgbClr val="333333"/>
                </a:solidFill>
                <a:latin typeface="Raleway" pitchFamily="34" charset="0"/>
                <a:ea typeface="Raleway" pitchFamily="34" charset="-122"/>
                <a:cs typeface="Raleway" pitchFamily="34" charset="-120"/>
              </a:rPr>
              <a:t>Masiva Voluntarios</a:t>
            </a:r>
            <a:endParaRPr lang="en-US" sz="792" dirty="0"/>
          </a:p>
        </p:txBody>
      </p:sp>
      <p:sp>
        <p:nvSpPr>
          <p:cNvPr id="22" name="Text 19"/>
          <p:cNvSpPr/>
          <p:nvPr/>
        </p:nvSpPr>
        <p:spPr>
          <a:xfrm>
            <a:off x="9067573" y="971550"/>
            <a:ext cx="2511489" cy="128016"/>
          </a:xfrm>
          <a:prstGeom prst="rect">
            <a:avLst/>
          </a:prstGeom>
          <a:noFill/>
          <a:ln/>
        </p:spPr>
        <p:txBody>
          <a:bodyPr wrap="square" lIns="0" tIns="0" rIns="0" bIns="0" rtlCol="0" anchor="t"/>
          <a:lstStyle/>
          <a:p>
            <a:pPr marL="0" indent="0" algn="l">
              <a:buNone/>
            </a:pPr>
            <a:r>
              <a:rPr lang="en-US" sz="720" b="1" dirty="0">
                <a:solidFill>
                  <a:srgbClr val="9098B0"/>
                </a:solidFill>
                <a:latin typeface="Raleway" pitchFamily="34" charset="0"/>
                <a:ea typeface="Raleway" pitchFamily="34" charset="-122"/>
                <a:cs typeface="Raleway" pitchFamily="34" charset="-120"/>
              </a:rPr>
              <a:t>Masiva Voluntarios</a:t>
            </a:r>
            <a:endParaRPr lang="en-US" sz="720" dirty="0"/>
          </a:p>
        </p:txBody>
      </p:sp>
      <p:sp>
        <p:nvSpPr>
          <p:cNvPr id="23" name="Text 20"/>
          <p:cNvSpPr/>
          <p:nvPr/>
        </p:nvSpPr>
        <p:spPr>
          <a:xfrm>
            <a:off x="10611475" y="121598"/>
            <a:ext cx="1510358" cy="215836"/>
          </a:xfrm>
          <a:prstGeom prst="rect">
            <a:avLst/>
          </a:prstGeom>
          <a:noFill/>
          <a:ln/>
        </p:spPr>
        <p:txBody>
          <a:bodyPr wrap="square" lIns="38100" tIns="114300" rIns="114300" bIns="38100" rtlCol="0" anchor="t"/>
          <a:lstStyle/>
          <a:p>
            <a:pPr marL="0" indent="0" algn="l">
              <a:buNone/>
            </a:pPr>
            <a:r>
              <a:rPr lang="en-US" sz="840" b="1" dirty="0" err="1">
                <a:solidFill>
                  <a:srgbClr val="5AE280"/>
                </a:solidFill>
                <a:latin typeface="Raleway" pitchFamily="34" charset="0"/>
                <a:ea typeface="Raleway" pitchFamily="34" charset="-122"/>
                <a:cs typeface="Raleway" pitchFamily="34" charset="-120"/>
              </a:rPr>
              <a:t>Campañas</a:t>
            </a:r>
            <a:endParaRPr lang="en-US" sz="840" dirty="0"/>
          </a:p>
        </p:txBody>
      </p:sp>
      <p:sp>
        <p:nvSpPr>
          <p:cNvPr id="24" name="Text 21"/>
          <p:cNvSpPr/>
          <p:nvPr/>
        </p:nvSpPr>
        <p:spPr>
          <a:xfrm>
            <a:off x="6286343" y="4444305"/>
            <a:ext cx="1177261" cy="128016"/>
          </a:xfrm>
          <a:prstGeom prst="rect">
            <a:avLst/>
          </a:prstGeom>
          <a:noFill/>
          <a:ln/>
        </p:spPr>
        <p:txBody>
          <a:bodyPr wrap="square" lIns="0" tIns="0" rIns="0" bIns="0" rtlCol="0" anchor="t"/>
          <a:lstStyle/>
          <a:p>
            <a:pPr marL="0" indent="0" algn="r">
              <a:buNone/>
            </a:pPr>
            <a:r>
              <a:rPr lang="en-US" sz="576" dirty="0">
                <a:solidFill>
                  <a:srgbClr val="9098B0"/>
                </a:solidFill>
                <a:latin typeface="Raleway" pitchFamily="34" charset="0"/>
                <a:ea typeface="Raleway" pitchFamily="34" charset="-122"/>
                <a:cs typeface="Raleway" pitchFamily="34" charset="-120"/>
              </a:rPr>
              <a:t>Teléfono errado</a:t>
            </a:r>
            <a:endParaRPr lang="en-US" sz="576" dirty="0"/>
          </a:p>
        </p:txBody>
      </p:sp>
      <p:sp>
        <p:nvSpPr>
          <p:cNvPr id="25" name="Text 22"/>
          <p:cNvSpPr/>
          <p:nvPr/>
        </p:nvSpPr>
        <p:spPr>
          <a:xfrm>
            <a:off x="4466000" y="1994338"/>
            <a:ext cx="1392938"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Conv./contacto</a:t>
            </a:r>
            <a:endParaRPr lang="en-US" sz="888" dirty="0"/>
          </a:p>
        </p:txBody>
      </p:sp>
      <p:sp>
        <p:nvSpPr>
          <p:cNvPr id="26" name="Text 23"/>
          <p:cNvSpPr/>
          <p:nvPr/>
        </p:nvSpPr>
        <p:spPr>
          <a:xfrm>
            <a:off x="808347" y="2232463"/>
            <a:ext cx="1392632" cy="242888"/>
          </a:xfrm>
          <a:prstGeom prst="rect">
            <a:avLst/>
          </a:prstGeom>
          <a:noFill/>
          <a:ln/>
        </p:spPr>
        <p:txBody>
          <a:bodyPr wrap="square" lIns="38100" tIns="114300" rIns="114300" bIns="38100" rtlCol="0" anchor="ctr"/>
          <a:lstStyle/>
          <a:p>
            <a:pPr marL="0" indent="0" algn="l">
              <a:buNone/>
            </a:pPr>
            <a:r>
              <a:rPr lang="en-US" sz="792" dirty="0">
                <a:solidFill>
                  <a:srgbClr val="333333"/>
                </a:solidFill>
                <a:latin typeface="Raleway" pitchFamily="34" charset="0"/>
                <a:ea typeface="Raleway" pitchFamily="34" charset="-122"/>
                <a:cs typeface="Raleway" pitchFamily="34" charset="-120"/>
              </a:rPr>
              <a:t>Bienvenidas CP</a:t>
            </a:r>
            <a:endParaRPr lang="en-US" sz="792" dirty="0"/>
          </a:p>
        </p:txBody>
      </p:sp>
      <p:sp>
        <p:nvSpPr>
          <p:cNvPr id="27" name="Text 24"/>
          <p:cNvSpPr/>
          <p:nvPr/>
        </p:nvSpPr>
        <p:spPr>
          <a:xfrm>
            <a:off x="723882" y="971550"/>
            <a:ext cx="2511489" cy="128016"/>
          </a:xfrm>
          <a:prstGeom prst="rect">
            <a:avLst/>
          </a:prstGeom>
          <a:noFill/>
          <a:ln/>
        </p:spPr>
        <p:txBody>
          <a:bodyPr wrap="square" lIns="0" tIns="0" rIns="0" bIns="0" rtlCol="0" anchor="t"/>
          <a:lstStyle/>
          <a:p>
            <a:pPr marL="0" indent="0" algn="l">
              <a:buNone/>
            </a:pPr>
            <a:r>
              <a:rPr lang="en-US" sz="720" b="1" dirty="0">
                <a:solidFill>
                  <a:srgbClr val="9098B0"/>
                </a:solidFill>
                <a:latin typeface="Raleway" pitchFamily="34" charset="0"/>
                <a:ea typeface="Raleway" pitchFamily="34" charset="-122"/>
                <a:cs typeface="Raleway" pitchFamily="34" charset="-120"/>
              </a:rPr>
              <a:t>Bienvenidas CP</a:t>
            </a:r>
            <a:endParaRPr lang="en-US" sz="720" dirty="0"/>
          </a:p>
        </p:txBody>
      </p:sp>
      <p:sp>
        <p:nvSpPr>
          <p:cNvPr id="28" name="Text 25"/>
          <p:cNvSpPr/>
          <p:nvPr/>
        </p:nvSpPr>
        <p:spPr>
          <a:xfrm>
            <a:off x="808347" y="2475350"/>
            <a:ext cx="1392632" cy="247650"/>
          </a:xfrm>
          <a:prstGeom prst="rect">
            <a:avLst/>
          </a:prstGeom>
          <a:noFill/>
          <a:ln/>
        </p:spPr>
        <p:txBody>
          <a:bodyPr wrap="square" lIns="38100" tIns="114300" rIns="114300" bIns="38100" rtlCol="0" anchor="ctr"/>
          <a:lstStyle/>
          <a:p>
            <a:pPr marL="0" indent="0" algn="l">
              <a:buNone/>
            </a:pPr>
            <a:r>
              <a:rPr lang="en-US" sz="792" dirty="0">
                <a:solidFill>
                  <a:srgbClr val="333333"/>
                </a:solidFill>
                <a:latin typeface="Raleway" pitchFamily="34" charset="0"/>
                <a:ea typeface="Raleway" pitchFamily="34" charset="-122"/>
                <a:cs typeface="Raleway" pitchFamily="34" charset="-120"/>
              </a:rPr>
              <a:t>Autogestión</a:t>
            </a:r>
            <a:endParaRPr lang="en-US" sz="792" dirty="0"/>
          </a:p>
        </p:txBody>
      </p:sp>
      <p:sp>
        <p:nvSpPr>
          <p:cNvPr id="29" name="Text 26"/>
          <p:cNvSpPr/>
          <p:nvPr/>
        </p:nvSpPr>
        <p:spPr>
          <a:xfrm>
            <a:off x="3505112" y="971550"/>
            <a:ext cx="2511489" cy="128016"/>
          </a:xfrm>
          <a:prstGeom prst="rect">
            <a:avLst/>
          </a:prstGeom>
          <a:noFill/>
          <a:ln/>
        </p:spPr>
        <p:txBody>
          <a:bodyPr wrap="square" lIns="0" tIns="0" rIns="0" bIns="0" rtlCol="0" anchor="t"/>
          <a:lstStyle/>
          <a:p>
            <a:pPr marL="0" indent="0" algn="l">
              <a:buNone/>
            </a:pPr>
            <a:r>
              <a:rPr lang="en-US" sz="720" b="1" dirty="0">
                <a:solidFill>
                  <a:srgbClr val="9098B0"/>
                </a:solidFill>
                <a:latin typeface="Raleway" pitchFamily="34" charset="0"/>
                <a:ea typeface="Raleway" pitchFamily="34" charset="-122"/>
                <a:cs typeface="Raleway" pitchFamily="34" charset="-120"/>
              </a:rPr>
              <a:t>Autogestión</a:t>
            </a:r>
            <a:endParaRPr lang="en-US" sz="720" dirty="0"/>
          </a:p>
        </p:txBody>
      </p:sp>
      <p:sp>
        <p:nvSpPr>
          <p:cNvPr id="30" name="Text 27"/>
          <p:cNvSpPr/>
          <p:nvPr/>
        </p:nvSpPr>
        <p:spPr>
          <a:xfrm>
            <a:off x="6286343" y="4339530"/>
            <a:ext cx="1177261" cy="128016"/>
          </a:xfrm>
          <a:prstGeom prst="rect">
            <a:avLst/>
          </a:prstGeom>
          <a:noFill/>
          <a:ln/>
        </p:spPr>
        <p:txBody>
          <a:bodyPr wrap="square" lIns="0" tIns="0" rIns="0" bIns="0" rtlCol="0" anchor="t"/>
          <a:lstStyle/>
          <a:p>
            <a:pPr marL="0" indent="0" algn="r">
              <a:buNone/>
            </a:pPr>
            <a:r>
              <a:rPr lang="en-US" sz="576" dirty="0">
                <a:solidFill>
                  <a:srgbClr val="9098B0"/>
                </a:solidFill>
                <a:latin typeface="Raleway" pitchFamily="34" charset="0"/>
                <a:ea typeface="Raleway" pitchFamily="34" charset="-122"/>
                <a:cs typeface="Raleway" pitchFamily="34" charset="-120"/>
              </a:rPr>
              <a:t>Supera edad</a:t>
            </a:r>
            <a:endParaRPr lang="en-US" sz="576" dirty="0"/>
          </a:p>
        </p:txBody>
      </p:sp>
      <p:sp>
        <p:nvSpPr>
          <p:cNvPr id="31" name="Text 28"/>
          <p:cNvSpPr/>
          <p:nvPr/>
        </p:nvSpPr>
        <p:spPr>
          <a:xfrm>
            <a:off x="3720543" y="2003863"/>
            <a:ext cx="964035"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32" name="Text 29"/>
          <p:cNvSpPr/>
          <p:nvPr/>
        </p:nvSpPr>
        <p:spPr>
          <a:xfrm>
            <a:off x="8492962" y="2001166"/>
            <a:ext cx="1816936" cy="171450"/>
          </a:xfrm>
          <a:prstGeom prst="rect">
            <a:avLst/>
          </a:prstGeom>
          <a:noFill/>
          <a:ln/>
        </p:spPr>
        <p:txBody>
          <a:bodyPr wrap="square" lIns="19050" tIns="47625" rIns="47625"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33" name="Text 30"/>
          <p:cNvSpPr/>
          <p:nvPr/>
        </p:nvSpPr>
        <p:spPr>
          <a:xfrm>
            <a:off x="2160417" y="2003863"/>
            <a:ext cx="857040"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Registros</a:t>
            </a:r>
            <a:endParaRPr lang="en-US" sz="888" dirty="0"/>
          </a:p>
        </p:txBody>
      </p:sp>
      <p:sp>
        <p:nvSpPr>
          <p:cNvPr id="34" name="Text 31"/>
          <p:cNvSpPr/>
          <p:nvPr/>
        </p:nvSpPr>
        <p:spPr>
          <a:xfrm>
            <a:off x="7013201" y="2001166"/>
            <a:ext cx="1524154" cy="171450"/>
          </a:xfrm>
          <a:prstGeom prst="rect">
            <a:avLst/>
          </a:prstGeom>
          <a:noFill/>
          <a:ln/>
        </p:spPr>
        <p:txBody>
          <a:bodyPr wrap="square" lIns="19050" tIns="47625" rIns="47625"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35" name="Text 32"/>
          <p:cNvSpPr/>
          <p:nvPr/>
        </p:nvSpPr>
        <p:spPr>
          <a:xfrm>
            <a:off x="808347" y="2723000"/>
            <a:ext cx="1392632" cy="247650"/>
          </a:xfrm>
          <a:prstGeom prst="rect">
            <a:avLst/>
          </a:prstGeom>
          <a:noFill/>
          <a:ln/>
        </p:spPr>
        <p:txBody>
          <a:bodyPr wrap="square" lIns="38100" tIns="114300" rIns="114300" bIns="38100" rtlCol="0" anchor="ctr"/>
          <a:lstStyle/>
          <a:p>
            <a:pPr marL="0" indent="0" algn="l">
              <a:buNone/>
            </a:pPr>
            <a:r>
              <a:rPr lang="en-US" sz="792" dirty="0">
                <a:solidFill>
                  <a:srgbClr val="333333"/>
                </a:solidFill>
                <a:latin typeface="Raleway" pitchFamily="34" charset="0"/>
                <a:ea typeface="Raleway" pitchFamily="34" charset="-122"/>
                <a:cs typeface="Raleway" pitchFamily="34" charset="-120"/>
              </a:rPr>
              <a:t>CP Stock</a:t>
            </a:r>
            <a:endParaRPr lang="en-US" sz="792" dirty="0"/>
          </a:p>
        </p:txBody>
      </p:sp>
      <p:sp>
        <p:nvSpPr>
          <p:cNvPr id="36" name="Text 33"/>
          <p:cNvSpPr/>
          <p:nvPr/>
        </p:nvSpPr>
        <p:spPr>
          <a:xfrm>
            <a:off x="3075159" y="4096666"/>
            <a:ext cx="854127"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Contacto</a:t>
            </a:r>
            <a:endParaRPr lang="en-US" sz="888" dirty="0"/>
          </a:p>
        </p:txBody>
      </p:sp>
      <p:sp>
        <p:nvSpPr>
          <p:cNvPr id="37" name="Text 34"/>
          <p:cNvSpPr/>
          <p:nvPr/>
        </p:nvSpPr>
        <p:spPr>
          <a:xfrm>
            <a:off x="6286343" y="971550"/>
            <a:ext cx="2511489" cy="128016"/>
          </a:xfrm>
          <a:prstGeom prst="rect">
            <a:avLst/>
          </a:prstGeom>
          <a:noFill/>
          <a:ln/>
        </p:spPr>
        <p:txBody>
          <a:bodyPr wrap="square" lIns="0" tIns="0" rIns="0" bIns="0" rtlCol="0" anchor="t"/>
          <a:lstStyle/>
          <a:p>
            <a:pPr marL="0" indent="0" algn="l">
              <a:buNone/>
            </a:pPr>
            <a:r>
              <a:rPr lang="en-US" sz="720" b="1" dirty="0">
                <a:solidFill>
                  <a:srgbClr val="9098B0"/>
                </a:solidFill>
                <a:latin typeface="Raleway" pitchFamily="34" charset="0"/>
                <a:ea typeface="Raleway" pitchFamily="34" charset="-122"/>
                <a:cs typeface="Raleway" pitchFamily="34" charset="-120"/>
              </a:rPr>
              <a:t>CP Stock</a:t>
            </a:r>
            <a:endParaRPr lang="en-US" sz="720" dirty="0"/>
          </a:p>
        </p:txBody>
      </p:sp>
      <p:sp>
        <p:nvSpPr>
          <p:cNvPr id="38" name="Text 35"/>
          <p:cNvSpPr/>
          <p:nvPr/>
        </p:nvSpPr>
        <p:spPr>
          <a:xfrm>
            <a:off x="808347" y="2003863"/>
            <a:ext cx="1392632" cy="228600"/>
          </a:xfrm>
          <a:prstGeom prst="rect">
            <a:avLst/>
          </a:prstGeom>
          <a:noFill/>
          <a:ln/>
        </p:spPr>
        <p:txBody>
          <a:bodyPr wrap="square" lIns="47625" tIns="114300" rIns="114300" bIns="47625"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Campaña</a:t>
            </a:r>
            <a:endParaRPr lang="en-US" sz="888" dirty="0"/>
          </a:p>
        </p:txBody>
      </p:sp>
      <p:sp>
        <p:nvSpPr>
          <p:cNvPr id="39" name="Text 36"/>
          <p:cNvSpPr/>
          <p:nvPr/>
        </p:nvSpPr>
        <p:spPr>
          <a:xfrm>
            <a:off x="2160417" y="2232463"/>
            <a:ext cx="857040" cy="242888"/>
          </a:xfrm>
          <a:prstGeom prst="rect">
            <a:avLst/>
          </a:prstGeom>
          <a:noFill/>
          <a:ln/>
        </p:spPr>
        <p:txBody>
          <a:bodyPr wrap="square" lIns="38100" tIns="114300" rIns="114300" bIns="38100" rtlCol="0" anchor="ctr"/>
          <a:lstStyle/>
          <a:p>
            <a:pPr marL="0" indent="0" algn="r">
              <a:buNone/>
            </a:pPr>
            <a:r>
              <a:rPr lang="en-US" sz="792" dirty="0">
                <a:solidFill>
                  <a:srgbClr val="333333"/>
                </a:solidFill>
                <a:latin typeface="Raleway" pitchFamily="34" charset="0"/>
                <a:ea typeface="Raleway" pitchFamily="34" charset="-122"/>
                <a:cs typeface="Raleway" pitchFamily="34" charset="-120"/>
              </a:rPr>
              <a:t>114.696</a:t>
            </a:r>
            <a:endParaRPr lang="en-US" sz="792" dirty="0"/>
          </a:p>
        </p:txBody>
      </p:sp>
      <p:sp>
        <p:nvSpPr>
          <p:cNvPr id="40" name="Text 37"/>
          <p:cNvSpPr/>
          <p:nvPr/>
        </p:nvSpPr>
        <p:spPr>
          <a:xfrm>
            <a:off x="2160417" y="2723000"/>
            <a:ext cx="857040" cy="247650"/>
          </a:xfrm>
          <a:prstGeom prst="rect">
            <a:avLst/>
          </a:prstGeom>
          <a:noFill/>
          <a:ln/>
        </p:spPr>
        <p:txBody>
          <a:bodyPr wrap="square" lIns="38100" tIns="114300" rIns="114300" bIns="38100" rtlCol="0" anchor="ctr"/>
          <a:lstStyle/>
          <a:p>
            <a:pPr marL="0" indent="0" algn="r">
              <a:buNone/>
            </a:pPr>
            <a:r>
              <a:rPr lang="en-US" sz="792" dirty="0">
                <a:solidFill>
                  <a:srgbClr val="333333"/>
                </a:solidFill>
                <a:latin typeface="Raleway" pitchFamily="34" charset="0"/>
                <a:ea typeface="Raleway" pitchFamily="34" charset="-122"/>
                <a:cs typeface="Raleway" pitchFamily="34" charset="-120"/>
              </a:rPr>
              <a:t>420.641</a:t>
            </a:r>
            <a:endParaRPr lang="en-US" sz="792" dirty="0"/>
          </a:p>
        </p:txBody>
      </p:sp>
      <p:sp>
        <p:nvSpPr>
          <p:cNvPr id="41" name="Text 38"/>
          <p:cNvSpPr/>
          <p:nvPr/>
        </p:nvSpPr>
        <p:spPr>
          <a:xfrm>
            <a:off x="2160417" y="2970650"/>
            <a:ext cx="857040" cy="247650"/>
          </a:xfrm>
          <a:prstGeom prst="rect">
            <a:avLst/>
          </a:prstGeom>
          <a:noFill/>
          <a:ln/>
        </p:spPr>
        <p:txBody>
          <a:bodyPr wrap="square" lIns="38100" tIns="114300" rIns="114300" bIns="38100" rtlCol="0" anchor="ctr"/>
          <a:lstStyle/>
          <a:p>
            <a:pPr marL="0" indent="0" algn="r">
              <a:buNone/>
            </a:pPr>
            <a:r>
              <a:rPr lang="en-US" sz="792" dirty="0">
                <a:solidFill>
                  <a:srgbClr val="333333"/>
                </a:solidFill>
                <a:latin typeface="Raleway" pitchFamily="34" charset="0"/>
                <a:ea typeface="Raleway" pitchFamily="34" charset="-122"/>
                <a:cs typeface="Raleway" pitchFamily="34" charset="-120"/>
              </a:rPr>
              <a:t>255.138</a:t>
            </a:r>
            <a:endParaRPr lang="en-US" sz="792" dirty="0"/>
          </a:p>
        </p:txBody>
      </p:sp>
      <p:sp>
        <p:nvSpPr>
          <p:cNvPr id="42" name="Text 39"/>
          <p:cNvSpPr/>
          <p:nvPr/>
        </p:nvSpPr>
        <p:spPr>
          <a:xfrm>
            <a:off x="2160417" y="3218300"/>
            <a:ext cx="857040" cy="247650"/>
          </a:xfrm>
          <a:prstGeom prst="rect">
            <a:avLst/>
          </a:prstGeom>
          <a:noFill/>
          <a:ln/>
        </p:spPr>
        <p:txBody>
          <a:bodyPr wrap="square" lIns="38100" tIns="114300" rIns="114300" bIns="38100" rtlCol="0" anchor="ctr"/>
          <a:lstStyle/>
          <a:p>
            <a:pPr marL="0" indent="0" algn="r">
              <a:buNone/>
            </a:pPr>
            <a:r>
              <a:rPr lang="en-US" sz="792" dirty="0">
                <a:solidFill>
                  <a:srgbClr val="333333"/>
                </a:solidFill>
                <a:latin typeface="Raleway" pitchFamily="34" charset="0"/>
                <a:ea typeface="Raleway" pitchFamily="34" charset="-122"/>
                <a:cs typeface="Raleway" pitchFamily="34" charset="-120"/>
              </a:rPr>
              <a:t>108.659</a:t>
            </a:r>
            <a:endParaRPr lang="en-US" sz="792" dirty="0"/>
          </a:p>
        </p:txBody>
      </p:sp>
      <p:sp>
        <p:nvSpPr>
          <p:cNvPr id="43" name="Text 40"/>
          <p:cNvSpPr/>
          <p:nvPr/>
        </p:nvSpPr>
        <p:spPr>
          <a:xfrm>
            <a:off x="2160417" y="3465950"/>
            <a:ext cx="857040" cy="185738"/>
          </a:xfrm>
          <a:prstGeom prst="rect">
            <a:avLst/>
          </a:prstGeom>
          <a:noFill/>
          <a:ln/>
        </p:spPr>
        <p:txBody>
          <a:bodyPr wrap="square" lIns="38100" tIns="114300" rIns="114300" bIns="38100" rtlCol="0" anchor="ctr"/>
          <a:lstStyle/>
          <a:p>
            <a:pPr marL="0" indent="0" algn="r">
              <a:buNone/>
            </a:pPr>
            <a:r>
              <a:rPr lang="en-US" sz="720" b="1" dirty="0">
                <a:solidFill>
                  <a:srgbClr val="120180"/>
                </a:solidFill>
                <a:latin typeface="Raleway" pitchFamily="34" charset="0"/>
                <a:ea typeface="Raleway" pitchFamily="34" charset="-122"/>
                <a:cs typeface="Raleway" pitchFamily="34" charset="-120"/>
              </a:rPr>
              <a:t>910.820</a:t>
            </a:r>
            <a:endParaRPr lang="en-US" sz="720" dirty="0"/>
          </a:p>
        </p:txBody>
      </p:sp>
      <p:sp>
        <p:nvSpPr>
          <p:cNvPr id="44" name="Text 41"/>
          <p:cNvSpPr/>
          <p:nvPr/>
        </p:nvSpPr>
        <p:spPr>
          <a:xfrm>
            <a:off x="1686329" y="4096666"/>
            <a:ext cx="731956"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Gestión</a:t>
            </a:r>
            <a:endParaRPr lang="en-US" sz="888" dirty="0"/>
          </a:p>
        </p:txBody>
      </p:sp>
      <p:sp>
        <p:nvSpPr>
          <p:cNvPr id="45" name="Text 42"/>
          <p:cNvSpPr/>
          <p:nvPr/>
        </p:nvSpPr>
        <p:spPr>
          <a:xfrm>
            <a:off x="2368391" y="4106191"/>
            <a:ext cx="698539"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 Gest.</a:t>
            </a:r>
            <a:endParaRPr lang="en-US" sz="888" dirty="0"/>
          </a:p>
        </p:txBody>
      </p:sp>
      <p:sp>
        <p:nvSpPr>
          <p:cNvPr id="46" name="Text 43"/>
          <p:cNvSpPr/>
          <p:nvPr/>
        </p:nvSpPr>
        <p:spPr>
          <a:xfrm>
            <a:off x="3875833" y="4106191"/>
            <a:ext cx="673859"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 Ctto.</a:t>
            </a:r>
            <a:endParaRPr lang="en-US" sz="888" dirty="0"/>
          </a:p>
        </p:txBody>
      </p:sp>
      <p:sp>
        <p:nvSpPr>
          <p:cNvPr id="47" name="Text 44"/>
          <p:cNvSpPr/>
          <p:nvPr/>
        </p:nvSpPr>
        <p:spPr>
          <a:xfrm>
            <a:off x="5152895" y="4106191"/>
            <a:ext cx="725977"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 Conv.</a:t>
            </a:r>
            <a:endParaRPr lang="en-US" sz="888" dirty="0"/>
          </a:p>
        </p:txBody>
      </p:sp>
      <p:sp>
        <p:nvSpPr>
          <p:cNvPr id="48" name="Text 45"/>
          <p:cNvSpPr/>
          <p:nvPr/>
        </p:nvSpPr>
        <p:spPr>
          <a:xfrm>
            <a:off x="1125261" y="4268116"/>
            <a:ext cx="577900" cy="204787"/>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102.168</a:t>
            </a:r>
            <a:endParaRPr lang="en-US" sz="660" dirty="0"/>
          </a:p>
        </p:txBody>
      </p:sp>
      <p:sp>
        <p:nvSpPr>
          <p:cNvPr id="49" name="Text 46"/>
          <p:cNvSpPr/>
          <p:nvPr/>
        </p:nvSpPr>
        <p:spPr>
          <a:xfrm>
            <a:off x="1686329" y="4268116"/>
            <a:ext cx="731956" cy="204787"/>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102.168</a:t>
            </a:r>
            <a:endParaRPr lang="en-US" sz="660" dirty="0"/>
          </a:p>
        </p:txBody>
      </p:sp>
      <p:sp>
        <p:nvSpPr>
          <p:cNvPr id="50" name="Text 47"/>
          <p:cNvSpPr/>
          <p:nvPr/>
        </p:nvSpPr>
        <p:spPr>
          <a:xfrm>
            <a:off x="1125261" y="5520653"/>
            <a:ext cx="577900" cy="204787"/>
          </a:xfrm>
          <a:prstGeom prst="rect">
            <a:avLst/>
          </a:prstGeom>
          <a:noFill/>
          <a:ln/>
        </p:spPr>
        <p:txBody>
          <a:bodyPr wrap="square" lIns="19050" tIns="38100" rIns="38100" bIns="19050" rtlCol="0" anchor="ctr"/>
          <a:lstStyle/>
          <a:p>
            <a:pPr marL="0" indent="0" algn="r">
              <a:buNone/>
            </a:pPr>
            <a:r>
              <a:rPr lang="en-US" sz="624" b="1" dirty="0">
                <a:solidFill>
                  <a:srgbClr val="120180"/>
                </a:solidFill>
                <a:latin typeface="Raleway" pitchFamily="34" charset="0"/>
                <a:ea typeface="Raleway" pitchFamily="34" charset="-122"/>
                <a:cs typeface="Raleway" pitchFamily="34" charset="-120"/>
              </a:rPr>
              <a:t>363.715</a:t>
            </a:r>
            <a:endParaRPr lang="en-US" sz="624" dirty="0"/>
          </a:p>
        </p:txBody>
      </p:sp>
      <p:sp>
        <p:nvSpPr>
          <p:cNvPr id="51" name="Text 48"/>
          <p:cNvSpPr/>
          <p:nvPr/>
        </p:nvSpPr>
        <p:spPr>
          <a:xfrm>
            <a:off x="1686329" y="5520653"/>
            <a:ext cx="731956" cy="204787"/>
          </a:xfrm>
          <a:prstGeom prst="rect">
            <a:avLst/>
          </a:prstGeom>
          <a:noFill/>
          <a:ln/>
        </p:spPr>
        <p:txBody>
          <a:bodyPr wrap="square" lIns="19050" tIns="38100" rIns="38100" bIns="19050" rtlCol="0" anchor="ctr"/>
          <a:lstStyle/>
          <a:p>
            <a:pPr marL="0" indent="0" algn="r">
              <a:buNone/>
            </a:pPr>
            <a:r>
              <a:rPr lang="en-US" sz="624" b="1" dirty="0">
                <a:solidFill>
                  <a:srgbClr val="120180"/>
                </a:solidFill>
                <a:latin typeface="Raleway" pitchFamily="34" charset="0"/>
                <a:ea typeface="Raleway" pitchFamily="34" charset="-122"/>
                <a:cs typeface="Raleway" pitchFamily="34" charset="-120"/>
              </a:rPr>
              <a:t>321.087</a:t>
            </a:r>
            <a:endParaRPr lang="en-US" sz="624" dirty="0"/>
          </a:p>
        </p:txBody>
      </p:sp>
      <p:sp>
        <p:nvSpPr>
          <p:cNvPr id="52" name="Text 49"/>
          <p:cNvSpPr/>
          <p:nvPr/>
        </p:nvSpPr>
        <p:spPr>
          <a:xfrm>
            <a:off x="3075159" y="5520653"/>
            <a:ext cx="854127" cy="204787"/>
          </a:xfrm>
          <a:prstGeom prst="rect">
            <a:avLst/>
          </a:prstGeom>
          <a:noFill/>
          <a:ln/>
        </p:spPr>
        <p:txBody>
          <a:bodyPr wrap="square" lIns="19050" tIns="38100" rIns="38100" bIns="19050" rtlCol="0" anchor="ctr"/>
          <a:lstStyle/>
          <a:p>
            <a:pPr marL="0" indent="0" algn="r">
              <a:buNone/>
            </a:pPr>
            <a:r>
              <a:rPr lang="en-US" sz="624" b="1" dirty="0">
                <a:solidFill>
                  <a:srgbClr val="120180"/>
                </a:solidFill>
                <a:latin typeface="Raleway" pitchFamily="34" charset="0"/>
                <a:ea typeface="Raleway" pitchFamily="34" charset="-122"/>
                <a:cs typeface="Raleway" pitchFamily="34" charset="-120"/>
              </a:rPr>
              <a:t>129.696</a:t>
            </a:r>
            <a:endParaRPr lang="en-US" sz="624" dirty="0"/>
          </a:p>
        </p:txBody>
      </p:sp>
      <p:sp>
        <p:nvSpPr>
          <p:cNvPr id="53" name="Text 50"/>
          <p:cNvSpPr/>
          <p:nvPr/>
        </p:nvSpPr>
        <p:spPr>
          <a:xfrm>
            <a:off x="10152203" y="2001166"/>
            <a:ext cx="1266781" cy="171450"/>
          </a:xfrm>
          <a:prstGeom prst="rect">
            <a:avLst/>
          </a:prstGeom>
          <a:noFill/>
          <a:ln/>
        </p:spPr>
        <p:txBody>
          <a:bodyPr wrap="square" lIns="19050" tIns="47625" rIns="47625"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 Rech.</a:t>
            </a:r>
            <a:endParaRPr lang="en-US" sz="888" dirty="0"/>
          </a:p>
        </p:txBody>
      </p:sp>
      <p:sp>
        <p:nvSpPr>
          <p:cNvPr id="54" name="Text 51"/>
          <p:cNvSpPr/>
          <p:nvPr/>
        </p:nvSpPr>
        <p:spPr>
          <a:xfrm>
            <a:off x="7013201" y="2172616"/>
            <a:ext cx="1524154" cy="204787"/>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201.409</a:t>
            </a:r>
            <a:endParaRPr lang="en-US" sz="672" dirty="0"/>
          </a:p>
        </p:txBody>
      </p:sp>
      <p:sp>
        <p:nvSpPr>
          <p:cNvPr id="55" name="Text 52"/>
          <p:cNvSpPr/>
          <p:nvPr/>
        </p:nvSpPr>
        <p:spPr>
          <a:xfrm>
            <a:off x="7013201" y="2586953"/>
            <a:ext cx="1524154" cy="209550"/>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134.897</a:t>
            </a:r>
            <a:endParaRPr lang="en-US" sz="672" dirty="0"/>
          </a:p>
        </p:txBody>
      </p:sp>
      <p:sp>
        <p:nvSpPr>
          <p:cNvPr id="56" name="Text 53"/>
          <p:cNvSpPr/>
          <p:nvPr/>
        </p:nvSpPr>
        <p:spPr>
          <a:xfrm>
            <a:off x="7013201" y="2796503"/>
            <a:ext cx="1524154" cy="209550"/>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153.111</a:t>
            </a:r>
            <a:endParaRPr lang="en-US" sz="672" dirty="0"/>
          </a:p>
        </p:txBody>
      </p:sp>
      <p:sp>
        <p:nvSpPr>
          <p:cNvPr id="57" name="Text 54"/>
          <p:cNvSpPr/>
          <p:nvPr/>
        </p:nvSpPr>
        <p:spPr>
          <a:xfrm>
            <a:off x="8492962" y="2796503"/>
            <a:ext cx="1816936" cy="209550"/>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114.123</a:t>
            </a:r>
            <a:endParaRPr lang="en-US" sz="672" dirty="0"/>
          </a:p>
        </p:txBody>
      </p:sp>
      <p:sp>
        <p:nvSpPr>
          <p:cNvPr id="58" name="Text 55"/>
          <p:cNvSpPr/>
          <p:nvPr/>
        </p:nvSpPr>
        <p:spPr>
          <a:xfrm>
            <a:off x="7013201" y="3006053"/>
            <a:ext cx="1524154" cy="209550"/>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154.335</a:t>
            </a:r>
            <a:endParaRPr lang="en-US" sz="672" dirty="0"/>
          </a:p>
        </p:txBody>
      </p:sp>
      <p:sp>
        <p:nvSpPr>
          <p:cNvPr id="59" name="Text 56"/>
          <p:cNvSpPr/>
          <p:nvPr/>
        </p:nvSpPr>
        <p:spPr>
          <a:xfrm>
            <a:off x="8492962" y="3006053"/>
            <a:ext cx="1816936" cy="209550"/>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116.691</a:t>
            </a:r>
            <a:endParaRPr lang="en-US" sz="672" dirty="0"/>
          </a:p>
        </p:txBody>
      </p:sp>
      <p:sp>
        <p:nvSpPr>
          <p:cNvPr id="60" name="Text 57"/>
          <p:cNvSpPr/>
          <p:nvPr/>
        </p:nvSpPr>
        <p:spPr>
          <a:xfrm>
            <a:off x="7013201" y="3215603"/>
            <a:ext cx="1524154" cy="209550"/>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173.413</a:t>
            </a:r>
            <a:endParaRPr lang="en-US" sz="672" dirty="0"/>
          </a:p>
        </p:txBody>
      </p:sp>
      <p:sp>
        <p:nvSpPr>
          <p:cNvPr id="61" name="Text 58"/>
          <p:cNvSpPr/>
          <p:nvPr/>
        </p:nvSpPr>
        <p:spPr>
          <a:xfrm>
            <a:off x="8492962" y="3215603"/>
            <a:ext cx="1816936" cy="209550"/>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109.130</a:t>
            </a:r>
            <a:endParaRPr lang="en-US" sz="672" dirty="0"/>
          </a:p>
        </p:txBody>
      </p:sp>
      <p:sp>
        <p:nvSpPr>
          <p:cNvPr id="62" name="Text 59"/>
          <p:cNvSpPr/>
          <p:nvPr/>
        </p:nvSpPr>
        <p:spPr>
          <a:xfrm>
            <a:off x="7013201" y="3425153"/>
            <a:ext cx="1524154" cy="204787"/>
          </a:xfrm>
          <a:prstGeom prst="rect">
            <a:avLst/>
          </a:prstGeom>
          <a:noFill/>
          <a:ln/>
        </p:spPr>
        <p:txBody>
          <a:bodyPr wrap="square" lIns="19050" tIns="47625" rIns="47625" bIns="19050" rtlCol="0" anchor="ctr"/>
          <a:lstStyle/>
          <a:p>
            <a:pPr marL="0" indent="0" algn="r">
              <a:buNone/>
            </a:pPr>
            <a:r>
              <a:rPr lang="en-US" sz="624" b="1" dirty="0">
                <a:solidFill>
                  <a:srgbClr val="120180"/>
                </a:solidFill>
                <a:latin typeface="Raleway" pitchFamily="34" charset="0"/>
                <a:ea typeface="Raleway" pitchFamily="34" charset="-122"/>
                <a:cs typeface="Raleway" pitchFamily="34" charset="-120"/>
              </a:rPr>
              <a:t>912.083</a:t>
            </a:r>
            <a:endParaRPr lang="en-US" sz="624" dirty="0"/>
          </a:p>
        </p:txBody>
      </p:sp>
      <p:sp>
        <p:nvSpPr>
          <p:cNvPr id="63" name="Text 60"/>
          <p:cNvSpPr/>
          <p:nvPr/>
        </p:nvSpPr>
        <p:spPr>
          <a:xfrm>
            <a:off x="8492962" y="3425153"/>
            <a:ext cx="1816936" cy="204787"/>
          </a:xfrm>
          <a:prstGeom prst="rect">
            <a:avLst/>
          </a:prstGeom>
          <a:noFill/>
          <a:ln/>
        </p:spPr>
        <p:txBody>
          <a:bodyPr wrap="square" lIns="19050" tIns="47625" rIns="47625" bIns="19050" rtlCol="0" anchor="ctr"/>
          <a:lstStyle/>
          <a:p>
            <a:pPr marL="0" indent="0" algn="r">
              <a:buNone/>
            </a:pPr>
            <a:r>
              <a:rPr lang="en-US" sz="624" b="1" dirty="0">
                <a:solidFill>
                  <a:srgbClr val="120180"/>
                </a:solidFill>
                <a:latin typeface="Raleway" pitchFamily="34" charset="0"/>
                <a:ea typeface="Raleway" pitchFamily="34" charset="-122"/>
                <a:cs typeface="Raleway" pitchFamily="34" charset="-120"/>
              </a:rPr>
              <a:t>548.368</a:t>
            </a:r>
            <a:endParaRPr lang="en-US" sz="624" dirty="0"/>
          </a:p>
        </p:txBody>
      </p:sp>
      <p:sp>
        <p:nvSpPr>
          <p:cNvPr id="64" name="Text 61"/>
          <p:cNvSpPr/>
          <p:nvPr/>
        </p:nvSpPr>
        <p:spPr>
          <a:xfrm>
            <a:off x="2992494" y="2003863"/>
            <a:ext cx="749890"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65" name="Text 62"/>
          <p:cNvSpPr/>
          <p:nvPr/>
        </p:nvSpPr>
        <p:spPr>
          <a:xfrm>
            <a:off x="4466000" y="2222938"/>
            <a:ext cx="1392938" cy="242888"/>
          </a:xfrm>
          <a:prstGeom prst="rect">
            <a:avLst/>
          </a:prstGeom>
          <a:noFill/>
          <a:ln/>
        </p:spPr>
        <p:txBody>
          <a:bodyPr wrap="square" lIns="38100" tIns="114300" rIns="114300" bIns="38100" rtlCol="0" anchor="ctr"/>
          <a:lstStyle/>
          <a:p>
            <a:pPr marL="0" indent="0" algn="r">
              <a:buNone/>
            </a:pPr>
            <a:r>
              <a:rPr lang="en-US" sz="792" dirty="0">
                <a:solidFill>
                  <a:srgbClr val="333333"/>
                </a:solidFill>
                <a:latin typeface="Raleway" pitchFamily="34" charset="0"/>
                <a:ea typeface="Raleway" pitchFamily="34" charset="-122"/>
                <a:cs typeface="Raleway" pitchFamily="34" charset="-120"/>
              </a:rPr>
              <a:t>19,5 %</a:t>
            </a:r>
            <a:endParaRPr lang="en-US" sz="792" dirty="0"/>
          </a:p>
        </p:txBody>
      </p:sp>
      <p:sp>
        <p:nvSpPr>
          <p:cNvPr id="66" name="Text 63"/>
          <p:cNvSpPr/>
          <p:nvPr/>
        </p:nvSpPr>
        <p:spPr>
          <a:xfrm>
            <a:off x="2160417" y="2475350"/>
            <a:ext cx="857040" cy="247650"/>
          </a:xfrm>
          <a:prstGeom prst="rect">
            <a:avLst/>
          </a:prstGeom>
          <a:noFill/>
          <a:ln/>
        </p:spPr>
        <p:txBody>
          <a:bodyPr wrap="square" lIns="38100" tIns="114300" rIns="114300" bIns="38100" rtlCol="0" anchor="ctr"/>
          <a:lstStyle/>
          <a:p>
            <a:pPr marL="0" indent="0" algn="r">
              <a:buNone/>
            </a:pPr>
            <a:r>
              <a:rPr lang="en-US" sz="792" dirty="0">
                <a:solidFill>
                  <a:srgbClr val="333333"/>
                </a:solidFill>
                <a:latin typeface="Raleway" pitchFamily="34" charset="0"/>
                <a:ea typeface="Raleway" pitchFamily="34" charset="-122"/>
                <a:cs typeface="Raleway" pitchFamily="34" charset="-120"/>
              </a:rPr>
              <a:t>11.686</a:t>
            </a:r>
            <a:endParaRPr lang="en-US" sz="792" dirty="0"/>
          </a:p>
        </p:txBody>
      </p:sp>
      <p:sp>
        <p:nvSpPr>
          <p:cNvPr id="67" name="Text 64"/>
          <p:cNvSpPr/>
          <p:nvPr/>
        </p:nvSpPr>
        <p:spPr>
          <a:xfrm>
            <a:off x="4466000" y="2465825"/>
            <a:ext cx="1392938" cy="247650"/>
          </a:xfrm>
          <a:prstGeom prst="rect">
            <a:avLst/>
          </a:prstGeom>
          <a:noFill/>
          <a:ln/>
        </p:spPr>
        <p:txBody>
          <a:bodyPr wrap="square" lIns="38100" tIns="114300" rIns="114300" bIns="38100" rtlCol="0" anchor="ctr"/>
          <a:lstStyle/>
          <a:p>
            <a:pPr marL="0" indent="0" algn="r">
              <a:buNone/>
            </a:pPr>
            <a:r>
              <a:rPr lang="en-US" sz="792" dirty="0">
                <a:solidFill>
                  <a:srgbClr val="333333"/>
                </a:solidFill>
                <a:latin typeface="Raleway" pitchFamily="34" charset="0"/>
                <a:ea typeface="Raleway" pitchFamily="34" charset="-122"/>
                <a:cs typeface="Raleway" pitchFamily="34" charset="-120"/>
              </a:rPr>
              <a:t>26,6 %</a:t>
            </a:r>
            <a:endParaRPr lang="en-US" sz="792" dirty="0"/>
          </a:p>
        </p:txBody>
      </p:sp>
      <p:sp>
        <p:nvSpPr>
          <p:cNvPr id="68" name="Text 65"/>
          <p:cNvSpPr/>
          <p:nvPr/>
        </p:nvSpPr>
        <p:spPr>
          <a:xfrm>
            <a:off x="2992494" y="3465950"/>
            <a:ext cx="749890" cy="185738"/>
          </a:xfrm>
          <a:prstGeom prst="rect">
            <a:avLst/>
          </a:prstGeom>
          <a:noFill/>
          <a:ln/>
        </p:spPr>
        <p:txBody>
          <a:bodyPr wrap="square" lIns="38100" tIns="114300" rIns="114300" bIns="38100" rtlCol="0" anchor="ctr"/>
          <a:lstStyle/>
          <a:p>
            <a:pPr marL="0" indent="0" algn="r">
              <a:buNone/>
            </a:pPr>
            <a:r>
              <a:rPr lang="en-US" sz="720" b="1" dirty="0">
                <a:solidFill>
                  <a:srgbClr val="120180"/>
                </a:solidFill>
                <a:latin typeface="Raleway" pitchFamily="34" charset="0"/>
                <a:ea typeface="Raleway" pitchFamily="34" charset="-122"/>
                <a:cs typeface="Raleway" pitchFamily="34" charset="-120"/>
              </a:rPr>
              <a:t>11.142</a:t>
            </a:r>
            <a:endParaRPr lang="en-US" sz="720" dirty="0"/>
          </a:p>
        </p:txBody>
      </p:sp>
      <p:sp>
        <p:nvSpPr>
          <p:cNvPr id="69" name="Text 66"/>
          <p:cNvSpPr/>
          <p:nvPr/>
        </p:nvSpPr>
        <p:spPr>
          <a:xfrm>
            <a:off x="4558640" y="4096666"/>
            <a:ext cx="661136"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70" name="Text 67"/>
          <p:cNvSpPr/>
          <p:nvPr/>
        </p:nvSpPr>
        <p:spPr>
          <a:xfrm>
            <a:off x="3075159" y="4268116"/>
            <a:ext cx="854127" cy="204787"/>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21.204</a:t>
            </a:r>
            <a:endParaRPr lang="en-US" sz="660" dirty="0"/>
          </a:p>
        </p:txBody>
      </p:sp>
      <p:sp>
        <p:nvSpPr>
          <p:cNvPr id="71" name="Text 68"/>
          <p:cNvSpPr/>
          <p:nvPr/>
        </p:nvSpPr>
        <p:spPr>
          <a:xfrm>
            <a:off x="1125261" y="4472903"/>
            <a:ext cx="577900"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46.733</a:t>
            </a:r>
            <a:endParaRPr lang="en-US" sz="660" dirty="0"/>
          </a:p>
        </p:txBody>
      </p:sp>
      <p:sp>
        <p:nvSpPr>
          <p:cNvPr id="72" name="Text 69"/>
          <p:cNvSpPr/>
          <p:nvPr/>
        </p:nvSpPr>
        <p:spPr>
          <a:xfrm>
            <a:off x="1686329" y="4472903"/>
            <a:ext cx="731956"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46.426</a:t>
            </a:r>
            <a:endParaRPr lang="en-US" sz="660" dirty="0"/>
          </a:p>
        </p:txBody>
      </p:sp>
      <p:sp>
        <p:nvSpPr>
          <p:cNvPr id="73" name="Text 70"/>
          <p:cNvSpPr/>
          <p:nvPr/>
        </p:nvSpPr>
        <p:spPr>
          <a:xfrm>
            <a:off x="3075159" y="4472903"/>
            <a:ext cx="854127"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19.832</a:t>
            </a:r>
            <a:endParaRPr lang="en-US" sz="660" dirty="0"/>
          </a:p>
        </p:txBody>
      </p:sp>
      <p:sp>
        <p:nvSpPr>
          <p:cNvPr id="74" name="Text 71"/>
          <p:cNvSpPr/>
          <p:nvPr/>
        </p:nvSpPr>
        <p:spPr>
          <a:xfrm>
            <a:off x="1125261" y="4682453"/>
            <a:ext cx="577900"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73.899</a:t>
            </a:r>
            <a:endParaRPr lang="en-US" sz="660" dirty="0"/>
          </a:p>
        </p:txBody>
      </p:sp>
      <p:sp>
        <p:nvSpPr>
          <p:cNvPr id="75" name="Text 72"/>
          <p:cNvSpPr/>
          <p:nvPr/>
        </p:nvSpPr>
        <p:spPr>
          <a:xfrm>
            <a:off x="1686329" y="4682453"/>
            <a:ext cx="731956"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60.402</a:t>
            </a:r>
            <a:endParaRPr lang="en-US" sz="660" dirty="0"/>
          </a:p>
        </p:txBody>
      </p:sp>
      <p:sp>
        <p:nvSpPr>
          <p:cNvPr id="76" name="Text 73"/>
          <p:cNvSpPr/>
          <p:nvPr/>
        </p:nvSpPr>
        <p:spPr>
          <a:xfrm>
            <a:off x="3075159" y="4682453"/>
            <a:ext cx="854127"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27.138</a:t>
            </a:r>
            <a:endParaRPr lang="en-US" sz="660" dirty="0"/>
          </a:p>
        </p:txBody>
      </p:sp>
      <p:sp>
        <p:nvSpPr>
          <p:cNvPr id="77" name="Text 74"/>
          <p:cNvSpPr/>
          <p:nvPr/>
        </p:nvSpPr>
        <p:spPr>
          <a:xfrm>
            <a:off x="1125261" y="4892003"/>
            <a:ext cx="577900"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38.988</a:t>
            </a:r>
            <a:endParaRPr lang="en-US" sz="660" dirty="0"/>
          </a:p>
        </p:txBody>
      </p:sp>
      <p:sp>
        <p:nvSpPr>
          <p:cNvPr id="78" name="Text 75"/>
          <p:cNvSpPr/>
          <p:nvPr/>
        </p:nvSpPr>
        <p:spPr>
          <a:xfrm>
            <a:off x="1686329" y="4892003"/>
            <a:ext cx="731956"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31.039</a:t>
            </a:r>
            <a:endParaRPr lang="en-US" sz="660" dirty="0"/>
          </a:p>
        </p:txBody>
      </p:sp>
      <p:sp>
        <p:nvSpPr>
          <p:cNvPr id="79" name="Text 76"/>
          <p:cNvSpPr/>
          <p:nvPr/>
        </p:nvSpPr>
        <p:spPr>
          <a:xfrm>
            <a:off x="3075159" y="4892003"/>
            <a:ext cx="854127"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16.200</a:t>
            </a:r>
            <a:endParaRPr lang="en-US" sz="660" dirty="0"/>
          </a:p>
        </p:txBody>
      </p:sp>
      <p:sp>
        <p:nvSpPr>
          <p:cNvPr id="80" name="Text 77"/>
          <p:cNvSpPr/>
          <p:nvPr/>
        </p:nvSpPr>
        <p:spPr>
          <a:xfrm>
            <a:off x="1125261" y="5101553"/>
            <a:ext cx="577900"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37.644</a:t>
            </a:r>
            <a:endParaRPr lang="en-US" sz="660" dirty="0"/>
          </a:p>
        </p:txBody>
      </p:sp>
      <p:sp>
        <p:nvSpPr>
          <p:cNvPr id="81" name="Text 78"/>
          <p:cNvSpPr/>
          <p:nvPr/>
        </p:nvSpPr>
        <p:spPr>
          <a:xfrm>
            <a:off x="1686329" y="5101553"/>
            <a:ext cx="731956"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37.642</a:t>
            </a:r>
            <a:endParaRPr lang="en-US" sz="660" dirty="0"/>
          </a:p>
        </p:txBody>
      </p:sp>
      <p:sp>
        <p:nvSpPr>
          <p:cNvPr id="82" name="Text 79"/>
          <p:cNvSpPr/>
          <p:nvPr/>
        </p:nvSpPr>
        <p:spPr>
          <a:xfrm>
            <a:off x="3075159" y="5101553"/>
            <a:ext cx="854127"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24.031</a:t>
            </a:r>
            <a:endParaRPr lang="en-US" sz="660" dirty="0"/>
          </a:p>
        </p:txBody>
      </p:sp>
      <p:sp>
        <p:nvSpPr>
          <p:cNvPr id="83" name="Text 80"/>
          <p:cNvSpPr/>
          <p:nvPr/>
        </p:nvSpPr>
        <p:spPr>
          <a:xfrm>
            <a:off x="1125261" y="5311103"/>
            <a:ext cx="577900"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64.283</a:t>
            </a:r>
            <a:endParaRPr lang="en-US" sz="660" dirty="0"/>
          </a:p>
        </p:txBody>
      </p:sp>
      <p:sp>
        <p:nvSpPr>
          <p:cNvPr id="84" name="Text 81"/>
          <p:cNvSpPr/>
          <p:nvPr/>
        </p:nvSpPr>
        <p:spPr>
          <a:xfrm>
            <a:off x="1686329" y="5311103"/>
            <a:ext cx="731956"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43.410</a:t>
            </a:r>
            <a:endParaRPr lang="en-US" sz="660" dirty="0"/>
          </a:p>
        </p:txBody>
      </p:sp>
      <p:sp>
        <p:nvSpPr>
          <p:cNvPr id="85" name="Text 82"/>
          <p:cNvSpPr/>
          <p:nvPr/>
        </p:nvSpPr>
        <p:spPr>
          <a:xfrm>
            <a:off x="3075159" y="5311103"/>
            <a:ext cx="854127"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21.291</a:t>
            </a:r>
            <a:endParaRPr lang="en-US" sz="660" dirty="0"/>
          </a:p>
        </p:txBody>
      </p:sp>
      <p:sp>
        <p:nvSpPr>
          <p:cNvPr id="86" name="Text 83"/>
          <p:cNvSpPr/>
          <p:nvPr/>
        </p:nvSpPr>
        <p:spPr>
          <a:xfrm>
            <a:off x="4558640" y="5520653"/>
            <a:ext cx="661136" cy="204787"/>
          </a:xfrm>
          <a:prstGeom prst="rect">
            <a:avLst/>
          </a:prstGeom>
          <a:noFill/>
          <a:ln/>
        </p:spPr>
        <p:txBody>
          <a:bodyPr wrap="square" lIns="19050" tIns="38100" rIns="38100" bIns="19050" rtlCol="0" anchor="ctr"/>
          <a:lstStyle/>
          <a:p>
            <a:pPr marL="0" indent="0" algn="r">
              <a:buNone/>
            </a:pPr>
            <a:r>
              <a:rPr lang="en-US" sz="624" b="1" dirty="0">
                <a:solidFill>
                  <a:srgbClr val="120180"/>
                </a:solidFill>
                <a:latin typeface="Raleway" pitchFamily="34" charset="0"/>
                <a:ea typeface="Raleway" pitchFamily="34" charset="-122"/>
                <a:cs typeface="Raleway" pitchFamily="34" charset="-120"/>
              </a:rPr>
              <a:t>13.917</a:t>
            </a:r>
            <a:endParaRPr lang="en-US" sz="624" dirty="0"/>
          </a:p>
        </p:txBody>
      </p:sp>
      <p:sp>
        <p:nvSpPr>
          <p:cNvPr id="87" name="Text 84"/>
          <p:cNvSpPr/>
          <p:nvPr/>
        </p:nvSpPr>
        <p:spPr>
          <a:xfrm>
            <a:off x="8492962" y="2172616"/>
            <a:ext cx="1816936" cy="204787"/>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99.241</a:t>
            </a:r>
            <a:endParaRPr lang="en-US" sz="672" dirty="0"/>
          </a:p>
        </p:txBody>
      </p:sp>
      <p:sp>
        <p:nvSpPr>
          <p:cNvPr id="88" name="Text 85"/>
          <p:cNvSpPr/>
          <p:nvPr/>
        </p:nvSpPr>
        <p:spPr>
          <a:xfrm>
            <a:off x="10152203" y="2172616"/>
            <a:ext cx="1266781" cy="204787"/>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49,3 %</a:t>
            </a:r>
            <a:endParaRPr lang="en-US" sz="672" dirty="0"/>
          </a:p>
        </p:txBody>
      </p:sp>
      <p:sp>
        <p:nvSpPr>
          <p:cNvPr id="89" name="Text 86"/>
          <p:cNvSpPr/>
          <p:nvPr/>
        </p:nvSpPr>
        <p:spPr>
          <a:xfrm>
            <a:off x="7013201" y="2377403"/>
            <a:ext cx="1524154" cy="209550"/>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94.918</a:t>
            </a:r>
            <a:endParaRPr lang="en-US" sz="672" dirty="0"/>
          </a:p>
        </p:txBody>
      </p:sp>
      <p:sp>
        <p:nvSpPr>
          <p:cNvPr id="90" name="Text 87"/>
          <p:cNvSpPr/>
          <p:nvPr/>
        </p:nvSpPr>
        <p:spPr>
          <a:xfrm>
            <a:off x="8492962" y="2377403"/>
            <a:ext cx="1816936" cy="209550"/>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48.185</a:t>
            </a:r>
            <a:endParaRPr lang="en-US" sz="672" dirty="0"/>
          </a:p>
        </p:txBody>
      </p:sp>
      <p:sp>
        <p:nvSpPr>
          <p:cNvPr id="91" name="Text 88"/>
          <p:cNvSpPr/>
          <p:nvPr/>
        </p:nvSpPr>
        <p:spPr>
          <a:xfrm>
            <a:off x="10152203" y="2377403"/>
            <a:ext cx="1266781" cy="209550"/>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50,8 %</a:t>
            </a:r>
            <a:endParaRPr lang="en-US" sz="672" dirty="0"/>
          </a:p>
        </p:txBody>
      </p:sp>
      <p:sp>
        <p:nvSpPr>
          <p:cNvPr id="92" name="Text 89"/>
          <p:cNvSpPr/>
          <p:nvPr/>
        </p:nvSpPr>
        <p:spPr>
          <a:xfrm>
            <a:off x="8492962" y="2586953"/>
            <a:ext cx="1816936" cy="209550"/>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60.998</a:t>
            </a:r>
            <a:endParaRPr lang="en-US" sz="672" dirty="0"/>
          </a:p>
        </p:txBody>
      </p:sp>
      <p:sp>
        <p:nvSpPr>
          <p:cNvPr id="93" name="Text 90"/>
          <p:cNvSpPr/>
          <p:nvPr/>
        </p:nvSpPr>
        <p:spPr>
          <a:xfrm>
            <a:off x="10152203" y="2586953"/>
            <a:ext cx="1266781" cy="209550"/>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45,2 %</a:t>
            </a:r>
            <a:endParaRPr lang="en-US" sz="672" dirty="0"/>
          </a:p>
        </p:txBody>
      </p:sp>
      <p:sp>
        <p:nvSpPr>
          <p:cNvPr id="94" name="Text 91"/>
          <p:cNvSpPr/>
          <p:nvPr/>
        </p:nvSpPr>
        <p:spPr>
          <a:xfrm>
            <a:off x="10152203" y="2796503"/>
            <a:ext cx="1266781" cy="209550"/>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74,5 %</a:t>
            </a:r>
            <a:endParaRPr lang="en-US" sz="672" dirty="0"/>
          </a:p>
        </p:txBody>
      </p:sp>
      <p:sp>
        <p:nvSpPr>
          <p:cNvPr id="95" name="Text 92"/>
          <p:cNvSpPr/>
          <p:nvPr/>
        </p:nvSpPr>
        <p:spPr>
          <a:xfrm>
            <a:off x="10152203" y="3006053"/>
            <a:ext cx="1266781" cy="209550"/>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75,6 %</a:t>
            </a:r>
            <a:endParaRPr lang="en-US" sz="672" dirty="0"/>
          </a:p>
        </p:txBody>
      </p:sp>
      <p:sp>
        <p:nvSpPr>
          <p:cNvPr id="96" name="Text 93"/>
          <p:cNvSpPr/>
          <p:nvPr/>
        </p:nvSpPr>
        <p:spPr>
          <a:xfrm>
            <a:off x="10152203" y="3215603"/>
            <a:ext cx="1266781" cy="209550"/>
          </a:xfrm>
          <a:prstGeom prst="rect">
            <a:avLst/>
          </a:prstGeom>
          <a:noFill/>
          <a:ln/>
        </p:spPr>
        <p:txBody>
          <a:bodyPr wrap="square" lIns="19050" tIns="47625" rIns="47625" bIns="19050" rtlCol="0" anchor="ctr"/>
          <a:lstStyle/>
          <a:p>
            <a:pPr marL="0" indent="0" algn="r">
              <a:buNone/>
            </a:pPr>
            <a:r>
              <a:rPr lang="en-US" sz="672" dirty="0">
                <a:solidFill>
                  <a:srgbClr val="333333"/>
                </a:solidFill>
                <a:latin typeface="Raleway" pitchFamily="34" charset="0"/>
                <a:ea typeface="Raleway" pitchFamily="34" charset="-122"/>
                <a:cs typeface="Raleway" pitchFamily="34" charset="-120"/>
              </a:rPr>
              <a:t>62,9 %</a:t>
            </a:r>
            <a:endParaRPr lang="en-US" sz="672" dirty="0"/>
          </a:p>
        </p:txBody>
      </p:sp>
      <p:sp>
        <p:nvSpPr>
          <p:cNvPr id="97" name="Text 94"/>
          <p:cNvSpPr/>
          <p:nvPr/>
        </p:nvSpPr>
        <p:spPr>
          <a:xfrm>
            <a:off x="10152203" y="3425153"/>
            <a:ext cx="1266781" cy="204787"/>
          </a:xfrm>
          <a:prstGeom prst="rect">
            <a:avLst/>
          </a:prstGeom>
          <a:noFill/>
          <a:ln/>
        </p:spPr>
        <p:txBody>
          <a:bodyPr wrap="square" lIns="19050" tIns="47625" rIns="47625" bIns="19050" rtlCol="0" anchor="ctr"/>
          <a:lstStyle/>
          <a:p>
            <a:pPr marL="0" indent="0" algn="r">
              <a:buNone/>
            </a:pPr>
            <a:r>
              <a:rPr lang="en-US" sz="624" b="1" dirty="0">
                <a:solidFill>
                  <a:srgbClr val="120180"/>
                </a:solidFill>
                <a:latin typeface="Raleway" pitchFamily="34" charset="0"/>
                <a:ea typeface="Raleway" pitchFamily="34" charset="-122"/>
                <a:cs typeface="Raleway" pitchFamily="34" charset="-120"/>
              </a:rPr>
              <a:t>60,1 %</a:t>
            </a:r>
            <a:endParaRPr lang="en-US" sz="624" dirty="0"/>
          </a:p>
        </p:txBody>
      </p:sp>
      <p:sp>
        <p:nvSpPr>
          <p:cNvPr id="98" name="Text 95"/>
          <p:cNvSpPr/>
          <p:nvPr/>
        </p:nvSpPr>
        <p:spPr>
          <a:xfrm>
            <a:off x="1088204" y="1143000"/>
            <a:ext cx="274320" cy="128016"/>
          </a:xfrm>
          <a:prstGeom prst="rect">
            <a:avLst/>
          </a:prstGeom>
          <a:noFill/>
          <a:ln/>
        </p:spPr>
        <p:txBody>
          <a:bodyPr wrap="square" lIns="0" tIns="0" rIns="0" bIns="0" rtlCol="0" anchor="t"/>
          <a:lstStyle/>
          <a:p>
            <a:pPr marL="0" indent="0" algn="l">
              <a:buNone/>
            </a:pPr>
            <a:r>
              <a:rPr lang="en-US" sz="600" dirty="0">
                <a:solidFill>
                  <a:srgbClr val="9098B0"/>
                </a:solidFill>
                <a:latin typeface="Raleway" pitchFamily="34" charset="0"/>
                <a:ea typeface="Raleway" pitchFamily="34" charset="-122"/>
                <a:cs typeface="Raleway" pitchFamily="34" charset="-120"/>
              </a:rPr>
              <a:t>ventas</a:t>
            </a:r>
            <a:endParaRPr lang="en-US" sz="600" dirty="0"/>
          </a:p>
        </p:txBody>
      </p:sp>
      <p:sp>
        <p:nvSpPr>
          <p:cNvPr id="99" name="Text 96"/>
          <p:cNvSpPr/>
          <p:nvPr/>
        </p:nvSpPr>
        <p:spPr>
          <a:xfrm>
            <a:off x="3505112" y="1114425"/>
            <a:ext cx="2511489" cy="133365"/>
          </a:xfrm>
          <a:prstGeom prst="rect">
            <a:avLst/>
          </a:prstGeom>
          <a:noFill/>
          <a:ln/>
        </p:spPr>
        <p:txBody>
          <a:bodyPr wrap="square" lIns="0" tIns="0" rIns="0" bIns="0" rtlCol="0" anchor="t"/>
          <a:lstStyle/>
          <a:p>
            <a:pPr marL="0" indent="0" algn="l">
              <a:buNone/>
            </a:pPr>
            <a:r>
              <a:rPr lang="en-US" sz="1020" b="1" dirty="0">
                <a:solidFill>
                  <a:srgbClr val="00CD93"/>
                </a:solidFill>
                <a:latin typeface="Raleway" pitchFamily="34" charset="0"/>
                <a:ea typeface="Raleway" pitchFamily="34" charset="-122"/>
                <a:cs typeface="Raleway" pitchFamily="34" charset="-120"/>
              </a:rPr>
              <a:t>26,6 %</a:t>
            </a:r>
            <a:endParaRPr lang="en-US" sz="1020" dirty="0"/>
          </a:p>
        </p:txBody>
      </p:sp>
      <p:sp>
        <p:nvSpPr>
          <p:cNvPr id="100" name="Text 97"/>
          <p:cNvSpPr/>
          <p:nvPr/>
        </p:nvSpPr>
        <p:spPr>
          <a:xfrm>
            <a:off x="6649177" y="1143000"/>
            <a:ext cx="274320" cy="128016"/>
          </a:xfrm>
          <a:prstGeom prst="rect">
            <a:avLst/>
          </a:prstGeom>
          <a:noFill/>
          <a:ln/>
        </p:spPr>
        <p:txBody>
          <a:bodyPr wrap="square" lIns="0" tIns="0" rIns="0" bIns="0" rtlCol="0" anchor="t"/>
          <a:lstStyle/>
          <a:p>
            <a:pPr marL="0" indent="0" algn="l">
              <a:buNone/>
            </a:pPr>
            <a:r>
              <a:rPr lang="en-US" sz="600" dirty="0">
                <a:solidFill>
                  <a:srgbClr val="9098B0"/>
                </a:solidFill>
                <a:latin typeface="Raleway" pitchFamily="34" charset="0"/>
                <a:ea typeface="Raleway" pitchFamily="34" charset="-122"/>
                <a:cs typeface="Raleway" pitchFamily="34" charset="-120"/>
              </a:rPr>
              <a:t>ventas</a:t>
            </a:r>
            <a:endParaRPr lang="en-US" sz="600" dirty="0"/>
          </a:p>
        </p:txBody>
      </p:sp>
      <p:sp>
        <p:nvSpPr>
          <p:cNvPr id="101" name="Text 98"/>
          <p:cNvSpPr/>
          <p:nvPr/>
        </p:nvSpPr>
        <p:spPr>
          <a:xfrm>
            <a:off x="9317301" y="1143000"/>
            <a:ext cx="274320" cy="128016"/>
          </a:xfrm>
          <a:prstGeom prst="rect">
            <a:avLst/>
          </a:prstGeom>
          <a:noFill/>
          <a:ln/>
        </p:spPr>
        <p:txBody>
          <a:bodyPr wrap="square" lIns="0" tIns="0" rIns="0" bIns="0" rtlCol="0" anchor="t"/>
          <a:lstStyle/>
          <a:p>
            <a:pPr marL="0" indent="0" algn="l">
              <a:buNone/>
            </a:pPr>
            <a:r>
              <a:rPr lang="en-US" sz="600" dirty="0">
                <a:solidFill>
                  <a:srgbClr val="9098B0"/>
                </a:solidFill>
                <a:latin typeface="Raleway" pitchFamily="34" charset="0"/>
                <a:ea typeface="Raleway" pitchFamily="34" charset="-122"/>
                <a:cs typeface="Raleway" pitchFamily="34" charset="-120"/>
              </a:rPr>
              <a:t>ventas</a:t>
            </a:r>
            <a:endParaRPr lang="en-US" sz="600" dirty="0"/>
          </a:p>
        </p:txBody>
      </p:sp>
      <p:sp>
        <p:nvSpPr>
          <p:cNvPr id="102" name="Text 99"/>
          <p:cNvSpPr/>
          <p:nvPr/>
        </p:nvSpPr>
        <p:spPr>
          <a:xfrm>
            <a:off x="2992494" y="2232463"/>
            <a:ext cx="749890" cy="242888"/>
          </a:xfrm>
          <a:prstGeom prst="rect">
            <a:avLst/>
          </a:prstGeom>
          <a:noFill/>
          <a:ln/>
        </p:spPr>
        <p:txBody>
          <a:bodyPr wrap="square" lIns="38100" tIns="114300" rIns="114300" bIns="38100" rtlCol="0" anchor="ctr"/>
          <a:lstStyle/>
          <a:p>
            <a:pPr marL="0" indent="0" algn="r">
              <a:buNone/>
            </a:pPr>
            <a:r>
              <a:rPr lang="en-US" sz="792" b="1" dirty="0">
                <a:solidFill>
                  <a:srgbClr val="333333"/>
                </a:solidFill>
                <a:latin typeface="Raleway" pitchFamily="34" charset="0"/>
                <a:ea typeface="Raleway" pitchFamily="34" charset="-122"/>
                <a:cs typeface="Raleway" pitchFamily="34" charset="-120"/>
              </a:rPr>
              <a:t>6.881</a:t>
            </a:r>
            <a:endParaRPr lang="en-US" sz="792" dirty="0"/>
          </a:p>
        </p:txBody>
      </p:sp>
      <p:sp>
        <p:nvSpPr>
          <p:cNvPr id="103" name="Text 100"/>
          <p:cNvSpPr/>
          <p:nvPr/>
        </p:nvSpPr>
        <p:spPr>
          <a:xfrm>
            <a:off x="2992494" y="2723000"/>
            <a:ext cx="749890" cy="247650"/>
          </a:xfrm>
          <a:prstGeom prst="rect">
            <a:avLst/>
          </a:prstGeom>
          <a:noFill/>
          <a:ln/>
        </p:spPr>
        <p:txBody>
          <a:bodyPr wrap="square" lIns="38100" tIns="114300" rIns="114300" bIns="38100" rtlCol="0" anchor="ctr"/>
          <a:lstStyle/>
          <a:p>
            <a:pPr marL="0" indent="0" algn="r">
              <a:buNone/>
            </a:pPr>
            <a:r>
              <a:rPr lang="en-US" sz="792" b="1" dirty="0">
                <a:solidFill>
                  <a:srgbClr val="333333"/>
                </a:solidFill>
                <a:latin typeface="Raleway" pitchFamily="34" charset="0"/>
                <a:ea typeface="Raleway" pitchFamily="34" charset="-122"/>
                <a:cs typeface="Raleway" pitchFamily="34" charset="-120"/>
              </a:rPr>
              <a:t>3.073</a:t>
            </a:r>
            <a:endParaRPr lang="en-US" sz="792" dirty="0"/>
          </a:p>
        </p:txBody>
      </p:sp>
      <p:sp>
        <p:nvSpPr>
          <p:cNvPr id="104" name="Text 101"/>
          <p:cNvSpPr/>
          <p:nvPr/>
        </p:nvSpPr>
        <p:spPr>
          <a:xfrm>
            <a:off x="4466000" y="2713475"/>
            <a:ext cx="1392938" cy="247650"/>
          </a:xfrm>
          <a:prstGeom prst="rect">
            <a:avLst/>
          </a:prstGeom>
          <a:noFill/>
          <a:ln/>
        </p:spPr>
        <p:txBody>
          <a:bodyPr wrap="square" lIns="38100" tIns="114300" rIns="114300" bIns="38100" rtlCol="0" anchor="ctr"/>
          <a:lstStyle/>
          <a:p>
            <a:pPr marL="0" indent="0" algn="r">
              <a:buNone/>
            </a:pPr>
            <a:r>
              <a:rPr lang="en-US" sz="792" dirty="0">
                <a:solidFill>
                  <a:srgbClr val="333333"/>
                </a:solidFill>
                <a:latin typeface="Raleway" pitchFamily="34" charset="0"/>
                <a:ea typeface="Raleway" pitchFamily="34" charset="-122"/>
                <a:cs typeface="Raleway" pitchFamily="34" charset="-120"/>
              </a:rPr>
              <a:t>4,6 %</a:t>
            </a:r>
            <a:endParaRPr lang="en-US" sz="792" dirty="0"/>
          </a:p>
        </p:txBody>
      </p:sp>
      <p:sp>
        <p:nvSpPr>
          <p:cNvPr id="105" name="Text 102"/>
          <p:cNvSpPr/>
          <p:nvPr/>
        </p:nvSpPr>
        <p:spPr>
          <a:xfrm>
            <a:off x="4466000" y="2961125"/>
            <a:ext cx="1392938" cy="247650"/>
          </a:xfrm>
          <a:prstGeom prst="rect">
            <a:avLst/>
          </a:prstGeom>
          <a:noFill/>
          <a:ln/>
        </p:spPr>
        <p:txBody>
          <a:bodyPr wrap="square" lIns="38100" tIns="114300" rIns="114300" bIns="38100" rtlCol="0" anchor="ctr"/>
          <a:lstStyle/>
          <a:p>
            <a:pPr marL="0" indent="0" algn="r">
              <a:buNone/>
            </a:pPr>
            <a:r>
              <a:rPr lang="en-US" sz="792" dirty="0">
                <a:solidFill>
                  <a:srgbClr val="333333"/>
                </a:solidFill>
                <a:latin typeface="Raleway" pitchFamily="34" charset="0"/>
                <a:ea typeface="Raleway" pitchFamily="34" charset="-122"/>
                <a:cs typeface="Raleway" pitchFamily="34" charset="-120"/>
              </a:rPr>
              <a:t>1,9 %</a:t>
            </a:r>
            <a:endParaRPr lang="en-US" sz="792" dirty="0"/>
          </a:p>
        </p:txBody>
      </p:sp>
      <p:sp>
        <p:nvSpPr>
          <p:cNvPr id="106" name="Text 103"/>
          <p:cNvSpPr/>
          <p:nvPr/>
        </p:nvSpPr>
        <p:spPr>
          <a:xfrm>
            <a:off x="4466000" y="3208775"/>
            <a:ext cx="1392938" cy="247650"/>
          </a:xfrm>
          <a:prstGeom prst="rect">
            <a:avLst/>
          </a:prstGeom>
          <a:noFill/>
          <a:ln/>
        </p:spPr>
        <p:txBody>
          <a:bodyPr wrap="square" lIns="38100" tIns="114300" rIns="114300" bIns="38100" rtlCol="0" anchor="ctr"/>
          <a:lstStyle/>
          <a:p>
            <a:pPr marL="0" indent="0" algn="r">
              <a:buNone/>
            </a:pPr>
            <a:r>
              <a:rPr lang="en-US" sz="792" dirty="0">
                <a:solidFill>
                  <a:srgbClr val="333333"/>
                </a:solidFill>
                <a:latin typeface="Raleway" pitchFamily="34" charset="0"/>
                <a:ea typeface="Raleway" pitchFamily="34" charset="-122"/>
                <a:cs typeface="Raleway" pitchFamily="34" charset="-120"/>
              </a:rPr>
              <a:t>1,2 %</a:t>
            </a:r>
            <a:endParaRPr lang="en-US" sz="792" dirty="0"/>
          </a:p>
        </p:txBody>
      </p:sp>
      <p:sp>
        <p:nvSpPr>
          <p:cNvPr id="107" name="Text 104"/>
          <p:cNvSpPr/>
          <p:nvPr/>
        </p:nvSpPr>
        <p:spPr>
          <a:xfrm>
            <a:off x="808347" y="3465950"/>
            <a:ext cx="1392632" cy="185738"/>
          </a:xfrm>
          <a:prstGeom prst="rect">
            <a:avLst/>
          </a:prstGeom>
          <a:noFill/>
          <a:ln/>
        </p:spPr>
        <p:txBody>
          <a:bodyPr wrap="square" lIns="38100" tIns="114300" rIns="114300" bIns="38100" rtlCol="0" anchor="ctr"/>
          <a:lstStyle/>
          <a:p>
            <a:pPr marL="0" indent="0" algn="l">
              <a:buNone/>
            </a:pPr>
            <a:r>
              <a:rPr lang="en-US" sz="720" b="1" dirty="0">
                <a:solidFill>
                  <a:srgbClr val="120180"/>
                </a:solidFill>
                <a:latin typeface="Raleway" pitchFamily="34" charset="0"/>
                <a:ea typeface="Raleway" pitchFamily="34" charset="-122"/>
                <a:cs typeface="Raleway" pitchFamily="34" charset="-120"/>
              </a:rPr>
              <a:t>Total</a:t>
            </a:r>
            <a:endParaRPr lang="en-US" sz="720" dirty="0"/>
          </a:p>
        </p:txBody>
      </p:sp>
      <p:sp>
        <p:nvSpPr>
          <p:cNvPr id="108" name="Text 105"/>
          <p:cNvSpPr/>
          <p:nvPr/>
        </p:nvSpPr>
        <p:spPr>
          <a:xfrm>
            <a:off x="4466000" y="3456425"/>
            <a:ext cx="1392938" cy="185738"/>
          </a:xfrm>
          <a:prstGeom prst="rect">
            <a:avLst/>
          </a:prstGeom>
          <a:noFill/>
          <a:ln/>
        </p:spPr>
        <p:txBody>
          <a:bodyPr wrap="square" lIns="38100" tIns="114300" rIns="114300" bIns="38100" rtlCol="0" anchor="ctr"/>
          <a:lstStyle/>
          <a:p>
            <a:pPr marL="0" indent="0" algn="r">
              <a:buNone/>
            </a:pPr>
            <a:r>
              <a:rPr lang="en-US" sz="720" b="1" dirty="0">
                <a:solidFill>
                  <a:srgbClr val="120180"/>
                </a:solidFill>
                <a:latin typeface="Raleway" pitchFamily="34" charset="0"/>
                <a:ea typeface="Raleway" pitchFamily="34" charset="-122"/>
                <a:cs typeface="Raleway" pitchFamily="34" charset="-120"/>
              </a:rPr>
              <a:t>8,6 %</a:t>
            </a:r>
            <a:endParaRPr lang="en-US" sz="720" dirty="0"/>
          </a:p>
        </p:txBody>
      </p:sp>
      <p:sp>
        <p:nvSpPr>
          <p:cNvPr id="109" name="Text 106"/>
          <p:cNvSpPr/>
          <p:nvPr/>
        </p:nvSpPr>
        <p:spPr>
          <a:xfrm>
            <a:off x="1125261" y="4096666"/>
            <a:ext cx="57790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110" name="Text 107"/>
          <p:cNvSpPr/>
          <p:nvPr/>
        </p:nvSpPr>
        <p:spPr>
          <a:xfrm>
            <a:off x="4558640" y="4268116"/>
            <a:ext cx="661136" cy="204787"/>
          </a:xfrm>
          <a:prstGeom prst="rect">
            <a:avLst/>
          </a:prstGeom>
          <a:noFill/>
          <a:ln/>
        </p:spPr>
        <p:txBody>
          <a:bodyPr wrap="square" lIns="19050" tIns="38100" rIns="3810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2.245</a:t>
            </a:r>
            <a:endParaRPr lang="en-US" sz="660" dirty="0"/>
          </a:p>
        </p:txBody>
      </p:sp>
      <p:sp>
        <p:nvSpPr>
          <p:cNvPr id="111" name="Text 108"/>
          <p:cNvSpPr/>
          <p:nvPr/>
        </p:nvSpPr>
        <p:spPr>
          <a:xfrm>
            <a:off x="4558640" y="4472903"/>
            <a:ext cx="661136" cy="209550"/>
          </a:xfrm>
          <a:prstGeom prst="rect">
            <a:avLst/>
          </a:prstGeom>
          <a:noFill/>
          <a:ln/>
        </p:spPr>
        <p:txBody>
          <a:bodyPr wrap="square" lIns="19050" tIns="38100" rIns="3810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2.374</a:t>
            </a:r>
            <a:endParaRPr lang="en-US" sz="660" dirty="0"/>
          </a:p>
        </p:txBody>
      </p:sp>
      <p:sp>
        <p:nvSpPr>
          <p:cNvPr id="112" name="Text 109"/>
          <p:cNvSpPr/>
          <p:nvPr/>
        </p:nvSpPr>
        <p:spPr>
          <a:xfrm>
            <a:off x="4558640" y="4682453"/>
            <a:ext cx="661136" cy="209550"/>
          </a:xfrm>
          <a:prstGeom prst="rect">
            <a:avLst/>
          </a:prstGeom>
          <a:noFill/>
          <a:ln/>
        </p:spPr>
        <p:txBody>
          <a:bodyPr wrap="square" lIns="19050" tIns="38100" rIns="3810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2.431</a:t>
            </a:r>
            <a:endParaRPr lang="en-US" sz="660" dirty="0"/>
          </a:p>
        </p:txBody>
      </p:sp>
      <p:sp>
        <p:nvSpPr>
          <p:cNvPr id="113" name="Text 110"/>
          <p:cNvSpPr/>
          <p:nvPr/>
        </p:nvSpPr>
        <p:spPr>
          <a:xfrm>
            <a:off x="4558640" y="4892003"/>
            <a:ext cx="661136" cy="209550"/>
          </a:xfrm>
          <a:prstGeom prst="rect">
            <a:avLst/>
          </a:prstGeom>
          <a:noFill/>
          <a:ln/>
        </p:spPr>
        <p:txBody>
          <a:bodyPr wrap="square" lIns="19050" tIns="38100" rIns="3810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2.367</a:t>
            </a:r>
            <a:endParaRPr lang="en-US" sz="660" dirty="0"/>
          </a:p>
        </p:txBody>
      </p:sp>
      <p:sp>
        <p:nvSpPr>
          <p:cNvPr id="114" name="Text 111"/>
          <p:cNvSpPr/>
          <p:nvPr/>
        </p:nvSpPr>
        <p:spPr>
          <a:xfrm>
            <a:off x="4558640" y="5101553"/>
            <a:ext cx="661136" cy="209550"/>
          </a:xfrm>
          <a:prstGeom prst="rect">
            <a:avLst/>
          </a:prstGeom>
          <a:noFill/>
          <a:ln/>
        </p:spPr>
        <p:txBody>
          <a:bodyPr wrap="square" lIns="19050" tIns="38100" rIns="3810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2.186</a:t>
            </a:r>
            <a:endParaRPr lang="en-US" sz="660" dirty="0"/>
          </a:p>
        </p:txBody>
      </p:sp>
      <p:sp>
        <p:nvSpPr>
          <p:cNvPr id="115" name="Text 112"/>
          <p:cNvSpPr/>
          <p:nvPr/>
        </p:nvSpPr>
        <p:spPr>
          <a:xfrm>
            <a:off x="4558640" y="5311103"/>
            <a:ext cx="661136" cy="209550"/>
          </a:xfrm>
          <a:prstGeom prst="rect">
            <a:avLst/>
          </a:prstGeom>
          <a:noFill/>
          <a:ln/>
        </p:spPr>
        <p:txBody>
          <a:bodyPr wrap="square" lIns="19050" tIns="38100" rIns="3810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2.314</a:t>
            </a:r>
            <a:endParaRPr lang="en-US" sz="660" dirty="0"/>
          </a:p>
        </p:txBody>
      </p:sp>
      <p:sp>
        <p:nvSpPr>
          <p:cNvPr id="116" name="Text 113"/>
          <p:cNvSpPr/>
          <p:nvPr/>
        </p:nvSpPr>
        <p:spPr>
          <a:xfrm>
            <a:off x="752457" y="5520653"/>
            <a:ext cx="433042" cy="204787"/>
          </a:xfrm>
          <a:prstGeom prst="rect">
            <a:avLst/>
          </a:prstGeom>
          <a:noFill/>
          <a:ln/>
        </p:spPr>
        <p:txBody>
          <a:bodyPr wrap="square" lIns="19050" tIns="38100" rIns="38100" bIns="19050" rtlCol="0" anchor="ctr"/>
          <a:lstStyle/>
          <a:p>
            <a:pPr marL="0" indent="0" algn="l">
              <a:buNone/>
            </a:pPr>
            <a:r>
              <a:rPr lang="en-US" sz="624" b="1" dirty="0">
                <a:solidFill>
                  <a:srgbClr val="120180"/>
                </a:solidFill>
                <a:latin typeface="Raleway" pitchFamily="34" charset="0"/>
                <a:ea typeface="Raleway" pitchFamily="34" charset="-122"/>
                <a:cs typeface="Raleway" pitchFamily="34" charset="-120"/>
              </a:rPr>
              <a:t>Total</a:t>
            </a:r>
            <a:endParaRPr lang="en-US" sz="624" dirty="0"/>
          </a:p>
        </p:txBody>
      </p:sp>
      <p:sp>
        <p:nvSpPr>
          <p:cNvPr id="117" name="Text 114"/>
          <p:cNvSpPr/>
          <p:nvPr/>
        </p:nvSpPr>
        <p:spPr>
          <a:xfrm>
            <a:off x="6372068" y="3425153"/>
            <a:ext cx="748664" cy="204787"/>
          </a:xfrm>
          <a:prstGeom prst="rect">
            <a:avLst/>
          </a:prstGeom>
          <a:noFill/>
          <a:ln/>
        </p:spPr>
        <p:txBody>
          <a:bodyPr wrap="square" lIns="19050" tIns="47625" rIns="47625" bIns="19050" rtlCol="0" anchor="ctr"/>
          <a:lstStyle/>
          <a:p>
            <a:pPr marL="0" indent="0" algn="l">
              <a:buNone/>
            </a:pPr>
            <a:r>
              <a:rPr lang="en-US" sz="624" b="1" dirty="0">
                <a:solidFill>
                  <a:srgbClr val="120180"/>
                </a:solidFill>
                <a:latin typeface="Raleway" pitchFamily="34" charset="0"/>
                <a:ea typeface="Raleway" pitchFamily="34" charset="-122"/>
                <a:cs typeface="Raleway" pitchFamily="34" charset="-120"/>
              </a:rPr>
              <a:t>Total</a:t>
            </a:r>
            <a:endParaRPr lang="en-US" sz="624" dirty="0"/>
          </a:p>
        </p:txBody>
      </p:sp>
      <p:sp>
        <p:nvSpPr>
          <p:cNvPr id="118" name="Text 115"/>
          <p:cNvSpPr/>
          <p:nvPr/>
        </p:nvSpPr>
        <p:spPr>
          <a:xfrm>
            <a:off x="723882" y="1114425"/>
            <a:ext cx="2511489" cy="133365"/>
          </a:xfrm>
          <a:prstGeom prst="rect">
            <a:avLst/>
          </a:prstGeom>
          <a:noFill/>
          <a:ln/>
        </p:spPr>
        <p:txBody>
          <a:bodyPr wrap="square" lIns="0" tIns="0" rIns="0" bIns="0" rtlCol="0" anchor="t"/>
          <a:lstStyle/>
          <a:p>
            <a:pPr marL="0" indent="0" algn="l">
              <a:buNone/>
            </a:pPr>
            <a:r>
              <a:rPr lang="en-US" sz="1020" b="1" dirty="0">
                <a:solidFill>
                  <a:srgbClr val="00CD93"/>
                </a:solidFill>
                <a:latin typeface="Raleway" pitchFamily="34" charset="0"/>
                <a:ea typeface="Raleway" pitchFamily="34" charset="-122"/>
                <a:cs typeface="Raleway" pitchFamily="34" charset="-120"/>
              </a:rPr>
              <a:t>6.881</a:t>
            </a:r>
            <a:endParaRPr lang="en-US" sz="1020" dirty="0"/>
          </a:p>
        </p:txBody>
      </p:sp>
      <p:sp>
        <p:nvSpPr>
          <p:cNvPr id="119" name="Text 116"/>
          <p:cNvSpPr/>
          <p:nvPr/>
        </p:nvSpPr>
        <p:spPr>
          <a:xfrm>
            <a:off x="6286343" y="1114425"/>
            <a:ext cx="2511489" cy="133365"/>
          </a:xfrm>
          <a:prstGeom prst="rect">
            <a:avLst/>
          </a:prstGeom>
          <a:noFill/>
          <a:ln/>
        </p:spPr>
        <p:txBody>
          <a:bodyPr wrap="square" lIns="0" tIns="0" rIns="0" bIns="0" rtlCol="0" anchor="t"/>
          <a:lstStyle/>
          <a:p>
            <a:pPr marL="0" indent="0" algn="l">
              <a:buNone/>
            </a:pPr>
            <a:r>
              <a:rPr lang="en-US" sz="1020" b="1" dirty="0">
                <a:solidFill>
                  <a:srgbClr val="120180"/>
                </a:solidFill>
                <a:latin typeface="Raleway" pitchFamily="34" charset="0"/>
                <a:ea typeface="Raleway" pitchFamily="34" charset="-122"/>
                <a:cs typeface="Raleway" pitchFamily="34" charset="-120"/>
              </a:rPr>
              <a:t>3.073</a:t>
            </a:r>
            <a:endParaRPr lang="en-US" sz="1020" dirty="0"/>
          </a:p>
        </p:txBody>
      </p:sp>
      <p:sp>
        <p:nvSpPr>
          <p:cNvPr id="120" name="Text 117"/>
          <p:cNvSpPr/>
          <p:nvPr/>
        </p:nvSpPr>
        <p:spPr>
          <a:xfrm>
            <a:off x="6286343" y="4549080"/>
            <a:ext cx="1177261" cy="128016"/>
          </a:xfrm>
          <a:prstGeom prst="rect">
            <a:avLst/>
          </a:prstGeom>
          <a:noFill/>
          <a:ln/>
        </p:spPr>
        <p:txBody>
          <a:bodyPr wrap="square" lIns="0" tIns="0" rIns="0" bIns="0" rtlCol="0" anchor="t"/>
          <a:lstStyle/>
          <a:p>
            <a:pPr marL="0" indent="0" algn="r">
              <a:buNone/>
            </a:pPr>
            <a:r>
              <a:rPr lang="en-US" sz="576" dirty="0">
                <a:solidFill>
                  <a:srgbClr val="9098B0"/>
                </a:solidFill>
                <a:latin typeface="Raleway" pitchFamily="34" charset="0"/>
                <a:ea typeface="Raleway" pitchFamily="34" charset="-122"/>
                <a:cs typeface="Raleway" pitchFamily="34" charset="-120"/>
              </a:rPr>
              <a:t>Otros</a:t>
            </a:r>
            <a:endParaRPr lang="en-US" sz="576" dirty="0"/>
          </a:p>
        </p:txBody>
      </p:sp>
      <p:sp>
        <p:nvSpPr>
          <p:cNvPr id="121" name="Text 118"/>
          <p:cNvSpPr/>
          <p:nvPr/>
        </p:nvSpPr>
        <p:spPr>
          <a:xfrm>
            <a:off x="3539568" y="2222938"/>
            <a:ext cx="964035" cy="242888"/>
          </a:xfrm>
          <a:prstGeom prst="rect">
            <a:avLst/>
          </a:prstGeom>
          <a:noFill/>
          <a:ln/>
        </p:spPr>
        <p:txBody>
          <a:bodyPr wrap="square" lIns="38100" tIns="114300" rIns="114300" bIns="38100" rtlCol="0" anchor="ctr"/>
          <a:lstStyle/>
          <a:p>
            <a:pPr marL="0" indent="0" algn="r">
              <a:buNone/>
            </a:pPr>
            <a:r>
              <a:rPr lang="en-US" sz="792" dirty="0">
                <a:solidFill>
                  <a:srgbClr val="333333"/>
                </a:solidFill>
                <a:latin typeface="Raleway" pitchFamily="34" charset="0"/>
                <a:ea typeface="Raleway" pitchFamily="34" charset="-122"/>
                <a:cs typeface="Raleway" pitchFamily="34" charset="-120"/>
              </a:rPr>
              <a:t>79 %</a:t>
            </a:r>
            <a:endParaRPr lang="en-US" sz="792" dirty="0"/>
          </a:p>
        </p:txBody>
      </p:sp>
      <p:sp>
        <p:nvSpPr>
          <p:cNvPr id="122" name="Text 119"/>
          <p:cNvSpPr/>
          <p:nvPr/>
        </p:nvSpPr>
        <p:spPr>
          <a:xfrm>
            <a:off x="3539568" y="2465825"/>
            <a:ext cx="964035" cy="247650"/>
          </a:xfrm>
          <a:prstGeom prst="rect">
            <a:avLst/>
          </a:prstGeom>
          <a:noFill/>
          <a:ln/>
        </p:spPr>
        <p:txBody>
          <a:bodyPr wrap="square" lIns="38100" tIns="114300" rIns="114300" bIns="38100" rtlCol="0" anchor="ctr"/>
          <a:lstStyle/>
          <a:p>
            <a:pPr marL="0" indent="0" algn="r">
              <a:buNone/>
            </a:pPr>
            <a:r>
              <a:rPr lang="en-US" sz="792" dirty="0">
                <a:solidFill>
                  <a:srgbClr val="333333"/>
                </a:solidFill>
                <a:latin typeface="Raleway" pitchFamily="34" charset="0"/>
                <a:ea typeface="Raleway" pitchFamily="34" charset="-122"/>
                <a:cs typeface="Raleway" pitchFamily="34" charset="-120"/>
              </a:rPr>
              <a:t>71 %</a:t>
            </a:r>
            <a:endParaRPr lang="en-US" sz="792" dirty="0"/>
          </a:p>
        </p:txBody>
      </p:sp>
      <p:sp>
        <p:nvSpPr>
          <p:cNvPr id="123" name="Text 120"/>
          <p:cNvSpPr/>
          <p:nvPr/>
        </p:nvSpPr>
        <p:spPr>
          <a:xfrm>
            <a:off x="3539568" y="2713475"/>
            <a:ext cx="964035" cy="247650"/>
          </a:xfrm>
          <a:prstGeom prst="rect">
            <a:avLst/>
          </a:prstGeom>
          <a:noFill/>
          <a:ln/>
        </p:spPr>
        <p:txBody>
          <a:bodyPr wrap="square" lIns="38100" tIns="114300" rIns="114300" bIns="38100" rtlCol="0" anchor="ctr"/>
          <a:lstStyle/>
          <a:p>
            <a:pPr marL="0" indent="0" algn="r">
              <a:buNone/>
            </a:pPr>
            <a:r>
              <a:rPr lang="en-US" sz="792" dirty="0">
                <a:solidFill>
                  <a:srgbClr val="333333"/>
                </a:solidFill>
                <a:latin typeface="Raleway" pitchFamily="34" charset="0"/>
                <a:ea typeface="Raleway" pitchFamily="34" charset="-122"/>
                <a:cs typeface="Raleway" pitchFamily="34" charset="-120"/>
              </a:rPr>
              <a:t>49 %</a:t>
            </a:r>
            <a:endParaRPr lang="en-US" sz="792" dirty="0"/>
          </a:p>
        </p:txBody>
      </p:sp>
      <p:sp>
        <p:nvSpPr>
          <p:cNvPr id="124" name="Text 121"/>
          <p:cNvSpPr/>
          <p:nvPr/>
        </p:nvSpPr>
        <p:spPr>
          <a:xfrm>
            <a:off x="3539568" y="2961125"/>
            <a:ext cx="964035" cy="247650"/>
          </a:xfrm>
          <a:prstGeom prst="rect">
            <a:avLst/>
          </a:prstGeom>
          <a:noFill/>
          <a:ln/>
        </p:spPr>
        <p:txBody>
          <a:bodyPr wrap="square" lIns="38100" tIns="114300" rIns="114300" bIns="38100" rtlCol="0" anchor="ctr"/>
          <a:lstStyle/>
          <a:p>
            <a:pPr marL="0" indent="0" algn="r">
              <a:buNone/>
            </a:pPr>
            <a:r>
              <a:rPr lang="en-US" sz="792" dirty="0">
                <a:solidFill>
                  <a:srgbClr val="333333"/>
                </a:solidFill>
                <a:latin typeface="Raleway" pitchFamily="34" charset="0"/>
                <a:ea typeface="Raleway" pitchFamily="34" charset="-122"/>
                <a:cs typeface="Raleway" pitchFamily="34" charset="-120"/>
              </a:rPr>
              <a:t>17 %</a:t>
            </a:r>
            <a:endParaRPr lang="en-US" sz="792" dirty="0"/>
          </a:p>
        </p:txBody>
      </p:sp>
      <p:sp>
        <p:nvSpPr>
          <p:cNvPr id="125" name="Text 122"/>
          <p:cNvSpPr/>
          <p:nvPr/>
        </p:nvSpPr>
        <p:spPr>
          <a:xfrm>
            <a:off x="3539568" y="3208775"/>
            <a:ext cx="964035" cy="247650"/>
          </a:xfrm>
          <a:prstGeom prst="rect">
            <a:avLst/>
          </a:prstGeom>
          <a:noFill/>
          <a:ln/>
        </p:spPr>
        <p:txBody>
          <a:bodyPr wrap="square" lIns="38100" tIns="114300" rIns="114300" bIns="38100" rtlCol="0" anchor="ctr"/>
          <a:lstStyle/>
          <a:p>
            <a:pPr marL="0" indent="0" algn="r">
              <a:buNone/>
            </a:pPr>
            <a:r>
              <a:rPr lang="en-US" sz="792" dirty="0">
                <a:solidFill>
                  <a:srgbClr val="333333"/>
                </a:solidFill>
                <a:latin typeface="Raleway" pitchFamily="34" charset="0"/>
                <a:ea typeface="Raleway" pitchFamily="34" charset="-122"/>
                <a:cs typeface="Raleway" pitchFamily="34" charset="-120"/>
              </a:rPr>
              <a:t>19 %</a:t>
            </a:r>
            <a:endParaRPr lang="en-US" sz="792" dirty="0"/>
          </a:p>
        </p:txBody>
      </p:sp>
      <p:sp>
        <p:nvSpPr>
          <p:cNvPr id="126" name="Text 123"/>
          <p:cNvSpPr/>
          <p:nvPr/>
        </p:nvSpPr>
        <p:spPr>
          <a:xfrm>
            <a:off x="3539568" y="3456425"/>
            <a:ext cx="964035" cy="185738"/>
          </a:xfrm>
          <a:prstGeom prst="rect">
            <a:avLst/>
          </a:prstGeom>
          <a:noFill/>
          <a:ln/>
        </p:spPr>
        <p:txBody>
          <a:bodyPr wrap="square" lIns="38100" tIns="114300" rIns="114300" bIns="38100" rtlCol="0" anchor="ctr"/>
          <a:lstStyle/>
          <a:p>
            <a:pPr marL="0" indent="0" algn="r">
              <a:buNone/>
            </a:pPr>
            <a:r>
              <a:rPr lang="en-US" sz="720" b="1" dirty="0">
                <a:solidFill>
                  <a:srgbClr val="120180"/>
                </a:solidFill>
                <a:latin typeface="Raleway" pitchFamily="34" charset="0"/>
                <a:ea typeface="Raleway" pitchFamily="34" charset="-122"/>
                <a:cs typeface="Raleway" pitchFamily="34" charset="-120"/>
              </a:rPr>
              <a:t>40 %</a:t>
            </a:r>
            <a:endParaRPr lang="en-US" sz="720" dirty="0"/>
          </a:p>
        </p:txBody>
      </p:sp>
      <p:sp>
        <p:nvSpPr>
          <p:cNvPr id="127" name="Text 124"/>
          <p:cNvSpPr/>
          <p:nvPr/>
        </p:nvSpPr>
        <p:spPr>
          <a:xfrm>
            <a:off x="2292191" y="4277641"/>
            <a:ext cx="698539" cy="204787"/>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100%</a:t>
            </a:r>
            <a:endParaRPr lang="en-US" sz="660" dirty="0"/>
          </a:p>
        </p:txBody>
      </p:sp>
      <p:sp>
        <p:nvSpPr>
          <p:cNvPr id="128" name="Text 125"/>
          <p:cNvSpPr/>
          <p:nvPr/>
        </p:nvSpPr>
        <p:spPr>
          <a:xfrm>
            <a:off x="2292191" y="5111078"/>
            <a:ext cx="698539"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100%</a:t>
            </a:r>
            <a:endParaRPr lang="en-US" sz="660" dirty="0"/>
          </a:p>
        </p:txBody>
      </p:sp>
      <p:sp>
        <p:nvSpPr>
          <p:cNvPr id="129" name="Text 126"/>
          <p:cNvSpPr/>
          <p:nvPr/>
        </p:nvSpPr>
        <p:spPr>
          <a:xfrm>
            <a:off x="2992494" y="2475350"/>
            <a:ext cx="749890" cy="247650"/>
          </a:xfrm>
          <a:prstGeom prst="rect">
            <a:avLst/>
          </a:prstGeom>
          <a:noFill/>
          <a:ln/>
        </p:spPr>
        <p:txBody>
          <a:bodyPr wrap="square" lIns="38100" tIns="114300" rIns="114300" bIns="38100" rtlCol="0" anchor="ctr"/>
          <a:lstStyle/>
          <a:p>
            <a:pPr marL="0" indent="0" algn="r">
              <a:buNone/>
            </a:pPr>
            <a:r>
              <a:rPr lang="en-US" sz="792" b="1" dirty="0">
                <a:solidFill>
                  <a:srgbClr val="333333"/>
                </a:solidFill>
                <a:latin typeface="Raleway" pitchFamily="34" charset="0"/>
                <a:ea typeface="Raleway" pitchFamily="34" charset="-122"/>
                <a:cs typeface="Raleway" pitchFamily="34" charset="-120"/>
              </a:rPr>
              <a:t>791</a:t>
            </a:r>
            <a:endParaRPr lang="en-US" sz="792" dirty="0"/>
          </a:p>
        </p:txBody>
      </p:sp>
      <p:sp>
        <p:nvSpPr>
          <p:cNvPr id="130" name="Text 127"/>
          <p:cNvSpPr/>
          <p:nvPr/>
        </p:nvSpPr>
        <p:spPr>
          <a:xfrm>
            <a:off x="2992494" y="2970650"/>
            <a:ext cx="749890" cy="247650"/>
          </a:xfrm>
          <a:prstGeom prst="rect">
            <a:avLst/>
          </a:prstGeom>
          <a:noFill/>
          <a:ln/>
        </p:spPr>
        <p:txBody>
          <a:bodyPr wrap="square" lIns="38100" tIns="114300" rIns="114300" bIns="38100" rtlCol="0" anchor="ctr"/>
          <a:lstStyle/>
          <a:p>
            <a:pPr marL="0" indent="0" algn="r">
              <a:buNone/>
            </a:pPr>
            <a:r>
              <a:rPr lang="en-US" sz="792" b="1" dirty="0">
                <a:solidFill>
                  <a:srgbClr val="333333"/>
                </a:solidFill>
                <a:latin typeface="Raleway" pitchFamily="34" charset="0"/>
                <a:ea typeface="Raleway" pitchFamily="34" charset="-122"/>
                <a:cs typeface="Raleway" pitchFamily="34" charset="-120"/>
              </a:rPr>
              <a:t>318</a:t>
            </a:r>
            <a:endParaRPr lang="en-US" sz="792" dirty="0"/>
          </a:p>
        </p:txBody>
      </p:sp>
      <p:sp>
        <p:nvSpPr>
          <p:cNvPr id="131" name="Text 128"/>
          <p:cNvSpPr/>
          <p:nvPr/>
        </p:nvSpPr>
        <p:spPr>
          <a:xfrm>
            <a:off x="752457" y="4096666"/>
            <a:ext cx="433042"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32" name="Text 129"/>
          <p:cNvSpPr/>
          <p:nvPr/>
        </p:nvSpPr>
        <p:spPr>
          <a:xfrm>
            <a:off x="752457" y="4268116"/>
            <a:ext cx="433042" cy="204787"/>
          </a:xfrm>
          <a:prstGeom prst="rect">
            <a:avLst/>
          </a:prstGeom>
          <a:noFill/>
          <a:ln/>
        </p:spPr>
        <p:txBody>
          <a:bodyPr wrap="square" lIns="19050" tIns="38100" rIns="38100" bIns="19050" rtlCol="0" anchor="ctr"/>
          <a:lstStyle/>
          <a:p>
            <a:pPr marL="0" indent="0" algn="l">
              <a:buNone/>
            </a:pPr>
            <a:r>
              <a:rPr lang="en-US" sz="660" b="1" dirty="0">
                <a:solidFill>
                  <a:srgbClr val="333333"/>
                </a:solidFill>
                <a:latin typeface="Raleway" pitchFamily="34" charset="0"/>
                <a:ea typeface="Raleway" pitchFamily="34" charset="-122"/>
                <a:cs typeface="Raleway" pitchFamily="34" charset="-120"/>
              </a:rPr>
              <a:t>Ene</a:t>
            </a:r>
            <a:endParaRPr lang="en-US" sz="660" dirty="0"/>
          </a:p>
        </p:txBody>
      </p:sp>
      <p:sp>
        <p:nvSpPr>
          <p:cNvPr id="133" name="Text 130"/>
          <p:cNvSpPr/>
          <p:nvPr/>
        </p:nvSpPr>
        <p:spPr>
          <a:xfrm>
            <a:off x="3799633" y="4277641"/>
            <a:ext cx="673859" cy="204787"/>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21%</a:t>
            </a:r>
            <a:endParaRPr lang="en-US" sz="660" dirty="0"/>
          </a:p>
        </p:txBody>
      </p:sp>
      <p:sp>
        <p:nvSpPr>
          <p:cNvPr id="134" name="Text 131"/>
          <p:cNvSpPr/>
          <p:nvPr/>
        </p:nvSpPr>
        <p:spPr>
          <a:xfrm>
            <a:off x="5095745" y="4277641"/>
            <a:ext cx="725977" cy="204787"/>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11%</a:t>
            </a:r>
            <a:endParaRPr lang="en-US" sz="660" dirty="0"/>
          </a:p>
        </p:txBody>
      </p:sp>
      <p:sp>
        <p:nvSpPr>
          <p:cNvPr id="135" name="Text 132"/>
          <p:cNvSpPr/>
          <p:nvPr/>
        </p:nvSpPr>
        <p:spPr>
          <a:xfrm>
            <a:off x="752457" y="4472903"/>
            <a:ext cx="433042" cy="209550"/>
          </a:xfrm>
          <a:prstGeom prst="rect">
            <a:avLst/>
          </a:prstGeom>
          <a:noFill/>
          <a:ln/>
        </p:spPr>
        <p:txBody>
          <a:bodyPr wrap="square" lIns="19050" tIns="38100" rIns="38100" bIns="19050" rtlCol="0" anchor="ctr"/>
          <a:lstStyle/>
          <a:p>
            <a:pPr marL="0" indent="0" algn="l">
              <a:buNone/>
            </a:pPr>
            <a:r>
              <a:rPr lang="en-US" sz="660" b="1" dirty="0">
                <a:solidFill>
                  <a:srgbClr val="333333"/>
                </a:solidFill>
                <a:latin typeface="Raleway" pitchFamily="34" charset="0"/>
                <a:ea typeface="Raleway" pitchFamily="34" charset="-122"/>
                <a:cs typeface="Raleway" pitchFamily="34" charset="-120"/>
              </a:rPr>
              <a:t>Feb</a:t>
            </a:r>
            <a:endParaRPr lang="en-US" sz="660" dirty="0"/>
          </a:p>
        </p:txBody>
      </p:sp>
      <p:sp>
        <p:nvSpPr>
          <p:cNvPr id="136" name="Text 133"/>
          <p:cNvSpPr/>
          <p:nvPr/>
        </p:nvSpPr>
        <p:spPr>
          <a:xfrm>
            <a:off x="2292191" y="4482428"/>
            <a:ext cx="698539"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99%</a:t>
            </a:r>
            <a:endParaRPr lang="en-US" sz="660" dirty="0"/>
          </a:p>
        </p:txBody>
      </p:sp>
      <p:sp>
        <p:nvSpPr>
          <p:cNvPr id="137" name="Text 134"/>
          <p:cNvSpPr/>
          <p:nvPr/>
        </p:nvSpPr>
        <p:spPr>
          <a:xfrm>
            <a:off x="3799633" y="4482428"/>
            <a:ext cx="673859"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43%</a:t>
            </a:r>
            <a:endParaRPr lang="en-US" sz="660" dirty="0"/>
          </a:p>
        </p:txBody>
      </p:sp>
      <p:sp>
        <p:nvSpPr>
          <p:cNvPr id="138" name="Text 135"/>
          <p:cNvSpPr/>
          <p:nvPr/>
        </p:nvSpPr>
        <p:spPr>
          <a:xfrm>
            <a:off x="5095745" y="4482428"/>
            <a:ext cx="725977"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12%</a:t>
            </a:r>
            <a:endParaRPr lang="en-US" sz="660" dirty="0"/>
          </a:p>
        </p:txBody>
      </p:sp>
      <p:sp>
        <p:nvSpPr>
          <p:cNvPr id="139" name="Text 136"/>
          <p:cNvSpPr/>
          <p:nvPr/>
        </p:nvSpPr>
        <p:spPr>
          <a:xfrm>
            <a:off x="752457" y="4682453"/>
            <a:ext cx="433042" cy="209550"/>
          </a:xfrm>
          <a:prstGeom prst="rect">
            <a:avLst/>
          </a:prstGeom>
          <a:noFill/>
          <a:ln/>
        </p:spPr>
        <p:txBody>
          <a:bodyPr wrap="square" lIns="19050" tIns="38100" rIns="38100" bIns="19050" rtlCol="0" anchor="ctr"/>
          <a:lstStyle/>
          <a:p>
            <a:pPr marL="0" indent="0" algn="l">
              <a:buNone/>
            </a:pPr>
            <a:r>
              <a:rPr lang="en-US" sz="660" b="1" dirty="0">
                <a:solidFill>
                  <a:srgbClr val="333333"/>
                </a:solidFill>
                <a:latin typeface="Raleway" pitchFamily="34" charset="0"/>
                <a:ea typeface="Raleway" pitchFamily="34" charset="-122"/>
                <a:cs typeface="Raleway" pitchFamily="34" charset="-120"/>
              </a:rPr>
              <a:t>Mar</a:t>
            </a:r>
            <a:endParaRPr lang="en-US" sz="660" dirty="0"/>
          </a:p>
        </p:txBody>
      </p:sp>
      <p:sp>
        <p:nvSpPr>
          <p:cNvPr id="140" name="Text 137"/>
          <p:cNvSpPr/>
          <p:nvPr/>
        </p:nvSpPr>
        <p:spPr>
          <a:xfrm>
            <a:off x="2292191" y="4691978"/>
            <a:ext cx="698539"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82%</a:t>
            </a:r>
            <a:endParaRPr lang="en-US" sz="660" dirty="0"/>
          </a:p>
        </p:txBody>
      </p:sp>
      <p:sp>
        <p:nvSpPr>
          <p:cNvPr id="141" name="Text 138"/>
          <p:cNvSpPr/>
          <p:nvPr/>
        </p:nvSpPr>
        <p:spPr>
          <a:xfrm>
            <a:off x="3799633" y="4691978"/>
            <a:ext cx="673859"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45%</a:t>
            </a:r>
            <a:endParaRPr lang="en-US" sz="660" dirty="0"/>
          </a:p>
        </p:txBody>
      </p:sp>
      <p:sp>
        <p:nvSpPr>
          <p:cNvPr id="142" name="Text 139"/>
          <p:cNvSpPr/>
          <p:nvPr/>
        </p:nvSpPr>
        <p:spPr>
          <a:xfrm>
            <a:off x="752457" y="4892003"/>
            <a:ext cx="433042" cy="209550"/>
          </a:xfrm>
          <a:prstGeom prst="rect">
            <a:avLst/>
          </a:prstGeom>
          <a:noFill/>
          <a:ln/>
        </p:spPr>
        <p:txBody>
          <a:bodyPr wrap="square" lIns="19050" tIns="38100" rIns="38100" bIns="19050" rtlCol="0" anchor="ctr"/>
          <a:lstStyle/>
          <a:p>
            <a:pPr marL="0" indent="0" algn="l">
              <a:buNone/>
            </a:pPr>
            <a:r>
              <a:rPr lang="en-US" sz="660" b="1" dirty="0">
                <a:solidFill>
                  <a:srgbClr val="333333"/>
                </a:solidFill>
                <a:latin typeface="Raleway" pitchFamily="34" charset="0"/>
                <a:ea typeface="Raleway" pitchFamily="34" charset="-122"/>
                <a:cs typeface="Raleway" pitchFamily="34" charset="-120"/>
              </a:rPr>
              <a:t>Abr</a:t>
            </a:r>
            <a:endParaRPr lang="en-US" sz="660" dirty="0"/>
          </a:p>
        </p:txBody>
      </p:sp>
      <p:sp>
        <p:nvSpPr>
          <p:cNvPr id="143" name="Text 140"/>
          <p:cNvSpPr/>
          <p:nvPr/>
        </p:nvSpPr>
        <p:spPr>
          <a:xfrm>
            <a:off x="2292191" y="4901528"/>
            <a:ext cx="698539"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80%</a:t>
            </a:r>
            <a:endParaRPr lang="en-US" sz="660" dirty="0"/>
          </a:p>
        </p:txBody>
      </p:sp>
      <p:sp>
        <p:nvSpPr>
          <p:cNvPr id="144" name="Text 141"/>
          <p:cNvSpPr/>
          <p:nvPr/>
        </p:nvSpPr>
        <p:spPr>
          <a:xfrm>
            <a:off x="3799633" y="4901528"/>
            <a:ext cx="673859"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52%</a:t>
            </a:r>
            <a:endParaRPr lang="en-US" sz="660" dirty="0"/>
          </a:p>
        </p:txBody>
      </p:sp>
      <p:sp>
        <p:nvSpPr>
          <p:cNvPr id="145" name="Text 142"/>
          <p:cNvSpPr/>
          <p:nvPr/>
        </p:nvSpPr>
        <p:spPr>
          <a:xfrm>
            <a:off x="5095745" y="4901528"/>
            <a:ext cx="725977"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15%</a:t>
            </a:r>
            <a:endParaRPr lang="en-US" sz="660" dirty="0"/>
          </a:p>
        </p:txBody>
      </p:sp>
      <p:sp>
        <p:nvSpPr>
          <p:cNvPr id="146" name="Text 143"/>
          <p:cNvSpPr/>
          <p:nvPr/>
        </p:nvSpPr>
        <p:spPr>
          <a:xfrm>
            <a:off x="752457" y="5101553"/>
            <a:ext cx="433042" cy="209550"/>
          </a:xfrm>
          <a:prstGeom prst="rect">
            <a:avLst/>
          </a:prstGeom>
          <a:noFill/>
          <a:ln/>
        </p:spPr>
        <p:txBody>
          <a:bodyPr wrap="square" lIns="19050" tIns="38100" rIns="38100" bIns="19050" rtlCol="0" anchor="ctr"/>
          <a:lstStyle/>
          <a:p>
            <a:pPr marL="0" indent="0" algn="l">
              <a:buNone/>
            </a:pPr>
            <a:r>
              <a:rPr lang="en-US" sz="660" b="1" dirty="0">
                <a:solidFill>
                  <a:srgbClr val="333333"/>
                </a:solidFill>
                <a:latin typeface="Raleway" pitchFamily="34" charset="0"/>
                <a:ea typeface="Raleway" pitchFamily="34" charset="-122"/>
                <a:cs typeface="Raleway" pitchFamily="34" charset="-120"/>
              </a:rPr>
              <a:t>May</a:t>
            </a:r>
            <a:endParaRPr lang="en-US" sz="660" dirty="0"/>
          </a:p>
        </p:txBody>
      </p:sp>
      <p:sp>
        <p:nvSpPr>
          <p:cNvPr id="147" name="Text 144"/>
          <p:cNvSpPr/>
          <p:nvPr/>
        </p:nvSpPr>
        <p:spPr>
          <a:xfrm>
            <a:off x="3799633" y="5111078"/>
            <a:ext cx="673859"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64%</a:t>
            </a:r>
            <a:endParaRPr lang="en-US" sz="660" dirty="0"/>
          </a:p>
        </p:txBody>
      </p:sp>
      <p:sp>
        <p:nvSpPr>
          <p:cNvPr id="148" name="Text 145"/>
          <p:cNvSpPr/>
          <p:nvPr/>
        </p:nvSpPr>
        <p:spPr>
          <a:xfrm>
            <a:off x="752457" y="5311103"/>
            <a:ext cx="433042" cy="209550"/>
          </a:xfrm>
          <a:prstGeom prst="rect">
            <a:avLst/>
          </a:prstGeom>
          <a:noFill/>
          <a:ln/>
        </p:spPr>
        <p:txBody>
          <a:bodyPr wrap="square" lIns="19050" tIns="38100" rIns="38100" bIns="19050" rtlCol="0" anchor="ctr"/>
          <a:lstStyle/>
          <a:p>
            <a:pPr marL="0" indent="0" algn="l">
              <a:buNone/>
            </a:pPr>
            <a:r>
              <a:rPr lang="en-US" sz="660" b="1" dirty="0">
                <a:solidFill>
                  <a:srgbClr val="333333"/>
                </a:solidFill>
                <a:latin typeface="Raleway" pitchFamily="34" charset="0"/>
                <a:ea typeface="Raleway" pitchFamily="34" charset="-122"/>
                <a:cs typeface="Raleway" pitchFamily="34" charset="-120"/>
              </a:rPr>
              <a:t>Jun</a:t>
            </a:r>
            <a:endParaRPr lang="en-US" sz="660" dirty="0"/>
          </a:p>
        </p:txBody>
      </p:sp>
      <p:sp>
        <p:nvSpPr>
          <p:cNvPr id="149" name="Text 146"/>
          <p:cNvSpPr/>
          <p:nvPr/>
        </p:nvSpPr>
        <p:spPr>
          <a:xfrm>
            <a:off x="2292191" y="5320628"/>
            <a:ext cx="698539"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68%</a:t>
            </a:r>
            <a:endParaRPr lang="en-US" sz="660" dirty="0"/>
          </a:p>
        </p:txBody>
      </p:sp>
      <p:sp>
        <p:nvSpPr>
          <p:cNvPr id="150" name="Text 147"/>
          <p:cNvSpPr/>
          <p:nvPr/>
        </p:nvSpPr>
        <p:spPr>
          <a:xfrm>
            <a:off x="3799633" y="5320628"/>
            <a:ext cx="673859"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49%</a:t>
            </a:r>
            <a:endParaRPr lang="en-US" sz="660" dirty="0"/>
          </a:p>
        </p:txBody>
      </p:sp>
      <p:sp>
        <p:nvSpPr>
          <p:cNvPr id="151" name="Text 148"/>
          <p:cNvSpPr/>
          <p:nvPr/>
        </p:nvSpPr>
        <p:spPr>
          <a:xfrm>
            <a:off x="5095745" y="5320628"/>
            <a:ext cx="725977"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11%</a:t>
            </a:r>
            <a:endParaRPr lang="en-US" sz="660" dirty="0"/>
          </a:p>
        </p:txBody>
      </p:sp>
      <p:sp>
        <p:nvSpPr>
          <p:cNvPr id="152" name="Text 149"/>
          <p:cNvSpPr/>
          <p:nvPr/>
        </p:nvSpPr>
        <p:spPr>
          <a:xfrm>
            <a:off x="2292191" y="5530178"/>
            <a:ext cx="698539" cy="204787"/>
          </a:xfrm>
          <a:prstGeom prst="rect">
            <a:avLst/>
          </a:prstGeom>
          <a:noFill/>
          <a:ln/>
        </p:spPr>
        <p:txBody>
          <a:bodyPr wrap="square" lIns="19050" tIns="38100" rIns="38100" bIns="19050" rtlCol="0" anchor="ctr"/>
          <a:lstStyle/>
          <a:p>
            <a:pPr marL="0" indent="0" algn="r">
              <a:buNone/>
            </a:pPr>
            <a:r>
              <a:rPr lang="en-US" sz="624" b="1" dirty="0">
                <a:solidFill>
                  <a:srgbClr val="120180"/>
                </a:solidFill>
                <a:latin typeface="Raleway" pitchFamily="34" charset="0"/>
                <a:ea typeface="Raleway" pitchFamily="34" charset="-122"/>
                <a:cs typeface="Raleway" pitchFamily="34" charset="-120"/>
              </a:rPr>
              <a:t>88%</a:t>
            </a:r>
            <a:endParaRPr lang="en-US" sz="624" dirty="0"/>
          </a:p>
        </p:txBody>
      </p:sp>
      <p:sp>
        <p:nvSpPr>
          <p:cNvPr id="153" name="Text 150"/>
          <p:cNvSpPr/>
          <p:nvPr/>
        </p:nvSpPr>
        <p:spPr>
          <a:xfrm>
            <a:off x="3799633" y="5530178"/>
            <a:ext cx="673859" cy="204787"/>
          </a:xfrm>
          <a:prstGeom prst="rect">
            <a:avLst/>
          </a:prstGeom>
          <a:noFill/>
          <a:ln/>
        </p:spPr>
        <p:txBody>
          <a:bodyPr wrap="square" lIns="19050" tIns="38100" rIns="38100" bIns="19050" rtlCol="0" anchor="ctr"/>
          <a:lstStyle/>
          <a:p>
            <a:pPr marL="0" indent="0" algn="r">
              <a:buNone/>
            </a:pPr>
            <a:r>
              <a:rPr lang="en-US" sz="624" b="1" dirty="0">
                <a:solidFill>
                  <a:srgbClr val="120180"/>
                </a:solidFill>
                <a:latin typeface="Raleway" pitchFamily="34" charset="0"/>
                <a:ea typeface="Raleway" pitchFamily="34" charset="-122"/>
                <a:cs typeface="Raleway" pitchFamily="34" charset="-120"/>
              </a:rPr>
              <a:t>40%</a:t>
            </a:r>
            <a:endParaRPr lang="en-US" sz="624" dirty="0"/>
          </a:p>
        </p:txBody>
      </p:sp>
      <p:sp>
        <p:nvSpPr>
          <p:cNvPr id="154" name="Text 151"/>
          <p:cNvSpPr/>
          <p:nvPr/>
        </p:nvSpPr>
        <p:spPr>
          <a:xfrm>
            <a:off x="5095745" y="5530178"/>
            <a:ext cx="725977" cy="204787"/>
          </a:xfrm>
          <a:prstGeom prst="rect">
            <a:avLst/>
          </a:prstGeom>
          <a:noFill/>
          <a:ln/>
        </p:spPr>
        <p:txBody>
          <a:bodyPr wrap="square" lIns="19050" tIns="38100" rIns="38100" bIns="19050" rtlCol="0" anchor="ctr"/>
          <a:lstStyle/>
          <a:p>
            <a:pPr marL="0" indent="0" algn="r">
              <a:buNone/>
            </a:pPr>
            <a:r>
              <a:rPr lang="en-US" sz="624" b="1" dirty="0">
                <a:solidFill>
                  <a:srgbClr val="120180"/>
                </a:solidFill>
                <a:latin typeface="Raleway" pitchFamily="34" charset="0"/>
                <a:ea typeface="Raleway" pitchFamily="34" charset="-122"/>
                <a:cs typeface="Raleway" pitchFamily="34" charset="-120"/>
              </a:rPr>
              <a:t>11%</a:t>
            </a:r>
            <a:endParaRPr lang="en-US" sz="624" dirty="0"/>
          </a:p>
        </p:txBody>
      </p:sp>
      <p:sp>
        <p:nvSpPr>
          <p:cNvPr id="155" name="Text 152"/>
          <p:cNvSpPr/>
          <p:nvPr/>
        </p:nvSpPr>
        <p:spPr>
          <a:xfrm>
            <a:off x="6372068" y="2001166"/>
            <a:ext cx="748664" cy="171450"/>
          </a:xfrm>
          <a:prstGeom prst="rect">
            <a:avLst/>
          </a:prstGeom>
          <a:noFill/>
          <a:ln/>
        </p:spPr>
        <p:txBody>
          <a:bodyPr wrap="square" lIns="19050" tIns="47625" rIns="47625"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56" name="Text 153"/>
          <p:cNvSpPr/>
          <p:nvPr/>
        </p:nvSpPr>
        <p:spPr>
          <a:xfrm>
            <a:off x="6372068" y="2172616"/>
            <a:ext cx="748664" cy="204787"/>
          </a:xfrm>
          <a:prstGeom prst="rect">
            <a:avLst/>
          </a:prstGeom>
          <a:noFill/>
          <a:ln/>
        </p:spPr>
        <p:txBody>
          <a:bodyPr wrap="square" lIns="19050" tIns="47625" rIns="47625" bIns="19050" rtlCol="0" anchor="ctr"/>
          <a:lstStyle/>
          <a:p>
            <a:pPr marL="0" indent="0" algn="l">
              <a:buNone/>
            </a:pPr>
            <a:r>
              <a:rPr lang="en-US" sz="672" b="1" dirty="0">
                <a:solidFill>
                  <a:srgbClr val="333333"/>
                </a:solidFill>
                <a:latin typeface="Raleway" pitchFamily="34" charset="0"/>
                <a:ea typeface="Raleway" pitchFamily="34" charset="-122"/>
                <a:cs typeface="Raleway" pitchFamily="34" charset="-120"/>
              </a:rPr>
              <a:t>Ene</a:t>
            </a:r>
            <a:endParaRPr lang="en-US" sz="672" dirty="0"/>
          </a:p>
        </p:txBody>
      </p:sp>
      <p:sp>
        <p:nvSpPr>
          <p:cNvPr id="157" name="Text 154"/>
          <p:cNvSpPr/>
          <p:nvPr/>
        </p:nvSpPr>
        <p:spPr>
          <a:xfrm>
            <a:off x="6372068" y="2377403"/>
            <a:ext cx="748664" cy="209550"/>
          </a:xfrm>
          <a:prstGeom prst="rect">
            <a:avLst/>
          </a:prstGeom>
          <a:noFill/>
          <a:ln/>
        </p:spPr>
        <p:txBody>
          <a:bodyPr wrap="square" lIns="19050" tIns="47625" rIns="47625" bIns="19050" rtlCol="0" anchor="ctr"/>
          <a:lstStyle/>
          <a:p>
            <a:pPr marL="0" indent="0" algn="l">
              <a:buNone/>
            </a:pPr>
            <a:r>
              <a:rPr lang="en-US" sz="672" b="1" dirty="0">
                <a:solidFill>
                  <a:srgbClr val="333333"/>
                </a:solidFill>
                <a:latin typeface="Raleway" pitchFamily="34" charset="0"/>
                <a:ea typeface="Raleway" pitchFamily="34" charset="-122"/>
                <a:cs typeface="Raleway" pitchFamily="34" charset="-120"/>
              </a:rPr>
              <a:t>Feb</a:t>
            </a:r>
            <a:endParaRPr lang="en-US" sz="672" dirty="0"/>
          </a:p>
        </p:txBody>
      </p:sp>
      <p:sp>
        <p:nvSpPr>
          <p:cNvPr id="158" name="Text 155"/>
          <p:cNvSpPr/>
          <p:nvPr/>
        </p:nvSpPr>
        <p:spPr>
          <a:xfrm>
            <a:off x="6372068" y="2586953"/>
            <a:ext cx="748664" cy="209550"/>
          </a:xfrm>
          <a:prstGeom prst="rect">
            <a:avLst/>
          </a:prstGeom>
          <a:noFill/>
          <a:ln/>
        </p:spPr>
        <p:txBody>
          <a:bodyPr wrap="square" lIns="19050" tIns="47625" rIns="47625" bIns="19050" rtlCol="0" anchor="ctr"/>
          <a:lstStyle/>
          <a:p>
            <a:pPr marL="0" indent="0" algn="l">
              <a:buNone/>
            </a:pPr>
            <a:r>
              <a:rPr lang="en-US" sz="672" b="1" dirty="0">
                <a:solidFill>
                  <a:srgbClr val="333333"/>
                </a:solidFill>
                <a:latin typeface="Raleway" pitchFamily="34" charset="0"/>
                <a:ea typeface="Raleway" pitchFamily="34" charset="-122"/>
                <a:cs typeface="Raleway" pitchFamily="34" charset="-120"/>
              </a:rPr>
              <a:t>Mar</a:t>
            </a:r>
            <a:endParaRPr lang="en-US" sz="672" dirty="0"/>
          </a:p>
        </p:txBody>
      </p:sp>
      <p:sp>
        <p:nvSpPr>
          <p:cNvPr id="159" name="Text 156"/>
          <p:cNvSpPr/>
          <p:nvPr/>
        </p:nvSpPr>
        <p:spPr>
          <a:xfrm>
            <a:off x="6372068" y="2796503"/>
            <a:ext cx="748664" cy="209550"/>
          </a:xfrm>
          <a:prstGeom prst="rect">
            <a:avLst/>
          </a:prstGeom>
          <a:noFill/>
          <a:ln/>
        </p:spPr>
        <p:txBody>
          <a:bodyPr wrap="square" lIns="19050" tIns="47625" rIns="47625" bIns="19050" rtlCol="0" anchor="ctr"/>
          <a:lstStyle/>
          <a:p>
            <a:pPr marL="0" indent="0" algn="l">
              <a:buNone/>
            </a:pPr>
            <a:r>
              <a:rPr lang="en-US" sz="672" b="1" dirty="0">
                <a:solidFill>
                  <a:srgbClr val="333333"/>
                </a:solidFill>
                <a:latin typeface="Raleway" pitchFamily="34" charset="0"/>
                <a:ea typeface="Raleway" pitchFamily="34" charset="-122"/>
                <a:cs typeface="Raleway" pitchFamily="34" charset="-120"/>
              </a:rPr>
              <a:t>Abr</a:t>
            </a:r>
            <a:endParaRPr lang="en-US" sz="672" dirty="0"/>
          </a:p>
        </p:txBody>
      </p:sp>
      <p:sp>
        <p:nvSpPr>
          <p:cNvPr id="160" name="Text 157"/>
          <p:cNvSpPr/>
          <p:nvPr/>
        </p:nvSpPr>
        <p:spPr>
          <a:xfrm>
            <a:off x="6372068" y="3006053"/>
            <a:ext cx="748664" cy="209550"/>
          </a:xfrm>
          <a:prstGeom prst="rect">
            <a:avLst/>
          </a:prstGeom>
          <a:noFill/>
          <a:ln/>
        </p:spPr>
        <p:txBody>
          <a:bodyPr wrap="square" lIns="19050" tIns="47625" rIns="47625" bIns="19050" rtlCol="0" anchor="ctr"/>
          <a:lstStyle/>
          <a:p>
            <a:pPr marL="0" indent="0" algn="l">
              <a:buNone/>
            </a:pPr>
            <a:r>
              <a:rPr lang="en-US" sz="672" b="1" dirty="0">
                <a:solidFill>
                  <a:srgbClr val="333333"/>
                </a:solidFill>
                <a:latin typeface="Raleway" pitchFamily="34" charset="0"/>
                <a:ea typeface="Raleway" pitchFamily="34" charset="-122"/>
                <a:cs typeface="Raleway" pitchFamily="34" charset="-120"/>
              </a:rPr>
              <a:t>May</a:t>
            </a:r>
            <a:endParaRPr lang="en-US" sz="672" dirty="0"/>
          </a:p>
        </p:txBody>
      </p:sp>
      <p:sp>
        <p:nvSpPr>
          <p:cNvPr id="161" name="Text 158"/>
          <p:cNvSpPr/>
          <p:nvPr/>
        </p:nvSpPr>
        <p:spPr>
          <a:xfrm>
            <a:off x="6372068" y="3215603"/>
            <a:ext cx="748664" cy="209550"/>
          </a:xfrm>
          <a:prstGeom prst="rect">
            <a:avLst/>
          </a:prstGeom>
          <a:noFill/>
          <a:ln/>
        </p:spPr>
        <p:txBody>
          <a:bodyPr wrap="square" lIns="19050" tIns="47625" rIns="47625" bIns="19050" rtlCol="0" anchor="ctr"/>
          <a:lstStyle/>
          <a:p>
            <a:pPr marL="0" indent="0" algn="l">
              <a:buNone/>
            </a:pPr>
            <a:r>
              <a:rPr lang="en-US" sz="672" b="1" dirty="0">
                <a:solidFill>
                  <a:srgbClr val="333333"/>
                </a:solidFill>
                <a:latin typeface="Raleway" pitchFamily="34" charset="0"/>
                <a:ea typeface="Raleway" pitchFamily="34" charset="-122"/>
                <a:cs typeface="Raleway" pitchFamily="34" charset="-120"/>
              </a:rPr>
              <a:t>Jun</a:t>
            </a:r>
            <a:endParaRPr lang="en-US" sz="672" dirty="0"/>
          </a:p>
        </p:txBody>
      </p:sp>
      <p:sp>
        <p:nvSpPr>
          <p:cNvPr id="162" name="Text 159"/>
          <p:cNvSpPr/>
          <p:nvPr/>
        </p:nvSpPr>
        <p:spPr>
          <a:xfrm>
            <a:off x="9067573" y="1114425"/>
            <a:ext cx="2511489" cy="133365"/>
          </a:xfrm>
          <a:prstGeom prst="rect">
            <a:avLst/>
          </a:prstGeom>
          <a:noFill/>
          <a:ln/>
        </p:spPr>
        <p:txBody>
          <a:bodyPr wrap="square" lIns="0" tIns="0" rIns="0" bIns="0" rtlCol="0" anchor="t"/>
          <a:lstStyle/>
          <a:p>
            <a:pPr marL="0" indent="0" algn="l">
              <a:buNone/>
            </a:pPr>
            <a:r>
              <a:rPr lang="en-US" sz="1020" b="1" dirty="0">
                <a:solidFill>
                  <a:srgbClr val="120180"/>
                </a:solidFill>
                <a:latin typeface="Raleway" pitchFamily="34" charset="0"/>
                <a:ea typeface="Raleway" pitchFamily="34" charset="-122"/>
                <a:cs typeface="Raleway" pitchFamily="34" charset="-120"/>
              </a:rPr>
              <a:t>318</a:t>
            </a:r>
            <a:endParaRPr lang="en-US" sz="1020" dirty="0"/>
          </a:p>
        </p:txBody>
      </p:sp>
      <p:sp>
        <p:nvSpPr>
          <p:cNvPr id="163" name="Text 160"/>
          <p:cNvSpPr/>
          <p:nvPr/>
        </p:nvSpPr>
        <p:spPr>
          <a:xfrm>
            <a:off x="11220169" y="3920430"/>
            <a:ext cx="274694" cy="128016"/>
          </a:xfrm>
          <a:prstGeom prst="rect">
            <a:avLst/>
          </a:prstGeom>
          <a:noFill/>
          <a:ln/>
        </p:spPr>
        <p:txBody>
          <a:bodyPr wrap="square" lIns="0" tIns="0" rIns="0" bIns="0" rtlCol="0" anchor="t"/>
          <a:lstStyle/>
          <a:p>
            <a:pPr marL="0" indent="0" algn="r">
              <a:buNone/>
            </a:pPr>
            <a:r>
              <a:rPr lang="en-US" sz="576" b="1" dirty="0">
                <a:solidFill>
                  <a:srgbClr val="120180"/>
                </a:solidFill>
                <a:latin typeface="Raleway" pitchFamily="34" charset="0"/>
                <a:ea typeface="Raleway" pitchFamily="34" charset="-122"/>
                <a:cs typeface="Raleway" pitchFamily="34" charset="-120"/>
              </a:rPr>
              <a:t>49%</a:t>
            </a:r>
            <a:endParaRPr lang="en-US" sz="576" dirty="0"/>
          </a:p>
        </p:txBody>
      </p:sp>
      <p:sp>
        <p:nvSpPr>
          <p:cNvPr id="164" name="Text 161"/>
          <p:cNvSpPr/>
          <p:nvPr/>
        </p:nvSpPr>
        <p:spPr>
          <a:xfrm>
            <a:off x="11220169" y="4025205"/>
            <a:ext cx="274694" cy="128016"/>
          </a:xfrm>
          <a:prstGeom prst="rect">
            <a:avLst/>
          </a:prstGeom>
          <a:noFill/>
          <a:ln/>
        </p:spPr>
        <p:txBody>
          <a:bodyPr wrap="square" lIns="0" tIns="0" rIns="0" bIns="0" rtlCol="0" anchor="t"/>
          <a:lstStyle/>
          <a:p>
            <a:pPr marL="0" indent="0" algn="r">
              <a:buNone/>
            </a:pPr>
            <a:r>
              <a:rPr lang="en-US" sz="576" b="1" dirty="0">
                <a:solidFill>
                  <a:srgbClr val="120180"/>
                </a:solidFill>
                <a:latin typeface="Raleway" pitchFamily="34" charset="0"/>
                <a:ea typeface="Raleway" pitchFamily="34" charset="-122"/>
                <a:cs typeface="Raleway" pitchFamily="34" charset="-120"/>
              </a:rPr>
              <a:t>29%</a:t>
            </a:r>
            <a:endParaRPr lang="en-US" sz="576" dirty="0"/>
          </a:p>
        </p:txBody>
      </p:sp>
      <p:sp>
        <p:nvSpPr>
          <p:cNvPr id="165" name="Text 162"/>
          <p:cNvSpPr/>
          <p:nvPr/>
        </p:nvSpPr>
        <p:spPr>
          <a:xfrm>
            <a:off x="2992494" y="3218300"/>
            <a:ext cx="749890" cy="247650"/>
          </a:xfrm>
          <a:prstGeom prst="rect">
            <a:avLst/>
          </a:prstGeom>
          <a:noFill/>
          <a:ln/>
        </p:spPr>
        <p:txBody>
          <a:bodyPr wrap="square" lIns="38100" tIns="114300" rIns="114300" bIns="38100" rtlCol="0" anchor="ctr"/>
          <a:lstStyle/>
          <a:p>
            <a:pPr marL="0" indent="0" algn="r">
              <a:buNone/>
            </a:pPr>
            <a:r>
              <a:rPr lang="en-US" sz="792" b="1" dirty="0">
                <a:solidFill>
                  <a:srgbClr val="333333"/>
                </a:solidFill>
                <a:latin typeface="Raleway" pitchFamily="34" charset="0"/>
                <a:ea typeface="Raleway" pitchFamily="34" charset="-122"/>
                <a:cs typeface="Raleway" pitchFamily="34" charset="-120"/>
              </a:rPr>
              <a:t>79</a:t>
            </a:r>
            <a:endParaRPr lang="en-US" sz="792" dirty="0"/>
          </a:p>
        </p:txBody>
      </p:sp>
      <p:sp>
        <p:nvSpPr>
          <p:cNvPr id="166" name="Text 163"/>
          <p:cNvSpPr/>
          <p:nvPr/>
        </p:nvSpPr>
        <p:spPr>
          <a:xfrm>
            <a:off x="5095745" y="4691978"/>
            <a:ext cx="725977"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9%</a:t>
            </a:r>
            <a:endParaRPr lang="en-US" sz="660" dirty="0"/>
          </a:p>
        </p:txBody>
      </p:sp>
      <p:sp>
        <p:nvSpPr>
          <p:cNvPr id="167" name="Text 164"/>
          <p:cNvSpPr/>
          <p:nvPr/>
        </p:nvSpPr>
        <p:spPr>
          <a:xfrm>
            <a:off x="5095745" y="5111078"/>
            <a:ext cx="725977" cy="209550"/>
          </a:xfrm>
          <a:prstGeom prst="rect">
            <a:avLst/>
          </a:prstGeom>
          <a:noFill/>
          <a:ln/>
        </p:spPr>
        <p:txBody>
          <a:bodyPr wrap="square" lIns="19050" tIns="38100" rIns="3810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9%</a:t>
            </a:r>
            <a:endParaRPr lang="en-US" sz="660" dirty="0"/>
          </a:p>
        </p:txBody>
      </p:sp>
      <p:sp>
        <p:nvSpPr>
          <p:cNvPr id="168" name="Text 165"/>
          <p:cNvSpPr/>
          <p:nvPr/>
        </p:nvSpPr>
        <p:spPr>
          <a:xfrm>
            <a:off x="11220169" y="4129980"/>
            <a:ext cx="274694" cy="128016"/>
          </a:xfrm>
          <a:prstGeom prst="rect">
            <a:avLst/>
          </a:prstGeom>
          <a:noFill/>
          <a:ln/>
        </p:spPr>
        <p:txBody>
          <a:bodyPr wrap="square" lIns="0" tIns="0" rIns="0" bIns="0" rtlCol="0" anchor="t"/>
          <a:lstStyle/>
          <a:p>
            <a:pPr marL="0" indent="0" algn="r">
              <a:buNone/>
            </a:pPr>
            <a:r>
              <a:rPr lang="en-US" sz="576" b="1" dirty="0">
                <a:solidFill>
                  <a:srgbClr val="120180"/>
                </a:solidFill>
                <a:latin typeface="Raleway" pitchFamily="34" charset="0"/>
                <a:ea typeface="Raleway" pitchFamily="34" charset="-122"/>
                <a:cs typeface="Raleway" pitchFamily="34" charset="-120"/>
              </a:rPr>
              <a:t>4%</a:t>
            </a:r>
            <a:endParaRPr lang="en-US" sz="576" dirty="0"/>
          </a:p>
        </p:txBody>
      </p:sp>
      <p:sp>
        <p:nvSpPr>
          <p:cNvPr id="169" name="Text 166"/>
          <p:cNvSpPr/>
          <p:nvPr/>
        </p:nvSpPr>
        <p:spPr>
          <a:xfrm>
            <a:off x="11220169" y="4234755"/>
            <a:ext cx="274694" cy="128016"/>
          </a:xfrm>
          <a:prstGeom prst="rect">
            <a:avLst/>
          </a:prstGeom>
          <a:noFill/>
          <a:ln/>
        </p:spPr>
        <p:txBody>
          <a:bodyPr wrap="square" lIns="0" tIns="0" rIns="0" bIns="0" rtlCol="0" anchor="t"/>
          <a:lstStyle/>
          <a:p>
            <a:pPr marL="0" indent="0" algn="r">
              <a:buNone/>
            </a:pPr>
            <a:r>
              <a:rPr lang="en-US" sz="576" b="1" dirty="0">
                <a:solidFill>
                  <a:srgbClr val="120180"/>
                </a:solidFill>
                <a:latin typeface="Raleway" pitchFamily="34" charset="0"/>
                <a:ea typeface="Raleway" pitchFamily="34" charset="-122"/>
                <a:cs typeface="Raleway" pitchFamily="34" charset="-120"/>
              </a:rPr>
              <a:t>4%</a:t>
            </a:r>
            <a:endParaRPr lang="en-US" sz="576" dirty="0"/>
          </a:p>
        </p:txBody>
      </p:sp>
      <p:sp>
        <p:nvSpPr>
          <p:cNvPr id="170" name="Text 167"/>
          <p:cNvSpPr/>
          <p:nvPr/>
        </p:nvSpPr>
        <p:spPr>
          <a:xfrm>
            <a:off x="11220169" y="4339530"/>
            <a:ext cx="274694" cy="128016"/>
          </a:xfrm>
          <a:prstGeom prst="rect">
            <a:avLst/>
          </a:prstGeom>
          <a:noFill/>
          <a:ln/>
        </p:spPr>
        <p:txBody>
          <a:bodyPr wrap="square" lIns="0" tIns="0" rIns="0" bIns="0" rtlCol="0" anchor="t"/>
          <a:lstStyle/>
          <a:p>
            <a:pPr marL="0" indent="0" algn="r">
              <a:buNone/>
            </a:pPr>
            <a:r>
              <a:rPr lang="en-US" sz="576" b="1" dirty="0">
                <a:solidFill>
                  <a:srgbClr val="120180"/>
                </a:solidFill>
                <a:latin typeface="Raleway" pitchFamily="34" charset="0"/>
                <a:ea typeface="Raleway" pitchFamily="34" charset="-122"/>
                <a:cs typeface="Raleway" pitchFamily="34" charset="-120"/>
              </a:rPr>
              <a:t>3%</a:t>
            </a:r>
            <a:endParaRPr lang="en-US" sz="576" dirty="0"/>
          </a:p>
        </p:txBody>
      </p:sp>
      <p:sp>
        <p:nvSpPr>
          <p:cNvPr id="171" name="Text 168"/>
          <p:cNvSpPr/>
          <p:nvPr/>
        </p:nvSpPr>
        <p:spPr>
          <a:xfrm>
            <a:off x="11220169" y="4444305"/>
            <a:ext cx="274694" cy="128016"/>
          </a:xfrm>
          <a:prstGeom prst="rect">
            <a:avLst/>
          </a:prstGeom>
          <a:noFill/>
          <a:ln/>
        </p:spPr>
        <p:txBody>
          <a:bodyPr wrap="square" lIns="0" tIns="0" rIns="0" bIns="0" rtlCol="0" anchor="t"/>
          <a:lstStyle/>
          <a:p>
            <a:pPr marL="0" indent="0" algn="r">
              <a:buNone/>
            </a:pPr>
            <a:r>
              <a:rPr lang="en-US" sz="576" b="1" dirty="0">
                <a:solidFill>
                  <a:srgbClr val="120180"/>
                </a:solidFill>
                <a:latin typeface="Raleway" pitchFamily="34" charset="0"/>
                <a:ea typeface="Raleway" pitchFamily="34" charset="-122"/>
                <a:cs typeface="Raleway" pitchFamily="34" charset="-120"/>
              </a:rPr>
              <a:t>3%</a:t>
            </a:r>
            <a:endParaRPr lang="en-US" sz="576" dirty="0"/>
          </a:p>
        </p:txBody>
      </p:sp>
      <p:sp>
        <p:nvSpPr>
          <p:cNvPr id="172" name="Text 169"/>
          <p:cNvSpPr/>
          <p:nvPr/>
        </p:nvSpPr>
        <p:spPr>
          <a:xfrm>
            <a:off x="11220169" y="4549080"/>
            <a:ext cx="274694" cy="128016"/>
          </a:xfrm>
          <a:prstGeom prst="rect">
            <a:avLst/>
          </a:prstGeom>
          <a:noFill/>
          <a:ln/>
        </p:spPr>
        <p:txBody>
          <a:bodyPr wrap="square" lIns="0" tIns="0" rIns="0" bIns="0" rtlCol="0" anchor="t"/>
          <a:lstStyle/>
          <a:p>
            <a:pPr marL="0" indent="0" algn="r">
              <a:buNone/>
            </a:pPr>
            <a:r>
              <a:rPr lang="en-US" sz="576" b="1" dirty="0">
                <a:solidFill>
                  <a:srgbClr val="120180"/>
                </a:solidFill>
                <a:latin typeface="Raleway" pitchFamily="34" charset="0"/>
                <a:ea typeface="Raleway" pitchFamily="34" charset="-122"/>
                <a:cs typeface="Raleway" pitchFamily="34" charset="-120"/>
              </a:rPr>
              <a:t>8%</a:t>
            </a:r>
            <a:endParaRPr lang="en-US" sz="576" dirty="0"/>
          </a:p>
        </p:txBody>
      </p:sp>
      <p:sp>
        <p:nvSpPr>
          <p:cNvPr id="174" name="TextBox 173">
            <a:extLst>
              <a:ext uri="{FF2B5EF4-FFF2-40B4-BE49-F238E27FC236}">
                <a16:creationId xmlns:a16="http://schemas.microsoft.com/office/drawing/2014/main" id="{0B3BA3FA-EC0B-3312-7E63-7304B3CCA026}"/>
              </a:ext>
            </a:extLst>
          </p:cNvPr>
          <p:cNvSpPr txBox="1"/>
          <p:nvPr/>
        </p:nvSpPr>
        <p:spPr>
          <a:xfrm>
            <a:off x="6538859" y="4892917"/>
            <a:ext cx="4880125" cy="627736"/>
          </a:xfrm>
          <a:prstGeom prst="rect">
            <a:avLst/>
          </a:prstGeom>
          <a:noFill/>
        </p:spPr>
        <p:txBody>
          <a:bodyPr wrap="square">
            <a:spAutoFit/>
          </a:bodyPr>
          <a:lstStyle/>
          <a:p>
            <a:r>
              <a:rPr lang="es-CO" sz="696" b="1" i="0" dirty="0">
                <a:solidFill>
                  <a:srgbClr val="120180"/>
                </a:solidFill>
                <a:effectLst/>
                <a:latin typeface="Raleway" pitchFamily="2" charset="0"/>
              </a:rPr>
              <a:t>Oportunidad de eficiencia: el 78 % del descarte corresponde a bases repetidas y clientes con producto activo. Depurar estos registros en origen podría recuperar hasta +110.000 registros gestionables por semestre, equivalentes a ~5.400 ventas potenciales adicionales aplicando la conversión actual del canal. Una coordinación con Vanti para limpiar la base antes del cargue liberaría capacidad operativa sin aumentar el equipo.</a:t>
            </a:r>
            <a:endParaRPr lang="es-CO"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C:\01_Repositorios\13_Presentaciones\dash\televentas\ppt_slides\sk_05_main.png"/>
          <p:cNvPicPr>
            <a:picLocks noChangeAspect="1"/>
          </p:cNvPicPr>
          <p:nvPr/>
        </p:nvPicPr>
        <p:blipFill>
          <a:blip r:embed="rId3"/>
          <a:stretch>
            <a:fillRect/>
          </a:stretch>
        </p:blipFill>
        <p:spPr>
          <a:xfrm>
            <a:off x="0" y="0"/>
            <a:ext cx="12191695" cy="6858000"/>
          </a:xfrm>
          <a:prstGeom prst="rect">
            <a:avLst/>
          </a:prstGeom>
        </p:spPr>
      </p:pic>
      <p:sp>
        <p:nvSpPr>
          <p:cNvPr id="4" name="Text 1"/>
          <p:cNvSpPr/>
          <p:nvPr/>
        </p:nvSpPr>
        <p:spPr>
          <a:xfrm>
            <a:off x="6314917" y="3575745"/>
            <a:ext cx="5307483" cy="147161"/>
          </a:xfrm>
          <a:prstGeom prst="rect">
            <a:avLst/>
          </a:prstGeom>
          <a:noFill/>
          <a:ln/>
        </p:spPr>
        <p:txBody>
          <a:bodyPr wrap="square" lIns="0" tIns="0" rIns="0" bIns="19050" rtlCol="0" anchor="t"/>
          <a:lstStyle/>
          <a:p>
            <a:pPr marL="0" indent="0" algn="l">
              <a:buNone/>
            </a:pPr>
            <a:r>
              <a:rPr lang="en-US" sz="744" b="1" dirty="0">
                <a:solidFill>
                  <a:srgbClr val="120180"/>
                </a:solidFill>
                <a:latin typeface="Raleway" pitchFamily="34" charset="0"/>
                <a:ea typeface="Raleway" pitchFamily="34" charset="-122"/>
                <a:cs typeface="Raleway" pitchFamily="34" charset="-120"/>
              </a:rPr>
              <a:t>¿Por qué se descartaron? (tipificación rechazos — autogestión)</a:t>
            </a:r>
            <a:endParaRPr lang="en-US" sz="744" dirty="0"/>
          </a:p>
        </p:txBody>
      </p:sp>
      <p:sp>
        <p:nvSpPr>
          <p:cNvPr id="5" name="Text 2"/>
          <p:cNvSpPr/>
          <p:nvPr/>
        </p:nvSpPr>
        <p:spPr>
          <a:xfrm>
            <a:off x="6314917" y="4537770"/>
            <a:ext cx="5307483" cy="128016"/>
          </a:xfrm>
          <a:prstGeom prst="rect">
            <a:avLst/>
          </a:prstGeom>
          <a:noFill/>
          <a:ln/>
        </p:spPr>
        <p:txBody>
          <a:bodyPr wrap="square" lIns="0" tIns="0" rIns="0" bIns="0" rtlCol="0" anchor="t"/>
          <a:lstStyle/>
          <a:p>
            <a:pPr marL="0" indent="0" algn="r">
              <a:buNone/>
            </a:pPr>
            <a:r>
              <a:rPr lang="en-US" sz="576" dirty="0">
                <a:solidFill>
                  <a:srgbClr val="9098B0"/>
                </a:solidFill>
                <a:latin typeface="Raleway" pitchFamily="34" charset="0"/>
                <a:ea typeface="Raleway" pitchFamily="34" charset="-122"/>
                <a:cs typeface="Raleway" pitchFamily="34" charset="-120"/>
              </a:rPr>
              <a:t>63,8 % de la base total · 7.460 registros descartados en 1S</a:t>
            </a:r>
            <a:endParaRPr lang="en-US" sz="576" dirty="0"/>
          </a:p>
        </p:txBody>
      </p:sp>
      <p:sp>
        <p:nvSpPr>
          <p:cNvPr id="6" name="Text 3"/>
          <p:cNvSpPr/>
          <p:nvPr/>
        </p:nvSpPr>
        <p:spPr>
          <a:xfrm>
            <a:off x="9134247" y="1527870"/>
            <a:ext cx="2403574" cy="274701"/>
          </a:xfrm>
          <a:prstGeom prst="rect">
            <a:avLst/>
          </a:prstGeom>
          <a:noFill/>
          <a:ln/>
        </p:spPr>
        <p:txBody>
          <a:bodyPr wrap="square" lIns="0" tIns="0" rIns="0" bIns="0" rtlCol="0" anchor="t"/>
          <a:lstStyle/>
          <a:p>
            <a:pPr marL="0" indent="0" algn="l">
              <a:buNone/>
            </a:pPr>
            <a:r>
              <a:rPr lang="en-US" sz="864" dirty="0">
                <a:solidFill>
                  <a:srgbClr val="9098B0"/>
                </a:solidFill>
                <a:latin typeface="Raleway" pitchFamily="34" charset="0"/>
                <a:ea typeface="Raleway" pitchFamily="34" charset="-122"/>
                <a:cs typeface="Raleway" pitchFamily="34" charset="-120"/>
              </a:rPr>
              <a:t>Convierte 3.0 veces mejor que el resto de la base</a:t>
            </a:r>
            <a:endParaRPr lang="en-US" sz="864" dirty="0"/>
          </a:p>
        </p:txBody>
      </p:sp>
      <p:sp>
        <p:nvSpPr>
          <p:cNvPr id="7" name="Text 4"/>
          <p:cNvSpPr/>
          <p:nvPr/>
        </p:nvSpPr>
        <p:spPr>
          <a:xfrm>
            <a:off x="1213514" y="219075"/>
            <a:ext cx="3607660" cy="196215"/>
          </a:xfrm>
          <a:prstGeom prst="rect">
            <a:avLst/>
          </a:prstGeom>
          <a:noFill/>
          <a:ln/>
        </p:spPr>
        <p:txBody>
          <a:bodyPr wrap="square" lIns="0" tIns="0" rIns="0" bIns="0" rtlCol="0" anchor="t"/>
          <a:lstStyle/>
          <a:p>
            <a:pPr marL="0" indent="0" algn="l">
              <a:buNone/>
            </a:pPr>
            <a:r>
              <a:rPr lang="en-US" sz="1260" b="1" dirty="0">
                <a:solidFill>
                  <a:srgbClr val="FFFFFF"/>
                </a:solidFill>
                <a:latin typeface="Raleway" pitchFamily="34" charset="0"/>
                <a:ea typeface="Raleway" pitchFamily="34" charset="-122"/>
                <a:cs typeface="Raleway" pitchFamily="34" charset="-120"/>
              </a:rPr>
              <a:t>Campaña Autogestión · Histórico y Análisis</a:t>
            </a:r>
            <a:endParaRPr lang="en-US" sz="1260" dirty="0"/>
          </a:p>
        </p:txBody>
      </p:sp>
      <p:sp>
        <p:nvSpPr>
          <p:cNvPr id="8" name="Text 5"/>
          <p:cNvSpPr/>
          <p:nvPr/>
        </p:nvSpPr>
        <p:spPr>
          <a:xfrm>
            <a:off x="761981" y="1527870"/>
            <a:ext cx="2403574" cy="137350"/>
          </a:xfrm>
          <a:prstGeom prst="rect">
            <a:avLst/>
          </a:prstGeom>
          <a:noFill/>
          <a:ln/>
        </p:spPr>
        <p:txBody>
          <a:bodyPr wrap="square" lIns="0" tIns="0" rIns="0" bIns="0" rtlCol="0" anchor="t"/>
          <a:lstStyle/>
          <a:p>
            <a:pPr marL="0" indent="0" algn="l">
              <a:buNone/>
            </a:pPr>
            <a:r>
              <a:rPr lang="en-US" sz="864" dirty="0">
                <a:solidFill>
                  <a:srgbClr val="9098B0"/>
                </a:solidFill>
                <a:latin typeface="Raleway" pitchFamily="34" charset="0"/>
                <a:ea typeface="Raleway" pitchFamily="34" charset="-122"/>
                <a:cs typeface="Raleway" pitchFamily="34" charset="-120"/>
              </a:rPr>
              <a:t>Solicitudes de financiación autogestionada</a:t>
            </a:r>
            <a:endParaRPr lang="en-US" sz="864" dirty="0"/>
          </a:p>
        </p:txBody>
      </p:sp>
      <p:sp>
        <p:nvSpPr>
          <p:cNvPr id="9" name="Text 6"/>
          <p:cNvSpPr/>
          <p:nvPr/>
        </p:nvSpPr>
        <p:spPr>
          <a:xfrm>
            <a:off x="6343491" y="1527870"/>
            <a:ext cx="2403574" cy="137350"/>
          </a:xfrm>
          <a:prstGeom prst="rect">
            <a:avLst/>
          </a:prstGeom>
          <a:noFill/>
          <a:ln/>
        </p:spPr>
        <p:txBody>
          <a:bodyPr wrap="square" lIns="0" tIns="0" rIns="0" bIns="0" rtlCol="0" anchor="t"/>
          <a:lstStyle/>
          <a:p>
            <a:pPr marL="0" indent="0" algn="l">
              <a:buNone/>
            </a:pPr>
            <a:r>
              <a:rPr lang="en-US" sz="864" dirty="0">
                <a:solidFill>
                  <a:srgbClr val="9098B0"/>
                </a:solidFill>
                <a:latin typeface="Raleway" pitchFamily="34" charset="0"/>
                <a:ea typeface="Raleway" pitchFamily="34" charset="-122"/>
                <a:cs typeface="Raleway" pitchFamily="34" charset="-120"/>
              </a:rPr>
              <a:t>7.460 registros descartados en el semestre</a:t>
            </a:r>
            <a:endParaRPr lang="en-US" sz="864" dirty="0"/>
          </a:p>
        </p:txBody>
      </p:sp>
      <p:sp>
        <p:nvSpPr>
          <p:cNvPr id="10" name="Text 7"/>
          <p:cNvSpPr/>
          <p:nvPr/>
        </p:nvSpPr>
        <p:spPr>
          <a:xfrm>
            <a:off x="6314917" y="3851970"/>
            <a:ext cx="1255745" cy="128016"/>
          </a:xfrm>
          <a:prstGeom prst="rect">
            <a:avLst/>
          </a:prstGeom>
          <a:noFill/>
          <a:ln/>
        </p:spPr>
        <p:txBody>
          <a:bodyPr wrap="square" lIns="0" tIns="0" rIns="0" bIns="0" rtlCol="0" anchor="t"/>
          <a:lstStyle/>
          <a:p>
            <a:pPr marL="0" indent="0" algn="r">
              <a:buNone/>
            </a:pPr>
            <a:r>
              <a:rPr lang="en-US" sz="600" dirty="0">
                <a:solidFill>
                  <a:srgbClr val="9098B0"/>
                </a:solidFill>
                <a:latin typeface="Raleway" pitchFamily="34" charset="0"/>
                <a:ea typeface="Raleway" pitchFamily="34" charset="-122"/>
                <a:cs typeface="Raleway" pitchFamily="34" charset="-120"/>
              </a:rPr>
              <a:t>Registro Recibido Anteriormente</a:t>
            </a:r>
            <a:endParaRPr lang="en-US" sz="600" dirty="0"/>
          </a:p>
        </p:txBody>
      </p:sp>
      <p:sp>
        <p:nvSpPr>
          <p:cNvPr id="11" name="Text 8"/>
          <p:cNvSpPr/>
          <p:nvPr/>
        </p:nvSpPr>
        <p:spPr>
          <a:xfrm>
            <a:off x="9134247" y="1028700"/>
            <a:ext cx="2403574" cy="137350"/>
          </a:xfrm>
          <a:prstGeom prst="rect">
            <a:avLst/>
          </a:prstGeom>
          <a:noFill/>
          <a:ln/>
        </p:spPr>
        <p:txBody>
          <a:bodyPr wrap="square" lIns="0" tIns="0" rIns="0" bIns="0" rtlCol="0" anchor="t"/>
          <a:lstStyle/>
          <a:p>
            <a:pPr marL="0" indent="0" algn="l">
              <a:buNone/>
            </a:pPr>
            <a:r>
              <a:rPr lang="en-US" sz="864" b="1" dirty="0">
                <a:solidFill>
                  <a:srgbClr val="9098B0"/>
                </a:solidFill>
                <a:latin typeface="Raleway" pitchFamily="34" charset="0"/>
                <a:ea typeface="Raleway" pitchFamily="34" charset="-122"/>
                <a:cs typeface="Raleway" pitchFamily="34" charset="-120"/>
              </a:rPr>
              <a:t>Vs. promedio general del canal</a:t>
            </a:r>
            <a:endParaRPr lang="en-US" sz="864" dirty="0"/>
          </a:p>
        </p:txBody>
      </p:sp>
      <p:sp>
        <p:nvSpPr>
          <p:cNvPr id="12" name="Text 9"/>
          <p:cNvSpPr/>
          <p:nvPr/>
        </p:nvSpPr>
        <p:spPr>
          <a:xfrm>
            <a:off x="6314917" y="4080570"/>
            <a:ext cx="1255745" cy="128016"/>
          </a:xfrm>
          <a:prstGeom prst="rect">
            <a:avLst/>
          </a:prstGeom>
          <a:noFill/>
          <a:ln/>
        </p:spPr>
        <p:txBody>
          <a:bodyPr wrap="square" lIns="0" tIns="0" rIns="0" bIns="0" rtlCol="0" anchor="t"/>
          <a:lstStyle/>
          <a:p>
            <a:pPr marL="0" indent="0" algn="r">
              <a:buNone/>
            </a:pPr>
            <a:r>
              <a:rPr lang="en-US" sz="600" dirty="0">
                <a:solidFill>
                  <a:srgbClr val="9098B0"/>
                </a:solidFill>
                <a:latin typeface="Raleway" pitchFamily="34" charset="0"/>
                <a:ea typeface="Raleway" pitchFamily="34" charset="-122"/>
                <a:cs typeface="Raleway" pitchFamily="34" charset="-120"/>
              </a:rPr>
              <a:t>Registro Enviado Anteriormente</a:t>
            </a:r>
            <a:endParaRPr lang="en-US" sz="600" dirty="0"/>
          </a:p>
        </p:txBody>
      </p:sp>
      <p:sp>
        <p:nvSpPr>
          <p:cNvPr id="13" name="Text 10"/>
          <p:cNvSpPr/>
          <p:nvPr/>
        </p:nvSpPr>
        <p:spPr>
          <a:xfrm>
            <a:off x="904857" y="4518720"/>
            <a:ext cx="5307483" cy="186404"/>
          </a:xfrm>
          <a:prstGeom prst="rect">
            <a:avLst/>
          </a:prstGeom>
          <a:noFill/>
          <a:ln/>
        </p:spPr>
        <p:txBody>
          <a:bodyPr wrap="square" lIns="0" tIns="0" rIns="0" bIns="38100" rtlCol="0" anchor="t"/>
          <a:lstStyle/>
          <a:p>
            <a:pPr marL="0" indent="0" algn="l">
              <a:buNone/>
            </a:pPr>
            <a:r>
              <a:rPr lang="en-US" sz="792" b="1" dirty="0">
                <a:solidFill>
                  <a:srgbClr val="120180"/>
                </a:solidFill>
                <a:latin typeface="Raleway" pitchFamily="34" charset="0"/>
                <a:ea typeface="Raleway" pitchFamily="34" charset="-122"/>
                <a:cs typeface="Raleway" pitchFamily="34" charset="-120"/>
              </a:rPr>
              <a:t>Ventas Autogestión por asesor</a:t>
            </a:r>
            <a:endParaRPr lang="en-US" sz="792" dirty="0"/>
          </a:p>
        </p:txBody>
      </p:sp>
      <p:sp>
        <p:nvSpPr>
          <p:cNvPr id="14" name="Text 11"/>
          <p:cNvSpPr/>
          <p:nvPr/>
        </p:nvSpPr>
        <p:spPr>
          <a:xfrm>
            <a:off x="6314917" y="2194620"/>
            <a:ext cx="5307483" cy="186404"/>
          </a:xfrm>
          <a:prstGeom prst="rect">
            <a:avLst/>
          </a:prstGeom>
          <a:noFill/>
          <a:ln/>
        </p:spPr>
        <p:txBody>
          <a:bodyPr wrap="square" lIns="0" tIns="0" rIns="0" bIns="38100" rtlCol="0" anchor="t"/>
          <a:lstStyle/>
          <a:p>
            <a:pPr marL="0" indent="0" algn="l">
              <a:buNone/>
            </a:pPr>
            <a:r>
              <a:rPr lang="en-US" sz="792" b="1" dirty="0">
                <a:solidFill>
                  <a:srgbClr val="120180"/>
                </a:solidFill>
                <a:latin typeface="Raleway" pitchFamily="34" charset="0"/>
                <a:ea typeface="Raleway" pitchFamily="34" charset="-122"/>
                <a:cs typeface="Raleway" pitchFamily="34" charset="-120"/>
              </a:rPr>
              <a:t>Crecimiento mensual de ventas</a:t>
            </a:r>
            <a:endParaRPr lang="en-US" sz="792" dirty="0"/>
          </a:p>
        </p:txBody>
      </p:sp>
      <p:sp>
        <p:nvSpPr>
          <p:cNvPr id="15" name="Text 12"/>
          <p:cNvSpPr/>
          <p:nvPr/>
        </p:nvSpPr>
        <p:spPr>
          <a:xfrm>
            <a:off x="3552736" y="1527870"/>
            <a:ext cx="2403574" cy="137350"/>
          </a:xfrm>
          <a:prstGeom prst="rect">
            <a:avLst/>
          </a:prstGeom>
          <a:noFill/>
          <a:ln/>
        </p:spPr>
        <p:txBody>
          <a:bodyPr wrap="square" lIns="0" tIns="0" rIns="0" bIns="0" rtlCol="0" anchor="t"/>
          <a:lstStyle/>
          <a:p>
            <a:pPr marL="0" indent="0" algn="l">
              <a:buNone/>
            </a:pPr>
            <a:r>
              <a:rPr lang="en-US" sz="864" dirty="0">
                <a:solidFill>
                  <a:srgbClr val="9098B0"/>
                </a:solidFill>
                <a:latin typeface="Raleway" pitchFamily="34" charset="0"/>
                <a:ea typeface="Raleway" pitchFamily="34" charset="-122"/>
                <a:cs typeface="Raleway" pitchFamily="34" charset="-120"/>
              </a:rPr>
              <a:t>26,6 % sobre contactados</a:t>
            </a:r>
            <a:endParaRPr lang="en-US" sz="864" dirty="0"/>
          </a:p>
        </p:txBody>
      </p:sp>
      <p:sp>
        <p:nvSpPr>
          <p:cNvPr id="16" name="Text 13"/>
          <p:cNvSpPr/>
          <p:nvPr/>
        </p:nvSpPr>
        <p:spPr>
          <a:xfrm>
            <a:off x="6448267" y="4718745"/>
            <a:ext cx="5307483" cy="128016"/>
          </a:xfrm>
          <a:prstGeom prst="rect">
            <a:avLst/>
          </a:prstGeom>
          <a:noFill/>
          <a:ln/>
        </p:spPr>
        <p:txBody>
          <a:bodyPr wrap="square" lIns="0" tIns="0" rIns="0" bIns="0" rtlCol="0" anchor="t"/>
          <a:lstStyle/>
          <a:p>
            <a:pPr marL="0" indent="0" algn="l">
              <a:buNone/>
            </a:pPr>
            <a:r>
              <a:rPr lang="en-US" sz="624" b="1" dirty="0">
                <a:solidFill>
                  <a:srgbClr val="9098B0"/>
                </a:solidFill>
                <a:latin typeface="Raleway" pitchFamily="34" charset="0"/>
                <a:ea typeface="Raleway" pitchFamily="34" charset="-122"/>
                <a:cs typeface="Raleway" pitchFamily="34" charset="-120"/>
              </a:rPr>
              <a:t>Qué cambió en la gestión</a:t>
            </a:r>
            <a:endParaRPr lang="en-US" sz="624" dirty="0"/>
          </a:p>
        </p:txBody>
      </p:sp>
      <p:sp>
        <p:nvSpPr>
          <p:cNvPr id="17" name="Text 14"/>
          <p:cNvSpPr/>
          <p:nvPr/>
        </p:nvSpPr>
        <p:spPr>
          <a:xfrm>
            <a:off x="6314917" y="3737670"/>
            <a:ext cx="1255745" cy="128016"/>
          </a:xfrm>
          <a:prstGeom prst="rect">
            <a:avLst/>
          </a:prstGeom>
          <a:noFill/>
          <a:ln/>
        </p:spPr>
        <p:txBody>
          <a:bodyPr wrap="square" lIns="0" tIns="0" rIns="0" bIns="0" rtlCol="0" anchor="t"/>
          <a:lstStyle/>
          <a:p>
            <a:pPr marL="0" indent="0" algn="r">
              <a:buNone/>
            </a:pPr>
            <a:r>
              <a:rPr lang="en-US" sz="600" dirty="0">
                <a:solidFill>
                  <a:srgbClr val="9098B0"/>
                </a:solidFill>
                <a:latin typeface="Raleway" pitchFamily="34" charset="0"/>
                <a:ea typeface="Raleway" pitchFamily="34" charset="-122"/>
                <a:cs typeface="Raleway" pitchFamily="34" charset="-120"/>
              </a:rPr>
              <a:t>Cuota Protegida Activa</a:t>
            </a:r>
            <a:endParaRPr lang="en-US" sz="600" dirty="0"/>
          </a:p>
        </p:txBody>
      </p:sp>
      <p:sp>
        <p:nvSpPr>
          <p:cNvPr id="18" name="Text 15"/>
          <p:cNvSpPr/>
          <p:nvPr/>
        </p:nvSpPr>
        <p:spPr>
          <a:xfrm>
            <a:off x="9936261" y="123825"/>
            <a:ext cx="1734467" cy="215836"/>
          </a:xfrm>
          <a:prstGeom prst="rect">
            <a:avLst/>
          </a:prstGeom>
          <a:noFill/>
          <a:ln/>
        </p:spPr>
        <p:txBody>
          <a:bodyPr wrap="square" lIns="38100" tIns="114300" rIns="114300" bIns="38100" rtlCol="0" anchor="t"/>
          <a:lstStyle/>
          <a:p>
            <a:pPr marL="0" indent="0" algn="ctr">
              <a:buNone/>
            </a:pPr>
            <a:r>
              <a:rPr lang="en-US" sz="840" b="1" dirty="0" err="1">
                <a:solidFill>
                  <a:srgbClr val="5AE280"/>
                </a:solidFill>
                <a:latin typeface="Raleway" pitchFamily="34" charset="0"/>
                <a:ea typeface="Raleway" pitchFamily="34" charset="-122"/>
                <a:cs typeface="Raleway" pitchFamily="34" charset="-120"/>
              </a:rPr>
              <a:t>Autogestión</a:t>
            </a:r>
            <a:endParaRPr lang="en-US" sz="840" dirty="0"/>
          </a:p>
        </p:txBody>
      </p:sp>
      <p:sp>
        <p:nvSpPr>
          <p:cNvPr id="19" name="Text 16"/>
          <p:cNvSpPr/>
          <p:nvPr/>
        </p:nvSpPr>
        <p:spPr>
          <a:xfrm>
            <a:off x="723882" y="5604592"/>
            <a:ext cx="1432334" cy="220861"/>
          </a:xfrm>
          <a:prstGeom prst="rect">
            <a:avLst/>
          </a:prstGeom>
          <a:noFill/>
          <a:ln/>
        </p:spPr>
        <p:txBody>
          <a:bodyPr wrap="square" lIns="38100" tIns="114300" rIns="114300" bIns="38100" rtlCol="0" anchor="ctr"/>
          <a:lstStyle/>
          <a:p>
            <a:pPr marL="0" indent="0" algn="l">
              <a:buNone/>
            </a:pPr>
            <a:r>
              <a:rPr lang="en-US" sz="840" b="1" dirty="0">
                <a:solidFill>
                  <a:srgbClr val="333333"/>
                </a:solidFill>
                <a:latin typeface="Raleway" pitchFamily="34" charset="0"/>
                <a:ea typeface="Raleway" pitchFamily="34" charset="-122"/>
                <a:cs typeface="Raleway" pitchFamily="34" charset="-120"/>
              </a:rPr>
              <a:t>Joelis J. Barros 4ª</a:t>
            </a:r>
            <a:endParaRPr lang="en-US" sz="840" dirty="0"/>
          </a:p>
        </p:txBody>
      </p:sp>
      <p:sp>
        <p:nvSpPr>
          <p:cNvPr id="20" name="Text 17"/>
          <p:cNvSpPr/>
          <p:nvPr/>
        </p:nvSpPr>
        <p:spPr>
          <a:xfrm>
            <a:off x="6314917" y="4309170"/>
            <a:ext cx="1255745" cy="128016"/>
          </a:xfrm>
          <a:prstGeom prst="rect">
            <a:avLst/>
          </a:prstGeom>
          <a:noFill/>
          <a:ln/>
        </p:spPr>
        <p:txBody>
          <a:bodyPr wrap="square" lIns="0" tIns="0" rIns="0" bIns="0" rtlCol="0" anchor="t"/>
          <a:lstStyle/>
          <a:p>
            <a:pPr marL="0" indent="0" algn="r">
              <a:buNone/>
            </a:pPr>
            <a:r>
              <a:rPr lang="en-US" sz="600" dirty="0">
                <a:solidFill>
                  <a:srgbClr val="9098B0"/>
                </a:solidFill>
                <a:latin typeface="Raleway" pitchFamily="34" charset="0"/>
                <a:ea typeface="Raleway" pitchFamily="34" charset="-122"/>
                <a:cs typeface="Raleway" pitchFamily="34" charset="-120"/>
              </a:rPr>
              <a:t>Microseguro Activo</a:t>
            </a:r>
            <a:endParaRPr lang="en-US" sz="600" dirty="0"/>
          </a:p>
        </p:txBody>
      </p:sp>
      <p:sp>
        <p:nvSpPr>
          <p:cNvPr id="21" name="Text 18"/>
          <p:cNvSpPr/>
          <p:nvPr/>
        </p:nvSpPr>
        <p:spPr>
          <a:xfrm>
            <a:off x="8988548" y="5099745"/>
            <a:ext cx="1161932" cy="128016"/>
          </a:xfrm>
          <a:prstGeom prst="rect">
            <a:avLst/>
          </a:prstGeom>
          <a:noFill/>
          <a:ln/>
        </p:spPr>
        <p:txBody>
          <a:bodyPr wrap="square" lIns="0" tIns="0" rIns="0" bIns="0" rtlCol="0" anchor="t"/>
          <a:lstStyle/>
          <a:p>
            <a:pPr marL="0" indent="0" algn="ctr">
              <a:buNone/>
            </a:pPr>
            <a:r>
              <a:rPr lang="en-US" sz="624" b="1" dirty="0">
                <a:solidFill>
                  <a:srgbClr val="120180"/>
                </a:solidFill>
                <a:latin typeface="Raleway" pitchFamily="34" charset="0"/>
                <a:ea typeface="Raleway" pitchFamily="34" charset="-122"/>
                <a:cs typeface="Raleway" pitchFamily="34" charset="-120"/>
              </a:rPr>
              <a:t>Sobremarcación OCM</a:t>
            </a:r>
            <a:endParaRPr lang="en-US" sz="624" dirty="0"/>
          </a:p>
        </p:txBody>
      </p:sp>
      <p:sp>
        <p:nvSpPr>
          <p:cNvPr id="22" name="Text 19"/>
          <p:cNvSpPr/>
          <p:nvPr/>
        </p:nvSpPr>
        <p:spPr>
          <a:xfrm>
            <a:off x="723882" y="5166442"/>
            <a:ext cx="1432334" cy="219075"/>
          </a:xfrm>
          <a:prstGeom prst="rect">
            <a:avLst/>
          </a:prstGeom>
          <a:noFill/>
          <a:ln/>
        </p:spPr>
        <p:txBody>
          <a:bodyPr wrap="square" lIns="38100" tIns="114300" rIns="114300" bIns="38100" rtlCol="0" anchor="ctr"/>
          <a:lstStyle/>
          <a:p>
            <a:pPr marL="0" indent="0" algn="l">
              <a:buNone/>
            </a:pPr>
            <a:r>
              <a:rPr lang="en-US" sz="840" b="1" dirty="0">
                <a:solidFill>
                  <a:srgbClr val="333333"/>
                </a:solidFill>
                <a:latin typeface="Raleway" pitchFamily="34" charset="0"/>
                <a:ea typeface="Raleway" pitchFamily="34" charset="-122"/>
                <a:cs typeface="Raleway" pitchFamily="34" charset="-120"/>
              </a:rPr>
              <a:t>Melissa P. Orozco</a:t>
            </a:r>
            <a:endParaRPr lang="en-US" sz="840" dirty="0"/>
          </a:p>
        </p:txBody>
      </p:sp>
      <p:sp>
        <p:nvSpPr>
          <p:cNvPr id="23" name="Text 20"/>
          <p:cNvSpPr/>
          <p:nvPr/>
        </p:nvSpPr>
        <p:spPr>
          <a:xfrm>
            <a:off x="914382" y="2194620"/>
            <a:ext cx="5307483" cy="225647"/>
          </a:xfrm>
          <a:prstGeom prst="rect">
            <a:avLst/>
          </a:prstGeom>
          <a:noFill/>
          <a:ln/>
        </p:spPr>
        <p:txBody>
          <a:bodyPr wrap="square" lIns="0" tIns="0" rIns="0" bIns="47625" rtlCol="0" anchor="t"/>
          <a:lstStyle/>
          <a:p>
            <a:pPr marL="0" indent="0" algn="l">
              <a:buNone/>
            </a:pPr>
            <a:r>
              <a:rPr lang="en-US" sz="1020" b="1" dirty="0">
                <a:solidFill>
                  <a:srgbClr val="120180"/>
                </a:solidFill>
                <a:latin typeface="Raleway" pitchFamily="34" charset="0"/>
                <a:ea typeface="Raleway" pitchFamily="34" charset="-122"/>
                <a:cs typeface="Raleway" pitchFamily="34" charset="-120"/>
              </a:rPr>
              <a:t>Histórico mensual</a:t>
            </a:r>
            <a:endParaRPr lang="en-US" sz="1020" dirty="0"/>
          </a:p>
        </p:txBody>
      </p:sp>
      <p:sp>
        <p:nvSpPr>
          <p:cNvPr id="24" name="Text 21"/>
          <p:cNvSpPr/>
          <p:nvPr/>
        </p:nvSpPr>
        <p:spPr>
          <a:xfrm>
            <a:off x="6314917" y="3966270"/>
            <a:ext cx="1255745" cy="128016"/>
          </a:xfrm>
          <a:prstGeom prst="rect">
            <a:avLst/>
          </a:prstGeom>
          <a:noFill/>
          <a:ln/>
        </p:spPr>
        <p:txBody>
          <a:bodyPr wrap="square" lIns="0" tIns="0" rIns="0" bIns="0" rtlCol="0" anchor="t"/>
          <a:lstStyle/>
          <a:p>
            <a:pPr marL="0" indent="0" algn="r">
              <a:buNone/>
            </a:pPr>
            <a:r>
              <a:rPr lang="en-US" sz="600" dirty="0">
                <a:solidFill>
                  <a:srgbClr val="9098B0"/>
                </a:solidFill>
                <a:latin typeface="Raleway" pitchFamily="34" charset="0"/>
                <a:ea typeface="Raleway" pitchFamily="34" charset="-122"/>
                <a:cs typeface="Raleway" pitchFamily="34" charset="-120"/>
              </a:rPr>
              <a:t>Contrato Repetido</a:t>
            </a:r>
            <a:endParaRPr lang="en-US" sz="600" dirty="0"/>
          </a:p>
        </p:txBody>
      </p:sp>
      <p:sp>
        <p:nvSpPr>
          <p:cNvPr id="25" name="Text 22"/>
          <p:cNvSpPr/>
          <p:nvPr/>
        </p:nvSpPr>
        <p:spPr>
          <a:xfrm>
            <a:off x="6314917" y="4194870"/>
            <a:ext cx="1255745" cy="128016"/>
          </a:xfrm>
          <a:prstGeom prst="rect">
            <a:avLst/>
          </a:prstGeom>
          <a:noFill/>
          <a:ln/>
        </p:spPr>
        <p:txBody>
          <a:bodyPr wrap="square" lIns="0" tIns="0" rIns="0" bIns="0" rtlCol="0" anchor="t"/>
          <a:lstStyle/>
          <a:p>
            <a:pPr marL="0" indent="0" algn="r">
              <a:buNone/>
            </a:pPr>
            <a:r>
              <a:rPr lang="en-US" sz="600" dirty="0">
                <a:solidFill>
                  <a:srgbClr val="9098B0"/>
                </a:solidFill>
                <a:latin typeface="Raleway" pitchFamily="34" charset="0"/>
                <a:ea typeface="Raleway" pitchFamily="34" charset="-122"/>
                <a:cs typeface="Raleway" pitchFamily="34" charset="-120"/>
              </a:rPr>
              <a:t>Localidad Errónea</a:t>
            </a:r>
            <a:endParaRPr lang="en-US" sz="600" dirty="0"/>
          </a:p>
        </p:txBody>
      </p:sp>
      <p:sp>
        <p:nvSpPr>
          <p:cNvPr id="26" name="Text 23"/>
          <p:cNvSpPr/>
          <p:nvPr/>
        </p:nvSpPr>
        <p:spPr>
          <a:xfrm>
            <a:off x="723882" y="5825453"/>
            <a:ext cx="1432334" cy="185738"/>
          </a:xfrm>
          <a:prstGeom prst="rect">
            <a:avLst/>
          </a:prstGeom>
          <a:noFill/>
          <a:ln/>
        </p:spPr>
        <p:txBody>
          <a:bodyPr wrap="square" lIns="38100" tIns="114300" rIns="114300" bIns="38100" rtlCol="0" anchor="ctr"/>
          <a:lstStyle/>
          <a:p>
            <a:pPr marL="0" indent="0" algn="l">
              <a:buNone/>
            </a:pPr>
            <a:r>
              <a:rPr lang="en-US" sz="720" b="1" dirty="0">
                <a:solidFill>
                  <a:srgbClr val="120180"/>
                </a:solidFill>
                <a:latin typeface="Raleway" pitchFamily="34" charset="0"/>
                <a:ea typeface="Raleway" pitchFamily="34" charset="-122"/>
                <a:cs typeface="Raleway" pitchFamily="34" charset="-120"/>
              </a:rPr>
              <a:t>Total 4 asesores</a:t>
            </a:r>
            <a:endParaRPr lang="en-US" sz="720" dirty="0"/>
          </a:p>
        </p:txBody>
      </p:sp>
      <p:sp>
        <p:nvSpPr>
          <p:cNvPr id="27" name="Text 24"/>
          <p:cNvSpPr/>
          <p:nvPr/>
        </p:nvSpPr>
        <p:spPr>
          <a:xfrm>
            <a:off x="6343491" y="1028700"/>
            <a:ext cx="2403574" cy="137350"/>
          </a:xfrm>
          <a:prstGeom prst="rect">
            <a:avLst/>
          </a:prstGeom>
          <a:noFill/>
          <a:ln/>
        </p:spPr>
        <p:txBody>
          <a:bodyPr wrap="square" lIns="0" tIns="0" rIns="0" bIns="0" rtlCol="0" anchor="t"/>
          <a:lstStyle/>
          <a:p>
            <a:pPr marL="0" indent="0" algn="l">
              <a:buNone/>
            </a:pPr>
            <a:r>
              <a:rPr lang="en-US" sz="864" b="1" dirty="0">
                <a:solidFill>
                  <a:srgbClr val="9098B0"/>
                </a:solidFill>
                <a:latin typeface="Raleway" pitchFamily="34" charset="0"/>
                <a:ea typeface="Raleway" pitchFamily="34" charset="-122"/>
                <a:cs typeface="Raleway" pitchFamily="34" charset="-120"/>
              </a:rPr>
              <a:t>Rechazo promedio</a:t>
            </a:r>
            <a:endParaRPr lang="en-US" sz="864" dirty="0"/>
          </a:p>
        </p:txBody>
      </p:sp>
      <p:sp>
        <p:nvSpPr>
          <p:cNvPr id="28" name="Text 25"/>
          <p:cNvSpPr/>
          <p:nvPr/>
        </p:nvSpPr>
        <p:spPr>
          <a:xfrm>
            <a:off x="7665945" y="5099745"/>
            <a:ext cx="1162085" cy="128016"/>
          </a:xfrm>
          <a:prstGeom prst="rect">
            <a:avLst/>
          </a:prstGeom>
          <a:noFill/>
          <a:ln/>
        </p:spPr>
        <p:txBody>
          <a:bodyPr wrap="square" lIns="0" tIns="0" rIns="0" bIns="0" rtlCol="0" anchor="t"/>
          <a:lstStyle/>
          <a:p>
            <a:pPr marL="0" indent="0" algn="ctr">
              <a:buNone/>
            </a:pPr>
            <a:r>
              <a:rPr lang="en-US" sz="624" b="1" dirty="0">
                <a:solidFill>
                  <a:srgbClr val="120180"/>
                </a:solidFill>
                <a:latin typeface="Raleway" pitchFamily="34" charset="0"/>
                <a:ea typeface="Raleway" pitchFamily="34" charset="-122"/>
                <a:cs typeface="Raleway" pitchFamily="34" charset="-120"/>
              </a:rPr>
              <a:t>Foco: 3 asesores</a:t>
            </a:r>
            <a:endParaRPr lang="en-US" sz="624" dirty="0"/>
          </a:p>
        </p:txBody>
      </p:sp>
      <p:sp>
        <p:nvSpPr>
          <p:cNvPr id="29" name="Text 26"/>
          <p:cNvSpPr/>
          <p:nvPr/>
        </p:nvSpPr>
        <p:spPr>
          <a:xfrm>
            <a:off x="723882" y="4952130"/>
            <a:ext cx="1432334" cy="214313"/>
          </a:xfrm>
          <a:prstGeom prst="rect">
            <a:avLst/>
          </a:prstGeom>
          <a:noFill/>
          <a:ln/>
        </p:spPr>
        <p:txBody>
          <a:bodyPr wrap="square" lIns="38100" tIns="114300" rIns="114300" bIns="38100" rtlCol="0" anchor="ctr"/>
          <a:lstStyle/>
          <a:p>
            <a:pPr marL="0" indent="0" algn="l">
              <a:buNone/>
            </a:pPr>
            <a:r>
              <a:rPr lang="en-US" sz="840" b="1" dirty="0">
                <a:solidFill>
                  <a:srgbClr val="333333"/>
                </a:solidFill>
                <a:latin typeface="Raleway" pitchFamily="34" charset="0"/>
                <a:ea typeface="Raleway" pitchFamily="34" charset="-122"/>
                <a:cs typeface="Raleway" pitchFamily="34" charset="-120"/>
              </a:rPr>
              <a:t>Jesús D. Cortés</a:t>
            </a:r>
            <a:endParaRPr lang="en-US" sz="840" dirty="0"/>
          </a:p>
        </p:txBody>
      </p:sp>
      <p:sp>
        <p:nvSpPr>
          <p:cNvPr id="30" name="Text 27"/>
          <p:cNvSpPr/>
          <p:nvPr/>
        </p:nvSpPr>
        <p:spPr>
          <a:xfrm>
            <a:off x="6314917" y="4423470"/>
            <a:ext cx="1255745" cy="128016"/>
          </a:xfrm>
          <a:prstGeom prst="rect">
            <a:avLst/>
          </a:prstGeom>
          <a:noFill/>
          <a:ln/>
        </p:spPr>
        <p:txBody>
          <a:bodyPr wrap="square" lIns="0" tIns="0" rIns="0" bIns="0" rtlCol="0" anchor="t"/>
          <a:lstStyle/>
          <a:p>
            <a:pPr marL="0" indent="0" algn="r">
              <a:buNone/>
            </a:pPr>
            <a:r>
              <a:rPr lang="en-US" sz="600" dirty="0">
                <a:solidFill>
                  <a:srgbClr val="9098B0"/>
                </a:solidFill>
                <a:latin typeface="Raleway" pitchFamily="34" charset="0"/>
                <a:ea typeface="Raleway" pitchFamily="34" charset="-122"/>
                <a:cs typeface="Raleway" pitchFamily="34" charset="-120"/>
              </a:rPr>
              <a:t>Otros (&lt;1% c/u)</a:t>
            </a:r>
            <a:endParaRPr lang="en-US" sz="600" dirty="0"/>
          </a:p>
        </p:txBody>
      </p:sp>
      <p:sp>
        <p:nvSpPr>
          <p:cNvPr id="31" name="Text 28"/>
          <p:cNvSpPr/>
          <p:nvPr/>
        </p:nvSpPr>
        <p:spPr>
          <a:xfrm>
            <a:off x="723882" y="5385517"/>
            <a:ext cx="1432334" cy="219075"/>
          </a:xfrm>
          <a:prstGeom prst="rect">
            <a:avLst/>
          </a:prstGeom>
          <a:noFill/>
          <a:ln/>
        </p:spPr>
        <p:txBody>
          <a:bodyPr wrap="square" lIns="38100" tIns="114300" rIns="114300" bIns="38100" rtlCol="0" anchor="ctr"/>
          <a:lstStyle/>
          <a:p>
            <a:pPr marL="0" indent="0" algn="l">
              <a:buNone/>
            </a:pPr>
            <a:r>
              <a:rPr lang="en-US" sz="840" b="1" dirty="0">
                <a:solidFill>
                  <a:srgbClr val="333333"/>
                </a:solidFill>
                <a:latin typeface="Raleway" pitchFamily="34" charset="0"/>
                <a:ea typeface="Raleway" pitchFamily="34" charset="-122"/>
                <a:cs typeface="Raleway" pitchFamily="34" charset="-120"/>
              </a:rPr>
              <a:t>Luisa L. Percy</a:t>
            </a:r>
            <a:endParaRPr lang="en-US" sz="840" dirty="0"/>
          </a:p>
        </p:txBody>
      </p:sp>
      <p:sp>
        <p:nvSpPr>
          <p:cNvPr id="32" name="Text 29"/>
          <p:cNvSpPr/>
          <p:nvPr/>
        </p:nvSpPr>
        <p:spPr>
          <a:xfrm>
            <a:off x="761981" y="1028700"/>
            <a:ext cx="2403574" cy="137350"/>
          </a:xfrm>
          <a:prstGeom prst="rect">
            <a:avLst/>
          </a:prstGeom>
          <a:noFill/>
          <a:ln/>
        </p:spPr>
        <p:txBody>
          <a:bodyPr wrap="square" lIns="0" tIns="0" rIns="0" bIns="0" rtlCol="0" anchor="t"/>
          <a:lstStyle/>
          <a:p>
            <a:pPr marL="0" indent="0" algn="l">
              <a:buNone/>
            </a:pPr>
            <a:r>
              <a:rPr lang="en-US" sz="864" b="1" dirty="0">
                <a:solidFill>
                  <a:srgbClr val="9098B0"/>
                </a:solidFill>
                <a:latin typeface="Raleway" pitchFamily="34" charset="0"/>
                <a:ea typeface="Raleway" pitchFamily="34" charset="-122"/>
                <a:cs typeface="Raleway" pitchFamily="34" charset="-120"/>
              </a:rPr>
              <a:t>Registros (1S)</a:t>
            </a:r>
            <a:endParaRPr lang="en-US" sz="864" dirty="0"/>
          </a:p>
        </p:txBody>
      </p:sp>
      <p:sp>
        <p:nvSpPr>
          <p:cNvPr id="33" name="Text 30"/>
          <p:cNvSpPr/>
          <p:nvPr/>
        </p:nvSpPr>
        <p:spPr>
          <a:xfrm>
            <a:off x="6343491" y="5099745"/>
            <a:ext cx="1161932" cy="128016"/>
          </a:xfrm>
          <a:prstGeom prst="rect">
            <a:avLst/>
          </a:prstGeom>
          <a:noFill/>
          <a:ln/>
        </p:spPr>
        <p:txBody>
          <a:bodyPr wrap="square" lIns="0" tIns="0" rIns="0" bIns="0" rtlCol="0" anchor="t"/>
          <a:lstStyle/>
          <a:p>
            <a:pPr marL="0" indent="0" algn="ctr">
              <a:buNone/>
            </a:pPr>
            <a:r>
              <a:rPr lang="en-US" sz="624" b="1" dirty="0">
                <a:solidFill>
                  <a:srgbClr val="120180"/>
                </a:solidFill>
                <a:latin typeface="Raleway" pitchFamily="34" charset="0"/>
                <a:ea typeface="Raleway" pitchFamily="34" charset="-122"/>
                <a:cs typeface="Raleway" pitchFamily="34" charset="-120"/>
              </a:rPr>
              <a:t>Sin focalizar</a:t>
            </a:r>
            <a:endParaRPr lang="en-US" sz="624" dirty="0"/>
          </a:p>
        </p:txBody>
      </p:sp>
      <p:sp>
        <p:nvSpPr>
          <p:cNvPr id="34" name="Text 31"/>
          <p:cNvSpPr/>
          <p:nvPr/>
        </p:nvSpPr>
        <p:spPr>
          <a:xfrm>
            <a:off x="10311001" y="5099745"/>
            <a:ext cx="1162085" cy="128016"/>
          </a:xfrm>
          <a:prstGeom prst="rect">
            <a:avLst/>
          </a:prstGeom>
          <a:noFill/>
          <a:ln/>
        </p:spPr>
        <p:txBody>
          <a:bodyPr wrap="square" lIns="0" tIns="0" rIns="0" bIns="0" rtlCol="0" anchor="t"/>
          <a:lstStyle/>
          <a:p>
            <a:pPr marL="0" indent="0" algn="ctr">
              <a:buNone/>
            </a:pPr>
            <a:r>
              <a:rPr lang="en-US" sz="624" b="1" dirty="0">
                <a:solidFill>
                  <a:srgbClr val="120180"/>
                </a:solidFill>
                <a:latin typeface="Raleway" pitchFamily="34" charset="0"/>
                <a:ea typeface="Raleway" pitchFamily="34" charset="-122"/>
                <a:cs typeface="Raleway" pitchFamily="34" charset="-120"/>
              </a:rPr>
              <a:t>+1 asesor (4)</a:t>
            </a:r>
            <a:endParaRPr lang="en-US" sz="624" dirty="0"/>
          </a:p>
        </p:txBody>
      </p:sp>
      <p:sp>
        <p:nvSpPr>
          <p:cNvPr id="35" name="Text 32"/>
          <p:cNvSpPr/>
          <p:nvPr/>
        </p:nvSpPr>
        <p:spPr>
          <a:xfrm>
            <a:off x="3552736" y="1028700"/>
            <a:ext cx="2403574" cy="137350"/>
          </a:xfrm>
          <a:prstGeom prst="rect">
            <a:avLst/>
          </a:prstGeom>
          <a:noFill/>
          <a:ln/>
        </p:spPr>
        <p:txBody>
          <a:bodyPr wrap="square" lIns="0" tIns="0" rIns="0" bIns="0" rtlCol="0" anchor="t"/>
          <a:lstStyle/>
          <a:p>
            <a:pPr marL="0" indent="0" algn="l">
              <a:buNone/>
            </a:pPr>
            <a:r>
              <a:rPr lang="en-US" sz="864" b="1" dirty="0">
                <a:solidFill>
                  <a:srgbClr val="9098B0"/>
                </a:solidFill>
                <a:latin typeface="Raleway" pitchFamily="34" charset="0"/>
                <a:ea typeface="Raleway" pitchFamily="34" charset="-122"/>
                <a:cs typeface="Raleway" pitchFamily="34" charset="-120"/>
              </a:rPr>
              <a:t>Ventas (1S)</a:t>
            </a:r>
            <a:endParaRPr lang="en-US" sz="864" dirty="0"/>
          </a:p>
        </p:txBody>
      </p:sp>
      <p:sp>
        <p:nvSpPr>
          <p:cNvPr id="36" name="Text 33"/>
          <p:cNvSpPr/>
          <p:nvPr/>
        </p:nvSpPr>
        <p:spPr>
          <a:xfrm>
            <a:off x="4091927" y="2456580"/>
            <a:ext cx="911151"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37" name="Text 34"/>
          <p:cNvSpPr/>
          <p:nvPr/>
        </p:nvSpPr>
        <p:spPr>
          <a:xfrm>
            <a:off x="4976539" y="2456580"/>
            <a:ext cx="927246"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Conversión</a:t>
            </a:r>
            <a:endParaRPr lang="en-US" sz="888" dirty="0"/>
          </a:p>
        </p:txBody>
      </p:sp>
      <p:sp>
        <p:nvSpPr>
          <p:cNvPr id="38" name="Text 35"/>
          <p:cNvSpPr/>
          <p:nvPr/>
        </p:nvSpPr>
        <p:spPr>
          <a:xfrm>
            <a:off x="1234945" y="2456580"/>
            <a:ext cx="818411"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Registros</a:t>
            </a:r>
            <a:endParaRPr lang="en-US" sz="888" dirty="0"/>
          </a:p>
        </p:txBody>
      </p:sp>
      <p:sp>
        <p:nvSpPr>
          <p:cNvPr id="39" name="Text 36"/>
          <p:cNvSpPr/>
          <p:nvPr/>
        </p:nvSpPr>
        <p:spPr>
          <a:xfrm>
            <a:off x="2666636" y="2456580"/>
            <a:ext cx="758321"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Rechazo</a:t>
            </a:r>
            <a:endParaRPr lang="en-US" sz="888" dirty="0"/>
          </a:p>
        </p:txBody>
      </p:sp>
      <p:sp>
        <p:nvSpPr>
          <p:cNvPr id="40" name="Text 37"/>
          <p:cNvSpPr/>
          <p:nvPr/>
        </p:nvSpPr>
        <p:spPr>
          <a:xfrm>
            <a:off x="3402870" y="2456580"/>
            <a:ext cx="709729"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 Rech.</a:t>
            </a:r>
            <a:endParaRPr lang="en-US" sz="888" dirty="0"/>
          </a:p>
        </p:txBody>
      </p:sp>
      <p:sp>
        <p:nvSpPr>
          <p:cNvPr id="41" name="Text 38"/>
          <p:cNvSpPr/>
          <p:nvPr/>
        </p:nvSpPr>
        <p:spPr>
          <a:xfrm>
            <a:off x="6343491" y="5014020"/>
            <a:ext cx="1161932" cy="128016"/>
          </a:xfrm>
          <a:prstGeom prst="rect">
            <a:avLst/>
          </a:prstGeom>
          <a:noFill/>
          <a:ln/>
        </p:spPr>
        <p:txBody>
          <a:bodyPr wrap="square" lIns="0" tIns="0" rIns="0" bIns="0" rtlCol="0" anchor="t"/>
          <a:lstStyle/>
          <a:p>
            <a:pPr marL="0" indent="0" algn="ctr">
              <a:buNone/>
            </a:pPr>
            <a:r>
              <a:rPr lang="en-US" sz="576" b="1" dirty="0">
                <a:solidFill>
                  <a:srgbClr val="9098B0"/>
                </a:solidFill>
                <a:latin typeface="Raleway" pitchFamily="34" charset="0"/>
                <a:ea typeface="Raleway" pitchFamily="34" charset="-122"/>
                <a:cs typeface="Raleway" pitchFamily="34" charset="-120"/>
              </a:rPr>
              <a:t>Ene–Feb</a:t>
            </a:r>
            <a:endParaRPr lang="en-US" sz="576" dirty="0"/>
          </a:p>
        </p:txBody>
      </p:sp>
      <p:sp>
        <p:nvSpPr>
          <p:cNvPr id="42" name="Text 39"/>
          <p:cNvSpPr/>
          <p:nvPr/>
        </p:nvSpPr>
        <p:spPr>
          <a:xfrm>
            <a:off x="8988548" y="5014020"/>
            <a:ext cx="1161932" cy="128016"/>
          </a:xfrm>
          <a:prstGeom prst="rect">
            <a:avLst/>
          </a:prstGeom>
          <a:noFill/>
          <a:ln/>
        </p:spPr>
        <p:txBody>
          <a:bodyPr wrap="square" lIns="0" tIns="0" rIns="0" bIns="0" rtlCol="0" anchor="t"/>
          <a:lstStyle/>
          <a:p>
            <a:pPr marL="0" indent="0" algn="ctr">
              <a:buNone/>
            </a:pPr>
            <a:r>
              <a:rPr lang="en-US" sz="576" b="1" dirty="0">
                <a:solidFill>
                  <a:srgbClr val="9098B0"/>
                </a:solidFill>
                <a:latin typeface="Raleway" pitchFamily="34" charset="0"/>
                <a:ea typeface="Raleway" pitchFamily="34" charset="-122"/>
                <a:cs typeface="Raleway" pitchFamily="34" charset="-120"/>
              </a:rPr>
              <a:t>Abr–May</a:t>
            </a:r>
            <a:endParaRPr lang="en-US" sz="576" dirty="0"/>
          </a:p>
        </p:txBody>
      </p:sp>
      <p:sp>
        <p:nvSpPr>
          <p:cNvPr id="43" name="Text 40"/>
          <p:cNvSpPr/>
          <p:nvPr/>
        </p:nvSpPr>
        <p:spPr>
          <a:xfrm>
            <a:off x="2029518" y="2456580"/>
            <a:ext cx="656231"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44" name="Text 41"/>
          <p:cNvSpPr/>
          <p:nvPr/>
        </p:nvSpPr>
        <p:spPr>
          <a:xfrm>
            <a:off x="3402870" y="2685180"/>
            <a:ext cx="709729" cy="242888"/>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41,2 %</a:t>
            </a:r>
            <a:endParaRPr lang="en-US" sz="888" dirty="0"/>
          </a:p>
        </p:txBody>
      </p:sp>
      <p:sp>
        <p:nvSpPr>
          <p:cNvPr id="45" name="Text 42"/>
          <p:cNvSpPr/>
          <p:nvPr/>
        </p:nvSpPr>
        <p:spPr>
          <a:xfrm>
            <a:off x="4091927" y="2685180"/>
            <a:ext cx="911151" cy="242888"/>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80,9 %</a:t>
            </a:r>
            <a:endParaRPr lang="en-US" sz="888" dirty="0"/>
          </a:p>
        </p:txBody>
      </p:sp>
      <p:sp>
        <p:nvSpPr>
          <p:cNvPr id="46" name="Text 43"/>
          <p:cNvSpPr/>
          <p:nvPr/>
        </p:nvSpPr>
        <p:spPr>
          <a:xfrm>
            <a:off x="4900339" y="2647080"/>
            <a:ext cx="927246" cy="242888"/>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30,7 %</a:t>
            </a:r>
            <a:endParaRPr lang="en-US" sz="888" dirty="0"/>
          </a:p>
        </p:txBody>
      </p:sp>
      <p:sp>
        <p:nvSpPr>
          <p:cNvPr id="47" name="Text 44"/>
          <p:cNvSpPr/>
          <p:nvPr/>
        </p:nvSpPr>
        <p:spPr>
          <a:xfrm>
            <a:off x="3402870" y="2928067"/>
            <a:ext cx="709729"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57,9 %</a:t>
            </a:r>
            <a:endParaRPr lang="en-US" sz="888" dirty="0"/>
          </a:p>
        </p:txBody>
      </p:sp>
      <p:sp>
        <p:nvSpPr>
          <p:cNvPr id="48" name="Text 45"/>
          <p:cNvSpPr/>
          <p:nvPr/>
        </p:nvSpPr>
        <p:spPr>
          <a:xfrm>
            <a:off x="4091927" y="2928067"/>
            <a:ext cx="911151"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81,3 %</a:t>
            </a:r>
            <a:endParaRPr lang="en-US" sz="888" dirty="0"/>
          </a:p>
        </p:txBody>
      </p:sp>
      <p:sp>
        <p:nvSpPr>
          <p:cNvPr id="49" name="Text 46"/>
          <p:cNvSpPr/>
          <p:nvPr/>
        </p:nvSpPr>
        <p:spPr>
          <a:xfrm>
            <a:off x="4900339" y="2889967"/>
            <a:ext cx="927246"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32,4 %</a:t>
            </a:r>
            <a:endParaRPr lang="en-US" sz="888" dirty="0"/>
          </a:p>
        </p:txBody>
      </p:sp>
      <p:sp>
        <p:nvSpPr>
          <p:cNvPr id="50" name="Text 47"/>
          <p:cNvSpPr/>
          <p:nvPr/>
        </p:nvSpPr>
        <p:spPr>
          <a:xfrm>
            <a:off x="3402870" y="3175717"/>
            <a:ext cx="709729"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63,8 %</a:t>
            </a:r>
            <a:endParaRPr lang="en-US" sz="888" dirty="0"/>
          </a:p>
        </p:txBody>
      </p:sp>
      <p:sp>
        <p:nvSpPr>
          <p:cNvPr id="51" name="Text 48"/>
          <p:cNvSpPr/>
          <p:nvPr/>
        </p:nvSpPr>
        <p:spPr>
          <a:xfrm>
            <a:off x="4091927" y="3175717"/>
            <a:ext cx="911151"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74,8 %</a:t>
            </a:r>
            <a:endParaRPr lang="en-US" sz="888" dirty="0"/>
          </a:p>
        </p:txBody>
      </p:sp>
      <p:sp>
        <p:nvSpPr>
          <p:cNvPr id="52" name="Text 49"/>
          <p:cNvSpPr/>
          <p:nvPr/>
        </p:nvSpPr>
        <p:spPr>
          <a:xfrm>
            <a:off x="4900339" y="3137617"/>
            <a:ext cx="927246"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17,2 %</a:t>
            </a:r>
            <a:endParaRPr lang="en-US" sz="888" dirty="0"/>
          </a:p>
        </p:txBody>
      </p:sp>
      <p:sp>
        <p:nvSpPr>
          <p:cNvPr id="53" name="Text 50"/>
          <p:cNvSpPr/>
          <p:nvPr/>
        </p:nvSpPr>
        <p:spPr>
          <a:xfrm>
            <a:off x="3402870" y="3423367"/>
            <a:ext cx="709729"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58,3 %</a:t>
            </a:r>
            <a:endParaRPr lang="en-US" sz="888" dirty="0"/>
          </a:p>
        </p:txBody>
      </p:sp>
      <p:sp>
        <p:nvSpPr>
          <p:cNvPr id="54" name="Text 51"/>
          <p:cNvSpPr/>
          <p:nvPr/>
        </p:nvSpPr>
        <p:spPr>
          <a:xfrm>
            <a:off x="4091927" y="3423367"/>
            <a:ext cx="911151"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71,0 %</a:t>
            </a:r>
            <a:endParaRPr lang="en-US" sz="888" dirty="0"/>
          </a:p>
        </p:txBody>
      </p:sp>
      <p:sp>
        <p:nvSpPr>
          <p:cNvPr id="55" name="Text 52"/>
          <p:cNvSpPr/>
          <p:nvPr/>
        </p:nvSpPr>
        <p:spPr>
          <a:xfrm>
            <a:off x="4900339" y="3385267"/>
            <a:ext cx="927246"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20,7 %</a:t>
            </a:r>
            <a:endParaRPr lang="en-US" sz="888" dirty="0"/>
          </a:p>
        </p:txBody>
      </p:sp>
      <p:sp>
        <p:nvSpPr>
          <p:cNvPr id="56" name="Text 53"/>
          <p:cNvSpPr/>
          <p:nvPr/>
        </p:nvSpPr>
        <p:spPr>
          <a:xfrm>
            <a:off x="3402870" y="3671017"/>
            <a:ext cx="709729"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60,4 %</a:t>
            </a:r>
            <a:endParaRPr lang="en-US" sz="888" dirty="0"/>
          </a:p>
        </p:txBody>
      </p:sp>
      <p:sp>
        <p:nvSpPr>
          <p:cNvPr id="57" name="Text 54"/>
          <p:cNvSpPr/>
          <p:nvPr/>
        </p:nvSpPr>
        <p:spPr>
          <a:xfrm>
            <a:off x="4091927" y="3671017"/>
            <a:ext cx="911151"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75,8 %</a:t>
            </a:r>
            <a:endParaRPr lang="en-US" sz="888" dirty="0"/>
          </a:p>
        </p:txBody>
      </p:sp>
      <p:sp>
        <p:nvSpPr>
          <p:cNvPr id="58" name="Text 55"/>
          <p:cNvSpPr/>
          <p:nvPr/>
        </p:nvSpPr>
        <p:spPr>
          <a:xfrm>
            <a:off x="4900339" y="3632917"/>
            <a:ext cx="927246"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33,0 %</a:t>
            </a:r>
            <a:endParaRPr lang="en-US" sz="888" dirty="0"/>
          </a:p>
        </p:txBody>
      </p:sp>
      <p:sp>
        <p:nvSpPr>
          <p:cNvPr id="59" name="Text 56"/>
          <p:cNvSpPr/>
          <p:nvPr/>
        </p:nvSpPr>
        <p:spPr>
          <a:xfrm>
            <a:off x="3402870" y="3918667"/>
            <a:ext cx="709729"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69,4 %</a:t>
            </a:r>
            <a:endParaRPr lang="en-US" sz="888" dirty="0"/>
          </a:p>
        </p:txBody>
      </p:sp>
      <p:sp>
        <p:nvSpPr>
          <p:cNvPr id="60" name="Text 57"/>
          <p:cNvSpPr/>
          <p:nvPr/>
        </p:nvSpPr>
        <p:spPr>
          <a:xfrm>
            <a:off x="4091927" y="3918667"/>
            <a:ext cx="911151"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63,3 %</a:t>
            </a:r>
            <a:endParaRPr lang="en-US" sz="888" dirty="0"/>
          </a:p>
        </p:txBody>
      </p:sp>
      <p:sp>
        <p:nvSpPr>
          <p:cNvPr id="61" name="Text 58"/>
          <p:cNvSpPr/>
          <p:nvPr/>
        </p:nvSpPr>
        <p:spPr>
          <a:xfrm>
            <a:off x="4900339" y="3880567"/>
            <a:ext cx="927246"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29,2 %</a:t>
            </a:r>
            <a:endParaRPr lang="en-US" sz="888" dirty="0"/>
          </a:p>
        </p:txBody>
      </p:sp>
      <p:sp>
        <p:nvSpPr>
          <p:cNvPr id="62" name="Text 59"/>
          <p:cNvSpPr/>
          <p:nvPr/>
        </p:nvSpPr>
        <p:spPr>
          <a:xfrm>
            <a:off x="1234945" y="4166317"/>
            <a:ext cx="818411" cy="242888"/>
          </a:xfrm>
          <a:prstGeom prst="rect">
            <a:avLst/>
          </a:prstGeom>
          <a:noFill/>
          <a:ln/>
        </p:spPr>
        <p:txBody>
          <a:bodyPr wrap="square" lIns="38100" tIns="114300" rIns="114300" bIns="38100" rtlCol="0" anchor="ctr"/>
          <a:lstStyle/>
          <a:p>
            <a:pPr marL="0" indent="0" algn="r">
              <a:buNone/>
            </a:pPr>
            <a:r>
              <a:rPr lang="en-US" sz="888" b="1" dirty="0">
                <a:solidFill>
                  <a:srgbClr val="120180"/>
                </a:solidFill>
                <a:latin typeface="Raleway" pitchFamily="34" charset="0"/>
                <a:ea typeface="Raleway" pitchFamily="34" charset="-122"/>
                <a:cs typeface="Raleway" pitchFamily="34" charset="-120"/>
              </a:rPr>
              <a:t>11.686</a:t>
            </a:r>
            <a:endParaRPr lang="en-US" sz="888" dirty="0"/>
          </a:p>
        </p:txBody>
      </p:sp>
      <p:sp>
        <p:nvSpPr>
          <p:cNvPr id="63" name="Text 60"/>
          <p:cNvSpPr/>
          <p:nvPr/>
        </p:nvSpPr>
        <p:spPr>
          <a:xfrm>
            <a:off x="3402870" y="4166317"/>
            <a:ext cx="709729" cy="242888"/>
          </a:xfrm>
          <a:prstGeom prst="rect">
            <a:avLst/>
          </a:prstGeom>
          <a:noFill/>
          <a:ln/>
        </p:spPr>
        <p:txBody>
          <a:bodyPr wrap="square" lIns="38100" tIns="114300" rIns="114300" bIns="38100" rtlCol="0" anchor="ctr"/>
          <a:lstStyle/>
          <a:p>
            <a:pPr marL="0" indent="0" algn="r">
              <a:buNone/>
            </a:pPr>
            <a:r>
              <a:rPr lang="en-US" sz="888" b="1" dirty="0">
                <a:solidFill>
                  <a:srgbClr val="120180"/>
                </a:solidFill>
                <a:latin typeface="Raleway" pitchFamily="34" charset="0"/>
                <a:ea typeface="Raleway" pitchFamily="34" charset="-122"/>
                <a:cs typeface="Raleway" pitchFamily="34" charset="-120"/>
              </a:rPr>
              <a:t>63,8 %</a:t>
            </a:r>
            <a:endParaRPr lang="en-US" sz="888" dirty="0"/>
          </a:p>
        </p:txBody>
      </p:sp>
      <p:sp>
        <p:nvSpPr>
          <p:cNvPr id="64" name="Text 61"/>
          <p:cNvSpPr/>
          <p:nvPr/>
        </p:nvSpPr>
        <p:spPr>
          <a:xfrm>
            <a:off x="4091927" y="4166317"/>
            <a:ext cx="911151" cy="242888"/>
          </a:xfrm>
          <a:prstGeom prst="rect">
            <a:avLst/>
          </a:prstGeom>
          <a:noFill/>
          <a:ln/>
        </p:spPr>
        <p:txBody>
          <a:bodyPr wrap="square" lIns="38100" tIns="114300" rIns="114300" bIns="38100" rtlCol="0" anchor="ctr"/>
          <a:lstStyle/>
          <a:p>
            <a:pPr marL="0" indent="0" algn="r">
              <a:buNone/>
            </a:pPr>
            <a:r>
              <a:rPr lang="en-US" sz="888" b="1" dirty="0">
                <a:solidFill>
                  <a:srgbClr val="120180"/>
                </a:solidFill>
                <a:latin typeface="Raleway" pitchFamily="34" charset="0"/>
                <a:ea typeface="Raleway" pitchFamily="34" charset="-122"/>
                <a:cs typeface="Raleway" pitchFamily="34" charset="-120"/>
              </a:rPr>
              <a:t>70,3 %</a:t>
            </a:r>
            <a:endParaRPr lang="en-US" sz="888" dirty="0"/>
          </a:p>
        </p:txBody>
      </p:sp>
      <p:sp>
        <p:nvSpPr>
          <p:cNvPr id="65" name="Text 62"/>
          <p:cNvSpPr/>
          <p:nvPr/>
        </p:nvSpPr>
        <p:spPr>
          <a:xfrm>
            <a:off x="4900339" y="4128217"/>
            <a:ext cx="927246" cy="242888"/>
          </a:xfrm>
          <a:prstGeom prst="rect">
            <a:avLst/>
          </a:prstGeom>
          <a:noFill/>
          <a:ln/>
        </p:spPr>
        <p:txBody>
          <a:bodyPr wrap="square" lIns="38100" tIns="114300" rIns="114300" bIns="38100" rtlCol="0" anchor="ctr"/>
          <a:lstStyle/>
          <a:p>
            <a:pPr marL="0" indent="0" algn="r">
              <a:buNone/>
            </a:pPr>
            <a:r>
              <a:rPr lang="en-US" sz="888" b="1" dirty="0">
                <a:solidFill>
                  <a:srgbClr val="120180"/>
                </a:solidFill>
                <a:latin typeface="Raleway" pitchFamily="34" charset="0"/>
                <a:ea typeface="Raleway" pitchFamily="34" charset="-122"/>
                <a:cs typeface="Raleway" pitchFamily="34" charset="-120"/>
              </a:rPr>
              <a:t>26,6 %</a:t>
            </a:r>
            <a:endParaRPr lang="en-US" sz="888" dirty="0"/>
          </a:p>
        </p:txBody>
      </p:sp>
      <p:sp>
        <p:nvSpPr>
          <p:cNvPr id="66" name="Text 63"/>
          <p:cNvSpPr/>
          <p:nvPr/>
        </p:nvSpPr>
        <p:spPr>
          <a:xfrm>
            <a:off x="723882" y="4723530"/>
            <a:ext cx="1432334" cy="228600"/>
          </a:xfrm>
          <a:prstGeom prst="rect">
            <a:avLst/>
          </a:prstGeom>
          <a:noFill/>
          <a:ln/>
        </p:spPr>
        <p:txBody>
          <a:bodyPr wrap="square" lIns="47625" tIns="114300" rIns="114300" bIns="47625"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Asesor</a:t>
            </a:r>
            <a:endParaRPr lang="en-US" sz="888" dirty="0"/>
          </a:p>
        </p:txBody>
      </p:sp>
      <p:sp>
        <p:nvSpPr>
          <p:cNvPr id="67" name="Text 64"/>
          <p:cNvSpPr/>
          <p:nvPr/>
        </p:nvSpPr>
        <p:spPr>
          <a:xfrm>
            <a:off x="761981" y="1200150"/>
            <a:ext cx="2403574" cy="298308"/>
          </a:xfrm>
          <a:prstGeom prst="rect">
            <a:avLst/>
          </a:prstGeom>
          <a:noFill/>
          <a:ln/>
        </p:spPr>
        <p:txBody>
          <a:bodyPr wrap="square" lIns="0" tIns="0" rIns="0" bIns="0" rtlCol="0" anchor="t"/>
          <a:lstStyle/>
          <a:p>
            <a:pPr marL="0" indent="0" algn="l">
              <a:buNone/>
            </a:pPr>
            <a:r>
              <a:rPr lang="en-US" sz="1400" b="1" dirty="0">
                <a:solidFill>
                  <a:srgbClr val="120180"/>
                </a:solidFill>
                <a:latin typeface="Raleway" pitchFamily="34" charset="0"/>
                <a:ea typeface="Raleway" pitchFamily="34" charset="-122"/>
                <a:cs typeface="Raleway" pitchFamily="34" charset="-120"/>
              </a:rPr>
              <a:t>11.686</a:t>
            </a:r>
            <a:endParaRPr lang="en-US" sz="1400" dirty="0"/>
          </a:p>
        </p:txBody>
      </p:sp>
      <p:sp>
        <p:nvSpPr>
          <p:cNvPr id="68" name="Text 65"/>
          <p:cNvSpPr/>
          <p:nvPr/>
        </p:nvSpPr>
        <p:spPr>
          <a:xfrm>
            <a:off x="6343491" y="1200150"/>
            <a:ext cx="2403574" cy="298308"/>
          </a:xfrm>
          <a:prstGeom prst="rect">
            <a:avLst/>
          </a:prstGeom>
          <a:noFill/>
          <a:ln/>
        </p:spPr>
        <p:txBody>
          <a:bodyPr wrap="square" lIns="0" tIns="0" rIns="0" bIns="0" rtlCol="0" anchor="t"/>
          <a:lstStyle/>
          <a:p>
            <a:pPr marL="0" indent="0" algn="l">
              <a:buNone/>
            </a:pPr>
            <a:r>
              <a:rPr lang="en-US" sz="1400" b="1" dirty="0">
                <a:solidFill>
                  <a:srgbClr val="120180"/>
                </a:solidFill>
                <a:latin typeface="Raleway" pitchFamily="34" charset="0"/>
                <a:ea typeface="Raleway" pitchFamily="34" charset="-122"/>
                <a:cs typeface="Raleway" pitchFamily="34" charset="-120"/>
              </a:rPr>
              <a:t>63,8 %</a:t>
            </a:r>
            <a:endParaRPr lang="en-US" sz="1400" dirty="0"/>
          </a:p>
        </p:txBody>
      </p:sp>
      <p:sp>
        <p:nvSpPr>
          <p:cNvPr id="69" name="Text 66"/>
          <p:cNvSpPr/>
          <p:nvPr/>
        </p:nvSpPr>
        <p:spPr>
          <a:xfrm>
            <a:off x="1234945" y="3175717"/>
            <a:ext cx="818411"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1.865</a:t>
            </a:r>
            <a:endParaRPr lang="en-US" sz="888" dirty="0"/>
          </a:p>
        </p:txBody>
      </p:sp>
      <p:sp>
        <p:nvSpPr>
          <p:cNvPr id="70" name="Text 67"/>
          <p:cNvSpPr/>
          <p:nvPr/>
        </p:nvSpPr>
        <p:spPr>
          <a:xfrm>
            <a:off x="2666636" y="3175717"/>
            <a:ext cx="758321"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1.189</a:t>
            </a:r>
            <a:endParaRPr lang="en-US" sz="888" dirty="0"/>
          </a:p>
        </p:txBody>
      </p:sp>
      <p:sp>
        <p:nvSpPr>
          <p:cNvPr id="71" name="Text 68"/>
          <p:cNvSpPr/>
          <p:nvPr/>
        </p:nvSpPr>
        <p:spPr>
          <a:xfrm>
            <a:off x="1234945" y="3423367"/>
            <a:ext cx="818411"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1.950</a:t>
            </a:r>
            <a:endParaRPr lang="en-US" sz="888" dirty="0"/>
          </a:p>
        </p:txBody>
      </p:sp>
      <p:sp>
        <p:nvSpPr>
          <p:cNvPr id="72" name="Text 69"/>
          <p:cNvSpPr/>
          <p:nvPr/>
        </p:nvSpPr>
        <p:spPr>
          <a:xfrm>
            <a:off x="2666636" y="3423367"/>
            <a:ext cx="758321"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1.137</a:t>
            </a:r>
            <a:endParaRPr lang="en-US" sz="888" dirty="0"/>
          </a:p>
        </p:txBody>
      </p:sp>
      <p:sp>
        <p:nvSpPr>
          <p:cNvPr id="73" name="Text 70"/>
          <p:cNvSpPr/>
          <p:nvPr/>
        </p:nvSpPr>
        <p:spPr>
          <a:xfrm>
            <a:off x="1234945" y="3671017"/>
            <a:ext cx="818411"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2.203</a:t>
            </a:r>
            <a:endParaRPr lang="en-US" sz="888" dirty="0"/>
          </a:p>
        </p:txBody>
      </p:sp>
      <p:sp>
        <p:nvSpPr>
          <p:cNvPr id="74" name="Text 71"/>
          <p:cNvSpPr/>
          <p:nvPr/>
        </p:nvSpPr>
        <p:spPr>
          <a:xfrm>
            <a:off x="2666636" y="3671017"/>
            <a:ext cx="758321"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1.331</a:t>
            </a:r>
            <a:endParaRPr lang="en-US" sz="888" dirty="0"/>
          </a:p>
        </p:txBody>
      </p:sp>
      <p:sp>
        <p:nvSpPr>
          <p:cNvPr id="75" name="Text 72"/>
          <p:cNvSpPr/>
          <p:nvPr/>
        </p:nvSpPr>
        <p:spPr>
          <a:xfrm>
            <a:off x="1234945" y="3918667"/>
            <a:ext cx="818411"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4.968</a:t>
            </a:r>
            <a:endParaRPr lang="en-US" sz="888" dirty="0"/>
          </a:p>
        </p:txBody>
      </p:sp>
      <p:sp>
        <p:nvSpPr>
          <p:cNvPr id="76" name="Text 73"/>
          <p:cNvSpPr/>
          <p:nvPr/>
        </p:nvSpPr>
        <p:spPr>
          <a:xfrm>
            <a:off x="2666636" y="3918667"/>
            <a:ext cx="758321"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3.447</a:t>
            </a:r>
            <a:endParaRPr lang="en-US" sz="888" dirty="0"/>
          </a:p>
        </p:txBody>
      </p:sp>
      <p:sp>
        <p:nvSpPr>
          <p:cNvPr id="77" name="Text 74"/>
          <p:cNvSpPr/>
          <p:nvPr/>
        </p:nvSpPr>
        <p:spPr>
          <a:xfrm>
            <a:off x="723882" y="4166317"/>
            <a:ext cx="526395" cy="242888"/>
          </a:xfrm>
          <a:prstGeom prst="rect">
            <a:avLst/>
          </a:prstGeom>
          <a:noFill/>
          <a:ln/>
        </p:spPr>
        <p:txBody>
          <a:bodyPr wrap="square" lIns="38100" tIns="114300" rIns="114300" bIns="38100" rtlCol="0" anchor="ctr"/>
          <a:lstStyle/>
          <a:p>
            <a:pPr marL="0" indent="0" algn="l">
              <a:buNone/>
            </a:pPr>
            <a:r>
              <a:rPr lang="en-US" sz="888" b="1" dirty="0">
                <a:solidFill>
                  <a:srgbClr val="120180"/>
                </a:solidFill>
                <a:latin typeface="Raleway" pitchFamily="34" charset="0"/>
                <a:ea typeface="Raleway" pitchFamily="34" charset="-122"/>
                <a:cs typeface="Raleway" pitchFamily="34" charset="-120"/>
              </a:rPr>
              <a:t>Total</a:t>
            </a:r>
            <a:endParaRPr lang="en-US" sz="888" dirty="0"/>
          </a:p>
        </p:txBody>
      </p:sp>
      <p:sp>
        <p:nvSpPr>
          <p:cNvPr id="78" name="Text 75"/>
          <p:cNvSpPr/>
          <p:nvPr/>
        </p:nvSpPr>
        <p:spPr>
          <a:xfrm>
            <a:off x="2666636" y="4166317"/>
            <a:ext cx="758321" cy="242888"/>
          </a:xfrm>
          <a:prstGeom prst="rect">
            <a:avLst/>
          </a:prstGeom>
          <a:noFill/>
          <a:ln/>
        </p:spPr>
        <p:txBody>
          <a:bodyPr wrap="square" lIns="38100" tIns="114300" rIns="114300" bIns="38100" rtlCol="0" anchor="ctr"/>
          <a:lstStyle/>
          <a:p>
            <a:pPr marL="0" indent="0" algn="r">
              <a:buNone/>
            </a:pPr>
            <a:r>
              <a:rPr lang="en-US" sz="888" b="1" dirty="0">
                <a:solidFill>
                  <a:srgbClr val="120180"/>
                </a:solidFill>
                <a:latin typeface="Raleway" pitchFamily="34" charset="0"/>
                <a:ea typeface="Raleway" pitchFamily="34" charset="-122"/>
                <a:cs typeface="Raleway" pitchFamily="34" charset="-120"/>
              </a:rPr>
              <a:t>7.460</a:t>
            </a:r>
            <a:endParaRPr lang="en-US" sz="888" dirty="0"/>
          </a:p>
        </p:txBody>
      </p:sp>
      <p:sp>
        <p:nvSpPr>
          <p:cNvPr id="79" name="Text 76"/>
          <p:cNvSpPr/>
          <p:nvPr/>
        </p:nvSpPr>
        <p:spPr>
          <a:xfrm>
            <a:off x="5267789" y="4723530"/>
            <a:ext cx="627259" cy="228600"/>
          </a:xfrm>
          <a:prstGeom prst="rect">
            <a:avLst/>
          </a:prstGeom>
          <a:noFill/>
          <a:ln/>
        </p:spPr>
        <p:txBody>
          <a:bodyPr wrap="square" lIns="47625" tIns="114300" rIns="114300" bIns="47625" rtlCol="0" anchor="ctr"/>
          <a:lstStyle/>
          <a:p>
            <a:pPr marL="0" indent="0" algn="r">
              <a:buNone/>
            </a:pPr>
            <a:r>
              <a:rPr lang="en-US" sz="720" b="1" dirty="0">
                <a:solidFill>
                  <a:srgbClr val="FFFFFF"/>
                </a:solidFill>
                <a:latin typeface="Raleway" pitchFamily="34" charset="0"/>
                <a:ea typeface="Raleway" pitchFamily="34" charset="-122"/>
                <a:cs typeface="Raleway" pitchFamily="34" charset="-120"/>
              </a:rPr>
              <a:t>Total</a:t>
            </a:r>
            <a:endParaRPr lang="en-US" sz="720" dirty="0"/>
          </a:p>
        </p:txBody>
      </p:sp>
      <p:sp>
        <p:nvSpPr>
          <p:cNvPr id="80" name="Text 77"/>
          <p:cNvSpPr/>
          <p:nvPr/>
        </p:nvSpPr>
        <p:spPr>
          <a:xfrm>
            <a:off x="11182070" y="3737670"/>
            <a:ext cx="294315" cy="128016"/>
          </a:xfrm>
          <a:prstGeom prst="rect">
            <a:avLst/>
          </a:prstGeom>
          <a:noFill/>
          <a:ln/>
        </p:spPr>
        <p:txBody>
          <a:bodyPr wrap="square" lIns="0" tIns="0" rIns="0" bIns="0" rtlCol="0" anchor="t"/>
          <a:lstStyle/>
          <a:p>
            <a:pPr marL="0" indent="0" algn="r">
              <a:buNone/>
            </a:pPr>
            <a:r>
              <a:rPr lang="en-US" sz="600" b="1" dirty="0">
                <a:solidFill>
                  <a:srgbClr val="120180"/>
                </a:solidFill>
                <a:latin typeface="Raleway" pitchFamily="34" charset="0"/>
                <a:ea typeface="Raleway" pitchFamily="34" charset="-122"/>
                <a:cs typeface="Raleway" pitchFamily="34" charset="-120"/>
              </a:rPr>
              <a:t>62.3%</a:t>
            </a:r>
            <a:endParaRPr lang="en-US" sz="600" dirty="0"/>
          </a:p>
        </p:txBody>
      </p:sp>
      <p:sp>
        <p:nvSpPr>
          <p:cNvPr id="81" name="Text 78"/>
          <p:cNvSpPr/>
          <p:nvPr/>
        </p:nvSpPr>
        <p:spPr>
          <a:xfrm>
            <a:off x="11182070" y="3851970"/>
            <a:ext cx="294315" cy="128016"/>
          </a:xfrm>
          <a:prstGeom prst="rect">
            <a:avLst/>
          </a:prstGeom>
          <a:noFill/>
          <a:ln/>
        </p:spPr>
        <p:txBody>
          <a:bodyPr wrap="square" lIns="0" tIns="0" rIns="0" bIns="0" rtlCol="0" anchor="t"/>
          <a:lstStyle/>
          <a:p>
            <a:pPr marL="0" indent="0" algn="r">
              <a:buNone/>
            </a:pPr>
            <a:r>
              <a:rPr lang="en-US" sz="600" b="1" dirty="0">
                <a:solidFill>
                  <a:srgbClr val="120180"/>
                </a:solidFill>
                <a:latin typeface="Raleway" pitchFamily="34" charset="0"/>
                <a:ea typeface="Raleway" pitchFamily="34" charset="-122"/>
                <a:cs typeface="Raleway" pitchFamily="34" charset="-120"/>
              </a:rPr>
              <a:t>14.2%</a:t>
            </a:r>
            <a:endParaRPr lang="en-US" sz="600" dirty="0"/>
          </a:p>
        </p:txBody>
      </p:sp>
      <p:sp>
        <p:nvSpPr>
          <p:cNvPr id="82" name="Text 79"/>
          <p:cNvSpPr/>
          <p:nvPr/>
        </p:nvSpPr>
        <p:spPr>
          <a:xfrm>
            <a:off x="9134247" y="1200150"/>
            <a:ext cx="2403574" cy="298308"/>
          </a:xfrm>
          <a:prstGeom prst="rect">
            <a:avLst/>
          </a:prstGeom>
          <a:noFill/>
          <a:ln/>
        </p:spPr>
        <p:txBody>
          <a:bodyPr wrap="square" lIns="0" tIns="0" rIns="0" bIns="0" rtlCol="0" anchor="t"/>
          <a:lstStyle/>
          <a:p>
            <a:pPr marL="0" indent="0" algn="l">
              <a:buNone/>
            </a:pPr>
            <a:r>
              <a:rPr lang="en-US" sz="1400" b="1" dirty="0">
                <a:solidFill>
                  <a:srgbClr val="00CD93"/>
                </a:solidFill>
                <a:latin typeface="Raleway" pitchFamily="34" charset="0"/>
                <a:ea typeface="Raleway" pitchFamily="34" charset="-122"/>
                <a:cs typeface="Raleway" pitchFamily="34" charset="-120"/>
              </a:rPr>
              <a:t>3.0×</a:t>
            </a:r>
            <a:endParaRPr lang="en-US" sz="1400" dirty="0"/>
          </a:p>
        </p:txBody>
      </p:sp>
      <p:sp>
        <p:nvSpPr>
          <p:cNvPr id="83" name="Text 80"/>
          <p:cNvSpPr/>
          <p:nvPr/>
        </p:nvSpPr>
        <p:spPr>
          <a:xfrm>
            <a:off x="8392059" y="2946202"/>
            <a:ext cx="274320" cy="128016"/>
          </a:xfrm>
          <a:prstGeom prst="rect">
            <a:avLst/>
          </a:prstGeom>
          <a:noFill/>
          <a:ln/>
        </p:spPr>
        <p:txBody>
          <a:bodyPr wrap="square" lIns="0" tIns="0" rIns="0" bIns="0" rtlCol="0" anchor="t"/>
          <a:lstStyle/>
          <a:p>
            <a:pPr marL="0" indent="0" algn="l">
              <a:buNone/>
            </a:pPr>
            <a:r>
              <a:rPr lang="en-US" sz="504" b="1" dirty="0">
                <a:solidFill>
                  <a:srgbClr val="00CD93"/>
                </a:solidFill>
                <a:latin typeface="Raleway" pitchFamily="34" charset="0"/>
                <a:ea typeface="Raleway" pitchFamily="34" charset="-122"/>
                <a:cs typeface="Raleway" pitchFamily="34" charset="-120"/>
              </a:rPr>
              <a:t>+93%</a:t>
            </a:r>
            <a:endParaRPr lang="en-US" sz="504" dirty="0"/>
          </a:p>
        </p:txBody>
      </p:sp>
      <p:sp>
        <p:nvSpPr>
          <p:cNvPr id="84" name="Text 81"/>
          <p:cNvSpPr/>
          <p:nvPr/>
        </p:nvSpPr>
        <p:spPr>
          <a:xfrm>
            <a:off x="9240656" y="2831009"/>
            <a:ext cx="274320" cy="128016"/>
          </a:xfrm>
          <a:prstGeom prst="rect">
            <a:avLst/>
          </a:prstGeom>
          <a:noFill/>
          <a:ln/>
        </p:spPr>
        <p:txBody>
          <a:bodyPr wrap="square" lIns="0" tIns="0" rIns="0" bIns="0" rtlCol="0" anchor="t"/>
          <a:lstStyle/>
          <a:p>
            <a:pPr marL="0" indent="0" algn="l">
              <a:buNone/>
            </a:pPr>
            <a:r>
              <a:rPr lang="en-US" sz="504" b="1" dirty="0">
                <a:solidFill>
                  <a:srgbClr val="00CD93"/>
                </a:solidFill>
                <a:latin typeface="Raleway" pitchFamily="34" charset="0"/>
                <a:ea typeface="Raleway" pitchFamily="34" charset="-122"/>
                <a:cs typeface="Raleway" pitchFamily="34" charset="-120"/>
              </a:rPr>
              <a:t>+34%</a:t>
            </a:r>
            <a:endParaRPr lang="en-US" sz="504" dirty="0"/>
          </a:p>
        </p:txBody>
      </p:sp>
      <p:sp>
        <p:nvSpPr>
          <p:cNvPr id="85" name="Text 82"/>
          <p:cNvSpPr/>
          <p:nvPr/>
        </p:nvSpPr>
        <p:spPr>
          <a:xfrm>
            <a:off x="10085532" y="2533650"/>
            <a:ext cx="274320" cy="128016"/>
          </a:xfrm>
          <a:prstGeom prst="rect">
            <a:avLst/>
          </a:prstGeom>
          <a:noFill/>
          <a:ln/>
        </p:spPr>
        <p:txBody>
          <a:bodyPr wrap="square" lIns="0" tIns="0" rIns="0" bIns="0" rtlCol="0" anchor="t"/>
          <a:lstStyle/>
          <a:p>
            <a:pPr marL="0" indent="0" algn="l">
              <a:buNone/>
            </a:pPr>
            <a:r>
              <a:rPr lang="en-US" sz="504" b="1" dirty="0">
                <a:solidFill>
                  <a:srgbClr val="00CD93"/>
                </a:solidFill>
                <a:latin typeface="Raleway" pitchFamily="34" charset="0"/>
                <a:ea typeface="Raleway" pitchFamily="34" charset="-122"/>
                <a:cs typeface="Raleway" pitchFamily="34" charset="-120"/>
              </a:rPr>
              <a:t>+86%</a:t>
            </a:r>
            <a:endParaRPr lang="en-US" sz="504" dirty="0"/>
          </a:p>
        </p:txBody>
      </p:sp>
      <p:sp>
        <p:nvSpPr>
          <p:cNvPr id="86" name="Text 83"/>
          <p:cNvSpPr/>
          <p:nvPr/>
        </p:nvSpPr>
        <p:spPr>
          <a:xfrm>
            <a:off x="10935320" y="2533650"/>
            <a:ext cx="274320" cy="128016"/>
          </a:xfrm>
          <a:prstGeom prst="rect">
            <a:avLst/>
          </a:prstGeom>
          <a:noFill/>
          <a:ln/>
        </p:spPr>
        <p:txBody>
          <a:bodyPr wrap="square" lIns="0" tIns="0" rIns="0" bIns="0" rtlCol="0" anchor="t"/>
          <a:lstStyle/>
          <a:p>
            <a:pPr marL="0" indent="0" algn="l">
              <a:buNone/>
            </a:pPr>
            <a:r>
              <a:rPr lang="en-US" sz="504" b="1" dirty="0">
                <a:solidFill>
                  <a:srgbClr val="00CD93"/>
                </a:solidFill>
                <a:latin typeface="Raleway" pitchFamily="34" charset="0"/>
                <a:ea typeface="Raleway" pitchFamily="34" charset="-122"/>
                <a:cs typeface="Raleway" pitchFamily="34" charset="-120"/>
              </a:rPr>
              <a:t>+29%</a:t>
            </a:r>
            <a:endParaRPr lang="en-US" sz="504" dirty="0"/>
          </a:p>
        </p:txBody>
      </p:sp>
      <p:sp>
        <p:nvSpPr>
          <p:cNvPr id="87" name="Text 84"/>
          <p:cNvSpPr/>
          <p:nvPr/>
        </p:nvSpPr>
        <p:spPr>
          <a:xfrm>
            <a:off x="11182070" y="3966270"/>
            <a:ext cx="294315" cy="128016"/>
          </a:xfrm>
          <a:prstGeom prst="rect">
            <a:avLst/>
          </a:prstGeom>
          <a:noFill/>
          <a:ln/>
        </p:spPr>
        <p:txBody>
          <a:bodyPr wrap="square" lIns="0" tIns="0" rIns="0" bIns="0" rtlCol="0" anchor="t"/>
          <a:lstStyle/>
          <a:p>
            <a:pPr marL="0" indent="0" algn="r">
              <a:buNone/>
            </a:pPr>
            <a:r>
              <a:rPr lang="en-US" sz="600" b="1" dirty="0">
                <a:solidFill>
                  <a:srgbClr val="120180"/>
                </a:solidFill>
                <a:latin typeface="Raleway" pitchFamily="34" charset="0"/>
                <a:ea typeface="Raleway" pitchFamily="34" charset="-122"/>
                <a:cs typeface="Raleway" pitchFamily="34" charset="-120"/>
              </a:rPr>
              <a:t>8.2%</a:t>
            </a:r>
            <a:endParaRPr lang="en-US" sz="600" dirty="0"/>
          </a:p>
        </p:txBody>
      </p:sp>
      <p:sp>
        <p:nvSpPr>
          <p:cNvPr id="88" name="Text 85"/>
          <p:cNvSpPr/>
          <p:nvPr/>
        </p:nvSpPr>
        <p:spPr>
          <a:xfrm>
            <a:off x="11182070" y="4080570"/>
            <a:ext cx="294315" cy="128016"/>
          </a:xfrm>
          <a:prstGeom prst="rect">
            <a:avLst/>
          </a:prstGeom>
          <a:noFill/>
          <a:ln/>
        </p:spPr>
        <p:txBody>
          <a:bodyPr wrap="square" lIns="0" tIns="0" rIns="0" bIns="0" rtlCol="0" anchor="t"/>
          <a:lstStyle/>
          <a:p>
            <a:pPr marL="0" indent="0" algn="r">
              <a:buNone/>
            </a:pPr>
            <a:r>
              <a:rPr lang="en-US" sz="600" b="1" dirty="0">
                <a:solidFill>
                  <a:srgbClr val="120180"/>
                </a:solidFill>
                <a:latin typeface="Raleway" pitchFamily="34" charset="0"/>
                <a:ea typeface="Raleway" pitchFamily="34" charset="-122"/>
                <a:cs typeface="Raleway" pitchFamily="34" charset="-120"/>
              </a:rPr>
              <a:t>6.2%</a:t>
            </a:r>
            <a:endParaRPr lang="en-US" sz="600" dirty="0"/>
          </a:p>
        </p:txBody>
      </p:sp>
      <p:sp>
        <p:nvSpPr>
          <p:cNvPr id="89" name="Text 86"/>
          <p:cNvSpPr/>
          <p:nvPr/>
        </p:nvSpPr>
        <p:spPr>
          <a:xfrm>
            <a:off x="11182070" y="4194870"/>
            <a:ext cx="294315" cy="128016"/>
          </a:xfrm>
          <a:prstGeom prst="rect">
            <a:avLst/>
          </a:prstGeom>
          <a:noFill/>
          <a:ln/>
        </p:spPr>
        <p:txBody>
          <a:bodyPr wrap="square" lIns="0" tIns="0" rIns="0" bIns="0" rtlCol="0" anchor="t"/>
          <a:lstStyle/>
          <a:p>
            <a:pPr marL="0" indent="0" algn="r">
              <a:buNone/>
            </a:pPr>
            <a:r>
              <a:rPr lang="en-US" sz="600" b="1" dirty="0">
                <a:solidFill>
                  <a:srgbClr val="120180"/>
                </a:solidFill>
                <a:latin typeface="Raleway" pitchFamily="34" charset="0"/>
                <a:ea typeface="Raleway" pitchFamily="34" charset="-122"/>
                <a:cs typeface="Raleway" pitchFamily="34" charset="-120"/>
              </a:rPr>
              <a:t>4.6%</a:t>
            </a:r>
            <a:endParaRPr lang="en-US" sz="600" dirty="0"/>
          </a:p>
        </p:txBody>
      </p:sp>
      <p:sp>
        <p:nvSpPr>
          <p:cNvPr id="90" name="Text 87"/>
          <p:cNvSpPr/>
          <p:nvPr/>
        </p:nvSpPr>
        <p:spPr>
          <a:xfrm>
            <a:off x="11182070" y="4309170"/>
            <a:ext cx="294315" cy="128016"/>
          </a:xfrm>
          <a:prstGeom prst="rect">
            <a:avLst/>
          </a:prstGeom>
          <a:noFill/>
          <a:ln/>
        </p:spPr>
        <p:txBody>
          <a:bodyPr wrap="square" lIns="0" tIns="0" rIns="0" bIns="0" rtlCol="0" anchor="t"/>
          <a:lstStyle/>
          <a:p>
            <a:pPr marL="0" indent="0" algn="r">
              <a:buNone/>
            </a:pPr>
            <a:r>
              <a:rPr lang="en-US" sz="600" b="1" dirty="0">
                <a:solidFill>
                  <a:srgbClr val="120180"/>
                </a:solidFill>
                <a:latin typeface="Raleway" pitchFamily="34" charset="0"/>
                <a:ea typeface="Raleway" pitchFamily="34" charset="-122"/>
                <a:cs typeface="Raleway" pitchFamily="34" charset="-120"/>
              </a:rPr>
              <a:t>1.1%</a:t>
            </a:r>
            <a:endParaRPr lang="en-US" sz="600" dirty="0"/>
          </a:p>
        </p:txBody>
      </p:sp>
      <p:sp>
        <p:nvSpPr>
          <p:cNvPr id="91" name="Text 88"/>
          <p:cNvSpPr/>
          <p:nvPr/>
        </p:nvSpPr>
        <p:spPr>
          <a:xfrm>
            <a:off x="11182070" y="4423470"/>
            <a:ext cx="294315" cy="128016"/>
          </a:xfrm>
          <a:prstGeom prst="rect">
            <a:avLst/>
          </a:prstGeom>
          <a:noFill/>
          <a:ln/>
        </p:spPr>
        <p:txBody>
          <a:bodyPr wrap="square" lIns="0" tIns="0" rIns="0" bIns="0" rtlCol="0" anchor="t"/>
          <a:lstStyle/>
          <a:p>
            <a:pPr marL="0" indent="0" algn="r">
              <a:buNone/>
            </a:pPr>
            <a:r>
              <a:rPr lang="en-US" sz="600" b="1" dirty="0">
                <a:solidFill>
                  <a:srgbClr val="120180"/>
                </a:solidFill>
                <a:latin typeface="Raleway" pitchFamily="34" charset="0"/>
                <a:ea typeface="Raleway" pitchFamily="34" charset="-122"/>
                <a:cs typeface="Raleway" pitchFamily="34" charset="-120"/>
              </a:rPr>
              <a:t>3.4%</a:t>
            </a:r>
            <a:endParaRPr lang="en-US" sz="600" dirty="0"/>
          </a:p>
        </p:txBody>
      </p:sp>
      <p:sp>
        <p:nvSpPr>
          <p:cNvPr id="92" name="Text 89"/>
          <p:cNvSpPr/>
          <p:nvPr/>
        </p:nvSpPr>
        <p:spPr>
          <a:xfrm>
            <a:off x="723882" y="2456580"/>
            <a:ext cx="526395" cy="228600"/>
          </a:xfrm>
          <a:prstGeom prst="rect">
            <a:avLst/>
          </a:prstGeom>
          <a:noFill/>
          <a:ln/>
        </p:spPr>
        <p:txBody>
          <a:bodyPr wrap="square" lIns="47625" tIns="114300" rIns="114300" bIns="47625"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93" name="Text 90"/>
          <p:cNvSpPr/>
          <p:nvPr/>
        </p:nvSpPr>
        <p:spPr>
          <a:xfrm>
            <a:off x="723882" y="2685180"/>
            <a:ext cx="526395" cy="242888"/>
          </a:xfrm>
          <a:prstGeom prst="rect">
            <a:avLst/>
          </a:prstGeom>
          <a:noFill/>
          <a:ln/>
        </p:spPr>
        <p:txBody>
          <a:bodyPr wrap="square" lIns="38100" tIns="114300" rIns="114300" bIns="38100" rtlCol="0" anchor="ctr"/>
          <a:lstStyle/>
          <a:p>
            <a:pPr marL="0" indent="0" algn="l">
              <a:buNone/>
            </a:pPr>
            <a:r>
              <a:rPr lang="en-US" sz="888" b="1" dirty="0">
                <a:solidFill>
                  <a:srgbClr val="333333"/>
                </a:solidFill>
                <a:latin typeface="Raleway" pitchFamily="34" charset="0"/>
                <a:ea typeface="Raleway" pitchFamily="34" charset="-122"/>
                <a:cs typeface="Raleway" pitchFamily="34" charset="-120"/>
              </a:rPr>
              <a:t>Ene</a:t>
            </a:r>
            <a:endParaRPr lang="en-US" sz="888" dirty="0"/>
          </a:p>
        </p:txBody>
      </p:sp>
      <p:sp>
        <p:nvSpPr>
          <p:cNvPr id="94" name="Text 91"/>
          <p:cNvSpPr/>
          <p:nvPr/>
        </p:nvSpPr>
        <p:spPr>
          <a:xfrm>
            <a:off x="1234945" y="2685180"/>
            <a:ext cx="818411" cy="242888"/>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294</a:t>
            </a:r>
            <a:endParaRPr lang="en-US" sz="888" dirty="0"/>
          </a:p>
        </p:txBody>
      </p:sp>
      <p:sp>
        <p:nvSpPr>
          <p:cNvPr id="95" name="Text 92"/>
          <p:cNvSpPr/>
          <p:nvPr/>
        </p:nvSpPr>
        <p:spPr>
          <a:xfrm>
            <a:off x="2666636" y="2685180"/>
            <a:ext cx="758321" cy="242888"/>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121</a:t>
            </a:r>
            <a:endParaRPr lang="en-US" sz="888" dirty="0"/>
          </a:p>
        </p:txBody>
      </p:sp>
      <p:sp>
        <p:nvSpPr>
          <p:cNvPr id="96" name="Text 93"/>
          <p:cNvSpPr/>
          <p:nvPr/>
        </p:nvSpPr>
        <p:spPr>
          <a:xfrm>
            <a:off x="723882" y="2928067"/>
            <a:ext cx="526395" cy="247650"/>
          </a:xfrm>
          <a:prstGeom prst="rect">
            <a:avLst/>
          </a:prstGeom>
          <a:noFill/>
          <a:ln/>
        </p:spPr>
        <p:txBody>
          <a:bodyPr wrap="square" lIns="38100" tIns="114300" rIns="114300" bIns="38100" rtlCol="0" anchor="ctr"/>
          <a:lstStyle/>
          <a:p>
            <a:pPr marL="0" indent="0" algn="l">
              <a:buNone/>
            </a:pPr>
            <a:r>
              <a:rPr lang="en-US" sz="888" b="1" dirty="0">
                <a:solidFill>
                  <a:srgbClr val="333333"/>
                </a:solidFill>
                <a:latin typeface="Raleway" pitchFamily="34" charset="0"/>
                <a:ea typeface="Raleway" pitchFamily="34" charset="-122"/>
                <a:cs typeface="Raleway" pitchFamily="34" charset="-120"/>
              </a:rPr>
              <a:t>Feb</a:t>
            </a:r>
            <a:endParaRPr lang="en-US" sz="888" dirty="0"/>
          </a:p>
        </p:txBody>
      </p:sp>
      <p:sp>
        <p:nvSpPr>
          <p:cNvPr id="97" name="Text 94"/>
          <p:cNvSpPr/>
          <p:nvPr/>
        </p:nvSpPr>
        <p:spPr>
          <a:xfrm>
            <a:off x="1234945" y="2928067"/>
            <a:ext cx="818411"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406</a:t>
            </a:r>
            <a:endParaRPr lang="en-US" sz="888" dirty="0"/>
          </a:p>
        </p:txBody>
      </p:sp>
      <p:sp>
        <p:nvSpPr>
          <p:cNvPr id="98" name="Text 95"/>
          <p:cNvSpPr/>
          <p:nvPr/>
        </p:nvSpPr>
        <p:spPr>
          <a:xfrm>
            <a:off x="2666636" y="2928067"/>
            <a:ext cx="758321" cy="247650"/>
          </a:xfrm>
          <a:prstGeom prst="rect">
            <a:avLst/>
          </a:prstGeom>
          <a:noFill/>
          <a:ln/>
        </p:spPr>
        <p:txBody>
          <a:bodyPr wrap="square" lIns="38100" tIns="114300" rIns="114300" bIns="38100" rtlCol="0" anchor="ctr"/>
          <a:lstStyle/>
          <a:p>
            <a:pPr marL="0" indent="0" algn="r">
              <a:buNone/>
            </a:pPr>
            <a:r>
              <a:rPr lang="en-US" sz="888" dirty="0">
                <a:solidFill>
                  <a:srgbClr val="333333"/>
                </a:solidFill>
                <a:latin typeface="Raleway" pitchFamily="34" charset="0"/>
                <a:ea typeface="Raleway" pitchFamily="34" charset="-122"/>
                <a:cs typeface="Raleway" pitchFamily="34" charset="-120"/>
              </a:rPr>
              <a:t>235</a:t>
            </a:r>
            <a:endParaRPr lang="en-US" sz="888" dirty="0"/>
          </a:p>
        </p:txBody>
      </p:sp>
      <p:sp>
        <p:nvSpPr>
          <p:cNvPr id="99" name="Text 96"/>
          <p:cNvSpPr/>
          <p:nvPr/>
        </p:nvSpPr>
        <p:spPr>
          <a:xfrm>
            <a:off x="723882" y="3175717"/>
            <a:ext cx="526395" cy="247650"/>
          </a:xfrm>
          <a:prstGeom prst="rect">
            <a:avLst/>
          </a:prstGeom>
          <a:noFill/>
          <a:ln/>
        </p:spPr>
        <p:txBody>
          <a:bodyPr wrap="square" lIns="38100" tIns="114300" rIns="114300" bIns="38100" rtlCol="0" anchor="ctr"/>
          <a:lstStyle/>
          <a:p>
            <a:pPr marL="0" indent="0" algn="l">
              <a:buNone/>
            </a:pPr>
            <a:r>
              <a:rPr lang="en-US" sz="888" b="1" dirty="0">
                <a:solidFill>
                  <a:srgbClr val="333333"/>
                </a:solidFill>
                <a:latin typeface="Raleway" pitchFamily="34" charset="0"/>
                <a:ea typeface="Raleway" pitchFamily="34" charset="-122"/>
                <a:cs typeface="Raleway" pitchFamily="34" charset="-120"/>
              </a:rPr>
              <a:t>Mar</a:t>
            </a:r>
            <a:endParaRPr lang="en-US" sz="888" dirty="0"/>
          </a:p>
        </p:txBody>
      </p:sp>
      <p:sp>
        <p:nvSpPr>
          <p:cNvPr id="100" name="Text 97"/>
          <p:cNvSpPr/>
          <p:nvPr/>
        </p:nvSpPr>
        <p:spPr>
          <a:xfrm>
            <a:off x="723882" y="3423367"/>
            <a:ext cx="526395" cy="247650"/>
          </a:xfrm>
          <a:prstGeom prst="rect">
            <a:avLst/>
          </a:prstGeom>
          <a:noFill/>
          <a:ln/>
        </p:spPr>
        <p:txBody>
          <a:bodyPr wrap="square" lIns="38100" tIns="114300" rIns="114300" bIns="38100" rtlCol="0" anchor="ctr"/>
          <a:lstStyle/>
          <a:p>
            <a:pPr marL="0" indent="0" algn="l">
              <a:buNone/>
            </a:pPr>
            <a:r>
              <a:rPr lang="en-US" sz="888" b="1" dirty="0">
                <a:solidFill>
                  <a:srgbClr val="333333"/>
                </a:solidFill>
                <a:latin typeface="Raleway" pitchFamily="34" charset="0"/>
                <a:ea typeface="Raleway" pitchFamily="34" charset="-122"/>
                <a:cs typeface="Raleway" pitchFamily="34" charset="-120"/>
              </a:rPr>
              <a:t>Abr</a:t>
            </a:r>
            <a:endParaRPr lang="en-US" sz="888" dirty="0"/>
          </a:p>
        </p:txBody>
      </p:sp>
      <p:sp>
        <p:nvSpPr>
          <p:cNvPr id="101" name="Text 98"/>
          <p:cNvSpPr/>
          <p:nvPr/>
        </p:nvSpPr>
        <p:spPr>
          <a:xfrm>
            <a:off x="2029518" y="3423367"/>
            <a:ext cx="656231" cy="247650"/>
          </a:xfrm>
          <a:prstGeom prst="rect">
            <a:avLst/>
          </a:prstGeom>
          <a:noFill/>
          <a:ln/>
        </p:spPr>
        <p:txBody>
          <a:bodyPr wrap="square" lIns="38100" tIns="114300" rIns="114300" bIns="38100" rtlCol="0" anchor="ctr"/>
          <a:lstStyle/>
          <a:p>
            <a:pPr marL="0" indent="0" algn="r">
              <a:buNone/>
            </a:pPr>
            <a:r>
              <a:rPr lang="en-US" sz="888" b="1" dirty="0">
                <a:solidFill>
                  <a:srgbClr val="00CD93"/>
                </a:solidFill>
                <a:latin typeface="Raleway" pitchFamily="34" charset="0"/>
                <a:ea typeface="Raleway" pitchFamily="34" charset="-122"/>
                <a:cs typeface="Raleway" pitchFamily="34" charset="-120"/>
              </a:rPr>
              <a:t>117</a:t>
            </a:r>
            <a:endParaRPr lang="en-US" sz="888" dirty="0"/>
          </a:p>
        </p:txBody>
      </p:sp>
      <p:sp>
        <p:nvSpPr>
          <p:cNvPr id="102" name="Text 99"/>
          <p:cNvSpPr/>
          <p:nvPr/>
        </p:nvSpPr>
        <p:spPr>
          <a:xfrm>
            <a:off x="723882" y="3671017"/>
            <a:ext cx="526395" cy="247650"/>
          </a:xfrm>
          <a:prstGeom prst="rect">
            <a:avLst/>
          </a:prstGeom>
          <a:noFill/>
          <a:ln/>
        </p:spPr>
        <p:txBody>
          <a:bodyPr wrap="square" lIns="38100" tIns="114300" rIns="114300" bIns="38100" rtlCol="0" anchor="ctr"/>
          <a:lstStyle/>
          <a:p>
            <a:pPr marL="0" indent="0" algn="l">
              <a:buNone/>
            </a:pPr>
            <a:r>
              <a:rPr lang="en-US" sz="888" b="1" dirty="0">
                <a:solidFill>
                  <a:srgbClr val="333333"/>
                </a:solidFill>
                <a:latin typeface="Raleway" pitchFamily="34" charset="0"/>
                <a:ea typeface="Raleway" pitchFamily="34" charset="-122"/>
                <a:cs typeface="Raleway" pitchFamily="34" charset="-120"/>
              </a:rPr>
              <a:t>May</a:t>
            </a:r>
            <a:endParaRPr lang="en-US" sz="888" dirty="0"/>
          </a:p>
        </p:txBody>
      </p:sp>
      <p:sp>
        <p:nvSpPr>
          <p:cNvPr id="103" name="Text 100"/>
          <p:cNvSpPr/>
          <p:nvPr/>
        </p:nvSpPr>
        <p:spPr>
          <a:xfrm>
            <a:off x="2029518" y="3671017"/>
            <a:ext cx="656231" cy="247650"/>
          </a:xfrm>
          <a:prstGeom prst="rect">
            <a:avLst/>
          </a:prstGeom>
          <a:noFill/>
          <a:ln/>
        </p:spPr>
        <p:txBody>
          <a:bodyPr wrap="square" lIns="38100" tIns="114300" rIns="114300" bIns="38100" rtlCol="0" anchor="ctr"/>
          <a:lstStyle/>
          <a:p>
            <a:pPr marL="0" indent="0" algn="r">
              <a:buNone/>
            </a:pPr>
            <a:r>
              <a:rPr lang="en-US" sz="888" b="1" dirty="0">
                <a:solidFill>
                  <a:srgbClr val="00CD93"/>
                </a:solidFill>
                <a:latin typeface="Raleway" pitchFamily="34" charset="0"/>
                <a:ea typeface="Raleway" pitchFamily="34" charset="-122"/>
                <a:cs typeface="Raleway" pitchFamily="34" charset="-120"/>
              </a:rPr>
              <a:t>218</a:t>
            </a:r>
            <a:endParaRPr lang="en-US" sz="888" dirty="0"/>
          </a:p>
        </p:txBody>
      </p:sp>
      <p:sp>
        <p:nvSpPr>
          <p:cNvPr id="104" name="Text 101"/>
          <p:cNvSpPr/>
          <p:nvPr/>
        </p:nvSpPr>
        <p:spPr>
          <a:xfrm>
            <a:off x="723882" y="3918667"/>
            <a:ext cx="526395" cy="247650"/>
          </a:xfrm>
          <a:prstGeom prst="rect">
            <a:avLst/>
          </a:prstGeom>
          <a:noFill/>
          <a:ln/>
        </p:spPr>
        <p:txBody>
          <a:bodyPr wrap="square" lIns="38100" tIns="114300" rIns="114300" bIns="38100" rtlCol="0" anchor="ctr"/>
          <a:lstStyle/>
          <a:p>
            <a:pPr marL="0" indent="0" algn="l">
              <a:buNone/>
            </a:pPr>
            <a:r>
              <a:rPr lang="en-US" sz="888" b="1" dirty="0">
                <a:solidFill>
                  <a:srgbClr val="333333"/>
                </a:solidFill>
                <a:latin typeface="Raleway" pitchFamily="34" charset="0"/>
                <a:ea typeface="Raleway" pitchFamily="34" charset="-122"/>
                <a:cs typeface="Raleway" pitchFamily="34" charset="-120"/>
              </a:rPr>
              <a:t>Jun</a:t>
            </a:r>
            <a:endParaRPr lang="en-US" sz="888" dirty="0"/>
          </a:p>
        </p:txBody>
      </p:sp>
      <p:sp>
        <p:nvSpPr>
          <p:cNvPr id="105" name="Text 102"/>
          <p:cNvSpPr/>
          <p:nvPr/>
        </p:nvSpPr>
        <p:spPr>
          <a:xfrm>
            <a:off x="2029518" y="3918667"/>
            <a:ext cx="656231" cy="247650"/>
          </a:xfrm>
          <a:prstGeom prst="rect">
            <a:avLst/>
          </a:prstGeom>
          <a:noFill/>
          <a:ln/>
        </p:spPr>
        <p:txBody>
          <a:bodyPr wrap="square" lIns="38100" tIns="114300" rIns="114300" bIns="38100" rtlCol="0" anchor="ctr"/>
          <a:lstStyle/>
          <a:p>
            <a:pPr marL="0" indent="0" algn="r">
              <a:buNone/>
            </a:pPr>
            <a:r>
              <a:rPr lang="en-US" sz="888" b="1" dirty="0">
                <a:solidFill>
                  <a:srgbClr val="00CD93"/>
                </a:solidFill>
                <a:latin typeface="Raleway" pitchFamily="34" charset="0"/>
                <a:ea typeface="Raleway" pitchFamily="34" charset="-122"/>
                <a:cs typeface="Raleway" pitchFamily="34" charset="-120"/>
              </a:rPr>
              <a:t>281</a:t>
            </a:r>
            <a:endParaRPr lang="en-US" sz="888" dirty="0"/>
          </a:p>
        </p:txBody>
      </p:sp>
      <p:sp>
        <p:nvSpPr>
          <p:cNvPr id="106" name="Text 103"/>
          <p:cNvSpPr/>
          <p:nvPr/>
        </p:nvSpPr>
        <p:spPr>
          <a:xfrm>
            <a:off x="2029518" y="4166317"/>
            <a:ext cx="656231" cy="242888"/>
          </a:xfrm>
          <a:prstGeom prst="rect">
            <a:avLst/>
          </a:prstGeom>
          <a:noFill/>
          <a:ln/>
        </p:spPr>
        <p:txBody>
          <a:bodyPr wrap="square" lIns="38100" tIns="114300" rIns="114300" bIns="38100" rtlCol="0" anchor="ctr"/>
          <a:lstStyle/>
          <a:p>
            <a:pPr marL="0" indent="0" algn="r">
              <a:buNone/>
            </a:pPr>
            <a:r>
              <a:rPr lang="en-US" sz="888" b="1" dirty="0">
                <a:solidFill>
                  <a:srgbClr val="00CD93"/>
                </a:solidFill>
                <a:latin typeface="Raleway" pitchFamily="34" charset="0"/>
                <a:ea typeface="Raleway" pitchFamily="34" charset="-122"/>
                <a:cs typeface="Raleway" pitchFamily="34" charset="-120"/>
              </a:rPr>
              <a:t>791</a:t>
            </a:r>
            <a:endParaRPr lang="en-US" sz="888" dirty="0"/>
          </a:p>
        </p:txBody>
      </p:sp>
      <p:sp>
        <p:nvSpPr>
          <p:cNvPr id="107" name="Text 104"/>
          <p:cNvSpPr/>
          <p:nvPr/>
        </p:nvSpPr>
        <p:spPr>
          <a:xfrm>
            <a:off x="2114497" y="4723530"/>
            <a:ext cx="542184" cy="228600"/>
          </a:xfrm>
          <a:prstGeom prst="rect">
            <a:avLst/>
          </a:prstGeom>
          <a:noFill/>
          <a:ln/>
        </p:spPr>
        <p:txBody>
          <a:bodyPr wrap="square" lIns="47625" tIns="114300" rIns="114300" bIns="47625" rtlCol="0" anchor="ctr"/>
          <a:lstStyle/>
          <a:p>
            <a:pPr marL="0" indent="0" algn="r">
              <a:buNone/>
            </a:pPr>
            <a:r>
              <a:rPr lang="en-US" sz="720" b="1" dirty="0">
                <a:solidFill>
                  <a:srgbClr val="FFFFFF"/>
                </a:solidFill>
                <a:latin typeface="Raleway" pitchFamily="34" charset="0"/>
                <a:ea typeface="Raleway" pitchFamily="34" charset="-122"/>
                <a:cs typeface="Raleway" pitchFamily="34" charset="-120"/>
              </a:rPr>
              <a:t>Ene</a:t>
            </a:r>
            <a:endParaRPr lang="en-US" sz="720" dirty="0"/>
          </a:p>
        </p:txBody>
      </p:sp>
      <p:sp>
        <p:nvSpPr>
          <p:cNvPr id="108" name="Text 105"/>
          <p:cNvSpPr/>
          <p:nvPr/>
        </p:nvSpPr>
        <p:spPr>
          <a:xfrm>
            <a:off x="2640889" y="4723530"/>
            <a:ext cx="539271" cy="228600"/>
          </a:xfrm>
          <a:prstGeom prst="rect">
            <a:avLst/>
          </a:prstGeom>
          <a:noFill/>
          <a:ln/>
        </p:spPr>
        <p:txBody>
          <a:bodyPr wrap="square" lIns="47625" tIns="114300" rIns="114300" bIns="47625" rtlCol="0" anchor="ctr"/>
          <a:lstStyle/>
          <a:p>
            <a:pPr marL="0" indent="0" algn="r">
              <a:buNone/>
            </a:pPr>
            <a:r>
              <a:rPr lang="en-US" sz="720" b="1" dirty="0">
                <a:solidFill>
                  <a:srgbClr val="FFFFFF"/>
                </a:solidFill>
                <a:latin typeface="Raleway" pitchFamily="34" charset="0"/>
                <a:ea typeface="Raleway" pitchFamily="34" charset="-122"/>
                <a:cs typeface="Raleway" pitchFamily="34" charset="-120"/>
              </a:rPr>
              <a:t>Feb</a:t>
            </a:r>
            <a:endParaRPr lang="en-US" sz="720" dirty="0"/>
          </a:p>
        </p:txBody>
      </p:sp>
      <p:sp>
        <p:nvSpPr>
          <p:cNvPr id="109" name="Text 106"/>
          <p:cNvSpPr/>
          <p:nvPr/>
        </p:nvSpPr>
        <p:spPr>
          <a:xfrm>
            <a:off x="3164453" y="4723530"/>
            <a:ext cx="544636" cy="228600"/>
          </a:xfrm>
          <a:prstGeom prst="rect">
            <a:avLst/>
          </a:prstGeom>
          <a:noFill/>
          <a:ln/>
        </p:spPr>
        <p:txBody>
          <a:bodyPr wrap="square" lIns="47625" tIns="114300" rIns="114300" bIns="47625" rtlCol="0" anchor="ctr"/>
          <a:lstStyle/>
          <a:p>
            <a:pPr marL="0" indent="0" algn="r">
              <a:buNone/>
            </a:pPr>
            <a:r>
              <a:rPr lang="en-US" sz="720" b="1" dirty="0">
                <a:solidFill>
                  <a:srgbClr val="FFFFFF"/>
                </a:solidFill>
                <a:latin typeface="Raleway" pitchFamily="34" charset="0"/>
                <a:ea typeface="Raleway" pitchFamily="34" charset="-122"/>
                <a:cs typeface="Raleway" pitchFamily="34" charset="-120"/>
              </a:rPr>
              <a:t>Mar</a:t>
            </a:r>
            <a:endParaRPr lang="en-US" sz="720" dirty="0"/>
          </a:p>
        </p:txBody>
      </p:sp>
      <p:sp>
        <p:nvSpPr>
          <p:cNvPr id="110" name="Text 107"/>
          <p:cNvSpPr/>
          <p:nvPr/>
        </p:nvSpPr>
        <p:spPr>
          <a:xfrm>
            <a:off x="3693226" y="4723530"/>
            <a:ext cx="529154" cy="228600"/>
          </a:xfrm>
          <a:prstGeom prst="rect">
            <a:avLst/>
          </a:prstGeom>
          <a:noFill/>
          <a:ln/>
        </p:spPr>
        <p:txBody>
          <a:bodyPr wrap="square" lIns="47625" tIns="114300" rIns="114300" bIns="47625" rtlCol="0" anchor="ctr"/>
          <a:lstStyle/>
          <a:p>
            <a:pPr marL="0" indent="0" algn="r">
              <a:buNone/>
            </a:pPr>
            <a:r>
              <a:rPr lang="en-US" sz="720" b="1" dirty="0">
                <a:solidFill>
                  <a:srgbClr val="FFFFFF"/>
                </a:solidFill>
                <a:latin typeface="Raleway" pitchFamily="34" charset="0"/>
                <a:ea typeface="Raleway" pitchFamily="34" charset="-122"/>
                <a:cs typeface="Raleway" pitchFamily="34" charset="-120"/>
              </a:rPr>
              <a:t>Abr</a:t>
            </a:r>
            <a:endParaRPr lang="en-US" sz="720" dirty="0"/>
          </a:p>
        </p:txBody>
      </p:sp>
      <p:sp>
        <p:nvSpPr>
          <p:cNvPr id="111" name="Text 108"/>
          <p:cNvSpPr/>
          <p:nvPr/>
        </p:nvSpPr>
        <p:spPr>
          <a:xfrm>
            <a:off x="4206968" y="4723530"/>
            <a:ext cx="561958" cy="228600"/>
          </a:xfrm>
          <a:prstGeom prst="rect">
            <a:avLst/>
          </a:prstGeom>
          <a:noFill/>
          <a:ln/>
        </p:spPr>
        <p:txBody>
          <a:bodyPr wrap="square" lIns="47625" tIns="114300" rIns="114300" bIns="47625" rtlCol="0" anchor="ctr"/>
          <a:lstStyle/>
          <a:p>
            <a:pPr marL="0" indent="0" algn="r">
              <a:buNone/>
            </a:pPr>
            <a:r>
              <a:rPr lang="en-US" sz="720" b="1" dirty="0">
                <a:solidFill>
                  <a:srgbClr val="FFFFFF"/>
                </a:solidFill>
                <a:latin typeface="Raleway" pitchFamily="34" charset="0"/>
                <a:ea typeface="Raleway" pitchFamily="34" charset="-122"/>
                <a:cs typeface="Raleway" pitchFamily="34" charset="-120"/>
              </a:rPr>
              <a:t>May</a:t>
            </a:r>
            <a:endParaRPr lang="en-US" sz="720" dirty="0"/>
          </a:p>
        </p:txBody>
      </p:sp>
      <p:sp>
        <p:nvSpPr>
          <p:cNvPr id="112" name="Text 109"/>
          <p:cNvSpPr/>
          <p:nvPr/>
        </p:nvSpPr>
        <p:spPr>
          <a:xfrm>
            <a:off x="4752559" y="4723530"/>
            <a:ext cx="530687" cy="228600"/>
          </a:xfrm>
          <a:prstGeom prst="rect">
            <a:avLst/>
          </a:prstGeom>
          <a:noFill/>
          <a:ln/>
        </p:spPr>
        <p:txBody>
          <a:bodyPr wrap="square" lIns="47625" tIns="114300" rIns="114300" bIns="47625" rtlCol="0" anchor="ctr"/>
          <a:lstStyle/>
          <a:p>
            <a:pPr marL="0" indent="0" algn="r">
              <a:buNone/>
            </a:pPr>
            <a:r>
              <a:rPr lang="en-US" sz="720" b="1" dirty="0">
                <a:solidFill>
                  <a:srgbClr val="FFFFFF"/>
                </a:solidFill>
                <a:latin typeface="Raleway" pitchFamily="34" charset="0"/>
                <a:ea typeface="Raleway" pitchFamily="34" charset="-122"/>
                <a:cs typeface="Raleway" pitchFamily="34" charset="-120"/>
              </a:rPr>
              <a:t>Jun</a:t>
            </a:r>
            <a:endParaRPr lang="en-US" sz="720" dirty="0"/>
          </a:p>
        </p:txBody>
      </p:sp>
      <p:sp>
        <p:nvSpPr>
          <p:cNvPr id="113" name="Text 110"/>
          <p:cNvSpPr/>
          <p:nvPr/>
        </p:nvSpPr>
        <p:spPr>
          <a:xfrm>
            <a:off x="4206968" y="4952130"/>
            <a:ext cx="561958" cy="214313"/>
          </a:xfrm>
          <a:prstGeom prst="rect">
            <a:avLst/>
          </a:prstGeom>
          <a:noFill/>
          <a:ln/>
        </p:spPr>
        <p:txBody>
          <a:bodyPr wrap="square" lIns="38100" tIns="114300" rIns="114300" bIns="38100" rtlCol="0" anchor="ctr"/>
          <a:lstStyle/>
          <a:p>
            <a:pPr marL="0" indent="0" algn="r">
              <a:buNone/>
            </a:pPr>
            <a:r>
              <a:rPr lang="en-US" sz="720" dirty="0">
                <a:solidFill>
                  <a:srgbClr val="333333"/>
                </a:solidFill>
                <a:latin typeface="Raleway" pitchFamily="34" charset="0"/>
                <a:ea typeface="Raleway" pitchFamily="34" charset="-122"/>
                <a:cs typeface="Raleway" pitchFamily="34" charset="-120"/>
              </a:rPr>
              <a:t>101</a:t>
            </a:r>
            <a:endParaRPr lang="en-US" sz="720" dirty="0"/>
          </a:p>
        </p:txBody>
      </p:sp>
      <p:sp>
        <p:nvSpPr>
          <p:cNvPr id="114" name="Text 111"/>
          <p:cNvSpPr/>
          <p:nvPr/>
        </p:nvSpPr>
        <p:spPr>
          <a:xfrm>
            <a:off x="5267789" y="4952130"/>
            <a:ext cx="627259" cy="214313"/>
          </a:xfrm>
          <a:prstGeom prst="rect">
            <a:avLst/>
          </a:prstGeom>
          <a:noFill/>
          <a:ln/>
        </p:spPr>
        <p:txBody>
          <a:bodyPr wrap="square" lIns="38100" tIns="114300" rIns="114300" bIns="38100" rtlCol="0" anchor="ctr"/>
          <a:lstStyle/>
          <a:p>
            <a:pPr marL="0" indent="0" algn="r">
              <a:buNone/>
            </a:pPr>
            <a:r>
              <a:rPr lang="en-US" sz="744" b="1" dirty="0">
                <a:solidFill>
                  <a:srgbClr val="333333"/>
                </a:solidFill>
                <a:latin typeface="Raleway" pitchFamily="34" charset="0"/>
                <a:ea typeface="Raleway" pitchFamily="34" charset="-122"/>
                <a:cs typeface="Raleway" pitchFamily="34" charset="-120"/>
              </a:rPr>
              <a:t>255</a:t>
            </a:r>
            <a:endParaRPr lang="en-US" sz="744" dirty="0"/>
          </a:p>
        </p:txBody>
      </p:sp>
      <p:sp>
        <p:nvSpPr>
          <p:cNvPr id="115" name="Text 112"/>
          <p:cNvSpPr/>
          <p:nvPr/>
        </p:nvSpPr>
        <p:spPr>
          <a:xfrm>
            <a:off x="5267789" y="5166442"/>
            <a:ext cx="627259" cy="219075"/>
          </a:xfrm>
          <a:prstGeom prst="rect">
            <a:avLst/>
          </a:prstGeom>
          <a:noFill/>
          <a:ln/>
        </p:spPr>
        <p:txBody>
          <a:bodyPr wrap="square" lIns="38100" tIns="114300" rIns="114300" bIns="38100" rtlCol="0" anchor="ctr"/>
          <a:lstStyle/>
          <a:p>
            <a:pPr marL="0" indent="0" algn="r">
              <a:buNone/>
            </a:pPr>
            <a:r>
              <a:rPr lang="en-US" sz="744" b="1" dirty="0">
                <a:solidFill>
                  <a:srgbClr val="333333"/>
                </a:solidFill>
                <a:latin typeface="Raleway" pitchFamily="34" charset="0"/>
                <a:ea typeface="Raleway" pitchFamily="34" charset="-122"/>
                <a:cs typeface="Raleway" pitchFamily="34" charset="-120"/>
              </a:rPr>
              <a:t>165</a:t>
            </a:r>
            <a:endParaRPr lang="en-US" sz="744" dirty="0"/>
          </a:p>
        </p:txBody>
      </p:sp>
      <p:sp>
        <p:nvSpPr>
          <p:cNvPr id="116" name="Text 113"/>
          <p:cNvSpPr/>
          <p:nvPr/>
        </p:nvSpPr>
        <p:spPr>
          <a:xfrm>
            <a:off x="5267789" y="5385517"/>
            <a:ext cx="627259" cy="219075"/>
          </a:xfrm>
          <a:prstGeom prst="rect">
            <a:avLst/>
          </a:prstGeom>
          <a:noFill/>
          <a:ln/>
        </p:spPr>
        <p:txBody>
          <a:bodyPr wrap="square" lIns="38100" tIns="114300" rIns="114300" bIns="38100" rtlCol="0" anchor="ctr"/>
          <a:lstStyle/>
          <a:p>
            <a:pPr marL="0" indent="0" algn="r">
              <a:buNone/>
            </a:pPr>
            <a:r>
              <a:rPr lang="en-US" sz="744" b="1" dirty="0">
                <a:solidFill>
                  <a:srgbClr val="333333"/>
                </a:solidFill>
                <a:latin typeface="Raleway" pitchFamily="34" charset="0"/>
                <a:ea typeface="Raleway" pitchFamily="34" charset="-122"/>
                <a:cs typeface="Raleway" pitchFamily="34" charset="-120"/>
              </a:rPr>
              <a:t>138</a:t>
            </a:r>
            <a:endParaRPr lang="en-US" sz="744" dirty="0"/>
          </a:p>
        </p:txBody>
      </p:sp>
      <p:sp>
        <p:nvSpPr>
          <p:cNvPr id="117" name="Text 114"/>
          <p:cNvSpPr/>
          <p:nvPr/>
        </p:nvSpPr>
        <p:spPr>
          <a:xfrm>
            <a:off x="4206968" y="5825453"/>
            <a:ext cx="561958" cy="185738"/>
          </a:xfrm>
          <a:prstGeom prst="rect">
            <a:avLst/>
          </a:prstGeom>
          <a:noFill/>
          <a:ln/>
        </p:spPr>
        <p:txBody>
          <a:bodyPr wrap="square" lIns="38100" tIns="114300" rIns="114300" bIns="38100" rtlCol="0" anchor="ctr"/>
          <a:lstStyle/>
          <a:p>
            <a:pPr marL="0" indent="0" algn="r">
              <a:buNone/>
            </a:pPr>
            <a:r>
              <a:rPr lang="en-US" sz="720" b="1" dirty="0">
                <a:solidFill>
                  <a:srgbClr val="120180"/>
                </a:solidFill>
                <a:latin typeface="Raleway" pitchFamily="34" charset="0"/>
                <a:ea typeface="Raleway" pitchFamily="34" charset="-122"/>
                <a:cs typeface="Raleway" pitchFamily="34" charset="-120"/>
              </a:rPr>
              <a:t>204</a:t>
            </a:r>
            <a:endParaRPr lang="en-US" sz="720" dirty="0"/>
          </a:p>
        </p:txBody>
      </p:sp>
      <p:sp>
        <p:nvSpPr>
          <p:cNvPr id="118" name="Text 115"/>
          <p:cNvSpPr/>
          <p:nvPr/>
        </p:nvSpPr>
        <p:spPr>
          <a:xfrm>
            <a:off x="4752559" y="5825453"/>
            <a:ext cx="530687" cy="185738"/>
          </a:xfrm>
          <a:prstGeom prst="rect">
            <a:avLst/>
          </a:prstGeom>
          <a:noFill/>
          <a:ln/>
        </p:spPr>
        <p:txBody>
          <a:bodyPr wrap="square" lIns="38100" tIns="114300" rIns="114300" bIns="38100" rtlCol="0" anchor="ctr"/>
          <a:lstStyle/>
          <a:p>
            <a:pPr marL="0" indent="0" algn="r">
              <a:buNone/>
            </a:pPr>
            <a:r>
              <a:rPr lang="en-US" sz="720" b="1" dirty="0">
                <a:solidFill>
                  <a:srgbClr val="120180"/>
                </a:solidFill>
                <a:latin typeface="Raleway" pitchFamily="34" charset="0"/>
                <a:ea typeface="Raleway" pitchFamily="34" charset="-122"/>
                <a:cs typeface="Raleway" pitchFamily="34" charset="-120"/>
              </a:rPr>
              <a:t>266</a:t>
            </a:r>
            <a:endParaRPr lang="en-US" sz="720" dirty="0"/>
          </a:p>
        </p:txBody>
      </p:sp>
      <p:sp>
        <p:nvSpPr>
          <p:cNvPr id="119" name="Text 116"/>
          <p:cNvSpPr/>
          <p:nvPr/>
        </p:nvSpPr>
        <p:spPr>
          <a:xfrm>
            <a:off x="5267789" y="5825453"/>
            <a:ext cx="627259" cy="185738"/>
          </a:xfrm>
          <a:prstGeom prst="rect">
            <a:avLst/>
          </a:prstGeom>
          <a:noFill/>
          <a:ln/>
        </p:spPr>
        <p:txBody>
          <a:bodyPr wrap="square" lIns="38100" tIns="114300" rIns="114300" bIns="38100" rtlCol="0" anchor="ctr"/>
          <a:lstStyle/>
          <a:p>
            <a:pPr marL="0" indent="0" algn="r">
              <a:buNone/>
            </a:pPr>
            <a:r>
              <a:rPr lang="en-US" sz="744" b="1" dirty="0">
                <a:solidFill>
                  <a:srgbClr val="120180"/>
                </a:solidFill>
                <a:latin typeface="Raleway" pitchFamily="34" charset="0"/>
                <a:ea typeface="Raleway" pitchFamily="34" charset="-122"/>
                <a:cs typeface="Raleway" pitchFamily="34" charset="-120"/>
              </a:rPr>
              <a:t>605</a:t>
            </a:r>
            <a:endParaRPr lang="en-US" sz="744" dirty="0"/>
          </a:p>
        </p:txBody>
      </p:sp>
      <p:sp>
        <p:nvSpPr>
          <p:cNvPr id="120" name="Text 117"/>
          <p:cNvSpPr/>
          <p:nvPr/>
        </p:nvSpPr>
        <p:spPr>
          <a:xfrm>
            <a:off x="3552736" y="1200150"/>
            <a:ext cx="2403574" cy="298308"/>
          </a:xfrm>
          <a:prstGeom prst="rect">
            <a:avLst/>
          </a:prstGeom>
          <a:noFill/>
          <a:ln/>
        </p:spPr>
        <p:txBody>
          <a:bodyPr wrap="square" lIns="0" tIns="0" rIns="0" bIns="0" rtlCol="0" anchor="t"/>
          <a:lstStyle/>
          <a:p>
            <a:pPr marL="0" indent="0" algn="l">
              <a:buNone/>
            </a:pPr>
            <a:r>
              <a:rPr lang="en-US" sz="1400" b="1" dirty="0">
                <a:solidFill>
                  <a:srgbClr val="00CD93"/>
                </a:solidFill>
                <a:latin typeface="Raleway" pitchFamily="34" charset="0"/>
                <a:ea typeface="Raleway" pitchFamily="34" charset="-122"/>
                <a:cs typeface="Raleway" pitchFamily="34" charset="-120"/>
              </a:rPr>
              <a:t>791</a:t>
            </a:r>
            <a:endParaRPr lang="en-US" sz="1400" dirty="0"/>
          </a:p>
        </p:txBody>
      </p:sp>
      <p:sp>
        <p:nvSpPr>
          <p:cNvPr id="121" name="Text 118"/>
          <p:cNvSpPr/>
          <p:nvPr/>
        </p:nvSpPr>
        <p:spPr>
          <a:xfrm>
            <a:off x="6703349" y="3385245"/>
            <a:ext cx="274320" cy="128016"/>
          </a:xfrm>
          <a:prstGeom prst="rect">
            <a:avLst/>
          </a:prstGeom>
          <a:noFill/>
          <a:ln/>
        </p:spPr>
        <p:txBody>
          <a:bodyPr wrap="square" lIns="0" tIns="0" rIns="0" bIns="0" rtlCol="0" anchor="t"/>
          <a:lstStyle/>
          <a:p>
            <a:pPr marL="0" indent="0" algn="l">
              <a:buNone/>
            </a:pPr>
            <a:r>
              <a:rPr lang="en-US" sz="600" b="1" dirty="0">
                <a:solidFill>
                  <a:srgbClr val="9098B0"/>
                </a:solidFill>
                <a:latin typeface="Raleway" pitchFamily="34" charset="0"/>
                <a:ea typeface="Raleway" pitchFamily="34" charset="-122"/>
                <a:cs typeface="Raleway" pitchFamily="34" charset="-120"/>
              </a:rPr>
              <a:t>Ene</a:t>
            </a:r>
            <a:endParaRPr lang="en-US" sz="600" dirty="0"/>
          </a:p>
        </p:txBody>
      </p:sp>
      <p:sp>
        <p:nvSpPr>
          <p:cNvPr id="122" name="Text 119"/>
          <p:cNvSpPr/>
          <p:nvPr/>
        </p:nvSpPr>
        <p:spPr>
          <a:xfrm>
            <a:off x="7563405" y="3103364"/>
            <a:ext cx="274320" cy="128016"/>
          </a:xfrm>
          <a:prstGeom prst="rect">
            <a:avLst/>
          </a:prstGeom>
          <a:noFill/>
          <a:ln/>
        </p:spPr>
        <p:txBody>
          <a:bodyPr wrap="square" lIns="0" tIns="0" rIns="0" bIns="0" rtlCol="0" anchor="t"/>
          <a:lstStyle/>
          <a:p>
            <a:pPr marL="0" indent="0" algn="l">
              <a:buNone/>
            </a:pPr>
            <a:r>
              <a:rPr lang="en-US" sz="504" b="1" dirty="0">
                <a:solidFill>
                  <a:srgbClr val="00CD93"/>
                </a:solidFill>
                <a:latin typeface="Raleway" pitchFamily="34" charset="0"/>
                <a:ea typeface="Raleway" pitchFamily="34" charset="-122"/>
                <a:cs typeface="Raleway" pitchFamily="34" charset="-120"/>
              </a:rPr>
              <a:t>+5%</a:t>
            </a:r>
            <a:endParaRPr lang="en-US" sz="504" dirty="0"/>
          </a:p>
        </p:txBody>
      </p:sp>
      <p:sp>
        <p:nvSpPr>
          <p:cNvPr id="123" name="Text 120"/>
          <p:cNvSpPr/>
          <p:nvPr/>
        </p:nvSpPr>
        <p:spPr>
          <a:xfrm>
            <a:off x="7552094" y="3385245"/>
            <a:ext cx="274320" cy="128016"/>
          </a:xfrm>
          <a:prstGeom prst="rect">
            <a:avLst/>
          </a:prstGeom>
          <a:noFill/>
          <a:ln/>
        </p:spPr>
        <p:txBody>
          <a:bodyPr wrap="square" lIns="0" tIns="0" rIns="0" bIns="0" rtlCol="0" anchor="t"/>
          <a:lstStyle/>
          <a:p>
            <a:pPr marL="0" indent="0" algn="l">
              <a:buNone/>
            </a:pPr>
            <a:r>
              <a:rPr lang="en-US" sz="600" b="1" dirty="0">
                <a:solidFill>
                  <a:srgbClr val="9098B0"/>
                </a:solidFill>
                <a:latin typeface="Raleway" pitchFamily="34" charset="0"/>
                <a:ea typeface="Raleway" pitchFamily="34" charset="-122"/>
                <a:cs typeface="Raleway" pitchFamily="34" charset="-120"/>
              </a:rPr>
              <a:t>Feb</a:t>
            </a:r>
            <a:endParaRPr lang="en-US" sz="600" dirty="0"/>
          </a:p>
        </p:txBody>
      </p:sp>
      <p:sp>
        <p:nvSpPr>
          <p:cNvPr id="124" name="Text 121"/>
          <p:cNvSpPr/>
          <p:nvPr/>
        </p:nvSpPr>
        <p:spPr>
          <a:xfrm>
            <a:off x="8398161" y="3385245"/>
            <a:ext cx="274320" cy="128016"/>
          </a:xfrm>
          <a:prstGeom prst="rect">
            <a:avLst/>
          </a:prstGeom>
          <a:noFill/>
          <a:ln/>
        </p:spPr>
        <p:txBody>
          <a:bodyPr wrap="square" lIns="0" tIns="0" rIns="0" bIns="0" rtlCol="0" anchor="t"/>
          <a:lstStyle/>
          <a:p>
            <a:pPr marL="0" indent="0" algn="l">
              <a:buNone/>
            </a:pPr>
            <a:r>
              <a:rPr lang="en-US" sz="600" b="1" dirty="0">
                <a:solidFill>
                  <a:srgbClr val="9098B0"/>
                </a:solidFill>
                <a:latin typeface="Raleway" pitchFamily="34" charset="0"/>
                <a:ea typeface="Raleway" pitchFamily="34" charset="-122"/>
                <a:cs typeface="Raleway" pitchFamily="34" charset="-120"/>
              </a:rPr>
              <a:t>Mar</a:t>
            </a:r>
            <a:endParaRPr lang="en-US" sz="600" dirty="0"/>
          </a:p>
        </p:txBody>
      </p:sp>
      <p:sp>
        <p:nvSpPr>
          <p:cNvPr id="125" name="Text 122"/>
          <p:cNvSpPr/>
          <p:nvPr/>
        </p:nvSpPr>
        <p:spPr>
          <a:xfrm>
            <a:off x="9241400" y="2730103"/>
            <a:ext cx="274320" cy="128016"/>
          </a:xfrm>
          <a:prstGeom prst="rect">
            <a:avLst/>
          </a:prstGeom>
          <a:noFill/>
          <a:ln/>
        </p:spPr>
        <p:txBody>
          <a:bodyPr wrap="square" lIns="0" tIns="0" rIns="0" bIns="0" rtlCol="0" anchor="t"/>
          <a:lstStyle/>
          <a:p>
            <a:pPr marL="0" indent="0" algn="l">
              <a:buNone/>
            </a:pPr>
            <a:r>
              <a:rPr lang="en-US" sz="720" b="1" dirty="0">
                <a:solidFill>
                  <a:srgbClr val="120180"/>
                </a:solidFill>
                <a:latin typeface="Raleway" pitchFamily="34" charset="0"/>
                <a:ea typeface="Raleway" pitchFamily="34" charset="-122"/>
                <a:cs typeface="Raleway" pitchFamily="34" charset="-120"/>
              </a:rPr>
              <a:t>117</a:t>
            </a:r>
            <a:endParaRPr lang="en-US" sz="720" dirty="0"/>
          </a:p>
        </p:txBody>
      </p:sp>
      <p:sp>
        <p:nvSpPr>
          <p:cNvPr id="126" name="Text 123"/>
          <p:cNvSpPr/>
          <p:nvPr/>
        </p:nvSpPr>
        <p:spPr>
          <a:xfrm>
            <a:off x="9250627" y="3385245"/>
            <a:ext cx="274320" cy="128016"/>
          </a:xfrm>
          <a:prstGeom prst="rect">
            <a:avLst/>
          </a:prstGeom>
          <a:noFill/>
          <a:ln/>
        </p:spPr>
        <p:txBody>
          <a:bodyPr wrap="square" lIns="0" tIns="0" rIns="0" bIns="0" rtlCol="0" anchor="t"/>
          <a:lstStyle/>
          <a:p>
            <a:pPr marL="0" indent="0" algn="l">
              <a:buNone/>
            </a:pPr>
            <a:r>
              <a:rPr lang="en-US" sz="600" b="1" dirty="0">
                <a:solidFill>
                  <a:srgbClr val="9098B0"/>
                </a:solidFill>
                <a:latin typeface="Raleway" pitchFamily="34" charset="0"/>
                <a:ea typeface="Raleway" pitchFamily="34" charset="-122"/>
                <a:cs typeface="Raleway" pitchFamily="34" charset="-120"/>
              </a:rPr>
              <a:t>Abr</a:t>
            </a:r>
            <a:endParaRPr lang="en-US" sz="600" dirty="0"/>
          </a:p>
        </p:txBody>
      </p:sp>
      <p:sp>
        <p:nvSpPr>
          <p:cNvPr id="127" name="Text 124"/>
          <p:cNvSpPr/>
          <p:nvPr/>
        </p:nvSpPr>
        <p:spPr>
          <a:xfrm>
            <a:off x="10084937" y="2432745"/>
            <a:ext cx="274320" cy="128016"/>
          </a:xfrm>
          <a:prstGeom prst="rect">
            <a:avLst/>
          </a:prstGeom>
          <a:noFill/>
          <a:ln/>
        </p:spPr>
        <p:txBody>
          <a:bodyPr wrap="square" lIns="0" tIns="0" rIns="0" bIns="0" rtlCol="0" anchor="t"/>
          <a:lstStyle/>
          <a:p>
            <a:pPr marL="0" indent="0" algn="l">
              <a:buNone/>
            </a:pPr>
            <a:r>
              <a:rPr lang="en-US" sz="720" b="1" dirty="0">
                <a:solidFill>
                  <a:srgbClr val="120180"/>
                </a:solidFill>
                <a:latin typeface="Raleway" pitchFamily="34" charset="0"/>
                <a:ea typeface="Raleway" pitchFamily="34" charset="-122"/>
                <a:cs typeface="Raleway" pitchFamily="34" charset="-120"/>
              </a:rPr>
              <a:t>218</a:t>
            </a:r>
            <a:endParaRPr lang="en-US" sz="720" dirty="0"/>
          </a:p>
        </p:txBody>
      </p:sp>
      <p:sp>
        <p:nvSpPr>
          <p:cNvPr id="128" name="Text 125"/>
          <p:cNvSpPr/>
          <p:nvPr/>
        </p:nvSpPr>
        <p:spPr>
          <a:xfrm>
            <a:off x="10088062" y="3385245"/>
            <a:ext cx="274320" cy="128016"/>
          </a:xfrm>
          <a:prstGeom prst="rect">
            <a:avLst/>
          </a:prstGeom>
          <a:noFill/>
          <a:ln/>
        </p:spPr>
        <p:txBody>
          <a:bodyPr wrap="square" lIns="0" tIns="0" rIns="0" bIns="0" rtlCol="0" anchor="t"/>
          <a:lstStyle/>
          <a:p>
            <a:pPr marL="0" indent="0" algn="l">
              <a:buNone/>
            </a:pPr>
            <a:r>
              <a:rPr lang="en-US" sz="600" b="1" dirty="0">
                <a:solidFill>
                  <a:srgbClr val="9098B0"/>
                </a:solidFill>
                <a:latin typeface="Raleway" pitchFamily="34" charset="0"/>
                <a:ea typeface="Raleway" pitchFamily="34" charset="-122"/>
                <a:cs typeface="Raleway" pitchFamily="34" charset="-120"/>
              </a:rPr>
              <a:t>May</a:t>
            </a:r>
            <a:endParaRPr lang="en-US" sz="600" dirty="0"/>
          </a:p>
        </p:txBody>
      </p:sp>
      <p:sp>
        <p:nvSpPr>
          <p:cNvPr id="129" name="Text 126"/>
          <p:cNvSpPr/>
          <p:nvPr/>
        </p:nvSpPr>
        <p:spPr>
          <a:xfrm>
            <a:off x="10932641" y="2432745"/>
            <a:ext cx="274320" cy="128016"/>
          </a:xfrm>
          <a:prstGeom prst="rect">
            <a:avLst/>
          </a:prstGeom>
          <a:noFill/>
          <a:ln/>
        </p:spPr>
        <p:txBody>
          <a:bodyPr wrap="square" lIns="0" tIns="0" rIns="0" bIns="0" rtlCol="0" anchor="t"/>
          <a:lstStyle/>
          <a:p>
            <a:pPr marL="0" indent="0" algn="l">
              <a:buNone/>
            </a:pPr>
            <a:r>
              <a:rPr lang="en-US" sz="720" b="1" dirty="0">
                <a:solidFill>
                  <a:srgbClr val="120180"/>
                </a:solidFill>
                <a:latin typeface="Raleway" pitchFamily="34" charset="0"/>
                <a:ea typeface="Raleway" pitchFamily="34" charset="-122"/>
                <a:cs typeface="Raleway" pitchFamily="34" charset="-120"/>
              </a:rPr>
              <a:t>281</a:t>
            </a:r>
            <a:endParaRPr lang="en-US" sz="720" dirty="0"/>
          </a:p>
        </p:txBody>
      </p:sp>
      <p:sp>
        <p:nvSpPr>
          <p:cNvPr id="130" name="Text 127"/>
          <p:cNvSpPr/>
          <p:nvPr/>
        </p:nvSpPr>
        <p:spPr>
          <a:xfrm>
            <a:off x="10945588" y="3385245"/>
            <a:ext cx="274320" cy="128016"/>
          </a:xfrm>
          <a:prstGeom prst="rect">
            <a:avLst/>
          </a:prstGeom>
          <a:noFill/>
          <a:ln/>
        </p:spPr>
        <p:txBody>
          <a:bodyPr wrap="square" lIns="0" tIns="0" rIns="0" bIns="0" rtlCol="0" anchor="t"/>
          <a:lstStyle/>
          <a:p>
            <a:pPr marL="0" indent="0" algn="l">
              <a:buNone/>
            </a:pPr>
            <a:r>
              <a:rPr lang="en-US" sz="600" b="1" dirty="0">
                <a:solidFill>
                  <a:srgbClr val="9098B0"/>
                </a:solidFill>
                <a:latin typeface="Raleway" pitchFamily="34" charset="0"/>
                <a:ea typeface="Raleway" pitchFamily="34" charset="-122"/>
                <a:cs typeface="Raleway" pitchFamily="34" charset="-120"/>
              </a:rPr>
              <a:t>Jun</a:t>
            </a:r>
            <a:endParaRPr lang="en-US" sz="600" dirty="0"/>
          </a:p>
        </p:txBody>
      </p:sp>
      <p:sp>
        <p:nvSpPr>
          <p:cNvPr id="131" name="Text 128"/>
          <p:cNvSpPr/>
          <p:nvPr/>
        </p:nvSpPr>
        <p:spPr>
          <a:xfrm>
            <a:off x="7665945" y="5014020"/>
            <a:ext cx="1162085" cy="128016"/>
          </a:xfrm>
          <a:prstGeom prst="rect">
            <a:avLst/>
          </a:prstGeom>
          <a:noFill/>
          <a:ln/>
        </p:spPr>
        <p:txBody>
          <a:bodyPr wrap="square" lIns="0" tIns="0" rIns="0" bIns="0" rtlCol="0" anchor="t"/>
          <a:lstStyle/>
          <a:p>
            <a:pPr marL="0" indent="0" algn="ctr">
              <a:buNone/>
            </a:pPr>
            <a:r>
              <a:rPr lang="en-US" sz="576" b="1" dirty="0">
                <a:solidFill>
                  <a:srgbClr val="9098B0"/>
                </a:solidFill>
                <a:latin typeface="Raleway" pitchFamily="34" charset="0"/>
                <a:ea typeface="Raleway" pitchFamily="34" charset="-122"/>
                <a:cs typeface="Raleway" pitchFamily="34" charset="-120"/>
              </a:rPr>
              <a:t>Mar</a:t>
            </a:r>
            <a:endParaRPr lang="en-US" sz="576" dirty="0"/>
          </a:p>
        </p:txBody>
      </p:sp>
      <p:sp>
        <p:nvSpPr>
          <p:cNvPr id="132" name="Text 129"/>
          <p:cNvSpPr/>
          <p:nvPr/>
        </p:nvSpPr>
        <p:spPr>
          <a:xfrm>
            <a:off x="10311001" y="5014020"/>
            <a:ext cx="1162085" cy="128016"/>
          </a:xfrm>
          <a:prstGeom prst="rect">
            <a:avLst/>
          </a:prstGeom>
          <a:noFill/>
          <a:ln/>
        </p:spPr>
        <p:txBody>
          <a:bodyPr wrap="square" lIns="0" tIns="0" rIns="0" bIns="0" rtlCol="0" anchor="t"/>
          <a:lstStyle/>
          <a:p>
            <a:pPr marL="0" indent="0" algn="ctr">
              <a:buNone/>
            </a:pPr>
            <a:r>
              <a:rPr lang="en-US" sz="576" b="1" dirty="0">
                <a:solidFill>
                  <a:srgbClr val="9098B0"/>
                </a:solidFill>
                <a:latin typeface="Raleway" pitchFamily="34" charset="0"/>
                <a:ea typeface="Raleway" pitchFamily="34" charset="-122"/>
                <a:cs typeface="Raleway" pitchFamily="34" charset="-120"/>
              </a:rPr>
              <a:t>Jun</a:t>
            </a:r>
            <a:endParaRPr lang="en-US" sz="576" dirty="0"/>
          </a:p>
        </p:txBody>
      </p:sp>
      <p:sp>
        <p:nvSpPr>
          <p:cNvPr id="133" name="Text 130"/>
          <p:cNvSpPr/>
          <p:nvPr/>
        </p:nvSpPr>
        <p:spPr>
          <a:xfrm>
            <a:off x="2029518" y="2685180"/>
            <a:ext cx="656231" cy="242888"/>
          </a:xfrm>
          <a:prstGeom prst="rect">
            <a:avLst/>
          </a:prstGeom>
          <a:noFill/>
          <a:ln/>
        </p:spPr>
        <p:txBody>
          <a:bodyPr wrap="square" lIns="38100" tIns="114300" rIns="114300" bIns="38100" rtlCol="0" anchor="ctr"/>
          <a:lstStyle/>
          <a:p>
            <a:pPr marL="0" indent="0" algn="r">
              <a:buNone/>
            </a:pPr>
            <a:r>
              <a:rPr lang="en-US" sz="888" b="1" dirty="0">
                <a:solidFill>
                  <a:srgbClr val="00CD93"/>
                </a:solidFill>
                <a:latin typeface="Raleway" pitchFamily="34" charset="0"/>
                <a:ea typeface="Raleway" pitchFamily="34" charset="-122"/>
                <a:cs typeface="Raleway" pitchFamily="34" charset="-120"/>
              </a:rPr>
              <a:t>43</a:t>
            </a:r>
            <a:endParaRPr lang="en-US" sz="888" dirty="0"/>
          </a:p>
        </p:txBody>
      </p:sp>
      <p:sp>
        <p:nvSpPr>
          <p:cNvPr id="134" name="Text 131"/>
          <p:cNvSpPr/>
          <p:nvPr/>
        </p:nvSpPr>
        <p:spPr>
          <a:xfrm>
            <a:off x="2029518" y="2928067"/>
            <a:ext cx="656231" cy="247650"/>
          </a:xfrm>
          <a:prstGeom prst="rect">
            <a:avLst/>
          </a:prstGeom>
          <a:noFill/>
          <a:ln/>
        </p:spPr>
        <p:txBody>
          <a:bodyPr wrap="square" lIns="38100" tIns="114300" rIns="114300" bIns="38100" rtlCol="0" anchor="ctr"/>
          <a:lstStyle/>
          <a:p>
            <a:pPr marL="0" indent="0" algn="r">
              <a:buNone/>
            </a:pPr>
            <a:r>
              <a:rPr lang="en-US" sz="888" b="1" dirty="0">
                <a:solidFill>
                  <a:srgbClr val="00CD93"/>
                </a:solidFill>
                <a:latin typeface="Raleway" pitchFamily="34" charset="0"/>
                <a:ea typeface="Raleway" pitchFamily="34" charset="-122"/>
                <a:cs typeface="Raleway" pitchFamily="34" charset="-120"/>
              </a:rPr>
              <a:t>45</a:t>
            </a:r>
            <a:endParaRPr lang="en-US" sz="888" dirty="0"/>
          </a:p>
        </p:txBody>
      </p:sp>
      <p:sp>
        <p:nvSpPr>
          <p:cNvPr id="135" name="Text 132"/>
          <p:cNvSpPr/>
          <p:nvPr/>
        </p:nvSpPr>
        <p:spPr>
          <a:xfrm>
            <a:off x="2029518" y="3175717"/>
            <a:ext cx="656231" cy="247650"/>
          </a:xfrm>
          <a:prstGeom prst="rect">
            <a:avLst/>
          </a:prstGeom>
          <a:noFill/>
          <a:ln/>
        </p:spPr>
        <p:txBody>
          <a:bodyPr wrap="square" lIns="38100" tIns="114300" rIns="114300" bIns="38100" rtlCol="0" anchor="ctr"/>
          <a:lstStyle/>
          <a:p>
            <a:pPr marL="0" indent="0" algn="r">
              <a:buNone/>
            </a:pPr>
            <a:r>
              <a:rPr lang="en-US" sz="888" b="1" dirty="0">
                <a:solidFill>
                  <a:srgbClr val="00CD93"/>
                </a:solidFill>
                <a:latin typeface="Raleway" pitchFamily="34" charset="0"/>
                <a:ea typeface="Raleway" pitchFamily="34" charset="-122"/>
                <a:cs typeface="Raleway" pitchFamily="34" charset="-120"/>
              </a:rPr>
              <a:t>87</a:t>
            </a:r>
            <a:endParaRPr lang="en-US" sz="888" dirty="0"/>
          </a:p>
        </p:txBody>
      </p:sp>
      <p:sp>
        <p:nvSpPr>
          <p:cNvPr id="136" name="Text 133"/>
          <p:cNvSpPr/>
          <p:nvPr/>
        </p:nvSpPr>
        <p:spPr>
          <a:xfrm>
            <a:off x="3164453" y="4952130"/>
            <a:ext cx="544636" cy="214313"/>
          </a:xfrm>
          <a:prstGeom prst="rect">
            <a:avLst/>
          </a:prstGeom>
          <a:noFill/>
          <a:ln/>
        </p:spPr>
        <p:txBody>
          <a:bodyPr wrap="square" lIns="38100" tIns="114300" rIns="114300" bIns="38100" rtlCol="0" anchor="ctr"/>
          <a:lstStyle/>
          <a:p>
            <a:pPr marL="0" indent="0" algn="r">
              <a:buNone/>
            </a:pPr>
            <a:r>
              <a:rPr lang="en-US" sz="720" dirty="0">
                <a:solidFill>
                  <a:srgbClr val="333333"/>
                </a:solidFill>
                <a:latin typeface="Raleway" pitchFamily="34" charset="0"/>
                <a:ea typeface="Raleway" pitchFamily="34" charset="-122"/>
                <a:cs typeface="Raleway" pitchFamily="34" charset="-120"/>
              </a:rPr>
              <a:t>13</a:t>
            </a:r>
            <a:endParaRPr lang="en-US" sz="720" dirty="0"/>
          </a:p>
        </p:txBody>
      </p:sp>
      <p:sp>
        <p:nvSpPr>
          <p:cNvPr id="137" name="Text 134"/>
          <p:cNvSpPr/>
          <p:nvPr/>
        </p:nvSpPr>
        <p:spPr>
          <a:xfrm>
            <a:off x="3693226" y="4952130"/>
            <a:ext cx="529154" cy="214313"/>
          </a:xfrm>
          <a:prstGeom prst="rect">
            <a:avLst/>
          </a:prstGeom>
          <a:noFill/>
          <a:ln/>
        </p:spPr>
        <p:txBody>
          <a:bodyPr wrap="square" lIns="38100" tIns="114300" rIns="114300" bIns="38100" rtlCol="0" anchor="ctr"/>
          <a:lstStyle/>
          <a:p>
            <a:pPr marL="0" indent="0" algn="r">
              <a:buNone/>
            </a:pPr>
            <a:r>
              <a:rPr lang="en-US" sz="720" dirty="0">
                <a:solidFill>
                  <a:srgbClr val="333333"/>
                </a:solidFill>
                <a:latin typeface="Raleway" pitchFamily="34" charset="0"/>
                <a:ea typeface="Raleway" pitchFamily="34" charset="-122"/>
                <a:cs typeface="Raleway" pitchFamily="34" charset="-120"/>
              </a:rPr>
              <a:t>36</a:t>
            </a:r>
            <a:endParaRPr lang="en-US" sz="720" dirty="0"/>
          </a:p>
        </p:txBody>
      </p:sp>
      <p:sp>
        <p:nvSpPr>
          <p:cNvPr id="138" name="Text 135"/>
          <p:cNvSpPr/>
          <p:nvPr/>
        </p:nvSpPr>
        <p:spPr>
          <a:xfrm>
            <a:off x="4752559" y="4952130"/>
            <a:ext cx="530687" cy="214313"/>
          </a:xfrm>
          <a:prstGeom prst="rect">
            <a:avLst/>
          </a:prstGeom>
          <a:noFill/>
          <a:ln/>
        </p:spPr>
        <p:txBody>
          <a:bodyPr wrap="square" lIns="38100" tIns="114300" rIns="114300" bIns="38100" rtlCol="0" anchor="ctr"/>
          <a:lstStyle/>
          <a:p>
            <a:pPr marL="0" indent="0" algn="r">
              <a:buNone/>
            </a:pPr>
            <a:r>
              <a:rPr lang="en-US" sz="720" dirty="0">
                <a:solidFill>
                  <a:srgbClr val="333333"/>
                </a:solidFill>
                <a:latin typeface="Raleway" pitchFamily="34" charset="0"/>
                <a:ea typeface="Raleway" pitchFamily="34" charset="-122"/>
                <a:cs typeface="Raleway" pitchFamily="34" charset="-120"/>
              </a:rPr>
              <a:t>97</a:t>
            </a:r>
            <a:endParaRPr lang="en-US" sz="720" dirty="0"/>
          </a:p>
        </p:txBody>
      </p:sp>
      <p:sp>
        <p:nvSpPr>
          <p:cNvPr id="139" name="Text 136"/>
          <p:cNvSpPr/>
          <p:nvPr/>
        </p:nvSpPr>
        <p:spPr>
          <a:xfrm>
            <a:off x="3693226" y="5166442"/>
            <a:ext cx="529154" cy="219075"/>
          </a:xfrm>
          <a:prstGeom prst="rect">
            <a:avLst/>
          </a:prstGeom>
          <a:noFill/>
          <a:ln/>
        </p:spPr>
        <p:txBody>
          <a:bodyPr wrap="square" lIns="38100" tIns="114300" rIns="114300" bIns="38100" rtlCol="0" anchor="ctr"/>
          <a:lstStyle/>
          <a:p>
            <a:pPr marL="0" indent="0" algn="r">
              <a:buNone/>
            </a:pPr>
            <a:r>
              <a:rPr lang="en-US" sz="720" dirty="0">
                <a:solidFill>
                  <a:srgbClr val="333333"/>
                </a:solidFill>
                <a:latin typeface="Raleway" pitchFamily="34" charset="0"/>
                <a:ea typeface="Raleway" pitchFamily="34" charset="-122"/>
                <a:cs typeface="Raleway" pitchFamily="34" charset="-120"/>
              </a:rPr>
              <a:t>18</a:t>
            </a:r>
            <a:endParaRPr lang="en-US" sz="720" dirty="0"/>
          </a:p>
        </p:txBody>
      </p:sp>
      <p:sp>
        <p:nvSpPr>
          <p:cNvPr id="140" name="Text 137"/>
          <p:cNvSpPr/>
          <p:nvPr/>
        </p:nvSpPr>
        <p:spPr>
          <a:xfrm>
            <a:off x="4206968" y="5166442"/>
            <a:ext cx="561958" cy="219075"/>
          </a:xfrm>
          <a:prstGeom prst="rect">
            <a:avLst/>
          </a:prstGeom>
          <a:noFill/>
          <a:ln/>
        </p:spPr>
        <p:txBody>
          <a:bodyPr wrap="square" lIns="38100" tIns="114300" rIns="114300" bIns="38100" rtlCol="0" anchor="ctr"/>
          <a:lstStyle/>
          <a:p>
            <a:pPr marL="0" indent="0" algn="r">
              <a:buNone/>
            </a:pPr>
            <a:r>
              <a:rPr lang="en-US" sz="720" dirty="0">
                <a:solidFill>
                  <a:srgbClr val="333333"/>
                </a:solidFill>
                <a:latin typeface="Raleway" pitchFamily="34" charset="0"/>
                <a:ea typeface="Raleway" pitchFamily="34" charset="-122"/>
                <a:cs typeface="Raleway" pitchFamily="34" charset="-120"/>
              </a:rPr>
              <a:t>58</a:t>
            </a:r>
            <a:endParaRPr lang="en-US" sz="720" dirty="0"/>
          </a:p>
        </p:txBody>
      </p:sp>
      <p:sp>
        <p:nvSpPr>
          <p:cNvPr id="141" name="Text 138"/>
          <p:cNvSpPr/>
          <p:nvPr/>
        </p:nvSpPr>
        <p:spPr>
          <a:xfrm>
            <a:off x="4752559" y="5166442"/>
            <a:ext cx="530687" cy="219075"/>
          </a:xfrm>
          <a:prstGeom prst="rect">
            <a:avLst/>
          </a:prstGeom>
          <a:noFill/>
          <a:ln/>
        </p:spPr>
        <p:txBody>
          <a:bodyPr wrap="square" lIns="38100" tIns="114300" rIns="114300" bIns="38100" rtlCol="0" anchor="ctr"/>
          <a:lstStyle/>
          <a:p>
            <a:pPr marL="0" indent="0" algn="r">
              <a:buNone/>
            </a:pPr>
            <a:r>
              <a:rPr lang="en-US" sz="720" dirty="0">
                <a:solidFill>
                  <a:srgbClr val="333333"/>
                </a:solidFill>
                <a:latin typeface="Raleway" pitchFamily="34" charset="0"/>
                <a:ea typeface="Raleway" pitchFamily="34" charset="-122"/>
                <a:cs typeface="Raleway" pitchFamily="34" charset="-120"/>
              </a:rPr>
              <a:t>74</a:t>
            </a:r>
            <a:endParaRPr lang="en-US" sz="720" dirty="0"/>
          </a:p>
        </p:txBody>
      </p:sp>
      <p:sp>
        <p:nvSpPr>
          <p:cNvPr id="142" name="Text 139"/>
          <p:cNvSpPr/>
          <p:nvPr/>
        </p:nvSpPr>
        <p:spPr>
          <a:xfrm>
            <a:off x="3693226" y="5385517"/>
            <a:ext cx="529154" cy="219075"/>
          </a:xfrm>
          <a:prstGeom prst="rect">
            <a:avLst/>
          </a:prstGeom>
          <a:noFill/>
          <a:ln/>
        </p:spPr>
        <p:txBody>
          <a:bodyPr wrap="square" lIns="38100" tIns="114300" rIns="114300" bIns="38100" rtlCol="0" anchor="ctr"/>
          <a:lstStyle/>
          <a:p>
            <a:pPr marL="0" indent="0" algn="r">
              <a:buNone/>
            </a:pPr>
            <a:r>
              <a:rPr lang="en-US" sz="720" dirty="0">
                <a:solidFill>
                  <a:srgbClr val="333333"/>
                </a:solidFill>
                <a:latin typeface="Raleway" pitchFamily="34" charset="0"/>
                <a:ea typeface="Raleway" pitchFamily="34" charset="-122"/>
                <a:cs typeface="Raleway" pitchFamily="34" charset="-120"/>
              </a:rPr>
              <a:t>18</a:t>
            </a:r>
            <a:endParaRPr lang="en-US" sz="720" dirty="0"/>
          </a:p>
        </p:txBody>
      </p:sp>
      <p:sp>
        <p:nvSpPr>
          <p:cNvPr id="143" name="Text 140"/>
          <p:cNvSpPr/>
          <p:nvPr/>
        </p:nvSpPr>
        <p:spPr>
          <a:xfrm>
            <a:off x="4206968" y="5385517"/>
            <a:ext cx="561958" cy="219075"/>
          </a:xfrm>
          <a:prstGeom prst="rect">
            <a:avLst/>
          </a:prstGeom>
          <a:noFill/>
          <a:ln/>
        </p:spPr>
        <p:txBody>
          <a:bodyPr wrap="square" lIns="38100" tIns="114300" rIns="114300" bIns="38100" rtlCol="0" anchor="ctr"/>
          <a:lstStyle/>
          <a:p>
            <a:pPr marL="0" indent="0" algn="r">
              <a:buNone/>
            </a:pPr>
            <a:r>
              <a:rPr lang="en-US" sz="720" dirty="0">
                <a:solidFill>
                  <a:srgbClr val="333333"/>
                </a:solidFill>
                <a:latin typeface="Raleway" pitchFamily="34" charset="0"/>
                <a:ea typeface="Raleway" pitchFamily="34" charset="-122"/>
                <a:cs typeface="Raleway" pitchFamily="34" charset="-120"/>
              </a:rPr>
              <a:t>45</a:t>
            </a:r>
            <a:endParaRPr lang="en-US" sz="720" dirty="0"/>
          </a:p>
        </p:txBody>
      </p:sp>
      <p:sp>
        <p:nvSpPr>
          <p:cNvPr id="144" name="Text 141"/>
          <p:cNvSpPr/>
          <p:nvPr/>
        </p:nvSpPr>
        <p:spPr>
          <a:xfrm>
            <a:off x="4752559" y="5385517"/>
            <a:ext cx="530687" cy="219075"/>
          </a:xfrm>
          <a:prstGeom prst="rect">
            <a:avLst/>
          </a:prstGeom>
          <a:noFill/>
          <a:ln/>
        </p:spPr>
        <p:txBody>
          <a:bodyPr wrap="square" lIns="38100" tIns="114300" rIns="114300" bIns="38100" rtlCol="0" anchor="ctr"/>
          <a:lstStyle/>
          <a:p>
            <a:pPr marL="0" indent="0" algn="r">
              <a:buNone/>
            </a:pPr>
            <a:r>
              <a:rPr lang="en-US" sz="720" dirty="0">
                <a:solidFill>
                  <a:srgbClr val="333333"/>
                </a:solidFill>
                <a:latin typeface="Raleway" pitchFamily="34" charset="0"/>
                <a:ea typeface="Raleway" pitchFamily="34" charset="-122"/>
                <a:cs typeface="Raleway" pitchFamily="34" charset="-120"/>
              </a:rPr>
              <a:t>64</a:t>
            </a:r>
            <a:endParaRPr lang="en-US" sz="720" dirty="0"/>
          </a:p>
        </p:txBody>
      </p:sp>
      <p:sp>
        <p:nvSpPr>
          <p:cNvPr id="145" name="Text 142"/>
          <p:cNvSpPr/>
          <p:nvPr/>
        </p:nvSpPr>
        <p:spPr>
          <a:xfrm>
            <a:off x="4752559" y="5604592"/>
            <a:ext cx="530687" cy="220861"/>
          </a:xfrm>
          <a:prstGeom prst="rect">
            <a:avLst/>
          </a:prstGeom>
          <a:noFill/>
          <a:ln/>
        </p:spPr>
        <p:txBody>
          <a:bodyPr wrap="square" lIns="38100" tIns="114300" rIns="114300" bIns="38100" rtlCol="0" anchor="ctr"/>
          <a:lstStyle/>
          <a:p>
            <a:pPr marL="0" indent="0" algn="r">
              <a:buNone/>
            </a:pPr>
            <a:r>
              <a:rPr lang="en-US" sz="720" dirty="0">
                <a:solidFill>
                  <a:srgbClr val="333333"/>
                </a:solidFill>
                <a:latin typeface="Raleway" pitchFamily="34" charset="0"/>
                <a:ea typeface="Raleway" pitchFamily="34" charset="-122"/>
                <a:cs typeface="Raleway" pitchFamily="34" charset="-120"/>
              </a:rPr>
              <a:t>31</a:t>
            </a:r>
            <a:endParaRPr lang="en-US" sz="720" dirty="0"/>
          </a:p>
        </p:txBody>
      </p:sp>
      <p:sp>
        <p:nvSpPr>
          <p:cNvPr id="146" name="Text 143"/>
          <p:cNvSpPr/>
          <p:nvPr/>
        </p:nvSpPr>
        <p:spPr>
          <a:xfrm>
            <a:off x="5267789" y="5604592"/>
            <a:ext cx="627259" cy="220861"/>
          </a:xfrm>
          <a:prstGeom prst="rect">
            <a:avLst/>
          </a:prstGeom>
          <a:noFill/>
          <a:ln/>
        </p:spPr>
        <p:txBody>
          <a:bodyPr wrap="square" lIns="38100" tIns="114300" rIns="114300" bIns="38100" rtlCol="0" anchor="ctr"/>
          <a:lstStyle/>
          <a:p>
            <a:pPr marL="0" indent="0" algn="r">
              <a:buNone/>
            </a:pPr>
            <a:r>
              <a:rPr lang="en-US" sz="744" b="1" dirty="0">
                <a:solidFill>
                  <a:srgbClr val="333333"/>
                </a:solidFill>
                <a:latin typeface="Raleway" pitchFamily="34" charset="0"/>
                <a:ea typeface="Raleway" pitchFamily="34" charset="-122"/>
                <a:cs typeface="Raleway" pitchFamily="34" charset="-120"/>
              </a:rPr>
              <a:t>47</a:t>
            </a:r>
            <a:endParaRPr lang="en-US" sz="744" dirty="0"/>
          </a:p>
        </p:txBody>
      </p:sp>
      <p:sp>
        <p:nvSpPr>
          <p:cNvPr id="147" name="Text 144"/>
          <p:cNvSpPr/>
          <p:nvPr/>
        </p:nvSpPr>
        <p:spPr>
          <a:xfrm>
            <a:off x="2114497" y="5825453"/>
            <a:ext cx="542184" cy="185738"/>
          </a:xfrm>
          <a:prstGeom prst="rect">
            <a:avLst/>
          </a:prstGeom>
          <a:noFill/>
          <a:ln/>
        </p:spPr>
        <p:txBody>
          <a:bodyPr wrap="square" lIns="38100" tIns="114300" rIns="114300" bIns="38100" rtlCol="0" anchor="ctr"/>
          <a:lstStyle/>
          <a:p>
            <a:pPr marL="0" indent="0" algn="r">
              <a:buNone/>
            </a:pPr>
            <a:r>
              <a:rPr lang="en-US" sz="720" b="1" dirty="0">
                <a:solidFill>
                  <a:srgbClr val="120180"/>
                </a:solidFill>
                <a:latin typeface="Raleway" pitchFamily="34" charset="0"/>
                <a:ea typeface="Raleway" pitchFamily="34" charset="-122"/>
                <a:cs typeface="Raleway" pitchFamily="34" charset="-120"/>
              </a:rPr>
              <a:t>14</a:t>
            </a:r>
            <a:endParaRPr lang="en-US" sz="720" dirty="0"/>
          </a:p>
        </p:txBody>
      </p:sp>
      <p:sp>
        <p:nvSpPr>
          <p:cNvPr id="148" name="Text 145"/>
          <p:cNvSpPr/>
          <p:nvPr/>
        </p:nvSpPr>
        <p:spPr>
          <a:xfrm>
            <a:off x="2640889" y="5825453"/>
            <a:ext cx="539271" cy="185738"/>
          </a:xfrm>
          <a:prstGeom prst="rect">
            <a:avLst/>
          </a:prstGeom>
          <a:noFill/>
          <a:ln/>
        </p:spPr>
        <p:txBody>
          <a:bodyPr wrap="square" lIns="38100" tIns="114300" rIns="114300" bIns="38100" rtlCol="0" anchor="ctr"/>
          <a:lstStyle/>
          <a:p>
            <a:pPr marL="0" indent="0" algn="r">
              <a:buNone/>
            </a:pPr>
            <a:r>
              <a:rPr lang="en-US" sz="720" b="1" dirty="0">
                <a:solidFill>
                  <a:srgbClr val="120180"/>
                </a:solidFill>
                <a:latin typeface="Raleway" pitchFamily="34" charset="0"/>
                <a:ea typeface="Raleway" pitchFamily="34" charset="-122"/>
                <a:cs typeface="Raleway" pitchFamily="34" charset="-120"/>
              </a:rPr>
              <a:t>15</a:t>
            </a:r>
            <a:endParaRPr lang="en-US" sz="720" dirty="0"/>
          </a:p>
        </p:txBody>
      </p:sp>
      <p:sp>
        <p:nvSpPr>
          <p:cNvPr id="149" name="Text 146"/>
          <p:cNvSpPr/>
          <p:nvPr/>
        </p:nvSpPr>
        <p:spPr>
          <a:xfrm>
            <a:off x="3164453" y="5825453"/>
            <a:ext cx="544636" cy="185738"/>
          </a:xfrm>
          <a:prstGeom prst="rect">
            <a:avLst/>
          </a:prstGeom>
          <a:noFill/>
          <a:ln/>
        </p:spPr>
        <p:txBody>
          <a:bodyPr wrap="square" lIns="38100" tIns="114300" rIns="114300" bIns="38100" rtlCol="0" anchor="ctr"/>
          <a:lstStyle/>
          <a:p>
            <a:pPr marL="0" indent="0" algn="r">
              <a:buNone/>
            </a:pPr>
            <a:r>
              <a:rPr lang="en-US" sz="720" b="1" dirty="0">
                <a:solidFill>
                  <a:srgbClr val="120180"/>
                </a:solidFill>
                <a:latin typeface="Raleway" pitchFamily="34" charset="0"/>
                <a:ea typeface="Raleway" pitchFamily="34" charset="-122"/>
                <a:cs typeface="Raleway" pitchFamily="34" charset="-120"/>
              </a:rPr>
              <a:t>31</a:t>
            </a:r>
            <a:endParaRPr lang="en-US" sz="720" dirty="0"/>
          </a:p>
        </p:txBody>
      </p:sp>
      <p:sp>
        <p:nvSpPr>
          <p:cNvPr id="150" name="Text 147"/>
          <p:cNvSpPr/>
          <p:nvPr/>
        </p:nvSpPr>
        <p:spPr>
          <a:xfrm>
            <a:off x="3693226" y="5825453"/>
            <a:ext cx="529154" cy="185738"/>
          </a:xfrm>
          <a:prstGeom prst="rect">
            <a:avLst/>
          </a:prstGeom>
          <a:noFill/>
          <a:ln/>
        </p:spPr>
        <p:txBody>
          <a:bodyPr wrap="square" lIns="38100" tIns="114300" rIns="114300" bIns="38100" rtlCol="0" anchor="ctr"/>
          <a:lstStyle/>
          <a:p>
            <a:pPr marL="0" indent="0" algn="r">
              <a:buNone/>
            </a:pPr>
            <a:r>
              <a:rPr lang="en-US" sz="720" b="1" dirty="0">
                <a:solidFill>
                  <a:srgbClr val="120180"/>
                </a:solidFill>
                <a:latin typeface="Raleway" pitchFamily="34" charset="0"/>
                <a:ea typeface="Raleway" pitchFamily="34" charset="-122"/>
                <a:cs typeface="Raleway" pitchFamily="34" charset="-120"/>
              </a:rPr>
              <a:t>75</a:t>
            </a:r>
            <a:endParaRPr lang="en-US" sz="720" dirty="0"/>
          </a:p>
        </p:txBody>
      </p:sp>
      <p:sp>
        <p:nvSpPr>
          <p:cNvPr id="151" name="Text 148"/>
          <p:cNvSpPr/>
          <p:nvPr/>
        </p:nvSpPr>
        <p:spPr>
          <a:xfrm>
            <a:off x="6719571" y="3012877"/>
            <a:ext cx="274320" cy="128016"/>
          </a:xfrm>
          <a:prstGeom prst="rect">
            <a:avLst/>
          </a:prstGeom>
          <a:noFill/>
          <a:ln/>
        </p:spPr>
        <p:txBody>
          <a:bodyPr wrap="square" lIns="0" tIns="0" rIns="0" bIns="0" rtlCol="0" anchor="t"/>
          <a:lstStyle/>
          <a:p>
            <a:pPr marL="0" indent="0" algn="l">
              <a:buNone/>
            </a:pPr>
            <a:r>
              <a:rPr lang="en-US" sz="720" b="1" dirty="0">
                <a:solidFill>
                  <a:srgbClr val="120180"/>
                </a:solidFill>
                <a:latin typeface="Raleway" pitchFamily="34" charset="0"/>
                <a:ea typeface="Raleway" pitchFamily="34" charset="-122"/>
                <a:cs typeface="Raleway" pitchFamily="34" charset="-120"/>
              </a:rPr>
              <a:t>43</a:t>
            </a:r>
            <a:endParaRPr lang="en-US" sz="720" dirty="0"/>
          </a:p>
        </p:txBody>
      </p:sp>
      <p:sp>
        <p:nvSpPr>
          <p:cNvPr id="152" name="Text 149"/>
          <p:cNvSpPr/>
          <p:nvPr/>
        </p:nvSpPr>
        <p:spPr>
          <a:xfrm>
            <a:off x="7567870" y="3002459"/>
            <a:ext cx="274320" cy="128016"/>
          </a:xfrm>
          <a:prstGeom prst="rect">
            <a:avLst/>
          </a:prstGeom>
          <a:noFill/>
          <a:ln/>
        </p:spPr>
        <p:txBody>
          <a:bodyPr wrap="square" lIns="0" tIns="0" rIns="0" bIns="0" rtlCol="0" anchor="t"/>
          <a:lstStyle/>
          <a:p>
            <a:pPr marL="0" indent="0" algn="l">
              <a:buNone/>
            </a:pPr>
            <a:r>
              <a:rPr lang="en-US" sz="720" b="1" dirty="0">
                <a:solidFill>
                  <a:srgbClr val="120180"/>
                </a:solidFill>
                <a:latin typeface="Raleway" pitchFamily="34" charset="0"/>
                <a:ea typeface="Raleway" pitchFamily="34" charset="-122"/>
                <a:cs typeface="Raleway" pitchFamily="34" charset="-120"/>
              </a:rPr>
              <a:t>45</a:t>
            </a:r>
            <a:endParaRPr lang="en-US" sz="720" dirty="0"/>
          </a:p>
        </p:txBody>
      </p:sp>
      <p:sp>
        <p:nvSpPr>
          <p:cNvPr id="153" name="Text 150"/>
          <p:cNvSpPr/>
          <p:nvPr/>
        </p:nvSpPr>
        <p:spPr>
          <a:xfrm>
            <a:off x="8413341" y="2845296"/>
            <a:ext cx="274320" cy="128016"/>
          </a:xfrm>
          <a:prstGeom prst="rect">
            <a:avLst/>
          </a:prstGeom>
          <a:noFill/>
          <a:ln/>
        </p:spPr>
        <p:txBody>
          <a:bodyPr wrap="square" lIns="0" tIns="0" rIns="0" bIns="0" rtlCol="0" anchor="t"/>
          <a:lstStyle/>
          <a:p>
            <a:pPr marL="0" indent="0" algn="l">
              <a:buNone/>
            </a:pPr>
            <a:r>
              <a:rPr lang="en-US" sz="720" b="1" dirty="0">
                <a:solidFill>
                  <a:srgbClr val="120180"/>
                </a:solidFill>
                <a:latin typeface="Raleway" pitchFamily="34" charset="0"/>
                <a:ea typeface="Raleway" pitchFamily="34" charset="-122"/>
                <a:cs typeface="Raleway" pitchFamily="34" charset="-120"/>
              </a:rPr>
              <a:t>87</a:t>
            </a:r>
            <a:endParaRPr lang="en-US" sz="720" dirty="0"/>
          </a:p>
        </p:txBody>
      </p:sp>
      <p:sp>
        <p:nvSpPr>
          <p:cNvPr id="155" name="TextBox 154">
            <a:extLst>
              <a:ext uri="{FF2B5EF4-FFF2-40B4-BE49-F238E27FC236}">
                <a16:creationId xmlns:a16="http://schemas.microsoft.com/office/drawing/2014/main" id="{B8A0CA7A-AEE0-A138-C34C-0B450C4C58D2}"/>
              </a:ext>
            </a:extLst>
          </p:cNvPr>
          <p:cNvSpPr txBox="1"/>
          <p:nvPr/>
        </p:nvSpPr>
        <p:spPr>
          <a:xfrm>
            <a:off x="6521514" y="5366350"/>
            <a:ext cx="4946604" cy="413575"/>
          </a:xfrm>
          <a:prstGeom prst="rect">
            <a:avLst/>
          </a:prstGeom>
          <a:noFill/>
        </p:spPr>
        <p:txBody>
          <a:bodyPr wrap="square">
            <a:spAutoFit/>
          </a:bodyPr>
          <a:lstStyle/>
          <a:p>
            <a:r>
              <a:rPr lang="es-CO" sz="696" b="1" i="0" dirty="0">
                <a:solidFill>
                  <a:srgbClr val="120180"/>
                </a:solidFill>
                <a:effectLst/>
                <a:latin typeface="Raleway" pitchFamily="2" charset="0"/>
              </a:rPr>
              <a:t>Base con intención de compra validada · 791 ventas en el semestre · Crecimiento de 43 a 281 ventas/mes (+553%) · El equipo focalizado pasó de 14 a 266 ventas/mes (19×) · 26,6% de conversión, 3× el promedio del canal · La autogestión es la campaña de mayor efectividad del portafolio.</a:t>
            </a:r>
            <a:endParaRPr lang="es-CO"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C:\01_Repositorios\13_Presentaciones\dash\televentas\ppt_slides\sk_06_main.png"/>
          <p:cNvPicPr>
            <a:picLocks noChangeAspect="1"/>
          </p:cNvPicPr>
          <p:nvPr/>
        </p:nvPicPr>
        <p:blipFill>
          <a:blip r:embed="rId3"/>
          <a:stretch>
            <a:fillRect/>
          </a:stretch>
        </p:blipFill>
        <p:spPr>
          <a:xfrm>
            <a:off x="0" y="0"/>
            <a:ext cx="12191695" cy="6858000"/>
          </a:xfrm>
          <a:prstGeom prst="rect">
            <a:avLst/>
          </a:prstGeom>
        </p:spPr>
      </p:pic>
      <p:sp>
        <p:nvSpPr>
          <p:cNvPr id="6" name="Text 3"/>
          <p:cNvSpPr/>
          <p:nvPr/>
        </p:nvSpPr>
        <p:spPr>
          <a:xfrm>
            <a:off x="1213514" y="219075"/>
            <a:ext cx="3794979" cy="196215"/>
          </a:xfrm>
          <a:prstGeom prst="rect">
            <a:avLst/>
          </a:prstGeom>
          <a:noFill/>
          <a:ln/>
        </p:spPr>
        <p:txBody>
          <a:bodyPr wrap="square" lIns="0" tIns="0" rIns="0" bIns="0" rtlCol="0" anchor="t"/>
          <a:lstStyle/>
          <a:p>
            <a:pPr marL="0" indent="0" algn="l">
              <a:buNone/>
            </a:pPr>
            <a:r>
              <a:rPr lang="en-US" sz="1260" b="1" dirty="0">
                <a:solidFill>
                  <a:srgbClr val="FFFFFF"/>
                </a:solidFill>
                <a:latin typeface="Raleway" pitchFamily="34" charset="0"/>
                <a:ea typeface="Raleway" pitchFamily="34" charset="-122"/>
                <a:cs typeface="Raleway" pitchFamily="34" charset="-120"/>
              </a:rPr>
              <a:t>Detalle Operativo · Campaña Bienvenidas CP</a:t>
            </a:r>
            <a:endParaRPr lang="en-US" sz="1260" dirty="0"/>
          </a:p>
        </p:txBody>
      </p:sp>
      <p:sp>
        <p:nvSpPr>
          <p:cNvPr id="7" name="Text 4"/>
          <p:cNvSpPr/>
          <p:nvPr/>
        </p:nvSpPr>
        <p:spPr>
          <a:xfrm>
            <a:off x="8216595" y="1219944"/>
            <a:ext cx="3584207"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Alta efectividad comercial sobre contacto</a:t>
            </a:r>
            <a:endParaRPr lang="en-US" sz="648" dirty="0"/>
          </a:p>
        </p:txBody>
      </p:sp>
      <p:sp>
        <p:nvSpPr>
          <p:cNvPr id="8" name="Text 5"/>
          <p:cNvSpPr/>
          <p:nvPr/>
        </p:nvSpPr>
        <p:spPr>
          <a:xfrm>
            <a:off x="6400644" y="302969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4. Tipificación de Leads Aptos por Mes</a:t>
            </a:r>
            <a:endParaRPr lang="en-US" sz="816" dirty="0"/>
          </a:p>
        </p:txBody>
      </p:sp>
      <p:sp>
        <p:nvSpPr>
          <p:cNvPr id="9" name="Text 6"/>
          <p:cNvSpPr/>
          <p:nvPr/>
        </p:nvSpPr>
        <p:spPr>
          <a:xfrm>
            <a:off x="619113" y="160094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1. Calidad de Base y Descarte Mensual</a:t>
            </a:r>
            <a:endParaRPr lang="en-US" sz="816" dirty="0"/>
          </a:p>
        </p:txBody>
      </p:sp>
      <p:sp>
        <p:nvSpPr>
          <p:cNvPr id="10" name="Text 7"/>
          <p:cNvSpPr/>
          <p:nvPr/>
        </p:nvSpPr>
        <p:spPr>
          <a:xfrm>
            <a:off x="6267293" y="50013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Teléfono apagado / fuera de servicio</a:t>
            </a:r>
            <a:endParaRPr lang="en-US" sz="552" dirty="0"/>
          </a:p>
        </p:txBody>
      </p:sp>
      <p:sp>
        <p:nvSpPr>
          <p:cNvPr id="11" name="Text 8"/>
          <p:cNvSpPr/>
          <p:nvPr/>
        </p:nvSpPr>
        <p:spPr>
          <a:xfrm>
            <a:off x="533387" y="1219944"/>
            <a:ext cx="3584053"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Líder en contactabilidad del canal</a:t>
            </a:r>
            <a:endParaRPr lang="en-US" sz="648" dirty="0"/>
          </a:p>
        </p:txBody>
      </p:sp>
      <p:sp>
        <p:nvSpPr>
          <p:cNvPr id="12" name="Text 9"/>
          <p:cNvSpPr/>
          <p:nvPr/>
        </p:nvSpPr>
        <p:spPr>
          <a:xfrm>
            <a:off x="4374991" y="1219944"/>
            <a:ext cx="3584053"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Aporta el 62% de las ventas de CP</a:t>
            </a:r>
            <a:endParaRPr lang="en-US" sz="648" dirty="0"/>
          </a:p>
        </p:txBody>
      </p:sp>
      <p:sp>
        <p:nvSpPr>
          <p:cNvPr id="13" name="Text 10"/>
          <p:cNvSpPr/>
          <p:nvPr/>
        </p:nvSpPr>
        <p:spPr>
          <a:xfrm>
            <a:off x="6419694" y="160094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3. Insumo Apto, Contacto y Ventas</a:t>
            </a:r>
            <a:endParaRPr lang="en-US" sz="816" dirty="0"/>
          </a:p>
        </p:txBody>
      </p:sp>
      <p:sp>
        <p:nvSpPr>
          <p:cNvPr id="14" name="Text 11"/>
          <p:cNvSpPr/>
          <p:nvPr/>
        </p:nvSpPr>
        <p:spPr>
          <a:xfrm>
            <a:off x="504812" y="43346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Excede límite de edad (&gt;80 años)</a:t>
            </a:r>
            <a:endParaRPr lang="en-US" sz="576" dirty="0"/>
          </a:p>
        </p:txBody>
      </p:sp>
      <p:sp>
        <p:nvSpPr>
          <p:cNvPr id="15" name="Text 12"/>
          <p:cNvSpPr/>
          <p:nvPr/>
        </p:nvSpPr>
        <p:spPr>
          <a:xfrm>
            <a:off x="6267293" y="35345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Venta exitosa (CP + Autogestión)</a:t>
            </a:r>
            <a:endParaRPr lang="en-US" sz="552" dirty="0"/>
          </a:p>
        </p:txBody>
      </p:sp>
      <p:sp>
        <p:nvSpPr>
          <p:cNvPr id="16" name="Text 13"/>
          <p:cNvSpPr/>
          <p:nvPr/>
        </p:nvSpPr>
        <p:spPr>
          <a:xfrm>
            <a:off x="504812" y="393459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Registro Recibido Anteriormente</a:t>
            </a:r>
            <a:endParaRPr lang="en-US" sz="576" dirty="0"/>
          </a:p>
        </p:txBody>
      </p:sp>
      <p:sp>
        <p:nvSpPr>
          <p:cNvPr id="18" name="Text 15"/>
          <p:cNvSpPr/>
          <p:nvPr/>
        </p:nvSpPr>
        <p:spPr>
          <a:xfrm>
            <a:off x="504812" y="366789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Registro Enviado Anteriormente</a:t>
            </a:r>
            <a:endParaRPr lang="en-US" sz="576" dirty="0"/>
          </a:p>
        </p:txBody>
      </p:sp>
      <p:sp>
        <p:nvSpPr>
          <p:cNvPr id="19" name="Text 16"/>
          <p:cNvSpPr/>
          <p:nvPr/>
        </p:nvSpPr>
        <p:spPr>
          <a:xfrm>
            <a:off x="504812" y="40679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Registro con Localidad Errónea</a:t>
            </a:r>
            <a:endParaRPr lang="en-US" sz="576" dirty="0"/>
          </a:p>
        </p:txBody>
      </p:sp>
      <p:sp>
        <p:nvSpPr>
          <p:cNvPr id="20" name="Text 17"/>
          <p:cNvSpPr/>
          <p:nvPr/>
        </p:nvSpPr>
        <p:spPr>
          <a:xfrm>
            <a:off x="495288" y="302969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2. Motivos de Descarte por Mes</a:t>
            </a:r>
            <a:endParaRPr lang="en-US" sz="816" dirty="0"/>
          </a:p>
        </p:txBody>
      </p:sp>
      <p:sp>
        <p:nvSpPr>
          <p:cNvPr id="21" name="Text 18"/>
          <p:cNvSpPr/>
          <p:nvPr/>
        </p:nvSpPr>
        <p:spPr>
          <a:xfrm>
            <a:off x="6267293" y="36678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interesado por el producto</a:t>
            </a:r>
            <a:endParaRPr lang="en-US" sz="552" dirty="0"/>
          </a:p>
        </p:txBody>
      </p:sp>
      <p:sp>
        <p:nvSpPr>
          <p:cNvPr id="22" name="Text 19"/>
          <p:cNvSpPr/>
          <p:nvPr/>
        </p:nvSpPr>
        <p:spPr>
          <a:xfrm>
            <a:off x="6267293" y="39345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Agendado / llamada posterior</a:t>
            </a:r>
            <a:endParaRPr lang="en-US" sz="552" dirty="0"/>
          </a:p>
        </p:txBody>
      </p:sp>
      <p:sp>
        <p:nvSpPr>
          <p:cNvPr id="23" name="Text 20"/>
          <p:cNvSpPr/>
          <p:nvPr/>
        </p:nvSpPr>
        <p:spPr>
          <a:xfrm>
            <a:off x="6267293" y="42012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Datos errados / experiencia</a:t>
            </a:r>
            <a:endParaRPr lang="en-US" sz="552" dirty="0"/>
          </a:p>
        </p:txBody>
      </p:sp>
      <p:sp>
        <p:nvSpPr>
          <p:cNvPr id="24" name="Text 21"/>
          <p:cNvSpPr/>
          <p:nvPr/>
        </p:nvSpPr>
        <p:spPr>
          <a:xfrm>
            <a:off x="6267293" y="43346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interesado por el precio</a:t>
            </a:r>
            <a:endParaRPr lang="en-US" sz="552" dirty="0"/>
          </a:p>
        </p:txBody>
      </p:sp>
      <p:sp>
        <p:nvSpPr>
          <p:cNvPr id="25" name="Text 22"/>
          <p:cNvSpPr/>
          <p:nvPr/>
        </p:nvSpPr>
        <p:spPr>
          <a:xfrm>
            <a:off x="9445141" y="162479"/>
            <a:ext cx="2240321" cy="215836"/>
          </a:xfrm>
          <a:prstGeom prst="rect">
            <a:avLst/>
          </a:prstGeom>
          <a:noFill/>
          <a:ln/>
        </p:spPr>
        <p:txBody>
          <a:bodyPr wrap="square" lIns="38100" tIns="114300" rIns="114300" bIns="38100" rtlCol="0" anchor="ctr"/>
          <a:lstStyle/>
          <a:p>
            <a:pPr marL="0" indent="0" algn="ctr">
              <a:buNone/>
            </a:pPr>
            <a:r>
              <a:rPr lang="en-US" sz="840" b="1" dirty="0" err="1">
                <a:solidFill>
                  <a:srgbClr val="5AE280"/>
                </a:solidFill>
                <a:latin typeface="Raleway" pitchFamily="34" charset="0"/>
                <a:ea typeface="Raleway" pitchFamily="34" charset="-122"/>
                <a:cs typeface="Raleway" pitchFamily="34" charset="-120"/>
              </a:rPr>
              <a:t>Detalle</a:t>
            </a:r>
            <a:r>
              <a:rPr lang="en-US" sz="840" b="1" dirty="0">
                <a:solidFill>
                  <a:srgbClr val="5AE280"/>
                </a:solidFill>
                <a:latin typeface="Raleway" pitchFamily="34" charset="0"/>
                <a:ea typeface="Raleway" pitchFamily="34" charset="-122"/>
                <a:cs typeface="Raleway" pitchFamily="34" charset="-120"/>
              </a:rPr>
              <a:t> Bienvenida</a:t>
            </a:r>
            <a:endParaRPr lang="en-US" sz="840" dirty="0"/>
          </a:p>
        </p:txBody>
      </p:sp>
      <p:sp>
        <p:nvSpPr>
          <p:cNvPr id="26" name="Text 23"/>
          <p:cNvSpPr/>
          <p:nvPr/>
        </p:nvSpPr>
        <p:spPr>
          <a:xfrm>
            <a:off x="6267293" y="40679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es responsable del pago</a:t>
            </a:r>
            <a:endParaRPr lang="en-US" sz="552" dirty="0"/>
          </a:p>
        </p:txBody>
      </p:sp>
      <p:sp>
        <p:nvSpPr>
          <p:cNvPr id="27" name="Text 24"/>
          <p:cNvSpPr/>
          <p:nvPr/>
        </p:nvSpPr>
        <p:spPr>
          <a:xfrm>
            <a:off x="504812" y="420129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Cédula/Teléfono Repetido</a:t>
            </a:r>
            <a:endParaRPr lang="en-US" sz="576" dirty="0"/>
          </a:p>
        </p:txBody>
      </p:sp>
      <p:sp>
        <p:nvSpPr>
          <p:cNvPr id="28" name="Text 25"/>
          <p:cNvSpPr/>
          <p:nvPr/>
        </p:nvSpPr>
        <p:spPr>
          <a:xfrm>
            <a:off x="533387" y="828675"/>
            <a:ext cx="3584053"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CONTACTABILIDAD PROMEDIO</a:t>
            </a:r>
            <a:endParaRPr lang="en-US" sz="672" dirty="0"/>
          </a:p>
        </p:txBody>
      </p:sp>
      <p:sp>
        <p:nvSpPr>
          <p:cNvPr id="29" name="Text 26"/>
          <p:cNvSpPr/>
          <p:nvPr/>
        </p:nvSpPr>
        <p:spPr>
          <a:xfrm>
            <a:off x="504812" y="3405955"/>
            <a:ext cx="1879325" cy="128588"/>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Cuota Protegida Activa</a:t>
            </a:r>
            <a:endParaRPr lang="en-US" sz="576" dirty="0"/>
          </a:p>
        </p:txBody>
      </p:sp>
      <p:sp>
        <p:nvSpPr>
          <p:cNvPr id="30" name="Text 27"/>
          <p:cNvSpPr/>
          <p:nvPr/>
        </p:nvSpPr>
        <p:spPr>
          <a:xfrm>
            <a:off x="6267293" y="47346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Contestador automático</a:t>
            </a:r>
            <a:endParaRPr lang="en-US" sz="552" dirty="0"/>
          </a:p>
        </p:txBody>
      </p:sp>
      <p:sp>
        <p:nvSpPr>
          <p:cNvPr id="31" name="Text 28"/>
          <p:cNvSpPr/>
          <p:nvPr/>
        </p:nvSpPr>
        <p:spPr>
          <a:xfrm>
            <a:off x="504812" y="446799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Otros motivos menores</a:t>
            </a:r>
            <a:endParaRPr lang="en-US" sz="576" dirty="0"/>
          </a:p>
        </p:txBody>
      </p:sp>
      <p:sp>
        <p:nvSpPr>
          <p:cNvPr id="32" name="Text 29"/>
          <p:cNvSpPr/>
          <p:nvPr/>
        </p:nvSpPr>
        <p:spPr>
          <a:xfrm>
            <a:off x="6267293" y="44679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Otros motivos menores</a:t>
            </a:r>
            <a:endParaRPr lang="en-US" sz="552" dirty="0"/>
          </a:p>
        </p:txBody>
      </p:sp>
      <p:sp>
        <p:nvSpPr>
          <p:cNvPr id="33" name="Text 30"/>
          <p:cNvSpPr/>
          <p:nvPr/>
        </p:nvSpPr>
        <p:spPr>
          <a:xfrm>
            <a:off x="8216595" y="828675"/>
            <a:ext cx="3584207"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CONVERSIÓN PROMEDIO</a:t>
            </a:r>
            <a:endParaRPr lang="en-US" sz="672" dirty="0"/>
          </a:p>
        </p:txBody>
      </p:sp>
      <p:sp>
        <p:nvSpPr>
          <p:cNvPr id="34" name="Text 31"/>
          <p:cNvSpPr/>
          <p:nvPr/>
        </p:nvSpPr>
        <p:spPr>
          <a:xfrm>
            <a:off x="504812" y="38012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Microseguro Activo</a:t>
            </a:r>
            <a:endParaRPr lang="en-US" sz="576" dirty="0"/>
          </a:p>
        </p:txBody>
      </p:sp>
      <p:sp>
        <p:nvSpPr>
          <p:cNvPr id="35" name="Text 32"/>
          <p:cNvSpPr/>
          <p:nvPr/>
        </p:nvSpPr>
        <p:spPr>
          <a:xfrm>
            <a:off x="504812" y="35345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Contrato Repetido</a:t>
            </a:r>
            <a:endParaRPr lang="en-US" sz="576" dirty="0"/>
          </a:p>
        </p:txBody>
      </p:sp>
      <p:sp>
        <p:nvSpPr>
          <p:cNvPr id="36" name="Text 33"/>
          <p:cNvSpPr/>
          <p:nvPr/>
        </p:nvSpPr>
        <p:spPr>
          <a:xfrm>
            <a:off x="6267293" y="3405955"/>
            <a:ext cx="1879325" cy="128588"/>
          </a:xfrm>
          <a:prstGeom prst="rect">
            <a:avLst/>
          </a:prstGeom>
          <a:noFill/>
          <a:ln/>
        </p:spPr>
        <p:txBody>
          <a:bodyPr wrap="square" lIns="19050" tIns="38100" rIns="38100" bIns="19050" rtlCol="0" anchor="ctr"/>
          <a:lstStyle/>
          <a:p>
            <a:pPr marL="0" indent="0" algn="l">
              <a:buNone/>
            </a:pPr>
            <a:r>
              <a:rPr lang="en-US" sz="552" dirty="0">
                <a:solidFill>
                  <a:srgbClr val="120180"/>
                </a:solidFill>
                <a:latin typeface="Raleway" pitchFamily="34" charset="0"/>
                <a:ea typeface="Raleway" pitchFamily="34" charset="-122"/>
                <a:cs typeface="Raleway" pitchFamily="34" charset="-120"/>
              </a:rPr>
              <a:t>CONTACTO EFECTIVO</a:t>
            </a:r>
            <a:endParaRPr lang="en-US" sz="552" dirty="0"/>
          </a:p>
        </p:txBody>
      </p:sp>
      <p:sp>
        <p:nvSpPr>
          <p:cNvPr id="37" name="Text 34"/>
          <p:cNvSpPr/>
          <p:nvPr/>
        </p:nvSpPr>
        <p:spPr>
          <a:xfrm>
            <a:off x="6267293" y="38012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Cuelga la llamada</a:t>
            </a:r>
            <a:endParaRPr lang="en-US" sz="552" dirty="0"/>
          </a:p>
        </p:txBody>
      </p:sp>
      <p:sp>
        <p:nvSpPr>
          <p:cNvPr id="38" name="Text 35"/>
          <p:cNvSpPr/>
          <p:nvPr/>
        </p:nvSpPr>
        <p:spPr>
          <a:xfrm>
            <a:off x="6267293" y="5134742"/>
            <a:ext cx="1879325" cy="128588"/>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Otros no contacto</a:t>
            </a:r>
            <a:endParaRPr lang="en-US" sz="552" dirty="0"/>
          </a:p>
        </p:txBody>
      </p:sp>
      <p:sp>
        <p:nvSpPr>
          <p:cNvPr id="39" name="Text 36"/>
          <p:cNvSpPr/>
          <p:nvPr/>
        </p:nvSpPr>
        <p:spPr>
          <a:xfrm>
            <a:off x="4374991" y="828675"/>
            <a:ext cx="3584053"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VENTAS TOTALES</a:t>
            </a:r>
            <a:endParaRPr lang="en-US" sz="672" dirty="0"/>
          </a:p>
        </p:txBody>
      </p:sp>
      <p:sp>
        <p:nvSpPr>
          <p:cNvPr id="40" name="Text 37"/>
          <p:cNvSpPr/>
          <p:nvPr/>
        </p:nvSpPr>
        <p:spPr>
          <a:xfrm>
            <a:off x="10281832" y="1796230"/>
            <a:ext cx="145701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Conv. / Ctto.</a:t>
            </a:r>
            <a:endParaRPr lang="en-US" sz="888" dirty="0"/>
          </a:p>
        </p:txBody>
      </p:sp>
      <p:sp>
        <p:nvSpPr>
          <p:cNvPr id="41" name="Text 38"/>
          <p:cNvSpPr/>
          <p:nvPr/>
        </p:nvSpPr>
        <p:spPr>
          <a:xfrm>
            <a:off x="6267293" y="3234505"/>
            <a:ext cx="1879325"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Tipificación</a:t>
            </a:r>
            <a:endParaRPr lang="en-US" sz="888" dirty="0"/>
          </a:p>
        </p:txBody>
      </p:sp>
      <p:sp>
        <p:nvSpPr>
          <p:cNvPr id="42" name="Text 39"/>
          <p:cNvSpPr/>
          <p:nvPr/>
        </p:nvSpPr>
        <p:spPr>
          <a:xfrm>
            <a:off x="6267293" y="4601342"/>
            <a:ext cx="1879325" cy="133350"/>
          </a:xfrm>
          <a:prstGeom prst="rect">
            <a:avLst/>
          </a:prstGeom>
          <a:noFill/>
          <a:ln/>
        </p:spPr>
        <p:txBody>
          <a:bodyPr wrap="square" lIns="19050" tIns="38100" rIns="38100" bIns="19050" rtlCol="0" anchor="ctr"/>
          <a:lstStyle/>
          <a:p>
            <a:pPr marL="0" indent="0" algn="l">
              <a:buNone/>
            </a:pPr>
            <a:r>
              <a:rPr lang="en-US" sz="552" dirty="0">
                <a:solidFill>
                  <a:srgbClr val="120180"/>
                </a:solidFill>
                <a:latin typeface="Raleway" pitchFamily="34" charset="0"/>
                <a:ea typeface="Raleway" pitchFamily="34" charset="-122"/>
                <a:cs typeface="Raleway" pitchFamily="34" charset="-120"/>
              </a:rPr>
              <a:t>NO CONTACTO</a:t>
            </a:r>
            <a:endParaRPr lang="en-US" sz="552" dirty="0"/>
          </a:p>
        </p:txBody>
      </p:sp>
      <p:sp>
        <p:nvSpPr>
          <p:cNvPr id="43" name="Text 40"/>
          <p:cNvSpPr/>
          <p:nvPr/>
        </p:nvSpPr>
        <p:spPr>
          <a:xfrm>
            <a:off x="6267293" y="48680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contesta</a:t>
            </a:r>
            <a:endParaRPr lang="en-US" sz="552" dirty="0"/>
          </a:p>
        </p:txBody>
      </p:sp>
      <p:sp>
        <p:nvSpPr>
          <p:cNvPr id="44" name="Text 41"/>
          <p:cNvSpPr/>
          <p:nvPr/>
        </p:nvSpPr>
        <p:spPr>
          <a:xfrm>
            <a:off x="2996877" y="1796230"/>
            <a:ext cx="1568454"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45" name="Text 42"/>
          <p:cNvSpPr/>
          <p:nvPr/>
        </p:nvSpPr>
        <p:spPr>
          <a:xfrm>
            <a:off x="8324195"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46" name="Text 43"/>
          <p:cNvSpPr/>
          <p:nvPr/>
        </p:nvSpPr>
        <p:spPr>
          <a:xfrm>
            <a:off x="1582896" y="1796230"/>
            <a:ext cx="145640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47" name="Text 44"/>
          <p:cNvSpPr/>
          <p:nvPr/>
        </p:nvSpPr>
        <p:spPr>
          <a:xfrm>
            <a:off x="4519648" y="1796230"/>
            <a:ext cx="1456707"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48" name="Text 45"/>
          <p:cNvSpPr/>
          <p:nvPr/>
        </p:nvSpPr>
        <p:spPr>
          <a:xfrm>
            <a:off x="495288" y="21057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9" name="Text 46"/>
          <p:cNvSpPr/>
          <p:nvPr/>
        </p:nvSpPr>
        <p:spPr>
          <a:xfrm>
            <a:off x="1582896" y="2820167"/>
            <a:ext cx="1456400"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114.696</a:t>
            </a:r>
            <a:endParaRPr lang="en-US" sz="636" dirty="0"/>
          </a:p>
        </p:txBody>
      </p:sp>
      <p:sp>
        <p:nvSpPr>
          <p:cNvPr id="50" name="Text 47"/>
          <p:cNvSpPr/>
          <p:nvPr/>
        </p:nvSpPr>
        <p:spPr>
          <a:xfrm>
            <a:off x="6257769" y="21057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51" name="Text 48"/>
          <p:cNvSpPr/>
          <p:nvPr/>
        </p:nvSpPr>
        <p:spPr>
          <a:xfrm>
            <a:off x="1582896" y="1967680"/>
            <a:ext cx="1456400"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14.772</a:t>
            </a:r>
            <a:endParaRPr lang="en-US" sz="636" dirty="0"/>
          </a:p>
        </p:txBody>
      </p:sp>
      <p:sp>
        <p:nvSpPr>
          <p:cNvPr id="52" name="Text 49"/>
          <p:cNvSpPr/>
          <p:nvPr/>
        </p:nvSpPr>
        <p:spPr>
          <a:xfrm>
            <a:off x="4519648" y="1967680"/>
            <a:ext cx="1456707"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57,4 %</a:t>
            </a:r>
            <a:endParaRPr lang="en-US" sz="636" dirty="0"/>
          </a:p>
        </p:txBody>
      </p:sp>
      <p:sp>
        <p:nvSpPr>
          <p:cNvPr id="53" name="Text 50"/>
          <p:cNvSpPr/>
          <p:nvPr/>
        </p:nvSpPr>
        <p:spPr>
          <a:xfrm>
            <a:off x="1582896" y="2105792"/>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19.573</a:t>
            </a:r>
            <a:endParaRPr lang="en-US" sz="636" dirty="0"/>
          </a:p>
        </p:txBody>
      </p:sp>
      <p:sp>
        <p:nvSpPr>
          <p:cNvPr id="54" name="Text 51"/>
          <p:cNvSpPr/>
          <p:nvPr/>
        </p:nvSpPr>
        <p:spPr>
          <a:xfrm>
            <a:off x="2996877" y="2105792"/>
            <a:ext cx="1568454"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11.134</a:t>
            </a:r>
            <a:endParaRPr lang="en-US" sz="636" dirty="0"/>
          </a:p>
        </p:txBody>
      </p:sp>
      <p:sp>
        <p:nvSpPr>
          <p:cNvPr id="55" name="Text 52"/>
          <p:cNvSpPr/>
          <p:nvPr/>
        </p:nvSpPr>
        <p:spPr>
          <a:xfrm>
            <a:off x="4519648" y="2105792"/>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56,9 %</a:t>
            </a:r>
            <a:endParaRPr lang="en-US" sz="636" dirty="0"/>
          </a:p>
        </p:txBody>
      </p:sp>
      <p:sp>
        <p:nvSpPr>
          <p:cNvPr id="56" name="Text 53"/>
          <p:cNvSpPr/>
          <p:nvPr/>
        </p:nvSpPr>
        <p:spPr>
          <a:xfrm>
            <a:off x="1582896" y="2248667"/>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21.421</a:t>
            </a:r>
            <a:endParaRPr lang="en-US" sz="636" dirty="0"/>
          </a:p>
        </p:txBody>
      </p:sp>
      <p:sp>
        <p:nvSpPr>
          <p:cNvPr id="57" name="Text 54"/>
          <p:cNvSpPr/>
          <p:nvPr/>
        </p:nvSpPr>
        <p:spPr>
          <a:xfrm>
            <a:off x="2996877" y="2248667"/>
            <a:ext cx="1568454"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13.486</a:t>
            </a:r>
            <a:endParaRPr lang="en-US" sz="636" dirty="0"/>
          </a:p>
        </p:txBody>
      </p:sp>
      <p:sp>
        <p:nvSpPr>
          <p:cNvPr id="58" name="Text 55"/>
          <p:cNvSpPr/>
          <p:nvPr/>
        </p:nvSpPr>
        <p:spPr>
          <a:xfrm>
            <a:off x="4519648" y="2248667"/>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63,0 %</a:t>
            </a:r>
            <a:endParaRPr lang="en-US" sz="636" dirty="0"/>
          </a:p>
        </p:txBody>
      </p:sp>
      <p:sp>
        <p:nvSpPr>
          <p:cNvPr id="59" name="Text 56"/>
          <p:cNvSpPr/>
          <p:nvPr/>
        </p:nvSpPr>
        <p:spPr>
          <a:xfrm>
            <a:off x="1582896" y="2391542"/>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19.096</a:t>
            </a:r>
            <a:endParaRPr lang="en-US" sz="636" dirty="0"/>
          </a:p>
        </p:txBody>
      </p:sp>
      <p:sp>
        <p:nvSpPr>
          <p:cNvPr id="60" name="Text 57"/>
          <p:cNvSpPr/>
          <p:nvPr/>
        </p:nvSpPr>
        <p:spPr>
          <a:xfrm>
            <a:off x="2996877" y="2391542"/>
            <a:ext cx="1568454"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10.792</a:t>
            </a:r>
            <a:endParaRPr lang="en-US" sz="636" dirty="0"/>
          </a:p>
        </p:txBody>
      </p:sp>
      <p:sp>
        <p:nvSpPr>
          <p:cNvPr id="61" name="Text 58"/>
          <p:cNvSpPr/>
          <p:nvPr/>
        </p:nvSpPr>
        <p:spPr>
          <a:xfrm>
            <a:off x="4519648" y="2391542"/>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56,5 %</a:t>
            </a:r>
            <a:endParaRPr lang="en-US" sz="636" dirty="0"/>
          </a:p>
        </p:txBody>
      </p:sp>
      <p:sp>
        <p:nvSpPr>
          <p:cNvPr id="62" name="Text 59"/>
          <p:cNvSpPr/>
          <p:nvPr/>
        </p:nvSpPr>
        <p:spPr>
          <a:xfrm>
            <a:off x="1582896" y="2534417"/>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20.067</a:t>
            </a:r>
            <a:endParaRPr lang="en-US" sz="636" dirty="0"/>
          </a:p>
        </p:txBody>
      </p:sp>
      <p:sp>
        <p:nvSpPr>
          <p:cNvPr id="63" name="Text 60"/>
          <p:cNvSpPr/>
          <p:nvPr/>
        </p:nvSpPr>
        <p:spPr>
          <a:xfrm>
            <a:off x="2996877" y="2534417"/>
            <a:ext cx="1568454"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13.166</a:t>
            </a:r>
            <a:endParaRPr lang="en-US" sz="636" dirty="0"/>
          </a:p>
        </p:txBody>
      </p:sp>
      <p:sp>
        <p:nvSpPr>
          <p:cNvPr id="64" name="Text 61"/>
          <p:cNvSpPr/>
          <p:nvPr/>
        </p:nvSpPr>
        <p:spPr>
          <a:xfrm>
            <a:off x="4519648" y="2534417"/>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65,6 %</a:t>
            </a:r>
            <a:endParaRPr lang="en-US" sz="636" dirty="0"/>
          </a:p>
        </p:txBody>
      </p:sp>
      <p:sp>
        <p:nvSpPr>
          <p:cNvPr id="65" name="Text 62"/>
          <p:cNvSpPr/>
          <p:nvPr/>
        </p:nvSpPr>
        <p:spPr>
          <a:xfrm>
            <a:off x="1582896" y="2677292"/>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19.767</a:t>
            </a:r>
            <a:endParaRPr lang="en-US" sz="636" dirty="0"/>
          </a:p>
        </p:txBody>
      </p:sp>
      <p:sp>
        <p:nvSpPr>
          <p:cNvPr id="66" name="Text 63"/>
          <p:cNvSpPr/>
          <p:nvPr/>
        </p:nvSpPr>
        <p:spPr>
          <a:xfrm>
            <a:off x="2996877" y="2677292"/>
            <a:ext cx="1568454"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13.203</a:t>
            </a:r>
            <a:endParaRPr lang="en-US" sz="636" dirty="0"/>
          </a:p>
        </p:txBody>
      </p:sp>
      <p:sp>
        <p:nvSpPr>
          <p:cNvPr id="67" name="Text 64"/>
          <p:cNvSpPr/>
          <p:nvPr/>
        </p:nvSpPr>
        <p:spPr>
          <a:xfrm>
            <a:off x="4519648" y="2677292"/>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66,8 %</a:t>
            </a:r>
            <a:endParaRPr lang="en-US" sz="636" dirty="0"/>
          </a:p>
        </p:txBody>
      </p:sp>
      <p:sp>
        <p:nvSpPr>
          <p:cNvPr id="68" name="Text 65"/>
          <p:cNvSpPr/>
          <p:nvPr/>
        </p:nvSpPr>
        <p:spPr>
          <a:xfrm>
            <a:off x="2996877" y="2820167"/>
            <a:ext cx="1568454"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70.266</a:t>
            </a:r>
            <a:endParaRPr lang="en-US" sz="636" dirty="0"/>
          </a:p>
        </p:txBody>
      </p:sp>
      <p:sp>
        <p:nvSpPr>
          <p:cNvPr id="69" name="Text 66"/>
          <p:cNvSpPr/>
          <p:nvPr/>
        </p:nvSpPr>
        <p:spPr>
          <a:xfrm>
            <a:off x="4519648" y="2820167"/>
            <a:ext cx="1456707"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61,3 %</a:t>
            </a:r>
            <a:endParaRPr lang="en-US" sz="636" dirty="0"/>
          </a:p>
        </p:txBody>
      </p:sp>
      <p:sp>
        <p:nvSpPr>
          <p:cNvPr id="70" name="Text 67"/>
          <p:cNvSpPr/>
          <p:nvPr/>
        </p:nvSpPr>
        <p:spPr>
          <a:xfrm>
            <a:off x="504812" y="3234505"/>
            <a:ext cx="1879325"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Motivo</a:t>
            </a:r>
            <a:endParaRPr lang="en-US" sz="888" dirty="0"/>
          </a:p>
        </p:txBody>
      </p:sp>
      <p:sp>
        <p:nvSpPr>
          <p:cNvPr id="71" name="Text 68"/>
          <p:cNvSpPr/>
          <p:nvPr/>
        </p:nvSpPr>
        <p:spPr>
          <a:xfrm>
            <a:off x="5226118" y="3405955"/>
            <a:ext cx="719233" cy="128588"/>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35.758</a:t>
            </a:r>
            <a:endParaRPr lang="en-US" sz="576" dirty="0"/>
          </a:p>
        </p:txBody>
      </p:sp>
      <p:sp>
        <p:nvSpPr>
          <p:cNvPr id="72" name="Text 69"/>
          <p:cNvSpPr/>
          <p:nvPr/>
        </p:nvSpPr>
        <p:spPr>
          <a:xfrm>
            <a:off x="5226118" y="353454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12.760</a:t>
            </a:r>
            <a:endParaRPr lang="en-US" sz="576" dirty="0"/>
          </a:p>
        </p:txBody>
      </p:sp>
      <p:sp>
        <p:nvSpPr>
          <p:cNvPr id="73" name="Text 70"/>
          <p:cNvSpPr/>
          <p:nvPr/>
        </p:nvSpPr>
        <p:spPr>
          <a:xfrm>
            <a:off x="2812186" y="460134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11.134</a:t>
            </a:r>
            <a:endParaRPr lang="en-US" sz="576" dirty="0"/>
          </a:p>
        </p:txBody>
      </p:sp>
      <p:sp>
        <p:nvSpPr>
          <p:cNvPr id="74" name="Text 71"/>
          <p:cNvSpPr/>
          <p:nvPr/>
        </p:nvSpPr>
        <p:spPr>
          <a:xfrm>
            <a:off x="3294972" y="460134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13.486</a:t>
            </a:r>
            <a:endParaRPr lang="en-US" sz="576" dirty="0"/>
          </a:p>
        </p:txBody>
      </p:sp>
      <p:sp>
        <p:nvSpPr>
          <p:cNvPr id="75" name="Text 72"/>
          <p:cNvSpPr/>
          <p:nvPr/>
        </p:nvSpPr>
        <p:spPr>
          <a:xfrm>
            <a:off x="3777759" y="460134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10.792</a:t>
            </a:r>
            <a:endParaRPr lang="en-US" sz="576" dirty="0"/>
          </a:p>
        </p:txBody>
      </p:sp>
      <p:sp>
        <p:nvSpPr>
          <p:cNvPr id="76" name="Text 73"/>
          <p:cNvSpPr/>
          <p:nvPr/>
        </p:nvSpPr>
        <p:spPr>
          <a:xfrm>
            <a:off x="4260545" y="460134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13.166</a:t>
            </a:r>
            <a:endParaRPr lang="en-US" sz="576" dirty="0"/>
          </a:p>
        </p:txBody>
      </p:sp>
      <p:sp>
        <p:nvSpPr>
          <p:cNvPr id="77" name="Text 74"/>
          <p:cNvSpPr/>
          <p:nvPr/>
        </p:nvSpPr>
        <p:spPr>
          <a:xfrm>
            <a:off x="4743331" y="460134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13.203</a:t>
            </a:r>
            <a:endParaRPr lang="en-US" sz="576" dirty="0"/>
          </a:p>
        </p:txBody>
      </p:sp>
      <p:sp>
        <p:nvSpPr>
          <p:cNvPr id="78" name="Text 75"/>
          <p:cNvSpPr/>
          <p:nvPr/>
        </p:nvSpPr>
        <p:spPr>
          <a:xfrm>
            <a:off x="5226118" y="4601342"/>
            <a:ext cx="719233"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70.266</a:t>
            </a:r>
            <a:endParaRPr lang="en-US" sz="576" dirty="0"/>
          </a:p>
        </p:txBody>
      </p:sp>
      <p:sp>
        <p:nvSpPr>
          <p:cNvPr id="79" name="Text 76"/>
          <p:cNvSpPr/>
          <p:nvPr/>
        </p:nvSpPr>
        <p:spPr>
          <a:xfrm>
            <a:off x="9303014"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80" name="Text 77"/>
          <p:cNvSpPr/>
          <p:nvPr/>
        </p:nvSpPr>
        <p:spPr>
          <a:xfrm>
            <a:off x="8324195" y="1967680"/>
            <a:ext cx="100818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81,5 %</a:t>
            </a:r>
            <a:endParaRPr lang="en-US" sz="636" dirty="0"/>
          </a:p>
        </p:txBody>
      </p:sp>
      <p:sp>
        <p:nvSpPr>
          <p:cNvPr id="81" name="Text 78"/>
          <p:cNvSpPr/>
          <p:nvPr/>
        </p:nvSpPr>
        <p:spPr>
          <a:xfrm>
            <a:off x="10281832" y="1967680"/>
            <a:ext cx="145701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23,6 %</a:t>
            </a:r>
            <a:endParaRPr lang="en-US" sz="636" dirty="0"/>
          </a:p>
        </p:txBody>
      </p:sp>
      <p:sp>
        <p:nvSpPr>
          <p:cNvPr id="82" name="Text 79"/>
          <p:cNvSpPr/>
          <p:nvPr/>
        </p:nvSpPr>
        <p:spPr>
          <a:xfrm>
            <a:off x="8324195" y="210579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79,0 %</a:t>
            </a:r>
            <a:endParaRPr lang="en-US" sz="636" dirty="0"/>
          </a:p>
        </p:txBody>
      </p:sp>
      <p:sp>
        <p:nvSpPr>
          <p:cNvPr id="83" name="Text 80"/>
          <p:cNvSpPr/>
          <p:nvPr/>
        </p:nvSpPr>
        <p:spPr>
          <a:xfrm>
            <a:off x="10281832" y="2105792"/>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21,5 %</a:t>
            </a:r>
            <a:endParaRPr lang="en-US" sz="636" dirty="0"/>
          </a:p>
        </p:txBody>
      </p:sp>
      <p:sp>
        <p:nvSpPr>
          <p:cNvPr id="84" name="Text 81"/>
          <p:cNvSpPr/>
          <p:nvPr/>
        </p:nvSpPr>
        <p:spPr>
          <a:xfrm>
            <a:off x="8324195" y="2248667"/>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78,2 %</a:t>
            </a:r>
            <a:endParaRPr lang="en-US" sz="636" dirty="0"/>
          </a:p>
        </p:txBody>
      </p:sp>
      <p:sp>
        <p:nvSpPr>
          <p:cNvPr id="85" name="Text 82"/>
          <p:cNvSpPr/>
          <p:nvPr/>
        </p:nvSpPr>
        <p:spPr>
          <a:xfrm>
            <a:off x="10281832" y="2248667"/>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18,0 %</a:t>
            </a:r>
            <a:endParaRPr lang="en-US" sz="636" dirty="0"/>
          </a:p>
        </p:txBody>
      </p:sp>
      <p:sp>
        <p:nvSpPr>
          <p:cNvPr id="86" name="Text 83"/>
          <p:cNvSpPr/>
          <p:nvPr/>
        </p:nvSpPr>
        <p:spPr>
          <a:xfrm>
            <a:off x="8324195" y="239154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76,1 %</a:t>
            </a:r>
            <a:endParaRPr lang="en-US" sz="636" dirty="0"/>
          </a:p>
        </p:txBody>
      </p:sp>
      <p:sp>
        <p:nvSpPr>
          <p:cNvPr id="87" name="Text 84"/>
          <p:cNvSpPr/>
          <p:nvPr/>
        </p:nvSpPr>
        <p:spPr>
          <a:xfrm>
            <a:off x="10281832" y="2391542"/>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17,2 %</a:t>
            </a:r>
            <a:endParaRPr lang="en-US" sz="636" dirty="0"/>
          </a:p>
        </p:txBody>
      </p:sp>
      <p:sp>
        <p:nvSpPr>
          <p:cNvPr id="88" name="Text 85"/>
          <p:cNvSpPr/>
          <p:nvPr/>
        </p:nvSpPr>
        <p:spPr>
          <a:xfrm>
            <a:off x="8324195" y="2534417"/>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83,1 %</a:t>
            </a:r>
            <a:endParaRPr lang="en-US" sz="636" dirty="0"/>
          </a:p>
        </p:txBody>
      </p:sp>
      <p:sp>
        <p:nvSpPr>
          <p:cNvPr id="89" name="Text 86"/>
          <p:cNvSpPr/>
          <p:nvPr/>
        </p:nvSpPr>
        <p:spPr>
          <a:xfrm>
            <a:off x="10281832" y="2534417"/>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18,6 %</a:t>
            </a:r>
            <a:endParaRPr lang="en-US" sz="636" dirty="0"/>
          </a:p>
        </p:txBody>
      </p:sp>
      <p:sp>
        <p:nvSpPr>
          <p:cNvPr id="90" name="Text 87"/>
          <p:cNvSpPr/>
          <p:nvPr/>
        </p:nvSpPr>
        <p:spPr>
          <a:xfrm>
            <a:off x="8324195" y="267729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79,9 %</a:t>
            </a:r>
            <a:endParaRPr lang="en-US" sz="636" dirty="0"/>
          </a:p>
        </p:txBody>
      </p:sp>
      <p:sp>
        <p:nvSpPr>
          <p:cNvPr id="91" name="Text 88"/>
          <p:cNvSpPr/>
          <p:nvPr/>
        </p:nvSpPr>
        <p:spPr>
          <a:xfrm>
            <a:off x="10281832" y="2677292"/>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18,4 %</a:t>
            </a:r>
            <a:endParaRPr lang="en-US" sz="636" dirty="0"/>
          </a:p>
        </p:txBody>
      </p:sp>
      <p:sp>
        <p:nvSpPr>
          <p:cNvPr id="92" name="Text 89"/>
          <p:cNvSpPr/>
          <p:nvPr/>
        </p:nvSpPr>
        <p:spPr>
          <a:xfrm>
            <a:off x="7345377"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44.430</a:t>
            </a:r>
            <a:endParaRPr lang="en-US" sz="636" dirty="0"/>
          </a:p>
        </p:txBody>
      </p:sp>
      <p:sp>
        <p:nvSpPr>
          <p:cNvPr id="93" name="Text 90"/>
          <p:cNvSpPr/>
          <p:nvPr/>
        </p:nvSpPr>
        <p:spPr>
          <a:xfrm>
            <a:off x="8324195"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79,4 %</a:t>
            </a:r>
            <a:endParaRPr lang="en-US" sz="636" dirty="0"/>
          </a:p>
        </p:txBody>
      </p:sp>
      <p:sp>
        <p:nvSpPr>
          <p:cNvPr id="94" name="Text 91"/>
          <p:cNvSpPr/>
          <p:nvPr/>
        </p:nvSpPr>
        <p:spPr>
          <a:xfrm>
            <a:off x="10281832" y="2820167"/>
            <a:ext cx="145701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19,5 %</a:t>
            </a:r>
            <a:endParaRPr lang="en-US" sz="636" dirty="0"/>
          </a:p>
        </p:txBody>
      </p:sp>
      <p:sp>
        <p:nvSpPr>
          <p:cNvPr id="95" name="Text 92"/>
          <p:cNvSpPr/>
          <p:nvPr/>
        </p:nvSpPr>
        <p:spPr>
          <a:xfrm>
            <a:off x="10988599" y="3405955"/>
            <a:ext cx="719233"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38.250</a:t>
            </a:r>
            <a:endParaRPr lang="en-US" sz="552" dirty="0"/>
          </a:p>
        </p:txBody>
      </p:sp>
      <p:sp>
        <p:nvSpPr>
          <p:cNvPr id="96" name="Text 93"/>
          <p:cNvSpPr/>
          <p:nvPr/>
        </p:nvSpPr>
        <p:spPr>
          <a:xfrm>
            <a:off x="10988599" y="36678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14.908</a:t>
            </a:r>
            <a:endParaRPr lang="en-US" sz="552" dirty="0"/>
          </a:p>
        </p:txBody>
      </p:sp>
      <p:sp>
        <p:nvSpPr>
          <p:cNvPr id="97" name="Text 94"/>
          <p:cNvSpPr/>
          <p:nvPr/>
        </p:nvSpPr>
        <p:spPr>
          <a:xfrm>
            <a:off x="10988599" y="4601342"/>
            <a:ext cx="719233"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10.362</a:t>
            </a:r>
            <a:endParaRPr lang="en-US" sz="552" dirty="0"/>
          </a:p>
        </p:txBody>
      </p:sp>
      <p:sp>
        <p:nvSpPr>
          <p:cNvPr id="98" name="Text 95"/>
          <p:cNvSpPr/>
          <p:nvPr/>
        </p:nvSpPr>
        <p:spPr>
          <a:xfrm>
            <a:off x="8216595" y="971550"/>
            <a:ext cx="3584207"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19,5 %</a:t>
            </a:r>
            <a:endParaRPr lang="en-US" sz="1380" dirty="0"/>
          </a:p>
        </p:txBody>
      </p:sp>
      <p:sp>
        <p:nvSpPr>
          <p:cNvPr id="99" name="Text 96"/>
          <p:cNvSpPr/>
          <p:nvPr/>
        </p:nvSpPr>
        <p:spPr>
          <a:xfrm>
            <a:off x="495288" y="1967680"/>
            <a:ext cx="1120237" cy="138113"/>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100" name="Text 97"/>
          <p:cNvSpPr/>
          <p:nvPr/>
        </p:nvSpPr>
        <p:spPr>
          <a:xfrm>
            <a:off x="2996877" y="1967680"/>
            <a:ext cx="1568454"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8.485</a:t>
            </a:r>
            <a:endParaRPr lang="en-US" sz="636" dirty="0"/>
          </a:p>
        </p:txBody>
      </p:sp>
      <p:sp>
        <p:nvSpPr>
          <p:cNvPr id="101" name="Text 98"/>
          <p:cNvSpPr/>
          <p:nvPr/>
        </p:nvSpPr>
        <p:spPr>
          <a:xfrm>
            <a:off x="495288" y="224866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102" name="Text 99"/>
          <p:cNvSpPr/>
          <p:nvPr/>
        </p:nvSpPr>
        <p:spPr>
          <a:xfrm>
            <a:off x="495288" y="239154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103" name="Text 100"/>
          <p:cNvSpPr/>
          <p:nvPr/>
        </p:nvSpPr>
        <p:spPr>
          <a:xfrm>
            <a:off x="495288" y="26772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104" name="Text 101"/>
          <p:cNvSpPr/>
          <p:nvPr/>
        </p:nvSpPr>
        <p:spPr>
          <a:xfrm>
            <a:off x="495288" y="2820167"/>
            <a:ext cx="1120237" cy="138113"/>
          </a:xfrm>
          <a:prstGeom prst="rect">
            <a:avLst/>
          </a:prstGeom>
          <a:noFill/>
          <a:ln/>
        </p:spPr>
        <p:txBody>
          <a:bodyPr wrap="square" lIns="19050" tIns="38100" rIns="38100" bIns="19050" rtlCol="0" anchor="ctr"/>
          <a:lstStyle/>
          <a:p>
            <a:pPr marL="0" indent="0" algn="l">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105" name="Text 102"/>
          <p:cNvSpPr/>
          <p:nvPr/>
        </p:nvSpPr>
        <p:spPr>
          <a:xfrm>
            <a:off x="5226118" y="3234505"/>
            <a:ext cx="71923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106" name="Text 103"/>
          <p:cNvSpPr/>
          <p:nvPr/>
        </p:nvSpPr>
        <p:spPr>
          <a:xfrm>
            <a:off x="2329400"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4.318</a:t>
            </a:r>
            <a:endParaRPr lang="en-US" sz="576" dirty="0"/>
          </a:p>
        </p:txBody>
      </p:sp>
      <p:sp>
        <p:nvSpPr>
          <p:cNvPr id="107" name="Text 104"/>
          <p:cNvSpPr/>
          <p:nvPr/>
        </p:nvSpPr>
        <p:spPr>
          <a:xfrm>
            <a:off x="2812186"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5.666</a:t>
            </a:r>
            <a:endParaRPr lang="en-US" sz="576" dirty="0"/>
          </a:p>
        </p:txBody>
      </p:sp>
      <p:sp>
        <p:nvSpPr>
          <p:cNvPr id="108" name="Text 105"/>
          <p:cNvSpPr/>
          <p:nvPr/>
        </p:nvSpPr>
        <p:spPr>
          <a:xfrm>
            <a:off x="3294972"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6.863</a:t>
            </a:r>
            <a:endParaRPr lang="en-US" sz="576" dirty="0"/>
          </a:p>
        </p:txBody>
      </p:sp>
      <p:sp>
        <p:nvSpPr>
          <p:cNvPr id="109" name="Text 106"/>
          <p:cNvSpPr/>
          <p:nvPr/>
        </p:nvSpPr>
        <p:spPr>
          <a:xfrm>
            <a:off x="3777759"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5.492</a:t>
            </a:r>
            <a:endParaRPr lang="en-US" sz="576" dirty="0"/>
          </a:p>
        </p:txBody>
      </p:sp>
      <p:sp>
        <p:nvSpPr>
          <p:cNvPr id="110" name="Text 107"/>
          <p:cNvSpPr/>
          <p:nvPr/>
        </p:nvSpPr>
        <p:spPr>
          <a:xfrm>
            <a:off x="4260545"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6.700</a:t>
            </a:r>
            <a:endParaRPr lang="en-US" sz="576" dirty="0"/>
          </a:p>
        </p:txBody>
      </p:sp>
      <p:sp>
        <p:nvSpPr>
          <p:cNvPr id="111" name="Text 108"/>
          <p:cNvSpPr/>
          <p:nvPr/>
        </p:nvSpPr>
        <p:spPr>
          <a:xfrm>
            <a:off x="4743331"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6.719</a:t>
            </a:r>
            <a:endParaRPr lang="en-US" sz="576" dirty="0"/>
          </a:p>
        </p:txBody>
      </p:sp>
      <p:sp>
        <p:nvSpPr>
          <p:cNvPr id="112" name="Text 109"/>
          <p:cNvSpPr/>
          <p:nvPr/>
        </p:nvSpPr>
        <p:spPr>
          <a:xfrm>
            <a:off x="2329400"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1.541</a:t>
            </a:r>
            <a:endParaRPr lang="en-US" sz="576" dirty="0"/>
          </a:p>
        </p:txBody>
      </p:sp>
      <p:sp>
        <p:nvSpPr>
          <p:cNvPr id="113" name="Text 110"/>
          <p:cNvSpPr/>
          <p:nvPr/>
        </p:nvSpPr>
        <p:spPr>
          <a:xfrm>
            <a:off x="2812186"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2.022</a:t>
            </a:r>
            <a:endParaRPr lang="en-US" sz="576" dirty="0"/>
          </a:p>
        </p:txBody>
      </p:sp>
      <p:sp>
        <p:nvSpPr>
          <p:cNvPr id="114" name="Text 111"/>
          <p:cNvSpPr/>
          <p:nvPr/>
        </p:nvSpPr>
        <p:spPr>
          <a:xfrm>
            <a:off x="3294972"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2.448</a:t>
            </a:r>
            <a:endParaRPr lang="en-US" sz="576" dirty="0"/>
          </a:p>
        </p:txBody>
      </p:sp>
      <p:sp>
        <p:nvSpPr>
          <p:cNvPr id="115" name="Text 112"/>
          <p:cNvSpPr/>
          <p:nvPr/>
        </p:nvSpPr>
        <p:spPr>
          <a:xfrm>
            <a:off x="3777759"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1.960</a:t>
            </a:r>
            <a:endParaRPr lang="en-US" sz="576" dirty="0"/>
          </a:p>
        </p:txBody>
      </p:sp>
      <p:sp>
        <p:nvSpPr>
          <p:cNvPr id="116" name="Text 113"/>
          <p:cNvSpPr/>
          <p:nvPr/>
        </p:nvSpPr>
        <p:spPr>
          <a:xfrm>
            <a:off x="4260545"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2.391</a:t>
            </a:r>
            <a:endParaRPr lang="en-US" sz="576" dirty="0"/>
          </a:p>
        </p:txBody>
      </p:sp>
      <p:sp>
        <p:nvSpPr>
          <p:cNvPr id="117" name="Text 114"/>
          <p:cNvSpPr/>
          <p:nvPr/>
        </p:nvSpPr>
        <p:spPr>
          <a:xfrm>
            <a:off x="4743331"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2.398</a:t>
            </a:r>
            <a:endParaRPr lang="en-US" sz="576" dirty="0"/>
          </a:p>
        </p:txBody>
      </p:sp>
      <p:sp>
        <p:nvSpPr>
          <p:cNvPr id="118" name="Text 115"/>
          <p:cNvSpPr/>
          <p:nvPr/>
        </p:nvSpPr>
        <p:spPr>
          <a:xfrm>
            <a:off x="2812186"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1.113</a:t>
            </a:r>
            <a:endParaRPr lang="en-US" sz="576" dirty="0"/>
          </a:p>
        </p:txBody>
      </p:sp>
      <p:sp>
        <p:nvSpPr>
          <p:cNvPr id="119" name="Text 116"/>
          <p:cNvSpPr/>
          <p:nvPr/>
        </p:nvSpPr>
        <p:spPr>
          <a:xfrm>
            <a:off x="3294972"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1.349</a:t>
            </a:r>
            <a:endParaRPr lang="en-US" sz="576" dirty="0"/>
          </a:p>
        </p:txBody>
      </p:sp>
      <p:sp>
        <p:nvSpPr>
          <p:cNvPr id="120" name="Text 117"/>
          <p:cNvSpPr/>
          <p:nvPr/>
        </p:nvSpPr>
        <p:spPr>
          <a:xfrm>
            <a:off x="3777759"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1.079</a:t>
            </a:r>
            <a:endParaRPr lang="en-US" sz="576" dirty="0"/>
          </a:p>
        </p:txBody>
      </p:sp>
      <p:sp>
        <p:nvSpPr>
          <p:cNvPr id="121" name="Text 118"/>
          <p:cNvSpPr/>
          <p:nvPr/>
        </p:nvSpPr>
        <p:spPr>
          <a:xfrm>
            <a:off x="4260545"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1.317</a:t>
            </a:r>
            <a:endParaRPr lang="en-US" sz="576" dirty="0"/>
          </a:p>
        </p:txBody>
      </p:sp>
      <p:sp>
        <p:nvSpPr>
          <p:cNvPr id="122" name="Text 119"/>
          <p:cNvSpPr/>
          <p:nvPr/>
        </p:nvSpPr>
        <p:spPr>
          <a:xfrm>
            <a:off x="4743331"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1.320</a:t>
            </a:r>
            <a:endParaRPr lang="en-US" sz="576" dirty="0"/>
          </a:p>
        </p:txBody>
      </p:sp>
      <p:sp>
        <p:nvSpPr>
          <p:cNvPr id="123" name="Text 120"/>
          <p:cNvSpPr/>
          <p:nvPr/>
        </p:nvSpPr>
        <p:spPr>
          <a:xfrm>
            <a:off x="5226118" y="366789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7.027</a:t>
            </a:r>
            <a:endParaRPr lang="en-US" sz="576" dirty="0"/>
          </a:p>
        </p:txBody>
      </p:sp>
      <p:sp>
        <p:nvSpPr>
          <p:cNvPr id="124" name="Text 121"/>
          <p:cNvSpPr/>
          <p:nvPr/>
        </p:nvSpPr>
        <p:spPr>
          <a:xfrm>
            <a:off x="3294972"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1.135</a:t>
            </a:r>
            <a:endParaRPr lang="en-US" sz="576" dirty="0"/>
          </a:p>
        </p:txBody>
      </p:sp>
      <p:sp>
        <p:nvSpPr>
          <p:cNvPr id="125" name="Text 122"/>
          <p:cNvSpPr/>
          <p:nvPr/>
        </p:nvSpPr>
        <p:spPr>
          <a:xfrm>
            <a:off x="4260545"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1.109</a:t>
            </a:r>
            <a:endParaRPr lang="en-US" sz="576" dirty="0"/>
          </a:p>
        </p:txBody>
      </p:sp>
      <p:sp>
        <p:nvSpPr>
          <p:cNvPr id="126" name="Text 123"/>
          <p:cNvSpPr/>
          <p:nvPr/>
        </p:nvSpPr>
        <p:spPr>
          <a:xfrm>
            <a:off x="4743331"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1.112</a:t>
            </a:r>
            <a:endParaRPr lang="en-US" sz="576" dirty="0"/>
          </a:p>
        </p:txBody>
      </p:sp>
      <p:sp>
        <p:nvSpPr>
          <p:cNvPr id="127" name="Text 124"/>
          <p:cNvSpPr/>
          <p:nvPr/>
        </p:nvSpPr>
        <p:spPr>
          <a:xfrm>
            <a:off x="5226118" y="380124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5.916</a:t>
            </a:r>
            <a:endParaRPr lang="en-US" sz="576" dirty="0"/>
          </a:p>
        </p:txBody>
      </p:sp>
      <p:sp>
        <p:nvSpPr>
          <p:cNvPr id="128" name="Text 125"/>
          <p:cNvSpPr/>
          <p:nvPr/>
        </p:nvSpPr>
        <p:spPr>
          <a:xfrm>
            <a:off x="5226118" y="393459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4.624</a:t>
            </a:r>
            <a:endParaRPr lang="en-US" sz="576" dirty="0"/>
          </a:p>
        </p:txBody>
      </p:sp>
      <p:sp>
        <p:nvSpPr>
          <p:cNvPr id="129" name="Text 126"/>
          <p:cNvSpPr/>
          <p:nvPr/>
        </p:nvSpPr>
        <p:spPr>
          <a:xfrm>
            <a:off x="5226118" y="406794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1.912</a:t>
            </a:r>
            <a:endParaRPr lang="en-US" sz="576" dirty="0"/>
          </a:p>
        </p:txBody>
      </p:sp>
      <p:sp>
        <p:nvSpPr>
          <p:cNvPr id="130" name="Text 127"/>
          <p:cNvSpPr/>
          <p:nvPr/>
        </p:nvSpPr>
        <p:spPr>
          <a:xfrm>
            <a:off x="5226118" y="420129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1.070</a:t>
            </a:r>
            <a:endParaRPr lang="en-US" sz="576" dirty="0"/>
          </a:p>
        </p:txBody>
      </p:sp>
      <p:sp>
        <p:nvSpPr>
          <p:cNvPr id="131" name="Text 128"/>
          <p:cNvSpPr/>
          <p:nvPr/>
        </p:nvSpPr>
        <p:spPr>
          <a:xfrm>
            <a:off x="504812" y="4601342"/>
            <a:ext cx="1879325" cy="128588"/>
          </a:xfrm>
          <a:prstGeom prst="rect">
            <a:avLst/>
          </a:prstGeom>
          <a:noFill/>
          <a:ln/>
        </p:spPr>
        <p:txBody>
          <a:bodyPr wrap="square" lIns="19050" tIns="38100" rIns="38100" bIns="19050" rtlCol="0" anchor="ctr"/>
          <a:lstStyle/>
          <a:p>
            <a:pPr marL="0" indent="0" algn="l">
              <a:buNone/>
            </a:pPr>
            <a:r>
              <a:rPr lang="en-US" sz="576" b="1" dirty="0">
                <a:solidFill>
                  <a:srgbClr val="120180"/>
                </a:solidFill>
                <a:latin typeface="Raleway" pitchFamily="34" charset="0"/>
                <a:ea typeface="Raleway" pitchFamily="34" charset="-122"/>
                <a:cs typeface="Raleway" pitchFamily="34" charset="-120"/>
              </a:rPr>
              <a:t>Total</a:t>
            </a:r>
            <a:endParaRPr lang="en-US" sz="576" dirty="0"/>
          </a:p>
        </p:txBody>
      </p:sp>
      <p:sp>
        <p:nvSpPr>
          <p:cNvPr id="132" name="Text 129"/>
          <p:cNvSpPr/>
          <p:nvPr/>
        </p:nvSpPr>
        <p:spPr>
          <a:xfrm>
            <a:off x="2329400" y="460134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8.485</a:t>
            </a:r>
            <a:endParaRPr lang="en-US" sz="576" dirty="0"/>
          </a:p>
        </p:txBody>
      </p:sp>
      <p:sp>
        <p:nvSpPr>
          <p:cNvPr id="133" name="Text 130"/>
          <p:cNvSpPr/>
          <p:nvPr/>
        </p:nvSpPr>
        <p:spPr>
          <a:xfrm>
            <a:off x="7345377"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134" name="Text 131"/>
          <p:cNvSpPr/>
          <p:nvPr/>
        </p:nvSpPr>
        <p:spPr>
          <a:xfrm>
            <a:off x="6257769" y="1967680"/>
            <a:ext cx="1120237" cy="138113"/>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135" name="Text 132"/>
          <p:cNvSpPr/>
          <p:nvPr/>
        </p:nvSpPr>
        <p:spPr>
          <a:xfrm>
            <a:off x="7345377" y="1967680"/>
            <a:ext cx="100818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6.287</a:t>
            </a:r>
            <a:endParaRPr lang="en-US" sz="636" dirty="0"/>
          </a:p>
        </p:txBody>
      </p:sp>
      <p:sp>
        <p:nvSpPr>
          <p:cNvPr id="136" name="Text 133"/>
          <p:cNvSpPr/>
          <p:nvPr/>
        </p:nvSpPr>
        <p:spPr>
          <a:xfrm>
            <a:off x="9303014" y="1967680"/>
            <a:ext cx="1008183" cy="138113"/>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1.208</a:t>
            </a:r>
            <a:endParaRPr lang="en-US" sz="636" dirty="0"/>
          </a:p>
        </p:txBody>
      </p:sp>
      <p:sp>
        <p:nvSpPr>
          <p:cNvPr id="137" name="Text 134"/>
          <p:cNvSpPr/>
          <p:nvPr/>
        </p:nvSpPr>
        <p:spPr>
          <a:xfrm>
            <a:off x="7345377" y="210579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8.439</a:t>
            </a:r>
            <a:endParaRPr lang="en-US" sz="636" dirty="0"/>
          </a:p>
        </p:txBody>
      </p:sp>
      <p:sp>
        <p:nvSpPr>
          <p:cNvPr id="138" name="Text 135"/>
          <p:cNvSpPr/>
          <p:nvPr/>
        </p:nvSpPr>
        <p:spPr>
          <a:xfrm>
            <a:off x="9303014" y="2105792"/>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1.435</a:t>
            </a:r>
            <a:endParaRPr lang="en-US" sz="636" dirty="0"/>
          </a:p>
        </p:txBody>
      </p:sp>
      <p:sp>
        <p:nvSpPr>
          <p:cNvPr id="139" name="Text 136"/>
          <p:cNvSpPr/>
          <p:nvPr/>
        </p:nvSpPr>
        <p:spPr>
          <a:xfrm>
            <a:off x="6257769" y="224866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140" name="Text 137"/>
          <p:cNvSpPr/>
          <p:nvPr/>
        </p:nvSpPr>
        <p:spPr>
          <a:xfrm>
            <a:off x="7345377" y="2248667"/>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7.935</a:t>
            </a:r>
            <a:endParaRPr lang="en-US" sz="636" dirty="0"/>
          </a:p>
        </p:txBody>
      </p:sp>
      <p:sp>
        <p:nvSpPr>
          <p:cNvPr id="141" name="Text 138"/>
          <p:cNvSpPr/>
          <p:nvPr/>
        </p:nvSpPr>
        <p:spPr>
          <a:xfrm>
            <a:off x="9303014" y="2248667"/>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1.119</a:t>
            </a:r>
            <a:endParaRPr lang="en-US" sz="636" dirty="0"/>
          </a:p>
        </p:txBody>
      </p:sp>
      <p:sp>
        <p:nvSpPr>
          <p:cNvPr id="142" name="Text 139"/>
          <p:cNvSpPr/>
          <p:nvPr/>
        </p:nvSpPr>
        <p:spPr>
          <a:xfrm>
            <a:off x="6257769" y="239154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143" name="Text 140"/>
          <p:cNvSpPr/>
          <p:nvPr/>
        </p:nvSpPr>
        <p:spPr>
          <a:xfrm>
            <a:off x="7345377" y="239154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8.304</a:t>
            </a:r>
            <a:endParaRPr lang="en-US" sz="636" dirty="0"/>
          </a:p>
        </p:txBody>
      </p:sp>
      <p:sp>
        <p:nvSpPr>
          <p:cNvPr id="144" name="Text 141"/>
          <p:cNvSpPr/>
          <p:nvPr/>
        </p:nvSpPr>
        <p:spPr>
          <a:xfrm>
            <a:off x="9303014" y="2391542"/>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1.086</a:t>
            </a:r>
            <a:endParaRPr lang="en-US" sz="636" dirty="0"/>
          </a:p>
        </p:txBody>
      </p:sp>
      <p:sp>
        <p:nvSpPr>
          <p:cNvPr id="145" name="Text 142"/>
          <p:cNvSpPr/>
          <p:nvPr/>
        </p:nvSpPr>
        <p:spPr>
          <a:xfrm>
            <a:off x="7345377" y="2534417"/>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6.901</a:t>
            </a:r>
            <a:endParaRPr lang="en-US" sz="636" dirty="0"/>
          </a:p>
        </p:txBody>
      </p:sp>
      <p:sp>
        <p:nvSpPr>
          <p:cNvPr id="146" name="Text 143"/>
          <p:cNvSpPr/>
          <p:nvPr/>
        </p:nvSpPr>
        <p:spPr>
          <a:xfrm>
            <a:off x="9303014" y="2534417"/>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1.068</a:t>
            </a:r>
            <a:endParaRPr lang="en-US" sz="636" dirty="0"/>
          </a:p>
        </p:txBody>
      </p:sp>
      <p:sp>
        <p:nvSpPr>
          <p:cNvPr id="147" name="Text 144"/>
          <p:cNvSpPr/>
          <p:nvPr/>
        </p:nvSpPr>
        <p:spPr>
          <a:xfrm>
            <a:off x="6257769" y="26772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148" name="Text 145"/>
          <p:cNvSpPr/>
          <p:nvPr/>
        </p:nvSpPr>
        <p:spPr>
          <a:xfrm>
            <a:off x="7345377" y="267729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6.564</a:t>
            </a:r>
            <a:endParaRPr lang="en-US" sz="636" dirty="0"/>
          </a:p>
        </p:txBody>
      </p:sp>
      <p:sp>
        <p:nvSpPr>
          <p:cNvPr id="149" name="Text 146"/>
          <p:cNvSpPr/>
          <p:nvPr/>
        </p:nvSpPr>
        <p:spPr>
          <a:xfrm>
            <a:off x="6257769" y="2820167"/>
            <a:ext cx="1120237" cy="138113"/>
          </a:xfrm>
          <a:prstGeom prst="rect">
            <a:avLst/>
          </a:prstGeom>
          <a:noFill/>
          <a:ln/>
        </p:spPr>
        <p:txBody>
          <a:bodyPr wrap="square" lIns="19050" tIns="38100" rIns="38100" bIns="19050" rtlCol="0" anchor="ctr"/>
          <a:lstStyle/>
          <a:p>
            <a:pPr marL="0" indent="0" algn="l">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150" name="Text 147"/>
          <p:cNvSpPr/>
          <p:nvPr/>
        </p:nvSpPr>
        <p:spPr>
          <a:xfrm>
            <a:off x="9303014"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6.881</a:t>
            </a:r>
            <a:endParaRPr lang="en-US" sz="636" dirty="0"/>
          </a:p>
        </p:txBody>
      </p:sp>
      <p:sp>
        <p:nvSpPr>
          <p:cNvPr id="151" name="Text 148"/>
          <p:cNvSpPr/>
          <p:nvPr/>
        </p:nvSpPr>
        <p:spPr>
          <a:xfrm>
            <a:off x="10988599" y="3234505"/>
            <a:ext cx="71923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152" name="Text 149"/>
          <p:cNvSpPr/>
          <p:nvPr/>
        </p:nvSpPr>
        <p:spPr>
          <a:xfrm>
            <a:off x="8091881"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5.413</a:t>
            </a:r>
            <a:endParaRPr lang="en-US" sz="552" dirty="0"/>
          </a:p>
        </p:txBody>
      </p:sp>
      <p:sp>
        <p:nvSpPr>
          <p:cNvPr id="153" name="Text 150"/>
          <p:cNvSpPr/>
          <p:nvPr/>
        </p:nvSpPr>
        <p:spPr>
          <a:xfrm>
            <a:off x="8574667"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7.265</a:t>
            </a:r>
            <a:endParaRPr lang="en-US" sz="552" dirty="0"/>
          </a:p>
        </p:txBody>
      </p:sp>
      <p:sp>
        <p:nvSpPr>
          <p:cNvPr id="154" name="Text 151"/>
          <p:cNvSpPr/>
          <p:nvPr/>
        </p:nvSpPr>
        <p:spPr>
          <a:xfrm>
            <a:off x="9057453"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6.831</a:t>
            </a:r>
            <a:endParaRPr lang="en-US" sz="552" dirty="0"/>
          </a:p>
        </p:txBody>
      </p:sp>
      <p:sp>
        <p:nvSpPr>
          <p:cNvPr id="155" name="Text 152"/>
          <p:cNvSpPr/>
          <p:nvPr/>
        </p:nvSpPr>
        <p:spPr>
          <a:xfrm>
            <a:off x="9540240"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7.149</a:t>
            </a:r>
            <a:endParaRPr lang="en-US" sz="552" dirty="0"/>
          </a:p>
        </p:txBody>
      </p:sp>
      <p:sp>
        <p:nvSpPr>
          <p:cNvPr id="156" name="Text 153"/>
          <p:cNvSpPr/>
          <p:nvPr/>
        </p:nvSpPr>
        <p:spPr>
          <a:xfrm>
            <a:off x="10023026"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5.941</a:t>
            </a:r>
            <a:endParaRPr lang="en-US" sz="552" dirty="0"/>
          </a:p>
        </p:txBody>
      </p:sp>
      <p:sp>
        <p:nvSpPr>
          <p:cNvPr id="157" name="Text 154"/>
          <p:cNvSpPr/>
          <p:nvPr/>
        </p:nvSpPr>
        <p:spPr>
          <a:xfrm>
            <a:off x="10505812"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5.651</a:t>
            </a:r>
            <a:endParaRPr lang="en-US" sz="552" dirty="0"/>
          </a:p>
        </p:txBody>
      </p:sp>
      <p:sp>
        <p:nvSpPr>
          <p:cNvPr id="158" name="Text 155"/>
          <p:cNvSpPr/>
          <p:nvPr/>
        </p:nvSpPr>
        <p:spPr>
          <a:xfrm>
            <a:off x="8091881"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1.086</a:t>
            </a:r>
            <a:endParaRPr lang="en-US" sz="552" dirty="0"/>
          </a:p>
        </p:txBody>
      </p:sp>
      <p:sp>
        <p:nvSpPr>
          <p:cNvPr id="159" name="Text 156"/>
          <p:cNvSpPr/>
          <p:nvPr/>
        </p:nvSpPr>
        <p:spPr>
          <a:xfrm>
            <a:off x="8574667"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1.457</a:t>
            </a:r>
            <a:endParaRPr lang="en-US" sz="552" dirty="0"/>
          </a:p>
        </p:txBody>
      </p:sp>
      <p:sp>
        <p:nvSpPr>
          <p:cNvPr id="160" name="Text 157"/>
          <p:cNvSpPr/>
          <p:nvPr/>
        </p:nvSpPr>
        <p:spPr>
          <a:xfrm>
            <a:off x="9057453"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1.370</a:t>
            </a:r>
            <a:endParaRPr lang="en-US" sz="552" dirty="0"/>
          </a:p>
        </p:txBody>
      </p:sp>
      <p:sp>
        <p:nvSpPr>
          <p:cNvPr id="161" name="Text 158"/>
          <p:cNvSpPr/>
          <p:nvPr/>
        </p:nvSpPr>
        <p:spPr>
          <a:xfrm>
            <a:off x="9540240"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1.434</a:t>
            </a:r>
            <a:endParaRPr lang="en-US" sz="552" dirty="0"/>
          </a:p>
        </p:txBody>
      </p:sp>
      <p:sp>
        <p:nvSpPr>
          <p:cNvPr id="162" name="Text 159"/>
          <p:cNvSpPr/>
          <p:nvPr/>
        </p:nvSpPr>
        <p:spPr>
          <a:xfrm>
            <a:off x="10023026"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1.192</a:t>
            </a:r>
            <a:endParaRPr lang="en-US" sz="552" dirty="0"/>
          </a:p>
        </p:txBody>
      </p:sp>
      <p:sp>
        <p:nvSpPr>
          <p:cNvPr id="163" name="Text 160"/>
          <p:cNvSpPr/>
          <p:nvPr/>
        </p:nvSpPr>
        <p:spPr>
          <a:xfrm>
            <a:off x="10505812"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1.133</a:t>
            </a:r>
            <a:endParaRPr lang="en-US" sz="552" dirty="0"/>
          </a:p>
        </p:txBody>
      </p:sp>
      <p:sp>
        <p:nvSpPr>
          <p:cNvPr id="164" name="Text 161"/>
          <p:cNvSpPr/>
          <p:nvPr/>
        </p:nvSpPr>
        <p:spPr>
          <a:xfrm>
            <a:off x="10988599" y="35345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7.672</a:t>
            </a:r>
            <a:endParaRPr lang="en-US" sz="552" dirty="0"/>
          </a:p>
        </p:txBody>
      </p:sp>
      <p:sp>
        <p:nvSpPr>
          <p:cNvPr id="165" name="Text 162"/>
          <p:cNvSpPr/>
          <p:nvPr/>
        </p:nvSpPr>
        <p:spPr>
          <a:xfrm>
            <a:off x="8091881"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2.110</a:t>
            </a:r>
            <a:endParaRPr lang="en-US" sz="552" dirty="0"/>
          </a:p>
        </p:txBody>
      </p:sp>
      <p:sp>
        <p:nvSpPr>
          <p:cNvPr id="166" name="Text 163"/>
          <p:cNvSpPr/>
          <p:nvPr/>
        </p:nvSpPr>
        <p:spPr>
          <a:xfrm>
            <a:off x="8574667"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2.831</a:t>
            </a:r>
            <a:endParaRPr lang="en-US" sz="552" dirty="0"/>
          </a:p>
        </p:txBody>
      </p:sp>
      <p:sp>
        <p:nvSpPr>
          <p:cNvPr id="167" name="Text 164"/>
          <p:cNvSpPr/>
          <p:nvPr/>
        </p:nvSpPr>
        <p:spPr>
          <a:xfrm>
            <a:off x="9057453"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2.663</a:t>
            </a:r>
            <a:endParaRPr lang="en-US" sz="552" dirty="0"/>
          </a:p>
        </p:txBody>
      </p:sp>
      <p:sp>
        <p:nvSpPr>
          <p:cNvPr id="168" name="Text 165"/>
          <p:cNvSpPr/>
          <p:nvPr/>
        </p:nvSpPr>
        <p:spPr>
          <a:xfrm>
            <a:off x="9540240"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2.786</a:t>
            </a:r>
            <a:endParaRPr lang="en-US" sz="552" dirty="0"/>
          </a:p>
        </p:txBody>
      </p:sp>
      <p:sp>
        <p:nvSpPr>
          <p:cNvPr id="169" name="Text 166"/>
          <p:cNvSpPr/>
          <p:nvPr/>
        </p:nvSpPr>
        <p:spPr>
          <a:xfrm>
            <a:off x="10023026"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2.316</a:t>
            </a:r>
            <a:endParaRPr lang="en-US" sz="552" dirty="0"/>
          </a:p>
        </p:txBody>
      </p:sp>
      <p:sp>
        <p:nvSpPr>
          <p:cNvPr id="170" name="Text 167"/>
          <p:cNvSpPr/>
          <p:nvPr/>
        </p:nvSpPr>
        <p:spPr>
          <a:xfrm>
            <a:off x="10505812"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2.202</a:t>
            </a:r>
            <a:endParaRPr lang="en-US" sz="552" dirty="0"/>
          </a:p>
        </p:txBody>
      </p:sp>
      <p:sp>
        <p:nvSpPr>
          <p:cNvPr id="171" name="Text 168"/>
          <p:cNvSpPr/>
          <p:nvPr/>
        </p:nvSpPr>
        <p:spPr>
          <a:xfrm>
            <a:off x="10988599" y="38012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4.822</a:t>
            </a:r>
            <a:endParaRPr lang="en-US" sz="552" dirty="0"/>
          </a:p>
        </p:txBody>
      </p:sp>
      <p:sp>
        <p:nvSpPr>
          <p:cNvPr id="172" name="Text 169"/>
          <p:cNvSpPr/>
          <p:nvPr/>
        </p:nvSpPr>
        <p:spPr>
          <a:xfrm>
            <a:off x="10988599" y="39345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2.971</a:t>
            </a:r>
            <a:endParaRPr lang="en-US" sz="552" dirty="0"/>
          </a:p>
        </p:txBody>
      </p:sp>
      <p:sp>
        <p:nvSpPr>
          <p:cNvPr id="173" name="Text 170"/>
          <p:cNvSpPr/>
          <p:nvPr/>
        </p:nvSpPr>
        <p:spPr>
          <a:xfrm>
            <a:off x="10988599" y="40679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2.501</a:t>
            </a:r>
            <a:endParaRPr lang="en-US" sz="552" dirty="0"/>
          </a:p>
        </p:txBody>
      </p:sp>
      <p:sp>
        <p:nvSpPr>
          <p:cNvPr id="174" name="Text 171"/>
          <p:cNvSpPr/>
          <p:nvPr/>
        </p:nvSpPr>
        <p:spPr>
          <a:xfrm>
            <a:off x="10988599" y="42012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1.847</a:t>
            </a:r>
            <a:endParaRPr lang="en-US" sz="552" dirty="0"/>
          </a:p>
        </p:txBody>
      </p:sp>
      <p:sp>
        <p:nvSpPr>
          <p:cNvPr id="175" name="Text 172"/>
          <p:cNvSpPr/>
          <p:nvPr/>
        </p:nvSpPr>
        <p:spPr>
          <a:xfrm>
            <a:off x="10988599" y="43346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1.126</a:t>
            </a:r>
            <a:endParaRPr lang="en-US" sz="552" dirty="0"/>
          </a:p>
        </p:txBody>
      </p:sp>
      <p:sp>
        <p:nvSpPr>
          <p:cNvPr id="176" name="Text 173"/>
          <p:cNvSpPr/>
          <p:nvPr/>
        </p:nvSpPr>
        <p:spPr>
          <a:xfrm>
            <a:off x="10988599" y="44679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2.403</a:t>
            </a:r>
            <a:endParaRPr lang="en-US" sz="552" dirty="0"/>
          </a:p>
        </p:txBody>
      </p:sp>
      <p:sp>
        <p:nvSpPr>
          <p:cNvPr id="177" name="Text 174"/>
          <p:cNvSpPr/>
          <p:nvPr/>
        </p:nvSpPr>
        <p:spPr>
          <a:xfrm>
            <a:off x="8091881" y="460134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1.466</a:t>
            </a:r>
            <a:endParaRPr lang="en-US" sz="552" dirty="0"/>
          </a:p>
        </p:txBody>
      </p:sp>
      <p:sp>
        <p:nvSpPr>
          <p:cNvPr id="178" name="Text 175"/>
          <p:cNvSpPr/>
          <p:nvPr/>
        </p:nvSpPr>
        <p:spPr>
          <a:xfrm>
            <a:off x="8574667" y="460134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1.968</a:t>
            </a:r>
            <a:endParaRPr lang="en-US" sz="552" dirty="0"/>
          </a:p>
        </p:txBody>
      </p:sp>
      <p:sp>
        <p:nvSpPr>
          <p:cNvPr id="179" name="Text 176"/>
          <p:cNvSpPr/>
          <p:nvPr/>
        </p:nvSpPr>
        <p:spPr>
          <a:xfrm>
            <a:off x="9057453" y="460134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1.851</a:t>
            </a:r>
            <a:endParaRPr lang="en-US" sz="552" dirty="0"/>
          </a:p>
        </p:txBody>
      </p:sp>
      <p:sp>
        <p:nvSpPr>
          <p:cNvPr id="180" name="Text 177"/>
          <p:cNvSpPr/>
          <p:nvPr/>
        </p:nvSpPr>
        <p:spPr>
          <a:xfrm>
            <a:off x="9540240" y="460134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1.937</a:t>
            </a:r>
            <a:endParaRPr lang="en-US" sz="552" dirty="0"/>
          </a:p>
        </p:txBody>
      </p:sp>
      <p:sp>
        <p:nvSpPr>
          <p:cNvPr id="181" name="Text 178"/>
          <p:cNvSpPr/>
          <p:nvPr/>
        </p:nvSpPr>
        <p:spPr>
          <a:xfrm>
            <a:off x="10023026" y="460134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1.609</a:t>
            </a:r>
            <a:endParaRPr lang="en-US" sz="552" dirty="0"/>
          </a:p>
        </p:txBody>
      </p:sp>
      <p:sp>
        <p:nvSpPr>
          <p:cNvPr id="182" name="Text 179"/>
          <p:cNvSpPr/>
          <p:nvPr/>
        </p:nvSpPr>
        <p:spPr>
          <a:xfrm>
            <a:off x="10505812" y="460134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1.531</a:t>
            </a:r>
            <a:endParaRPr lang="en-US" sz="552" dirty="0"/>
          </a:p>
        </p:txBody>
      </p:sp>
      <p:sp>
        <p:nvSpPr>
          <p:cNvPr id="183" name="Text 180"/>
          <p:cNvSpPr/>
          <p:nvPr/>
        </p:nvSpPr>
        <p:spPr>
          <a:xfrm>
            <a:off x="8574667"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1.299</a:t>
            </a:r>
            <a:endParaRPr lang="en-US" sz="552" dirty="0"/>
          </a:p>
        </p:txBody>
      </p:sp>
      <p:sp>
        <p:nvSpPr>
          <p:cNvPr id="184" name="Text 181"/>
          <p:cNvSpPr/>
          <p:nvPr/>
        </p:nvSpPr>
        <p:spPr>
          <a:xfrm>
            <a:off x="9057453"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1.221</a:t>
            </a:r>
            <a:endParaRPr lang="en-US" sz="552" dirty="0"/>
          </a:p>
        </p:txBody>
      </p:sp>
      <p:sp>
        <p:nvSpPr>
          <p:cNvPr id="185" name="Text 182"/>
          <p:cNvSpPr/>
          <p:nvPr/>
        </p:nvSpPr>
        <p:spPr>
          <a:xfrm>
            <a:off x="9540240"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1.278</a:t>
            </a:r>
            <a:endParaRPr lang="en-US" sz="552" dirty="0"/>
          </a:p>
        </p:txBody>
      </p:sp>
      <p:sp>
        <p:nvSpPr>
          <p:cNvPr id="186" name="Text 183"/>
          <p:cNvSpPr/>
          <p:nvPr/>
        </p:nvSpPr>
        <p:spPr>
          <a:xfrm>
            <a:off x="10023026"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1.062</a:t>
            </a:r>
            <a:endParaRPr lang="en-US" sz="552" dirty="0"/>
          </a:p>
        </p:txBody>
      </p:sp>
      <p:sp>
        <p:nvSpPr>
          <p:cNvPr id="187" name="Text 184"/>
          <p:cNvSpPr/>
          <p:nvPr/>
        </p:nvSpPr>
        <p:spPr>
          <a:xfrm>
            <a:off x="10505812"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1.010</a:t>
            </a:r>
            <a:endParaRPr lang="en-US" sz="552" dirty="0"/>
          </a:p>
        </p:txBody>
      </p:sp>
      <p:sp>
        <p:nvSpPr>
          <p:cNvPr id="188" name="Text 185"/>
          <p:cNvSpPr/>
          <p:nvPr/>
        </p:nvSpPr>
        <p:spPr>
          <a:xfrm>
            <a:off x="10988599" y="47346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6.837</a:t>
            </a:r>
            <a:endParaRPr lang="en-US" sz="552" dirty="0"/>
          </a:p>
        </p:txBody>
      </p:sp>
      <p:sp>
        <p:nvSpPr>
          <p:cNvPr id="189" name="Text 186"/>
          <p:cNvSpPr/>
          <p:nvPr/>
        </p:nvSpPr>
        <p:spPr>
          <a:xfrm>
            <a:off x="10988599" y="48680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2.442</a:t>
            </a:r>
            <a:endParaRPr lang="en-US" sz="552" dirty="0"/>
          </a:p>
        </p:txBody>
      </p:sp>
      <p:sp>
        <p:nvSpPr>
          <p:cNvPr id="190" name="Text 187"/>
          <p:cNvSpPr/>
          <p:nvPr/>
        </p:nvSpPr>
        <p:spPr>
          <a:xfrm>
            <a:off x="10988599" y="50013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1.033</a:t>
            </a:r>
            <a:endParaRPr lang="en-US" sz="552" dirty="0"/>
          </a:p>
        </p:txBody>
      </p:sp>
      <p:sp>
        <p:nvSpPr>
          <p:cNvPr id="191" name="Text 188"/>
          <p:cNvSpPr/>
          <p:nvPr/>
        </p:nvSpPr>
        <p:spPr>
          <a:xfrm>
            <a:off x="4374991" y="971550"/>
            <a:ext cx="3584053"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6.881</a:t>
            </a:r>
            <a:endParaRPr lang="en-US" sz="1380" dirty="0"/>
          </a:p>
        </p:txBody>
      </p:sp>
      <p:sp>
        <p:nvSpPr>
          <p:cNvPr id="192" name="Text 189"/>
          <p:cNvSpPr/>
          <p:nvPr/>
        </p:nvSpPr>
        <p:spPr>
          <a:xfrm>
            <a:off x="495288" y="253441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193" name="Text 190"/>
          <p:cNvSpPr/>
          <p:nvPr/>
        </p:nvSpPr>
        <p:spPr>
          <a:xfrm>
            <a:off x="6257769" y="253441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194" name="Text 191"/>
          <p:cNvSpPr/>
          <p:nvPr/>
        </p:nvSpPr>
        <p:spPr>
          <a:xfrm>
            <a:off x="533387" y="971550"/>
            <a:ext cx="3584053"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79 %</a:t>
            </a:r>
            <a:endParaRPr lang="en-US" sz="1380" dirty="0"/>
          </a:p>
        </p:txBody>
      </p:sp>
      <p:sp>
        <p:nvSpPr>
          <p:cNvPr id="195" name="Text 192"/>
          <p:cNvSpPr/>
          <p:nvPr/>
        </p:nvSpPr>
        <p:spPr>
          <a:xfrm>
            <a:off x="495288" y="1796230"/>
            <a:ext cx="1120237"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96" name="Text 193"/>
          <p:cNvSpPr/>
          <p:nvPr/>
        </p:nvSpPr>
        <p:spPr>
          <a:xfrm>
            <a:off x="2329400"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197" name="Text 194"/>
          <p:cNvSpPr/>
          <p:nvPr/>
        </p:nvSpPr>
        <p:spPr>
          <a:xfrm>
            <a:off x="2812186"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198" name="Text 195"/>
          <p:cNvSpPr/>
          <p:nvPr/>
        </p:nvSpPr>
        <p:spPr>
          <a:xfrm>
            <a:off x="3294972"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199" name="Text 196"/>
          <p:cNvSpPr/>
          <p:nvPr/>
        </p:nvSpPr>
        <p:spPr>
          <a:xfrm>
            <a:off x="3777759"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200" name="Text 197"/>
          <p:cNvSpPr/>
          <p:nvPr/>
        </p:nvSpPr>
        <p:spPr>
          <a:xfrm>
            <a:off x="4260545"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201" name="Text 198"/>
          <p:cNvSpPr/>
          <p:nvPr/>
        </p:nvSpPr>
        <p:spPr>
          <a:xfrm>
            <a:off x="4743331"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202" name="Text 199"/>
          <p:cNvSpPr/>
          <p:nvPr/>
        </p:nvSpPr>
        <p:spPr>
          <a:xfrm>
            <a:off x="2329400"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849</a:t>
            </a:r>
            <a:endParaRPr lang="en-US" sz="576" dirty="0"/>
          </a:p>
        </p:txBody>
      </p:sp>
      <p:sp>
        <p:nvSpPr>
          <p:cNvPr id="203" name="Text 200"/>
          <p:cNvSpPr/>
          <p:nvPr/>
        </p:nvSpPr>
        <p:spPr>
          <a:xfrm>
            <a:off x="2329400"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714</a:t>
            </a:r>
            <a:endParaRPr lang="en-US" sz="576" dirty="0"/>
          </a:p>
        </p:txBody>
      </p:sp>
      <p:sp>
        <p:nvSpPr>
          <p:cNvPr id="204" name="Text 201"/>
          <p:cNvSpPr/>
          <p:nvPr/>
        </p:nvSpPr>
        <p:spPr>
          <a:xfrm>
            <a:off x="2812186"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937</a:t>
            </a:r>
            <a:endParaRPr lang="en-US" sz="576" dirty="0"/>
          </a:p>
        </p:txBody>
      </p:sp>
      <p:sp>
        <p:nvSpPr>
          <p:cNvPr id="205" name="Text 202"/>
          <p:cNvSpPr/>
          <p:nvPr/>
        </p:nvSpPr>
        <p:spPr>
          <a:xfrm>
            <a:off x="3777759"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909</a:t>
            </a:r>
            <a:endParaRPr lang="en-US" sz="576" dirty="0"/>
          </a:p>
        </p:txBody>
      </p:sp>
      <p:sp>
        <p:nvSpPr>
          <p:cNvPr id="206" name="Text 203"/>
          <p:cNvSpPr/>
          <p:nvPr/>
        </p:nvSpPr>
        <p:spPr>
          <a:xfrm>
            <a:off x="2329400"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558</a:t>
            </a:r>
            <a:endParaRPr lang="en-US" sz="576" dirty="0"/>
          </a:p>
        </p:txBody>
      </p:sp>
      <p:sp>
        <p:nvSpPr>
          <p:cNvPr id="207" name="Text 204"/>
          <p:cNvSpPr/>
          <p:nvPr/>
        </p:nvSpPr>
        <p:spPr>
          <a:xfrm>
            <a:off x="2812186"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733</a:t>
            </a:r>
            <a:endParaRPr lang="en-US" sz="576" dirty="0"/>
          </a:p>
        </p:txBody>
      </p:sp>
      <p:sp>
        <p:nvSpPr>
          <p:cNvPr id="208" name="Text 205"/>
          <p:cNvSpPr/>
          <p:nvPr/>
        </p:nvSpPr>
        <p:spPr>
          <a:xfrm>
            <a:off x="3294972"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888</a:t>
            </a:r>
            <a:endParaRPr lang="en-US" sz="576" dirty="0"/>
          </a:p>
        </p:txBody>
      </p:sp>
      <p:sp>
        <p:nvSpPr>
          <p:cNvPr id="209" name="Text 206"/>
          <p:cNvSpPr/>
          <p:nvPr/>
        </p:nvSpPr>
        <p:spPr>
          <a:xfrm>
            <a:off x="3777759"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710</a:t>
            </a:r>
            <a:endParaRPr lang="en-US" sz="576" dirty="0"/>
          </a:p>
        </p:txBody>
      </p:sp>
      <p:sp>
        <p:nvSpPr>
          <p:cNvPr id="210" name="Text 207"/>
          <p:cNvSpPr/>
          <p:nvPr/>
        </p:nvSpPr>
        <p:spPr>
          <a:xfrm>
            <a:off x="4260545"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866</a:t>
            </a:r>
            <a:endParaRPr lang="en-US" sz="576" dirty="0"/>
          </a:p>
        </p:txBody>
      </p:sp>
      <p:sp>
        <p:nvSpPr>
          <p:cNvPr id="211" name="Text 208"/>
          <p:cNvSpPr/>
          <p:nvPr/>
        </p:nvSpPr>
        <p:spPr>
          <a:xfrm>
            <a:off x="4743331"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869</a:t>
            </a:r>
            <a:endParaRPr lang="en-US" sz="576" dirty="0"/>
          </a:p>
        </p:txBody>
      </p:sp>
      <p:sp>
        <p:nvSpPr>
          <p:cNvPr id="212" name="Text 209"/>
          <p:cNvSpPr/>
          <p:nvPr/>
        </p:nvSpPr>
        <p:spPr>
          <a:xfrm>
            <a:off x="2329400"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231</a:t>
            </a:r>
            <a:endParaRPr lang="en-US" sz="576" dirty="0"/>
          </a:p>
        </p:txBody>
      </p:sp>
      <p:sp>
        <p:nvSpPr>
          <p:cNvPr id="213" name="Text 210"/>
          <p:cNvSpPr/>
          <p:nvPr/>
        </p:nvSpPr>
        <p:spPr>
          <a:xfrm>
            <a:off x="2812186"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303</a:t>
            </a:r>
            <a:endParaRPr lang="en-US" sz="576" dirty="0"/>
          </a:p>
        </p:txBody>
      </p:sp>
      <p:sp>
        <p:nvSpPr>
          <p:cNvPr id="214" name="Text 211"/>
          <p:cNvSpPr/>
          <p:nvPr/>
        </p:nvSpPr>
        <p:spPr>
          <a:xfrm>
            <a:off x="3294972"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367</a:t>
            </a:r>
            <a:endParaRPr lang="en-US" sz="576" dirty="0"/>
          </a:p>
        </p:txBody>
      </p:sp>
      <p:sp>
        <p:nvSpPr>
          <p:cNvPr id="215" name="Text 212"/>
          <p:cNvSpPr/>
          <p:nvPr/>
        </p:nvSpPr>
        <p:spPr>
          <a:xfrm>
            <a:off x="3777759"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294</a:t>
            </a:r>
            <a:endParaRPr lang="en-US" sz="576" dirty="0"/>
          </a:p>
        </p:txBody>
      </p:sp>
      <p:sp>
        <p:nvSpPr>
          <p:cNvPr id="216" name="Text 213"/>
          <p:cNvSpPr/>
          <p:nvPr/>
        </p:nvSpPr>
        <p:spPr>
          <a:xfrm>
            <a:off x="4260545"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358</a:t>
            </a:r>
            <a:endParaRPr lang="en-US" sz="576" dirty="0"/>
          </a:p>
        </p:txBody>
      </p:sp>
      <p:sp>
        <p:nvSpPr>
          <p:cNvPr id="217" name="Text 214"/>
          <p:cNvSpPr/>
          <p:nvPr/>
        </p:nvSpPr>
        <p:spPr>
          <a:xfrm>
            <a:off x="4743331"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359</a:t>
            </a:r>
            <a:endParaRPr lang="en-US" sz="576" dirty="0"/>
          </a:p>
        </p:txBody>
      </p:sp>
      <p:sp>
        <p:nvSpPr>
          <p:cNvPr id="218" name="Text 215"/>
          <p:cNvSpPr/>
          <p:nvPr/>
        </p:nvSpPr>
        <p:spPr>
          <a:xfrm>
            <a:off x="2329400"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129</a:t>
            </a:r>
            <a:endParaRPr lang="en-US" sz="576" dirty="0"/>
          </a:p>
        </p:txBody>
      </p:sp>
      <p:sp>
        <p:nvSpPr>
          <p:cNvPr id="219" name="Text 216"/>
          <p:cNvSpPr/>
          <p:nvPr/>
        </p:nvSpPr>
        <p:spPr>
          <a:xfrm>
            <a:off x="2812186"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170</a:t>
            </a:r>
            <a:endParaRPr lang="en-US" sz="576" dirty="0"/>
          </a:p>
        </p:txBody>
      </p:sp>
      <p:sp>
        <p:nvSpPr>
          <p:cNvPr id="220" name="Text 217"/>
          <p:cNvSpPr/>
          <p:nvPr/>
        </p:nvSpPr>
        <p:spPr>
          <a:xfrm>
            <a:off x="3294972"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206</a:t>
            </a:r>
            <a:endParaRPr lang="en-US" sz="576" dirty="0"/>
          </a:p>
        </p:txBody>
      </p:sp>
      <p:sp>
        <p:nvSpPr>
          <p:cNvPr id="221" name="Text 218"/>
          <p:cNvSpPr/>
          <p:nvPr/>
        </p:nvSpPr>
        <p:spPr>
          <a:xfrm>
            <a:off x="3777759"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164</a:t>
            </a:r>
            <a:endParaRPr lang="en-US" sz="576" dirty="0"/>
          </a:p>
        </p:txBody>
      </p:sp>
      <p:sp>
        <p:nvSpPr>
          <p:cNvPr id="222" name="Text 219"/>
          <p:cNvSpPr/>
          <p:nvPr/>
        </p:nvSpPr>
        <p:spPr>
          <a:xfrm>
            <a:off x="4260545"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200</a:t>
            </a:r>
            <a:endParaRPr lang="en-US" sz="576" dirty="0"/>
          </a:p>
        </p:txBody>
      </p:sp>
      <p:sp>
        <p:nvSpPr>
          <p:cNvPr id="223" name="Text 220"/>
          <p:cNvSpPr/>
          <p:nvPr/>
        </p:nvSpPr>
        <p:spPr>
          <a:xfrm>
            <a:off x="4743331"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201</a:t>
            </a:r>
            <a:endParaRPr lang="en-US" sz="576" dirty="0"/>
          </a:p>
        </p:txBody>
      </p:sp>
      <p:sp>
        <p:nvSpPr>
          <p:cNvPr id="224" name="Text 221"/>
          <p:cNvSpPr/>
          <p:nvPr/>
        </p:nvSpPr>
        <p:spPr>
          <a:xfrm>
            <a:off x="5226118" y="433464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420</a:t>
            </a:r>
            <a:endParaRPr lang="en-US" sz="576" dirty="0"/>
          </a:p>
        </p:txBody>
      </p:sp>
      <p:sp>
        <p:nvSpPr>
          <p:cNvPr id="225" name="Text 222"/>
          <p:cNvSpPr/>
          <p:nvPr/>
        </p:nvSpPr>
        <p:spPr>
          <a:xfrm>
            <a:off x="2812186" y="44679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123</a:t>
            </a:r>
            <a:endParaRPr lang="en-US" sz="576" dirty="0"/>
          </a:p>
        </p:txBody>
      </p:sp>
      <p:sp>
        <p:nvSpPr>
          <p:cNvPr id="226" name="Text 223"/>
          <p:cNvSpPr/>
          <p:nvPr/>
        </p:nvSpPr>
        <p:spPr>
          <a:xfrm>
            <a:off x="3294972" y="44679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150</a:t>
            </a:r>
            <a:endParaRPr lang="en-US" sz="576" dirty="0"/>
          </a:p>
        </p:txBody>
      </p:sp>
      <p:sp>
        <p:nvSpPr>
          <p:cNvPr id="227" name="Text 224"/>
          <p:cNvSpPr/>
          <p:nvPr/>
        </p:nvSpPr>
        <p:spPr>
          <a:xfrm>
            <a:off x="3777759" y="44679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120</a:t>
            </a:r>
            <a:endParaRPr lang="en-US" sz="576" dirty="0"/>
          </a:p>
        </p:txBody>
      </p:sp>
      <p:sp>
        <p:nvSpPr>
          <p:cNvPr id="228" name="Text 225"/>
          <p:cNvSpPr/>
          <p:nvPr/>
        </p:nvSpPr>
        <p:spPr>
          <a:xfrm>
            <a:off x="4260545" y="44679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146</a:t>
            </a:r>
            <a:endParaRPr lang="en-US" sz="576" dirty="0"/>
          </a:p>
        </p:txBody>
      </p:sp>
      <p:sp>
        <p:nvSpPr>
          <p:cNvPr id="229" name="Text 226"/>
          <p:cNvSpPr/>
          <p:nvPr/>
        </p:nvSpPr>
        <p:spPr>
          <a:xfrm>
            <a:off x="4743331" y="44679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146</a:t>
            </a:r>
            <a:endParaRPr lang="en-US" sz="576" dirty="0"/>
          </a:p>
        </p:txBody>
      </p:sp>
      <p:sp>
        <p:nvSpPr>
          <p:cNvPr id="230" name="Text 227"/>
          <p:cNvSpPr/>
          <p:nvPr/>
        </p:nvSpPr>
        <p:spPr>
          <a:xfrm>
            <a:off x="5226118" y="446799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779</a:t>
            </a:r>
            <a:endParaRPr lang="en-US" sz="576" dirty="0"/>
          </a:p>
        </p:txBody>
      </p:sp>
      <p:sp>
        <p:nvSpPr>
          <p:cNvPr id="231" name="Text 228"/>
          <p:cNvSpPr/>
          <p:nvPr/>
        </p:nvSpPr>
        <p:spPr>
          <a:xfrm>
            <a:off x="6257769" y="1796230"/>
            <a:ext cx="1120237"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232" name="Text 229"/>
          <p:cNvSpPr/>
          <p:nvPr/>
        </p:nvSpPr>
        <p:spPr>
          <a:xfrm>
            <a:off x="9303014" y="2677292"/>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965</a:t>
            </a:r>
            <a:endParaRPr lang="en-US" sz="636" dirty="0"/>
          </a:p>
        </p:txBody>
      </p:sp>
      <p:sp>
        <p:nvSpPr>
          <p:cNvPr id="233" name="Text 230"/>
          <p:cNvSpPr/>
          <p:nvPr/>
        </p:nvSpPr>
        <p:spPr>
          <a:xfrm>
            <a:off x="8091881"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234" name="Text 231"/>
          <p:cNvSpPr/>
          <p:nvPr/>
        </p:nvSpPr>
        <p:spPr>
          <a:xfrm>
            <a:off x="8574667"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235" name="Text 232"/>
          <p:cNvSpPr/>
          <p:nvPr/>
        </p:nvSpPr>
        <p:spPr>
          <a:xfrm>
            <a:off x="9057453"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236" name="Text 233"/>
          <p:cNvSpPr/>
          <p:nvPr/>
        </p:nvSpPr>
        <p:spPr>
          <a:xfrm>
            <a:off x="9540240"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237" name="Text 234"/>
          <p:cNvSpPr/>
          <p:nvPr/>
        </p:nvSpPr>
        <p:spPr>
          <a:xfrm>
            <a:off x="10023026"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238" name="Text 235"/>
          <p:cNvSpPr/>
          <p:nvPr/>
        </p:nvSpPr>
        <p:spPr>
          <a:xfrm>
            <a:off x="10505812"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239" name="Text 236"/>
          <p:cNvSpPr/>
          <p:nvPr/>
        </p:nvSpPr>
        <p:spPr>
          <a:xfrm>
            <a:off x="8091881"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682</a:t>
            </a:r>
            <a:endParaRPr lang="en-US" sz="552" dirty="0"/>
          </a:p>
        </p:txBody>
      </p:sp>
      <p:sp>
        <p:nvSpPr>
          <p:cNvPr id="240" name="Text 237"/>
          <p:cNvSpPr/>
          <p:nvPr/>
        </p:nvSpPr>
        <p:spPr>
          <a:xfrm>
            <a:off x="8574667"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917</a:t>
            </a:r>
            <a:endParaRPr lang="en-US" sz="552" dirty="0"/>
          </a:p>
        </p:txBody>
      </p:sp>
      <p:sp>
        <p:nvSpPr>
          <p:cNvPr id="241" name="Text 238"/>
          <p:cNvSpPr/>
          <p:nvPr/>
        </p:nvSpPr>
        <p:spPr>
          <a:xfrm>
            <a:off x="9057453"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861</a:t>
            </a:r>
            <a:endParaRPr lang="en-US" sz="552" dirty="0"/>
          </a:p>
        </p:txBody>
      </p:sp>
      <p:sp>
        <p:nvSpPr>
          <p:cNvPr id="242" name="Text 239"/>
          <p:cNvSpPr/>
          <p:nvPr/>
        </p:nvSpPr>
        <p:spPr>
          <a:xfrm>
            <a:off x="9540240"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901</a:t>
            </a:r>
            <a:endParaRPr lang="en-US" sz="552" dirty="0"/>
          </a:p>
        </p:txBody>
      </p:sp>
      <p:sp>
        <p:nvSpPr>
          <p:cNvPr id="243" name="Text 240"/>
          <p:cNvSpPr/>
          <p:nvPr/>
        </p:nvSpPr>
        <p:spPr>
          <a:xfrm>
            <a:off x="10023026"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749</a:t>
            </a:r>
            <a:endParaRPr lang="en-US" sz="552" dirty="0"/>
          </a:p>
        </p:txBody>
      </p:sp>
      <p:sp>
        <p:nvSpPr>
          <p:cNvPr id="244" name="Text 241"/>
          <p:cNvSpPr/>
          <p:nvPr/>
        </p:nvSpPr>
        <p:spPr>
          <a:xfrm>
            <a:off x="10505812"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712</a:t>
            </a:r>
            <a:endParaRPr lang="en-US" sz="552" dirty="0"/>
          </a:p>
        </p:txBody>
      </p:sp>
      <p:sp>
        <p:nvSpPr>
          <p:cNvPr id="245" name="Text 242"/>
          <p:cNvSpPr/>
          <p:nvPr/>
        </p:nvSpPr>
        <p:spPr>
          <a:xfrm>
            <a:off x="8091881"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420</a:t>
            </a:r>
            <a:endParaRPr lang="en-US" sz="552" dirty="0"/>
          </a:p>
        </p:txBody>
      </p:sp>
      <p:sp>
        <p:nvSpPr>
          <p:cNvPr id="246" name="Text 243"/>
          <p:cNvSpPr/>
          <p:nvPr/>
        </p:nvSpPr>
        <p:spPr>
          <a:xfrm>
            <a:off x="8574667"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565</a:t>
            </a:r>
            <a:endParaRPr lang="en-US" sz="552" dirty="0"/>
          </a:p>
        </p:txBody>
      </p:sp>
      <p:sp>
        <p:nvSpPr>
          <p:cNvPr id="247" name="Text 244"/>
          <p:cNvSpPr/>
          <p:nvPr/>
        </p:nvSpPr>
        <p:spPr>
          <a:xfrm>
            <a:off x="9057453"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531</a:t>
            </a:r>
            <a:endParaRPr lang="en-US" sz="552" dirty="0"/>
          </a:p>
        </p:txBody>
      </p:sp>
      <p:sp>
        <p:nvSpPr>
          <p:cNvPr id="248" name="Text 245"/>
          <p:cNvSpPr/>
          <p:nvPr/>
        </p:nvSpPr>
        <p:spPr>
          <a:xfrm>
            <a:off x="9540240"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555</a:t>
            </a:r>
            <a:endParaRPr lang="en-US" sz="552" dirty="0"/>
          </a:p>
        </p:txBody>
      </p:sp>
      <p:sp>
        <p:nvSpPr>
          <p:cNvPr id="249" name="Text 246"/>
          <p:cNvSpPr/>
          <p:nvPr/>
        </p:nvSpPr>
        <p:spPr>
          <a:xfrm>
            <a:off x="10023026"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461</a:t>
            </a:r>
            <a:endParaRPr lang="en-US" sz="552" dirty="0"/>
          </a:p>
        </p:txBody>
      </p:sp>
      <p:sp>
        <p:nvSpPr>
          <p:cNvPr id="250" name="Text 247"/>
          <p:cNvSpPr/>
          <p:nvPr/>
        </p:nvSpPr>
        <p:spPr>
          <a:xfrm>
            <a:off x="10505812"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439</a:t>
            </a:r>
            <a:endParaRPr lang="en-US" sz="552" dirty="0"/>
          </a:p>
        </p:txBody>
      </p:sp>
      <p:sp>
        <p:nvSpPr>
          <p:cNvPr id="251" name="Text 248"/>
          <p:cNvSpPr/>
          <p:nvPr/>
        </p:nvSpPr>
        <p:spPr>
          <a:xfrm>
            <a:off x="8091881"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354</a:t>
            </a:r>
            <a:endParaRPr lang="en-US" sz="552" dirty="0"/>
          </a:p>
        </p:txBody>
      </p:sp>
      <p:sp>
        <p:nvSpPr>
          <p:cNvPr id="252" name="Text 249"/>
          <p:cNvSpPr/>
          <p:nvPr/>
        </p:nvSpPr>
        <p:spPr>
          <a:xfrm>
            <a:off x="8574667"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476</a:t>
            </a:r>
            <a:endParaRPr lang="en-US" sz="552" dirty="0"/>
          </a:p>
        </p:txBody>
      </p:sp>
      <p:sp>
        <p:nvSpPr>
          <p:cNvPr id="253" name="Text 250"/>
          <p:cNvSpPr/>
          <p:nvPr/>
        </p:nvSpPr>
        <p:spPr>
          <a:xfrm>
            <a:off x="9057453"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447</a:t>
            </a:r>
            <a:endParaRPr lang="en-US" sz="552" dirty="0"/>
          </a:p>
        </p:txBody>
      </p:sp>
      <p:sp>
        <p:nvSpPr>
          <p:cNvPr id="254" name="Text 251"/>
          <p:cNvSpPr/>
          <p:nvPr/>
        </p:nvSpPr>
        <p:spPr>
          <a:xfrm>
            <a:off x="9540240"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467</a:t>
            </a:r>
            <a:endParaRPr lang="en-US" sz="552" dirty="0"/>
          </a:p>
        </p:txBody>
      </p:sp>
      <p:sp>
        <p:nvSpPr>
          <p:cNvPr id="255" name="Text 252"/>
          <p:cNvSpPr/>
          <p:nvPr/>
        </p:nvSpPr>
        <p:spPr>
          <a:xfrm>
            <a:off x="10023026"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388</a:t>
            </a:r>
            <a:endParaRPr lang="en-US" sz="552" dirty="0"/>
          </a:p>
        </p:txBody>
      </p:sp>
      <p:sp>
        <p:nvSpPr>
          <p:cNvPr id="256" name="Text 253"/>
          <p:cNvSpPr/>
          <p:nvPr/>
        </p:nvSpPr>
        <p:spPr>
          <a:xfrm>
            <a:off x="10505812"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369</a:t>
            </a:r>
            <a:endParaRPr lang="en-US" sz="552" dirty="0"/>
          </a:p>
        </p:txBody>
      </p:sp>
      <p:sp>
        <p:nvSpPr>
          <p:cNvPr id="257" name="Text 254"/>
          <p:cNvSpPr/>
          <p:nvPr/>
        </p:nvSpPr>
        <p:spPr>
          <a:xfrm>
            <a:off x="8091881"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261</a:t>
            </a:r>
            <a:endParaRPr lang="en-US" sz="552" dirty="0"/>
          </a:p>
        </p:txBody>
      </p:sp>
      <p:sp>
        <p:nvSpPr>
          <p:cNvPr id="258" name="Text 255"/>
          <p:cNvSpPr/>
          <p:nvPr/>
        </p:nvSpPr>
        <p:spPr>
          <a:xfrm>
            <a:off x="8574667"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351</a:t>
            </a:r>
            <a:endParaRPr lang="en-US" sz="552" dirty="0"/>
          </a:p>
        </p:txBody>
      </p:sp>
      <p:sp>
        <p:nvSpPr>
          <p:cNvPr id="259" name="Text 256"/>
          <p:cNvSpPr/>
          <p:nvPr/>
        </p:nvSpPr>
        <p:spPr>
          <a:xfrm>
            <a:off x="9057453"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330</a:t>
            </a:r>
            <a:endParaRPr lang="en-US" sz="552" dirty="0"/>
          </a:p>
        </p:txBody>
      </p:sp>
      <p:sp>
        <p:nvSpPr>
          <p:cNvPr id="260" name="Text 257"/>
          <p:cNvSpPr/>
          <p:nvPr/>
        </p:nvSpPr>
        <p:spPr>
          <a:xfrm>
            <a:off x="9540240"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345</a:t>
            </a:r>
            <a:endParaRPr lang="en-US" sz="552" dirty="0"/>
          </a:p>
        </p:txBody>
      </p:sp>
      <p:sp>
        <p:nvSpPr>
          <p:cNvPr id="261" name="Text 258"/>
          <p:cNvSpPr/>
          <p:nvPr/>
        </p:nvSpPr>
        <p:spPr>
          <a:xfrm>
            <a:off x="10023026"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287</a:t>
            </a:r>
            <a:endParaRPr lang="en-US" sz="552" dirty="0"/>
          </a:p>
        </p:txBody>
      </p:sp>
      <p:sp>
        <p:nvSpPr>
          <p:cNvPr id="262" name="Text 259"/>
          <p:cNvSpPr/>
          <p:nvPr/>
        </p:nvSpPr>
        <p:spPr>
          <a:xfrm>
            <a:off x="10505812"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273</a:t>
            </a:r>
            <a:endParaRPr lang="en-US" sz="552" dirty="0"/>
          </a:p>
        </p:txBody>
      </p:sp>
      <p:sp>
        <p:nvSpPr>
          <p:cNvPr id="263" name="Text 260"/>
          <p:cNvSpPr/>
          <p:nvPr/>
        </p:nvSpPr>
        <p:spPr>
          <a:xfrm>
            <a:off x="8091881"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159</a:t>
            </a:r>
            <a:endParaRPr lang="en-US" sz="552" dirty="0"/>
          </a:p>
        </p:txBody>
      </p:sp>
      <p:sp>
        <p:nvSpPr>
          <p:cNvPr id="264" name="Text 261"/>
          <p:cNvSpPr/>
          <p:nvPr/>
        </p:nvSpPr>
        <p:spPr>
          <a:xfrm>
            <a:off x="8574667"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215</a:t>
            </a:r>
            <a:endParaRPr lang="en-US" sz="552" dirty="0"/>
          </a:p>
        </p:txBody>
      </p:sp>
      <p:sp>
        <p:nvSpPr>
          <p:cNvPr id="265" name="Text 262"/>
          <p:cNvSpPr/>
          <p:nvPr/>
        </p:nvSpPr>
        <p:spPr>
          <a:xfrm>
            <a:off x="9057453"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201</a:t>
            </a:r>
            <a:endParaRPr lang="en-US" sz="552" dirty="0"/>
          </a:p>
        </p:txBody>
      </p:sp>
      <p:sp>
        <p:nvSpPr>
          <p:cNvPr id="266" name="Text 263"/>
          <p:cNvSpPr/>
          <p:nvPr/>
        </p:nvSpPr>
        <p:spPr>
          <a:xfrm>
            <a:off x="9540240"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210</a:t>
            </a:r>
            <a:endParaRPr lang="en-US" sz="552" dirty="0"/>
          </a:p>
        </p:txBody>
      </p:sp>
      <p:sp>
        <p:nvSpPr>
          <p:cNvPr id="267" name="Text 264"/>
          <p:cNvSpPr/>
          <p:nvPr/>
        </p:nvSpPr>
        <p:spPr>
          <a:xfrm>
            <a:off x="10023026"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175</a:t>
            </a:r>
            <a:endParaRPr lang="en-US" sz="552" dirty="0"/>
          </a:p>
        </p:txBody>
      </p:sp>
      <p:sp>
        <p:nvSpPr>
          <p:cNvPr id="268" name="Text 265"/>
          <p:cNvSpPr/>
          <p:nvPr/>
        </p:nvSpPr>
        <p:spPr>
          <a:xfrm>
            <a:off x="10505812"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166</a:t>
            </a:r>
            <a:endParaRPr lang="en-US" sz="552" dirty="0"/>
          </a:p>
        </p:txBody>
      </p:sp>
      <p:sp>
        <p:nvSpPr>
          <p:cNvPr id="269" name="Text 266"/>
          <p:cNvSpPr/>
          <p:nvPr/>
        </p:nvSpPr>
        <p:spPr>
          <a:xfrm>
            <a:off x="8091881" y="44679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340</a:t>
            </a:r>
            <a:endParaRPr lang="en-US" sz="552" dirty="0"/>
          </a:p>
        </p:txBody>
      </p:sp>
      <p:sp>
        <p:nvSpPr>
          <p:cNvPr id="270" name="Text 267"/>
          <p:cNvSpPr/>
          <p:nvPr/>
        </p:nvSpPr>
        <p:spPr>
          <a:xfrm>
            <a:off x="8574667" y="44679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457</a:t>
            </a:r>
            <a:endParaRPr lang="en-US" sz="552" dirty="0"/>
          </a:p>
        </p:txBody>
      </p:sp>
      <p:sp>
        <p:nvSpPr>
          <p:cNvPr id="271" name="Text 268"/>
          <p:cNvSpPr/>
          <p:nvPr/>
        </p:nvSpPr>
        <p:spPr>
          <a:xfrm>
            <a:off x="9057453" y="44679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429</a:t>
            </a:r>
            <a:endParaRPr lang="en-US" sz="552" dirty="0"/>
          </a:p>
        </p:txBody>
      </p:sp>
      <p:sp>
        <p:nvSpPr>
          <p:cNvPr id="272" name="Text 269"/>
          <p:cNvSpPr/>
          <p:nvPr/>
        </p:nvSpPr>
        <p:spPr>
          <a:xfrm>
            <a:off x="9540240" y="44679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449</a:t>
            </a:r>
            <a:endParaRPr lang="en-US" sz="552" dirty="0"/>
          </a:p>
        </p:txBody>
      </p:sp>
      <p:sp>
        <p:nvSpPr>
          <p:cNvPr id="273" name="Text 270"/>
          <p:cNvSpPr/>
          <p:nvPr/>
        </p:nvSpPr>
        <p:spPr>
          <a:xfrm>
            <a:off x="10023026" y="44679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373</a:t>
            </a:r>
            <a:endParaRPr lang="en-US" sz="552" dirty="0"/>
          </a:p>
        </p:txBody>
      </p:sp>
      <p:sp>
        <p:nvSpPr>
          <p:cNvPr id="274" name="Text 271"/>
          <p:cNvSpPr/>
          <p:nvPr/>
        </p:nvSpPr>
        <p:spPr>
          <a:xfrm>
            <a:off x="10505812" y="44679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355</a:t>
            </a:r>
            <a:endParaRPr lang="en-US" sz="552" dirty="0"/>
          </a:p>
        </p:txBody>
      </p:sp>
      <p:sp>
        <p:nvSpPr>
          <p:cNvPr id="275" name="Text 272"/>
          <p:cNvSpPr/>
          <p:nvPr/>
        </p:nvSpPr>
        <p:spPr>
          <a:xfrm>
            <a:off x="8091881"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967</a:t>
            </a:r>
            <a:endParaRPr lang="en-US" sz="552" dirty="0"/>
          </a:p>
        </p:txBody>
      </p:sp>
      <p:sp>
        <p:nvSpPr>
          <p:cNvPr id="276" name="Text 273"/>
          <p:cNvSpPr/>
          <p:nvPr/>
        </p:nvSpPr>
        <p:spPr>
          <a:xfrm>
            <a:off x="8091881"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346</a:t>
            </a:r>
            <a:endParaRPr lang="en-US" sz="552" dirty="0"/>
          </a:p>
        </p:txBody>
      </p:sp>
      <p:sp>
        <p:nvSpPr>
          <p:cNvPr id="277" name="Text 274"/>
          <p:cNvSpPr/>
          <p:nvPr/>
        </p:nvSpPr>
        <p:spPr>
          <a:xfrm>
            <a:off x="8574667"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464</a:t>
            </a:r>
            <a:endParaRPr lang="en-US" sz="552" dirty="0"/>
          </a:p>
        </p:txBody>
      </p:sp>
      <p:sp>
        <p:nvSpPr>
          <p:cNvPr id="278" name="Text 275"/>
          <p:cNvSpPr/>
          <p:nvPr/>
        </p:nvSpPr>
        <p:spPr>
          <a:xfrm>
            <a:off x="9057453"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436</a:t>
            </a:r>
            <a:endParaRPr lang="en-US" sz="552" dirty="0"/>
          </a:p>
        </p:txBody>
      </p:sp>
      <p:sp>
        <p:nvSpPr>
          <p:cNvPr id="279" name="Text 276"/>
          <p:cNvSpPr/>
          <p:nvPr/>
        </p:nvSpPr>
        <p:spPr>
          <a:xfrm>
            <a:off x="9540240"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456</a:t>
            </a:r>
            <a:endParaRPr lang="en-US" sz="552" dirty="0"/>
          </a:p>
        </p:txBody>
      </p:sp>
      <p:sp>
        <p:nvSpPr>
          <p:cNvPr id="280" name="Text 277"/>
          <p:cNvSpPr/>
          <p:nvPr/>
        </p:nvSpPr>
        <p:spPr>
          <a:xfrm>
            <a:off x="10023026"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379</a:t>
            </a:r>
            <a:endParaRPr lang="en-US" sz="552" dirty="0"/>
          </a:p>
        </p:txBody>
      </p:sp>
      <p:sp>
        <p:nvSpPr>
          <p:cNvPr id="281" name="Text 278"/>
          <p:cNvSpPr/>
          <p:nvPr/>
        </p:nvSpPr>
        <p:spPr>
          <a:xfrm>
            <a:off x="10505812"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361</a:t>
            </a:r>
            <a:endParaRPr lang="en-US" sz="552" dirty="0"/>
          </a:p>
        </p:txBody>
      </p:sp>
      <p:sp>
        <p:nvSpPr>
          <p:cNvPr id="282" name="Text 279"/>
          <p:cNvSpPr/>
          <p:nvPr/>
        </p:nvSpPr>
        <p:spPr>
          <a:xfrm>
            <a:off x="8091881" y="50013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146</a:t>
            </a:r>
            <a:endParaRPr lang="en-US" sz="552" dirty="0"/>
          </a:p>
        </p:txBody>
      </p:sp>
      <p:sp>
        <p:nvSpPr>
          <p:cNvPr id="283" name="Text 280"/>
          <p:cNvSpPr/>
          <p:nvPr/>
        </p:nvSpPr>
        <p:spPr>
          <a:xfrm>
            <a:off x="8574667" y="50013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197</a:t>
            </a:r>
            <a:endParaRPr lang="en-US" sz="552" dirty="0"/>
          </a:p>
        </p:txBody>
      </p:sp>
      <p:sp>
        <p:nvSpPr>
          <p:cNvPr id="284" name="Text 281"/>
          <p:cNvSpPr/>
          <p:nvPr/>
        </p:nvSpPr>
        <p:spPr>
          <a:xfrm>
            <a:off x="9057453" y="50013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184</a:t>
            </a:r>
            <a:endParaRPr lang="en-US" sz="552" dirty="0"/>
          </a:p>
        </p:txBody>
      </p:sp>
      <p:sp>
        <p:nvSpPr>
          <p:cNvPr id="285" name="Text 282"/>
          <p:cNvSpPr/>
          <p:nvPr/>
        </p:nvSpPr>
        <p:spPr>
          <a:xfrm>
            <a:off x="9540240" y="50013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193</a:t>
            </a:r>
            <a:endParaRPr lang="en-US" sz="552" dirty="0"/>
          </a:p>
        </p:txBody>
      </p:sp>
      <p:sp>
        <p:nvSpPr>
          <p:cNvPr id="286" name="Text 283"/>
          <p:cNvSpPr/>
          <p:nvPr/>
        </p:nvSpPr>
        <p:spPr>
          <a:xfrm>
            <a:off x="10023026" y="50013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160</a:t>
            </a:r>
            <a:endParaRPr lang="en-US" sz="552" dirty="0"/>
          </a:p>
        </p:txBody>
      </p:sp>
      <p:sp>
        <p:nvSpPr>
          <p:cNvPr id="287" name="Text 284"/>
          <p:cNvSpPr/>
          <p:nvPr/>
        </p:nvSpPr>
        <p:spPr>
          <a:xfrm>
            <a:off x="10505812" y="50013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153</a:t>
            </a:r>
            <a:endParaRPr lang="en-US" sz="552" dirty="0"/>
          </a:p>
        </p:txBody>
      </p:sp>
      <p:sp>
        <p:nvSpPr>
          <p:cNvPr id="288" name="Text 285"/>
          <p:cNvSpPr/>
          <p:nvPr/>
        </p:nvSpPr>
        <p:spPr>
          <a:xfrm>
            <a:off x="2329400"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51</a:t>
            </a:r>
            <a:endParaRPr lang="en-US" sz="576" dirty="0"/>
          </a:p>
        </p:txBody>
      </p:sp>
      <p:sp>
        <p:nvSpPr>
          <p:cNvPr id="289" name="Text 286"/>
          <p:cNvSpPr/>
          <p:nvPr/>
        </p:nvSpPr>
        <p:spPr>
          <a:xfrm>
            <a:off x="2812186"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67</a:t>
            </a:r>
            <a:endParaRPr lang="en-US" sz="576" dirty="0"/>
          </a:p>
        </p:txBody>
      </p:sp>
      <p:sp>
        <p:nvSpPr>
          <p:cNvPr id="290" name="Text 287"/>
          <p:cNvSpPr/>
          <p:nvPr/>
        </p:nvSpPr>
        <p:spPr>
          <a:xfrm>
            <a:off x="3294972"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79</a:t>
            </a:r>
            <a:endParaRPr lang="en-US" sz="576" dirty="0"/>
          </a:p>
        </p:txBody>
      </p:sp>
      <p:sp>
        <p:nvSpPr>
          <p:cNvPr id="291" name="Text 288"/>
          <p:cNvSpPr/>
          <p:nvPr/>
        </p:nvSpPr>
        <p:spPr>
          <a:xfrm>
            <a:off x="3777759"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65</a:t>
            </a:r>
            <a:endParaRPr lang="en-US" sz="576" dirty="0"/>
          </a:p>
        </p:txBody>
      </p:sp>
      <p:sp>
        <p:nvSpPr>
          <p:cNvPr id="292" name="Text 289"/>
          <p:cNvSpPr/>
          <p:nvPr/>
        </p:nvSpPr>
        <p:spPr>
          <a:xfrm>
            <a:off x="4260545"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79</a:t>
            </a:r>
            <a:endParaRPr lang="en-US" sz="576" dirty="0"/>
          </a:p>
        </p:txBody>
      </p:sp>
      <p:sp>
        <p:nvSpPr>
          <p:cNvPr id="293" name="Text 290"/>
          <p:cNvSpPr/>
          <p:nvPr/>
        </p:nvSpPr>
        <p:spPr>
          <a:xfrm>
            <a:off x="4743331"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79</a:t>
            </a:r>
            <a:endParaRPr lang="en-US" sz="576" dirty="0"/>
          </a:p>
        </p:txBody>
      </p:sp>
      <p:sp>
        <p:nvSpPr>
          <p:cNvPr id="294" name="Text 291"/>
          <p:cNvSpPr/>
          <p:nvPr/>
        </p:nvSpPr>
        <p:spPr>
          <a:xfrm>
            <a:off x="2329400" y="44679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94</a:t>
            </a:r>
            <a:endParaRPr lang="en-US" sz="576" dirty="0"/>
          </a:p>
        </p:txBody>
      </p:sp>
      <p:sp>
        <p:nvSpPr>
          <p:cNvPr id="295" name="Text 292"/>
          <p:cNvSpPr/>
          <p:nvPr/>
        </p:nvSpPr>
        <p:spPr>
          <a:xfrm>
            <a:off x="8574667" y="5134742"/>
            <a:ext cx="497270" cy="128588"/>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10</a:t>
            </a:r>
            <a:endParaRPr lang="en-US" sz="552" dirty="0"/>
          </a:p>
        </p:txBody>
      </p:sp>
      <p:sp>
        <p:nvSpPr>
          <p:cNvPr id="296" name="Text 293"/>
          <p:cNvSpPr/>
          <p:nvPr/>
        </p:nvSpPr>
        <p:spPr>
          <a:xfrm>
            <a:off x="10988599" y="5134742"/>
            <a:ext cx="719233" cy="128588"/>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50</a:t>
            </a:r>
            <a:endParaRPr lang="en-US" sz="552" dirty="0"/>
          </a:p>
        </p:txBody>
      </p:sp>
      <p:sp>
        <p:nvSpPr>
          <p:cNvPr id="298" name="TextBox 297">
            <a:extLst>
              <a:ext uri="{FF2B5EF4-FFF2-40B4-BE49-F238E27FC236}">
                <a16:creationId xmlns:a16="http://schemas.microsoft.com/office/drawing/2014/main" id="{6F16C341-6400-608A-FFAF-5C5ACDD2B281}"/>
              </a:ext>
            </a:extLst>
          </p:cNvPr>
          <p:cNvSpPr txBox="1"/>
          <p:nvPr/>
        </p:nvSpPr>
        <p:spPr>
          <a:xfrm>
            <a:off x="619113" y="5507807"/>
            <a:ext cx="6096000" cy="664926"/>
          </a:xfrm>
          <a:prstGeom prst="rect">
            <a:avLst/>
          </a:prstGeom>
          <a:noFill/>
        </p:spPr>
        <p:txBody>
          <a:bodyPr wrap="square">
            <a:spAutoFit/>
          </a:bodyPr>
          <a:lstStyle/>
          <a:p>
            <a:pPr marL="0" marR="0" indent="0" algn="l">
              <a:buNone/>
            </a:pPr>
            <a:r>
              <a:rPr lang="es-CO" sz="744" b="1" i="0" dirty="0">
                <a:solidFill>
                  <a:srgbClr val="120180"/>
                </a:solidFill>
                <a:effectLst/>
                <a:latin typeface="Raleway" pitchFamily="2" charset="0"/>
              </a:rPr>
              <a:t>Observaciones Clave de la Base:</a:t>
            </a:r>
          </a:p>
          <a:p>
            <a:pPr marL="0" marR="0" indent="0" algn="l">
              <a:buFont typeface="Arial" panose="020B0604020202020204" pitchFamily="34" charset="0"/>
              <a:buChar char="•"/>
            </a:pPr>
            <a:r>
              <a:rPr lang="es-CO" sz="744" b="1" i="0" dirty="0">
                <a:solidFill>
                  <a:srgbClr val="120180"/>
                </a:solidFill>
                <a:effectLst/>
                <a:latin typeface="Raleway" pitchFamily="2" charset="0"/>
              </a:rPr>
              <a:t>Esta base tiene la mayor </a:t>
            </a:r>
            <a:r>
              <a:rPr lang="es-CO" sz="744" b="1" i="0" dirty="0" err="1">
                <a:solidFill>
                  <a:srgbClr val="120180"/>
                </a:solidFill>
                <a:effectLst/>
                <a:latin typeface="Raleway" pitchFamily="2" charset="0"/>
              </a:rPr>
              <a:t>contactabilidad</a:t>
            </a:r>
            <a:r>
              <a:rPr lang="es-CO" sz="744" b="1" i="0" dirty="0">
                <a:solidFill>
                  <a:srgbClr val="120180"/>
                </a:solidFill>
                <a:effectLst/>
                <a:latin typeface="Raleway" pitchFamily="2" charset="0"/>
              </a:rPr>
              <a:t> del canal (78,7 % Semestre) y una efectividad sobresaliente.</a:t>
            </a:r>
          </a:p>
          <a:p>
            <a:pPr marL="0" marR="0" indent="0" algn="l">
              <a:buFont typeface="Arial" panose="020B0604020202020204" pitchFamily="34" charset="0"/>
              <a:buChar char="•"/>
            </a:pPr>
            <a:r>
              <a:rPr lang="es-CO" sz="744" b="1" i="0" dirty="0">
                <a:solidFill>
                  <a:srgbClr val="120180"/>
                </a:solidFill>
                <a:effectLst/>
                <a:latin typeface="Raleway" pitchFamily="2" charset="0"/>
              </a:rPr>
              <a:t>El descarte principal es Cuota Protegida Activa (50,9 %), lo que indica que el 1S se depuró correctamente contra clientes vigentes antes de lanzar el marcador.</a:t>
            </a:r>
          </a:p>
          <a:p>
            <a:pPr marL="0" marR="0" indent="0" algn="l">
              <a:buFont typeface="Arial" panose="020B0604020202020204" pitchFamily="34" charset="0"/>
              <a:buChar char="•"/>
            </a:pPr>
            <a:r>
              <a:rPr lang="es-CO" sz="744" b="1" i="0" dirty="0">
                <a:solidFill>
                  <a:srgbClr val="120180"/>
                </a:solidFill>
                <a:effectLst/>
                <a:latin typeface="Raleway" pitchFamily="2" charset="0"/>
              </a:rPr>
              <a:t>Venta Exitosa representa el 15,8 % de la gestión de leads aptos, convirtiéndose en el motor de ventas del canal.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C:\01_Repositorios\13_Presentaciones\dash\televentas\ppt_slides\sk_07_main.png"/>
          <p:cNvPicPr>
            <a:picLocks noChangeAspect="1"/>
          </p:cNvPicPr>
          <p:nvPr/>
        </p:nvPicPr>
        <p:blipFill>
          <a:blip r:embed="rId3"/>
          <a:stretch>
            <a:fillRect/>
          </a:stretch>
        </p:blipFill>
        <p:spPr>
          <a:xfrm>
            <a:off x="0" y="0"/>
            <a:ext cx="12191695" cy="6858000"/>
          </a:xfrm>
          <a:prstGeom prst="rect">
            <a:avLst/>
          </a:prstGeom>
        </p:spPr>
      </p:pic>
      <p:sp>
        <p:nvSpPr>
          <p:cNvPr id="6" name="Text 3"/>
          <p:cNvSpPr/>
          <p:nvPr/>
        </p:nvSpPr>
        <p:spPr>
          <a:xfrm>
            <a:off x="8216595" y="1219944"/>
            <a:ext cx="3584207"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Cumplimiento de objetivos sobre contacto</a:t>
            </a:r>
            <a:endParaRPr lang="en-US" sz="648" dirty="0"/>
          </a:p>
        </p:txBody>
      </p:sp>
      <p:sp>
        <p:nvSpPr>
          <p:cNvPr id="7" name="Text 4"/>
          <p:cNvSpPr/>
          <p:nvPr/>
        </p:nvSpPr>
        <p:spPr>
          <a:xfrm>
            <a:off x="6257769" y="302969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       4. Tipificación de Leads Aptos por Mes</a:t>
            </a:r>
            <a:endParaRPr lang="en-US" sz="816" dirty="0"/>
          </a:p>
        </p:txBody>
      </p:sp>
      <p:sp>
        <p:nvSpPr>
          <p:cNvPr id="8" name="Text 5"/>
          <p:cNvSpPr/>
          <p:nvPr/>
        </p:nvSpPr>
        <p:spPr>
          <a:xfrm>
            <a:off x="495288" y="160094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      1. Calidad de Base y Descarte Mensual</a:t>
            </a:r>
            <a:endParaRPr lang="en-US" sz="816" dirty="0"/>
          </a:p>
        </p:txBody>
      </p:sp>
      <p:sp>
        <p:nvSpPr>
          <p:cNvPr id="9" name="Text 6"/>
          <p:cNvSpPr/>
          <p:nvPr/>
        </p:nvSpPr>
        <p:spPr>
          <a:xfrm>
            <a:off x="6267293" y="50013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Teléfono apagado / fuera de servicio</a:t>
            </a:r>
            <a:endParaRPr lang="en-US" sz="552" dirty="0"/>
          </a:p>
        </p:txBody>
      </p:sp>
      <p:sp>
        <p:nvSpPr>
          <p:cNvPr id="10" name="Text 7"/>
          <p:cNvSpPr/>
          <p:nvPr/>
        </p:nvSpPr>
        <p:spPr>
          <a:xfrm>
            <a:off x="1213514" y="219075"/>
            <a:ext cx="3236087" cy="196215"/>
          </a:xfrm>
          <a:prstGeom prst="rect">
            <a:avLst/>
          </a:prstGeom>
          <a:noFill/>
          <a:ln/>
        </p:spPr>
        <p:txBody>
          <a:bodyPr wrap="square" lIns="0" tIns="0" rIns="0" bIns="0" rtlCol="0" anchor="t"/>
          <a:lstStyle/>
          <a:p>
            <a:pPr marL="0" indent="0" algn="l">
              <a:buNone/>
            </a:pPr>
            <a:r>
              <a:rPr lang="en-US" sz="1260" b="1" dirty="0">
                <a:solidFill>
                  <a:srgbClr val="FFFFFF"/>
                </a:solidFill>
                <a:latin typeface="Raleway" pitchFamily="34" charset="0"/>
                <a:ea typeface="Raleway" pitchFamily="34" charset="-122"/>
                <a:cs typeface="Raleway" pitchFamily="34" charset="-120"/>
              </a:rPr>
              <a:t>Detalle Operativo · Campaña CP Stock</a:t>
            </a:r>
            <a:endParaRPr lang="en-US" sz="1260" dirty="0"/>
          </a:p>
        </p:txBody>
      </p:sp>
      <p:sp>
        <p:nvSpPr>
          <p:cNvPr id="11" name="Text 8"/>
          <p:cNvSpPr/>
          <p:nvPr/>
        </p:nvSpPr>
        <p:spPr>
          <a:xfrm>
            <a:off x="4374991" y="1219944"/>
            <a:ext cx="3584053"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Segundo mayor aportante de ventas</a:t>
            </a:r>
            <a:endParaRPr lang="en-US" sz="648" dirty="0"/>
          </a:p>
        </p:txBody>
      </p:sp>
      <p:sp>
        <p:nvSpPr>
          <p:cNvPr id="12" name="Text 9"/>
          <p:cNvSpPr/>
          <p:nvPr/>
        </p:nvSpPr>
        <p:spPr>
          <a:xfrm>
            <a:off x="6257769" y="160094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       3. Insumo Apto, Contacto y Ventas</a:t>
            </a:r>
            <a:endParaRPr lang="en-US" sz="816" dirty="0"/>
          </a:p>
        </p:txBody>
      </p:sp>
      <p:sp>
        <p:nvSpPr>
          <p:cNvPr id="13" name="Text 10"/>
          <p:cNvSpPr/>
          <p:nvPr/>
        </p:nvSpPr>
        <p:spPr>
          <a:xfrm>
            <a:off x="504812" y="43346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Excede límite de edad (&gt;80 años)</a:t>
            </a:r>
            <a:endParaRPr lang="en-US" sz="576" dirty="0"/>
          </a:p>
        </p:txBody>
      </p:sp>
      <p:sp>
        <p:nvSpPr>
          <p:cNvPr id="14" name="Text 11"/>
          <p:cNvSpPr/>
          <p:nvPr/>
        </p:nvSpPr>
        <p:spPr>
          <a:xfrm>
            <a:off x="504812" y="366789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Registro Recibido Anteriormente</a:t>
            </a:r>
            <a:endParaRPr lang="en-US" sz="576" dirty="0"/>
          </a:p>
        </p:txBody>
      </p:sp>
      <p:sp>
        <p:nvSpPr>
          <p:cNvPr id="17" name="Text 14"/>
          <p:cNvSpPr/>
          <p:nvPr/>
        </p:nvSpPr>
        <p:spPr>
          <a:xfrm>
            <a:off x="504812" y="3405955"/>
            <a:ext cx="1879325" cy="128588"/>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Registro Enviado Anteriormente</a:t>
            </a:r>
            <a:endParaRPr lang="en-US" sz="576" dirty="0"/>
          </a:p>
        </p:txBody>
      </p:sp>
      <p:sp>
        <p:nvSpPr>
          <p:cNvPr id="18" name="Text 15"/>
          <p:cNvSpPr/>
          <p:nvPr/>
        </p:nvSpPr>
        <p:spPr>
          <a:xfrm>
            <a:off x="533387" y="1219944"/>
            <a:ext cx="3584053"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Base de mayor dimensionamiento</a:t>
            </a:r>
            <a:endParaRPr lang="en-US" sz="648" dirty="0"/>
          </a:p>
        </p:txBody>
      </p:sp>
      <p:sp>
        <p:nvSpPr>
          <p:cNvPr id="19" name="Text 16"/>
          <p:cNvSpPr/>
          <p:nvPr/>
        </p:nvSpPr>
        <p:spPr>
          <a:xfrm>
            <a:off x="495288" y="302969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2. Motivos de Descarte por Mes</a:t>
            </a:r>
            <a:endParaRPr lang="en-US" sz="816" dirty="0"/>
          </a:p>
        </p:txBody>
      </p:sp>
      <p:sp>
        <p:nvSpPr>
          <p:cNvPr id="20" name="Text 17"/>
          <p:cNvSpPr/>
          <p:nvPr/>
        </p:nvSpPr>
        <p:spPr>
          <a:xfrm>
            <a:off x="6267293" y="36678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interesado por el producto</a:t>
            </a:r>
            <a:endParaRPr lang="en-US" sz="552" dirty="0"/>
          </a:p>
        </p:txBody>
      </p:sp>
      <p:sp>
        <p:nvSpPr>
          <p:cNvPr id="21" name="Text 18"/>
          <p:cNvSpPr/>
          <p:nvPr/>
        </p:nvSpPr>
        <p:spPr>
          <a:xfrm>
            <a:off x="6267293" y="43346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Agendado / llamada posterior</a:t>
            </a:r>
            <a:endParaRPr lang="en-US" sz="552" dirty="0"/>
          </a:p>
        </p:txBody>
      </p:sp>
      <p:sp>
        <p:nvSpPr>
          <p:cNvPr id="22" name="Text 19"/>
          <p:cNvSpPr/>
          <p:nvPr/>
        </p:nvSpPr>
        <p:spPr>
          <a:xfrm>
            <a:off x="6267293" y="40679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Datos errados / experiencia</a:t>
            </a:r>
            <a:endParaRPr lang="en-US" sz="552" dirty="0"/>
          </a:p>
        </p:txBody>
      </p:sp>
      <p:sp>
        <p:nvSpPr>
          <p:cNvPr id="23" name="Text 20"/>
          <p:cNvSpPr/>
          <p:nvPr/>
        </p:nvSpPr>
        <p:spPr>
          <a:xfrm>
            <a:off x="6267293" y="42012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interesado por el precio</a:t>
            </a:r>
            <a:endParaRPr lang="en-US" sz="552" dirty="0"/>
          </a:p>
        </p:txBody>
      </p:sp>
      <p:sp>
        <p:nvSpPr>
          <p:cNvPr id="24" name="Text 21"/>
          <p:cNvSpPr/>
          <p:nvPr/>
        </p:nvSpPr>
        <p:spPr>
          <a:xfrm>
            <a:off x="6267293" y="39345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es responsable del pago</a:t>
            </a:r>
            <a:endParaRPr lang="en-US" sz="552" dirty="0"/>
          </a:p>
        </p:txBody>
      </p:sp>
      <p:sp>
        <p:nvSpPr>
          <p:cNvPr id="25" name="Text 22"/>
          <p:cNvSpPr/>
          <p:nvPr/>
        </p:nvSpPr>
        <p:spPr>
          <a:xfrm>
            <a:off x="10037510" y="131613"/>
            <a:ext cx="2078907" cy="215836"/>
          </a:xfrm>
          <a:prstGeom prst="rect">
            <a:avLst/>
          </a:prstGeom>
          <a:noFill/>
          <a:ln/>
        </p:spPr>
        <p:txBody>
          <a:bodyPr wrap="square" lIns="38100" tIns="114300" rIns="114300" bIns="38100" rtlCol="0" anchor="t"/>
          <a:lstStyle/>
          <a:p>
            <a:pPr marL="0" indent="0" algn="l">
              <a:buNone/>
            </a:pPr>
            <a:r>
              <a:rPr lang="en-US" sz="840" b="1" dirty="0" err="1">
                <a:solidFill>
                  <a:srgbClr val="5AE280"/>
                </a:solidFill>
                <a:latin typeface="Raleway" pitchFamily="34" charset="0"/>
                <a:ea typeface="Raleway" pitchFamily="34" charset="-122"/>
                <a:cs typeface="Raleway" pitchFamily="34" charset="-120"/>
              </a:rPr>
              <a:t>Detalle</a:t>
            </a:r>
            <a:r>
              <a:rPr lang="en-US" sz="840" b="1" dirty="0">
                <a:solidFill>
                  <a:srgbClr val="5AE280"/>
                </a:solidFill>
                <a:latin typeface="Raleway" pitchFamily="34" charset="0"/>
                <a:ea typeface="Raleway" pitchFamily="34" charset="-122"/>
                <a:cs typeface="Raleway" pitchFamily="34" charset="-120"/>
              </a:rPr>
              <a:t> CP Stock</a:t>
            </a:r>
            <a:endParaRPr lang="en-US" sz="840" dirty="0"/>
          </a:p>
        </p:txBody>
      </p:sp>
      <p:sp>
        <p:nvSpPr>
          <p:cNvPr id="26" name="Text 23"/>
          <p:cNvSpPr/>
          <p:nvPr/>
        </p:nvSpPr>
        <p:spPr>
          <a:xfrm>
            <a:off x="504812" y="35345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Cuota Protegida Activa</a:t>
            </a:r>
            <a:endParaRPr lang="en-US" sz="576" dirty="0"/>
          </a:p>
        </p:txBody>
      </p:sp>
      <p:sp>
        <p:nvSpPr>
          <p:cNvPr id="27" name="Text 24"/>
          <p:cNvSpPr/>
          <p:nvPr/>
        </p:nvSpPr>
        <p:spPr>
          <a:xfrm>
            <a:off x="6267293" y="47346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Contestador automático</a:t>
            </a:r>
            <a:endParaRPr lang="en-US" sz="552" dirty="0"/>
          </a:p>
        </p:txBody>
      </p:sp>
      <p:sp>
        <p:nvSpPr>
          <p:cNvPr id="28" name="Text 25"/>
          <p:cNvSpPr/>
          <p:nvPr/>
        </p:nvSpPr>
        <p:spPr>
          <a:xfrm>
            <a:off x="504812" y="446799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Otros motivos menores</a:t>
            </a:r>
            <a:endParaRPr lang="en-US" sz="576" dirty="0"/>
          </a:p>
        </p:txBody>
      </p:sp>
      <p:sp>
        <p:nvSpPr>
          <p:cNvPr id="29" name="Text 26"/>
          <p:cNvSpPr/>
          <p:nvPr/>
        </p:nvSpPr>
        <p:spPr>
          <a:xfrm>
            <a:off x="6267293" y="44679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Otros motivos menores</a:t>
            </a:r>
            <a:endParaRPr lang="en-US" sz="552" dirty="0"/>
          </a:p>
        </p:txBody>
      </p:sp>
      <p:sp>
        <p:nvSpPr>
          <p:cNvPr id="30" name="Text 27"/>
          <p:cNvSpPr/>
          <p:nvPr/>
        </p:nvSpPr>
        <p:spPr>
          <a:xfrm>
            <a:off x="533387" y="828675"/>
            <a:ext cx="3584053"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VOLUMEN DE REGISTROS</a:t>
            </a:r>
            <a:endParaRPr lang="en-US" sz="672" dirty="0"/>
          </a:p>
        </p:txBody>
      </p:sp>
      <p:sp>
        <p:nvSpPr>
          <p:cNvPr id="31" name="Text 28"/>
          <p:cNvSpPr/>
          <p:nvPr/>
        </p:nvSpPr>
        <p:spPr>
          <a:xfrm>
            <a:off x="4374991" y="828675"/>
            <a:ext cx="3584053"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VENTAS CONSOLIDADAS</a:t>
            </a:r>
            <a:endParaRPr lang="en-US" sz="672" dirty="0"/>
          </a:p>
        </p:txBody>
      </p:sp>
      <p:sp>
        <p:nvSpPr>
          <p:cNvPr id="32" name="Text 29"/>
          <p:cNvSpPr/>
          <p:nvPr/>
        </p:nvSpPr>
        <p:spPr>
          <a:xfrm>
            <a:off x="8216595" y="828675"/>
            <a:ext cx="3584207"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CONVERSIÓN PROMEDIO</a:t>
            </a:r>
            <a:endParaRPr lang="en-US" sz="672" dirty="0"/>
          </a:p>
        </p:txBody>
      </p:sp>
      <p:sp>
        <p:nvSpPr>
          <p:cNvPr id="33" name="Text 30"/>
          <p:cNvSpPr/>
          <p:nvPr/>
        </p:nvSpPr>
        <p:spPr>
          <a:xfrm>
            <a:off x="504812" y="38012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Dirección Repetida</a:t>
            </a:r>
            <a:endParaRPr lang="en-US" sz="576" dirty="0"/>
          </a:p>
        </p:txBody>
      </p:sp>
      <p:sp>
        <p:nvSpPr>
          <p:cNvPr id="34" name="Text 31"/>
          <p:cNvSpPr/>
          <p:nvPr/>
        </p:nvSpPr>
        <p:spPr>
          <a:xfrm>
            <a:off x="504812" y="393459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Microseguro Activo</a:t>
            </a:r>
            <a:endParaRPr lang="en-US" sz="576" dirty="0"/>
          </a:p>
        </p:txBody>
      </p:sp>
      <p:sp>
        <p:nvSpPr>
          <p:cNvPr id="35" name="Text 32"/>
          <p:cNvSpPr/>
          <p:nvPr/>
        </p:nvSpPr>
        <p:spPr>
          <a:xfrm>
            <a:off x="504812" y="40679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Teléfono Repetido</a:t>
            </a:r>
            <a:endParaRPr lang="en-US" sz="576" dirty="0"/>
          </a:p>
        </p:txBody>
      </p:sp>
      <p:sp>
        <p:nvSpPr>
          <p:cNvPr id="36" name="Text 33"/>
          <p:cNvSpPr/>
          <p:nvPr/>
        </p:nvSpPr>
        <p:spPr>
          <a:xfrm>
            <a:off x="6267293" y="3405955"/>
            <a:ext cx="1879325" cy="128588"/>
          </a:xfrm>
          <a:prstGeom prst="rect">
            <a:avLst/>
          </a:prstGeom>
          <a:noFill/>
          <a:ln/>
        </p:spPr>
        <p:txBody>
          <a:bodyPr wrap="square" lIns="19050" tIns="38100" rIns="38100" bIns="19050" rtlCol="0" anchor="ctr"/>
          <a:lstStyle/>
          <a:p>
            <a:pPr marL="0" indent="0" algn="l">
              <a:buNone/>
            </a:pPr>
            <a:r>
              <a:rPr lang="en-US" sz="552" dirty="0">
                <a:solidFill>
                  <a:srgbClr val="120180"/>
                </a:solidFill>
                <a:latin typeface="Raleway" pitchFamily="34" charset="0"/>
                <a:ea typeface="Raleway" pitchFamily="34" charset="-122"/>
                <a:cs typeface="Raleway" pitchFamily="34" charset="-120"/>
              </a:rPr>
              <a:t>CONTACTO EFECTIVO</a:t>
            </a:r>
            <a:endParaRPr lang="en-US" sz="552" dirty="0"/>
          </a:p>
        </p:txBody>
      </p:sp>
      <p:sp>
        <p:nvSpPr>
          <p:cNvPr id="37" name="Text 34"/>
          <p:cNvSpPr/>
          <p:nvPr/>
        </p:nvSpPr>
        <p:spPr>
          <a:xfrm>
            <a:off x="6267293" y="38012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Cuelga la llamada</a:t>
            </a:r>
            <a:endParaRPr lang="en-US" sz="552" dirty="0"/>
          </a:p>
        </p:txBody>
      </p:sp>
      <p:sp>
        <p:nvSpPr>
          <p:cNvPr id="38" name="Text 35"/>
          <p:cNvSpPr/>
          <p:nvPr/>
        </p:nvSpPr>
        <p:spPr>
          <a:xfrm>
            <a:off x="6267293" y="5134742"/>
            <a:ext cx="1879325" cy="128588"/>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Otros no contacto</a:t>
            </a:r>
            <a:endParaRPr lang="en-US" sz="552" dirty="0"/>
          </a:p>
        </p:txBody>
      </p:sp>
      <p:sp>
        <p:nvSpPr>
          <p:cNvPr id="39" name="Text 36"/>
          <p:cNvSpPr/>
          <p:nvPr/>
        </p:nvSpPr>
        <p:spPr>
          <a:xfrm>
            <a:off x="504812" y="420129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Cédula Repetida</a:t>
            </a:r>
            <a:endParaRPr lang="en-US" sz="576" dirty="0"/>
          </a:p>
        </p:txBody>
      </p:sp>
      <p:sp>
        <p:nvSpPr>
          <p:cNvPr id="40" name="Text 37"/>
          <p:cNvSpPr/>
          <p:nvPr/>
        </p:nvSpPr>
        <p:spPr>
          <a:xfrm>
            <a:off x="10281832" y="1796230"/>
            <a:ext cx="145701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Conv. / Ctto.</a:t>
            </a:r>
            <a:endParaRPr lang="en-US" sz="888" dirty="0"/>
          </a:p>
        </p:txBody>
      </p:sp>
      <p:sp>
        <p:nvSpPr>
          <p:cNvPr id="41" name="Text 38"/>
          <p:cNvSpPr/>
          <p:nvPr/>
        </p:nvSpPr>
        <p:spPr>
          <a:xfrm>
            <a:off x="6267293" y="35345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Venta exitosa</a:t>
            </a:r>
            <a:endParaRPr lang="en-US" sz="552" dirty="0"/>
          </a:p>
        </p:txBody>
      </p:sp>
      <p:sp>
        <p:nvSpPr>
          <p:cNvPr id="42" name="Text 39"/>
          <p:cNvSpPr/>
          <p:nvPr/>
        </p:nvSpPr>
        <p:spPr>
          <a:xfrm>
            <a:off x="6267293" y="3234505"/>
            <a:ext cx="1879325"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Tipificación</a:t>
            </a:r>
            <a:endParaRPr lang="en-US" sz="888" dirty="0"/>
          </a:p>
        </p:txBody>
      </p:sp>
      <p:sp>
        <p:nvSpPr>
          <p:cNvPr id="43" name="Text 40"/>
          <p:cNvSpPr/>
          <p:nvPr/>
        </p:nvSpPr>
        <p:spPr>
          <a:xfrm>
            <a:off x="6267293" y="4601342"/>
            <a:ext cx="1879325" cy="133350"/>
          </a:xfrm>
          <a:prstGeom prst="rect">
            <a:avLst/>
          </a:prstGeom>
          <a:noFill/>
          <a:ln/>
        </p:spPr>
        <p:txBody>
          <a:bodyPr wrap="square" lIns="19050" tIns="38100" rIns="38100" bIns="19050" rtlCol="0" anchor="ctr"/>
          <a:lstStyle/>
          <a:p>
            <a:pPr marL="0" indent="0" algn="l">
              <a:buNone/>
            </a:pPr>
            <a:r>
              <a:rPr lang="en-US" sz="552" dirty="0">
                <a:solidFill>
                  <a:srgbClr val="120180"/>
                </a:solidFill>
                <a:latin typeface="Raleway" pitchFamily="34" charset="0"/>
                <a:ea typeface="Raleway" pitchFamily="34" charset="-122"/>
                <a:cs typeface="Raleway" pitchFamily="34" charset="-120"/>
              </a:rPr>
              <a:t>NO CONTACTO</a:t>
            </a:r>
            <a:endParaRPr lang="en-US" sz="552" dirty="0"/>
          </a:p>
        </p:txBody>
      </p:sp>
      <p:sp>
        <p:nvSpPr>
          <p:cNvPr id="44" name="Text 41"/>
          <p:cNvSpPr/>
          <p:nvPr/>
        </p:nvSpPr>
        <p:spPr>
          <a:xfrm>
            <a:off x="6267293" y="48680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contesta</a:t>
            </a:r>
            <a:endParaRPr lang="en-US" sz="552" dirty="0"/>
          </a:p>
        </p:txBody>
      </p:sp>
      <p:sp>
        <p:nvSpPr>
          <p:cNvPr id="45" name="Text 42"/>
          <p:cNvSpPr/>
          <p:nvPr/>
        </p:nvSpPr>
        <p:spPr>
          <a:xfrm>
            <a:off x="2996877" y="1796230"/>
            <a:ext cx="1568454"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46" name="Text 43"/>
          <p:cNvSpPr/>
          <p:nvPr/>
        </p:nvSpPr>
        <p:spPr>
          <a:xfrm>
            <a:off x="8324195"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47" name="Text 44"/>
          <p:cNvSpPr/>
          <p:nvPr/>
        </p:nvSpPr>
        <p:spPr>
          <a:xfrm>
            <a:off x="1582896" y="1796230"/>
            <a:ext cx="145640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48" name="Text 45"/>
          <p:cNvSpPr/>
          <p:nvPr/>
        </p:nvSpPr>
        <p:spPr>
          <a:xfrm>
            <a:off x="4519648" y="1796230"/>
            <a:ext cx="1456707"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49" name="Text 46"/>
          <p:cNvSpPr/>
          <p:nvPr/>
        </p:nvSpPr>
        <p:spPr>
          <a:xfrm>
            <a:off x="495288" y="21057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50" name="Text 47"/>
          <p:cNvSpPr/>
          <p:nvPr/>
        </p:nvSpPr>
        <p:spPr>
          <a:xfrm>
            <a:off x="1582896" y="2677292"/>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114.104</a:t>
            </a:r>
            <a:endParaRPr lang="en-US" sz="636" dirty="0"/>
          </a:p>
        </p:txBody>
      </p:sp>
      <p:sp>
        <p:nvSpPr>
          <p:cNvPr id="51" name="Text 48"/>
          <p:cNvSpPr/>
          <p:nvPr/>
        </p:nvSpPr>
        <p:spPr>
          <a:xfrm>
            <a:off x="1582896" y="2820167"/>
            <a:ext cx="1456400"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420.641</a:t>
            </a:r>
            <a:endParaRPr lang="en-US" sz="636" dirty="0"/>
          </a:p>
        </p:txBody>
      </p:sp>
      <p:sp>
        <p:nvSpPr>
          <p:cNvPr id="52" name="Text 49"/>
          <p:cNvSpPr/>
          <p:nvPr/>
        </p:nvSpPr>
        <p:spPr>
          <a:xfrm>
            <a:off x="2996877" y="2820167"/>
            <a:ext cx="1568454"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261.700</a:t>
            </a:r>
            <a:endParaRPr lang="en-US" sz="636" dirty="0"/>
          </a:p>
        </p:txBody>
      </p:sp>
      <p:sp>
        <p:nvSpPr>
          <p:cNvPr id="53" name="Text 50"/>
          <p:cNvSpPr/>
          <p:nvPr/>
        </p:nvSpPr>
        <p:spPr>
          <a:xfrm>
            <a:off x="5226118" y="4601342"/>
            <a:ext cx="719233"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261.700</a:t>
            </a:r>
            <a:endParaRPr lang="en-US" sz="576" dirty="0"/>
          </a:p>
        </p:txBody>
      </p:sp>
      <p:sp>
        <p:nvSpPr>
          <p:cNvPr id="54" name="Text 51"/>
          <p:cNvSpPr/>
          <p:nvPr/>
        </p:nvSpPr>
        <p:spPr>
          <a:xfrm>
            <a:off x="6257769" y="21057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55" name="Text 52"/>
          <p:cNvSpPr/>
          <p:nvPr/>
        </p:nvSpPr>
        <p:spPr>
          <a:xfrm>
            <a:off x="7345377"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158.941</a:t>
            </a:r>
            <a:endParaRPr lang="en-US" sz="636" dirty="0"/>
          </a:p>
        </p:txBody>
      </p:sp>
      <p:sp>
        <p:nvSpPr>
          <p:cNvPr id="56" name="Text 53"/>
          <p:cNvSpPr/>
          <p:nvPr/>
        </p:nvSpPr>
        <p:spPr>
          <a:xfrm>
            <a:off x="533387" y="971550"/>
            <a:ext cx="3584053"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420.641</a:t>
            </a:r>
            <a:endParaRPr lang="en-US" sz="1380" dirty="0"/>
          </a:p>
        </p:txBody>
      </p:sp>
      <p:sp>
        <p:nvSpPr>
          <p:cNvPr id="57" name="Text 54"/>
          <p:cNvSpPr/>
          <p:nvPr/>
        </p:nvSpPr>
        <p:spPr>
          <a:xfrm>
            <a:off x="1582896" y="1967680"/>
            <a:ext cx="1456400"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20.864</a:t>
            </a:r>
            <a:endParaRPr lang="en-US" sz="636" dirty="0"/>
          </a:p>
        </p:txBody>
      </p:sp>
      <p:sp>
        <p:nvSpPr>
          <p:cNvPr id="58" name="Text 55"/>
          <p:cNvSpPr/>
          <p:nvPr/>
        </p:nvSpPr>
        <p:spPr>
          <a:xfrm>
            <a:off x="2996877" y="1967680"/>
            <a:ext cx="1568454"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12.781</a:t>
            </a:r>
            <a:endParaRPr lang="en-US" sz="636" dirty="0"/>
          </a:p>
        </p:txBody>
      </p:sp>
      <p:sp>
        <p:nvSpPr>
          <p:cNvPr id="59" name="Text 56"/>
          <p:cNvSpPr/>
          <p:nvPr/>
        </p:nvSpPr>
        <p:spPr>
          <a:xfrm>
            <a:off x="4519648" y="1967680"/>
            <a:ext cx="1456707"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61,3 %</a:t>
            </a:r>
            <a:endParaRPr lang="en-US" sz="636" dirty="0"/>
          </a:p>
        </p:txBody>
      </p:sp>
      <p:sp>
        <p:nvSpPr>
          <p:cNvPr id="60" name="Text 57"/>
          <p:cNvSpPr/>
          <p:nvPr/>
        </p:nvSpPr>
        <p:spPr>
          <a:xfrm>
            <a:off x="1582896" y="2105792"/>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50.266</a:t>
            </a:r>
            <a:endParaRPr lang="en-US" sz="636" dirty="0"/>
          </a:p>
        </p:txBody>
      </p:sp>
      <p:sp>
        <p:nvSpPr>
          <p:cNvPr id="61" name="Text 58"/>
          <p:cNvSpPr/>
          <p:nvPr/>
        </p:nvSpPr>
        <p:spPr>
          <a:xfrm>
            <a:off x="2996877" y="2105792"/>
            <a:ext cx="1568454"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25.419</a:t>
            </a:r>
            <a:endParaRPr lang="en-US" sz="636" dirty="0"/>
          </a:p>
        </p:txBody>
      </p:sp>
      <p:sp>
        <p:nvSpPr>
          <p:cNvPr id="62" name="Text 59"/>
          <p:cNvSpPr/>
          <p:nvPr/>
        </p:nvSpPr>
        <p:spPr>
          <a:xfrm>
            <a:off x="4519648" y="2105792"/>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50,6 %</a:t>
            </a:r>
            <a:endParaRPr lang="en-US" sz="636" dirty="0"/>
          </a:p>
        </p:txBody>
      </p:sp>
      <p:sp>
        <p:nvSpPr>
          <p:cNvPr id="63" name="Text 60"/>
          <p:cNvSpPr/>
          <p:nvPr/>
        </p:nvSpPr>
        <p:spPr>
          <a:xfrm>
            <a:off x="1582896" y="2248667"/>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69.741</a:t>
            </a:r>
            <a:endParaRPr lang="en-US" sz="636" dirty="0"/>
          </a:p>
        </p:txBody>
      </p:sp>
      <p:sp>
        <p:nvSpPr>
          <p:cNvPr id="64" name="Text 61"/>
          <p:cNvSpPr/>
          <p:nvPr/>
        </p:nvSpPr>
        <p:spPr>
          <a:xfrm>
            <a:off x="2996877" y="2248667"/>
            <a:ext cx="1568454"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41.761</a:t>
            </a:r>
            <a:endParaRPr lang="en-US" sz="636" dirty="0"/>
          </a:p>
        </p:txBody>
      </p:sp>
      <p:sp>
        <p:nvSpPr>
          <p:cNvPr id="65" name="Text 62"/>
          <p:cNvSpPr/>
          <p:nvPr/>
        </p:nvSpPr>
        <p:spPr>
          <a:xfrm>
            <a:off x="4519648" y="2248667"/>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59,9 %</a:t>
            </a:r>
            <a:endParaRPr lang="en-US" sz="636" dirty="0"/>
          </a:p>
        </p:txBody>
      </p:sp>
      <p:sp>
        <p:nvSpPr>
          <p:cNvPr id="66" name="Text 63"/>
          <p:cNvSpPr/>
          <p:nvPr/>
        </p:nvSpPr>
        <p:spPr>
          <a:xfrm>
            <a:off x="1582896" y="2391542"/>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82.833</a:t>
            </a:r>
            <a:endParaRPr lang="en-US" sz="636" dirty="0"/>
          </a:p>
        </p:txBody>
      </p:sp>
      <p:sp>
        <p:nvSpPr>
          <p:cNvPr id="67" name="Text 64"/>
          <p:cNvSpPr/>
          <p:nvPr/>
        </p:nvSpPr>
        <p:spPr>
          <a:xfrm>
            <a:off x="2996877" y="2391542"/>
            <a:ext cx="1568454"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53.460</a:t>
            </a:r>
            <a:endParaRPr lang="en-US" sz="636" dirty="0"/>
          </a:p>
        </p:txBody>
      </p:sp>
      <p:sp>
        <p:nvSpPr>
          <p:cNvPr id="68" name="Text 65"/>
          <p:cNvSpPr/>
          <p:nvPr/>
        </p:nvSpPr>
        <p:spPr>
          <a:xfrm>
            <a:off x="4519648" y="2391542"/>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64,5 %</a:t>
            </a:r>
            <a:endParaRPr lang="en-US" sz="636" dirty="0"/>
          </a:p>
        </p:txBody>
      </p:sp>
      <p:sp>
        <p:nvSpPr>
          <p:cNvPr id="69" name="Text 66"/>
          <p:cNvSpPr/>
          <p:nvPr/>
        </p:nvSpPr>
        <p:spPr>
          <a:xfrm>
            <a:off x="1582896" y="2534417"/>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82.833</a:t>
            </a:r>
            <a:endParaRPr lang="en-US" sz="636" dirty="0"/>
          </a:p>
        </p:txBody>
      </p:sp>
      <p:sp>
        <p:nvSpPr>
          <p:cNvPr id="70" name="Text 67"/>
          <p:cNvSpPr/>
          <p:nvPr/>
        </p:nvSpPr>
        <p:spPr>
          <a:xfrm>
            <a:off x="2996877" y="2534417"/>
            <a:ext cx="1568454"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53.460</a:t>
            </a:r>
            <a:endParaRPr lang="en-US" sz="636" dirty="0"/>
          </a:p>
        </p:txBody>
      </p:sp>
      <p:sp>
        <p:nvSpPr>
          <p:cNvPr id="71" name="Text 68"/>
          <p:cNvSpPr/>
          <p:nvPr/>
        </p:nvSpPr>
        <p:spPr>
          <a:xfrm>
            <a:off x="4519648" y="2534417"/>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64,5 %</a:t>
            </a:r>
            <a:endParaRPr lang="en-US" sz="636" dirty="0"/>
          </a:p>
        </p:txBody>
      </p:sp>
      <p:sp>
        <p:nvSpPr>
          <p:cNvPr id="72" name="Text 69"/>
          <p:cNvSpPr/>
          <p:nvPr/>
        </p:nvSpPr>
        <p:spPr>
          <a:xfrm>
            <a:off x="2996877" y="2677292"/>
            <a:ext cx="1568454"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74.819</a:t>
            </a:r>
            <a:endParaRPr lang="en-US" sz="636" dirty="0"/>
          </a:p>
        </p:txBody>
      </p:sp>
      <p:sp>
        <p:nvSpPr>
          <p:cNvPr id="73" name="Text 70"/>
          <p:cNvSpPr/>
          <p:nvPr/>
        </p:nvSpPr>
        <p:spPr>
          <a:xfrm>
            <a:off x="4519648" y="2677292"/>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65,6 %</a:t>
            </a:r>
            <a:endParaRPr lang="en-US" sz="636" dirty="0"/>
          </a:p>
        </p:txBody>
      </p:sp>
      <p:sp>
        <p:nvSpPr>
          <p:cNvPr id="74" name="Text 71"/>
          <p:cNvSpPr/>
          <p:nvPr/>
        </p:nvSpPr>
        <p:spPr>
          <a:xfrm>
            <a:off x="4519648" y="2820167"/>
            <a:ext cx="1456707"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62,2 %</a:t>
            </a:r>
            <a:endParaRPr lang="en-US" sz="636" dirty="0"/>
          </a:p>
        </p:txBody>
      </p:sp>
      <p:sp>
        <p:nvSpPr>
          <p:cNvPr id="75" name="Text 72"/>
          <p:cNvSpPr/>
          <p:nvPr/>
        </p:nvSpPr>
        <p:spPr>
          <a:xfrm>
            <a:off x="504812" y="3234505"/>
            <a:ext cx="1879325"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Motivo</a:t>
            </a:r>
            <a:endParaRPr lang="en-US" sz="888" dirty="0"/>
          </a:p>
        </p:txBody>
      </p:sp>
      <p:sp>
        <p:nvSpPr>
          <p:cNvPr id="76" name="Text 73"/>
          <p:cNvSpPr/>
          <p:nvPr/>
        </p:nvSpPr>
        <p:spPr>
          <a:xfrm>
            <a:off x="3294972"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15.354</a:t>
            </a:r>
            <a:endParaRPr lang="en-US" sz="576" dirty="0"/>
          </a:p>
        </p:txBody>
      </p:sp>
      <p:sp>
        <p:nvSpPr>
          <p:cNvPr id="77" name="Text 74"/>
          <p:cNvSpPr/>
          <p:nvPr/>
        </p:nvSpPr>
        <p:spPr>
          <a:xfrm>
            <a:off x="3777759"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19.655</a:t>
            </a:r>
            <a:endParaRPr lang="en-US" sz="576" dirty="0"/>
          </a:p>
        </p:txBody>
      </p:sp>
      <p:sp>
        <p:nvSpPr>
          <p:cNvPr id="78" name="Text 75"/>
          <p:cNvSpPr/>
          <p:nvPr/>
        </p:nvSpPr>
        <p:spPr>
          <a:xfrm>
            <a:off x="4260545"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19.655</a:t>
            </a:r>
            <a:endParaRPr lang="en-US" sz="576" dirty="0"/>
          </a:p>
        </p:txBody>
      </p:sp>
      <p:sp>
        <p:nvSpPr>
          <p:cNvPr id="79" name="Text 76"/>
          <p:cNvSpPr/>
          <p:nvPr/>
        </p:nvSpPr>
        <p:spPr>
          <a:xfrm>
            <a:off x="4743331"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27.509</a:t>
            </a:r>
            <a:endParaRPr lang="en-US" sz="576" dirty="0"/>
          </a:p>
        </p:txBody>
      </p:sp>
      <p:sp>
        <p:nvSpPr>
          <p:cNvPr id="80" name="Text 77"/>
          <p:cNvSpPr/>
          <p:nvPr/>
        </p:nvSpPr>
        <p:spPr>
          <a:xfrm>
            <a:off x="5226118" y="3405955"/>
            <a:ext cx="719233" cy="128588"/>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96.218</a:t>
            </a:r>
            <a:endParaRPr lang="en-US" sz="576" dirty="0"/>
          </a:p>
        </p:txBody>
      </p:sp>
      <p:sp>
        <p:nvSpPr>
          <p:cNvPr id="81" name="Text 78"/>
          <p:cNvSpPr/>
          <p:nvPr/>
        </p:nvSpPr>
        <p:spPr>
          <a:xfrm>
            <a:off x="3294972"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13.637</a:t>
            </a:r>
            <a:endParaRPr lang="en-US" sz="576" dirty="0"/>
          </a:p>
        </p:txBody>
      </p:sp>
      <p:sp>
        <p:nvSpPr>
          <p:cNvPr id="82" name="Text 79"/>
          <p:cNvSpPr/>
          <p:nvPr/>
        </p:nvSpPr>
        <p:spPr>
          <a:xfrm>
            <a:off x="3777759"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17.457</a:t>
            </a:r>
            <a:endParaRPr lang="en-US" sz="576" dirty="0"/>
          </a:p>
        </p:txBody>
      </p:sp>
      <p:sp>
        <p:nvSpPr>
          <p:cNvPr id="83" name="Text 80"/>
          <p:cNvSpPr/>
          <p:nvPr/>
        </p:nvSpPr>
        <p:spPr>
          <a:xfrm>
            <a:off x="4260545"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17.457</a:t>
            </a:r>
            <a:endParaRPr lang="en-US" sz="576" dirty="0"/>
          </a:p>
        </p:txBody>
      </p:sp>
      <p:sp>
        <p:nvSpPr>
          <p:cNvPr id="84" name="Text 81"/>
          <p:cNvSpPr/>
          <p:nvPr/>
        </p:nvSpPr>
        <p:spPr>
          <a:xfrm>
            <a:off x="4743331"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24.431</a:t>
            </a:r>
            <a:endParaRPr lang="en-US" sz="576" dirty="0"/>
          </a:p>
        </p:txBody>
      </p:sp>
      <p:sp>
        <p:nvSpPr>
          <p:cNvPr id="85" name="Text 82"/>
          <p:cNvSpPr/>
          <p:nvPr/>
        </p:nvSpPr>
        <p:spPr>
          <a:xfrm>
            <a:off x="5226118" y="353454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85.455</a:t>
            </a:r>
            <a:endParaRPr lang="en-US" sz="576" dirty="0"/>
          </a:p>
        </p:txBody>
      </p:sp>
      <p:sp>
        <p:nvSpPr>
          <p:cNvPr id="86" name="Text 83"/>
          <p:cNvSpPr/>
          <p:nvPr/>
        </p:nvSpPr>
        <p:spPr>
          <a:xfrm>
            <a:off x="5226118" y="366789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21.047</a:t>
            </a:r>
            <a:endParaRPr lang="en-US" sz="576" dirty="0"/>
          </a:p>
        </p:txBody>
      </p:sp>
      <p:sp>
        <p:nvSpPr>
          <p:cNvPr id="87" name="Text 84"/>
          <p:cNvSpPr/>
          <p:nvPr/>
        </p:nvSpPr>
        <p:spPr>
          <a:xfrm>
            <a:off x="5226118" y="380124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19.533</a:t>
            </a:r>
            <a:endParaRPr lang="en-US" sz="576" dirty="0"/>
          </a:p>
        </p:txBody>
      </p:sp>
      <p:sp>
        <p:nvSpPr>
          <p:cNvPr id="88" name="Text 85"/>
          <p:cNvSpPr/>
          <p:nvPr/>
        </p:nvSpPr>
        <p:spPr>
          <a:xfrm>
            <a:off x="5226118" y="393459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13.637</a:t>
            </a:r>
            <a:endParaRPr lang="en-US" sz="576" dirty="0"/>
          </a:p>
        </p:txBody>
      </p:sp>
      <p:sp>
        <p:nvSpPr>
          <p:cNvPr id="89" name="Text 86"/>
          <p:cNvSpPr/>
          <p:nvPr/>
        </p:nvSpPr>
        <p:spPr>
          <a:xfrm>
            <a:off x="2329400" y="460134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12.781</a:t>
            </a:r>
            <a:endParaRPr lang="en-US" sz="576" dirty="0"/>
          </a:p>
        </p:txBody>
      </p:sp>
      <p:sp>
        <p:nvSpPr>
          <p:cNvPr id="90" name="Text 87"/>
          <p:cNvSpPr/>
          <p:nvPr/>
        </p:nvSpPr>
        <p:spPr>
          <a:xfrm>
            <a:off x="2812186" y="460134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25.419</a:t>
            </a:r>
            <a:endParaRPr lang="en-US" sz="576" dirty="0"/>
          </a:p>
        </p:txBody>
      </p:sp>
      <p:sp>
        <p:nvSpPr>
          <p:cNvPr id="91" name="Text 88"/>
          <p:cNvSpPr/>
          <p:nvPr/>
        </p:nvSpPr>
        <p:spPr>
          <a:xfrm>
            <a:off x="3294972" y="460134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41.761</a:t>
            </a:r>
            <a:endParaRPr lang="en-US" sz="576" dirty="0"/>
          </a:p>
        </p:txBody>
      </p:sp>
      <p:sp>
        <p:nvSpPr>
          <p:cNvPr id="92" name="Text 89"/>
          <p:cNvSpPr/>
          <p:nvPr/>
        </p:nvSpPr>
        <p:spPr>
          <a:xfrm>
            <a:off x="3777759" y="460134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53.460</a:t>
            </a:r>
            <a:endParaRPr lang="en-US" sz="576" dirty="0"/>
          </a:p>
        </p:txBody>
      </p:sp>
      <p:sp>
        <p:nvSpPr>
          <p:cNvPr id="93" name="Text 90"/>
          <p:cNvSpPr/>
          <p:nvPr/>
        </p:nvSpPr>
        <p:spPr>
          <a:xfrm>
            <a:off x="4260545" y="460134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53.460</a:t>
            </a:r>
            <a:endParaRPr lang="en-US" sz="576" dirty="0"/>
          </a:p>
        </p:txBody>
      </p:sp>
      <p:sp>
        <p:nvSpPr>
          <p:cNvPr id="94" name="Text 91"/>
          <p:cNvSpPr/>
          <p:nvPr/>
        </p:nvSpPr>
        <p:spPr>
          <a:xfrm>
            <a:off x="4743331" y="460134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74.819</a:t>
            </a:r>
            <a:endParaRPr lang="en-US" sz="576" dirty="0"/>
          </a:p>
        </p:txBody>
      </p:sp>
      <p:sp>
        <p:nvSpPr>
          <p:cNvPr id="95" name="Text 92"/>
          <p:cNvSpPr/>
          <p:nvPr/>
        </p:nvSpPr>
        <p:spPr>
          <a:xfrm>
            <a:off x="9303014"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96" name="Text 93"/>
          <p:cNvSpPr/>
          <p:nvPr/>
        </p:nvSpPr>
        <p:spPr>
          <a:xfrm>
            <a:off x="8324195" y="1967680"/>
            <a:ext cx="100818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51,1 %</a:t>
            </a:r>
            <a:endParaRPr lang="en-US" sz="636" dirty="0"/>
          </a:p>
        </p:txBody>
      </p:sp>
      <p:sp>
        <p:nvSpPr>
          <p:cNvPr id="97" name="Text 94"/>
          <p:cNvSpPr/>
          <p:nvPr/>
        </p:nvSpPr>
        <p:spPr>
          <a:xfrm>
            <a:off x="7345377" y="210579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24.847</a:t>
            </a:r>
            <a:endParaRPr lang="en-US" sz="636" dirty="0"/>
          </a:p>
        </p:txBody>
      </p:sp>
      <p:sp>
        <p:nvSpPr>
          <p:cNvPr id="98" name="Text 95"/>
          <p:cNvSpPr/>
          <p:nvPr/>
        </p:nvSpPr>
        <p:spPr>
          <a:xfrm>
            <a:off x="8324195" y="210579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36,8 %</a:t>
            </a:r>
            <a:endParaRPr lang="en-US" sz="636" dirty="0"/>
          </a:p>
        </p:txBody>
      </p:sp>
      <p:sp>
        <p:nvSpPr>
          <p:cNvPr id="99" name="Text 96"/>
          <p:cNvSpPr/>
          <p:nvPr/>
        </p:nvSpPr>
        <p:spPr>
          <a:xfrm>
            <a:off x="7345377" y="2248667"/>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27.980</a:t>
            </a:r>
            <a:endParaRPr lang="en-US" sz="636" dirty="0"/>
          </a:p>
        </p:txBody>
      </p:sp>
      <p:sp>
        <p:nvSpPr>
          <p:cNvPr id="100" name="Text 97"/>
          <p:cNvSpPr/>
          <p:nvPr/>
        </p:nvSpPr>
        <p:spPr>
          <a:xfrm>
            <a:off x="8324195" y="2248667"/>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54,4 %</a:t>
            </a:r>
            <a:endParaRPr lang="en-US" sz="636" dirty="0"/>
          </a:p>
        </p:txBody>
      </p:sp>
      <p:sp>
        <p:nvSpPr>
          <p:cNvPr id="101" name="Text 98"/>
          <p:cNvSpPr/>
          <p:nvPr/>
        </p:nvSpPr>
        <p:spPr>
          <a:xfrm>
            <a:off x="7345377" y="239154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29.373</a:t>
            </a:r>
            <a:endParaRPr lang="en-US" sz="636" dirty="0"/>
          </a:p>
        </p:txBody>
      </p:sp>
      <p:sp>
        <p:nvSpPr>
          <p:cNvPr id="102" name="Text 99"/>
          <p:cNvSpPr/>
          <p:nvPr/>
        </p:nvSpPr>
        <p:spPr>
          <a:xfrm>
            <a:off x="8324195" y="239154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42,9 %</a:t>
            </a:r>
            <a:endParaRPr lang="en-US" sz="636" dirty="0"/>
          </a:p>
        </p:txBody>
      </p:sp>
      <p:sp>
        <p:nvSpPr>
          <p:cNvPr id="103" name="Text 100"/>
          <p:cNvSpPr/>
          <p:nvPr/>
        </p:nvSpPr>
        <p:spPr>
          <a:xfrm>
            <a:off x="7345377" y="2534417"/>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29.373</a:t>
            </a:r>
            <a:endParaRPr lang="en-US" sz="636" dirty="0"/>
          </a:p>
        </p:txBody>
      </p:sp>
      <p:sp>
        <p:nvSpPr>
          <p:cNvPr id="104" name="Text 101"/>
          <p:cNvSpPr/>
          <p:nvPr/>
        </p:nvSpPr>
        <p:spPr>
          <a:xfrm>
            <a:off x="8324195" y="2534417"/>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59,3 %</a:t>
            </a:r>
            <a:endParaRPr lang="en-US" sz="636" dirty="0"/>
          </a:p>
        </p:txBody>
      </p:sp>
      <p:sp>
        <p:nvSpPr>
          <p:cNvPr id="105" name="Text 102"/>
          <p:cNvSpPr/>
          <p:nvPr/>
        </p:nvSpPr>
        <p:spPr>
          <a:xfrm>
            <a:off x="7345377" y="267729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39.285</a:t>
            </a:r>
            <a:endParaRPr lang="en-US" sz="636" dirty="0"/>
          </a:p>
        </p:txBody>
      </p:sp>
      <p:sp>
        <p:nvSpPr>
          <p:cNvPr id="106" name="Text 103"/>
          <p:cNvSpPr/>
          <p:nvPr/>
        </p:nvSpPr>
        <p:spPr>
          <a:xfrm>
            <a:off x="8324195" y="267729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50,1 %</a:t>
            </a:r>
            <a:endParaRPr lang="en-US" sz="636" dirty="0"/>
          </a:p>
        </p:txBody>
      </p:sp>
      <p:sp>
        <p:nvSpPr>
          <p:cNvPr id="107" name="Text 104"/>
          <p:cNvSpPr/>
          <p:nvPr/>
        </p:nvSpPr>
        <p:spPr>
          <a:xfrm>
            <a:off x="8324195"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49,2 %</a:t>
            </a:r>
            <a:endParaRPr lang="en-US" sz="636" dirty="0"/>
          </a:p>
        </p:txBody>
      </p:sp>
      <p:sp>
        <p:nvSpPr>
          <p:cNvPr id="108" name="Text 105"/>
          <p:cNvSpPr/>
          <p:nvPr/>
        </p:nvSpPr>
        <p:spPr>
          <a:xfrm>
            <a:off x="8574667"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10.540</a:t>
            </a:r>
            <a:endParaRPr lang="en-US" sz="552" dirty="0"/>
          </a:p>
        </p:txBody>
      </p:sp>
      <p:sp>
        <p:nvSpPr>
          <p:cNvPr id="109" name="Text 106"/>
          <p:cNvSpPr/>
          <p:nvPr/>
        </p:nvSpPr>
        <p:spPr>
          <a:xfrm>
            <a:off x="9057453"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11.869</a:t>
            </a:r>
            <a:endParaRPr lang="en-US" sz="552" dirty="0"/>
          </a:p>
        </p:txBody>
      </p:sp>
      <p:sp>
        <p:nvSpPr>
          <p:cNvPr id="110" name="Text 107"/>
          <p:cNvSpPr/>
          <p:nvPr/>
        </p:nvSpPr>
        <p:spPr>
          <a:xfrm>
            <a:off x="9540240"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12.460</a:t>
            </a:r>
            <a:endParaRPr lang="en-US" sz="552" dirty="0"/>
          </a:p>
        </p:txBody>
      </p:sp>
      <p:sp>
        <p:nvSpPr>
          <p:cNvPr id="111" name="Text 108"/>
          <p:cNvSpPr/>
          <p:nvPr/>
        </p:nvSpPr>
        <p:spPr>
          <a:xfrm>
            <a:off x="10023026"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12.460</a:t>
            </a:r>
            <a:endParaRPr lang="en-US" sz="552" dirty="0"/>
          </a:p>
        </p:txBody>
      </p:sp>
      <p:sp>
        <p:nvSpPr>
          <p:cNvPr id="112" name="Text 109"/>
          <p:cNvSpPr/>
          <p:nvPr/>
        </p:nvSpPr>
        <p:spPr>
          <a:xfrm>
            <a:off x="10505812"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16.662</a:t>
            </a:r>
            <a:endParaRPr lang="en-US" sz="552" dirty="0"/>
          </a:p>
        </p:txBody>
      </p:sp>
      <p:sp>
        <p:nvSpPr>
          <p:cNvPr id="113" name="Text 110"/>
          <p:cNvSpPr/>
          <p:nvPr/>
        </p:nvSpPr>
        <p:spPr>
          <a:xfrm>
            <a:off x="10988599" y="3405955"/>
            <a:ext cx="719233"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67.420</a:t>
            </a:r>
            <a:endParaRPr lang="en-US" sz="552" dirty="0"/>
          </a:p>
        </p:txBody>
      </p:sp>
      <p:sp>
        <p:nvSpPr>
          <p:cNvPr id="114" name="Text 111"/>
          <p:cNvSpPr/>
          <p:nvPr/>
        </p:nvSpPr>
        <p:spPr>
          <a:xfrm>
            <a:off x="10988599" y="36678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24.996</a:t>
            </a:r>
            <a:endParaRPr lang="en-US" sz="552" dirty="0"/>
          </a:p>
        </p:txBody>
      </p:sp>
      <p:sp>
        <p:nvSpPr>
          <p:cNvPr id="115" name="Text 112"/>
          <p:cNvSpPr/>
          <p:nvPr/>
        </p:nvSpPr>
        <p:spPr>
          <a:xfrm>
            <a:off x="10988599" y="38012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14.356</a:t>
            </a:r>
            <a:endParaRPr lang="en-US" sz="552" dirty="0"/>
          </a:p>
        </p:txBody>
      </p:sp>
      <p:sp>
        <p:nvSpPr>
          <p:cNvPr id="116" name="Text 113"/>
          <p:cNvSpPr/>
          <p:nvPr/>
        </p:nvSpPr>
        <p:spPr>
          <a:xfrm>
            <a:off x="8574667" y="460134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10.777</a:t>
            </a:r>
            <a:endParaRPr lang="en-US" sz="552" dirty="0"/>
          </a:p>
        </p:txBody>
      </p:sp>
      <p:sp>
        <p:nvSpPr>
          <p:cNvPr id="117" name="Text 114"/>
          <p:cNvSpPr/>
          <p:nvPr/>
        </p:nvSpPr>
        <p:spPr>
          <a:xfrm>
            <a:off x="9057453" y="460134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12.136</a:t>
            </a:r>
            <a:endParaRPr lang="en-US" sz="552" dirty="0"/>
          </a:p>
        </p:txBody>
      </p:sp>
      <p:sp>
        <p:nvSpPr>
          <p:cNvPr id="118" name="Text 115"/>
          <p:cNvSpPr/>
          <p:nvPr/>
        </p:nvSpPr>
        <p:spPr>
          <a:xfrm>
            <a:off x="9540240" y="460134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12.740</a:t>
            </a:r>
            <a:endParaRPr lang="en-US" sz="552" dirty="0"/>
          </a:p>
        </p:txBody>
      </p:sp>
      <p:sp>
        <p:nvSpPr>
          <p:cNvPr id="119" name="Text 116"/>
          <p:cNvSpPr/>
          <p:nvPr/>
        </p:nvSpPr>
        <p:spPr>
          <a:xfrm>
            <a:off x="10023026" y="460134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12.740</a:t>
            </a:r>
            <a:endParaRPr lang="en-US" sz="552" dirty="0"/>
          </a:p>
        </p:txBody>
      </p:sp>
      <p:sp>
        <p:nvSpPr>
          <p:cNvPr id="120" name="Text 117"/>
          <p:cNvSpPr/>
          <p:nvPr/>
        </p:nvSpPr>
        <p:spPr>
          <a:xfrm>
            <a:off x="10505812" y="460134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17.041</a:t>
            </a:r>
            <a:endParaRPr lang="en-US" sz="552" dirty="0"/>
          </a:p>
        </p:txBody>
      </p:sp>
      <p:sp>
        <p:nvSpPr>
          <p:cNvPr id="121" name="Text 118"/>
          <p:cNvSpPr/>
          <p:nvPr/>
        </p:nvSpPr>
        <p:spPr>
          <a:xfrm>
            <a:off x="10988599" y="4601342"/>
            <a:ext cx="719233"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68.940</a:t>
            </a:r>
            <a:endParaRPr lang="en-US" sz="552" dirty="0"/>
          </a:p>
        </p:txBody>
      </p:sp>
      <p:sp>
        <p:nvSpPr>
          <p:cNvPr id="122" name="Text 119"/>
          <p:cNvSpPr/>
          <p:nvPr/>
        </p:nvSpPr>
        <p:spPr>
          <a:xfrm>
            <a:off x="9540240"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10.483</a:t>
            </a:r>
            <a:endParaRPr lang="en-US" sz="552" dirty="0"/>
          </a:p>
        </p:txBody>
      </p:sp>
      <p:sp>
        <p:nvSpPr>
          <p:cNvPr id="123" name="Text 120"/>
          <p:cNvSpPr/>
          <p:nvPr/>
        </p:nvSpPr>
        <p:spPr>
          <a:xfrm>
            <a:off x="10023026"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10.483</a:t>
            </a:r>
            <a:endParaRPr lang="en-US" sz="552" dirty="0"/>
          </a:p>
        </p:txBody>
      </p:sp>
      <p:sp>
        <p:nvSpPr>
          <p:cNvPr id="124" name="Text 121"/>
          <p:cNvSpPr/>
          <p:nvPr/>
        </p:nvSpPr>
        <p:spPr>
          <a:xfrm>
            <a:off x="10505812"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14.019</a:t>
            </a:r>
            <a:endParaRPr lang="en-US" sz="552" dirty="0"/>
          </a:p>
        </p:txBody>
      </p:sp>
      <p:sp>
        <p:nvSpPr>
          <p:cNvPr id="125" name="Text 122"/>
          <p:cNvSpPr/>
          <p:nvPr/>
        </p:nvSpPr>
        <p:spPr>
          <a:xfrm>
            <a:off x="10988599" y="47346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56.723</a:t>
            </a:r>
            <a:endParaRPr lang="en-US" sz="552" dirty="0"/>
          </a:p>
        </p:txBody>
      </p:sp>
      <p:sp>
        <p:nvSpPr>
          <p:cNvPr id="126" name="Text 123"/>
          <p:cNvSpPr/>
          <p:nvPr/>
        </p:nvSpPr>
        <p:spPr>
          <a:xfrm>
            <a:off x="495288" y="1967680"/>
            <a:ext cx="1120237" cy="138113"/>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127" name="Text 124"/>
          <p:cNvSpPr/>
          <p:nvPr/>
        </p:nvSpPr>
        <p:spPr>
          <a:xfrm>
            <a:off x="495288" y="224866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128" name="Text 125"/>
          <p:cNvSpPr/>
          <p:nvPr/>
        </p:nvSpPr>
        <p:spPr>
          <a:xfrm>
            <a:off x="495288" y="239154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129" name="Text 126"/>
          <p:cNvSpPr/>
          <p:nvPr/>
        </p:nvSpPr>
        <p:spPr>
          <a:xfrm>
            <a:off x="495288" y="26772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130" name="Text 127"/>
          <p:cNvSpPr/>
          <p:nvPr/>
        </p:nvSpPr>
        <p:spPr>
          <a:xfrm>
            <a:off x="495288" y="2820167"/>
            <a:ext cx="1120237" cy="138113"/>
          </a:xfrm>
          <a:prstGeom prst="rect">
            <a:avLst/>
          </a:prstGeom>
          <a:noFill/>
          <a:ln/>
        </p:spPr>
        <p:txBody>
          <a:bodyPr wrap="square" lIns="19050" tIns="38100" rIns="38100" bIns="19050" rtlCol="0" anchor="ctr"/>
          <a:lstStyle/>
          <a:p>
            <a:pPr marL="0" indent="0" algn="l">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131" name="Text 128"/>
          <p:cNvSpPr/>
          <p:nvPr/>
        </p:nvSpPr>
        <p:spPr>
          <a:xfrm>
            <a:off x="5226118" y="3234505"/>
            <a:ext cx="71923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132" name="Text 129"/>
          <p:cNvSpPr/>
          <p:nvPr/>
        </p:nvSpPr>
        <p:spPr>
          <a:xfrm>
            <a:off x="2329400"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4.699</a:t>
            </a:r>
            <a:endParaRPr lang="en-US" sz="576" dirty="0"/>
          </a:p>
        </p:txBody>
      </p:sp>
      <p:sp>
        <p:nvSpPr>
          <p:cNvPr id="133" name="Text 130"/>
          <p:cNvSpPr/>
          <p:nvPr/>
        </p:nvSpPr>
        <p:spPr>
          <a:xfrm>
            <a:off x="2812186"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9.346</a:t>
            </a:r>
            <a:endParaRPr lang="en-US" sz="576" dirty="0"/>
          </a:p>
        </p:txBody>
      </p:sp>
      <p:sp>
        <p:nvSpPr>
          <p:cNvPr id="134" name="Text 131"/>
          <p:cNvSpPr/>
          <p:nvPr/>
        </p:nvSpPr>
        <p:spPr>
          <a:xfrm>
            <a:off x="2329400"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4.173</a:t>
            </a:r>
            <a:endParaRPr lang="en-US" sz="576" dirty="0"/>
          </a:p>
        </p:txBody>
      </p:sp>
      <p:sp>
        <p:nvSpPr>
          <p:cNvPr id="135" name="Text 132"/>
          <p:cNvSpPr/>
          <p:nvPr/>
        </p:nvSpPr>
        <p:spPr>
          <a:xfrm>
            <a:off x="2812186"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8.300</a:t>
            </a:r>
            <a:endParaRPr lang="en-US" sz="576" dirty="0"/>
          </a:p>
        </p:txBody>
      </p:sp>
      <p:sp>
        <p:nvSpPr>
          <p:cNvPr id="136" name="Text 133"/>
          <p:cNvSpPr/>
          <p:nvPr/>
        </p:nvSpPr>
        <p:spPr>
          <a:xfrm>
            <a:off x="2329400"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1.028</a:t>
            </a:r>
            <a:endParaRPr lang="en-US" sz="576" dirty="0"/>
          </a:p>
        </p:txBody>
      </p:sp>
      <p:sp>
        <p:nvSpPr>
          <p:cNvPr id="137" name="Text 134"/>
          <p:cNvSpPr/>
          <p:nvPr/>
        </p:nvSpPr>
        <p:spPr>
          <a:xfrm>
            <a:off x="2812186"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2.044</a:t>
            </a:r>
            <a:endParaRPr lang="en-US" sz="576" dirty="0"/>
          </a:p>
        </p:txBody>
      </p:sp>
      <p:sp>
        <p:nvSpPr>
          <p:cNvPr id="138" name="Text 135"/>
          <p:cNvSpPr/>
          <p:nvPr/>
        </p:nvSpPr>
        <p:spPr>
          <a:xfrm>
            <a:off x="3294972"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3.359</a:t>
            </a:r>
            <a:endParaRPr lang="en-US" sz="576" dirty="0"/>
          </a:p>
        </p:txBody>
      </p:sp>
      <p:sp>
        <p:nvSpPr>
          <p:cNvPr id="139" name="Text 136"/>
          <p:cNvSpPr/>
          <p:nvPr/>
        </p:nvSpPr>
        <p:spPr>
          <a:xfrm>
            <a:off x="3777759"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4.299</a:t>
            </a:r>
            <a:endParaRPr lang="en-US" sz="576" dirty="0"/>
          </a:p>
        </p:txBody>
      </p:sp>
      <p:sp>
        <p:nvSpPr>
          <p:cNvPr id="140" name="Text 137"/>
          <p:cNvSpPr/>
          <p:nvPr/>
        </p:nvSpPr>
        <p:spPr>
          <a:xfrm>
            <a:off x="4260545"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4.299</a:t>
            </a:r>
            <a:endParaRPr lang="en-US" sz="576" dirty="0"/>
          </a:p>
        </p:txBody>
      </p:sp>
      <p:sp>
        <p:nvSpPr>
          <p:cNvPr id="141" name="Text 138"/>
          <p:cNvSpPr/>
          <p:nvPr/>
        </p:nvSpPr>
        <p:spPr>
          <a:xfrm>
            <a:off x="4743331"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6.018</a:t>
            </a:r>
            <a:endParaRPr lang="en-US" sz="576" dirty="0"/>
          </a:p>
        </p:txBody>
      </p:sp>
      <p:sp>
        <p:nvSpPr>
          <p:cNvPr id="142" name="Text 139"/>
          <p:cNvSpPr/>
          <p:nvPr/>
        </p:nvSpPr>
        <p:spPr>
          <a:xfrm>
            <a:off x="2812186"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1.897</a:t>
            </a:r>
            <a:endParaRPr lang="en-US" sz="576" dirty="0"/>
          </a:p>
        </p:txBody>
      </p:sp>
      <p:sp>
        <p:nvSpPr>
          <p:cNvPr id="143" name="Text 140"/>
          <p:cNvSpPr/>
          <p:nvPr/>
        </p:nvSpPr>
        <p:spPr>
          <a:xfrm>
            <a:off x="3294972"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3.117</a:t>
            </a:r>
            <a:endParaRPr lang="en-US" sz="576" dirty="0"/>
          </a:p>
        </p:txBody>
      </p:sp>
      <p:sp>
        <p:nvSpPr>
          <p:cNvPr id="144" name="Text 141"/>
          <p:cNvSpPr/>
          <p:nvPr/>
        </p:nvSpPr>
        <p:spPr>
          <a:xfrm>
            <a:off x="3777759"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3.990</a:t>
            </a:r>
            <a:endParaRPr lang="en-US" sz="576" dirty="0"/>
          </a:p>
        </p:txBody>
      </p:sp>
      <p:sp>
        <p:nvSpPr>
          <p:cNvPr id="145" name="Text 142"/>
          <p:cNvSpPr/>
          <p:nvPr/>
        </p:nvSpPr>
        <p:spPr>
          <a:xfrm>
            <a:off x="4260545"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3.990</a:t>
            </a:r>
            <a:endParaRPr lang="en-US" sz="576" dirty="0"/>
          </a:p>
        </p:txBody>
      </p:sp>
      <p:sp>
        <p:nvSpPr>
          <p:cNvPr id="146" name="Text 143"/>
          <p:cNvSpPr/>
          <p:nvPr/>
        </p:nvSpPr>
        <p:spPr>
          <a:xfrm>
            <a:off x="4743331"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5.585</a:t>
            </a:r>
            <a:endParaRPr lang="en-US" sz="576" dirty="0"/>
          </a:p>
        </p:txBody>
      </p:sp>
      <p:sp>
        <p:nvSpPr>
          <p:cNvPr id="147" name="Text 144"/>
          <p:cNvSpPr/>
          <p:nvPr/>
        </p:nvSpPr>
        <p:spPr>
          <a:xfrm>
            <a:off x="2812186"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1.325</a:t>
            </a:r>
            <a:endParaRPr lang="en-US" sz="576" dirty="0"/>
          </a:p>
        </p:txBody>
      </p:sp>
      <p:sp>
        <p:nvSpPr>
          <p:cNvPr id="148" name="Text 145"/>
          <p:cNvSpPr/>
          <p:nvPr/>
        </p:nvSpPr>
        <p:spPr>
          <a:xfrm>
            <a:off x="3294972"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2.176</a:t>
            </a:r>
            <a:endParaRPr lang="en-US" sz="576" dirty="0"/>
          </a:p>
        </p:txBody>
      </p:sp>
      <p:sp>
        <p:nvSpPr>
          <p:cNvPr id="149" name="Text 146"/>
          <p:cNvSpPr/>
          <p:nvPr/>
        </p:nvSpPr>
        <p:spPr>
          <a:xfrm>
            <a:off x="3777759"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2.786</a:t>
            </a:r>
            <a:endParaRPr lang="en-US" sz="576" dirty="0"/>
          </a:p>
        </p:txBody>
      </p:sp>
      <p:sp>
        <p:nvSpPr>
          <p:cNvPr id="150" name="Text 147"/>
          <p:cNvSpPr/>
          <p:nvPr/>
        </p:nvSpPr>
        <p:spPr>
          <a:xfrm>
            <a:off x="4260545"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2.786</a:t>
            </a:r>
            <a:endParaRPr lang="en-US" sz="576" dirty="0"/>
          </a:p>
        </p:txBody>
      </p:sp>
      <p:sp>
        <p:nvSpPr>
          <p:cNvPr id="151" name="Text 148"/>
          <p:cNvSpPr/>
          <p:nvPr/>
        </p:nvSpPr>
        <p:spPr>
          <a:xfrm>
            <a:off x="4743331"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3.898</a:t>
            </a:r>
            <a:endParaRPr lang="en-US" sz="576" dirty="0"/>
          </a:p>
        </p:txBody>
      </p:sp>
      <p:sp>
        <p:nvSpPr>
          <p:cNvPr id="152" name="Text 149"/>
          <p:cNvSpPr/>
          <p:nvPr/>
        </p:nvSpPr>
        <p:spPr>
          <a:xfrm>
            <a:off x="3294972"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1.126</a:t>
            </a:r>
            <a:endParaRPr lang="en-US" sz="576" dirty="0"/>
          </a:p>
        </p:txBody>
      </p:sp>
      <p:sp>
        <p:nvSpPr>
          <p:cNvPr id="153" name="Text 150"/>
          <p:cNvSpPr/>
          <p:nvPr/>
        </p:nvSpPr>
        <p:spPr>
          <a:xfrm>
            <a:off x="3777759"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1.442</a:t>
            </a:r>
            <a:endParaRPr lang="en-US" sz="576" dirty="0"/>
          </a:p>
        </p:txBody>
      </p:sp>
      <p:sp>
        <p:nvSpPr>
          <p:cNvPr id="154" name="Text 151"/>
          <p:cNvSpPr/>
          <p:nvPr/>
        </p:nvSpPr>
        <p:spPr>
          <a:xfrm>
            <a:off x="4260545"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1.442</a:t>
            </a:r>
            <a:endParaRPr lang="en-US" sz="576" dirty="0"/>
          </a:p>
        </p:txBody>
      </p:sp>
      <p:sp>
        <p:nvSpPr>
          <p:cNvPr id="155" name="Text 152"/>
          <p:cNvSpPr/>
          <p:nvPr/>
        </p:nvSpPr>
        <p:spPr>
          <a:xfrm>
            <a:off x="4743331"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2.018</a:t>
            </a:r>
            <a:endParaRPr lang="en-US" sz="576" dirty="0"/>
          </a:p>
        </p:txBody>
      </p:sp>
      <p:sp>
        <p:nvSpPr>
          <p:cNvPr id="156" name="Text 153"/>
          <p:cNvSpPr/>
          <p:nvPr/>
        </p:nvSpPr>
        <p:spPr>
          <a:xfrm>
            <a:off x="5226118" y="406794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7.059</a:t>
            </a:r>
            <a:endParaRPr lang="en-US" sz="576" dirty="0"/>
          </a:p>
        </p:txBody>
      </p:sp>
      <p:sp>
        <p:nvSpPr>
          <p:cNvPr id="157" name="Text 154"/>
          <p:cNvSpPr/>
          <p:nvPr/>
        </p:nvSpPr>
        <p:spPr>
          <a:xfrm>
            <a:off x="3777759"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1.032</a:t>
            </a:r>
            <a:endParaRPr lang="en-US" sz="576" dirty="0"/>
          </a:p>
        </p:txBody>
      </p:sp>
      <p:sp>
        <p:nvSpPr>
          <p:cNvPr id="158" name="Text 155"/>
          <p:cNvSpPr/>
          <p:nvPr/>
        </p:nvSpPr>
        <p:spPr>
          <a:xfrm>
            <a:off x="4260545"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1.032</a:t>
            </a:r>
            <a:endParaRPr lang="en-US" sz="576" dirty="0"/>
          </a:p>
        </p:txBody>
      </p:sp>
      <p:sp>
        <p:nvSpPr>
          <p:cNvPr id="159" name="Text 156"/>
          <p:cNvSpPr/>
          <p:nvPr/>
        </p:nvSpPr>
        <p:spPr>
          <a:xfrm>
            <a:off x="4743331"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1.445</a:t>
            </a:r>
            <a:endParaRPr lang="en-US" sz="576" dirty="0"/>
          </a:p>
        </p:txBody>
      </p:sp>
      <p:sp>
        <p:nvSpPr>
          <p:cNvPr id="160" name="Text 157"/>
          <p:cNvSpPr/>
          <p:nvPr/>
        </p:nvSpPr>
        <p:spPr>
          <a:xfrm>
            <a:off x="5226118" y="420129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5.053</a:t>
            </a:r>
            <a:endParaRPr lang="en-US" sz="576" dirty="0"/>
          </a:p>
        </p:txBody>
      </p:sp>
      <p:sp>
        <p:nvSpPr>
          <p:cNvPr id="161" name="Text 158"/>
          <p:cNvSpPr/>
          <p:nvPr/>
        </p:nvSpPr>
        <p:spPr>
          <a:xfrm>
            <a:off x="4743331"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1.300</a:t>
            </a:r>
            <a:endParaRPr lang="en-US" sz="576" dirty="0"/>
          </a:p>
        </p:txBody>
      </p:sp>
      <p:sp>
        <p:nvSpPr>
          <p:cNvPr id="162" name="Text 159"/>
          <p:cNvSpPr/>
          <p:nvPr/>
        </p:nvSpPr>
        <p:spPr>
          <a:xfrm>
            <a:off x="5226118" y="433464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4.544</a:t>
            </a:r>
            <a:endParaRPr lang="en-US" sz="576" dirty="0"/>
          </a:p>
        </p:txBody>
      </p:sp>
      <p:sp>
        <p:nvSpPr>
          <p:cNvPr id="163" name="Text 160"/>
          <p:cNvSpPr/>
          <p:nvPr/>
        </p:nvSpPr>
        <p:spPr>
          <a:xfrm>
            <a:off x="3294972" y="44679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1.461</a:t>
            </a:r>
            <a:endParaRPr lang="en-US" sz="576" dirty="0"/>
          </a:p>
        </p:txBody>
      </p:sp>
      <p:sp>
        <p:nvSpPr>
          <p:cNvPr id="164" name="Text 161"/>
          <p:cNvSpPr/>
          <p:nvPr/>
        </p:nvSpPr>
        <p:spPr>
          <a:xfrm>
            <a:off x="3777759" y="44679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1.870</a:t>
            </a:r>
            <a:endParaRPr lang="en-US" sz="576" dirty="0"/>
          </a:p>
        </p:txBody>
      </p:sp>
      <p:sp>
        <p:nvSpPr>
          <p:cNvPr id="165" name="Text 162"/>
          <p:cNvSpPr/>
          <p:nvPr/>
        </p:nvSpPr>
        <p:spPr>
          <a:xfrm>
            <a:off x="4260545" y="44679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1.870</a:t>
            </a:r>
            <a:endParaRPr lang="en-US" sz="576" dirty="0"/>
          </a:p>
        </p:txBody>
      </p:sp>
      <p:sp>
        <p:nvSpPr>
          <p:cNvPr id="166" name="Text 163"/>
          <p:cNvSpPr/>
          <p:nvPr/>
        </p:nvSpPr>
        <p:spPr>
          <a:xfrm>
            <a:off x="4743331" y="44679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2.617</a:t>
            </a:r>
            <a:endParaRPr lang="en-US" sz="576" dirty="0"/>
          </a:p>
        </p:txBody>
      </p:sp>
      <p:sp>
        <p:nvSpPr>
          <p:cNvPr id="167" name="Text 164"/>
          <p:cNvSpPr/>
          <p:nvPr/>
        </p:nvSpPr>
        <p:spPr>
          <a:xfrm>
            <a:off x="5226118" y="446799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9.154</a:t>
            </a:r>
            <a:endParaRPr lang="en-US" sz="576" dirty="0"/>
          </a:p>
        </p:txBody>
      </p:sp>
      <p:sp>
        <p:nvSpPr>
          <p:cNvPr id="168" name="Text 165"/>
          <p:cNvSpPr/>
          <p:nvPr/>
        </p:nvSpPr>
        <p:spPr>
          <a:xfrm>
            <a:off x="504812" y="4601342"/>
            <a:ext cx="1879325" cy="128588"/>
          </a:xfrm>
          <a:prstGeom prst="rect">
            <a:avLst/>
          </a:prstGeom>
          <a:noFill/>
          <a:ln/>
        </p:spPr>
        <p:txBody>
          <a:bodyPr wrap="square" lIns="19050" tIns="38100" rIns="38100" bIns="19050" rtlCol="0" anchor="ctr"/>
          <a:lstStyle/>
          <a:p>
            <a:pPr marL="0" indent="0" algn="l">
              <a:buNone/>
            </a:pPr>
            <a:r>
              <a:rPr lang="en-US" sz="576" b="1" dirty="0">
                <a:solidFill>
                  <a:srgbClr val="120180"/>
                </a:solidFill>
                <a:latin typeface="Raleway" pitchFamily="34" charset="0"/>
                <a:ea typeface="Raleway" pitchFamily="34" charset="-122"/>
                <a:cs typeface="Raleway" pitchFamily="34" charset="-120"/>
              </a:rPr>
              <a:t>Total</a:t>
            </a:r>
            <a:endParaRPr lang="en-US" sz="576" dirty="0"/>
          </a:p>
        </p:txBody>
      </p:sp>
      <p:sp>
        <p:nvSpPr>
          <p:cNvPr id="169" name="Text 166"/>
          <p:cNvSpPr/>
          <p:nvPr/>
        </p:nvSpPr>
        <p:spPr>
          <a:xfrm>
            <a:off x="7345377"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170" name="Text 167"/>
          <p:cNvSpPr/>
          <p:nvPr/>
        </p:nvSpPr>
        <p:spPr>
          <a:xfrm>
            <a:off x="6257769" y="1967680"/>
            <a:ext cx="1120237" cy="138113"/>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171" name="Text 168"/>
          <p:cNvSpPr/>
          <p:nvPr/>
        </p:nvSpPr>
        <p:spPr>
          <a:xfrm>
            <a:off x="7345377" y="1967680"/>
            <a:ext cx="100818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8.083</a:t>
            </a:r>
            <a:endParaRPr lang="en-US" sz="636" dirty="0"/>
          </a:p>
        </p:txBody>
      </p:sp>
      <p:sp>
        <p:nvSpPr>
          <p:cNvPr id="172" name="Text 169"/>
          <p:cNvSpPr/>
          <p:nvPr/>
        </p:nvSpPr>
        <p:spPr>
          <a:xfrm>
            <a:off x="10281832" y="1967680"/>
            <a:ext cx="145701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7,8 %</a:t>
            </a:r>
            <a:endParaRPr lang="en-US" sz="636" dirty="0"/>
          </a:p>
        </p:txBody>
      </p:sp>
      <p:sp>
        <p:nvSpPr>
          <p:cNvPr id="173" name="Text 170"/>
          <p:cNvSpPr/>
          <p:nvPr/>
        </p:nvSpPr>
        <p:spPr>
          <a:xfrm>
            <a:off x="10281832" y="2105792"/>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4,8 %</a:t>
            </a:r>
            <a:endParaRPr lang="en-US" sz="636" dirty="0"/>
          </a:p>
        </p:txBody>
      </p:sp>
      <p:sp>
        <p:nvSpPr>
          <p:cNvPr id="174" name="Text 171"/>
          <p:cNvSpPr/>
          <p:nvPr/>
        </p:nvSpPr>
        <p:spPr>
          <a:xfrm>
            <a:off x="6257769" y="224866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175" name="Text 172"/>
          <p:cNvSpPr/>
          <p:nvPr/>
        </p:nvSpPr>
        <p:spPr>
          <a:xfrm>
            <a:off x="10281832" y="2248667"/>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4,0 %</a:t>
            </a:r>
            <a:endParaRPr lang="en-US" sz="636" dirty="0"/>
          </a:p>
        </p:txBody>
      </p:sp>
      <p:sp>
        <p:nvSpPr>
          <p:cNvPr id="176" name="Text 173"/>
          <p:cNvSpPr/>
          <p:nvPr/>
        </p:nvSpPr>
        <p:spPr>
          <a:xfrm>
            <a:off x="6257769" y="239154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177" name="Text 174"/>
          <p:cNvSpPr/>
          <p:nvPr/>
        </p:nvSpPr>
        <p:spPr>
          <a:xfrm>
            <a:off x="10281832" y="2391542"/>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3,7 %</a:t>
            </a:r>
            <a:endParaRPr lang="en-US" sz="636" dirty="0"/>
          </a:p>
        </p:txBody>
      </p:sp>
      <p:sp>
        <p:nvSpPr>
          <p:cNvPr id="178" name="Text 175"/>
          <p:cNvSpPr/>
          <p:nvPr/>
        </p:nvSpPr>
        <p:spPr>
          <a:xfrm>
            <a:off x="10281832" y="2534417"/>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4,3 %</a:t>
            </a:r>
            <a:endParaRPr lang="en-US" sz="636" dirty="0"/>
          </a:p>
        </p:txBody>
      </p:sp>
      <p:sp>
        <p:nvSpPr>
          <p:cNvPr id="179" name="Text 176"/>
          <p:cNvSpPr/>
          <p:nvPr/>
        </p:nvSpPr>
        <p:spPr>
          <a:xfrm>
            <a:off x="6257769" y="26772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180" name="Text 177"/>
          <p:cNvSpPr/>
          <p:nvPr/>
        </p:nvSpPr>
        <p:spPr>
          <a:xfrm>
            <a:off x="10281832" y="2677292"/>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5,0 %</a:t>
            </a:r>
            <a:endParaRPr lang="en-US" sz="636" dirty="0"/>
          </a:p>
        </p:txBody>
      </p:sp>
      <p:sp>
        <p:nvSpPr>
          <p:cNvPr id="181" name="Text 178"/>
          <p:cNvSpPr/>
          <p:nvPr/>
        </p:nvSpPr>
        <p:spPr>
          <a:xfrm>
            <a:off x="6257769" y="2820167"/>
            <a:ext cx="1120237" cy="138113"/>
          </a:xfrm>
          <a:prstGeom prst="rect">
            <a:avLst/>
          </a:prstGeom>
          <a:noFill/>
          <a:ln/>
        </p:spPr>
        <p:txBody>
          <a:bodyPr wrap="square" lIns="19050" tIns="38100" rIns="38100" bIns="19050" rtlCol="0" anchor="ctr"/>
          <a:lstStyle/>
          <a:p>
            <a:pPr marL="0" indent="0" algn="l">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182" name="Text 179"/>
          <p:cNvSpPr/>
          <p:nvPr/>
        </p:nvSpPr>
        <p:spPr>
          <a:xfrm>
            <a:off x="9303014"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3.073</a:t>
            </a:r>
            <a:endParaRPr lang="en-US" sz="636" dirty="0"/>
          </a:p>
        </p:txBody>
      </p:sp>
      <p:sp>
        <p:nvSpPr>
          <p:cNvPr id="183" name="Text 180"/>
          <p:cNvSpPr/>
          <p:nvPr/>
        </p:nvSpPr>
        <p:spPr>
          <a:xfrm>
            <a:off x="10281832" y="2820167"/>
            <a:ext cx="145701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3,9 %</a:t>
            </a:r>
            <a:endParaRPr lang="en-US" sz="636" dirty="0"/>
          </a:p>
        </p:txBody>
      </p:sp>
      <p:sp>
        <p:nvSpPr>
          <p:cNvPr id="184" name="Text 181"/>
          <p:cNvSpPr/>
          <p:nvPr/>
        </p:nvSpPr>
        <p:spPr>
          <a:xfrm>
            <a:off x="10988599" y="3234505"/>
            <a:ext cx="71923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185" name="Text 182"/>
          <p:cNvSpPr/>
          <p:nvPr/>
        </p:nvSpPr>
        <p:spPr>
          <a:xfrm>
            <a:off x="8091881"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3.429</a:t>
            </a:r>
            <a:endParaRPr lang="en-US" sz="552" dirty="0"/>
          </a:p>
        </p:txBody>
      </p:sp>
      <p:sp>
        <p:nvSpPr>
          <p:cNvPr id="186" name="Text 183"/>
          <p:cNvSpPr/>
          <p:nvPr/>
        </p:nvSpPr>
        <p:spPr>
          <a:xfrm>
            <a:off x="10988599" y="35345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3.073</a:t>
            </a:r>
            <a:endParaRPr lang="en-US" sz="552" dirty="0"/>
          </a:p>
        </p:txBody>
      </p:sp>
      <p:sp>
        <p:nvSpPr>
          <p:cNvPr id="187" name="Text 184"/>
          <p:cNvSpPr/>
          <p:nvPr/>
        </p:nvSpPr>
        <p:spPr>
          <a:xfrm>
            <a:off x="8091881"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1.271</a:t>
            </a:r>
            <a:endParaRPr lang="en-US" sz="552" dirty="0"/>
          </a:p>
        </p:txBody>
      </p:sp>
      <p:sp>
        <p:nvSpPr>
          <p:cNvPr id="188" name="Text 185"/>
          <p:cNvSpPr/>
          <p:nvPr/>
        </p:nvSpPr>
        <p:spPr>
          <a:xfrm>
            <a:off x="8574667"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3.908</a:t>
            </a:r>
            <a:endParaRPr lang="en-US" sz="552" dirty="0"/>
          </a:p>
        </p:txBody>
      </p:sp>
      <p:sp>
        <p:nvSpPr>
          <p:cNvPr id="189" name="Text 186"/>
          <p:cNvSpPr/>
          <p:nvPr/>
        </p:nvSpPr>
        <p:spPr>
          <a:xfrm>
            <a:off x="9057453"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4.400</a:t>
            </a:r>
            <a:endParaRPr lang="en-US" sz="552" dirty="0"/>
          </a:p>
        </p:txBody>
      </p:sp>
      <p:sp>
        <p:nvSpPr>
          <p:cNvPr id="190" name="Text 187"/>
          <p:cNvSpPr/>
          <p:nvPr/>
        </p:nvSpPr>
        <p:spPr>
          <a:xfrm>
            <a:off x="9540240"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4.619</a:t>
            </a:r>
            <a:endParaRPr lang="en-US" sz="552" dirty="0"/>
          </a:p>
        </p:txBody>
      </p:sp>
      <p:sp>
        <p:nvSpPr>
          <p:cNvPr id="191" name="Text 188"/>
          <p:cNvSpPr/>
          <p:nvPr/>
        </p:nvSpPr>
        <p:spPr>
          <a:xfrm>
            <a:off x="10023026"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4.619</a:t>
            </a:r>
            <a:endParaRPr lang="en-US" sz="552" dirty="0"/>
          </a:p>
        </p:txBody>
      </p:sp>
      <p:sp>
        <p:nvSpPr>
          <p:cNvPr id="192" name="Text 189"/>
          <p:cNvSpPr/>
          <p:nvPr/>
        </p:nvSpPr>
        <p:spPr>
          <a:xfrm>
            <a:off x="10505812"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6.179</a:t>
            </a:r>
            <a:endParaRPr lang="en-US" sz="552" dirty="0"/>
          </a:p>
        </p:txBody>
      </p:sp>
      <p:sp>
        <p:nvSpPr>
          <p:cNvPr id="193" name="Text 190"/>
          <p:cNvSpPr/>
          <p:nvPr/>
        </p:nvSpPr>
        <p:spPr>
          <a:xfrm>
            <a:off x="8574667"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2.244</a:t>
            </a:r>
            <a:endParaRPr lang="en-US" sz="552" dirty="0"/>
          </a:p>
        </p:txBody>
      </p:sp>
      <p:sp>
        <p:nvSpPr>
          <p:cNvPr id="194" name="Text 191"/>
          <p:cNvSpPr/>
          <p:nvPr/>
        </p:nvSpPr>
        <p:spPr>
          <a:xfrm>
            <a:off x="9057453"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2.527</a:t>
            </a:r>
            <a:endParaRPr lang="en-US" sz="552" dirty="0"/>
          </a:p>
        </p:txBody>
      </p:sp>
      <p:sp>
        <p:nvSpPr>
          <p:cNvPr id="195" name="Text 192"/>
          <p:cNvSpPr/>
          <p:nvPr/>
        </p:nvSpPr>
        <p:spPr>
          <a:xfrm>
            <a:off x="9540240"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2.653</a:t>
            </a:r>
            <a:endParaRPr lang="en-US" sz="552" dirty="0"/>
          </a:p>
        </p:txBody>
      </p:sp>
      <p:sp>
        <p:nvSpPr>
          <p:cNvPr id="196" name="Text 193"/>
          <p:cNvSpPr/>
          <p:nvPr/>
        </p:nvSpPr>
        <p:spPr>
          <a:xfrm>
            <a:off x="10023026"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2.653</a:t>
            </a:r>
            <a:endParaRPr lang="en-US" sz="552" dirty="0"/>
          </a:p>
        </p:txBody>
      </p:sp>
      <p:sp>
        <p:nvSpPr>
          <p:cNvPr id="197" name="Text 194"/>
          <p:cNvSpPr/>
          <p:nvPr/>
        </p:nvSpPr>
        <p:spPr>
          <a:xfrm>
            <a:off x="10505812"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3.549</a:t>
            </a:r>
            <a:endParaRPr lang="en-US" sz="552" dirty="0"/>
          </a:p>
        </p:txBody>
      </p:sp>
      <p:sp>
        <p:nvSpPr>
          <p:cNvPr id="198" name="Text 195"/>
          <p:cNvSpPr/>
          <p:nvPr/>
        </p:nvSpPr>
        <p:spPr>
          <a:xfrm>
            <a:off x="9057453"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1.035</a:t>
            </a:r>
            <a:endParaRPr lang="en-US" sz="552" dirty="0"/>
          </a:p>
        </p:txBody>
      </p:sp>
      <p:sp>
        <p:nvSpPr>
          <p:cNvPr id="199" name="Text 196"/>
          <p:cNvSpPr/>
          <p:nvPr/>
        </p:nvSpPr>
        <p:spPr>
          <a:xfrm>
            <a:off x="9540240"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1.087</a:t>
            </a:r>
            <a:endParaRPr lang="en-US" sz="552" dirty="0"/>
          </a:p>
        </p:txBody>
      </p:sp>
      <p:sp>
        <p:nvSpPr>
          <p:cNvPr id="200" name="Text 197"/>
          <p:cNvSpPr/>
          <p:nvPr/>
        </p:nvSpPr>
        <p:spPr>
          <a:xfrm>
            <a:off x="10023026"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1.087</a:t>
            </a:r>
            <a:endParaRPr lang="en-US" sz="552" dirty="0"/>
          </a:p>
        </p:txBody>
      </p:sp>
      <p:sp>
        <p:nvSpPr>
          <p:cNvPr id="201" name="Text 198"/>
          <p:cNvSpPr/>
          <p:nvPr/>
        </p:nvSpPr>
        <p:spPr>
          <a:xfrm>
            <a:off x="10505812"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1.454</a:t>
            </a:r>
            <a:endParaRPr lang="en-US" sz="552" dirty="0"/>
          </a:p>
        </p:txBody>
      </p:sp>
      <p:sp>
        <p:nvSpPr>
          <p:cNvPr id="202" name="Text 199"/>
          <p:cNvSpPr/>
          <p:nvPr/>
        </p:nvSpPr>
        <p:spPr>
          <a:xfrm>
            <a:off x="10988599" y="39345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5.881</a:t>
            </a:r>
            <a:endParaRPr lang="en-US" sz="552" dirty="0"/>
          </a:p>
        </p:txBody>
      </p:sp>
      <p:sp>
        <p:nvSpPr>
          <p:cNvPr id="203" name="Text 200"/>
          <p:cNvSpPr/>
          <p:nvPr/>
        </p:nvSpPr>
        <p:spPr>
          <a:xfrm>
            <a:off x="8574667"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1.098</a:t>
            </a:r>
            <a:endParaRPr lang="en-US" sz="552" dirty="0"/>
          </a:p>
        </p:txBody>
      </p:sp>
      <p:sp>
        <p:nvSpPr>
          <p:cNvPr id="204" name="Text 201"/>
          <p:cNvSpPr/>
          <p:nvPr/>
        </p:nvSpPr>
        <p:spPr>
          <a:xfrm>
            <a:off x="9057453"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1.237</a:t>
            </a:r>
            <a:endParaRPr lang="en-US" sz="552" dirty="0"/>
          </a:p>
        </p:txBody>
      </p:sp>
      <p:sp>
        <p:nvSpPr>
          <p:cNvPr id="205" name="Text 202"/>
          <p:cNvSpPr/>
          <p:nvPr/>
        </p:nvSpPr>
        <p:spPr>
          <a:xfrm>
            <a:off x="9540240"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1.298</a:t>
            </a:r>
            <a:endParaRPr lang="en-US" sz="552" dirty="0"/>
          </a:p>
        </p:txBody>
      </p:sp>
      <p:sp>
        <p:nvSpPr>
          <p:cNvPr id="206" name="Text 203"/>
          <p:cNvSpPr/>
          <p:nvPr/>
        </p:nvSpPr>
        <p:spPr>
          <a:xfrm>
            <a:off x="10023026"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1.298</a:t>
            </a:r>
            <a:endParaRPr lang="en-US" sz="552" dirty="0"/>
          </a:p>
        </p:txBody>
      </p:sp>
      <p:sp>
        <p:nvSpPr>
          <p:cNvPr id="207" name="Text 204"/>
          <p:cNvSpPr/>
          <p:nvPr/>
        </p:nvSpPr>
        <p:spPr>
          <a:xfrm>
            <a:off x="10505812"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1.738</a:t>
            </a:r>
            <a:endParaRPr lang="en-US" sz="552" dirty="0"/>
          </a:p>
        </p:txBody>
      </p:sp>
      <p:sp>
        <p:nvSpPr>
          <p:cNvPr id="208" name="Text 205"/>
          <p:cNvSpPr/>
          <p:nvPr/>
        </p:nvSpPr>
        <p:spPr>
          <a:xfrm>
            <a:off x="10988599" y="40679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7.026</a:t>
            </a:r>
            <a:endParaRPr lang="en-US" sz="552" dirty="0"/>
          </a:p>
        </p:txBody>
      </p:sp>
      <p:sp>
        <p:nvSpPr>
          <p:cNvPr id="209" name="Text 206"/>
          <p:cNvSpPr/>
          <p:nvPr/>
        </p:nvSpPr>
        <p:spPr>
          <a:xfrm>
            <a:off x="10988599" y="42012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3.063</a:t>
            </a:r>
            <a:endParaRPr lang="en-US" sz="552" dirty="0"/>
          </a:p>
        </p:txBody>
      </p:sp>
      <p:sp>
        <p:nvSpPr>
          <p:cNvPr id="210" name="Text 207"/>
          <p:cNvSpPr/>
          <p:nvPr/>
        </p:nvSpPr>
        <p:spPr>
          <a:xfrm>
            <a:off x="10988599" y="43346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2.911</a:t>
            </a:r>
            <a:endParaRPr lang="en-US" sz="552" dirty="0"/>
          </a:p>
        </p:txBody>
      </p:sp>
      <p:sp>
        <p:nvSpPr>
          <p:cNvPr id="211" name="Text 208"/>
          <p:cNvSpPr/>
          <p:nvPr/>
        </p:nvSpPr>
        <p:spPr>
          <a:xfrm>
            <a:off x="9057453" y="44679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1.094</a:t>
            </a:r>
            <a:endParaRPr lang="en-US" sz="552" dirty="0"/>
          </a:p>
        </p:txBody>
      </p:sp>
      <p:sp>
        <p:nvSpPr>
          <p:cNvPr id="212" name="Text 209"/>
          <p:cNvSpPr/>
          <p:nvPr/>
        </p:nvSpPr>
        <p:spPr>
          <a:xfrm>
            <a:off x="9540240" y="44679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1.148</a:t>
            </a:r>
            <a:endParaRPr lang="en-US" sz="552" dirty="0"/>
          </a:p>
        </p:txBody>
      </p:sp>
      <p:sp>
        <p:nvSpPr>
          <p:cNvPr id="213" name="Text 210"/>
          <p:cNvSpPr/>
          <p:nvPr/>
        </p:nvSpPr>
        <p:spPr>
          <a:xfrm>
            <a:off x="10023026" y="44679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1.148</a:t>
            </a:r>
            <a:endParaRPr lang="en-US" sz="552" dirty="0"/>
          </a:p>
        </p:txBody>
      </p:sp>
      <p:sp>
        <p:nvSpPr>
          <p:cNvPr id="214" name="Text 211"/>
          <p:cNvSpPr/>
          <p:nvPr/>
        </p:nvSpPr>
        <p:spPr>
          <a:xfrm>
            <a:off x="10505812" y="44679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1.537</a:t>
            </a:r>
            <a:endParaRPr lang="en-US" sz="552" dirty="0"/>
          </a:p>
        </p:txBody>
      </p:sp>
      <p:sp>
        <p:nvSpPr>
          <p:cNvPr id="215" name="Text 212"/>
          <p:cNvSpPr/>
          <p:nvPr/>
        </p:nvSpPr>
        <p:spPr>
          <a:xfrm>
            <a:off x="10988599" y="44679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6.214</a:t>
            </a:r>
            <a:endParaRPr lang="en-US" sz="552" dirty="0"/>
          </a:p>
        </p:txBody>
      </p:sp>
      <p:sp>
        <p:nvSpPr>
          <p:cNvPr id="216" name="Text 213"/>
          <p:cNvSpPr/>
          <p:nvPr/>
        </p:nvSpPr>
        <p:spPr>
          <a:xfrm>
            <a:off x="8091881" y="460134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3.506</a:t>
            </a:r>
            <a:endParaRPr lang="en-US" sz="552" dirty="0"/>
          </a:p>
        </p:txBody>
      </p:sp>
      <p:sp>
        <p:nvSpPr>
          <p:cNvPr id="217" name="Text 214"/>
          <p:cNvSpPr/>
          <p:nvPr/>
        </p:nvSpPr>
        <p:spPr>
          <a:xfrm>
            <a:off x="8091881"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2.885</a:t>
            </a:r>
            <a:endParaRPr lang="en-US" sz="552" dirty="0"/>
          </a:p>
        </p:txBody>
      </p:sp>
      <p:sp>
        <p:nvSpPr>
          <p:cNvPr id="218" name="Text 215"/>
          <p:cNvSpPr/>
          <p:nvPr/>
        </p:nvSpPr>
        <p:spPr>
          <a:xfrm>
            <a:off x="8574667"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8.867</a:t>
            </a:r>
            <a:endParaRPr lang="en-US" sz="552" dirty="0"/>
          </a:p>
        </p:txBody>
      </p:sp>
      <p:sp>
        <p:nvSpPr>
          <p:cNvPr id="219" name="Text 216"/>
          <p:cNvSpPr/>
          <p:nvPr/>
        </p:nvSpPr>
        <p:spPr>
          <a:xfrm>
            <a:off x="9057453"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9.986</a:t>
            </a:r>
            <a:endParaRPr lang="en-US" sz="552" dirty="0"/>
          </a:p>
        </p:txBody>
      </p:sp>
      <p:sp>
        <p:nvSpPr>
          <p:cNvPr id="220" name="Text 217"/>
          <p:cNvSpPr/>
          <p:nvPr/>
        </p:nvSpPr>
        <p:spPr>
          <a:xfrm>
            <a:off x="8574667"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1.343</a:t>
            </a:r>
            <a:endParaRPr lang="en-US" sz="552" dirty="0"/>
          </a:p>
        </p:txBody>
      </p:sp>
      <p:sp>
        <p:nvSpPr>
          <p:cNvPr id="221" name="Text 218"/>
          <p:cNvSpPr/>
          <p:nvPr/>
        </p:nvSpPr>
        <p:spPr>
          <a:xfrm>
            <a:off x="9057453"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1.513</a:t>
            </a:r>
            <a:endParaRPr lang="en-US" sz="552" dirty="0"/>
          </a:p>
        </p:txBody>
      </p:sp>
      <p:sp>
        <p:nvSpPr>
          <p:cNvPr id="222" name="Text 219"/>
          <p:cNvSpPr/>
          <p:nvPr/>
        </p:nvSpPr>
        <p:spPr>
          <a:xfrm>
            <a:off x="9540240"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1.588</a:t>
            </a:r>
            <a:endParaRPr lang="en-US" sz="552" dirty="0"/>
          </a:p>
        </p:txBody>
      </p:sp>
      <p:sp>
        <p:nvSpPr>
          <p:cNvPr id="223" name="Text 220"/>
          <p:cNvSpPr/>
          <p:nvPr/>
        </p:nvSpPr>
        <p:spPr>
          <a:xfrm>
            <a:off x="10023026"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1.588</a:t>
            </a:r>
            <a:endParaRPr lang="en-US" sz="552" dirty="0"/>
          </a:p>
        </p:txBody>
      </p:sp>
      <p:sp>
        <p:nvSpPr>
          <p:cNvPr id="224" name="Text 221"/>
          <p:cNvSpPr/>
          <p:nvPr/>
        </p:nvSpPr>
        <p:spPr>
          <a:xfrm>
            <a:off x="10505812"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2.125</a:t>
            </a:r>
            <a:endParaRPr lang="en-US" sz="552" dirty="0"/>
          </a:p>
        </p:txBody>
      </p:sp>
      <p:sp>
        <p:nvSpPr>
          <p:cNvPr id="225" name="Text 222"/>
          <p:cNvSpPr/>
          <p:nvPr/>
        </p:nvSpPr>
        <p:spPr>
          <a:xfrm>
            <a:off x="10988599" y="48680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8.594</a:t>
            </a:r>
            <a:endParaRPr lang="en-US" sz="552" dirty="0"/>
          </a:p>
        </p:txBody>
      </p:sp>
      <p:sp>
        <p:nvSpPr>
          <p:cNvPr id="226" name="Text 223"/>
          <p:cNvSpPr/>
          <p:nvPr/>
        </p:nvSpPr>
        <p:spPr>
          <a:xfrm>
            <a:off x="10988599" y="50013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3.347</a:t>
            </a:r>
            <a:endParaRPr lang="en-US" sz="552" dirty="0"/>
          </a:p>
        </p:txBody>
      </p:sp>
      <p:sp>
        <p:nvSpPr>
          <p:cNvPr id="227" name="Text 224"/>
          <p:cNvSpPr/>
          <p:nvPr/>
        </p:nvSpPr>
        <p:spPr>
          <a:xfrm>
            <a:off x="4374991" y="971550"/>
            <a:ext cx="3584053"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3.073</a:t>
            </a:r>
            <a:endParaRPr lang="en-US" sz="1380" dirty="0"/>
          </a:p>
        </p:txBody>
      </p:sp>
      <p:sp>
        <p:nvSpPr>
          <p:cNvPr id="228" name="Text 225"/>
          <p:cNvSpPr/>
          <p:nvPr/>
        </p:nvSpPr>
        <p:spPr>
          <a:xfrm>
            <a:off x="8216595" y="971550"/>
            <a:ext cx="3584207"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4,6 %</a:t>
            </a:r>
            <a:endParaRPr lang="en-US" sz="1380" dirty="0"/>
          </a:p>
        </p:txBody>
      </p:sp>
      <p:sp>
        <p:nvSpPr>
          <p:cNvPr id="229" name="Text 226"/>
          <p:cNvSpPr/>
          <p:nvPr/>
        </p:nvSpPr>
        <p:spPr>
          <a:xfrm>
            <a:off x="495288" y="253441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230" name="Text 227"/>
          <p:cNvSpPr/>
          <p:nvPr/>
        </p:nvSpPr>
        <p:spPr>
          <a:xfrm>
            <a:off x="6257769" y="253441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231" name="Text 228"/>
          <p:cNvSpPr/>
          <p:nvPr/>
        </p:nvSpPr>
        <p:spPr>
          <a:xfrm>
            <a:off x="495288" y="1796230"/>
            <a:ext cx="1120237"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232" name="Text 229"/>
          <p:cNvSpPr/>
          <p:nvPr/>
        </p:nvSpPr>
        <p:spPr>
          <a:xfrm>
            <a:off x="2329400"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233" name="Text 230"/>
          <p:cNvSpPr/>
          <p:nvPr/>
        </p:nvSpPr>
        <p:spPr>
          <a:xfrm>
            <a:off x="2812186"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234" name="Text 231"/>
          <p:cNvSpPr/>
          <p:nvPr/>
        </p:nvSpPr>
        <p:spPr>
          <a:xfrm>
            <a:off x="3294972"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235" name="Text 232"/>
          <p:cNvSpPr/>
          <p:nvPr/>
        </p:nvSpPr>
        <p:spPr>
          <a:xfrm>
            <a:off x="3777759"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236" name="Text 233"/>
          <p:cNvSpPr/>
          <p:nvPr/>
        </p:nvSpPr>
        <p:spPr>
          <a:xfrm>
            <a:off x="4260545"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237" name="Text 234"/>
          <p:cNvSpPr/>
          <p:nvPr/>
        </p:nvSpPr>
        <p:spPr>
          <a:xfrm>
            <a:off x="4743331"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238" name="Text 235"/>
          <p:cNvSpPr/>
          <p:nvPr/>
        </p:nvSpPr>
        <p:spPr>
          <a:xfrm>
            <a:off x="2329400"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954</a:t>
            </a:r>
            <a:endParaRPr lang="en-US" sz="576" dirty="0"/>
          </a:p>
        </p:txBody>
      </p:sp>
      <p:sp>
        <p:nvSpPr>
          <p:cNvPr id="239" name="Text 236"/>
          <p:cNvSpPr/>
          <p:nvPr/>
        </p:nvSpPr>
        <p:spPr>
          <a:xfrm>
            <a:off x="2329400"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666</a:t>
            </a:r>
            <a:endParaRPr lang="en-US" sz="576" dirty="0"/>
          </a:p>
        </p:txBody>
      </p:sp>
      <p:sp>
        <p:nvSpPr>
          <p:cNvPr id="240" name="Text 237"/>
          <p:cNvSpPr/>
          <p:nvPr/>
        </p:nvSpPr>
        <p:spPr>
          <a:xfrm>
            <a:off x="2329400"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345</a:t>
            </a:r>
            <a:endParaRPr lang="en-US" sz="576" dirty="0"/>
          </a:p>
        </p:txBody>
      </p:sp>
      <p:sp>
        <p:nvSpPr>
          <p:cNvPr id="241" name="Text 238"/>
          <p:cNvSpPr/>
          <p:nvPr/>
        </p:nvSpPr>
        <p:spPr>
          <a:xfrm>
            <a:off x="2812186"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686</a:t>
            </a:r>
            <a:endParaRPr lang="en-US" sz="576" dirty="0"/>
          </a:p>
        </p:txBody>
      </p:sp>
      <p:sp>
        <p:nvSpPr>
          <p:cNvPr id="242" name="Text 239"/>
          <p:cNvSpPr/>
          <p:nvPr/>
        </p:nvSpPr>
        <p:spPr>
          <a:xfrm>
            <a:off x="2329400"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247</a:t>
            </a:r>
            <a:endParaRPr lang="en-US" sz="576" dirty="0"/>
          </a:p>
        </p:txBody>
      </p:sp>
      <p:sp>
        <p:nvSpPr>
          <p:cNvPr id="243" name="Text 240"/>
          <p:cNvSpPr/>
          <p:nvPr/>
        </p:nvSpPr>
        <p:spPr>
          <a:xfrm>
            <a:off x="2812186"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491</a:t>
            </a:r>
            <a:endParaRPr lang="en-US" sz="576" dirty="0"/>
          </a:p>
        </p:txBody>
      </p:sp>
      <p:sp>
        <p:nvSpPr>
          <p:cNvPr id="244" name="Text 241"/>
          <p:cNvSpPr/>
          <p:nvPr/>
        </p:nvSpPr>
        <p:spPr>
          <a:xfrm>
            <a:off x="3294972"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806</a:t>
            </a:r>
            <a:endParaRPr lang="en-US" sz="576" dirty="0"/>
          </a:p>
        </p:txBody>
      </p:sp>
      <p:sp>
        <p:nvSpPr>
          <p:cNvPr id="245" name="Text 242"/>
          <p:cNvSpPr/>
          <p:nvPr/>
        </p:nvSpPr>
        <p:spPr>
          <a:xfrm>
            <a:off x="2329400"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222</a:t>
            </a:r>
            <a:endParaRPr lang="en-US" sz="576" dirty="0"/>
          </a:p>
        </p:txBody>
      </p:sp>
      <p:sp>
        <p:nvSpPr>
          <p:cNvPr id="246" name="Text 243"/>
          <p:cNvSpPr/>
          <p:nvPr/>
        </p:nvSpPr>
        <p:spPr>
          <a:xfrm>
            <a:off x="2812186"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441</a:t>
            </a:r>
            <a:endParaRPr lang="en-US" sz="576" dirty="0"/>
          </a:p>
        </p:txBody>
      </p:sp>
      <p:sp>
        <p:nvSpPr>
          <p:cNvPr id="247" name="Text 244"/>
          <p:cNvSpPr/>
          <p:nvPr/>
        </p:nvSpPr>
        <p:spPr>
          <a:xfrm>
            <a:off x="3294972"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725</a:t>
            </a:r>
            <a:endParaRPr lang="en-US" sz="576" dirty="0"/>
          </a:p>
        </p:txBody>
      </p:sp>
      <p:sp>
        <p:nvSpPr>
          <p:cNvPr id="248" name="Text 245"/>
          <p:cNvSpPr/>
          <p:nvPr/>
        </p:nvSpPr>
        <p:spPr>
          <a:xfrm>
            <a:off x="3777759"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928</a:t>
            </a:r>
            <a:endParaRPr lang="en-US" sz="576" dirty="0"/>
          </a:p>
        </p:txBody>
      </p:sp>
      <p:sp>
        <p:nvSpPr>
          <p:cNvPr id="249" name="Text 246"/>
          <p:cNvSpPr/>
          <p:nvPr/>
        </p:nvSpPr>
        <p:spPr>
          <a:xfrm>
            <a:off x="4260545"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928</a:t>
            </a:r>
            <a:endParaRPr lang="en-US" sz="576" dirty="0"/>
          </a:p>
        </p:txBody>
      </p:sp>
      <p:sp>
        <p:nvSpPr>
          <p:cNvPr id="250" name="Text 247"/>
          <p:cNvSpPr/>
          <p:nvPr/>
        </p:nvSpPr>
        <p:spPr>
          <a:xfrm>
            <a:off x="2329400" y="44679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447</a:t>
            </a:r>
            <a:endParaRPr lang="en-US" sz="576" dirty="0"/>
          </a:p>
        </p:txBody>
      </p:sp>
      <p:sp>
        <p:nvSpPr>
          <p:cNvPr id="251" name="Text 248"/>
          <p:cNvSpPr/>
          <p:nvPr/>
        </p:nvSpPr>
        <p:spPr>
          <a:xfrm>
            <a:off x="2812186" y="44679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889</a:t>
            </a:r>
            <a:endParaRPr lang="en-US" sz="576" dirty="0"/>
          </a:p>
        </p:txBody>
      </p:sp>
      <p:sp>
        <p:nvSpPr>
          <p:cNvPr id="252" name="Text 249"/>
          <p:cNvSpPr/>
          <p:nvPr/>
        </p:nvSpPr>
        <p:spPr>
          <a:xfrm>
            <a:off x="6257769" y="1796230"/>
            <a:ext cx="1120237"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253" name="Text 250"/>
          <p:cNvSpPr/>
          <p:nvPr/>
        </p:nvSpPr>
        <p:spPr>
          <a:xfrm>
            <a:off x="9303014" y="1967680"/>
            <a:ext cx="1008183" cy="138113"/>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322</a:t>
            </a:r>
            <a:endParaRPr lang="en-US" sz="636" dirty="0"/>
          </a:p>
        </p:txBody>
      </p:sp>
      <p:sp>
        <p:nvSpPr>
          <p:cNvPr id="254" name="Text 251"/>
          <p:cNvSpPr/>
          <p:nvPr/>
        </p:nvSpPr>
        <p:spPr>
          <a:xfrm>
            <a:off x="9303014" y="2105792"/>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441</a:t>
            </a:r>
            <a:endParaRPr lang="en-US" sz="636" dirty="0"/>
          </a:p>
        </p:txBody>
      </p:sp>
      <p:sp>
        <p:nvSpPr>
          <p:cNvPr id="255" name="Text 252"/>
          <p:cNvSpPr/>
          <p:nvPr/>
        </p:nvSpPr>
        <p:spPr>
          <a:xfrm>
            <a:off x="9303014" y="2248667"/>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600</a:t>
            </a:r>
            <a:endParaRPr lang="en-US" sz="636" dirty="0"/>
          </a:p>
        </p:txBody>
      </p:sp>
      <p:sp>
        <p:nvSpPr>
          <p:cNvPr id="256" name="Text 253"/>
          <p:cNvSpPr/>
          <p:nvPr/>
        </p:nvSpPr>
        <p:spPr>
          <a:xfrm>
            <a:off x="9303014" y="2391542"/>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345</a:t>
            </a:r>
            <a:endParaRPr lang="en-US" sz="636" dirty="0"/>
          </a:p>
        </p:txBody>
      </p:sp>
      <p:sp>
        <p:nvSpPr>
          <p:cNvPr id="257" name="Text 254"/>
          <p:cNvSpPr/>
          <p:nvPr/>
        </p:nvSpPr>
        <p:spPr>
          <a:xfrm>
            <a:off x="9303014" y="2534417"/>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750</a:t>
            </a:r>
            <a:endParaRPr lang="en-US" sz="636" dirty="0"/>
          </a:p>
        </p:txBody>
      </p:sp>
      <p:sp>
        <p:nvSpPr>
          <p:cNvPr id="258" name="Text 255"/>
          <p:cNvSpPr/>
          <p:nvPr/>
        </p:nvSpPr>
        <p:spPr>
          <a:xfrm>
            <a:off x="9303014" y="2677292"/>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615</a:t>
            </a:r>
            <a:endParaRPr lang="en-US" sz="636" dirty="0"/>
          </a:p>
        </p:txBody>
      </p:sp>
      <p:sp>
        <p:nvSpPr>
          <p:cNvPr id="259" name="Text 256"/>
          <p:cNvSpPr/>
          <p:nvPr/>
        </p:nvSpPr>
        <p:spPr>
          <a:xfrm>
            <a:off x="8091881"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260" name="Text 257"/>
          <p:cNvSpPr/>
          <p:nvPr/>
        </p:nvSpPr>
        <p:spPr>
          <a:xfrm>
            <a:off x="8574667"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261" name="Text 258"/>
          <p:cNvSpPr/>
          <p:nvPr/>
        </p:nvSpPr>
        <p:spPr>
          <a:xfrm>
            <a:off x="9057453"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262" name="Text 259"/>
          <p:cNvSpPr/>
          <p:nvPr/>
        </p:nvSpPr>
        <p:spPr>
          <a:xfrm>
            <a:off x="9540240"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263" name="Text 260"/>
          <p:cNvSpPr/>
          <p:nvPr/>
        </p:nvSpPr>
        <p:spPr>
          <a:xfrm>
            <a:off x="10023026"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264" name="Text 261"/>
          <p:cNvSpPr/>
          <p:nvPr/>
        </p:nvSpPr>
        <p:spPr>
          <a:xfrm>
            <a:off x="10505812"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265" name="Text 262"/>
          <p:cNvSpPr/>
          <p:nvPr/>
        </p:nvSpPr>
        <p:spPr>
          <a:xfrm>
            <a:off x="8091881"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156</a:t>
            </a:r>
            <a:endParaRPr lang="en-US" sz="552" dirty="0"/>
          </a:p>
        </p:txBody>
      </p:sp>
      <p:sp>
        <p:nvSpPr>
          <p:cNvPr id="266" name="Text 263"/>
          <p:cNvSpPr/>
          <p:nvPr/>
        </p:nvSpPr>
        <p:spPr>
          <a:xfrm>
            <a:off x="8574667"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480</a:t>
            </a:r>
            <a:endParaRPr lang="en-US" sz="552" dirty="0"/>
          </a:p>
        </p:txBody>
      </p:sp>
      <p:sp>
        <p:nvSpPr>
          <p:cNvPr id="267" name="Text 264"/>
          <p:cNvSpPr/>
          <p:nvPr/>
        </p:nvSpPr>
        <p:spPr>
          <a:xfrm>
            <a:off x="9057453"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541</a:t>
            </a:r>
            <a:endParaRPr lang="en-US" sz="552" dirty="0"/>
          </a:p>
        </p:txBody>
      </p:sp>
      <p:sp>
        <p:nvSpPr>
          <p:cNvPr id="268" name="Text 265"/>
          <p:cNvSpPr/>
          <p:nvPr/>
        </p:nvSpPr>
        <p:spPr>
          <a:xfrm>
            <a:off x="9540240"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568</a:t>
            </a:r>
            <a:endParaRPr lang="en-US" sz="552" dirty="0"/>
          </a:p>
        </p:txBody>
      </p:sp>
      <p:sp>
        <p:nvSpPr>
          <p:cNvPr id="269" name="Text 266"/>
          <p:cNvSpPr/>
          <p:nvPr/>
        </p:nvSpPr>
        <p:spPr>
          <a:xfrm>
            <a:off x="10023026"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568</a:t>
            </a:r>
            <a:endParaRPr lang="en-US" sz="552" dirty="0"/>
          </a:p>
        </p:txBody>
      </p:sp>
      <p:sp>
        <p:nvSpPr>
          <p:cNvPr id="270" name="Text 267"/>
          <p:cNvSpPr/>
          <p:nvPr/>
        </p:nvSpPr>
        <p:spPr>
          <a:xfrm>
            <a:off x="10505812"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760</a:t>
            </a:r>
            <a:endParaRPr lang="en-US" sz="552" dirty="0"/>
          </a:p>
        </p:txBody>
      </p:sp>
      <p:sp>
        <p:nvSpPr>
          <p:cNvPr id="271" name="Text 268"/>
          <p:cNvSpPr/>
          <p:nvPr/>
        </p:nvSpPr>
        <p:spPr>
          <a:xfrm>
            <a:off x="8091881"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730</a:t>
            </a:r>
            <a:endParaRPr lang="en-US" sz="552" dirty="0"/>
          </a:p>
        </p:txBody>
      </p:sp>
      <p:sp>
        <p:nvSpPr>
          <p:cNvPr id="272" name="Text 269"/>
          <p:cNvSpPr/>
          <p:nvPr/>
        </p:nvSpPr>
        <p:spPr>
          <a:xfrm>
            <a:off x="8091881"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299</a:t>
            </a:r>
            <a:endParaRPr lang="en-US" sz="552" dirty="0"/>
          </a:p>
        </p:txBody>
      </p:sp>
      <p:sp>
        <p:nvSpPr>
          <p:cNvPr id="273" name="Text 270"/>
          <p:cNvSpPr/>
          <p:nvPr/>
        </p:nvSpPr>
        <p:spPr>
          <a:xfrm>
            <a:off x="8574667"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919</a:t>
            </a:r>
            <a:endParaRPr lang="en-US" sz="552" dirty="0"/>
          </a:p>
        </p:txBody>
      </p:sp>
      <p:sp>
        <p:nvSpPr>
          <p:cNvPr id="274" name="Text 271"/>
          <p:cNvSpPr/>
          <p:nvPr/>
        </p:nvSpPr>
        <p:spPr>
          <a:xfrm>
            <a:off x="8091881"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357</a:t>
            </a:r>
            <a:endParaRPr lang="en-US" sz="552" dirty="0"/>
          </a:p>
        </p:txBody>
      </p:sp>
      <p:sp>
        <p:nvSpPr>
          <p:cNvPr id="275" name="Text 272"/>
          <p:cNvSpPr/>
          <p:nvPr/>
        </p:nvSpPr>
        <p:spPr>
          <a:xfrm>
            <a:off x="8091881"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156</a:t>
            </a:r>
            <a:endParaRPr lang="en-US" sz="552" dirty="0"/>
          </a:p>
        </p:txBody>
      </p:sp>
      <p:sp>
        <p:nvSpPr>
          <p:cNvPr id="276" name="Text 273"/>
          <p:cNvSpPr/>
          <p:nvPr/>
        </p:nvSpPr>
        <p:spPr>
          <a:xfrm>
            <a:off x="8574667"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479</a:t>
            </a:r>
            <a:endParaRPr lang="en-US" sz="552" dirty="0"/>
          </a:p>
        </p:txBody>
      </p:sp>
      <p:sp>
        <p:nvSpPr>
          <p:cNvPr id="277" name="Text 274"/>
          <p:cNvSpPr/>
          <p:nvPr/>
        </p:nvSpPr>
        <p:spPr>
          <a:xfrm>
            <a:off x="9057453"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539</a:t>
            </a:r>
            <a:endParaRPr lang="en-US" sz="552" dirty="0"/>
          </a:p>
        </p:txBody>
      </p:sp>
      <p:sp>
        <p:nvSpPr>
          <p:cNvPr id="278" name="Text 275"/>
          <p:cNvSpPr/>
          <p:nvPr/>
        </p:nvSpPr>
        <p:spPr>
          <a:xfrm>
            <a:off x="9540240"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566</a:t>
            </a:r>
            <a:endParaRPr lang="en-US" sz="552" dirty="0"/>
          </a:p>
        </p:txBody>
      </p:sp>
      <p:sp>
        <p:nvSpPr>
          <p:cNvPr id="279" name="Text 276"/>
          <p:cNvSpPr/>
          <p:nvPr/>
        </p:nvSpPr>
        <p:spPr>
          <a:xfrm>
            <a:off x="10023026"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566</a:t>
            </a:r>
            <a:endParaRPr lang="en-US" sz="552" dirty="0"/>
          </a:p>
        </p:txBody>
      </p:sp>
      <p:sp>
        <p:nvSpPr>
          <p:cNvPr id="280" name="Text 277"/>
          <p:cNvSpPr/>
          <p:nvPr/>
        </p:nvSpPr>
        <p:spPr>
          <a:xfrm>
            <a:off x="10505812"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757</a:t>
            </a:r>
            <a:endParaRPr lang="en-US" sz="552" dirty="0"/>
          </a:p>
        </p:txBody>
      </p:sp>
      <p:sp>
        <p:nvSpPr>
          <p:cNvPr id="281" name="Text 278"/>
          <p:cNvSpPr/>
          <p:nvPr/>
        </p:nvSpPr>
        <p:spPr>
          <a:xfrm>
            <a:off x="8091881"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148</a:t>
            </a:r>
            <a:endParaRPr lang="en-US" sz="552" dirty="0"/>
          </a:p>
        </p:txBody>
      </p:sp>
      <p:sp>
        <p:nvSpPr>
          <p:cNvPr id="282" name="Text 279"/>
          <p:cNvSpPr/>
          <p:nvPr/>
        </p:nvSpPr>
        <p:spPr>
          <a:xfrm>
            <a:off x="8574667"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455</a:t>
            </a:r>
            <a:endParaRPr lang="en-US" sz="552" dirty="0"/>
          </a:p>
        </p:txBody>
      </p:sp>
      <p:sp>
        <p:nvSpPr>
          <p:cNvPr id="283" name="Text 280"/>
          <p:cNvSpPr/>
          <p:nvPr/>
        </p:nvSpPr>
        <p:spPr>
          <a:xfrm>
            <a:off x="9057453"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512</a:t>
            </a:r>
            <a:endParaRPr lang="en-US" sz="552" dirty="0"/>
          </a:p>
        </p:txBody>
      </p:sp>
      <p:sp>
        <p:nvSpPr>
          <p:cNvPr id="284" name="Text 281"/>
          <p:cNvSpPr/>
          <p:nvPr/>
        </p:nvSpPr>
        <p:spPr>
          <a:xfrm>
            <a:off x="9540240"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538</a:t>
            </a:r>
            <a:endParaRPr lang="en-US" sz="552" dirty="0"/>
          </a:p>
        </p:txBody>
      </p:sp>
      <p:sp>
        <p:nvSpPr>
          <p:cNvPr id="285" name="Text 282"/>
          <p:cNvSpPr/>
          <p:nvPr/>
        </p:nvSpPr>
        <p:spPr>
          <a:xfrm>
            <a:off x="10023026"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538</a:t>
            </a:r>
            <a:endParaRPr lang="en-US" sz="552" dirty="0"/>
          </a:p>
        </p:txBody>
      </p:sp>
      <p:sp>
        <p:nvSpPr>
          <p:cNvPr id="286" name="Text 283"/>
          <p:cNvSpPr/>
          <p:nvPr/>
        </p:nvSpPr>
        <p:spPr>
          <a:xfrm>
            <a:off x="10505812"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720</a:t>
            </a:r>
            <a:endParaRPr lang="en-US" sz="552" dirty="0"/>
          </a:p>
        </p:txBody>
      </p:sp>
      <p:sp>
        <p:nvSpPr>
          <p:cNvPr id="287" name="Text 284"/>
          <p:cNvSpPr/>
          <p:nvPr/>
        </p:nvSpPr>
        <p:spPr>
          <a:xfrm>
            <a:off x="8091881" y="44679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316</a:t>
            </a:r>
            <a:endParaRPr lang="en-US" sz="552" dirty="0"/>
          </a:p>
        </p:txBody>
      </p:sp>
      <p:sp>
        <p:nvSpPr>
          <p:cNvPr id="288" name="Text 285"/>
          <p:cNvSpPr/>
          <p:nvPr/>
        </p:nvSpPr>
        <p:spPr>
          <a:xfrm>
            <a:off x="8574667" y="44679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971</a:t>
            </a:r>
            <a:endParaRPr lang="en-US" sz="552" dirty="0"/>
          </a:p>
        </p:txBody>
      </p:sp>
      <p:sp>
        <p:nvSpPr>
          <p:cNvPr id="289" name="Text 286"/>
          <p:cNvSpPr/>
          <p:nvPr/>
        </p:nvSpPr>
        <p:spPr>
          <a:xfrm>
            <a:off x="8091881"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437</a:t>
            </a:r>
            <a:endParaRPr lang="en-US" sz="552" dirty="0"/>
          </a:p>
        </p:txBody>
      </p:sp>
      <p:sp>
        <p:nvSpPr>
          <p:cNvPr id="290" name="Text 287"/>
          <p:cNvSpPr/>
          <p:nvPr/>
        </p:nvSpPr>
        <p:spPr>
          <a:xfrm>
            <a:off x="8091881" y="50013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170</a:t>
            </a:r>
            <a:endParaRPr lang="en-US" sz="552" dirty="0"/>
          </a:p>
        </p:txBody>
      </p:sp>
      <p:sp>
        <p:nvSpPr>
          <p:cNvPr id="291" name="Text 288"/>
          <p:cNvSpPr/>
          <p:nvPr/>
        </p:nvSpPr>
        <p:spPr>
          <a:xfrm>
            <a:off x="8574667" y="50013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523</a:t>
            </a:r>
            <a:endParaRPr lang="en-US" sz="552" dirty="0"/>
          </a:p>
        </p:txBody>
      </p:sp>
      <p:sp>
        <p:nvSpPr>
          <p:cNvPr id="292" name="Text 289"/>
          <p:cNvSpPr/>
          <p:nvPr/>
        </p:nvSpPr>
        <p:spPr>
          <a:xfrm>
            <a:off x="9057453" y="50013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589</a:t>
            </a:r>
            <a:endParaRPr lang="en-US" sz="552" dirty="0"/>
          </a:p>
        </p:txBody>
      </p:sp>
      <p:sp>
        <p:nvSpPr>
          <p:cNvPr id="293" name="Text 290"/>
          <p:cNvSpPr/>
          <p:nvPr/>
        </p:nvSpPr>
        <p:spPr>
          <a:xfrm>
            <a:off x="9540240" y="50013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619</a:t>
            </a:r>
            <a:endParaRPr lang="en-US" sz="552" dirty="0"/>
          </a:p>
        </p:txBody>
      </p:sp>
      <p:sp>
        <p:nvSpPr>
          <p:cNvPr id="294" name="Text 291"/>
          <p:cNvSpPr/>
          <p:nvPr/>
        </p:nvSpPr>
        <p:spPr>
          <a:xfrm>
            <a:off x="10023026" y="50013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619</a:t>
            </a:r>
            <a:endParaRPr lang="en-US" sz="552" dirty="0"/>
          </a:p>
        </p:txBody>
      </p:sp>
      <p:sp>
        <p:nvSpPr>
          <p:cNvPr id="295" name="Text 292"/>
          <p:cNvSpPr/>
          <p:nvPr/>
        </p:nvSpPr>
        <p:spPr>
          <a:xfrm>
            <a:off x="10505812" y="50013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827</a:t>
            </a:r>
            <a:endParaRPr lang="en-US" sz="552" dirty="0"/>
          </a:p>
        </p:txBody>
      </p:sp>
      <p:sp>
        <p:nvSpPr>
          <p:cNvPr id="296" name="Text 293"/>
          <p:cNvSpPr/>
          <p:nvPr/>
        </p:nvSpPr>
        <p:spPr>
          <a:xfrm>
            <a:off x="10988599" y="5134742"/>
            <a:ext cx="719233" cy="128588"/>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276</a:t>
            </a:r>
            <a:endParaRPr lang="en-US" sz="552" dirty="0"/>
          </a:p>
        </p:txBody>
      </p:sp>
      <p:sp>
        <p:nvSpPr>
          <p:cNvPr id="297" name="Text 294"/>
          <p:cNvSpPr/>
          <p:nvPr/>
        </p:nvSpPr>
        <p:spPr>
          <a:xfrm>
            <a:off x="8091881" y="5134742"/>
            <a:ext cx="497270" cy="128588"/>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14</a:t>
            </a:r>
            <a:endParaRPr lang="en-US" sz="552" dirty="0"/>
          </a:p>
        </p:txBody>
      </p:sp>
      <p:sp>
        <p:nvSpPr>
          <p:cNvPr id="298" name="Text 295"/>
          <p:cNvSpPr/>
          <p:nvPr/>
        </p:nvSpPr>
        <p:spPr>
          <a:xfrm>
            <a:off x="8574667" y="5134742"/>
            <a:ext cx="497270" cy="128588"/>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43</a:t>
            </a:r>
            <a:endParaRPr lang="en-US" sz="552" dirty="0"/>
          </a:p>
        </p:txBody>
      </p:sp>
      <p:sp>
        <p:nvSpPr>
          <p:cNvPr id="299" name="Text 296"/>
          <p:cNvSpPr/>
          <p:nvPr/>
        </p:nvSpPr>
        <p:spPr>
          <a:xfrm>
            <a:off x="9057453" y="5134742"/>
            <a:ext cx="497270" cy="128588"/>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49</a:t>
            </a:r>
            <a:endParaRPr lang="en-US" sz="552" dirty="0"/>
          </a:p>
        </p:txBody>
      </p:sp>
      <p:sp>
        <p:nvSpPr>
          <p:cNvPr id="300" name="Text 297"/>
          <p:cNvSpPr/>
          <p:nvPr/>
        </p:nvSpPr>
        <p:spPr>
          <a:xfrm>
            <a:off x="9540240" y="5134742"/>
            <a:ext cx="497270" cy="128588"/>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51</a:t>
            </a:r>
            <a:endParaRPr lang="en-US" sz="552" dirty="0"/>
          </a:p>
        </p:txBody>
      </p:sp>
      <p:sp>
        <p:nvSpPr>
          <p:cNvPr id="301" name="Text 298"/>
          <p:cNvSpPr/>
          <p:nvPr/>
        </p:nvSpPr>
        <p:spPr>
          <a:xfrm>
            <a:off x="10023026" y="5134742"/>
            <a:ext cx="497270" cy="128588"/>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51</a:t>
            </a:r>
            <a:endParaRPr lang="en-US" sz="552" dirty="0"/>
          </a:p>
        </p:txBody>
      </p:sp>
      <p:sp>
        <p:nvSpPr>
          <p:cNvPr id="302" name="Text 299"/>
          <p:cNvSpPr/>
          <p:nvPr/>
        </p:nvSpPr>
        <p:spPr>
          <a:xfrm>
            <a:off x="10505812" y="5134742"/>
            <a:ext cx="497270" cy="128588"/>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68</a:t>
            </a:r>
            <a:endParaRPr lang="en-US" sz="552" dirty="0"/>
          </a:p>
        </p:txBody>
      </p:sp>
      <p:sp>
        <p:nvSpPr>
          <p:cNvPr id="304" name="TextBox 303">
            <a:extLst>
              <a:ext uri="{FF2B5EF4-FFF2-40B4-BE49-F238E27FC236}">
                <a16:creationId xmlns:a16="http://schemas.microsoft.com/office/drawing/2014/main" id="{863F0BE3-FC2B-E1FF-25DF-EEEC05DF9A04}"/>
              </a:ext>
            </a:extLst>
          </p:cNvPr>
          <p:cNvSpPr txBox="1"/>
          <p:nvPr/>
        </p:nvSpPr>
        <p:spPr>
          <a:xfrm>
            <a:off x="641443" y="5480906"/>
            <a:ext cx="11066389" cy="1038746"/>
          </a:xfrm>
          <a:prstGeom prst="rect">
            <a:avLst/>
          </a:prstGeom>
          <a:noFill/>
        </p:spPr>
        <p:txBody>
          <a:bodyPr wrap="square">
            <a:spAutoFit/>
          </a:bodyPr>
          <a:lstStyle/>
          <a:p>
            <a:pPr marL="0" marR="0" indent="0" algn="l">
              <a:spcBef>
                <a:spcPts val="450"/>
              </a:spcBef>
              <a:buNone/>
            </a:pPr>
            <a:r>
              <a:rPr lang="es-CO" sz="700" b="1" i="0" dirty="0">
                <a:solidFill>
                  <a:srgbClr val="120180"/>
                </a:solidFill>
                <a:effectLst/>
                <a:latin typeface="Raleway" pitchFamily="2" charset="0"/>
              </a:rPr>
              <a:t>Observaciones Clave de la Base:</a:t>
            </a:r>
          </a:p>
          <a:p>
            <a:pPr marL="0" marR="0" indent="0" algn="l">
              <a:spcBef>
                <a:spcPts val="450"/>
              </a:spcBef>
              <a:buFont typeface="Arial" panose="020B0604020202020204" pitchFamily="34" charset="0"/>
              <a:buChar char="•"/>
            </a:pPr>
            <a:r>
              <a:rPr lang="es-CO" sz="700" b="1" i="0" dirty="0">
                <a:solidFill>
                  <a:srgbClr val="120180"/>
                </a:solidFill>
                <a:effectLst/>
                <a:latin typeface="Raleway" pitchFamily="2" charset="0"/>
              </a:rPr>
              <a:t>CP Stock es la base de mayor volumen (420.641 registros recibidos) en el semestre.</a:t>
            </a:r>
          </a:p>
          <a:p>
            <a:pPr marL="0" marR="0" indent="0" algn="l">
              <a:spcBef>
                <a:spcPts val="450"/>
              </a:spcBef>
              <a:buFont typeface="Arial" panose="020B0604020202020204" pitchFamily="34" charset="0"/>
              <a:buChar char="•"/>
            </a:pPr>
            <a:r>
              <a:rPr lang="es-CO" sz="700" b="1" i="0" dirty="0">
                <a:solidFill>
                  <a:srgbClr val="120180"/>
                </a:solidFill>
                <a:effectLst/>
                <a:latin typeface="Raleway" pitchFamily="2" charset="0"/>
              </a:rPr>
              <a:t>El descarte estructural de Registro Enviado Anteriormente (36,8 %) y Cuota Activa (32,7 %) suma el 69,5 % del rechazo, confirmando el agotamiento de la base.</a:t>
            </a:r>
          </a:p>
          <a:p>
            <a:pPr marL="0" marR="0" indent="0" algn="l">
              <a:spcBef>
                <a:spcPts val="450"/>
              </a:spcBef>
              <a:buFont typeface="Arial" panose="020B0604020202020204" pitchFamily="34" charset="0"/>
              <a:buChar char="•"/>
            </a:pPr>
            <a:r>
              <a:rPr lang="es-CO" sz="700" b="1" i="0" dirty="0">
                <a:solidFill>
                  <a:srgbClr val="120180"/>
                </a:solidFill>
                <a:effectLst/>
                <a:latin typeface="Raleway" pitchFamily="2" charset="0"/>
              </a:rPr>
              <a:t>El no contacto es muy alto (50,6 %), impulsado por contestadores automáticos (41,6 %), lo que exige depuración telefónica en 2S.</a:t>
            </a:r>
          </a:p>
          <a:p>
            <a:pPr>
              <a:buNone/>
            </a:pPr>
            <a:br>
              <a:rPr lang="es-CO" sz="1000" dirty="0"/>
            </a:br>
            <a:endParaRPr lang="es-CO"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C:\01_Repositorios\13_Presentaciones\dash\televentas\ppt_slides\sk_08_main.png"/>
          <p:cNvPicPr>
            <a:picLocks noChangeAspect="1"/>
          </p:cNvPicPr>
          <p:nvPr/>
        </p:nvPicPr>
        <p:blipFill>
          <a:blip r:embed="rId3"/>
          <a:stretch>
            <a:fillRect/>
          </a:stretch>
        </p:blipFill>
        <p:spPr>
          <a:xfrm>
            <a:off x="0" y="0"/>
            <a:ext cx="12191695" cy="6858000"/>
          </a:xfrm>
          <a:prstGeom prst="rect">
            <a:avLst/>
          </a:prstGeom>
        </p:spPr>
      </p:pic>
      <p:sp>
        <p:nvSpPr>
          <p:cNvPr id="6" name="Text 3"/>
          <p:cNvSpPr/>
          <p:nvPr/>
        </p:nvSpPr>
        <p:spPr>
          <a:xfrm>
            <a:off x="1213514" y="219075"/>
            <a:ext cx="4079484" cy="196215"/>
          </a:xfrm>
          <a:prstGeom prst="rect">
            <a:avLst/>
          </a:prstGeom>
          <a:noFill/>
          <a:ln/>
        </p:spPr>
        <p:txBody>
          <a:bodyPr wrap="square" lIns="0" tIns="0" rIns="0" bIns="0" rtlCol="0" anchor="t"/>
          <a:lstStyle/>
          <a:p>
            <a:pPr marL="0" indent="0" algn="l">
              <a:buNone/>
            </a:pPr>
            <a:r>
              <a:rPr lang="en-US" sz="1260" b="1" dirty="0">
                <a:solidFill>
                  <a:srgbClr val="FFFFFF"/>
                </a:solidFill>
                <a:latin typeface="Raleway" pitchFamily="34" charset="0"/>
                <a:ea typeface="Raleway" pitchFamily="34" charset="-122"/>
                <a:cs typeface="Raleway" pitchFamily="34" charset="-120"/>
              </a:rPr>
              <a:t>Detalle Operativo · Campaña Masiva Voluntarios</a:t>
            </a:r>
            <a:endParaRPr lang="en-US" sz="1260" dirty="0"/>
          </a:p>
        </p:txBody>
      </p:sp>
      <p:sp>
        <p:nvSpPr>
          <p:cNvPr id="7" name="Text 4"/>
          <p:cNvSpPr/>
          <p:nvPr/>
        </p:nvSpPr>
        <p:spPr>
          <a:xfrm>
            <a:off x="4374991" y="1219944"/>
            <a:ext cx="3584053"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Importante repunte tras actualización de base</a:t>
            </a:r>
            <a:endParaRPr lang="en-US" sz="648" dirty="0"/>
          </a:p>
        </p:txBody>
      </p:sp>
      <p:sp>
        <p:nvSpPr>
          <p:cNvPr id="8" name="Text 5"/>
          <p:cNvSpPr/>
          <p:nvPr/>
        </p:nvSpPr>
        <p:spPr>
          <a:xfrm>
            <a:off x="504812" y="366789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Supera edad para Microseguro (69 años)</a:t>
            </a:r>
            <a:endParaRPr lang="en-US" sz="576" dirty="0"/>
          </a:p>
        </p:txBody>
      </p:sp>
      <p:sp>
        <p:nvSpPr>
          <p:cNvPr id="9" name="Text 6"/>
          <p:cNvSpPr/>
          <p:nvPr/>
        </p:nvSpPr>
        <p:spPr>
          <a:xfrm>
            <a:off x="6257769" y="302969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      4. Tipificación de Leads Aptos por Mes</a:t>
            </a:r>
            <a:endParaRPr lang="en-US" sz="816" dirty="0"/>
          </a:p>
        </p:txBody>
      </p:sp>
      <p:sp>
        <p:nvSpPr>
          <p:cNvPr id="10" name="Text 7"/>
          <p:cNvSpPr/>
          <p:nvPr/>
        </p:nvSpPr>
        <p:spPr>
          <a:xfrm>
            <a:off x="533387" y="1219944"/>
            <a:ext cx="3584053"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Base masiva para gestión del marcador</a:t>
            </a:r>
            <a:endParaRPr lang="en-US" sz="648" dirty="0"/>
          </a:p>
        </p:txBody>
      </p:sp>
      <p:sp>
        <p:nvSpPr>
          <p:cNvPr id="11" name="Text 8"/>
          <p:cNvSpPr/>
          <p:nvPr/>
        </p:nvSpPr>
        <p:spPr>
          <a:xfrm>
            <a:off x="495288" y="160094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      1. Calidad de Base y Descarte Mensual</a:t>
            </a:r>
            <a:endParaRPr lang="en-US" sz="816" dirty="0"/>
          </a:p>
        </p:txBody>
      </p:sp>
      <p:sp>
        <p:nvSpPr>
          <p:cNvPr id="12" name="Text 9"/>
          <p:cNvSpPr/>
          <p:nvPr/>
        </p:nvSpPr>
        <p:spPr>
          <a:xfrm>
            <a:off x="6267293" y="48680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Teléfono apagado / fuera de servicio</a:t>
            </a:r>
            <a:endParaRPr lang="en-US" sz="552" dirty="0"/>
          </a:p>
        </p:txBody>
      </p:sp>
      <p:sp>
        <p:nvSpPr>
          <p:cNvPr id="13" name="Text 10"/>
          <p:cNvSpPr/>
          <p:nvPr/>
        </p:nvSpPr>
        <p:spPr>
          <a:xfrm>
            <a:off x="6267293" y="40679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interesado por el precio / datos</a:t>
            </a:r>
            <a:endParaRPr lang="en-US" sz="552" dirty="0"/>
          </a:p>
        </p:txBody>
      </p:sp>
      <p:sp>
        <p:nvSpPr>
          <p:cNvPr id="14" name="Text 11"/>
          <p:cNvSpPr/>
          <p:nvPr/>
        </p:nvSpPr>
        <p:spPr>
          <a:xfrm>
            <a:off x="9547831" y="114854"/>
            <a:ext cx="2910501" cy="215836"/>
          </a:xfrm>
          <a:prstGeom prst="rect">
            <a:avLst/>
          </a:prstGeom>
          <a:noFill/>
          <a:ln/>
        </p:spPr>
        <p:txBody>
          <a:bodyPr wrap="square" lIns="38100" tIns="114300" rIns="114300" bIns="38100" rtlCol="0" anchor="t"/>
          <a:lstStyle/>
          <a:p>
            <a:pPr marL="0" indent="0" algn="l">
              <a:buNone/>
            </a:pPr>
            <a:r>
              <a:rPr lang="en-US" sz="840" b="1" dirty="0" err="1">
                <a:solidFill>
                  <a:srgbClr val="5AE280"/>
                </a:solidFill>
                <a:latin typeface="Raleway" pitchFamily="34" charset="0"/>
                <a:ea typeface="Raleway" pitchFamily="34" charset="-122"/>
                <a:cs typeface="Raleway" pitchFamily="34" charset="-120"/>
              </a:rPr>
              <a:t>Detalle</a:t>
            </a:r>
            <a:r>
              <a:rPr lang="en-US" sz="840" b="1" dirty="0">
                <a:solidFill>
                  <a:srgbClr val="5AE280"/>
                </a:solidFill>
                <a:latin typeface="Raleway" pitchFamily="34" charset="0"/>
                <a:ea typeface="Raleway" pitchFamily="34" charset="-122"/>
                <a:cs typeface="Raleway" pitchFamily="34" charset="-120"/>
              </a:rPr>
              <a:t> Masiva Voluntarios</a:t>
            </a:r>
            <a:endParaRPr lang="en-US" sz="840" dirty="0"/>
          </a:p>
        </p:txBody>
      </p:sp>
      <p:sp>
        <p:nvSpPr>
          <p:cNvPr id="15" name="Text 12"/>
          <p:cNvSpPr/>
          <p:nvPr/>
        </p:nvSpPr>
        <p:spPr>
          <a:xfrm>
            <a:off x="6257769" y="160094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       3. Insumo Apto, Contacto y Ventas</a:t>
            </a:r>
            <a:endParaRPr lang="en-US" sz="816" dirty="0"/>
          </a:p>
        </p:txBody>
      </p:sp>
      <p:sp>
        <p:nvSpPr>
          <p:cNvPr id="16" name="Text 13"/>
          <p:cNvSpPr/>
          <p:nvPr/>
        </p:nvSpPr>
        <p:spPr>
          <a:xfrm>
            <a:off x="504812" y="38012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Excede límite de edad (&gt;69 años)</a:t>
            </a:r>
            <a:endParaRPr lang="en-US" sz="576" dirty="0"/>
          </a:p>
        </p:txBody>
      </p:sp>
      <p:sp>
        <p:nvSpPr>
          <p:cNvPr id="17" name="Text 14"/>
          <p:cNvSpPr/>
          <p:nvPr/>
        </p:nvSpPr>
        <p:spPr>
          <a:xfrm>
            <a:off x="504812" y="35345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Registro Recibido Anteriormente</a:t>
            </a:r>
            <a:endParaRPr lang="en-US" sz="576" dirty="0"/>
          </a:p>
        </p:txBody>
      </p:sp>
      <p:sp>
        <p:nvSpPr>
          <p:cNvPr id="19" name="Text 16"/>
          <p:cNvSpPr/>
          <p:nvPr/>
        </p:nvSpPr>
        <p:spPr>
          <a:xfrm>
            <a:off x="504812" y="3405955"/>
            <a:ext cx="1879325" cy="128588"/>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Registro Enviado Anteriormente</a:t>
            </a:r>
            <a:endParaRPr lang="en-US" sz="576" dirty="0"/>
          </a:p>
        </p:txBody>
      </p:sp>
      <p:sp>
        <p:nvSpPr>
          <p:cNvPr id="20" name="Text 17"/>
          <p:cNvSpPr/>
          <p:nvPr/>
        </p:nvSpPr>
        <p:spPr>
          <a:xfrm>
            <a:off x="495288" y="302969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2. Motivos de Descarte por Mes</a:t>
            </a:r>
            <a:endParaRPr lang="en-US" sz="816" dirty="0"/>
          </a:p>
        </p:txBody>
      </p:sp>
      <p:sp>
        <p:nvSpPr>
          <p:cNvPr id="21" name="Text 18"/>
          <p:cNvSpPr/>
          <p:nvPr/>
        </p:nvSpPr>
        <p:spPr>
          <a:xfrm>
            <a:off x="6267293" y="36678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interesado por el producto</a:t>
            </a:r>
            <a:endParaRPr lang="en-US" sz="552" dirty="0"/>
          </a:p>
        </p:txBody>
      </p:sp>
      <p:sp>
        <p:nvSpPr>
          <p:cNvPr id="22" name="Text 19"/>
          <p:cNvSpPr/>
          <p:nvPr/>
        </p:nvSpPr>
        <p:spPr>
          <a:xfrm>
            <a:off x="6267293" y="42012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Agendado / llamada posterior</a:t>
            </a:r>
            <a:endParaRPr lang="en-US" sz="552" dirty="0"/>
          </a:p>
        </p:txBody>
      </p:sp>
      <p:sp>
        <p:nvSpPr>
          <p:cNvPr id="23" name="Text 20"/>
          <p:cNvSpPr/>
          <p:nvPr/>
        </p:nvSpPr>
        <p:spPr>
          <a:xfrm>
            <a:off x="8216595" y="1219944"/>
            <a:ext cx="3584207"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Aporte incremental constante</a:t>
            </a:r>
            <a:endParaRPr lang="en-US" sz="648" dirty="0"/>
          </a:p>
        </p:txBody>
      </p:sp>
      <p:sp>
        <p:nvSpPr>
          <p:cNvPr id="24" name="Text 21"/>
          <p:cNvSpPr/>
          <p:nvPr/>
        </p:nvSpPr>
        <p:spPr>
          <a:xfrm>
            <a:off x="6267293" y="39345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es responsable del pago</a:t>
            </a:r>
            <a:endParaRPr lang="en-US" sz="552" dirty="0"/>
          </a:p>
        </p:txBody>
      </p:sp>
      <p:sp>
        <p:nvSpPr>
          <p:cNvPr id="25" name="Text 22"/>
          <p:cNvSpPr/>
          <p:nvPr/>
        </p:nvSpPr>
        <p:spPr>
          <a:xfrm>
            <a:off x="504812" y="393459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Seguro Voluntario Activo</a:t>
            </a:r>
            <a:endParaRPr lang="en-US" sz="576" dirty="0"/>
          </a:p>
        </p:txBody>
      </p:sp>
      <p:sp>
        <p:nvSpPr>
          <p:cNvPr id="26" name="Text 23"/>
          <p:cNvSpPr/>
          <p:nvPr/>
        </p:nvSpPr>
        <p:spPr>
          <a:xfrm>
            <a:off x="6267293" y="46013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Contestador automático</a:t>
            </a:r>
            <a:endParaRPr lang="en-US" sz="552" dirty="0"/>
          </a:p>
        </p:txBody>
      </p:sp>
      <p:sp>
        <p:nvSpPr>
          <p:cNvPr id="27" name="Text 24"/>
          <p:cNvSpPr/>
          <p:nvPr/>
        </p:nvSpPr>
        <p:spPr>
          <a:xfrm>
            <a:off x="504812" y="43346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Otros motivos menores</a:t>
            </a:r>
            <a:endParaRPr lang="en-US" sz="576" dirty="0"/>
          </a:p>
        </p:txBody>
      </p:sp>
      <p:sp>
        <p:nvSpPr>
          <p:cNvPr id="28" name="Text 25"/>
          <p:cNvSpPr/>
          <p:nvPr/>
        </p:nvSpPr>
        <p:spPr>
          <a:xfrm>
            <a:off x="6267293" y="43346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Otros motivos menores</a:t>
            </a:r>
            <a:endParaRPr lang="en-US" sz="552" dirty="0"/>
          </a:p>
        </p:txBody>
      </p:sp>
      <p:sp>
        <p:nvSpPr>
          <p:cNvPr id="29" name="Text 26"/>
          <p:cNvSpPr/>
          <p:nvPr/>
        </p:nvSpPr>
        <p:spPr>
          <a:xfrm>
            <a:off x="4374991" y="828675"/>
            <a:ext cx="3584053"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EFECTIVIDAD EN JUNIO</a:t>
            </a:r>
            <a:endParaRPr lang="en-US" sz="672" dirty="0"/>
          </a:p>
        </p:txBody>
      </p:sp>
      <p:sp>
        <p:nvSpPr>
          <p:cNvPr id="30" name="Text 27"/>
          <p:cNvSpPr/>
          <p:nvPr/>
        </p:nvSpPr>
        <p:spPr>
          <a:xfrm>
            <a:off x="504812" y="420129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Microseguro Activo</a:t>
            </a:r>
            <a:endParaRPr lang="en-US" sz="576" dirty="0"/>
          </a:p>
        </p:txBody>
      </p:sp>
      <p:sp>
        <p:nvSpPr>
          <p:cNvPr id="31" name="Text 28"/>
          <p:cNvSpPr/>
          <p:nvPr/>
        </p:nvSpPr>
        <p:spPr>
          <a:xfrm>
            <a:off x="8216595" y="828675"/>
            <a:ext cx="3584207"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VENTAS CONSEGUIDAS</a:t>
            </a:r>
            <a:endParaRPr lang="en-US" sz="672" dirty="0"/>
          </a:p>
        </p:txBody>
      </p:sp>
      <p:sp>
        <p:nvSpPr>
          <p:cNvPr id="32" name="Text 29"/>
          <p:cNvSpPr/>
          <p:nvPr/>
        </p:nvSpPr>
        <p:spPr>
          <a:xfrm>
            <a:off x="6267293" y="3405955"/>
            <a:ext cx="1879325" cy="128588"/>
          </a:xfrm>
          <a:prstGeom prst="rect">
            <a:avLst/>
          </a:prstGeom>
          <a:noFill/>
          <a:ln/>
        </p:spPr>
        <p:txBody>
          <a:bodyPr wrap="square" lIns="19050" tIns="38100" rIns="38100" bIns="19050" rtlCol="0" anchor="ctr"/>
          <a:lstStyle/>
          <a:p>
            <a:pPr marL="0" indent="0" algn="l">
              <a:buNone/>
            </a:pPr>
            <a:r>
              <a:rPr lang="en-US" sz="552" dirty="0">
                <a:solidFill>
                  <a:srgbClr val="120180"/>
                </a:solidFill>
                <a:latin typeface="Raleway" pitchFamily="34" charset="0"/>
                <a:ea typeface="Raleway" pitchFamily="34" charset="-122"/>
                <a:cs typeface="Raleway" pitchFamily="34" charset="-120"/>
              </a:rPr>
              <a:t>CONTACTO EFECTIVO</a:t>
            </a:r>
            <a:endParaRPr lang="en-US" sz="552" dirty="0"/>
          </a:p>
        </p:txBody>
      </p:sp>
      <p:sp>
        <p:nvSpPr>
          <p:cNvPr id="33" name="Text 30"/>
          <p:cNvSpPr/>
          <p:nvPr/>
        </p:nvSpPr>
        <p:spPr>
          <a:xfrm>
            <a:off x="6267293" y="38012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Cuelga la llamada</a:t>
            </a:r>
            <a:endParaRPr lang="en-US" sz="552" dirty="0"/>
          </a:p>
        </p:txBody>
      </p:sp>
      <p:sp>
        <p:nvSpPr>
          <p:cNvPr id="34" name="Text 31"/>
          <p:cNvSpPr/>
          <p:nvPr/>
        </p:nvSpPr>
        <p:spPr>
          <a:xfrm>
            <a:off x="6267293" y="5001392"/>
            <a:ext cx="1879325" cy="128588"/>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Otros no contacto</a:t>
            </a:r>
            <a:endParaRPr lang="en-US" sz="552" dirty="0"/>
          </a:p>
        </p:txBody>
      </p:sp>
      <p:sp>
        <p:nvSpPr>
          <p:cNvPr id="35" name="Text 32"/>
          <p:cNvSpPr/>
          <p:nvPr/>
        </p:nvSpPr>
        <p:spPr>
          <a:xfrm>
            <a:off x="533387" y="828675"/>
            <a:ext cx="3584053"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INSUMO APTO TOTAL</a:t>
            </a:r>
            <a:endParaRPr lang="en-US" sz="672" dirty="0"/>
          </a:p>
        </p:txBody>
      </p:sp>
      <p:sp>
        <p:nvSpPr>
          <p:cNvPr id="36" name="Text 33"/>
          <p:cNvSpPr/>
          <p:nvPr/>
        </p:nvSpPr>
        <p:spPr>
          <a:xfrm>
            <a:off x="504812" y="40679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Teléfono Vacío</a:t>
            </a:r>
            <a:endParaRPr lang="en-US" sz="576" dirty="0"/>
          </a:p>
        </p:txBody>
      </p:sp>
      <p:sp>
        <p:nvSpPr>
          <p:cNvPr id="37" name="Text 34"/>
          <p:cNvSpPr/>
          <p:nvPr/>
        </p:nvSpPr>
        <p:spPr>
          <a:xfrm>
            <a:off x="10281832" y="1796230"/>
            <a:ext cx="145701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Conv. / Ctto.</a:t>
            </a:r>
            <a:endParaRPr lang="en-US" sz="888" dirty="0"/>
          </a:p>
        </p:txBody>
      </p:sp>
      <p:sp>
        <p:nvSpPr>
          <p:cNvPr id="38" name="Text 35"/>
          <p:cNvSpPr/>
          <p:nvPr/>
        </p:nvSpPr>
        <p:spPr>
          <a:xfrm>
            <a:off x="6267293" y="35345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Venta exitosa</a:t>
            </a:r>
            <a:endParaRPr lang="en-US" sz="552" dirty="0"/>
          </a:p>
        </p:txBody>
      </p:sp>
      <p:sp>
        <p:nvSpPr>
          <p:cNvPr id="39" name="Text 36"/>
          <p:cNvSpPr/>
          <p:nvPr/>
        </p:nvSpPr>
        <p:spPr>
          <a:xfrm>
            <a:off x="6267293" y="3234505"/>
            <a:ext cx="1879325"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Tipificación</a:t>
            </a:r>
            <a:endParaRPr lang="en-US" sz="888" dirty="0"/>
          </a:p>
        </p:txBody>
      </p:sp>
      <p:sp>
        <p:nvSpPr>
          <p:cNvPr id="40" name="Text 37"/>
          <p:cNvSpPr/>
          <p:nvPr/>
        </p:nvSpPr>
        <p:spPr>
          <a:xfrm>
            <a:off x="6267293" y="4467992"/>
            <a:ext cx="1879325" cy="133350"/>
          </a:xfrm>
          <a:prstGeom prst="rect">
            <a:avLst/>
          </a:prstGeom>
          <a:noFill/>
          <a:ln/>
        </p:spPr>
        <p:txBody>
          <a:bodyPr wrap="square" lIns="19050" tIns="38100" rIns="38100" bIns="19050" rtlCol="0" anchor="ctr"/>
          <a:lstStyle/>
          <a:p>
            <a:pPr marL="0" indent="0" algn="l">
              <a:buNone/>
            </a:pPr>
            <a:r>
              <a:rPr lang="en-US" sz="552" dirty="0">
                <a:solidFill>
                  <a:srgbClr val="120180"/>
                </a:solidFill>
                <a:latin typeface="Raleway" pitchFamily="34" charset="0"/>
                <a:ea typeface="Raleway" pitchFamily="34" charset="-122"/>
                <a:cs typeface="Raleway" pitchFamily="34" charset="-120"/>
              </a:rPr>
              <a:t>NO CONTACTO</a:t>
            </a:r>
            <a:endParaRPr lang="en-US" sz="552" dirty="0"/>
          </a:p>
        </p:txBody>
      </p:sp>
      <p:sp>
        <p:nvSpPr>
          <p:cNvPr id="41" name="Text 38"/>
          <p:cNvSpPr/>
          <p:nvPr/>
        </p:nvSpPr>
        <p:spPr>
          <a:xfrm>
            <a:off x="6267293" y="47346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contesta</a:t>
            </a:r>
            <a:endParaRPr lang="en-US" sz="552" dirty="0"/>
          </a:p>
        </p:txBody>
      </p:sp>
      <p:sp>
        <p:nvSpPr>
          <p:cNvPr id="42" name="Text 39"/>
          <p:cNvSpPr/>
          <p:nvPr/>
        </p:nvSpPr>
        <p:spPr>
          <a:xfrm>
            <a:off x="2996877" y="1796230"/>
            <a:ext cx="1568454"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43" name="Text 40"/>
          <p:cNvSpPr/>
          <p:nvPr/>
        </p:nvSpPr>
        <p:spPr>
          <a:xfrm>
            <a:off x="8324195"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44" name="Text 41"/>
          <p:cNvSpPr/>
          <p:nvPr/>
        </p:nvSpPr>
        <p:spPr>
          <a:xfrm>
            <a:off x="1582896" y="1796230"/>
            <a:ext cx="145640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45" name="Text 42"/>
          <p:cNvSpPr/>
          <p:nvPr/>
        </p:nvSpPr>
        <p:spPr>
          <a:xfrm>
            <a:off x="4519648" y="1796230"/>
            <a:ext cx="1456707"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46" name="Text 43"/>
          <p:cNvSpPr/>
          <p:nvPr/>
        </p:nvSpPr>
        <p:spPr>
          <a:xfrm>
            <a:off x="495288" y="21057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7" name="Text 44"/>
          <p:cNvSpPr/>
          <p:nvPr/>
        </p:nvSpPr>
        <p:spPr>
          <a:xfrm>
            <a:off x="1582896" y="2820167"/>
            <a:ext cx="1456400"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255.138</a:t>
            </a:r>
            <a:endParaRPr lang="en-US" sz="636" dirty="0"/>
          </a:p>
        </p:txBody>
      </p:sp>
      <p:sp>
        <p:nvSpPr>
          <p:cNvPr id="48" name="Text 45"/>
          <p:cNvSpPr/>
          <p:nvPr/>
        </p:nvSpPr>
        <p:spPr>
          <a:xfrm>
            <a:off x="2996877" y="2820167"/>
            <a:ext cx="1568454"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135.313</a:t>
            </a:r>
            <a:endParaRPr lang="en-US" sz="636" dirty="0"/>
          </a:p>
        </p:txBody>
      </p:sp>
      <p:sp>
        <p:nvSpPr>
          <p:cNvPr id="49" name="Text 46"/>
          <p:cNvSpPr/>
          <p:nvPr/>
        </p:nvSpPr>
        <p:spPr>
          <a:xfrm>
            <a:off x="5226118" y="3405955"/>
            <a:ext cx="719233" cy="128588"/>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103.678</a:t>
            </a:r>
            <a:endParaRPr lang="en-US" sz="576" dirty="0"/>
          </a:p>
        </p:txBody>
      </p:sp>
      <p:sp>
        <p:nvSpPr>
          <p:cNvPr id="50" name="Text 47"/>
          <p:cNvSpPr/>
          <p:nvPr/>
        </p:nvSpPr>
        <p:spPr>
          <a:xfrm>
            <a:off x="5226118" y="4467992"/>
            <a:ext cx="719233"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135.313</a:t>
            </a:r>
            <a:endParaRPr lang="en-US" sz="576" dirty="0"/>
          </a:p>
        </p:txBody>
      </p:sp>
      <p:sp>
        <p:nvSpPr>
          <p:cNvPr id="51" name="Text 48"/>
          <p:cNvSpPr/>
          <p:nvPr/>
        </p:nvSpPr>
        <p:spPr>
          <a:xfrm>
            <a:off x="6257769" y="21057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52" name="Text 49"/>
          <p:cNvSpPr/>
          <p:nvPr/>
        </p:nvSpPr>
        <p:spPr>
          <a:xfrm>
            <a:off x="7345377"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119.825</a:t>
            </a:r>
            <a:endParaRPr lang="en-US" sz="636" dirty="0"/>
          </a:p>
        </p:txBody>
      </p:sp>
      <p:sp>
        <p:nvSpPr>
          <p:cNvPr id="53" name="Text 50"/>
          <p:cNvSpPr/>
          <p:nvPr/>
        </p:nvSpPr>
        <p:spPr>
          <a:xfrm>
            <a:off x="533387" y="971550"/>
            <a:ext cx="3584053"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119.828</a:t>
            </a:r>
            <a:endParaRPr lang="en-US" sz="1380" dirty="0"/>
          </a:p>
        </p:txBody>
      </p:sp>
      <p:sp>
        <p:nvSpPr>
          <p:cNvPr id="54" name="Text 51"/>
          <p:cNvSpPr/>
          <p:nvPr/>
        </p:nvSpPr>
        <p:spPr>
          <a:xfrm>
            <a:off x="1582896" y="1967680"/>
            <a:ext cx="1456400"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55.557</a:t>
            </a:r>
            <a:endParaRPr lang="en-US" sz="636" dirty="0"/>
          </a:p>
        </p:txBody>
      </p:sp>
      <p:sp>
        <p:nvSpPr>
          <p:cNvPr id="55" name="Text 52"/>
          <p:cNvSpPr/>
          <p:nvPr/>
        </p:nvSpPr>
        <p:spPr>
          <a:xfrm>
            <a:off x="1582896" y="2105792"/>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24.673</a:t>
            </a:r>
            <a:endParaRPr lang="en-US" sz="636" dirty="0"/>
          </a:p>
        </p:txBody>
      </p:sp>
      <p:sp>
        <p:nvSpPr>
          <p:cNvPr id="56" name="Text 53"/>
          <p:cNvSpPr/>
          <p:nvPr/>
        </p:nvSpPr>
        <p:spPr>
          <a:xfrm>
            <a:off x="2996877" y="2105792"/>
            <a:ext cx="1568454"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11.397</a:t>
            </a:r>
            <a:endParaRPr lang="en-US" sz="636" dirty="0"/>
          </a:p>
        </p:txBody>
      </p:sp>
      <p:sp>
        <p:nvSpPr>
          <p:cNvPr id="57" name="Text 54"/>
          <p:cNvSpPr/>
          <p:nvPr/>
        </p:nvSpPr>
        <p:spPr>
          <a:xfrm>
            <a:off x="4519648" y="2105792"/>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46,2 %</a:t>
            </a:r>
            <a:endParaRPr lang="en-US" sz="636" dirty="0"/>
          </a:p>
        </p:txBody>
      </p:sp>
      <p:sp>
        <p:nvSpPr>
          <p:cNvPr id="58" name="Text 55"/>
          <p:cNvSpPr/>
          <p:nvPr/>
        </p:nvSpPr>
        <p:spPr>
          <a:xfrm>
            <a:off x="1582896" y="2248667"/>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41.870</a:t>
            </a:r>
            <a:endParaRPr lang="en-US" sz="636" dirty="0"/>
          </a:p>
        </p:txBody>
      </p:sp>
      <p:sp>
        <p:nvSpPr>
          <p:cNvPr id="59" name="Text 56"/>
          <p:cNvSpPr/>
          <p:nvPr/>
        </p:nvSpPr>
        <p:spPr>
          <a:xfrm>
            <a:off x="4519648" y="2248667"/>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10,9 %</a:t>
            </a:r>
            <a:endParaRPr lang="en-US" sz="636" dirty="0"/>
          </a:p>
        </p:txBody>
      </p:sp>
      <p:sp>
        <p:nvSpPr>
          <p:cNvPr id="60" name="Text 57"/>
          <p:cNvSpPr/>
          <p:nvPr/>
        </p:nvSpPr>
        <p:spPr>
          <a:xfrm>
            <a:off x="1582896" y="2391542"/>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49.232</a:t>
            </a:r>
            <a:endParaRPr lang="en-US" sz="636" dirty="0"/>
          </a:p>
        </p:txBody>
      </p:sp>
      <p:sp>
        <p:nvSpPr>
          <p:cNvPr id="61" name="Text 58"/>
          <p:cNvSpPr/>
          <p:nvPr/>
        </p:nvSpPr>
        <p:spPr>
          <a:xfrm>
            <a:off x="2996877" y="2391542"/>
            <a:ext cx="1568454"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48.734</a:t>
            </a:r>
            <a:endParaRPr lang="en-US" sz="636" dirty="0"/>
          </a:p>
        </p:txBody>
      </p:sp>
      <p:sp>
        <p:nvSpPr>
          <p:cNvPr id="62" name="Text 59"/>
          <p:cNvSpPr/>
          <p:nvPr/>
        </p:nvSpPr>
        <p:spPr>
          <a:xfrm>
            <a:off x="4519648" y="2391542"/>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99,0 %</a:t>
            </a:r>
            <a:endParaRPr lang="en-US" sz="636" dirty="0"/>
          </a:p>
        </p:txBody>
      </p:sp>
      <p:sp>
        <p:nvSpPr>
          <p:cNvPr id="63" name="Text 60"/>
          <p:cNvSpPr/>
          <p:nvPr/>
        </p:nvSpPr>
        <p:spPr>
          <a:xfrm>
            <a:off x="1582896" y="2534417"/>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49.232</a:t>
            </a:r>
            <a:endParaRPr lang="en-US" sz="636" dirty="0"/>
          </a:p>
        </p:txBody>
      </p:sp>
      <p:sp>
        <p:nvSpPr>
          <p:cNvPr id="64" name="Text 61"/>
          <p:cNvSpPr/>
          <p:nvPr/>
        </p:nvSpPr>
        <p:spPr>
          <a:xfrm>
            <a:off x="2996877" y="2534417"/>
            <a:ext cx="1568454"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48.734</a:t>
            </a:r>
            <a:endParaRPr lang="en-US" sz="636" dirty="0"/>
          </a:p>
        </p:txBody>
      </p:sp>
      <p:sp>
        <p:nvSpPr>
          <p:cNvPr id="65" name="Text 62"/>
          <p:cNvSpPr/>
          <p:nvPr/>
        </p:nvSpPr>
        <p:spPr>
          <a:xfrm>
            <a:off x="4519648" y="2534417"/>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99,0 %</a:t>
            </a:r>
            <a:endParaRPr lang="en-US" sz="636" dirty="0"/>
          </a:p>
        </p:txBody>
      </p:sp>
      <p:sp>
        <p:nvSpPr>
          <p:cNvPr id="66" name="Text 63"/>
          <p:cNvSpPr/>
          <p:nvPr/>
        </p:nvSpPr>
        <p:spPr>
          <a:xfrm>
            <a:off x="1582896" y="2677292"/>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34.574</a:t>
            </a:r>
            <a:endParaRPr lang="en-US" sz="636" dirty="0"/>
          </a:p>
        </p:txBody>
      </p:sp>
      <p:sp>
        <p:nvSpPr>
          <p:cNvPr id="67" name="Text 64"/>
          <p:cNvSpPr/>
          <p:nvPr/>
        </p:nvSpPr>
        <p:spPr>
          <a:xfrm>
            <a:off x="2996877" y="2677292"/>
            <a:ext cx="1568454"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17.661</a:t>
            </a:r>
            <a:endParaRPr lang="en-US" sz="636" dirty="0"/>
          </a:p>
        </p:txBody>
      </p:sp>
      <p:sp>
        <p:nvSpPr>
          <p:cNvPr id="68" name="Text 65"/>
          <p:cNvSpPr/>
          <p:nvPr/>
        </p:nvSpPr>
        <p:spPr>
          <a:xfrm>
            <a:off x="4519648" y="2677292"/>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51,1 %</a:t>
            </a:r>
            <a:endParaRPr lang="en-US" sz="636" dirty="0"/>
          </a:p>
        </p:txBody>
      </p:sp>
      <p:sp>
        <p:nvSpPr>
          <p:cNvPr id="69" name="Text 66"/>
          <p:cNvSpPr/>
          <p:nvPr/>
        </p:nvSpPr>
        <p:spPr>
          <a:xfrm>
            <a:off x="4519648" y="2820167"/>
            <a:ext cx="1456707"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53,0 %</a:t>
            </a:r>
            <a:endParaRPr lang="en-US" sz="636" dirty="0"/>
          </a:p>
        </p:txBody>
      </p:sp>
      <p:sp>
        <p:nvSpPr>
          <p:cNvPr id="70" name="Text 67"/>
          <p:cNvSpPr/>
          <p:nvPr/>
        </p:nvSpPr>
        <p:spPr>
          <a:xfrm>
            <a:off x="504812" y="3234505"/>
            <a:ext cx="1879325"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Motivo</a:t>
            </a:r>
            <a:endParaRPr lang="en-US" sz="888" dirty="0"/>
          </a:p>
        </p:txBody>
      </p:sp>
      <p:sp>
        <p:nvSpPr>
          <p:cNvPr id="71" name="Text 68"/>
          <p:cNvSpPr/>
          <p:nvPr/>
        </p:nvSpPr>
        <p:spPr>
          <a:xfrm>
            <a:off x="3777759"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37.342</a:t>
            </a:r>
            <a:endParaRPr lang="en-US" sz="576" dirty="0"/>
          </a:p>
        </p:txBody>
      </p:sp>
      <p:sp>
        <p:nvSpPr>
          <p:cNvPr id="72" name="Text 69"/>
          <p:cNvSpPr/>
          <p:nvPr/>
        </p:nvSpPr>
        <p:spPr>
          <a:xfrm>
            <a:off x="4260545"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37.340</a:t>
            </a:r>
            <a:endParaRPr lang="en-US" sz="576" dirty="0"/>
          </a:p>
        </p:txBody>
      </p:sp>
      <p:sp>
        <p:nvSpPr>
          <p:cNvPr id="73" name="Text 70"/>
          <p:cNvSpPr/>
          <p:nvPr/>
        </p:nvSpPr>
        <p:spPr>
          <a:xfrm>
            <a:off x="4743331"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13.532</a:t>
            </a:r>
            <a:endParaRPr lang="en-US" sz="576" dirty="0"/>
          </a:p>
        </p:txBody>
      </p:sp>
      <p:sp>
        <p:nvSpPr>
          <p:cNvPr id="74" name="Text 71"/>
          <p:cNvSpPr/>
          <p:nvPr/>
        </p:nvSpPr>
        <p:spPr>
          <a:xfrm>
            <a:off x="5226118" y="353454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11.261</a:t>
            </a:r>
            <a:endParaRPr lang="en-US" sz="576" dirty="0"/>
          </a:p>
        </p:txBody>
      </p:sp>
      <p:sp>
        <p:nvSpPr>
          <p:cNvPr id="75" name="Text 72"/>
          <p:cNvSpPr/>
          <p:nvPr/>
        </p:nvSpPr>
        <p:spPr>
          <a:xfrm>
            <a:off x="2812186" y="446799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11.397</a:t>
            </a:r>
            <a:endParaRPr lang="en-US" sz="576" dirty="0"/>
          </a:p>
        </p:txBody>
      </p:sp>
      <p:sp>
        <p:nvSpPr>
          <p:cNvPr id="76" name="Text 73"/>
          <p:cNvSpPr/>
          <p:nvPr/>
        </p:nvSpPr>
        <p:spPr>
          <a:xfrm>
            <a:off x="3777759" y="446799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48.734</a:t>
            </a:r>
            <a:endParaRPr lang="en-US" sz="576" dirty="0"/>
          </a:p>
        </p:txBody>
      </p:sp>
      <p:sp>
        <p:nvSpPr>
          <p:cNvPr id="77" name="Text 74"/>
          <p:cNvSpPr/>
          <p:nvPr/>
        </p:nvSpPr>
        <p:spPr>
          <a:xfrm>
            <a:off x="4260545" y="446799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48.734</a:t>
            </a:r>
            <a:endParaRPr lang="en-US" sz="576" dirty="0"/>
          </a:p>
        </p:txBody>
      </p:sp>
      <p:sp>
        <p:nvSpPr>
          <p:cNvPr id="78" name="Text 75"/>
          <p:cNvSpPr/>
          <p:nvPr/>
        </p:nvSpPr>
        <p:spPr>
          <a:xfrm>
            <a:off x="4743331" y="446799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17.661</a:t>
            </a:r>
            <a:endParaRPr lang="en-US" sz="576" dirty="0"/>
          </a:p>
        </p:txBody>
      </p:sp>
      <p:sp>
        <p:nvSpPr>
          <p:cNvPr id="79" name="Text 76"/>
          <p:cNvSpPr/>
          <p:nvPr/>
        </p:nvSpPr>
        <p:spPr>
          <a:xfrm>
            <a:off x="9303014"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80" name="Text 77"/>
          <p:cNvSpPr/>
          <p:nvPr/>
        </p:nvSpPr>
        <p:spPr>
          <a:xfrm>
            <a:off x="7345377" y="1967680"/>
            <a:ext cx="100818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51.332</a:t>
            </a:r>
            <a:endParaRPr lang="en-US" sz="636" dirty="0"/>
          </a:p>
        </p:txBody>
      </p:sp>
      <p:sp>
        <p:nvSpPr>
          <p:cNvPr id="81" name="Text 78"/>
          <p:cNvSpPr/>
          <p:nvPr/>
        </p:nvSpPr>
        <p:spPr>
          <a:xfrm>
            <a:off x="7345377" y="210579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13.276</a:t>
            </a:r>
            <a:endParaRPr lang="en-US" sz="636" dirty="0"/>
          </a:p>
        </p:txBody>
      </p:sp>
      <p:sp>
        <p:nvSpPr>
          <p:cNvPr id="82" name="Text 79"/>
          <p:cNvSpPr/>
          <p:nvPr/>
        </p:nvSpPr>
        <p:spPr>
          <a:xfrm>
            <a:off x="8324195" y="210579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30,0 %</a:t>
            </a:r>
            <a:endParaRPr lang="en-US" sz="636" dirty="0"/>
          </a:p>
        </p:txBody>
      </p:sp>
      <p:sp>
        <p:nvSpPr>
          <p:cNvPr id="83" name="Text 80"/>
          <p:cNvSpPr/>
          <p:nvPr/>
        </p:nvSpPr>
        <p:spPr>
          <a:xfrm>
            <a:off x="7345377" y="2248667"/>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37.308</a:t>
            </a:r>
            <a:endParaRPr lang="en-US" sz="636" dirty="0"/>
          </a:p>
        </p:txBody>
      </p:sp>
      <p:sp>
        <p:nvSpPr>
          <p:cNvPr id="84" name="Text 81"/>
          <p:cNvSpPr/>
          <p:nvPr/>
        </p:nvSpPr>
        <p:spPr>
          <a:xfrm>
            <a:off x="8324195" y="2248667"/>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22,1 %</a:t>
            </a:r>
            <a:endParaRPr lang="en-US" sz="636" dirty="0"/>
          </a:p>
        </p:txBody>
      </p:sp>
      <p:sp>
        <p:nvSpPr>
          <p:cNvPr id="85" name="Text 82"/>
          <p:cNvSpPr/>
          <p:nvPr/>
        </p:nvSpPr>
        <p:spPr>
          <a:xfrm>
            <a:off x="8324195" y="2534417"/>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43,2 %</a:t>
            </a:r>
            <a:endParaRPr lang="en-US" sz="636" dirty="0"/>
          </a:p>
        </p:txBody>
      </p:sp>
      <p:sp>
        <p:nvSpPr>
          <p:cNvPr id="86" name="Text 83"/>
          <p:cNvSpPr/>
          <p:nvPr/>
        </p:nvSpPr>
        <p:spPr>
          <a:xfrm>
            <a:off x="7345377" y="267729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16.913</a:t>
            </a:r>
            <a:endParaRPr lang="en-US" sz="636" dirty="0"/>
          </a:p>
        </p:txBody>
      </p:sp>
      <p:sp>
        <p:nvSpPr>
          <p:cNvPr id="87" name="Text 84"/>
          <p:cNvSpPr/>
          <p:nvPr/>
        </p:nvSpPr>
        <p:spPr>
          <a:xfrm>
            <a:off x="8324195" y="267729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25,9 %</a:t>
            </a:r>
            <a:endParaRPr lang="en-US" sz="636" dirty="0"/>
          </a:p>
        </p:txBody>
      </p:sp>
      <p:sp>
        <p:nvSpPr>
          <p:cNvPr id="88" name="Text 85"/>
          <p:cNvSpPr/>
          <p:nvPr/>
        </p:nvSpPr>
        <p:spPr>
          <a:xfrm>
            <a:off x="8324195"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18,0 %</a:t>
            </a:r>
            <a:endParaRPr lang="en-US" sz="636" dirty="0"/>
          </a:p>
        </p:txBody>
      </p:sp>
      <p:sp>
        <p:nvSpPr>
          <p:cNvPr id="89" name="Text 86"/>
          <p:cNvSpPr/>
          <p:nvPr/>
        </p:nvSpPr>
        <p:spPr>
          <a:xfrm>
            <a:off x="10988599" y="3405955"/>
            <a:ext cx="719233"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16.926</a:t>
            </a:r>
            <a:endParaRPr lang="en-US" sz="552" dirty="0"/>
          </a:p>
        </p:txBody>
      </p:sp>
      <p:sp>
        <p:nvSpPr>
          <p:cNvPr id="90" name="Text 87"/>
          <p:cNvSpPr/>
          <p:nvPr/>
        </p:nvSpPr>
        <p:spPr>
          <a:xfrm>
            <a:off x="8091881" y="446799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35.511</a:t>
            </a:r>
            <a:endParaRPr lang="en-US" sz="552" dirty="0"/>
          </a:p>
        </p:txBody>
      </p:sp>
      <p:sp>
        <p:nvSpPr>
          <p:cNvPr id="91" name="Text 88"/>
          <p:cNvSpPr/>
          <p:nvPr/>
        </p:nvSpPr>
        <p:spPr>
          <a:xfrm>
            <a:off x="9057453" y="446799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25.810</a:t>
            </a:r>
            <a:endParaRPr lang="en-US" sz="552" dirty="0"/>
          </a:p>
        </p:txBody>
      </p:sp>
      <p:sp>
        <p:nvSpPr>
          <p:cNvPr id="92" name="Text 89"/>
          <p:cNvSpPr/>
          <p:nvPr/>
        </p:nvSpPr>
        <p:spPr>
          <a:xfrm>
            <a:off x="10505812" y="446799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11.700</a:t>
            </a:r>
            <a:endParaRPr lang="en-US" sz="552" dirty="0"/>
          </a:p>
        </p:txBody>
      </p:sp>
      <p:sp>
        <p:nvSpPr>
          <p:cNvPr id="93" name="Text 90"/>
          <p:cNvSpPr/>
          <p:nvPr/>
        </p:nvSpPr>
        <p:spPr>
          <a:xfrm>
            <a:off x="10988599" y="4467992"/>
            <a:ext cx="719233"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82.895</a:t>
            </a:r>
            <a:endParaRPr lang="en-US" sz="552" dirty="0"/>
          </a:p>
        </p:txBody>
      </p:sp>
      <p:sp>
        <p:nvSpPr>
          <p:cNvPr id="94" name="Text 91"/>
          <p:cNvSpPr/>
          <p:nvPr/>
        </p:nvSpPr>
        <p:spPr>
          <a:xfrm>
            <a:off x="8091881" y="46013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34.600</a:t>
            </a:r>
            <a:endParaRPr lang="en-US" sz="552" dirty="0"/>
          </a:p>
        </p:txBody>
      </p:sp>
      <p:sp>
        <p:nvSpPr>
          <p:cNvPr id="95" name="Text 92"/>
          <p:cNvSpPr/>
          <p:nvPr/>
        </p:nvSpPr>
        <p:spPr>
          <a:xfrm>
            <a:off x="9057453" y="46013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25.148</a:t>
            </a:r>
            <a:endParaRPr lang="en-US" sz="552" dirty="0"/>
          </a:p>
        </p:txBody>
      </p:sp>
      <p:sp>
        <p:nvSpPr>
          <p:cNvPr id="96" name="Text 93"/>
          <p:cNvSpPr/>
          <p:nvPr/>
        </p:nvSpPr>
        <p:spPr>
          <a:xfrm>
            <a:off x="10505812" y="46013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11.400</a:t>
            </a:r>
            <a:endParaRPr lang="en-US" sz="552" dirty="0"/>
          </a:p>
        </p:txBody>
      </p:sp>
      <p:sp>
        <p:nvSpPr>
          <p:cNvPr id="97" name="Text 94"/>
          <p:cNvSpPr/>
          <p:nvPr/>
        </p:nvSpPr>
        <p:spPr>
          <a:xfrm>
            <a:off x="10988599" y="46013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80.769</a:t>
            </a:r>
            <a:endParaRPr lang="en-US" sz="552" dirty="0"/>
          </a:p>
        </p:txBody>
      </p:sp>
      <p:sp>
        <p:nvSpPr>
          <p:cNvPr id="98" name="Text 95"/>
          <p:cNvSpPr/>
          <p:nvPr/>
        </p:nvSpPr>
        <p:spPr>
          <a:xfrm>
            <a:off x="495288" y="1967680"/>
            <a:ext cx="1120237" cy="138113"/>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99" name="Text 96"/>
          <p:cNvSpPr/>
          <p:nvPr/>
        </p:nvSpPr>
        <p:spPr>
          <a:xfrm>
            <a:off x="2996877" y="1967680"/>
            <a:ext cx="1568454"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4.225</a:t>
            </a:r>
            <a:endParaRPr lang="en-US" sz="636" dirty="0"/>
          </a:p>
        </p:txBody>
      </p:sp>
      <p:sp>
        <p:nvSpPr>
          <p:cNvPr id="100" name="Text 97"/>
          <p:cNvSpPr/>
          <p:nvPr/>
        </p:nvSpPr>
        <p:spPr>
          <a:xfrm>
            <a:off x="4519648" y="1967680"/>
            <a:ext cx="1456707"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7,6 %</a:t>
            </a:r>
            <a:endParaRPr lang="en-US" sz="636" dirty="0"/>
          </a:p>
        </p:txBody>
      </p:sp>
      <p:sp>
        <p:nvSpPr>
          <p:cNvPr id="101" name="Text 98"/>
          <p:cNvSpPr/>
          <p:nvPr/>
        </p:nvSpPr>
        <p:spPr>
          <a:xfrm>
            <a:off x="495288" y="224866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102" name="Text 99"/>
          <p:cNvSpPr/>
          <p:nvPr/>
        </p:nvSpPr>
        <p:spPr>
          <a:xfrm>
            <a:off x="2996877" y="2248667"/>
            <a:ext cx="1568454"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4.562</a:t>
            </a:r>
            <a:endParaRPr lang="en-US" sz="636" dirty="0"/>
          </a:p>
        </p:txBody>
      </p:sp>
      <p:sp>
        <p:nvSpPr>
          <p:cNvPr id="103" name="Text 100"/>
          <p:cNvSpPr/>
          <p:nvPr/>
        </p:nvSpPr>
        <p:spPr>
          <a:xfrm>
            <a:off x="495288" y="239154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104" name="Text 101"/>
          <p:cNvSpPr/>
          <p:nvPr/>
        </p:nvSpPr>
        <p:spPr>
          <a:xfrm>
            <a:off x="495288" y="26772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105" name="Text 102"/>
          <p:cNvSpPr/>
          <p:nvPr/>
        </p:nvSpPr>
        <p:spPr>
          <a:xfrm>
            <a:off x="495288" y="2820167"/>
            <a:ext cx="1120237" cy="138113"/>
          </a:xfrm>
          <a:prstGeom prst="rect">
            <a:avLst/>
          </a:prstGeom>
          <a:noFill/>
          <a:ln/>
        </p:spPr>
        <p:txBody>
          <a:bodyPr wrap="square" lIns="19050" tIns="38100" rIns="38100" bIns="19050" rtlCol="0" anchor="ctr"/>
          <a:lstStyle/>
          <a:p>
            <a:pPr marL="0" indent="0" algn="l">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106" name="Text 103"/>
          <p:cNvSpPr/>
          <p:nvPr/>
        </p:nvSpPr>
        <p:spPr>
          <a:xfrm>
            <a:off x="5226118" y="3234505"/>
            <a:ext cx="71923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107" name="Text 104"/>
          <p:cNvSpPr/>
          <p:nvPr/>
        </p:nvSpPr>
        <p:spPr>
          <a:xfrm>
            <a:off x="2329400"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3.237</a:t>
            </a:r>
            <a:endParaRPr lang="en-US" sz="576" dirty="0"/>
          </a:p>
        </p:txBody>
      </p:sp>
      <p:sp>
        <p:nvSpPr>
          <p:cNvPr id="108" name="Text 105"/>
          <p:cNvSpPr/>
          <p:nvPr/>
        </p:nvSpPr>
        <p:spPr>
          <a:xfrm>
            <a:off x="2812186"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8.732</a:t>
            </a:r>
            <a:endParaRPr lang="en-US" sz="576" dirty="0"/>
          </a:p>
        </p:txBody>
      </p:sp>
      <p:sp>
        <p:nvSpPr>
          <p:cNvPr id="109" name="Text 106"/>
          <p:cNvSpPr/>
          <p:nvPr/>
        </p:nvSpPr>
        <p:spPr>
          <a:xfrm>
            <a:off x="3294972"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3.495</a:t>
            </a:r>
            <a:endParaRPr lang="en-US" sz="576" dirty="0"/>
          </a:p>
        </p:txBody>
      </p:sp>
      <p:sp>
        <p:nvSpPr>
          <p:cNvPr id="110" name="Text 107"/>
          <p:cNvSpPr/>
          <p:nvPr/>
        </p:nvSpPr>
        <p:spPr>
          <a:xfrm>
            <a:off x="3777759"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4.055</a:t>
            </a:r>
            <a:endParaRPr lang="en-US" sz="576" dirty="0"/>
          </a:p>
        </p:txBody>
      </p:sp>
      <p:sp>
        <p:nvSpPr>
          <p:cNvPr id="111" name="Text 108"/>
          <p:cNvSpPr/>
          <p:nvPr/>
        </p:nvSpPr>
        <p:spPr>
          <a:xfrm>
            <a:off x="4260545"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4.056</a:t>
            </a:r>
            <a:endParaRPr lang="en-US" sz="576" dirty="0"/>
          </a:p>
        </p:txBody>
      </p:sp>
      <p:sp>
        <p:nvSpPr>
          <p:cNvPr id="112" name="Text 109"/>
          <p:cNvSpPr/>
          <p:nvPr/>
        </p:nvSpPr>
        <p:spPr>
          <a:xfrm>
            <a:off x="4743331"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1.470</a:t>
            </a:r>
            <a:endParaRPr lang="en-US" sz="576" dirty="0"/>
          </a:p>
        </p:txBody>
      </p:sp>
      <p:sp>
        <p:nvSpPr>
          <p:cNvPr id="113" name="Text 110"/>
          <p:cNvSpPr/>
          <p:nvPr/>
        </p:nvSpPr>
        <p:spPr>
          <a:xfrm>
            <a:off x="3777759"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2.142</a:t>
            </a:r>
            <a:endParaRPr lang="en-US" sz="576" dirty="0"/>
          </a:p>
        </p:txBody>
      </p:sp>
      <p:sp>
        <p:nvSpPr>
          <p:cNvPr id="114" name="Text 111"/>
          <p:cNvSpPr/>
          <p:nvPr/>
        </p:nvSpPr>
        <p:spPr>
          <a:xfrm>
            <a:off x="4260545"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2.142</a:t>
            </a:r>
            <a:endParaRPr lang="en-US" sz="576" dirty="0"/>
          </a:p>
        </p:txBody>
      </p:sp>
      <p:sp>
        <p:nvSpPr>
          <p:cNvPr id="115" name="Text 112"/>
          <p:cNvSpPr/>
          <p:nvPr/>
        </p:nvSpPr>
        <p:spPr>
          <a:xfrm>
            <a:off x="5226118" y="366789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5.948</a:t>
            </a:r>
            <a:endParaRPr lang="en-US" sz="576" dirty="0"/>
          </a:p>
        </p:txBody>
      </p:sp>
      <p:sp>
        <p:nvSpPr>
          <p:cNvPr id="116" name="Text 113"/>
          <p:cNvSpPr/>
          <p:nvPr/>
        </p:nvSpPr>
        <p:spPr>
          <a:xfrm>
            <a:off x="3777759"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1.618</a:t>
            </a:r>
            <a:endParaRPr lang="en-US" sz="576" dirty="0"/>
          </a:p>
        </p:txBody>
      </p:sp>
      <p:sp>
        <p:nvSpPr>
          <p:cNvPr id="117" name="Text 114"/>
          <p:cNvSpPr/>
          <p:nvPr/>
        </p:nvSpPr>
        <p:spPr>
          <a:xfrm>
            <a:off x="4260545"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1.619</a:t>
            </a:r>
            <a:endParaRPr lang="en-US" sz="576" dirty="0"/>
          </a:p>
        </p:txBody>
      </p:sp>
      <p:sp>
        <p:nvSpPr>
          <p:cNvPr id="118" name="Text 115"/>
          <p:cNvSpPr/>
          <p:nvPr/>
        </p:nvSpPr>
        <p:spPr>
          <a:xfrm>
            <a:off x="5226118" y="380124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4.495</a:t>
            </a:r>
            <a:endParaRPr lang="en-US" sz="576" dirty="0"/>
          </a:p>
        </p:txBody>
      </p:sp>
      <p:sp>
        <p:nvSpPr>
          <p:cNvPr id="119" name="Text 116"/>
          <p:cNvSpPr/>
          <p:nvPr/>
        </p:nvSpPr>
        <p:spPr>
          <a:xfrm>
            <a:off x="5226118" y="393459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2.330</a:t>
            </a:r>
            <a:endParaRPr lang="en-US" sz="576" dirty="0"/>
          </a:p>
        </p:txBody>
      </p:sp>
      <p:sp>
        <p:nvSpPr>
          <p:cNvPr id="120" name="Text 117"/>
          <p:cNvSpPr/>
          <p:nvPr/>
        </p:nvSpPr>
        <p:spPr>
          <a:xfrm>
            <a:off x="5226118" y="406794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2.145</a:t>
            </a:r>
            <a:endParaRPr lang="en-US" sz="576" dirty="0"/>
          </a:p>
        </p:txBody>
      </p:sp>
      <p:sp>
        <p:nvSpPr>
          <p:cNvPr id="121" name="Text 118"/>
          <p:cNvSpPr/>
          <p:nvPr/>
        </p:nvSpPr>
        <p:spPr>
          <a:xfrm>
            <a:off x="3777759"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1.632</a:t>
            </a:r>
            <a:endParaRPr lang="en-US" sz="576" dirty="0"/>
          </a:p>
        </p:txBody>
      </p:sp>
      <p:sp>
        <p:nvSpPr>
          <p:cNvPr id="122" name="Text 119"/>
          <p:cNvSpPr/>
          <p:nvPr/>
        </p:nvSpPr>
        <p:spPr>
          <a:xfrm>
            <a:off x="4260545"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1.633</a:t>
            </a:r>
            <a:endParaRPr lang="en-US" sz="576" dirty="0"/>
          </a:p>
        </p:txBody>
      </p:sp>
      <p:sp>
        <p:nvSpPr>
          <p:cNvPr id="123" name="Text 120"/>
          <p:cNvSpPr/>
          <p:nvPr/>
        </p:nvSpPr>
        <p:spPr>
          <a:xfrm>
            <a:off x="5226118" y="433464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4.534</a:t>
            </a:r>
            <a:endParaRPr lang="en-US" sz="576" dirty="0"/>
          </a:p>
        </p:txBody>
      </p:sp>
      <p:sp>
        <p:nvSpPr>
          <p:cNvPr id="124" name="Text 121"/>
          <p:cNvSpPr/>
          <p:nvPr/>
        </p:nvSpPr>
        <p:spPr>
          <a:xfrm>
            <a:off x="504812" y="4467992"/>
            <a:ext cx="1879325" cy="128588"/>
          </a:xfrm>
          <a:prstGeom prst="rect">
            <a:avLst/>
          </a:prstGeom>
          <a:noFill/>
          <a:ln/>
        </p:spPr>
        <p:txBody>
          <a:bodyPr wrap="square" lIns="19050" tIns="38100" rIns="38100" bIns="19050" rtlCol="0" anchor="ctr"/>
          <a:lstStyle/>
          <a:p>
            <a:pPr marL="0" indent="0" algn="l">
              <a:buNone/>
            </a:pPr>
            <a:r>
              <a:rPr lang="en-US" sz="576" b="1" dirty="0">
                <a:solidFill>
                  <a:srgbClr val="120180"/>
                </a:solidFill>
                <a:latin typeface="Raleway" pitchFamily="34" charset="0"/>
                <a:ea typeface="Raleway" pitchFamily="34" charset="-122"/>
                <a:cs typeface="Raleway" pitchFamily="34" charset="-120"/>
              </a:rPr>
              <a:t>Total</a:t>
            </a:r>
            <a:endParaRPr lang="en-US" sz="576" dirty="0"/>
          </a:p>
        </p:txBody>
      </p:sp>
      <p:sp>
        <p:nvSpPr>
          <p:cNvPr id="125" name="Text 122"/>
          <p:cNvSpPr/>
          <p:nvPr/>
        </p:nvSpPr>
        <p:spPr>
          <a:xfrm>
            <a:off x="2329400" y="446799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4.225</a:t>
            </a:r>
            <a:endParaRPr lang="en-US" sz="576" dirty="0"/>
          </a:p>
        </p:txBody>
      </p:sp>
      <p:sp>
        <p:nvSpPr>
          <p:cNvPr id="126" name="Text 123"/>
          <p:cNvSpPr/>
          <p:nvPr/>
        </p:nvSpPr>
        <p:spPr>
          <a:xfrm>
            <a:off x="3294972" y="446799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4.562</a:t>
            </a:r>
            <a:endParaRPr lang="en-US" sz="576" dirty="0"/>
          </a:p>
        </p:txBody>
      </p:sp>
      <p:sp>
        <p:nvSpPr>
          <p:cNvPr id="127" name="Text 124"/>
          <p:cNvSpPr/>
          <p:nvPr/>
        </p:nvSpPr>
        <p:spPr>
          <a:xfrm>
            <a:off x="7345377"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128" name="Text 125"/>
          <p:cNvSpPr/>
          <p:nvPr/>
        </p:nvSpPr>
        <p:spPr>
          <a:xfrm>
            <a:off x="6257769" y="1967680"/>
            <a:ext cx="1120237" cy="138113"/>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129" name="Text 126"/>
          <p:cNvSpPr/>
          <p:nvPr/>
        </p:nvSpPr>
        <p:spPr>
          <a:xfrm>
            <a:off x="8324195" y="1967680"/>
            <a:ext cx="100818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9,2 %</a:t>
            </a:r>
            <a:endParaRPr lang="en-US" sz="636" dirty="0"/>
          </a:p>
        </p:txBody>
      </p:sp>
      <p:sp>
        <p:nvSpPr>
          <p:cNvPr id="130" name="Text 127"/>
          <p:cNvSpPr/>
          <p:nvPr/>
        </p:nvSpPr>
        <p:spPr>
          <a:xfrm>
            <a:off x="10281832" y="1967680"/>
            <a:ext cx="145701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0,7 %</a:t>
            </a:r>
            <a:endParaRPr lang="en-US" sz="636" dirty="0"/>
          </a:p>
        </p:txBody>
      </p:sp>
      <p:sp>
        <p:nvSpPr>
          <p:cNvPr id="131" name="Text 128"/>
          <p:cNvSpPr/>
          <p:nvPr/>
        </p:nvSpPr>
        <p:spPr>
          <a:xfrm>
            <a:off x="10281832" y="2105792"/>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3,2 %</a:t>
            </a:r>
            <a:endParaRPr lang="en-US" sz="636" dirty="0"/>
          </a:p>
        </p:txBody>
      </p:sp>
      <p:sp>
        <p:nvSpPr>
          <p:cNvPr id="132" name="Text 129"/>
          <p:cNvSpPr/>
          <p:nvPr/>
        </p:nvSpPr>
        <p:spPr>
          <a:xfrm>
            <a:off x="6257769" y="224866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133" name="Text 130"/>
          <p:cNvSpPr/>
          <p:nvPr/>
        </p:nvSpPr>
        <p:spPr>
          <a:xfrm>
            <a:off x="10281832" y="2248667"/>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0,4 %</a:t>
            </a:r>
            <a:endParaRPr lang="en-US" sz="636" dirty="0"/>
          </a:p>
        </p:txBody>
      </p:sp>
      <p:sp>
        <p:nvSpPr>
          <p:cNvPr id="134" name="Text 131"/>
          <p:cNvSpPr/>
          <p:nvPr/>
        </p:nvSpPr>
        <p:spPr>
          <a:xfrm>
            <a:off x="6257769" y="239154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135" name="Text 132"/>
          <p:cNvSpPr/>
          <p:nvPr/>
        </p:nvSpPr>
        <p:spPr>
          <a:xfrm>
            <a:off x="8324195" y="239154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6,0 %</a:t>
            </a:r>
            <a:endParaRPr lang="en-US" sz="636" dirty="0"/>
          </a:p>
        </p:txBody>
      </p:sp>
      <p:sp>
        <p:nvSpPr>
          <p:cNvPr id="136" name="Text 133"/>
          <p:cNvSpPr/>
          <p:nvPr/>
        </p:nvSpPr>
        <p:spPr>
          <a:xfrm>
            <a:off x="10281832" y="2391542"/>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0,0 %</a:t>
            </a:r>
            <a:endParaRPr lang="en-US" sz="636" dirty="0"/>
          </a:p>
        </p:txBody>
      </p:sp>
      <p:sp>
        <p:nvSpPr>
          <p:cNvPr id="137" name="Text 134"/>
          <p:cNvSpPr/>
          <p:nvPr/>
        </p:nvSpPr>
        <p:spPr>
          <a:xfrm>
            <a:off x="10281832" y="2534417"/>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2,3 %</a:t>
            </a:r>
            <a:endParaRPr lang="en-US" sz="636" dirty="0"/>
          </a:p>
        </p:txBody>
      </p:sp>
      <p:sp>
        <p:nvSpPr>
          <p:cNvPr id="138" name="Text 135"/>
          <p:cNvSpPr/>
          <p:nvPr/>
        </p:nvSpPr>
        <p:spPr>
          <a:xfrm>
            <a:off x="6257769" y="26772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139" name="Text 136"/>
          <p:cNvSpPr/>
          <p:nvPr/>
        </p:nvSpPr>
        <p:spPr>
          <a:xfrm>
            <a:off x="10281832" y="2677292"/>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4,9 %</a:t>
            </a:r>
            <a:endParaRPr lang="en-US" sz="636" dirty="0"/>
          </a:p>
        </p:txBody>
      </p:sp>
      <p:sp>
        <p:nvSpPr>
          <p:cNvPr id="140" name="Text 137"/>
          <p:cNvSpPr/>
          <p:nvPr/>
        </p:nvSpPr>
        <p:spPr>
          <a:xfrm>
            <a:off x="6257769" y="2820167"/>
            <a:ext cx="1120237" cy="138113"/>
          </a:xfrm>
          <a:prstGeom prst="rect">
            <a:avLst/>
          </a:prstGeom>
          <a:noFill/>
          <a:ln/>
        </p:spPr>
        <p:txBody>
          <a:bodyPr wrap="square" lIns="19050" tIns="38100" rIns="38100" bIns="19050" rtlCol="0" anchor="ctr"/>
          <a:lstStyle/>
          <a:p>
            <a:pPr marL="0" indent="0" algn="l">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141" name="Text 138"/>
          <p:cNvSpPr/>
          <p:nvPr/>
        </p:nvSpPr>
        <p:spPr>
          <a:xfrm>
            <a:off x="10281832" y="2820167"/>
            <a:ext cx="145701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1,5 %</a:t>
            </a:r>
            <a:endParaRPr lang="en-US" sz="636" dirty="0"/>
          </a:p>
        </p:txBody>
      </p:sp>
      <p:sp>
        <p:nvSpPr>
          <p:cNvPr id="142" name="Text 139"/>
          <p:cNvSpPr/>
          <p:nvPr/>
        </p:nvSpPr>
        <p:spPr>
          <a:xfrm>
            <a:off x="10988599" y="3234505"/>
            <a:ext cx="71923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143" name="Text 140"/>
          <p:cNvSpPr/>
          <p:nvPr/>
        </p:nvSpPr>
        <p:spPr>
          <a:xfrm>
            <a:off x="8091881"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7.252</a:t>
            </a:r>
            <a:endParaRPr lang="en-US" sz="552" dirty="0"/>
          </a:p>
        </p:txBody>
      </p:sp>
      <p:sp>
        <p:nvSpPr>
          <p:cNvPr id="144" name="Text 141"/>
          <p:cNvSpPr/>
          <p:nvPr/>
        </p:nvSpPr>
        <p:spPr>
          <a:xfrm>
            <a:off x="8574667"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1.875</a:t>
            </a:r>
            <a:endParaRPr lang="en-US" sz="552" dirty="0"/>
          </a:p>
        </p:txBody>
      </p:sp>
      <p:sp>
        <p:nvSpPr>
          <p:cNvPr id="145" name="Text 142"/>
          <p:cNvSpPr/>
          <p:nvPr/>
        </p:nvSpPr>
        <p:spPr>
          <a:xfrm>
            <a:off x="9057453"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5.270</a:t>
            </a:r>
            <a:endParaRPr lang="en-US" sz="552" dirty="0"/>
          </a:p>
        </p:txBody>
      </p:sp>
      <p:sp>
        <p:nvSpPr>
          <p:cNvPr id="146" name="Text 143"/>
          <p:cNvSpPr/>
          <p:nvPr/>
        </p:nvSpPr>
        <p:spPr>
          <a:xfrm>
            <a:off x="10505812"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2.389</a:t>
            </a:r>
            <a:endParaRPr lang="en-US" sz="552" dirty="0"/>
          </a:p>
        </p:txBody>
      </p:sp>
      <p:sp>
        <p:nvSpPr>
          <p:cNvPr id="147" name="Text 144"/>
          <p:cNvSpPr/>
          <p:nvPr/>
        </p:nvSpPr>
        <p:spPr>
          <a:xfrm>
            <a:off x="8091881"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2.586</a:t>
            </a:r>
            <a:endParaRPr lang="en-US" sz="552" dirty="0"/>
          </a:p>
        </p:txBody>
      </p:sp>
      <p:sp>
        <p:nvSpPr>
          <p:cNvPr id="148" name="Text 145"/>
          <p:cNvSpPr/>
          <p:nvPr/>
        </p:nvSpPr>
        <p:spPr>
          <a:xfrm>
            <a:off x="9057453"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1.880</a:t>
            </a:r>
            <a:endParaRPr lang="en-US" sz="552" dirty="0"/>
          </a:p>
        </p:txBody>
      </p:sp>
      <p:sp>
        <p:nvSpPr>
          <p:cNvPr id="149" name="Text 146"/>
          <p:cNvSpPr/>
          <p:nvPr/>
        </p:nvSpPr>
        <p:spPr>
          <a:xfrm>
            <a:off x="10988599" y="36678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6.037</a:t>
            </a:r>
            <a:endParaRPr lang="en-US" sz="552" dirty="0"/>
          </a:p>
        </p:txBody>
      </p:sp>
      <p:sp>
        <p:nvSpPr>
          <p:cNvPr id="150" name="Text 147"/>
          <p:cNvSpPr/>
          <p:nvPr/>
        </p:nvSpPr>
        <p:spPr>
          <a:xfrm>
            <a:off x="8091881"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1.728</a:t>
            </a:r>
            <a:endParaRPr lang="en-US" sz="552" dirty="0"/>
          </a:p>
        </p:txBody>
      </p:sp>
      <p:sp>
        <p:nvSpPr>
          <p:cNvPr id="151" name="Text 148"/>
          <p:cNvSpPr/>
          <p:nvPr/>
        </p:nvSpPr>
        <p:spPr>
          <a:xfrm>
            <a:off x="9057453"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1.256</a:t>
            </a:r>
            <a:endParaRPr lang="en-US" sz="552" dirty="0"/>
          </a:p>
        </p:txBody>
      </p:sp>
      <p:sp>
        <p:nvSpPr>
          <p:cNvPr id="152" name="Text 149"/>
          <p:cNvSpPr/>
          <p:nvPr/>
        </p:nvSpPr>
        <p:spPr>
          <a:xfrm>
            <a:off x="10988599" y="38012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4.035</a:t>
            </a:r>
            <a:endParaRPr lang="en-US" sz="552" dirty="0"/>
          </a:p>
        </p:txBody>
      </p:sp>
      <p:sp>
        <p:nvSpPr>
          <p:cNvPr id="153" name="Text 150"/>
          <p:cNvSpPr/>
          <p:nvPr/>
        </p:nvSpPr>
        <p:spPr>
          <a:xfrm>
            <a:off x="10988599" y="39345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1.701</a:t>
            </a:r>
            <a:endParaRPr lang="en-US" sz="552" dirty="0"/>
          </a:p>
        </p:txBody>
      </p:sp>
      <p:sp>
        <p:nvSpPr>
          <p:cNvPr id="154" name="Text 151"/>
          <p:cNvSpPr/>
          <p:nvPr/>
        </p:nvSpPr>
        <p:spPr>
          <a:xfrm>
            <a:off x="8091881"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1.106</a:t>
            </a:r>
            <a:endParaRPr lang="en-US" sz="552" dirty="0"/>
          </a:p>
        </p:txBody>
      </p:sp>
      <p:sp>
        <p:nvSpPr>
          <p:cNvPr id="155" name="Text 152"/>
          <p:cNvSpPr/>
          <p:nvPr/>
        </p:nvSpPr>
        <p:spPr>
          <a:xfrm>
            <a:off x="10988599" y="40679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2.583</a:t>
            </a:r>
            <a:endParaRPr lang="en-US" sz="552" dirty="0"/>
          </a:p>
        </p:txBody>
      </p:sp>
      <p:sp>
        <p:nvSpPr>
          <p:cNvPr id="156" name="Text 153"/>
          <p:cNvSpPr/>
          <p:nvPr/>
        </p:nvSpPr>
        <p:spPr>
          <a:xfrm>
            <a:off x="10988599" y="43346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1.595</a:t>
            </a:r>
            <a:endParaRPr lang="en-US" sz="552" dirty="0"/>
          </a:p>
        </p:txBody>
      </p:sp>
      <p:sp>
        <p:nvSpPr>
          <p:cNvPr id="157" name="Text 154"/>
          <p:cNvSpPr/>
          <p:nvPr/>
        </p:nvSpPr>
        <p:spPr>
          <a:xfrm>
            <a:off x="8574667" y="446799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9.184</a:t>
            </a:r>
            <a:endParaRPr lang="en-US" sz="552" dirty="0"/>
          </a:p>
        </p:txBody>
      </p:sp>
      <p:sp>
        <p:nvSpPr>
          <p:cNvPr id="158" name="Text 155"/>
          <p:cNvSpPr/>
          <p:nvPr/>
        </p:nvSpPr>
        <p:spPr>
          <a:xfrm>
            <a:off x="8574667" y="46013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8.949</a:t>
            </a:r>
            <a:endParaRPr lang="en-US" sz="552" dirty="0"/>
          </a:p>
        </p:txBody>
      </p:sp>
      <p:sp>
        <p:nvSpPr>
          <p:cNvPr id="159" name="Text 156"/>
          <p:cNvSpPr/>
          <p:nvPr/>
        </p:nvSpPr>
        <p:spPr>
          <a:xfrm>
            <a:off x="10988599" y="47346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1.640</a:t>
            </a:r>
            <a:endParaRPr lang="en-US" sz="552" dirty="0"/>
          </a:p>
        </p:txBody>
      </p:sp>
      <p:sp>
        <p:nvSpPr>
          <p:cNvPr id="160" name="Text 157"/>
          <p:cNvSpPr/>
          <p:nvPr/>
        </p:nvSpPr>
        <p:spPr>
          <a:xfrm>
            <a:off x="4374991" y="971550"/>
            <a:ext cx="3584053"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4,9 %</a:t>
            </a:r>
            <a:endParaRPr lang="en-US" sz="1380" dirty="0"/>
          </a:p>
        </p:txBody>
      </p:sp>
      <p:sp>
        <p:nvSpPr>
          <p:cNvPr id="161" name="Text 158"/>
          <p:cNvSpPr/>
          <p:nvPr/>
        </p:nvSpPr>
        <p:spPr>
          <a:xfrm>
            <a:off x="495288" y="253441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162" name="Text 159"/>
          <p:cNvSpPr/>
          <p:nvPr/>
        </p:nvSpPr>
        <p:spPr>
          <a:xfrm>
            <a:off x="6257769" y="253441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163" name="Text 160"/>
          <p:cNvSpPr/>
          <p:nvPr/>
        </p:nvSpPr>
        <p:spPr>
          <a:xfrm>
            <a:off x="495288" y="1796230"/>
            <a:ext cx="1120237"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64" name="Text 161"/>
          <p:cNvSpPr/>
          <p:nvPr/>
        </p:nvSpPr>
        <p:spPr>
          <a:xfrm>
            <a:off x="2329400"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165" name="Text 162"/>
          <p:cNvSpPr/>
          <p:nvPr/>
        </p:nvSpPr>
        <p:spPr>
          <a:xfrm>
            <a:off x="2812186"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166" name="Text 163"/>
          <p:cNvSpPr/>
          <p:nvPr/>
        </p:nvSpPr>
        <p:spPr>
          <a:xfrm>
            <a:off x="3294972"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167" name="Text 164"/>
          <p:cNvSpPr/>
          <p:nvPr/>
        </p:nvSpPr>
        <p:spPr>
          <a:xfrm>
            <a:off x="3777759"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168" name="Text 165"/>
          <p:cNvSpPr/>
          <p:nvPr/>
        </p:nvSpPr>
        <p:spPr>
          <a:xfrm>
            <a:off x="4260545"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169" name="Text 166"/>
          <p:cNvSpPr/>
          <p:nvPr/>
        </p:nvSpPr>
        <p:spPr>
          <a:xfrm>
            <a:off x="4743331"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170" name="Text 167"/>
          <p:cNvSpPr/>
          <p:nvPr/>
        </p:nvSpPr>
        <p:spPr>
          <a:xfrm>
            <a:off x="2329400"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352</a:t>
            </a:r>
            <a:endParaRPr lang="en-US" sz="576" dirty="0"/>
          </a:p>
        </p:txBody>
      </p:sp>
      <p:sp>
        <p:nvSpPr>
          <p:cNvPr id="171" name="Text 168"/>
          <p:cNvSpPr/>
          <p:nvPr/>
        </p:nvSpPr>
        <p:spPr>
          <a:xfrm>
            <a:off x="2812186"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948</a:t>
            </a:r>
            <a:endParaRPr lang="en-US" sz="576" dirty="0"/>
          </a:p>
        </p:txBody>
      </p:sp>
      <p:sp>
        <p:nvSpPr>
          <p:cNvPr id="172" name="Text 169"/>
          <p:cNvSpPr/>
          <p:nvPr/>
        </p:nvSpPr>
        <p:spPr>
          <a:xfrm>
            <a:off x="3294972"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380</a:t>
            </a:r>
            <a:endParaRPr lang="en-US" sz="576" dirty="0"/>
          </a:p>
        </p:txBody>
      </p:sp>
      <p:sp>
        <p:nvSpPr>
          <p:cNvPr id="173" name="Text 170"/>
          <p:cNvSpPr/>
          <p:nvPr/>
        </p:nvSpPr>
        <p:spPr>
          <a:xfrm>
            <a:off x="2329400"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186</a:t>
            </a:r>
            <a:endParaRPr lang="en-US" sz="576" dirty="0"/>
          </a:p>
        </p:txBody>
      </p:sp>
      <p:sp>
        <p:nvSpPr>
          <p:cNvPr id="174" name="Text 171"/>
          <p:cNvSpPr/>
          <p:nvPr/>
        </p:nvSpPr>
        <p:spPr>
          <a:xfrm>
            <a:off x="2812186"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501</a:t>
            </a:r>
            <a:endParaRPr lang="en-US" sz="576" dirty="0"/>
          </a:p>
        </p:txBody>
      </p:sp>
      <p:sp>
        <p:nvSpPr>
          <p:cNvPr id="175" name="Text 172"/>
          <p:cNvSpPr/>
          <p:nvPr/>
        </p:nvSpPr>
        <p:spPr>
          <a:xfrm>
            <a:off x="3294972"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201</a:t>
            </a:r>
            <a:endParaRPr lang="en-US" sz="576" dirty="0"/>
          </a:p>
        </p:txBody>
      </p:sp>
      <p:sp>
        <p:nvSpPr>
          <p:cNvPr id="176" name="Text 173"/>
          <p:cNvSpPr/>
          <p:nvPr/>
        </p:nvSpPr>
        <p:spPr>
          <a:xfrm>
            <a:off x="4743331"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776</a:t>
            </a:r>
            <a:endParaRPr lang="en-US" sz="576" dirty="0"/>
          </a:p>
        </p:txBody>
      </p:sp>
      <p:sp>
        <p:nvSpPr>
          <p:cNvPr id="177" name="Text 174"/>
          <p:cNvSpPr/>
          <p:nvPr/>
        </p:nvSpPr>
        <p:spPr>
          <a:xfrm>
            <a:off x="2329400"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140</a:t>
            </a:r>
            <a:endParaRPr lang="en-US" sz="576" dirty="0"/>
          </a:p>
        </p:txBody>
      </p:sp>
      <p:sp>
        <p:nvSpPr>
          <p:cNvPr id="178" name="Text 175"/>
          <p:cNvSpPr/>
          <p:nvPr/>
        </p:nvSpPr>
        <p:spPr>
          <a:xfrm>
            <a:off x="2812186"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379</a:t>
            </a:r>
            <a:endParaRPr lang="en-US" sz="576" dirty="0"/>
          </a:p>
        </p:txBody>
      </p:sp>
      <p:sp>
        <p:nvSpPr>
          <p:cNvPr id="179" name="Text 176"/>
          <p:cNvSpPr/>
          <p:nvPr/>
        </p:nvSpPr>
        <p:spPr>
          <a:xfrm>
            <a:off x="3294972"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152</a:t>
            </a:r>
            <a:endParaRPr lang="en-US" sz="576" dirty="0"/>
          </a:p>
        </p:txBody>
      </p:sp>
      <p:sp>
        <p:nvSpPr>
          <p:cNvPr id="180" name="Text 177"/>
          <p:cNvSpPr/>
          <p:nvPr/>
        </p:nvSpPr>
        <p:spPr>
          <a:xfrm>
            <a:off x="4743331"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587</a:t>
            </a:r>
            <a:endParaRPr lang="en-US" sz="576" dirty="0"/>
          </a:p>
        </p:txBody>
      </p:sp>
      <p:sp>
        <p:nvSpPr>
          <p:cNvPr id="181" name="Text 178"/>
          <p:cNvSpPr/>
          <p:nvPr/>
        </p:nvSpPr>
        <p:spPr>
          <a:xfrm>
            <a:off x="2812186"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196</a:t>
            </a:r>
            <a:endParaRPr lang="en-US" sz="576" dirty="0"/>
          </a:p>
        </p:txBody>
      </p:sp>
      <p:sp>
        <p:nvSpPr>
          <p:cNvPr id="182" name="Text 179"/>
          <p:cNvSpPr/>
          <p:nvPr/>
        </p:nvSpPr>
        <p:spPr>
          <a:xfrm>
            <a:off x="3777759"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839</a:t>
            </a:r>
            <a:endParaRPr lang="en-US" sz="576" dirty="0"/>
          </a:p>
        </p:txBody>
      </p:sp>
      <p:sp>
        <p:nvSpPr>
          <p:cNvPr id="183" name="Text 180"/>
          <p:cNvSpPr/>
          <p:nvPr/>
        </p:nvSpPr>
        <p:spPr>
          <a:xfrm>
            <a:off x="4260545"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839</a:t>
            </a:r>
            <a:endParaRPr lang="en-US" sz="576" dirty="0"/>
          </a:p>
        </p:txBody>
      </p:sp>
      <p:sp>
        <p:nvSpPr>
          <p:cNvPr id="184" name="Text 181"/>
          <p:cNvSpPr/>
          <p:nvPr/>
        </p:nvSpPr>
        <p:spPr>
          <a:xfrm>
            <a:off x="4743331"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304</a:t>
            </a:r>
            <a:endParaRPr lang="en-US" sz="576" dirty="0"/>
          </a:p>
        </p:txBody>
      </p:sp>
      <p:sp>
        <p:nvSpPr>
          <p:cNvPr id="185" name="Text 182"/>
          <p:cNvSpPr/>
          <p:nvPr/>
        </p:nvSpPr>
        <p:spPr>
          <a:xfrm>
            <a:off x="2812186"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181</a:t>
            </a:r>
            <a:endParaRPr lang="en-US" sz="576" dirty="0"/>
          </a:p>
        </p:txBody>
      </p:sp>
      <p:sp>
        <p:nvSpPr>
          <p:cNvPr id="186" name="Text 183"/>
          <p:cNvSpPr/>
          <p:nvPr/>
        </p:nvSpPr>
        <p:spPr>
          <a:xfrm>
            <a:off x="3777759"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772</a:t>
            </a:r>
            <a:endParaRPr lang="en-US" sz="576" dirty="0"/>
          </a:p>
        </p:txBody>
      </p:sp>
      <p:sp>
        <p:nvSpPr>
          <p:cNvPr id="187" name="Text 184"/>
          <p:cNvSpPr/>
          <p:nvPr/>
        </p:nvSpPr>
        <p:spPr>
          <a:xfrm>
            <a:off x="4260545"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773</a:t>
            </a:r>
            <a:endParaRPr lang="en-US" sz="576" dirty="0"/>
          </a:p>
        </p:txBody>
      </p:sp>
      <p:sp>
        <p:nvSpPr>
          <p:cNvPr id="188" name="Text 185"/>
          <p:cNvSpPr/>
          <p:nvPr/>
        </p:nvSpPr>
        <p:spPr>
          <a:xfrm>
            <a:off x="4743331"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280</a:t>
            </a:r>
            <a:endParaRPr lang="en-US" sz="576" dirty="0"/>
          </a:p>
        </p:txBody>
      </p:sp>
      <p:sp>
        <p:nvSpPr>
          <p:cNvPr id="189" name="Text 186"/>
          <p:cNvSpPr/>
          <p:nvPr/>
        </p:nvSpPr>
        <p:spPr>
          <a:xfrm>
            <a:off x="3777759"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332</a:t>
            </a:r>
            <a:endParaRPr lang="en-US" sz="576" dirty="0"/>
          </a:p>
        </p:txBody>
      </p:sp>
      <p:sp>
        <p:nvSpPr>
          <p:cNvPr id="190" name="Text 187"/>
          <p:cNvSpPr/>
          <p:nvPr/>
        </p:nvSpPr>
        <p:spPr>
          <a:xfrm>
            <a:off x="4260545"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332</a:t>
            </a:r>
            <a:endParaRPr lang="en-US" sz="576" dirty="0"/>
          </a:p>
        </p:txBody>
      </p:sp>
      <p:sp>
        <p:nvSpPr>
          <p:cNvPr id="191" name="Text 188"/>
          <p:cNvSpPr/>
          <p:nvPr/>
        </p:nvSpPr>
        <p:spPr>
          <a:xfrm>
            <a:off x="4743331"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120</a:t>
            </a:r>
            <a:endParaRPr lang="en-US" sz="576" dirty="0"/>
          </a:p>
        </p:txBody>
      </p:sp>
      <p:sp>
        <p:nvSpPr>
          <p:cNvPr id="192" name="Text 189"/>
          <p:cNvSpPr/>
          <p:nvPr/>
        </p:nvSpPr>
        <p:spPr>
          <a:xfrm>
            <a:off x="5226118" y="420129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922</a:t>
            </a:r>
            <a:endParaRPr lang="en-US" sz="576" dirty="0"/>
          </a:p>
        </p:txBody>
      </p:sp>
      <p:sp>
        <p:nvSpPr>
          <p:cNvPr id="193" name="Text 190"/>
          <p:cNvSpPr/>
          <p:nvPr/>
        </p:nvSpPr>
        <p:spPr>
          <a:xfrm>
            <a:off x="2329400"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142</a:t>
            </a:r>
            <a:endParaRPr lang="en-US" sz="576" dirty="0"/>
          </a:p>
        </p:txBody>
      </p:sp>
      <p:sp>
        <p:nvSpPr>
          <p:cNvPr id="194" name="Text 191"/>
          <p:cNvSpPr/>
          <p:nvPr/>
        </p:nvSpPr>
        <p:spPr>
          <a:xfrm>
            <a:off x="2812186"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382</a:t>
            </a:r>
            <a:endParaRPr lang="en-US" sz="576" dirty="0"/>
          </a:p>
        </p:txBody>
      </p:sp>
      <p:sp>
        <p:nvSpPr>
          <p:cNvPr id="195" name="Text 192"/>
          <p:cNvSpPr/>
          <p:nvPr/>
        </p:nvSpPr>
        <p:spPr>
          <a:xfrm>
            <a:off x="3294972"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153</a:t>
            </a:r>
            <a:endParaRPr lang="en-US" sz="576" dirty="0"/>
          </a:p>
        </p:txBody>
      </p:sp>
      <p:sp>
        <p:nvSpPr>
          <p:cNvPr id="196" name="Text 193"/>
          <p:cNvSpPr/>
          <p:nvPr/>
        </p:nvSpPr>
        <p:spPr>
          <a:xfrm>
            <a:off x="4743331" y="43346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592</a:t>
            </a:r>
            <a:endParaRPr lang="en-US" sz="576" dirty="0"/>
          </a:p>
        </p:txBody>
      </p:sp>
      <p:sp>
        <p:nvSpPr>
          <p:cNvPr id="197" name="Text 194"/>
          <p:cNvSpPr/>
          <p:nvPr/>
        </p:nvSpPr>
        <p:spPr>
          <a:xfrm>
            <a:off x="6257769" y="1796230"/>
            <a:ext cx="1120237"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98" name="Text 195"/>
          <p:cNvSpPr/>
          <p:nvPr/>
        </p:nvSpPr>
        <p:spPr>
          <a:xfrm>
            <a:off x="9303014" y="2105792"/>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123</a:t>
            </a:r>
            <a:endParaRPr lang="en-US" sz="636" dirty="0"/>
          </a:p>
        </p:txBody>
      </p:sp>
      <p:sp>
        <p:nvSpPr>
          <p:cNvPr id="199" name="Text 196"/>
          <p:cNvSpPr/>
          <p:nvPr/>
        </p:nvSpPr>
        <p:spPr>
          <a:xfrm>
            <a:off x="7345377" y="239154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498</a:t>
            </a:r>
            <a:endParaRPr lang="en-US" sz="636" dirty="0"/>
          </a:p>
        </p:txBody>
      </p:sp>
      <p:sp>
        <p:nvSpPr>
          <p:cNvPr id="200" name="Text 197"/>
          <p:cNvSpPr/>
          <p:nvPr/>
        </p:nvSpPr>
        <p:spPr>
          <a:xfrm>
            <a:off x="7345377" y="2534417"/>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498</a:t>
            </a:r>
            <a:endParaRPr lang="en-US" sz="636" dirty="0"/>
          </a:p>
        </p:txBody>
      </p:sp>
      <p:sp>
        <p:nvSpPr>
          <p:cNvPr id="201" name="Text 198"/>
          <p:cNvSpPr/>
          <p:nvPr/>
        </p:nvSpPr>
        <p:spPr>
          <a:xfrm>
            <a:off x="9303014" y="2677292"/>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138</a:t>
            </a:r>
            <a:endParaRPr lang="en-US" sz="636" dirty="0"/>
          </a:p>
        </p:txBody>
      </p:sp>
      <p:sp>
        <p:nvSpPr>
          <p:cNvPr id="202" name="Text 199"/>
          <p:cNvSpPr/>
          <p:nvPr/>
        </p:nvSpPr>
        <p:spPr>
          <a:xfrm>
            <a:off x="9303014"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318</a:t>
            </a:r>
            <a:endParaRPr lang="en-US" sz="636" dirty="0"/>
          </a:p>
        </p:txBody>
      </p:sp>
      <p:sp>
        <p:nvSpPr>
          <p:cNvPr id="203" name="Text 200"/>
          <p:cNvSpPr/>
          <p:nvPr/>
        </p:nvSpPr>
        <p:spPr>
          <a:xfrm>
            <a:off x="8091881"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204" name="Text 201"/>
          <p:cNvSpPr/>
          <p:nvPr/>
        </p:nvSpPr>
        <p:spPr>
          <a:xfrm>
            <a:off x="8574667"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205" name="Text 202"/>
          <p:cNvSpPr/>
          <p:nvPr/>
        </p:nvSpPr>
        <p:spPr>
          <a:xfrm>
            <a:off x="9057453"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206" name="Text 203"/>
          <p:cNvSpPr/>
          <p:nvPr/>
        </p:nvSpPr>
        <p:spPr>
          <a:xfrm>
            <a:off x="9540240"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207" name="Text 204"/>
          <p:cNvSpPr/>
          <p:nvPr/>
        </p:nvSpPr>
        <p:spPr>
          <a:xfrm>
            <a:off x="10023026"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208" name="Text 205"/>
          <p:cNvSpPr/>
          <p:nvPr/>
        </p:nvSpPr>
        <p:spPr>
          <a:xfrm>
            <a:off x="10505812"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209" name="Text 206"/>
          <p:cNvSpPr/>
          <p:nvPr/>
        </p:nvSpPr>
        <p:spPr>
          <a:xfrm>
            <a:off x="8091881"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137</a:t>
            </a:r>
            <a:endParaRPr lang="en-US" sz="552" dirty="0"/>
          </a:p>
        </p:txBody>
      </p:sp>
      <p:sp>
        <p:nvSpPr>
          <p:cNvPr id="210" name="Text 207"/>
          <p:cNvSpPr/>
          <p:nvPr/>
        </p:nvSpPr>
        <p:spPr>
          <a:xfrm>
            <a:off x="10988599" y="35345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318</a:t>
            </a:r>
            <a:endParaRPr lang="en-US" sz="552" dirty="0"/>
          </a:p>
        </p:txBody>
      </p:sp>
      <p:sp>
        <p:nvSpPr>
          <p:cNvPr id="211" name="Text 208"/>
          <p:cNvSpPr/>
          <p:nvPr/>
        </p:nvSpPr>
        <p:spPr>
          <a:xfrm>
            <a:off x="8574667"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669</a:t>
            </a:r>
            <a:endParaRPr lang="en-US" sz="552" dirty="0"/>
          </a:p>
        </p:txBody>
      </p:sp>
      <p:sp>
        <p:nvSpPr>
          <p:cNvPr id="212" name="Text 209"/>
          <p:cNvSpPr/>
          <p:nvPr/>
        </p:nvSpPr>
        <p:spPr>
          <a:xfrm>
            <a:off x="10505812"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852</a:t>
            </a:r>
            <a:endParaRPr lang="en-US" sz="552" dirty="0"/>
          </a:p>
        </p:txBody>
      </p:sp>
      <p:sp>
        <p:nvSpPr>
          <p:cNvPr id="213" name="Text 210"/>
          <p:cNvSpPr/>
          <p:nvPr/>
        </p:nvSpPr>
        <p:spPr>
          <a:xfrm>
            <a:off x="8574667"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447</a:t>
            </a:r>
            <a:endParaRPr lang="en-US" sz="552" dirty="0"/>
          </a:p>
        </p:txBody>
      </p:sp>
      <p:sp>
        <p:nvSpPr>
          <p:cNvPr id="214" name="Text 211"/>
          <p:cNvSpPr/>
          <p:nvPr/>
        </p:nvSpPr>
        <p:spPr>
          <a:xfrm>
            <a:off x="10505812"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570</a:t>
            </a:r>
            <a:endParaRPr lang="en-US" sz="552" dirty="0"/>
          </a:p>
        </p:txBody>
      </p:sp>
      <p:sp>
        <p:nvSpPr>
          <p:cNvPr id="215" name="Text 212"/>
          <p:cNvSpPr/>
          <p:nvPr/>
        </p:nvSpPr>
        <p:spPr>
          <a:xfrm>
            <a:off x="8091881"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729</a:t>
            </a:r>
            <a:endParaRPr lang="en-US" sz="552" dirty="0"/>
          </a:p>
        </p:txBody>
      </p:sp>
      <p:sp>
        <p:nvSpPr>
          <p:cNvPr id="216" name="Text 213"/>
          <p:cNvSpPr/>
          <p:nvPr/>
        </p:nvSpPr>
        <p:spPr>
          <a:xfrm>
            <a:off x="8574667"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188</a:t>
            </a:r>
            <a:endParaRPr lang="en-US" sz="552" dirty="0"/>
          </a:p>
        </p:txBody>
      </p:sp>
      <p:sp>
        <p:nvSpPr>
          <p:cNvPr id="217" name="Text 214"/>
          <p:cNvSpPr/>
          <p:nvPr/>
        </p:nvSpPr>
        <p:spPr>
          <a:xfrm>
            <a:off x="9057453"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530</a:t>
            </a:r>
            <a:endParaRPr lang="en-US" sz="552" dirty="0"/>
          </a:p>
        </p:txBody>
      </p:sp>
      <p:sp>
        <p:nvSpPr>
          <p:cNvPr id="218" name="Text 215"/>
          <p:cNvSpPr/>
          <p:nvPr/>
        </p:nvSpPr>
        <p:spPr>
          <a:xfrm>
            <a:off x="10505812"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240</a:t>
            </a:r>
            <a:endParaRPr lang="en-US" sz="552" dirty="0"/>
          </a:p>
        </p:txBody>
      </p:sp>
      <p:sp>
        <p:nvSpPr>
          <p:cNvPr id="219" name="Text 216"/>
          <p:cNvSpPr/>
          <p:nvPr/>
        </p:nvSpPr>
        <p:spPr>
          <a:xfrm>
            <a:off x="8574667"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286</a:t>
            </a:r>
            <a:endParaRPr lang="en-US" sz="552" dirty="0"/>
          </a:p>
        </p:txBody>
      </p:sp>
      <p:sp>
        <p:nvSpPr>
          <p:cNvPr id="220" name="Text 217"/>
          <p:cNvSpPr/>
          <p:nvPr/>
        </p:nvSpPr>
        <p:spPr>
          <a:xfrm>
            <a:off x="9057453"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804</a:t>
            </a:r>
            <a:endParaRPr lang="en-US" sz="552" dirty="0"/>
          </a:p>
        </p:txBody>
      </p:sp>
      <p:sp>
        <p:nvSpPr>
          <p:cNvPr id="221" name="Text 218"/>
          <p:cNvSpPr/>
          <p:nvPr/>
        </p:nvSpPr>
        <p:spPr>
          <a:xfrm>
            <a:off x="10505812"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365</a:t>
            </a:r>
            <a:endParaRPr lang="en-US" sz="552" dirty="0"/>
          </a:p>
        </p:txBody>
      </p:sp>
      <p:sp>
        <p:nvSpPr>
          <p:cNvPr id="222" name="Text 219"/>
          <p:cNvSpPr/>
          <p:nvPr/>
        </p:nvSpPr>
        <p:spPr>
          <a:xfrm>
            <a:off x="8091881"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280</a:t>
            </a:r>
            <a:endParaRPr lang="en-US" sz="552" dirty="0"/>
          </a:p>
        </p:txBody>
      </p:sp>
      <p:sp>
        <p:nvSpPr>
          <p:cNvPr id="223" name="Text 220"/>
          <p:cNvSpPr/>
          <p:nvPr/>
        </p:nvSpPr>
        <p:spPr>
          <a:xfrm>
            <a:off x="9057453"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205</a:t>
            </a:r>
            <a:endParaRPr lang="en-US" sz="552" dirty="0"/>
          </a:p>
        </p:txBody>
      </p:sp>
      <p:sp>
        <p:nvSpPr>
          <p:cNvPr id="224" name="Text 221"/>
          <p:cNvSpPr/>
          <p:nvPr/>
        </p:nvSpPr>
        <p:spPr>
          <a:xfrm>
            <a:off x="10988599" y="42012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657</a:t>
            </a:r>
            <a:endParaRPr lang="en-US" sz="552" dirty="0"/>
          </a:p>
        </p:txBody>
      </p:sp>
      <p:sp>
        <p:nvSpPr>
          <p:cNvPr id="225" name="Text 222"/>
          <p:cNvSpPr/>
          <p:nvPr/>
        </p:nvSpPr>
        <p:spPr>
          <a:xfrm>
            <a:off x="8091881"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682</a:t>
            </a:r>
            <a:endParaRPr lang="en-US" sz="552" dirty="0"/>
          </a:p>
        </p:txBody>
      </p:sp>
      <p:sp>
        <p:nvSpPr>
          <p:cNvPr id="226" name="Text 223"/>
          <p:cNvSpPr/>
          <p:nvPr/>
        </p:nvSpPr>
        <p:spPr>
          <a:xfrm>
            <a:off x="8574667"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177</a:t>
            </a:r>
            <a:endParaRPr lang="en-US" sz="552" dirty="0"/>
          </a:p>
        </p:txBody>
      </p:sp>
      <p:sp>
        <p:nvSpPr>
          <p:cNvPr id="227" name="Text 224"/>
          <p:cNvSpPr/>
          <p:nvPr/>
        </p:nvSpPr>
        <p:spPr>
          <a:xfrm>
            <a:off x="9057453"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497</a:t>
            </a:r>
            <a:endParaRPr lang="en-US" sz="552" dirty="0"/>
          </a:p>
        </p:txBody>
      </p:sp>
      <p:sp>
        <p:nvSpPr>
          <p:cNvPr id="228" name="Text 225"/>
          <p:cNvSpPr/>
          <p:nvPr/>
        </p:nvSpPr>
        <p:spPr>
          <a:xfrm>
            <a:off x="10505812"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225</a:t>
            </a:r>
            <a:endParaRPr lang="en-US" sz="552" dirty="0"/>
          </a:p>
        </p:txBody>
      </p:sp>
      <p:sp>
        <p:nvSpPr>
          <p:cNvPr id="229" name="Text 226"/>
          <p:cNvSpPr/>
          <p:nvPr/>
        </p:nvSpPr>
        <p:spPr>
          <a:xfrm>
            <a:off x="9540240" y="446799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345</a:t>
            </a:r>
            <a:endParaRPr lang="en-US" sz="552" dirty="0"/>
          </a:p>
        </p:txBody>
      </p:sp>
      <p:sp>
        <p:nvSpPr>
          <p:cNvPr id="230" name="Text 227"/>
          <p:cNvSpPr/>
          <p:nvPr/>
        </p:nvSpPr>
        <p:spPr>
          <a:xfrm>
            <a:off x="10023026" y="446799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345</a:t>
            </a:r>
            <a:endParaRPr lang="en-US" sz="552" dirty="0"/>
          </a:p>
        </p:txBody>
      </p:sp>
      <p:sp>
        <p:nvSpPr>
          <p:cNvPr id="231" name="Text 228"/>
          <p:cNvSpPr/>
          <p:nvPr/>
        </p:nvSpPr>
        <p:spPr>
          <a:xfrm>
            <a:off x="9540240" y="46013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336</a:t>
            </a:r>
            <a:endParaRPr lang="en-US" sz="552" dirty="0"/>
          </a:p>
        </p:txBody>
      </p:sp>
      <p:sp>
        <p:nvSpPr>
          <p:cNvPr id="232" name="Text 229"/>
          <p:cNvSpPr/>
          <p:nvPr/>
        </p:nvSpPr>
        <p:spPr>
          <a:xfrm>
            <a:off x="10023026" y="46013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336</a:t>
            </a:r>
            <a:endParaRPr lang="en-US" sz="552" dirty="0"/>
          </a:p>
        </p:txBody>
      </p:sp>
      <p:sp>
        <p:nvSpPr>
          <p:cNvPr id="233" name="Text 230"/>
          <p:cNvSpPr/>
          <p:nvPr/>
        </p:nvSpPr>
        <p:spPr>
          <a:xfrm>
            <a:off x="8091881"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702</a:t>
            </a:r>
            <a:endParaRPr lang="en-US" sz="552" dirty="0"/>
          </a:p>
        </p:txBody>
      </p:sp>
      <p:sp>
        <p:nvSpPr>
          <p:cNvPr id="234" name="Text 231"/>
          <p:cNvSpPr/>
          <p:nvPr/>
        </p:nvSpPr>
        <p:spPr>
          <a:xfrm>
            <a:off x="8574667"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182</a:t>
            </a:r>
            <a:endParaRPr lang="en-US" sz="552" dirty="0"/>
          </a:p>
        </p:txBody>
      </p:sp>
      <p:sp>
        <p:nvSpPr>
          <p:cNvPr id="235" name="Text 232"/>
          <p:cNvSpPr/>
          <p:nvPr/>
        </p:nvSpPr>
        <p:spPr>
          <a:xfrm>
            <a:off x="9057453"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511</a:t>
            </a:r>
            <a:endParaRPr lang="en-US" sz="552" dirty="0"/>
          </a:p>
        </p:txBody>
      </p:sp>
      <p:sp>
        <p:nvSpPr>
          <p:cNvPr id="236" name="Text 233"/>
          <p:cNvSpPr/>
          <p:nvPr/>
        </p:nvSpPr>
        <p:spPr>
          <a:xfrm>
            <a:off x="10505812"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231</a:t>
            </a:r>
            <a:endParaRPr lang="en-US" sz="552" dirty="0"/>
          </a:p>
        </p:txBody>
      </p:sp>
      <p:sp>
        <p:nvSpPr>
          <p:cNvPr id="237" name="Text 234"/>
          <p:cNvSpPr/>
          <p:nvPr/>
        </p:nvSpPr>
        <p:spPr>
          <a:xfrm>
            <a:off x="8091881"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110</a:t>
            </a:r>
            <a:endParaRPr lang="en-US" sz="552" dirty="0"/>
          </a:p>
        </p:txBody>
      </p:sp>
      <p:sp>
        <p:nvSpPr>
          <p:cNvPr id="238" name="Text 235"/>
          <p:cNvSpPr/>
          <p:nvPr/>
        </p:nvSpPr>
        <p:spPr>
          <a:xfrm>
            <a:off x="10988599" y="48680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256</a:t>
            </a:r>
            <a:endParaRPr lang="en-US" sz="552" dirty="0"/>
          </a:p>
        </p:txBody>
      </p:sp>
      <p:sp>
        <p:nvSpPr>
          <p:cNvPr id="239" name="Text 236"/>
          <p:cNvSpPr/>
          <p:nvPr/>
        </p:nvSpPr>
        <p:spPr>
          <a:xfrm>
            <a:off x="10988599" y="5001392"/>
            <a:ext cx="719233" cy="128588"/>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230</a:t>
            </a:r>
            <a:endParaRPr lang="en-US" sz="552" dirty="0"/>
          </a:p>
        </p:txBody>
      </p:sp>
      <p:sp>
        <p:nvSpPr>
          <p:cNvPr id="240" name="Text 237"/>
          <p:cNvSpPr/>
          <p:nvPr/>
        </p:nvSpPr>
        <p:spPr>
          <a:xfrm>
            <a:off x="8216595" y="971550"/>
            <a:ext cx="3584207"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318</a:t>
            </a:r>
            <a:endParaRPr lang="en-US" sz="1380" dirty="0"/>
          </a:p>
        </p:txBody>
      </p:sp>
      <p:sp>
        <p:nvSpPr>
          <p:cNvPr id="241" name="Text 238"/>
          <p:cNvSpPr/>
          <p:nvPr/>
        </p:nvSpPr>
        <p:spPr>
          <a:xfrm>
            <a:off x="2329400"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73</a:t>
            </a:r>
            <a:endParaRPr lang="en-US" sz="576" dirty="0"/>
          </a:p>
        </p:txBody>
      </p:sp>
      <p:sp>
        <p:nvSpPr>
          <p:cNvPr id="242" name="Text 239"/>
          <p:cNvSpPr/>
          <p:nvPr/>
        </p:nvSpPr>
        <p:spPr>
          <a:xfrm>
            <a:off x="3294972"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79</a:t>
            </a:r>
            <a:endParaRPr lang="en-US" sz="576" dirty="0"/>
          </a:p>
        </p:txBody>
      </p:sp>
      <p:sp>
        <p:nvSpPr>
          <p:cNvPr id="243" name="Text 240"/>
          <p:cNvSpPr/>
          <p:nvPr/>
        </p:nvSpPr>
        <p:spPr>
          <a:xfrm>
            <a:off x="2329400"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67</a:t>
            </a:r>
            <a:endParaRPr lang="en-US" sz="576" dirty="0"/>
          </a:p>
        </p:txBody>
      </p:sp>
      <p:sp>
        <p:nvSpPr>
          <p:cNvPr id="244" name="Text 241"/>
          <p:cNvSpPr/>
          <p:nvPr/>
        </p:nvSpPr>
        <p:spPr>
          <a:xfrm>
            <a:off x="3294972" y="40679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72</a:t>
            </a:r>
            <a:endParaRPr lang="en-US" sz="576" dirty="0"/>
          </a:p>
        </p:txBody>
      </p:sp>
      <p:sp>
        <p:nvSpPr>
          <p:cNvPr id="245" name="Text 242"/>
          <p:cNvSpPr/>
          <p:nvPr/>
        </p:nvSpPr>
        <p:spPr>
          <a:xfrm>
            <a:off x="2329400"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29</a:t>
            </a:r>
            <a:endParaRPr lang="en-US" sz="576" dirty="0"/>
          </a:p>
        </p:txBody>
      </p:sp>
      <p:sp>
        <p:nvSpPr>
          <p:cNvPr id="246" name="Text 243"/>
          <p:cNvSpPr/>
          <p:nvPr/>
        </p:nvSpPr>
        <p:spPr>
          <a:xfrm>
            <a:off x="2812186"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78</a:t>
            </a:r>
            <a:endParaRPr lang="en-US" sz="576" dirty="0"/>
          </a:p>
        </p:txBody>
      </p:sp>
      <p:sp>
        <p:nvSpPr>
          <p:cNvPr id="247" name="Text 244"/>
          <p:cNvSpPr/>
          <p:nvPr/>
        </p:nvSpPr>
        <p:spPr>
          <a:xfrm>
            <a:off x="3294972" y="4201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31</a:t>
            </a:r>
            <a:endParaRPr lang="en-US" sz="576" dirty="0"/>
          </a:p>
        </p:txBody>
      </p:sp>
      <p:sp>
        <p:nvSpPr>
          <p:cNvPr id="248" name="Text 245"/>
          <p:cNvSpPr/>
          <p:nvPr/>
        </p:nvSpPr>
        <p:spPr>
          <a:xfrm>
            <a:off x="9303014" y="1967680"/>
            <a:ext cx="1008183" cy="138113"/>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31</a:t>
            </a:r>
            <a:endParaRPr lang="en-US" sz="636" dirty="0"/>
          </a:p>
        </p:txBody>
      </p:sp>
      <p:sp>
        <p:nvSpPr>
          <p:cNvPr id="249" name="Text 246"/>
          <p:cNvSpPr/>
          <p:nvPr/>
        </p:nvSpPr>
        <p:spPr>
          <a:xfrm>
            <a:off x="9303014" y="2248667"/>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21</a:t>
            </a:r>
            <a:endParaRPr lang="en-US" sz="636" dirty="0"/>
          </a:p>
        </p:txBody>
      </p:sp>
      <p:sp>
        <p:nvSpPr>
          <p:cNvPr id="250" name="Text 247"/>
          <p:cNvSpPr/>
          <p:nvPr/>
        </p:nvSpPr>
        <p:spPr>
          <a:xfrm>
            <a:off x="9540240"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70</a:t>
            </a:r>
            <a:endParaRPr lang="en-US" sz="552" dirty="0"/>
          </a:p>
        </p:txBody>
      </p:sp>
      <p:sp>
        <p:nvSpPr>
          <p:cNvPr id="251" name="Text 248"/>
          <p:cNvSpPr/>
          <p:nvPr/>
        </p:nvSpPr>
        <p:spPr>
          <a:xfrm>
            <a:off x="10023026"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70</a:t>
            </a:r>
            <a:endParaRPr lang="en-US" sz="552" dirty="0"/>
          </a:p>
        </p:txBody>
      </p:sp>
      <p:sp>
        <p:nvSpPr>
          <p:cNvPr id="252" name="Text 249"/>
          <p:cNvSpPr/>
          <p:nvPr/>
        </p:nvSpPr>
        <p:spPr>
          <a:xfrm>
            <a:off x="8574667"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35</a:t>
            </a:r>
            <a:endParaRPr lang="en-US" sz="552" dirty="0"/>
          </a:p>
        </p:txBody>
      </p:sp>
      <p:sp>
        <p:nvSpPr>
          <p:cNvPr id="253" name="Text 250"/>
          <p:cNvSpPr/>
          <p:nvPr/>
        </p:nvSpPr>
        <p:spPr>
          <a:xfrm>
            <a:off x="9057453"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99</a:t>
            </a:r>
            <a:endParaRPr lang="en-US" sz="552" dirty="0"/>
          </a:p>
        </p:txBody>
      </p:sp>
      <p:sp>
        <p:nvSpPr>
          <p:cNvPr id="254" name="Text 251"/>
          <p:cNvSpPr/>
          <p:nvPr/>
        </p:nvSpPr>
        <p:spPr>
          <a:xfrm>
            <a:off x="10505812"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45</a:t>
            </a:r>
            <a:endParaRPr lang="en-US" sz="552" dirty="0"/>
          </a:p>
        </p:txBody>
      </p:sp>
      <p:sp>
        <p:nvSpPr>
          <p:cNvPr id="255" name="Text 252"/>
          <p:cNvSpPr/>
          <p:nvPr/>
        </p:nvSpPr>
        <p:spPr>
          <a:xfrm>
            <a:off x="9540240"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25</a:t>
            </a:r>
            <a:endParaRPr lang="en-US" sz="552" dirty="0"/>
          </a:p>
        </p:txBody>
      </p:sp>
      <p:sp>
        <p:nvSpPr>
          <p:cNvPr id="256" name="Text 253"/>
          <p:cNvSpPr/>
          <p:nvPr/>
        </p:nvSpPr>
        <p:spPr>
          <a:xfrm>
            <a:off x="10023026"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25</a:t>
            </a:r>
            <a:endParaRPr lang="en-US" sz="552" dirty="0"/>
          </a:p>
        </p:txBody>
      </p:sp>
      <p:sp>
        <p:nvSpPr>
          <p:cNvPr id="257" name="Text 254"/>
          <p:cNvSpPr/>
          <p:nvPr/>
        </p:nvSpPr>
        <p:spPr>
          <a:xfrm>
            <a:off x="9540240"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17</a:t>
            </a:r>
            <a:endParaRPr lang="en-US" sz="552" dirty="0"/>
          </a:p>
        </p:txBody>
      </p:sp>
      <p:sp>
        <p:nvSpPr>
          <p:cNvPr id="258" name="Text 255"/>
          <p:cNvSpPr/>
          <p:nvPr/>
        </p:nvSpPr>
        <p:spPr>
          <a:xfrm>
            <a:off x="10023026"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17</a:t>
            </a:r>
            <a:endParaRPr lang="en-US" sz="552" dirty="0"/>
          </a:p>
        </p:txBody>
      </p:sp>
      <p:sp>
        <p:nvSpPr>
          <p:cNvPr id="259" name="Text 256"/>
          <p:cNvSpPr/>
          <p:nvPr/>
        </p:nvSpPr>
        <p:spPr>
          <a:xfrm>
            <a:off x="9540240"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11</a:t>
            </a:r>
            <a:endParaRPr lang="en-US" sz="552" dirty="0"/>
          </a:p>
        </p:txBody>
      </p:sp>
      <p:sp>
        <p:nvSpPr>
          <p:cNvPr id="260" name="Text 257"/>
          <p:cNvSpPr/>
          <p:nvPr/>
        </p:nvSpPr>
        <p:spPr>
          <a:xfrm>
            <a:off x="10023026"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11</a:t>
            </a:r>
            <a:endParaRPr lang="en-US" sz="552" dirty="0"/>
          </a:p>
        </p:txBody>
      </p:sp>
      <p:sp>
        <p:nvSpPr>
          <p:cNvPr id="261" name="Text 258"/>
          <p:cNvSpPr/>
          <p:nvPr/>
        </p:nvSpPr>
        <p:spPr>
          <a:xfrm>
            <a:off x="8574667"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73</a:t>
            </a:r>
            <a:endParaRPr lang="en-US" sz="552" dirty="0"/>
          </a:p>
        </p:txBody>
      </p:sp>
      <p:sp>
        <p:nvSpPr>
          <p:cNvPr id="262" name="Text 259"/>
          <p:cNvSpPr/>
          <p:nvPr/>
        </p:nvSpPr>
        <p:spPr>
          <a:xfrm>
            <a:off x="10505812"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93</a:t>
            </a:r>
            <a:endParaRPr lang="en-US" sz="552" dirty="0"/>
          </a:p>
        </p:txBody>
      </p:sp>
      <p:sp>
        <p:nvSpPr>
          <p:cNvPr id="263" name="Text 260"/>
          <p:cNvSpPr/>
          <p:nvPr/>
        </p:nvSpPr>
        <p:spPr>
          <a:xfrm>
            <a:off x="8574667"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28</a:t>
            </a:r>
            <a:endParaRPr lang="en-US" sz="552" dirty="0"/>
          </a:p>
        </p:txBody>
      </p:sp>
      <p:sp>
        <p:nvSpPr>
          <p:cNvPr id="264" name="Text 261"/>
          <p:cNvSpPr/>
          <p:nvPr/>
        </p:nvSpPr>
        <p:spPr>
          <a:xfrm>
            <a:off x="9057453"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80</a:t>
            </a:r>
            <a:endParaRPr lang="en-US" sz="552" dirty="0"/>
          </a:p>
        </p:txBody>
      </p:sp>
      <p:sp>
        <p:nvSpPr>
          <p:cNvPr id="265" name="Text 262"/>
          <p:cNvSpPr/>
          <p:nvPr/>
        </p:nvSpPr>
        <p:spPr>
          <a:xfrm>
            <a:off x="10505812"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36</a:t>
            </a:r>
            <a:endParaRPr lang="en-US" sz="552" dirty="0"/>
          </a:p>
        </p:txBody>
      </p:sp>
      <p:sp>
        <p:nvSpPr>
          <p:cNvPr id="266" name="Text 263"/>
          <p:cNvSpPr/>
          <p:nvPr/>
        </p:nvSpPr>
        <p:spPr>
          <a:xfrm>
            <a:off x="8091881" y="5001392"/>
            <a:ext cx="497270" cy="128588"/>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99</a:t>
            </a:r>
            <a:endParaRPr lang="en-US" sz="552" dirty="0"/>
          </a:p>
        </p:txBody>
      </p:sp>
      <p:sp>
        <p:nvSpPr>
          <p:cNvPr id="267" name="Text 264"/>
          <p:cNvSpPr/>
          <p:nvPr/>
        </p:nvSpPr>
        <p:spPr>
          <a:xfrm>
            <a:off x="8574667" y="5001392"/>
            <a:ext cx="497270" cy="128588"/>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25</a:t>
            </a:r>
            <a:endParaRPr lang="en-US" sz="552" dirty="0"/>
          </a:p>
        </p:txBody>
      </p:sp>
      <p:sp>
        <p:nvSpPr>
          <p:cNvPr id="268" name="Text 265"/>
          <p:cNvSpPr/>
          <p:nvPr/>
        </p:nvSpPr>
        <p:spPr>
          <a:xfrm>
            <a:off x="9057453" y="5001392"/>
            <a:ext cx="497270" cy="128588"/>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72</a:t>
            </a:r>
            <a:endParaRPr lang="en-US" sz="552" dirty="0"/>
          </a:p>
        </p:txBody>
      </p:sp>
      <p:sp>
        <p:nvSpPr>
          <p:cNvPr id="269" name="Text 266"/>
          <p:cNvSpPr/>
          <p:nvPr/>
        </p:nvSpPr>
        <p:spPr>
          <a:xfrm>
            <a:off x="10505812" y="5001392"/>
            <a:ext cx="497270" cy="128588"/>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32</a:t>
            </a:r>
            <a:endParaRPr lang="en-US" sz="552" dirty="0"/>
          </a:p>
        </p:txBody>
      </p:sp>
      <p:sp>
        <p:nvSpPr>
          <p:cNvPr id="271" name="TextBox 270">
            <a:extLst>
              <a:ext uri="{FF2B5EF4-FFF2-40B4-BE49-F238E27FC236}">
                <a16:creationId xmlns:a16="http://schemas.microsoft.com/office/drawing/2014/main" id="{B72E08AF-BA6F-36BC-E112-875C373772CA}"/>
              </a:ext>
            </a:extLst>
          </p:cNvPr>
          <p:cNvSpPr txBox="1"/>
          <p:nvPr/>
        </p:nvSpPr>
        <p:spPr>
          <a:xfrm>
            <a:off x="663624" y="5416525"/>
            <a:ext cx="8876616" cy="550407"/>
          </a:xfrm>
          <a:prstGeom prst="rect">
            <a:avLst/>
          </a:prstGeom>
          <a:noFill/>
        </p:spPr>
        <p:txBody>
          <a:bodyPr wrap="square">
            <a:spAutoFit/>
          </a:bodyPr>
          <a:lstStyle/>
          <a:p>
            <a:pPr marL="0" marR="0" indent="0" algn="l">
              <a:buNone/>
            </a:pPr>
            <a:r>
              <a:rPr lang="es-CO" sz="744" b="1" i="0" dirty="0">
                <a:solidFill>
                  <a:srgbClr val="120180"/>
                </a:solidFill>
                <a:effectLst/>
                <a:latin typeface="Raleway" pitchFamily="2" charset="0"/>
              </a:rPr>
              <a:t>Observaciones Clave de la Base:</a:t>
            </a:r>
          </a:p>
          <a:p>
            <a:pPr marL="0" marR="0" indent="0" algn="l">
              <a:buFont typeface="Arial" panose="020B0604020202020204" pitchFamily="34" charset="0"/>
              <a:buChar char="•"/>
            </a:pPr>
            <a:r>
              <a:rPr lang="es-CO" sz="744" b="1" i="0" dirty="0">
                <a:solidFill>
                  <a:srgbClr val="120180"/>
                </a:solidFill>
                <a:effectLst/>
                <a:latin typeface="Raleway" pitchFamily="2" charset="0"/>
              </a:rPr>
              <a:t>Esta base tiene una </a:t>
            </a:r>
            <a:r>
              <a:rPr lang="es-CO" sz="744" b="1" i="0" dirty="0" err="1">
                <a:solidFill>
                  <a:srgbClr val="120180"/>
                </a:solidFill>
                <a:effectLst/>
                <a:latin typeface="Raleway" pitchFamily="2" charset="0"/>
              </a:rPr>
              <a:t>contactabilidad</a:t>
            </a:r>
            <a:r>
              <a:rPr lang="es-CO" sz="744" b="1" i="0" dirty="0">
                <a:solidFill>
                  <a:srgbClr val="120180"/>
                </a:solidFill>
                <a:effectLst/>
                <a:latin typeface="Raleway" pitchFamily="2" charset="0"/>
              </a:rPr>
              <a:t> crítica muy baja (17,0 %), con un rechazo promedio del 53,04 %.</a:t>
            </a:r>
          </a:p>
          <a:p>
            <a:pPr marL="0" marR="0" indent="0" algn="l">
              <a:buFont typeface="Arial" panose="020B0604020202020204" pitchFamily="34" charset="0"/>
              <a:buChar char="•"/>
            </a:pPr>
            <a:r>
              <a:rPr lang="es-CO" sz="744" b="1" i="0" dirty="0">
                <a:solidFill>
                  <a:srgbClr val="120180"/>
                </a:solidFill>
                <a:effectLst/>
                <a:latin typeface="Raleway" pitchFamily="2" charset="0"/>
              </a:rPr>
              <a:t>El no contacto es el más alto del portafolio (83,0 %), impulsado masivamente por Contestadores (80,9 %), lo que indica bases quemadas o números desactualizados.</a:t>
            </a:r>
          </a:p>
          <a:p>
            <a:pPr marL="0" marR="0" indent="0" algn="l">
              <a:buFont typeface="Arial" panose="020B0604020202020204" pitchFamily="34" charset="0"/>
              <a:buChar char="•"/>
            </a:pPr>
            <a:r>
              <a:rPr lang="es-CO" sz="744" b="1" i="0" dirty="0">
                <a:solidFill>
                  <a:srgbClr val="120180"/>
                </a:solidFill>
                <a:effectLst/>
                <a:latin typeface="Raleway" pitchFamily="2" charset="0"/>
              </a:rPr>
              <a:t>En abril y mayo el rechazo llegó al 99 % porque se enviaron registros duplicados. Junio mostró recuperación (138 ventas y 4,92 % conversión) al actualizarse la base.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C:\01_Repositorios\13_Presentaciones\dash\televentas\ppt_slides\sk_09_main.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85783" y="5056138"/>
            <a:ext cx="6649836" cy="141030"/>
          </a:xfrm>
          <a:prstGeom prst="rect">
            <a:avLst/>
          </a:prstGeom>
          <a:noFill/>
          <a:ln/>
        </p:spPr>
        <p:txBody>
          <a:bodyPr wrap="square" lIns="0" tIns="0" rIns="0" bIns="0" rtlCol="0" anchor="t"/>
          <a:lstStyle/>
          <a:p>
            <a:pPr marL="0" indent="0" algn="l">
              <a:buNone/>
            </a:pPr>
            <a:r>
              <a:rPr lang="en-US" sz="744" b="1" dirty="0">
                <a:solidFill>
                  <a:srgbClr val="120180"/>
                </a:solidFill>
                <a:latin typeface="Raleway" pitchFamily="34" charset="0"/>
                <a:ea typeface="Raleway" pitchFamily="34" charset="-122"/>
                <a:cs typeface="Raleway" pitchFamily="34" charset="-120"/>
              </a:rPr>
              <a:t>Mostró un descarte muy alto () y una bajísima efectividad sobre contacto (), lo que justifica que se haya pausado a partir de febrero.</a:t>
            </a:r>
            <a:endParaRPr lang="en-US" sz="744" dirty="0"/>
          </a:p>
        </p:txBody>
      </p:sp>
      <p:sp>
        <p:nvSpPr>
          <p:cNvPr id="4" name="Text 1"/>
          <p:cNvSpPr/>
          <p:nvPr/>
        </p:nvSpPr>
        <p:spPr>
          <a:xfrm>
            <a:off x="685783" y="4909691"/>
            <a:ext cx="6649836" cy="141030"/>
          </a:xfrm>
          <a:prstGeom prst="rect">
            <a:avLst/>
          </a:prstGeom>
          <a:noFill/>
          <a:ln/>
        </p:spPr>
        <p:txBody>
          <a:bodyPr wrap="square" lIns="0" tIns="0" rIns="0" bIns="0" rtlCol="0" anchor="t"/>
          <a:lstStyle/>
          <a:p>
            <a:pPr marL="0" indent="0" algn="l">
              <a:buNone/>
            </a:pPr>
            <a:r>
              <a:rPr lang="en-US" sz="744" b="1" dirty="0">
                <a:solidFill>
                  <a:srgbClr val="120180"/>
                </a:solidFill>
                <a:latin typeface="Raleway" pitchFamily="34" charset="0"/>
                <a:ea typeface="Raleway" pitchFamily="34" charset="-122"/>
                <a:cs typeface="Raleway" pitchFamily="34" charset="-120"/>
              </a:rPr>
              <a:t>Esta base  (campaña táctica sobre base histórica de clientes satisfechos).</a:t>
            </a:r>
            <a:endParaRPr lang="en-US" sz="744" dirty="0"/>
          </a:p>
        </p:txBody>
      </p:sp>
      <p:sp>
        <p:nvSpPr>
          <p:cNvPr id="5" name="Text 2"/>
          <p:cNvSpPr/>
          <p:nvPr/>
        </p:nvSpPr>
        <p:spPr>
          <a:xfrm>
            <a:off x="685783" y="5202585"/>
            <a:ext cx="6649836" cy="141030"/>
          </a:xfrm>
          <a:prstGeom prst="rect">
            <a:avLst/>
          </a:prstGeom>
          <a:noFill/>
          <a:ln/>
        </p:spPr>
        <p:txBody>
          <a:bodyPr wrap="square" lIns="0" tIns="0" rIns="0" bIns="0" rtlCol="0" anchor="t"/>
          <a:lstStyle/>
          <a:p>
            <a:pPr marL="0" indent="0" algn="l">
              <a:buNone/>
            </a:pPr>
            <a:r>
              <a:rPr lang="en-US" sz="744" b="1" dirty="0">
                <a:solidFill>
                  <a:srgbClr val="120180"/>
                </a:solidFill>
                <a:latin typeface="Raleway" pitchFamily="34" charset="0"/>
                <a:ea typeface="Raleway" pitchFamily="34" charset="-122"/>
                <a:cs typeface="Raleway" pitchFamily="34" charset="-120"/>
              </a:rPr>
              <a:t>El contestador fue el gran bloqueador en enero, consumiendo el .</a:t>
            </a:r>
            <a:endParaRPr lang="en-US" sz="744" dirty="0"/>
          </a:p>
        </p:txBody>
      </p:sp>
      <p:sp>
        <p:nvSpPr>
          <p:cNvPr id="6" name="Text 3"/>
          <p:cNvSpPr/>
          <p:nvPr/>
        </p:nvSpPr>
        <p:spPr>
          <a:xfrm>
            <a:off x="1213514" y="219075"/>
            <a:ext cx="4488459" cy="196215"/>
          </a:xfrm>
          <a:prstGeom prst="rect">
            <a:avLst/>
          </a:prstGeom>
          <a:noFill/>
          <a:ln/>
        </p:spPr>
        <p:txBody>
          <a:bodyPr wrap="square" lIns="0" tIns="0" rIns="0" bIns="0" rtlCol="0" anchor="t"/>
          <a:lstStyle/>
          <a:p>
            <a:pPr marL="0" indent="0" algn="l">
              <a:buNone/>
            </a:pPr>
            <a:r>
              <a:rPr lang="en-US" sz="1260" b="1" dirty="0">
                <a:solidFill>
                  <a:srgbClr val="FFFFFF"/>
                </a:solidFill>
                <a:latin typeface="Raleway" pitchFamily="34" charset="0"/>
                <a:ea typeface="Raleway" pitchFamily="34" charset="-122"/>
                <a:cs typeface="Raleway" pitchFamily="34" charset="-120"/>
              </a:rPr>
              <a:t>Detalle Operativo · Campaña CP Clientes Satisfechos</a:t>
            </a:r>
            <a:endParaRPr lang="en-US" sz="1260" dirty="0"/>
          </a:p>
        </p:txBody>
      </p:sp>
      <p:sp>
        <p:nvSpPr>
          <p:cNvPr id="7" name="Text 4"/>
          <p:cNvSpPr/>
          <p:nvPr/>
        </p:nvSpPr>
        <p:spPr>
          <a:xfrm>
            <a:off x="8216595" y="1219944"/>
            <a:ext cx="3584207"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Base focalizada y depurada de forma express</a:t>
            </a:r>
            <a:endParaRPr lang="en-US" sz="648" dirty="0"/>
          </a:p>
        </p:txBody>
      </p:sp>
      <p:sp>
        <p:nvSpPr>
          <p:cNvPr id="8" name="Text 5"/>
          <p:cNvSpPr/>
          <p:nvPr/>
        </p:nvSpPr>
        <p:spPr>
          <a:xfrm>
            <a:off x="504812" y="35345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Cuota Protegida Activa / Producto Activo</a:t>
            </a:r>
            <a:endParaRPr lang="en-US" sz="576" dirty="0"/>
          </a:p>
        </p:txBody>
      </p:sp>
      <p:sp>
        <p:nvSpPr>
          <p:cNvPr id="9" name="Text 6"/>
          <p:cNvSpPr/>
          <p:nvPr/>
        </p:nvSpPr>
        <p:spPr>
          <a:xfrm>
            <a:off x="533387" y="1219944"/>
            <a:ext cx="3584053"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Interacción ágil con clientes históricos</a:t>
            </a:r>
            <a:endParaRPr lang="en-US" sz="648" dirty="0"/>
          </a:p>
        </p:txBody>
      </p:sp>
      <p:sp>
        <p:nvSpPr>
          <p:cNvPr id="10" name="Text 7"/>
          <p:cNvSpPr/>
          <p:nvPr/>
        </p:nvSpPr>
        <p:spPr>
          <a:xfrm>
            <a:off x="4374991" y="1219944"/>
            <a:ext cx="3584053"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Aporte táctico masivo al inicio del año</a:t>
            </a:r>
            <a:endParaRPr lang="en-US" sz="648" dirty="0"/>
          </a:p>
        </p:txBody>
      </p:sp>
      <p:sp>
        <p:nvSpPr>
          <p:cNvPr id="11" name="Text 8"/>
          <p:cNvSpPr/>
          <p:nvPr/>
        </p:nvSpPr>
        <p:spPr>
          <a:xfrm>
            <a:off x="6257769" y="302969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4. Tipificación de Leads Aptos por Mes</a:t>
            </a:r>
            <a:endParaRPr lang="en-US" sz="816" dirty="0"/>
          </a:p>
        </p:txBody>
      </p:sp>
      <p:sp>
        <p:nvSpPr>
          <p:cNvPr id="12" name="Text 9"/>
          <p:cNvSpPr/>
          <p:nvPr/>
        </p:nvSpPr>
        <p:spPr>
          <a:xfrm>
            <a:off x="8681672" y="209550"/>
            <a:ext cx="3026694" cy="215836"/>
          </a:xfrm>
          <a:prstGeom prst="rect">
            <a:avLst/>
          </a:prstGeom>
          <a:noFill/>
          <a:ln/>
        </p:spPr>
        <p:txBody>
          <a:bodyPr wrap="square" lIns="38100" tIns="114300" rIns="114300" bIns="38100" rtlCol="0" anchor="t"/>
          <a:lstStyle/>
          <a:p>
            <a:pPr marL="0" indent="0" algn="l">
              <a:buNone/>
            </a:pPr>
            <a:r>
              <a:rPr lang="en-US" sz="840" b="1" dirty="0">
                <a:solidFill>
                  <a:srgbClr val="5AE280"/>
                </a:solidFill>
                <a:latin typeface="Raleway" pitchFamily="34" charset="0"/>
                <a:ea typeface="Raleway" pitchFamily="34" charset="-122"/>
                <a:cs typeface="Raleway" pitchFamily="34" charset="-120"/>
              </a:rPr>
              <a:t>Cap. 2 · Detalle Clientes Satisfechos</a:t>
            </a:r>
            <a:endParaRPr lang="en-US" sz="840" dirty="0"/>
          </a:p>
        </p:txBody>
      </p:sp>
      <p:sp>
        <p:nvSpPr>
          <p:cNvPr id="13" name="Text 10"/>
          <p:cNvSpPr/>
          <p:nvPr/>
        </p:nvSpPr>
        <p:spPr>
          <a:xfrm>
            <a:off x="495288" y="160094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1. Calidad de Base y Descarte Mensual</a:t>
            </a:r>
            <a:endParaRPr lang="en-US" sz="816" dirty="0"/>
          </a:p>
        </p:txBody>
      </p:sp>
      <p:sp>
        <p:nvSpPr>
          <p:cNvPr id="14" name="Text 11"/>
          <p:cNvSpPr/>
          <p:nvPr/>
        </p:nvSpPr>
        <p:spPr>
          <a:xfrm>
            <a:off x="6257769" y="160094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3. Insumo Apto, Contacto y Ventas</a:t>
            </a:r>
            <a:endParaRPr lang="en-US" sz="816" dirty="0"/>
          </a:p>
        </p:txBody>
      </p:sp>
      <p:sp>
        <p:nvSpPr>
          <p:cNvPr id="15" name="Text 12"/>
          <p:cNvSpPr/>
          <p:nvPr/>
        </p:nvSpPr>
        <p:spPr>
          <a:xfrm>
            <a:off x="6267293" y="38012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Cuelga la llamada / experiencia</a:t>
            </a:r>
            <a:endParaRPr lang="en-US" sz="552" dirty="0"/>
          </a:p>
        </p:txBody>
      </p:sp>
      <p:sp>
        <p:nvSpPr>
          <p:cNvPr id="16" name="Text 13"/>
          <p:cNvSpPr/>
          <p:nvPr/>
        </p:nvSpPr>
        <p:spPr>
          <a:xfrm>
            <a:off x="552436" y="4753719"/>
            <a:ext cx="1673304" cy="141030"/>
          </a:xfrm>
          <a:prstGeom prst="rect">
            <a:avLst/>
          </a:prstGeom>
          <a:noFill/>
          <a:ln/>
        </p:spPr>
        <p:txBody>
          <a:bodyPr wrap="square" lIns="0" tIns="0" rIns="0" bIns="0" rtlCol="0" anchor="t"/>
          <a:lstStyle/>
          <a:p>
            <a:pPr marL="0" indent="0" algn="l">
              <a:buNone/>
            </a:pPr>
            <a:r>
              <a:rPr lang="en-US" sz="744" b="1" dirty="0">
                <a:solidFill>
                  <a:srgbClr val="120180"/>
                </a:solidFill>
                <a:latin typeface="Raleway" pitchFamily="34" charset="0"/>
                <a:ea typeface="Raleway" pitchFamily="34" charset="-122"/>
                <a:cs typeface="Raleway" pitchFamily="34" charset="-120"/>
              </a:rPr>
              <a:t>Observaciones Clave de la Base:</a:t>
            </a:r>
            <a:endParaRPr lang="en-US" sz="744" dirty="0"/>
          </a:p>
        </p:txBody>
      </p:sp>
      <p:sp>
        <p:nvSpPr>
          <p:cNvPr id="17" name="Text 14"/>
          <p:cNvSpPr/>
          <p:nvPr/>
        </p:nvSpPr>
        <p:spPr>
          <a:xfrm>
            <a:off x="504812" y="3405955"/>
            <a:ext cx="1879325" cy="128588"/>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Registro Enviado Anteriormente</a:t>
            </a:r>
            <a:endParaRPr lang="en-US" sz="576" dirty="0"/>
          </a:p>
        </p:txBody>
      </p:sp>
      <p:sp>
        <p:nvSpPr>
          <p:cNvPr id="18" name="Text 15"/>
          <p:cNvSpPr/>
          <p:nvPr/>
        </p:nvSpPr>
        <p:spPr>
          <a:xfrm>
            <a:off x="504812" y="366789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Teléfono Errado / Sin Teléfono</a:t>
            </a:r>
            <a:endParaRPr lang="en-US" sz="576" dirty="0"/>
          </a:p>
        </p:txBody>
      </p:sp>
      <p:sp>
        <p:nvSpPr>
          <p:cNvPr id="19" name="Text 16"/>
          <p:cNvSpPr/>
          <p:nvPr/>
        </p:nvSpPr>
        <p:spPr>
          <a:xfrm>
            <a:off x="495288" y="302969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2. Motivos de Descarte por Mes</a:t>
            </a:r>
            <a:endParaRPr lang="en-US" sz="816" dirty="0"/>
          </a:p>
        </p:txBody>
      </p:sp>
      <p:sp>
        <p:nvSpPr>
          <p:cNvPr id="20" name="Text 17"/>
          <p:cNvSpPr/>
          <p:nvPr/>
        </p:nvSpPr>
        <p:spPr>
          <a:xfrm>
            <a:off x="6267293" y="36678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interesado por el producto</a:t>
            </a:r>
            <a:endParaRPr lang="en-US" sz="552" dirty="0"/>
          </a:p>
        </p:txBody>
      </p:sp>
      <p:sp>
        <p:nvSpPr>
          <p:cNvPr id="21" name="Text 18"/>
          <p:cNvSpPr/>
          <p:nvPr/>
        </p:nvSpPr>
        <p:spPr>
          <a:xfrm>
            <a:off x="533387" y="828675"/>
            <a:ext cx="3584053"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CONTACTO EFECTIVO EN ENERO</a:t>
            </a:r>
            <a:endParaRPr lang="en-US" sz="672" dirty="0"/>
          </a:p>
        </p:txBody>
      </p:sp>
      <p:sp>
        <p:nvSpPr>
          <p:cNvPr id="22" name="Text 19"/>
          <p:cNvSpPr/>
          <p:nvPr/>
        </p:nvSpPr>
        <p:spPr>
          <a:xfrm>
            <a:off x="504812" y="38012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NIT de empresa / No apto</a:t>
            </a:r>
            <a:endParaRPr lang="en-US" sz="576" dirty="0"/>
          </a:p>
        </p:txBody>
      </p:sp>
      <p:sp>
        <p:nvSpPr>
          <p:cNvPr id="23" name="Text 20"/>
          <p:cNvSpPr/>
          <p:nvPr/>
        </p:nvSpPr>
        <p:spPr>
          <a:xfrm>
            <a:off x="6267293" y="42012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Contestador automático</a:t>
            </a:r>
            <a:endParaRPr lang="en-US" sz="552" dirty="0"/>
          </a:p>
        </p:txBody>
      </p:sp>
      <p:sp>
        <p:nvSpPr>
          <p:cNvPr id="24" name="Text 21"/>
          <p:cNvSpPr/>
          <p:nvPr/>
        </p:nvSpPr>
        <p:spPr>
          <a:xfrm>
            <a:off x="504812" y="393459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Otros motivos menores</a:t>
            </a:r>
            <a:endParaRPr lang="en-US" sz="576" dirty="0"/>
          </a:p>
        </p:txBody>
      </p:sp>
      <p:sp>
        <p:nvSpPr>
          <p:cNvPr id="25" name="Text 22"/>
          <p:cNvSpPr/>
          <p:nvPr/>
        </p:nvSpPr>
        <p:spPr>
          <a:xfrm>
            <a:off x="6267293" y="39345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Otros motivos menores</a:t>
            </a:r>
            <a:endParaRPr lang="en-US" sz="552" dirty="0"/>
          </a:p>
        </p:txBody>
      </p:sp>
      <p:sp>
        <p:nvSpPr>
          <p:cNvPr id="26" name="Text 23"/>
          <p:cNvSpPr/>
          <p:nvPr/>
        </p:nvSpPr>
        <p:spPr>
          <a:xfrm>
            <a:off x="6267293" y="4334642"/>
            <a:ext cx="1879325" cy="128588"/>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contesta / apagado</a:t>
            </a:r>
            <a:endParaRPr lang="en-US" sz="552" dirty="0"/>
          </a:p>
        </p:txBody>
      </p:sp>
      <p:sp>
        <p:nvSpPr>
          <p:cNvPr id="27" name="Text 24"/>
          <p:cNvSpPr/>
          <p:nvPr/>
        </p:nvSpPr>
        <p:spPr>
          <a:xfrm>
            <a:off x="8216595" y="828675"/>
            <a:ext cx="3584207"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LEADS APTOS GENERADOS</a:t>
            </a:r>
            <a:endParaRPr lang="en-US" sz="672" dirty="0"/>
          </a:p>
        </p:txBody>
      </p:sp>
      <p:sp>
        <p:nvSpPr>
          <p:cNvPr id="28" name="Text 25"/>
          <p:cNvSpPr/>
          <p:nvPr/>
        </p:nvSpPr>
        <p:spPr>
          <a:xfrm>
            <a:off x="4374991" y="828675"/>
            <a:ext cx="3584053"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VENTAS INCREMENTALES</a:t>
            </a:r>
            <a:endParaRPr lang="en-US" sz="672" dirty="0"/>
          </a:p>
        </p:txBody>
      </p:sp>
      <p:sp>
        <p:nvSpPr>
          <p:cNvPr id="29" name="Text 26"/>
          <p:cNvSpPr/>
          <p:nvPr/>
        </p:nvSpPr>
        <p:spPr>
          <a:xfrm>
            <a:off x="6267293" y="3405955"/>
            <a:ext cx="1879325" cy="128588"/>
          </a:xfrm>
          <a:prstGeom prst="rect">
            <a:avLst/>
          </a:prstGeom>
          <a:noFill/>
          <a:ln/>
        </p:spPr>
        <p:txBody>
          <a:bodyPr wrap="square" lIns="19050" tIns="38100" rIns="38100" bIns="19050" rtlCol="0" anchor="ctr"/>
          <a:lstStyle/>
          <a:p>
            <a:pPr marL="0" indent="0" algn="l">
              <a:buNone/>
            </a:pPr>
            <a:r>
              <a:rPr lang="en-US" sz="552" dirty="0">
                <a:solidFill>
                  <a:srgbClr val="120180"/>
                </a:solidFill>
                <a:latin typeface="Raleway" pitchFamily="34" charset="0"/>
                <a:ea typeface="Raleway" pitchFamily="34" charset="-122"/>
                <a:cs typeface="Raleway" pitchFamily="34" charset="-120"/>
              </a:rPr>
              <a:t>CONTACTO EFECTIVO</a:t>
            </a:r>
            <a:endParaRPr lang="en-US" sz="552" dirty="0"/>
          </a:p>
        </p:txBody>
      </p:sp>
      <p:sp>
        <p:nvSpPr>
          <p:cNvPr id="30" name="Text 27"/>
          <p:cNvSpPr/>
          <p:nvPr/>
        </p:nvSpPr>
        <p:spPr>
          <a:xfrm>
            <a:off x="10281832" y="1796230"/>
            <a:ext cx="145701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Conv. / Ctto.</a:t>
            </a:r>
            <a:endParaRPr lang="en-US" sz="888" dirty="0"/>
          </a:p>
        </p:txBody>
      </p:sp>
      <p:sp>
        <p:nvSpPr>
          <p:cNvPr id="31" name="Text 28"/>
          <p:cNvSpPr/>
          <p:nvPr/>
        </p:nvSpPr>
        <p:spPr>
          <a:xfrm>
            <a:off x="6267293" y="35345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Venta exitosa</a:t>
            </a:r>
            <a:endParaRPr lang="en-US" sz="552" dirty="0"/>
          </a:p>
        </p:txBody>
      </p:sp>
      <p:sp>
        <p:nvSpPr>
          <p:cNvPr id="32" name="Text 29"/>
          <p:cNvSpPr/>
          <p:nvPr/>
        </p:nvSpPr>
        <p:spPr>
          <a:xfrm>
            <a:off x="6267293" y="3234505"/>
            <a:ext cx="1879325"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Tipificación</a:t>
            </a:r>
            <a:endParaRPr lang="en-US" sz="888" dirty="0"/>
          </a:p>
        </p:txBody>
      </p:sp>
      <p:sp>
        <p:nvSpPr>
          <p:cNvPr id="33" name="Text 30"/>
          <p:cNvSpPr/>
          <p:nvPr/>
        </p:nvSpPr>
        <p:spPr>
          <a:xfrm>
            <a:off x="6267293" y="4067942"/>
            <a:ext cx="1879325" cy="133350"/>
          </a:xfrm>
          <a:prstGeom prst="rect">
            <a:avLst/>
          </a:prstGeom>
          <a:noFill/>
          <a:ln/>
        </p:spPr>
        <p:txBody>
          <a:bodyPr wrap="square" lIns="19050" tIns="38100" rIns="38100" bIns="19050" rtlCol="0" anchor="ctr"/>
          <a:lstStyle/>
          <a:p>
            <a:pPr marL="0" indent="0" algn="l">
              <a:buNone/>
            </a:pPr>
            <a:r>
              <a:rPr lang="en-US" sz="552" dirty="0">
                <a:solidFill>
                  <a:srgbClr val="120180"/>
                </a:solidFill>
                <a:latin typeface="Raleway" pitchFamily="34" charset="0"/>
                <a:ea typeface="Raleway" pitchFamily="34" charset="-122"/>
                <a:cs typeface="Raleway" pitchFamily="34" charset="-120"/>
              </a:rPr>
              <a:t>NO CONTACTO</a:t>
            </a:r>
            <a:endParaRPr lang="en-US" sz="552" dirty="0"/>
          </a:p>
        </p:txBody>
      </p:sp>
      <p:sp>
        <p:nvSpPr>
          <p:cNvPr id="34" name="Text 31"/>
          <p:cNvSpPr/>
          <p:nvPr/>
        </p:nvSpPr>
        <p:spPr>
          <a:xfrm>
            <a:off x="2996877" y="1796230"/>
            <a:ext cx="1568454"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35" name="Text 32"/>
          <p:cNvSpPr/>
          <p:nvPr/>
        </p:nvSpPr>
        <p:spPr>
          <a:xfrm>
            <a:off x="8324195"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36" name="Text 33"/>
          <p:cNvSpPr/>
          <p:nvPr/>
        </p:nvSpPr>
        <p:spPr>
          <a:xfrm>
            <a:off x="1582896" y="1796230"/>
            <a:ext cx="145640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37" name="Text 34"/>
          <p:cNvSpPr/>
          <p:nvPr/>
        </p:nvSpPr>
        <p:spPr>
          <a:xfrm>
            <a:off x="4519648" y="1796230"/>
            <a:ext cx="1456707"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38" name="Text 35"/>
          <p:cNvSpPr/>
          <p:nvPr/>
        </p:nvSpPr>
        <p:spPr>
          <a:xfrm>
            <a:off x="1582896" y="1967680"/>
            <a:ext cx="1456400"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108.659</a:t>
            </a:r>
            <a:endParaRPr lang="en-US" sz="636" dirty="0"/>
          </a:p>
        </p:txBody>
      </p:sp>
      <p:sp>
        <p:nvSpPr>
          <p:cNvPr id="39" name="Text 36"/>
          <p:cNvSpPr/>
          <p:nvPr/>
        </p:nvSpPr>
        <p:spPr>
          <a:xfrm>
            <a:off x="495288" y="21057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0" name="Text 37"/>
          <p:cNvSpPr/>
          <p:nvPr/>
        </p:nvSpPr>
        <p:spPr>
          <a:xfrm>
            <a:off x="1582896" y="2820167"/>
            <a:ext cx="1456400"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108.659</a:t>
            </a:r>
            <a:endParaRPr lang="en-US" sz="636" dirty="0"/>
          </a:p>
        </p:txBody>
      </p:sp>
      <p:sp>
        <p:nvSpPr>
          <p:cNvPr id="41" name="Text 38"/>
          <p:cNvSpPr/>
          <p:nvPr/>
        </p:nvSpPr>
        <p:spPr>
          <a:xfrm>
            <a:off x="6257769" y="21057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2" name="Text 39"/>
          <p:cNvSpPr/>
          <p:nvPr/>
        </p:nvSpPr>
        <p:spPr>
          <a:xfrm>
            <a:off x="2996877" y="1967680"/>
            <a:ext cx="1568454"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73.431</a:t>
            </a:r>
            <a:endParaRPr lang="en-US" sz="636" dirty="0"/>
          </a:p>
        </p:txBody>
      </p:sp>
      <p:sp>
        <p:nvSpPr>
          <p:cNvPr id="43" name="Text 40"/>
          <p:cNvSpPr/>
          <p:nvPr/>
        </p:nvSpPr>
        <p:spPr>
          <a:xfrm>
            <a:off x="4519648" y="1967680"/>
            <a:ext cx="1456707"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67,6 %</a:t>
            </a:r>
            <a:endParaRPr lang="en-US" sz="636" dirty="0"/>
          </a:p>
        </p:txBody>
      </p:sp>
      <p:sp>
        <p:nvSpPr>
          <p:cNvPr id="44" name="Text 41"/>
          <p:cNvSpPr/>
          <p:nvPr/>
        </p:nvSpPr>
        <p:spPr>
          <a:xfrm>
            <a:off x="2996877" y="2820167"/>
            <a:ext cx="1568454"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73.431</a:t>
            </a:r>
            <a:endParaRPr lang="en-US" sz="636" dirty="0"/>
          </a:p>
        </p:txBody>
      </p:sp>
      <p:sp>
        <p:nvSpPr>
          <p:cNvPr id="45" name="Text 42"/>
          <p:cNvSpPr/>
          <p:nvPr/>
        </p:nvSpPr>
        <p:spPr>
          <a:xfrm>
            <a:off x="4519648" y="2820167"/>
            <a:ext cx="1456707"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67,6 %</a:t>
            </a:r>
            <a:endParaRPr lang="en-US" sz="636" dirty="0"/>
          </a:p>
        </p:txBody>
      </p:sp>
      <p:sp>
        <p:nvSpPr>
          <p:cNvPr id="46" name="Text 43"/>
          <p:cNvSpPr/>
          <p:nvPr/>
        </p:nvSpPr>
        <p:spPr>
          <a:xfrm>
            <a:off x="504812" y="3234505"/>
            <a:ext cx="1879325"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Motivo</a:t>
            </a:r>
            <a:endParaRPr lang="en-US" sz="888" dirty="0"/>
          </a:p>
        </p:txBody>
      </p:sp>
      <p:sp>
        <p:nvSpPr>
          <p:cNvPr id="47" name="Text 44"/>
          <p:cNvSpPr/>
          <p:nvPr/>
        </p:nvSpPr>
        <p:spPr>
          <a:xfrm>
            <a:off x="2329400"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43.210</a:t>
            </a:r>
            <a:endParaRPr lang="en-US" sz="576" dirty="0"/>
          </a:p>
        </p:txBody>
      </p:sp>
      <p:sp>
        <p:nvSpPr>
          <p:cNvPr id="48" name="Text 45"/>
          <p:cNvSpPr/>
          <p:nvPr/>
        </p:nvSpPr>
        <p:spPr>
          <a:xfrm>
            <a:off x="5226118" y="3405955"/>
            <a:ext cx="719233" cy="128588"/>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43.210</a:t>
            </a:r>
            <a:endParaRPr lang="en-US" sz="576" dirty="0"/>
          </a:p>
        </p:txBody>
      </p:sp>
      <p:sp>
        <p:nvSpPr>
          <p:cNvPr id="49" name="Text 46"/>
          <p:cNvSpPr/>
          <p:nvPr/>
        </p:nvSpPr>
        <p:spPr>
          <a:xfrm>
            <a:off x="2329400"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22.105</a:t>
            </a:r>
            <a:endParaRPr lang="en-US" sz="576" dirty="0"/>
          </a:p>
        </p:txBody>
      </p:sp>
      <p:sp>
        <p:nvSpPr>
          <p:cNvPr id="50" name="Text 47"/>
          <p:cNvSpPr/>
          <p:nvPr/>
        </p:nvSpPr>
        <p:spPr>
          <a:xfrm>
            <a:off x="5226118" y="353454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22.105</a:t>
            </a:r>
            <a:endParaRPr lang="en-US" sz="576" dirty="0"/>
          </a:p>
        </p:txBody>
      </p:sp>
      <p:sp>
        <p:nvSpPr>
          <p:cNvPr id="51" name="Text 48"/>
          <p:cNvSpPr/>
          <p:nvPr/>
        </p:nvSpPr>
        <p:spPr>
          <a:xfrm>
            <a:off x="2329400" y="406794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73.431</a:t>
            </a:r>
            <a:endParaRPr lang="en-US" sz="576" dirty="0"/>
          </a:p>
        </p:txBody>
      </p:sp>
      <p:sp>
        <p:nvSpPr>
          <p:cNvPr id="52" name="Text 49"/>
          <p:cNvSpPr/>
          <p:nvPr/>
        </p:nvSpPr>
        <p:spPr>
          <a:xfrm>
            <a:off x="5226118" y="4067942"/>
            <a:ext cx="719233"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73.431</a:t>
            </a:r>
            <a:endParaRPr lang="en-US" sz="576" dirty="0"/>
          </a:p>
        </p:txBody>
      </p:sp>
      <p:sp>
        <p:nvSpPr>
          <p:cNvPr id="53" name="Text 50"/>
          <p:cNvSpPr/>
          <p:nvPr/>
        </p:nvSpPr>
        <p:spPr>
          <a:xfrm>
            <a:off x="9303014"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54" name="Text 51"/>
          <p:cNvSpPr/>
          <p:nvPr/>
        </p:nvSpPr>
        <p:spPr>
          <a:xfrm>
            <a:off x="7345377" y="1967680"/>
            <a:ext cx="100818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35.228</a:t>
            </a:r>
            <a:endParaRPr lang="en-US" sz="636" dirty="0"/>
          </a:p>
        </p:txBody>
      </p:sp>
      <p:sp>
        <p:nvSpPr>
          <p:cNvPr id="55" name="Text 52"/>
          <p:cNvSpPr/>
          <p:nvPr/>
        </p:nvSpPr>
        <p:spPr>
          <a:xfrm>
            <a:off x="8324195" y="1967680"/>
            <a:ext cx="100818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18,6 %</a:t>
            </a:r>
            <a:endParaRPr lang="en-US" sz="636" dirty="0"/>
          </a:p>
        </p:txBody>
      </p:sp>
      <p:sp>
        <p:nvSpPr>
          <p:cNvPr id="56" name="Text 53"/>
          <p:cNvSpPr/>
          <p:nvPr/>
        </p:nvSpPr>
        <p:spPr>
          <a:xfrm>
            <a:off x="7345377"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35.228</a:t>
            </a:r>
            <a:endParaRPr lang="en-US" sz="636" dirty="0"/>
          </a:p>
        </p:txBody>
      </p:sp>
      <p:sp>
        <p:nvSpPr>
          <p:cNvPr id="57" name="Text 54"/>
          <p:cNvSpPr/>
          <p:nvPr/>
        </p:nvSpPr>
        <p:spPr>
          <a:xfrm>
            <a:off x="8324195"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18,6 %</a:t>
            </a:r>
            <a:endParaRPr lang="en-US" sz="636" dirty="0"/>
          </a:p>
        </p:txBody>
      </p:sp>
      <p:sp>
        <p:nvSpPr>
          <p:cNvPr id="58" name="Text 55"/>
          <p:cNvSpPr/>
          <p:nvPr/>
        </p:nvSpPr>
        <p:spPr>
          <a:xfrm>
            <a:off x="8091881" y="406794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28.692</a:t>
            </a:r>
            <a:endParaRPr lang="en-US" sz="552" dirty="0"/>
          </a:p>
        </p:txBody>
      </p:sp>
      <p:sp>
        <p:nvSpPr>
          <p:cNvPr id="59" name="Text 56"/>
          <p:cNvSpPr/>
          <p:nvPr/>
        </p:nvSpPr>
        <p:spPr>
          <a:xfrm>
            <a:off x="10988599" y="4067942"/>
            <a:ext cx="719233"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28.692</a:t>
            </a:r>
            <a:endParaRPr lang="en-US" sz="552" dirty="0"/>
          </a:p>
        </p:txBody>
      </p:sp>
      <p:sp>
        <p:nvSpPr>
          <p:cNvPr id="60" name="Text 57"/>
          <p:cNvSpPr/>
          <p:nvPr/>
        </p:nvSpPr>
        <p:spPr>
          <a:xfrm>
            <a:off x="8091881"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22.104</a:t>
            </a:r>
            <a:endParaRPr lang="en-US" sz="552" dirty="0"/>
          </a:p>
        </p:txBody>
      </p:sp>
      <p:sp>
        <p:nvSpPr>
          <p:cNvPr id="61" name="Text 58"/>
          <p:cNvSpPr/>
          <p:nvPr/>
        </p:nvSpPr>
        <p:spPr>
          <a:xfrm>
            <a:off x="10988599" y="42012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22.104</a:t>
            </a:r>
            <a:endParaRPr lang="en-US" sz="552" dirty="0"/>
          </a:p>
        </p:txBody>
      </p:sp>
      <p:sp>
        <p:nvSpPr>
          <p:cNvPr id="62" name="Text 59"/>
          <p:cNvSpPr/>
          <p:nvPr/>
        </p:nvSpPr>
        <p:spPr>
          <a:xfrm>
            <a:off x="533387" y="971550"/>
            <a:ext cx="3584053"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18,6 %</a:t>
            </a:r>
            <a:endParaRPr lang="en-US" sz="1380" dirty="0"/>
          </a:p>
        </p:txBody>
      </p:sp>
      <p:sp>
        <p:nvSpPr>
          <p:cNvPr id="63" name="Text 60"/>
          <p:cNvSpPr/>
          <p:nvPr/>
        </p:nvSpPr>
        <p:spPr>
          <a:xfrm>
            <a:off x="8216595" y="971550"/>
            <a:ext cx="3584207"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35.228</a:t>
            </a:r>
            <a:endParaRPr lang="en-US" sz="1380" dirty="0"/>
          </a:p>
        </p:txBody>
      </p:sp>
      <p:sp>
        <p:nvSpPr>
          <p:cNvPr id="64" name="Text 61"/>
          <p:cNvSpPr/>
          <p:nvPr/>
        </p:nvSpPr>
        <p:spPr>
          <a:xfrm>
            <a:off x="495288" y="1967680"/>
            <a:ext cx="1120237" cy="138113"/>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65" name="Text 62"/>
          <p:cNvSpPr/>
          <p:nvPr/>
        </p:nvSpPr>
        <p:spPr>
          <a:xfrm>
            <a:off x="495288" y="224866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66" name="Text 63"/>
          <p:cNvSpPr/>
          <p:nvPr/>
        </p:nvSpPr>
        <p:spPr>
          <a:xfrm>
            <a:off x="495288" y="239154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67" name="Text 64"/>
          <p:cNvSpPr/>
          <p:nvPr/>
        </p:nvSpPr>
        <p:spPr>
          <a:xfrm>
            <a:off x="495288" y="26772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68" name="Text 65"/>
          <p:cNvSpPr/>
          <p:nvPr/>
        </p:nvSpPr>
        <p:spPr>
          <a:xfrm>
            <a:off x="495288" y="2820167"/>
            <a:ext cx="1120237" cy="138113"/>
          </a:xfrm>
          <a:prstGeom prst="rect">
            <a:avLst/>
          </a:prstGeom>
          <a:noFill/>
          <a:ln/>
        </p:spPr>
        <p:txBody>
          <a:bodyPr wrap="square" lIns="19050" tIns="38100" rIns="38100" bIns="19050" rtlCol="0" anchor="ctr"/>
          <a:lstStyle/>
          <a:p>
            <a:pPr marL="0" indent="0" algn="l">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69" name="Text 66"/>
          <p:cNvSpPr/>
          <p:nvPr/>
        </p:nvSpPr>
        <p:spPr>
          <a:xfrm>
            <a:off x="5226118" y="3234505"/>
            <a:ext cx="71923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70" name="Text 67"/>
          <p:cNvSpPr/>
          <p:nvPr/>
        </p:nvSpPr>
        <p:spPr>
          <a:xfrm>
            <a:off x="2329400"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4.120</a:t>
            </a:r>
            <a:endParaRPr lang="en-US" sz="576" dirty="0"/>
          </a:p>
        </p:txBody>
      </p:sp>
      <p:sp>
        <p:nvSpPr>
          <p:cNvPr id="71" name="Text 68"/>
          <p:cNvSpPr/>
          <p:nvPr/>
        </p:nvSpPr>
        <p:spPr>
          <a:xfrm>
            <a:off x="5226118" y="366789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4.120</a:t>
            </a:r>
            <a:endParaRPr lang="en-US" sz="576" dirty="0"/>
          </a:p>
        </p:txBody>
      </p:sp>
      <p:sp>
        <p:nvSpPr>
          <p:cNvPr id="72" name="Text 69"/>
          <p:cNvSpPr/>
          <p:nvPr/>
        </p:nvSpPr>
        <p:spPr>
          <a:xfrm>
            <a:off x="2329400" y="38012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2.980</a:t>
            </a:r>
            <a:endParaRPr lang="en-US" sz="576" dirty="0"/>
          </a:p>
        </p:txBody>
      </p:sp>
      <p:sp>
        <p:nvSpPr>
          <p:cNvPr id="73" name="Text 70"/>
          <p:cNvSpPr/>
          <p:nvPr/>
        </p:nvSpPr>
        <p:spPr>
          <a:xfrm>
            <a:off x="5226118" y="380124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2.980</a:t>
            </a:r>
            <a:endParaRPr lang="en-US" sz="576" dirty="0"/>
          </a:p>
        </p:txBody>
      </p:sp>
      <p:sp>
        <p:nvSpPr>
          <p:cNvPr id="74" name="Text 71"/>
          <p:cNvSpPr/>
          <p:nvPr/>
        </p:nvSpPr>
        <p:spPr>
          <a:xfrm>
            <a:off x="2329400" y="39345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1.016</a:t>
            </a:r>
            <a:endParaRPr lang="en-US" sz="576" dirty="0"/>
          </a:p>
        </p:txBody>
      </p:sp>
      <p:sp>
        <p:nvSpPr>
          <p:cNvPr id="75" name="Text 72"/>
          <p:cNvSpPr/>
          <p:nvPr/>
        </p:nvSpPr>
        <p:spPr>
          <a:xfrm>
            <a:off x="5226118" y="393459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1.016</a:t>
            </a:r>
            <a:endParaRPr lang="en-US" sz="576" dirty="0"/>
          </a:p>
        </p:txBody>
      </p:sp>
      <p:sp>
        <p:nvSpPr>
          <p:cNvPr id="76" name="Text 73"/>
          <p:cNvSpPr/>
          <p:nvPr/>
        </p:nvSpPr>
        <p:spPr>
          <a:xfrm>
            <a:off x="504812" y="4067942"/>
            <a:ext cx="1879325" cy="128588"/>
          </a:xfrm>
          <a:prstGeom prst="rect">
            <a:avLst/>
          </a:prstGeom>
          <a:noFill/>
          <a:ln/>
        </p:spPr>
        <p:txBody>
          <a:bodyPr wrap="square" lIns="19050" tIns="38100" rIns="38100" bIns="19050" rtlCol="0" anchor="ctr"/>
          <a:lstStyle/>
          <a:p>
            <a:pPr marL="0" indent="0" algn="l">
              <a:buNone/>
            </a:pPr>
            <a:r>
              <a:rPr lang="en-US" sz="576" b="1" dirty="0">
                <a:solidFill>
                  <a:srgbClr val="120180"/>
                </a:solidFill>
                <a:latin typeface="Raleway" pitchFamily="34" charset="0"/>
                <a:ea typeface="Raleway" pitchFamily="34" charset="-122"/>
                <a:cs typeface="Raleway" pitchFamily="34" charset="-120"/>
              </a:rPr>
              <a:t>Total</a:t>
            </a:r>
            <a:endParaRPr lang="en-US" sz="576" dirty="0"/>
          </a:p>
        </p:txBody>
      </p:sp>
      <p:sp>
        <p:nvSpPr>
          <p:cNvPr id="77" name="Text 74"/>
          <p:cNvSpPr/>
          <p:nvPr/>
        </p:nvSpPr>
        <p:spPr>
          <a:xfrm>
            <a:off x="7345377"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78" name="Text 75"/>
          <p:cNvSpPr/>
          <p:nvPr/>
        </p:nvSpPr>
        <p:spPr>
          <a:xfrm>
            <a:off x="6257769" y="1967680"/>
            <a:ext cx="1120237" cy="138113"/>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79" name="Text 76"/>
          <p:cNvSpPr/>
          <p:nvPr/>
        </p:nvSpPr>
        <p:spPr>
          <a:xfrm>
            <a:off x="10281832" y="1967680"/>
            <a:ext cx="145701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1,2 %</a:t>
            </a:r>
            <a:endParaRPr lang="en-US" sz="636" dirty="0"/>
          </a:p>
        </p:txBody>
      </p:sp>
      <p:sp>
        <p:nvSpPr>
          <p:cNvPr id="80" name="Text 77"/>
          <p:cNvSpPr/>
          <p:nvPr/>
        </p:nvSpPr>
        <p:spPr>
          <a:xfrm>
            <a:off x="6257769" y="224866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81" name="Text 78"/>
          <p:cNvSpPr/>
          <p:nvPr/>
        </p:nvSpPr>
        <p:spPr>
          <a:xfrm>
            <a:off x="6257769" y="239154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82" name="Text 79"/>
          <p:cNvSpPr/>
          <p:nvPr/>
        </p:nvSpPr>
        <p:spPr>
          <a:xfrm>
            <a:off x="6257769" y="26772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83" name="Text 80"/>
          <p:cNvSpPr/>
          <p:nvPr/>
        </p:nvSpPr>
        <p:spPr>
          <a:xfrm>
            <a:off x="6257769" y="2820167"/>
            <a:ext cx="1120237" cy="138113"/>
          </a:xfrm>
          <a:prstGeom prst="rect">
            <a:avLst/>
          </a:prstGeom>
          <a:noFill/>
          <a:ln/>
        </p:spPr>
        <p:txBody>
          <a:bodyPr wrap="square" lIns="19050" tIns="38100" rIns="38100" bIns="19050" rtlCol="0" anchor="ctr"/>
          <a:lstStyle/>
          <a:p>
            <a:pPr marL="0" indent="0" algn="l">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84" name="Text 81"/>
          <p:cNvSpPr/>
          <p:nvPr/>
        </p:nvSpPr>
        <p:spPr>
          <a:xfrm>
            <a:off x="10281832" y="2820167"/>
            <a:ext cx="145701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1,2 %</a:t>
            </a:r>
            <a:endParaRPr lang="en-US" sz="636" dirty="0"/>
          </a:p>
        </p:txBody>
      </p:sp>
      <p:sp>
        <p:nvSpPr>
          <p:cNvPr id="85" name="Text 82"/>
          <p:cNvSpPr/>
          <p:nvPr/>
        </p:nvSpPr>
        <p:spPr>
          <a:xfrm>
            <a:off x="10988599" y="3234505"/>
            <a:ext cx="71923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86" name="Text 83"/>
          <p:cNvSpPr/>
          <p:nvPr/>
        </p:nvSpPr>
        <p:spPr>
          <a:xfrm>
            <a:off x="8091881"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6.536</a:t>
            </a:r>
            <a:endParaRPr lang="en-US" sz="552" dirty="0"/>
          </a:p>
        </p:txBody>
      </p:sp>
      <p:sp>
        <p:nvSpPr>
          <p:cNvPr id="87" name="Text 84"/>
          <p:cNvSpPr/>
          <p:nvPr/>
        </p:nvSpPr>
        <p:spPr>
          <a:xfrm>
            <a:off x="10988599" y="3405955"/>
            <a:ext cx="719233"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6.536</a:t>
            </a:r>
            <a:endParaRPr lang="en-US" sz="552" dirty="0"/>
          </a:p>
        </p:txBody>
      </p:sp>
      <p:sp>
        <p:nvSpPr>
          <p:cNvPr id="88" name="Text 85"/>
          <p:cNvSpPr/>
          <p:nvPr/>
        </p:nvSpPr>
        <p:spPr>
          <a:xfrm>
            <a:off x="8091881"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3.210</a:t>
            </a:r>
            <a:endParaRPr lang="en-US" sz="552" dirty="0"/>
          </a:p>
        </p:txBody>
      </p:sp>
      <p:sp>
        <p:nvSpPr>
          <p:cNvPr id="89" name="Text 86"/>
          <p:cNvSpPr/>
          <p:nvPr/>
        </p:nvSpPr>
        <p:spPr>
          <a:xfrm>
            <a:off x="10988599" y="36678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3.210</a:t>
            </a:r>
            <a:endParaRPr lang="en-US" sz="552" dirty="0"/>
          </a:p>
        </p:txBody>
      </p:sp>
      <p:sp>
        <p:nvSpPr>
          <p:cNvPr id="90" name="Text 87"/>
          <p:cNvSpPr/>
          <p:nvPr/>
        </p:nvSpPr>
        <p:spPr>
          <a:xfrm>
            <a:off x="8091881"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1.845</a:t>
            </a:r>
            <a:endParaRPr lang="en-US" sz="552" dirty="0"/>
          </a:p>
        </p:txBody>
      </p:sp>
      <p:sp>
        <p:nvSpPr>
          <p:cNvPr id="91" name="Text 88"/>
          <p:cNvSpPr/>
          <p:nvPr/>
        </p:nvSpPr>
        <p:spPr>
          <a:xfrm>
            <a:off x="10988599" y="38012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1.845</a:t>
            </a:r>
            <a:endParaRPr lang="en-US" sz="552" dirty="0"/>
          </a:p>
        </p:txBody>
      </p:sp>
      <p:sp>
        <p:nvSpPr>
          <p:cNvPr id="92" name="Text 89"/>
          <p:cNvSpPr/>
          <p:nvPr/>
        </p:nvSpPr>
        <p:spPr>
          <a:xfrm>
            <a:off x="8091881"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1.402</a:t>
            </a:r>
            <a:endParaRPr lang="en-US" sz="552" dirty="0"/>
          </a:p>
        </p:txBody>
      </p:sp>
      <p:sp>
        <p:nvSpPr>
          <p:cNvPr id="93" name="Text 90"/>
          <p:cNvSpPr/>
          <p:nvPr/>
        </p:nvSpPr>
        <p:spPr>
          <a:xfrm>
            <a:off x="10988599" y="39345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1.402</a:t>
            </a:r>
            <a:endParaRPr lang="en-US" sz="552" dirty="0"/>
          </a:p>
        </p:txBody>
      </p:sp>
      <p:sp>
        <p:nvSpPr>
          <p:cNvPr id="94" name="Text 91"/>
          <p:cNvSpPr/>
          <p:nvPr/>
        </p:nvSpPr>
        <p:spPr>
          <a:xfrm>
            <a:off x="8091881" y="4334642"/>
            <a:ext cx="497270" cy="128588"/>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6.588</a:t>
            </a:r>
            <a:endParaRPr lang="en-US" sz="552" dirty="0"/>
          </a:p>
        </p:txBody>
      </p:sp>
      <p:sp>
        <p:nvSpPr>
          <p:cNvPr id="95" name="Text 92"/>
          <p:cNvSpPr/>
          <p:nvPr/>
        </p:nvSpPr>
        <p:spPr>
          <a:xfrm>
            <a:off x="10988599" y="4334642"/>
            <a:ext cx="719233" cy="128588"/>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6.588</a:t>
            </a:r>
            <a:endParaRPr lang="en-US" sz="552" dirty="0"/>
          </a:p>
        </p:txBody>
      </p:sp>
      <p:sp>
        <p:nvSpPr>
          <p:cNvPr id="96" name="Text 93"/>
          <p:cNvSpPr/>
          <p:nvPr/>
        </p:nvSpPr>
        <p:spPr>
          <a:xfrm>
            <a:off x="495288" y="253441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97" name="Text 94"/>
          <p:cNvSpPr/>
          <p:nvPr/>
        </p:nvSpPr>
        <p:spPr>
          <a:xfrm>
            <a:off x="6257769" y="253441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98" name="Text 95"/>
          <p:cNvSpPr/>
          <p:nvPr/>
        </p:nvSpPr>
        <p:spPr>
          <a:xfrm>
            <a:off x="495288" y="1796230"/>
            <a:ext cx="1120237"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99" name="Text 96"/>
          <p:cNvSpPr/>
          <p:nvPr/>
        </p:nvSpPr>
        <p:spPr>
          <a:xfrm>
            <a:off x="2329400"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100" name="Text 97"/>
          <p:cNvSpPr/>
          <p:nvPr/>
        </p:nvSpPr>
        <p:spPr>
          <a:xfrm>
            <a:off x="2812186"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101" name="Text 98"/>
          <p:cNvSpPr/>
          <p:nvPr/>
        </p:nvSpPr>
        <p:spPr>
          <a:xfrm>
            <a:off x="3294972"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102" name="Text 99"/>
          <p:cNvSpPr/>
          <p:nvPr/>
        </p:nvSpPr>
        <p:spPr>
          <a:xfrm>
            <a:off x="3777759"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103" name="Text 100"/>
          <p:cNvSpPr/>
          <p:nvPr/>
        </p:nvSpPr>
        <p:spPr>
          <a:xfrm>
            <a:off x="4260545"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104" name="Text 101"/>
          <p:cNvSpPr/>
          <p:nvPr/>
        </p:nvSpPr>
        <p:spPr>
          <a:xfrm>
            <a:off x="4743331"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105" name="Text 102"/>
          <p:cNvSpPr/>
          <p:nvPr/>
        </p:nvSpPr>
        <p:spPr>
          <a:xfrm>
            <a:off x="6257769" y="1796230"/>
            <a:ext cx="1120237"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06" name="Text 103"/>
          <p:cNvSpPr/>
          <p:nvPr/>
        </p:nvSpPr>
        <p:spPr>
          <a:xfrm>
            <a:off x="8091881"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107" name="Text 104"/>
          <p:cNvSpPr/>
          <p:nvPr/>
        </p:nvSpPr>
        <p:spPr>
          <a:xfrm>
            <a:off x="8574667"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108" name="Text 105"/>
          <p:cNvSpPr/>
          <p:nvPr/>
        </p:nvSpPr>
        <p:spPr>
          <a:xfrm>
            <a:off x="9057453"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109" name="Text 106"/>
          <p:cNvSpPr/>
          <p:nvPr/>
        </p:nvSpPr>
        <p:spPr>
          <a:xfrm>
            <a:off x="9540240"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110" name="Text 107"/>
          <p:cNvSpPr/>
          <p:nvPr/>
        </p:nvSpPr>
        <p:spPr>
          <a:xfrm>
            <a:off x="10023026"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111" name="Text 108"/>
          <p:cNvSpPr/>
          <p:nvPr/>
        </p:nvSpPr>
        <p:spPr>
          <a:xfrm>
            <a:off x="10505812"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112" name="Text 109"/>
          <p:cNvSpPr/>
          <p:nvPr/>
        </p:nvSpPr>
        <p:spPr>
          <a:xfrm>
            <a:off x="9303014" y="1967680"/>
            <a:ext cx="1008183" cy="138113"/>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79</a:t>
            </a:r>
            <a:endParaRPr lang="en-US" sz="636" dirty="0"/>
          </a:p>
        </p:txBody>
      </p:sp>
      <p:sp>
        <p:nvSpPr>
          <p:cNvPr id="113" name="Text 110"/>
          <p:cNvSpPr/>
          <p:nvPr/>
        </p:nvSpPr>
        <p:spPr>
          <a:xfrm>
            <a:off x="9303014"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79</a:t>
            </a:r>
            <a:endParaRPr lang="en-US" sz="636" dirty="0"/>
          </a:p>
        </p:txBody>
      </p:sp>
      <p:sp>
        <p:nvSpPr>
          <p:cNvPr id="114" name="Text 111"/>
          <p:cNvSpPr/>
          <p:nvPr/>
        </p:nvSpPr>
        <p:spPr>
          <a:xfrm>
            <a:off x="8091881"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79</a:t>
            </a:r>
            <a:endParaRPr lang="en-US" sz="552" dirty="0"/>
          </a:p>
        </p:txBody>
      </p:sp>
      <p:sp>
        <p:nvSpPr>
          <p:cNvPr id="115" name="Text 112"/>
          <p:cNvSpPr/>
          <p:nvPr/>
        </p:nvSpPr>
        <p:spPr>
          <a:xfrm>
            <a:off x="10988599" y="35345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79</a:t>
            </a:r>
            <a:endParaRPr lang="en-US" sz="552" dirty="0"/>
          </a:p>
        </p:txBody>
      </p:sp>
      <p:sp>
        <p:nvSpPr>
          <p:cNvPr id="116" name="Text 113"/>
          <p:cNvSpPr/>
          <p:nvPr/>
        </p:nvSpPr>
        <p:spPr>
          <a:xfrm>
            <a:off x="4374991" y="971550"/>
            <a:ext cx="3584053"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79</a:t>
            </a:r>
            <a:endParaRPr lang="en-US" sz="13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C:\01_Repositorios\13_Presentaciones\dash\televentas\ppt_slides\sk_10_main.png"/>
          <p:cNvPicPr>
            <a:picLocks noChangeAspect="1"/>
          </p:cNvPicPr>
          <p:nvPr/>
        </p:nvPicPr>
        <p:blipFill>
          <a:blip r:embed="rId3"/>
          <a:stretch>
            <a:fillRect/>
          </a:stretch>
        </p:blipFill>
        <p:spPr>
          <a:xfrm>
            <a:off x="0" y="0"/>
            <a:ext cx="12191695" cy="6858000"/>
          </a:xfrm>
          <a:prstGeom prst="rect">
            <a:avLst/>
          </a:prstGeom>
        </p:spPr>
      </p:pic>
      <p:sp>
        <p:nvSpPr>
          <p:cNvPr id="6" name="Text 3"/>
          <p:cNvSpPr/>
          <p:nvPr/>
        </p:nvSpPr>
        <p:spPr>
          <a:xfrm>
            <a:off x="4374991" y="1219944"/>
            <a:ext cx="3584053"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Alta tasa de efectividad comercial en portafolio</a:t>
            </a:r>
            <a:endParaRPr lang="en-US" sz="648" dirty="0"/>
          </a:p>
        </p:txBody>
      </p:sp>
      <p:sp>
        <p:nvSpPr>
          <p:cNvPr id="7" name="Text 4"/>
          <p:cNvSpPr/>
          <p:nvPr/>
        </p:nvSpPr>
        <p:spPr>
          <a:xfrm>
            <a:off x="504812" y="3405955"/>
            <a:ext cx="1879325" cy="128588"/>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Microseguro Activo / Ya Posee el Producto</a:t>
            </a:r>
            <a:endParaRPr lang="en-US" sz="576" dirty="0"/>
          </a:p>
        </p:txBody>
      </p:sp>
      <p:sp>
        <p:nvSpPr>
          <p:cNvPr id="8" name="Text 5"/>
          <p:cNvSpPr/>
          <p:nvPr/>
        </p:nvSpPr>
        <p:spPr>
          <a:xfrm>
            <a:off x="533387" y="1219944"/>
            <a:ext cx="3584053"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Excelente respuesta de llamada y atención</a:t>
            </a:r>
            <a:endParaRPr lang="en-US" sz="648" dirty="0"/>
          </a:p>
        </p:txBody>
      </p:sp>
      <p:sp>
        <p:nvSpPr>
          <p:cNvPr id="9" name="Text 6"/>
          <p:cNvSpPr/>
          <p:nvPr/>
        </p:nvSpPr>
        <p:spPr>
          <a:xfrm>
            <a:off x="1213514" y="219075"/>
            <a:ext cx="3548030" cy="196215"/>
          </a:xfrm>
          <a:prstGeom prst="rect">
            <a:avLst/>
          </a:prstGeom>
          <a:noFill/>
          <a:ln/>
        </p:spPr>
        <p:txBody>
          <a:bodyPr wrap="square" lIns="0" tIns="0" rIns="0" bIns="0" rtlCol="0" anchor="t"/>
          <a:lstStyle/>
          <a:p>
            <a:pPr marL="0" indent="0" algn="l">
              <a:buNone/>
            </a:pPr>
            <a:r>
              <a:rPr lang="en-US" sz="1260" b="1" dirty="0">
                <a:solidFill>
                  <a:srgbClr val="FFFFFF"/>
                </a:solidFill>
                <a:latin typeface="Raleway" pitchFamily="34" charset="0"/>
                <a:ea typeface="Raleway" pitchFamily="34" charset="-122"/>
                <a:cs typeface="Raleway" pitchFamily="34" charset="-120"/>
              </a:rPr>
              <a:t>Detalle Operativo · Campaña Microseguro</a:t>
            </a:r>
            <a:endParaRPr lang="en-US" sz="1260" dirty="0"/>
          </a:p>
        </p:txBody>
      </p:sp>
      <p:sp>
        <p:nvSpPr>
          <p:cNvPr id="10" name="Text 7"/>
          <p:cNvSpPr/>
          <p:nvPr/>
        </p:nvSpPr>
        <p:spPr>
          <a:xfrm>
            <a:off x="6267293" y="39345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cumple requisito de edad (&gt;69 años)</a:t>
            </a:r>
            <a:endParaRPr lang="en-US" sz="552" dirty="0"/>
          </a:p>
        </p:txBody>
      </p:sp>
      <p:sp>
        <p:nvSpPr>
          <p:cNvPr id="11" name="Text 8"/>
          <p:cNvSpPr/>
          <p:nvPr/>
        </p:nvSpPr>
        <p:spPr>
          <a:xfrm>
            <a:off x="6410169" y="302969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4. Tipificación de Leads Aptos por Mes</a:t>
            </a:r>
            <a:endParaRPr lang="en-US" sz="816" dirty="0"/>
          </a:p>
        </p:txBody>
      </p:sp>
      <p:sp>
        <p:nvSpPr>
          <p:cNvPr id="12" name="Text 9"/>
          <p:cNvSpPr/>
          <p:nvPr/>
        </p:nvSpPr>
        <p:spPr>
          <a:xfrm>
            <a:off x="640068" y="160094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1. Calidad de Base y Descarte Mensual</a:t>
            </a:r>
            <a:endParaRPr lang="en-US" sz="816" dirty="0"/>
          </a:p>
        </p:txBody>
      </p:sp>
      <p:sp>
        <p:nvSpPr>
          <p:cNvPr id="13" name="Text 10"/>
          <p:cNvSpPr/>
          <p:nvPr/>
        </p:nvSpPr>
        <p:spPr>
          <a:xfrm>
            <a:off x="6267293" y="48680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Teléfono apagado / fuera de servicio</a:t>
            </a:r>
            <a:endParaRPr lang="en-US" sz="552" dirty="0"/>
          </a:p>
        </p:txBody>
      </p:sp>
      <p:sp>
        <p:nvSpPr>
          <p:cNvPr id="14" name="Text 11"/>
          <p:cNvSpPr/>
          <p:nvPr/>
        </p:nvSpPr>
        <p:spPr>
          <a:xfrm>
            <a:off x="8216595" y="1219944"/>
            <a:ext cx="3584207"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Campaña estable y altamente rentable</a:t>
            </a:r>
            <a:endParaRPr lang="en-US" sz="648" dirty="0"/>
          </a:p>
        </p:txBody>
      </p:sp>
      <p:sp>
        <p:nvSpPr>
          <p:cNvPr id="15" name="Text 12"/>
          <p:cNvSpPr/>
          <p:nvPr/>
        </p:nvSpPr>
        <p:spPr>
          <a:xfrm>
            <a:off x="6410169" y="160094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3. Insumo Apto, Contacto y Ventas</a:t>
            </a:r>
            <a:endParaRPr lang="en-US" sz="816" dirty="0"/>
          </a:p>
        </p:txBody>
      </p:sp>
      <p:sp>
        <p:nvSpPr>
          <p:cNvPr id="17" name="Text 14"/>
          <p:cNvSpPr/>
          <p:nvPr/>
        </p:nvSpPr>
        <p:spPr>
          <a:xfrm>
            <a:off x="504812" y="35345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Registro Enviado Anteriormente</a:t>
            </a:r>
            <a:endParaRPr lang="en-US" sz="576" dirty="0"/>
          </a:p>
        </p:txBody>
      </p:sp>
      <p:sp>
        <p:nvSpPr>
          <p:cNvPr id="18" name="Text 15"/>
          <p:cNvSpPr/>
          <p:nvPr/>
        </p:nvSpPr>
        <p:spPr>
          <a:xfrm>
            <a:off x="495288" y="302969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2. Motivos de Descarte por Mes</a:t>
            </a:r>
            <a:endParaRPr lang="en-US" sz="816" dirty="0"/>
          </a:p>
        </p:txBody>
      </p:sp>
      <p:sp>
        <p:nvSpPr>
          <p:cNvPr id="19" name="Text 16"/>
          <p:cNvSpPr/>
          <p:nvPr/>
        </p:nvSpPr>
        <p:spPr>
          <a:xfrm>
            <a:off x="6267293" y="36678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interesado por el producto</a:t>
            </a:r>
            <a:endParaRPr lang="en-US" sz="552" dirty="0"/>
          </a:p>
        </p:txBody>
      </p:sp>
      <p:sp>
        <p:nvSpPr>
          <p:cNvPr id="20" name="Text 17"/>
          <p:cNvSpPr/>
          <p:nvPr/>
        </p:nvSpPr>
        <p:spPr>
          <a:xfrm>
            <a:off x="6267293" y="40679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Agendado / llamada posterior</a:t>
            </a:r>
            <a:endParaRPr lang="en-US" sz="552" dirty="0"/>
          </a:p>
        </p:txBody>
      </p:sp>
      <p:sp>
        <p:nvSpPr>
          <p:cNvPr id="21" name="Text 18"/>
          <p:cNvSpPr/>
          <p:nvPr/>
        </p:nvSpPr>
        <p:spPr>
          <a:xfrm>
            <a:off x="9287536" y="209550"/>
            <a:ext cx="2402654" cy="215836"/>
          </a:xfrm>
          <a:prstGeom prst="rect">
            <a:avLst/>
          </a:prstGeom>
          <a:noFill/>
          <a:ln/>
        </p:spPr>
        <p:txBody>
          <a:bodyPr wrap="square" lIns="38100" tIns="114300" rIns="114300" bIns="38100" rtlCol="0" anchor="t"/>
          <a:lstStyle/>
          <a:p>
            <a:pPr marL="0" indent="0" algn="l">
              <a:buNone/>
            </a:pPr>
            <a:r>
              <a:rPr lang="en-US" sz="840" b="1" dirty="0">
                <a:solidFill>
                  <a:srgbClr val="5AE280"/>
                </a:solidFill>
                <a:latin typeface="Raleway" pitchFamily="34" charset="0"/>
                <a:ea typeface="Raleway" pitchFamily="34" charset="-122"/>
                <a:cs typeface="Raleway" pitchFamily="34" charset="-120"/>
              </a:rPr>
              <a:t>Cap. 2 · Detalle Microseguro</a:t>
            </a:r>
            <a:endParaRPr lang="en-US" sz="840" dirty="0"/>
          </a:p>
        </p:txBody>
      </p:sp>
      <p:sp>
        <p:nvSpPr>
          <p:cNvPr id="22" name="Text 19"/>
          <p:cNvSpPr/>
          <p:nvPr/>
        </p:nvSpPr>
        <p:spPr>
          <a:xfrm>
            <a:off x="6267293" y="42012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es responsable del pago</a:t>
            </a:r>
            <a:endParaRPr lang="en-US" sz="552" dirty="0"/>
          </a:p>
        </p:txBody>
      </p:sp>
      <p:sp>
        <p:nvSpPr>
          <p:cNvPr id="23" name="Text 20"/>
          <p:cNvSpPr/>
          <p:nvPr/>
        </p:nvSpPr>
        <p:spPr>
          <a:xfrm>
            <a:off x="533387" y="828675"/>
            <a:ext cx="3584053"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CONTACTABILIDAD PROMEDIO</a:t>
            </a:r>
            <a:endParaRPr lang="en-US" sz="672" dirty="0"/>
          </a:p>
        </p:txBody>
      </p:sp>
      <p:sp>
        <p:nvSpPr>
          <p:cNvPr id="24" name="Text 21"/>
          <p:cNvSpPr/>
          <p:nvPr/>
        </p:nvSpPr>
        <p:spPr>
          <a:xfrm>
            <a:off x="6267293" y="46013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Contestador automático</a:t>
            </a:r>
            <a:endParaRPr lang="en-US" sz="552" dirty="0"/>
          </a:p>
        </p:txBody>
      </p:sp>
      <p:sp>
        <p:nvSpPr>
          <p:cNvPr id="25" name="Text 22"/>
          <p:cNvSpPr/>
          <p:nvPr/>
        </p:nvSpPr>
        <p:spPr>
          <a:xfrm>
            <a:off x="504812" y="366789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Otros motivos menores</a:t>
            </a:r>
            <a:endParaRPr lang="en-US" sz="576" dirty="0"/>
          </a:p>
        </p:txBody>
      </p:sp>
      <p:sp>
        <p:nvSpPr>
          <p:cNvPr id="26" name="Text 23"/>
          <p:cNvSpPr/>
          <p:nvPr/>
        </p:nvSpPr>
        <p:spPr>
          <a:xfrm>
            <a:off x="6267293" y="43346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Otros motivos menores</a:t>
            </a:r>
            <a:endParaRPr lang="en-US" sz="552" dirty="0"/>
          </a:p>
        </p:txBody>
      </p:sp>
      <p:sp>
        <p:nvSpPr>
          <p:cNvPr id="27" name="Text 24"/>
          <p:cNvSpPr/>
          <p:nvPr/>
        </p:nvSpPr>
        <p:spPr>
          <a:xfrm>
            <a:off x="4374991" y="828675"/>
            <a:ext cx="3584053"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CONVERSIÓN PROMEDIO</a:t>
            </a:r>
            <a:endParaRPr lang="en-US" sz="672" dirty="0"/>
          </a:p>
        </p:txBody>
      </p:sp>
      <p:sp>
        <p:nvSpPr>
          <p:cNvPr id="28" name="Text 25"/>
          <p:cNvSpPr/>
          <p:nvPr/>
        </p:nvSpPr>
        <p:spPr>
          <a:xfrm>
            <a:off x="8216595" y="828675"/>
            <a:ext cx="3584207"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VENTAS CONSOLIDADAS</a:t>
            </a:r>
            <a:endParaRPr lang="en-US" sz="672" dirty="0"/>
          </a:p>
        </p:txBody>
      </p:sp>
      <p:sp>
        <p:nvSpPr>
          <p:cNvPr id="29" name="Text 26"/>
          <p:cNvSpPr/>
          <p:nvPr/>
        </p:nvSpPr>
        <p:spPr>
          <a:xfrm>
            <a:off x="6267293" y="3405955"/>
            <a:ext cx="1879325" cy="128588"/>
          </a:xfrm>
          <a:prstGeom prst="rect">
            <a:avLst/>
          </a:prstGeom>
          <a:noFill/>
          <a:ln/>
        </p:spPr>
        <p:txBody>
          <a:bodyPr wrap="square" lIns="19050" tIns="38100" rIns="38100" bIns="19050" rtlCol="0" anchor="ctr"/>
          <a:lstStyle/>
          <a:p>
            <a:pPr marL="0" indent="0" algn="l">
              <a:buNone/>
            </a:pPr>
            <a:r>
              <a:rPr lang="en-US" sz="552" dirty="0">
                <a:solidFill>
                  <a:srgbClr val="120180"/>
                </a:solidFill>
                <a:latin typeface="Raleway" pitchFamily="34" charset="0"/>
                <a:ea typeface="Raleway" pitchFamily="34" charset="-122"/>
                <a:cs typeface="Raleway" pitchFamily="34" charset="-120"/>
              </a:rPr>
              <a:t>CONTACTO EFECTIVO</a:t>
            </a:r>
            <a:endParaRPr lang="en-US" sz="552" dirty="0"/>
          </a:p>
        </p:txBody>
      </p:sp>
      <p:sp>
        <p:nvSpPr>
          <p:cNvPr id="30" name="Text 27"/>
          <p:cNvSpPr/>
          <p:nvPr/>
        </p:nvSpPr>
        <p:spPr>
          <a:xfrm>
            <a:off x="6267293" y="38012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Cuelga la llamada</a:t>
            </a:r>
            <a:endParaRPr lang="en-US" sz="552" dirty="0"/>
          </a:p>
        </p:txBody>
      </p:sp>
      <p:sp>
        <p:nvSpPr>
          <p:cNvPr id="31" name="Text 28"/>
          <p:cNvSpPr/>
          <p:nvPr/>
        </p:nvSpPr>
        <p:spPr>
          <a:xfrm>
            <a:off x="6267293" y="5001392"/>
            <a:ext cx="1879325" cy="128588"/>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Otros no contacto</a:t>
            </a:r>
            <a:endParaRPr lang="en-US" sz="552" dirty="0"/>
          </a:p>
        </p:txBody>
      </p:sp>
      <p:sp>
        <p:nvSpPr>
          <p:cNvPr id="32" name="Text 29"/>
          <p:cNvSpPr/>
          <p:nvPr/>
        </p:nvSpPr>
        <p:spPr>
          <a:xfrm>
            <a:off x="10281832" y="1796230"/>
            <a:ext cx="145701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Conv. / Ctto.</a:t>
            </a:r>
            <a:endParaRPr lang="en-US" sz="888" dirty="0"/>
          </a:p>
        </p:txBody>
      </p:sp>
      <p:sp>
        <p:nvSpPr>
          <p:cNvPr id="33" name="Text 30"/>
          <p:cNvSpPr/>
          <p:nvPr/>
        </p:nvSpPr>
        <p:spPr>
          <a:xfrm>
            <a:off x="6267293" y="35345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Venta exitosa</a:t>
            </a:r>
            <a:endParaRPr lang="en-US" sz="552" dirty="0"/>
          </a:p>
        </p:txBody>
      </p:sp>
      <p:sp>
        <p:nvSpPr>
          <p:cNvPr id="34" name="Text 31"/>
          <p:cNvSpPr/>
          <p:nvPr/>
        </p:nvSpPr>
        <p:spPr>
          <a:xfrm>
            <a:off x="6267293" y="3234505"/>
            <a:ext cx="1879325"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Tipificación</a:t>
            </a:r>
            <a:endParaRPr lang="en-US" sz="888" dirty="0"/>
          </a:p>
        </p:txBody>
      </p:sp>
      <p:sp>
        <p:nvSpPr>
          <p:cNvPr id="35" name="Text 32"/>
          <p:cNvSpPr/>
          <p:nvPr/>
        </p:nvSpPr>
        <p:spPr>
          <a:xfrm>
            <a:off x="6267293" y="4467992"/>
            <a:ext cx="1879325" cy="133350"/>
          </a:xfrm>
          <a:prstGeom prst="rect">
            <a:avLst/>
          </a:prstGeom>
          <a:noFill/>
          <a:ln/>
        </p:spPr>
        <p:txBody>
          <a:bodyPr wrap="square" lIns="19050" tIns="38100" rIns="38100" bIns="19050" rtlCol="0" anchor="ctr"/>
          <a:lstStyle/>
          <a:p>
            <a:pPr marL="0" indent="0" algn="l">
              <a:buNone/>
            </a:pPr>
            <a:r>
              <a:rPr lang="en-US" sz="552" dirty="0">
                <a:solidFill>
                  <a:srgbClr val="120180"/>
                </a:solidFill>
                <a:latin typeface="Raleway" pitchFamily="34" charset="0"/>
                <a:ea typeface="Raleway" pitchFamily="34" charset="-122"/>
                <a:cs typeface="Raleway" pitchFamily="34" charset="-120"/>
              </a:rPr>
              <a:t>NO CONTACTO</a:t>
            </a:r>
            <a:endParaRPr lang="en-US" sz="552" dirty="0"/>
          </a:p>
        </p:txBody>
      </p:sp>
      <p:sp>
        <p:nvSpPr>
          <p:cNvPr id="36" name="Text 33"/>
          <p:cNvSpPr/>
          <p:nvPr/>
        </p:nvSpPr>
        <p:spPr>
          <a:xfrm>
            <a:off x="6267293" y="47346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contesta</a:t>
            </a:r>
            <a:endParaRPr lang="en-US" sz="552" dirty="0"/>
          </a:p>
        </p:txBody>
      </p:sp>
      <p:sp>
        <p:nvSpPr>
          <p:cNvPr id="37" name="Text 34"/>
          <p:cNvSpPr/>
          <p:nvPr/>
        </p:nvSpPr>
        <p:spPr>
          <a:xfrm>
            <a:off x="2996877" y="1796230"/>
            <a:ext cx="1568454"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38" name="Text 35"/>
          <p:cNvSpPr/>
          <p:nvPr/>
        </p:nvSpPr>
        <p:spPr>
          <a:xfrm>
            <a:off x="8324195"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39" name="Text 36"/>
          <p:cNvSpPr/>
          <p:nvPr/>
        </p:nvSpPr>
        <p:spPr>
          <a:xfrm>
            <a:off x="1468596" y="1796230"/>
            <a:ext cx="145640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40" name="Text 37"/>
          <p:cNvSpPr/>
          <p:nvPr/>
        </p:nvSpPr>
        <p:spPr>
          <a:xfrm>
            <a:off x="4395823" y="1796230"/>
            <a:ext cx="1456707"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41" name="Text 38"/>
          <p:cNvSpPr/>
          <p:nvPr/>
        </p:nvSpPr>
        <p:spPr>
          <a:xfrm>
            <a:off x="552438" y="21057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2" name="Text 39"/>
          <p:cNvSpPr/>
          <p:nvPr/>
        </p:nvSpPr>
        <p:spPr>
          <a:xfrm>
            <a:off x="6257769" y="21057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3" name="Text 40"/>
          <p:cNvSpPr/>
          <p:nvPr/>
        </p:nvSpPr>
        <p:spPr>
          <a:xfrm>
            <a:off x="504812" y="3234505"/>
            <a:ext cx="1879325"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Motivo</a:t>
            </a:r>
            <a:endParaRPr lang="en-US" sz="888" dirty="0"/>
          </a:p>
        </p:txBody>
      </p:sp>
      <p:sp>
        <p:nvSpPr>
          <p:cNvPr id="44" name="Text 41"/>
          <p:cNvSpPr/>
          <p:nvPr/>
        </p:nvSpPr>
        <p:spPr>
          <a:xfrm>
            <a:off x="9303014"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45" name="Text 42"/>
          <p:cNvSpPr/>
          <p:nvPr/>
        </p:nvSpPr>
        <p:spPr>
          <a:xfrm>
            <a:off x="8324195" y="1967680"/>
            <a:ext cx="100818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87,9 %</a:t>
            </a:r>
            <a:endParaRPr lang="en-US" sz="636" dirty="0"/>
          </a:p>
        </p:txBody>
      </p:sp>
      <p:sp>
        <p:nvSpPr>
          <p:cNvPr id="46" name="Text 43"/>
          <p:cNvSpPr/>
          <p:nvPr/>
        </p:nvSpPr>
        <p:spPr>
          <a:xfrm>
            <a:off x="10281832" y="1967680"/>
            <a:ext cx="145701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22,0 %</a:t>
            </a:r>
            <a:endParaRPr lang="en-US" sz="636" dirty="0"/>
          </a:p>
        </p:txBody>
      </p:sp>
      <p:sp>
        <p:nvSpPr>
          <p:cNvPr id="47" name="Text 44"/>
          <p:cNvSpPr/>
          <p:nvPr/>
        </p:nvSpPr>
        <p:spPr>
          <a:xfrm>
            <a:off x="8324195" y="210579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85,2 %</a:t>
            </a:r>
            <a:endParaRPr lang="en-US" sz="636" dirty="0"/>
          </a:p>
        </p:txBody>
      </p:sp>
      <p:sp>
        <p:nvSpPr>
          <p:cNvPr id="48" name="Text 45"/>
          <p:cNvSpPr/>
          <p:nvPr/>
        </p:nvSpPr>
        <p:spPr>
          <a:xfrm>
            <a:off x="10281832" y="2105792"/>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19,0 %</a:t>
            </a:r>
            <a:endParaRPr lang="en-US" sz="636" dirty="0"/>
          </a:p>
        </p:txBody>
      </p:sp>
      <p:sp>
        <p:nvSpPr>
          <p:cNvPr id="49" name="Text 46"/>
          <p:cNvSpPr/>
          <p:nvPr/>
        </p:nvSpPr>
        <p:spPr>
          <a:xfrm>
            <a:off x="8324195" y="2248667"/>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78,9 %</a:t>
            </a:r>
            <a:endParaRPr lang="en-US" sz="636" dirty="0"/>
          </a:p>
        </p:txBody>
      </p:sp>
      <p:sp>
        <p:nvSpPr>
          <p:cNvPr id="50" name="Text 47"/>
          <p:cNvSpPr/>
          <p:nvPr/>
        </p:nvSpPr>
        <p:spPr>
          <a:xfrm>
            <a:off x="10281832" y="2248667"/>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17,5 %</a:t>
            </a:r>
            <a:endParaRPr lang="en-US" sz="636" dirty="0"/>
          </a:p>
        </p:txBody>
      </p:sp>
      <p:sp>
        <p:nvSpPr>
          <p:cNvPr id="51" name="Text 48"/>
          <p:cNvSpPr/>
          <p:nvPr/>
        </p:nvSpPr>
        <p:spPr>
          <a:xfrm>
            <a:off x="8324195" y="239154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50,0 %</a:t>
            </a:r>
            <a:endParaRPr lang="en-US" sz="636" dirty="0"/>
          </a:p>
        </p:txBody>
      </p:sp>
      <p:sp>
        <p:nvSpPr>
          <p:cNvPr id="52" name="Text 49"/>
          <p:cNvSpPr/>
          <p:nvPr/>
        </p:nvSpPr>
        <p:spPr>
          <a:xfrm>
            <a:off x="10281832" y="2391542"/>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15,6 %</a:t>
            </a:r>
            <a:endParaRPr lang="en-US" sz="636" dirty="0"/>
          </a:p>
        </p:txBody>
      </p:sp>
      <p:sp>
        <p:nvSpPr>
          <p:cNvPr id="53" name="Text 50"/>
          <p:cNvSpPr/>
          <p:nvPr/>
        </p:nvSpPr>
        <p:spPr>
          <a:xfrm>
            <a:off x="8324195" y="2534417"/>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86,8 %</a:t>
            </a:r>
            <a:endParaRPr lang="en-US" sz="636" dirty="0"/>
          </a:p>
        </p:txBody>
      </p:sp>
      <p:sp>
        <p:nvSpPr>
          <p:cNvPr id="54" name="Text 51"/>
          <p:cNvSpPr/>
          <p:nvPr/>
        </p:nvSpPr>
        <p:spPr>
          <a:xfrm>
            <a:off x="10281832" y="2534417"/>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17,8 %</a:t>
            </a:r>
            <a:endParaRPr lang="en-US" sz="636" dirty="0"/>
          </a:p>
        </p:txBody>
      </p:sp>
      <p:sp>
        <p:nvSpPr>
          <p:cNvPr id="55" name="Text 52"/>
          <p:cNvSpPr/>
          <p:nvPr/>
        </p:nvSpPr>
        <p:spPr>
          <a:xfrm>
            <a:off x="8324195" y="267729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86,7 %</a:t>
            </a:r>
            <a:endParaRPr lang="en-US" sz="636" dirty="0"/>
          </a:p>
        </p:txBody>
      </p:sp>
      <p:sp>
        <p:nvSpPr>
          <p:cNvPr id="56" name="Text 53"/>
          <p:cNvSpPr/>
          <p:nvPr/>
        </p:nvSpPr>
        <p:spPr>
          <a:xfrm>
            <a:off x="10281832" y="2677292"/>
            <a:ext cx="145701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14,3 %</a:t>
            </a:r>
            <a:endParaRPr lang="en-US" sz="636" dirty="0"/>
          </a:p>
        </p:txBody>
      </p:sp>
      <p:sp>
        <p:nvSpPr>
          <p:cNvPr id="57" name="Text 54"/>
          <p:cNvSpPr/>
          <p:nvPr/>
        </p:nvSpPr>
        <p:spPr>
          <a:xfrm>
            <a:off x="8324195"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78,9 %</a:t>
            </a:r>
            <a:endParaRPr lang="en-US" sz="636" dirty="0"/>
          </a:p>
        </p:txBody>
      </p:sp>
      <p:sp>
        <p:nvSpPr>
          <p:cNvPr id="58" name="Text 55"/>
          <p:cNvSpPr/>
          <p:nvPr/>
        </p:nvSpPr>
        <p:spPr>
          <a:xfrm>
            <a:off x="10281832" y="2820167"/>
            <a:ext cx="145701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17,7 %</a:t>
            </a:r>
            <a:endParaRPr lang="en-US" sz="636" dirty="0"/>
          </a:p>
        </p:txBody>
      </p:sp>
      <p:sp>
        <p:nvSpPr>
          <p:cNvPr id="59" name="Text 56"/>
          <p:cNvSpPr/>
          <p:nvPr/>
        </p:nvSpPr>
        <p:spPr>
          <a:xfrm>
            <a:off x="533387" y="971550"/>
            <a:ext cx="3584053"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78,9 %</a:t>
            </a:r>
            <a:endParaRPr lang="en-US" sz="1380" dirty="0"/>
          </a:p>
        </p:txBody>
      </p:sp>
      <p:sp>
        <p:nvSpPr>
          <p:cNvPr id="60" name="Text 57"/>
          <p:cNvSpPr/>
          <p:nvPr/>
        </p:nvSpPr>
        <p:spPr>
          <a:xfrm>
            <a:off x="4374991" y="971550"/>
            <a:ext cx="3584053"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17,7 %</a:t>
            </a:r>
            <a:endParaRPr lang="en-US" sz="1380" dirty="0"/>
          </a:p>
        </p:txBody>
      </p:sp>
      <p:sp>
        <p:nvSpPr>
          <p:cNvPr id="61" name="Text 58"/>
          <p:cNvSpPr/>
          <p:nvPr/>
        </p:nvSpPr>
        <p:spPr>
          <a:xfrm>
            <a:off x="552438" y="1967680"/>
            <a:ext cx="1120237" cy="138113"/>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62" name="Text 59"/>
          <p:cNvSpPr/>
          <p:nvPr/>
        </p:nvSpPr>
        <p:spPr>
          <a:xfrm>
            <a:off x="1468596" y="1967680"/>
            <a:ext cx="1456400"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1.368</a:t>
            </a:r>
            <a:endParaRPr lang="en-US" sz="636" dirty="0"/>
          </a:p>
        </p:txBody>
      </p:sp>
      <p:sp>
        <p:nvSpPr>
          <p:cNvPr id="63" name="Text 60"/>
          <p:cNvSpPr/>
          <p:nvPr/>
        </p:nvSpPr>
        <p:spPr>
          <a:xfrm>
            <a:off x="4395823" y="1967680"/>
            <a:ext cx="1456707"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0,4 %</a:t>
            </a:r>
            <a:endParaRPr lang="en-US" sz="636" dirty="0"/>
          </a:p>
        </p:txBody>
      </p:sp>
      <p:sp>
        <p:nvSpPr>
          <p:cNvPr id="64" name="Text 61"/>
          <p:cNvSpPr/>
          <p:nvPr/>
        </p:nvSpPr>
        <p:spPr>
          <a:xfrm>
            <a:off x="1468596" y="2105792"/>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1.575</a:t>
            </a:r>
            <a:endParaRPr lang="en-US" sz="636" dirty="0"/>
          </a:p>
        </p:txBody>
      </p:sp>
      <p:sp>
        <p:nvSpPr>
          <p:cNvPr id="65" name="Text 62"/>
          <p:cNvSpPr/>
          <p:nvPr/>
        </p:nvSpPr>
        <p:spPr>
          <a:xfrm>
            <a:off x="4395823" y="2105792"/>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0,3 %</a:t>
            </a:r>
            <a:endParaRPr lang="en-US" sz="636" dirty="0"/>
          </a:p>
        </p:txBody>
      </p:sp>
      <p:sp>
        <p:nvSpPr>
          <p:cNvPr id="66" name="Text 63"/>
          <p:cNvSpPr/>
          <p:nvPr/>
        </p:nvSpPr>
        <p:spPr>
          <a:xfrm>
            <a:off x="552438" y="224866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67" name="Text 64"/>
          <p:cNvSpPr/>
          <p:nvPr/>
        </p:nvSpPr>
        <p:spPr>
          <a:xfrm>
            <a:off x="1468596" y="2248667"/>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1.147</a:t>
            </a:r>
            <a:endParaRPr lang="en-US" sz="636" dirty="0"/>
          </a:p>
        </p:txBody>
      </p:sp>
      <p:sp>
        <p:nvSpPr>
          <p:cNvPr id="68" name="Text 65"/>
          <p:cNvSpPr/>
          <p:nvPr/>
        </p:nvSpPr>
        <p:spPr>
          <a:xfrm>
            <a:off x="4395823" y="2248667"/>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0,3 %</a:t>
            </a:r>
            <a:endParaRPr lang="en-US" sz="636" dirty="0"/>
          </a:p>
        </p:txBody>
      </p:sp>
      <p:sp>
        <p:nvSpPr>
          <p:cNvPr id="69" name="Text 66"/>
          <p:cNvSpPr/>
          <p:nvPr/>
        </p:nvSpPr>
        <p:spPr>
          <a:xfrm>
            <a:off x="552438" y="239154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70" name="Text 67"/>
          <p:cNvSpPr/>
          <p:nvPr/>
        </p:nvSpPr>
        <p:spPr>
          <a:xfrm>
            <a:off x="1468596" y="2391542"/>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1.737</a:t>
            </a:r>
            <a:endParaRPr lang="en-US" sz="636" dirty="0"/>
          </a:p>
        </p:txBody>
      </p:sp>
      <p:sp>
        <p:nvSpPr>
          <p:cNvPr id="71" name="Text 68"/>
          <p:cNvSpPr/>
          <p:nvPr/>
        </p:nvSpPr>
        <p:spPr>
          <a:xfrm>
            <a:off x="4395823" y="2391542"/>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0,1 %</a:t>
            </a:r>
            <a:endParaRPr lang="en-US" sz="636" dirty="0"/>
          </a:p>
        </p:txBody>
      </p:sp>
      <p:sp>
        <p:nvSpPr>
          <p:cNvPr id="72" name="Text 69"/>
          <p:cNvSpPr/>
          <p:nvPr/>
        </p:nvSpPr>
        <p:spPr>
          <a:xfrm>
            <a:off x="1468596" y="2534417"/>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1.865</a:t>
            </a:r>
            <a:endParaRPr lang="en-US" sz="636" dirty="0"/>
          </a:p>
        </p:txBody>
      </p:sp>
      <p:sp>
        <p:nvSpPr>
          <p:cNvPr id="73" name="Text 70"/>
          <p:cNvSpPr/>
          <p:nvPr/>
        </p:nvSpPr>
        <p:spPr>
          <a:xfrm>
            <a:off x="4395823" y="2534417"/>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0,2 %</a:t>
            </a:r>
            <a:endParaRPr lang="en-US" sz="636" dirty="0"/>
          </a:p>
        </p:txBody>
      </p:sp>
      <p:sp>
        <p:nvSpPr>
          <p:cNvPr id="74" name="Text 71"/>
          <p:cNvSpPr/>
          <p:nvPr/>
        </p:nvSpPr>
        <p:spPr>
          <a:xfrm>
            <a:off x="552438" y="26772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75" name="Text 72"/>
          <p:cNvSpPr/>
          <p:nvPr/>
        </p:nvSpPr>
        <p:spPr>
          <a:xfrm>
            <a:off x="1468596" y="2677292"/>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1.705</a:t>
            </a:r>
            <a:endParaRPr lang="en-US" sz="636" dirty="0"/>
          </a:p>
        </p:txBody>
      </p:sp>
      <p:sp>
        <p:nvSpPr>
          <p:cNvPr id="76" name="Text 73"/>
          <p:cNvSpPr/>
          <p:nvPr/>
        </p:nvSpPr>
        <p:spPr>
          <a:xfrm>
            <a:off x="4395823" y="2677292"/>
            <a:ext cx="1456707"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0,1 %</a:t>
            </a:r>
            <a:endParaRPr lang="en-US" sz="636" dirty="0"/>
          </a:p>
        </p:txBody>
      </p:sp>
      <p:sp>
        <p:nvSpPr>
          <p:cNvPr id="77" name="Text 74"/>
          <p:cNvSpPr/>
          <p:nvPr/>
        </p:nvSpPr>
        <p:spPr>
          <a:xfrm>
            <a:off x="552438" y="2820167"/>
            <a:ext cx="1120237" cy="138113"/>
          </a:xfrm>
          <a:prstGeom prst="rect">
            <a:avLst/>
          </a:prstGeom>
          <a:noFill/>
          <a:ln/>
        </p:spPr>
        <p:txBody>
          <a:bodyPr wrap="square" lIns="19050" tIns="38100" rIns="38100" bIns="19050" rtlCol="0" anchor="ctr"/>
          <a:lstStyle/>
          <a:p>
            <a:pPr marL="0" indent="0" algn="l">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78" name="Text 75"/>
          <p:cNvSpPr/>
          <p:nvPr/>
        </p:nvSpPr>
        <p:spPr>
          <a:xfrm>
            <a:off x="1468596" y="2820167"/>
            <a:ext cx="1456400"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9.397</a:t>
            </a:r>
            <a:endParaRPr lang="en-US" sz="636" dirty="0"/>
          </a:p>
        </p:txBody>
      </p:sp>
      <p:sp>
        <p:nvSpPr>
          <p:cNvPr id="79" name="Text 76"/>
          <p:cNvSpPr/>
          <p:nvPr/>
        </p:nvSpPr>
        <p:spPr>
          <a:xfrm>
            <a:off x="4395823" y="2820167"/>
            <a:ext cx="1456707"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0,2 %</a:t>
            </a:r>
            <a:endParaRPr lang="en-US" sz="636" dirty="0"/>
          </a:p>
        </p:txBody>
      </p:sp>
      <p:sp>
        <p:nvSpPr>
          <p:cNvPr id="80" name="Text 77"/>
          <p:cNvSpPr/>
          <p:nvPr/>
        </p:nvSpPr>
        <p:spPr>
          <a:xfrm>
            <a:off x="5168968" y="3224980"/>
            <a:ext cx="71923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81" name="Text 78"/>
          <p:cNvSpPr/>
          <p:nvPr/>
        </p:nvSpPr>
        <p:spPr>
          <a:xfrm>
            <a:off x="504812" y="3801242"/>
            <a:ext cx="1879325" cy="128588"/>
          </a:xfrm>
          <a:prstGeom prst="rect">
            <a:avLst/>
          </a:prstGeom>
          <a:noFill/>
          <a:ln/>
        </p:spPr>
        <p:txBody>
          <a:bodyPr wrap="square" lIns="19050" tIns="38100" rIns="38100" bIns="19050" rtlCol="0" anchor="ctr"/>
          <a:lstStyle/>
          <a:p>
            <a:pPr marL="0" indent="0" algn="l">
              <a:buNone/>
            </a:pPr>
            <a:r>
              <a:rPr lang="en-US" sz="576" b="1" dirty="0">
                <a:solidFill>
                  <a:srgbClr val="120180"/>
                </a:solidFill>
                <a:latin typeface="Raleway" pitchFamily="34" charset="0"/>
                <a:ea typeface="Raleway" pitchFamily="34" charset="-122"/>
                <a:cs typeface="Raleway" pitchFamily="34" charset="-120"/>
              </a:rPr>
              <a:t>Total</a:t>
            </a:r>
            <a:endParaRPr lang="en-US" sz="576" dirty="0"/>
          </a:p>
        </p:txBody>
      </p:sp>
      <p:sp>
        <p:nvSpPr>
          <p:cNvPr id="82" name="Text 79"/>
          <p:cNvSpPr/>
          <p:nvPr/>
        </p:nvSpPr>
        <p:spPr>
          <a:xfrm>
            <a:off x="7345377"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83" name="Text 80"/>
          <p:cNvSpPr/>
          <p:nvPr/>
        </p:nvSpPr>
        <p:spPr>
          <a:xfrm>
            <a:off x="6257769" y="1967680"/>
            <a:ext cx="1120237" cy="138113"/>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84" name="Text 81"/>
          <p:cNvSpPr/>
          <p:nvPr/>
        </p:nvSpPr>
        <p:spPr>
          <a:xfrm>
            <a:off x="7345377" y="1967680"/>
            <a:ext cx="100818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1.363</a:t>
            </a:r>
            <a:endParaRPr lang="en-US" sz="636" dirty="0"/>
          </a:p>
        </p:txBody>
      </p:sp>
      <p:sp>
        <p:nvSpPr>
          <p:cNvPr id="85" name="Text 82"/>
          <p:cNvSpPr/>
          <p:nvPr/>
        </p:nvSpPr>
        <p:spPr>
          <a:xfrm>
            <a:off x="7345377" y="210579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1.571</a:t>
            </a:r>
            <a:endParaRPr lang="en-US" sz="636" dirty="0"/>
          </a:p>
        </p:txBody>
      </p:sp>
      <p:sp>
        <p:nvSpPr>
          <p:cNvPr id="86" name="Text 83"/>
          <p:cNvSpPr/>
          <p:nvPr/>
        </p:nvSpPr>
        <p:spPr>
          <a:xfrm>
            <a:off x="6257769" y="224866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87" name="Text 84"/>
          <p:cNvSpPr/>
          <p:nvPr/>
        </p:nvSpPr>
        <p:spPr>
          <a:xfrm>
            <a:off x="7345377" y="2248667"/>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1.143</a:t>
            </a:r>
            <a:endParaRPr lang="en-US" sz="636" dirty="0"/>
          </a:p>
        </p:txBody>
      </p:sp>
      <p:sp>
        <p:nvSpPr>
          <p:cNvPr id="88" name="Text 85"/>
          <p:cNvSpPr/>
          <p:nvPr/>
        </p:nvSpPr>
        <p:spPr>
          <a:xfrm>
            <a:off x="6257769" y="239154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89" name="Text 86"/>
          <p:cNvSpPr/>
          <p:nvPr/>
        </p:nvSpPr>
        <p:spPr>
          <a:xfrm>
            <a:off x="7345377" y="239154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1.735</a:t>
            </a:r>
            <a:endParaRPr lang="en-US" sz="636" dirty="0"/>
          </a:p>
        </p:txBody>
      </p:sp>
      <p:sp>
        <p:nvSpPr>
          <p:cNvPr id="90" name="Text 87"/>
          <p:cNvSpPr/>
          <p:nvPr/>
        </p:nvSpPr>
        <p:spPr>
          <a:xfrm>
            <a:off x="7345377" y="2534417"/>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1.862</a:t>
            </a:r>
            <a:endParaRPr lang="en-US" sz="636" dirty="0"/>
          </a:p>
        </p:txBody>
      </p:sp>
      <p:sp>
        <p:nvSpPr>
          <p:cNvPr id="91" name="Text 88"/>
          <p:cNvSpPr/>
          <p:nvPr/>
        </p:nvSpPr>
        <p:spPr>
          <a:xfrm>
            <a:off x="6257769" y="26772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92" name="Text 89"/>
          <p:cNvSpPr/>
          <p:nvPr/>
        </p:nvSpPr>
        <p:spPr>
          <a:xfrm>
            <a:off x="7345377" y="2677292"/>
            <a:ext cx="1008183"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1.704</a:t>
            </a:r>
            <a:endParaRPr lang="en-US" sz="636" dirty="0"/>
          </a:p>
        </p:txBody>
      </p:sp>
      <p:sp>
        <p:nvSpPr>
          <p:cNvPr id="93" name="Text 90"/>
          <p:cNvSpPr/>
          <p:nvPr/>
        </p:nvSpPr>
        <p:spPr>
          <a:xfrm>
            <a:off x="6257769" y="2820167"/>
            <a:ext cx="1120237" cy="138113"/>
          </a:xfrm>
          <a:prstGeom prst="rect">
            <a:avLst/>
          </a:prstGeom>
          <a:noFill/>
          <a:ln/>
        </p:spPr>
        <p:txBody>
          <a:bodyPr wrap="square" lIns="19050" tIns="38100" rIns="38100" bIns="19050" rtlCol="0" anchor="ctr"/>
          <a:lstStyle/>
          <a:p>
            <a:pPr marL="0" indent="0" algn="l">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94" name="Text 91"/>
          <p:cNvSpPr/>
          <p:nvPr/>
        </p:nvSpPr>
        <p:spPr>
          <a:xfrm>
            <a:off x="7345377"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9.378</a:t>
            </a:r>
            <a:endParaRPr lang="en-US" sz="636" dirty="0"/>
          </a:p>
        </p:txBody>
      </p:sp>
      <p:sp>
        <p:nvSpPr>
          <p:cNvPr id="95" name="Text 92"/>
          <p:cNvSpPr/>
          <p:nvPr/>
        </p:nvSpPr>
        <p:spPr>
          <a:xfrm>
            <a:off x="9303014"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1.309</a:t>
            </a:r>
            <a:endParaRPr lang="en-US" sz="636" dirty="0"/>
          </a:p>
        </p:txBody>
      </p:sp>
      <p:sp>
        <p:nvSpPr>
          <p:cNvPr id="96" name="Text 93"/>
          <p:cNvSpPr/>
          <p:nvPr/>
        </p:nvSpPr>
        <p:spPr>
          <a:xfrm>
            <a:off x="10988599" y="3234505"/>
            <a:ext cx="71923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97" name="Text 94"/>
          <p:cNvSpPr/>
          <p:nvPr/>
        </p:nvSpPr>
        <p:spPr>
          <a:xfrm>
            <a:off x="8091881"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1.076</a:t>
            </a:r>
            <a:endParaRPr lang="en-US" sz="552" dirty="0"/>
          </a:p>
        </p:txBody>
      </p:sp>
      <p:sp>
        <p:nvSpPr>
          <p:cNvPr id="98" name="Text 95"/>
          <p:cNvSpPr/>
          <p:nvPr/>
        </p:nvSpPr>
        <p:spPr>
          <a:xfrm>
            <a:off x="8574667"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1.240</a:t>
            </a:r>
            <a:endParaRPr lang="en-US" sz="552" dirty="0"/>
          </a:p>
        </p:txBody>
      </p:sp>
      <p:sp>
        <p:nvSpPr>
          <p:cNvPr id="99" name="Text 96"/>
          <p:cNvSpPr/>
          <p:nvPr/>
        </p:nvSpPr>
        <p:spPr>
          <a:xfrm>
            <a:off x="9540240"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1.369</a:t>
            </a:r>
            <a:endParaRPr lang="en-US" sz="552" dirty="0"/>
          </a:p>
        </p:txBody>
      </p:sp>
      <p:sp>
        <p:nvSpPr>
          <p:cNvPr id="100" name="Text 97"/>
          <p:cNvSpPr/>
          <p:nvPr/>
        </p:nvSpPr>
        <p:spPr>
          <a:xfrm>
            <a:off x="10023026"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1.468</a:t>
            </a:r>
            <a:endParaRPr lang="en-US" sz="552" dirty="0"/>
          </a:p>
        </p:txBody>
      </p:sp>
      <p:sp>
        <p:nvSpPr>
          <p:cNvPr id="101" name="Text 98"/>
          <p:cNvSpPr/>
          <p:nvPr/>
        </p:nvSpPr>
        <p:spPr>
          <a:xfrm>
            <a:off x="10505812"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1.345</a:t>
            </a:r>
            <a:endParaRPr lang="en-US" sz="552" dirty="0"/>
          </a:p>
        </p:txBody>
      </p:sp>
      <p:sp>
        <p:nvSpPr>
          <p:cNvPr id="102" name="Text 99"/>
          <p:cNvSpPr/>
          <p:nvPr/>
        </p:nvSpPr>
        <p:spPr>
          <a:xfrm>
            <a:off x="10988599" y="3405955"/>
            <a:ext cx="719233"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7.400</a:t>
            </a:r>
            <a:endParaRPr lang="en-US" sz="552" dirty="0"/>
          </a:p>
        </p:txBody>
      </p:sp>
      <p:sp>
        <p:nvSpPr>
          <p:cNvPr id="103" name="Text 100"/>
          <p:cNvSpPr/>
          <p:nvPr/>
        </p:nvSpPr>
        <p:spPr>
          <a:xfrm>
            <a:off x="10988599" y="35345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1.309</a:t>
            </a:r>
            <a:endParaRPr lang="en-US" sz="552" dirty="0"/>
          </a:p>
        </p:txBody>
      </p:sp>
      <p:sp>
        <p:nvSpPr>
          <p:cNvPr id="104" name="Text 101"/>
          <p:cNvSpPr/>
          <p:nvPr/>
        </p:nvSpPr>
        <p:spPr>
          <a:xfrm>
            <a:off x="10988599" y="36678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2.508</a:t>
            </a:r>
            <a:endParaRPr lang="en-US" sz="552" dirty="0"/>
          </a:p>
        </p:txBody>
      </p:sp>
      <p:sp>
        <p:nvSpPr>
          <p:cNvPr id="105" name="Text 102"/>
          <p:cNvSpPr/>
          <p:nvPr/>
        </p:nvSpPr>
        <p:spPr>
          <a:xfrm>
            <a:off x="10988599" y="43346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1.008</a:t>
            </a:r>
            <a:endParaRPr lang="en-US" sz="552" dirty="0"/>
          </a:p>
        </p:txBody>
      </p:sp>
      <p:sp>
        <p:nvSpPr>
          <p:cNvPr id="106" name="Text 103"/>
          <p:cNvSpPr/>
          <p:nvPr/>
        </p:nvSpPr>
        <p:spPr>
          <a:xfrm>
            <a:off x="10988599" y="4467992"/>
            <a:ext cx="719233"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1.978</a:t>
            </a:r>
            <a:endParaRPr lang="en-US" sz="552" dirty="0"/>
          </a:p>
        </p:txBody>
      </p:sp>
      <p:sp>
        <p:nvSpPr>
          <p:cNvPr id="107" name="Text 104"/>
          <p:cNvSpPr/>
          <p:nvPr/>
        </p:nvSpPr>
        <p:spPr>
          <a:xfrm>
            <a:off x="10988599" y="46013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1.244</a:t>
            </a:r>
            <a:endParaRPr lang="en-US" sz="552" dirty="0"/>
          </a:p>
        </p:txBody>
      </p:sp>
      <p:sp>
        <p:nvSpPr>
          <p:cNvPr id="108" name="Text 105"/>
          <p:cNvSpPr/>
          <p:nvPr/>
        </p:nvSpPr>
        <p:spPr>
          <a:xfrm>
            <a:off x="8216595" y="971550"/>
            <a:ext cx="3584207"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1.309</a:t>
            </a:r>
            <a:endParaRPr lang="en-US" sz="1380" dirty="0"/>
          </a:p>
        </p:txBody>
      </p:sp>
      <p:sp>
        <p:nvSpPr>
          <p:cNvPr id="109" name="Text 106"/>
          <p:cNvSpPr/>
          <p:nvPr/>
        </p:nvSpPr>
        <p:spPr>
          <a:xfrm>
            <a:off x="552438" y="253441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110" name="Text 107"/>
          <p:cNvSpPr/>
          <p:nvPr/>
        </p:nvSpPr>
        <p:spPr>
          <a:xfrm>
            <a:off x="6257769" y="253441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111" name="Text 108"/>
          <p:cNvSpPr/>
          <p:nvPr/>
        </p:nvSpPr>
        <p:spPr>
          <a:xfrm>
            <a:off x="552438" y="1796230"/>
            <a:ext cx="1120237"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12" name="Text 109"/>
          <p:cNvSpPr/>
          <p:nvPr/>
        </p:nvSpPr>
        <p:spPr>
          <a:xfrm>
            <a:off x="2329400"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113" name="Text 110"/>
          <p:cNvSpPr/>
          <p:nvPr/>
        </p:nvSpPr>
        <p:spPr>
          <a:xfrm>
            <a:off x="2812186"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114" name="Text 111"/>
          <p:cNvSpPr/>
          <p:nvPr/>
        </p:nvSpPr>
        <p:spPr>
          <a:xfrm>
            <a:off x="3294972"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115" name="Text 112"/>
          <p:cNvSpPr/>
          <p:nvPr/>
        </p:nvSpPr>
        <p:spPr>
          <a:xfrm>
            <a:off x="3777759"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116" name="Text 113"/>
          <p:cNvSpPr/>
          <p:nvPr/>
        </p:nvSpPr>
        <p:spPr>
          <a:xfrm>
            <a:off x="4260545"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117" name="Text 114"/>
          <p:cNvSpPr/>
          <p:nvPr/>
        </p:nvSpPr>
        <p:spPr>
          <a:xfrm>
            <a:off x="4743331"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118" name="Text 115"/>
          <p:cNvSpPr/>
          <p:nvPr/>
        </p:nvSpPr>
        <p:spPr>
          <a:xfrm>
            <a:off x="6257769" y="1796230"/>
            <a:ext cx="1120237"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19" name="Text 116"/>
          <p:cNvSpPr/>
          <p:nvPr/>
        </p:nvSpPr>
        <p:spPr>
          <a:xfrm>
            <a:off x="9303014" y="1967680"/>
            <a:ext cx="1008183" cy="138113"/>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264</a:t>
            </a:r>
            <a:endParaRPr lang="en-US" sz="636" dirty="0"/>
          </a:p>
        </p:txBody>
      </p:sp>
      <p:sp>
        <p:nvSpPr>
          <p:cNvPr id="120" name="Text 117"/>
          <p:cNvSpPr/>
          <p:nvPr/>
        </p:nvSpPr>
        <p:spPr>
          <a:xfrm>
            <a:off x="9303014" y="2105792"/>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254</a:t>
            </a:r>
            <a:endParaRPr lang="en-US" sz="636" dirty="0"/>
          </a:p>
        </p:txBody>
      </p:sp>
      <p:sp>
        <p:nvSpPr>
          <p:cNvPr id="121" name="Text 118"/>
          <p:cNvSpPr/>
          <p:nvPr/>
        </p:nvSpPr>
        <p:spPr>
          <a:xfrm>
            <a:off x="9303014" y="2248667"/>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158</a:t>
            </a:r>
            <a:endParaRPr lang="en-US" sz="636" dirty="0"/>
          </a:p>
        </p:txBody>
      </p:sp>
      <p:sp>
        <p:nvSpPr>
          <p:cNvPr id="122" name="Text 119"/>
          <p:cNvSpPr/>
          <p:nvPr/>
        </p:nvSpPr>
        <p:spPr>
          <a:xfrm>
            <a:off x="9303014" y="2391542"/>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135</a:t>
            </a:r>
            <a:endParaRPr lang="en-US" sz="636" dirty="0"/>
          </a:p>
        </p:txBody>
      </p:sp>
      <p:sp>
        <p:nvSpPr>
          <p:cNvPr id="123" name="Text 120"/>
          <p:cNvSpPr/>
          <p:nvPr/>
        </p:nvSpPr>
        <p:spPr>
          <a:xfrm>
            <a:off x="9303014" y="2534417"/>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287</a:t>
            </a:r>
            <a:endParaRPr lang="en-US" sz="636" dirty="0"/>
          </a:p>
        </p:txBody>
      </p:sp>
      <p:sp>
        <p:nvSpPr>
          <p:cNvPr id="124" name="Text 121"/>
          <p:cNvSpPr/>
          <p:nvPr/>
        </p:nvSpPr>
        <p:spPr>
          <a:xfrm>
            <a:off x="9303014" y="2677292"/>
            <a:ext cx="1008183" cy="142875"/>
          </a:xfrm>
          <a:prstGeom prst="rect">
            <a:avLst/>
          </a:prstGeom>
          <a:noFill/>
          <a:ln/>
        </p:spPr>
        <p:txBody>
          <a:bodyPr wrap="square" lIns="19050" tIns="38100" rIns="38100" bIns="19050" rtlCol="0" anchor="ctr"/>
          <a:lstStyle/>
          <a:p>
            <a:pPr marL="0" indent="0" algn="r">
              <a:buNone/>
            </a:pPr>
            <a:r>
              <a:rPr lang="en-US" sz="636" b="1" dirty="0">
                <a:solidFill>
                  <a:srgbClr val="333333"/>
                </a:solidFill>
                <a:latin typeface="Raleway" pitchFamily="34" charset="0"/>
                <a:ea typeface="Raleway" pitchFamily="34" charset="-122"/>
                <a:cs typeface="Raleway" pitchFamily="34" charset="-120"/>
              </a:rPr>
              <a:t>211</a:t>
            </a:r>
            <a:endParaRPr lang="en-US" sz="636" dirty="0"/>
          </a:p>
        </p:txBody>
      </p:sp>
      <p:sp>
        <p:nvSpPr>
          <p:cNvPr id="125" name="Text 122"/>
          <p:cNvSpPr/>
          <p:nvPr/>
        </p:nvSpPr>
        <p:spPr>
          <a:xfrm>
            <a:off x="8091881"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126" name="Text 123"/>
          <p:cNvSpPr/>
          <p:nvPr/>
        </p:nvSpPr>
        <p:spPr>
          <a:xfrm>
            <a:off x="8574667"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127" name="Text 124"/>
          <p:cNvSpPr/>
          <p:nvPr/>
        </p:nvSpPr>
        <p:spPr>
          <a:xfrm>
            <a:off x="9057453"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128" name="Text 125"/>
          <p:cNvSpPr/>
          <p:nvPr/>
        </p:nvSpPr>
        <p:spPr>
          <a:xfrm>
            <a:off x="9540240"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129" name="Text 126"/>
          <p:cNvSpPr/>
          <p:nvPr/>
        </p:nvSpPr>
        <p:spPr>
          <a:xfrm>
            <a:off x="10023026"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130" name="Text 127"/>
          <p:cNvSpPr/>
          <p:nvPr/>
        </p:nvSpPr>
        <p:spPr>
          <a:xfrm>
            <a:off x="10505812"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131" name="Text 128"/>
          <p:cNvSpPr/>
          <p:nvPr/>
        </p:nvSpPr>
        <p:spPr>
          <a:xfrm>
            <a:off x="9057453"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902</a:t>
            </a:r>
            <a:endParaRPr lang="en-US" sz="552" dirty="0"/>
          </a:p>
        </p:txBody>
      </p:sp>
      <p:sp>
        <p:nvSpPr>
          <p:cNvPr id="132" name="Text 129"/>
          <p:cNvSpPr/>
          <p:nvPr/>
        </p:nvSpPr>
        <p:spPr>
          <a:xfrm>
            <a:off x="8091881"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190</a:t>
            </a:r>
            <a:endParaRPr lang="en-US" sz="552" dirty="0"/>
          </a:p>
        </p:txBody>
      </p:sp>
      <p:sp>
        <p:nvSpPr>
          <p:cNvPr id="133" name="Text 130"/>
          <p:cNvSpPr/>
          <p:nvPr/>
        </p:nvSpPr>
        <p:spPr>
          <a:xfrm>
            <a:off x="8574667"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219</a:t>
            </a:r>
            <a:endParaRPr lang="en-US" sz="552" dirty="0"/>
          </a:p>
        </p:txBody>
      </p:sp>
      <p:sp>
        <p:nvSpPr>
          <p:cNvPr id="134" name="Text 131"/>
          <p:cNvSpPr/>
          <p:nvPr/>
        </p:nvSpPr>
        <p:spPr>
          <a:xfrm>
            <a:off x="9057453"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160</a:t>
            </a:r>
            <a:endParaRPr lang="en-US" sz="552" dirty="0"/>
          </a:p>
        </p:txBody>
      </p:sp>
      <p:sp>
        <p:nvSpPr>
          <p:cNvPr id="135" name="Text 132"/>
          <p:cNvSpPr/>
          <p:nvPr/>
        </p:nvSpPr>
        <p:spPr>
          <a:xfrm>
            <a:off x="9540240"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242</a:t>
            </a:r>
            <a:endParaRPr lang="en-US" sz="552" dirty="0"/>
          </a:p>
        </p:txBody>
      </p:sp>
      <p:sp>
        <p:nvSpPr>
          <p:cNvPr id="136" name="Text 133"/>
          <p:cNvSpPr/>
          <p:nvPr/>
        </p:nvSpPr>
        <p:spPr>
          <a:xfrm>
            <a:off x="10023026"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260</a:t>
            </a:r>
            <a:endParaRPr lang="en-US" sz="552" dirty="0"/>
          </a:p>
        </p:txBody>
      </p:sp>
      <p:sp>
        <p:nvSpPr>
          <p:cNvPr id="137" name="Text 134"/>
          <p:cNvSpPr/>
          <p:nvPr/>
        </p:nvSpPr>
        <p:spPr>
          <a:xfrm>
            <a:off x="10505812" y="35345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238</a:t>
            </a:r>
            <a:endParaRPr lang="en-US" sz="552" dirty="0"/>
          </a:p>
        </p:txBody>
      </p:sp>
      <p:sp>
        <p:nvSpPr>
          <p:cNvPr id="138" name="Text 135"/>
          <p:cNvSpPr/>
          <p:nvPr/>
        </p:nvSpPr>
        <p:spPr>
          <a:xfrm>
            <a:off x="8091881"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365</a:t>
            </a:r>
            <a:endParaRPr lang="en-US" sz="552" dirty="0"/>
          </a:p>
        </p:txBody>
      </p:sp>
      <p:sp>
        <p:nvSpPr>
          <p:cNvPr id="139" name="Text 136"/>
          <p:cNvSpPr/>
          <p:nvPr/>
        </p:nvSpPr>
        <p:spPr>
          <a:xfrm>
            <a:off x="8574667"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420</a:t>
            </a:r>
            <a:endParaRPr lang="en-US" sz="552" dirty="0"/>
          </a:p>
        </p:txBody>
      </p:sp>
      <p:sp>
        <p:nvSpPr>
          <p:cNvPr id="140" name="Text 137"/>
          <p:cNvSpPr/>
          <p:nvPr/>
        </p:nvSpPr>
        <p:spPr>
          <a:xfrm>
            <a:off x="9057453"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306</a:t>
            </a:r>
            <a:endParaRPr lang="en-US" sz="552" dirty="0"/>
          </a:p>
        </p:txBody>
      </p:sp>
      <p:sp>
        <p:nvSpPr>
          <p:cNvPr id="141" name="Text 138"/>
          <p:cNvSpPr/>
          <p:nvPr/>
        </p:nvSpPr>
        <p:spPr>
          <a:xfrm>
            <a:off x="9540240"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464</a:t>
            </a:r>
            <a:endParaRPr lang="en-US" sz="552" dirty="0"/>
          </a:p>
        </p:txBody>
      </p:sp>
      <p:sp>
        <p:nvSpPr>
          <p:cNvPr id="142" name="Text 139"/>
          <p:cNvSpPr/>
          <p:nvPr/>
        </p:nvSpPr>
        <p:spPr>
          <a:xfrm>
            <a:off x="10023026"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497</a:t>
            </a:r>
            <a:endParaRPr lang="en-US" sz="552" dirty="0"/>
          </a:p>
        </p:txBody>
      </p:sp>
      <p:sp>
        <p:nvSpPr>
          <p:cNvPr id="143" name="Text 140"/>
          <p:cNvSpPr/>
          <p:nvPr/>
        </p:nvSpPr>
        <p:spPr>
          <a:xfrm>
            <a:off x="10505812"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456</a:t>
            </a:r>
            <a:endParaRPr lang="en-US" sz="552" dirty="0"/>
          </a:p>
        </p:txBody>
      </p:sp>
      <p:sp>
        <p:nvSpPr>
          <p:cNvPr id="144" name="Text 141"/>
          <p:cNvSpPr/>
          <p:nvPr/>
        </p:nvSpPr>
        <p:spPr>
          <a:xfrm>
            <a:off x="8091881"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136</a:t>
            </a:r>
            <a:endParaRPr lang="en-US" sz="552" dirty="0"/>
          </a:p>
        </p:txBody>
      </p:sp>
      <p:sp>
        <p:nvSpPr>
          <p:cNvPr id="145" name="Text 142"/>
          <p:cNvSpPr/>
          <p:nvPr/>
        </p:nvSpPr>
        <p:spPr>
          <a:xfrm>
            <a:off x="8574667"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157</a:t>
            </a:r>
            <a:endParaRPr lang="en-US" sz="552" dirty="0"/>
          </a:p>
        </p:txBody>
      </p:sp>
      <p:sp>
        <p:nvSpPr>
          <p:cNvPr id="146" name="Text 143"/>
          <p:cNvSpPr/>
          <p:nvPr/>
        </p:nvSpPr>
        <p:spPr>
          <a:xfrm>
            <a:off x="9057453"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114</a:t>
            </a:r>
            <a:endParaRPr lang="en-US" sz="552" dirty="0"/>
          </a:p>
        </p:txBody>
      </p:sp>
      <p:sp>
        <p:nvSpPr>
          <p:cNvPr id="147" name="Text 144"/>
          <p:cNvSpPr/>
          <p:nvPr/>
        </p:nvSpPr>
        <p:spPr>
          <a:xfrm>
            <a:off x="9540240"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174</a:t>
            </a:r>
            <a:endParaRPr lang="en-US" sz="552" dirty="0"/>
          </a:p>
        </p:txBody>
      </p:sp>
      <p:sp>
        <p:nvSpPr>
          <p:cNvPr id="148" name="Text 145"/>
          <p:cNvSpPr/>
          <p:nvPr/>
        </p:nvSpPr>
        <p:spPr>
          <a:xfrm>
            <a:off x="10023026"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187</a:t>
            </a:r>
            <a:endParaRPr lang="en-US" sz="552" dirty="0"/>
          </a:p>
        </p:txBody>
      </p:sp>
      <p:sp>
        <p:nvSpPr>
          <p:cNvPr id="149" name="Text 146"/>
          <p:cNvSpPr/>
          <p:nvPr/>
        </p:nvSpPr>
        <p:spPr>
          <a:xfrm>
            <a:off x="10505812"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171</a:t>
            </a:r>
            <a:endParaRPr lang="en-US" sz="552" dirty="0"/>
          </a:p>
        </p:txBody>
      </p:sp>
      <p:sp>
        <p:nvSpPr>
          <p:cNvPr id="150" name="Text 147"/>
          <p:cNvSpPr/>
          <p:nvPr/>
        </p:nvSpPr>
        <p:spPr>
          <a:xfrm>
            <a:off x="10988599" y="38012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939</a:t>
            </a:r>
            <a:endParaRPr lang="en-US" sz="552" dirty="0"/>
          </a:p>
        </p:txBody>
      </p:sp>
      <p:sp>
        <p:nvSpPr>
          <p:cNvPr id="151" name="Text 148"/>
          <p:cNvSpPr/>
          <p:nvPr/>
        </p:nvSpPr>
        <p:spPr>
          <a:xfrm>
            <a:off x="8091881"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108</a:t>
            </a:r>
            <a:endParaRPr lang="en-US" sz="552" dirty="0"/>
          </a:p>
        </p:txBody>
      </p:sp>
      <p:sp>
        <p:nvSpPr>
          <p:cNvPr id="152" name="Text 149"/>
          <p:cNvSpPr/>
          <p:nvPr/>
        </p:nvSpPr>
        <p:spPr>
          <a:xfrm>
            <a:off x="8574667"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125</a:t>
            </a:r>
            <a:endParaRPr lang="en-US" sz="552" dirty="0"/>
          </a:p>
        </p:txBody>
      </p:sp>
      <p:sp>
        <p:nvSpPr>
          <p:cNvPr id="153" name="Text 150"/>
          <p:cNvSpPr/>
          <p:nvPr/>
        </p:nvSpPr>
        <p:spPr>
          <a:xfrm>
            <a:off x="9540240"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138</a:t>
            </a:r>
            <a:endParaRPr lang="en-US" sz="552" dirty="0"/>
          </a:p>
        </p:txBody>
      </p:sp>
      <p:sp>
        <p:nvSpPr>
          <p:cNvPr id="154" name="Text 151"/>
          <p:cNvSpPr/>
          <p:nvPr/>
        </p:nvSpPr>
        <p:spPr>
          <a:xfrm>
            <a:off x="10023026"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148</a:t>
            </a:r>
            <a:endParaRPr lang="en-US" sz="552" dirty="0"/>
          </a:p>
        </p:txBody>
      </p:sp>
      <p:sp>
        <p:nvSpPr>
          <p:cNvPr id="155" name="Text 152"/>
          <p:cNvSpPr/>
          <p:nvPr/>
        </p:nvSpPr>
        <p:spPr>
          <a:xfrm>
            <a:off x="10505812"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136</a:t>
            </a:r>
            <a:endParaRPr lang="en-US" sz="552" dirty="0"/>
          </a:p>
        </p:txBody>
      </p:sp>
      <p:sp>
        <p:nvSpPr>
          <p:cNvPr id="156" name="Text 153"/>
          <p:cNvSpPr/>
          <p:nvPr/>
        </p:nvSpPr>
        <p:spPr>
          <a:xfrm>
            <a:off x="10988599" y="39345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746</a:t>
            </a:r>
            <a:endParaRPr lang="en-US" sz="552" dirty="0"/>
          </a:p>
        </p:txBody>
      </p:sp>
      <p:sp>
        <p:nvSpPr>
          <p:cNvPr id="157" name="Text 154"/>
          <p:cNvSpPr/>
          <p:nvPr/>
        </p:nvSpPr>
        <p:spPr>
          <a:xfrm>
            <a:off x="10023026"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100</a:t>
            </a:r>
            <a:endParaRPr lang="en-US" sz="552" dirty="0"/>
          </a:p>
        </p:txBody>
      </p:sp>
      <p:sp>
        <p:nvSpPr>
          <p:cNvPr id="158" name="Text 155"/>
          <p:cNvSpPr/>
          <p:nvPr/>
        </p:nvSpPr>
        <p:spPr>
          <a:xfrm>
            <a:off x="10988599" y="40679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505</a:t>
            </a:r>
            <a:endParaRPr lang="en-US" sz="552" dirty="0"/>
          </a:p>
        </p:txBody>
      </p:sp>
      <p:sp>
        <p:nvSpPr>
          <p:cNvPr id="159" name="Text 156"/>
          <p:cNvSpPr/>
          <p:nvPr/>
        </p:nvSpPr>
        <p:spPr>
          <a:xfrm>
            <a:off x="10988599" y="42012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386</a:t>
            </a:r>
            <a:endParaRPr lang="en-US" sz="552" dirty="0"/>
          </a:p>
        </p:txBody>
      </p:sp>
      <p:sp>
        <p:nvSpPr>
          <p:cNvPr id="160" name="Text 157"/>
          <p:cNvSpPr/>
          <p:nvPr/>
        </p:nvSpPr>
        <p:spPr>
          <a:xfrm>
            <a:off x="8091881"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147</a:t>
            </a:r>
            <a:endParaRPr lang="en-US" sz="552" dirty="0"/>
          </a:p>
        </p:txBody>
      </p:sp>
      <p:sp>
        <p:nvSpPr>
          <p:cNvPr id="161" name="Text 158"/>
          <p:cNvSpPr/>
          <p:nvPr/>
        </p:nvSpPr>
        <p:spPr>
          <a:xfrm>
            <a:off x="8574667"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169</a:t>
            </a:r>
            <a:endParaRPr lang="en-US" sz="552" dirty="0"/>
          </a:p>
        </p:txBody>
      </p:sp>
      <p:sp>
        <p:nvSpPr>
          <p:cNvPr id="162" name="Text 159"/>
          <p:cNvSpPr/>
          <p:nvPr/>
        </p:nvSpPr>
        <p:spPr>
          <a:xfrm>
            <a:off x="9057453"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123</a:t>
            </a:r>
            <a:endParaRPr lang="en-US" sz="552" dirty="0"/>
          </a:p>
        </p:txBody>
      </p:sp>
      <p:sp>
        <p:nvSpPr>
          <p:cNvPr id="163" name="Text 160"/>
          <p:cNvSpPr/>
          <p:nvPr/>
        </p:nvSpPr>
        <p:spPr>
          <a:xfrm>
            <a:off x="9540240"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186</a:t>
            </a:r>
            <a:endParaRPr lang="en-US" sz="552" dirty="0"/>
          </a:p>
        </p:txBody>
      </p:sp>
      <p:sp>
        <p:nvSpPr>
          <p:cNvPr id="164" name="Text 161"/>
          <p:cNvSpPr/>
          <p:nvPr/>
        </p:nvSpPr>
        <p:spPr>
          <a:xfrm>
            <a:off x="10023026"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200</a:t>
            </a:r>
            <a:endParaRPr lang="en-US" sz="552" dirty="0"/>
          </a:p>
        </p:txBody>
      </p:sp>
      <p:sp>
        <p:nvSpPr>
          <p:cNvPr id="165" name="Text 162"/>
          <p:cNvSpPr/>
          <p:nvPr/>
        </p:nvSpPr>
        <p:spPr>
          <a:xfrm>
            <a:off x="10505812" y="43346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183</a:t>
            </a:r>
            <a:endParaRPr lang="en-US" sz="552" dirty="0"/>
          </a:p>
        </p:txBody>
      </p:sp>
      <p:sp>
        <p:nvSpPr>
          <p:cNvPr id="166" name="Text 163"/>
          <p:cNvSpPr/>
          <p:nvPr/>
        </p:nvSpPr>
        <p:spPr>
          <a:xfrm>
            <a:off x="8091881" y="446799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287</a:t>
            </a:r>
            <a:endParaRPr lang="en-US" sz="552" dirty="0"/>
          </a:p>
        </p:txBody>
      </p:sp>
      <p:sp>
        <p:nvSpPr>
          <p:cNvPr id="167" name="Text 164"/>
          <p:cNvSpPr/>
          <p:nvPr/>
        </p:nvSpPr>
        <p:spPr>
          <a:xfrm>
            <a:off x="8574667" y="446799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331</a:t>
            </a:r>
            <a:endParaRPr lang="en-US" sz="552" dirty="0"/>
          </a:p>
        </p:txBody>
      </p:sp>
      <p:sp>
        <p:nvSpPr>
          <p:cNvPr id="168" name="Text 165"/>
          <p:cNvSpPr/>
          <p:nvPr/>
        </p:nvSpPr>
        <p:spPr>
          <a:xfrm>
            <a:off x="9057453" y="446799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241</a:t>
            </a:r>
            <a:endParaRPr lang="en-US" sz="552" dirty="0"/>
          </a:p>
        </p:txBody>
      </p:sp>
      <p:sp>
        <p:nvSpPr>
          <p:cNvPr id="169" name="Text 166"/>
          <p:cNvSpPr/>
          <p:nvPr/>
        </p:nvSpPr>
        <p:spPr>
          <a:xfrm>
            <a:off x="9540240" y="446799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366</a:t>
            </a:r>
            <a:endParaRPr lang="en-US" sz="552" dirty="0"/>
          </a:p>
        </p:txBody>
      </p:sp>
      <p:sp>
        <p:nvSpPr>
          <p:cNvPr id="170" name="Text 167"/>
          <p:cNvSpPr/>
          <p:nvPr/>
        </p:nvSpPr>
        <p:spPr>
          <a:xfrm>
            <a:off x="10023026" y="446799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394</a:t>
            </a:r>
            <a:endParaRPr lang="en-US" sz="552" dirty="0"/>
          </a:p>
        </p:txBody>
      </p:sp>
      <p:sp>
        <p:nvSpPr>
          <p:cNvPr id="171" name="Text 168"/>
          <p:cNvSpPr/>
          <p:nvPr/>
        </p:nvSpPr>
        <p:spPr>
          <a:xfrm>
            <a:off x="10505812" y="446799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359</a:t>
            </a:r>
            <a:endParaRPr lang="en-US" sz="552" dirty="0"/>
          </a:p>
        </p:txBody>
      </p:sp>
      <p:sp>
        <p:nvSpPr>
          <p:cNvPr id="172" name="Text 169"/>
          <p:cNvSpPr/>
          <p:nvPr/>
        </p:nvSpPr>
        <p:spPr>
          <a:xfrm>
            <a:off x="8091881" y="46013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181</a:t>
            </a:r>
            <a:endParaRPr lang="en-US" sz="552" dirty="0"/>
          </a:p>
        </p:txBody>
      </p:sp>
      <p:sp>
        <p:nvSpPr>
          <p:cNvPr id="173" name="Text 170"/>
          <p:cNvSpPr/>
          <p:nvPr/>
        </p:nvSpPr>
        <p:spPr>
          <a:xfrm>
            <a:off x="8574667" y="46013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208</a:t>
            </a:r>
            <a:endParaRPr lang="en-US" sz="552" dirty="0"/>
          </a:p>
        </p:txBody>
      </p:sp>
      <p:sp>
        <p:nvSpPr>
          <p:cNvPr id="174" name="Text 171"/>
          <p:cNvSpPr/>
          <p:nvPr/>
        </p:nvSpPr>
        <p:spPr>
          <a:xfrm>
            <a:off x="9057453" y="46013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152</a:t>
            </a:r>
            <a:endParaRPr lang="en-US" sz="552" dirty="0"/>
          </a:p>
        </p:txBody>
      </p:sp>
      <p:sp>
        <p:nvSpPr>
          <p:cNvPr id="175" name="Text 172"/>
          <p:cNvSpPr/>
          <p:nvPr/>
        </p:nvSpPr>
        <p:spPr>
          <a:xfrm>
            <a:off x="9540240" y="46013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230</a:t>
            </a:r>
            <a:endParaRPr lang="en-US" sz="552" dirty="0"/>
          </a:p>
        </p:txBody>
      </p:sp>
      <p:sp>
        <p:nvSpPr>
          <p:cNvPr id="176" name="Text 173"/>
          <p:cNvSpPr/>
          <p:nvPr/>
        </p:nvSpPr>
        <p:spPr>
          <a:xfrm>
            <a:off x="10023026" y="46013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247</a:t>
            </a:r>
            <a:endParaRPr lang="en-US" sz="552" dirty="0"/>
          </a:p>
        </p:txBody>
      </p:sp>
      <p:sp>
        <p:nvSpPr>
          <p:cNvPr id="177" name="Text 174"/>
          <p:cNvSpPr/>
          <p:nvPr/>
        </p:nvSpPr>
        <p:spPr>
          <a:xfrm>
            <a:off x="10505812" y="46013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226</a:t>
            </a:r>
            <a:endParaRPr lang="en-US" sz="552" dirty="0"/>
          </a:p>
        </p:txBody>
      </p:sp>
      <p:sp>
        <p:nvSpPr>
          <p:cNvPr id="178" name="Text 175"/>
          <p:cNvSpPr/>
          <p:nvPr/>
        </p:nvSpPr>
        <p:spPr>
          <a:xfrm>
            <a:off x="9540240"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103</a:t>
            </a:r>
            <a:endParaRPr lang="en-US" sz="552" dirty="0"/>
          </a:p>
        </p:txBody>
      </p:sp>
      <p:sp>
        <p:nvSpPr>
          <p:cNvPr id="179" name="Text 176"/>
          <p:cNvSpPr/>
          <p:nvPr/>
        </p:nvSpPr>
        <p:spPr>
          <a:xfrm>
            <a:off x="10023026"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109</a:t>
            </a:r>
            <a:endParaRPr lang="en-US" sz="552" dirty="0"/>
          </a:p>
        </p:txBody>
      </p:sp>
      <p:sp>
        <p:nvSpPr>
          <p:cNvPr id="180" name="Text 177"/>
          <p:cNvSpPr/>
          <p:nvPr/>
        </p:nvSpPr>
        <p:spPr>
          <a:xfrm>
            <a:off x="10505812"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101</a:t>
            </a:r>
            <a:endParaRPr lang="en-US" sz="552" dirty="0"/>
          </a:p>
        </p:txBody>
      </p:sp>
      <p:sp>
        <p:nvSpPr>
          <p:cNvPr id="181" name="Text 178"/>
          <p:cNvSpPr/>
          <p:nvPr/>
        </p:nvSpPr>
        <p:spPr>
          <a:xfrm>
            <a:off x="10988599" y="47346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555</a:t>
            </a:r>
            <a:endParaRPr lang="en-US" sz="552" dirty="0"/>
          </a:p>
        </p:txBody>
      </p:sp>
      <p:sp>
        <p:nvSpPr>
          <p:cNvPr id="182" name="Text 179"/>
          <p:cNvSpPr/>
          <p:nvPr/>
        </p:nvSpPr>
        <p:spPr>
          <a:xfrm>
            <a:off x="10988599" y="48680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161</a:t>
            </a:r>
            <a:endParaRPr lang="en-US" sz="552" dirty="0"/>
          </a:p>
        </p:txBody>
      </p:sp>
      <p:sp>
        <p:nvSpPr>
          <p:cNvPr id="183" name="Text 180"/>
          <p:cNvSpPr/>
          <p:nvPr/>
        </p:nvSpPr>
        <p:spPr>
          <a:xfrm>
            <a:off x="2924996" y="2816650"/>
            <a:ext cx="1568454"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19</a:t>
            </a:r>
            <a:endParaRPr lang="en-US" sz="636" dirty="0"/>
          </a:p>
        </p:txBody>
      </p:sp>
      <p:sp>
        <p:nvSpPr>
          <p:cNvPr id="184" name="Text 181"/>
          <p:cNvSpPr/>
          <p:nvPr/>
        </p:nvSpPr>
        <p:spPr>
          <a:xfrm>
            <a:off x="5168968" y="3396430"/>
            <a:ext cx="719233" cy="128588"/>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12</a:t>
            </a:r>
            <a:endParaRPr lang="en-US" sz="576" dirty="0"/>
          </a:p>
        </p:txBody>
      </p:sp>
      <p:sp>
        <p:nvSpPr>
          <p:cNvPr id="185" name="Text 182"/>
          <p:cNvSpPr/>
          <p:nvPr/>
        </p:nvSpPr>
        <p:spPr>
          <a:xfrm>
            <a:off x="5168968" y="3791717"/>
            <a:ext cx="719233"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19</a:t>
            </a:r>
            <a:endParaRPr lang="en-US" sz="576" dirty="0"/>
          </a:p>
        </p:txBody>
      </p:sp>
      <p:sp>
        <p:nvSpPr>
          <p:cNvPr id="186" name="Text 183"/>
          <p:cNvSpPr/>
          <p:nvPr/>
        </p:nvSpPr>
        <p:spPr>
          <a:xfrm>
            <a:off x="9057453"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91</a:t>
            </a:r>
            <a:endParaRPr lang="en-US" sz="552" dirty="0"/>
          </a:p>
        </p:txBody>
      </p:sp>
      <p:sp>
        <p:nvSpPr>
          <p:cNvPr id="187" name="Text 184"/>
          <p:cNvSpPr/>
          <p:nvPr/>
        </p:nvSpPr>
        <p:spPr>
          <a:xfrm>
            <a:off x="8091881"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73</a:t>
            </a:r>
            <a:endParaRPr lang="en-US" sz="552" dirty="0"/>
          </a:p>
        </p:txBody>
      </p:sp>
      <p:sp>
        <p:nvSpPr>
          <p:cNvPr id="188" name="Text 185"/>
          <p:cNvSpPr/>
          <p:nvPr/>
        </p:nvSpPr>
        <p:spPr>
          <a:xfrm>
            <a:off x="8574667"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85</a:t>
            </a:r>
            <a:endParaRPr lang="en-US" sz="552" dirty="0"/>
          </a:p>
        </p:txBody>
      </p:sp>
      <p:sp>
        <p:nvSpPr>
          <p:cNvPr id="189" name="Text 186"/>
          <p:cNvSpPr/>
          <p:nvPr/>
        </p:nvSpPr>
        <p:spPr>
          <a:xfrm>
            <a:off x="9057453"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62</a:t>
            </a:r>
            <a:endParaRPr lang="en-US" sz="552" dirty="0"/>
          </a:p>
        </p:txBody>
      </p:sp>
      <p:sp>
        <p:nvSpPr>
          <p:cNvPr id="190" name="Text 187"/>
          <p:cNvSpPr/>
          <p:nvPr/>
        </p:nvSpPr>
        <p:spPr>
          <a:xfrm>
            <a:off x="9540240"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93</a:t>
            </a:r>
            <a:endParaRPr lang="en-US" sz="552" dirty="0"/>
          </a:p>
        </p:txBody>
      </p:sp>
      <p:sp>
        <p:nvSpPr>
          <p:cNvPr id="191" name="Text 188"/>
          <p:cNvSpPr/>
          <p:nvPr/>
        </p:nvSpPr>
        <p:spPr>
          <a:xfrm>
            <a:off x="10505812"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92</a:t>
            </a:r>
            <a:endParaRPr lang="en-US" sz="552" dirty="0"/>
          </a:p>
        </p:txBody>
      </p:sp>
      <p:sp>
        <p:nvSpPr>
          <p:cNvPr id="192" name="Text 189"/>
          <p:cNvSpPr/>
          <p:nvPr/>
        </p:nvSpPr>
        <p:spPr>
          <a:xfrm>
            <a:off x="8091881"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56</a:t>
            </a:r>
            <a:endParaRPr lang="en-US" sz="552" dirty="0"/>
          </a:p>
        </p:txBody>
      </p:sp>
      <p:sp>
        <p:nvSpPr>
          <p:cNvPr id="193" name="Text 190"/>
          <p:cNvSpPr/>
          <p:nvPr/>
        </p:nvSpPr>
        <p:spPr>
          <a:xfrm>
            <a:off x="8574667"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65</a:t>
            </a:r>
            <a:endParaRPr lang="en-US" sz="552" dirty="0"/>
          </a:p>
        </p:txBody>
      </p:sp>
      <p:sp>
        <p:nvSpPr>
          <p:cNvPr id="194" name="Text 191"/>
          <p:cNvSpPr/>
          <p:nvPr/>
        </p:nvSpPr>
        <p:spPr>
          <a:xfrm>
            <a:off x="9057453"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47</a:t>
            </a:r>
            <a:endParaRPr lang="en-US" sz="552" dirty="0"/>
          </a:p>
        </p:txBody>
      </p:sp>
      <p:sp>
        <p:nvSpPr>
          <p:cNvPr id="195" name="Text 192"/>
          <p:cNvSpPr/>
          <p:nvPr/>
        </p:nvSpPr>
        <p:spPr>
          <a:xfrm>
            <a:off x="9540240"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71</a:t>
            </a:r>
            <a:endParaRPr lang="en-US" sz="552" dirty="0"/>
          </a:p>
        </p:txBody>
      </p:sp>
      <p:sp>
        <p:nvSpPr>
          <p:cNvPr id="196" name="Text 193"/>
          <p:cNvSpPr/>
          <p:nvPr/>
        </p:nvSpPr>
        <p:spPr>
          <a:xfrm>
            <a:off x="10023026"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77</a:t>
            </a:r>
            <a:endParaRPr lang="en-US" sz="552" dirty="0"/>
          </a:p>
        </p:txBody>
      </p:sp>
      <p:sp>
        <p:nvSpPr>
          <p:cNvPr id="197" name="Text 194"/>
          <p:cNvSpPr/>
          <p:nvPr/>
        </p:nvSpPr>
        <p:spPr>
          <a:xfrm>
            <a:off x="10505812"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70</a:t>
            </a:r>
            <a:endParaRPr lang="en-US" sz="552" dirty="0"/>
          </a:p>
        </p:txBody>
      </p:sp>
      <p:sp>
        <p:nvSpPr>
          <p:cNvPr id="198" name="Text 195"/>
          <p:cNvSpPr/>
          <p:nvPr/>
        </p:nvSpPr>
        <p:spPr>
          <a:xfrm>
            <a:off x="8091881"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81</a:t>
            </a:r>
            <a:endParaRPr lang="en-US" sz="552" dirty="0"/>
          </a:p>
        </p:txBody>
      </p:sp>
      <p:sp>
        <p:nvSpPr>
          <p:cNvPr id="199" name="Text 196"/>
          <p:cNvSpPr/>
          <p:nvPr/>
        </p:nvSpPr>
        <p:spPr>
          <a:xfrm>
            <a:off x="8574667"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93</a:t>
            </a:r>
            <a:endParaRPr lang="en-US" sz="552" dirty="0"/>
          </a:p>
        </p:txBody>
      </p:sp>
      <p:sp>
        <p:nvSpPr>
          <p:cNvPr id="200" name="Text 197"/>
          <p:cNvSpPr/>
          <p:nvPr/>
        </p:nvSpPr>
        <p:spPr>
          <a:xfrm>
            <a:off x="9057453" y="47346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68</a:t>
            </a:r>
            <a:endParaRPr lang="en-US" sz="552" dirty="0"/>
          </a:p>
        </p:txBody>
      </p:sp>
      <p:sp>
        <p:nvSpPr>
          <p:cNvPr id="201" name="Text 198"/>
          <p:cNvSpPr/>
          <p:nvPr/>
        </p:nvSpPr>
        <p:spPr>
          <a:xfrm>
            <a:off x="8091881"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23</a:t>
            </a:r>
            <a:endParaRPr lang="en-US" sz="552" dirty="0"/>
          </a:p>
        </p:txBody>
      </p:sp>
      <p:sp>
        <p:nvSpPr>
          <p:cNvPr id="202" name="Text 199"/>
          <p:cNvSpPr/>
          <p:nvPr/>
        </p:nvSpPr>
        <p:spPr>
          <a:xfrm>
            <a:off x="8574667"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27</a:t>
            </a:r>
            <a:endParaRPr lang="en-US" sz="552" dirty="0"/>
          </a:p>
        </p:txBody>
      </p:sp>
      <p:sp>
        <p:nvSpPr>
          <p:cNvPr id="203" name="Text 200"/>
          <p:cNvSpPr/>
          <p:nvPr/>
        </p:nvSpPr>
        <p:spPr>
          <a:xfrm>
            <a:off x="9057453"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20</a:t>
            </a:r>
            <a:endParaRPr lang="en-US" sz="552" dirty="0"/>
          </a:p>
        </p:txBody>
      </p:sp>
      <p:sp>
        <p:nvSpPr>
          <p:cNvPr id="204" name="Text 201"/>
          <p:cNvSpPr/>
          <p:nvPr/>
        </p:nvSpPr>
        <p:spPr>
          <a:xfrm>
            <a:off x="9540240"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30</a:t>
            </a:r>
            <a:endParaRPr lang="en-US" sz="552" dirty="0"/>
          </a:p>
        </p:txBody>
      </p:sp>
      <p:sp>
        <p:nvSpPr>
          <p:cNvPr id="205" name="Text 202"/>
          <p:cNvSpPr/>
          <p:nvPr/>
        </p:nvSpPr>
        <p:spPr>
          <a:xfrm>
            <a:off x="10023026"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32</a:t>
            </a:r>
            <a:endParaRPr lang="en-US" sz="552" dirty="0"/>
          </a:p>
        </p:txBody>
      </p:sp>
      <p:sp>
        <p:nvSpPr>
          <p:cNvPr id="206" name="Text 203"/>
          <p:cNvSpPr/>
          <p:nvPr/>
        </p:nvSpPr>
        <p:spPr>
          <a:xfrm>
            <a:off x="10505812" y="48680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29</a:t>
            </a:r>
            <a:endParaRPr lang="en-US" sz="552" dirty="0"/>
          </a:p>
        </p:txBody>
      </p:sp>
      <p:sp>
        <p:nvSpPr>
          <p:cNvPr id="207" name="Text 204"/>
          <p:cNvSpPr/>
          <p:nvPr/>
        </p:nvSpPr>
        <p:spPr>
          <a:xfrm>
            <a:off x="10988599" y="5001392"/>
            <a:ext cx="719233" cy="128588"/>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18</a:t>
            </a:r>
            <a:endParaRPr lang="en-US" sz="552" dirty="0"/>
          </a:p>
        </p:txBody>
      </p:sp>
      <p:sp>
        <p:nvSpPr>
          <p:cNvPr id="209" name="TextBox 208">
            <a:extLst>
              <a:ext uri="{FF2B5EF4-FFF2-40B4-BE49-F238E27FC236}">
                <a16:creationId xmlns:a16="http://schemas.microsoft.com/office/drawing/2014/main" id="{F64AAD4F-C1D6-C19B-BBBD-6B1BB5B82424}"/>
              </a:ext>
            </a:extLst>
          </p:cNvPr>
          <p:cNvSpPr txBox="1"/>
          <p:nvPr/>
        </p:nvSpPr>
        <p:spPr>
          <a:xfrm>
            <a:off x="721887" y="5390976"/>
            <a:ext cx="7867264" cy="550407"/>
          </a:xfrm>
          <a:prstGeom prst="rect">
            <a:avLst/>
          </a:prstGeom>
          <a:noFill/>
        </p:spPr>
        <p:txBody>
          <a:bodyPr wrap="square">
            <a:spAutoFit/>
          </a:bodyPr>
          <a:lstStyle/>
          <a:p>
            <a:pPr marL="0" marR="0" indent="0" algn="l">
              <a:buNone/>
            </a:pPr>
            <a:r>
              <a:rPr lang="es-CO" sz="744" b="1" i="0" dirty="0">
                <a:solidFill>
                  <a:srgbClr val="120180"/>
                </a:solidFill>
                <a:effectLst/>
                <a:latin typeface="Raleway" pitchFamily="2" charset="0"/>
              </a:rPr>
              <a:t>Observaciones Clave de la Base:</a:t>
            </a:r>
          </a:p>
          <a:p>
            <a:pPr marL="0" marR="0" indent="0" algn="l">
              <a:buFont typeface="Arial" panose="020B0604020202020204" pitchFamily="34" charset="0"/>
              <a:buChar char="•"/>
            </a:pPr>
            <a:r>
              <a:rPr lang="es-CO" sz="744" b="1" i="0" dirty="0">
                <a:solidFill>
                  <a:srgbClr val="120180"/>
                </a:solidFill>
                <a:effectLst/>
                <a:latin typeface="Raleway" pitchFamily="2" charset="0"/>
              </a:rPr>
              <a:t>La campaña </a:t>
            </a:r>
            <a:r>
              <a:rPr lang="es-CO" sz="744" b="1" i="0" dirty="0" err="1">
                <a:solidFill>
                  <a:srgbClr val="120180"/>
                </a:solidFill>
                <a:effectLst/>
                <a:latin typeface="Raleway" pitchFamily="2" charset="0"/>
              </a:rPr>
              <a:t>Microseguro</a:t>
            </a:r>
            <a:r>
              <a:rPr lang="es-CO" sz="744" b="1" i="0" dirty="0">
                <a:solidFill>
                  <a:srgbClr val="120180"/>
                </a:solidFill>
                <a:effectLst/>
                <a:latin typeface="Raleway" pitchFamily="2" charset="0"/>
              </a:rPr>
              <a:t> tiene un nivel de rechazo casi nulo (&lt;1 %) porque es base </a:t>
            </a:r>
            <a:r>
              <a:rPr lang="es-CO" sz="744" b="1" i="0" dirty="0" err="1">
                <a:solidFill>
                  <a:srgbClr val="120180"/>
                </a:solidFill>
                <a:effectLst/>
                <a:latin typeface="Raleway" pitchFamily="2" charset="0"/>
              </a:rPr>
              <a:t>ultra-filtrada</a:t>
            </a:r>
            <a:r>
              <a:rPr lang="es-CO" sz="744" b="1" i="0" dirty="0">
                <a:solidFill>
                  <a:srgbClr val="120180"/>
                </a:solidFill>
                <a:effectLst/>
                <a:latin typeface="Raleway" pitchFamily="2" charset="0"/>
              </a:rPr>
              <a:t>.</a:t>
            </a:r>
          </a:p>
          <a:p>
            <a:pPr marL="0" marR="0" indent="0" algn="l">
              <a:buFont typeface="Arial" panose="020B0604020202020204" pitchFamily="34" charset="0"/>
              <a:buChar char="•"/>
            </a:pPr>
            <a:r>
              <a:rPr lang="es-CO" sz="744" b="1" i="0" dirty="0">
                <a:solidFill>
                  <a:srgbClr val="120180"/>
                </a:solidFill>
                <a:effectLst/>
                <a:latin typeface="Raleway" pitchFamily="2" charset="0"/>
              </a:rPr>
              <a:t>Muestra una </a:t>
            </a:r>
            <a:r>
              <a:rPr lang="es-CO" sz="744" b="1" i="0" dirty="0" err="1">
                <a:solidFill>
                  <a:srgbClr val="120180"/>
                </a:solidFill>
                <a:effectLst/>
                <a:latin typeface="Raleway" pitchFamily="2" charset="0"/>
              </a:rPr>
              <a:t>contactabilidad</a:t>
            </a:r>
            <a:r>
              <a:rPr lang="es-CO" sz="744" b="1" i="0" dirty="0">
                <a:solidFill>
                  <a:srgbClr val="120180"/>
                </a:solidFill>
                <a:effectLst/>
                <a:latin typeface="Raleway" pitchFamily="2" charset="0"/>
              </a:rPr>
              <a:t> excelente (78,91 %) y una conversión sobre contacto muy alta (17,69 % promedio, llegando a 22,04 % en enero).</a:t>
            </a:r>
          </a:p>
          <a:p>
            <a:pPr marL="0" marR="0" indent="0" algn="l">
              <a:buFont typeface="Arial" panose="020B0604020202020204" pitchFamily="34" charset="0"/>
              <a:buChar char="•"/>
            </a:pPr>
            <a:r>
              <a:rPr lang="es-CO" sz="744" b="1" i="0" dirty="0">
                <a:solidFill>
                  <a:srgbClr val="120180"/>
                </a:solidFill>
                <a:effectLst/>
                <a:latin typeface="Raleway" pitchFamily="2" charset="0"/>
              </a:rPr>
              <a:t>Venta Exitosa es el 14,0 % de la gestión total de Leads, consolidándose como un canal de gran eficiencia a menor escala.</a:t>
            </a:r>
          </a:p>
        </p:txBody>
      </p:sp>
      <p:sp>
        <p:nvSpPr>
          <p:cNvPr id="211" name="Text 59">
            <a:extLst>
              <a:ext uri="{FF2B5EF4-FFF2-40B4-BE49-F238E27FC236}">
                <a16:creationId xmlns:a16="http://schemas.microsoft.com/office/drawing/2014/main" id="{E010C1D4-BED1-0206-95B2-EAEFE0A5E10D}"/>
              </a:ext>
            </a:extLst>
          </p:cNvPr>
          <p:cNvSpPr/>
          <p:nvPr/>
        </p:nvSpPr>
        <p:spPr>
          <a:xfrm>
            <a:off x="3052904" y="1959963"/>
            <a:ext cx="1456400"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rPr>
              <a:t>5</a:t>
            </a:r>
            <a:endParaRPr lang="en-US" sz="636" dirty="0"/>
          </a:p>
        </p:txBody>
      </p:sp>
      <p:sp>
        <p:nvSpPr>
          <p:cNvPr id="213" name="Text 59">
            <a:extLst>
              <a:ext uri="{FF2B5EF4-FFF2-40B4-BE49-F238E27FC236}">
                <a16:creationId xmlns:a16="http://schemas.microsoft.com/office/drawing/2014/main" id="{D8138BA5-07BE-EBF1-87B4-BA46C720C40A}"/>
              </a:ext>
            </a:extLst>
          </p:cNvPr>
          <p:cNvSpPr/>
          <p:nvPr/>
        </p:nvSpPr>
        <p:spPr>
          <a:xfrm>
            <a:off x="3052904" y="2113130"/>
            <a:ext cx="1456400"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a:t>
            </a:r>
            <a:endParaRPr lang="en-US" sz="636" dirty="0"/>
          </a:p>
        </p:txBody>
      </p:sp>
      <p:sp>
        <p:nvSpPr>
          <p:cNvPr id="215" name="Text 59">
            <a:extLst>
              <a:ext uri="{FF2B5EF4-FFF2-40B4-BE49-F238E27FC236}">
                <a16:creationId xmlns:a16="http://schemas.microsoft.com/office/drawing/2014/main" id="{41594BFA-B6AD-9BA6-4A50-DCF91BCCE545}"/>
              </a:ext>
            </a:extLst>
          </p:cNvPr>
          <p:cNvSpPr/>
          <p:nvPr/>
        </p:nvSpPr>
        <p:spPr>
          <a:xfrm>
            <a:off x="3052904" y="2252609"/>
            <a:ext cx="1456400"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4</a:t>
            </a:r>
            <a:endParaRPr lang="en-US" sz="636" dirty="0"/>
          </a:p>
        </p:txBody>
      </p:sp>
      <p:sp>
        <p:nvSpPr>
          <p:cNvPr id="217" name="Text 59">
            <a:extLst>
              <a:ext uri="{FF2B5EF4-FFF2-40B4-BE49-F238E27FC236}">
                <a16:creationId xmlns:a16="http://schemas.microsoft.com/office/drawing/2014/main" id="{41A259D7-A878-F920-5DD2-A7C416FC8E90}"/>
              </a:ext>
            </a:extLst>
          </p:cNvPr>
          <p:cNvSpPr/>
          <p:nvPr/>
        </p:nvSpPr>
        <p:spPr>
          <a:xfrm>
            <a:off x="3049559" y="2412329"/>
            <a:ext cx="1456400"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a:t>
            </a:r>
            <a:endParaRPr lang="en-US" sz="636" dirty="0"/>
          </a:p>
        </p:txBody>
      </p:sp>
      <p:sp>
        <p:nvSpPr>
          <p:cNvPr id="219" name="Text 59">
            <a:extLst>
              <a:ext uri="{FF2B5EF4-FFF2-40B4-BE49-F238E27FC236}">
                <a16:creationId xmlns:a16="http://schemas.microsoft.com/office/drawing/2014/main" id="{54133AD2-A2D1-B16E-58F8-1E9D7FF9EDAA}"/>
              </a:ext>
            </a:extLst>
          </p:cNvPr>
          <p:cNvSpPr/>
          <p:nvPr/>
        </p:nvSpPr>
        <p:spPr>
          <a:xfrm>
            <a:off x="3052904" y="2548468"/>
            <a:ext cx="1456400"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3</a:t>
            </a:r>
            <a:endParaRPr lang="en-US" sz="636" dirty="0"/>
          </a:p>
        </p:txBody>
      </p:sp>
      <p:sp>
        <p:nvSpPr>
          <p:cNvPr id="221" name="Text 59">
            <a:extLst>
              <a:ext uri="{FF2B5EF4-FFF2-40B4-BE49-F238E27FC236}">
                <a16:creationId xmlns:a16="http://schemas.microsoft.com/office/drawing/2014/main" id="{1C52DF1A-A51A-6797-81D1-B882A5ECF36C}"/>
              </a:ext>
            </a:extLst>
          </p:cNvPr>
          <p:cNvSpPr/>
          <p:nvPr/>
        </p:nvSpPr>
        <p:spPr>
          <a:xfrm>
            <a:off x="3049559" y="2681817"/>
            <a:ext cx="1456400"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a:t>
            </a:r>
            <a:endParaRPr lang="en-US" sz="636" dirty="0"/>
          </a:p>
        </p:txBody>
      </p:sp>
      <p:sp>
        <p:nvSpPr>
          <p:cNvPr id="223" name="Text 72">
            <a:extLst>
              <a:ext uri="{FF2B5EF4-FFF2-40B4-BE49-F238E27FC236}">
                <a16:creationId xmlns:a16="http://schemas.microsoft.com/office/drawing/2014/main" id="{B0030EA4-CE57-0A7C-ABA2-68CAF9048DC3}"/>
              </a:ext>
            </a:extLst>
          </p:cNvPr>
          <p:cNvSpPr/>
          <p:nvPr/>
        </p:nvSpPr>
        <p:spPr>
          <a:xfrm>
            <a:off x="2530474" y="3405955"/>
            <a:ext cx="281711"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a:t>
            </a:r>
            <a:endParaRPr lang="en-US" sz="636" dirty="0"/>
          </a:p>
        </p:txBody>
      </p:sp>
      <p:sp>
        <p:nvSpPr>
          <p:cNvPr id="225" name="Text 72">
            <a:extLst>
              <a:ext uri="{FF2B5EF4-FFF2-40B4-BE49-F238E27FC236}">
                <a16:creationId xmlns:a16="http://schemas.microsoft.com/office/drawing/2014/main" id="{2EA97F24-9F78-7036-27EC-B17D2DA13492}"/>
              </a:ext>
            </a:extLst>
          </p:cNvPr>
          <p:cNvSpPr/>
          <p:nvPr/>
        </p:nvSpPr>
        <p:spPr>
          <a:xfrm>
            <a:off x="2555875" y="3535893"/>
            <a:ext cx="253136"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a:t>
            </a:r>
            <a:endParaRPr lang="en-US" sz="636" dirty="0"/>
          </a:p>
        </p:txBody>
      </p:sp>
      <p:sp>
        <p:nvSpPr>
          <p:cNvPr id="227" name="Text 72">
            <a:extLst>
              <a:ext uri="{FF2B5EF4-FFF2-40B4-BE49-F238E27FC236}">
                <a16:creationId xmlns:a16="http://schemas.microsoft.com/office/drawing/2014/main" id="{E96C1FC7-3F87-BDFC-83E2-C3D9A855A470}"/>
              </a:ext>
            </a:extLst>
          </p:cNvPr>
          <p:cNvSpPr/>
          <p:nvPr/>
        </p:nvSpPr>
        <p:spPr>
          <a:xfrm>
            <a:off x="1355786" y="3663130"/>
            <a:ext cx="1456400"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a:t>
            </a:r>
            <a:endParaRPr lang="en-US" sz="636" dirty="0"/>
          </a:p>
        </p:txBody>
      </p:sp>
      <p:sp>
        <p:nvSpPr>
          <p:cNvPr id="229" name="Text 72">
            <a:extLst>
              <a:ext uri="{FF2B5EF4-FFF2-40B4-BE49-F238E27FC236}">
                <a16:creationId xmlns:a16="http://schemas.microsoft.com/office/drawing/2014/main" id="{7C1A4200-1272-F82D-F053-D23A84B644CC}"/>
              </a:ext>
            </a:extLst>
          </p:cNvPr>
          <p:cNvSpPr/>
          <p:nvPr/>
        </p:nvSpPr>
        <p:spPr>
          <a:xfrm>
            <a:off x="2489199" y="3793279"/>
            <a:ext cx="319811" cy="142875"/>
          </a:xfrm>
          <a:prstGeom prst="rect">
            <a:avLst/>
          </a:prstGeom>
          <a:noFill/>
          <a:ln/>
        </p:spPr>
        <p:txBody>
          <a:bodyPr wrap="square" lIns="19050" tIns="38100" rIns="38100" bIns="19050" rtlCol="0" anchor="ctr"/>
          <a:lstStyle/>
          <a:p>
            <a:pPr algn="r"/>
            <a:r>
              <a:rPr lang="en-US" sz="636" b="1" dirty="0">
                <a:solidFill>
                  <a:srgbClr val="120180"/>
                </a:solidFill>
                <a:latin typeface="Raleway" pitchFamily="34" charset="0"/>
              </a:rPr>
              <a:t>5</a:t>
            </a:r>
          </a:p>
        </p:txBody>
      </p:sp>
      <p:sp>
        <p:nvSpPr>
          <p:cNvPr id="231" name="Text 72">
            <a:extLst>
              <a:ext uri="{FF2B5EF4-FFF2-40B4-BE49-F238E27FC236}">
                <a16:creationId xmlns:a16="http://schemas.microsoft.com/office/drawing/2014/main" id="{E505045B-0F19-D8E4-8A40-9E0081E76338}"/>
              </a:ext>
            </a:extLst>
          </p:cNvPr>
          <p:cNvSpPr/>
          <p:nvPr/>
        </p:nvSpPr>
        <p:spPr>
          <a:xfrm>
            <a:off x="3052904" y="3393018"/>
            <a:ext cx="242068"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3</a:t>
            </a:r>
            <a:endParaRPr lang="en-US" sz="636" dirty="0"/>
          </a:p>
        </p:txBody>
      </p:sp>
      <p:sp>
        <p:nvSpPr>
          <p:cNvPr id="233" name="Text 72">
            <a:extLst>
              <a:ext uri="{FF2B5EF4-FFF2-40B4-BE49-F238E27FC236}">
                <a16:creationId xmlns:a16="http://schemas.microsoft.com/office/drawing/2014/main" id="{53F48D05-5979-3318-75BB-FC12E76A2335}"/>
              </a:ext>
            </a:extLst>
          </p:cNvPr>
          <p:cNvSpPr/>
          <p:nvPr/>
        </p:nvSpPr>
        <p:spPr>
          <a:xfrm>
            <a:off x="3049558" y="3520255"/>
            <a:ext cx="242775"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rPr>
              <a:t>1</a:t>
            </a:r>
            <a:endParaRPr lang="en-US" sz="636" dirty="0"/>
          </a:p>
        </p:txBody>
      </p:sp>
      <p:sp>
        <p:nvSpPr>
          <p:cNvPr id="237" name="Text 72">
            <a:extLst>
              <a:ext uri="{FF2B5EF4-FFF2-40B4-BE49-F238E27FC236}">
                <a16:creationId xmlns:a16="http://schemas.microsoft.com/office/drawing/2014/main" id="{4F7A3561-4D82-F647-0C06-1B8E64235023}"/>
              </a:ext>
            </a:extLst>
          </p:cNvPr>
          <p:cNvSpPr/>
          <p:nvPr/>
        </p:nvSpPr>
        <p:spPr>
          <a:xfrm>
            <a:off x="3121025" y="3786955"/>
            <a:ext cx="163050" cy="142875"/>
          </a:xfrm>
          <a:prstGeom prst="rect">
            <a:avLst/>
          </a:prstGeom>
          <a:noFill/>
          <a:ln/>
        </p:spPr>
        <p:txBody>
          <a:bodyPr wrap="square" lIns="19050" tIns="38100" rIns="38100" bIns="19050" rtlCol="0" anchor="ctr"/>
          <a:lstStyle/>
          <a:p>
            <a:pPr algn="r"/>
            <a:r>
              <a:rPr lang="en-US" sz="636" b="1" dirty="0">
                <a:solidFill>
                  <a:srgbClr val="120180"/>
                </a:solidFill>
                <a:latin typeface="Raleway" pitchFamily="34" charset="0"/>
              </a:rPr>
              <a:t>4</a:t>
            </a:r>
          </a:p>
        </p:txBody>
      </p:sp>
      <p:sp>
        <p:nvSpPr>
          <p:cNvPr id="239" name="Text 72">
            <a:extLst>
              <a:ext uri="{FF2B5EF4-FFF2-40B4-BE49-F238E27FC236}">
                <a16:creationId xmlns:a16="http://schemas.microsoft.com/office/drawing/2014/main" id="{E2D45473-B842-BA1D-8867-A4AFF2385A7E}"/>
              </a:ext>
            </a:extLst>
          </p:cNvPr>
          <p:cNvSpPr/>
          <p:nvPr/>
        </p:nvSpPr>
        <p:spPr>
          <a:xfrm>
            <a:off x="2650331" y="3793279"/>
            <a:ext cx="158680" cy="142875"/>
          </a:xfrm>
          <a:prstGeom prst="rect">
            <a:avLst/>
          </a:prstGeom>
          <a:noFill/>
          <a:ln/>
        </p:spPr>
        <p:txBody>
          <a:bodyPr wrap="square" lIns="19050" tIns="38100" rIns="38100" bIns="19050" rtlCol="0" anchor="ctr"/>
          <a:lstStyle/>
          <a:p>
            <a:pPr algn="r"/>
            <a:r>
              <a:rPr lang="en-US" sz="636" b="1" dirty="0">
                <a:solidFill>
                  <a:srgbClr val="120180"/>
                </a:solidFill>
                <a:latin typeface="Raleway" pitchFamily="34" charset="0"/>
              </a:rPr>
              <a:t>5</a:t>
            </a:r>
          </a:p>
        </p:txBody>
      </p:sp>
      <p:sp>
        <p:nvSpPr>
          <p:cNvPr id="241" name="Text 72">
            <a:extLst>
              <a:ext uri="{FF2B5EF4-FFF2-40B4-BE49-F238E27FC236}">
                <a16:creationId xmlns:a16="http://schemas.microsoft.com/office/drawing/2014/main" id="{877A07A3-39F3-0294-7AA4-93FC04AB0C55}"/>
              </a:ext>
            </a:extLst>
          </p:cNvPr>
          <p:cNvSpPr/>
          <p:nvPr/>
        </p:nvSpPr>
        <p:spPr>
          <a:xfrm>
            <a:off x="3532811" y="3391667"/>
            <a:ext cx="242068"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3</a:t>
            </a:r>
            <a:endParaRPr lang="en-US" sz="636" dirty="0"/>
          </a:p>
        </p:txBody>
      </p:sp>
      <p:sp>
        <p:nvSpPr>
          <p:cNvPr id="243" name="Text 72">
            <a:extLst>
              <a:ext uri="{FF2B5EF4-FFF2-40B4-BE49-F238E27FC236}">
                <a16:creationId xmlns:a16="http://schemas.microsoft.com/office/drawing/2014/main" id="{04B344EB-05F3-6044-A739-A041BAE5F5DA}"/>
              </a:ext>
            </a:extLst>
          </p:cNvPr>
          <p:cNvSpPr/>
          <p:nvPr/>
        </p:nvSpPr>
        <p:spPr>
          <a:xfrm>
            <a:off x="3529465" y="3518904"/>
            <a:ext cx="242775"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rPr>
              <a:t>1</a:t>
            </a:r>
            <a:endParaRPr lang="en-US" sz="636" dirty="0"/>
          </a:p>
        </p:txBody>
      </p:sp>
      <p:sp>
        <p:nvSpPr>
          <p:cNvPr id="245" name="Text 72">
            <a:extLst>
              <a:ext uri="{FF2B5EF4-FFF2-40B4-BE49-F238E27FC236}">
                <a16:creationId xmlns:a16="http://schemas.microsoft.com/office/drawing/2014/main" id="{4CB96554-0038-2231-4A81-D8C7ED7331B0}"/>
              </a:ext>
            </a:extLst>
          </p:cNvPr>
          <p:cNvSpPr/>
          <p:nvPr/>
        </p:nvSpPr>
        <p:spPr>
          <a:xfrm>
            <a:off x="3600932" y="3785604"/>
            <a:ext cx="163050" cy="142875"/>
          </a:xfrm>
          <a:prstGeom prst="rect">
            <a:avLst/>
          </a:prstGeom>
          <a:noFill/>
          <a:ln/>
        </p:spPr>
        <p:txBody>
          <a:bodyPr wrap="square" lIns="19050" tIns="38100" rIns="38100" bIns="19050" rtlCol="0" anchor="ctr"/>
          <a:lstStyle/>
          <a:p>
            <a:pPr algn="r"/>
            <a:r>
              <a:rPr lang="en-US" sz="636" b="1" dirty="0">
                <a:solidFill>
                  <a:srgbClr val="120180"/>
                </a:solidFill>
                <a:latin typeface="Raleway" pitchFamily="34" charset="0"/>
              </a:rPr>
              <a:t>4</a:t>
            </a:r>
          </a:p>
        </p:txBody>
      </p:sp>
      <p:sp>
        <p:nvSpPr>
          <p:cNvPr id="247" name="Text 72">
            <a:extLst>
              <a:ext uri="{FF2B5EF4-FFF2-40B4-BE49-F238E27FC236}">
                <a16:creationId xmlns:a16="http://schemas.microsoft.com/office/drawing/2014/main" id="{143662A1-8528-6EBF-FA7B-F3478876E0AF}"/>
              </a:ext>
            </a:extLst>
          </p:cNvPr>
          <p:cNvSpPr/>
          <p:nvPr/>
        </p:nvSpPr>
        <p:spPr>
          <a:xfrm>
            <a:off x="3996406" y="3391403"/>
            <a:ext cx="242068"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a:t>
            </a:r>
            <a:endParaRPr lang="en-US" sz="636" dirty="0"/>
          </a:p>
        </p:txBody>
      </p:sp>
      <p:sp>
        <p:nvSpPr>
          <p:cNvPr id="249" name="Text 72">
            <a:extLst>
              <a:ext uri="{FF2B5EF4-FFF2-40B4-BE49-F238E27FC236}">
                <a16:creationId xmlns:a16="http://schemas.microsoft.com/office/drawing/2014/main" id="{6B089406-B999-C9B1-B730-1AC4976729CC}"/>
              </a:ext>
            </a:extLst>
          </p:cNvPr>
          <p:cNvSpPr/>
          <p:nvPr/>
        </p:nvSpPr>
        <p:spPr>
          <a:xfrm>
            <a:off x="3993060" y="3518640"/>
            <a:ext cx="242775"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rPr>
              <a:t>1</a:t>
            </a:r>
            <a:endParaRPr lang="en-US" sz="636" dirty="0"/>
          </a:p>
        </p:txBody>
      </p:sp>
      <p:sp>
        <p:nvSpPr>
          <p:cNvPr id="251" name="Text 72">
            <a:extLst>
              <a:ext uri="{FF2B5EF4-FFF2-40B4-BE49-F238E27FC236}">
                <a16:creationId xmlns:a16="http://schemas.microsoft.com/office/drawing/2014/main" id="{9BE1BFAE-3554-57CB-DDB1-106BF832019F}"/>
              </a:ext>
            </a:extLst>
          </p:cNvPr>
          <p:cNvSpPr/>
          <p:nvPr/>
        </p:nvSpPr>
        <p:spPr>
          <a:xfrm>
            <a:off x="4064527" y="3785340"/>
            <a:ext cx="163050" cy="142875"/>
          </a:xfrm>
          <a:prstGeom prst="rect">
            <a:avLst/>
          </a:prstGeom>
          <a:noFill/>
          <a:ln/>
        </p:spPr>
        <p:txBody>
          <a:bodyPr wrap="square" lIns="19050" tIns="38100" rIns="38100" bIns="19050" rtlCol="0" anchor="ctr"/>
          <a:lstStyle/>
          <a:p>
            <a:pPr algn="r"/>
            <a:r>
              <a:rPr lang="en-US" sz="636" b="1" dirty="0">
                <a:solidFill>
                  <a:srgbClr val="120180"/>
                </a:solidFill>
                <a:latin typeface="Raleway" pitchFamily="34" charset="0"/>
              </a:rPr>
              <a:t>2</a:t>
            </a:r>
          </a:p>
        </p:txBody>
      </p:sp>
      <p:sp>
        <p:nvSpPr>
          <p:cNvPr id="253" name="Text 72">
            <a:extLst>
              <a:ext uri="{FF2B5EF4-FFF2-40B4-BE49-F238E27FC236}">
                <a16:creationId xmlns:a16="http://schemas.microsoft.com/office/drawing/2014/main" id="{FDFD966D-A226-09FB-D093-BE38EB27B47B}"/>
              </a:ext>
            </a:extLst>
          </p:cNvPr>
          <p:cNvSpPr/>
          <p:nvPr/>
        </p:nvSpPr>
        <p:spPr>
          <a:xfrm>
            <a:off x="4489688" y="3392432"/>
            <a:ext cx="242068"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2</a:t>
            </a:r>
            <a:endParaRPr lang="en-US" sz="636" dirty="0"/>
          </a:p>
        </p:txBody>
      </p:sp>
      <p:sp>
        <p:nvSpPr>
          <p:cNvPr id="255" name="Text 72">
            <a:extLst>
              <a:ext uri="{FF2B5EF4-FFF2-40B4-BE49-F238E27FC236}">
                <a16:creationId xmlns:a16="http://schemas.microsoft.com/office/drawing/2014/main" id="{90FB0048-B407-C047-50A7-A6D11A5AC8E2}"/>
              </a:ext>
            </a:extLst>
          </p:cNvPr>
          <p:cNvSpPr/>
          <p:nvPr/>
        </p:nvSpPr>
        <p:spPr>
          <a:xfrm>
            <a:off x="4486342" y="3519669"/>
            <a:ext cx="242775"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rPr>
              <a:t>1</a:t>
            </a:r>
            <a:endParaRPr lang="en-US" sz="636" dirty="0"/>
          </a:p>
        </p:txBody>
      </p:sp>
      <p:sp>
        <p:nvSpPr>
          <p:cNvPr id="257" name="Text 72">
            <a:extLst>
              <a:ext uri="{FF2B5EF4-FFF2-40B4-BE49-F238E27FC236}">
                <a16:creationId xmlns:a16="http://schemas.microsoft.com/office/drawing/2014/main" id="{E27DE033-E0C5-87FD-6269-172C66842052}"/>
              </a:ext>
            </a:extLst>
          </p:cNvPr>
          <p:cNvSpPr/>
          <p:nvPr/>
        </p:nvSpPr>
        <p:spPr>
          <a:xfrm>
            <a:off x="4557809" y="3786369"/>
            <a:ext cx="163050" cy="142875"/>
          </a:xfrm>
          <a:prstGeom prst="rect">
            <a:avLst/>
          </a:prstGeom>
          <a:noFill/>
          <a:ln/>
        </p:spPr>
        <p:txBody>
          <a:bodyPr wrap="square" lIns="19050" tIns="38100" rIns="38100" bIns="19050" rtlCol="0" anchor="ctr"/>
          <a:lstStyle/>
          <a:p>
            <a:pPr algn="r"/>
            <a:r>
              <a:rPr lang="en-US" sz="636" b="1" dirty="0">
                <a:solidFill>
                  <a:srgbClr val="120180"/>
                </a:solidFill>
                <a:latin typeface="Raleway" pitchFamily="34" charset="0"/>
              </a:rPr>
              <a:t>3</a:t>
            </a:r>
          </a:p>
        </p:txBody>
      </p:sp>
      <p:sp>
        <p:nvSpPr>
          <p:cNvPr id="259" name="Text 72">
            <a:extLst>
              <a:ext uri="{FF2B5EF4-FFF2-40B4-BE49-F238E27FC236}">
                <a16:creationId xmlns:a16="http://schemas.microsoft.com/office/drawing/2014/main" id="{62128581-53DC-036D-8FFA-44833BE1BD36}"/>
              </a:ext>
            </a:extLst>
          </p:cNvPr>
          <p:cNvSpPr/>
          <p:nvPr/>
        </p:nvSpPr>
        <p:spPr>
          <a:xfrm>
            <a:off x="4975463" y="3383230"/>
            <a:ext cx="242068" cy="142875"/>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a:t>
            </a:r>
            <a:endParaRPr lang="en-US" sz="636" dirty="0"/>
          </a:p>
        </p:txBody>
      </p:sp>
      <p:sp>
        <p:nvSpPr>
          <p:cNvPr id="263" name="Text 72">
            <a:extLst>
              <a:ext uri="{FF2B5EF4-FFF2-40B4-BE49-F238E27FC236}">
                <a16:creationId xmlns:a16="http://schemas.microsoft.com/office/drawing/2014/main" id="{2F84BB5E-4001-11FF-31DC-EF5CE072C96A}"/>
              </a:ext>
            </a:extLst>
          </p:cNvPr>
          <p:cNvSpPr/>
          <p:nvPr/>
        </p:nvSpPr>
        <p:spPr>
          <a:xfrm>
            <a:off x="5043584" y="3777167"/>
            <a:ext cx="163050" cy="142875"/>
          </a:xfrm>
          <a:prstGeom prst="rect">
            <a:avLst/>
          </a:prstGeom>
          <a:noFill/>
          <a:ln/>
        </p:spPr>
        <p:txBody>
          <a:bodyPr wrap="square" lIns="19050" tIns="38100" rIns="38100" bIns="19050" rtlCol="0" anchor="ctr"/>
          <a:lstStyle/>
          <a:p>
            <a:pPr algn="r"/>
            <a:r>
              <a:rPr lang="en-US" sz="636" b="1" dirty="0">
                <a:solidFill>
                  <a:srgbClr val="120180"/>
                </a:solidFill>
                <a:latin typeface="Raleway" pitchFamily="34" charset="0"/>
              </a:rPr>
              <a:t>1</a:t>
            </a:r>
          </a:p>
        </p:txBody>
      </p:sp>
      <p:sp>
        <p:nvSpPr>
          <p:cNvPr id="265" name="Text 181">
            <a:extLst>
              <a:ext uri="{FF2B5EF4-FFF2-40B4-BE49-F238E27FC236}">
                <a16:creationId xmlns:a16="http://schemas.microsoft.com/office/drawing/2014/main" id="{7BC5C717-AB37-23F8-966C-9C895A107A79}"/>
              </a:ext>
            </a:extLst>
          </p:cNvPr>
          <p:cNvSpPr/>
          <p:nvPr/>
        </p:nvSpPr>
        <p:spPr>
          <a:xfrm>
            <a:off x="5168968" y="3550180"/>
            <a:ext cx="719233" cy="128588"/>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5</a:t>
            </a:r>
            <a:endParaRPr lang="en-US" sz="576" dirty="0"/>
          </a:p>
        </p:txBody>
      </p:sp>
      <p:sp>
        <p:nvSpPr>
          <p:cNvPr id="267" name="Text 181">
            <a:extLst>
              <a:ext uri="{FF2B5EF4-FFF2-40B4-BE49-F238E27FC236}">
                <a16:creationId xmlns:a16="http://schemas.microsoft.com/office/drawing/2014/main" id="{9D3B7077-CBF3-8139-627E-3CE20387ED96}"/>
              </a:ext>
            </a:extLst>
          </p:cNvPr>
          <p:cNvSpPr/>
          <p:nvPr/>
        </p:nvSpPr>
        <p:spPr>
          <a:xfrm>
            <a:off x="5168968" y="3669190"/>
            <a:ext cx="719233" cy="128588"/>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2</a:t>
            </a:r>
            <a:endParaRPr lang="en-US" sz="576"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C:\01_Repositorios\13_Presentaciones\dash\televentas\ppt_slides\sk_11_main.png"/>
          <p:cNvPicPr>
            <a:picLocks noChangeAspect="1"/>
          </p:cNvPicPr>
          <p:nvPr/>
        </p:nvPicPr>
        <p:blipFill>
          <a:blip r:embed="rId3"/>
          <a:stretch>
            <a:fillRect/>
          </a:stretch>
        </p:blipFill>
        <p:spPr>
          <a:xfrm>
            <a:off x="0" y="0"/>
            <a:ext cx="12191695" cy="6858000"/>
          </a:xfrm>
          <a:prstGeom prst="rect">
            <a:avLst/>
          </a:prstGeom>
        </p:spPr>
      </p:pic>
      <p:sp>
        <p:nvSpPr>
          <p:cNvPr id="5" name="Text 2"/>
          <p:cNvSpPr/>
          <p:nvPr/>
        </p:nvSpPr>
        <p:spPr>
          <a:xfrm>
            <a:off x="1213514" y="219075"/>
            <a:ext cx="4742153" cy="196215"/>
          </a:xfrm>
          <a:prstGeom prst="rect">
            <a:avLst/>
          </a:prstGeom>
          <a:noFill/>
          <a:ln/>
        </p:spPr>
        <p:txBody>
          <a:bodyPr wrap="square" lIns="0" tIns="0" rIns="0" bIns="0" rtlCol="0" anchor="t"/>
          <a:lstStyle/>
          <a:p>
            <a:pPr marL="0" indent="0" algn="l">
              <a:buNone/>
            </a:pPr>
            <a:r>
              <a:rPr lang="en-US" sz="1260" b="1" dirty="0">
                <a:solidFill>
                  <a:srgbClr val="FFFFFF"/>
                </a:solidFill>
                <a:latin typeface="Raleway" pitchFamily="34" charset="0"/>
                <a:ea typeface="Raleway" pitchFamily="34" charset="-122"/>
                <a:cs typeface="Raleway" pitchFamily="34" charset="-120"/>
              </a:rPr>
              <a:t>Detalle Operativo · Campaña Voluntarios Cancelaciones</a:t>
            </a:r>
            <a:endParaRPr lang="en-US" sz="1260" dirty="0"/>
          </a:p>
        </p:txBody>
      </p:sp>
      <p:sp>
        <p:nvSpPr>
          <p:cNvPr id="6" name="Text 3"/>
          <p:cNvSpPr/>
          <p:nvPr/>
        </p:nvSpPr>
        <p:spPr>
          <a:xfrm>
            <a:off x="533387" y="1219944"/>
            <a:ext cx="3584053"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Buen nivel de interacción telefónica express</a:t>
            </a:r>
            <a:endParaRPr lang="en-US" sz="648" dirty="0"/>
          </a:p>
        </p:txBody>
      </p:sp>
      <p:sp>
        <p:nvSpPr>
          <p:cNvPr id="8" name="Text 5"/>
          <p:cNvSpPr/>
          <p:nvPr/>
        </p:nvSpPr>
        <p:spPr>
          <a:xfrm>
            <a:off x="4374991" y="1219944"/>
            <a:ext cx="3584053"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Base focalizada en cancelaciones previas</a:t>
            </a:r>
            <a:endParaRPr lang="en-US" sz="648" dirty="0"/>
          </a:p>
        </p:txBody>
      </p:sp>
      <p:sp>
        <p:nvSpPr>
          <p:cNvPr id="9" name="Text 6"/>
          <p:cNvSpPr/>
          <p:nvPr/>
        </p:nvSpPr>
        <p:spPr>
          <a:xfrm>
            <a:off x="6400644" y="302969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4. Tipificación de Leads Aptos por Mes</a:t>
            </a:r>
            <a:endParaRPr lang="en-US" sz="816" dirty="0"/>
          </a:p>
        </p:txBody>
      </p:sp>
      <p:sp>
        <p:nvSpPr>
          <p:cNvPr id="10" name="Text 7"/>
          <p:cNvSpPr/>
          <p:nvPr/>
        </p:nvSpPr>
        <p:spPr>
          <a:xfrm>
            <a:off x="495288" y="160094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1. Calidad de Base y Descarte Mensual</a:t>
            </a:r>
            <a:endParaRPr lang="en-US" sz="816" dirty="0"/>
          </a:p>
        </p:txBody>
      </p:sp>
      <p:sp>
        <p:nvSpPr>
          <p:cNvPr id="11" name="Text 8"/>
          <p:cNvSpPr/>
          <p:nvPr/>
        </p:nvSpPr>
        <p:spPr>
          <a:xfrm>
            <a:off x="6419694" y="160094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3. Insumo Apto, Contacto y Ventas</a:t>
            </a:r>
            <a:endParaRPr lang="en-US" sz="816" dirty="0"/>
          </a:p>
        </p:txBody>
      </p:sp>
      <p:sp>
        <p:nvSpPr>
          <p:cNvPr id="12" name="Text 9"/>
          <p:cNvSpPr/>
          <p:nvPr/>
        </p:nvSpPr>
        <p:spPr>
          <a:xfrm>
            <a:off x="8216595" y="1219944"/>
            <a:ext cx="3584207" cy="128016"/>
          </a:xfrm>
          <a:prstGeom prst="rect">
            <a:avLst/>
          </a:prstGeom>
          <a:noFill/>
          <a:ln/>
        </p:spPr>
        <p:txBody>
          <a:bodyPr wrap="square" lIns="0" tIns="0" rIns="0" bIns="0" rtlCol="0" anchor="t"/>
          <a:lstStyle/>
          <a:p>
            <a:pPr marL="0" indent="0" algn="l">
              <a:buNone/>
            </a:pPr>
            <a:r>
              <a:rPr lang="en-US" sz="648" dirty="0">
                <a:solidFill>
                  <a:srgbClr val="FFFFFF"/>
                </a:solidFill>
                <a:latin typeface="Raleway" pitchFamily="34" charset="0"/>
                <a:ea typeface="Raleway" pitchFamily="34" charset="-122"/>
                <a:cs typeface="Raleway" pitchFamily="34" charset="-120"/>
              </a:rPr>
              <a:t>Aporte de campaña piloto express</a:t>
            </a:r>
            <a:endParaRPr lang="en-US" sz="648" dirty="0"/>
          </a:p>
        </p:txBody>
      </p:sp>
      <p:sp>
        <p:nvSpPr>
          <p:cNvPr id="14" name="Text 11"/>
          <p:cNvSpPr/>
          <p:nvPr/>
        </p:nvSpPr>
        <p:spPr>
          <a:xfrm>
            <a:off x="504812" y="366789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Registro Enviado Anteriormente</a:t>
            </a:r>
            <a:endParaRPr lang="en-US" sz="576" dirty="0"/>
          </a:p>
        </p:txBody>
      </p:sp>
      <p:sp>
        <p:nvSpPr>
          <p:cNvPr id="15" name="Text 12"/>
          <p:cNvSpPr/>
          <p:nvPr/>
        </p:nvSpPr>
        <p:spPr>
          <a:xfrm>
            <a:off x="9817070" y="122832"/>
            <a:ext cx="2543987" cy="215836"/>
          </a:xfrm>
          <a:prstGeom prst="rect">
            <a:avLst/>
          </a:prstGeom>
          <a:noFill/>
          <a:ln/>
        </p:spPr>
        <p:txBody>
          <a:bodyPr wrap="square" lIns="38100" tIns="114300" rIns="114300" bIns="38100" rtlCol="0" anchor="t"/>
          <a:lstStyle/>
          <a:p>
            <a:pPr marL="0" indent="0" algn="l">
              <a:buNone/>
            </a:pPr>
            <a:r>
              <a:rPr lang="en-US" sz="840" b="1" dirty="0" err="1">
                <a:solidFill>
                  <a:srgbClr val="5AE280"/>
                </a:solidFill>
                <a:latin typeface="Raleway" pitchFamily="34" charset="0"/>
                <a:ea typeface="Raleway" pitchFamily="34" charset="-122"/>
                <a:cs typeface="Raleway" pitchFamily="34" charset="-120"/>
              </a:rPr>
              <a:t>Detalle</a:t>
            </a:r>
            <a:r>
              <a:rPr lang="en-US" sz="840" b="1" dirty="0">
                <a:solidFill>
                  <a:srgbClr val="5AE280"/>
                </a:solidFill>
                <a:latin typeface="Raleway" pitchFamily="34" charset="0"/>
                <a:ea typeface="Raleway" pitchFamily="34" charset="-122"/>
                <a:cs typeface="Raleway" pitchFamily="34" charset="-120"/>
              </a:rPr>
              <a:t> Cancelaciones</a:t>
            </a:r>
            <a:endParaRPr lang="en-US" sz="840" dirty="0"/>
          </a:p>
        </p:txBody>
      </p:sp>
      <p:sp>
        <p:nvSpPr>
          <p:cNvPr id="16" name="Text 13"/>
          <p:cNvSpPr/>
          <p:nvPr/>
        </p:nvSpPr>
        <p:spPr>
          <a:xfrm>
            <a:off x="495288" y="3029694"/>
            <a:ext cx="5601798" cy="156972"/>
          </a:xfrm>
          <a:prstGeom prst="rect">
            <a:avLst/>
          </a:prstGeom>
          <a:noFill/>
          <a:ln/>
        </p:spPr>
        <p:txBody>
          <a:bodyPr wrap="square" lIns="0" tIns="0" rIns="0" bIns="1905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2. Motivos de Descarte por Mes</a:t>
            </a:r>
            <a:endParaRPr lang="en-US" sz="816" dirty="0"/>
          </a:p>
        </p:txBody>
      </p:sp>
      <p:sp>
        <p:nvSpPr>
          <p:cNvPr id="17" name="Text 14"/>
          <p:cNvSpPr/>
          <p:nvPr/>
        </p:nvSpPr>
        <p:spPr>
          <a:xfrm>
            <a:off x="6267293" y="36678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interesado por el producto</a:t>
            </a:r>
            <a:endParaRPr lang="en-US" sz="552" dirty="0"/>
          </a:p>
        </p:txBody>
      </p:sp>
      <p:sp>
        <p:nvSpPr>
          <p:cNvPr id="18" name="Text 15"/>
          <p:cNvSpPr/>
          <p:nvPr/>
        </p:nvSpPr>
        <p:spPr>
          <a:xfrm>
            <a:off x="6267293" y="38012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Datos errados / experiencia</a:t>
            </a:r>
            <a:endParaRPr lang="en-US" sz="552" dirty="0"/>
          </a:p>
        </p:txBody>
      </p:sp>
      <p:sp>
        <p:nvSpPr>
          <p:cNvPr id="19" name="Text 16"/>
          <p:cNvSpPr/>
          <p:nvPr/>
        </p:nvSpPr>
        <p:spPr>
          <a:xfrm>
            <a:off x="6267293" y="40679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es responsable del pago</a:t>
            </a:r>
            <a:endParaRPr lang="en-US" sz="552" dirty="0"/>
          </a:p>
        </p:txBody>
      </p:sp>
      <p:sp>
        <p:nvSpPr>
          <p:cNvPr id="20" name="Text 17"/>
          <p:cNvSpPr/>
          <p:nvPr/>
        </p:nvSpPr>
        <p:spPr>
          <a:xfrm>
            <a:off x="533387" y="828675"/>
            <a:ext cx="3584053"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CONTACTABILIDAD INICIAL</a:t>
            </a:r>
            <a:endParaRPr lang="en-US" sz="672" dirty="0"/>
          </a:p>
        </p:txBody>
      </p:sp>
      <p:sp>
        <p:nvSpPr>
          <p:cNvPr id="21" name="Text 18"/>
          <p:cNvSpPr/>
          <p:nvPr/>
        </p:nvSpPr>
        <p:spPr>
          <a:xfrm>
            <a:off x="4374991" y="828675"/>
            <a:ext cx="3584053"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LEADS APTOS GESTIONADOS</a:t>
            </a:r>
            <a:endParaRPr lang="en-US" sz="672" dirty="0"/>
          </a:p>
        </p:txBody>
      </p:sp>
      <p:sp>
        <p:nvSpPr>
          <p:cNvPr id="22" name="Text 19"/>
          <p:cNvSpPr/>
          <p:nvPr/>
        </p:nvSpPr>
        <p:spPr>
          <a:xfrm>
            <a:off x="6267293" y="44679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Contestador automático</a:t>
            </a:r>
            <a:endParaRPr lang="en-US" sz="552" dirty="0"/>
          </a:p>
        </p:txBody>
      </p:sp>
      <p:sp>
        <p:nvSpPr>
          <p:cNvPr id="23" name="Text 20"/>
          <p:cNvSpPr/>
          <p:nvPr/>
        </p:nvSpPr>
        <p:spPr>
          <a:xfrm>
            <a:off x="6267293" y="42012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Otros motivos menores</a:t>
            </a:r>
            <a:endParaRPr lang="en-US" sz="552" dirty="0"/>
          </a:p>
        </p:txBody>
      </p:sp>
      <p:sp>
        <p:nvSpPr>
          <p:cNvPr id="24" name="Text 21"/>
          <p:cNvSpPr/>
          <p:nvPr/>
        </p:nvSpPr>
        <p:spPr>
          <a:xfrm>
            <a:off x="6267293" y="4601342"/>
            <a:ext cx="1879325" cy="128588"/>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No contesta / apagado</a:t>
            </a:r>
            <a:endParaRPr lang="en-US" sz="552" dirty="0"/>
          </a:p>
        </p:txBody>
      </p:sp>
      <p:sp>
        <p:nvSpPr>
          <p:cNvPr id="25" name="Text 22"/>
          <p:cNvSpPr/>
          <p:nvPr/>
        </p:nvSpPr>
        <p:spPr>
          <a:xfrm>
            <a:off x="504812" y="3405955"/>
            <a:ext cx="1879325" cy="128588"/>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Microseguro Activo</a:t>
            </a:r>
            <a:endParaRPr lang="en-US" sz="576" dirty="0"/>
          </a:p>
        </p:txBody>
      </p:sp>
      <p:sp>
        <p:nvSpPr>
          <p:cNvPr id="26" name="Text 23"/>
          <p:cNvSpPr/>
          <p:nvPr/>
        </p:nvSpPr>
        <p:spPr>
          <a:xfrm>
            <a:off x="6267293" y="3405955"/>
            <a:ext cx="1879325" cy="128588"/>
          </a:xfrm>
          <a:prstGeom prst="rect">
            <a:avLst/>
          </a:prstGeom>
          <a:noFill/>
          <a:ln/>
        </p:spPr>
        <p:txBody>
          <a:bodyPr wrap="square" lIns="19050" tIns="38100" rIns="38100" bIns="19050" rtlCol="0" anchor="ctr"/>
          <a:lstStyle/>
          <a:p>
            <a:pPr marL="0" indent="0" algn="l">
              <a:buNone/>
            </a:pPr>
            <a:r>
              <a:rPr lang="en-US" sz="552" dirty="0">
                <a:solidFill>
                  <a:srgbClr val="120180"/>
                </a:solidFill>
                <a:latin typeface="Raleway" pitchFamily="34" charset="0"/>
                <a:ea typeface="Raleway" pitchFamily="34" charset="-122"/>
                <a:cs typeface="Raleway" pitchFamily="34" charset="-120"/>
              </a:rPr>
              <a:t>CONTACTO EFECTIVO</a:t>
            </a:r>
            <a:endParaRPr lang="en-US" sz="552" dirty="0"/>
          </a:p>
        </p:txBody>
      </p:sp>
      <p:sp>
        <p:nvSpPr>
          <p:cNvPr id="27" name="Text 24"/>
          <p:cNvSpPr/>
          <p:nvPr/>
        </p:nvSpPr>
        <p:spPr>
          <a:xfrm>
            <a:off x="6267293" y="393459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Cuelga la llamada</a:t>
            </a:r>
            <a:endParaRPr lang="en-US" sz="552" dirty="0"/>
          </a:p>
        </p:txBody>
      </p:sp>
      <p:sp>
        <p:nvSpPr>
          <p:cNvPr id="28" name="Text 25"/>
          <p:cNvSpPr/>
          <p:nvPr/>
        </p:nvSpPr>
        <p:spPr>
          <a:xfrm>
            <a:off x="8216595" y="828675"/>
            <a:ext cx="3584207" cy="128016"/>
          </a:xfrm>
          <a:prstGeom prst="rect">
            <a:avLst/>
          </a:prstGeom>
          <a:noFill/>
          <a:ln/>
        </p:spPr>
        <p:txBody>
          <a:bodyPr wrap="square" lIns="0" tIns="0" rIns="0" bIns="0" rtlCol="0" anchor="t"/>
          <a:lstStyle/>
          <a:p>
            <a:pPr marL="0" indent="0" algn="l">
              <a:buNone/>
            </a:pPr>
            <a:r>
              <a:rPr lang="en-US" sz="672" b="1" dirty="0">
                <a:solidFill>
                  <a:srgbClr val="9098B0"/>
                </a:solidFill>
                <a:latin typeface="Raleway" pitchFamily="34" charset="0"/>
                <a:ea typeface="Raleway" pitchFamily="34" charset="-122"/>
                <a:cs typeface="Raleway" pitchFamily="34" charset="-120"/>
              </a:rPr>
              <a:t>VENTAS GENERADAS</a:t>
            </a:r>
            <a:endParaRPr lang="en-US" sz="672" dirty="0"/>
          </a:p>
        </p:txBody>
      </p:sp>
      <p:sp>
        <p:nvSpPr>
          <p:cNvPr id="29" name="Text 26"/>
          <p:cNvSpPr/>
          <p:nvPr/>
        </p:nvSpPr>
        <p:spPr>
          <a:xfrm>
            <a:off x="504812" y="35345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NIT de empresa</a:t>
            </a:r>
            <a:endParaRPr lang="en-US" sz="576" dirty="0"/>
          </a:p>
        </p:txBody>
      </p:sp>
      <p:sp>
        <p:nvSpPr>
          <p:cNvPr id="30" name="Text 27"/>
          <p:cNvSpPr/>
          <p:nvPr/>
        </p:nvSpPr>
        <p:spPr>
          <a:xfrm>
            <a:off x="504812" y="380124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Cédula Errada</a:t>
            </a:r>
            <a:endParaRPr lang="en-US" sz="576" dirty="0"/>
          </a:p>
        </p:txBody>
      </p:sp>
      <p:sp>
        <p:nvSpPr>
          <p:cNvPr id="31" name="Text 28"/>
          <p:cNvSpPr/>
          <p:nvPr/>
        </p:nvSpPr>
        <p:spPr>
          <a:xfrm>
            <a:off x="10205632" y="1796230"/>
            <a:ext cx="145701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Conv. / Ctto.</a:t>
            </a:r>
            <a:endParaRPr lang="en-US" sz="888" dirty="0"/>
          </a:p>
        </p:txBody>
      </p:sp>
      <p:sp>
        <p:nvSpPr>
          <p:cNvPr id="32" name="Text 29"/>
          <p:cNvSpPr/>
          <p:nvPr/>
        </p:nvSpPr>
        <p:spPr>
          <a:xfrm>
            <a:off x="6267293" y="3534542"/>
            <a:ext cx="1879325" cy="133350"/>
          </a:xfrm>
          <a:prstGeom prst="rect">
            <a:avLst/>
          </a:prstGeom>
          <a:noFill/>
          <a:ln/>
        </p:spPr>
        <p:txBody>
          <a:bodyPr wrap="square" lIns="19050" tIns="38100" rIns="38100" bIns="19050" rtlCol="0" anchor="ctr"/>
          <a:lstStyle/>
          <a:p>
            <a:pPr marL="0" indent="0" algn="l">
              <a:buNone/>
            </a:pPr>
            <a:r>
              <a:rPr lang="en-US" sz="552" dirty="0">
                <a:solidFill>
                  <a:srgbClr val="333333"/>
                </a:solidFill>
                <a:latin typeface="Raleway" pitchFamily="34" charset="0"/>
                <a:ea typeface="Raleway" pitchFamily="34" charset="-122"/>
                <a:cs typeface="Raleway" pitchFamily="34" charset="-120"/>
              </a:rPr>
              <a:t>Venta exitosa</a:t>
            </a:r>
            <a:endParaRPr lang="en-US" sz="552" dirty="0"/>
          </a:p>
        </p:txBody>
      </p:sp>
      <p:sp>
        <p:nvSpPr>
          <p:cNvPr id="33" name="Text 30"/>
          <p:cNvSpPr/>
          <p:nvPr/>
        </p:nvSpPr>
        <p:spPr>
          <a:xfrm>
            <a:off x="504812" y="3934592"/>
            <a:ext cx="1879325" cy="133350"/>
          </a:xfrm>
          <a:prstGeom prst="rect">
            <a:avLst/>
          </a:prstGeom>
          <a:noFill/>
          <a:ln/>
        </p:spPr>
        <p:txBody>
          <a:bodyPr wrap="square" lIns="19050" tIns="38100" rIns="38100" bIns="19050" rtlCol="0" anchor="ctr"/>
          <a:lstStyle/>
          <a:p>
            <a:pPr marL="0" indent="0" algn="l">
              <a:buNone/>
            </a:pPr>
            <a:r>
              <a:rPr lang="en-US" sz="576" dirty="0">
                <a:solidFill>
                  <a:srgbClr val="333333"/>
                </a:solidFill>
                <a:latin typeface="Raleway" pitchFamily="34" charset="0"/>
                <a:ea typeface="Raleway" pitchFamily="34" charset="-122"/>
                <a:cs typeface="Raleway" pitchFamily="34" charset="-120"/>
              </a:rPr>
              <a:t>Nombre Vacío</a:t>
            </a:r>
            <a:endParaRPr lang="en-US" sz="576" dirty="0"/>
          </a:p>
        </p:txBody>
      </p:sp>
      <p:sp>
        <p:nvSpPr>
          <p:cNvPr id="34" name="Text 31"/>
          <p:cNvSpPr/>
          <p:nvPr/>
        </p:nvSpPr>
        <p:spPr>
          <a:xfrm>
            <a:off x="6267293" y="3234505"/>
            <a:ext cx="1879325"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Tipificación</a:t>
            </a:r>
            <a:endParaRPr lang="en-US" sz="888" dirty="0"/>
          </a:p>
        </p:txBody>
      </p:sp>
      <p:sp>
        <p:nvSpPr>
          <p:cNvPr id="35" name="Text 32"/>
          <p:cNvSpPr/>
          <p:nvPr/>
        </p:nvSpPr>
        <p:spPr>
          <a:xfrm>
            <a:off x="6267293" y="4334642"/>
            <a:ext cx="1879325" cy="133350"/>
          </a:xfrm>
          <a:prstGeom prst="rect">
            <a:avLst/>
          </a:prstGeom>
          <a:noFill/>
          <a:ln/>
        </p:spPr>
        <p:txBody>
          <a:bodyPr wrap="square" lIns="19050" tIns="38100" rIns="38100" bIns="19050" rtlCol="0" anchor="ctr"/>
          <a:lstStyle/>
          <a:p>
            <a:pPr marL="0" indent="0" algn="l">
              <a:buNone/>
            </a:pPr>
            <a:r>
              <a:rPr lang="en-US" sz="552" dirty="0">
                <a:solidFill>
                  <a:srgbClr val="120180"/>
                </a:solidFill>
                <a:latin typeface="Raleway" pitchFamily="34" charset="0"/>
                <a:ea typeface="Raleway" pitchFamily="34" charset="-122"/>
                <a:cs typeface="Raleway" pitchFamily="34" charset="-120"/>
              </a:rPr>
              <a:t>NO CONTACTO</a:t>
            </a:r>
            <a:endParaRPr lang="en-US" sz="552" dirty="0"/>
          </a:p>
        </p:txBody>
      </p:sp>
      <p:sp>
        <p:nvSpPr>
          <p:cNvPr id="36" name="Text 33"/>
          <p:cNvSpPr/>
          <p:nvPr/>
        </p:nvSpPr>
        <p:spPr>
          <a:xfrm>
            <a:off x="2958777" y="1796230"/>
            <a:ext cx="1568454"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Rechazados</a:t>
            </a:r>
            <a:endParaRPr lang="en-US" sz="888" dirty="0"/>
          </a:p>
        </p:txBody>
      </p:sp>
      <p:sp>
        <p:nvSpPr>
          <p:cNvPr id="37" name="Text 34"/>
          <p:cNvSpPr/>
          <p:nvPr/>
        </p:nvSpPr>
        <p:spPr>
          <a:xfrm>
            <a:off x="8247995"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Contactab.</a:t>
            </a:r>
            <a:endParaRPr lang="en-US" sz="888" dirty="0"/>
          </a:p>
        </p:txBody>
      </p:sp>
      <p:sp>
        <p:nvSpPr>
          <p:cNvPr id="38" name="Text 35"/>
          <p:cNvSpPr/>
          <p:nvPr/>
        </p:nvSpPr>
        <p:spPr>
          <a:xfrm>
            <a:off x="1554321" y="1796230"/>
            <a:ext cx="145640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Recibidos</a:t>
            </a:r>
            <a:endParaRPr lang="en-US" sz="888" dirty="0"/>
          </a:p>
        </p:txBody>
      </p:sp>
      <p:sp>
        <p:nvSpPr>
          <p:cNvPr id="39" name="Text 36"/>
          <p:cNvSpPr/>
          <p:nvPr/>
        </p:nvSpPr>
        <p:spPr>
          <a:xfrm>
            <a:off x="4414873" y="1796230"/>
            <a:ext cx="1456707"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 Rechazo</a:t>
            </a:r>
            <a:endParaRPr lang="en-US" sz="888" dirty="0"/>
          </a:p>
        </p:txBody>
      </p:sp>
      <p:sp>
        <p:nvSpPr>
          <p:cNvPr id="40" name="Text 37"/>
          <p:cNvSpPr/>
          <p:nvPr/>
        </p:nvSpPr>
        <p:spPr>
          <a:xfrm>
            <a:off x="495288" y="21057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1" name="Text 38"/>
          <p:cNvSpPr/>
          <p:nvPr/>
        </p:nvSpPr>
        <p:spPr>
          <a:xfrm>
            <a:off x="6257769" y="21057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Febrero</a:t>
            </a:r>
            <a:endParaRPr lang="en-US" sz="636" dirty="0"/>
          </a:p>
        </p:txBody>
      </p:sp>
      <p:sp>
        <p:nvSpPr>
          <p:cNvPr id="42" name="Text 39"/>
          <p:cNvSpPr/>
          <p:nvPr/>
        </p:nvSpPr>
        <p:spPr>
          <a:xfrm>
            <a:off x="4414873" y="1967680"/>
            <a:ext cx="1456707"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15,7 %</a:t>
            </a:r>
            <a:endParaRPr lang="en-US" sz="636" dirty="0"/>
          </a:p>
        </p:txBody>
      </p:sp>
      <p:sp>
        <p:nvSpPr>
          <p:cNvPr id="43" name="Text 40"/>
          <p:cNvSpPr/>
          <p:nvPr/>
        </p:nvSpPr>
        <p:spPr>
          <a:xfrm>
            <a:off x="4414873" y="2820167"/>
            <a:ext cx="1456707"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15,7 %</a:t>
            </a:r>
            <a:endParaRPr lang="en-US" sz="636" dirty="0"/>
          </a:p>
        </p:txBody>
      </p:sp>
      <p:sp>
        <p:nvSpPr>
          <p:cNvPr id="44" name="Text 41"/>
          <p:cNvSpPr/>
          <p:nvPr/>
        </p:nvSpPr>
        <p:spPr>
          <a:xfrm>
            <a:off x="504812" y="3234505"/>
            <a:ext cx="1879325"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Motivo</a:t>
            </a:r>
            <a:endParaRPr lang="en-US" sz="888" dirty="0"/>
          </a:p>
        </p:txBody>
      </p:sp>
      <p:sp>
        <p:nvSpPr>
          <p:cNvPr id="45" name="Text 42"/>
          <p:cNvSpPr/>
          <p:nvPr/>
        </p:nvSpPr>
        <p:spPr>
          <a:xfrm>
            <a:off x="9226814"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Ventas</a:t>
            </a:r>
            <a:endParaRPr lang="en-US" sz="888" dirty="0"/>
          </a:p>
        </p:txBody>
      </p:sp>
      <p:sp>
        <p:nvSpPr>
          <p:cNvPr id="46" name="Text 43"/>
          <p:cNvSpPr/>
          <p:nvPr/>
        </p:nvSpPr>
        <p:spPr>
          <a:xfrm>
            <a:off x="8247995" y="1967680"/>
            <a:ext cx="100818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53,0 %</a:t>
            </a:r>
            <a:endParaRPr lang="en-US" sz="636" dirty="0"/>
          </a:p>
        </p:txBody>
      </p:sp>
      <p:sp>
        <p:nvSpPr>
          <p:cNvPr id="47" name="Text 44"/>
          <p:cNvSpPr/>
          <p:nvPr/>
        </p:nvSpPr>
        <p:spPr>
          <a:xfrm>
            <a:off x="8247995"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53,0 %</a:t>
            </a:r>
            <a:endParaRPr lang="en-US" sz="636" dirty="0"/>
          </a:p>
        </p:txBody>
      </p:sp>
      <p:sp>
        <p:nvSpPr>
          <p:cNvPr id="48" name="Text 45"/>
          <p:cNvSpPr/>
          <p:nvPr/>
        </p:nvSpPr>
        <p:spPr>
          <a:xfrm>
            <a:off x="533387" y="971550"/>
            <a:ext cx="3584053"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53,0 %</a:t>
            </a:r>
            <a:endParaRPr lang="en-US" sz="1380" dirty="0"/>
          </a:p>
        </p:txBody>
      </p:sp>
      <p:sp>
        <p:nvSpPr>
          <p:cNvPr id="49" name="Text 46"/>
          <p:cNvSpPr/>
          <p:nvPr/>
        </p:nvSpPr>
        <p:spPr>
          <a:xfrm>
            <a:off x="495288" y="1967680"/>
            <a:ext cx="1120237" cy="138113"/>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50" name="Text 47"/>
          <p:cNvSpPr/>
          <p:nvPr/>
        </p:nvSpPr>
        <p:spPr>
          <a:xfrm>
            <a:off x="1554321" y="1967680"/>
            <a:ext cx="1456400"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1.263</a:t>
            </a:r>
            <a:endParaRPr lang="en-US" sz="636" dirty="0"/>
          </a:p>
        </p:txBody>
      </p:sp>
      <p:sp>
        <p:nvSpPr>
          <p:cNvPr id="51" name="Text 48"/>
          <p:cNvSpPr/>
          <p:nvPr/>
        </p:nvSpPr>
        <p:spPr>
          <a:xfrm>
            <a:off x="495288" y="224866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52" name="Text 49"/>
          <p:cNvSpPr/>
          <p:nvPr/>
        </p:nvSpPr>
        <p:spPr>
          <a:xfrm>
            <a:off x="495288" y="239154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53" name="Text 50"/>
          <p:cNvSpPr/>
          <p:nvPr/>
        </p:nvSpPr>
        <p:spPr>
          <a:xfrm>
            <a:off x="495288" y="26772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54" name="Text 51"/>
          <p:cNvSpPr/>
          <p:nvPr/>
        </p:nvSpPr>
        <p:spPr>
          <a:xfrm>
            <a:off x="495288" y="2820167"/>
            <a:ext cx="1120237" cy="138113"/>
          </a:xfrm>
          <a:prstGeom prst="rect">
            <a:avLst/>
          </a:prstGeom>
          <a:noFill/>
          <a:ln/>
        </p:spPr>
        <p:txBody>
          <a:bodyPr wrap="square" lIns="19050" tIns="38100" rIns="38100" bIns="19050" rtlCol="0" anchor="ctr"/>
          <a:lstStyle/>
          <a:p>
            <a:pPr marL="0" indent="0" algn="l">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55" name="Text 52"/>
          <p:cNvSpPr/>
          <p:nvPr/>
        </p:nvSpPr>
        <p:spPr>
          <a:xfrm>
            <a:off x="1554321" y="2820167"/>
            <a:ext cx="1456400"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1.263</a:t>
            </a:r>
            <a:endParaRPr lang="en-US" sz="636" dirty="0"/>
          </a:p>
        </p:txBody>
      </p:sp>
      <p:sp>
        <p:nvSpPr>
          <p:cNvPr id="56" name="Text 53"/>
          <p:cNvSpPr/>
          <p:nvPr/>
        </p:nvSpPr>
        <p:spPr>
          <a:xfrm>
            <a:off x="5226118" y="3234505"/>
            <a:ext cx="71923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57" name="Text 54"/>
          <p:cNvSpPr/>
          <p:nvPr/>
        </p:nvSpPr>
        <p:spPr>
          <a:xfrm>
            <a:off x="504812" y="4067942"/>
            <a:ext cx="1879325" cy="128588"/>
          </a:xfrm>
          <a:prstGeom prst="rect">
            <a:avLst/>
          </a:prstGeom>
          <a:noFill/>
          <a:ln/>
        </p:spPr>
        <p:txBody>
          <a:bodyPr wrap="square" lIns="19050" tIns="38100" rIns="38100" bIns="19050" rtlCol="0" anchor="ctr"/>
          <a:lstStyle/>
          <a:p>
            <a:pPr marL="0" indent="0" algn="l">
              <a:buNone/>
            </a:pPr>
            <a:r>
              <a:rPr lang="en-US" sz="576" b="1" dirty="0">
                <a:solidFill>
                  <a:srgbClr val="120180"/>
                </a:solidFill>
                <a:latin typeface="Raleway" pitchFamily="34" charset="0"/>
                <a:ea typeface="Raleway" pitchFamily="34" charset="-122"/>
                <a:cs typeface="Raleway" pitchFamily="34" charset="-120"/>
              </a:rPr>
              <a:t>Total</a:t>
            </a:r>
            <a:endParaRPr lang="en-US" sz="576" dirty="0"/>
          </a:p>
        </p:txBody>
      </p:sp>
      <p:sp>
        <p:nvSpPr>
          <p:cNvPr id="58" name="Text 55"/>
          <p:cNvSpPr/>
          <p:nvPr/>
        </p:nvSpPr>
        <p:spPr>
          <a:xfrm>
            <a:off x="7269177" y="1796230"/>
            <a:ext cx="100818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Aptos</a:t>
            </a:r>
            <a:endParaRPr lang="en-US" sz="888" dirty="0"/>
          </a:p>
        </p:txBody>
      </p:sp>
      <p:sp>
        <p:nvSpPr>
          <p:cNvPr id="59" name="Text 56"/>
          <p:cNvSpPr/>
          <p:nvPr/>
        </p:nvSpPr>
        <p:spPr>
          <a:xfrm>
            <a:off x="6257769" y="1967680"/>
            <a:ext cx="1120237" cy="138113"/>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Enero</a:t>
            </a:r>
            <a:endParaRPr lang="en-US" sz="636" dirty="0"/>
          </a:p>
        </p:txBody>
      </p:sp>
      <p:sp>
        <p:nvSpPr>
          <p:cNvPr id="60" name="Text 57"/>
          <p:cNvSpPr/>
          <p:nvPr/>
        </p:nvSpPr>
        <p:spPr>
          <a:xfrm>
            <a:off x="7269177" y="1967680"/>
            <a:ext cx="100818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1.065</a:t>
            </a:r>
            <a:endParaRPr lang="en-US" sz="636" dirty="0"/>
          </a:p>
        </p:txBody>
      </p:sp>
      <p:sp>
        <p:nvSpPr>
          <p:cNvPr id="61" name="Text 58"/>
          <p:cNvSpPr/>
          <p:nvPr/>
        </p:nvSpPr>
        <p:spPr>
          <a:xfrm>
            <a:off x="10205632" y="1967680"/>
            <a:ext cx="1457013"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0,7 %</a:t>
            </a:r>
            <a:endParaRPr lang="en-US" sz="636" dirty="0"/>
          </a:p>
        </p:txBody>
      </p:sp>
      <p:sp>
        <p:nvSpPr>
          <p:cNvPr id="62" name="Text 59"/>
          <p:cNvSpPr/>
          <p:nvPr/>
        </p:nvSpPr>
        <p:spPr>
          <a:xfrm>
            <a:off x="6257769" y="224866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Marzo</a:t>
            </a:r>
            <a:endParaRPr lang="en-US" sz="636" dirty="0"/>
          </a:p>
        </p:txBody>
      </p:sp>
      <p:sp>
        <p:nvSpPr>
          <p:cNvPr id="63" name="Text 60"/>
          <p:cNvSpPr/>
          <p:nvPr/>
        </p:nvSpPr>
        <p:spPr>
          <a:xfrm>
            <a:off x="6257769" y="239154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Abril</a:t>
            </a:r>
            <a:endParaRPr lang="en-US" sz="636" dirty="0"/>
          </a:p>
        </p:txBody>
      </p:sp>
      <p:sp>
        <p:nvSpPr>
          <p:cNvPr id="64" name="Text 61"/>
          <p:cNvSpPr/>
          <p:nvPr/>
        </p:nvSpPr>
        <p:spPr>
          <a:xfrm>
            <a:off x="6257769" y="2677292"/>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Junio</a:t>
            </a:r>
            <a:endParaRPr lang="en-US" sz="636" dirty="0"/>
          </a:p>
        </p:txBody>
      </p:sp>
      <p:sp>
        <p:nvSpPr>
          <p:cNvPr id="65" name="Text 62"/>
          <p:cNvSpPr/>
          <p:nvPr/>
        </p:nvSpPr>
        <p:spPr>
          <a:xfrm>
            <a:off x="6257769" y="2820167"/>
            <a:ext cx="1120237" cy="138113"/>
          </a:xfrm>
          <a:prstGeom prst="rect">
            <a:avLst/>
          </a:prstGeom>
          <a:noFill/>
          <a:ln/>
        </p:spPr>
        <p:txBody>
          <a:bodyPr wrap="square" lIns="19050" tIns="38100" rIns="38100" bIns="19050" rtlCol="0" anchor="ctr"/>
          <a:lstStyle/>
          <a:p>
            <a:pPr marL="0" indent="0" algn="l">
              <a:buNone/>
            </a:pPr>
            <a:r>
              <a:rPr lang="en-US" sz="636" b="1" dirty="0">
                <a:solidFill>
                  <a:srgbClr val="120180"/>
                </a:solidFill>
                <a:latin typeface="Raleway" pitchFamily="34" charset="0"/>
                <a:ea typeface="Raleway" pitchFamily="34" charset="-122"/>
                <a:cs typeface="Raleway" pitchFamily="34" charset="-120"/>
              </a:rPr>
              <a:t>Total</a:t>
            </a:r>
            <a:endParaRPr lang="en-US" sz="636" dirty="0"/>
          </a:p>
        </p:txBody>
      </p:sp>
      <p:sp>
        <p:nvSpPr>
          <p:cNvPr id="66" name="Text 63"/>
          <p:cNvSpPr/>
          <p:nvPr/>
        </p:nvSpPr>
        <p:spPr>
          <a:xfrm>
            <a:off x="7269177" y="2820167"/>
            <a:ext cx="100818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1.065</a:t>
            </a:r>
            <a:endParaRPr lang="en-US" sz="636" dirty="0"/>
          </a:p>
        </p:txBody>
      </p:sp>
      <p:sp>
        <p:nvSpPr>
          <p:cNvPr id="67" name="Text 64"/>
          <p:cNvSpPr/>
          <p:nvPr/>
        </p:nvSpPr>
        <p:spPr>
          <a:xfrm>
            <a:off x="10205632" y="2820167"/>
            <a:ext cx="1457013"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0,7 %</a:t>
            </a:r>
            <a:endParaRPr lang="en-US" sz="636" dirty="0"/>
          </a:p>
        </p:txBody>
      </p:sp>
      <p:sp>
        <p:nvSpPr>
          <p:cNvPr id="68" name="Text 65"/>
          <p:cNvSpPr/>
          <p:nvPr/>
        </p:nvSpPr>
        <p:spPr>
          <a:xfrm>
            <a:off x="10988599" y="3234505"/>
            <a:ext cx="719233"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69" name="Text 66"/>
          <p:cNvSpPr/>
          <p:nvPr/>
        </p:nvSpPr>
        <p:spPr>
          <a:xfrm>
            <a:off x="4374991" y="971550"/>
            <a:ext cx="3584053"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1.065</a:t>
            </a:r>
            <a:endParaRPr lang="en-US" sz="1380" dirty="0"/>
          </a:p>
        </p:txBody>
      </p:sp>
      <p:sp>
        <p:nvSpPr>
          <p:cNvPr id="70" name="Text 67"/>
          <p:cNvSpPr/>
          <p:nvPr/>
        </p:nvSpPr>
        <p:spPr>
          <a:xfrm>
            <a:off x="495288" y="253441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71" name="Text 68"/>
          <p:cNvSpPr/>
          <p:nvPr/>
        </p:nvSpPr>
        <p:spPr>
          <a:xfrm>
            <a:off x="6257769" y="2534417"/>
            <a:ext cx="1120237" cy="142875"/>
          </a:xfrm>
          <a:prstGeom prst="rect">
            <a:avLst/>
          </a:prstGeom>
          <a:noFill/>
          <a:ln/>
        </p:spPr>
        <p:txBody>
          <a:bodyPr wrap="square" lIns="19050" tIns="38100" rIns="38100" bIns="19050" rtlCol="0" anchor="ctr"/>
          <a:lstStyle/>
          <a:p>
            <a:pPr marL="0" indent="0" algn="l">
              <a:buNone/>
            </a:pPr>
            <a:r>
              <a:rPr lang="en-US" sz="636" b="1" dirty="0">
                <a:solidFill>
                  <a:srgbClr val="333333"/>
                </a:solidFill>
                <a:latin typeface="Raleway" pitchFamily="34" charset="0"/>
                <a:ea typeface="Raleway" pitchFamily="34" charset="-122"/>
                <a:cs typeface="Raleway" pitchFamily="34" charset="-120"/>
              </a:rPr>
              <a:t>Mayo</a:t>
            </a:r>
            <a:endParaRPr lang="en-US" sz="636" dirty="0"/>
          </a:p>
        </p:txBody>
      </p:sp>
      <p:sp>
        <p:nvSpPr>
          <p:cNvPr id="72" name="Text 69"/>
          <p:cNvSpPr/>
          <p:nvPr/>
        </p:nvSpPr>
        <p:spPr>
          <a:xfrm>
            <a:off x="495288" y="1796230"/>
            <a:ext cx="1120237"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73" name="Text 70"/>
          <p:cNvSpPr/>
          <p:nvPr/>
        </p:nvSpPr>
        <p:spPr>
          <a:xfrm>
            <a:off x="2958777" y="1967680"/>
            <a:ext cx="1568454" cy="138113"/>
          </a:xfrm>
          <a:prstGeom prst="rect">
            <a:avLst/>
          </a:prstGeom>
          <a:noFill/>
          <a:ln/>
        </p:spPr>
        <p:txBody>
          <a:bodyPr wrap="square" lIns="19050" tIns="38100" rIns="38100" bIns="19050" rtlCol="0" anchor="ctr"/>
          <a:lstStyle/>
          <a:p>
            <a:pPr marL="0" indent="0" algn="r">
              <a:buNone/>
            </a:pPr>
            <a:r>
              <a:rPr lang="en-US" sz="636" dirty="0">
                <a:solidFill>
                  <a:srgbClr val="333333"/>
                </a:solidFill>
                <a:latin typeface="Raleway" pitchFamily="34" charset="0"/>
                <a:ea typeface="Raleway" pitchFamily="34" charset="-122"/>
                <a:cs typeface="Raleway" pitchFamily="34" charset="-120"/>
              </a:rPr>
              <a:t>198</a:t>
            </a:r>
            <a:endParaRPr lang="en-US" sz="636" dirty="0"/>
          </a:p>
        </p:txBody>
      </p:sp>
      <p:sp>
        <p:nvSpPr>
          <p:cNvPr id="74" name="Text 71"/>
          <p:cNvSpPr/>
          <p:nvPr/>
        </p:nvSpPr>
        <p:spPr>
          <a:xfrm>
            <a:off x="2958777" y="2820167"/>
            <a:ext cx="1568454" cy="138113"/>
          </a:xfrm>
          <a:prstGeom prst="rect">
            <a:avLst/>
          </a:prstGeom>
          <a:noFill/>
          <a:ln/>
        </p:spPr>
        <p:txBody>
          <a:bodyPr wrap="square" lIns="19050" tIns="38100" rIns="38100" bIns="19050" rtlCol="0" anchor="ctr"/>
          <a:lstStyle/>
          <a:p>
            <a:pPr marL="0" indent="0" algn="r">
              <a:buNone/>
            </a:pPr>
            <a:r>
              <a:rPr lang="en-US" sz="636" b="1" dirty="0">
                <a:solidFill>
                  <a:srgbClr val="120180"/>
                </a:solidFill>
                <a:latin typeface="Raleway" pitchFamily="34" charset="0"/>
                <a:ea typeface="Raleway" pitchFamily="34" charset="-122"/>
                <a:cs typeface="Raleway" pitchFamily="34" charset="-120"/>
              </a:rPr>
              <a:t>198</a:t>
            </a:r>
            <a:endParaRPr lang="en-US" sz="636" dirty="0"/>
          </a:p>
        </p:txBody>
      </p:sp>
      <p:sp>
        <p:nvSpPr>
          <p:cNvPr id="75" name="Text 72"/>
          <p:cNvSpPr/>
          <p:nvPr/>
        </p:nvSpPr>
        <p:spPr>
          <a:xfrm>
            <a:off x="2329400"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76" name="Text 73"/>
          <p:cNvSpPr/>
          <p:nvPr/>
        </p:nvSpPr>
        <p:spPr>
          <a:xfrm>
            <a:off x="2812186"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77" name="Text 74"/>
          <p:cNvSpPr/>
          <p:nvPr/>
        </p:nvSpPr>
        <p:spPr>
          <a:xfrm>
            <a:off x="3294972"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78" name="Text 75"/>
          <p:cNvSpPr/>
          <p:nvPr/>
        </p:nvSpPr>
        <p:spPr>
          <a:xfrm>
            <a:off x="3777759"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79" name="Text 76"/>
          <p:cNvSpPr/>
          <p:nvPr/>
        </p:nvSpPr>
        <p:spPr>
          <a:xfrm>
            <a:off x="4260545"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80" name="Text 77"/>
          <p:cNvSpPr/>
          <p:nvPr/>
        </p:nvSpPr>
        <p:spPr>
          <a:xfrm>
            <a:off x="4743331"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81" name="Text 78"/>
          <p:cNvSpPr/>
          <p:nvPr/>
        </p:nvSpPr>
        <p:spPr>
          <a:xfrm>
            <a:off x="2329400" y="4067942"/>
            <a:ext cx="497270"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198</a:t>
            </a:r>
            <a:endParaRPr lang="en-US" sz="576" dirty="0"/>
          </a:p>
        </p:txBody>
      </p:sp>
      <p:sp>
        <p:nvSpPr>
          <p:cNvPr id="82" name="Text 79"/>
          <p:cNvSpPr/>
          <p:nvPr/>
        </p:nvSpPr>
        <p:spPr>
          <a:xfrm>
            <a:off x="5226118" y="4067942"/>
            <a:ext cx="719233" cy="128588"/>
          </a:xfrm>
          <a:prstGeom prst="rect">
            <a:avLst/>
          </a:prstGeom>
          <a:noFill/>
          <a:ln/>
        </p:spPr>
        <p:txBody>
          <a:bodyPr wrap="square" lIns="19050" tIns="38100" rIns="38100" bIns="19050" rtlCol="0" anchor="ctr"/>
          <a:lstStyle/>
          <a:p>
            <a:pPr marL="0" indent="0" algn="r">
              <a:buNone/>
            </a:pPr>
            <a:r>
              <a:rPr lang="en-US" sz="576" b="1" dirty="0">
                <a:solidFill>
                  <a:srgbClr val="120180"/>
                </a:solidFill>
                <a:latin typeface="Raleway" pitchFamily="34" charset="0"/>
                <a:ea typeface="Raleway" pitchFamily="34" charset="-122"/>
                <a:cs typeface="Raleway" pitchFamily="34" charset="-120"/>
              </a:rPr>
              <a:t>198</a:t>
            </a:r>
            <a:endParaRPr lang="en-US" sz="576" dirty="0"/>
          </a:p>
        </p:txBody>
      </p:sp>
      <p:sp>
        <p:nvSpPr>
          <p:cNvPr id="83" name="Text 80"/>
          <p:cNvSpPr/>
          <p:nvPr/>
        </p:nvSpPr>
        <p:spPr>
          <a:xfrm>
            <a:off x="6257769" y="1796230"/>
            <a:ext cx="1120237" cy="171450"/>
          </a:xfrm>
          <a:prstGeom prst="rect">
            <a:avLst/>
          </a:prstGeom>
          <a:noFill/>
          <a:ln/>
        </p:spPr>
        <p:txBody>
          <a:bodyPr wrap="square" lIns="19050" tIns="38100" rIns="38100" bIns="19050"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84" name="Text 81"/>
          <p:cNvSpPr/>
          <p:nvPr/>
        </p:nvSpPr>
        <p:spPr>
          <a:xfrm>
            <a:off x="8091881"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85" name="Text 82"/>
          <p:cNvSpPr/>
          <p:nvPr/>
        </p:nvSpPr>
        <p:spPr>
          <a:xfrm>
            <a:off x="8574667"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86" name="Text 83"/>
          <p:cNvSpPr/>
          <p:nvPr/>
        </p:nvSpPr>
        <p:spPr>
          <a:xfrm>
            <a:off x="9057453"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87" name="Text 84"/>
          <p:cNvSpPr/>
          <p:nvPr/>
        </p:nvSpPr>
        <p:spPr>
          <a:xfrm>
            <a:off x="9540240"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88" name="Text 85"/>
          <p:cNvSpPr/>
          <p:nvPr/>
        </p:nvSpPr>
        <p:spPr>
          <a:xfrm>
            <a:off x="10023026"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89" name="Text 86"/>
          <p:cNvSpPr/>
          <p:nvPr/>
        </p:nvSpPr>
        <p:spPr>
          <a:xfrm>
            <a:off x="10505812" y="3234505"/>
            <a:ext cx="497270" cy="171450"/>
          </a:xfrm>
          <a:prstGeom prst="rect">
            <a:avLst/>
          </a:prstGeom>
          <a:noFill/>
          <a:ln/>
        </p:spPr>
        <p:txBody>
          <a:bodyPr wrap="square" lIns="19050" tIns="38100" rIns="38100" bIns="19050"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90" name="Text 87"/>
          <p:cNvSpPr/>
          <p:nvPr/>
        </p:nvSpPr>
        <p:spPr>
          <a:xfrm>
            <a:off x="8091881" y="3405955"/>
            <a:ext cx="497270"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564</a:t>
            </a:r>
            <a:endParaRPr lang="en-US" sz="552" dirty="0"/>
          </a:p>
        </p:txBody>
      </p:sp>
      <p:sp>
        <p:nvSpPr>
          <p:cNvPr id="91" name="Text 88"/>
          <p:cNvSpPr/>
          <p:nvPr/>
        </p:nvSpPr>
        <p:spPr>
          <a:xfrm>
            <a:off x="10988599" y="3405955"/>
            <a:ext cx="719233" cy="128588"/>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564</a:t>
            </a:r>
            <a:endParaRPr lang="en-US" sz="552" dirty="0"/>
          </a:p>
        </p:txBody>
      </p:sp>
      <p:sp>
        <p:nvSpPr>
          <p:cNvPr id="92" name="Text 89"/>
          <p:cNvSpPr/>
          <p:nvPr/>
        </p:nvSpPr>
        <p:spPr>
          <a:xfrm>
            <a:off x="8091881" y="36678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143</a:t>
            </a:r>
            <a:endParaRPr lang="en-US" sz="552" dirty="0"/>
          </a:p>
        </p:txBody>
      </p:sp>
      <p:sp>
        <p:nvSpPr>
          <p:cNvPr id="93" name="Text 90"/>
          <p:cNvSpPr/>
          <p:nvPr/>
        </p:nvSpPr>
        <p:spPr>
          <a:xfrm>
            <a:off x="10988599" y="36678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143</a:t>
            </a:r>
            <a:endParaRPr lang="en-US" sz="552" dirty="0"/>
          </a:p>
        </p:txBody>
      </p:sp>
      <p:sp>
        <p:nvSpPr>
          <p:cNvPr id="94" name="Text 91"/>
          <p:cNvSpPr/>
          <p:nvPr/>
        </p:nvSpPr>
        <p:spPr>
          <a:xfrm>
            <a:off x="8091881" y="38012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188</a:t>
            </a:r>
            <a:endParaRPr lang="en-US" sz="552" dirty="0"/>
          </a:p>
        </p:txBody>
      </p:sp>
      <p:sp>
        <p:nvSpPr>
          <p:cNvPr id="95" name="Text 92"/>
          <p:cNvSpPr/>
          <p:nvPr/>
        </p:nvSpPr>
        <p:spPr>
          <a:xfrm>
            <a:off x="10988599" y="38012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188</a:t>
            </a:r>
            <a:endParaRPr lang="en-US" sz="552" dirty="0"/>
          </a:p>
        </p:txBody>
      </p:sp>
      <p:sp>
        <p:nvSpPr>
          <p:cNvPr id="96" name="Text 93"/>
          <p:cNvSpPr/>
          <p:nvPr/>
        </p:nvSpPr>
        <p:spPr>
          <a:xfrm>
            <a:off x="8091881" y="4334642"/>
            <a:ext cx="497270"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501</a:t>
            </a:r>
            <a:endParaRPr lang="en-US" sz="552" dirty="0"/>
          </a:p>
        </p:txBody>
      </p:sp>
      <p:sp>
        <p:nvSpPr>
          <p:cNvPr id="97" name="Text 94"/>
          <p:cNvSpPr/>
          <p:nvPr/>
        </p:nvSpPr>
        <p:spPr>
          <a:xfrm>
            <a:off x="10988599" y="4334642"/>
            <a:ext cx="719233" cy="133350"/>
          </a:xfrm>
          <a:prstGeom prst="rect">
            <a:avLst/>
          </a:prstGeom>
          <a:noFill/>
          <a:ln/>
        </p:spPr>
        <p:txBody>
          <a:bodyPr wrap="square" lIns="19050" tIns="38100" rIns="38100" bIns="19050" rtlCol="0" anchor="ctr"/>
          <a:lstStyle/>
          <a:p>
            <a:pPr marL="0" indent="0" algn="r">
              <a:buNone/>
            </a:pPr>
            <a:r>
              <a:rPr lang="en-US" sz="552" b="1" dirty="0">
                <a:solidFill>
                  <a:srgbClr val="120180"/>
                </a:solidFill>
                <a:latin typeface="Raleway" pitchFamily="34" charset="0"/>
                <a:ea typeface="Raleway" pitchFamily="34" charset="-122"/>
                <a:cs typeface="Raleway" pitchFamily="34" charset="-120"/>
              </a:rPr>
              <a:t>501</a:t>
            </a:r>
            <a:endParaRPr lang="en-US" sz="552" dirty="0"/>
          </a:p>
        </p:txBody>
      </p:sp>
      <p:sp>
        <p:nvSpPr>
          <p:cNvPr id="98" name="Text 95"/>
          <p:cNvSpPr/>
          <p:nvPr/>
        </p:nvSpPr>
        <p:spPr>
          <a:xfrm>
            <a:off x="8091881" y="44679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455</a:t>
            </a:r>
            <a:endParaRPr lang="en-US" sz="552" dirty="0"/>
          </a:p>
        </p:txBody>
      </p:sp>
      <p:sp>
        <p:nvSpPr>
          <p:cNvPr id="99" name="Text 96"/>
          <p:cNvSpPr/>
          <p:nvPr/>
        </p:nvSpPr>
        <p:spPr>
          <a:xfrm>
            <a:off x="10988599" y="44679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455</a:t>
            </a:r>
            <a:endParaRPr lang="en-US" sz="552" dirty="0"/>
          </a:p>
        </p:txBody>
      </p:sp>
      <p:sp>
        <p:nvSpPr>
          <p:cNvPr id="100" name="Text 97"/>
          <p:cNvSpPr/>
          <p:nvPr/>
        </p:nvSpPr>
        <p:spPr>
          <a:xfrm>
            <a:off x="2329400" y="3405955"/>
            <a:ext cx="497270" cy="128588"/>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67</a:t>
            </a:r>
            <a:endParaRPr lang="en-US" sz="576" dirty="0"/>
          </a:p>
        </p:txBody>
      </p:sp>
      <p:sp>
        <p:nvSpPr>
          <p:cNvPr id="101" name="Text 98"/>
          <p:cNvSpPr/>
          <p:nvPr/>
        </p:nvSpPr>
        <p:spPr>
          <a:xfrm>
            <a:off x="5226118" y="3405955"/>
            <a:ext cx="719233" cy="128588"/>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67</a:t>
            </a:r>
            <a:endParaRPr lang="en-US" sz="576" dirty="0"/>
          </a:p>
        </p:txBody>
      </p:sp>
      <p:sp>
        <p:nvSpPr>
          <p:cNvPr id="102" name="Text 99"/>
          <p:cNvSpPr/>
          <p:nvPr/>
        </p:nvSpPr>
        <p:spPr>
          <a:xfrm>
            <a:off x="2329400" y="353454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66</a:t>
            </a:r>
            <a:endParaRPr lang="en-US" sz="576" dirty="0"/>
          </a:p>
        </p:txBody>
      </p:sp>
      <p:sp>
        <p:nvSpPr>
          <p:cNvPr id="103" name="Text 100"/>
          <p:cNvSpPr/>
          <p:nvPr/>
        </p:nvSpPr>
        <p:spPr>
          <a:xfrm>
            <a:off x="5226118" y="353454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66</a:t>
            </a:r>
            <a:endParaRPr lang="en-US" sz="576" dirty="0"/>
          </a:p>
        </p:txBody>
      </p:sp>
      <p:sp>
        <p:nvSpPr>
          <p:cNvPr id="104" name="Text 101"/>
          <p:cNvSpPr/>
          <p:nvPr/>
        </p:nvSpPr>
        <p:spPr>
          <a:xfrm>
            <a:off x="2329400" y="36678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58</a:t>
            </a:r>
            <a:endParaRPr lang="en-US" sz="576" dirty="0"/>
          </a:p>
        </p:txBody>
      </p:sp>
      <p:sp>
        <p:nvSpPr>
          <p:cNvPr id="105" name="Text 102"/>
          <p:cNvSpPr/>
          <p:nvPr/>
        </p:nvSpPr>
        <p:spPr>
          <a:xfrm>
            <a:off x="5226118" y="3667892"/>
            <a:ext cx="719233"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58</a:t>
            </a:r>
            <a:endParaRPr lang="en-US" sz="576" dirty="0"/>
          </a:p>
        </p:txBody>
      </p:sp>
      <p:sp>
        <p:nvSpPr>
          <p:cNvPr id="106" name="Text 103"/>
          <p:cNvSpPr/>
          <p:nvPr/>
        </p:nvSpPr>
        <p:spPr>
          <a:xfrm>
            <a:off x="8091881" y="39345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90</a:t>
            </a:r>
            <a:endParaRPr lang="en-US" sz="552" dirty="0"/>
          </a:p>
        </p:txBody>
      </p:sp>
      <p:sp>
        <p:nvSpPr>
          <p:cNvPr id="107" name="Text 104"/>
          <p:cNvSpPr/>
          <p:nvPr/>
        </p:nvSpPr>
        <p:spPr>
          <a:xfrm>
            <a:off x="10988599" y="39345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90</a:t>
            </a:r>
            <a:endParaRPr lang="en-US" sz="552" dirty="0"/>
          </a:p>
        </p:txBody>
      </p:sp>
      <p:sp>
        <p:nvSpPr>
          <p:cNvPr id="108" name="Text 105"/>
          <p:cNvSpPr/>
          <p:nvPr/>
        </p:nvSpPr>
        <p:spPr>
          <a:xfrm>
            <a:off x="8091881" y="406794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68</a:t>
            </a:r>
            <a:endParaRPr lang="en-US" sz="552" dirty="0"/>
          </a:p>
        </p:txBody>
      </p:sp>
      <p:sp>
        <p:nvSpPr>
          <p:cNvPr id="109" name="Text 106"/>
          <p:cNvSpPr/>
          <p:nvPr/>
        </p:nvSpPr>
        <p:spPr>
          <a:xfrm>
            <a:off x="10988599" y="406794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68</a:t>
            </a:r>
            <a:endParaRPr lang="en-US" sz="552" dirty="0"/>
          </a:p>
        </p:txBody>
      </p:sp>
      <p:sp>
        <p:nvSpPr>
          <p:cNvPr id="110" name="Text 107"/>
          <p:cNvSpPr/>
          <p:nvPr/>
        </p:nvSpPr>
        <p:spPr>
          <a:xfrm>
            <a:off x="8091881" y="4201292"/>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71</a:t>
            </a:r>
            <a:endParaRPr lang="en-US" sz="552" dirty="0"/>
          </a:p>
        </p:txBody>
      </p:sp>
      <p:sp>
        <p:nvSpPr>
          <p:cNvPr id="111" name="Text 108"/>
          <p:cNvSpPr/>
          <p:nvPr/>
        </p:nvSpPr>
        <p:spPr>
          <a:xfrm>
            <a:off x="10988599" y="4201292"/>
            <a:ext cx="719233"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71</a:t>
            </a:r>
            <a:endParaRPr lang="en-US" sz="552" dirty="0"/>
          </a:p>
        </p:txBody>
      </p:sp>
      <p:sp>
        <p:nvSpPr>
          <p:cNvPr id="112" name="Text 109"/>
          <p:cNvSpPr/>
          <p:nvPr/>
        </p:nvSpPr>
        <p:spPr>
          <a:xfrm>
            <a:off x="8091881" y="4601342"/>
            <a:ext cx="497270" cy="128588"/>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46</a:t>
            </a:r>
            <a:endParaRPr lang="en-US" sz="552" dirty="0"/>
          </a:p>
        </p:txBody>
      </p:sp>
      <p:sp>
        <p:nvSpPr>
          <p:cNvPr id="113" name="Text 110"/>
          <p:cNvSpPr/>
          <p:nvPr/>
        </p:nvSpPr>
        <p:spPr>
          <a:xfrm>
            <a:off x="10988599" y="4601342"/>
            <a:ext cx="719233" cy="128588"/>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46</a:t>
            </a:r>
            <a:endParaRPr lang="en-US" sz="552" dirty="0"/>
          </a:p>
        </p:txBody>
      </p:sp>
      <p:sp>
        <p:nvSpPr>
          <p:cNvPr id="115" name="Text 66">
            <a:extLst>
              <a:ext uri="{FF2B5EF4-FFF2-40B4-BE49-F238E27FC236}">
                <a16:creationId xmlns:a16="http://schemas.microsoft.com/office/drawing/2014/main" id="{0CD4322A-8555-A046-0190-6822A6E20482}"/>
              </a:ext>
            </a:extLst>
          </p:cNvPr>
          <p:cNvSpPr/>
          <p:nvPr/>
        </p:nvSpPr>
        <p:spPr>
          <a:xfrm>
            <a:off x="8216595" y="991264"/>
            <a:ext cx="3584053" cy="216603"/>
          </a:xfrm>
          <a:prstGeom prst="rect">
            <a:avLst/>
          </a:prstGeom>
          <a:noFill/>
          <a:ln/>
        </p:spPr>
        <p:txBody>
          <a:bodyPr wrap="square" lIns="0" tIns="0" rIns="0" bIns="0" rtlCol="0" anchor="t"/>
          <a:lstStyle/>
          <a:p>
            <a:pPr marL="0" indent="0" algn="l">
              <a:buNone/>
            </a:pPr>
            <a:r>
              <a:rPr lang="en-US" sz="1380" b="1" dirty="0">
                <a:solidFill>
                  <a:srgbClr val="5AE280"/>
                </a:solidFill>
                <a:latin typeface="Raleway" pitchFamily="34" charset="0"/>
                <a:ea typeface="Raleway" pitchFamily="34" charset="-122"/>
                <a:cs typeface="Raleway" pitchFamily="34" charset="-120"/>
              </a:rPr>
              <a:t>4</a:t>
            </a:r>
            <a:endParaRPr lang="en-US" sz="1380" dirty="0"/>
          </a:p>
        </p:txBody>
      </p:sp>
      <p:sp>
        <p:nvSpPr>
          <p:cNvPr id="117" name="TextBox 116">
            <a:extLst>
              <a:ext uri="{FF2B5EF4-FFF2-40B4-BE49-F238E27FC236}">
                <a16:creationId xmlns:a16="http://schemas.microsoft.com/office/drawing/2014/main" id="{06406F32-358E-DB70-C19C-C3F6C770E82B}"/>
              </a:ext>
            </a:extLst>
          </p:cNvPr>
          <p:cNvSpPr txBox="1"/>
          <p:nvPr/>
        </p:nvSpPr>
        <p:spPr>
          <a:xfrm>
            <a:off x="634509" y="5024760"/>
            <a:ext cx="6096000" cy="550407"/>
          </a:xfrm>
          <a:prstGeom prst="rect">
            <a:avLst/>
          </a:prstGeom>
          <a:noFill/>
        </p:spPr>
        <p:txBody>
          <a:bodyPr wrap="square">
            <a:spAutoFit/>
          </a:bodyPr>
          <a:lstStyle/>
          <a:p>
            <a:pPr marL="0" marR="0" indent="0" algn="l">
              <a:buNone/>
            </a:pPr>
            <a:r>
              <a:rPr lang="es-CO" sz="744" b="1" i="0" dirty="0">
                <a:solidFill>
                  <a:srgbClr val="120180"/>
                </a:solidFill>
                <a:effectLst/>
                <a:latin typeface="Raleway" pitchFamily="2" charset="0"/>
              </a:rPr>
              <a:t>Observaciones Clave de la Base:</a:t>
            </a:r>
          </a:p>
          <a:p>
            <a:pPr marL="0" marR="0" indent="0" algn="l">
              <a:buFont typeface="Arial" panose="020B0604020202020204" pitchFamily="34" charset="0"/>
              <a:buChar char="•"/>
            </a:pPr>
            <a:r>
              <a:rPr lang="es-CO" sz="744" b="1" i="0" dirty="0">
                <a:solidFill>
                  <a:srgbClr val="120180"/>
                </a:solidFill>
                <a:effectLst/>
                <a:latin typeface="Raleway" pitchFamily="2" charset="0"/>
              </a:rPr>
              <a:t>Esta base sólo estuvo activa en enero de 2026 (campaña táctica sobre solicitudes de cancelaciones previas).</a:t>
            </a:r>
          </a:p>
          <a:p>
            <a:pPr marL="0" marR="0" indent="0" algn="l">
              <a:buFont typeface="Arial" panose="020B0604020202020204" pitchFamily="34" charset="0"/>
              <a:buChar char="•"/>
            </a:pPr>
            <a:r>
              <a:rPr lang="es-CO" sz="744" b="1" i="0" dirty="0">
                <a:solidFill>
                  <a:srgbClr val="120180"/>
                </a:solidFill>
                <a:effectLst/>
                <a:latin typeface="Raleway" pitchFamily="2" charset="0"/>
              </a:rPr>
              <a:t>Mostró una efectividad extremadamente baja (4 ventas totales, 0,38 % del apto), lo que sustentó su suspensión inmediata.</a:t>
            </a:r>
          </a:p>
          <a:p>
            <a:pPr marL="0" marR="0" indent="0" algn="l">
              <a:buFont typeface="Arial" panose="020B0604020202020204" pitchFamily="34" charset="0"/>
              <a:buChar char="•"/>
            </a:pPr>
            <a:r>
              <a:rPr lang="es-CO" sz="744" b="1" i="0" dirty="0">
                <a:solidFill>
                  <a:srgbClr val="120180"/>
                </a:solidFill>
                <a:effectLst/>
                <a:latin typeface="Raleway" pitchFamily="2" charset="0"/>
              </a:rPr>
              <a:t>El descarte principal se concentró en </a:t>
            </a:r>
            <a:r>
              <a:rPr lang="es-CO" sz="744" b="1" i="0" dirty="0" err="1">
                <a:solidFill>
                  <a:srgbClr val="120180"/>
                </a:solidFill>
                <a:effectLst/>
                <a:latin typeface="Raleway" pitchFamily="2" charset="0"/>
              </a:rPr>
              <a:t>Microseguro</a:t>
            </a:r>
            <a:r>
              <a:rPr lang="es-CO" sz="744" b="1" i="0" dirty="0">
                <a:solidFill>
                  <a:srgbClr val="120180"/>
                </a:solidFill>
                <a:effectLst/>
                <a:latin typeface="Raleway" pitchFamily="2" charset="0"/>
              </a:rPr>
              <a:t> Activo (33,8 %) y NIT de Empresa (33,3 %).</a:t>
            </a:r>
          </a:p>
        </p:txBody>
      </p:sp>
      <p:sp>
        <p:nvSpPr>
          <p:cNvPr id="120" name="Text 101">
            <a:extLst>
              <a:ext uri="{FF2B5EF4-FFF2-40B4-BE49-F238E27FC236}">
                <a16:creationId xmlns:a16="http://schemas.microsoft.com/office/drawing/2014/main" id="{107425BE-E80A-A661-426E-39F7742B70AA}"/>
              </a:ext>
            </a:extLst>
          </p:cNvPr>
          <p:cNvSpPr/>
          <p:nvPr/>
        </p:nvSpPr>
        <p:spPr>
          <a:xfrm>
            <a:off x="2323050" y="3820292"/>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6</a:t>
            </a:r>
            <a:endParaRPr lang="en-US" sz="576" dirty="0"/>
          </a:p>
        </p:txBody>
      </p:sp>
      <p:sp>
        <p:nvSpPr>
          <p:cNvPr id="122" name="Text 101">
            <a:extLst>
              <a:ext uri="{FF2B5EF4-FFF2-40B4-BE49-F238E27FC236}">
                <a16:creationId xmlns:a16="http://schemas.microsoft.com/office/drawing/2014/main" id="{FD47F47D-6A0D-A1F2-DFBC-231CDCB866B2}"/>
              </a:ext>
            </a:extLst>
          </p:cNvPr>
          <p:cNvSpPr/>
          <p:nvPr/>
        </p:nvSpPr>
        <p:spPr>
          <a:xfrm>
            <a:off x="2314916" y="3939354"/>
            <a:ext cx="497270" cy="133350"/>
          </a:xfrm>
          <a:prstGeom prst="rect">
            <a:avLst/>
          </a:prstGeom>
          <a:noFill/>
          <a:ln/>
        </p:spPr>
        <p:txBody>
          <a:bodyPr wrap="square" lIns="19050" tIns="38100" rIns="38100" bIns="19050" rtlCol="0" anchor="ctr"/>
          <a:lstStyle/>
          <a:p>
            <a:pPr marL="0" indent="0" algn="r">
              <a:buNone/>
            </a:pPr>
            <a:r>
              <a:rPr lang="en-US" sz="576" dirty="0">
                <a:solidFill>
                  <a:srgbClr val="333333"/>
                </a:solidFill>
                <a:latin typeface="Raleway" pitchFamily="34" charset="0"/>
                <a:ea typeface="Raleway" pitchFamily="34" charset="-122"/>
                <a:cs typeface="Raleway" pitchFamily="34" charset="-120"/>
              </a:rPr>
              <a:t>1</a:t>
            </a:r>
            <a:endParaRPr lang="en-US" sz="576" dirty="0"/>
          </a:p>
        </p:txBody>
      </p:sp>
      <p:sp>
        <p:nvSpPr>
          <p:cNvPr id="124" name="Text 101">
            <a:extLst>
              <a:ext uri="{FF2B5EF4-FFF2-40B4-BE49-F238E27FC236}">
                <a16:creationId xmlns:a16="http://schemas.microsoft.com/office/drawing/2014/main" id="{7BCA9673-C590-D30A-79DC-9125583F9365}"/>
              </a:ext>
            </a:extLst>
          </p:cNvPr>
          <p:cNvSpPr/>
          <p:nvPr/>
        </p:nvSpPr>
        <p:spPr>
          <a:xfrm>
            <a:off x="5427438" y="3820292"/>
            <a:ext cx="497270"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6</a:t>
            </a:r>
            <a:endParaRPr lang="en-US" sz="576" b="1" dirty="0"/>
          </a:p>
        </p:txBody>
      </p:sp>
      <p:sp>
        <p:nvSpPr>
          <p:cNvPr id="126" name="Text 101">
            <a:extLst>
              <a:ext uri="{FF2B5EF4-FFF2-40B4-BE49-F238E27FC236}">
                <a16:creationId xmlns:a16="http://schemas.microsoft.com/office/drawing/2014/main" id="{C351B35B-852E-8AB4-34F2-AD4CFF4A4EB8}"/>
              </a:ext>
            </a:extLst>
          </p:cNvPr>
          <p:cNvSpPr/>
          <p:nvPr/>
        </p:nvSpPr>
        <p:spPr>
          <a:xfrm>
            <a:off x="5419304" y="3939354"/>
            <a:ext cx="497270" cy="133350"/>
          </a:xfrm>
          <a:prstGeom prst="rect">
            <a:avLst/>
          </a:prstGeom>
          <a:noFill/>
          <a:ln/>
        </p:spPr>
        <p:txBody>
          <a:bodyPr wrap="square" lIns="19050" tIns="38100" rIns="38100" bIns="19050" rtlCol="0" anchor="ctr"/>
          <a:lstStyle/>
          <a:p>
            <a:pPr marL="0" indent="0" algn="r">
              <a:buNone/>
            </a:pPr>
            <a:r>
              <a:rPr lang="en-US" sz="576" b="1" dirty="0">
                <a:solidFill>
                  <a:srgbClr val="333333"/>
                </a:solidFill>
                <a:latin typeface="Raleway" pitchFamily="34" charset="0"/>
                <a:ea typeface="Raleway" pitchFamily="34" charset="-122"/>
                <a:cs typeface="Raleway" pitchFamily="34" charset="-120"/>
              </a:rPr>
              <a:t>1</a:t>
            </a:r>
            <a:endParaRPr lang="en-US" sz="576" b="1" dirty="0"/>
          </a:p>
        </p:txBody>
      </p:sp>
      <p:sp>
        <p:nvSpPr>
          <p:cNvPr id="128" name="Text 89">
            <a:extLst>
              <a:ext uri="{FF2B5EF4-FFF2-40B4-BE49-F238E27FC236}">
                <a16:creationId xmlns:a16="http://schemas.microsoft.com/office/drawing/2014/main" id="{103EC18A-18D2-F1EB-8905-B0C7E81CE4D9}"/>
              </a:ext>
            </a:extLst>
          </p:cNvPr>
          <p:cNvSpPr/>
          <p:nvPr/>
        </p:nvSpPr>
        <p:spPr>
          <a:xfrm>
            <a:off x="8091881" y="3526908"/>
            <a:ext cx="497270" cy="133350"/>
          </a:xfrm>
          <a:prstGeom prst="rect">
            <a:avLst/>
          </a:prstGeom>
          <a:noFill/>
          <a:ln/>
        </p:spPr>
        <p:txBody>
          <a:bodyPr wrap="square" lIns="19050" tIns="38100" rIns="38100" bIns="19050" rtlCol="0" anchor="ctr"/>
          <a:lstStyle/>
          <a:p>
            <a:pPr marL="0" indent="0" algn="r">
              <a:buNone/>
            </a:pPr>
            <a:r>
              <a:rPr lang="en-US" sz="552" dirty="0">
                <a:solidFill>
                  <a:srgbClr val="333333"/>
                </a:solidFill>
                <a:latin typeface="Raleway" pitchFamily="34" charset="0"/>
                <a:ea typeface="Raleway" pitchFamily="34" charset="-122"/>
                <a:cs typeface="Raleway" pitchFamily="34" charset="-120"/>
              </a:rPr>
              <a:t>4</a:t>
            </a:r>
            <a:endParaRPr lang="en-US" sz="552" dirty="0"/>
          </a:p>
        </p:txBody>
      </p:sp>
      <p:sp>
        <p:nvSpPr>
          <p:cNvPr id="130" name="Text 89">
            <a:extLst>
              <a:ext uri="{FF2B5EF4-FFF2-40B4-BE49-F238E27FC236}">
                <a16:creationId xmlns:a16="http://schemas.microsoft.com/office/drawing/2014/main" id="{DB827D1B-9093-BAAC-C40B-FE24B92BC813}"/>
              </a:ext>
            </a:extLst>
          </p:cNvPr>
          <p:cNvSpPr/>
          <p:nvPr/>
        </p:nvSpPr>
        <p:spPr>
          <a:xfrm>
            <a:off x="11210562" y="3526908"/>
            <a:ext cx="497270" cy="133350"/>
          </a:xfrm>
          <a:prstGeom prst="rect">
            <a:avLst/>
          </a:prstGeom>
          <a:noFill/>
          <a:ln/>
        </p:spPr>
        <p:txBody>
          <a:bodyPr wrap="square" lIns="19050" tIns="38100" rIns="38100" bIns="19050" rtlCol="0" anchor="ctr"/>
          <a:lstStyle/>
          <a:p>
            <a:pPr marL="0" indent="0" algn="r">
              <a:buNone/>
            </a:pPr>
            <a:r>
              <a:rPr lang="en-US" sz="552" b="1" dirty="0">
                <a:solidFill>
                  <a:srgbClr val="333333"/>
                </a:solidFill>
                <a:latin typeface="Raleway" pitchFamily="34" charset="0"/>
                <a:ea typeface="Raleway" pitchFamily="34" charset="-122"/>
                <a:cs typeface="Raleway" pitchFamily="34" charset="-120"/>
              </a:rPr>
              <a:t>4</a:t>
            </a:r>
            <a:endParaRPr lang="en-US" sz="552"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C:\01_Repositorios\13_Presentaciones\dash\televentas\ppt_slides\sk_12_Vanti.png"/>
          <p:cNvPicPr>
            <a:picLocks noChangeAspect="1"/>
          </p:cNvPicPr>
          <p:nvPr/>
        </p:nvPicPr>
        <p:blipFill>
          <a:blip r:embed="rId3"/>
          <a:stretch>
            <a:fillRect/>
          </a:stretch>
        </p:blipFill>
        <p:spPr>
          <a:xfrm>
            <a:off x="305" y="0"/>
            <a:ext cx="12191695" cy="6858000"/>
          </a:xfrm>
          <a:prstGeom prst="rect">
            <a:avLst/>
          </a:prstGeom>
        </p:spPr>
      </p:pic>
      <p:sp>
        <p:nvSpPr>
          <p:cNvPr id="4" name="Text 1"/>
          <p:cNvSpPr/>
          <p:nvPr/>
        </p:nvSpPr>
        <p:spPr>
          <a:xfrm>
            <a:off x="8650716" y="2213276"/>
            <a:ext cx="2881989" cy="290513"/>
          </a:xfrm>
          <a:prstGeom prst="rect">
            <a:avLst/>
          </a:prstGeom>
          <a:noFill/>
          <a:ln/>
        </p:spPr>
        <p:txBody>
          <a:bodyPr wrap="square" lIns="38100" tIns="114300" rIns="114300" bIns="38100" rtlCol="0" anchor="ctr"/>
          <a:lstStyle/>
          <a:p>
            <a:pPr marL="0" indent="0" algn="l">
              <a:buNone/>
            </a:pPr>
            <a:r>
              <a:rPr lang="en-US" sz="720" dirty="0">
                <a:solidFill>
                  <a:srgbClr val="9098B0"/>
                </a:solidFill>
                <a:latin typeface="Raleway" pitchFamily="34" charset="0"/>
                <a:ea typeface="Raleway" pitchFamily="34" charset="-122"/>
                <a:cs typeface="Raleway" pitchFamily="34" charset="-120"/>
              </a:rPr>
              <a:t>Semanas Ganadoras: 1.292/950 ventas (136 %) · Bono $100K/semana × trío</a:t>
            </a:r>
            <a:endParaRPr lang="en-US" sz="720" dirty="0"/>
          </a:p>
        </p:txBody>
      </p:sp>
      <p:sp>
        <p:nvSpPr>
          <p:cNvPr id="5" name="Text 2"/>
          <p:cNvSpPr/>
          <p:nvPr/>
        </p:nvSpPr>
        <p:spPr>
          <a:xfrm>
            <a:off x="8650716" y="2503789"/>
            <a:ext cx="2881989" cy="352425"/>
          </a:xfrm>
          <a:prstGeom prst="rect">
            <a:avLst/>
          </a:prstGeom>
          <a:noFill/>
          <a:ln/>
        </p:spPr>
        <p:txBody>
          <a:bodyPr wrap="square" lIns="38100" tIns="114300" rIns="114300" bIns="38100" rtlCol="0" anchor="ctr"/>
          <a:lstStyle/>
          <a:p>
            <a:pPr marL="0" indent="0" algn="l">
              <a:buNone/>
            </a:pPr>
            <a:r>
              <a:rPr lang="en-US" sz="720" dirty="0">
                <a:solidFill>
                  <a:srgbClr val="9098B0"/>
                </a:solidFill>
                <a:latin typeface="Raleway" pitchFamily="34" charset="0"/>
                <a:ea typeface="Raleway" pitchFamily="34" charset="-122"/>
                <a:cs typeface="Raleway" pitchFamily="34" charset="-120"/>
              </a:rPr>
              <a:t>La Gran Jugada: 4.798/4.200 ventas (114 %) · $7.000.000 al equipo</a:t>
            </a:r>
            <a:endParaRPr lang="en-US" sz="720" dirty="0"/>
          </a:p>
        </p:txBody>
      </p:sp>
      <p:sp>
        <p:nvSpPr>
          <p:cNvPr id="6" name="Text 3"/>
          <p:cNvSpPr/>
          <p:nvPr/>
        </p:nvSpPr>
        <p:spPr>
          <a:xfrm>
            <a:off x="8650716" y="2856214"/>
            <a:ext cx="2881989" cy="219075"/>
          </a:xfrm>
          <a:prstGeom prst="rect">
            <a:avLst/>
          </a:prstGeom>
          <a:noFill/>
          <a:ln/>
        </p:spPr>
        <p:txBody>
          <a:bodyPr wrap="square" lIns="38100" tIns="114300" rIns="114300" bIns="38100" rtlCol="0" anchor="ctr"/>
          <a:lstStyle/>
          <a:p>
            <a:pPr marL="0" indent="0" algn="l">
              <a:buNone/>
            </a:pPr>
            <a:r>
              <a:rPr lang="en-US" sz="720" dirty="0">
                <a:solidFill>
                  <a:srgbClr val="9098B0"/>
                </a:solidFill>
                <a:latin typeface="Raleway" pitchFamily="34" charset="0"/>
                <a:ea typeface="Raleway" pitchFamily="34" charset="-122"/>
                <a:cs typeface="Raleway" pitchFamily="34" charset="-120"/>
              </a:rPr>
              <a:t>Acelerador Mayo: 560/650 ventas (86 %) · Bono $300.000</a:t>
            </a:r>
            <a:endParaRPr lang="en-US" sz="720" dirty="0"/>
          </a:p>
        </p:txBody>
      </p:sp>
      <p:sp>
        <p:nvSpPr>
          <p:cNvPr id="7" name="Text 4"/>
          <p:cNvSpPr/>
          <p:nvPr/>
        </p:nvSpPr>
        <p:spPr>
          <a:xfrm>
            <a:off x="8650716" y="3066663"/>
            <a:ext cx="2881989" cy="214313"/>
          </a:xfrm>
          <a:prstGeom prst="rect">
            <a:avLst/>
          </a:prstGeom>
          <a:noFill/>
          <a:ln/>
        </p:spPr>
        <p:txBody>
          <a:bodyPr wrap="square" lIns="38100" tIns="114300" rIns="114300" bIns="38100" rtlCol="0" anchor="ctr"/>
          <a:lstStyle/>
          <a:p>
            <a:pPr marL="0" indent="0" algn="l">
              <a:buNone/>
            </a:pPr>
            <a:r>
              <a:rPr lang="en-US" sz="720" b="1" dirty="0" err="1">
                <a:solidFill>
                  <a:srgbClr val="120180"/>
                </a:solidFill>
                <a:latin typeface="Raleway" pitchFamily="34" charset="0"/>
                <a:ea typeface="Raleway" pitchFamily="34" charset="-122"/>
                <a:cs typeface="Raleway" pitchFamily="34" charset="-120"/>
              </a:rPr>
              <a:t>eventos</a:t>
            </a:r>
            <a:r>
              <a:rPr lang="en-US" sz="720" b="1" dirty="0">
                <a:solidFill>
                  <a:srgbClr val="120180"/>
                </a:solidFill>
                <a:latin typeface="Raleway" pitchFamily="34" charset="0"/>
                <a:ea typeface="Raleway" pitchFamily="34" charset="-122"/>
                <a:cs typeface="Raleway" pitchFamily="34" charset="-120"/>
              </a:rPr>
              <a:t> de incentivo Vanti en el semestre</a:t>
            </a:r>
            <a:endParaRPr lang="en-US" sz="720" dirty="0"/>
          </a:p>
        </p:txBody>
      </p:sp>
      <p:sp>
        <p:nvSpPr>
          <p:cNvPr id="8" name="Text 5"/>
          <p:cNvSpPr/>
          <p:nvPr/>
        </p:nvSpPr>
        <p:spPr>
          <a:xfrm>
            <a:off x="1213514" y="219075"/>
            <a:ext cx="3214013" cy="196215"/>
          </a:xfrm>
          <a:prstGeom prst="rect">
            <a:avLst/>
          </a:prstGeom>
          <a:noFill/>
          <a:ln/>
        </p:spPr>
        <p:txBody>
          <a:bodyPr wrap="square" lIns="0" tIns="0" rIns="0" bIns="0" rtlCol="0" anchor="t"/>
          <a:lstStyle/>
          <a:p>
            <a:pPr marL="0" indent="0" algn="l">
              <a:buNone/>
            </a:pPr>
            <a:r>
              <a:rPr lang="en-US" sz="1260" b="1" dirty="0">
                <a:solidFill>
                  <a:srgbClr val="FFFFFF"/>
                </a:solidFill>
                <a:latin typeface="Raleway" pitchFamily="34" charset="0"/>
                <a:ea typeface="Raleway" pitchFamily="34" charset="-122"/>
                <a:cs typeface="Raleway" pitchFamily="34" charset="-120"/>
              </a:rPr>
              <a:t>Desempeño del Equipo · Top Asesores</a:t>
            </a:r>
            <a:endParaRPr lang="en-US" sz="1260" dirty="0"/>
          </a:p>
        </p:txBody>
      </p:sp>
      <p:sp>
        <p:nvSpPr>
          <p:cNvPr id="9" name="Text 6"/>
          <p:cNvSpPr/>
          <p:nvPr/>
        </p:nvSpPr>
        <p:spPr>
          <a:xfrm>
            <a:off x="1015429" y="28003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Julithza Milagros Padilla MejíA</a:t>
            </a:r>
            <a:endParaRPr lang="en-US" sz="660" dirty="0"/>
          </a:p>
        </p:txBody>
      </p:sp>
      <p:sp>
        <p:nvSpPr>
          <p:cNvPr id="10" name="Text 7"/>
          <p:cNvSpPr/>
          <p:nvPr/>
        </p:nvSpPr>
        <p:spPr>
          <a:xfrm>
            <a:off x="1015429" y="4619648"/>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Karina Yisell Marquez Hernandez</a:t>
            </a:r>
            <a:endParaRPr lang="en-US" sz="660" dirty="0"/>
          </a:p>
        </p:txBody>
      </p:sp>
      <p:sp>
        <p:nvSpPr>
          <p:cNvPr id="11" name="Text 8"/>
          <p:cNvSpPr/>
          <p:nvPr/>
        </p:nvSpPr>
        <p:spPr>
          <a:xfrm>
            <a:off x="1015429" y="1895498"/>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 Dayana D. Guerrero HernáNdez</a:t>
            </a:r>
            <a:endParaRPr lang="en-US" sz="660" dirty="0"/>
          </a:p>
        </p:txBody>
      </p:sp>
      <p:sp>
        <p:nvSpPr>
          <p:cNvPr id="12" name="Text 9"/>
          <p:cNvSpPr/>
          <p:nvPr/>
        </p:nvSpPr>
        <p:spPr>
          <a:xfrm>
            <a:off x="1015429" y="2047898"/>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 Anderson Monterrosa Castilla</a:t>
            </a:r>
            <a:endParaRPr lang="en-US" sz="660" dirty="0"/>
          </a:p>
        </p:txBody>
      </p:sp>
      <p:sp>
        <p:nvSpPr>
          <p:cNvPr id="14" name="Text 11"/>
          <p:cNvSpPr/>
          <p:nvPr/>
        </p:nvSpPr>
        <p:spPr>
          <a:xfrm>
            <a:off x="1015429" y="1590698"/>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 Melissa Paola Orozco Jinete</a:t>
            </a:r>
            <a:endParaRPr lang="en-US" sz="660" dirty="0"/>
          </a:p>
        </p:txBody>
      </p:sp>
      <p:sp>
        <p:nvSpPr>
          <p:cNvPr id="15" name="Text 12"/>
          <p:cNvSpPr/>
          <p:nvPr/>
        </p:nvSpPr>
        <p:spPr>
          <a:xfrm>
            <a:off x="1015429" y="5076848"/>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Michelle Paola Robles Becerra</a:t>
            </a:r>
            <a:endParaRPr lang="en-US" sz="660" dirty="0"/>
          </a:p>
        </p:txBody>
      </p:sp>
      <p:sp>
        <p:nvSpPr>
          <p:cNvPr id="16" name="Text 13"/>
          <p:cNvSpPr/>
          <p:nvPr/>
        </p:nvSpPr>
        <p:spPr>
          <a:xfrm>
            <a:off x="923907" y="1028700"/>
            <a:ext cx="6435691" cy="206026"/>
          </a:xfrm>
          <a:prstGeom prst="rect">
            <a:avLst/>
          </a:prstGeom>
          <a:noFill/>
          <a:ln/>
        </p:spPr>
        <p:txBody>
          <a:bodyPr wrap="square" lIns="0" tIns="0" rIns="0" bIns="28575" rtlCol="0" anchor="t"/>
          <a:lstStyle/>
          <a:p>
            <a:pPr marL="0" indent="0" algn="l">
              <a:buNone/>
            </a:pPr>
            <a:r>
              <a:rPr lang="en-US" sz="864" b="1" dirty="0">
                <a:solidFill>
                  <a:srgbClr val="120180"/>
                </a:solidFill>
                <a:latin typeface="Raleway" pitchFamily="34" charset="0"/>
                <a:ea typeface="Raleway" pitchFamily="34" charset="-122"/>
                <a:cs typeface="Raleway" pitchFamily="34" charset="-120"/>
              </a:rPr>
              <a:t>Equipo completo (25 asesores)</a:t>
            </a:r>
            <a:endParaRPr lang="en-US" sz="864" dirty="0"/>
          </a:p>
        </p:txBody>
      </p:sp>
      <p:sp>
        <p:nvSpPr>
          <p:cNvPr id="17" name="Text 14"/>
          <p:cNvSpPr/>
          <p:nvPr/>
        </p:nvSpPr>
        <p:spPr>
          <a:xfrm>
            <a:off x="1015429" y="31051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Isabella SofíA Rueda Caserta</a:t>
            </a:r>
            <a:endParaRPr lang="en-US" sz="660" dirty="0"/>
          </a:p>
        </p:txBody>
      </p:sp>
      <p:sp>
        <p:nvSpPr>
          <p:cNvPr id="18" name="Text 15"/>
          <p:cNvSpPr/>
          <p:nvPr/>
        </p:nvSpPr>
        <p:spPr>
          <a:xfrm>
            <a:off x="1015429" y="1443060"/>
            <a:ext cx="2296884" cy="147637"/>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 JesúS David CortéS Ortega</a:t>
            </a:r>
            <a:endParaRPr lang="en-US" sz="660" dirty="0"/>
          </a:p>
        </p:txBody>
      </p:sp>
      <p:sp>
        <p:nvSpPr>
          <p:cNvPr id="19" name="Text 16"/>
          <p:cNvSpPr/>
          <p:nvPr/>
        </p:nvSpPr>
        <p:spPr>
          <a:xfrm>
            <a:off x="1015429" y="26479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Santiago Elí CháVez Carmona</a:t>
            </a:r>
            <a:endParaRPr lang="en-US" sz="660" dirty="0"/>
          </a:p>
        </p:txBody>
      </p:sp>
      <p:sp>
        <p:nvSpPr>
          <p:cNvPr id="20" name="Text 17"/>
          <p:cNvSpPr/>
          <p:nvPr/>
        </p:nvSpPr>
        <p:spPr>
          <a:xfrm>
            <a:off x="1015429" y="29527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Nohelia H. Salas Monterrosa</a:t>
            </a:r>
            <a:endParaRPr lang="en-US" sz="660" dirty="0"/>
          </a:p>
        </p:txBody>
      </p:sp>
      <p:sp>
        <p:nvSpPr>
          <p:cNvPr id="21" name="Text 18"/>
          <p:cNvSpPr/>
          <p:nvPr/>
        </p:nvSpPr>
        <p:spPr>
          <a:xfrm>
            <a:off x="1015429" y="24955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Alan José HernáNdez Loaiza</a:t>
            </a:r>
            <a:endParaRPr lang="en-US" sz="660" dirty="0"/>
          </a:p>
        </p:txBody>
      </p:sp>
      <p:sp>
        <p:nvSpPr>
          <p:cNvPr id="22" name="Text 19"/>
          <p:cNvSpPr/>
          <p:nvPr/>
        </p:nvSpPr>
        <p:spPr>
          <a:xfrm>
            <a:off x="1015429" y="35623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Rhoymar HernáNdez AlbarráN</a:t>
            </a:r>
            <a:endParaRPr lang="en-US" sz="660" dirty="0"/>
          </a:p>
        </p:txBody>
      </p:sp>
      <p:sp>
        <p:nvSpPr>
          <p:cNvPr id="23" name="Text 20"/>
          <p:cNvSpPr/>
          <p:nvPr/>
        </p:nvSpPr>
        <p:spPr>
          <a:xfrm>
            <a:off x="1015429" y="32575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Laura L. Herrera Palomino</a:t>
            </a:r>
            <a:endParaRPr lang="en-US" sz="660" dirty="0"/>
          </a:p>
        </p:txBody>
      </p:sp>
      <p:sp>
        <p:nvSpPr>
          <p:cNvPr id="24" name="Text 21"/>
          <p:cNvSpPr/>
          <p:nvPr/>
        </p:nvSpPr>
        <p:spPr>
          <a:xfrm>
            <a:off x="1015429" y="1743098"/>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 Luisa L. Percy Jaraba</a:t>
            </a:r>
            <a:endParaRPr lang="en-US" sz="660" dirty="0"/>
          </a:p>
        </p:txBody>
      </p:sp>
      <p:sp>
        <p:nvSpPr>
          <p:cNvPr id="25" name="Text 22"/>
          <p:cNvSpPr/>
          <p:nvPr/>
        </p:nvSpPr>
        <p:spPr>
          <a:xfrm>
            <a:off x="1015429" y="4924448"/>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Rosalinda Rivera Senior</a:t>
            </a:r>
            <a:endParaRPr lang="en-US" sz="660" dirty="0"/>
          </a:p>
        </p:txBody>
      </p:sp>
      <p:sp>
        <p:nvSpPr>
          <p:cNvPr id="26" name="Text 23"/>
          <p:cNvSpPr/>
          <p:nvPr/>
        </p:nvSpPr>
        <p:spPr>
          <a:xfrm>
            <a:off x="1015429" y="40195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Josué Zabaleta Bethel</a:t>
            </a:r>
            <a:endParaRPr lang="en-US" sz="660" dirty="0"/>
          </a:p>
        </p:txBody>
      </p:sp>
      <p:sp>
        <p:nvSpPr>
          <p:cNvPr id="27" name="Text 24"/>
          <p:cNvSpPr/>
          <p:nvPr/>
        </p:nvSpPr>
        <p:spPr>
          <a:xfrm>
            <a:off x="1015429" y="4467248"/>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Nayerlis Polo Marrugo</a:t>
            </a:r>
            <a:endParaRPr lang="en-US" sz="660" dirty="0"/>
          </a:p>
        </p:txBody>
      </p:sp>
      <p:sp>
        <p:nvSpPr>
          <p:cNvPr id="28" name="Text 25"/>
          <p:cNvSpPr/>
          <p:nvPr/>
        </p:nvSpPr>
        <p:spPr>
          <a:xfrm>
            <a:off x="1015429" y="37147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CéSar Barrera PáJaro</a:t>
            </a:r>
            <a:endParaRPr lang="en-US" sz="660" dirty="0"/>
          </a:p>
        </p:txBody>
      </p:sp>
      <p:sp>
        <p:nvSpPr>
          <p:cNvPr id="29" name="Text 26"/>
          <p:cNvSpPr/>
          <p:nvPr/>
        </p:nvSpPr>
        <p:spPr>
          <a:xfrm>
            <a:off x="1015429" y="41719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Yannecce MejíA GóMez</a:t>
            </a:r>
            <a:endParaRPr lang="en-US" sz="660" dirty="0"/>
          </a:p>
        </p:txBody>
      </p:sp>
      <p:sp>
        <p:nvSpPr>
          <p:cNvPr id="30" name="Text 27"/>
          <p:cNvSpPr/>
          <p:nvPr/>
        </p:nvSpPr>
        <p:spPr>
          <a:xfrm>
            <a:off x="1015429" y="2200298"/>
            <a:ext cx="2296884" cy="142875"/>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Joelis J. Barros B.</a:t>
            </a:r>
            <a:endParaRPr lang="en-US" sz="660" dirty="0"/>
          </a:p>
        </p:txBody>
      </p:sp>
      <p:sp>
        <p:nvSpPr>
          <p:cNvPr id="31" name="Text 28"/>
          <p:cNvSpPr/>
          <p:nvPr/>
        </p:nvSpPr>
        <p:spPr>
          <a:xfrm>
            <a:off x="1015429" y="4772048"/>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Ruddy Olmos Simanca</a:t>
            </a:r>
            <a:endParaRPr lang="en-US" sz="660" dirty="0"/>
          </a:p>
        </p:txBody>
      </p:sp>
      <p:sp>
        <p:nvSpPr>
          <p:cNvPr id="32" name="Text 29"/>
          <p:cNvSpPr/>
          <p:nvPr/>
        </p:nvSpPr>
        <p:spPr>
          <a:xfrm>
            <a:off x="7619814" y="1851571"/>
            <a:ext cx="4120412" cy="137350"/>
          </a:xfrm>
          <a:prstGeom prst="rect">
            <a:avLst/>
          </a:prstGeom>
          <a:noFill/>
          <a:ln/>
        </p:spPr>
        <p:txBody>
          <a:bodyPr wrap="square" lIns="0" tIns="0" rIns="0" bIns="0" rtlCol="0" anchor="t"/>
          <a:lstStyle/>
          <a:p>
            <a:pPr marL="0" indent="0" algn="l">
              <a:buNone/>
            </a:pPr>
            <a:r>
              <a:rPr lang="en-US" sz="816" b="1" dirty="0" err="1">
                <a:solidFill>
                  <a:srgbClr val="120180"/>
                </a:solidFill>
                <a:latin typeface="Raleway" pitchFamily="34" charset="0"/>
                <a:ea typeface="Raleway" pitchFamily="34" charset="-122"/>
                <a:cs typeface="Raleway" pitchFamily="34" charset="-120"/>
              </a:rPr>
              <a:t>Incentivos</a:t>
            </a:r>
            <a:r>
              <a:rPr lang="en-US" sz="816" b="1" dirty="0">
                <a:solidFill>
                  <a:srgbClr val="120180"/>
                </a:solidFill>
                <a:latin typeface="Raleway" pitchFamily="34" charset="0"/>
                <a:ea typeface="Raleway" pitchFamily="34" charset="-122"/>
                <a:cs typeface="Raleway" pitchFamily="34" charset="-120"/>
              </a:rPr>
              <a:t> Vanti 1S</a:t>
            </a:r>
            <a:endParaRPr lang="en-US" sz="816" dirty="0"/>
          </a:p>
        </p:txBody>
      </p:sp>
      <p:sp>
        <p:nvSpPr>
          <p:cNvPr id="33" name="Text 30"/>
          <p:cNvSpPr/>
          <p:nvPr/>
        </p:nvSpPr>
        <p:spPr>
          <a:xfrm>
            <a:off x="7686287" y="1090613"/>
            <a:ext cx="1398304" cy="156972"/>
          </a:xfrm>
          <a:prstGeom prst="rect">
            <a:avLst/>
          </a:prstGeom>
          <a:noFill/>
          <a:ln/>
        </p:spPr>
        <p:txBody>
          <a:bodyPr wrap="square" lIns="0" tIns="0" rIns="0" bIns="0" rtlCol="0" anchor="t"/>
          <a:lstStyle/>
          <a:p>
            <a:pPr marL="0" indent="0" algn="l">
              <a:buNone/>
            </a:pPr>
            <a:r>
              <a:rPr lang="en-US" sz="1020" b="1" dirty="0">
                <a:solidFill>
                  <a:srgbClr val="120180"/>
                </a:solidFill>
                <a:latin typeface="Raleway" pitchFamily="34" charset="0"/>
                <a:ea typeface="Raleway" pitchFamily="34" charset="-122"/>
                <a:cs typeface="Raleway" pitchFamily="34" charset="-120"/>
              </a:rPr>
              <a:t>Lectura del equipo</a:t>
            </a:r>
            <a:endParaRPr lang="en-US" sz="1020" dirty="0"/>
          </a:p>
        </p:txBody>
      </p:sp>
      <p:sp>
        <p:nvSpPr>
          <p:cNvPr id="34" name="Text 31"/>
          <p:cNvSpPr/>
          <p:nvPr/>
        </p:nvSpPr>
        <p:spPr>
          <a:xfrm>
            <a:off x="10668244" y="111157"/>
            <a:ext cx="1466364" cy="215836"/>
          </a:xfrm>
          <a:prstGeom prst="rect">
            <a:avLst/>
          </a:prstGeom>
          <a:noFill/>
          <a:ln/>
        </p:spPr>
        <p:txBody>
          <a:bodyPr wrap="square" lIns="38100" tIns="114300" rIns="114300" bIns="38100" rtlCol="0" anchor="t"/>
          <a:lstStyle/>
          <a:p>
            <a:pPr marL="0" indent="0" algn="l">
              <a:buNone/>
            </a:pPr>
            <a:r>
              <a:rPr lang="en-US" sz="840" b="1" dirty="0" err="1">
                <a:solidFill>
                  <a:srgbClr val="5AE280"/>
                </a:solidFill>
                <a:latin typeface="Raleway" pitchFamily="34" charset="0"/>
                <a:ea typeface="Raleway" pitchFamily="34" charset="-122"/>
                <a:cs typeface="Raleway" pitchFamily="34" charset="-120"/>
              </a:rPr>
              <a:t>Asesores</a:t>
            </a:r>
            <a:endParaRPr lang="en-US" sz="840" dirty="0"/>
          </a:p>
        </p:txBody>
      </p:sp>
      <p:sp>
        <p:nvSpPr>
          <p:cNvPr id="35" name="Text 32"/>
          <p:cNvSpPr/>
          <p:nvPr/>
        </p:nvSpPr>
        <p:spPr>
          <a:xfrm>
            <a:off x="1015429" y="34099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Valentina Orozco</a:t>
            </a:r>
            <a:endParaRPr lang="en-US" sz="660" dirty="0"/>
          </a:p>
        </p:txBody>
      </p:sp>
      <p:sp>
        <p:nvSpPr>
          <p:cNvPr id="36" name="Text 33"/>
          <p:cNvSpPr/>
          <p:nvPr/>
        </p:nvSpPr>
        <p:spPr>
          <a:xfrm>
            <a:off x="1015429" y="23431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Yulieth Pacheco</a:t>
            </a:r>
            <a:endParaRPr lang="en-US" sz="660" dirty="0"/>
          </a:p>
        </p:txBody>
      </p:sp>
      <p:sp>
        <p:nvSpPr>
          <p:cNvPr id="37" name="Text 34"/>
          <p:cNvSpPr/>
          <p:nvPr/>
        </p:nvSpPr>
        <p:spPr>
          <a:xfrm>
            <a:off x="1015429" y="38671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Jean J. GuzmáN</a:t>
            </a:r>
            <a:endParaRPr lang="en-US" sz="660" dirty="0"/>
          </a:p>
        </p:txBody>
      </p:sp>
      <p:sp>
        <p:nvSpPr>
          <p:cNvPr id="38" name="Text 35"/>
          <p:cNvSpPr/>
          <p:nvPr/>
        </p:nvSpPr>
        <p:spPr>
          <a:xfrm>
            <a:off x="1015429" y="4324373"/>
            <a:ext cx="2296884" cy="142875"/>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Silvana Otero</a:t>
            </a:r>
            <a:endParaRPr lang="en-US" sz="660" dirty="0"/>
          </a:p>
        </p:txBody>
      </p:sp>
      <p:sp>
        <p:nvSpPr>
          <p:cNvPr id="39" name="Text 36"/>
          <p:cNvSpPr/>
          <p:nvPr/>
        </p:nvSpPr>
        <p:spPr>
          <a:xfrm>
            <a:off x="1687222" y="5429250"/>
            <a:ext cx="463853" cy="128016"/>
          </a:xfrm>
          <a:prstGeom prst="rect">
            <a:avLst/>
          </a:prstGeom>
          <a:noFill/>
          <a:ln/>
        </p:spPr>
        <p:txBody>
          <a:bodyPr wrap="square" lIns="0" tIns="0" rIns="0" bIns="0" rtlCol="0" anchor="t"/>
          <a:lstStyle/>
          <a:p>
            <a:pPr marL="0" indent="0" algn="l">
              <a:buNone/>
            </a:pPr>
            <a:r>
              <a:rPr lang="en-US" sz="648" dirty="0">
                <a:solidFill>
                  <a:srgbClr val="9098B0"/>
                </a:solidFill>
                <a:latin typeface="Raleway" pitchFamily="34" charset="0"/>
                <a:ea typeface="Raleway" pitchFamily="34" charset="-122"/>
                <a:cs typeface="Raleway" pitchFamily="34" charset="-120"/>
              </a:rPr>
              <a:t>— = sin dato</a:t>
            </a:r>
            <a:endParaRPr lang="en-US" sz="648" dirty="0"/>
          </a:p>
        </p:txBody>
      </p:sp>
      <p:sp>
        <p:nvSpPr>
          <p:cNvPr id="40" name="Text 37"/>
          <p:cNvSpPr/>
          <p:nvPr/>
        </p:nvSpPr>
        <p:spPr>
          <a:xfrm>
            <a:off x="1149073" y="5429250"/>
            <a:ext cx="436567" cy="128016"/>
          </a:xfrm>
          <a:prstGeom prst="rect">
            <a:avLst/>
          </a:prstGeom>
          <a:noFill/>
          <a:ln/>
        </p:spPr>
        <p:txBody>
          <a:bodyPr wrap="square" lIns="0" tIns="0" rIns="0" bIns="0" rtlCol="0" anchor="t"/>
          <a:lstStyle/>
          <a:p>
            <a:pPr marL="0" indent="0" algn="l">
              <a:buNone/>
            </a:pPr>
            <a:r>
              <a:rPr lang="en-US" sz="648" dirty="0">
                <a:solidFill>
                  <a:srgbClr val="C44A1A"/>
                </a:solidFill>
                <a:latin typeface="Raleway" pitchFamily="34" charset="0"/>
                <a:ea typeface="Raleway" pitchFamily="34" charset="-122"/>
                <a:cs typeface="Raleway" pitchFamily="34" charset="-120"/>
              </a:rPr>
              <a:t>rojo &lt; meta</a:t>
            </a:r>
            <a:endParaRPr lang="en-US" sz="648" dirty="0"/>
          </a:p>
        </p:txBody>
      </p:sp>
      <p:sp>
        <p:nvSpPr>
          <p:cNvPr id="41" name="Text 38"/>
          <p:cNvSpPr/>
          <p:nvPr/>
        </p:nvSpPr>
        <p:spPr>
          <a:xfrm>
            <a:off x="7953771" y="1993302"/>
            <a:ext cx="717853"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Eventos</a:t>
            </a:r>
            <a:endParaRPr lang="en-US" sz="888" dirty="0"/>
          </a:p>
        </p:txBody>
      </p:sp>
      <p:sp>
        <p:nvSpPr>
          <p:cNvPr id="42" name="Text 39"/>
          <p:cNvSpPr/>
          <p:nvPr/>
        </p:nvSpPr>
        <p:spPr>
          <a:xfrm>
            <a:off x="8650716" y="1993302"/>
            <a:ext cx="2881989" cy="228600"/>
          </a:xfrm>
          <a:prstGeom prst="rect">
            <a:avLst/>
          </a:prstGeom>
          <a:noFill/>
          <a:ln/>
        </p:spPr>
        <p:txBody>
          <a:bodyPr wrap="square" lIns="47625" tIns="114300" rIns="114300" bIns="47625"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Detalle</a:t>
            </a:r>
            <a:endParaRPr lang="en-US" sz="888" dirty="0"/>
          </a:p>
        </p:txBody>
      </p:sp>
      <p:sp>
        <p:nvSpPr>
          <p:cNvPr id="43" name="Text 40"/>
          <p:cNvSpPr/>
          <p:nvPr/>
        </p:nvSpPr>
        <p:spPr>
          <a:xfrm>
            <a:off x="1015429" y="1252560"/>
            <a:ext cx="2296884" cy="190500"/>
          </a:xfrm>
          <a:prstGeom prst="rect">
            <a:avLst/>
          </a:prstGeom>
          <a:noFill/>
          <a:ln/>
        </p:spPr>
        <p:txBody>
          <a:bodyPr wrap="square" lIns="28575" tIns="57150" rIns="57150" bIns="28575"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Asesor</a:t>
            </a:r>
            <a:endParaRPr lang="en-US" sz="888" dirty="0"/>
          </a:p>
        </p:txBody>
      </p:sp>
      <p:sp>
        <p:nvSpPr>
          <p:cNvPr id="44" name="Text 41"/>
          <p:cNvSpPr/>
          <p:nvPr/>
        </p:nvSpPr>
        <p:spPr>
          <a:xfrm>
            <a:off x="6328907" y="5229248"/>
            <a:ext cx="642895" cy="147637"/>
          </a:xfrm>
          <a:prstGeom prst="rect">
            <a:avLst/>
          </a:prstGeom>
          <a:noFill/>
          <a:ln/>
        </p:spPr>
        <p:txBody>
          <a:bodyPr wrap="square" lIns="19050" tIns="57150" rIns="57150" bIns="19050" rtlCol="0" anchor="ctr"/>
          <a:lstStyle/>
          <a:p>
            <a:pPr marL="0" indent="0" algn="r">
              <a:buNone/>
            </a:pPr>
            <a:r>
              <a:rPr lang="en-US" sz="696" b="1" dirty="0">
                <a:solidFill>
                  <a:srgbClr val="120180"/>
                </a:solidFill>
                <a:latin typeface="Raleway" pitchFamily="34" charset="0"/>
                <a:ea typeface="Raleway" pitchFamily="34" charset="-122"/>
                <a:cs typeface="Raleway" pitchFamily="34" charset="-120"/>
              </a:rPr>
              <a:t>13.917</a:t>
            </a:r>
            <a:endParaRPr lang="en-US" sz="696" dirty="0"/>
          </a:p>
        </p:txBody>
      </p:sp>
      <p:sp>
        <p:nvSpPr>
          <p:cNvPr id="45" name="Text 42"/>
          <p:cNvSpPr/>
          <p:nvPr/>
        </p:nvSpPr>
        <p:spPr>
          <a:xfrm>
            <a:off x="7448364" y="2495163"/>
            <a:ext cx="520570" cy="352425"/>
          </a:xfrm>
          <a:prstGeom prst="rect">
            <a:avLst/>
          </a:prstGeom>
          <a:noFill/>
          <a:ln/>
        </p:spPr>
        <p:txBody>
          <a:bodyPr wrap="square" lIns="38100" tIns="114300" rIns="114300" bIns="38100" rtlCol="0" anchor="ctr"/>
          <a:lstStyle/>
          <a:p>
            <a:pPr marL="0" indent="0" algn="l">
              <a:buNone/>
            </a:pPr>
            <a:r>
              <a:rPr lang="en-US" sz="888" b="1" dirty="0">
                <a:solidFill>
                  <a:srgbClr val="333333"/>
                </a:solidFill>
                <a:latin typeface="Raleway" pitchFamily="34" charset="0"/>
                <a:ea typeface="Raleway" pitchFamily="34" charset="-122"/>
                <a:cs typeface="Raleway" pitchFamily="34" charset="-120"/>
              </a:rPr>
              <a:t>Mar</a:t>
            </a:r>
          </a:p>
          <a:p>
            <a:pPr marL="0" indent="0" algn="l">
              <a:buNone/>
            </a:pPr>
            <a:r>
              <a:rPr lang="en-US" sz="888" b="1" dirty="0" err="1">
                <a:solidFill>
                  <a:srgbClr val="333333"/>
                </a:solidFill>
                <a:latin typeface="Raleway" pitchFamily="34" charset="0"/>
                <a:ea typeface="Raleway" pitchFamily="34" charset="-122"/>
                <a:cs typeface="Raleway" pitchFamily="34" charset="-120"/>
              </a:rPr>
              <a:t>Abr</a:t>
            </a:r>
            <a:endParaRPr lang="en-US" sz="888" dirty="0"/>
          </a:p>
        </p:txBody>
      </p:sp>
      <p:sp>
        <p:nvSpPr>
          <p:cNvPr id="46" name="Text 43"/>
          <p:cNvSpPr/>
          <p:nvPr/>
        </p:nvSpPr>
        <p:spPr>
          <a:xfrm>
            <a:off x="6328907" y="1252560"/>
            <a:ext cx="642895" cy="190500"/>
          </a:xfrm>
          <a:prstGeom prst="rect">
            <a:avLst/>
          </a:prstGeom>
          <a:noFill/>
          <a:ln/>
        </p:spPr>
        <p:txBody>
          <a:bodyPr wrap="square" lIns="28575" tIns="57150" rIns="57150" bIns="2857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47" name="Text 44"/>
          <p:cNvSpPr/>
          <p:nvPr/>
        </p:nvSpPr>
        <p:spPr>
          <a:xfrm>
            <a:off x="6328907" y="1443060"/>
            <a:ext cx="642895" cy="147637"/>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1.276</a:t>
            </a:r>
            <a:endParaRPr lang="en-US" sz="660" dirty="0"/>
          </a:p>
        </p:txBody>
      </p:sp>
      <p:sp>
        <p:nvSpPr>
          <p:cNvPr id="48" name="Text 45"/>
          <p:cNvSpPr/>
          <p:nvPr/>
        </p:nvSpPr>
        <p:spPr>
          <a:xfrm>
            <a:off x="6328907" y="1590698"/>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1.021</a:t>
            </a:r>
            <a:endParaRPr lang="en-US" sz="660" dirty="0"/>
          </a:p>
        </p:txBody>
      </p:sp>
      <p:sp>
        <p:nvSpPr>
          <p:cNvPr id="49" name="Text 46"/>
          <p:cNvSpPr/>
          <p:nvPr/>
        </p:nvSpPr>
        <p:spPr>
          <a:xfrm>
            <a:off x="1015429" y="5229248"/>
            <a:ext cx="2296884" cy="147637"/>
          </a:xfrm>
          <a:prstGeom prst="rect">
            <a:avLst/>
          </a:prstGeom>
          <a:noFill/>
          <a:ln/>
        </p:spPr>
        <p:txBody>
          <a:bodyPr wrap="square" lIns="19050" tIns="57150" rIns="57150" bIns="19050" rtlCol="0" anchor="ctr"/>
          <a:lstStyle/>
          <a:p>
            <a:pPr marL="0" indent="0" algn="l">
              <a:buNone/>
            </a:pPr>
            <a:r>
              <a:rPr lang="en-US" sz="696" b="1" dirty="0">
                <a:solidFill>
                  <a:srgbClr val="120180"/>
                </a:solidFill>
                <a:latin typeface="Raleway" pitchFamily="34" charset="0"/>
                <a:ea typeface="Raleway" pitchFamily="34" charset="-122"/>
                <a:cs typeface="Raleway" pitchFamily="34" charset="-120"/>
              </a:rPr>
              <a:t>Total</a:t>
            </a:r>
            <a:endParaRPr lang="en-US" sz="696" dirty="0"/>
          </a:p>
        </p:txBody>
      </p:sp>
      <p:sp>
        <p:nvSpPr>
          <p:cNvPr id="50" name="Text 47"/>
          <p:cNvSpPr/>
          <p:nvPr/>
        </p:nvSpPr>
        <p:spPr>
          <a:xfrm>
            <a:off x="3245414" y="5229248"/>
            <a:ext cx="527161" cy="147637"/>
          </a:xfrm>
          <a:prstGeom prst="rect">
            <a:avLst/>
          </a:prstGeom>
          <a:noFill/>
          <a:ln/>
        </p:spPr>
        <p:txBody>
          <a:bodyPr wrap="square" lIns="19050" tIns="57150" rIns="57150" bIns="19050" rtlCol="0" anchor="ctr"/>
          <a:lstStyle/>
          <a:p>
            <a:pPr marL="0" indent="0" algn="r">
              <a:buNone/>
            </a:pPr>
            <a:r>
              <a:rPr lang="en-US" sz="696" b="1" dirty="0">
                <a:solidFill>
                  <a:srgbClr val="120180"/>
                </a:solidFill>
                <a:latin typeface="Raleway" pitchFamily="34" charset="0"/>
                <a:ea typeface="Raleway" pitchFamily="34" charset="-122"/>
                <a:cs typeface="Raleway" pitchFamily="34" charset="-120"/>
              </a:rPr>
              <a:t>2.245</a:t>
            </a:r>
            <a:endParaRPr lang="en-US" sz="696" dirty="0"/>
          </a:p>
        </p:txBody>
      </p:sp>
      <p:sp>
        <p:nvSpPr>
          <p:cNvPr id="51" name="Text 48"/>
          <p:cNvSpPr/>
          <p:nvPr/>
        </p:nvSpPr>
        <p:spPr>
          <a:xfrm>
            <a:off x="3757221" y="5229248"/>
            <a:ext cx="523329" cy="147637"/>
          </a:xfrm>
          <a:prstGeom prst="rect">
            <a:avLst/>
          </a:prstGeom>
          <a:noFill/>
          <a:ln/>
        </p:spPr>
        <p:txBody>
          <a:bodyPr wrap="square" lIns="19050" tIns="57150" rIns="57150" bIns="19050" rtlCol="0" anchor="ctr"/>
          <a:lstStyle/>
          <a:p>
            <a:pPr marL="0" indent="0" algn="r">
              <a:buNone/>
            </a:pPr>
            <a:r>
              <a:rPr lang="en-US" sz="696" b="1" dirty="0">
                <a:solidFill>
                  <a:srgbClr val="120180"/>
                </a:solidFill>
                <a:latin typeface="Raleway" pitchFamily="34" charset="0"/>
                <a:ea typeface="Raleway" pitchFamily="34" charset="-122"/>
                <a:cs typeface="Raleway" pitchFamily="34" charset="-120"/>
              </a:rPr>
              <a:t>2.374</a:t>
            </a:r>
            <a:endParaRPr lang="en-US" sz="696" dirty="0"/>
          </a:p>
        </p:txBody>
      </p:sp>
      <p:sp>
        <p:nvSpPr>
          <p:cNvPr id="52" name="Text 49"/>
          <p:cNvSpPr/>
          <p:nvPr/>
        </p:nvSpPr>
        <p:spPr>
          <a:xfrm>
            <a:off x="4265307" y="5229248"/>
            <a:ext cx="524096" cy="147637"/>
          </a:xfrm>
          <a:prstGeom prst="rect">
            <a:avLst/>
          </a:prstGeom>
          <a:noFill/>
          <a:ln/>
        </p:spPr>
        <p:txBody>
          <a:bodyPr wrap="square" lIns="19050" tIns="57150" rIns="57150" bIns="19050" rtlCol="0" anchor="ctr"/>
          <a:lstStyle/>
          <a:p>
            <a:pPr marL="0" indent="0" algn="r">
              <a:buNone/>
            </a:pPr>
            <a:r>
              <a:rPr lang="en-US" sz="696" b="1" dirty="0">
                <a:solidFill>
                  <a:srgbClr val="120180"/>
                </a:solidFill>
                <a:latin typeface="Raleway" pitchFamily="34" charset="0"/>
                <a:ea typeface="Raleway" pitchFamily="34" charset="-122"/>
                <a:cs typeface="Raleway" pitchFamily="34" charset="-120"/>
              </a:rPr>
              <a:t>2.431</a:t>
            </a:r>
            <a:endParaRPr lang="en-US" sz="696" dirty="0"/>
          </a:p>
        </p:txBody>
      </p:sp>
      <p:sp>
        <p:nvSpPr>
          <p:cNvPr id="53" name="Text 50"/>
          <p:cNvSpPr/>
          <p:nvPr/>
        </p:nvSpPr>
        <p:spPr>
          <a:xfrm>
            <a:off x="4774138" y="5229248"/>
            <a:ext cx="532220" cy="147637"/>
          </a:xfrm>
          <a:prstGeom prst="rect">
            <a:avLst/>
          </a:prstGeom>
          <a:noFill/>
          <a:ln/>
        </p:spPr>
        <p:txBody>
          <a:bodyPr wrap="square" lIns="19050" tIns="57150" rIns="57150" bIns="19050" rtlCol="0" anchor="ctr"/>
          <a:lstStyle/>
          <a:p>
            <a:pPr marL="0" indent="0" algn="r">
              <a:buNone/>
            </a:pPr>
            <a:r>
              <a:rPr lang="en-US" sz="696" b="1" dirty="0">
                <a:solidFill>
                  <a:srgbClr val="120180"/>
                </a:solidFill>
                <a:latin typeface="Raleway" pitchFamily="34" charset="0"/>
                <a:ea typeface="Raleway" pitchFamily="34" charset="-122"/>
                <a:cs typeface="Raleway" pitchFamily="34" charset="-120"/>
              </a:rPr>
              <a:t>2.367</a:t>
            </a:r>
            <a:endParaRPr lang="en-US" sz="696" dirty="0"/>
          </a:p>
        </p:txBody>
      </p:sp>
      <p:sp>
        <p:nvSpPr>
          <p:cNvPr id="54" name="Text 51"/>
          <p:cNvSpPr/>
          <p:nvPr/>
        </p:nvSpPr>
        <p:spPr>
          <a:xfrm>
            <a:off x="5290856" y="5229248"/>
            <a:ext cx="549082" cy="147637"/>
          </a:xfrm>
          <a:prstGeom prst="rect">
            <a:avLst/>
          </a:prstGeom>
          <a:noFill/>
          <a:ln/>
        </p:spPr>
        <p:txBody>
          <a:bodyPr wrap="square" lIns="19050" tIns="57150" rIns="57150" bIns="19050" rtlCol="0" anchor="ctr"/>
          <a:lstStyle/>
          <a:p>
            <a:pPr marL="0" indent="0" algn="r">
              <a:buNone/>
            </a:pPr>
            <a:r>
              <a:rPr lang="en-US" sz="696" b="1" dirty="0">
                <a:solidFill>
                  <a:srgbClr val="120180"/>
                </a:solidFill>
                <a:latin typeface="Raleway" pitchFamily="34" charset="0"/>
                <a:ea typeface="Raleway" pitchFamily="34" charset="-122"/>
                <a:cs typeface="Raleway" pitchFamily="34" charset="-120"/>
              </a:rPr>
              <a:t>2.186</a:t>
            </a:r>
            <a:endParaRPr lang="en-US" sz="696" dirty="0"/>
          </a:p>
        </p:txBody>
      </p:sp>
      <p:sp>
        <p:nvSpPr>
          <p:cNvPr id="55" name="Text 52"/>
          <p:cNvSpPr/>
          <p:nvPr/>
        </p:nvSpPr>
        <p:spPr>
          <a:xfrm>
            <a:off x="5823945" y="5229248"/>
            <a:ext cx="520110" cy="147637"/>
          </a:xfrm>
          <a:prstGeom prst="rect">
            <a:avLst/>
          </a:prstGeom>
          <a:noFill/>
          <a:ln/>
        </p:spPr>
        <p:txBody>
          <a:bodyPr wrap="square" lIns="19050" tIns="57150" rIns="57150" bIns="19050" rtlCol="0" anchor="ctr"/>
          <a:lstStyle/>
          <a:p>
            <a:pPr marL="0" indent="0" algn="r">
              <a:buNone/>
            </a:pPr>
            <a:r>
              <a:rPr lang="en-US" sz="696" b="1" dirty="0">
                <a:solidFill>
                  <a:srgbClr val="120180"/>
                </a:solidFill>
                <a:latin typeface="Raleway" pitchFamily="34" charset="0"/>
                <a:ea typeface="Raleway" pitchFamily="34" charset="-122"/>
                <a:cs typeface="Raleway" pitchFamily="34" charset="-120"/>
              </a:rPr>
              <a:t>2.314</a:t>
            </a:r>
            <a:endParaRPr lang="en-US" sz="696" dirty="0"/>
          </a:p>
        </p:txBody>
      </p:sp>
      <p:sp>
        <p:nvSpPr>
          <p:cNvPr id="56" name="Text 53"/>
          <p:cNvSpPr/>
          <p:nvPr/>
        </p:nvSpPr>
        <p:spPr>
          <a:xfrm>
            <a:off x="7448364" y="3066663"/>
            <a:ext cx="520570" cy="214313"/>
          </a:xfrm>
          <a:prstGeom prst="rect">
            <a:avLst/>
          </a:prstGeom>
          <a:noFill/>
          <a:ln/>
        </p:spPr>
        <p:txBody>
          <a:bodyPr wrap="square" lIns="38100" tIns="114300" rIns="114300" bIns="38100" rtlCol="0" anchor="ctr"/>
          <a:lstStyle/>
          <a:p>
            <a:pPr marL="0" indent="0" algn="l">
              <a:buNone/>
            </a:pPr>
            <a:r>
              <a:rPr lang="en-US" sz="888" b="1" dirty="0">
                <a:solidFill>
                  <a:srgbClr val="120180"/>
                </a:solidFill>
                <a:latin typeface="Raleway" pitchFamily="34" charset="0"/>
                <a:ea typeface="Raleway" pitchFamily="34" charset="-122"/>
                <a:cs typeface="Raleway" pitchFamily="34" charset="-120"/>
              </a:rPr>
              <a:t>Total</a:t>
            </a:r>
            <a:endParaRPr lang="en-US" sz="888" dirty="0"/>
          </a:p>
        </p:txBody>
      </p:sp>
      <p:sp>
        <p:nvSpPr>
          <p:cNvPr id="57" name="Text 54"/>
          <p:cNvSpPr/>
          <p:nvPr/>
        </p:nvSpPr>
        <p:spPr>
          <a:xfrm>
            <a:off x="704832" y="5429250"/>
            <a:ext cx="339842" cy="128016"/>
          </a:xfrm>
          <a:prstGeom prst="rect">
            <a:avLst/>
          </a:prstGeom>
          <a:noFill/>
          <a:ln/>
        </p:spPr>
        <p:txBody>
          <a:bodyPr wrap="square" lIns="0" tIns="0" rIns="0" bIns="0" rtlCol="0" anchor="t"/>
          <a:lstStyle/>
          <a:p>
            <a:pPr marL="0" indent="0" algn="l">
              <a:buNone/>
            </a:pPr>
            <a:r>
              <a:rPr lang="en-US" sz="648" dirty="0">
                <a:solidFill>
                  <a:srgbClr val="9098B0"/>
                </a:solidFill>
                <a:latin typeface="Raleway" pitchFamily="34" charset="0"/>
                <a:ea typeface="Raleway" pitchFamily="34" charset="-122"/>
                <a:cs typeface="Raleway" pitchFamily="34" charset="-120"/>
              </a:rPr>
              <a:t>Top 5</a:t>
            </a:r>
            <a:endParaRPr lang="en-US" sz="648" dirty="0"/>
          </a:p>
        </p:txBody>
      </p:sp>
      <p:sp>
        <p:nvSpPr>
          <p:cNvPr id="58" name="Text 55"/>
          <p:cNvSpPr/>
          <p:nvPr/>
        </p:nvSpPr>
        <p:spPr>
          <a:xfrm>
            <a:off x="10517867" y="1028700"/>
            <a:ext cx="444998" cy="244126"/>
          </a:xfrm>
          <a:prstGeom prst="rect">
            <a:avLst/>
          </a:prstGeom>
          <a:noFill/>
          <a:ln/>
        </p:spPr>
        <p:txBody>
          <a:bodyPr wrap="square" lIns="38100" tIns="95250" rIns="95250" bIns="38100" rtlCol="0" anchor="t"/>
          <a:lstStyle/>
          <a:p>
            <a:pPr marL="0" indent="0" algn="ctr">
              <a:buNone/>
            </a:pPr>
            <a:r>
              <a:rPr lang="en-US" sz="720" b="1" dirty="0">
                <a:solidFill>
                  <a:srgbClr val="FFFFFF"/>
                </a:solidFill>
                <a:latin typeface="Raleway" pitchFamily="34" charset="0"/>
                <a:ea typeface="Raleway" pitchFamily="34" charset="-122"/>
                <a:cs typeface="Raleway" pitchFamily="34" charset="-120"/>
              </a:rPr>
              <a:t>Vanti</a:t>
            </a:r>
            <a:endParaRPr lang="en-US" sz="720" dirty="0"/>
          </a:p>
        </p:txBody>
      </p:sp>
      <p:sp>
        <p:nvSpPr>
          <p:cNvPr id="60" name="Text 57"/>
          <p:cNvSpPr/>
          <p:nvPr/>
        </p:nvSpPr>
        <p:spPr>
          <a:xfrm>
            <a:off x="3245414" y="1252560"/>
            <a:ext cx="527161" cy="190500"/>
          </a:xfrm>
          <a:prstGeom prst="rect">
            <a:avLst/>
          </a:prstGeom>
          <a:noFill/>
          <a:ln/>
        </p:spPr>
        <p:txBody>
          <a:bodyPr wrap="square" lIns="28575" tIns="57150" rIns="57150" bIns="2857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61" name="Text 58"/>
          <p:cNvSpPr/>
          <p:nvPr/>
        </p:nvSpPr>
        <p:spPr>
          <a:xfrm>
            <a:off x="3757221" y="1252560"/>
            <a:ext cx="523329" cy="190500"/>
          </a:xfrm>
          <a:prstGeom prst="rect">
            <a:avLst/>
          </a:prstGeom>
          <a:noFill/>
          <a:ln/>
        </p:spPr>
        <p:txBody>
          <a:bodyPr wrap="square" lIns="28575" tIns="57150" rIns="57150" bIns="2857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62" name="Text 59"/>
          <p:cNvSpPr/>
          <p:nvPr/>
        </p:nvSpPr>
        <p:spPr>
          <a:xfrm>
            <a:off x="4265307" y="1252560"/>
            <a:ext cx="524096" cy="190500"/>
          </a:xfrm>
          <a:prstGeom prst="rect">
            <a:avLst/>
          </a:prstGeom>
          <a:noFill/>
          <a:ln/>
        </p:spPr>
        <p:txBody>
          <a:bodyPr wrap="square" lIns="28575" tIns="57150" rIns="57150" bIns="2857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63" name="Text 60"/>
          <p:cNvSpPr/>
          <p:nvPr/>
        </p:nvSpPr>
        <p:spPr>
          <a:xfrm>
            <a:off x="4774138" y="1252560"/>
            <a:ext cx="532220" cy="190500"/>
          </a:xfrm>
          <a:prstGeom prst="rect">
            <a:avLst/>
          </a:prstGeom>
          <a:noFill/>
          <a:ln/>
        </p:spPr>
        <p:txBody>
          <a:bodyPr wrap="square" lIns="28575" tIns="57150" rIns="57150" bIns="2857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64" name="Text 61"/>
          <p:cNvSpPr/>
          <p:nvPr/>
        </p:nvSpPr>
        <p:spPr>
          <a:xfrm>
            <a:off x="5290856" y="1252560"/>
            <a:ext cx="549082" cy="190500"/>
          </a:xfrm>
          <a:prstGeom prst="rect">
            <a:avLst/>
          </a:prstGeom>
          <a:noFill/>
          <a:ln/>
        </p:spPr>
        <p:txBody>
          <a:bodyPr wrap="square" lIns="28575" tIns="57150" rIns="57150" bIns="2857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65" name="Text 62"/>
          <p:cNvSpPr/>
          <p:nvPr/>
        </p:nvSpPr>
        <p:spPr>
          <a:xfrm>
            <a:off x="5823945" y="1252560"/>
            <a:ext cx="520110" cy="190500"/>
          </a:xfrm>
          <a:prstGeom prst="rect">
            <a:avLst/>
          </a:prstGeom>
          <a:noFill/>
          <a:ln/>
        </p:spPr>
        <p:txBody>
          <a:bodyPr wrap="square" lIns="28575" tIns="57150" rIns="57150" bIns="2857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66" name="Text 63"/>
          <p:cNvSpPr/>
          <p:nvPr/>
        </p:nvSpPr>
        <p:spPr>
          <a:xfrm>
            <a:off x="3245414" y="1443060"/>
            <a:ext cx="527161" cy="147637"/>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205</a:t>
            </a:r>
            <a:endParaRPr lang="en-US" sz="660" dirty="0"/>
          </a:p>
        </p:txBody>
      </p:sp>
      <p:sp>
        <p:nvSpPr>
          <p:cNvPr id="67" name="Text 64"/>
          <p:cNvSpPr/>
          <p:nvPr/>
        </p:nvSpPr>
        <p:spPr>
          <a:xfrm>
            <a:off x="3757221" y="1443060"/>
            <a:ext cx="523329" cy="147637"/>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234</a:t>
            </a:r>
            <a:endParaRPr lang="en-US" sz="660" dirty="0"/>
          </a:p>
        </p:txBody>
      </p:sp>
      <p:sp>
        <p:nvSpPr>
          <p:cNvPr id="68" name="Text 65"/>
          <p:cNvSpPr/>
          <p:nvPr/>
        </p:nvSpPr>
        <p:spPr>
          <a:xfrm>
            <a:off x="4265307" y="1443060"/>
            <a:ext cx="524096" cy="147637"/>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208</a:t>
            </a:r>
            <a:endParaRPr lang="en-US" sz="660" dirty="0"/>
          </a:p>
        </p:txBody>
      </p:sp>
      <p:sp>
        <p:nvSpPr>
          <p:cNvPr id="69" name="Text 66"/>
          <p:cNvSpPr/>
          <p:nvPr/>
        </p:nvSpPr>
        <p:spPr>
          <a:xfrm>
            <a:off x="4774138" y="1443060"/>
            <a:ext cx="532220" cy="147637"/>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197</a:t>
            </a:r>
            <a:endParaRPr lang="en-US" sz="660" dirty="0"/>
          </a:p>
        </p:txBody>
      </p:sp>
      <p:sp>
        <p:nvSpPr>
          <p:cNvPr id="70" name="Text 67"/>
          <p:cNvSpPr/>
          <p:nvPr/>
        </p:nvSpPr>
        <p:spPr>
          <a:xfrm>
            <a:off x="5290856" y="1443060"/>
            <a:ext cx="549082" cy="147637"/>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210</a:t>
            </a:r>
            <a:endParaRPr lang="en-US" sz="660" dirty="0"/>
          </a:p>
        </p:txBody>
      </p:sp>
      <p:sp>
        <p:nvSpPr>
          <p:cNvPr id="71" name="Text 68"/>
          <p:cNvSpPr/>
          <p:nvPr/>
        </p:nvSpPr>
        <p:spPr>
          <a:xfrm>
            <a:off x="5823945" y="1443060"/>
            <a:ext cx="520110" cy="147637"/>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222</a:t>
            </a:r>
            <a:endParaRPr lang="en-US" sz="660" dirty="0"/>
          </a:p>
        </p:txBody>
      </p:sp>
      <p:sp>
        <p:nvSpPr>
          <p:cNvPr id="72" name="Text 69"/>
          <p:cNvSpPr/>
          <p:nvPr/>
        </p:nvSpPr>
        <p:spPr>
          <a:xfrm>
            <a:off x="3245414" y="1590698"/>
            <a:ext cx="527161"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73" name="Text 70"/>
          <p:cNvSpPr/>
          <p:nvPr/>
        </p:nvSpPr>
        <p:spPr>
          <a:xfrm>
            <a:off x="3757221" y="1590698"/>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195</a:t>
            </a:r>
            <a:endParaRPr lang="en-US" sz="660" dirty="0"/>
          </a:p>
        </p:txBody>
      </p:sp>
      <p:sp>
        <p:nvSpPr>
          <p:cNvPr id="74" name="Text 71"/>
          <p:cNvSpPr/>
          <p:nvPr/>
        </p:nvSpPr>
        <p:spPr>
          <a:xfrm>
            <a:off x="4265307" y="1590698"/>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189</a:t>
            </a:r>
            <a:endParaRPr lang="en-US" sz="660" dirty="0"/>
          </a:p>
        </p:txBody>
      </p:sp>
      <p:sp>
        <p:nvSpPr>
          <p:cNvPr id="75" name="Text 72"/>
          <p:cNvSpPr/>
          <p:nvPr/>
        </p:nvSpPr>
        <p:spPr>
          <a:xfrm>
            <a:off x="4774138" y="1590698"/>
            <a:ext cx="53222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157</a:t>
            </a:r>
            <a:endParaRPr lang="en-US" sz="660" dirty="0"/>
          </a:p>
        </p:txBody>
      </p:sp>
      <p:sp>
        <p:nvSpPr>
          <p:cNvPr id="76" name="Text 73"/>
          <p:cNvSpPr/>
          <p:nvPr/>
        </p:nvSpPr>
        <p:spPr>
          <a:xfrm>
            <a:off x="5290856" y="1590698"/>
            <a:ext cx="549082"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161</a:t>
            </a:r>
            <a:endParaRPr lang="en-US" sz="660" dirty="0"/>
          </a:p>
        </p:txBody>
      </p:sp>
      <p:sp>
        <p:nvSpPr>
          <p:cNvPr id="77" name="Text 74"/>
          <p:cNvSpPr/>
          <p:nvPr/>
        </p:nvSpPr>
        <p:spPr>
          <a:xfrm>
            <a:off x="5823945" y="1590698"/>
            <a:ext cx="52011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175</a:t>
            </a:r>
            <a:endParaRPr lang="en-US" sz="660" dirty="0"/>
          </a:p>
        </p:txBody>
      </p:sp>
      <p:sp>
        <p:nvSpPr>
          <p:cNvPr id="78" name="Text 75"/>
          <p:cNvSpPr/>
          <p:nvPr/>
        </p:nvSpPr>
        <p:spPr>
          <a:xfrm>
            <a:off x="3245414" y="1743098"/>
            <a:ext cx="527161"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155</a:t>
            </a:r>
            <a:endParaRPr lang="en-US" sz="660" dirty="0"/>
          </a:p>
        </p:txBody>
      </p:sp>
      <p:sp>
        <p:nvSpPr>
          <p:cNvPr id="79" name="Text 76"/>
          <p:cNvSpPr/>
          <p:nvPr/>
        </p:nvSpPr>
        <p:spPr>
          <a:xfrm>
            <a:off x="3757221" y="1743098"/>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175</a:t>
            </a:r>
            <a:endParaRPr lang="en-US" sz="660" dirty="0"/>
          </a:p>
        </p:txBody>
      </p:sp>
      <p:sp>
        <p:nvSpPr>
          <p:cNvPr id="80" name="Text 77"/>
          <p:cNvSpPr/>
          <p:nvPr/>
        </p:nvSpPr>
        <p:spPr>
          <a:xfrm>
            <a:off x="4265307" y="1743098"/>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178</a:t>
            </a:r>
            <a:endParaRPr lang="en-US" sz="660" dirty="0"/>
          </a:p>
        </p:txBody>
      </p:sp>
      <p:sp>
        <p:nvSpPr>
          <p:cNvPr id="81" name="Text 78"/>
          <p:cNvSpPr/>
          <p:nvPr/>
        </p:nvSpPr>
        <p:spPr>
          <a:xfrm>
            <a:off x="4774138" y="1743098"/>
            <a:ext cx="53222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147</a:t>
            </a:r>
            <a:endParaRPr lang="en-US" sz="660" dirty="0"/>
          </a:p>
        </p:txBody>
      </p:sp>
      <p:sp>
        <p:nvSpPr>
          <p:cNvPr id="82" name="Text 79"/>
          <p:cNvSpPr/>
          <p:nvPr/>
        </p:nvSpPr>
        <p:spPr>
          <a:xfrm>
            <a:off x="5290856" y="1743098"/>
            <a:ext cx="549082"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83" name="Text 80"/>
          <p:cNvSpPr/>
          <p:nvPr/>
        </p:nvSpPr>
        <p:spPr>
          <a:xfrm>
            <a:off x="5823945" y="1743098"/>
            <a:ext cx="52011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153</a:t>
            </a:r>
            <a:endParaRPr lang="en-US" sz="660" dirty="0"/>
          </a:p>
        </p:txBody>
      </p:sp>
      <p:sp>
        <p:nvSpPr>
          <p:cNvPr id="84" name="Text 81"/>
          <p:cNvSpPr/>
          <p:nvPr/>
        </p:nvSpPr>
        <p:spPr>
          <a:xfrm>
            <a:off x="6328907" y="1743098"/>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952</a:t>
            </a:r>
            <a:endParaRPr lang="en-US" sz="660" dirty="0"/>
          </a:p>
        </p:txBody>
      </p:sp>
      <p:sp>
        <p:nvSpPr>
          <p:cNvPr id="85" name="Text 82"/>
          <p:cNvSpPr/>
          <p:nvPr/>
        </p:nvSpPr>
        <p:spPr>
          <a:xfrm>
            <a:off x="3245414" y="1895498"/>
            <a:ext cx="527161"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151</a:t>
            </a:r>
            <a:endParaRPr lang="en-US" sz="660" dirty="0"/>
          </a:p>
        </p:txBody>
      </p:sp>
      <p:sp>
        <p:nvSpPr>
          <p:cNvPr id="86" name="Text 83"/>
          <p:cNvSpPr/>
          <p:nvPr/>
        </p:nvSpPr>
        <p:spPr>
          <a:xfrm>
            <a:off x="3757221" y="1895498"/>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188</a:t>
            </a:r>
            <a:endParaRPr lang="en-US" sz="660" dirty="0"/>
          </a:p>
        </p:txBody>
      </p:sp>
      <p:sp>
        <p:nvSpPr>
          <p:cNvPr id="87" name="Text 84"/>
          <p:cNvSpPr/>
          <p:nvPr/>
        </p:nvSpPr>
        <p:spPr>
          <a:xfrm>
            <a:off x="4265307" y="1895498"/>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169</a:t>
            </a:r>
            <a:endParaRPr lang="en-US" sz="660" dirty="0"/>
          </a:p>
        </p:txBody>
      </p:sp>
      <p:sp>
        <p:nvSpPr>
          <p:cNvPr id="88" name="Text 85"/>
          <p:cNvSpPr/>
          <p:nvPr/>
        </p:nvSpPr>
        <p:spPr>
          <a:xfrm>
            <a:off x="4774138" y="1895498"/>
            <a:ext cx="53222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148</a:t>
            </a:r>
            <a:endParaRPr lang="en-US" sz="660" dirty="0"/>
          </a:p>
        </p:txBody>
      </p:sp>
      <p:sp>
        <p:nvSpPr>
          <p:cNvPr id="89" name="Text 86"/>
          <p:cNvSpPr/>
          <p:nvPr/>
        </p:nvSpPr>
        <p:spPr>
          <a:xfrm>
            <a:off x="5290856" y="1895498"/>
            <a:ext cx="549082"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90" name="Text 87"/>
          <p:cNvSpPr/>
          <p:nvPr/>
        </p:nvSpPr>
        <p:spPr>
          <a:xfrm>
            <a:off x="5823945" y="1895498"/>
            <a:ext cx="52011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135</a:t>
            </a:r>
            <a:endParaRPr lang="en-US" sz="660" dirty="0"/>
          </a:p>
        </p:txBody>
      </p:sp>
      <p:sp>
        <p:nvSpPr>
          <p:cNvPr id="91" name="Text 88"/>
          <p:cNvSpPr/>
          <p:nvPr/>
        </p:nvSpPr>
        <p:spPr>
          <a:xfrm>
            <a:off x="6328907" y="1895498"/>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935</a:t>
            </a:r>
            <a:endParaRPr lang="en-US" sz="660" dirty="0"/>
          </a:p>
        </p:txBody>
      </p:sp>
      <p:sp>
        <p:nvSpPr>
          <p:cNvPr id="92" name="Text 89"/>
          <p:cNvSpPr/>
          <p:nvPr/>
        </p:nvSpPr>
        <p:spPr>
          <a:xfrm>
            <a:off x="3245414" y="2047898"/>
            <a:ext cx="527161"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167</a:t>
            </a:r>
            <a:endParaRPr lang="en-US" sz="660" dirty="0"/>
          </a:p>
        </p:txBody>
      </p:sp>
      <p:sp>
        <p:nvSpPr>
          <p:cNvPr id="93" name="Text 90"/>
          <p:cNvSpPr/>
          <p:nvPr/>
        </p:nvSpPr>
        <p:spPr>
          <a:xfrm>
            <a:off x="3757221" y="2047898"/>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94" name="Text 91"/>
          <p:cNvSpPr/>
          <p:nvPr/>
        </p:nvSpPr>
        <p:spPr>
          <a:xfrm>
            <a:off x="4265307" y="2047898"/>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169</a:t>
            </a:r>
            <a:endParaRPr lang="en-US" sz="660" dirty="0"/>
          </a:p>
        </p:txBody>
      </p:sp>
      <p:sp>
        <p:nvSpPr>
          <p:cNvPr id="95" name="Text 92"/>
          <p:cNvSpPr/>
          <p:nvPr/>
        </p:nvSpPr>
        <p:spPr>
          <a:xfrm>
            <a:off x="4774138" y="2047898"/>
            <a:ext cx="53222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146</a:t>
            </a:r>
            <a:endParaRPr lang="en-US" sz="660" dirty="0"/>
          </a:p>
        </p:txBody>
      </p:sp>
      <p:sp>
        <p:nvSpPr>
          <p:cNvPr id="96" name="Text 93"/>
          <p:cNvSpPr/>
          <p:nvPr/>
        </p:nvSpPr>
        <p:spPr>
          <a:xfrm>
            <a:off x="5290856" y="2047898"/>
            <a:ext cx="549082"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97" name="Text 94"/>
          <p:cNvSpPr/>
          <p:nvPr/>
        </p:nvSpPr>
        <p:spPr>
          <a:xfrm>
            <a:off x="5823945" y="2047898"/>
            <a:ext cx="52011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145</a:t>
            </a:r>
            <a:endParaRPr lang="en-US" sz="660" dirty="0"/>
          </a:p>
        </p:txBody>
      </p:sp>
      <p:sp>
        <p:nvSpPr>
          <p:cNvPr id="98" name="Text 95"/>
          <p:cNvSpPr/>
          <p:nvPr/>
        </p:nvSpPr>
        <p:spPr>
          <a:xfrm>
            <a:off x="6328907" y="2047898"/>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925</a:t>
            </a:r>
            <a:endParaRPr lang="en-US" sz="660" dirty="0"/>
          </a:p>
        </p:txBody>
      </p:sp>
      <p:sp>
        <p:nvSpPr>
          <p:cNvPr id="99" name="Text 96"/>
          <p:cNvSpPr/>
          <p:nvPr/>
        </p:nvSpPr>
        <p:spPr>
          <a:xfrm>
            <a:off x="3245414" y="2200298"/>
            <a:ext cx="527161" cy="142875"/>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154</a:t>
            </a:r>
            <a:endParaRPr lang="en-US" sz="660" dirty="0"/>
          </a:p>
        </p:txBody>
      </p:sp>
      <p:sp>
        <p:nvSpPr>
          <p:cNvPr id="100" name="Text 97"/>
          <p:cNvSpPr/>
          <p:nvPr/>
        </p:nvSpPr>
        <p:spPr>
          <a:xfrm>
            <a:off x="3757221" y="2200298"/>
            <a:ext cx="523329" cy="142875"/>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180</a:t>
            </a:r>
            <a:endParaRPr lang="en-US" sz="660" dirty="0"/>
          </a:p>
        </p:txBody>
      </p:sp>
      <p:sp>
        <p:nvSpPr>
          <p:cNvPr id="101" name="Text 98"/>
          <p:cNvSpPr/>
          <p:nvPr/>
        </p:nvSpPr>
        <p:spPr>
          <a:xfrm>
            <a:off x="4265307" y="2200298"/>
            <a:ext cx="524096" cy="142875"/>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168</a:t>
            </a:r>
            <a:endParaRPr lang="en-US" sz="660" dirty="0"/>
          </a:p>
        </p:txBody>
      </p:sp>
      <p:sp>
        <p:nvSpPr>
          <p:cNvPr id="102" name="Text 99"/>
          <p:cNvSpPr/>
          <p:nvPr/>
        </p:nvSpPr>
        <p:spPr>
          <a:xfrm>
            <a:off x="4774138" y="2200298"/>
            <a:ext cx="532220" cy="142875"/>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03" name="Text 100"/>
          <p:cNvSpPr/>
          <p:nvPr/>
        </p:nvSpPr>
        <p:spPr>
          <a:xfrm>
            <a:off x="5823945" y="2200298"/>
            <a:ext cx="520110" cy="142875"/>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167</a:t>
            </a:r>
            <a:endParaRPr lang="en-US" sz="660" dirty="0"/>
          </a:p>
        </p:txBody>
      </p:sp>
      <p:sp>
        <p:nvSpPr>
          <p:cNvPr id="104" name="Text 101"/>
          <p:cNvSpPr/>
          <p:nvPr/>
        </p:nvSpPr>
        <p:spPr>
          <a:xfrm>
            <a:off x="6328907" y="2200298"/>
            <a:ext cx="642895" cy="142875"/>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886</a:t>
            </a:r>
            <a:endParaRPr lang="en-US" sz="660" dirty="0"/>
          </a:p>
        </p:txBody>
      </p:sp>
      <p:sp>
        <p:nvSpPr>
          <p:cNvPr id="105" name="Text 102"/>
          <p:cNvSpPr/>
          <p:nvPr/>
        </p:nvSpPr>
        <p:spPr>
          <a:xfrm>
            <a:off x="3245414" y="2343173"/>
            <a:ext cx="527161"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163</a:t>
            </a:r>
            <a:endParaRPr lang="en-US" sz="660" dirty="0"/>
          </a:p>
        </p:txBody>
      </p:sp>
      <p:sp>
        <p:nvSpPr>
          <p:cNvPr id="106" name="Text 103"/>
          <p:cNvSpPr/>
          <p:nvPr/>
        </p:nvSpPr>
        <p:spPr>
          <a:xfrm>
            <a:off x="3757221" y="2343173"/>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176</a:t>
            </a:r>
            <a:endParaRPr lang="en-US" sz="660" dirty="0"/>
          </a:p>
        </p:txBody>
      </p:sp>
      <p:sp>
        <p:nvSpPr>
          <p:cNvPr id="107" name="Text 104"/>
          <p:cNvSpPr/>
          <p:nvPr/>
        </p:nvSpPr>
        <p:spPr>
          <a:xfrm>
            <a:off x="4265307" y="2343173"/>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108" name="Text 105"/>
          <p:cNvSpPr/>
          <p:nvPr/>
        </p:nvSpPr>
        <p:spPr>
          <a:xfrm>
            <a:off x="4774138" y="2343173"/>
            <a:ext cx="53222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145</a:t>
            </a:r>
            <a:endParaRPr lang="en-US" sz="660" dirty="0"/>
          </a:p>
        </p:txBody>
      </p:sp>
      <p:sp>
        <p:nvSpPr>
          <p:cNvPr id="109" name="Text 106"/>
          <p:cNvSpPr/>
          <p:nvPr/>
        </p:nvSpPr>
        <p:spPr>
          <a:xfrm>
            <a:off x="5290856" y="2343173"/>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123</a:t>
            </a:r>
            <a:endParaRPr lang="en-US" sz="696" dirty="0"/>
          </a:p>
        </p:txBody>
      </p:sp>
      <p:sp>
        <p:nvSpPr>
          <p:cNvPr id="110" name="Text 107"/>
          <p:cNvSpPr/>
          <p:nvPr/>
        </p:nvSpPr>
        <p:spPr>
          <a:xfrm>
            <a:off x="5823945" y="23431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129</a:t>
            </a:r>
            <a:endParaRPr lang="en-US" sz="696" dirty="0"/>
          </a:p>
        </p:txBody>
      </p:sp>
      <p:sp>
        <p:nvSpPr>
          <p:cNvPr id="111" name="Text 108"/>
          <p:cNvSpPr/>
          <p:nvPr/>
        </p:nvSpPr>
        <p:spPr>
          <a:xfrm>
            <a:off x="6328907" y="23431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885</a:t>
            </a:r>
            <a:endParaRPr lang="en-US" sz="660" dirty="0"/>
          </a:p>
        </p:txBody>
      </p:sp>
      <p:sp>
        <p:nvSpPr>
          <p:cNvPr id="112" name="Text 109"/>
          <p:cNvSpPr/>
          <p:nvPr/>
        </p:nvSpPr>
        <p:spPr>
          <a:xfrm>
            <a:off x="3245414" y="2495573"/>
            <a:ext cx="527161"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163</a:t>
            </a:r>
            <a:endParaRPr lang="en-US" sz="660" dirty="0"/>
          </a:p>
        </p:txBody>
      </p:sp>
      <p:sp>
        <p:nvSpPr>
          <p:cNvPr id="113" name="Text 110"/>
          <p:cNvSpPr/>
          <p:nvPr/>
        </p:nvSpPr>
        <p:spPr>
          <a:xfrm>
            <a:off x="3757221" y="2495573"/>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137</a:t>
            </a:r>
            <a:endParaRPr lang="en-US" sz="660" dirty="0"/>
          </a:p>
        </p:txBody>
      </p:sp>
      <p:sp>
        <p:nvSpPr>
          <p:cNvPr id="114" name="Text 111"/>
          <p:cNvSpPr/>
          <p:nvPr/>
        </p:nvSpPr>
        <p:spPr>
          <a:xfrm>
            <a:off x="4265307" y="2495573"/>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152</a:t>
            </a:r>
            <a:endParaRPr lang="en-US" sz="660" dirty="0"/>
          </a:p>
        </p:txBody>
      </p:sp>
      <p:sp>
        <p:nvSpPr>
          <p:cNvPr id="115" name="Text 112"/>
          <p:cNvSpPr/>
          <p:nvPr/>
        </p:nvSpPr>
        <p:spPr>
          <a:xfrm>
            <a:off x="4774138" y="2495573"/>
            <a:ext cx="53222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141</a:t>
            </a:r>
            <a:endParaRPr lang="en-US" sz="660" dirty="0"/>
          </a:p>
        </p:txBody>
      </p:sp>
      <p:sp>
        <p:nvSpPr>
          <p:cNvPr id="116" name="Text 113"/>
          <p:cNvSpPr/>
          <p:nvPr/>
        </p:nvSpPr>
        <p:spPr>
          <a:xfrm>
            <a:off x="5290856" y="2495573"/>
            <a:ext cx="549082"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17" name="Text 114"/>
          <p:cNvSpPr/>
          <p:nvPr/>
        </p:nvSpPr>
        <p:spPr>
          <a:xfrm>
            <a:off x="5823945" y="24955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132</a:t>
            </a:r>
            <a:endParaRPr lang="en-US" sz="696" dirty="0"/>
          </a:p>
        </p:txBody>
      </p:sp>
      <p:sp>
        <p:nvSpPr>
          <p:cNvPr id="118" name="Text 115"/>
          <p:cNvSpPr/>
          <p:nvPr/>
        </p:nvSpPr>
        <p:spPr>
          <a:xfrm>
            <a:off x="6328907" y="24955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865</a:t>
            </a:r>
            <a:endParaRPr lang="en-US" sz="660" dirty="0"/>
          </a:p>
        </p:txBody>
      </p:sp>
      <p:sp>
        <p:nvSpPr>
          <p:cNvPr id="119" name="Text 116"/>
          <p:cNvSpPr/>
          <p:nvPr/>
        </p:nvSpPr>
        <p:spPr>
          <a:xfrm>
            <a:off x="3245414" y="2647973"/>
            <a:ext cx="527161"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20" name="Text 117"/>
          <p:cNvSpPr/>
          <p:nvPr/>
        </p:nvSpPr>
        <p:spPr>
          <a:xfrm>
            <a:off x="3757221" y="2647973"/>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21" name="Text 118"/>
          <p:cNvSpPr/>
          <p:nvPr/>
        </p:nvSpPr>
        <p:spPr>
          <a:xfrm>
            <a:off x="4265307" y="2647973"/>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156</a:t>
            </a:r>
            <a:endParaRPr lang="en-US" sz="660" dirty="0"/>
          </a:p>
        </p:txBody>
      </p:sp>
      <p:sp>
        <p:nvSpPr>
          <p:cNvPr id="122" name="Text 119"/>
          <p:cNvSpPr/>
          <p:nvPr/>
        </p:nvSpPr>
        <p:spPr>
          <a:xfrm>
            <a:off x="4774138" y="2647973"/>
            <a:ext cx="53222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138</a:t>
            </a:r>
            <a:endParaRPr lang="en-US" sz="696" dirty="0"/>
          </a:p>
        </p:txBody>
      </p:sp>
      <p:sp>
        <p:nvSpPr>
          <p:cNvPr id="123" name="Text 120"/>
          <p:cNvSpPr/>
          <p:nvPr/>
        </p:nvSpPr>
        <p:spPr>
          <a:xfrm>
            <a:off x="5290856" y="2647973"/>
            <a:ext cx="549082"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24" name="Text 121"/>
          <p:cNvSpPr/>
          <p:nvPr/>
        </p:nvSpPr>
        <p:spPr>
          <a:xfrm>
            <a:off x="5823945" y="26479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123</a:t>
            </a:r>
            <a:endParaRPr lang="en-US" sz="696" dirty="0"/>
          </a:p>
        </p:txBody>
      </p:sp>
      <p:sp>
        <p:nvSpPr>
          <p:cNvPr id="125" name="Text 122"/>
          <p:cNvSpPr/>
          <p:nvPr/>
        </p:nvSpPr>
        <p:spPr>
          <a:xfrm>
            <a:off x="6328907" y="26479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829</a:t>
            </a:r>
            <a:endParaRPr lang="en-US" sz="660" dirty="0"/>
          </a:p>
        </p:txBody>
      </p:sp>
      <p:sp>
        <p:nvSpPr>
          <p:cNvPr id="126" name="Text 123"/>
          <p:cNvSpPr/>
          <p:nvPr/>
        </p:nvSpPr>
        <p:spPr>
          <a:xfrm>
            <a:off x="3245414" y="2800373"/>
            <a:ext cx="527161"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138</a:t>
            </a:r>
            <a:endParaRPr lang="en-US" sz="660" dirty="0"/>
          </a:p>
        </p:txBody>
      </p:sp>
      <p:sp>
        <p:nvSpPr>
          <p:cNvPr id="127" name="Text 124"/>
          <p:cNvSpPr/>
          <p:nvPr/>
        </p:nvSpPr>
        <p:spPr>
          <a:xfrm>
            <a:off x="3757221" y="2800373"/>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28" name="Text 125"/>
          <p:cNvSpPr/>
          <p:nvPr/>
        </p:nvSpPr>
        <p:spPr>
          <a:xfrm>
            <a:off x="4265307" y="2800373"/>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148</a:t>
            </a:r>
            <a:endParaRPr lang="en-US" sz="660" dirty="0"/>
          </a:p>
        </p:txBody>
      </p:sp>
      <p:sp>
        <p:nvSpPr>
          <p:cNvPr id="129" name="Text 126"/>
          <p:cNvSpPr/>
          <p:nvPr/>
        </p:nvSpPr>
        <p:spPr>
          <a:xfrm>
            <a:off x="4774138" y="2800373"/>
            <a:ext cx="53222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143</a:t>
            </a:r>
            <a:endParaRPr lang="en-US" sz="660" dirty="0"/>
          </a:p>
        </p:txBody>
      </p:sp>
      <p:sp>
        <p:nvSpPr>
          <p:cNvPr id="130" name="Text 127"/>
          <p:cNvSpPr/>
          <p:nvPr/>
        </p:nvSpPr>
        <p:spPr>
          <a:xfrm>
            <a:off x="5290856" y="2800373"/>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119</a:t>
            </a:r>
            <a:endParaRPr lang="en-US" sz="696" dirty="0"/>
          </a:p>
        </p:txBody>
      </p:sp>
      <p:sp>
        <p:nvSpPr>
          <p:cNvPr id="131" name="Text 128"/>
          <p:cNvSpPr/>
          <p:nvPr/>
        </p:nvSpPr>
        <p:spPr>
          <a:xfrm>
            <a:off x="6328907" y="28003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769</a:t>
            </a:r>
            <a:endParaRPr lang="en-US" sz="660" dirty="0"/>
          </a:p>
        </p:txBody>
      </p:sp>
      <p:sp>
        <p:nvSpPr>
          <p:cNvPr id="132" name="Text 129"/>
          <p:cNvSpPr/>
          <p:nvPr/>
        </p:nvSpPr>
        <p:spPr>
          <a:xfrm>
            <a:off x="3245414" y="2952773"/>
            <a:ext cx="527161"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131</a:t>
            </a:r>
            <a:endParaRPr lang="en-US" sz="696" dirty="0"/>
          </a:p>
        </p:txBody>
      </p:sp>
      <p:sp>
        <p:nvSpPr>
          <p:cNvPr id="133" name="Text 130"/>
          <p:cNvSpPr/>
          <p:nvPr/>
        </p:nvSpPr>
        <p:spPr>
          <a:xfrm>
            <a:off x="3757221" y="2952773"/>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34" name="Text 131"/>
          <p:cNvSpPr/>
          <p:nvPr/>
        </p:nvSpPr>
        <p:spPr>
          <a:xfrm>
            <a:off x="4265307" y="2952773"/>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35" name="Text 132"/>
          <p:cNvSpPr/>
          <p:nvPr/>
        </p:nvSpPr>
        <p:spPr>
          <a:xfrm>
            <a:off x="4774138" y="2952773"/>
            <a:ext cx="53222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141</a:t>
            </a:r>
            <a:endParaRPr lang="en-US" sz="660" dirty="0"/>
          </a:p>
        </p:txBody>
      </p:sp>
      <p:sp>
        <p:nvSpPr>
          <p:cNvPr id="136" name="Text 133"/>
          <p:cNvSpPr/>
          <p:nvPr/>
        </p:nvSpPr>
        <p:spPr>
          <a:xfrm>
            <a:off x="5290856" y="2952773"/>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100</a:t>
            </a:r>
            <a:endParaRPr lang="en-US" sz="696" dirty="0"/>
          </a:p>
        </p:txBody>
      </p:sp>
      <p:sp>
        <p:nvSpPr>
          <p:cNvPr id="137" name="Text 134"/>
          <p:cNvSpPr/>
          <p:nvPr/>
        </p:nvSpPr>
        <p:spPr>
          <a:xfrm>
            <a:off x="6328907" y="29527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732</a:t>
            </a:r>
            <a:endParaRPr lang="en-US" sz="660" dirty="0"/>
          </a:p>
        </p:txBody>
      </p:sp>
      <p:sp>
        <p:nvSpPr>
          <p:cNvPr id="138" name="Text 135"/>
          <p:cNvSpPr/>
          <p:nvPr/>
        </p:nvSpPr>
        <p:spPr>
          <a:xfrm>
            <a:off x="3245414" y="3105173"/>
            <a:ext cx="527161"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135</a:t>
            </a:r>
            <a:endParaRPr lang="en-US" sz="660" dirty="0"/>
          </a:p>
        </p:txBody>
      </p:sp>
      <p:sp>
        <p:nvSpPr>
          <p:cNvPr id="139" name="Text 136"/>
          <p:cNvSpPr/>
          <p:nvPr/>
        </p:nvSpPr>
        <p:spPr>
          <a:xfrm>
            <a:off x="3757221" y="3105173"/>
            <a:ext cx="523329"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129</a:t>
            </a:r>
            <a:endParaRPr lang="en-US" sz="696" dirty="0"/>
          </a:p>
        </p:txBody>
      </p:sp>
      <p:sp>
        <p:nvSpPr>
          <p:cNvPr id="140" name="Text 137"/>
          <p:cNvSpPr/>
          <p:nvPr/>
        </p:nvSpPr>
        <p:spPr>
          <a:xfrm>
            <a:off x="4774138" y="3105173"/>
            <a:ext cx="53222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135</a:t>
            </a:r>
            <a:endParaRPr lang="en-US" sz="696" dirty="0"/>
          </a:p>
        </p:txBody>
      </p:sp>
      <p:sp>
        <p:nvSpPr>
          <p:cNvPr id="141" name="Text 138"/>
          <p:cNvSpPr/>
          <p:nvPr/>
        </p:nvSpPr>
        <p:spPr>
          <a:xfrm>
            <a:off x="5823945" y="31051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122</a:t>
            </a:r>
            <a:endParaRPr lang="en-US" sz="696" dirty="0"/>
          </a:p>
        </p:txBody>
      </p:sp>
      <p:sp>
        <p:nvSpPr>
          <p:cNvPr id="142" name="Text 139"/>
          <p:cNvSpPr/>
          <p:nvPr/>
        </p:nvSpPr>
        <p:spPr>
          <a:xfrm>
            <a:off x="6328907" y="31051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647</a:t>
            </a:r>
            <a:endParaRPr lang="en-US" sz="660" dirty="0"/>
          </a:p>
        </p:txBody>
      </p:sp>
      <p:sp>
        <p:nvSpPr>
          <p:cNvPr id="143" name="Text 140"/>
          <p:cNvSpPr/>
          <p:nvPr/>
        </p:nvSpPr>
        <p:spPr>
          <a:xfrm>
            <a:off x="3245414" y="3257573"/>
            <a:ext cx="527161"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44" name="Text 141"/>
          <p:cNvSpPr/>
          <p:nvPr/>
        </p:nvSpPr>
        <p:spPr>
          <a:xfrm>
            <a:off x="3757221" y="3257573"/>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145" name="Text 142"/>
          <p:cNvSpPr/>
          <p:nvPr/>
        </p:nvSpPr>
        <p:spPr>
          <a:xfrm>
            <a:off x="4265307" y="3257573"/>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147</a:t>
            </a:r>
            <a:endParaRPr lang="en-US" sz="660" dirty="0"/>
          </a:p>
        </p:txBody>
      </p:sp>
      <p:sp>
        <p:nvSpPr>
          <p:cNvPr id="146" name="Text 143"/>
          <p:cNvSpPr/>
          <p:nvPr/>
        </p:nvSpPr>
        <p:spPr>
          <a:xfrm>
            <a:off x="6328907" y="32575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633</a:t>
            </a:r>
            <a:endParaRPr lang="en-US" sz="660" dirty="0"/>
          </a:p>
        </p:txBody>
      </p:sp>
      <p:sp>
        <p:nvSpPr>
          <p:cNvPr id="147" name="Text 144"/>
          <p:cNvSpPr/>
          <p:nvPr/>
        </p:nvSpPr>
        <p:spPr>
          <a:xfrm>
            <a:off x="3245414" y="3409973"/>
            <a:ext cx="527161"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127</a:t>
            </a:r>
            <a:endParaRPr lang="en-US" sz="696" dirty="0"/>
          </a:p>
        </p:txBody>
      </p:sp>
      <p:sp>
        <p:nvSpPr>
          <p:cNvPr id="148" name="Text 145"/>
          <p:cNvSpPr/>
          <p:nvPr/>
        </p:nvSpPr>
        <p:spPr>
          <a:xfrm>
            <a:off x="3757221" y="3409973"/>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49" name="Text 146"/>
          <p:cNvSpPr/>
          <p:nvPr/>
        </p:nvSpPr>
        <p:spPr>
          <a:xfrm>
            <a:off x="4774138" y="3409973"/>
            <a:ext cx="53222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139</a:t>
            </a:r>
            <a:endParaRPr lang="en-US" sz="696" dirty="0"/>
          </a:p>
        </p:txBody>
      </p:sp>
      <p:sp>
        <p:nvSpPr>
          <p:cNvPr id="150" name="Text 147"/>
          <p:cNvSpPr/>
          <p:nvPr/>
        </p:nvSpPr>
        <p:spPr>
          <a:xfrm>
            <a:off x="6328907" y="34099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622</a:t>
            </a:r>
            <a:endParaRPr lang="en-US" sz="660" dirty="0"/>
          </a:p>
        </p:txBody>
      </p:sp>
      <p:sp>
        <p:nvSpPr>
          <p:cNvPr id="151" name="Text 148"/>
          <p:cNvSpPr/>
          <p:nvPr/>
        </p:nvSpPr>
        <p:spPr>
          <a:xfrm>
            <a:off x="4265307" y="3562373"/>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157</a:t>
            </a:r>
            <a:endParaRPr lang="en-US" sz="660" dirty="0"/>
          </a:p>
        </p:txBody>
      </p:sp>
      <p:sp>
        <p:nvSpPr>
          <p:cNvPr id="152" name="Text 149"/>
          <p:cNvSpPr/>
          <p:nvPr/>
        </p:nvSpPr>
        <p:spPr>
          <a:xfrm>
            <a:off x="4774138" y="3562373"/>
            <a:ext cx="53222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53" name="Text 150"/>
          <p:cNvSpPr/>
          <p:nvPr/>
        </p:nvSpPr>
        <p:spPr>
          <a:xfrm>
            <a:off x="5290856" y="3562373"/>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129</a:t>
            </a:r>
            <a:endParaRPr lang="en-US" sz="696" dirty="0"/>
          </a:p>
        </p:txBody>
      </p:sp>
      <p:sp>
        <p:nvSpPr>
          <p:cNvPr id="154" name="Text 151"/>
          <p:cNvSpPr/>
          <p:nvPr/>
        </p:nvSpPr>
        <p:spPr>
          <a:xfrm>
            <a:off x="5823945" y="35623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137</a:t>
            </a:r>
            <a:endParaRPr lang="en-US" sz="696" dirty="0"/>
          </a:p>
        </p:txBody>
      </p:sp>
      <p:sp>
        <p:nvSpPr>
          <p:cNvPr id="155" name="Text 152"/>
          <p:cNvSpPr/>
          <p:nvPr/>
        </p:nvSpPr>
        <p:spPr>
          <a:xfrm>
            <a:off x="6328907" y="35623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602</a:t>
            </a:r>
            <a:endParaRPr lang="en-US" sz="660" dirty="0"/>
          </a:p>
        </p:txBody>
      </p:sp>
      <p:sp>
        <p:nvSpPr>
          <p:cNvPr id="156" name="Text 153"/>
          <p:cNvSpPr/>
          <p:nvPr/>
        </p:nvSpPr>
        <p:spPr>
          <a:xfrm>
            <a:off x="4265307" y="3714773"/>
            <a:ext cx="524096"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134</a:t>
            </a:r>
            <a:endParaRPr lang="en-US" sz="696" dirty="0"/>
          </a:p>
        </p:txBody>
      </p:sp>
      <p:sp>
        <p:nvSpPr>
          <p:cNvPr id="157" name="Text 154"/>
          <p:cNvSpPr/>
          <p:nvPr/>
        </p:nvSpPr>
        <p:spPr>
          <a:xfrm>
            <a:off x="5290856" y="3714773"/>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104</a:t>
            </a:r>
            <a:endParaRPr lang="en-US" sz="696" dirty="0"/>
          </a:p>
        </p:txBody>
      </p:sp>
      <p:sp>
        <p:nvSpPr>
          <p:cNvPr id="158" name="Text 155"/>
          <p:cNvSpPr/>
          <p:nvPr/>
        </p:nvSpPr>
        <p:spPr>
          <a:xfrm>
            <a:off x="5823945" y="37147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105</a:t>
            </a:r>
            <a:endParaRPr lang="en-US" sz="696" dirty="0"/>
          </a:p>
        </p:txBody>
      </p:sp>
      <p:sp>
        <p:nvSpPr>
          <p:cNvPr id="159" name="Text 156"/>
          <p:cNvSpPr/>
          <p:nvPr/>
        </p:nvSpPr>
        <p:spPr>
          <a:xfrm>
            <a:off x="6328907" y="37147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451</a:t>
            </a:r>
            <a:endParaRPr lang="en-US" sz="660" dirty="0"/>
          </a:p>
        </p:txBody>
      </p:sp>
      <p:sp>
        <p:nvSpPr>
          <p:cNvPr id="160" name="Text 157"/>
          <p:cNvSpPr/>
          <p:nvPr/>
        </p:nvSpPr>
        <p:spPr>
          <a:xfrm>
            <a:off x="5290856" y="3867173"/>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101</a:t>
            </a:r>
            <a:endParaRPr lang="en-US" sz="696" dirty="0"/>
          </a:p>
        </p:txBody>
      </p:sp>
      <p:sp>
        <p:nvSpPr>
          <p:cNvPr id="161" name="Text 158"/>
          <p:cNvSpPr/>
          <p:nvPr/>
        </p:nvSpPr>
        <p:spPr>
          <a:xfrm>
            <a:off x="5823945" y="38671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119</a:t>
            </a:r>
            <a:endParaRPr lang="en-US" sz="696" dirty="0"/>
          </a:p>
        </p:txBody>
      </p:sp>
      <p:sp>
        <p:nvSpPr>
          <p:cNvPr id="162" name="Text 159"/>
          <p:cNvSpPr/>
          <p:nvPr/>
        </p:nvSpPr>
        <p:spPr>
          <a:xfrm>
            <a:off x="6328907" y="38671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220</a:t>
            </a:r>
            <a:endParaRPr lang="en-US" sz="660" dirty="0"/>
          </a:p>
        </p:txBody>
      </p:sp>
      <p:sp>
        <p:nvSpPr>
          <p:cNvPr id="163" name="Text 160"/>
          <p:cNvSpPr/>
          <p:nvPr/>
        </p:nvSpPr>
        <p:spPr>
          <a:xfrm>
            <a:off x="4265307" y="4019573"/>
            <a:ext cx="524096"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109</a:t>
            </a:r>
            <a:endParaRPr lang="en-US" sz="696" dirty="0"/>
          </a:p>
        </p:txBody>
      </p:sp>
      <p:sp>
        <p:nvSpPr>
          <p:cNvPr id="164" name="Text 161"/>
          <p:cNvSpPr/>
          <p:nvPr/>
        </p:nvSpPr>
        <p:spPr>
          <a:xfrm>
            <a:off x="6328907" y="40195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198</a:t>
            </a:r>
            <a:endParaRPr lang="en-US" sz="660" dirty="0"/>
          </a:p>
        </p:txBody>
      </p:sp>
      <p:sp>
        <p:nvSpPr>
          <p:cNvPr id="165" name="Text 162"/>
          <p:cNvSpPr/>
          <p:nvPr/>
        </p:nvSpPr>
        <p:spPr>
          <a:xfrm>
            <a:off x="6328907" y="41719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140</a:t>
            </a:r>
            <a:endParaRPr lang="en-US" sz="660" dirty="0"/>
          </a:p>
        </p:txBody>
      </p:sp>
      <p:sp>
        <p:nvSpPr>
          <p:cNvPr id="166" name="Text 163"/>
          <p:cNvSpPr/>
          <p:nvPr/>
        </p:nvSpPr>
        <p:spPr>
          <a:xfrm>
            <a:off x="3245414" y="4324373"/>
            <a:ext cx="527161" cy="142875"/>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67" name="Text 164"/>
          <p:cNvSpPr/>
          <p:nvPr/>
        </p:nvSpPr>
        <p:spPr>
          <a:xfrm>
            <a:off x="6328907" y="4324373"/>
            <a:ext cx="642895" cy="142875"/>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136</a:t>
            </a:r>
            <a:endParaRPr lang="en-US" sz="660" dirty="0"/>
          </a:p>
        </p:txBody>
      </p:sp>
      <p:sp>
        <p:nvSpPr>
          <p:cNvPr id="168" name="Text 165"/>
          <p:cNvSpPr/>
          <p:nvPr/>
        </p:nvSpPr>
        <p:spPr>
          <a:xfrm>
            <a:off x="7448364" y="1993302"/>
            <a:ext cx="520570" cy="228600"/>
          </a:xfrm>
          <a:prstGeom prst="rect">
            <a:avLst/>
          </a:prstGeom>
          <a:noFill/>
          <a:ln/>
        </p:spPr>
        <p:txBody>
          <a:bodyPr wrap="square" lIns="47625" tIns="114300" rIns="114300" bIns="47625"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69" name="Text 166"/>
          <p:cNvSpPr/>
          <p:nvPr/>
        </p:nvSpPr>
        <p:spPr>
          <a:xfrm>
            <a:off x="7448364" y="2204650"/>
            <a:ext cx="520570" cy="290513"/>
          </a:xfrm>
          <a:prstGeom prst="rect">
            <a:avLst/>
          </a:prstGeom>
          <a:noFill/>
          <a:ln/>
        </p:spPr>
        <p:txBody>
          <a:bodyPr wrap="square" lIns="38100" tIns="114300" rIns="114300" bIns="38100" rtlCol="0" anchor="ctr"/>
          <a:lstStyle/>
          <a:p>
            <a:pPr marL="0" indent="0" algn="l">
              <a:buNone/>
            </a:pPr>
            <a:r>
              <a:rPr lang="en-US" sz="888" b="1" dirty="0">
                <a:solidFill>
                  <a:srgbClr val="333333"/>
                </a:solidFill>
                <a:latin typeface="Raleway" pitchFamily="34" charset="0"/>
                <a:ea typeface="Raleway" pitchFamily="34" charset="-122"/>
                <a:cs typeface="Raleway" pitchFamily="34" charset="-120"/>
              </a:rPr>
              <a:t>Ene</a:t>
            </a:r>
            <a:endParaRPr lang="en-US" sz="888" dirty="0"/>
          </a:p>
        </p:txBody>
      </p:sp>
      <p:sp>
        <p:nvSpPr>
          <p:cNvPr id="170" name="Text 167"/>
          <p:cNvSpPr/>
          <p:nvPr/>
        </p:nvSpPr>
        <p:spPr>
          <a:xfrm>
            <a:off x="7448364" y="2847588"/>
            <a:ext cx="520570" cy="219075"/>
          </a:xfrm>
          <a:prstGeom prst="rect">
            <a:avLst/>
          </a:prstGeom>
          <a:noFill/>
          <a:ln/>
        </p:spPr>
        <p:txBody>
          <a:bodyPr wrap="square" lIns="38100" tIns="114300" rIns="114300" bIns="38100" rtlCol="0" anchor="ctr"/>
          <a:lstStyle/>
          <a:p>
            <a:pPr marL="0" indent="0" algn="l">
              <a:buNone/>
            </a:pPr>
            <a:r>
              <a:rPr lang="en-US" sz="888" b="1" dirty="0">
                <a:solidFill>
                  <a:srgbClr val="333333"/>
                </a:solidFill>
                <a:latin typeface="Raleway" pitchFamily="34" charset="0"/>
                <a:ea typeface="Raleway" pitchFamily="34" charset="-122"/>
                <a:cs typeface="Raleway" pitchFamily="34" charset="-120"/>
              </a:rPr>
              <a:t>May</a:t>
            </a:r>
            <a:endParaRPr lang="en-US" sz="888" dirty="0"/>
          </a:p>
        </p:txBody>
      </p:sp>
      <p:sp>
        <p:nvSpPr>
          <p:cNvPr id="171" name="Text 168"/>
          <p:cNvSpPr/>
          <p:nvPr/>
        </p:nvSpPr>
        <p:spPr>
          <a:xfrm>
            <a:off x="5290856" y="2200298"/>
            <a:ext cx="549082" cy="142875"/>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81</a:t>
            </a:r>
            <a:endParaRPr lang="en-US" sz="660" dirty="0"/>
          </a:p>
        </p:txBody>
      </p:sp>
      <p:sp>
        <p:nvSpPr>
          <p:cNvPr id="172" name="Text 169"/>
          <p:cNvSpPr/>
          <p:nvPr/>
        </p:nvSpPr>
        <p:spPr>
          <a:xfrm>
            <a:off x="704832" y="2800373"/>
            <a:ext cx="319914" cy="152400"/>
          </a:xfrm>
          <a:prstGeom prst="rect">
            <a:avLst/>
          </a:prstGeom>
          <a:noFill/>
          <a:ln/>
        </p:spPr>
        <p:txBody>
          <a:bodyPr wrap="square" lIns="19050" tIns="57150" rIns="57150" bIns="19050" rtlCol="0" anchor="ctr"/>
          <a:lstStyle/>
          <a:p>
            <a:pPr marL="0" indent="0" algn="r">
              <a:buNone/>
            </a:pPr>
            <a:r>
              <a:rPr lang="en-US" sz="624" dirty="0">
                <a:solidFill>
                  <a:srgbClr val="9098B0"/>
                </a:solidFill>
                <a:latin typeface="Raleway" pitchFamily="34" charset="0"/>
                <a:ea typeface="Raleway" pitchFamily="34" charset="-122"/>
                <a:cs typeface="Raleway" pitchFamily="34" charset="-120"/>
              </a:rPr>
              <a:t>10</a:t>
            </a:r>
            <a:endParaRPr lang="en-US" sz="624" dirty="0"/>
          </a:p>
        </p:txBody>
      </p:sp>
      <p:sp>
        <p:nvSpPr>
          <p:cNvPr id="173" name="Text 170"/>
          <p:cNvSpPr/>
          <p:nvPr/>
        </p:nvSpPr>
        <p:spPr>
          <a:xfrm>
            <a:off x="5823945" y="28003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81</a:t>
            </a:r>
            <a:endParaRPr lang="en-US" sz="696" dirty="0"/>
          </a:p>
        </p:txBody>
      </p:sp>
      <p:sp>
        <p:nvSpPr>
          <p:cNvPr id="174" name="Text 171"/>
          <p:cNvSpPr/>
          <p:nvPr/>
        </p:nvSpPr>
        <p:spPr>
          <a:xfrm>
            <a:off x="704832" y="2952773"/>
            <a:ext cx="319914" cy="152400"/>
          </a:xfrm>
          <a:prstGeom prst="rect">
            <a:avLst/>
          </a:prstGeom>
          <a:noFill/>
          <a:ln/>
        </p:spPr>
        <p:txBody>
          <a:bodyPr wrap="square" lIns="19050" tIns="57150" rIns="57150" bIns="19050" rtlCol="0" anchor="ctr"/>
          <a:lstStyle/>
          <a:p>
            <a:pPr marL="0" indent="0" algn="r">
              <a:buNone/>
            </a:pPr>
            <a:r>
              <a:rPr lang="en-US" sz="624" dirty="0">
                <a:solidFill>
                  <a:srgbClr val="9098B0"/>
                </a:solidFill>
                <a:latin typeface="Raleway" pitchFamily="34" charset="0"/>
                <a:ea typeface="Raleway" pitchFamily="34" charset="-122"/>
                <a:cs typeface="Raleway" pitchFamily="34" charset="-120"/>
              </a:rPr>
              <a:t>11</a:t>
            </a:r>
            <a:endParaRPr lang="en-US" sz="624" dirty="0"/>
          </a:p>
        </p:txBody>
      </p:sp>
      <p:sp>
        <p:nvSpPr>
          <p:cNvPr id="175" name="Text 172"/>
          <p:cNvSpPr/>
          <p:nvPr/>
        </p:nvSpPr>
        <p:spPr>
          <a:xfrm>
            <a:off x="5823945" y="2952773"/>
            <a:ext cx="52011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76</a:t>
            </a:r>
            <a:endParaRPr lang="en-US" sz="660" dirty="0"/>
          </a:p>
        </p:txBody>
      </p:sp>
      <p:sp>
        <p:nvSpPr>
          <p:cNvPr id="176" name="Text 173"/>
          <p:cNvSpPr/>
          <p:nvPr/>
        </p:nvSpPr>
        <p:spPr>
          <a:xfrm>
            <a:off x="704832" y="3105173"/>
            <a:ext cx="319914" cy="152400"/>
          </a:xfrm>
          <a:prstGeom prst="rect">
            <a:avLst/>
          </a:prstGeom>
          <a:noFill/>
          <a:ln/>
        </p:spPr>
        <p:txBody>
          <a:bodyPr wrap="square" lIns="19050" tIns="57150" rIns="57150" bIns="19050" rtlCol="0" anchor="ctr"/>
          <a:lstStyle/>
          <a:p>
            <a:pPr marL="0" indent="0" algn="r">
              <a:buNone/>
            </a:pPr>
            <a:r>
              <a:rPr lang="en-US" sz="624" dirty="0">
                <a:solidFill>
                  <a:srgbClr val="9098B0"/>
                </a:solidFill>
                <a:latin typeface="Raleway" pitchFamily="34" charset="0"/>
                <a:ea typeface="Raleway" pitchFamily="34" charset="-122"/>
                <a:cs typeface="Raleway" pitchFamily="34" charset="-120"/>
              </a:rPr>
              <a:t>12</a:t>
            </a:r>
            <a:endParaRPr lang="en-US" sz="624" dirty="0"/>
          </a:p>
        </p:txBody>
      </p:sp>
      <p:sp>
        <p:nvSpPr>
          <p:cNvPr id="177" name="Text 174"/>
          <p:cNvSpPr/>
          <p:nvPr/>
        </p:nvSpPr>
        <p:spPr>
          <a:xfrm>
            <a:off x="4265307" y="3105173"/>
            <a:ext cx="524096"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27</a:t>
            </a:r>
            <a:endParaRPr lang="en-US" sz="696" dirty="0"/>
          </a:p>
        </p:txBody>
      </p:sp>
      <p:sp>
        <p:nvSpPr>
          <p:cNvPr id="178" name="Text 175"/>
          <p:cNvSpPr/>
          <p:nvPr/>
        </p:nvSpPr>
        <p:spPr>
          <a:xfrm>
            <a:off x="5290856" y="3105173"/>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99</a:t>
            </a:r>
            <a:endParaRPr lang="en-US" sz="696" dirty="0"/>
          </a:p>
        </p:txBody>
      </p:sp>
      <p:sp>
        <p:nvSpPr>
          <p:cNvPr id="179" name="Text 176"/>
          <p:cNvSpPr/>
          <p:nvPr/>
        </p:nvSpPr>
        <p:spPr>
          <a:xfrm>
            <a:off x="704832" y="3257573"/>
            <a:ext cx="319914" cy="152400"/>
          </a:xfrm>
          <a:prstGeom prst="rect">
            <a:avLst/>
          </a:prstGeom>
          <a:noFill/>
          <a:ln/>
        </p:spPr>
        <p:txBody>
          <a:bodyPr wrap="square" lIns="19050" tIns="57150" rIns="57150" bIns="19050" rtlCol="0" anchor="ctr"/>
          <a:lstStyle/>
          <a:p>
            <a:pPr marL="0" indent="0" algn="r">
              <a:buNone/>
            </a:pPr>
            <a:r>
              <a:rPr lang="en-US" sz="624" dirty="0">
                <a:solidFill>
                  <a:srgbClr val="9098B0"/>
                </a:solidFill>
                <a:latin typeface="Raleway" pitchFamily="34" charset="0"/>
                <a:ea typeface="Raleway" pitchFamily="34" charset="-122"/>
                <a:cs typeface="Raleway" pitchFamily="34" charset="-120"/>
              </a:rPr>
              <a:t>13</a:t>
            </a:r>
            <a:endParaRPr lang="en-US" sz="624" dirty="0"/>
          </a:p>
        </p:txBody>
      </p:sp>
      <p:sp>
        <p:nvSpPr>
          <p:cNvPr id="180" name="Text 177"/>
          <p:cNvSpPr/>
          <p:nvPr/>
        </p:nvSpPr>
        <p:spPr>
          <a:xfrm>
            <a:off x="4774138" y="3257573"/>
            <a:ext cx="53222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85</a:t>
            </a:r>
            <a:endParaRPr lang="en-US" sz="696" dirty="0"/>
          </a:p>
        </p:txBody>
      </p:sp>
      <p:sp>
        <p:nvSpPr>
          <p:cNvPr id="181" name="Text 178"/>
          <p:cNvSpPr/>
          <p:nvPr/>
        </p:nvSpPr>
        <p:spPr>
          <a:xfrm>
            <a:off x="5290856" y="3257573"/>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78</a:t>
            </a:r>
            <a:endParaRPr lang="en-US" sz="696" dirty="0"/>
          </a:p>
        </p:txBody>
      </p:sp>
      <p:sp>
        <p:nvSpPr>
          <p:cNvPr id="182" name="Text 179"/>
          <p:cNvSpPr/>
          <p:nvPr/>
        </p:nvSpPr>
        <p:spPr>
          <a:xfrm>
            <a:off x="5823945" y="32575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34</a:t>
            </a:r>
            <a:endParaRPr lang="en-US" sz="696" dirty="0"/>
          </a:p>
        </p:txBody>
      </p:sp>
      <p:sp>
        <p:nvSpPr>
          <p:cNvPr id="183" name="Text 180"/>
          <p:cNvSpPr/>
          <p:nvPr/>
        </p:nvSpPr>
        <p:spPr>
          <a:xfrm>
            <a:off x="704832" y="3409973"/>
            <a:ext cx="319914" cy="152400"/>
          </a:xfrm>
          <a:prstGeom prst="rect">
            <a:avLst/>
          </a:prstGeom>
          <a:noFill/>
          <a:ln/>
        </p:spPr>
        <p:txBody>
          <a:bodyPr wrap="square" lIns="19050" tIns="57150" rIns="57150" bIns="19050" rtlCol="0" anchor="ctr"/>
          <a:lstStyle/>
          <a:p>
            <a:pPr marL="0" indent="0" algn="r">
              <a:buNone/>
            </a:pPr>
            <a:r>
              <a:rPr lang="en-US" sz="624" dirty="0">
                <a:solidFill>
                  <a:srgbClr val="9098B0"/>
                </a:solidFill>
                <a:latin typeface="Raleway" pitchFamily="34" charset="0"/>
                <a:ea typeface="Raleway" pitchFamily="34" charset="-122"/>
                <a:cs typeface="Raleway" pitchFamily="34" charset="-120"/>
              </a:rPr>
              <a:t>14</a:t>
            </a:r>
            <a:endParaRPr lang="en-US" sz="624" dirty="0"/>
          </a:p>
        </p:txBody>
      </p:sp>
      <p:sp>
        <p:nvSpPr>
          <p:cNvPr id="184" name="Text 181"/>
          <p:cNvSpPr/>
          <p:nvPr/>
        </p:nvSpPr>
        <p:spPr>
          <a:xfrm>
            <a:off x="4265307" y="3409973"/>
            <a:ext cx="524096"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20</a:t>
            </a:r>
            <a:endParaRPr lang="en-US" sz="696" dirty="0"/>
          </a:p>
        </p:txBody>
      </p:sp>
      <p:sp>
        <p:nvSpPr>
          <p:cNvPr id="185" name="Text 182"/>
          <p:cNvSpPr/>
          <p:nvPr/>
        </p:nvSpPr>
        <p:spPr>
          <a:xfrm>
            <a:off x="5290856" y="3409973"/>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99</a:t>
            </a:r>
            <a:endParaRPr lang="en-US" sz="696" dirty="0"/>
          </a:p>
        </p:txBody>
      </p:sp>
      <p:sp>
        <p:nvSpPr>
          <p:cNvPr id="186" name="Text 183"/>
          <p:cNvSpPr/>
          <p:nvPr/>
        </p:nvSpPr>
        <p:spPr>
          <a:xfrm>
            <a:off x="5823945" y="34099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95</a:t>
            </a:r>
            <a:endParaRPr lang="en-US" sz="696" dirty="0"/>
          </a:p>
        </p:txBody>
      </p:sp>
      <p:sp>
        <p:nvSpPr>
          <p:cNvPr id="187" name="Text 184"/>
          <p:cNvSpPr/>
          <p:nvPr/>
        </p:nvSpPr>
        <p:spPr>
          <a:xfrm>
            <a:off x="704832" y="3562373"/>
            <a:ext cx="319914" cy="152400"/>
          </a:xfrm>
          <a:prstGeom prst="rect">
            <a:avLst/>
          </a:prstGeom>
          <a:noFill/>
          <a:ln/>
        </p:spPr>
        <p:txBody>
          <a:bodyPr wrap="square" lIns="19050" tIns="57150" rIns="57150" bIns="19050" rtlCol="0" anchor="ctr"/>
          <a:lstStyle/>
          <a:p>
            <a:pPr marL="0" indent="0" algn="r">
              <a:buNone/>
            </a:pPr>
            <a:r>
              <a:rPr lang="en-US" sz="624" dirty="0">
                <a:solidFill>
                  <a:srgbClr val="9098B0"/>
                </a:solidFill>
                <a:latin typeface="Raleway" pitchFamily="34" charset="0"/>
                <a:ea typeface="Raleway" pitchFamily="34" charset="-122"/>
                <a:cs typeface="Raleway" pitchFamily="34" charset="-120"/>
              </a:rPr>
              <a:t>15</a:t>
            </a:r>
            <a:endParaRPr lang="en-US" sz="624" dirty="0"/>
          </a:p>
        </p:txBody>
      </p:sp>
      <p:sp>
        <p:nvSpPr>
          <p:cNvPr id="188" name="Text 185"/>
          <p:cNvSpPr/>
          <p:nvPr/>
        </p:nvSpPr>
        <p:spPr>
          <a:xfrm>
            <a:off x="3757221" y="3562373"/>
            <a:ext cx="523329"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39</a:t>
            </a:r>
            <a:endParaRPr lang="en-US" sz="696" dirty="0"/>
          </a:p>
        </p:txBody>
      </p:sp>
      <p:sp>
        <p:nvSpPr>
          <p:cNvPr id="189" name="Text 186"/>
          <p:cNvSpPr/>
          <p:nvPr/>
        </p:nvSpPr>
        <p:spPr>
          <a:xfrm>
            <a:off x="704832" y="3714773"/>
            <a:ext cx="319914" cy="152400"/>
          </a:xfrm>
          <a:prstGeom prst="rect">
            <a:avLst/>
          </a:prstGeom>
          <a:noFill/>
          <a:ln/>
        </p:spPr>
        <p:txBody>
          <a:bodyPr wrap="square" lIns="19050" tIns="57150" rIns="57150" bIns="19050" rtlCol="0" anchor="ctr"/>
          <a:lstStyle/>
          <a:p>
            <a:pPr marL="0" indent="0" algn="r">
              <a:buNone/>
            </a:pPr>
            <a:r>
              <a:rPr lang="en-US" sz="624" dirty="0">
                <a:solidFill>
                  <a:srgbClr val="9098B0"/>
                </a:solidFill>
                <a:latin typeface="Raleway" pitchFamily="34" charset="0"/>
                <a:ea typeface="Raleway" pitchFamily="34" charset="-122"/>
                <a:cs typeface="Raleway" pitchFamily="34" charset="-120"/>
              </a:rPr>
              <a:t>16</a:t>
            </a:r>
            <a:endParaRPr lang="en-US" sz="624" dirty="0"/>
          </a:p>
        </p:txBody>
      </p:sp>
      <p:sp>
        <p:nvSpPr>
          <p:cNvPr id="190" name="Text 187"/>
          <p:cNvSpPr/>
          <p:nvPr/>
        </p:nvSpPr>
        <p:spPr>
          <a:xfrm>
            <a:off x="3757221" y="3714773"/>
            <a:ext cx="523329"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33</a:t>
            </a:r>
            <a:endParaRPr lang="en-US" sz="696" dirty="0"/>
          </a:p>
        </p:txBody>
      </p:sp>
      <p:sp>
        <p:nvSpPr>
          <p:cNvPr id="191" name="Text 188"/>
          <p:cNvSpPr/>
          <p:nvPr/>
        </p:nvSpPr>
        <p:spPr>
          <a:xfrm>
            <a:off x="4774138" y="3714773"/>
            <a:ext cx="53222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75</a:t>
            </a:r>
            <a:endParaRPr lang="en-US" sz="696" dirty="0"/>
          </a:p>
        </p:txBody>
      </p:sp>
      <p:sp>
        <p:nvSpPr>
          <p:cNvPr id="192" name="Text 189"/>
          <p:cNvSpPr/>
          <p:nvPr/>
        </p:nvSpPr>
        <p:spPr>
          <a:xfrm>
            <a:off x="704832" y="3867173"/>
            <a:ext cx="319914" cy="152400"/>
          </a:xfrm>
          <a:prstGeom prst="rect">
            <a:avLst/>
          </a:prstGeom>
          <a:noFill/>
          <a:ln/>
        </p:spPr>
        <p:txBody>
          <a:bodyPr wrap="square" lIns="19050" tIns="57150" rIns="57150" bIns="19050" rtlCol="0" anchor="ctr"/>
          <a:lstStyle/>
          <a:p>
            <a:pPr marL="0" indent="0" algn="r">
              <a:buNone/>
            </a:pPr>
            <a:r>
              <a:rPr lang="en-US" sz="624" dirty="0">
                <a:solidFill>
                  <a:srgbClr val="9098B0"/>
                </a:solidFill>
                <a:latin typeface="Raleway" pitchFamily="34" charset="0"/>
                <a:ea typeface="Raleway" pitchFamily="34" charset="-122"/>
                <a:cs typeface="Raleway" pitchFamily="34" charset="-120"/>
              </a:rPr>
              <a:t>17</a:t>
            </a:r>
            <a:endParaRPr lang="en-US" sz="624" dirty="0"/>
          </a:p>
        </p:txBody>
      </p:sp>
      <p:sp>
        <p:nvSpPr>
          <p:cNvPr id="193" name="Text 190"/>
          <p:cNvSpPr/>
          <p:nvPr/>
        </p:nvSpPr>
        <p:spPr>
          <a:xfrm>
            <a:off x="704832" y="4019573"/>
            <a:ext cx="319914" cy="152400"/>
          </a:xfrm>
          <a:prstGeom prst="rect">
            <a:avLst/>
          </a:prstGeom>
          <a:noFill/>
          <a:ln/>
        </p:spPr>
        <p:txBody>
          <a:bodyPr wrap="square" lIns="19050" tIns="57150" rIns="57150" bIns="19050" rtlCol="0" anchor="ctr"/>
          <a:lstStyle/>
          <a:p>
            <a:pPr marL="0" indent="0" algn="r">
              <a:buNone/>
            </a:pPr>
            <a:r>
              <a:rPr lang="en-US" sz="624" dirty="0">
                <a:solidFill>
                  <a:srgbClr val="9098B0"/>
                </a:solidFill>
                <a:latin typeface="Raleway" pitchFamily="34" charset="0"/>
                <a:ea typeface="Raleway" pitchFamily="34" charset="-122"/>
                <a:cs typeface="Raleway" pitchFamily="34" charset="-120"/>
              </a:rPr>
              <a:t>18</a:t>
            </a:r>
            <a:endParaRPr lang="en-US" sz="624" dirty="0"/>
          </a:p>
        </p:txBody>
      </p:sp>
      <p:sp>
        <p:nvSpPr>
          <p:cNvPr id="194" name="Text 191"/>
          <p:cNvSpPr/>
          <p:nvPr/>
        </p:nvSpPr>
        <p:spPr>
          <a:xfrm>
            <a:off x="3757221" y="4019573"/>
            <a:ext cx="523329"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30</a:t>
            </a:r>
            <a:endParaRPr lang="en-US" sz="696" dirty="0"/>
          </a:p>
        </p:txBody>
      </p:sp>
      <p:sp>
        <p:nvSpPr>
          <p:cNvPr id="195" name="Text 192"/>
          <p:cNvSpPr/>
          <p:nvPr/>
        </p:nvSpPr>
        <p:spPr>
          <a:xfrm>
            <a:off x="4774138" y="4019573"/>
            <a:ext cx="53222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59</a:t>
            </a:r>
            <a:endParaRPr lang="en-US" sz="696" dirty="0"/>
          </a:p>
        </p:txBody>
      </p:sp>
      <p:sp>
        <p:nvSpPr>
          <p:cNvPr id="196" name="Text 193"/>
          <p:cNvSpPr/>
          <p:nvPr/>
        </p:nvSpPr>
        <p:spPr>
          <a:xfrm>
            <a:off x="704832" y="4171973"/>
            <a:ext cx="319914" cy="152400"/>
          </a:xfrm>
          <a:prstGeom prst="rect">
            <a:avLst/>
          </a:prstGeom>
          <a:noFill/>
          <a:ln/>
        </p:spPr>
        <p:txBody>
          <a:bodyPr wrap="square" lIns="19050" tIns="57150" rIns="57150" bIns="19050" rtlCol="0" anchor="ctr"/>
          <a:lstStyle/>
          <a:p>
            <a:pPr marL="0" indent="0" algn="r">
              <a:buNone/>
            </a:pPr>
            <a:r>
              <a:rPr lang="en-US" sz="624" dirty="0">
                <a:solidFill>
                  <a:srgbClr val="9098B0"/>
                </a:solidFill>
                <a:latin typeface="Raleway" pitchFamily="34" charset="0"/>
                <a:ea typeface="Raleway" pitchFamily="34" charset="-122"/>
                <a:cs typeface="Raleway" pitchFamily="34" charset="-120"/>
              </a:rPr>
              <a:t>19</a:t>
            </a:r>
            <a:endParaRPr lang="en-US" sz="624" dirty="0"/>
          </a:p>
        </p:txBody>
      </p:sp>
      <p:sp>
        <p:nvSpPr>
          <p:cNvPr id="197" name="Text 194"/>
          <p:cNvSpPr/>
          <p:nvPr/>
        </p:nvSpPr>
        <p:spPr>
          <a:xfrm>
            <a:off x="4774138" y="4171973"/>
            <a:ext cx="53222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19</a:t>
            </a:r>
            <a:endParaRPr lang="en-US" sz="696" dirty="0"/>
          </a:p>
        </p:txBody>
      </p:sp>
      <p:sp>
        <p:nvSpPr>
          <p:cNvPr id="198" name="Text 195"/>
          <p:cNvSpPr/>
          <p:nvPr/>
        </p:nvSpPr>
        <p:spPr>
          <a:xfrm>
            <a:off x="5290856" y="4171973"/>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45</a:t>
            </a:r>
            <a:endParaRPr lang="en-US" sz="696" dirty="0"/>
          </a:p>
        </p:txBody>
      </p:sp>
      <p:sp>
        <p:nvSpPr>
          <p:cNvPr id="199" name="Text 196"/>
          <p:cNvSpPr/>
          <p:nvPr/>
        </p:nvSpPr>
        <p:spPr>
          <a:xfrm>
            <a:off x="5823945" y="41719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76</a:t>
            </a:r>
            <a:endParaRPr lang="en-US" sz="696" dirty="0"/>
          </a:p>
        </p:txBody>
      </p:sp>
      <p:sp>
        <p:nvSpPr>
          <p:cNvPr id="200" name="Text 197"/>
          <p:cNvSpPr/>
          <p:nvPr/>
        </p:nvSpPr>
        <p:spPr>
          <a:xfrm>
            <a:off x="704832" y="4324373"/>
            <a:ext cx="319914" cy="142875"/>
          </a:xfrm>
          <a:prstGeom prst="rect">
            <a:avLst/>
          </a:prstGeom>
          <a:noFill/>
          <a:ln/>
        </p:spPr>
        <p:txBody>
          <a:bodyPr wrap="square" lIns="19050" tIns="57150" rIns="57150" bIns="19050" rtlCol="0" anchor="ctr"/>
          <a:lstStyle/>
          <a:p>
            <a:pPr marL="0" indent="0" algn="r">
              <a:buNone/>
            </a:pPr>
            <a:r>
              <a:rPr lang="en-US" sz="624" dirty="0">
                <a:solidFill>
                  <a:srgbClr val="9098B0"/>
                </a:solidFill>
                <a:latin typeface="Raleway" pitchFamily="34" charset="0"/>
                <a:ea typeface="Raleway" pitchFamily="34" charset="-122"/>
                <a:cs typeface="Raleway" pitchFamily="34" charset="-120"/>
              </a:rPr>
              <a:t>20</a:t>
            </a:r>
            <a:endParaRPr lang="en-US" sz="624" dirty="0"/>
          </a:p>
        </p:txBody>
      </p:sp>
      <p:sp>
        <p:nvSpPr>
          <p:cNvPr id="201" name="Text 198"/>
          <p:cNvSpPr/>
          <p:nvPr/>
        </p:nvSpPr>
        <p:spPr>
          <a:xfrm>
            <a:off x="704832" y="4467248"/>
            <a:ext cx="319914" cy="152400"/>
          </a:xfrm>
          <a:prstGeom prst="rect">
            <a:avLst/>
          </a:prstGeom>
          <a:noFill/>
          <a:ln/>
        </p:spPr>
        <p:txBody>
          <a:bodyPr wrap="square" lIns="19050" tIns="57150" rIns="57150" bIns="19050" rtlCol="0" anchor="ctr"/>
          <a:lstStyle/>
          <a:p>
            <a:pPr marL="0" indent="0" algn="r">
              <a:buNone/>
            </a:pPr>
            <a:r>
              <a:rPr lang="en-US" sz="624" dirty="0">
                <a:solidFill>
                  <a:srgbClr val="9098B0"/>
                </a:solidFill>
                <a:latin typeface="Raleway" pitchFamily="34" charset="0"/>
                <a:ea typeface="Raleway" pitchFamily="34" charset="-122"/>
                <a:cs typeface="Raleway" pitchFamily="34" charset="-120"/>
              </a:rPr>
              <a:t>21</a:t>
            </a:r>
            <a:endParaRPr lang="en-US" sz="624" dirty="0"/>
          </a:p>
        </p:txBody>
      </p:sp>
      <p:sp>
        <p:nvSpPr>
          <p:cNvPr id="202" name="Text 199"/>
          <p:cNvSpPr/>
          <p:nvPr/>
        </p:nvSpPr>
        <p:spPr>
          <a:xfrm>
            <a:off x="4774138" y="4467248"/>
            <a:ext cx="53222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73</a:t>
            </a:r>
            <a:endParaRPr lang="en-US" sz="696" dirty="0"/>
          </a:p>
        </p:txBody>
      </p:sp>
      <p:sp>
        <p:nvSpPr>
          <p:cNvPr id="203" name="Text 200"/>
          <p:cNvSpPr/>
          <p:nvPr/>
        </p:nvSpPr>
        <p:spPr>
          <a:xfrm>
            <a:off x="6328907" y="4467248"/>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82</a:t>
            </a:r>
            <a:endParaRPr lang="en-US" sz="660" dirty="0"/>
          </a:p>
        </p:txBody>
      </p:sp>
      <p:sp>
        <p:nvSpPr>
          <p:cNvPr id="204" name="Text 201"/>
          <p:cNvSpPr/>
          <p:nvPr/>
        </p:nvSpPr>
        <p:spPr>
          <a:xfrm>
            <a:off x="704832" y="4619648"/>
            <a:ext cx="319914" cy="152400"/>
          </a:xfrm>
          <a:prstGeom prst="rect">
            <a:avLst/>
          </a:prstGeom>
          <a:noFill/>
          <a:ln/>
        </p:spPr>
        <p:txBody>
          <a:bodyPr wrap="square" lIns="19050" tIns="57150" rIns="57150" bIns="19050" rtlCol="0" anchor="ctr"/>
          <a:lstStyle/>
          <a:p>
            <a:pPr marL="0" indent="0" algn="r">
              <a:buNone/>
            </a:pPr>
            <a:r>
              <a:rPr lang="en-US" sz="624" dirty="0">
                <a:solidFill>
                  <a:srgbClr val="9098B0"/>
                </a:solidFill>
                <a:latin typeface="Raleway" pitchFamily="34" charset="0"/>
                <a:ea typeface="Raleway" pitchFamily="34" charset="-122"/>
                <a:cs typeface="Raleway" pitchFamily="34" charset="-120"/>
              </a:rPr>
              <a:t>22</a:t>
            </a:r>
            <a:endParaRPr lang="en-US" sz="624" dirty="0"/>
          </a:p>
        </p:txBody>
      </p:sp>
      <p:sp>
        <p:nvSpPr>
          <p:cNvPr id="205" name="Text 202"/>
          <p:cNvSpPr/>
          <p:nvPr/>
        </p:nvSpPr>
        <p:spPr>
          <a:xfrm>
            <a:off x="5823945" y="4619648"/>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54</a:t>
            </a:r>
            <a:endParaRPr lang="en-US" sz="696" dirty="0"/>
          </a:p>
        </p:txBody>
      </p:sp>
      <p:sp>
        <p:nvSpPr>
          <p:cNvPr id="206" name="Text 203"/>
          <p:cNvSpPr/>
          <p:nvPr/>
        </p:nvSpPr>
        <p:spPr>
          <a:xfrm>
            <a:off x="6328907" y="4619648"/>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54</a:t>
            </a:r>
            <a:endParaRPr lang="en-US" sz="660" dirty="0"/>
          </a:p>
        </p:txBody>
      </p:sp>
      <p:sp>
        <p:nvSpPr>
          <p:cNvPr id="207" name="Text 204"/>
          <p:cNvSpPr/>
          <p:nvPr/>
        </p:nvSpPr>
        <p:spPr>
          <a:xfrm>
            <a:off x="704832" y="4772048"/>
            <a:ext cx="319914" cy="152400"/>
          </a:xfrm>
          <a:prstGeom prst="rect">
            <a:avLst/>
          </a:prstGeom>
          <a:noFill/>
          <a:ln/>
        </p:spPr>
        <p:txBody>
          <a:bodyPr wrap="square" lIns="19050" tIns="57150" rIns="57150" bIns="19050" rtlCol="0" anchor="ctr"/>
          <a:lstStyle/>
          <a:p>
            <a:pPr marL="0" indent="0" algn="r">
              <a:buNone/>
            </a:pPr>
            <a:r>
              <a:rPr lang="en-US" sz="624" dirty="0">
                <a:solidFill>
                  <a:srgbClr val="9098B0"/>
                </a:solidFill>
                <a:latin typeface="Raleway" pitchFamily="34" charset="0"/>
                <a:ea typeface="Raleway" pitchFamily="34" charset="-122"/>
                <a:cs typeface="Raleway" pitchFamily="34" charset="-120"/>
              </a:rPr>
              <a:t>23</a:t>
            </a:r>
            <a:endParaRPr lang="en-US" sz="624" dirty="0"/>
          </a:p>
        </p:txBody>
      </p:sp>
      <p:sp>
        <p:nvSpPr>
          <p:cNvPr id="208" name="Text 205"/>
          <p:cNvSpPr/>
          <p:nvPr/>
        </p:nvSpPr>
        <p:spPr>
          <a:xfrm>
            <a:off x="5290856" y="4772048"/>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18</a:t>
            </a:r>
            <a:endParaRPr lang="en-US" sz="696" dirty="0"/>
          </a:p>
        </p:txBody>
      </p:sp>
      <p:sp>
        <p:nvSpPr>
          <p:cNvPr id="209" name="Text 206"/>
          <p:cNvSpPr/>
          <p:nvPr/>
        </p:nvSpPr>
        <p:spPr>
          <a:xfrm>
            <a:off x="5823945" y="4772048"/>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13</a:t>
            </a:r>
            <a:endParaRPr lang="en-US" sz="696" dirty="0"/>
          </a:p>
        </p:txBody>
      </p:sp>
      <p:sp>
        <p:nvSpPr>
          <p:cNvPr id="210" name="Text 207"/>
          <p:cNvSpPr/>
          <p:nvPr/>
        </p:nvSpPr>
        <p:spPr>
          <a:xfrm>
            <a:off x="6328907" y="4772048"/>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34</a:t>
            </a:r>
            <a:endParaRPr lang="en-US" sz="660" dirty="0"/>
          </a:p>
        </p:txBody>
      </p:sp>
      <p:sp>
        <p:nvSpPr>
          <p:cNvPr id="211" name="Text 208"/>
          <p:cNvSpPr/>
          <p:nvPr/>
        </p:nvSpPr>
        <p:spPr>
          <a:xfrm>
            <a:off x="704832" y="4924448"/>
            <a:ext cx="319914" cy="152400"/>
          </a:xfrm>
          <a:prstGeom prst="rect">
            <a:avLst/>
          </a:prstGeom>
          <a:noFill/>
          <a:ln/>
        </p:spPr>
        <p:txBody>
          <a:bodyPr wrap="square" lIns="19050" tIns="57150" rIns="57150" bIns="19050" rtlCol="0" anchor="ctr"/>
          <a:lstStyle/>
          <a:p>
            <a:pPr marL="0" indent="0" algn="r">
              <a:buNone/>
            </a:pPr>
            <a:r>
              <a:rPr lang="en-US" sz="624" dirty="0">
                <a:solidFill>
                  <a:srgbClr val="9098B0"/>
                </a:solidFill>
                <a:latin typeface="Raleway" pitchFamily="34" charset="0"/>
                <a:ea typeface="Raleway" pitchFamily="34" charset="-122"/>
                <a:cs typeface="Raleway" pitchFamily="34" charset="-120"/>
              </a:rPr>
              <a:t>24</a:t>
            </a:r>
            <a:endParaRPr lang="en-US" sz="624" dirty="0"/>
          </a:p>
        </p:txBody>
      </p:sp>
      <p:sp>
        <p:nvSpPr>
          <p:cNvPr id="212" name="Text 209"/>
          <p:cNvSpPr/>
          <p:nvPr/>
        </p:nvSpPr>
        <p:spPr>
          <a:xfrm>
            <a:off x="5823945" y="4924448"/>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21</a:t>
            </a:r>
            <a:endParaRPr lang="en-US" sz="696" dirty="0"/>
          </a:p>
        </p:txBody>
      </p:sp>
      <p:sp>
        <p:nvSpPr>
          <p:cNvPr id="213" name="Text 210"/>
          <p:cNvSpPr/>
          <p:nvPr/>
        </p:nvSpPr>
        <p:spPr>
          <a:xfrm>
            <a:off x="6328907" y="4924448"/>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21</a:t>
            </a:r>
            <a:endParaRPr lang="en-US" sz="660" dirty="0"/>
          </a:p>
        </p:txBody>
      </p:sp>
      <p:sp>
        <p:nvSpPr>
          <p:cNvPr id="214" name="Text 211"/>
          <p:cNvSpPr/>
          <p:nvPr/>
        </p:nvSpPr>
        <p:spPr>
          <a:xfrm>
            <a:off x="704832" y="5076848"/>
            <a:ext cx="319914" cy="152400"/>
          </a:xfrm>
          <a:prstGeom prst="rect">
            <a:avLst/>
          </a:prstGeom>
          <a:noFill/>
          <a:ln/>
        </p:spPr>
        <p:txBody>
          <a:bodyPr wrap="square" lIns="19050" tIns="57150" rIns="57150" bIns="19050" rtlCol="0" anchor="ctr"/>
          <a:lstStyle/>
          <a:p>
            <a:pPr marL="0" indent="0" algn="r">
              <a:buNone/>
            </a:pPr>
            <a:r>
              <a:rPr lang="en-US" sz="624" dirty="0">
                <a:solidFill>
                  <a:srgbClr val="9098B0"/>
                </a:solidFill>
                <a:latin typeface="Raleway" pitchFamily="34" charset="0"/>
                <a:ea typeface="Raleway" pitchFamily="34" charset="-122"/>
                <a:cs typeface="Raleway" pitchFamily="34" charset="-120"/>
              </a:rPr>
              <a:t>25</a:t>
            </a:r>
            <a:endParaRPr lang="en-US" sz="624" dirty="0"/>
          </a:p>
        </p:txBody>
      </p:sp>
      <p:sp>
        <p:nvSpPr>
          <p:cNvPr id="216" name="TextBox 215">
            <a:extLst>
              <a:ext uri="{FF2B5EF4-FFF2-40B4-BE49-F238E27FC236}">
                <a16:creationId xmlns:a16="http://schemas.microsoft.com/office/drawing/2014/main" id="{8B25B91F-A5BC-A18F-228C-E8287AD040D7}"/>
              </a:ext>
            </a:extLst>
          </p:cNvPr>
          <p:cNvSpPr txBox="1"/>
          <p:nvPr/>
        </p:nvSpPr>
        <p:spPr>
          <a:xfrm>
            <a:off x="8190142" y="2296008"/>
            <a:ext cx="428313" cy="228973"/>
          </a:xfrm>
          <a:prstGeom prst="rect">
            <a:avLst/>
          </a:prstGeom>
          <a:noFill/>
        </p:spPr>
        <p:txBody>
          <a:bodyPr wrap="square">
            <a:spAutoFit/>
          </a:bodyPr>
          <a:lstStyle/>
          <a:p>
            <a:r>
              <a:rPr lang="es-CO" sz="888" b="0" i="0" dirty="0">
                <a:solidFill>
                  <a:srgbClr val="333333"/>
                </a:solidFill>
                <a:effectLst/>
                <a:latin typeface="Raleway" pitchFamily="2" charset="0"/>
              </a:rPr>
              <a:t>6</a:t>
            </a:r>
            <a:endParaRPr lang="es-CO" dirty="0"/>
          </a:p>
        </p:txBody>
      </p:sp>
      <p:sp>
        <p:nvSpPr>
          <p:cNvPr id="218" name="TextBox 217">
            <a:extLst>
              <a:ext uri="{FF2B5EF4-FFF2-40B4-BE49-F238E27FC236}">
                <a16:creationId xmlns:a16="http://schemas.microsoft.com/office/drawing/2014/main" id="{D6599A68-4F5E-CB6C-606C-F6A5B98832E5}"/>
              </a:ext>
            </a:extLst>
          </p:cNvPr>
          <p:cNvSpPr txBox="1"/>
          <p:nvPr/>
        </p:nvSpPr>
        <p:spPr>
          <a:xfrm>
            <a:off x="8204647" y="2620966"/>
            <a:ext cx="428313" cy="228973"/>
          </a:xfrm>
          <a:prstGeom prst="rect">
            <a:avLst/>
          </a:prstGeom>
          <a:noFill/>
        </p:spPr>
        <p:txBody>
          <a:bodyPr wrap="square">
            <a:spAutoFit/>
          </a:bodyPr>
          <a:lstStyle/>
          <a:p>
            <a:r>
              <a:rPr lang="es-CO" sz="888" b="0" i="0" dirty="0">
                <a:solidFill>
                  <a:srgbClr val="333333"/>
                </a:solidFill>
                <a:effectLst/>
                <a:latin typeface="Raleway" pitchFamily="2" charset="0"/>
              </a:rPr>
              <a:t>1</a:t>
            </a:r>
            <a:endParaRPr lang="es-CO" dirty="0"/>
          </a:p>
        </p:txBody>
      </p:sp>
      <p:sp>
        <p:nvSpPr>
          <p:cNvPr id="220" name="TextBox 219">
            <a:extLst>
              <a:ext uri="{FF2B5EF4-FFF2-40B4-BE49-F238E27FC236}">
                <a16:creationId xmlns:a16="http://schemas.microsoft.com/office/drawing/2014/main" id="{1EB0307F-1731-430E-9382-3C5654ECAC65}"/>
              </a:ext>
            </a:extLst>
          </p:cNvPr>
          <p:cNvSpPr txBox="1"/>
          <p:nvPr/>
        </p:nvSpPr>
        <p:spPr>
          <a:xfrm>
            <a:off x="8207898" y="2915355"/>
            <a:ext cx="428313" cy="228973"/>
          </a:xfrm>
          <a:prstGeom prst="rect">
            <a:avLst/>
          </a:prstGeom>
          <a:noFill/>
        </p:spPr>
        <p:txBody>
          <a:bodyPr wrap="square">
            <a:spAutoFit/>
          </a:bodyPr>
          <a:lstStyle/>
          <a:p>
            <a:r>
              <a:rPr lang="es-CO" sz="888" b="0" i="0" dirty="0">
                <a:solidFill>
                  <a:srgbClr val="333333"/>
                </a:solidFill>
                <a:effectLst/>
                <a:latin typeface="Raleway" pitchFamily="2" charset="0"/>
              </a:rPr>
              <a:t>1</a:t>
            </a:r>
            <a:endParaRPr lang="es-CO" dirty="0"/>
          </a:p>
        </p:txBody>
      </p:sp>
      <p:sp>
        <p:nvSpPr>
          <p:cNvPr id="222" name="TextBox 221">
            <a:extLst>
              <a:ext uri="{FF2B5EF4-FFF2-40B4-BE49-F238E27FC236}">
                <a16:creationId xmlns:a16="http://schemas.microsoft.com/office/drawing/2014/main" id="{FA662A01-2011-52F9-778E-CF752B8D2954}"/>
              </a:ext>
            </a:extLst>
          </p:cNvPr>
          <p:cNvSpPr txBox="1"/>
          <p:nvPr/>
        </p:nvSpPr>
        <p:spPr>
          <a:xfrm>
            <a:off x="8207898" y="3141966"/>
            <a:ext cx="6154946" cy="203133"/>
          </a:xfrm>
          <a:prstGeom prst="rect">
            <a:avLst/>
          </a:prstGeom>
          <a:noFill/>
        </p:spPr>
        <p:txBody>
          <a:bodyPr wrap="square">
            <a:spAutoFit/>
          </a:bodyPr>
          <a:lstStyle/>
          <a:p>
            <a:r>
              <a:rPr lang="en-US" sz="720" b="1" dirty="0">
                <a:solidFill>
                  <a:srgbClr val="120180"/>
                </a:solidFill>
                <a:latin typeface="Raleway" pitchFamily="34" charset="0"/>
                <a:ea typeface="Raleway" pitchFamily="34" charset="-122"/>
                <a:cs typeface="Raleway" pitchFamily="34" charset="-120"/>
              </a:rPr>
              <a:t>8 </a:t>
            </a:r>
            <a:endParaRPr lang="es-CO" dirty="0"/>
          </a:p>
        </p:txBody>
      </p:sp>
      <p:sp>
        <p:nvSpPr>
          <p:cNvPr id="224" name="TextBox 223">
            <a:extLst>
              <a:ext uri="{FF2B5EF4-FFF2-40B4-BE49-F238E27FC236}">
                <a16:creationId xmlns:a16="http://schemas.microsoft.com/office/drawing/2014/main" id="{6AA63525-0C3E-DDAB-1D4C-006D6259BD7C}"/>
              </a:ext>
            </a:extLst>
          </p:cNvPr>
          <p:cNvSpPr txBox="1"/>
          <p:nvPr/>
        </p:nvSpPr>
        <p:spPr>
          <a:xfrm>
            <a:off x="7742458" y="1414254"/>
            <a:ext cx="3818472" cy="276999"/>
          </a:xfrm>
          <a:prstGeom prst="rect">
            <a:avLst/>
          </a:prstGeom>
          <a:noFill/>
        </p:spPr>
        <p:txBody>
          <a:bodyPr wrap="square">
            <a:spAutoFit/>
          </a:bodyPr>
          <a:lstStyle/>
          <a:p>
            <a:pPr marL="0" marR="0" indent="0" algn="l">
              <a:spcAft>
                <a:spcPts val="750"/>
              </a:spcAft>
              <a:buNone/>
            </a:pPr>
            <a:r>
              <a:rPr lang="es-CO" sz="1200" b="1" i="0" dirty="0">
                <a:solidFill>
                  <a:srgbClr val="120180"/>
                </a:solidFill>
                <a:effectLst/>
                <a:latin typeface="Raleway" pitchFamily="2" charset="0"/>
              </a:rPr>
              <a:t>El top 5 aporta 4.279 pólizas (37 %) del semestre.</a:t>
            </a:r>
          </a:p>
        </p:txBody>
      </p:sp>
      <p:sp>
        <p:nvSpPr>
          <p:cNvPr id="226" name="TextBox 225">
            <a:extLst>
              <a:ext uri="{FF2B5EF4-FFF2-40B4-BE49-F238E27FC236}">
                <a16:creationId xmlns:a16="http://schemas.microsoft.com/office/drawing/2014/main" id="{A0225B4A-A425-810D-B5F7-C5614879EFE9}"/>
              </a:ext>
            </a:extLst>
          </p:cNvPr>
          <p:cNvSpPr txBox="1"/>
          <p:nvPr/>
        </p:nvSpPr>
        <p:spPr>
          <a:xfrm>
            <a:off x="7464970" y="4827848"/>
            <a:ext cx="3936456" cy="707886"/>
          </a:xfrm>
          <a:prstGeom prst="rect">
            <a:avLst/>
          </a:prstGeom>
          <a:noFill/>
        </p:spPr>
        <p:txBody>
          <a:bodyPr wrap="square">
            <a:spAutoFit/>
          </a:bodyPr>
          <a:lstStyle/>
          <a:p>
            <a:r>
              <a:rPr lang="es-CO" sz="800" b="1" i="0" dirty="0">
                <a:solidFill>
                  <a:srgbClr val="00CD93"/>
                </a:solidFill>
                <a:effectLst/>
                <a:latin typeface="Raleway" pitchFamily="2" charset="0"/>
              </a:rPr>
              <a:t>Un equipo que rinde:</a:t>
            </a:r>
            <a:r>
              <a:rPr lang="es-CO" sz="800" b="0" i="0" dirty="0">
                <a:solidFill>
                  <a:srgbClr val="0A3D35"/>
                </a:solidFill>
                <a:effectLst/>
                <a:latin typeface="Raleway" pitchFamily="2" charset="0"/>
              </a:rPr>
              <a:t> con </a:t>
            </a:r>
            <a:r>
              <a:rPr lang="es-CO" sz="800" b="1" i="0" dirty="0">
                <a:solidFill>
                  <a:srgbClr val="0A3D35"/>
                </a:solidFill>
                <a:effectLst/>
                <a:latin typeface="Raleway" pitchFamily="2" charset="0"/>
              </a:rPr>
              <a:t>21 asesores activos a la fecha</a:t>
            </a:r>
            <a:r>
              <a:rPr lang="es-CO" sz="800" b="0" i="0" dirty="0">
                <a:solidFill>
                  <a:srgbClr val="0A3D35"/>
                </a:solidFill>
                <a:effectLst/>
                <a:latin typeface="Raleway" pitchFamily="2" charset="0"/>
              </a:rPr>
              <a:t> y un top 5 que concentra el 37 % de las ventas con disciplina y compromiso, cada campaña de incentivos fue un paso firme hacia la meta de 3.000 ventas mensuales. Este semestre demuestra que la apuesta por el talento y la constancia en la formación están dando resultados sólidos y sostenibles.</a:t>
            </a:r>
            <a:endParaRPr lang="es-CO" sz="2000" dirty="0"/>
          </a:p>
        </p:txBody>
      </p:sp>
      <p:sp>
        <p:nvSpPr>
          <p:cNvPr id="270" name="Text 182">
            <a:extLst>
              <a:ext uri="{FF2B5EF4-FFF2-40B4-BE49-F238E27FC236}">
                <a16:creationId xmlns:a16="http://schemas.microsoft.com/office/drawing/2014/main" id="{77AD4156-D1E8-186D-7FB6-6D212A218938}"/>
              </a:ext>
            </a:extLst>
          </p:cNvPr>
          <p:cNvSpPr/>
          <p:nvPr/>
        </p:nvSpPr>
        <p:spPr>
          <a:xfrm>
            <a:off x="704832" y="2640852"/>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9</a:t>
            </a:r>
            <a:endParaRPr lang="en-US" sz="624" dirty="0"/>
          </a:p>
        </p:txBody>
      </p:sp>
      <p:sp>
        <p:nvSpPr>
          <p:cNvPr id="272" name="Text 182">
            <a:extLst>
              <a:ext uri="{FF2B5EF4-FFF2-40B4-BE49-F238E27FC236}">
                <a16:creationId xmlns:a16="http://schemas.microsoft.com/office/drawing/2014/main" id="{7BD58FCA-A93B-A230-AECA-3EF9397A145C}"/>
              </a:ext>
            </a:extLst>
          </p:cNvPr>
          <p:cNvSpPr/>
          <p:nvPr/>
        </p:nvSpPr>
        <p:spPr>
          <a:xfrm>
            <a:off x="704832" y="2481834"/>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8</a:t>
            </a:r>
            <a:endParaRPr lang="en-US" sz="624" dirty="0"/>
          </a:p>
        </p:txBody>
      </p:sp>
      <p:sp>
        <p:nvSpPr>
          <p:cNvPr id="274" name="Text 182">
            <a:extLst>
              <a:ext uri="{FF2B5EF4-FFF2-40B4-BE49-F238E27FC236}">
                <a16:creationId xmlns:a16="http://schemas.microsoft.com/office/drawing/2014/main" id="{6A01289F-277E-F5B3-DF12-10F52A6557CE}"/>
              </a:ext>
            </a:extLst>
          </p:cNvPr>
          <p:cNvSpPr/>
          <p:nvPr/>
        </p:nvSpPr>
        <p:spPr>
          <a:xfrm>
            <a:off x="704832" y="2329434"/>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7</a:t>
            </a:r>
            <a:endParaRPr lang="en-US" sz="624" dirty="0"/>
          </a:p>
        </p:txBody>
      </p:sp>
      <p:sp>
        <p:nvSpPr>
          <p:cNvPr id="276" name="Text 182">
            <a:extLst>
              <a:ext uri="{FF2B5EF4-FFF2-40B4-BE49-F238E27FC236}">
                <a16:creationId xmlns:a16="http://schemas.microsoft.com/office/drawing/2014/main" id="{E8AA4315-0425-BBAF-82CB-1AC9AF5E271A}"/>
              </a:ext>
            </a:extLst>
          </p:cNvPr>
          <p:cNvSpPr/>
          <p:nvPr/>
        </p:nvSpPr>
        <p:spPr>
          <a:xfrm>
            <a:off x="704832" y="2186011"/>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6</a:t>
            </a:r>
            <a:endParaRPr lang="en-US" sz="624" dirty="0"/>
          </a:p>
        </p:txBody>
      </p:sp>
      <p:sp>
        <p:nvSpPr>
          <p:cNvPr id="278" name="Text 182">
            <a:extLst>
              <a:ext uri="{FF2B5EF4-FFF2-40B4-BE49-F238E27FC236}">
                <a16:creationId xmlns:a16="http://schemas.microsoft.com/office/drawing/2014/main" id="{6EEB6EFF-F976-674A-3F67-0FFE24337F4C}"/>
              </a:ext>
            </a:extLst>
          </p:cNvPr>
          <p:cNvSpPr/>
          <p:nvPr/>
        </p:nvSpPr>
        <p:spPr>
          <a:xfrm>
            <a:off x="704832" y="2038921"/>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5</a:t>
            </a:r>
            <a:endParaRPr lang="en-US" sz="624" dirty="0"/>
          </a:p>
        </p:txBody>
      </p:sp>
      <p:sp>
        <p:nvSpPr>
          <p:cNvPr id="280" name="Text 182">
            <a:extLst>
              <a:ext uri="{FF2B5EF4-FFF2-40B4-BE49-F238E27FC236}">
                <a16:creationId xmlns:a16="http://schemas.microsoft.com/office/drawing/2014/main" id="{23F8505C-228B-FA79-2CE6-EC02DF39CFB0}"/>
              </a:ext>
            </a:extLst>
          </p:cNvPr>
          <p:cNvSpPr/>
          <p:nvPr/>
        </p:nvSpPr>
        <p:spPr>
          <a:xfrm>
            <a:off x="704832" y="1893117"/>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4</a:t>
            </a:r>
            <a:endParaRPr lang="en-US" sz="624" dirty="0"/>
          </a:p>
        </p:txBody>
      </p:sp>
      <p:sp>
        <p:nvSpPr>
          <p:cNvPr id="282" name="Text 182">
            <a:extLst>
              <a:ext uri="{FF2B5EF4-FFF2-40B4-BE49-F238E27FC236}">
                <a16:creationId xmlns:a16="http://schemas.microsoft.com/office/drawing/2014/main" id="{25C07D7F-60F8-BCF7-5CA3-E0285BF377DC}"/>
              </a:ext>
            </a:extLst>
          </p:cNvPr>
          <p:cNvSpPr/>
          <p:nvPr/>
        </p:nvSpPr>
        <p:spPr>
          <a:xfrm>
            <a:off x="704832" y="1731237"/>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3</a:t>
            </a:r>
            <a:endParaRPr lang="en-US" sz="624" dirty="0"/>
          </a:p>
        </p:txBody>
      </p:sp>
      <p:sp>
        <p:nvSpPr>
          <p:cNvPr id="284" name="Text 182">
            <a:extLst>
              <a:ext uri="{FF2B5EF4-FFF2-40B4-BE49-F238E27FC236}">
                <a16:creationId xmlns:a16="http://schemas.microsoft.com/office/drawing/2014/main" id="{CAF1BA36-0CA3-6261-9D22-D6A4B7015B6D}"/>
              </a:ext>
            </a:extLst>
          </p:cNvPr>
          <p:cNvSpPr/>
          <p:nvPr/>
        </p:nvSpPr>
        <p:spPr>
          <a:xfrm>
            <a:off x="704832" y="1588340"/>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2</a:t>
            </a:r>
            <a:endParaRPr lang="en-US" sz="624" dirty="0"/>
          </a:p>
        </p:txBody>
      </p:sp>
      <p:sp>
        <p:nvSpPr>
          <p:cNvPr id="286" name="Text 182">
            <a:extLst>
              <a:ext uri="{FF2B5EF4-FFF2-40B4-BE49-F238E27FC236}">
                <a16:creationId xmlns:a16="http://schemas.microsoft.com/office/drawing/2014/main" id="{14942377-1DC0-6571-7036-216F8DB73E75}"/>
              </a:ext>
            </a:extLst>
          </p:cNvPr>
          <p:cNvSpPr/>
          <p:nvPr/>
        </p:nvSpPr>
        <p:spPr>
          <a:xfrm>
            <a:off x="704832" y="1422243"/>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1</a:t>
            </a:r>
            <a:endParaRPr lang="en-US" sz="624"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C:\01_Repositorios\13_Presentaciones\dash\televentas\ppt_slides\sk_12_Xuma.png"/>
          <p:cNvPicPr>
            <a:picLocks noChangeAspect="1"/>
          </p:cNvPicPr>
          <p:nvPr/>
        </p:nvPicPr>
        <p:blipFill>
          <a:blip r:embed="rId3"/>
          <a:stretch>
            <a:fillRect/>
          </a:stretch>
        </p:blipFill>
        <p:spPr>
          <a:xfrm>
            <a:off x="0" y="0"/>
            <a:ext cx="12191695" cy="6858000"/>
          </a:xfrm>
          <a:prstGeom prst="rect">
            <a:avLst/>
          </a:prstGeom>
        </p:spPr>
      </p:pic>
      <p:sp>
        <p:nvSpPr>
          <p:cNvPr id="4" name="Text 1"/>
          <p:cNvSpPr/>
          <p:nvPr/>
        </p:nvSpPr>
        <p:spPr>
          <a:xfrm>
            <a:off x="8673337" y="2926509"/>
            <a:ext cx="2858689" cy="214313"/>
          </a:xfrm>
          <a:prstGeom prst="rect">
            <a:avLst/>
          </a:prstGeom>
          <a:noFill/>
          <a:ln/>
        </p:spPr>
        <p:txBody>
          <a:bodyPr wrap="square" lIns="38100" tIns="114300" rIns="114300" bIns="38100" rtlCol="0" anchor="ctr"/>
          <a:lstStyle/>
          <a:p>
            <a:pPr marL="0" indent="0" algn="l">
              <a:buNone/>
            </a:pPr>
            <a:r>
              <a:rPr lang="en-US" sz="720" dirty="0">
                <a:solidFill>
                  <a:srgbClr val="333333"/>
                </a:solidFill>
                <a:latin typeface="Raleway" pitchFamily="34" charset="0"/>
                <a:ea typeface="Raleway" pitchFamily="34" charset="-122"/>
                <a:cs typeface="Raleway" pitchFamily="34" charset="-120"/>
              </a:rPr>
              <a:t>Incentivo destacado en torneo + varios incentivos menores</a:t>
            </a:r>
            <a:endParaRPr lang="en-US" sz="720" dirty="0"/>
          </a:p>
        </p:txBody>
      </p:sp>
      <p:sp>
        <p:nvSpPr>
          <p:cNvPr id="5" name="Text 2"/>
          <p:cNvSpPr/>
          <p:nvPr/>
        </p:nvSpPr>
        <p:spPr>
          <a:xfrm>
            <a:off x="8673337" y="3140822"/>
            <a:ext cx="2858689" cy="219075"/>
          </a:xfrm>
          <a:prstGeom prst="rect">
            <a:avLst/>
          </a:prstGeom>
          <a:noFill/>
          <a:ln/>
        </p:spPr>
        <p:txBody>
          <a:bodyPr wrap="square" lIns="38100" tIns="114300" rIns="114300" bIns="38100" rtlCol="0" anchor="ctr"/>
          <a:lstStyle/>
          <a:p>
            <a:pPr marL="0" indent="0" algn="l">
              <a:buNone/>
            </a:pPr>
            <a:r>
              <a:rPr lang="en-US" sz="720" dirty="0">
                <a:solidFill>
                  <a:srgbClr val="333333"/>
                </a:solidFill>
                <a:latin typeface="Raleway" pitchFamily="34" charset="0"/>
                <a:ea typeface="Raleway" pitchFamily="34" charset="-122"/>
                <a:cs typeface="Raleway" pitchFamily="34" charset="-120"/>
              </a:rPr>
              <a:t>Incentivos de rendimiento destacado + varios menores</a:t>
            </a:r>
            <a:endParaRPr lang="en-US" sz="720" dirty="0"/>
          </a:p>
        </p:txBody>
      </p:sp>
      <p:sp>
        <p:nvSpPr>
          <p:cNvPr id="6" name="Text 3"/>
          <p:cNvSpPr/>
          <p:nvPr/>
        </p:nvSpPr>
        <p:spPr>
          <a:xfrm>
            <a:off x="8673337" y="4017122"/>
            <a:ext cx="2858689" cy="219075"/>
          </a:xfrm>
          <a:prstGeom prst="rect">
            <a:avLst/>
          </a:prstGeom>
          <a:noFill/>
          <a:ln/>
        </p:spPr>
        <p:txBody>
          <a:bodyPr wrap="square" lIns="38100" tIns="114300" rIns="114300" bIns="38100" rtlCol="0" anchor="ctr"/>
          <a:lstStyle/>
          <a:p>
            <a:pPr marL="0" indent="0" algn="l">
              <a:buNone/>
            </a:pPr>
            <a:r>
              <a:rPr lang="en-US" sz="720" dirty="0">
                <a:solidFill>
                  <a:srgbClr val="333333"/>
                </a:solidFill>
                <a:latin typeface="Raleway" pitchFamily="34" charset="0"/>
                <a:ea typeface="Raleway" pitchFamily="34" charset="-122"/>
                <a:cs typeface="Raleway" pitchFamily="34" charset="-120"/>
              </a:rPr>
              <a:t>Incentivos de rendimiento por cumplimiento de metas</a:t>
            </a:r>
            <a:endParaRPr lang="en-US" sz="720" dirty="0"/>
          </a:p>
        </p:txBody>
      </p:sp>
      <p:sp>
        <p:nvSpPr>
          <p:cNvPr id="7" name="Text 4"/>
          <p:cNvSpPr/>
          <p:nvPr/>
        </p:nvSpPr>
        <p:spPr>
          <a:xfrm>
            <a:off x="8655875" y="4196549"/>
            <a:ext cx="2858689" cy="214313"/>
          </a:xfrm>
          <a:prstGeom prst="rect">
            <a:avLst/>
          </a:prstGeom>
          <a:noFill/>
          <a:ln/>
        </p:spPr>
        <p:txBody>
          <a:bodyPr wrap="square" lIns="38100" tIns="114300" rIns="114300" bIns="38100" rtlCol="0" anchor="ctr"/>
          <a:lstStyle/>
          <a:p>
            <a:pPr marL="0" indent="0" algn="l">
              <a:buNone/>
            </a:pPr>
            <a:r>
              <a:rPr lang="en-US" sz="720" b="1" dirty="0">
                <a:solidFill>
                  <a:srgbClr val="120180"/>
                </a:solidFill>
                <a:latin typeface="Raleway" pitchFamily="34" charset="0"/>
                <a:ea typeface="Raleway" pitchFamily="34" charset="-122"/>
                <a:cs typeface="Raleway" pitchFamily="34" charset="-120"/>
              </a:rPr>
              <a:t> eventos de incentivo en el semestre</a:t>
            </a:r>
            <a:endParaRPr lang="en-US" sz="720" dirty="0"/>
          </a:p>
        </p:txBody>
      </p:sp>
      <p:sp>
        <p:nvSpPr>
          <p:cNvPr id="8" name="Text 5"/>
          <p:cNvSpPr/>
          <p:nvPr/>
        </p:nvSpPr>
        <p:spPr>
          <a:xfrm>
            <a:off x="1213514" y="219075"/>
            <a:ext cx="3214013" cy="196215"/>
          </a:xfrm>
          <a:prstGeom prst="rect">
            <a:avLst/>
          </a:prstGeom>
          <a:noFill/>
          <a:ln/>
        </p:spPr>
        <p:txBody>
          <a:bodyPr wrap="square" lIns="0" tIns="0" rIns="0" bIns="0" rtlCol="0" anchor="t"/>
          <a:lstStyle/>
          <a:p>
            <a:pPr marL="0" indent="0" algn="l">
              <a:buNone/>
            </a:pPr>
            <a:r>
              <a:rPr lang="en-US" sz="1260" b="1" dirty="0">
                <a:solidFill>
                  <a:srgbClr val="FFFFFF"/>
                </a:solidFill>
                <a:latin typeface="Raleway" pitchFamily="34" charset="0"/>
                <a:ea typeface="Raleway" pitchFamily="34" charset="-122"/>
                <a:cs typeface="Raleway" pitchFamily="34" charset="-120"/>
              </a:rPr>
              <a:t>Desempeño del Equipo · Top Asesores</a:t>
            </a:r>
            <a:endParaRPr lang="en-US" sz="1260" dirty="0"/>
          </a:p>
        </p:txBody>
      </p:sp>
      <p:sp>
        <p:nvSpPr>
          <p:cNvPr id="9" name="Text 6"/>
          <p:cNvSpPr/>
          <p:nvPr/>
        </p:nvSpPr>
        <p:spPr>
          <a:xfrm>
            <a:off x="8673337" y="3798047"/>
            <a:ext cx="2858689" cy="219075"/>
          </a:xfrm>
          <a:prstGeom prst="rect">
            <a:avLst/>
          </a:prstGeom>
          <a:noFill/>
          <a:ln/>
        </p:spPr>
        <p:txBody>
          <a:bodyPr wrap="square" lIns="38100" tIns="114300" rIns="114300" bIns="38100" rtlCol="0" anchor="ctr"/>
          <a:lstStyle/>
          <a:p>
            <a:pPr marL="0" indent="0" algn="l">
              <a:buNone/>
            </a:pPr>
            <a:r>
              <a:rPr lang="en-US" sz="720" dirty="0">
                <a:solidFill>
                  <a:srgbClr val="333333"/>
                </a:solidFill>
                <a:latin typeface="Raleway" pitchFamily="34" charset="0"/>
                <a:ea typeface="Raleway" pitchFamily="34" charset="-122"/>
                <a:cs typeface="Raleway" pitchFamily="34" charset="-120"/>
              </a:rPr>
              <a:t>Incentivo destacado + Meta Volante</a:t>
            </a:r>
            <a:endParaRPr lang="en-US" sz="720" dirty="0"/>
          </a:p>
        </p:txBody>
      </p:sp>
      <p:sp>
        <p:nvSpPr>
          <p:cNvPr id="10" name="Text 7"/>
          <p:cNvSpPr/>
          <p:nvPr/>
        </p:nvSpPr>
        <p:spPr>
          <a:xfrm>
            <a:off x="1015429" y="28003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Julithza Milagros Padilla Mejía</a:t>
            </a:r>
            <a:endParaRPr lang="en-US" sz="660" dirty="0"/>
          </a:p>
        </p:txBody>
      </p:sp>
      <p:sp>
        <p:nvSpPr>
          <p:cNvPr id="11" name="Text 8"/>
          <p:cNvSpPr/>
          <p:nvPr/>
        </p:nvSpPr>
        <p:spPr>
          <a:xfrm>
            <a:off x="1015429" y="4619648"/>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Karina Yisell Marquez Hernandez</a:t>
            </a:r>
            <a:endParaRPr lang="en-US" sz="660" dirty="0"/>
          </a:p>
        </p:txBody>
      </p:sp>
      <p:sp>
        <p:nvSpPr>
          <p:cNvPr id="12" name="Text 9"/>
          <p:cNvSpPr/>
          <p:nvPr/>
        </p:nvSpPr>
        <p:spPr>
          <a:xfrm>
            <a:off x="8673337" y="3359897"/>
            <a:ext cx="2858689" cy="219075"/>
          </a:xfrm>
          <a:prstGeom prst="rect">
            <a:avLst/>
          </a:prstGeom>
          <a:noFill/>
          <a:ln/>
        </p:spPr>
        <p:txBody>
          <a:bodyPr wrap="square" lIns="38100" tIns="114300" rIns="114300" bIns="38100" rtlCol="0" anchor="ctr"/>
          <a:lstStyle/>
          <a:p>
            <a:pPr marL="0" indent="0" algn="l">
              <a:buNone/>
            </a:pPr>
            <a:r>
              <a:rPr lang="en-US" sz="720" dirty="0">
                <a:solidFill>
                  <a:srgbClr val="333333"/>
                </a:solidFill>
                <a:latin typeface="Raleway" pitchFamily="34" charset="0"/>
                <a:ea typeface="Raleway" pitchFamily="34" charset="-122"/>
                <a:cs typeface="Raleway" pitchFamily="34" charset="-120"/>
              </a:rPr>
              <a:t>Incentivos de rendimiento medio</a:t>
            </a:r>
            <a:endParaRPr lang="en-US" sz="720" dirty="0"/>
          </a:p>
        </p:txBody>
      </p:sp>
      <p:sp>
        <p:nvSpPr>
          <p:cNvPr id="13" name="Text 10"/>
          <p:cNvSpPr/>
          <p:nvPr/>
        </p:nvSpPr>
        <p:spPr>
          <a:xfrm>
            <a:off x="1015429" y="1895498"/>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 Dayana D. Guerrero HernáNdez</a:t>
            </a:r>
            <a:endParaRPr lang="en-US" sz="660" dirty="0"/>
          </a:p>
        </p:txBody>
      </p:sp>
      <p:sp>
        <p:nvSpPr>
          <p:cNvPr id="14" name="Text 11"/>
          <p:cNvSpPr/>
          <p:nvPr/>
        </p:nvSpPr>
        <p:spPr>
          <a:xfrm>
            <a:off x="1015429" y="2047898"/>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 Anderson Monterrosa Castilla</a:t>
            </a:r>
            <a:endParaRPr lang="en-US" sz="660" dirty="0"/>
          </a:p>
        </p:txBody>
      </p:sp>
      <p:sp>
        <p:nvSpPr>
          <p:cNvPr id="16" name="Text 13"/>
          <p:cNvSpPr/>
          <p:nvPr/>
        </p:nvSpPr>
        <p:spPr>
          <a:xfrm>
            <a:off x="1015429" y="1590698"/>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 Melissa Paola Orozco Jinete</a:t>
            </a:r>
            <a:endParaRPr lang="en-US" sz="660" dirty="0"/>
          </a:p>
        </p:txBody>
      </p:sp>
      <p:sp>
        <p:nvSpPr>
          <p:cNvPr id="17" name="Text 14"/>
          <p:cNvSpPr/>
          <p:nvPr/>
        </p:nvSpPr>
        <p:spPr>
          <a:xfrm>
            <a:off x="1015429" y="5076848"/>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Michelle Paola Robles Becerra</a:t>
            </a:r>
            <a:endParaRPr lang="en-US" sz="660" dirty="0"/>
          </a:p>
        </p:txBody>
      </p:sp>
      <p:sp>
        <p:nvSpPr>
          <p:cNvPr id="18" name="Text 15"/>
          <p:cNvSpPr/>
          <p:nvPr/>
        </p:nvSpPr>
        <p:spPr>
          <a:xfrm>
            <a:off x="903236" y="1028700"/>
            <a:ext cx="6435691" cy="206026"/>
          </a:xfrm>
          <a:prstGeom prst="rect">
            <a:avLst/>
          </a:prstGeom>
          <a:noFill/>
          <a:ln/>
        </p:spPr>
        <p:txBody>
          <a:bodyPr wrap="square" lIns="0" tIns="0" rIns="0" bIns="28575" rtlCol="0" anchor="t"/>
          <a:lstStyle/>
          <a:p>
            <a:pPr marL="0" indent="0" algn="l">
              <a:buNone/>
            </a:pPr>
            <a:r>
              <a:rPr lang="en-US" sz="864" b="1" dirty="0">
                <a:solidFill>
                  <a:srgbClr val="120180"/>
                </a:solidFill>
                <a:latin typeface="Raleway" pitchFamily="34" charset="0"/>
                <a:ea typeface="Raleway" pitchFamily="34" charset="-122"/>
                <a:cs typeface="Raleway" pitchFamily="34" charset="-120"/>
              </a:rPr>
              <a:t>Equipo completo (25 asesores)</a:t>
            </a:r>
            <a:endParaRPr lang="en-US" sz="864" dirty="0"/>
          </a:p>
        </p:txBody>
      </p:sp>
      <p:sp>
        <p:nvSpPr>
          <p:cNvPr id="19" name="Text 16"/>
          <p:cNvSpPr/>
          <p:nvPr/>
        </p:nvSpPr>
        <p:spPr>
          <a:xfrm>
            <a:off x="1015429" y="31051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Isabella SofíA Rueda Caserta</a:t>
            </a:r>
            <a:endParaRPr lang="en-US" sz="660" dirty="0"/>
          </a:p>
        </p:txBody>
      </p:sp>
      <p:sp>
        <p:nvSpPr>
          <p:cNvPr id="20" name="Text 17"/>
          <p:cNvSpPr/>
          <p:nvPr/>
        </p:nvSpPr>
        <p:spPr>
          <a:xfrm>
            <a:off x="7625919" y="2531199"/>
            <a:ext cx="4120412" cy="137350"/>
          </a:xfrm>
          <a:prstGeom prst="rect">
            <a:avLst/>
          </a:prstGeom>
          <a:noFill/>
          <a:ln/>
        </p:spPr>
        <p:txBody>
          <a:bodyPr wrap="square" lIns="0" tIns="0" rIns="0" bIns="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Incentivos extras pagados 1S</a:t>
            </a:r>
            <a:endParaRPr lang="en-US" sz="816" dirty="0"/>
          </a:p>
        </p:txBody>
      </p:sp>
      <p:sp>
        <p:nvSpPr>
          <p:cNvPr id="21" name="Text 18"/>
          <p:cNvSpPr/>
          <p:nvPr/>
        </p:nvSpPr>
        <p:spPr>
          <a:xfrm>
            <a:off x="1015429" y="1443060"/>
            <a:ext cx="2296884" cy="147637"/>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 JesúS David Cortés Ortega</a:t>
            </a:r>
            <a:endParaRPr lang="en-US" sz="660" dirty="0"/>
          </a:p>
        </p:txBody>
      </p:sp>
      <p:sp>
        <p:nvSpPr>
          <p:cNvPr id="22" name="Text 19"/>
          <p:cNvSpPr/>
          <p:nvPr/>
        </p:nvSpPr>
        <p:spPr>
          <a:xfrm>
            <a:off x="1015429" y="26479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Santiago Elí Chávez Carmona</a:t>
            </a:r>
            <a:endParaRPr lang="en-US" sz="660" dirty="0"/>
          </a:p>
        </p:txBody>
      </p:sp>
      <p:sp>
        <p:nvSpPr>
          <p:cNvPr id="23" name="Text 20"/>
          <p:cNvSpPr/>
          <p:nvPr/>
        </p:nvSpPr>
        <p:spPr>
          <a:xfrm>
            <a:off x="1015429" y="29527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Nohelia H. Salas Monterrosa</a:t>
            </a:r>
            <a:endParaRPr lang="en-US" sz="660" dirty="0"/>
          </a:p>
        </p:txBody>
      </p:sp>
      <p:sp>
        <p:nvSpPr>
          <p:cNvPr id="24" name="Text 21"/>
          <p:cNvSpPr/>
          <p:nvPr/>
        </p:nvSpPr>
        <p:spPr>
          <a:xfrm>
            <a:off x="1015429" y="24955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Alan José Hernández Loaiza</a:t>
            </a:r>
            <a:endParaRPr lang="en-US" sz="660" dirty="0"/>
          </a:p>
        </p:txBody>
      </p:sp>
      <p:sp>
        <p:nvSpPr>
          <p:cNvPr id="25" name="Text 22"/>
          <p:cNvSpPr/>
          <p:nvPr/>
        </p:nvSpPr>
        <p:spPr>
          <a:xfrm>
            <a:off x="1015429" y="3562373"/>
            <a:ext cx="2296884" cy="152400"/>
          </a:xfrm>
          <a:prstGeom prst="rect">
            <a:avLst/>
          </a:prstGeom>
          <a:noFill/>
          <a:ln/>
        </p:spPr>
        <p:txBody>
          <a:bodyPr wrap="square" lIns="19050" tIns="57150" rIns="57150" bIns="19050" rtlCol="0" anchor="ctr"/>
          <a:lstStyle/>
          <a:p>
            <a:pPr marL="0" indent="0" algn="l">
              <a:buNone/>
            </a:pPr>
            <a:r>
              <a:rPr lang="en-US" sz="660" dirty="0" err="1">
                <a:solidFill>
                  <a:srgbClr val="333333"/>
                </a:solidFill>
                <a:latin typeface="Raleway" pitchFamily="34" charset="0"/>
                <a:ea typeface="Raleway" pitchFamily="34" charset="-122"/>
                <a:cs typeface="Raleway" pitchFamily="34" charset="-120"/>
              </a:rPr>
              <a:t>Rhoymar</a:t>
            </a:r>
            <a:r>
              <a:rPr lang="en-US" sz="660" dirty="0">
                <a:solidFill>
                  <a:srgbClr val="333333"/>
                </a:solidFill>
                <a:latin typeface="Raleway" pitchFamily="34" charset="0"/>
                <a:ea typeface="Raleway" pitchFamily="34" charset="-122"/>
                <a:cs typeface="Raleway" pitchFamily="34" charset="-120"/>
              </a:rPr>
              <a:t> Hernández </a:t>
            </a:r>
            <a:r>
              <a:rPr lang="en-US" sz="660" dirty="0" err="1">
                <a:solidFill>
                  <a:srgbClr val="333333"/>
                </a:solidFill>
                <a:latin typeface="Raleway" pitchFamily="34" charset="0"/>
                <a:ea typeface="Raleway" pitchFamily="34" charset="-122"/>
                <a:cs typeface="Raleway" pitchFamily="34" charset="-120"/>
              </a:rPr>
              <a:t>Albarrán</a:t>
            </a:r>
            <a:endParaRPr lang="en-US" sz="660" dirty="0"/>
          </a:p>
        </p:txBody>
      </p:sp>
      <p:sp>
        <p:nvSpPr>
          <p:cNvPr id="26" name="Text 23"/>
          <p:cNvSpPr/>
          <p:nvPr/>
        </p:nvSpPr>
        <p:spPr>
          <a:xfrm>
            <a:off x="1015429" y="32575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Laura L. Herrera Palomino</a:t>
            </a:r>
            <a:endParaRPr lang="en-US" sz="660" dirty="0"/>
          </a:p>
        </p:txBody>
      </p:sp>
      <p:sp>
        <p:nvSpPr>
          <p:cNvPr id="27" name="Text 24"/>
          <p:cNvSpPr/>
          <p:nvPr/>
        </p:nvSpPr>
        <p:spPr>
          <a:xfrm>
            <a:off x="7629515" y="1346378"/>
            <a:ext cx="4120412" cy="137350"/>
          </a:xfrm>
          <a:prstGeom prst="rect">
            <a:avLst/>
          </a:prstGeom>
          <a:noFill/>
          <a:ln/>
        </p:spPr>
        <p:txBody>
          <a:bodyPr wrap="square" lIns="0" tIns="0" rIns="0" bIns="0" rtlCol="0" anchor="t"/>
          <a:lstStyle/>
          <a:p>
            <a:pPr marL="0" indent="0" algn="l">
              <a:buNone/>
            </a:pPr>
            <a:r>
              <a:rPr lang="en-US" sz="816" b="1" dirty="0">
                <a:solidFill>
                  <a:srgbClr val="120180"/>
                </a:solidFill>
                <a:latin typeface="Raleway" pitchFamily="34" charset="0"/>
                <a:ea typeface="Raleway" pitchFamily="34" charset="-122"/>
                <a:cs typeface="Raleway" pitchFamily="34" charset="-120"/>
              </a:rPr>
              <a:t>Asesores activos por mes</a:t>
            </a:r>
            <a:endParaRPr lang="en-US" sz="816" dirty="0"/>
          </a:p>
        </p:txBody>
      </p:sp>
      <p:sp>
        <p:nvSpPr>
          <p:cNvPr id="28" name="Text 25"/>
          <p:cNvSpPr/>
          <p:nvPr/>
        </p:nvSpPr>
        <p:spPr>
          <a:xfrm>
            <a:off x="1015429" y="1743098"/>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 Luisa L. Percy Jaraba</a:t>
            </a:r>
            <a:endParaRPr lang="en-US" sz="660" dirty="0"/>
          </a:p>
        </p:txBody>
      </p:sp>
      <p:sp>
        <p:nvSpPr>
          <p:cNvPr id="29" name="Text 26"/>
          <p:cNvSpPr/>
          <p:nvPr/>
        </p:nvSpPr>
        <p:spPr>
          <a:xfrm>
            <a:off x="1015429" y="4924448"/>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Rosalinda Rivera Senior</a:t>
            </a:r>
            <a:endParaRPr lang="en-US" sz="660" dirty="0"/>
          </a:p>
        </p:txBody>
      </p:sp>
      <p:sp>
        <p:nvSpPr>
          <p:cNvPr id="30" name="Text 27"/>
          <p:cNvSpPr/>
          <p:nvPr/>
        </p:nvSpPr>
        <p:spPr>
          <a:xfrm>
            <a:off x="8673337" y="3578972"/>
            <a:ext cx="2858689" cy="219075"/>
          </a:xfrm>
          <a:prstGeom prst="rect">
            <a:avLst/>
          </a:prstGeom>
          <a:noFill/>
          <a:ln/>
        </p:spPr>
        <p:txBody>
          <a:bodyPr wrap="square" lIns="38100" tIns="114300" rIns="114300" bIns="38100" rtlCol="0" anchor="ctr"/>
          <a:lstStyle/>
          <a:p>
            <a:pPr marL="0" indent="0" algn="l">
              <a:buNone/>
            </a:pPr>
            <a:r>
              <a:rPr lang="en-US" sz="720" dirty="0">
                <a:solidFill>
                  <a:srgbClr val="333333"/>
                </a:solidFill>
                <a:latin typeface="Raleway" pitchFamily="34" charset="0"/>
                <a:ea typeface="Raleway" pitchFamily="34" charset="-122"/>
                <a:cs typeface="Raleway" pitchFamily="34" charset="-120"/>
              </a:rPr>
              <a:t>Patrón similar a marzo</a:t>
            </a:r>
            <a:endParaRPr lang="en-US" sz="720" dirty="0"/>
          </a:p>
        </p:txBody>
      </p:sp>
      <p:sp>
        <p:nvSpPr>
          <p:cNvPr id="31" name="Text 28"/>
          <p:cNvSpPr/>
          <p:nvPr/>
        </p:nvSpPr>
        <p:spPr>
          <a:xfrm>
            <a:off x="1015429" y="40195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Josué Zabaleta Bethel</a:t>
            </a:r>
            <a:endParaRPr lang="en-US" sz="660" dirty="0"/>
          </a:p>
        </p:txBody>
      </p:sp>
      <p:sp>
        <p:nvSpPr>
          <p:cNvPr id="32" name="Text 29"/>
          <p:cNvSpPr/>
          <p:nvPr/>
        </p:nvSpPr>
        <p:spPr>
          <a:xfrm>
            <a:off x="1015429" y="4467248"/>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Nayerlis Polo Marrugo</a:t>
            </a:r>
            <a:endParaRPr lang="en-US" sz="660" dirty="0"/>
          </a:p>
        </p:txBody>
      </p:sp>
      <p:sp>
        <p:nvSpPr>
          <p:cNvPr id="33" name="Text 30"/>
          <p:cNvSpPr/>
          <p:nvPr/>
        </p:nvSpPr>
        <p:spPr>
          <a:xfrm>
            <a:off x="1015429" y="37147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CéSar Barrera </a:t>
            </a:r>
            <a:r>
              <a:rPr lang="en-US" sz="660" dirty="0" err="1">
                <a:solidFill>
                  <a:srgbClr val="333333"/>
                </a:solidFill>
                <a:latin typeface="Raleway" pitchFamily="34" charset="0"/>
                <a:ea typeface="Raleway" pitchFamily="34" charset="-122"/>
                <a:cs typeface="Raleway" pitchFamily="34" charset="-120"/>
              </a:rPr>
              <a:t>Pájaro</a:t>
            </a:r>
            <a:endParaRPr lang="en-US" sz="660" dirty="0"/>
          </a:p>
        </p:txBody>
      </p:sp>
      <p:sp>
        <p:nvSpPr>
          <p:cNvPr id="34" name="Text 31"/>
          <p:cNvSpPr/>
          <p:nvPr/>
        </p:nvSpPr>
        <p:spPr>
          <a:xfrm>
            <a:off x="1015429" y="4171973"/>
            <a:ext cx="2296884" cy="152400"/>
          </a:xfrm>
          <a:prstGeom prst="rect">
            <a:avLst/>
          </a:prstGeom>
          <a:noFill/>
          <a:ln/>
        </p:spPr>
        <p:txBody>
          <a:bodyPr wrap="square" lIns="19050" tIns="57150" rIns="57150" bIns="19050" rtlCol="0" anchor="ctr"/>
          <a:lstStyle/>
          <a:p>
            <a:pPr marL="0" indent="0" algn="l">
              <a:buNone/>
            </a:pPr>
            <a:r>
              <a:rPr lang="en-US" sz="660" dirty="0" err="1">
                <a:solidFill>
                  <a:srgbClr val="333333"/>
                </a:solidFill>
                <a:latin typeface="Raleway" pitchFamily="34" charset="0"/>
                <a:ea typeface="Raleway" pitchFamily="34" charset="-122"/>
                <a:cs typeface="Raleway" pitchFamily="34" charset="-120"/>
              </a:rPr>
              <a:t>Yannecce</a:t>
            </a:r>
            <a:r>
              <a:rPr lang="en-US" sz="660" dirty="0">
                <a:solidFill>
                  <a:srgbClr val="333333"/>
                </a:solidFill>
                <a:latin typeface="Raleway" pitchFamily="34" charset="0"/>
                <a:ea typeface="Raleway" pitchFamily="34" charset="-122"/>
                <a:cs typeface="Raleway" pitchFamily="34" charset="-120"/>
              </a:rPr>
              <a:t> Mejía Gómez</a:t>
            </a:r>
            <a:endParaRPr lang="en-US" sz="660" dirty="0"/>
          </a:p>
        </p:txBody>
      </p:sp>
      <p:sp>
        <p:nvSpPr>
          <p:cNvPr id="35" name="Text 32"/>
          <p:cNvSpPr/>
          <p:nvPr/>
        </p:nvSpPr>
        <p:spPr>
          <a:xfrm>
            <a:off x="1015429" y="2200298"/>
            <a:ext cx="2296884" cy="142875"/>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Joelis J. Barros B.</a:t>
            </a:r>
            <a:endParaRPr lang="en-US" sz="660" dirty="0"/>
          </a:p>
        </p:txBody>
      </p:sp>
      <p:sp>
        <p:nvSpPr>
          <p:cNvPr id="36" name="Text 33"/>
          <p:cNvSpPr/>
          <p:nvPr/>
        </p:nvSpPr>
        <p:spPr>
          <a:xfrm>
            <a:off x="1015429" y="4772048"/>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Ruddy Olmos Simanca</a:t>
            </a:r>
            <a:endParaRPr lang="en-US" sz="660" dirty="0"/>
          </a:p>
        </p:txBody>
      </p:sp>
      <p:sp>
        <p:nvSpPr>
          <p:cNvPr id="37" name="Text 34"/>
          <p:cNvSpPr/>
          <p:nvPr/>
        </p:nvSpPr>
        <p:spPr>
          <a:xfrm>
            <a:off x="7629515" y="1090613"/>
            <a:ext cx="1398304" cy="156972"/>
          </a:xfrm>
          <a:prstGeom prst="rect">
            <a:avLst/>
          </a:prstGeom>
          <a:noFill/>
          <a:ln/>
        </p:spPr>
        <p:txBody>
          <a:bodyPr wrap="square" lIns="0" tIns="0" rIns="0" bIns="0" rtlCol="0" anchor="t"/>
          <a:lstStyle/>
          <a:p>
            <a:pPr marL="0" indent="0" algn="l">
              <a:buNone/>
            </a:pPr>
            <a:r>
              <a:rPr lang="en-US" sz="1020" b="1" dirty="0">
                <a:solidFill>
                  <a:srgbClr val="120180"/>
                </a:solidFill>
                <a:latin typeface="Raleway" pitchFamily="34" charset="0"/>
                <a:ea typeface="Raleway" pitchFamily="34" charset="-122"/>
                <a:cs typeface="Raleway" pitchFamily="34" charset="-120"/>
              </a:rPr>
              <a:t>Lectura del equipo</a:t>
            </a:r>
            <a:endParaRPr lang="en-US" sz="1020" dirty="0"/>
          </a:p>
        </p:txBody>
      </p:sp>
      <p:sp>
        <p:nvSpPr>
          <p:cNvPr id="38" name="Text 35"/>
          <p:cNvSpPr/>
          <p:nvPr/>
        </p:nvSpPr>
        <p:spPr>
          <a:xfrm>
            <a:off x="10610622" y="111157"/>
            <a:ext cx="1466364" cy="215836"/>
          </a:xfrm>
          <a:prstGeom prst="rect">
            <a:avLst/>
          </a:prstGeom>
          <a:noFill/>
          <a:ln/>
        </p:spPr>
        <p:txBody>
          <a:bodyPr wrap="square" lIns="38100" tIns="114300" rIns="114300" bIns="38100" rtlCol="0" anchor="t"/>
          <a:lstStyle/>
          <a:p>
            <a:pPr marL="0" indent="0" algn="l">
              <a:buNone/>
            </a:pPr>
            <a:r>
              <a:rPr lang="en-US" sz="840" b="1" dirty="0" err="1">
                <a:solidFill>
                  <a:srgbClr val="5AE280"/>
                </a:solidFill>
                <a:latin typeface="Raleway" pitchFamily="34" charset="0"/>
                <a:ea typeface="Raleway" pitchFamily="34" charset="-122"/>
                <a:cs typeface="Raleway" pitchFamily="34" charset="-120"/>
              </a:rPr>
              <a:t>Asesores</a:t>
            </a:r>
            <a:endParaRPr lang="en-US" sz="840" dirty="0"/>
          </a:p>
        </p:txBody>
      </p:sp>
      <p:sp>
        <p:nvSpPr>
          <p:cNvPr id="39" name="Text 36"/>
          <p:cNvSpPr/>
          <p:nvPr/>
        </p:nvSpPr>
        <p:spPr>
          <a:xfrm>
            <a:off x="1015429" y="34099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Valentina Orozco</a:t>
            </a:r>
            <a:endParaRPr lang="en-US" sz="660" dirty="0"/>
          </a:p>
        </p:txBody>
      </p:sp>
      <p:sp>
        <p:nvSpPr>
          <p:cNvPr id="40" name="Text 37"/>
          <p:cNvSpPr/>
          <p:nvPr/>
        </p:nvSpPr>
        <p:spPr>
          <a:xfrm>
            <a:off x="1015429" y="23431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Yulieth Pacheco</a:t>
            </a:r>
            <a:endParaRPr lang="en-US" sz="660" dirty="0"/>
          </a:p>
        </p:txBody>
      </p:sp>
      <p:sp>
        <p:nvSpPr>
          <p:cNvPr id="41" name="Text 38"/>
          <p:cNvSpPr/>
          <p:nvPr/>
        </p:nvSpPr>
        <p:spPr>
          <a:xfrm>
            <a:off x="1015429" y="3867173"/>
            <a:ext cx="2296884" cy="152400"/>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Jean J. Guzmán</a:t>
            </a:r>
            <a:endParaRPr lang="en-US" sz="660" dirty="0"/>
          </a:p>
        </p:txBody>
      </p:sp>
      <p:sp>
        <p:nvSpPr>
          <p:cNvPr id="42" name="Text 39"/>
          <p:cNvSpPr/>
          <p:nvPr/>
        </p:nvSpPr>
        <p:spPr>
          <a:xfrm>
            <a:off x="1015429" y="4324373"/>
            <a:ext cx="2296884" cy="142875"/>
          </a:xfrm>
          <a:prstGeom prst="rect">
            <a:avLst/>
          </a:prstGeom>
          <a:noFill/>
          <a:ln/>
        </p:spPr>
        <p:txBody>
          <a:bodyPr wrap="square" lIns="19050" tIns="57150" rIns="57150" bIns="19050" rtlCol="0" anchor="ctr"/>
          <a:lstStyle/>
          <a:p>
            <a:pPr marL="0" indent="0" algn="l">
              <a:buNone/>
            </a:pPr>
            <a:r>
              <a:rPr lang="en-US" sz="660" dirty="0">
                <a:solidFill>
                  <a:srgbClr val="333333"/>
                </a:solidFill>
                <a:latin typeface="Raleway" pitchFamily="34" charset="0"/>
                <a:ea typeface="Raleway" pitchFamily="34" charset="-122"/>
                <a:cs typeface="Raleway" pitchFamily="34" charset="-120"/>
              </a:rPr>
              <a:t>Silvana Otero</a:t>
            </a:r>
            <a:endParaRPr lang="en-US" sz="660" dirty="0"/>
          </a:p>
        </p:txBody>
      </p:sp>
      <p:sp>
        <p:nvSpPr>
          <p:cNvPr id="45" name="Text 42"/>
          <p:cNvSpPr/>
          <p:nvPr/>
        </p:nvSpPr>
        <p:spPr>
          <a:xfrm>
            <a:off x="7963296" y="2697909"/>
            <a:ext cx="731342" cy="228600"/>
          </a:xfrm>
          <a:prstGeom prst="rect">
            <a:avLst/>
          </a:prstGeom>
          <a:noFill/>
          <a:ln/>
        </p:spPr>
        <p:txBody>
          <a:bodyPr wrap="square" lIns="47625" tIns="114300" rIns="114300" bIns="4762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Eventos</a:t>
            </a:r>
            <a:endParaRPr lang="en-US" sz="888" dirty="0"/>
          </a:p>
        </p:txBody>
      </p:sp>
      <p:sp>
        <p:nvSpPr>
          <p:cNvPr id="46" name="Text 43"/>
          <p:cNvSpPr/>
          <p:nvPr/>
        </p:nvSpPr>
        <p:spPr>
          <a:xfrm>
            <a:off x="8673337" y="2697909"/>
            <a:ext cx="2858689" cy="228600"/>
          </a:xfrm>
          <a:prstGeom prst="rect">
            <a:avLst/>
          </a:prstGeom>
          <a:noFill/>
          <a:ln/>
        </p:spPr>
        <p:txBody>
          <a:bodyPr wrap="square" lIns="47625" tIns="114300" rIns="114300" bIns="47625"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Detalle</a:t>
            </a:r>
            <a:endParaRPr lang="en-US" sz="888" dirty="0"/>
          </a:p>
        </p:txBody>
      </p:sp>
      <p:sp>
        <p:nvSpPr>
          <p:cNvPr id="47" name="Text 44"/>
          <p:cNvSpPr/>
          <p:nvPr/>
        </p:nvSpPr>
        <p:spPr>
          <a:xfrm>
            <a:off x="1015429" y="1252560"/>
            <a:ext cx="2296884" cy="190500"/>
          </a:xfrm>
          <a:prstGeom prst="rect">
            <a:avLst/>
          </a:prstGeom>
          <a:noFill/>
          <a:ln/>
        </p:spPr>
        <p:txBody>
          <a:bodyPr wrap="square" lIns="28575" tIns="57150" rIns="57150" bIns="28575"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Asesor</a:t>
            </a:r>
            <a:endParaRPr lang="en-US" sz="888" dirty="0"/>
          </a:p>
        </p:txBody>
      </p:sp>
      <p:sp>
        <p:nvSpPr>
          <p:cNvPr id="48" name="Text 45"/>
          <p:cNvSpPr/>
          <p:nvPr/>
        </p:nvSpPr>
        <p:spPr>
          <a:xfrm>
            <a:off x="6328907" y="5229248"/>
            <a:ext cx="642895" cy="147637"/>
          </a:xfrm>
          <a:prstGeom prst="rect">
            <a:avLst/>
          </a:prstGeom>
          <a:noFill/>
          <a:ln/>
        </p:spPr>
        <p:txBody>
          <a:bodyPr wrap="square" lIns="19050" tIns="57150" rIns="57150" bIns="19050" rtlCol="0" anchor="ctr"/>
          <a:lstStyle/>
          <a:p>
            <a:pPr marL="0" indent="0" algn="r">
              <a:buNone/>
            </a:pPr>
            <a:r>
              <a:rPr lang="en-US" sz="696" b="1" dirty="0">
                <a:solidFill>
                  <a:srgbClr val="120180"/>
                </a:solidFill>
                <a:latin typeface="Raleway" pitchFamily="34" charset="0"/>
                <a:ea typeface="Raleway" pitchFamily="34" charset="-122"/>
                <a:cs typeface="Raleway" pitchFamily="34" charset="-120"/>
              </a:rPr>
              <a:t>13.917</a:t>
            </a:r>
            <a:endParaRPr lang="en-US" sz="696" dirty="0"/>
          </a:p>
        </p:txBody>
      </p:sp>
      <p:sp>
        <p:nvSpPr>
          <p:cNvPr id="49" name="Text 46"/>
          <p:cNvSpPr/>
          <p:nvPr/>
        </p:nvSpPr>
        <p:spPr>
          <a:xfrm>
            <a:off x="6328907" y="1252560"/>
            <a:ext cx="642895" cy="190500"/>
          </a:xfrm>
          <a:prstGeom prst="rect">
            <a:avLst/>
          </a:prstGeom>
          <a:noFill/>
          <a:ln/>
        </p:spPr>
        <p:txBody>
          <a:bodyPr wrap="square" lIns="28575" tIns="57150" rIns="57150" bIns="2857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Total</a:t>
            </a:r>
            <a:endParaRPr lang="en-US" sz="888" dirty="0"/>
          </a:p>
        </p:txBody>
      </p:sp>
      <p:sp>
        <p:nvSpPr>
          <p:cNvPr id="50" name="Text 47"/>
          <p:cNvSpPr/>
          <p:nvPr/>
        </p:nvSpPr>
        <p:spPr>
          <a:xfrm>
            <a:off x="6328907" y="1443060"/>
            <a:ext cx="642895" cy="147637"/>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1.276</a:t>
            </a:r>
            <a:endParaRPr lang="en-US" sz="660" dirty="0"/>
          </a:p>
        </p:txBody>
      </p:sp>
      <p:sp>
        <p:nvSpPr>
          <p:cNvPr id="51" name="Text 48"/>
          <p:cNvSpPr/>
          <p:nvPr/>
        </p:nvSpPr>
        <p:spPr>
          <a:xfrm>
            <a:off x="6328907" y="1590698"/>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1.021</a:t>
            </a:r>
            <a:endParaRPr lang="en-US" sz="660" dirty="0"/>
          </a:p>
        </p:txBody>
      </p:sp>
      <p:sp>
        <p:nvSpPr>
          <p:cNvPr id="52" name="Text 49"/>
          <p:cNvSpPr/>
          <p:nvPr/>
        </p:nvSpPr>
        <p:spPr>
          <a:xfrm>
            <a:off x="1015429" y="5229248"/>
            <a:ext cx="2296884" cy="147637"/>
          </a:xfrm>
          <a:prstGeom prst="rect">
            <a:avLst/>
          </a:prstGeom>
          <a:noFill/>
          <a:ln/>
        </p:spPr>
        <p:txBody>
          <a:bodyPr wrap="square" lIns="19050" tIns="57150" rIns="57150" bIns="19050" rtlCol="0" anchor="ctr"/>
          <a:lstStyle/>
          <a:p>
            <a:pPr marL="0" indent="0" algn="l">
              <a:buNone/>
            </a:pPr>
            <a:r>
              <a:rPr lang="en-US" sz="696" b="1" dirty="0">
                <a:solidFill>
                  <a:srgbClr val="120180"/>
                </a:solidFill>
                <a:latin typeface="Raleway" pitchFamily="34" charset="0"/>
                <a:ea typeface="Raleway" pitchFamily="34" charset="-122"/>
                <a:cs typeface="Raleway" pitchFamily="34" charset="-120"/>
              </a:rPr>
              <a:t>Total</a:t>
            </a:r>
            <a:endParaRPr lang="en-US" sz="696" dirty="0"/>
          </a:p>
        </p:txBody>
      </p:sp>
      <p:sp>
        <p:nvSpPr>
          <p:cNvPr id="53" name="Text 50"/>
          <p:cNvSpPr/>
          <p:nvPr/>
        </p:nvSpPr>
        <p:spPr>
          <a:xfrm>
            <a:off x="3245414" y="5229248"/>
            <a:ext cx="527161" cy="147637"/>
          </a:xfrm>
          <a:prstGeom prst="rect">
            <a:avLst/>
          </a:prstGeom>
          <a:noFill/>
          <a:ln/>
        </p:spPr>
        <p:txBody>
          <a:bodyPr wrap="square" lIns="19050" tIns="57150" rIns="57150" bIns="19050" rtlCol="0" anchor="ctr"/>
          <a:lstStyle/>
          <a:p>
            <a:pPr marL="0" indent="0" algn="r">
              <a:buNone/>
            </a:pPr>
            <a:r>
              <a:rPr lang="en-US" sz="696" b="1" dirty="0">
                <a:solidFill>
                  <a:srgbClr val="120180"/>
                </a:solidFill>
                <a:latin typeface="Raleway" pitchFamily="34" charset="0"/>
                <a:ea typeface="Raleway" pitchFamily="34" charset="-122"/>
                <a:cs typeface="Raleway" pitchFamily="34" charset="-120"/>
              </a:rPr>
              <a:t>2.245</a:t>
            </a:r>
            <a:endParaRPr lang="en-US" sz="696" dirty="0"/>
          </a:p>
        </p:txBody>
      </p:sp>
      <p:sp>
        <p:nvSpPr>
          <p:cNvPr id="54" name="Text 51"/>
          <p:cNvSpPr/>
          <p:nvPr/>
        </p:nvSpPr>
        <p:spPr>
          <a:xfrm>
            <a:off x="3757221" y="5229248"/>
            <a:ext cx="523329" cy="147637"/>
          </a:xfrm>
          <a:prstGeom prst="rect">
            <a:avLst/>
          </a:prstGeom>
          <a:noFill/>
          <a:ln/>
        </p:spPr>
        <p:txBody>
          <a:bodyPr wrap="square" lIns="19050" tIns="57150" rIns="57150" bIns="19050" rtlCol="0" anchor="ctr"/>
          <a:lstStyle/>
          <a:p>
            <a:pPr marL="0" indent="0" algn="r">
              <a:buNone/>
            </a:pPr>
            <a:r>
              <a:rPr lang="en-US" sz="696" b="1" dirty="0">
                <a:solidFill>
                  <a:srgbClr val="120180"/>
                </a:solidFill>
                <a:latin typeface="Raleway" pitchFamily="34" charset="0"/>
                <a:ea typeface="Raleway" pitchFamily="34" charset="-122"/>
                <a:cs typeface="Raleway" pitchFamily="34" charset="-120"/>
              </a:rPr>
              <a:t>2.374</a:t>
            </a:r>
            <a:endParaRPr lang="en-US" sz="696" dirty="0"/>
          </a:p>
        </p:txBody>
      </p:sp>
      <p:sp>
        <p:nvSpPr>
          <p:cNvPr id="55" name="Text 52"/>
          <p:cNvSpPr/>
          <p:nvPr/>
        </p:nvSpPr>
        <p:spPr>
          <a:xfrm>
            <a:off x="4265307" y="5229248"/>
            <a:ext cx="524096" cy="147637"/>
          </a:xfrm>
          <a:prstGeom prst="rect">
            <a:avLst/>
          </a:prstGeom>
          <a:noFill/>
          <a:ln/>
        </p:spPr>
        <p:txBody>
          <a:bodyPr wrap="square" lIns="19050" tIns="57150" rIns="57150" bIns="19050" rtlCol="0" anchor="ctr"/>
          <a:lstStyle/>
          <a:p>
            <a:pPr marL="0" indent="0" algn="r">
              <a:buNone/>
            </a:pPr>
            <a:r>
              <a:rPr lang="en-US" sz="696" b="1" dirty="0">
                <a:solidFill>
                  <a:srgbClr val="120180"/>
                </a:solidFill>
                <a:latin typeface="Raleway" pitchFamily="34" charset="0"/>
                <a:ea typeface="Raleway" pitchFamily="34" charset="-122"/>
                <a:cs typeface="Raleway" pitchFamily="34" charset="-120"/>
              </a:rPr>
              <a:t>2.431</a:t>
            </a:r>
            <a:endParaRPr lang="en-US" sz="696" dirty="0"/>
          </a:p>
        </p:txBody>
      </p:sp>
      <p:sp>
        <p:nvSpPr>
          <p:cNvPr id="56" name="Text 53"/>
          <p:cNvSpPr/>
          <p:nvPr/>
        </p:nvSpPr>
        <p:spPr>
          <a:xfrm>
            <a:off x="4774138" y="5229248"/>
            <a:ext cx="532220" cy="147637"/>
          </a:xfrm>
          <a:prstGeom prst="rect">
            <a:avLst/>
          </a:prstGeom>
          <a:noFill/>
          <a:ln/>
        </p:spPr>
        <p:txBody>
          <a:bodyPr wrap="square" lIns="19050" tIns="57150" rIns="57150" bIns="19050" rtlCol="0" anchor="ctr"/>
          <a:lstStyle/>
          <a:p>
            <a:pPr marL="0" indent="0" algn="r">
              <a:buNone/>
            </a:pPr>
            <a:r>
              <a:rPr lang="en-US" sz="696" b="1" dirty="0">
                <a:solidFill>
                  <a:srgbClr val="120180"/>
                </a:solidFill>
                <a:latin typeface="Raleway" pitchFamily="34" charset="0"/>
                <a:ea typeface="Raleway" pitchFamily="34" charset="-122"/>
                <a:cs typeface="Raleway" pitchFamily="34" charset="-120"/>
              </a:rPr>
              <a:t>2.367</a:t>
            </a:r>
            <a:endParaRPr lang="en-US" sz="696" dirty="0"/>
          </a:p>
        </p:txBody>
      </p:sp>
      <p:sp>
        <p:nvSpPr>
          <p:cNvPr id="57" name="Text 54"/>
          <p:cNvSpPr/>
          <p:nvPr/>
        </p:nvSpPr>
        <p:spPr>
          <a:xfrm>
            <a:off x="5290856" y="5229248"/>
            <a:ext cx="549082" cy="147637"/>
          </a:xfrm>
          <a:prstGeom prst="rect">
            <a:avLst/>
          </a:prstGeom>
          <a:noFill/>
          <a:ln/>
        </p:spPr>
        <p:txBody>
          <a:bodyPr wrap="square" lIns="19050" tIns="57150" rIns="57150" bIns="19050" rtlCol="0" anchor="ctr"/>
          <a:lstStyle/>
          <a:p>
            <a:pPr marL="0" indent="0" algn="r">
              <a:buNone/>
            </a:pPr>
            <a:r>
              <a:rPr lang="en-US" sz="696" b="1" dirty="0">
                <a:solidFill>
                  <a:srgbClr val="120180"/>
                </a:solidFill>
                <a:latin typeface="Raleway" pitchFamily="34" charset="0"/>
                <a:ea typeface="Raleway" pitchFamily="34" charset="-122"/>
                <a:cs typeface="Raleway" pitchFamily="34" charset="-120"/>
              </a:rPr>
              <a:t>2.186</a:t>
            </a:r>
            <a:endParaRPr lang="en-US" sz="696" dirty="0"/>
          </a:p>
        </p:txBody>
      </p:sp>
      <p:sp>
        <p:nvSpPr>
          <p:cNvPr id="58" name="Text 55"/>
          <p:cNvSpPr/>
          <p:nvPr/>
        </p:nvSpPr>
        <p:spPr>
          <a:xfrm>
            <a:off x="5823945" y="5229248"/>
            <a:ext cx="520110" cy="147637"/>
          </a:xfrm>
          <a:prstGeom prst="rect">
            <a:avLst/>
          </a:prstGeom>
          <a:noFill/>
          <a:ln/>
        </p:spPr>
        <p:txBody>
          <a:bodyPr wrap="square" lIns="19050" tIns="57150" rIns="57150" bIns="19050" rtlCol="0" anchor="ctr"/>
          <a:lstStyle/>
          <a:p>
            <a:pPr marL="0" indent="0" algn="r">
              <a:buNone/>
            </a:pPr>
            <a:r>
              <a:rPr lang="en-US" sz="696" b="1" dirty="0">
                <a:solidFill>
                  <a:srgbClr val="120180"/>
                </a:solidFill>
                <a:latin typeface="Raleway" pitchFamily="34" charset="0"/>
                <a:ea typeface="Raleway" pitchFamily="34" charset="-122"/>
                <a:cs typeface="Raleway" pitchFamily="34" charset="-120"/>
              </a:rPr>
              <a:t>2.314</a:t>
            </a:r>
            <a:endParaRPr lang="en-US" sz="696" dirty="0"/>
          </a:p>
        </p:txBody>
      </p:sp>
      <p:sp>
        <p:nvSpPr>
          <p:cNvPr id="59" name="Text 56"/>
          <p:cNvSpPr/>
          <p:nvPr/>
        </p:nvSpPr>
        <p:spPr>
          <a:xfrm>
            <a:off x="7448364" y="4196549"/>
            <a:ext cx="530380" cy="214313"/>
          </a:xfrm>
          <a:prstGeom prst="rect">
            <a:avLst/>
          </a:prstGeom>
          <a:noFill/>
          <a:ln/>
        </p:spPr>
        <p:txBody>
          <a:bodyPr wrap="square" lIns="38100" tIns="114300" rIns="114300" bIns="38100" rtlCol="0" anchor="ctr"/>
          <a:lstStyle/>
          <a:p>
            <a:pPr marL="0" indent="0" algn="l">
              <a:buNone/>
            </a:pPr>
            <a:r>
              <a:rPr lang="en-US" sz="888" b="1" dirty="0">
                <a:solidFill>
                  <a:srgbClr val="120180"/>
                </a:solidFill>
                <a:latin typeface="Raleway" pitchFamily="34" charset="0"/>
                <a:ea typeface="Raleway" pitchFamily="34" charset="-122"/>
                <a:cs typeface="Raleway" pitchFamily="34" charset="-120"/>
              </a:rPr>
              <a:t>Total</a:t>
            </a:r>
            <a:endParaRPr lang="en-US" sz="888" dirty="0"/>
          </a:p>
        </p:txBody>
      </p:sp>
      <p:sp>
        <p:nvSpPr>
          <p:cNvPr id="60" name="Text 57"/>
          <p:cNvSpPr/>
          <p:nvPr/>
        </p:nvSpPr>
        <p:spPr>
          <a:xfrm>
            <a:off x="845508" y="5444109"/>
            <a:ext cx="339842" cy="128016"/>
          </a:xfrm>
          <a:prstGeom prst="rect">
            <a:avLst/>
          </a:prstGeom>
          <a:noFill/>
          <a:ln/>
        </p:spPr>
        <p:txBody>
          <a:bodyPr wrap="square" lIns="0" tIns="0" rIns="0" bIns="0" rtlCol="0" anchor="t"/>
          <a:lstStyle/>
          <a:p>
            <a:pPr marL="0" indent="0" algn="l">
              <a:buNone/>
            </a:pPr>
            <a:r>
              <a:rPr lang="en-US" sz="648" dirty="0">
                <a:solidFill>
                  <a:srgbClr val="333333"/>
                </a:solidFill>
                <a:latin typeface="Raleway" pitchFamily="34" charset="0"/>
                <a:ea typeface="Raleway" pitchFamily="34" charset="-122"/>
                <a:cs typeface="Raleway" pitchFamily="34" charset="-120"/>
              </a:rPr>
              <a:t>Top 5</a:t>
            </a:r>
            <a:endParaRPr lang="en-US" sz="648" dirty="0"/>
          </a:p>
        </p:txBody>
      </p:sp>
      <p:sp>
        <p:nvSpPr>
          <p:cNvPr id="62" name="Text 59"/>
          <p:cNvSpPr/>
          <p:nvPr/>
        </p:nvSpPr>
        <p:spPr>
          <a:xfrm>
            <a:off x="11012278" y="1023566"/>
            <a:ext cx="474583" cy="206026"/>
          </a:xfrm>
          <a:prstGeom prst="rect">
            <a:avLst/>
          </a:prstGeom>
          <a:noFill/>
          <a:ln/>
        </p:spPr>
        <p:txBody>
          <a:bodyPr wrap="square" lIns="38100" tIns="95250" rIns="95250" bIns="38100" rtlCol="0" anchor="t"/>
          <a:lstStyle/>
          <a:p>
            <a:pPr marL="0" indent="0" algn="ctr">
              <a:buNone/>
            </a:pPr>
            <a:r>
              <a:rPr lang="en-US" sz="720" b="1" dirty="0">
                <a:solidFill>
                  <a:srgbClr val="FFFFFF"/>
                </a:solidFill>
                <a:latin typeface="Raleway" pitchFamily="34" charset="0"/>
                <a:ea typeface="Raleway" pitchFamily="34" charset="-122"/>
                <a:cs typeface="Raleway" pitchFamily="34" charset="-120"/>
              </a:rPr>
              <a:t>Xuma</a:t>
            </a:r>
            <a:endParaRPr lang="en-US" sz="720" dirty="0"/>
          </a:p>
        </p:txBody>
      </p:sp>
      <p:sp>
        <p:nvSpPr>
          <p:cNvPr id="63" name="Text 60"/>
          <p:cNvSpPr/>
          <p:nvPr/>
        </p:nvSpPr>
        <p:spPr>
          <a:xfrm>
            <a:off x="3245414" y="1252560"/>
            <a:ext cx="527161" cy="190500"/>
          </a:xfrm>
          <a:prstGeom prst="rect">
            <a:avLst/>
          </a:prstGeom>
          <a:noFill/>
          <a:ln/>
        </p:spPr>
        <p:txBody>
          <a:bodyPr wrap="square" lIns="28575" tIns="57150" rIns="57150" bIns="2857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Ene</a:t>
            </a:r>
            <a:endParaRPr lang="en-US" sz="888" dirty="0"/>
          </a:p>
        </p:txBody>
      </p:sp>
      <p:sp>
        <p:nvSpPr>
          <p:cNvPr id="64" name="Text 61"/>
          <p:cNvSpPr/>
          <p:nvPr/>
        </p:nvSpPr>
        <p:spPr>
          <a:xfrm>
            <a:off x="3757221" y="1252560"/>
            <a:ext cx="523329" cy="190500"/>
          </a:xfrm>
          <a:prstGeom prst="rect">
            <a:avLst/>
          </a:prstGeom>
          <a:noFill/>
          <a:ln/>
        </p:spPr>
        <p:txBody>
          <a:bodyPr wrap="square" lIns="28575" tIns="57150" rIns="57150" bIns="2857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Feb</a:t>
            </a:r>
            <a:endParaRPr lang="en-US" sz="888" dirty="0"/>
          </a:p>
        </p:txBody>
      </p:sp>
      <p:sp>
        <p:nvSpPr>
          <p:cNvPr id="65" name="Text 62"/>
          <p:cNvSpPr/>
          <p:nvPr/>
        </p:nvSpPr>
        <p:spPr>
          <a:xfrm>
            <a:off x="4265307" y="1252560"/>
            <a:ext cx="524096" cy="190500"/>
          </a:xfrm>
          <a:prstGeom prst="rect">
            <a:avLst/>
          </a:prstGeom>
          <a:noFill/>
          <a:ln/>
        </p:spPr>
        <p:txBody>
          <a:bodyPr wrap="square" lIns="28575" tIns="57150" rIns="57150" bIns="2857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Mar</a:t>
            </a:r>
            <a:endParaRPr lang="en-US" sz="888" dirty="0"/>
          </a:p>
        </p:txBody>
      </p:sp>
      <p:sp>
        <p:nvSpPr>
          <p:cNvPr id="66" name="Text 63"/>
          <p:cNvSpPr/>
          <p:nvPr/>
        </p:nvSpPr>
        <p:spPr>
          <a:xfrm>
            <a:off x="4774138" y="1252560"/>
            <a:ext cx="532220" cy="190500"/>
          </a:xfrm>
          <a:prstGeom prst="rect">
            <a:avLst/>
          </a:prstGeom>
          <a:noFill/>
          <a:ln/>
        </p:spPr>
        <p:txBody>
          <a:bodyPr wrap="square" lIns="28575" tIns="57150" rIns="57150" bIns="2857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Abr</a:t>
            </a:r>
            <a:endParaRPr lang="en-US" sz="888" dirty="0"/>
          </a:p>
        </p:txBody>
      </p:sp>
      <p:sp>
        <p:nvSpPr>
          <p:cNvPr id="67" name="Text 64"/>
          <p:cNvSpPr/>
          <p:nvPr/>
        </p:nvSpPr>
        <p:spPr>
          <a:xfrm>
            <a:off x="5290856" y="1252560"/>
            <a:ext cx="549082" cy="190500"/>
          </a:xfrm>
          <a:prstGeom prst="rect">
            <a:avLst/>
          </a:prstGeom>
          <a:noFill/>
          <a:ln/>
        </p:spPr>
        <p:txBody>
          <a:bodyPr wrap="square" lIns="28575" tIns="57150" rIns="57150" bIns="2857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May</a:t>
            </a:r>
            <a:endParaRPr lang="en-US" sz="888" dirty="0"/>
          </a:p>
        </p:txBody>
      </p:sp>
      <p:sp>
        <p:nvSpPr>
          <p:cNvPr id="68" name="Text 65"/>
          <p:cNvSpPr/>
          <p:nvPr/>
        </p:nvSpPr>
        <p:spPr>
          <a:xfrm>
            <a:off x="5823945" y="1252560"/>
            <a:ext cx="520110" cy="190500"/>
          </a:xfrm>
          <a:prstGeom prst="rect">
            <a:avLst/>
          </a:prstGeom>
          <a:noFill/>
          <a:ln/>
        </p:spPr>
        <p:txBody>
          <a:bodyPr wrap="square" lIns="28575" tIns="57150" rIns="57150" bIns="28575" rtlCol="0" anchor="ctr"/>
          <a:lstStyle/>
          <a:p>
            <a:pPr marL="0" indent="0" algn="r">
              <a:buNone/>
            </a:pPr>
            <a:r>
              <a:rPr lang="en-US" sz="888" b="1" dirty="0">
                <a:solidFill>
                  <a:srgbClr val="FFFFFF"/>
                </a:solidFill>
                <a:latin typeface="Raleway" pitchFamily="34" charset="0"/>
                <a:ea typeface="Raleway" pitchFamily="34" charset="-122"/>
                <a:cs typeface="Raleway" pitchFamily="34" charset="-120"/>
              </a:rPr>
              <a:t>Jun</a:t>
            </a:r>
            <a:endParaRPr lang="en-US" sz="888" dirty="0"/>
          </a:p>
        </p:txBody>
      </p:sp>
      <p:sp>
        <p:nvSpPr>
          <p:cNvPr id="69" name="Text 66"/>
          <p:cNvSpPr/>
          <p:nvPr/>
        </p:nvSpPr>
        <p:spPr>
          <a:xfrm>
            <a:off x="3245414" y="1443060"/>
            <a:ext cx="527161" cy="147637"/>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205</a:t>
            </a:r>
            <a:endParaRPr lang="en-US" sz="660" dirty="0"/>
          </a:p>
        </p:txBody>
      </p:sp>
      <p:sp>
        <p:nvSpPr>
          <p:cNvPr id="70" name="Text 67"/>
          <p:cNvSpPr/>
          <p:nvPr/>
        </p:nvSpPr>
        <p:spPr>
          <a:xfrm>
            <a:off x="3757221" y="1443060"/>
            <a:ext cx="523329" cy="147637"/>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234</a:t>
            </a:r>
            <a:endParaRPr lang="en-US" sz="660" dirty="0"/>
          </a:p>
        </p:txBody>
      </p:sp>
      <p:sp>
        <p:nvSpPr>
          <p:cNvPr id="71" name="Text 68"/>
          <p:cNvSpPr/>
          <p:nvPr/>
        </p:nvSpPr>
        <p:spPr>
          <a:xfrm>
            <a:off x="4265307" y="1443060"/>
            <a:ext cx="524096" cy="147637"/>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208</a:t>
            </a:r>
            <a:endParaRPr lang="en-US" sz="660" dirty="0"/>
          </a:p>
        </p:txBody>
      </p:sp>
      <p:sp>
        <p:nvSpPr>
          <p:cNvPr id="72" name="Text 69"/>
          <p:cNvSpPr/>
          <p:nvPr/>
        </p:nvSpPr>
        <p:spPr>
          <a:xfrm>
            <a:off x="4774138" y="1443060"/>
            <a:ext cx="532220" cy="147637"/>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197</a:t>
            </a:r>
            <a:endParaRPr lang="en-US" sz="660" dirty="0"/>
          </a:p>
        </p:txBody>
      </p:sp>
      <p:sp>
        <p:nvSpPr>
          <p:cNvPr id="73" name="Text 70"/>
          <p:cNvSpPr/>
          <p:nvPr/>
        </p:nvSpPr>
        <p:spPr>
          <a:xfrm>
            <a:off x="5290856" y="1443060"/>
            <a:ext cx="549082" cy="147637"/>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210</a:t>
            </a:r>
            <a:endParaRPr lang="en-US" sz="660" dirty="0"/>
          </a:p>
        </p:txBody>
      </p:sp>
      <p:sp>
        <p:nvSpPr>
          <p:cNvPr id="74" name="Text 71"/>
          <p:cNvSpPr/>
          <p:nvPr/>
        </p:nvSpPr>
        <p:spPr>
          <a:xfrm>
            <a:off x="5823945" y="1443060"/>
            <a:ext cx="520110" cy="147637"/>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222</a:t>
            </a:r>
            <a:endParaRPr lang="en-US" sz="660" dirty="0"/>
          </a:p>
        </p:txBody>
      </p:sp>
      <p:sp>
        <p:nvSpPr>
          <p:cNvPr id="75" name="Text 72"/>
          <p:cNvSpPr/>
          <p:nvPr/>
        </p:nvSpPr>
        <p:spPr>
          <a:xfrm>
            <a:off x="3245414" y="1590698"/>
            <a:ext cx="527161"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76" name="Text 73"/>
          <p:cNvSpPr/>
          <p:nvPr/>
        </p:nvSpPr>
        <p:spPr>
          <a:xfrm>
            <a:off x="3757221" y="1590698"/>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195</a:t>
            </a:r>
            <a:endParaRPr lang="en-US" sz="660" dirty="0"/>
          </a:p>
        </p:txBody>
      </p:sp>
      <p:sp>
        <p:nvSpPr>
          <p:cNvPr id="77" name="Text 74"/>
          <p:cNvSpPr/>
          <p:nvPr/>
        </p:nvSpPr>
        <p:spPr>
          <a:xfrm>
            <a:off x="4265307" y="1590698"/>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189</a:t>
            </a:r>
            <a:endParaRPr lang="en-US" sz="660" dirty="0"/>
          </a:p>
        </p:txBody>
      </p:sp>
      <p:sp>
        <p:nvSpPr>
          <p:cNvPr id="78" name="Text 75"/>
          <p:cNvSpPr/>
          <p:nvPr/>
        </p:nvSpPr>
        <p:spPr>
          <a:xfrm>
            <a:off x="4774138" y="1590698"/>
            <a:ext cx="53222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157</a:t>
            </a:r>
            <a:endParaRPr lang="en-US" sz="660" dirty="0"/>
          </a:p>
        </p:txBody>
      </p:sp>
      <p:sp>
        <p:nvSpPr>
          <p:cNvPr id="79" name="Text 76"/>
          <p:cNvSpPr/>
          <p:nvPr/>
        </p:nvSpPr>
        <p:spPr>
          <a:xfrm>
            <a:off x="5290856" y="1590698"/>
            <a:ext cx="549082"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161</a:t>
            </a:r>
            <a:endParaRPr lang="en-US" sz="660" dirty="0"/>
          </a:p>
        </p:txBody>
      </p:sp>
      <p:sp>
        <p:nvSpPr>
          <p:cNvPr id="80" name="Text 77"/>
          <p:cNvSpPr/>
          <p:nvPr/>
        </p:nvSpPr>
        <p:spPr>
          <a:xfrm>
            <a:off x="5823945" y="1590698"/>
            <a:ext cx="52011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175</a:t>
            </a:r>
            <a:endParaRPr lang="en-US" sz="660" dirty="0"/>
          </a:p>
        </p:txBody>
      </p:sp>
      <p:sp>
        <p:nvSpPr>
          <p:cNvPr id="81" name="Text 78"/>
          <p:cNvSpPr/>
          <p:nvPr/>
        </p:nvSpPr>
        <p:spPr>
          <a:xfrm>
            <a:off x="3245414" y="1743098"/>
            <a:ext cx="527161"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155</a:t>
            </a:r>
            <a:endParaRPr lang="en-US" sz="660" dirty="0"/>
          </a:p>
        </p:txBody>
      </p:sp>
      <p:sp>
        <p:nvSpPr>
          <p:cNvPr id="82" name="Text 79"/>
          <p:cNvSpPr/>
          <p:nvPr/>
        </p:nvSpPr>
        <p:spPr>
          <a:xfrm>
            <a:off x="3757221" y="1743098"/>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175</a:t>
            </a:r>
            <a:endParaRPr lang="en-US" sz="660" dirty="0"/>
          </a:p>
        </p:txBody>
      </p:sp>
      <p:sp>
        <p:nvSpPr>
          <p:cNvPr id="83" name="Text 80"/>
          <p:cNvSpPr/>
          <p:nvPr/>
        </p:nvSpPr>
        <p:spPr>
          <a:xfrm>
            <a:off x="4265307" y="1743098"/>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178</a:t>
            </a:r>
            <a:endParaRPr lang="en-US" sz="660" dirty="0"/>
          </a:p>
        </p:txBody>
      </p:sp>
      <p:sp>
        <p:nvSpPr>
          <p:cNvPr id="84" name="Text 81"/>
          <p:cNvSpPr/>
          <p:nvPr/>
        </p:nvSpPr>
        <p:spPr>
          <a:xfrm>
            <a:off x="4774138" y="1743098"/>
            <a:ext cx="53222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147</a:t>
            </a:r>
            <a:endParaRPr lang="en-US" sz="660" dirty="0"/>
          </a:p>
        </p:txBody>
      </p:sp>
      <p:sp>
        <p:nvSpPr>
          <p:cNvPr id="85" name="Text 82"/>
          <p:cNvSpPr/>
          <p:nvPr/>
        </p:nvSpPr>
        <p:spPr>
          <a:xfrm>
            <a:off x="5290856" y="1743098"/>
            <a:ext cx="549082"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86" name="Text 83"/>
          <p:cNvSpPr/>
          <p:nvPr/>
        </p:nvSpPr>
        <p:spPr>
          <a:xfrm>
            <a:off x="5823945" y="1743098"/>
            <a:ext cx="52011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153</a:t>
            </a:r>
            <a:endParaRPr lang="en-US" sz="660" dirty="0"/>
          </a:p>
        </p:txBody>
      </p:sp>
      <p:sp>
        <p:nvSpPr>
          <p:cNvPr id="87" name="Text 84"/>
          <p:cNvSpPr/>
          <p:nvPr/>
        </p:nvSpPr>
        <p:spPr>
          <a:xfrm>
            <a:off x="6328907" y="1743098"/>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952</a:t>
            </a:r>
            <a:endParaRPr lang="en-US" sz="660" dirty="0"/>
          </a:p>
        </p:txBody>
      </p:sp>
      <p:sp>
        <p:nvSpPr>
          <p:cNvPr id="88" name="Text 85"/>
          <p:cNvSpPr/>
          <p:nvPr/>
        </p:nvSpPr>
        <p:spPr>
          <a:xfrm>
            <a:off x="3245414" y="1895498"/>
            <a:ext cx="527161"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151</a:t>
            </a:r>
            <a:endParaRPr lang="en-US" sz="660" dirty="0"/>
          </a:p>
        </p:txBody>
      </p:sp>
      <p:sp>
        <p:nvSpPr>
          <p:cNvPr id="89" name="Text 86"/>
          <p:cNvSpPr/>
          <p:nvPr/>
        </p:nvSpPr>
        <p:spPr>
          <a:xfrm>
            <a:off x="3757221" y="1895498"/>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188</a:t>
            </a:r>
            <a:endParaRPr lang="en-US" sz="660" dirty="0"/>
          </a:p>
        </p:txBody>
      </p:sp>
      <p:sp>
        <p:nvSpPr>
          <p:cNvPr id="90" name="Text 87"/>
          <p:cNvSpPr/>
          <p:nvPr/>
        </p:nvSpPr>
        <p:spPr>
          <a:xfrm>
            <a:off x="4265307" y="1895498"/>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169</a:t>
            </a:r>
            <a:endParaRPr lang="en-US" sz="660" dirty="0"/>
          </a:p>
        </p:txBody>
      </p:sp>
      <p:sp>
        <p:nvSpPr>
          <p:cNvPr id="91" name="Text 88"/>
          <p:cNvSpPr/>
          <p:nvPr/>
        </p:nvSpPr>
        <p:spPr>
          <a:xfrm>
            <a:off x="4774138" y="1895498"/>
            <a:ext cx="53222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148</a:t>
            </a:r>
            <a:endParaRPr lang="en-US" sz="660" dirty="0"/>
          </a:p>
        </p:txBody>
      </p:sp>
      <p:sp>
        <p:nvSpPr>
          <p:cNvPr id="92" name="Text 89"/>
          <p:cNvSpPr/>
          <p:nvPr/>
        </p:nvSpPr>
        <p:spPr>
          <a:xfrm>
            <a:off x="5290856" y="1895498"/>
            <a:ext cx="549082"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144</a:t>
            </a:r>
            <a:endParaRPr lang="en-US" sz="660" dirty="0"/>
          </a:p>
        </p:txBody>
      </p:sp>
      <p:sp>
        <p:nvSpPr>
          <p:cNvPr id="93" name="Text 90"/>
          <p:cNvSpPr/>
          <p:nvPr/>
        </p:nvSpPr>
        <p:spPr>
          <a:xfrm>
            <a:off x="5823945" y="1895498"/>
            <a:ext cx="52011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135</a:t>
            </a:r>
            <a:endParaRPr lang="en-US" sz="660" dirty="0"/>
          </a:p>
        </p:txBody>
      </p:sp>
      <p:sp>
        <p:nvSpPr>
          <p:cNvPr id="94" name="Text 91"/>
          <p:cNvSpPr/>
          <p:nvPr/>
        </p:nvSpPr>
        <p:spPr>
          <a:xfrm>
            <a:off x="6328907" y="1895498"/>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935</a:t>
            </a:r>
            <a:endParaRPr lang="en-US" sz="660" dirty="0"/>
          </a:p>
        </p:txBody>
      </p:sp>
      <p:sp>
        <p:nvSpPr>
          <p:cNvPr id="95" name="Text 92"/>
          <p:cNvSpPr/>
          <p:nvPr/>
        </p:nvSpPr>
        <p:spPr>
          <a:xfrm>
            <a:off x="3245414" y="2047898"/>
            <a:ext cx="527161"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167</a:t>
            </a:r>
            <a:endParaRPr lang="en-US" sz="660" dirty="0"/>
          </a:p>
        </p:txBody>
      </p:sp>
      <p:sp>
        <p:nvSpPr>
          <p:cNvPr id="96" name="Text 93"/>
          <p:cNvSpPr/>
          <p:nvPr/>
        </p:nvSpPr>
        <p:spPr>
          <a:xfrm>
            <a:off x="3757221" y="2047898"/>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97" name="Text 94"/>
          <p:cNvSpPr/>
          <p:nvPr/>
        </p:nvSpPr>
        <p:spPr>
          <a:xfrm>
            <a:off x="4265307" y="2047898"/>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169</a:t>
            </a:r>
            <a:endParaRPr lang="en-US" sz="660" dirty="0"/>
          </a:p>
        </p:txBody>
      </p:sp>
      <p:sp>
        <p:nvSpPr>
          <p:cNvPr id="98" name="Text 95"/>
          <p:cNvSpPr/>
          <p:nvPr/>
        </p:nvSpPr>
        <p:spPr>
          <a:xfrm>
            <a:off x="4774138" y="2047898"/>
            <a:ext cx="53222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146</a:t>
            </a:r>
            <a:endParaRPr lang="en-US" sz="660" dirty="0"/>
          </a:p>
        </p:txBody>
      </p:sp>
      <p:sp>
        <p:nvSpPr>
          <p:cNvPr id="99" name="Text 96"/>
          <p:cNvSpPr/>
          <p:nvPr/>
        </p:nvSpPr>
        <p:spPr>
          <a:xfrm>
            <a:off x="5290856" y="2047898"/>
            <a:ext cx="549082"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100" name="Text 97"/>
          <p:cNvSpPr/>
          <p:nvPr/>
        </p:nvSpPr>
        <p:spPr>
          <a:xfrm>
            <a:off x="5823945" y="2047898"/>
            <a:ext cx="52011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145</a:t>
            </a:r>
            <a:endParaRPr lang="en-US" sz="660" dirty="0"/>
          </a:p>
        </p:txBody>
      </p:sp>
      <p:sp>
        <p:nvSpPr>
          <p:cNvPr id="101" name="Text 98"/>
          <p:cNvSpPr/>
          <p:nvPr/>
        </p:nvSpPr>
        <p:spPr>
          <a:xfrm>
            <a:off x="6328907" y="2047898"/>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925</a:t>
            </a:r>
            <a:endParaRPr lang="en-US" sz="660" dirty="0"/>
          </a:p>
        </p:txBody>
      </p:sp>
      <p:sp>
        <p:nvSpPr>
          <p:cNvPr id="102" name="Text 99"/>
          <p:cNvSpPr/>
          <p:nvPr/>
        </p:nvSpPr>
        <p:spPr>
          <a:xfrm>
            <a:off x="3245414" y="2200298"/>
            <a:ext cx="527161" cy="142875"/>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154</a:t>
            </a:r>
            <a:endParaRPr lang="en-US" sz="660" dirty="0"/>
          </a:p>
        </p:txBody>
      </p:sp>
      <p:sp>
        <p:nvSpPr>
          <p:cNvPr id="103" name="Text 100"/>
          <p:cNvSpPr/>
          <p:nvPr/>
        </p:nvSpPr>
        <p:spPr>
          <a:xfrm>
            <a:off x="3757221" y="2200298"/>
            <a:ext cx="523329" cy="142875"/>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180</a:t>
            </a:r>
            <a:endParaRPr lang="en-US" sz="660" dirty="0"/>
          </a:p>
        </p:txBody>
      </p:sp>
      <p:sp>
        <p:nvSpPr>
          <p:cNvPr id="104" name="Text 101"/>
          <p:cNvSpPr/>
          <p:nvPr/>
        </p:nvSpPr>
        <p:spPr>
          <a:xfrm>
            <a:off x="4265307" y="2200298"/>
            <a:ext cx="524096" cy="142875"/>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168</a:t>
            </a:r>
            <a:endParaRPr lang="en-US" sz="660" dirty="0"/>
          </a:p>
        </p:txBody>
      </p:sp>
      <p:sp>
        <p:nvSpPr>
          <p:cNvPr id="105" name="Text 102"/>
          <p:cNvSpPr/>
          <p:nvPr/>
        </p:nvSpPr>
        <p:spPr>
          <a:xfrm>
            <a:off x="4774138" y="2200298"/>
            <a:ext cx="532220" cy="142875"/>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06" name="Text 103"/>
          <p:cNvSpPr/>
          <p:nvPr/>
        </p:nvSpPr>
        <p:spPr>
          <a:xfrm>
            <a:off x="5823945" y="2200298"/>
            <a:ext cx="520110" cy="142875"/>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167</a:t>
            </a:r>
            <a:endParaRPr lang="en-US" sz="660" dirty="0"/>
          </a:p>
        </p:txBody>
      </p:sp>
      <p:sp>
        <p:nvSpPr>
          <p:cNvPr id="107" name="Text 104"/>
          <p:cNvSpPr/>
          <p:nvPr/>
        </p:nvSpPr>
        <p:spPr>
          <a:xfrm>
            <a:off x="6328907" y="2200298"/>
            <a:ext cx="642895" cy="142875"/>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886</a:t>
            </a:r>
            <a:endParaRPr lang="en-US" sz="660" dirty="0"/>
          </a:p>
        </p:txBody>
      </p:sp>
      <p:sp>
        <p:nvSpPr>
          <p:cNvPr id="108" name="Text 105"/>
          <p:cNvSpPr/>
          <p:nvPr/>
        </p:nvSpPr>
        <p:spPr>
          <a:xfrm>
            <a:off x="3245414" y="2343173"/>
            <a:ext cx="527161"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163</a:t>
            </a:r>
            <a:endParaRPr lang="en-US" sz="660" dirty="0"/>
          </a:p>
        </p:txBody>
      </p:sp>
      <p:sp>
        <p:nvSpPr>
          <p:cNvPr id="109" name="Text 106"/>
          <p:cNvSpPr/>
          <p:nvPr/>
        </p:nvSpPr>
        <p:spPr>
          <a:xfrm>
            <a:off x="3757221" y="2343173"/>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176</a:t>
            </a:r>
            <a:endParaRPr lang="en-US" sz="660" dirty="0"/>
          </a:p>
        </p:txBody>
      </p:sp>
      <p:sp>
        <p:nvSpPr>
          <p:cNvPr id="110" name="Text 107"/>
          <p:cNvSpPr/>
          <p:nvPr/>
        </p:nvSpPr>
        <p:spPr>
          <a:xfrm>
            <a:off x="4265307" y="2343173"/>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111" name="Text 108"/>
          <p:cNvSpPr/>
          <p:nvPr/>
        </p:nvSpPr>
        <p:spPr>
          <a:xfrm>
            <a:off x="4774138" y="2343173"/>
            <a:ext cx="53222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145</a:t>
            </a:r>
            <a:endParaRPr lang="en-US" sz="660" dirty="0"/>
          </a:p>
        </p:txBody>
      </p:sp>
      <p:sp>
        <p:nvSpPr>
          <p:cNvPr id="112" name="Text 109"/>
          <p:cNvSpPr/>
          <p:nvPr/>
        </p:nvSpPr>
        <p:spPr>
          <a:xfrm>
            <a:off x="5290856" y="2343173"/>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123</a:t>
            </a:r>
            <a:endParaRPr lang="en-US" sz="696" dirty="0"/>
          </a:p>
        </p:txBody>
      </p:sp>
      <p:sp>
        <p:nvSpPr>
          <p:cNvPr id="113" name="Text 110"/>
          <p:cNvSpPr/>
          <p:nvPr/>
        </p:nvSpPr>
        <p:spPr>
          <a:xfrm>
            <a:off x="5823945" y="23431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129</a:t>
            </a:r>
            <a:endParaRPr lang="en-US" sz="696" dirty="0"/>
          </a:p>
        </p:txBody>
      </p:sp>
      <p:sp>
        <p:nvSpPr>
          <p:cNvPr id="114" name="Text 111"/>
          <p:cNvSpPr/>
          <p:nvPr/>
        </p:nvSpPr>
        <p:spPr>
          <a:xfrm>
            <a:off x="6328907" y="23431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885</a:t>
            </a:r>
            <a:endParaRPr lang="en-US" sz="660" dirty="0"/>
          </a:p>
        </p:txBody>
      </p:sp>
      <p:sp>
        <p:nvSpPr>
          <p:cNvPr id="115" name="Text 112"/>
          <p:cNvSpPr/>
          <p:nvPr/>
        </p:nvSpPr>
        <p:spPr>
          <a:xfrm>
            <a:off x="3245414" y="2495573"/>
            <a:ext cx="527161"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163</a:t>
            </a:r>
            <a:endParaRPr lang="en-US" sz="660" dirty="0"/>
          </a:p>
        </p:txBody>
      </p:sp>
      <p:sp>
        <p:nvSpPr>
          <p:cNvPr id="116" name="Text 113"/>
          <p:cNvSpPr/>
          <p:nvPr/>
        </p:nvSpPr>
        <p:spPr>
          <a:xfrm>
            <a:off x="3757221" y="2495573"/>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137</a:t>
            </a:r>
            <a:endParaRPr lang="en-US" sz="660" dirty="0"/>
          </a:p>
        </p:txBody>
      </p:sp>
      <p:sp>
        <p:nvSpPr>
          <p:cNvPr id="117" name="Text 114"/>
          <p:cNvSpPr/>
          <p:nvPr/>
        </p:nvSpPr>
        <p:spPr>
          <a:xfrm>
            <a:off x="4265307" y="2495573"/>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152</a:t>
            </a:r>
            <a:endParaRPr lang="en-US" sz="660" dirty="0"/>
          </a:p>
        </p:txBody>
      </p:sp>
      <p:sp>
        <p:nvSpPr>
          <p:cNvPr id="118" name="Text 115"/>
          <p:cNvSpPr/>
          <p:nvPr/>
        </p:nvSpPr>
        <p:spPr>
          <a:xfrm>
            <a:off x="4774138" y="2495573"/>
            <a:ext cx="53222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141</a:t>
            </a:r>
            <a:endParaRPr lang="en-US" sz="660" dirty="0"/>
          </a:p>
        </p:txBody>
      </p:sp>
      <p:sp>
        <p:nvSpPr>
          <p:cNvPr id="119" name="Text 116"/>
          <p:cNvSpPr/>
          <p:nvPr/>
        </p:nvSpPr>
        <p:spPr>
          <a:xfrm>
            <a:off x="5290856" y="2495573"/>
            <a:ext cx="549082"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20" name="Text 117"/>
          <p:cNvSpPr/>
          <p:nvPr/>
        </p:nvSpPr>
        <p:spPr>
          <a:xfrm>
            <a:off x="5823945" y="24955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132</a:t>
            </a:r>
            <a:endParaRPr lang="en-US" sz="696" dirty="0"/>
          </a:p>
        </p:txBody>
      </p:sp>
      <p:sp>
        <p:nvSpPr>
          <p:cNvPr id="121" name="Text 118"/>
          <p:cNvSpPr/>
          <p:nvPr/>
        </p:nvSpPr>
        <p:spPr>
          <a:xfrm>
            <a:off x="6328907" y="24955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865</a:t>
            </a:r>
            <a:endParaRPr lang="en-US" sz="660" dirty="0"/>
          </a:p>
        </p:txBody>
      </p:sp>
      <p:sp>
        <p:nvSpPr>
          <p:cNvPr id="122" name="Text 119"/>
          <p:cNvSpPr/>
          <p:nvPr/>
        </p:nvSpPr>
        <p:spPr>
          <a:xfrm>
            <a:off x="3245414" y="2647973"/>
            <a:ext cx="527161"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23" name="Text 120"/>
          <p:cNvSpPr/>
          <p:nvPr/>
        </p:nvSpPr>
        <p:spPr>
          <a:xfrm>
            <a:off x="3757221" y="2647973"/>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24" name="Text 121"/>
          <p:cNvSpPr/>
          <p:nvPr/>
        </p:nvSpPr>
        <p:spPr>
          <a:xfrm>
            <a:off x="4265307" y="2647973"/>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156</a:t>
            </a:r>
            <a:endParaRPr lang="en-US" sz="660" dirty="0"/>
          </a:p>
        </p:txBody>
      </p:sp>
      <p:sp>
        <p:nvSpPr>
          <p:cNvPr id="125" name="Text 122"/>
          <p:cNvSpPr/>
          <p:nvPr/>
        </p:nvSpPr>
        <p:spPr>
          <a:xfrm>
            <a:off x="4774138" y="2647973"/>
            <a:ext cx="53222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138</a:t>
            </a:r>
            <a:endParaRPr lang="en-US" sz="696" dirty="0"/>
          </a:p>
        </p:txBody>
      </p:sp>
      <p:sp>
        <p:nvSpPr>
          <p:cNvPr id="126" name="Text 123"/>
          <p:cNvSpPr/>
          <p:nvPr/>
        </p:nvSpPr>
        <p:spPr>
          <a:xfrm>
            <a:off x="5290856" y="2647973"/>
            <a:ext cx="549082"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27" name="Text 124"/>
          <p:cNvSpPr/>
          <p:nvPr/>
        </p:nvSpPr>
        <p:spPr>
          <a:xfrm>
            <a:off x="5823945" y="26479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123</a:t>
            </a:r>
            <a:endParaRPr lang="en-US" sz="696" dirty="0"/>
          </a:p>
        </p:txBody>
      </p:sp>
      <p:sp>
        <p:nvSpPr>
          <p:cNvPr id="128" name="Text 125"/>
          <p:cNvSpPr/>
          <p:nvPr/>
        </p:nvSpPr>
        <p:spPr>
          <a:xfrm>
            <a:off x="6328907" y="26479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829</a:t>
            </a:r>
            <a:endParaRPr lang="en-US" sz="660" dirty="0"/>
          </a:p>
        </p:txBody>
      </p:sp>
      <p:sp>
        <p:nvSpPr>
          <p:cNvPr id="129" name="Text 126"/>
          <p:cNvSpPr/>
          <p:nvPr/>
        </p:nvSpPr>
        <p:spPr>
          <a:xfrm>
            <a:off x="3245414" y="2800373"/>
            <a:ext cx="527161"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138</a:t>
            </a:r>
            <a:endParaRPr lang="en-US" sz="660" dirty="0"/>
          </a:p>
        </p:txBody>
      </p:sp>
      <p:sp>
        <p:nvSpPr>
          <p:cNvPr id="130" name="Text 127"/>
          <p:cNvSpPr/>
          <p:nvPr/>
        </p:nvSpPr>
        <p:spPr>
          <a:xfrm>
            <a:off x="3757221" y="2800373"/>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31" name="Text 128"/>
          <p:cNvSpPr/>
          <p:nvPr/>
        </p:nvSpPr>
        <p:spPr>
          <a:xfrm>
            <a:off x="4265307" y="2800373"/>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148</a:t>
            </a:r>
            <a:endParaRPr lang="en-US" sz="660" dirty="0"/>
          </a:p>
        </p:txBody>
      </p:sp>
      <p:sp>
        <p:nvSpPr>
          <p:cNvPr id="132" name="Text 129"/>
          <p:cNvSpPr/>
          <p:nvPr/>
        </p:nvSpPr>
        <p:spPr>
          <a:xfrm>
            <a:off x="4774138" y="2800373"/>
            <a:ext cx="53222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143</a:t>
            </a:r>
            <a:endParaRPr lang="en-US" sz="660" dirty="0"/>
          </a:p>
        </p:txBody>
      </p:sp>
      <p:sp>
        <p:nvSpPr>
          <p:cNvPr id="133" name="Text 130"/>
          <p:cNvSpPr/>
          <p:nvPr/>
        </p:nvSpPr>
        <p:spPr>
          <a:xfrm>
            <a:off x="5290856" y="2800373"/>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119</a:t>
            </a:r>
            <a:endParaRPr lang="en-US" sz="696" dirty="0"/>
          </a:p>
        </p:txBody>
      </p:sp>
      <p:sp>
        <p:nvSpPr>
          <p:cNvPr id="134" name="Text 131"/>
          <p:cNvSpPr/>
          <p:nvPr/>
        </p:nvSpPr>
        <p:spPr>
          <a:xfrm>
            <a:off x="6328907" y="28003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769</a:t>
            </a:r>
            <a:endParaRPr lang="en-US" sz="660" dirty="0"/>
          </a:p>
        </p:txBody>
      </p:sp>
      <p:sp>
        <p:nvSpPr>
          <p:cNvPr id="135" name="Text 132"/>
          <p:cNvSpPr/>
          <p:nvPr/>
        </p:nvSpPr>
        <p:spPr>
          <a:xfrm>
            <a:off x="3245414" y="2952773"/>
            <a:ext cx="527161"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131</a:t>
            </a:r>
            <a:endParaRPr lang="en-US" sz="696" dirty="0"/>
          </a:p>
        </p:txBody>
      </p:sp>
      <p:sp>
        <p:nvSpPr>
          <p:cNvPr id="136" name="Text 133"/>
          <p:cNvSpPr/>
          <p:nvPr/>
        </p:nvSpPr>
        <p:spPr>
          <a:xfrm>
            <a:off x="3757221" y="2952773"/>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37" name="Text 134"/>
          <p:cNvSpPr/>
          <p:nvPr/>
        </p:nvSpPr>
        <p:spPr>
          <a:xfrm>
            <a:off x="4265307" y="2952773"/>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38" name="Text 135"/>
          <p:cNvSpPr/>
          <p:nvPr/>
        </p:nvSpPr>
        <p:spPr>
          <a:xfrm>
            <a:off x="4774138" y="2952773"/>
            <a:ext cx="53222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141</a:t>
            </a:r>
            <a:endParaRPr lang="en-US" sz="660" dirty="0"/>
          </a:p>
        </p:txBody>
      </p:sp>
      <p:sp>
        <p:nvSpPr>
          <p:cNvPr id="139" name="Text 136"/>
          <p:cNvSpPr/>
          <p:nvPr/>
        </p:nvSpPr>
        <p:spPr>
          <a:xfrm>
            <a:off x="5290856" y="2952773"/>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100</a:t>
            </a:r>
            <a:endParaRPr lang="en-US" sz="696" dirty="0"/>
          </a:p>
        </p:txBody>
      </p:sp>
      <p:sp>
        <p:nvSpPr>
          <p:cNvPr id="140" name="Text 137"/>
          <p:cNvSpPr/>
          <p:nvPr/>
        </p:nvSpPr>
        <p:spPr>
          <a:xfrm>
            <a:off x="6328907" y="29527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732</a:t>
            </a:r>
            <a:endParaRPr lang="en-US" sz="660" dirty="0"/>
          </a:p>
        </p:txBody>
      </p:sp>
      <p:sp>
        <p:nvSpPr>
          <p:cNvPr id="141" name="Text 138"/>
          <p:cNvSpPr/>
          <p:nvPr/>
        </p:nvSpPr>
        <p:spPr>
          <a:xfrm>
            <a:off x="3245414" y="3105173"/>
            <a:ext cx="527161"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135</a:t>
            </a:r>
            <a:endParaRPr lang="en-US" sz="660" dirty="0"/>
          </a:p>
        </p:txBody>
      </p:sp>
      <p:sp>
        <p:nvSpPr>
          <p:cNvPr id="142" name="Text 139"/>
          <p:cNvSpPr/>
          <p:nvPr/>
        </p:nvSpPr>
        <p:spPr>
          <a:xfrm>
            <a:off x="3757221" y="3105173"/>
            <a:ext cx="523329"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129</a:t>
            </a:r>
            <a:endParaRPr lang="en-US" sz="696" dirty="0"/>
          </a:p>
        </p:txBody>
      </p:sp>
      <p:sp>
        <p:nvSpPr>
          <p:cNvPr id="143" name="Text 140"/>
          <p:cNvSpPr/>
          <p:nvPr/>
        </p:nvSpPr>
        <p:spPr>
          <a:xfrm>
            <a:off x="4774138" y="3105173"/>
            <a:ext cx="53222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135</a:t>
            </a:r>
            <a:endParaRPr lang="en-US" sz="696" dirty="0"/>
          </a:p>
        </p:txBody>
      </p:sp>
      <p:sp>
        <p:nvSpPr>
          <p:cNvPr id="144" name="Text 141"/>
          <p:cNvSpPr/>
          <p:nvPr/>
        </p:nvSpPr>
        <p:spPr>
          <a:xfrm>
            <a:off x="5823945" y="31051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122</a:t>
            </a:r>
            <a:endParaRPr lang="en-US" sz="696" dirty="0"/>
          </a:p>
        </p:txBody>
      </p:sp>
      <p:sp>
        <p:nvSpPr>
          <p:cNvPr id="145" name="Text 142"/>
          <p:cNvSpPr/>
          <p:nvPr/>
        </p:nvSpPr>
        <p:spPr>
          <a:xfrm>
            <a:off x="6328907" y="31051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647</a:t>
            </a:r>
            <a:endParaRPr lang="en-US" sz="660" dirty="0"/>
          </a:p>
        </p:txBody>
      </p:sp>
      <p:sp>
        <p:nvSpPr>
          <p:cNvPr id="146" name="Text 143"/>
          <p:cNvSpPr/>
          <p:nvPr/>
        </p:nvSpPr>
        <p:spPr>
          <a:xfrm>
            <a:off x="3245414" y="3257573"/>
            <a:ext cx="527161"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47" name="Text 144"/>
          <p:cNvSpPr/>
          <p:nvPr/>
        </p:nvSpPr>
        <p:spPr>
          <a:xfrm>
            <a:off x="3757221" y="3257573"/>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149</a:t>
            </a:r>
            <a:endParaRPr lang="en-US" sz="660" dirty="0"/>
          </a:p>
        </p:txBody>
      </p:sp>
      <p:sp>
        <p:nvSpPr>
          <p:cNvPr id="148" name="Text 145"/>
          <p:cNvSpPr/>
          <p:nvPr/>
        </p:nvSpPr>
        <p:spPr>
          <a:xfrm>
            <a:off x="4265307" y="3257573"/>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147</a:t>
            </a:r>
            <a:endParaRPr lang="en-US" sz="660" dirty="0"/>
          </a:p>
        </p:txBody>
      </p:sp>
      <p:sp>
        <p:nvSpPr>
          <p:cNvPr id="149" name="Text 146"/>
          <p:cNvSpPr/>
          <p:nvPr/>
        </p:nvSpPr>
        <p:spPr>
          <a:xfrm>
            <a:off x="6328907" y="32575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633</a:t>
            </a:r>
            <a:endParaRPr lang="en-US" sz="660" dirty="0"/>
          </a:p>
        </p:txBody>
      </p:sp>
      <p:sp>
        <p:nvSpPr>
          <p:cNvPr id="150" name="Text 147"/>
          <p:cNvSpPr/>
          <p:nvPr/>
        </p:nvSpPr>
        <p:spPr>
          <a:xfrm>
            <a:off x="3245414" y="3409973"/>
            <a:ext cx="527161"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127</a:t>
            </a:r>
            <a:endParaRPr lang="en-US" sz="696" dirty="0"/>
          </a:p>
        </p:txBody>
      </p:sp>
      <p:sp>
        <p:nvSpPr>
          <p:cNvPr id="151" name="Text 148"/>
          <p:cNvSpPr/>
          <p:nvPr/>
        </p:nvSpPr>
        <p:spPr>
          <a:xfrm>
            <a:off x="3757221" y="3409973"/>
            <a:ext cx="523329"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142</a:t>
            </a:r>
            <a:endParaRPr lang="en-US" sz="660" dirty="0"/>
          </a:p>
        </p:txBody>
      </p:sp>
      <p:sp>
        <p:nvSpPr>
          <p:cNvPr id="152" name="Text 149"/>
          <p:cNvSpPr/>
          <p:nvPr/>
        </p:nvSpPr>
        <p:spPr>
          <a:xfrm>
            <a:off x="4774138" y="3409973"/>
            <a:ext cx="53222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139</a:t>
            </a:r>
            <a:endParaRPr lang="en-US" sz="696" dirty="0"/>
          </a:p>
        </p:txBody>
      </p:sp>
      <p:sp>
        <p:nvSpPr>
          <p:cNvPr id="153" name="Text 150"/>
          <p:cNvSpPr/>
          <p:nvPr/>
        </p:nvSpPr>
        <p:spPr>
          <a:xfrm>
            <a:off x="6328907" y="34099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622</a:t>
            </a:r>
            <a:endParaRPr lang="en-US" sz="660" dirty="0"/>
          </a:p>
        </p:txBody>
      </p:sp>
      <p:sp>
        <p:nvSpPr>
          <p:cNvPr id="154" name="Text 151"/>
          <p:cNvSpPr/>
          <p:nvPr/>
        </p:nvSpPr>
        <p:spPr>
          <a:xfrm>
            <a:off x="4265307" y="3562373"/>
            <a:ext cx="524096"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157</a:t>
            </a:r>
            <a:endParaRPr lang="en-US" sz="660" dirty="0"/>
          </a:p>
        </p:txBody>
      </p:sp>
      <p:sp>
        <p:nvSpPr>
          <p:cNvPr id="155" name="Text 152"/>
          <p:cNvSpPr/>
          <p:nvPr/>
        </p:nvSpPr>
        <p:spPr>
          <a:xfrm>
            <a:off x="4774138" y="3562373"/>
            <a:ext cx="53222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140</a:t>
            </a:r>
            <a:endParaRPr lang="en-US" sz="660" dirty="0"/>
          </a:p>
        </p:txBody>
      </p:sp>
      <p:sp>
        <p:nvSpPr>
          <p:cNvPr id="156" name="Text 153"/>
          <p:cNvSpPr/>
          <p:nvPr/>
        </p:nvSpPr>
        <p:spPr>
          <a:xfrm>
            <a:off x="5290856" y="3562373"/>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129</a:t>
            </a:r>
            <a:endParaRPr lang="en-US" sz="696" dirty="0"/>
          </a:p>
        </p:txBody>
      </p:sp>
      <p:sp>
        <p:nvSpPr>
          <p:cNvPr id="157" name="Text 154"/>
          <p:cNvSpPr/>
          <p:nvPr/>
        </p:nvSpPr>
        <p:spPr>
          <a:xfrm>
            <a:off x="5823945" y="35623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137</a:t>
            </a:r>
            <a:endParaRPr lang="en-US" sz="696" dirty="0"/>
          </a:p>
        </p:txBody>
      </p:sp>
      <p:sp>
        <p:nvSpPr>
          <p:cNvPr id="158" name="Text 155"/>
          <p:cNvSpPr/>
          <p:nvPr/>
        </p:nvSpPr>
        <p:spPr>
          <a:xfrm>
            <a:off x="6328907" y="35623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602</a:t>
            </a:r>
            <a:endParaRPr lang="en-US" sz="660" dirty="0"/>
          </a:p>
        </p:txBody>
      </p:sp>
      <p:sp>
        <p:nvSpPr>
          <p:cNvPr id="159" name="Text 156"/>
          <p:cNvSpPr/>
          <p:nvPr/>
        </p:nvSpPr>
        <p:spPr>
          <a:xfrm>
            <a:off x="4265307" y="3714773"/>
            <a:ext cx="524096"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134</a:t>
            </a:r>
            <a:endParaRPr lang="en-US" sz="696" dirty="0"/>
          </a:p>
        </p:txBody>
      </p:sp>
      <p:sp>
        <p:nvSpPr>
          <p:cNvPr id="160" name="Text 157"/>
          <p:cNvSpPr/>
          <p:nvPr/>
        </p:nvSpPr>
        <p:spPr>
          <a:xfrm>
            <a:off x="5290856" y="3714773"/>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104</a:t>
            </a:r>
            <a:endParaRPr lang="en-US" sz="696" dirty="0"/>
          </a:p>
        </p:txBody>
      </p:sp>
      <p:sp>
        <p:nvSpPr>
          <p:cNvPr id="161" name="Text 158"/>
          <p:cNvSpPr/>
          <p:nvPr/>
        </p:nvSpPr>
        <p:spPr>
          <a:xfrm>
            <a:off x="5823945" y="37147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105</a:t>
            </a:r>
            <a:endParaRPr lang="en-US" sz="696" dirty="0"/>
          </a:p>
        </p:txBody>
      </p:sp>
      <p:sp>
        <p:nvSpPr>
          <p:cNvPr id="162" name="Text 159"/>
          <p:cNvSpPr/>
          <p:nvPr/>
        </p:nvSpPr>
        <p:spPr>
          <a:xfrm>
            <a:off x="6328907" y="37147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451</a:t>
            </a:r>
            <a:endParaRPr lang="en-US" sz="660" dirty="0"/>
          </a:p>
        </p:txBody>
      </p:sp>
      <p:sp>
        <p:nvSpPr>
          <p:cNvPr id="163" name="Text 160"/>
          <p:cNvSpPr/>
          <p:nvPr/>
        </p:nvSpPr>
        <p:spPr>
          <a:xfrm>
            <a:off x="5290856" y="3867173"/>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101</a:t>
            </a:r>
            <a:endParaRPr lang="en-US" sz="696" dirty="0"/>
          </a:p>
        </p:txBody>
      </p:sp>
      <p:sp>
        <p:nvSpPr>
          <p:cNvPr id="164" name="Text 161"/>
          <p:cNvSpPr/>
          <p:nvPr/>
        </p:nvSpPr>
        <p:spPr>
          <a:xfrm>
            <a:off x="5823945" y="38671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119</a:t>
            </a:r>
            <a:endParaRPr lang="en-US" sz="696" dirty="0"/>
          </a:p>
        </p:txBody>
      </p:sp>
      <p:sp>
        <p:nvSpPr>
          <p:cNvPr id="165" name="Text 162"/>
          <p:cNvSpPr/>
          <p:nvPr/>
        </p:nvSpPr>
        <p:spPr>
          <a:xfrm>
            <a:off x="6328907" y="38671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220</a:t>
            </a:r>
            <a:endParaRPr lang="en-US" sz="660" dirty="0"/>
          </a:p>
        </p:txBody>
      </p:sp>
      <p:sp>
        <p:nvSpPr>
          <p:cNvPr id="166" name="Text 163"/>
          <p:cNvSpPr/>
          <p:nvPr/>
        </p:nvSpPr>
        <p:spPr>
          <a:xfrm>
            <a:off x="4265307" y="4019573"/>
            <a:ext cx="524096"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109</a:t>
            </a:r>
            <a:endParaRPr lang="en-US" sz="696" dirty="0"/>
          </a:p>
        </p:txBody>
      </p:sp>
      <p:sp>
        <p:nvSpPr>
          <p:cNvPr id="167" name="Text 164"/>
          <p:cNvSpPr/>
          <p:nvPr/>
        </p:nvSpPr>
        <p:spPr>
          <a:xfrm>
            <a:off x="6328907" y="40195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198</a:t>
            </a:r>
            <a:endParaRPr lang="en-US" sz="660" dirty="0"/>
          </a:p>
        </p:txBody>
      </p:sp>
      <p:sp>
        <p:nvSpPr>
          <p:cNvPr id="168" name="Text 165"/>
          <p:cNvSpPr/>
          <p:nvPr/>
        </p:nvSpPr>
        <p:spPr>
          <a:xfrm>
            <a:off x="6328907" y="4171973"/>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140</a:t>
            </a:r>
            <a:endParaRPr lang="en-US" sz="660" dirty="0"/>
          </a:p>
        </p:txBody>
      </p:sp>
      <p:sp>
        <p:nvSpPr>
          <p:cNvPr id="169" name="Text 166"/>
          <p:cNvSpPr/>
          <p:nvPr/>
        </p:nvSpPr>
        <p:spPr>
          <a:xfrm>
            <a:off x="3245414" y="4324373"/>
            <a:ext cx="527161" cy="142875"/>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136</a:t>
            </a:r>
            <a:endParaRPr lang="en-US" sz="660" dirty="0"/>
          </a:p>
        </p:txBody>
      </p:sp>
      <p:sp>
        <p:nvSpPr>
          <p:cNvPr id="170" name="Text 167"/>
          <p:cNvSpPr/>
          <p:nvPr/>
        </p:nvSpPr>
        <p:spPr>
          <a:xfrm>
            <a:off x="6328907" y="4324373"/>
            <a:ext cx="642895" cy="142875"/>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136</a:t>
            </a:r>
            <a:endParaRPr lang="en-US" sz="660" dirty="0"/>
          </a:p>
        </p:txBody>
      </p:sp>
      <p:sp>
        <p:nvSpPr>
          <p:cNvPr id="171" name="Text 168"/>
          <p:cNvSpPr/>
          <p:nvPr/>
        </p:nvSpPr>
        <p:spPr>
          <a:xfrm>
            <a:off x="7448364" y="2697909"/>
            <a:ext cx="530380" cy="228600"/>
          </a:xfrm>
          <a:prstGeom prst="rect">
            <a:avLst/>
          </a:prstGeom>
          <a:noFill/>
          <a:ln/>
        </p:spPr>
        <p:txBody>
          <a:bodyPr wrap="square" lIns="47625" tIns="114300" rIns="114300" bIns="47625" rtlCol="0" anchor="ctr"/>
          <a:lstStyle/>
          <a:p>
            <a:pPr marL="0" indent="0" algn="l">
              <a:buNone/>
            </a:pPr>
            <a:r>
              <a:rPr lang="en-US" sz="888" b="1" dirty="0">
                <a:solidFill>
                  <a:srgbClr val="FFFFFF"/>
                </a:solidFill>
                <a:latin typeface="Raleway" pitchFamily="34" charset="0"/>
                <a:ea typeface="Raleway" pitchFamily="34" charset="-122"/>
                <a:cs typeface="Raleway" pitchFamily="34" charset="-120"/>
              </a:rPr>
              <a:t>Mes</a:t>
            </a:r>
            <a:endParaRPr lang="en-US" sz="888" dirty="0"/>
          </a:p>
        </p:txBody>
      </p:sp>
      <p:sp>
        <p:nvSpPr>
          <p:cNvPr id="172" name="Text 169"/>
          <p:cNvSpPr/>
          <p:nvPr/>
        </p:nvSpPr>
        <p:spPr>
          <a:xfrm>
            <a:off x="7448364" y="2926509"/>
            <a:ext cx="530380" cy="214313"/>
          </a:xfrm>
          <a:prstGeom prst="rect">
            <a:avLst/>
          </a:prstGeom>
          <a:noFill/>
          <a:ln/>
        </p:spPr>
        <p:txBody>
          <a:bodyPr wrap="square" lIns="38100" tIns="114300" rIns="114300" bIns="38100" rtlCol="0" anchor="ctr"/>
          <a:lstStyle/>
          <a:p>
            <a:pPr marL="0" indent="0" algn="l">
              <a:buNone/>
            </a:pPr>
            <a:r>
              <a:rPr lang="en-US" sz="888" b="1" dirty="0">
                <a:solidFill>
                  <a:srgbClr val="333333"/>
                </a:solidFill>
                <a:latin typeface="Raleway" pitchFamily="34" charset="0"/>
                <a:ea typeface="Raleway" pitchFamily="34" charset="-122"/>
                <a:cs typeface="Raleway" pitchFamily="34" charset="-120"/>
              </a:rPr>
              <a:t>Ene</a:t>
            </a:r>
            <a:endParaRPr lang="en-US" sz="888" dirty="0"/>
          </a:p>
        </p:txBody>
      </p:sp>
      <p:sp>
        <p:nvSpPr>
          <p:cNvPr id="173" name="Text 170"/>
          <p:cNvSpPr/>
          <p:nvPr/>
        </p:nvSpPr>
        <p:spPr>
          <a:xfrm>
            <a:off x="7448364" y="3140822"/>
            <a:ext cx="530380" cy="219075"/>
          </a:xfrm>
          <a:prstGeom prst="rect">
            <a:avLst/>
          </a:prstGeom>
          <a:noFill/>
          <a:ln/>
        </p:spPr>
        <p:txBody>
          <a:bodyPr wrap="square" lIns="38100" tIns="114300" rIns="114300" bIns="38100" rtlCol="0" anchor="ctr"/>
          <a:lstStyle/>
          <a:p>
            <a:pPr marL="0" indent="0" algn="l">
              <a:buNone/>
            </a:pPr>
            <a:r>
              <a:rPr lang="en-US" sz="888" b="1" dirty="0">
                <a:solidFill>
                  <a:srgbClr val="333333"/>
                </a:solidFill>
                <a:latin typeface="Raleway" pitchFamily="34" charset="0"/>
                <a:ea typeface="Raleway" pitchFamily="34" charset="-122"/>
                <a:cs typeface="Raleway" pitchFamily="34" charset="-120"/>
              </a:rPr>
              <a:t>Feb</a:t>
            </a:r>
            <a:endParaRPr lang="en-US" sz="888" dirty="0"/>
          </a:p>
        </p:txBody>
      </p:sp>
      <p:sp>
        <p:nvSpPr>
          <p:cNvPr id="174" name="Text 171"/>
          <p:cNvSpPr/>
          <p:nvPr/>
        </p:nvSpPr>
        <p:spPr>
          <a:xfrm>
            <a:off x="7448364" y="3359897"/>
            <a:ext cx="530380" cy="219075"/>
          </a:xfrm>
          <a:prstGeom prst="rect">
            <a:avLst/>
          </a:prstGeom>
          <a:noFill/>
          <a:ln/>
        </p:spPr>
        <p:txBody>
          <a:bodyPr wrap="square" lIns="38100" tIns="114300" rIns="114300" bIns="38100" rtlCol="0" anchor="ctr"/>
          <a:lstStyle/>
          <a:p>
            <a:pPr marL="0" indent="0" algn="l">
              <a:buNone/>
            </a:pPr>
            <a:r>
              <a:rPr lang="en-US" sz="888" b="1" dirty="0">
                <a:solidFill>
                  <a:srgbClr val="333333"/>
                </a:solidFill>
                <a:latin typeface="Raleway" pitchFamily="34" charset="0"/>
                <a:ea typeface="Raleway" pitchFamily="34" charset="-122"/>
                <a:cs typeface="Raleway" pitchFamily="34" charset="-120"/>
              </a:rPr>
              <a:t>Mar</a:t>
            </a:r>
            <a:endParaRPr lang="en-US" sz="888" dirty="0"/>
          </a:p>
        </p:txBody>
      </p:sp>
      <p:sp>
        <p:nvSpPr>
          <p:cNvPr id="175" name="Text 172"/>
          <p:cNvSpPr/>
          <p:nvPr/>
        </p:nvSpPr>
        <p:spPr>
          <a:xfrm>
            <a:off x="7448364" y="3578972"/>
            <a:ext cx="530380" cy="219075"/>
          </a:xfrm>
          <a:prstGeom prst="rect">
            <a:avLst/>
          </a:prstGeom>
          <a:noFill/>
          <a:ln/>
        </p:spPr>
        <p:txBody>
          <a:bodyPr wrap="square" lIns="38100" tIns="114300" rIns="114300" bIns="38100" rtlCol="0" anchor="ctr"/>
          <a:lstStyle/>
          <a:p>
            <a:pPr marL="0" indent="0" algn="l">
              <a:buNone/>
            </a:pPr>
            <a:r>
              <a:rPr lang="en-US" sz="888" b="1" dirty="0">
                <a:solidFill>
                  <a:srgbClr val="333333"/>
                </a:solidFill>
                <a:latin typeface="Raleway" pitchFamily="34" charset="0"/>
                <a:ea typeface="Raleway" pitchFamily="34" charset="-122"/>
                <a:cs typeface="Raleway" pitchFamily="34" charset="-120"/>
              </a:rPr>
              <a:t>Abr</a:t>
            </a:r>
            <a:endParaRPr lang="en-US" sz="888" dirty="0"/>
          </a:p>
        </p:txBody>
      </p:sp>
      <p:sp>
        <p:nvSpPr>
          <p:cNvPr id="176" name="Text 173"/>
          <p:cNvSpPr/>
          <p:nvPr/>
        </p:nvSpPr>
        <p:spPr>
          <a:xfrm>
            <a:off x="7448364" y="3798047"/>
            <a:ext cx="530380" cy="219075"/>
          </a:xfrm>
          <a:prstGeom prst="rect">
            <a:avLst/>
          </a:prstGeom>
          <a:noFill/>
          <a:ln/>
        </p:spPr>
        <p:txBody>
          <a:bodyPr wrap="square" lIns="38100" tIns="114300" rIns="114300" bIns="38100" rtlCol="0" anchor="ctr"/>
          <a:lstStyle/>
          <a:p>
            <a:pPr marL="0" indent="0" algn="l">
              <a:buNone/>
            </a:pPr>
            <a:r>
              <a:rPr lang="en-US" sz="888" b="1" dirty="0">
                <a:solidFill>
                  <a:srgbClr val="333333"/>
                </a:solidFill>
                <a:latin typeface="Raleway" pitchFamily="34" charset="0"/>
                <a:ea typeface="Raleway" pitchFamily="34" charset="-122"/>
                <a:cs typeface="Raleway" pitchFamily="34" charset="-120"/>
              </a:rPr>
              <a:t>May</a:t>
            </a:r>
            <a:endParaRPr lang="en-US" sz="888" dirty="0"/>
          </a:p>
        </p:txBody>
      </p:sp>
      <p:sp>
        <p:nvSpPr>
          <p:cNvPr id="177" name="Text 174"/>
          <p:cNvSpPr/>
          <p:nvPr/>
        </p:nvSpPr>
        <p:spPr>
          <a:xfrm>
            <a:off x="7448364" y="4017122"/>
            <a:ext cx="530380" cy="219075"/>
          </a:xfrm>
          <a:prstGeom prst="rect">
            <a:avLst/>
          </a:prstGeom>
          <a:noFill/>
          <a:ln/>
        </p:spPr>
        <p:txBody>
          <a:bodyPr wrap="square" lIns="38100" tIns="114300" rIns="114300" bIns="38100" rtlCol="0" anchor="ctr"/>
          <a:lstStyle/>
          <a:p>
            <a:pPr marL="0" indent="0" algn="l">
              <a:buNone/>
            </a:pPr>
            <a:r>
              <a:rPr lang="en-US" sz="888" b="1" dirty="0">
                <a:solidFill>
                  <a:srgbClr val="333333"/>
                </a:solidFill>
                <a:latin typeface="Raleway" pitchFamily="34" charset="0"/>
                <a:ea typeface="Raleway" pitchFamily="34" charset="-122"/>
                <a:cs typeface="Raleway" pitchFamily="34" charset="-120"/>
              </a:rPr>
              <a:t>Jun</a:t>
            </a:r>
            <a:endParaRPr lang="en-US" sz="888" dirty="0"/>
          </a:p>
        </p:txBody>
      </p:sp>
      <p:sp>
        <p:nvSpPr>
          <p:cNvPr id="178" name="Text 175"/>
          <p:cNvSpPr/>
          <p:nvPr/>
        </p:nvSpPr>
        <p:spPr>
          <a:xfrm>
            <a:off x="7448364" y="1813103"/>
            <a:ext cx="274694" cy="128016"/>
          </a:xfrm>
          <a:prstGeom prst="rect">
            <a:avLst/>
          </a:prstGeom>
          <a:noFill/>
          <a:ln/>
        </p:spPr>
        <p:txBody>
          <a:bodyPr wrap="square" lIns="0" tIns="0" rIns="0" bIns="0" rtlCol="0" anchor="t"/>
          <a:lstStyle/>
          <a:p>
            <a:pPr marL="0" indent="0" algn="ctr">
              <a:buNone/>
            </a:pPr>
            <a:r>
              <a:rPr lang="en-US" sz="696" b="1" dirty="0">
                <a:solidFill>
                  <a:srgbClr val="333333"/>
                </a:solidFill>
                <a:latin typeface="Raleway" pitchFamily="34" charset="0"/>
                <a:ea typeface="Raleway" pitchFamily="34" charset="-122"/>
                <a:cs typeface="Raleway" pitchFamily="34" charset="-120"/>
              </a:rPr>
              <a:t>Ene</a:t>
            </a:r>
            <a:endParaRPr lang="en-US" sz="696" dirty="0"/>
          </a:p>
        </p:txBody>
      </p:sp>
      <p:sp>
        <p:nvSpPr>
          <p:cNvPr id="179" name="Text 176"/>
          <p:cNvSpPr/>
          <p:nvPr/>
        </p:nvSpPr>
        <p:spPr>
          <a:xfrm>
            <a:off x="7791255" y="1813103"/>
            <a:ext cx="274694" cy="128016"/>
          </a:xfrm>
          <a:prstGeom prst="rect">
            <a:avLst/>
          </a:prstGeom>
          <a:noFill/>
          <a:ln/>
        </p:spPr>
        <p:txBody>
          <a:bodyPr wrap="square" lIns="0" tIns="0" rIns="0" bIns="0" rtlCol="0" anchor="t"/>
          <a:lstStyle/>
          <a:p>
            <a:pPr marL="0" indent="0" algn="ctr">
              <a:buNone/>
            </a:pPr>
            <a:r>
              <a:rPr lang="en-US" sz="696" b="1" dirty="0">
                <a:solidFill>
                  <a:srgbClr val="333333"/>
                </a:solidFill>
                <a:latin typeface="Raleway" pitchFamily="34" charset="0"/>
                <a:ea typeface="Raleway" pitchFamily="34" charset="-122"/>
                <a:cs typeface="Raleway" pitchFamily="34" charset="-120"/>
              </a:rPr>
              <a:t>Feb</a:t>
            </a:r>
            <a:endParaRPr lang="en-US" sz="696" dirty="0"/>
          </a:p>
        </p:txBody>
      </p:sp>
      <p:sp>
        <p:nvSpPr>
          <p:cNvPr id="180" name="Text 177"/>
          <p:cNvSpPr/>
          <p:nvPr/>
        </p:nvSpPr>
        <p:spPr>
          <a:xfrm>
            <a:off x="8134147" y="1813103"/>
            <a:ext cx="274694" cy="128016"/>
          </a:xfrm>
          <a:prstGeom prst="rect">
            <a:avLst/>
          </a:prstGeom>
          <a:noFill/>
          <a:ln/>
        </p:spPr>
        <p:txBody>
          <a:bodyPr wrap="square" lIns="0" tIns="0" rIns="0" bIns="0" rtlCol="0" anchor="t"/>
          <a:lstStyle/>
          <a:p>
            <a:pPr marL="0" indent="0" algn="ctr">
              <a:buNone/>
            </a:pPr>
            <a:r>
              <a:rPr lang="en-US" sz="696" b="1" dirty="0">
                <a:solidFill>
                  <a:srgbClr val="333333"/>
                </a:solidFill>
                <a:latin typeface="Raleway" pitchFamily="34" charset="0"/>
                <a:ea typeface="Raleway" pitchFamily="34" charset="-122"/>
                <a:cs typeface="Raleway" pitchFamily="34" charset="-120"/>
              </a:rPr>
              <a:t>Mar</a:t>
            </a:r>
            <a:endParaRPr lang="en-US" sz="696" dirty="0"/>
          </a:p>
        </p:txBody>
      </p:sp>
      <p:sp>
        <p:nvSpPr>
          <p:cNvPr id="181" name="Text 178"/>
          <p:cNvSpPr/>
          <p:nvPr/>
        </p:nvSpPr>
        <p:spPr>
          <a:xfrm>
            <a:off x="8477038" y="1813103"/>
            <a:ext cx="274694" cy="128016"/>
          </a:xfrm>
          <a:prstGeom prst="rect">
            <a:avLst/>
          </a:prstGeom>
          <a:noFill/>
          <a:ln/>
        </p:spPr>
        <p:txBody>
          <a:bodyPr wrap="square" lIns="0" tIns="0" rIns="0" bIns="0" rtlCol="0" anchor="t"/>
          <a:lstStyle/>
          <a:p>
            <a:pPr marL="0" indent="0" algn="ctr">
              <a:buNone/>
            </a:pPr>
            <a:r>
              <a:rPr lang="en-US" sz="696" b="1" dirty="0">
                <a:solidFill>
                  <a:srgbClr val="333333"/>
                </a:solidFill>
                <a:latin typeface="Raleway" pitchFamily="34" charset="0"/>
                <a:ea typeface="Raleway" pitchFamily="34" charset="-122"/>
                <a:cs typeface="Raleway" pitchFamily="34" charset="-120"/>
              </a:rPr>
              <a:t>Abr</a:t>
            </a:r>
            <a:endParaRPr lang="en-US" sz="696" dirty="0"/>
          </a:p>
        </p:txBody>
      </p:sp>
      <p:sp>
        <p:nvSpPr>
          <p:cNvPr id="182" name="Text 179"/>
          <p:cNvSpPr/>
          <p:nvPr/>
        </p:nvSpPr>
        <p:spPr>
          <a:xfrm>
            <a:off x="8819929" y="1813103"/>
            <a:ext cx="274694" cy="128016"/>
          </a:xfrm>
          <a:prstGeom prst="rect">
            <a:avLst/>
          </a:prstGeom>
          <a:noFill/>
          <a:ln/>
        </p:spPr>
        <p:txBody>
          <a:bodyPr wrap="square" lIns="0" tIns="0" rIns="0" bIns="0" rtlCol="0" anchor="t"/>
          <a:lstStyle/>
          <a:p>
            <a:pPr marL="0" indent="0" algn="ctr">
              <a:buNone/>
            </a:pPr>
            <a:r>
              <a:rPr lang="en-US" sz="696" b="1" dirty="0">
                <a:solidFill>
                  <a:srgbClr val="333333"/>
                </a:solidFill>
                <a:latin typeface="Raleway" pitchFamily="34" charset="0"/>
                <a:ea typeface="Raleway" pitchFamily="34" charset="-122"/>
                <a:cs typeface="Raleway" pitchFamily="34" charset="-120"/>
              </a:rPr>
              <a:t>May</a:t>
            </a:r>
            <a:endParaRPr lang="en-US" sz="696" dirty="0"/>
          </a:p>
        </p:txBody>
      </p:sp>
      <p:sp>
        <p:nvSpPr>
          <p:cNvPr id="183" name="Text 180"/>
          <p:cNvSpPr/>
          <p:nvPr/>
        </p:nvSpPr>
        <p:spPr>
          <a:xfrm>
            <a:off x="9162821" y="1813103"/>
            <a:ext cx="274694" cy="128016"/>
          </a:xfrm>
          <a:prstGeom prst="rect">
            <a:avLst/>
          </a:prstGeom>
          <a:noFill/>
          <a:ln/>
        </p:spPr>
        <p:txBody>
          <a:bodyPr wrap="square" lIns="0" tIns="0" rIns="0" bIns="0" rtlCol="0" anchor="t"/>
          <a:lstStyle/>
          <a:p>
            <a:pPr marL="0" indent="0" algn="ctr">
              <a:buNone/>
            </a:pPr>
            <a:r>
              <a:rPr lang="en-US" sz="696" b="1" dirty="0">
                <a:solidFill>
                  <a:srgbClr val="333333"/>
                </a:solidFill>
                <a:latin typeface="Raleway" pitchFamily="34" charset="0"/>
                <a:ea typeface="Raleway" pitchFamily="34" charset="-122"/>
                <a:cs typeface="Raleway" pitchFamily="34" charset="-120"/>
              </a:rPr>
              <a:t>Jun</a:t>
            </a:r>
            <a:endParaRPr lang="en-US" sz="696" dirty="0"/>
          </a:p>
        </p:txBody>
      </p:sp>
      <p:sp>
        <p:nvSpPr>
          <p:cNvPr id="184" name="Text 181"/>
          <p:cNvSpPr/>
          <p:nvPr/>
        </p:nvSpPr>
        <p:spPr>
          <a:xfrm>
            <a:off x="5290856" y="2200298"/>
            <a:ext cx="549082" cy="142875"/>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81</a:t>
            </a:r>
            <a:endParaRPr lang="en-US" sz="660" dirty="0"/>
          </a:p>
        </p:txBody>
      </p:sp>
      <p:sp>
        <p:nvSpPr>
          <p:cNvPr id="185" name="Text 182"/>
          <p:cNvSpPr/>
          <p:nvPr/>
        </p:nvSpPr>
        <p:spPr>
          <a:xfrm>
            <a:off x="704832" y="2800373"/>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10</a:t>
            </a:r>
            <a:endParaRPr lang="en-US" sz="624" dirty="0"/>
          </a:p>
        </p:txBody>
      </p:sp>
      <p:sp>
        <p:nvSpPr>
          <p:cNvPr id="186" name="Text 183"/>
          <p:cNvSpPr/>
          <p:nvPr/>
        </p:nvSpPr>
        <p:spPr>
          <a:xfrm>
            <a:off x="5823945" y="28003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81</a:t>
            </a:r>
            <a:endParaRPr lang="en-US" sz="696" dirty="0"/>
          </a:p>
        </p:txBody>
      </p:sp>
      <p:sp>
        <p:nvSpPr>
          <p:cNvPr id="187" name="Text 184"/>
          <p:cNvSpPr/>
          <p:nvPr/>
        </p:nvSpPr>
        <p:spPr>
          <a:xfrm>
            <a:off x="704832" y="2952773"/>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11</a:t>
            </a:r>
            <a:endParaRPr lang="en-US" sz="624" dirty="0"/>
          </a:p>
        </p:txBody>
      </p:sp>
      <p:sp>
        <p:nvSpPr>
          <p:cNvPr id="188" name="Text 185"/>
          <p:cNvSpPr/>
          <p:nvPr/>
        </p:nvSpPr>
        <p:spPr>
          <a:xfrm>
            <a:off x="5823945" y="2952773"/>
            <a:ext cx="520110" cy="152400"/>
          </a:xfrm>
          <a:prstGeom prst="rect">
            <a:avLst/>
          </a:prstGeom>
          <a:noFill/>
          <a:ln/>
        </p:spPr>
        <p:txBody>
          <a:bodyPr wrap="square" lIns="19050" tIns="57150" rIns="57150" bIns="19050" rtlCol="0" anchor="ctr"/>
          <a:lstStyle/>
          <a:p>
            <a:pPr marL="0" indent="0" algn="r">
              <a:buNone/>
            </a:pPr>
            <a:r>
              <a:rPr lang="en-US" sz="660" dirty="0">
                <a:solidFill>
                  <a:srgbClr val="333333"/>
                </a:solidFill>
                <a:latin typeface="Raleway" pitchFamily="34" charset="0"/>
                <a:ea typeface="Raleway" pitchFamily="34" charset="-122"/>
                <a:cs typeface="Raleway" pitchFamily="34" charset="-120"/>
              </a:rPr>
              <a:t>76</a:t>
            </a:r>
            <a:endParaRPr lang="en-US" sz="660" dirty="0"/>
          </a:p>
        </p:txBody>
      </p:sp>
      <p:sp>
        <p:nvSpPr>
          <p:cNvPr id="189" name="Text 186"/>
          <p:cNvSpPr/>
          <p:nvPr/>
        </p:nvSpPr>
        <p:spPr>
          <a:xfrm>
            <a:off x="704832" y="3105173"/>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12</a:t>
            </a:r>
            <a:endParaRPr lang="en-US" sz="624" dirty="0"/>
          </a:p>
        </p:txBody>
      </p:sp>
      <p:sp>
        <p:nvSpPr>
          <p:cNvPr id="190" name="Text 187"/>
          <p:cNvSpPr/>
          <p:nvPr/>
        </p:nvSpPr>
        <p:spPr>
          <a:xfrm>
            <a:off x="4265307" y="3105173"/>
            <a:ext cx="524096"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27</a:t>
            </a:r>
            <a:endParaRPr lang="en-US" sz="696" dirty="0"/>
          </a:p>
        </p:txBody>
      </p:sp>
      <p:sp>
        <p:nvSpPr>
          <p:cNvPr id="191" name="Text 188"/>
          <p:cNvSpPr/>
          <p:nvPr/>
        </p:nvSpPr>
        <p:spPr>
          <a:xfrm>
            <a:off x="5290856" y="3105173"/>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99</a:t>
            </a:r>
            <a:endParaRPr lang="en-US" sz="696" dirty="0"/>
          </a:p>
        </p:txBody>
      </p:sp>
      <p:sp>
        <p:nvSpPr>
          <p:cNvPr id="192" name="Text 189"/>
          <p:cNvSpPr/>
          <p:nvPr/>
        </p:nvSpPr>
        <p:spPr>
          <a:xfrm>
            <a:off x="704832" y="3257573"/>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13</a:t>
            </a:r>
            <a:endParaRPr lang="en-US" sz="624" dirty="0"/>
          </a:p>
        </p:txBody>
      </p:sp>
      <p:sp>
        <p:nvSpPr>
          <p:cNvPr id="193" name="Text 190"/>
          <p:cNvSpPr/>
          <p:nvPr/>
        </p:nvSpPr>
        <p:spPr>
          <a:xfrm>
            <a:off x="4774138" y="3257573"/>
            <a:ext cx="53222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85</a:t>
            </a:r>
            <a:endParaRPr lang="en-US" sz="696" dirty="0"/>
          </a:p>
        </p:txBody>
      </p:sp>
      <p:sp>
        <p:nvSpPr>
          <p:cNvPr id="194" name="Text 191"/>
          <p:cNvSpPr/>
          <p:nvPr/>
        </p:nvSpPr>
        <p:spPr>
          <a:xfrm>
            <a:off x="5290856" y="3257573"/>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78</a:t>
            </a:r>
            <a:endParaRPr lang="en-US" sz="696" dirty="0"/>
          </a:p>
        </p:txBody>
      </p:sp>
      <p:sp>
        <p:nvSpPr>
          <p:cNvPr id="195" name="Text 192"/>
          <p:cNvSpPr/>
          <p:nvPr/>
        </p:nvSpPr>
        <p:spPr>
          <a:xfrm>
            <a:off x="5823945" y="32575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34</a:t>
            </a:r>
            <a:endParaRPr lang="en-US" sz="696" dirty="0"/>
          </a:p>
        </p:txBody>
      </p:sp>
      <p:sp>
        <p:nvSpPr>
          <p:cNvPr id="196" name="Text 193"/>
          <p:cNvSpPr/>
          <p:nvPr/>
        </p:nvSpPr>
        <p:spPr>
          <a:xfrm>
            <a:off x="704832" y="3409973"/>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14</a:t>
            </a:r>
            <a:endParaRPr lang="en-US" sz="624" dirty="0"/>
          </a:p>
        </p:txBody>
      </p:sp>
      <p:sp>
        <p:nvSpPr>
          <p:cNvPr id="197" name="Text 194"/>
          <p:cNvSpPr/>
          <p:nvPr/>
        </p:nvSpPr>
        <p:spPr>
          <a:xfrm>
            <a:off x="4265307" y="3409973"/>
            <a:ext cx="524096"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20</a:t>
            </a:r>
            <a:endParaRPr lang="en-US" sz="696" dirty="0"/>
          </a:p>
        </p:txBody>
      </p:sp>
      <p:sp>
        <p:nvSpPr>
          <p:cNvPr id="198" name="Text 195"/>
          <p:cNvSpPr/>
          <p:nvPr/>
        </p:nvSpPr>
        <p:spPr>
          <a:xfrm>
            <a:off x="5290856" y="3409973"/>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99</a:t>
            </a:r>
            <a:endParaRPr lang="en-US" sz="696" dirty="0"/>
          </a:p>
        </p:txBody>
      </p:sp>
      <p:sp>
        <p:nvSpPr>
          <p:cNvPr id="199" name="Text 196"/>
          <p:cNvSpPr/>
          <p:nvPr/>
        </p:nvSpPr>
        <p:spPr>
          <a:xfrm>
            <a:off x="5823945" y="34099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95</a:t>
            </a:r>
            <a:endParaRPr lang="en-US" sz="696" dirty="0"/>
          </a:p>
        </p:txBody>
      </p:sp>
      <p:sp>
        <p:nvSpPr>
          <p:cNvPr id="200" name="Text 197"/>
          <p:cNvSpPr/>
          <p:nvPr/>
        </p:nvSpPr>
        <p:spPr>
          <a:xfrm>
            <a:off x="704832" y="3562373"/>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15</a:t>
            </a:r>
            <a:endParaRPr lang="en-US" sz="624" dirty="0"/>
          </a:p>
        </p:txBody>
      </p:sp>
      <p:sp>
        <p:nvSpPr>
          <p:cNvPr id="201" name="Text 198"/>
          <p:cNvSpPr/>
          <p:nvPr/>
        </p:nvSpPr>
        <p:spPr>
          <a:xfrm>
            <a:off x="3757221" y="3562373"/>
            <a:ext cx="523329"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39</a:t>
            </a:r>
            <a:endParaRPr lang="en-US" sz="696" dirty="0"/>
          </a:p>
        </p:txBody>
      </p:sp>
      <p:sp>
        <p:nvSpPr>
          <p:cNvPr id="202" name="Text 199"/>
          <p:cNvSpPr/>
          <p:nvPr/>
        </p:nvSpPr>
        <p:spPr>
          <a:xfrm>
            <a:off x="704832" y="3714773"/>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16</a:t>
            </a:r>
            <a:endParaRPr lang="en-US" sz="624" dirty="0"/>
          </a:p>
        </p:txBody>
      </p:sp>
      <p:sp>
        <p:nvSpPr>
          <p:cNvPr id="203" name="Text 200"/>
          <p:cNvSpPr/>
          <p:nvPr/>
        </p:nvSpPr>
        <p:spPr>
          <a:xfrm>
            <a:off x="3757221" y="3714773"/>
            <a:ext cx="523329"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33</a:t>
            </a:r>
            <a:endParaRPr lang="en-US" sz="696" dirty="0"/>
          </a:p>
        </p:txBody>
      </p:sp>
      <p:sp>
        <p:nvSpPr>
          <p:cNvPr id="204" name="Text 201"/>
          <p:cNvSpPr/>
          <p:nvPr/>
        </p:nvSpPr>
        <p:spPr>
          <a:xfrm>
            <a:off x="4774138" y="3714773"/>
            <a:ext cx="53222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75</a:t>
            </a:r>
            <a:endParaRPr lang="en-US" sz="696" dirty="0"/>
          </a:p>
        </p:txBody>
      </p:sp>
      <p:sp>
        <p:nvSpPr>
          <p:cNvPr id="205" name="Text 202"/>
          <p:cNvSpPr/>
          <p:nvPr/>
        </p:nvSpPr>
        <p:spPr>
          <a:xfrm>
            <a:off x="704832" y="3867173"/>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17</a:t>
            </a:r>
            <a:endParaRPr lang="en-US" sz="624" dirty="0"/>
          </a:p>
        </p:txBody>
      </p:sp>
      <p:sp>
        <p:nvSpPr>
          <p:cNvPr id="206" name="Text 203"/>
          <p:cNvSpPr/>
          <p:nvPr/>
        </p:nvSpPr>
        <p:spPr>
          <a:xfrm>
            <a:off x="704832" y="4019573"/>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18</a:t>
            </a:r>
            <a:endParaRPr lang="en-US" sz="624" dirty="0"/>
          </a:p>
        </p:txBody>
      </p:sp>
      <p:sp>
        <p:nvSpPr>
          <p:cNvPr id="207" name="Text 204"/>
          <p:cNvSpPr/>
          <p:nvPr/>
        </p:nvSpPr>
        <p:spPr>
          <a:xfrm>
            <a:off x="3757221" y="4019573"/>
            <a:ext cx="523329"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30</a:t>
            </a:r>
            <a:endParaRPr lang="en-US" sz="696" dirty="0"/>
          </a:p>
        </p:txBody>
      </p:sp>
      <p:sp>
        <p:nvSpPr>
          <p:cNvPr id="208" name="Text 205"/>
          <p:cNvSpPr/>
          <p:nvPr/>
        </p:nvSpPr>
        <p:spPr>
          <a:xfrm>
            <a:off x="4774138" y="4019573"/>
            <a:ext cx="53222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59</a:t>
            </a:r>
            <a:endParaRPr lang="en-US" sz="696" dirty="0"/>
          </a:p>
        </p:txBody>
      </p:sp>
      <p:sp>
        <p:nvSpPr>
          <p:cNvPr id="209" name="Text 206"/>
          <p:cNvSpPr/>
          <p:nvPr/>
        </p:nvSpPr>
        <p:spPr>
          <a:xfrm>
            <a:off x="704832" y="4171973"/>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19</a:t>
            </a:r>
            <a:endParaRPr lang="en-US" sz="624" dirty="0"/>
          </a:p>
        </p:txBody>
      </p:sp>
      <p:sp>
        <p:nvSpPr>
          <p:cNvPr id="210" name="Text 207"/>
          <p:cNvSpPr/>
          <p:nvPr/>
        </p:nvSpPr>
        <p:spPr>
          <a:xfrm>
            <a:off x="4774138" y="4171973"/>
            <a:ext cx="53222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19</a:t>
            </a:r>
            <a:endParaRPr lang="en-US" sz="696" dirty="0"/>
          </a:p>
        </p:txBody>
      </p:sp>
      <p:sp>
        <p:nvSpPr>
          <p:cNvPr id="211" name="Text 208"/>
          <p:cNvSpPr/>
          <p:nvPr/>
        </p:nvSpPr>
        <p:spPr>
          <a:xfrm>
            <a:off x="5290856" y="4171973"/>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45</a:t>
            </a:r>
            <a:endParaRPr lang="en-US" sz="696" dirty="0"/>
          </a:p>
        </p:txBody>
      </p:sp>
      <p:sp>
        <p:nvSpPr>
          <p:cNvPr id="212" name="Text 209"/>
          <p:cNvSpPr/>
          <p:nvPr/>
        </p:nvSpPr>
        <p:spPr>
          <a:xfrm>
            <a:off x="5823945" y="4171973"/>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76</a:t>
            </a:r>
            <a:endParaRPr lang="en-US" sz="696" dirty="0"/>
          </a:p>
        </p:txBody>
      </p:sp>
      <p:sp>
        <p:nvSpPr>
          <p:cNvPr id="213" name="Text 210"/>
          <p:cNvSpPr/>
          <p:nvPr/>
        </p:nvSpPr>
        <p:spPr>
          <a:xfrm>
            <a:off x="704832" y="4324373"/>
            <a:ext cx="319914" cy="142875"/>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20</a:t>
            </a:r>
            <a:endParaRPr lang="en-US" sz="624" dirty="0"/>
          </a:p>
        </p:txBody>
      </p:sp>
      <p:sp>
        <p:nvSpPr>
          <p:cNvPr id="214" name="Text 211"/>
          <p:cNvSpPr/>
          <p:nvPr/>
        </p:nvSpPr>
        <p:spPr>
          <a:xfrm>
            <a:off x="704832" y="4467248"/>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21</a:t>
            </a:r>
            <a:endParaRPr lang="en-US" sz="624" dirty="0"/>
          </a:p>
        </p:txBody>
      </p:sp>
      <p:sp>
        <p:nvSpPr>
          <p:cNvPr id="215" name="Text 212"/>
          <p:cNvSpPr/>
          <p:nvPr/>
        </p:nvSpPr>
        <p:spPr>
          <a:xfrm>
            <a:off x="4774138" y="4467248"/>
            <a:ext cx="53222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73</a:t>
            </a:r>
            <a:endParaRPr lang="en-US" sz="696" dirty="0"/>
          </a:p>
        </p:txBody>
      </p:sp>
      <p:sp>
        <p:nvSpPr>
          <p:cNvPr id="216" name="Text 213"/>
          <p:cNvSpPr/>
          <p:nvPr/>
        </p:nvSpPr>
        <p:spPr>
          <a:xfrm>
            <a:off x="6328907" y="4467248"/>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82</a:t>
            </a:r>
            <a:endParaRPr lang="en-US" sz="660" dirty="0"/>
          </a:p>
        </p:txBody>
      </p:sp>
      <p:sp>
        <p:nvSpPr>
          <p:cNvPr id="217" name="Text 214"/>
          <p:cNvSpPr/>
          <p:nvPr/>
        </p:nvSpPr>
        <p:spPr>
          <a:xfrm>
            <a:off x="704832" y="4619648"/>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22</a:t>
            </a:r>
            <a:endParaRPr lang="en-US" sz="624" dirty="0"/>
          </a:p>
        </p:txBody>
      </p:sp>
      <p:sp>
        <p:nvSpPr>
          <p:cNvPr id="218" name="Text 215"/>
          <p:cNvSpPr/>
          <p:nvPr/>
        </p:nvSpPr>
        <p:spPr>
          <a:xfrm>
            <a:off x="5823945" y="4619648"/>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54</a:t>
            </a:r>
            <a:endParaRPr lang="en-US" sz="696" dirty="0"/>
          </a:p>
        </p:txBody>
      </p:sp>
      <p:sp>
        <p:nvSpPr>
          <p:cNvPr id="219" name="Text 216"/>
          <p:cNvSpPr/>
          <p:nvPr/>
        </p:nvSpPr>
        <p:spPr>
          <a:xfrm>
            <a:off x="6328907" y="4619648"/>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54</a:t>
            </a:r>
            <a:endParaRPr lang="en-US" sz="660" dirty="0"/>
          </a:p>
        </p:txBody>
      </p:sp>
      <p:sp>
        <p:nvSpPr>
          <p:cNvPr id="220" name="Text 217"/>
          <p:cNvSpPr/>
          <p:nvPr/>
        </p:nvSpPr>
        <p:spPr>
          <a:xfrm>
            <a:off x="704832" y="4772048"/>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23</a:t>
            </a:r>
            <a:endParaRPr lang="en-US" sz="624" dirty="0"/>
          </a:p>
        </p:txBody>
      </p:sp>
      <p:sp>
        <p:nvSpPr>
          <p:cNvPr id="221" name="Text 218"/>
          <p:cNvSpPr/>
          <p:nvPr/>
        </p:nvSpPr>
        <p:spPr>
          <a:xfrm>
            <a:off x="5290856" y="4772048"/>
            <a:ext cx="549082"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18</a:t>
            </a:r>
            <a:endParaRPr lang="en-US" sz="696" dirty="0"/>
          </a:p>
        </p:txBody>
      </p:sp>
      <p:sp>
        <p:nvSpPr>
          <p:cNvPr id="222" name="Text 219"/>
          <p:cNvSpPr/>
          <p:nvPr/>
        </p:nvSpPr>
        <p:spPr>
          <a:xfrm>
            <a:off x="5823945" y="4772048"/>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13</a:t>
            </a:r>
            <a:endParaRPr lang="en-US" sz="696" dirty="0"/>
          </a:p>
        </p:txBody>
      </p:sp>
      <p:sp>
        <p:nvSpPr>
          <p:cNvPr id="223" name="Text 220"/>
          <p:cNvSpPr/>
          <p:nvPr/>
        </p:nvSpPr>
        <p:spPr>
          <a:xfrm>
            <a:off x="6328907" y="4772048"/>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34</a:t>
            </a:r>
            <a:endParaRPr lang="en-US" sz="660" dirty="0"/>
          </a:p>
        </p:txBody>
      </p:sp>
      <p:sp>
        <p:nvSpPr>
          <p:cNvPr id="224" name="Text 221"/>
          <p:cNvSpPr/>
          <p:nvPr/>
        </p:nvSpPr>
        <p:spPr>
          <a:xfrm>
            <a:off x="704832" y="4924448"/>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24</a:t>
            </a:r>
            <a:endParaRPr lang="en-US" sz="624" dirty="0"/>
          </a:p>
        </p:txBody>
      </p:sp>
      <p:sp>
        <p:nvSpPr>
          <p:cNvPr id="225" name="Text 222"/>
          <p:cNvSpPr/>
          <p:nvPr/>
        </p:nvSpPr>
        <p:spPr>
          <a:xfrm>
            <a:off x="5823945" y="4924448"/>
            <a:ext cx="520110" cy="152400"/>
          </a:xfrm>
          <a:prstGeom prst="rect">
            <a:avLst/>
          </a:prstGeom>
          <a:noFill/>
          <a:ln/>
        </p:spPr>
        <p:txBody>
          <a:bodyPr wrap="square" lIns="19050" tIns="57150" rIns="57150" bIns="19050" rtlCol="0" anchor="ctr"/>
          <a:lstStyle/>
          <a:p>
            <a:pPr marL="0" indent="0" algn="r">
              <a:buNone/>
            </a:pPr>
            <a:r>
              <a:rPr lang="en-US" sz="696" dirty="0">
                <a:solidFill>
                  <a:srgbClr val="333333"/>
                </a:solidFill>
                <a:latin typeface="Raleway" pitchFamily="34" charset="0"/>
                <a:ea typeface="Raleway" pitchFamily="34" charset="-122"/>
                <a:cs typeface="Raleway" pitchFamily="34" charset="-120"/>
              </a:rPr>
              <a:t>21</a:t>
            </a:r>
            <a:endParaRPr lang="en-US" sz="696" dirty="0"/>
          </a:p>
        </p:txBody>
      </p:sp>
      <p:sp>
        <p:nvSpPr>
          <p:cNvPr id="226" name="Text 223"/>
          <p:cNvSpPr/>
          <p:nvPr/>
        </p:nvSpPr>
        <p:spPr>
          <a:xfrm>
            <a:off x="6328907" y="4924448"/>
            <a:ext cx="642895" cy="152400"/>
          </a:xfrm>
          <a:prstGeom prst="rect">
            <a:avLst/>
          </a:prstGeom>
          <a:noFill/>
          <a:ln/>
        </p:spPr>
        <p:txBody>
          <a:bodyPr wrap="square" lIns="19050" tIns="57150" rIns="57150" bIns="19050" rtlCol="0" anchor="ctr"/>
          <a:lstStyle/>
          <a:p>
            <a:pPr marL="0" indent="0" algn="r">
              <a:buNone/>
            </a:pPr>
            <a:r>
              <a:rPr lang="en-US" sz="660" b="1" dirty="0">
                <a:solidFill>
                  <a:srgbClr val="333333"/>
                </a:solidFill>
                <a:latin typeface="Raleway" pitchFamily="34" charset="0"/>
                <a:ea typeface="Raleway" pitchFamily="34" charset="-122"/>
                <a:cs typeface="Raleway" pitchFamily="34" charset="-120"/>
              </a:rPr>
              <a:t>21</a:t>
            </a:r>
            <a:endParaRPr lang="en-US" sz="660" dirty="0"/>
          </a:p>
        </p:txBody>
      </p:sp>
      <p:sp>
        <p:nvSpPr>
          <p:cNvPr id="227" name="Text 224"/>
          <p:cNvSpPr/>
          <p:nvPr/>
        </p:nvSpPr>
        <p:spPr>
          <a:xfrm>
            <a:off x="704832" y="5076848"/>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25</a:t>
            </a:r>
            <a:endParaRPr lang="en-US" sz="624" dirty="0"/>
          </a:p>
        </p:txBody>
      </p:sp>
      <p:sp>
        <p:nvSpPr>
          <p:cNvPr id="228" name="Text 225"/>
          <p:cNvSpPr/>
          <p:nvPr/>
        </p:nvSpPr>
        <p:spPr>
          <a:xfrm>
            <a:off x="7820421" y="4196549"/>
            <a:ext cx="731342" cy="214313"/>
          </a:xfrm>
          <a:prstGeom prst="rect">
            <a:avLst/>
          </a:prstGeom>
          <a:noFill/>
          <a:ln/>
        </p:spPr>
        <p:txBody>
          <a:bodyPr wrap="square" lIns="38100" tIns="114300" rIns="114300" bIns="38100" rtlCol="0" anchor="ctr"/>
          <a:lstStyle/>
          <a:p>
            <a:pPr marL="0" indent="0" algn="r">
              <a:buNone/>
            </a:pPr>
            <a:r>
              <a:rPr lang="en-US" sz="888" b="1" dirty="0">
                <a:solidFill>
                  <a:srgbClr val="120180"/>
                </a:solidFill>
                <a:latin typeface="Raleway" pitchFamily="34" charset="0"/>
                <a:ea typeface="Raleway" pitchFamily="34" charset="-122"/>
                <a:cs typeface="Raleway" pitchFamily="34" charset="-120"/>
              </a:rPr>
              <a:t>41</a:t>
            </a:r>
            <a:endParaRPr lang="en-US" sz="888" dirty="0"/>
          </a:p>
        </p:txBody>
      </p:sp>
      <p:sp>
        <p:nvSpPr>
          <p:cNvPr id="229" name="Text 226"/>
          <p:cNvSpPr/>
          <p:nvPr/>
        </p:nvSpPr>
        <p:spPr>
          <a:xfrm>
            <a:off x="7448364" y="1587735"/>
            <a:ext cx="274694" cy="274701"/>
          </a:xfrm>
          <a:prstGeom prst="rect">
            <a:avLst/>
          </a:prstGeom>
          <a:noFill/>
          <a:ln/>
        </p:spPr>
        <p:txBody>
          <a:bodyPr wrap="square" lIns="0" tIns="0" rIns="0" bIns="0" rtlCol="0" anchor="t"/>
          <a:lstStyle/>
          <a:p>
            <a:pPr marL="0" indent="0" algn="ctr">
              <a:buNone/>
            </a:pPr>
            <a:r>
              <a:rPr lang="en-US" sz="888" b="1" dirty="0">
                <a:solidFill>
                  <a:srgbClr val="333333"/>
                </a:solidFill>
                <a:latin typeface="Raleway" pitchFamily="34" charset="0"/>
                <a:ea typeface="Raleway" pitchFamily="34" charset="-122"/>
                <a:cs typeface="Raleway" pitchFamily="34" charset="-120"/>
              </a:rPr>
              <a:t>15</a:t>
            </a:r>
            <a:endParaRPr lang="en-US" sz="888" dirty="0"/>
          </a:p>
        </p:txBody>
      </p:sp>
      <p:sp>
        <p:nvSpPr>
          <p:cNvPr id="230" name="Text 227"/>
          <p:cNvSpPr/>
          <p:nvPr/>
        </p:nvSpPr>
        <p:spPr>
          <a:xfrm>
            <a:off x="7791255" y="1587735"/>
            <a:ext cx="274694" cy="274701"/>
          </a:xfrm>
          <a:prstGeom prst="rect">
            <a:avLst/>
          </a:prstGeom>
          <a:noFill/>
          <a:ln/>
        </p:spPr>
        <p:txBody>
          <a:bodyPr wrap="square" lIns="0" tIns="0" rIns="0" bIns="0" rtlCol="0" anchor="t"/>
          <a:lstStyle/>
          <a:p>
            <a:pPr marL="0" indent="0" algn="ctr">
              <a:buNone/>
            </a:pPr>
            <a:r>
              <a:rPr lang="en-US" sz="888" b="1" dirty="0">
                <a:solidFill>
                  <a:schemeClr val="bg2"/>
                </a:solidFill>
                <a:latin typeface="Raleway" pitchFamily="34" charset="0"/>
                <a:ea typeface="Raleway" pitchFamily="34" charset="-122"/>
                <a:cs typeface="Raleway" pitchFamily="34" charset="-120"/>
              </a:rPr>
              <a:t>17</a:t>
            </a:r>
            <a:endParaRPr lang="en-US" sz="888" dirty="0">
              <a:solidFill>
                <a:schemeClr val="bg2"/>
              </a:solidFill>
            </a:endParaRPr>
          </a:p>
        </p:txBody>
      </p:sp>
      <p:sp>
        <p:nvSpPr>
          <p:cNvPr id="231" name="Text 228"/>
          <p:cNvSpPr/>
          <p:nvPr/>
        </p:nvSpPr>
        <p:spPr>
          <a:xfrm>
            <a:off x="8134147" y="1587735"/>
            <a:ext cx="274694" cy="274701"/>
          </a:xfrm>
          <a:prstGeom prst="rect">
            <a:avLst/>
          </a:prstGeom>
          <a:noFill/>
          <a:ln/>
        </p:spPr>
        <p:txBody>
          <a:bodyPr wrap="square" lIns="0" tIns="0" rIns="0" bIns="0" rtlCol="0" anchor="t"/>
          <a:lstStyle/>
          <a:p>
            <a:pPr marL="0" indent="0" algn="ctr">
              <a:buNone/>
            </a:pPr>
            <a:r>
              <a:rPr lang="en-US" sz="888" b="1" dirty="0">
                <a:solidFill>
                  <a:schemeClr val="bg2"/>
                </a:solidFill>
                <a:latin typeface="Raleway" pitchFamily="34" charset="0"/>
                <a:ea typeface="Raleway" pitchFamily="34" charset="-122"/>
                <a:cs typeface="Raleway" pitchFamily="34" charset="-120"/>
              </a:rPr>
              <a:t>18</a:t>
            </a:r>
            <a:endParaRPr lang="en-US" sz="888" dirty="0">
              <a:solidFill>
                <a:schemeClr val="bg2"/>
              </a:solidFill>
            </a:endParaRPr>
          </a:p>
        </p:txBody>
      </p:sp>
      <p:sp>
        <p:nvSpPr>
          <p:cNvPr id="232" name="Text 229"/>
          <p:cNvSpPr/>
          <p:nvPr/>
        </p:nvSpPr>
        <p:spPr>
          <a:xfrm>
            <a:off x="8477038" y="1587735"/>
            <a:ext cx="274694" cy="274701"/>
          </a:xfrm>
          <a:prstGeom prst="rect">
            <a:avLst/>
          </a:prstGeom>
          <a:noFill/>
          <a:ln/>
        </p:spPr>
        <p:txBody>
          <a:bodyPr wrap="square" lIns="0" tIns="0" rIns="0" bIns="0" rtlCol="0" anchor="t"/>
          <a:lstStyle/>
          <a:p>
            <a:pPr marL="0" indent="0" algn="ctr">
              <a:buNone/>
            </a:pPr>
            <a:r>
              <a:rPr lang="en-US" sz="888" b="1" dirty="0">
                <a:solidFill>
                  <a:srgbClr val="333333"/>
                </a:solidFill>
                <a:latin typeface="Raleway" pitchFamily="34" charset="0"/>
                <a:ea typeface="Raleway" pitchFamily="34" charset="-122"/>
                <a:cs typeface="Raleway" pitchFamily="34" charset="-120"/>
              </a:rPr>
              <a:t>20</a:t>
            </a:r>
            <a:endParaRPr lang="en-US" sz="888" dirty="0"/>
          </a:p>
        </p:txBody>
      </p:sp>
      <p:sp>
        <p:nvSpPr>
          <p:cNvPr id="233" name="Text 230"/>
          <p:cNvSpPr/>
          <p:nvPr/>
        </p:nvSpPr>
        <p:spPr>
          <a:xfrm>
            <a:off x="8819929" y="1587735"/>
            <a:ext cx="274694" cy="274701"/>
          </a:xfrm>
          <a:prstGeom prst="rect">
            <a:avLst/>
          </a:prstGeom>
          <a:noFill/>
          <a:ln/>
        </p:spPr>
        <p:txBody>
          <a:bodyPr wrap="square" lIns="0" tIns="0" rIns="0" bIns="0" rtlCol="0" anchor="t"/>
          <a:lstStyle/>
          <a:p>
            <a:pPr marL="0" indent="0" algn="ctr">
              <a:buNone/>
            </a:pPr>
            <a:r>
              <a:rPr lang="en-US" sz="888" b="1" dirty="0">
                <a:solidFill>
                  <a:srgbClr val="333333"/>
                </a:solidFill>
                <a:latin typeface="Raleway" pitchFamily="34" charset="0"/>
                <a:ea typeface="Raleway" pitchFamily="34" charset="-122"/>
                <a:cs typeface="Raleway" pitchFamily="34" charset="-120"/>
              </a:rPr>
              <a:t>20</a:t>
            </a:r>
            <a:endParaRPr lang="en-US" sz="888" dirty="0"/>
          </a:p>
        </p:txBody>
      </p:sp>
      <p:sp>
        <p:nvSpPr>
          <p:cNvPr id="234" name="Text 231"/>
          <p:cNvSpPr/>
          <p:nvPr/>
        </p:nvSpPr>
        <p:spPr>
          <a:xfrm>
            <a:off x="9162821" y="1587735"/>
            <a:ext cx="274694" cy="274701"/>
          </a:xfrm>
          <a:prstGeom prst="rect">
            <a:avLst/>
          </a:prstGeom>
          <a:noFill/>
          <a:ln/>
        </p:spPr>
        <p:txBody>
          <a:bodyPr wrap="square" lIns="0" tIns="0" rIns="0" bIns="0" rtlCol="0" anchor="t"/>
          <a:lstStyle/>
          <a:p>
            <a:pPr marL="0" indent="0" algn="ctr">
              <a:buNone/>
            </a:pPr>
            <a:r>
              <a:rPr lang="en-US" sz="888" b="1" dirty="0">
                <a:solidFill>
                  <a:srgbClr val="333333"/>
                </a:solidFill>
                <a:latin typeface="Raleway" pitchFamily="34" charset="0"/>
                <a:ea typeface="Raleway" pitchFamily="34" charset="-122"/>
                <a:cs typeface="Raleway" pitchFamily="34" charset="-120"/>
              </a:rPr>
              <a:t>21</a:t>
            </a:r>
            <a:endParaRPr lang="en-US" sz="888" dirty="0"/>
          </a:p>
        </p:txBody>
      </p:sp>
      <p:sp>
        <p:nvSpPr>
          <p:cNvPr id="236" name="TextBox 235">
            <a:extLst>
              <a:ext uri="{FF2B5EF4-FFF2-40B4-BE49-F238E27FC236}">
                <a16:creationId xmlns:a16="http://schemas.microsoft.com/office/drawing/2014/main" id="{A7BE2A39-201B-D60D-4FE3-AEF9A50A513D}"/>
              </a:ext>
            </a:extLst>
          </p:cNvPr>
          <p:cNvSpPr txBox="1"/>
          <p:nvPr/>
        </p:nvSpPr>
        <p:spPr>
          <a:xfrm>
            <a:off x="7713554" y="2089069"/>
            <a:ext cx="3818472" cy="276999"/>
          </a:xfrm>
          <a:prstGeom prst="rect">
            <a:avLst/>
          </a:prstGeom>
          <a:noFill/>
        </p:spPr>
        <p:txBody>
          <a:bodyPr wrap="square">
            <a:spAutoFit/>
          </a:bodyPr>
          <a:lstStyle/>
          <a:p>
            <a:pPr marL="0" marR="0" indent="0" algn="l">
              <a:spcAft>
                <a:spcPts val="750"/>
              </a:spcAft>
              <a:buNone/>
            </a:pPr>
            <a:r>
              <a:rPr lang="es-CO" sz="1200" b="1" i="0" dirty="0">
                <a:solidFill>
                  <a:srgbClr val="120180"/>
                </a:solidFill>
                <a:effectLst/>
                <a:latin typeface="Raleway" pitchFamily="2" charset="0"/>
              </a:rPr>
              <a:t>El top 5 aporta 4.279 pólizas (37 %) del semestre.</a:t>
            </a:r>
          </a:p>
        </p:txBody>
      </p:sp>
      <p:sp>
        <p:nvSpPr>
          <p:cNvPr id="238" name="TextBox 237">
            <a:extLst>
              <a:ext uri="{FF2B5EF4-FFF2-40B4-BE49-F238E27FC236}">
                <a16:creationId xmlns:a16="http://schemas.microsoft.com/office/drawing/2014/main" id="{A95627A3-35A0-57AE-B91B-0C0CC9115580}"/>
              </a:ext>
            </a:extLst>
          </p:cNvPr>
          <p:cNvSpPr txBox="1"/>
          <p:nvPr/>
        </p:nvSpPr>
        <p:spPr>
          <a:xfrm>
            <a:off x="7464970" y="4808798"/>
            <a:ext cx="3936456" cy="707886"/>
          </a:xfrm>
          <a:prstGeom prst="rect">
            <a:avLst/>
          </a:prstGeom>
          <a:noFill/>
        </p:spPr>
        <p:txBody>
          <a:bodyPr wrap="square">
            <a:spAutoFit/>
          </a:bodyPr>
          <a:lstStyle/>
          <a:p>
            <a:r>
              <a:rPr lang="es-CO" sz="800" b="1" i="0" dirty="0">
                <a:solidFill>
                  <a:srgbClr val="00CD93"/>
                </a:solidFill>
                <a:effectLst/>
                <a:latin typeface="Raleway" pitchFamily="2" charset="0"/>
              </a:rPr>
              <a:t>Un equipo que rinde:</a:t>
            </a:r>
            <a:r>
              <a:rPr lang="es-CO" sz="800" b="0" i="0" dirty="0">
                <a:solidFill>
                  <a:srgbClr val="0A3D35"/>
                </a:solidFill>
                <a:effectLst/>
                <a:latin typeface="Raleway" pitchFamily="2" charset="0"/>
              </a:rPr>
              <a:t> con </a:t>
            </a:r>
            <a:r>
              <a:rPr lang="es-CO" sz="800" b="1" i="0" dirty="0">
                <a:solidFill>
                  <a:srgbClr val="0A3D35"/>
                </a:solidFill>
                <a:effectLst/>
                <a:latin typeface="Raleway" pitchFamily="2" charset="0"/>
              </a:rPr>
              <a:t>21 asesores activos a la fecha</a:t>
            </a:r>
            <a:r>
              <a:rPr lang="es-CO" sz="800" b="0" i="0" dirty="0">
                <a:solidFill>
                  <a:srgbClr val="0A3D35"/>
                </a:solidFill>
                <a:effectLst/>
                <a:latin typeface="Raleway" pitchFamily="2" charset="0"/>
              </a:rPr>
              <a:t> y un top 5 que concentra el 37 % de las ventas con disciplina y compromiso, cada campaña de incentivos fue un paso firme hacia la meta de 3.000 ventas mensuales. Este semestre demuestra que la apuesta por el talento y la constancia en la formación están dando resultados sólidos y sostenibles.</a:t>
            </a:r>
            <a:endParaRPr lang="es-CO" sz="2000" dirty="0"/>
          </a:p>
        </p:txBody>
      </p:sp>
      <p:sp>
        <p:nvSpPr>
          <p:cNvPr id="240" name="TextBox 239">
            <a:extLst>
              <a:ext uri="{FF2B5EF4-FFF2-40B4-BE49-F238E27FC236}">
                <a16:creationId xmlns:a16="http://schemas.microsoft.com/office/drawing/2014/main" id="{55EB9603-3E06-9CFA-46CB-DA225CE1C793}"/>
              </a:ext>
            </a:extLst>
          </p:cNvPr>
          <p:cNvSpPr txBox="1"/>
          <p:nvPr/>
        </p:nvSpPr>
        <p:spPr>
          <a:xfrm>
            <a:off x="8262881" y="2936144"/>
            <a:ext cx="428313" cy="228973"/>
          </a:xfrm>
          <a:prstGeom prst="rect">
            <a:avLst/>
          </a:prstGeom>
          <a:noFill/>
        </p:spPr>
        <p:txBody>
          <a:bodyPr wrap="square">
            <a:spAutoFit/>
          </a:bodyPr>
          <a:lstStyle/>
          <a:p>
            <a:r>
              <a:rPr lang="es-CO" sz="888" b="0" i="0" dirty="0">
                <a:solidFill>
                  <a:srgbClr val="333333"/>
                </a:solidFill>
                <a:effectLst/>
                <a:latin typeface="Raleway" pitchFamily="2" charset="0"/>
              </a:rPr>
              <a:t>6</a:t>
            </a:r>
            <a:endParaRPr lang="es-CO" dirty="0"/>
          </a:p>
        </p:txBody>
      </p:sp>
      <p:sp>
        <p:nvSpPr>
          <p:cNvPr id="242" name="TextBox 241">
            <a:extLst>
              <a:ext uri="{FF2B5EF4-FFF2-40B4-BE49-F238E27FC236}">
                <a16:creationId xmlns:a16="http://schemas.microsoft.com/office/drawing/2014/main" id="{50C4F88F-9981-A286-0070-CF486A5DFF5A}"/>
              </a:ext>
            </a:extLst>
          </p:cNvPr>
          <p:cNvSpPr txBox="1"/>
          <p:nvPr/>
        </p:nvSpPr>
        <p:spPr>
          <a:xfrm>
            <a:off x="8266325" y="3155109"/>
            <a:ext cx="428313" cy="228973"/>
          </a:xfrm>
          <a:prstGeom prst="rect">
            <a:avLst/>
          </a:prstGeom>
          <a:noFill/>
        </p:spPr>
        <p:txBody>
          <a:bodyPr wrap="square">
            <a:spAutoFit/>
          </a:bodyPr>
          <a:lstStyle/>
          <a:p>
            <a:r>
              <a:rPr lang="es-CO" sz="888" b="0" i="0" dirty="0">
                <a:solidFill>
                  <a:srgbClr val="333333"/>
                </a:solidFill>
                <a:effectLst/>
                <a:latin typeface="Raleway" pitchFamily="2" charset="0"/>
              </a:rPr>
              <a:t>7</a:t>
            </a:r>
            <a:endParaRPr lang="es-CO" dirty="0"/>
          </a:p>
        </p:txBody>
      </p:sp>
      <p:sp>
        <p:nvSpPr>
          <p:cNvPr id="244" name="TextBox 243">
            <a:extLst>
              <a:ext uri="{FF2B5EF4-FFF2-40B4-BE49-F238E27FC236}">
                <a16:creationId xmlns:a16="http://schemas.microsoft.com/office/drawing/2014/main" id="{D942EBDB-A97B-4585-4AFF-095AF287BD5A}"/>
              </a:ext>
            </a:extLst>
          </p:cNvPr>
          <p:cNvSpPr txBox="1"/>
          <p:nvPr/>
        </p:nvSpPr>
        <p:spPr>
          <a:xfrm>
            <a:off x="8266325" y="3368581"/>
            <a:ext cx="428313" cy="228973"/>
          </a:xfrm>
          <a:prstGeom prst="rect">
            <a:avLst/>
          </a:prstGeom>
          <a:noFill/>
        </p:spPr>
        <p:txBody>
          <a:bodyPr wrap="square">
            <a:spAutoFit/>
          </a:bodyPr>
          <a:lstStyle/>
          <a:p>
            <a:r>
              <a:rPr lang="es-CO" sz="888" b="0" i="0" dirty="0">
                <a:solidFill>
                  <a:srgbClr val="333333"/>
                </a:solidFill>
                <a:effectLst/>
                <a:latin typeface="Raleway" pitchFamily="2" charset="0"/>
              </a:rPr>
              <a:t>5</a:t>
            </a:r>
            <a:endParaRPr lang="es-CO" dirty="0"/>
          </a:p>
        </p:txBody>
      </p:sp>
      <p:sp>
        <p:nvSpPr>
          <p:cNvPr id="246" name="TextBox 245">
            <a:extLst>
              <a:ext uri="{FF2B5EF4-FFF2-40B4-BE49-F238E27FC236}">
                <a16:creationId xmlns:a16="http://schemas.microsoft.com/office/drawing/2014/main" id="{716F5980-93B7-AE13-3971-A07E484DA639}"/>
              </a:ext>
            </a:extLst>
          </p:cNvPr>
          <p:cNvSpPr txBox="1"/>
          <p:nvPr/>
        </p:nvSpPr>
        <p:spPr>
          <a:xfrm>
            <a:off x="8262881" y="3591261"/>
            <a:ext cx="428313" cy="228973"/>
          </a:xfrm>
          <a:prstGeom prst="rect">
            <a:avLst/>
          </a:prstGeom>
          <a:noFill/>
        </p:spPr>
        <p:txBody>
          <a:bodyPr wrap="square">
            <a:spAutoFit/>
          </a:bodyPr>
          <a:lstStyle/>
          <a:p>
            <a:r>
              <a:rPr lang="es-CO" sz="888" b="0" i="0" dirty="0">
                <a:solidFill>
                  <a:srgbClr val="333333"/>
                </a:solidFill>
                <a:effectLst/>
                <a:latin typeface="Raleway" pitchFamily="2" charset="0"/>
              </a:rPr>
              <a:t>5</a:t>
            </a:r>
            <a:endParaRPr lang="es-CO" dirty="0"/>
          </a:p>
        </p:txBody>
      </p:sp>
      <p:sp>
        <p:nvSpPr>
          <p:cNvPr id="248" name="TextBox 247">
            <a:extLst>
              <a:ext uri="{FF2B5EF4-FFF2-40B4-BE49-F238E27FC236}">
                <a16:creationId xmlns:a16="http://schemas.microsoft.com/office/drawing/2014/main" id="{60E4C628-F15F-DB2A-C16B-FE6222598E2F}"/>
              </a:ext>
            </a:extLst>
          </p:cNvPr>
          <p:cNvSpPr txBox="1"/>
          <p:nvPr/>
        </p:nvSpPr>
        <p:spPr>
          <a:xfrm>
            <a:off x="8266325" y="3817005"/>
            <a:ext cx="428313" cy="228973"/>
          </a:xfrm>
          <a:prstGeom prst="rect">
            <a:avLst/>
          </a:prstGeom>
          <a:noFill/>
        </p:spPr>
        <p:txBody>
          <a:bodyPr wrap="square">
            <a:spAutoFit/>
          </a:bodyPr>
          <a:lstStyle/>
          <a:p>
            <a:r>
              <a:rPr lang="es-CO" sz="888" b="0" i="0" dirty="0">
                <a:solidFill>
                  <a:srgbClr val="333333"/>
                </a:solidFill>
                <a:effectLst/>
                <a:latin typeface="Raleway" pitchFamily="2" charset="0"/>
              </a:rPr>
              <a:t>7</a:t>
            </a:r>
            <a:endParaRPr lang="es-CO" dirty="0"/>
          </a:p>
        </p:txBody>
      </p:sp>
      <p:sp>
        <p:nvSpPr>
          <p:cNvPr id="250" name="TextBox 249">
            <a:extLst>
              <a:ext uri="{FF2B5EF4-FFF2-40B4-BE49-F238E27FC236}">
                <a16:creationId xmlns:a16="http://schemas.microsoft.com/office/drawing/2014/main" id="{AB02E433-54FB-44EC-F737-C144223C80C1}"/>
              </a:ext>
            </a:extLst>
          </p:cNvPr>
          <p:cNvSpPr txBox="1"/>
          <p:nvPr/>
        </p:nvSpPr>
        <p:spPr>
          <a:xfrm>
            <a:off x="8266325" y="4040283"/>
            <a:ext cx="428313" cy="228973"/>
          </a:xfrm>
          <a:prstGeom prst="rect">
            <a:avLst/>
          </a:prstGeom>
          <a:noFill/>
        </p:spPr>
        <p:txBody>
          <a:bodyPr wrap="square">
            <a:spAutoFit/>
          </a:bodyPr>
          <a:lstStyle/>
          <a:p>
            <a:r>
              <a:rPr lang="es-CO" sz="888" b="0" i="0" dirty="0">
                <a:solidFill>
                  <a:srgbClr val="333333"/>
                </a:solidFill>
                <a:effectLst/>
                <a:latin typeface="Raleway" pitchFamily="2" charset="0"/>
              </a:rPr>
              <a:t>9</a:t>
            </a:r>
            <a:endParaRPr lang="es-CO" dirty="0"/>
          </a:p>
        </p:txBody>
      </p:sp>
      <p:sp>
        <p:nvSpPr>
          <p:cNvPr id="252" name="Text 182">
            <a:extLst>
              <a:ext uri="{FF2B5EF4-FFF2-40B4-BE49-F238E27FC236}">
                <a16:creationId xmlns:a16="http://schemas.microsoft.com/office/drawing/2014/main" id="{5B282BD9-44F2-DA18-69F6-28A0C0528D11}"/>
              </a:ext>
            </a:extLst>
          </p:cNvPr>
          <p:cNvSpPr/>
          <p:nvPr/>
        </p:nvSpPr>
        <p:spPr>
          <a:xfrm>
            <a:off x="704832" y="2640852"/>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9</a:t>
            </a:r>
            <a:endParaRPr lang="en-US" sz="624" dirty="0"/>
          </a:p>
        </p:txBody>
      </p:sp>
      <p:sp>
        <p:nvSpPr>
          <p:cNvPr id="254" name="Text 182">
            <a:extLst>
              <a:ext uri="{FF2B5EF4-FFF2-40B4-BE49-F238E27FC236}">
                <a16:creationId xmlns:a16="http://schemas.microsoft.com/office/drawing/2014/main" id="{BEBB147D-B5A0-58A1-E976-729488F03C62}"/>
              </a:ext>
            </a:extLst>
          </p:cNvPr>
          <p:cNvSpPr/>
          <p:nvPr/>
        </p:nvSpPr>
        <p:spPr>
          <a:xfrm>
            <a:off x="704832" y="2481834"/>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8</a:t>
            </a:r>
            <a:endParaRPr lang="en-US" sz="624" dirty="0"/>
          </a:p>
        </p:txBody>
      </p:sp>
      <p:sp>
        <p:nvSpPr>
          <p:cNvPr id="256" name="Text 182">
            <a:extLst>
              <a:ext uri="{FF2B5EF4-FFF2-40B4-BE49-F238E27FC236}">
                <a16:creationId xmlns:a16="http://schemas.microsoft.com/office/drawing/2014/main" id="{0E9C6F98-6AA6-EDD9-AA74-0E36C1E4C233}"/>
              </a:ext>
            </a:extLst>
          </p:cNvPr>
          <p:cNvSpPr/>
          <p:nvPr/>
        </p:nvSpPr>
        <p:spPr>
          <a:xfrm>
            <a:off x="704832" y="2329434"/>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7</a:t>
            </a:r>
            <a:endParaRPr lang="en-US" sz="624" dirty="0"/>
          </a:p>
        </p:txBody>
      </p:sp>
      <p:sp>
        <p:nvSpPr>
          <p:cNvPr id="258" name="Text 182">
            <a:extLst>
              <a:ext uri="{FF2B5EF4-FFF2-40B4-BE49-F238E27FC236}">
                <a16:creationId xmlns:a16="http://schemas.microsoft.com/office/drawing/2014/main" id="{BB2E5111-5AF7-DA34-7A4E-003723C9419A}"/>
              </a:ext>
            </a:extLst>
          </p:cNvPr>
          <p:cNvSpPr/>
          <p:nvPr/>
        </p:nvSpPr>
        <p:spPr>
          <a:xfrm>
            <a:off x="704832" y="2186011"/>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6</a:t>
            </a:r>
            <a:endParaRPr lang="en-US" sz="624" dirty="0"/>
          </a:p>
        </p:txBody>
      </p:sp>
      <p:sp>
        <p:nvSpPr>
          <p:cNvPr id="260" name="Text 182">
            <a:extLst>
              <a:ext uri="{FF2B5EF4-FFF2-40B4-BE49-F238E27FC236}">
                <a16:creationId xmlns:a16="http://schemas.microsoft.com/office/drawing/2014/main" id="{F6030627-1D8F-3EF7-282C-9B48EE0E7BDE}"/>
              </a:ext>
            </a:extLst>
          </p:cNvPr>
          <p:cNvSpPr/>
          <p:nvPr/>
        </p:nvSpPr>
        <p:spPr>
          <a:xfrm>
            <a:off x="704832" y="2038921"/>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5</a:t>
            </a:r>
            <a:endParaRPr lang="en-US" sz="624" dirty="0"/>
          </a:p>
        </p:txBody>
      </p:sp>
      <p:sp>
        <p:nvSpPr>
          <p:cNvPr id="262" name="Text 182">
            <a:extLst>
              <a:ext uri="{FF2B5EF4-FFF2-40B4-BE49-F238E27FC236}">
                <a16:creationId xmlns:a16="http://schemas.microsoft.com/office/drawing/2014/main" id="{E432D380-D961-7C9E-C696-F0073C69473D}"/>
              </a:ext>
            </a:extLst>
          </p:cNvPr>
          <p:cNvSpPr/>
          <p:nvPr/>
        </p:nvSpPr>
        <p:spPr>
          <a:xfrm>
            <a:off x="704832" y="1893117"/>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4</a:t>
            </a:r>
            <a:endParaRPr lang="en-US" sz="624" dirty="0"/>
          </a:p>
        </p:txBody>
      </p:sp>
      <p:sp>
        <p:nvSpPr>
          <p:cNvPr id="264" name="Text 182">
            <a:extLst>
              <a:ext uri="{FF2B5EF4-FFF2-40B4-BE49-F238E27FC236}">
                <a16:creationId xmlns:a16="http://schemas.microsoft.com/office/drawing/2014/main" id="{E6486B01-3102-27C1-477F-6137F36A554B}"/>
              </a:ext>
            </a:extLst>
          </p:cNvPr>
          <p:cNvSpPr/>
          <p:nvPr/>
        </p:nvSpPr>
        <p:spPr>
          <a:xfrm>
            <a:off x="704832" y="1731237"/>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3</a:t>
            </a:r>
            <a:endParaRPr lang="en-US" sz="624" dirty="0"/>
          </a:p>
        </p:txBody>
      </p:sp>
      <p:sp>
        <p:nvSpPr>
          <p:cNvPr id="266" name="Text 182">
            <a:extLst>
              <a:ext uri="{FF2B5EF4-FFF2-40B4-BE49-F238E27FC236}">
                <a16:creationId xmlns:a16="http://schemas.microsoft.com/office/drawing/2014/main" id="{79B88C64-F9F5-CCDF-B1E9-1C909ED8EC1E}"/>
              </a:ext>
            </a:extLst>
          </p:cNvPr>
          <p:cNvSpPr/>
          <p:nvPr/>
        </p:nvSpPr>
        <p:spPr>
          <a:xfrm>
            <a:off x="704832" y="1588340"/>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2</a:t>
            </a:r>
            <a:endParaRPr lang="en-US" sz="624" dirty="0"/>
          </a:p>
        </p:txBody>
      </p:sp>
      <p:sp>
        <p:nvSpPr>
          <p:cNvPr id="268" name="Text 182">
            <a:extLst>
              <a:ext uri="{FF2B5EF4-FFF2-40B4-BE49-F238E27FC236}">
                <a16:creationId xmlns:a16="http://schemas.microsoft.com/office/drawing/2014/main" id="{56EFCB46-C575-96C0-98DA-1F2A634B34D1}"/>
              </a:ext>
            </a:extLst>
          </p:cNvPr>
          <p:cNvSpPr/>
          <p:nvPr/>
        </p:nvSpPr>
        <p:spPr>
          <a:xfrm>
            <a:off x="704832" y="1422243"/>
            <a:ext cx="319914" cy="152400"/>
          </a:xfrm>
          <a:prstGeom prst="rect">
            <a:avLst/>
          </a:prstGeom>
          <a:noFill/>
          <a:ln/>
        </p:spPr>
        <p:txBody>
          <a:bodyPr wrap="square" lIns="19050" tIns="57150" rIns="57150" bIns="19050" rtlCol="0" anchor="ctr"/>
          <a:lstStyle/>
          <a:p>
            <a:pPr marL="0" indent="0" algn="r">
              <a:buNone/>
            </a:pPr>
            <a:r>
              <a:rPr lang="en-US" sz="624" dirty="0">
                <a:solidFill>
                  <a:srgbClr val="333333"/>
                </a:solidFill>
                <a:latin typeface="Raleway" pitchFamily="34" charset="0"/>
                <a:ea typeface="Raleway" pitchFamily="34" charset="-122"/>
                <a:cs typeface="Raleway" pitchFamily="34" charset="-120"/>
              </a:rPr>
              <a:t>1</a:t>
            </a:r>
            <a:endParaRPr lang="en-US" sz="624"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C:\01_Repositorios\13_Presentaciones\dash\televentas\ppt_slides\sk_13_main.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8216595" y="2156520"/>
            <a:ext cx="3074060" cy="137350"/>
          </a:xfrm>
          <a:prstGeom prst="rect">
            <a:avLst/>
          </a:prstGeom>
          <a:noFill/>
          <a:ln/>
        </p:spPr>
        <p:txBody>
          <a:bodyPr wrap="square" lIns="0" tIns="0" rIns="0" bIns="0" rtlCol="0" anchor="t"/>
          <a:lstStyle/>
          <a:p>
            <a:pPr marL="0" indent="0" algn="l">
              <a:buNone/>
            </a:pPr>
            <a:r>
              <a:rPr lang="en-US" sz="864" dirty="0">
                <a:solidFill>
                  <a:srgbClr val="9098B0"/>
                </a:solidFill>
                <a:latin typeface="Raleway" pitchFamily="34" charset="0"/>
                <a:ea typeface="Raleway" pitchFamily="34" charset="-122"/>
                <a:cs typeface="Raleway" pitchFamily="34" charset="-120"/>
              </a:rPr>
              <a:t>Semana Burger ×2 · Feria Vanti ×2 · Mundialista</a:t>
            </a:r>
            <a:endParaRPr lang="en-US" sz="864" dirty="0"/>
          </a:p>
        </p:txBody>
      </p:sp>
      <p:sp>
        <p:nvSpPr>
          <p:cNvPr id="4" name="Text 1"/>
          <p:cNvSpPr/>
          <p:nvPr/>
        </p:nvSpPr>
        <p:spPr>
          <a:xfrm>
            <a:off x="1028674" y="2156520"/>
            <a:ext cx="3073907" cy="137350"/>
          </a:xfrm>
          <a:prstGeom prst="rect">
            <a:avLst/>
          </a:prstGeom>
          <a:noFill/>
          <a:ln/>
        </p:spPr>
        <p:txBody>
          <a:bodyPr wrap="square" lIns="0" tIns="0" rIns="0" bIns="0" rtlCol="0" anchor="t"/>
          <a:lstStyle/>
          <a:p>
            <a:pPr marL="0" indent="0" algn="l">
              <a:buNone/>
            </a:pPr>
            <a:r>
              <a:rPr lang="en-US" sz="864" dirty="0">
                <a:solidFill>
                  <a:srgbClr val="9098B0"/>
                </a:solidFill>
                <a:latin typeface="Raleway" pitchFamily="34" charset="0"/>
                <a:ea typeface="Raleway" pitchFamily="34" charset="-122"/>
                <a:cs typeface="Raleway" pitchFamily="34" charset="-120"/>
              </a:rPr>
              <a:t>7 iniciativas comerciales ejecutadas</a:t>
            </a:r>
            <a:endParaRPr lang="en-US" sz="864" dirty="0"/>
          </a:p>
        </p:txBody>
      </p:sp>
      <p:sp>
        <p:nvSpPr>
          <p:cNvPr id="5" name="Text 2"/>
          <p:cNvSpPr/>
          <p:nvPr/>
        </p:nvSpPr>
        <p:spPr>
          <a:xfrm>
            <a:off x="4622635" y="2156520"/>
            <a:ext cx="3073907" cy="137350"/>
          </a:xfrm>
          <a:prstGeom prst="rect">
            <a:avLst/>
          </a:prstGeom>
          <a:noFill/>
          <a:ln/>
        </p:spPr>
        <p:txBody>
          <a:bodyPr wrap="square" lIns="0" tIns="0" rIns="0" bIns="0" rtlCol="0" anchor="t"/>
          <a:lstStyle/>
          <a:p>
            <a:pPr marL="0" indent="0" algn="l">
              <a:buNone/>
            </a:pPr>
            <a:r>
              <a:rPr lang="en-US" sz="864" dirty="0">
                <a:solidFill>
                  <a:srgbClr val="9098B0"/>
                </a:solidFill>
                <a:latin typeface="Raleway" pitchFamily="34" charset="0"/>
                <a:ea typeface="Raleway" pitchFamily="34" charset="-122"/>
                <a:cs typeface="Raleway" pitchFamily="34" charset="-120"/>
              </a:rPr>
              <a:t>Semanas Ganadoras · La Gran Jugada</a:t>
            </a:r>
            <a:endParaRPr lang="en-US" sz="864" dirty="0"/>
          </a:p>
        </p:txBody>
      </p:sp>
      <p:sp>
        <p:nvSpPr>
          <p:cNvPr id="6" name="Text 3"/>
          <p:cNvSpPr/>
          <p:nvPr/>
        </p:nvSpPr>
        <p:spPr>
          <a:xfrm>
            <a:off x="1213514" y="219075"/>
            <a:ext cx="2757672" cy="196215"/>
          </a:xfrm>
          <a:prstGeom prst="rect">
            <a:avLst/>
          </a:prstGeom>
          <a:noFill/>
          <a:ln/>
        </p:spPr>
        <p:txBody>
          <a:bodyPr wrap="square" lIns="0" tIns="0" rIns="0" bIns="0" rtlCol="0" anchor="t"/>
          <a:lstStyle/>
          <a:p>
            <a:pPr marL="0" indent="0" algn="l">
              <a:buNone/>
            </a:pPr>
            <a:r>
              <a:rPr lang="en-US" sz="1260" b="1" dirty="0">
                <a:solidFill>
                  <a:srgbClr val="FFFFFF"/>
                </a:solidFill>
                <a:latin typeface="Raleway" pitchFamily="34" charset="0"/>
                <a:ea typeface="Raleway" pitchFamily="34" charset="-122"/>
                <a:cs typeface="Raleway" pitchFamily="34" charset="-120"/>
              </a:rPr>
              <a:t>Iniciativas Comerciales · 1S 2026</a:t>
            </a:r>
            <a:endParaRPr lang="en-US" sz="1260" dirty="0"/>
          </a:p>
        </p:txBody>
      </p:sp>
      <p:sp>
        <p:nvSpPr>
          <p:cNvPr id="7" name="Text 4"/>
          <p:cNvSpPr/>
          <p:nvPr/>
        </p:nvSpPr>
        <p:spPr>
          <a:xfrm>
            <a:off x="1028674" y="1657350"/>
            <a:ext cx="3073907" cy="137350"/>
          </a:xfrm>
          <a:prstGeom prst="rect">
            <a:avLst/>
          </a:prstGeom>
          <a:noFill/>
          <a:ln/>
        </p:spPr>
        <p:txBody>
          <a:bodyPr wrap="square" lIns="0" tIns="0" rIns="0" bIns="0" rtlCol="0" anchor="t"/>
          <a:lstStyle/>
          <a:p>
            <a:pPr marL="0" indent="0" algn="l">
              <a:buNone/>
            </a:pPr>
            <a:r>
              <a:rPr lang="en-US" sz="864" b="1" dirty="0">
                <a:solidFill>
                  <a:srgbClr val="9098B0"/>
                </a:solidFill>
                <a:latin typeface="Raleway" pitchFamily="34" charset="0"/>
                <a:ea typeface="Raleway" pitchFamily="34" charset="-122"/>
                <a:cs typeface="Raleway" pitchFamily="34" charset="-120"/>
              </a:rPr>
              <a:t>Ventas en campañas del 1S</a:t>
            </a:r>
            <a:endParaRPr lang="en-US" sz="864" dirty="0"/>
          </a:p>
        </p:txBody>
      </p:sp>
      <p:sp>
        <p:nvSpPr>
          <p:cNvPr id="8" name="Text 5"/>
          <p:cNvSpPr/>
          <p:nvPr/>
        </p:nvSpPr>
        <p:spPr>
          <a:xfrm>
            <a:off x="1014763" y="1116061"/>
            <a:ext cx="10948523" cy="255079"/>
          </a:xfrm>
          <a:prstGeom prst="rect">
            <a:avLst/>
          </a:prstGeom>
          <a:noFill/>
          <a:ln/>
        </p:spPr>
        <p:txBody>
          <a:bodyPr wrap="square" lIns="0" tIns="0" rIns="0" bIns="76200" rtlCol="0" anchor="t"/>
          <a:lstStyle/>
          <a:p>
            <a:pPr marL="0" indent="0" algn="l">
              <a:buNone/>
            </a:pPr>
            <a:r>
              <a:rPr lang="en-US" sz="1020" b="1" dirty="0">
                <a:solidFill>
                  <a:srgbClr val="120180"/>
                </a:solidFill>
                <a:latin typeface="Raleway" pitchFamily="34" charset="0"/>
                <a:ea typeface="Raleway" pitchFamily="34" charset="-122"/>
                <a:cs typeface="Raleway" pitchFamily="34" charset="-120"/>
              </a:rPr>
              <a:t>Lo ejecutado en el 1S</a:t>
            </a:r>
            <a:endParaRPr lang="en-US" sz="1020" dirty="0"/>
          </a:p>
        </p:txBody>
      </p:sp>
      <p:sp>
        <p:nvSpPr>
          <p:cNvPr id="9" name="Text 6"/>
          <p:cNvSpPr/>
          <p:nvPr/>
        </p:nvSpPr>
        <p:spPr>
          <a:xfrm>
            <a:off x="10582086" y="129741"/>
            <a:ext cx="1583630" cy="215836"/>
          </a:xfrm>
          <a:prstGeom prst="rect">
            <a:avLst/>
          </a:prstGeom>
          <a:noFill/>
          <a:ln/>
        </p:spPr>
        <p:txBody>
          <a:bodyPr wrap="square" lIns="38100" tIns="114300" rIns="114300" bIns="38100" rtlCol="0" anchor="t"/>
          <a:lstStyle/>
          <a:p>
            <a:pPr marL="0" indent="0" algn="l">
              <a:buNone/>
            </a:pPr>
            <a:r>
              <a:rPr lang="en-US" sz="840" b="1" dirty="0">
                <a:solidFill>
                  <a:srgbClr val="5AE280"/>
                </a:solidFill>
                <a:latin typeface="Raleway" pitchFamily="34" charset="0"/>
                <a:ea typeface="Raleway" pitchFamily="34" charset="-122"/>
                <a:cs typeface="Raleway" pitchFamily="34" charset="-120"/>
              </a:rPr>
              <a:t> Iniciativas</a:t>
            </a:r>
            <a:endParaRPr lang="en-US" sz="840" dirty="0"/>
          </a:p>
        </p:txBody>
      </p:sp>
      <p:sp>
        <p:nvSpPr>
          <p:cNvPr id="10" name="Text 7"/>
          <p:cNvSpPr/>
          <p:nvPr/>
        </p:nvSpPr>
        <p:spPr>
          <a:xfrm>
            <a:off x="4622635" y="1657350"/>
            <a:ext cx="3073907" cy="137350"/>
          </a:xfrm>
          <a:prstGeom prst="rect">
            <a:avLst/>
          </a:prstGeom>
          <a:noFill/>
          <a:ln/>
        </p:spPr>
        <p:txBody>
          <a:bodyPr wrap="square" lIns="0" tIns="0" rIns="0" bIns="0" rtlCol="0" anchor="t"/>
          <a:lstStyle/>
          <a:p>
            <a:pPr marL="0" indent="0" algn="l">
              <a:buNone/>
            </a:pPr>
            <a:r>
              <a:rPr lang="en-US" sz="864" b="1" dirty="0">
                <a:solidFill>
                  <a:srgbClr val="9098B0"/>
                </a:solidFill>
                <a:latin typeface="Raleway" pitchFamily="34" charset="0"/>
                <a:ea typeface="Raleway" pitchFamily="34" charset="-122"/>
                <a:cs typeface="Raleway" pitchFamily="34" charset="-120"/>
              </a:rPr>
              <a:t>Impulsadas por Vanti</a:t>
            </a:r>
            <a:endParaRPr lang="en-US" sz="864" dirty="0"/>
          </a:p>
        </p:txBody>
      </p:sp>
      <p:sp>
        <p:nvSpPr>
          <p:cNvPr id="11" name="Text 8"/>
          <p:cNvSpPr/>
          <p:nvPr/>
        </p:nvSpPr>
        <p:spPr>
          <a:xfrm>
            <a:off x="8216595" y="1657350"/>
            <a:ext cx="3074060" cy="137350"/>
          </a:xfrm>
          <a:prstGeom prst="rect">
            <a:avLst/>
          </a:prstGeom>
          <a:noFill/>
          <a:ln/>
        </p:spPr>
        <p:txBody>
          <a:bodyPr wrap="square" lIns="0" tIns="0" rIns="0" bIns="0" rtlCol="0" anchor="t"/>
          <a:lstStyle/>
          <a:p>
            <a:pPr marL="0" indent="0" algn="l">
              <a:buNone/>
            </a:pPr>
            <a:r>
              <a:rPr lang="en-US" sz="864" b="1" dirty="0">
                <a:solidFill>
                  <a:srgbClr val="9098B0"/>
                </a:solidFill>
                <a:latin typeface="Raleway" pitchFamily="34" charset="0"/>
                <a:ea typeface="Raleway" pitchFamily="34" charset="-122"/>
                <a:cs typeface="Raleway" pitchFamily="34" charset="-120"/>
              </a:rPr>
              <a:t>Impulsadas por Xuma</a:t>
            </a:r>
            <a:endParaRPr lang="en-US" sz="864" dirty="0"/>
          </a:p>
        </p:txBody>
      </p:sp>
      <p:sp>
        <p:nvSpPr>
          <p:cNvPr id="12" name="Text 9"/>
          <p:cNvSpPr/>
          <p:nvPr/>
        </p:nvSpPr>
        <p:spPr>
          <a:xfrm>
            <a:off x="955710" y="2820038"/>
            <a:ext cx="3355193" cy="149001"/>
          </a:xfrm>
          <a:prstGeom prst="rect">
            <a:avLst/>
          </a:prstGeom>
          <a:noFill/>
          <a:ln/>
        </p:spPr>
        <p:txBody>
          <a:bodyPr wrap="square" lIns="0" tIns="0" rIns="0" bIns="0" rtlCol="0" anchor="t"/>
          <a:lstStyle/>
          <a:p>
            <a:pPr marL="0" indent="0" algn="l">
              <a:buNone/>
            </a:pPr>
            <a:r>
              <a:rPr lang="en-US" sz="912" b="1" dirty="0">
                <a:solidFill>
                  <a:srgbClr val="333333"/>
                </a:solidFill>
                <a:latin typeface="Raleway" pitchFamily="34" charset="0"/>
                <a:ea typeface="Raleway" pitchFamily="34" charset="-122"/>
                <a:cs typeface="Raleway" pitchFamily="34" charset="-120"/>
              </a:rPr>
              <a:t>Semanas Ganadoras</a:t>
            </a:r>
            <a:endParaRPr lang="en-US" sz="912" dirty="0"/>
          </a:p>
        </p:txBody>
      </p:sp>
      <p:sp>
        <p:nvSpPr>
          <p:cNvPr id="13" name="Text 10"/>
          <p:cNvSpPr/>
          <p:nvPr/>
        </p:nvSpPr>
        <p:spPr>
          <a:xfrm>
            <a:off x="955710" y="4766709"/>
            <a:ext cx="3355193" cy="149001"/>
          </a:xfrm>
          <a:prstGeom prst="rect">
            <a:avLst/>
          </a:prstGeom>
          <a:noFill/>
          <a:ln/>
        </p:spPr>
        <p:txBody>
          <a:bodyPr wrap="square" lIns="0" tIns="0" rIns="0" bIns="0" rtlCol="0" anchor="t"/>
          <a:lstStyle/>
          <a:p>
            <a:pPr marL="0" indent="0" algn="l">
              <a:buNone/>
            </a:pPr>
            <a:r>
              <a:rPr lang="en-US" sz="912" b="1" dirty="0">
                <a:solidFill>
                  <a:srgbClr val="333333"/>
                </a:solidFill>
                <a:latin typeface="Raleway" pitchFamily="34" charset="0"/>
                <a:ea typeface="Raleway" pitchFamily="34" charset="-122"/>
                <a:cs typeface="Raleway" pitchFamily="34" charset="-120"/>
              </a:rPr>
              <a:t>Feria Mundialista</a:t>
            </a:r>
            <a:endParaRPr lang="en-US" sz="912" dirty="0"/>
          </a:p>
        </p:txBody>
      </p:sp>
      <p:sp>
        <p:nvSpPr>
          <p:cNvPr id="14" name="Text 11"/>
          <p:cNvSpPr/>
          <p:nvPr/>
        </p:nvSpPr>
        <p:spPr>
          <a:xfrm>
            <a:off x="4517971" y="4766709"/>
            <a:ext cx="3355193" cy="149001"/>
          </a:xfrm>
          <a:prstGeom prst="rect">
            <a:avLst/>
          </a:prstGeom>
          <a:noFill/>
          <a:ln/>
        </p:spPr>
        <p:txBody>
          <a:bodyPr wrap="square" lIns="0" tIns="0" rIns="0" bIns="0" rtlCol="0" anchor="t"/>
          <a:lstStyle/>
          <a:p>
            <a:pPr marL="0" indent="0" algn="l">
              <a:buNone/>
            </a:pPr>
            <a:r>
              <a:rPr lang="en-US" sz="912" b="1" dirty="0">
                <a:solidFill>
                  <a:srgbClr val="333333"/>
                </a:solidFill>
                <a:latin typeface="Raleway" pitchFamily="34" charset="0"/>
                <a:ea typeface="Raleway" pitchFamily="34" charset="-122"/>
                <a:cs typeface="Raleway" pitchFamily="34" charset="-120"/>
              </a:rPr>
              <a:t>Acelerador Mayo</a:t>
            </a:r>
            <a:endParaRPr lang="en-US" sz="912" dirty="0"/>
          </a:p>
        </p:txBody>
      </p:sp>
      <p:sp>
        <p:nvSpPr>
          <p:cNvPr id="15" name="Text 12"/>
          <p:cNvSpPr/>
          <p:nvPr/>
        </p:nvSpPr>
        <p:spPr>
          <a:xfrm>
            <a:off x="8080231" y="2820038"/>
            <a:ext cx="3355193" cy="149001"/>
          </a:xfrm>
          <a:prstGeom prst="rect">
            <a:avLst/>
          </a:prstGeom>
          <a:noFill/>
          <a:ln/>
        </p:spPr>
        <p:txBody>
          <a:bodyPr wrap="square" lIns="0" tIns="0" rIns="0" bIns="0" rtlCol="0" anchor="t"/>
          <a:lstStyle/>
          <a:p>
            <a:pPr marL="0" indent="0" algn="l">
              <a:buNone/>
            </a:pPr>
            <a:r>
              <a:rPr lang="en-US" sz="912" b="1" dirty="0">
                <a:solidFill>
                  <a:srgbClr val="333333"/>
                </a:solidFill>
                <a:latin typeface="Raleway" pitchFamily="34" charset="0"/>
                <a:ea typeface="Raleway" pitchFamily="34" charset="-122"/>
                <a:cs typeface="Raleway" pitchFamily="34" charset="-120"/>
              </a:rPr>
              <a:t>La Gran Jugada</a:t>
            </a:r>
            <a:endParaRPr lang="en-US" sz="912" dirty="0"/>
          </a:p>
        </p:txBody>
      </p:sp>
      <p:sp>
        <p:nvSpPr>
          <p:cNvPr id="16" name="Text 13"/>
          <p:cNvSpPr/>
          <p:nvPr/>
        </p:nvSpPr>
        <p:spPr>
          <a:xfrm>
            <a:off x="955710" y="3221873"/>
            <a:ext cx="3355193" cy="128016"/>
          </a:xfrm>
          <a:prstGeom prst="rect">
            <a:avLst/>
          </a:prstGeom>
          <a:noFill/>
          <a:ln/>
        </p:spPr>
        <p:txBody>
          <a:bodyPr wrap="square" lIns="0" tIns="0" rIns="0" bIns="0" rtlCol="0" anchor="t"/>
          <a:lstStyle/>
          <a:p>
            <a:pPr marL="0" indent="0" algn="l">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17" name="Text 14"/>
          <p:cNvSpPr/>
          <p:nvPr/>
        </p:nvSpPr>
        <p:spPr>
          <a:xfrm>
            <a:off x="4517971" y="2820038"/>
            <a:ext cx="3355193" cy="149001"/>
          </a:xfrm>
          <a:prstGeom prst="rect">
            <a:avLst/>
          </a:prstGeom>
          <a:noFill/>
          <a:ln/>
        </p:spPr>
        <p:txBody>
          <a:bodyPr wrap="square" lIns="0" tIns="0" rIns="0" bIns="0" rtlCol="0" anchor="t"/>
          <a:lstStyle/>
          <a:p>
            <a:pPr marL="0" indent="0" algn="l">
              <a:buNone/>
            </a:pPr>
            <a:r>
              <a:rPr lang="en-US" sz="912" b="1" dirty="0">
                <a:solidFill>
                  <a:srgbClr val="333333"/>
                </a:solidFill>
                <a:latin typeface="Raleway" pitchFamily="34" charset="0"/>
                <a:ea typeface="Raleway" pitchFamily="34" charset="-122"/>
                <a:cs typeface="Raleway" pitchFamily="34" charset="-120"/>
              </a:rPr>
              <a:t>Semana Burger</a:t>
            </a:r>
            <a:endParaRPr lang="en-US" sz="912" dirty="0"/>
          </a:p>
        </p:txBody>
      </p:sp>
      <p:sp>
        <p:nvSpPr>
          <p:cNvPr id="18" name="Text 15"/>
          <p:cNvSpPr/>
          <p:nvPr/>
        </p:nvSpPr>
        <p:spPr>
          <a:xfrm>
            <a:off x="4517971" y="3221873"/>
            <a:ext cx="3355193" cy="128016"/>
          </a:xfrm>
          <a:prstGeom prst="rect">
            <a:avLst/>
          </a:prstGeom>
          <a:noFill/>
          <a:ln/>
        </p:spPr>
        <p:txBody>
          <a:bodyPr wrap="square" lIns="0" tIns="0" rIns="0" bIns="0" rtlCol="0" anchor="t"/>
          <a:lstStyle/>
          <a:p>
            <a:pPr marL="0" indent="0" algn="l">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19" name="Text 16"/>
          <p:cNvSpPr/>
          <p:nvPr/>
        </p:nvSpPr>
        <p:spPr>
          <a:xfrm>
            <a:off x="8080231" y="3221873"/>
            <a:ext cx="3355193" cy="128016"/>
          </a:xfrm>
          <a:prstGeom prst="rect">
            <a:avLst/>
          </a:prstGeom>
          <a:noFill/>
          <a:ln/>
        </p:spPr>
        <p:txBody>
          <a:bodyPr wrap="square" lIns="0" tIns="0" rIns="0" bIns="0" rtlCol="0" anchor="t"/>
          <a:lstStyle/>
          <a:p>
            <a:pPr marL="0" indent="0" algn="l">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0" name="Text 17"/>
          <p:cNvSpPr/>
          <p:nvPr/>
        </p:nvSpPr>
        <p:spPr>
          <a:xfrm>
            <a:off x="955710" y="3793373"/>
            <a:ext cx="3355193" cy="149001"/>
          </a:xfrm>
          <a:prstGeom prst="rect">
            <a:avLst/>
          </a:prstGeom>
          <a:noFill/>
          <a:ln/>
        </p:spPr>
        <p:txBody>
          <a:bodyPr wrap="square" lIns="0" tIns="0" rIns="0" bIns="0" rtlCol="0" anchor="t"/>
          <a:lstStyle/>
          <a:p>
            <a:pPr marL="0" indent="0" algn="l">
              <a:buNone/>
            </a:pPr>
            <a:r>
              <a:rPr lang="en-US" sz="912" b="1" dirty="0">
                <a:solidFill>
                  <a:srgbClr val="333333"/>
                </a:solidFill>
                <a:latin typeface="Raleway" pitchFamily="34" charset="0"/>
                <a:ea typeface="Raleway" pitchFamily="34" charset="-122"/>
                <a:cs typeface="Raleway" pitchFamily="34" charset="-120"/>
              </a:rPr>
              <a:t>Semana Burger</a:t>
            </a:r>
            <a:endParaRPr lang="en-US" sz="912" dirty="0"/>
          </a:p>
        </p:txBody>
      </p:sp>
      <p:sp>
        <p:nvSpPr>
          <p:cNvPr id="21" name="Text 18"/>
          <p:cNvSpPr/>
          <p:nvPr/>
        </p:nvSpPr>
        <p:spPr>
          <a:xfrm>
            <a:off x="955710" y="4195209"/>
            <a:ext cx="3355193" cy="128016"/>
          </a:xfrm>
          <a:prstGeom prst="rect">
            <a:avLst/>
          </a:prstGeom>
          <a:noFill/>
          <a:ln/>
        </p:spPr>
        <p:txBody>
          <a:bodyPr wrap="square" lIns="0" tIns="0" rIns="0" bIns="0" rtlCol="0" anchor="t"/>
          <a:lstStyle/>
          <a:p>
            <a:pPr marL="0" indent="0" algn="l">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2" name="Text 19"/>
          <p:cNvSpPr/>
          <p:nvPr/>
        </p:nvSpPr>
        <p:spPr>
          <a:xfrm>
            <a:off x="4517971" y="4195209"/>
            <a:ext cx="3355193" cy="128016"/>
          </a:xfrm>
          <a:prstGeom prst="rect">
            <a:avLst/>
          </a:prstGeom>
          <a:noFill/>
          <a:ln/>
        </p:spPr>
        <p:txBody>
          <a:bodyPr wrap="square" lIns="0" tIns="0" rIns="0" bIns="0" rtlCol="0" anchor="t"/>
          <a:lstStyle/>
          <a:p>
            <a:pPr marL="0" indent="0" algn="l">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3" name="Text 20"/>
          <p:cNvSpPr/>
          <p:nvPr/>
        </p:nvSpPr>
        <p:spPr>
          <a:xfrm>
            <a:off x="8080231" y="4195209"/>
            <a:ext cx="3355193" cy="128016"/>
          </a:xfrm>
          <a:prstGeom prst="rect">
            <a:avLst/>
          </a:prstGeom>
          <a:noFill/>
          <a:ln/>
        </p:spPr>
        <p:txBody>
          <a:bodyPr wrap="square" lIns="0" tIns="0" rIns="0" bIns="0" rtlCol="0" anchor="t"/>
          <a:lstStyle/>
          <a:p>
            <a:pPr marL="0" indent="0" algn="l">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4" name="Text 21"/>
          <p:cNvSpPr/>
          <p:nvPr/>
        </p:nvSpPr>
        <p:spPr>
          <a:xfrm>
            <a:off x="955710" y="5168545"/>
            <a:ext cx="3355193" cy="128016"/>
          </a:xfrm>
          <a:prstGeom prst="rect">
            <a:avLst/>
          </a:prstGeom>
          <a:noFill/>
          <a:ln/>
        </p:spPr>
        <p:txBody>
          <a:bodyPr wrap="square" lIns="0" tIns="0" rIns="0" bIns="0" rtlCol="0" anchor="t"/>
          <a:lstStyle/>
          <a:p>
            <a:pPr marL="0" indent="0" algn="l">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5" name="Text 22"/>
          <p:cNvSpPr/>
          <p:nvPr/>
        </p:nvSpPr>
        <p:spPr>
          <a:xfrm>
            <a:off x="4517971" y="5168545"/>
            <a:ext cx="3355193" cy="128016"/>
          </a:xfrm>
          <a:prstGeom prst="rect">
            <a:avLst/>
          </a:prstGeom>
          <a:noFill/>
          <a:ln/>
        </p:spPr>
        <p:txBody>
          <a:bodyPr wrap="square" lIns="0" tIns="0" rIns="0" bIns="0" rtlCol="0" anchor="t"/>
          <a:lstStyle/>
          <a:p>
            <a:pPr marL="0" indent="0" algn="l">
              <a:buNone/>
            </a:pPr>
            <a:r>
              <a:rPr lang="en-US" sz="720" b="1" dirty="0">
                <a:solidFill>
                  <a:srgbClr val="9098B0"/>
                </a:solidFill>
                <a:latin typeface="Raleway" pitchFamily="34" charset="0"/>
                <a:ea typeface="Raleway" pitchFamily="34" charset="-122"/>
                <a:cs typeface="Raleway" pitchFamily="34" charset="-120"/>
              </a:rPr>
              <a:t>Ver detalle ▾</a:t>
            </a:r>
            <a:endParaRPr lang="en-US" sz="720" dirty="0"/>
          </a:p>
        </p:txBody>
      </p:sp>
      <p:sp>
        <p:nvSpPr>
          <p:cNvPr id="26" name="Text 23"/>
          <p:cNvSpPr/>
          <p:nvPr/>
        </p:nvSpPr>
        <p:spPr>
          <a:xfrm>
            <a:off x="4517971" y="3793373"/>
            <a:ext cx="3355193" cy="149001"/>
          </a:xfrm>
          <a:prstGeom prst="rect">
            <a:avLst/>
          </a:prstGeom>
          <a:noFill/>
          <a:ln/>
        </p:spPr>
        <p:txBody>
          <a:bodyPr wrap="square" lIns="0" tIns="0" rIns="0" bIns="0" rtlCol="0" anchor="t"/>
          <a:lstStyle/>
          <a:p>
            <a:pPr marL="0" indent="0" algn="l">
              <a:buNone/>
            </a:pPr>
            <a:r>
              <a:rPr lang="en-US" sz="912" b="1" dirty="0">
                <a:solidFill>
                  <a:srgbClr val="333333"/>
                </a:solidFill>
                <a:latin typeface="Raleway" pitchFamily="34" charset="0"/>
                <a:ea typeface="Raleway" pitchFamily="34" charset="-122"/>
                <a:cs typeface="Raleway" pitchFamily="34" charset="-120"/>
              </a:rPr>
              <a:t>Feria Vanti</a:t>
            </a:r>
            <a:endParaRPr lang="en-US" sz="912" dirty="0"/>
          </a:p>
        </p:txBody>
      </p:sp>
      <p:sp>
        <p:nvSpPr>
          <p:cNvPr id="27" name="Text 24"/>
          <p:cNvSpPr/>
          <p:nvPr/>
        </p:nvSpPr>
        <p:spPr>
          <a:xfrm>
            <a:off x="8080231" y="3793373"/>
            <a:ext cx="3355193" cy="149001"/>
          </a:xfrm>
          <a:prstGeom prst="rect">
            <a:avLst/>
          </a:prstGeom>
          <a:noFill/>
          <a:ln/>
        </p:spPr>
        <p:txBody>
          <a:bodyPr wrap="square" lIns="0" tIns="0" rIns="0" bIns="0" rtlCol="0" anchor="t"/>
          <a:lstStyle/>
          <a:p>
            <a:pPr marL="0" indent="0" algn="l">
              <a:buNone/>
            </a:pPr>
            <a:r>
              <a:rPr lang="en-US" sz="912" b="1" dirty="0">
                <a:solidFill>
                  <a:srgbClr val="333333"/>
                </a:solidFill>
                <a:latin typeface="Raleway" pitchFamily="34" charset="0"/>
                <a:ea typeface="Raleway" pitchFamily="34" charset="-122"/>
                <a:cs typeface="Raleway" pitchFamily="34" charset="-120"/>
              </a:rPr>
              <a:t>Feria Vanti</a:t>
            </a:r>
            <a:endParaRPr lang="en-US" sz="912" dirty="0"/>
          </a:p>
        </p:txBody>
      </p:sp>
      <p:sp>
        <p:nvSpPr>
          <p:cNvPr id="28" name="Text 25"/>
          <p:cNvSpPr/>
          <p:nvPr/>
        </p:nvSpPr>
        <p:spPr>
          <a:xfrm>
            <a:off x="7434036" y="2648588"/>
            <a:ext cx="351645" cy="128016"/>
          </a:xfrm>
          <a:prstGeom prst="rect">
            <a:avLst/>
          </a:prstGeom>
          <a:noFill/>
          <a:ln/>
        </p:spPr>
        <p:txBody>
          <a:bodyPr wrap="square" lIns="0" tIns="0" rIns="0" bIns="0" rtlCol="0" anchor="t"/>
          <a:lstStyle/>
          <a:p>
            <a:pPr marL="0" indent="0" algn="l">
              <a:buNone/>
            </a:pPr>
            <a:r>
              <a:rPr lang="en-US" sz="744" dirty="0">
                <a:solidFill>
                  <a:srgbClr val="9098B0"/>
                </a:solidFill>
                <a:latin typeface="Raleway" pitchFamily="34" charset="0"/>
                <a:ea typeface="Raleway" pitchFamily="34" charset="-122"/>
                <a:cs typeface="Raleway" pitchFamily="34" charset="-120"/>
              </a:rPr>
              <a:t>Febrero</a:t>
            </a:r>
            <a:endParaRPr lang="en-US" sz="744" dirty="0"/>
          </a:p>
        </p:txBody>
      </p:sp>
      <p:sp>
        <p:nvSpPr>
          <p:cNvPr id="29" name="Text 26"/>
          <p:cNvSpPr/>
          <p:nvPr/>
        </p:nvSpPr>
        <p:spPr>
          <a:xfrm>
            <a:off x="10965193" y="2648588"/>
            <a:ext cx="383683" cy="128016"/>
          </a:xfrm>
          <a:prstGeom prst="rect">
            <a:avLst/>
          </a:prstGeom>
          <a:noFill/>
          <a:ln/>
        </p:spPr>
        <p:txBody>
          <a:bodyPr wrap="square" lIns="0" tIns="0" rIns="0" bIns="0" rtlCol="0" anchor="t"/>
          <a:lstStyle/>
          <a:p>
            <a:pPr marL="0" indent="0" algn="l">
              <a:buNone/>
            </a:pPr>
            <a:r>
              <a:rPr lang="en-US" sz="744" dirty="0">
                <a:solidFill>
                  <a:srgbClr val="9098B0"/>
                </a:solidFill>
                <a:latin typeface="Raleway" pitchFamily="34" charset="0"/>
                <a:ea typeface="Raleway" pitchFamily="34" charset="-122"/>
                <a:cs typeface="Raleway" pitchFamily="34" charset="-120"/>
              </a:rPr>
              <a:t>Mar–Abr</a:t>
            </a:r>
            <a:endParaRPr lang="en-US" sz="744" dirty="0"/>
          </a:p>
        </p:txBody>
      </p:sp>
      <p:sp>
        <p:nvSpPr>
          <p:cNvPr id="30" name="Text 27"/>
          <p:cNvSpPr/>
          <p:nvPr/>
        </p:nvSpPr>
        <p:spPr>
          <a:xfrm>
            <a:off x="8438154" y="3021848"/>
            <a:ext cx="417406" cy="147161"/>
          </a:xfrm>
          <a:prstGeom prst="rect">
            <a:avLst/>
          </a:prstGeom>
          <a:noFill/>
          <a:ln/>
        </p:spPr>
        <p:txBody>
          <a:bodyPr wrap="square" lIns="0" tIns="0" rIns="0" bIns="0" rtlCol="0" anchor="t"/>
          <a:lstStyle/>
          <a:p>
            <a:pPr marL="0" indent="0" algn="l">
              <a:buNone/>
            </a:pPr>
            <a:r>
              <a:rPr lang="en-US" sz="936" dirty="0">
                <a:solidFill>
                  <a:srgbClr val="9098B0"/>
                </a:solidFill>
                <a:latin typeface="Raleway" pitchFamily="34" charset="0"/>
                <a:ea typeface="Raleway" pitchFamily="34" charset="-122"/>
                <a:cs typeface="Raleway" pitchFamily="34" charset="-120"/>
              </a:rPr>
              <a:t>/ 4.200</a:t>
            </a:r>
            <a:endParaRPr lang="en-US" sz="936" dirty="0"/>
          </a:p>
        </p:txBody>
      </p:sp>
      <p:sp>
        <p:nvSpPr>
          <p:cNvPr id="31" name="Text 28"/>
          <p:cNvSpPr/>
          <p:nvPr/>
        </p:nvSpPr>
        <p:spPr>
          <a:xfrm>
            <a:off x="1304256" y="4968520"/>
            <a:ext cx="404223" cy="147161"/>
          </a:xfrm>
          <a:prstGeom prst="rect">
            <a:avLst/>
          </a:prstGeom>
          <a:noFill/>
          <a:ln/>
        </p:spPr>
        <p:txBody>
          <a:bodyPr wrap="square" lIns="0" tIns="0" rIns="0" bIns="0" rtlCol="0" anchor="t"/>
          <a:lstStyle/>
          <a:p>
            <a:pPr marL="0" indent="0" algn="l">
              <a:buNone/>
            </a:pPr>
            <a:r>
              <a:rPr lang="en-US" sz="936" dirty="0">
                <a:solidFill>
                  <a:srgbClr val="9098B0"/>
                </a:solidFill>
                <a:latin typeface="Raleway" pitchFamily="34" charset="0"/>
                <a:ea typeface="Raleway" pitchFamily="34" charset="-122"/>
                <a:cs typeface="Raleway" pitchFamily="34" charset="-120"/>
              </a:rPr>
              <a:t>/ 1.200</a:t>
            </a:r>
            <a:endParaRPr lang="en-US" sz="936" dirty="0"/>
          </a:p>
        </p:txBody>
      </p:sp>
      <p:sp>
        <p:nvSpPr>
          <p:cNvPr id="32" name="Text 29"/>
          <p:cNvSpPr/>
          <p:nvPr/>
        </p:nvSpPr>
        <p:spPr>
          <a:xfrm>
            <a:off x="1028674" y="1828800"/>
            <a:ext cx="3073907" cy="298308"/>
          </a:xfrm>
          <a:prstGeom prst="rect">
            <a:avLst/>
          </a:prstGeom>
          <a:noFill/>
          <a:ln/>
        </p:spPr>
        <p:txBody>
          <a:bodyPr wrap="square" lIns="0" tIns="0" rIns="0" bIns="0" rtlCol="0" anchor="t"/>
          <a:lstStyle/>
          <a:p>
            <a:pPr marL="0" indent="0" algn="l">
              <a:buNone/>
            </a:pPr>
            <a:r>
              <a:rPr lang="en-US" sz="1400" b="1" dirty="0">
                <a:solidFill>
                  <a:srgbClr val="120180"/>
                </a:solidFill>
                <a:latin typeface="Raleway" pitchFamily="34" charset="0"/>
                <a:ea typeface="Raleway" pitchFamily="34" charset="-122"/>
                <a:cs typeface="Raleway" pitchFamily="34" charset="-120"/>
              </a:rPr>
              <a:t>10.509</a:t>
            </a:r>
            <a:endParaRPr lang="en-US" sz="1400" dirty="0"/>
          </a:p>
        </p:txBody>
      </p:sp>
      <p:sp>
        <p:nvSpPr>
          <p:cNvPr id="33" name="Text 30"/>
          <p:cNvSpPr/>
          <p:nvPr/>
        </p:nvSpPr>
        <p:spPr>
          <a:xfrm>
            <a:off x="955710" y="2629538"/>
            <a:ext cx="386135" cy="147161"/>
          </a:xfrm>
          <a:prstGeom prst="rect">
            <a:avLst/>
          </a:prstGeom>
          <a:noFill/>
          <a:ln/>
        </p:spPr>
        <p:txBody>
          <a:bodyPr wrap="square" lIns="19050" tIns="76200" rIns="76200" bIns="19050" rtlCol="0" anchor="t"/>
          <a:lstStyle/>
          <a:p>
            <a:pPr marL="0" indent="0" algn="l">
              <a:buNone/>
            </a:pPr>
            <a:r>
              <a:rPr lang="en-US" sz="720" b="1" dirty="0">
                <a:solidFill>
                  <a:srgbClr val="8A6200"/>
                </a:solidFill>
                <a:latin typeface="Raleway" pitchFamily="34" charset="0"/>
                <a:ea typeface="Raleway" pitchFamily="34" charset="-122"/>
                <a:cs typeface="Raleway" pitchFamily="34" charset="-120"/>
              </a:rPr>
              <a:t>Vanti</a:t>
            </a:r>
            <a:endParaRPr lang="en-US" sz="720" dirty="0"/>
          </a:p>
        </p:txBody>
      </p:sp>
      <p:sp>
        <p:nvSpPr>
          <p:cNvPr id="34" name="Text 31"/>
          <p:cNvSpPr/>
          <p:nvPr/>
        </p:nvSpPr>
        <p:spPr>
          <a:xfrm>
            <a:off x="3957647" y="2648588"/>
            <a:ext cx="274320" cy="128016"/>
          </a:xfrm>
          <a:prstGeom prst="rect">
            <a:avLst/>
          </a:prstGeom>
          <a:noFill/>
          <a:ln/>
        </p:spPr>
        <p:txBody>
          <a:bodyPr wrap="square" lIns="0" tIns="0" rIns="0" bIns="0" rtlCol="0" anchor="t"/>
          <a:lstStyle/>
          <a:p>
            <a:pPr marL="0" indent="0" algn="l">
              <a:buNone/>
            </a:pPr>
            <a:r>
              <a:rPr lang="en-US" sz="744" dirty="0">
                <a:solidFill>
                  <a:srgbClr val="9098B0"/>
                </a:solidFill>
                <a:latin typeface="Raleway" pitchFamily="34" charset="0"/>
                <a:ea typeface="Raleway" pitchFamily="34" charset="-122"/>
                <a:cs typeface="Raleway" pitchFamily="34" charset="-120"/>
              </a:rPr>
              <a:t>Enero</a:t>
            </a:r>
            <a:endParaRPr lang="en-US" sz="744" dirty="0"/>
          </a:p>
        </p:txBody>
      </p:sp>
      <p:sp>
        <p:nvSpPr>
          <p:cNvPr id="35" name="Text 32"/>
          <p:cNvSpPr/>
          <p:nvPr/>
        </p:nvSpPr>
        <p:spPr>
          <a:xfrm>
            <a:off x="955710" y="3021848"/>
            <a:ext cx="298301" cy="147161"/>
          </a:xfrm>
          <a:prstGeom prst="rect">
            <a:avLst/>
          </a:prstGeom>
          <a:noFill/>
          <a:ln/>
        </p:spPr>
        <p:txBody>
          <a:bodyPr wrap="square" lIns="0" tIns="0" rIns="0" bIns="0" rtlCol="0" anchor="t"/>
          <a:lstStyle/>
          <a:p>
            <a:pPr marL="0" indent="0" algn="l">
              <a:buNone/>
            </a:pPr>
            <a:r>
              <a:rPr lang="en-US" sz="936" b="1" dirty="0">
                <a:solidFill>
                  <a:srgbClr val="333333"/>
                </a:solidFill>
                <a:latin typeface="Raleway" pitchFamily="34" charset="0"/>
                <a:ea typeface="Raleway" pitchFamily="34" charset="-122"/>
                <a:cs typeface="Raleway" pitchFamily="34" charset="-120"/>
              </a:rPr>
              <a:t>1.292</a:t>
            </a:r>
            <a:endParaRPr lang="en-US" sz="936" dirty="0"/>
          </a:p>
        </p:txBody>
      </p:sp>
      <p:sp>
        <p:nvSpPr>
          <p:cNvPr id="36" name="Text 33"/>
          <p:cNvSpPr/>
          <p:nvPr/>
        </p:nvSpPr>
        <p:spPr>
          <a:xfrm>
            <a:off x="1302470" y="3021848"/>
            <a:ext cx="322980" cy="147161"/>
          </a:xfrm>
          <a:prstGeom prst="rect">
            <a:avLst/>
          </a:prstGeom>
          <a:noFill/>
          <a:ln/>
        </p:spPr>
        <p:txBody>
          <a:bodyPr wrap="square" lIns="0" tIns="0" rIns="0" bIns="0" rtlCol="0" anchor="t"/>
          <a:lstStyle/>
          <a:p>
            <a:pPr marL="0" indent="0" algn="l">
              <a:buNone/>
            </a:pPr>
            <a:r>
              <a:rPr lang="en-US" sz="936" dirty="0">
                <a:solidFill>
                  <a:srgbClr val="9098B0"/>
                </a:solidFill>
                <a:latin typeface="Raleway" pitchFamily="34" charset="0"/>
                <a:ea typeface="Raleway" pitchFamily="34" charset="-122"/>
                <a:cs typeface="Raleway" pitchFamily="34" charset="-120"/>
              </a:rPr>
              <a:t>/ 950</a:t>
            </a:r>
            <a:endParaRPr lang="en-US" sz="936" dirty="0"/>
          </a:p>
        </p:txBody>
      </p:sp>
      <p:sp>
        <p:nvSpPr>
          <p:cNvPr id="37" name="Text 34"/>
          <p:cNvSpPr/>
          <p:nvPr/>
        </p:nvSpPr>
        <p:spPr>
          <a:xfrm>
            <a:off x="1673192" y="3012323"/>
            <a:ext cx="443619" cy="166783"/>
          </a:xfrm>
          <a:prstGeom prst="rect">
            <a:avLst/>
          </a:prstGeom>
          <a:noFill/>
          <a:ln/>
        </p:spPr>
        <p:txBody>
          <a:bodyPr wrap="square" lIns="19050" tIns="76200" rIns="76200" bIns="19050" rtlCol="0" anchor="t"/>
          <a:lstStyle/>
          <a:p>
            <a:pPr marL="0" indent="0" algn="l">
              <a:buNone/>
            </a:pPr>
            <a:r>
              <a:rPr lang="en-US" sz="816" b="1" dirty="0">
                <a:solidFill>
                  <a:srgbClr val="008060"/>
                </a:solidFill>
                <a:latin typeface="Raleway" pitchFamily="34" charset="0"/>
                <a:ea typeface="Raleway" pitchFamily="34" charset="-122"/>
                <a:cs typeface="Raleway" pitchFamily="34" charset="-120"/>
              </a:rPr>
              <a:t>136 %</a:t>
            </a:r>
            <a:endParaRPr lang="en-US" sz="816" dirty="0"/>
          </a:p>
        </p:txBody>
      </p:sp>
      <p:sp>
        <p:nvSpPr>
          <p:cNvPr id="38" name="Text 35"/>
          <p:cNvSpPr/>
          <p:nvPr/>
        </p:nvSpPr>
        <p:spPr>
          <a:xfrm>
            <a:off x="4783176" y="3021848"/>
            <a:ext cx="333097" cy="147161"/>
          </a:xfrm>
          <a:prstGeom prst="rect">
            <a:avLst/>
          </a:prstGeom>
          <a:noFill/>
          <a:ln/>
        </p:spPr>
        <p:txBody>
          <a:bodyPr wrap="square" lIns="0" tIns="0" rIns="0" bIns="0" rtlCol="0" anchor="t"/>
          <a:lstStyle/>
          <a:p>
            <a:pPr marL="0" indent="0" algn="l">
              <a:buNone/>
            </a:pPr>
            <a:r>
              <a:rPr lang="en-US" sz="936" dirty="0">
                <a:solidFill>
                  <a:srgbClr val="9098B0"/>
                </a:solidFill>
                <a:latin typeface="Raleway" pitchFamily="34" charset="0"/>
                <a:ea typeface="Raleway" pitchFamily="34" charset="-122"/>
                <a:cs typeface="Raleway" pitchFamily="34" charset="-120"/>
              </a:rPr>
              <a:t>/ 600</a:t>
            </a:r>
            <a:endParaRPr lang="en-US" sz="936" dirty="0"/>
          </a:p>
        </p:txBody>
      </p:sp>
      <p:sp>
        <p:nvSpPr>
          <p:cNvPr id="39" name="Text 36"/>
          <p:cNvSpPr/>
          <p:nvPr/>
        </p:nvSpPr>
        <p:spPr>
          <a:xfrm>
            <a:off x="5163720" y="3012323"/>
            <a:ext cx="437487" cy="166783"/>
          </a:xfrm>
          <a:prstGeom prst="rect">
            <a:avLst/>
          </a:prstGeom>
          <a:noFill/>
          <a:ln/>
        </p:spPr>
        <p:txBody>
          <a:bodyPr wrap="square" lIns="19050" tIns="76200" rIns="76200" bIns="19050" rtlCol="0" anchor="t"/>
          <a:lstStyle/>
          <a:p>
            <a:pPr marL="0" indent="0" algn="l">
              <a:buNone/>
            </a:pPr>
            <a:r>
              <a:rPr lang="en-US" sz="816" b="1" dirty="0">
                <a:solidFill>
                  <a:srgbClr val="008060"/>
                </a:solidFill>
                <a:latin typeface="Raleway" pitchFamily="34" charset="0"/>
                <a:ea typeface="Raleway" pitchFamily="34" charset="-122"/>
                <a:cs typeface="Raleway" pitchFamily="34" charset="-120"/>
              </a:rPr>
              <a:t>110 %</a:t>
            </a:r>
            <a:endParaRPr lang="en-US" sz="816" dirty="0"/>
          </a:p>
        </p:txBody>
      </p:sp>
      <p:sp>
        <p:nvSpPr>
          <p:cNvPr id="40" name="Text 37"/>
          <p:cNvSpPr/>
          <p:nvPr/>
        </p:nvSpPr>
        <p:spPr>
          <a:xfrm>
            <a:off x="8080231" y="2629538"/>
            <a:ext cx="386135" cy="147161"/>
          </a:xfrm>
          <a:prstGeom prst="rect">
            <a:avLst/>
          </a:prstGeom>
          <a:noFill/>
          <a:ln/>
        </p:spPr>
        <p:txBody>
          <a:bodyPr wrap="square" lIns="19050" tIns="76200" rIns="76200" bIns="19050" rtlCol="0" anchor="t"/>
          <a:lstStyle/>
          <a:p>
            <a:pPr marL="0" indent="0" algn="l">
              <a:buNone/>
            </a:pPr>
            <a:r>
              <a:rPr lang="en-US" sz="720" b="1" dirty="0">
                <a:solidFill>
                  <a:srgbClr val="8A6200"/>
                </a:solidFill>
                <a:latin typeface="Raleway" pitchFamily="34" charset="0"/>
                <a:ea typeface="Raleway" pitchFamily="34" charset="-122"/>
                <a:cs typeface="Raleway" pitchFamily="34" charset="-120"/>
              </a:rPr>
              <a:t>Vanti</a:t>
            </a:r>
            <a:endParaRPr lang="en-US" sz="720" dirty="0"/>
          </a:p>
        </p:txBody>
      </p:sp>
      <p:sp>
        <p:nvSpPr>
          <p:cNvPr id="41" name="Text 38"/>
          <p:cNvSpPr/>
          <p:nvPr/>
        </p:nvSpPr>
        <p:spPr>
          <a:xfrm>
            <a:off x="8080231" y="3021848"/>
            <a:ext cx="309797" cy="147161"/>
          </a:xfrm>
          <a:prstGeom prst="rect">
            <a:avLst/>
          </a:prstGeom>
          <a:noFill/>
          <a:ln/>
        </p:spPr>
        <p:txBody>
          <a:bodyPr wrap="square" lIns="0" tIns="0" rIns="0" bIns="0" rtlCol="0" anchor="t"/>
          <a:lstStyle/>
          <a:p>
            <a:pPr marL="0" indent="0" algn="l">
              <a:buNone/>
            </a:pPr>
            <a:r>
              <a:rPr lang="en-US" sz="936" b="1" dirty="0">
                <a:solidFill>
                  <a:srgbClr val="333333"/>
                </a:solidFill>
                <a:latin typeface="Raleway" pitchFamily="34" charset="0"/>
                <a:ea typeface="Raleway" pitchFamily="34" charset="-122"/>
                <a:cs typeface="Raleway" pitchFamily="34" charset="-120"/>
              </a:rPr>
              <a:t>4.798</a:t>
            </a:r>
            <a:endParaRPr lang="en-US" sz="936" dirty="0"/>
          </a:p>
        </p:txBody>
      </p:sp>
      <p:sp>
        <p:nvSpPr>
          <p:cNvPr id="42" name="Text 39"/>
          <p:cNvSpPr/>
          <p:nvPr/>
        </p:nvSpPr>
        <p:spPr>
          <a:xfrm>
            <a:off x="8900552" y="3012323"/>
            <a:ext cx="432889" cy="166783"/>
          </a:xfrm>
          <a:prstGeom prst="rect">
            <a:avLst/>
          </a:prstGeom>
          <a:noFill/>
          <a:ln/>
        </p:spPr>
        <p:txBody>
          <a:bodyPr wrap="square" lIns="19050" tIns="76200" rIns="76200" bIns="19050" rtlCol="0" anchor="t"/>
          <a:lstStyle/>
          <a:p>
            <a:pPr marL="0" indent="0" algn="l">
              <a:buNone/>
            </a:pPr>
            <a:r>
              <a:rPr lang="en-US" sz="816" b="1" dirty="0">
                <a:solidFill>
                  <a:srgbClr val="008060"/>
                </a:solidFill>
                <a:latin typeface="Raleway" pitchFamily="34" charset="0"/>
                <a:ea typeface="Raleway" pitchFamily="34" charset="-122"/>
                <a:cs typeface="Raleway" pitchFamily="34" charset="-120"/>
              </a:rPr>
              <a:t>114 %</a:t>
            </a:r>
            <a:endParaRPr lang="en-US" sz="816" dirty="0"/>
          </a:p>
        </p:txBody>
      </p:sp>
      <p:sp>
        <p:nvSpPr>
          <p:cNvPr id="43" name="Text 40"/>
          <p:cNvSpPr/>
          <p:nvPr/>
        </p:nvSpPr>
        <p:spPr>
          <a:xfrm>
            <a:off x="4011521" y="3621923"/>
            <a:ext cx="274320" cy="128016"/>
          </a:xfrm>
          <a:prstGeom prst="rect">
            <a:avLst/>
          </a:prstGeom>
          <a:noFill/>
          <a:ln/>
        </p:spPr>
        <p:txBody>
          <a:bodyPr wrap="square" lIns="0" tIns="0" rIns="0" bIns="0" rtlCol="0" anchor="t"/>
          <a:lstStyle/>
          <a:p>
            <a:pPr marL="0" indent="0" algn="l">
              <a:buNone/>
            </a:pPr>
            <a:r>
              <a:rPr lang="en-US" sz="744" dirty="0">
                <a:solidFill>
                  <a:srgbClr val="9098B0"/>
                </a:solidFill>
                <a:latin typeface="Raleway" pitchFamily="34" charset="0"/>
                <a:ea typeface="Raleway" pitchFamily="34" charset="-122"/>
                <a:cs typeface="Raleway" pitchFamily="34" charset="-120"/>
              </a:rPr>
              <a:t>Abril</a:t>
            </a:r>
            <a:endParaRPr lang="en-US" sz="744" dirty="0"/>
          </a:p>
        </p:txBody>
      </p:sp>
      <p:sp>
        <p:nvSpPr>
          <p:cNvPr id="44" name="Text 41"/>
          <p:cNvSpPr/>
          <p:nvPr/>
        </p:nvSpPr>
        <p:spPr>
          <a:xfrm>
            <a:off x="1224784" y="3995184"/>
            <a:ext cx="333097" cy="147161"/>
          </a:xfrm>
          <a:prstGeom prst="rect">
            <a:avLst/>
          </a:prstGeom>
          <a:noFill/>
          <a:ln/>
        </p:spPr>
        <p:txBody>
          <a:bodyPr wrap="square" lIns="0" tIns="0" rIns="0" bIns="0" rtlCol="0" anchor="t"/>
          <a:lstStyle/>
          <a:p>
            <a:pPr marL="0" indent="0" algn="l">
              <a:buNone/>
            </a:pPr>
            <a:r>
              <a:rPr lang="en-US" sz="936" dirty="0">
                <a:solidFill>
                  <a:srgbClr val="9098B0"/>
                </a:solidFill>
                <a:latin typeface="Raleway" pitchFamily="34" charset="0"/>
                <a:ea typeface="Raleway" pitchFamily="34" charset="-122"/>
                <a:cs typeface="Raleway" pitchFamily="34" charset="-120"/>
              </a:rPr>
              <a:t>/ 600</a:t>
            </a:r>
            <a:endParaRPr lang="en-US" sz="936" dirty="0"/>
          </a:p>
        </p:txBody>
      </p:sp>
      <p:sp>
        <p:nvSpPr>
          <p:cNvPr id="45" name="Text 42"/>
          <p:cNvSpPr/>
          <p:nvPr/>
        </p:nvSpPr>
        <p:spPr>
          <a:xfrm>
            <a:off x="1605328" y="3985659"/>
            <a:ext cx="437487" cy="166783"/>
          </a:xfrm>
          <a:prstGeom prst="rect">
            <a:avLst/>
          </a:prstGeom>
          <a:noFill/>
          <a:ln/>
        </p:spPr>
        <p:txBody>
          <a:bodyPr wrap="square" lIns="19050" tIns="76200" rIns="76200" bIns="19050" rtlCol="0" anchor="t"/>
          <a:lstStyle/>
          <a:p>
            <a:pPr marL="0" indent="0" algn="l">
              <a:buNone/>
            </a:pPr>
            <a:r>
              <a:rPr lang="en-US" sz="816" b="1" dirty="0">
                <a:solidFill>
                  <a:srgbClr val="008060"/>
                </a:solidFill>
                <a:latin typeface="Raleway" pitchFamily="34" charset="0"/>
                <a:ea typeface="Raleway" pitchFamily="34" charset="-122"/>
                <a:cs typeface="Raleway" pitchFamily="34" charset="-120"/>
              </a:rPr>
              <a:t>101 %</a:t>
            </a:r>
            <a:endParaRPr lang="en-US" sz="816" dirty="0"/>
          </a:p>
        </p:txBody>
      </p:sp>
      <p:sp>
        <p:nvSpPr>
          <p:cNvPr id="46" name="Text 43"/>
          <p:cNvSpPr/>
          <p:nvPr/>
        </p:nvSpPr>
        <p:spPr>
          <a:xfrm>
            <a:off x="7573782" y="3621923"/>
            <a:ext cx="274320" cy="128016"/>
          </a:xfrm>
          <a:prstGeom prst="rect">
            <a:avLst/>
          </a:prstGeom>
          <a:noFill/>
          <a:ln/>
        </p:spPr>
        <p:txBody>
          <a:bodyPr wrap="square" lIns="0" tIns="0" rIns="0" bIns="0" rtlCol="0" anchor="t"/>
          <a:lstStyle/>
          <a:p>
            <a:pPr marL="0" indent="0" algn="l">
              <a:buNone/>
            </a:pPr>
            <a:r>
              <a:rPr lang="en-US" sz="744" dirty="0">
                <a:solidFill>
                  <a:srgbClr val="9098B0"/>
                </a:solidFill>
                <a:latin typeface="Raleway" pitchFamily="34" charset="0"/>
                <a:ea typeface="Raleway" pitchFamily="34" charset="-122"/>
                <a:cs typeface="Raleway" pitchFamily="34" charset="-120"/>
              </a:rPr>
              <a:t>Abril</a:t>
            </a:r>
            <a:endParaRPr lang="en-US" sz="744" dirty="0"/>
          </a:p>
        </p:txBody>
      </p:sp>
      <p:sp>
        <p:nvSpPr>
          <p:cNvPr id="47" name="Text 44"/>
          <p:cNvSpPr/>
          <p:nvPr/>
        </p:nvSpPr>
        <p:spPr>
          <a:xfrm>
            <a:off x="4766507" y="3995184"/>
            <a:ext cx="326046" cy="147161"/>
          </a:xfrm>
          <a:prstGeom prst="rect">
            <a:avLst/>
          </a:prstGeom>
          <a:noFill/>
          <a:ln/>
        </p:spPr>
        <p:txBody>
          <a:bodyPr wrap="square" lIns="0" tIns="0" rIns="0" bIns="0" rtlCol="0" anchor="t"/>
          <a:lstStyle/>
          <a:p>
            <a:pPr marL="0" indent="0" algn="l">
              <a:buNone/>
            </a:pPr>
            <a:r>
              <a:rPr lang="en-US" sz="936" dirty="0">
                <a:solidFill>
                  <a:srgbClr val="9098B0"/>
                </a:solidFill>
                <a:latin typeface="Raleway" pitchFamily="34" charset="0"/>
                <a:ea typeface="Raleway" pitchFamily="34" charset="-122"/>
                <a:cs typeface="Raleway" pitchFamily="34" charset="-120"/>
              </a:rPr>
              <a:t>/ 500</a:t>
            </a:r>
            <a:endParaRPr lang="en-US" sz="936" dirty="0"/>
          </a:p>
        </p:txBody>
      </p:sp>
      <p:sp>
        <p:nvSpPr>
          <p:cNvPr id="48" name="Text 45"/>
          <p:cNvSpPr/>
          <p:nvPr/>
        </p:nvSpPr>
        <p:spPr>
          <a:xfrm>
            <a:off x="5140205" y="3985659"/>
            <a:ext cx="444385" cy="166783"/>
          </a:xfrm>
          <a:prstGeom prst="rect">
            <a:avLst/>
          </a:prstGeom>
          <a:noFill/>
          <a:ln/>
        </p:spPr>
        <p:txBody>
          <a:bodyPr wrap="square" lIns="19050" tIns="76200" rIns="76200" bIns="19050" rtlCol="0" anchor="t"/>
          <a:lstStyle/>
          <a:p>
            <a:pPr marL="0" indent="0" algn="l">
              <a:buNone/>
            </a:pPr>
            <a:r>
              <a:rPr lang="en-US" sz="816" b="1" dirty="0">
                <a:solidFill>
                  <a:srgbClr val="008060"/>
                </a:solidFill>
                <a:latin typeface="Raleway" pitchFamily="34" charset="0"/>
                <a:ea typeface="Raleway" pitchFamily="34" charset="-122"/>
                <a:cs typeface="Raleway" pitchFamily="34" charset="-120"/>
              </a:rPr>
              <a:t>103 %</a:t>
            </a:r>
            <a:endParaRPr lang="en-US" sz="816" dirty="0"/>
          </a:p>
        </p:txBody>
      </p:sp>
      <p:sp>
        <p:nvSpPr>
          <p:cNvPr id="49" name="Text 46"/>
          <p:cNvSpPr/>
          <p:nvPr/>
        </p:nvSpPr>
        <p:spPr>
          <a:xfrm>
            <a:off x="8341270" y="3995184"/>
            <a:ext cx="326046" cy="147161"/>
          </a:xfrm>
          <a:prstGeom prst="rect">
            <a:avLst/>
          </a:prstGeom>
          <a:noFill/>
          <a:ln/>
        </p:spPr>
        <p:txBody>
          <a:bodyPr wrap="square" lIns="0" tIns="0" rIns="0" bIns="0" rtlCol="0" anchor="t"/>
          <a:lstStyle/>
          <a:p>
            <a:pPr marL="0" indent="0" algn="l">
              <a:buNone/>
            </a:pPr>
            <a:r>
              <a:rPr lang="en-US" sz="936" dirty="0">
                <a:solidFill>
                  <a:srgbClr val="9098B0"/>
                </a:solidFill>
                <a:latin typeface="Raleway" pitchFamily="34" charset="0"/>
                <a:ea typeface="Raleway" pitchFamily="34" charset="-122"/>
                <a:cs typeface="Raleway" pitchFamily="34" charset="-120"/>
              </a:rPr>
              <a:t>/ 500</a:t>
            </a:r>
            <a:endParaRPr lang="en-US" sz="936" dirty="0"/>
          </a:p>
        </p:txBody>
      </p:sp>
      <p:sp>
        <p:nvSpPr>
          <p:cNvPr id="50" name="Text 47"/>
          <p:cNvSpPr/>
          <p:nvPr/>
        </p:nvSpPr>
        <p:spPr>
          <a:xfrm>
            <a:off x="8714968" y="3985659"/>
            <a:ext cx="424764" cy="166783"/>
          </a:xfrm>
          <a:prstGeom prst="rect">
            <a:avLst/>
          </a:prstGeom>
          <a:noFill/>
          <a:ln/>
        </p:spPr>
        <p:txBody>
          <a:bodyPr wrap="square" lIns="19050" tIns="76200" rIns="76200" bIns="19050" rtlCol="0" anchor="t"/>
          <a:lstStyle/>
          <a:p>
            <a:pPr marL="0" indent="0" algn="l">
              <a:buNone/>
            </a:pPr>
            <a:r>
              <a:rPr lang="en-US" sz="816" b="1" dirty="0">
                <a:solidFill>
                  <a:srgbClr val="008060"/>
                </a:solidFill>
                <a:latin typeface="Raleway" pitchFamily="34" charset="0"/>
                <a:ea typeface="Raleway" pitchFamily="34" charset="-122"/>
                <a:cs typeface="Raleway" pitchFamily="34" charset="-120"/>
              </a:rPr>
              <a:t>111 %</a:t>
            </a:r>
            <a:endParaRPr lang="en-US" sz="816" dirty="0"/>
          </a:p>
        </p:txBody>
      </p:sp>
      <p:sp>
        <p:nvSpPr>
          <p:cNvPr id="51" name="Text 48"/>
          <p:cNvSpPr/>
          <p:nvPr/>
        </p:nvSpPr>
        <p:spPr>
          <a:xfrm>
            <a:off x="3980119" y="4595259"/>
            <a:ext cx="274320" cy="128016"/>
          </a:xfrm>
          <a:prstGeom prst="rect">
            <a:avLst/>
          </a:prstGeom>
          <a:noFill/>
          <a:ln/>
        </p:spPr>
        <p:txBody>
          <a:bodyPr wrap="square" lIns="0" tIns="0" rIns="0" bIns="0" rtlCol="0" anchor="t"/>
          <a:lstStyle/>
          <a:p>
            <a:pPr marL="0" indent="0" algn="l">
              <a:buNone/>
            </a:pPr>
            <a:r>
              <a:rPr lang="en-US" sz="744" dirty="0">
                <a:solidFill>
                  <a:srgbClr val="9098B0"/>
                </a:solidFill>
                <a:latin typeface="Raleway" pitchFamily="34" charset="0"/>
                <a:ea typeface="Raleway" pitchFamily="34" charset="-122"/>
                <a:cs typeface="Raleway" pitchFamily="34" charset="-120"/>
              </a:rPr>
              <a:t>Junio</a:t>
            </a:r>
            <a:endParaRPr lang="en-US" sz="744" dirty="0"/>
          </a:p>
        </p:txBody>
      </p:sp>
      <p:sp>
        <p:nvSpPr>
          <p:cNvPr id="52" name="Text 49"/>
          <p:cNvSpPr/>
          <p:nvPr/>
        </p:nvSpPr>
        <p:spPr>
          <a:xfrm>
            <a:off x="955710" y="4968520"/>
            <a:ext cx="300140" cy="147161"/>
          </a:xfrm>
          <a:prstGeom prst="rect">
            <a:avLst/>
          </a:prstGeom>
          <a:noFill/>
          <a:ln/>
        </p:spPr>
        <p:txBody>
          <a:bodyPr wrap="square" lIns="0" tIns="0" rIns="0" bIns="0" rtlCol="0" anchor="t"/>
          <a:lstStyle/>
          <a:p>
            <a:pPr marL="0" indent="0" algn="l">
              <a:buNone/>
            </a:pPr>
            <a:r>
              <a:rPr lang="en-US" sz="936" b="1" dirty="0">
                <a:solidFill>
                  <a:srgbClr val="333333"/>
                </a:solidFill>
                <a:latin typeface="Raleway" pitchFamily="34" charset="0"/>
                <a:ea typeface="Raleway" pitchFamily="34" charset="-122"/>
                <a:cs typeface="Raleway" pitchFamily="34" charset="-120"/>
              </a:rPr>
              <a:t>1.520</a:t>
            </a:r>
            <a:endParaRPr lang="en-US" sz="936" dirty="0"/>
          </a:p>
        </p:txBody>
      </p:sp>
      <p:sp>
        <p:nvSpPr>
          <p:cNvPr id="53" name="Text 50"/>
          <p:cNvSpPr/>
          <p:nvPr/>
        </p:nvSpPr>
        <p:spPr>
          <a:xfrm>
            <a:off x="1753855" y="4958995"/>
            <a:ext cx="439327" cy="166783"/>
          </a:xfrm>
          <a:prstGeom prst="rect">
            <a:avLst/>
          </a:prstGeom>
          <a:noFill/>
          <a:ln/>
        </p:spPr>
        <p:txBody>
          <a:bodyPr wrap="square" lIns="19050" tIns="76200" rIns="76200" bIns="19050" rtlCol="0" anchor="t"/>
          <a:lstStyle/>
          <a:p>
            <a:pPr marL="0" indent="0" algn="l">
              <a:buNone/>
            </a:pPr>
            <a:r>
              <a:rPr lang="en-US" sz="816" b="1" dirty="0">
                <a:solidFill>
                  <a:srgbClr val="008060"/>
                </a:solidFill>
                <a:latin typeface="Raleway" pitchFamily="34" charset="0"/>
                <a:ea typeface="Raleway" pitchFamily="34" charset="-122"/>
                <a:cs typeface="Raleway" pitchFamily="34" charset="-120"/>
              </a:rPr>
              <a:t>127 %</a:t>
            </a:r>
            <a:endParaRPr lang="en-US" sz="816" dirty="0"/>
          </a:p>
        </p:txBody>
      </p:sp>
      <p:sp>
        <p:nvSpPr>
          <p:cNvPr id="54" name="Text 51"/>
          <p:cNvSpPr/>
          <p:nvPr/>
        </p:nvSpPr>
        <p:spPr>
          <a:xfrm>
            <a:off x="4517971" y="4576209"/>
            <a:ext cx="386135" cy="147161"/>
          </a:xfrm>
          <a:prstGeom prst="rect">
            <a:avLst/>
          </a:prstGeom>
          <a:noFill/>
          <a:ln/>
        </p:spPr>
        <p:txBody>
          <a:bodyPr wrap="square" lIns="19050" tIns="76200" rIns="76200" bIns="19050" rtlCol="0" anchor="t"/>
          <a:lstStyle/>
          <a:p>
            <a:pPr marL="0" indent="0" algn="l">
              <a:buNone/>
            </a:pPr>
            <a:r>
              <a:rPr lang="en-US" sz="720" b="1" dirty="0">
                <a:solidFill>
                  <a:srgbClr val="8A6200"/>
                </a:solidFill>
                <a:latin typeface="Raleway" pitchFamily="34" charset="0"/>
                <a:ea typeface="Raleway" pitchFamily="34" charset="-122"/>
                <a:cs typeface="Raleway" pitchFamily="34" charset="-120"/>
              </a:rPr>
              <a:t>Vanti</a:t>
            </a:r>
            <a:endParaRPr lang="en-US" sz="720" dirty="0"/>
          </a:p>
        </p:txBody>
      </p:sp>
      <p:sp>
        <p:nvSpPr>
          <p:cNvPr id="55" name="Text 52"/>
          <p:cNvSpPr/>
          <p:nvPr/>
        </p:nvSpPr>
        <p:spPr>
          <a:xfrm>
            <a:off x="4786152" y="4968520"/>
            <a:ext cx="324973" cy="147161"/>
          </a:xfrm>
          <a:prstGeom prst="rect">
            <a:avLst/>
          </a:prstGeom>
          <a:noFill/>
          <a:ln/>
        </p:spPr>
        <p:txBody>
          <a:bodyPr wrap="square" lIns="0" tIns="0" rIns="0" bIns="0" rtlCol="0" anchor="t"/>
          <a:lstStyle/>
          <a:p>
            <a:pPr marL="0" indent="0" algn="l">
              <a:buNone/>
            </a:pPr>
            <a:r>
              <a:rPr lang="en-US" sz="936" dirty="0">
                <a:solidFill>
                  <a:srgbClr val="9098B0"/>
                </a:solidFill>
                <a:latin typeface="Raleway" pitchFamily="34" charset="0"/>
                <a:ea typeface="Raleway" pitchFamily="34" charset="-122"/>
                <a:cs typeface="Raleway" pitchFamily="34" charset="-120"/>
              </a:rPr>
              <a:t>/ 650</a:t>
            </a:r>
            <a:endParaRPr lang="en-US" sz="936" dirty="0"/>
          </a:p>
        </p:txBody>
      </p:sp>
      <p:sp>
        <p:nvSpPr>
          <p:cNvPr id="56" name="Text 53"/>
          <p:cNvSpPr/>
          <p:nvPr/>
        </p:nvSpPr>
        <p:spPr>
          <a:xfrm>
            <a:off x="4517971" y="2629538"/>
            <a:ext cx="415720" cy="147161"/>
          </a:xfrm>
          <a:prstGeom prst="rect">
            <a:avLst/>
          </a:prstGeom>
          <a:noFill/>
          <a:ln/>
        </p:spPr>
        <p:txBody>
          <a:bodyPr wrap="square" lIns="19050" tIns="76200" rIns="76200" bIns="19050" rtlCol="0" anchor="t"/>
          <a:lstStyle/>
          <a:p>
            <a:pPr marL="0" indent="0" algn="l">
              <a:buNone/>
            </a:pPr>
            <a:r>
              <a:rPr lang="en-US" sz="720" b="1" dirty="0">
                <a:solidFill>
                  <a:srgbClr val="008060"/>
                </a:solidFill>
                <a:latin typeface="Raleway" pitchFamily="34" charset="0"/>
                <a:ea typeface="Raleway" pitchFamily="34" charset="-122"/>
                <a:cs typeface="Raleway" pitchFamily="34" charset="-120"/>
              </a:rPr>
              <a:t>Xuma</a:t>
            </a:r>
            <a:endParaRPr lang="en-US" sz="720" dirty="0"/>
          </a:p>
        </p:txBody>
      </p:sp>
      <p:sp>
        <p:nvSpPr>
          <p:cNvPr id="57" name="Text 54"/>
          <p:cNvSpPr/>
          <p:nvPr/>
        </p:nvSpPr>
        <p:spPr>
          <a:xfrm>
            <a:off x="955710" y="3602873"/>
            <a:ext cx="415720" cy="147161"/>
          </a:xfrm>
          <a:prstGeom prst="rect">
            <a:avLst/>
          </a:prstGeom>
          <a:noFill/>
          <a:ln/>
        </p:spPr>
        <p:txBody>
          <a:bodyPr wrap="square" lIns="19050" tIns="76200" rIns="76200" bIns="19050" rtlCol="0" anchor="t"/>
          <a:lstStyle/>
          <a:p>
            <a:pPr marL="0" indent="0" algn="l">
              <a:buNone/>
            </a:pPr>
            <a:r>
              <a:rPr lang="en-US" sz="720" b="1" dirty="0">
                <a:solidFill>
                  <a:srgbClr val="008060"/>
                </a:solidFill>
                <a:latin typeface="Raleway" pitchFamily="34" charset="0"/>
                <a:ea typeface="Raleway" pitchFamily="34" charset="-122"/>
                <a:cs typeface="Raleway" pitchFamily="34" charset="-120"/>
              </a:rPr>
              <a:t>Xuma</a:t>
            </a:r>
            <a:endParaRPr lang="en-US" sz="720" dirty="0"/>
          </a:p>
        </p:txBody>
      </p:sp>
      <p:sp>
        <p:nvSpPr>
          <p:cNvPr id="58" name="Text 55"/>
          <p:cNvSpPr/>
          <p:nvPr/>
        </p:nvSpPr>
        <p:spPr>
          <a:xfrm>
            <a:off x="4517971" y="3602873"/>
            <a:ext cx="415720" cy="147161"/>
          </a:xfrm>
          <a:prstGeom prst="rect">
            <a:avLst/>
          </a:prstGeom>
          <a:noFill/>
          <a:ln/>
        </p:spPr>
        <p:txBody>
          <a:bodyPr wrap="square" lIns="19050" tIns="76200" rIns="76200" bIns="19050" rtlCol="0" anchor="t"/>
          <a:lstStyle/>
          <a:p>
            <a:pPr marL="0" indent="0" algn="l">
              <a:buNone/>
            </a:pPr>
            <a:r>
              <a:rPr lang="en-US" sz="720" b="1" dirty="0">
                <a:solidFill>
                  <a:srgbClr val="008060"/>
                </a:solidFill>
                <a:latin typeface="Raleway" pitchFamily="34" charset="0"/>
                <a:ea typeface="Raleway" pitchFamily="34" charset="-122"/>
                <a:cs typeface="Raleway" pitchFamily="34" charset="-120"/>
              </a:rPr>
              <a:t>Xuma</a:t>
            </a:r>
            <a:endParaRPr lang="en-US" sz="720" dirty="0"/>
          </a:p>
        </p:txBody>
      </p:sp>
      <p:sp>
        <p:nvSpPr>
          <p:cNvPr id="59" name="Text 56"/>
          <p:cNvSpPr/>
          <p:nvPr/>
        </p:nvSpPr>
        <p:spPr>
          <a:xfrm>
            <a:off x="8080231" y="3602873"/>
            <a:ext cx="415720" cy="147161"/>
          </a:xfrm>
          <a:prstGeom prst="rect">
            <a:avLst/>
          </a:prstGeom>
          <a:noFill/>
          <a:ln/>
        </p:spPr>
        <p:txBody>
          <a:bodyPr wrap="square" lIns="19050" tIns="76200" rIns="76200" bIns="19050" rtlCol="0" anchor="t"/>
          <a:lstStyle/>
          <a:p>
            <a:pPr marL="0" indent="0" algn="l">
              <a:buNone/>
            </a:pPr>
            <a:r>
              <a:rPr lang="en-US" sz="720" b="1" dirty="0">
                <a:solidFill>
                  <a:srgbClr val="008060"/>
                </a:solidFill>
                <a:latin typeface="Raleway" pitchFamily="34" charset="0"/>
                <a:ea typeface="Raleway" pitchFamily="34" charset="-122"/>
                <a:cs typeface="Raleway" pitchFamily="34" charset="-120"/>
              </a:rPr>
              <a:t>Xuma</a:t>
            </a:r>
            <a:endParaRPr lang="en-US" sz="720" dirty="0"/>
          </a:p>
        </p:txBody>
      </p:sp>
      <p:sp>
        <p:nvSpPr>
          <p:cNvPr id="60" name="Text 57"/>
          <p:cNvSpPr/>
          <p:nvPr/>
        </p:nvSpPr>
        <p:spPr>
          <a:xfrm>
            <a:off x="11099581" y="3621923"/>
            <a:ext cx="274320" cy="128016"/>
          </a:xfrm>
          <a:prstGeom prst="rect">
            <a:avLst/>
          </a:prstGeom>
          <a:noFill/>
          <a:ln/>
        </p:spPr>
        <p:txBody>
          <a:bodyPr wrap="square" lIns="0" tIns="0" rIns="0" bIns="0" rtlCol="0" anchor="t"/>
          <a:lstStyle/>
          <a:p>
            <a:pPr marL="0" indent="0" algn="l">
              <a:buNone/>
            </a:pPr>
            <a:r>
              <a:rPr lang="en-US" sz="744" dirty="0">
                <a:solidFill>
                  <a:srgbClr val="9098B0"/>
                </a:solidFill>
                <a:latin typeface="Raleway" pitchFamily="34" charset="0"/>
                <a:ea typeface="Raleway" pitchFamily="34" charset="-122"/>
                <a:cs typeface="Raleway" pitchFamily="34" charset="-120"/>
              </a:rPr>
              <a:t>Mayo</a:t>
            </a:r>
            <a:endParaRPr lang="en-US" sz="744" dirty="0"/>
          </a:p>
        </p:txBody>
      </p:sp>
      <p:sp>
        <p:nvSpPr>
          <p:cNvPr id="61" name="Text 58"/>
          <p:cNvSpPr/>
          <p:nvPr/>
        </p:nvSpPr>
        <p:spPr>
          <a:xfrm>
            <a:off x="955710" y="4576209"/>
            <a:ext cx="415720" cy="147161"/>
          </a:xfrm>
          <a:prstGeom prst="rect">
            <a:avLst/>
          </a:prstGeom>
          <a:noFill/>
          <a:ln/>
        </p:spPr>
        <p:txBody>
          <a:bodyPr wrap="square" lIns="19050" tIns="76200" rIns="76200" bIns="19050" rtlCol="0" anchor="t"/>
          <a:lstStyle/>
          <a:p>
            <a:pPr marL="0" indent="0" algn="l">
              <a:buNone/>
            </a:pPr>
            <a:r>
              <a:rPr lang="en-US" sz="720" b="1" dirty="0">
                <a:solidFill>
                  <a:srgbClr val="008060"/>
                </a:solidFill>
                <a:latin typeface="Raleway" pitchFamily="34" charset="0"/>
                <a:ea typeface="Raleway" pitchFamily="34" charset="-122"/>
                <a:cs typeface="Raleway" pitchFamily="34" charset="-120"/>
              </a:rPr>
              <a:t>Xuma</a:t>
            </a:r>
            <a:endParaRPr lang="en-US" sz="720" dirty="0"/>
          </a:p>
        </p:txBody>
      </p:sp>
      <p:sp>
        <p:nvSpPr>
          <p:cNvPr id="62" name="Text 59"/>
          <p:cNvSpPr/>
          <p:nvPr/>
        </p:nvSpPr>
        <p:spPr>
          <a:xfrm>
            <a:off x="7537320" y="4595259"/>
            <a:ext cx="274320" cy="128016"/>
          </a:xfrm>
          <a:prstGeom prst="rect">
            <a:avLst/>
          </a:prstGeom>
          <a:noFill/>
          <a:ln/>
        </p:spPr>
        <p:txBody>
          <a:bodyPr wrap="square" lIns="0" tIns="0" rIns="0" bIns="0" rtlCol="0" anchor="t"/>
          <a:lstStyle/>
          <a:p>
            <a:pPr marL="0" indent="0" algn="l">
              <a:buNone/>
            </a:pPr>
            <a:r>
              <a:rPr lang="en-US" sz="744" dirty="0">
                <a:solidFill>
                  <a:srgbClr val="9098B0"/>
                </a:solidFill>
                <a:latin typeface="Raleway" pitchFamily="34" charset="0"/>
                <a:ea typeface="Raleway" pitchFamily="34" charset="-122"/>
                <a:cs typeface="Raleway" pitchFamily="34" charset="-120"/>
              </a:rPr>
              <a:t>Mayo</a:t>
            </a:r>
            <a:endParaRPr lang="en-US" sz="744" dirty="0"/>
          </a:p>
        </p:txBody>
      </p:sp>
      <p:sp>
        <p:nvSpPr>
          <p:cNvPr id="63" name="Text 60"/>
          <p:cNvSpPr/>
          <p:nvPr/>
        </p:nvSpPr>
        <p:spPr>
          <a:xfrm>
            <a:off x="5158808" y="4958995"/>
            <a:ext cx="395793" cy="166783"/>
          </a:xfrm>
          <a:prstGeom prst="rect">
            <a:avLst/>
          </a:prstGeom>
          <a:noFill/>
          <a:ln/>
        </p:spPr>
        <p:txBody>
          <a:bodyPr wrap="square" lIns="19050" tIns="76200" rIns="76200" bIns="19050" rtlCol="0" anchor="t"/>
          <a:lstStyle/>
          <a:p>
            <a:pPr marL="0" indent="0" algn="l">
              <a:buNone/>
            </a:pPr>
            <a:r>
              <a:rPr lang="en-US" sz="816" b="1" dirty="0">
                <a:solidFill>
                  <a:srgbClr val="8A6200"/>
                </a:solidFill>
                <a:latin typeface="Raleway" pitchFamily="34" charset="0"/>
                <a:ea typeface="Raleway" pitchFamily="34" charset="-122"/>
                <a:cs typeface="Raleway" pitchFamily="34" charset="-120"/>
              </a:rPr>
              <a:t>86 %</a:t>
            </a:r>
            <a:endParaRPr lang="en-US" sz="816" dirty="0"/>
          </a:p>
        </p:txBody>
      </p:sp>
      <p:sp>
        <p:nvSpPr>
          <p:cNvPr id="64" name="Text 61"/>
          <p:cNvSpPr/>
          <p:nvPr/>
        </p:nvSpPr>
        <p:spPr>
          <a:xfrm>
            <a:off x="4517971" y="3021848"/>
            <a:ext cx="274320" cy="147161"/>
          </a:xfrm>
          <a:prstGeom prst="rect">
            <a:avLst/>
          </a:prstGeom>
          <a:noFill/>
          <a:ln/>
        </p:spPr>
        <p:txBody>
          <a:bodyPr wrap="square" lIns="0" tIns="0" rIns="0" bIns="0" rtlCol="0" anchor="t"/>
          <a:lstStyle/>
          <a:p>
            <a:pPr marL="0" indent="0" algn="l">
              <a:buNone/>
            </a:pPr>
            <a:r>
              <a:rPr lang="en-US" sz="936" b="1" dirty="0">
                <a:solidFill>
                  <a:srgbClr val="333333"/>
                </a:solidFill>
                <a:latin typeface="Raleway" pitchFamily="34" charset="0"/>
                <a:ea typeface="Raleway" pitchFamily="34" charset="-122"/>
                <a:cs typeface="Raleway" pitchFamily="34" charset="-120"/>
              </a:rPr>
              <a:t>659</a:t>
            </a:r>
            <a:endParaRPr lang="en-US" sz="936" dirty="0"/>
          </a:p>
        </p:txBody>
      </p:sp>
      <p:sp>
        <p:nvSpPr>
          <p:cNvPr id="65" name="Text 62"/>
          <p:cNvSpPr/>
          <p:nvPr/>
        </p:nvSpPr>
        <p:spPr>
          <a:xfrm>
            <a:off x="955710" y="3995184"/>
            <a:ext cx="274320" cy="147161"/>
          </a:xfrm>
          <a:prstGeom prst="rect">
            <a:avLst/>
          </a:prstGeom>
          <a:noFill/>
          <a:ln/>
        </p:spPr>
        <p:txBody>
          <a:bodyPr wrap="square" lIns="0" tIns="0" rIns="0" bIns="0" rtlCol="0" anchor="t"/>
          <a:lstStyle/>
          <a:p>
            <a:pPr marL="0" indent="0" algn="l">
              <a:buNone/>
            </a:pPr>
            <a:r>
              <a:rPr lang="en-US" sz="936" b="1" dirty="0">
                <a:solidFill>
                  <a:srgbClr val="333333"/>
                </a:solidFill>
                <a:latin typeface="Raleway" pitchFamily="34" charset="0"/>
                <a:ea typeface="Raleway" pitchFamily="34" charset="-122"/>
                <a:cs typeface="Raleway" pitchFamily="34" charset="-120"/>
              </a:rPr>
              <a:t>607</a:t>
            </a:r>
            <a:endParaRPr lang="en-US" sz="936" dirty="0"/>
          </a:p>
        </p:txBody>
      </p:sp>
      <p:sp>
        <p:nvSpPr>
          <p:cNvPr id="66" name="Text 63"/>
          <p:cNvSpPr/>
          <p:nvPr/>
        </p:nvSpPr>
        <p:spPr>
          <a:xfrm>
            <a:off x="4517971" y="3995184"/>
            <a:ext cx="274320" cy="147161"/>
          </a:xfrm>
          <a:prstGeom prst="rect">
            <a:avLst/>
          </a:prstGeom>
          <a:noFill/>
          <a:ln/>
        </p:spPr>
        <p:txBody>
          <a:bodyPr wrap="square" lIns="0" tIns="0" rIns="0" bIns="0" rtlCol="0" anchor="t"/>
          <a:lstStyle/>
          <a:p>
            <a:pPr marL="0" indent="0" algn="l">
              <a:buNone/>
            </a:pPr>
            <a:r>
              <a:rPr lang="en-US" sz="936" b="1" dirty="0">
                <a:solidFill>
                  <a:srgbClr val="333333"/>
                </a:solidFill>
                <a:latin typeface="Raleway" pitchFamily="34" charset="0"/>
                <a:ea typeface="Raleway" pitchFamily="34" charset="-122"/>
                <a:cs typeface="Raleway" pitchFamily="34" charset="-120"/>
              </a:rPr>
              <a:t>517</a:t>
            </a:r>
            <a:endParaRPr lang="en-US" sz="936" dirty="0"/>
          </a:p>
        </p:txBody>
      </p:sp>
      <p:sp>
        <p:nvSpPr>
          <p:cNvPr id="67" name="Text 64"/>
          <p:cNvSpPr/>
          <p:nvPr/>
        </p:nvSpPr>
        <p:spPr>
          <a:xfrm>
            <a:off x="8080231" y="3995184"/>
            <a:ext cx="274320" cy="147161"/>
          </a:xfrm>
          <a:prstGeom prst="rect">
            <a:avLst/>
          </a:prstGeom>
          <a:noFill/>
          <a:ln/>
        </p:spPr>
        <p:txBody>
          <a:bodyPr wrap="square" lIns="0" tIns="0" rIns="0" bIns="0" rtlCol="0" anchor="t"/>
          <a:lstStyle/>
          <a:p>
            <a:pPr marL="0" indent="0" algn="l">
              <a:buNone/>
            </a:pPr>
            <a:r>
              <a:rPr lang="en-US" sz="936" b="1" dirty="0">
                <a:solidFill>
                  <a:srgbClr val="333333"/>
                </a:solidFill>
                <a:latin typeface="Raleway" pitchFamily="34" charset="0"/>
                <a:ea typeface="Raleway" pitchFamily="34" charset="-122"/>
                <a:cs typeface="Raleway" pitchFamily="34" charset="-120"/>
              </a:rPr>
              <a:t>556</a:t>
            </a:r>
            <a:endParaRPr lang="en-US" sz="936" dirty="0"/>
          </a:p>
        </p:txBody>
      </p:sp>
      <p:sp>
        <p:nvSpPr>
          <p:cNvPr id="68" name="Text 65"/>
          <p:cNvSpPr/>
          <p:nvPr/>
        </p:nvSpPr>
        <p:spPr>
          <a:xfrm>
            <a:off x="4517971" y="4968520"/>
            <a:ext cx="274320" cy="147161"/>
          </a:xfrm>
          <a:prstGeom prst="rect">
            <a:avLst/>
          </a:prstGeom>
          <a:noFill/>
          <a:ln/>
        </p:spPr>
        <p:txBody>
          <a:bodyPr wrap="square" lIns="0" tIns="0" rIns="0" bIns="0" rtlCol="0" anchor="t"/>
          <a:lstStyle/>
          <a:p>
            <a:pPr marL="0" indent="0" algn="l">
              <a:buNone/>
            </a:pPr>
            <a:r>
              <a:rPr lang="en-US" sz="936" b="1" dirty="0">
                <a:solidFill>
                  <a:srgbClr val="333333"/>
                </a:solidFill>
                <a:latin typeface="Raleway" pitchFamily="34" charset="0"/>
                <a:ea typeface="Raleway" pitchFamily="34" charset="-122"/>
                <a:cs typeface="Raleway" pitchFamily="34" charset="-120"/>
              </a:rPr>
              <a:t>560</a:t>
            </a:r>
            <a:endParaRPr lang="en-US" sz="936" dirty="0"/>
          </a:p>
        </p:txBody>
      </p:sp>
      <p:sp>
        <p:nvSpPr>
          <p:cNvPr id="70" name="Text 117">
            <a:extLst>
              <a:ext uri="{FF2B5EF4-FFF2-40B4-BE49-F238E27FC236}">
                <a16:creationId xmlns:a16="http://schemas.microsoft.com/office/drawing/2014/main" id="{9E1F0D39-C5B1-9682-9599-0B4B17D9DB84}"/>
              </a:ext>
            </a:extLst>
          </p:cNvPr>
          <p:cNvSpPr/>
          <p:nvPr/>
        </p:nvSpPr>
        <p:spPr>
          <a:xfrm>
            <a:off x="4622635" y="1847509"/>
            <a:ext cx="2403574" cy="298308"/>
          </a:xfrm>
          <a:prstGeom prst="rect">
            <a:avLst/>
          </a:prstGeom>
          <a:noFill/>
          <a:ln/>
        </p:spPr>
        <p:txBody>
          <a:bodyPr wrap="square" lIns="0" tIns="0" rIns="0" bIns="0" rtlCol="0" anchor="t"/>
          <a:lstStyle/>
          <a:p>
            <a:pPr marL="0" indent="0" algn="l">
              <a:buNone/>
            </a:pPr>
            <a:r>
              <a:rPr lang="en-US" sz="1400" b="1" dirty="0">
                <a:solidFill>
                  <a:srgbClr val="00CD93"/>
                </a:solidFill>
                <a:latin typeface="Raleway" pitchFamily="34" charset="0"/>
                <a:ea typeface="Raleway" pitchFamily="34" charset="-122"/>
                <a:cs typeface="Raleway" pitchFamily="34" charset="-120"/>
              </a:rPr>
              <a:t>3</a:t>
            </a:r>
            <a:endParaRPr lang="en-US" sz="1400" dirty="0"/>
          </a:p>
        </p:txBody>
      </p:sp>
      <p:sp>
        <p:nvSpPr>
          <p:cNvPr id="72" name="Text 117">
            <a:extLst>
              <a:ext uri="{FF2B5EF4-FFF2-40B4-BE49-F238E27FC236}">
                <a16:creationId xmlns:a16="http://schemas.microsoft.com/office/drawing/2014/main" id="{4B79695C-9028-C779-3928-C8B6CE2A5162}"/>
              </a:ext>
            </a:extLst>
          </p:cNvPr>
          <p:cNvSpPr/>
          <p:nvPr/>
        </p:nvSpPr>
        <p:spPr>
          <a:xfrm>
            <a:off x="8216595" y="1847509"/>
            <a:ext cx="2403574" cy="298308"/>
          </a:xfrm>
          <a:prstGeom prst="rect">
            <a:avLst/>
          </a:prstGeom>
          <a:noFill/>
          <a:ln/>
        </p:spPr>
        <p:txBody>
          <a:bodyPr wrap="square" lIns="0" tIns="0" rIns="0" bIns="0" rtlCol="0" anchor="t"/>
          <a:lstStyle/>
          <a:p>
            <a:pPr marL="0" indent="0" algn="l">
              <a:buNone/>
            </a:pPr>
            <a:r>
              <a:rPr lang="en-US" sz="1400" b="1" dirty="0">
                <a:solidFill>
                  <a:srgbClr val="00CD93"/>
                </a:solidFill>
                <a:latin typeface="Raleway" pitchFamily="34" charset="0"/>
                <a:ea typeface="Raleway" pitchFamily="34" charset="-122"/>
                <a:cs typeface="Raleway" pitchFamily="34" charset="-120"/>
              </a:rPr>
              <a:t>5</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C:\01_Repositorios\13_Presentaciones\dash\televentas\ppt_slides\sk_14_main.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1213514" y="219075"/>
            <a:ext cx="3594784" cy="196215"/>
          </a:xfrm>
          <a:prstGeom prst="rect">
            <a:avLst/>
          </a:prstGeom>
          <a:noFill/>
          <a:ln/>
        </p:spPr>
        <p:txBody>
          <a:bodyPr wrap="square" lIns="0" tIns="0" rIns="0" bIns="0" rtlCol="0" anchor="t"/>
          <a:lstStyle/>
          <a:p>
            <a:pPr marL="0" indent="0" algn="l">
              <a:buNone/>
            </a:pPr>
            <a:r>
              <a:rPr lang="en-US" sz="1260" b="1" dirty="0">
                <a:solidFill>
                  <a:srgbClr val="FFFFFF"/>
                </a:solidFill>
                <a:latin typeface="Raleway" pitchFamily="34" charset="0"/>
                <a:ea typeface="Raleway" pitchFamily="34" charset="-122"/>
                <a:cs typeface="Raleway" pitchFamily="34" charset="-120"/>
              </a:rPr>
              <a:t>Evidencias · Iniciativas Ejecutadas 1S 2026</a:t>
            </a:r>
            <a:endParaRPr lang="en-US" sz="1260" dirty="0"/>
          </a:p>
        </p:txBody>
      </p:sp>
      <p:sp>
        <p:nvSpPr>
          <p:cNvPr id="4" name="Text 1"/>
          <p:cNvSpPr/>
          <p:nvPr/>
        </p:nvSpPr>
        <p:spPr>
          <a:xfrm>
            <a:off x="6514937" y="1086892"/>
            <a:ext cx="4910464" cy="128016"/>
          </a:xfrm>
          <a:prstGeom prst="rect">
            <a:avLst/>
          </a:prstGeom>
          <a:noFill/>
          <a:ln/>
        </p:spPr>
        <p:txBody>
          <a:bodyPr wrap="square" lIns="0" tIns="0" rIns="0" bIns="0" rtlCol="0" anchor="t"/>
          <a:lstStyle/>
          <a:p>
            <a:pPr marL="0" indent="0" algn="l">
              <a:buNone/>
            </a:pPr>
            <a:r>
              <a:rPr lang="en-US" sz="600" dirty="0">
                <a:solidFill>
                  <a:srgbClr val="9098B0"/>
                </a:solidFill>
                <a:latin typeface="Raleway" pitchFamily="34" charset="0"/>
                <a:ea typeface="Raleway" pitchFamily="34" charset="-122"/>
                <a:cs typeface="Raleway" pitchFamily="34" charset="-120"/>
              </a:rPr>
              <a:t>Semana Burger &amp; Feria Vanti · Abril 2026</a:t>
            </a:r>
            <a:endParaRPr lang="en-US" sz="600" dirty="0"/>
          </a:p>
        </p:txBody>
      </p:sp>
      <p:sp>
        <p:nvSpPr>
          <p:cNvPr id="5" name="Text 2"/>
          <p:cNvSpPr/>
          <p:nvPr/>
        </p:nvSpPr>
        <p:spPr>
          <a:xfrm>
            <a:off x="634593" y="6681501"/>
            <a:ext cx="5601798" cy="166783"/>
          </a:xfrm>
          <a:prstGeom prst="rect">
            <a:avLst/>
          </a:prstGeom>
          <a:noFill/>
          <a:ln/>
        </p:spPr>
        <p:txBody>
          <a:bodyPr wrap="square" lIns="9525" tIns="95250" rIns="95250" bIns="57150" rtlCol="0" anchor="t"/>
          <a:lstStyle/>
          <a:p>
            <a:pPr marL="0" indent="0" algn="l">
              <a:buNone/>
            </a:pPr>
            <a:r>
              <a:rPr lang="en-US" sz="400" dirty="0">
                <a:solidFill>
                  <a:srgbClr val="333333"/>
                </a:solidFill>
                <a:latin typeface="Raleway" pitchFamily="34" charset="0"/>
                <a:ea typeface="Raleway" pitchFamily="34" charset="-122"/>
                <a:cs typeface="Raleway" pitchFamily="34" charset="-120"/>
              </a:rPr>
              <a:t>Parte de La Gran Jugada · 114% meta</a:t>
            </a:r>
            <a:endParaRPr lang="en-US" sz="400" dirty="0"/>
          </a:p>
        </p:txBody>
      </p:sp>
      <p:sp>
        <p:nvSpPr>
          <p:cNvPr id="6" name="Text 3"/>
          <p:cNvSpPr/>
          <p:nvPr/>
        </p:nvSpPr>
        <p:spPr>
          <a:xfrm>
            <a:off x="981050" y="1086892"/>
            <a:ext cx="4910464" cy="128016"/>
          </a:xfrm>
          <a:prstGeom prst="rect">
            <a:avLst/>
          </a:prstGeom>
          <a:noFill/>
          <a:ln/>
        </p:spPr>
        <p:txBody>
          <a:bodyPr wrap="square" lIns="0" tIns="0" rIns="0" bIns="0" rtlCol="0" anchor="t"/>
          <a:lstStyle/>
          <a:p>
            <a:pPr marL="0" indent="0" algn="l">
              <a:buNone/>
            </a:pPr>
            <a:r>
              <a:rPr lang="en-US" sz="600" dirty="0">
                <a:solidFill>
                  <a:srgbClr val="9098B0"/>
                </a:solidFill>
                <a:latin typeface="Raleway" pitchFamily="34" charset="0"/>
                <a:ea typeface="Raleway" pitchFamily="34" charset="-122"/>
                <a:cs typeface="Raleway" pitchFamily="34" charset="-120"/>
              </a:rPr>
              <a:t>Semanas Ganadoras · Enero 2026</a:t>
            </a:r>
            <a:endParaRPr lang="en-US" sz="600" dirty="0"/>
          </a:p>
        </p:txBody>
      </p:sp>
      <p:sp>
        <p:nvSpPr>
          <p:cNvPr id="7" name="Text 4"/>
          <p:cNvSpPr/>
          <p:nvPr/>
        </p:nvSpPr>
        <p:spPr>
          <a:xfrm>
            <a:off x="6514937" y="4192042"/>
            <a:ext cx="4910464" cy="128016"/>
          </a:xfrm>
          <a:prstGeom prst="rect">
            <a:avLst/>
          </a:prstGeom>
          <a:noFill/>
          <a:ln/>
        </p:spPr>
        <p:txBody>
          <a:bodyPr wrap="square" lIns="0" tIns="0" rIns="0" bIns="0" rtlCol="0" anchor="t"/>
          <a:lstStyle/>
          <a:p>
            <a:pPr marL="0" indent="0" algn="l">
              <a:buNone/>
            </a:pPr>
            <a:r>
              <a:rPr lang="en-US" sz="600" dirty="0">
                <a:solidFill>
                  <a:srgbClr val="9098B0"/>
                </a:solidFill>
                <a:latin typeface="Raleway" pitchFamily="34" charset="0"/>
                <a:ea typeface="Raleway" pitchFamily="34" charset="-122"/>
                <a:cs typeface="Raleway" pitchFamily="34" charset="-120"/>
              </a:rPr>
              <a:t>Feria Mundialista · Junio 2026</a:t>
            </a:r>
            <a:endParaRPr lang="en-US" sz="600" dirty="0"/>
          </a:p>
        </p:txBody>
      </p:sp>
      <p:sp>
        <p:nvSpPr>
          <p:cNvPr id="8" name="Text 5"/>
          <p:cNvSpPr/>
          <p:nvPr/>
        </p:nvSpPr>
        <p:spPr>
          <a:xfrm>
            <a:off x="6188561" y="6697457"/>
            <a:ext cx="5205580" cy="186404"/>
          </a:xfrm>
          <a:prstGeom prst="rect">
            <a:avLst/>
          </a:prstGeom>
          <a:noFill/>
          <a:ln/>
        </p:spPr>
        <p:txBody>
          <a:bodyPr wrap="square" lIns="9525" tIns="95250" rIns="95250" bIns="57150" rtlCol="0" anchor="t"/>
          <a:lstStyle/>
          <a:p>
            <a:pPr marL="0" indent="0" algn="l">
              <a:buNone/>
            </a:pPr>
            <a:r>
              <a:rPr lang="en-US" sz="400" dirty="0">
                <a:solidFill>
                  <a:srgbClr val="333333"/>
                </a:solidFill>
                <a:latin typeface="Raleway" pitchFamily="34" charset="0"/>
                <a:ea typeface="Raleway" pitchFamily="34" charset="-122"/>
                <a:cs typeface="Raleway" pitchFamily="34" charset="-120"/>
              </a:rPr>
              <a:t>1.520 ventas en dos semanas</a:t>
            </a:r>
            <a:endParaRPr lang="en-US" sz="400" dirty="0"/>
          </a:p>
        </p:txBody>
      </p:sp>
      <p:sp>
        <p:nvSpPr>
          <p:cNvPr id="9" name="Text 6"/>
          <p:cNvSpPr/>
          <p:nvPr/>
        </p:nvSpPr>
        <p:spPr>
          <a:xfrm>
            <a:off x="981050" y="4192042"/>
            <a:ext cx="4910464" cy="128016"/>
          </a:xfrm>
          <a:prstGeom prst="rect">
            <a:avLst/>
          </a:prstGeom>
          <a:noFill/>
          <a:ln/>
        </p:spPr>
        <p:txBody>
          <a:bodyPr wrap="square" lIns="0" tIns="0" rIns="0" bIns="0" rtlCol="0" anchor="t"/>
          <a:lstStyle/>
          <a:p>
            <a:pPr marL="0" indent="0" algn="l">
              <a:buNone/>
            </a:pPr>
            <a:r>
              <a:rPr lang="en-US" sz="600" dirty="0">
                <a:solidFill>
                  <a:srgbClr val="9098B0"/>
                </a:solidFill>
                <a:latin typeface="Raleway" pitchFamily="34" charset="0"/>
                <a:ea typeface="Raleway" pitchFamily="34" charset="-122"/>
                <a:cs typeface="Raleway" pitchFamily="34" charset="-120"/>
              </a:rPr>
              <a:t>Feria Vanti · Mayo 2026</a:t>
            </a:r>
            <a:endParaRPr lang="en-US" sz="600" dirty="0"/>
          </a:p>
        </p:txBody>
      </p:sp>
      <p:sp>
        <p:nvSpPr>
          <p:cNvPr id="10" name="Text 7"/>
          <p:cNvSpPr/>
          <p:nvPr/>
        </p:nvSpPr>
        <p:spPr>
          <a:xfrm>
            <a:off x="647685" y="3724275"/>
            <a:ext cx="5601798" cy="166783"/>
          </a:xfrm>
          <a:prstGeom prst="rect">
            <a:avLst/>
          </a:prstGeom>
          <a:noFill/>
          <a:ln/>
        </p:spPr>
        <p:txBody>
          <a:bodyPr wrap="square" lIns="9525" tIns="95250" rIns="95250" bIns="57150" rtlCol="0" anchor="t"/>
          <a:lstStyle/>
          <a:p>
            <a:pPr marL="0" indent="0" algn="l">
              <a:buNone/>
            </a:pPr>
            <a:r>
              <a:rPr lang="en-US" sz="672" dirty="0">
                <a:solidFill>
                  <a:srgbClr val="333333"/>
                </a:solidFill>
                <a:latin typeface="Raleway" pitchFamily="34" charset="0"/>
                <a:ea typeface="Raleway" pitchFamily="34" charset="-122"/>
                <a:cs typeface="Raleway" pitchFamily="34" charset="-120"/>
              </a:rPr>
              <a:t>1.292 ventas logradas</a:t>
            </a:r>
            <a:endParaRPr lang="en-US" sz="672" dirty="0"/>
          </a:p>
        </p:txBody>
      </p:sp>
      <p:sp>
        <p:nvSpPr>
          <p:cNvPr id="11" name="Text 8"/>
          <p:cNvSpPr/>
          <p:nvPr/>
        </p:nvSpPr>
        <p:spPr>
          <a:xfrm>
            <a:off x="6181571" y="3724275"/>
            <a:ext cx="5601798" cy="166783"/>
          </a:xfrm>
          <a:prstGeom prst="rect">
            <a:avLst/>
          </a:prstGeom>
          <a:noFill/>
          <a:ln/>
        </p:spPr>
        <p:txBody>
          <a:bodyPr wrap="square" lIns="9525" tIns="95250" rIns="95250" bIns="57150" rtlCol="0" anchor="t"/>
          <a:lstStyle/>
          <a:p>
            <a:pPr marL="0" indent="0" algn="l">
              <a:buNone/>
            </a:pPr>
            <a:r>
              <a:rPr lang="en-US" sz="672" dirty="0">
                <a:solidFill>
                  <a:srgbClr val="333333"/>
                </a:solidFill>
                <a:latin typeface="Raleway" pitchFamily="34" charset="0"/>
                <a:ea typeface="Raleway" pitchFamily="34" charset="-122"/>
                <a:cs typeface="Raleway" pitchFamily="34" charset="-120"/>
              </a:rPr>
              <a:t>1.266 ventas logradas</a:t>
            </a:r>
            <a:endParaRPr lang="en-US" sz="672" dirty="0"/>
          </a:p>
        </p:txBody>
      </p:sp>
      <p:sp>
        <p:nvSpPr>
          <p:cNvPr id="12" name="Text 9"/>
          <p:cNvSpPr/>
          <p:nvPr/>
        </p:nvSpPr>
        <p:spPr>
          <a:xfrm>
            <a:off x="10079579" y="119783"/>
            <a:ext cx="1586849" cy="215836"/>
          </a:xfrm>
          <a:prstGeom prst="rect">
            <a:avLst/>
          </a:prstGeom>
          <a:noFill/>
          <a:ln/>
        </p:spPr>
        <p:txBody>
          <a:bodyPr wrap="square" lIns="38100" tIns="114300" rIns="114300" bIns="38100" rtlCol="0" anchor="t"/>
          <a:lstStyle/>
          <a:p>
            <a:pPr marL="0" indent="0" algn="ctr">
              <a:buNone/>
            </a:pPr>
            <a:r>
              <a:rPr lang="en-US" sz="840" b="1" dirty="0" err="1">
                <a:solidFill>
                  <a:srgbClr val="5AE280"/>
                </a:solidFill>
                <a:latin typeface="Raleway" pitchFamily="34" charset="0"/>
                <a:ea typeface="Raleway" pitchFamily="34" charset="-122"/>
                <a:cs typeface="Raleway" pitchFamily="34" charset="-120"/>
              </a:rPr>
              <a:t>Evidencias</a:t>
            </a:r>
            <a:endParaRPr lang="en-US" sz="840" dirty="0"/>
          </a:p>
        </p:txBody>
      </p:sp>
      <p:sp>
        <p:nvSpPr>
          <p:cNvPr id="13" name="Text 10"/>
          <p:cNvSpPr/>
          <p:nvPr/>
        </p:nvSpPr>
        <p:spPr>
          <a:xfrm>
            <a:off x="981050" y="978247"/>
            <a:ext cx="4910464" cy="128016"/>
          </a:xfrm>
          <a:prstGeom prst="rect">
            <a:avLst/>
          </a:prstGeom>
          <a:noFill/>
          <a:ln/>
        </p:spPr>
        <p:txBody>
          <a:bodyPr wrap="square" lIns="0" tIns="0" rIns="0" bIns="0" rtlCol="0" anchor="t"/>
          <a:lstStyle/>
          <a:p>
            <a:pPr marL="0" indent="0" algn="l">
              <a:buNone/>
            </a:pPr>
            <a:r>
              <a:rPr lang="en-US" sz="744" b="1" dirty="0">
                <a:solidFill>
                  <a:srgbClr val="262626"/>
                </a:solidFill>
                <a:latin typeface="Raleway" pitchFamily="34" charset="0"/>
                <a:ea typeface="Raleway" pitchFamily="34" charset="-122"/>
                <a:cs typeface="Raleway" pitchFamily="34" charset="-120"/>
              </a:rPr>
              <a:t>xuma_televentas</a:t>
            </a:r>
            <a:endParaRPr lang="en-US" sz="744" dirty="0"/>
          </a:p>
        </p:txBody>
      </p:sp>
      <p:sp>
        <p:nvSpPr>
          <p:cNvPr id="14" name="Text 11"/>
          <p:cNvSpPr/>
          <p:nvPr/>
        </p:nvSpPr>
        <p:spPr>
          <a:xfrm>
            <a:off x="6514937" y="978247"/>
            <a:ext cx="4910464" cy="128016"/>
          </a:xfrm>
          <a:prstGeom prst="rect">
            <a:avLst/>
          </a:prstGeom>
          <a:noFill/>
          <a:ln/>
        </p:spPr>
        <p:txBody>
          <a:bodyPr wrap="square" lIns="0" tIns="0" rIns="0" bIns="0" rtlCol="0" anchor="t"/>
          <a:lstStyle/>
          <a:p>
            <a:pPr marL="0" indent="0" algn="l">
              <a:buNone/>
            </a:pPr>
            <a:r>
              <a:rPr lang="en-US" sz="744" b="1" dirty="0">
                <a:solidFill>
                  <a:srgbClr val="262626"/>
                </a:solidFill>
                <a:latin typeface="Raleway" pitchFamily="34" charset="0"/>
                <a:ea typeface="Raleway" pitchFamily="34" charset="-122"/>
                <a:cs typeface="Raleway" pitchFamily="34" charset="-120"/>
              </a:rPr>
              <a:t>xuma_televentas</a:t>
            </a:r>
            <a:endParaRPr lang="en-US" sz="744" dirty="0"/>
          </a:p>
        </p:txBody>
      </p:sp>
      <p:sp>
        <p:nvSpPr>
          <p:cNvPr id="15" name="Text 12"/>
          <p:cNvSpPr/>
          <p:nvPr/>
        </p:nvSpPr>
        <p:spPr>
          <a:xfrm>
            <a:off x="981050" y="4083397"/>
            <a:ext cx="4910464" cy="128016"/>
          </a:xfrm>
          <a:prstGeom prst="rect">
            <a:avLst/>
          </a:prstGeom>
          <a:noFill/>
          <a:ln/>
        </p:spPr>
        <p:txBody>
          <a:bodyPr wrap="square" lIns="0" tIns="0" rIns="0" bIns="0" rtlCol="0" anchor="t"/>
          <a:lstStyle/>
          <a:p>
            <a:pPr marL="0" indent="0" algn="l">
              <a:buNone/>
            </a:pPr>
            <a:r>
              <a:rPr lang="en-US" sz="744" b="1" dirty="0">
                <a:solidFill>
                  <a:srgbClr val="262626"/>
                </a:solidFill>
                <a:latin typeface="Raleway" pitchFamily="34" charset="0"/>
                <a:ea typeface="Raleway" pitchFamily="34" charset="-122"/>
                <a:cs typeface="Raleway" pitchFamily="34" charset="-120"/>
              </a:rPr>
              <a:t>xuma_televentas</a:t>
            </a:r>
            <a:endParaRPr lang="en-US" sz="744" dirty="0"/>
          </a:p>
        </p:txBody>
      </p:sp>
      <p:sp>
        <p:nvSpPr>
          <p:cNvPr id="16" name="Text 13"/>
          <p:cNvSpPr/>
          <p:nvPr/>
        </p:nvSpPr>
        <p:spPr>
          <a:xfrm>
            <a:off x="6514937" y="4083397"/>
            <a:ext cx="4910464" cy="128016"/>
          </a:xfrm>
          <a:prstGeom prst="rect">
            <a:avLst/>
          </a:prstGeom>
          <a:noFill/>
          <a:ln/>
        </p:spPr>
        <p:txBody>
          <a:bodyPr wrap="square" lIns="0" tIns="0" rIns="0" bIns="0" rtlCol="0" anchor="t"/>
          <a:lstStyle/>
          <a:p>
            <a:pPr marL="0" indent="0" algn="l">
              <a:buNone/>
            </a:pPr>
            <a:r>
              <a:rPr lang="en-US" sz="744" b="1" dirty="0">
                <a:solidFill>
                  <a:srgbClr val="262626"/>
                </a:solidFill>
                <a:latin typeface="Raleway" pitchFamily="34" charset="0"/>
                <a:ea typeface="Raleway" pitchFamily="34" charset="-122"/>
                <a:cs typeface="Raleway" pitchFamily="34" charset="-120"/>
              </a:rPr>
              <a:t>xuma_televentas</a:t>
            </a:r>
            <a:endParaRPr lang="en-US" sz="744" dirty="0"/>
          </a:p>
        </p:txBody>
      </p:sp>
      <p:sp>
        <p:nvSpPr>
          <p:cNvPr id="17" name="Text 14"/>
          <p:cNvSpPr/>
          <p:nvPr/>
        </p:nvSpPr>
        <p:spPr>
          <a:xfrm>
            <a:off x="647685" y="3543300"/>
            <a:ext cx="5601798" cy="186404"/>
          </a:xfrm>
          <a:prstGeom prst="rect">
            <a:avLst/>
          </a:prstGeom>
          <a:noFill/>
          <a:ln/>
        </p:spPr>
        <p:txBody>
          <a:bodyPr wrap="square" lIns="38100" tIns="95250" rIns="95250" bIns="0" rtlCol="0" anchor="t"/>
          <a:lstStyle/>
          <a:p>
            <a:pPr marL="0" indent="0" algn="l">
              <a:buNone/>
            </a:pPr>
            <a:r>
              <a:rPr lang="en-US" sz="816" dirty="0">
                <a:solidFill>
                  <a:srgbClr val="333333"/>
                </a:solidFill>
                <a:latin typeface="Raleway" pitchFamily="34" charset="0"/>
                <a:ea typeface="Raleway" pitchFamily="34" charset="-122"/>
                <a:cs typeface="Raleway" pitchFamily="34" charset="-120"/>
              </a:rPr>
              <a:t>❤️   💬   ✈️</a:t>
            </a:r>
            <a:endParaRPr lang="en-US" sz="816" dirty="0"/>
          </a:p>
        </p:txBody>
      </p:sp>
      <p:sp>
        <p:nvSpPr>
          <p:cNvPr id="18" name="Text 15"/>
          <p:cNvSpPr/>
          <p:nvPr/>
        </p:nvSpPr>
        <p:spPr>
          <a:xfrm>
            <a:off x="6181571" y="3543300"/>
            <a:ext cx="5601798" cy="186404"/>
          </a:xfrm>
          <a:prstGeom prst="rect">
            <a:avLst/>
          </a:prstGeom>
          <a:noFill/>
          <a:ln/>
        </p:spPr>
        <p:txBody>
          <a:bodyPr wrap="square" lIns="38100" tIns="95250" rIns="95250" bIns="0" rtlCol="0" anchor="t"/>
          <a:lstStyle/>
          <a:p>
            <a:pPr marL="0" indent="0" algn="l">
              <a:buNone/>
            </a:pPr>
            <a:r>
              <a:rPr lang="en-US" sz="816" dirty="0">
                <a:solidFill>
                  <a:srgbClr val="333333"/>
                </a:solidFill>
                <a:latin typeface="Raleway" pitchFamily="34" charset="0"/>
                <a:ea typeface="Raleway" pitchFamily="34" charset="-122"/>
                <a:cs typeface="Raleway" pitchFamily="34" charset="-120"/>
              </a:rPr>
              <a:t>❤️   💬   ✈️</a:t>
            </a:r>
            <a:endParaRPr lang="en-US" sz="816" dirty="0"/>
          </a:p>
        </p:txBody>
      </p:sp>
      <p:sp>
        <p:nvSpPr>
          <p:cNvPr id="19" name="Text 16"/>
          <p:cNvSpPr/>
          <p:nvPr/>
        </p:nvSpPr>
        <p:spPr>
          <a:xfrm>
            <a:off x="610678" y="6596277"/>
            <a:ext cx="5601798" cy="186404"/>
          </a:xfrm>
          <a:prstGeom prst="rect">
            <a:avLst/>
          </a:prstGeom>
          <a:noFill/>
          <a:ln/>
        </p:spPr>
        <p:txBody>
          <a:bodyPr wrap="square" lIns="38100" tIns="95250" rIns="95250" bIns="0" rtlCol="0" anchor="t"/>
          <a:lstStyle/>
          <a:p>
            <a:pPr marL="0" indent="0" algn="l">
              <a:buNone/>
            </a:pPr>
            <a:r>
              <a:rPr lang="en-US" sz="600" dirty="0">
                <a:solidFill>
                  <a:srgbClr val="333333"/>
                </a:solidFill>
                <a:latin typeface="Raleway" pitchFamily="34" charset="0"/>
                <a:ea typeface="Raleway" pitchFamily="34" charset="-122"/>
                <a:cs typeface="Raleway" pitchFamily="34" charset="-120"/>
              </a:rPr>
              <a:t>❤️   💬   ✈️</a:t>
            </a:r>
            <a:endParaRPr lang="en-US" sz="600" dirty="0"/>
          </a:p>
        </p:txBody>
      </p:sp>
      <p:sp>
        <p:nvSpPr>
          <p:cNvPr id="20" name="Text 17"/>
          <p:cNvSpPr/>
          <p:nvPr/>
        </p:nvSpPr>
        <p:spPr>
          <a:xfrm>
            <a:off x="6138545" y="6597946"/>
            <a:ext cx="5205580" cy="208333"/>
          </a:xfrm>
          <a:prstGeom prst="rect">
            <a:avLst/>
          </a:prstGeom>
          <a:noFill/>
          <a:ln/>
        </p:spPr>
        <p:txBody>
          <a:bodyPr wrap="square" lIns="38100" tIns="95250" rIns="95250" bIns="0" rtlCol="0" anchor="t"/>
          <a:lstStyle/>
          <a:p>
            <a:pPr marL="0" indent="0" algn="l">
              <a:buNone/>
            </a:pPr>
            <a:r>
              <a:rPr lang="en-US" sz="600" dirty="0">
                <a:solidFill>
                  <a:srgbClr val="333333"/>
                </a:solidFill>
                <a:latin typeface="Raleway" pitchFamily="34" charset="0"/>
                <a:ea typeface="Raleway" pitchFamily="34" charset="-122"/>
                <a:cs typeface="Raleway" pitchFamily="34" charset="-120"/>
              </a:rPr>
              <a:t>❤️   💬   ✈️</a:t>
            </a:r>
            <a:endParaRPr lang="en-US" sz="600" dirty="0"/>
          </a:p>
        </p:txBody>
      </p:sp>
      <p:sp>
        <p:nvSpPr>
          <p:cNvPr id="21" name="Text 18"/>
          <p:cNvSpPr/>
          <p:nvPr/>
        </p:nvSpPr>
        <p:spPr>
          <a:xfrm>
            <a:off x="5815165" y="1014413"/>
            <a:ext cx="274320" cy="128016"/>
          </a:xfrm>
          <a:prstGeom prst="rect">
            <a:avLst/>
          </a:prstGeom>
          <a:noFill/>
          <a:ln/>
        </p:spPr>
        <p:txBody>
          <a:bodyPr wrap="square" lIns="0" tIns="0" rIns="0" bIns="0" rtlCol="0" anchor="t"/>
          <a:lstStyle/>
          <a:p>
            <a:pPr marL="0" indent="0" algn="l">
              <a:buNone/>
            </a:pPr>
            <a:r>
              <a:rPr lang="en-US" sz="816" dirty="0">
                <a:solidFill>
                  <a:srgbClr val="9098B0"/>
                </a:solidFill>
                <a:latin typeface="Raleway" pitchFamily="34" charset="0"/>
                <a:ea typeface="Raleway" pitchFamily="34" charset="-122"/>
                <a:cs typeface="Raleway" pitchFamily="34" charset="-120"/>
              </a:rPr>
              <a:t>•••</a:t>
            </a:r>
            <a:endParaRPr lang="en-US" sz="816" dirty="0"/>
          </a:p>
        </p:txBody>
      </p:sp>
      <p:sp>
        <p:nvSpPr>
          <p:cNvPr id="22" name="Text 19"/>
          <p:cNvSpPr/>
          <p:nvPr/>
        </p:nvSpPr>
        <p:spPr>
          <a:xfrm>
            <a:off x="11349051" y="1014413"/>
            <a:ext cx="274320" cy="128016"/>
          </a:xfrm>
          <a:prstGeom prst="rect">
            <a:avLst/>
          </a:prstGeom>
          <a:noFill/>
          <a:ln/>
        </p:spPr>
        <p:txBody>
          <a:bodyPr wrap="square" lIns="0" tIns="0" rIns="0" bIns="0" rtlCol="0" anchor="t"/>
          <a:lstStyle/>
          <a:p>
            <a:pPr marL="0" indent="0" algn="l">
              <a:buNone/>
            </a:pPr>
            <a:r>
              <a:rPr lang="en-US" sz="816" dirty="0">
                <a:solidFill>
                  <a:srgbClr val="9098B0"/>
                </a:solidFill>
                <a:latin typeface="Raleway" pitchFamily="34" charset="0"/>
                <a:ea typeface="Raleway" pitchFamily="34" charset="-122"/>
                <a:cs typeface="Raleway" pitchFamily="34" charset="-120"/>
              </a:rPr>
              <a:t>•••</a:t>
            </a:r>
            <a:endParaRPr lang="en-US" sz="816" dirty="0"/>
          </a:p>
        </p:txBody>
      </p:sp>
      <p:sp>
        <p:nvSpPr>
          <p:cNvPr id="23" name="Text 20"/>
          <p:cNvSpPr/>
          <p:nvPr/>
        </p:nvSpPr>
        <p:spPr>
          <a:xfrm>
            <a:off x="5815165" y="4119562"/>
            <a:ext cx="274320" cy="128016"/>
          </a:xfrm>
          <a:prstGeom prst="rect">
            <a:avLst/>
          </a:prstGeom>
          <a:noFill/>
          <a:ln/>
        </p:spPr>
        <p:txBody>
          <a:bodyPr wrap="square" lIns="0" tIns="0" rIns="0" bIns="0" rtlCol="0" anchor="t"/>
          <a:lstStyle/>
          <a:p>
            <a:pPr marL="0" indent="0" algn="l">
              <a:buNone/>
            </a:pPr>
            <a:r>
              <a:rPr lang="en-US" sz="816" dirty="0">
                <a:solidFill>
                  <a:srgbClr val="9098B0"/>
                </a:solidFill>
                <a:latin typeface="Raleway" pitchFamily="34" charset="0"/>
                <a:ea typeface="Raleway" pitchFamily="34" charset="-122"/>
                <a:cs typeface="Raleway" pitchFamily="34" charset="-120"/>
              </a:rPr>
              <a:t>•••</a:t>
            </a:r>
            <a:endParaRPr lang="en-US" sz="816" dirty="0"/>
          </a:p>
        </p:txBody>
      </p:sp>
      <p:sp>
        <p:nvSpPr>
          <p:cNvPr id="24" name="Text 21"/>
          <p:cNvSpPr/>
          <p:nvPr/>
        </p:nvSpPr>
        <p:spPr>
          <a:xfrm>
            <a:off x="11349051" y="4119562"/>
            <a:ext cx="274320" cy="128016"/>
          </a:xfrm>
          <a:prstGeom prst="rect">
            <a:avLst/>
          </a:prstGeom>
          <a:noFill/>
          <a:ln/>
        </p:spPr>
        <p:txBody>
          <a:bodyPr wrap="square" lIns="0" tIns="0" rIns="0" bIns="0" rtlCol="0" anchor="t"/>
          <a:lstStyle/>
          <a:p>
            <a:pPr marL="0" indent="0" algn="l">
              <a:buNone/>
            </a:pPr>
            <a:r>
              <a:rPr lang="en-US" sz="816" dirty="0">
                <a:solidFill>
                  <a:srgbClr val="9098B0"/>
                </a:solidFill>
                <a:latin typeface="Raleway" pitchFamily="34" charset="0"/>
                <a:ea typeface="Raleway" pitchFamily="34" charset="-122"/>
                <a:cs typeface="Raleway" pitchFamily="34" charset="-120"/>
              </a:rPr>
              <a:t>•••</a:t>
            </a:r>
            <a:endParaRPr lang="en-US" sz="816"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C:\01_Repositorios\13_Presentaciones\dash\televentas\ppt_slides\sk_15_main.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923902" y="5040064"/>
            <a:ext cx="4915063" cy="202040"/>
          </a:xfrm>
          <a:prstGeom prst="rect">
            <a:avLst/>
          </a:prstGeom>
          <a:noFill/>
          <a:ln/>
        </p:spPr>
        <p:txBody>
          <a:bodyPr wrap="square" lIns="0" tIns="0" rIns="0" bIns="0" rtlCol="0" anchor="t"/>
          <a:lstStyle/>
          <a:p>
            <a:pPr marL="0" indent="0" algn="l">
              <a:buNone/>
            </a:pPr>
            <a:r>
              <a:rPr lang="en-US" sz="552" dirty="0">
                <a:solidFill>
                  <a:srgbClr val="1A1A3A"/>
                </a:solidFill>
                <a:latin typeface="Raleway" pitchFamily="34" charset="0"/>
                <a:ea typeface="Raleway" pitchFamily="34" charset="-122"/>
                <a:cs typeface="Raleway" pitchFamily="34" charset="-120"/>
              </a:rPr>
              <a:t>Las objeciones «ya tengo seguro» y «es muy caro» concentran ~40 % de los rechazos en auditoría de calidad. Se entrenaron contraargumentos específicos con casos reales; asesores que aplicaron la técnica mostraron una tasa de reconversión del 12 % sobre objeciones antes perdidas.</a:t>
            </a:r>
            <a:endParaRPr lang="en-US" sz="552" dirty="0"/>
          </a:p>
        </p:txBody>
      </p:sp>
      <p:sp>
        <p:nvSpPr>
          <p:cNvPr id="4" name="Text 1"/>
          <p:cNvSpPr/>
          <p:nvPr/>
        </p:nvSpPr>
        <p:spPr>
          <a:xfrm>
            <a:off x="923902" y="5405735"/>
            <a:ext cx="4915063" cy="202040"/>
          </a:xfrm>
          <a:prstGeom prst="rect">
            <a:avLst/>
          </a:prstGeom>
          <a:noFill/>
          <a:ln/>
        </p:spPr>
        <p:txBody>
          <a:bodyPr wrap="square" lIns="0" tIns="0" rIns="0" bIns="0" rtlCol="0" anchor="t"/>
          <a:lstStyle/>
          <a:p>
            <a:pPr marL="0" indent="0" algn="l">
              <a:buNone/>
            </a:pPr>
            <a:r>
              <a:rPr lang="en-US" sz="552" dirty="0">
                <a:solidFill>
                  <a:srgbClr val="1A1A3A"/>
                </a:solidFill>
                <a:latin typeface="Raleway" pitchFamily="34" charset="0"/>
                <a:ea typeface="Raleway" pitchFamily="34" charset="-122"/>
                <a:cs typeface="Raleway" pitchFamily="34" charset="-120"/>
              </a:rPr>
              <a:t>Se identificaron asesores que modificaban el guion aprobado para acelerar llamadas, afectando la calidad registrada. Se implementó un control de cambios con auditoría semanal que redujo las desviaciones no autorizadas en un 60 % durante el mes.</a:t>
            </a:r>
            <a:endParaRPr lang="en-US" sz="552" dirty="0"/>
          </a:p>
        </p:txBody>
      </p:sp>
      <p:sp>
        <p:nvSpPr>
          <p:cNvPr id="5" name="Text 2"/>
          <p:cNvSpPr/>
          <p:nvPr/>
        </p:nvSpPr>
        <p:spPr>
          <a:xfrm>
            <a:off x="6676858" y="4118223"/>
            <a:ext cx="4915063" cy="202040"/>
          </a:xfrm>
          <a:prstGeom prst="rect">
            <a:avLst/>
          </a:prstGeom>
          <a:noFill/>
          <a:ln/>
        </p:spPr>
        <p:txBody>
          <a:bodyPr wrap="square" lIns="0" tIns="0" rIns="0" bIns="0" rtlCol="0" anchor="t"/>
          <a:lstStyle/>
          <a:p>
            <a:pPr marL="0" indent="0" algn="l">
              <a:buNone/>
            </a:pPr>
            <a:r>
              <a:rPr lang="en-US" sz="552" dirty="0">
                <a:solidFill>
                  <a:srgbClr val="1A1A3A"/>
                </a:solidFill>
                <a:latin typeface="Raleway" pitchFamily="34" charset="0"/>
                <a:ea typeface="Raleway" pitchFamily="34" charset="-122"/>
                <a:cs typeface="Raleway" pitchFamily="34" charset="-120"/>
              </a:rPr>
              <a:t>Se eliminaron las variaciones individuales del discurso comercial. Cada asesor adoptó el mismo argumentario aprobado por Vanti, garantizando consistencia en la comunicación de beneficios y reduciendo desviaciones detectadas en monitoreo.</a:t>
            </a:r>
            <a:endParaRPr lang="en-US" sz="552" dirty="0"/>
          </a:p>
        </p:txBody>
      </p:sp>
      <p:sp>
        <p:nvSpPr>
          <p:cNvPr id="6" name="Text 3"/>
          <p:cNvSpPr/>
          <p:nvPr/>
        </p:nvSpPr>
        <p:spPr>
          <a:xfrm>
            <a:off x="6676858" y="3752552"/>
            <a:ext cx="4915063" cy="202040"/>
          </a:xfrm>
          <a:prstGeom prst="rect">
            <a:avLst/>
          </a:prstGeom>
          <a:noFill/>
          <a:ln/>
        </p:spPr>
        <p:txBody>
          <a:bodyPr wrap="square" lIns="0" tIns="0" rIns="0" bIns="0" rtlCol="0" anchor="t"/>
          <a:lstStyle/>
          <a:p>
            <a:pPr marL="0" indent="0" algn="l">
              <a:buNone/>
            </a:pPr>
            <a:r>
              <a:rPr lang="en-US" sz="552" dirty="0">
                <a:solidFill>
                  <a:srgbClr val="1A1A3A"/>
                </a:solidFill>
                <a:latin typeface="Raleway" pitchFamily="34" charset="0"/>
                <a:ea typeface="Raleway" pitchFamily="34" charset="-122"/>
                <a:cs typeface="Raleway" pitchFamily="34" charset="-120"/>
              </a:rPr>
              <a:t>Se dotó a los asesores de guiones digitales y calculadoras rápidas de prima en pantalla compartida. La medición post-entrenamiento mostró una reducción de ~45 segundos en el tiempo promedio de llamada sin afectar la calidad del cierre.</a:t>
            </a:r>
            <a:endParaRPr lang="en-US" sz="552" dirty="0"/>
          </a:p>
        </p:txBody>
      </p:sp>
      <p:sp>
        <p:nvSpPr>
          <p:cNvPr id="7" name="Text 4"/>
          <p:cNvSpPr/>
          <p:nvPr/>
        </p:nvSpPr>
        <p:spPr>
          <a:xfrm>
            <a:off x="6676858" y="2221111"/>
            <a:ext cx="4915063" cy="202040"/>
          </a:xfrm>
          <a:prstGeom prst="rect">
            <a:avLst/>
          </a:prstGeom>
          <a:noFill/>
          <a:ln/>
        </p:spPr>
        <p:txBody>
          <a:bodyPr wrap="square" lIns="0" tIns="0" rIns="0" bIns="0" rtlCol="0" anchor="t"/>
          <a:lstStyle/>
          <a:p>
            <a:pPr marL="0" indent="0" algn="l">
              <a:buNone/>
            </a:pPr>
            <a:r>
              <a:rPr lang="en-US" sz="552" dirty="0">
                <a:solidFill>
                  <a:srgbClr val="1A1A3A"/>
                </a:solidFill>
                <a:latin typeface="Raleway" pitchFamily="34" charset="0"/>
                <a:ea typeface="Raleway" pitchFamily="34" charset="-122"/>
                <a:cs typeface="Raleway" pitchFamily="34" charset="-120"/>
              </a:rPr>
              <a:t>Abordó la principal fuga del embudo: prospectos que quedaban «en veremos» por falta de un cierre estructurado. La estandarización del paso a paso de cierre redujo llamadas inconclusas y aumentó la tasa de cierre en primera gestión.</a:t>
            </a:r>
            <a:endParaRPr lang="en-US" sz="552" dirty="0"/>
          </a:p>
        </p:txBody>
      </p:sp>
      <p:sp>
        <p:nvSpPr>
          <p:cNvPr id="8" name="Text 5"/>
          <p:cNvSpPr/>
          <p:nvPr/>
        </p:nvSpPr>
        <p:spPr>
          <a:xfrm>
            <a:off x="923902" y="4674394"/>
            <a:ext cx="4915063" cy="202040"/>
          </a:xfrm>
          <a:prstGeom prst="rect">
            <a:avLst/>
          </a:prstGeom>
          <a:noFill/>
          <a:ln/>
        </p:spPr>
        <p:txBody>
          <a:bodyPr wrap="square" lIns="0" tIns="0" rIns="0" bIns="0" rtlCol="0" anchor="t"/>
          <a:lstStyle/>
          <a:p>
            <a:pPr marL="0" indent="0" algn="l">
              <a:buNone/>
            </a:pPr>
            <a:r>
              <a:rPr lang="en-US" sz="552" dirty="0">
                <a:solidFill>
                  <a:srgbClr val="1A1A3A"/>
                </a:solidFill>
                <a:latin typeface="Raleway" pitchFamily="34" charset="0"/>
                <a:ea typeface="Raleway" pitchFamily="34" charset="-122"/>
                <a:cs typeface="Raleway" pitchFamily="34" charset="-120"/>
              </a:rPr>
              <a:t>Con 3.383 pólizas en el semestre (24 % del portafolio), se actualizaron coberturas y ejemplos de siniestro para fortalecer el cierre en este producto de mayor prima mensual. Se incorporaron los nuevos beneficios de la versión 2026.</a:t>
            </a:r>
            <a:endParaRPr lang="en-US" sz="552" dirty="0"/>
          </a:p>
        </p:txBody>
      </p:sp>
      <p:sp>
        <p:nvSpPr>
          <p:cNvPr id="9" name="Text 6"/>
          <p:cNvSpPr/>
          <p:nvPr/>
        </p:nvSpPr>
        <p:spPr>
          <a:xfrm>
            <a:off x="6676858" y="5961906"/>
            <a:ext cx="4915063" cy="202040"/>
          </a:xfrm>
          <a:prstGeom prst="rect">
            <a:avLst/>
          </a:prstGeom>
          <a:noFill/>
          <a:ln/>
        </p:spPr>
        <p:txBody>
          <a:bodyPr wrap="square" lIns="0" tIns="0" rIns="0" bIns="0" rtlCol="0" anchor="t"/>
          <a:lstStyle/>
          <a:p>
            <a:pPr marL="0" indent="0" algn="l">
              <a:buNone/>
            </a:pPr>
            <a:r>
              <a:rPr lang="en-US" sz="552" dirty="0">
                <a:solidFill>
                  <a:srgbClr val="1A1A3A"/>
                </a:solidFill>
                <a:latin typeface="Raleway" pitchFamily="34" charset="0"/>
                <a:ea typeface="Raleway" pitchFamily="34" charset="-122"/>
                <a:cs typeface="Raleway" pitchFamily="34" charset="-120"/>
              </a:rPr>
              <a:t>Cierre del semestre con foco en sostenibilidad operativa. Se reforzaron los estándares de calidad justo cuando el equipo crecía de 15 a 21 asesores, asegurando que la expansión no diluyera la calidad del cierre comercial.</a:t>
            </a:r>
            <a:endParaRPr lang="en-US" sz="552" dirty="0"/>
          </a:p>
        </p:txBody>
      </p:sp>
      <p:sp>
        <p:nvSpPr>
          <p:cNvPr id="10" name="Text 7"/>
          <p:cNvSpPr/>
          <p:nvPr/>
        </p:nvSpPr>
        <p:spPr>
          <a:xfrm>
            <a:off x="923902" y="1611511"/>
            <a:ext cx="4915063" cy="202040"/>
          </a:xfrm>
          <a:prstGeom prst="rect">
            <a:avLst/>
          </a:prstGeom>
          <a:noFill/>
          <a:ln/>
        </p:spPr>
        <p:txBody>
          <a:bodyPr wrap="square" lIns="0" tIns="0" rIns="0" bIns="0" rtlCol="0" anchor="t"/>
          <a:lstStyle/>
          <a:p>
            <a:pPr marL="0" indent="0" algn="l">
              <a:buNone/>
            </a:pPr>
            <a:r>
              <a:rPr lang="en-US" sz="552" dirty="0">
                <a:solidFill>
                  <a:srgbClr val="1A1A3A"/>
                </a:solidFill>
                <a:latin typeface="Raleway" pitchFamily="34" charset="0"/>
                <a:ea typeface="Raleway" pitchFamily="34" charset="-122"/>
                <a:cs typeface="Raleway" pitchFamily="34" charset="-120"/>
              </a:rPr>
              <a:t>Estableció la línea base de calidad comercial unificando criterios entre los 15 asesores activos en enero. Eliminó la dispersión de evaluación que generaba inconsistencias en el cierre y reprocesos en auditoría interna.</a:t>
            </a:r>
            <a:endParaRPr lang="en-US" sz="552" dirty="0"/>
          </a:p>
        </p:txBody>
      </p:sp>
      <p:sp>
        <p:nvSpPr>
          <p:cNvPr id="11" name="Text 8"/>
          <p:cNvSpPr/>
          <p:nvPr/>
        </p:nvSpPr>
        <p:spPr>
          <a:xfrm>
            <a:off x="923902" y="3142952"/>
            <a:ext cx="4915063" cy="202040"/>
          </a:xfrm>
          <a:prstGeom prst="rect">
            <a:avLst/>
          </a:prstGeom>
          <a:noFill/>
          <a:ln/>
        </p:spPr>
        <p:txBody>
          <a:bodyPr wrap="square" lIns="0" tIns="0" rIns="0" bIns="0" rtlCol="0" anchor="t"/>
          <a:lstStyle/>
          <a:p>
            <a:pPr marL="0" indent="0" algn="l">
              <a:buNone/>
            </a:pPr>
            <a:r>
              <a:rPr lang="en-US" sz="552" dirty="0">
                <a:solidFill>
                  <a:srgbClr val="1A1A3A"/>
                </a:solidFill>
                <a:latin typeface="Raleway" pitchFamily="34" charset="0"/>
                <a:ea typeface="Raleway" pitchFamily="34" charset="-122"/>
                <a:cs typeface="Raleway" pitchFamily="34" charset="-120"/>
              </a:rPr>
              <a:t>Errores en la cláusula de cobro generaban rechazos en la etapa de liquidación y reconsumos en calidad. Se unificó el procedimiento de autorización bancaria, asegurando el débito efectivo de la prima en primera cuota.</a:t>
            </a:r>
            <a:endParaRPr lang="en-US" sz="552" dirty="0"/>
          </a:p>
        </p:txBody>
      </p:sp>
      <p:sp>
        <p:nvSpPr>
          <p:cNvPr id="12" name="Text 9"/>
          <p:cNvSpPr/>
          <p:nvPr/>
        </p:nvSpPr>
        <p:spPr>
          <a:xfrm>
            <a:off x="6676858" y="2586782"/>
            <a:ext cx="4915063" cy="202040"/>
          </a:xfrm>
          <a:prstGeom prst="rect">
            <a:avLst/>
          </a:prstGeom>
          <a:noFill/>
          <a:ln/>
        </p:spPr>
        <p:txBody>
          <a:bodyPr wrap="square" lIns="0" tIns="0" rIns="0" bIns="0" rtlCol="0" anchor="t"/>
          <a:lstStyle/>
          <a:p>
            <a:pPr marL="0" indent="0" algn="l">
              <a:buNone/>
            </a:pPr>
            <a:r>
              <a:rPr lang="en-US" sz="552" dirty="0">
                <a:solidFill>
                  <a:srgbClr val="1A1A3A"/>
                </a:solidFill>
                <a:latin typeface="Raleway" pitchFamily="34" charset="0"/>
                <a:ea typeface="Raleway" pitchFamily="34" charset="-122"/>
                <a:cs typeface="Raleway" pitchFamily="34" charset="-120"/>
              </a:rPr>
              <a:t>Cuota Protegida representa el 76 % de las ventas del semestre (10.534 pólizas). Se capacitaron contraargumentos para objeciones técnicas recurrentes que frenaban la conversión en este producto priorizado.</a:t>
            </a:r>
            <a:endParaRPr lang="en-US" sz="552" dirty="0"/>
          </a:p>
        </p:txBody>
      </p:sp>
      <p:sp>
        <p:nvSpPr>
          <p:cNvPr id="14" name="Text 11"/>
          <p:cNvSpPr/>
          <p:nvPr/>
        </p:nvSpPr>
        <p:spPr>
          <a:xfrm>
            <a:off x="6676858" y="5849541"/>
            <a:ext cx="4915063" cy="128016"/>
          </a:xfrm>
          <a:prstGeom prst="rect">
            <a:avLst/>
          </a:prstGeom>
          <a:noFill/>
          <a:ln/>
        </p:spPr>
        <p:txBody>
          <a:bodyPr wrap="square" lIns="0" tIns="0" rIns="0" bIns="0" rtlCol="0" anchor="t"/>
          <a:lstStyle/>
          <a:p>
            <a:pPr marL="0" indent="0" algn="l">
              <a:buNone/>
            </a:pPr>
            <a:r>
              <a:rPr lang="en-US" sz="624" b="1" dirty="0">
                <a:solidFill>
                  <a:srgbClr val="120180"/>
                </a:solidFill>
                <a:latin typeface="Raleway" pitchFamily="34" charset="0"/>
                <a:ea typeface="Raleway" pitchFamily="34" charset="-122"/>
                <a:cs typeface="Raleway" pitchFamily="34" charset="-120"/>
              </a:rPr>
              <a:t>Fortalecimiento del Cumplimiento de Lineamientos Operativos y de Calidad</a:t>
            </a:r>
            <a:endParaRPr lang="en-US" sz="624" dirty="0"/>
          </a:p>
        </p:txBody>
      </p:sp>
      <p:sp>
        <p:nvSpPr>
          <p:cNvPr id="15" name="Text 12"/>
          <p:cNvSpPr/>
          <p:nvPr/>
        </p:nvSpPr>
        <p:spPr>
          <a:xfrm>
            <a:off x="923902" y="5293370"/>
            <a:ext cx="4915063" cy="128016"/>
          </a:xfrm>
          <a:prstGeom prst="rect">
            <a:avLst/>
          </a:prstGeom>
          <a:noFill/>
          <a:ln/>
        </p:spPr>
        <p:txBody>
          <a:bodyPr wrap="square" lIns="0" tIns="0" rIns="0" bIns="0" rtlCol="0" anchor="t"/>
          <a:lstStyle/>
          <a:p>
            <a:pPr marL="0" indent="0" algn="l">
              <a:buNone/>
            </a:pPr>
            <a:r>
              <a:rPr lang="en-US" sz="624" b="1" dirty="0">
                <a:solidFill>
                  <a:srgbClr val="120180"/>
                </a:solidFill>
                <a:latin typeface="Raleway" pitchFamily="34" charset="0"/>
                <a:ea typeface="Raleway" pitchFamily="34" charset="-122"/>
                <a:cs typeface="Raleway" pitchFamily="34" charset="-120"/>
              </a:rPr>
              <a:t>Lineamientos para la Aplicación del Guion y Control de Modificaciones</a:t>
            </a:r>
            <a:endParaRPr lang="en-US" sz="624" dirty="0"/>
          </a:p>
        </p:txBody>
      </p:sp>
      <p:sp>
        <p:nvSpPr>
          <p:cNvPr id="16" name="Text 13"/>
          <p:cNvSpPr/>
          <p:nvPr/>
        </p:nvSpPr>
        <p:spPr>
          <a:xfrm>
            <a:off x="6676858" y="3640187"/>
            <a:ext cx="4915063" cy="128016"/>
          </a:xfrm>
          <a:prstGeom prst="rect">
            <a:avLst/>
          </a:prstGeom>
          <a:noFill/>
          <a:ln/>
        </p:spPr>
        <p:txBody>
          <a:bodyPr wrap="square" lIns="0" tIns="0" rIns="0" bIns="0" rtlCol="0" anchor="t"/>
          <a:lstStyle/>
          <a:p>
            <a:pPr marL="0" indent="0" algn="l">
              <a:buNone/>
            </a:pPr>
            <a:r>
              <a:rPr lang="en-US" sz="624" b="1" dirty="0">
                <a:solidFill>
                  <a:srgbClr val="120180"/>
                </a:solidFill>
                <a:latin typeface="Raleway" pitchFamily="34" charset="0"/>
                <a:ea typeface="Raleway" pitchFamily="34" charset="-122"/>
                <a:cs typeface="Raleway" pitchFamily="34" charset="-120"/>
              </a:rPr>
              <a:t>Implementación de Herramientas de Apoyo para la Gestión Comercial</a:t>
            </a:r>
            <a:endParaRPr lang="en-US" sz="624" dirty="0"/>
          </a:p>
        </p:txBody>
      </p:sp>
      <p:sp>
        <p:nvSpPr>
          <p:cNvPr id="17" name="Text 14"/>
          <p:cNvSpPr/>
          <p:nvPr/>
        </p:nvSpPr>
        <p:spPr>
          <a:xfrm>
            <a:off x="923902" y="1499146"/>
            <a:ext cx="4915063" cy="128016"/>
          </a:xfrm>
          <a:prstGeom prst="rect">
            <a:avLst/>
          </a:prstGeom>
          <a:noFill/>
          <a:ln/>
        </p:spPr>
        <p:txBody>
          <a:bodyPr wrap="square" lIns="0" tIns="0" rIns="0" bIns="0" rtlCol="0" anchor="t"/>
          <a:lstStyle/>
          <a:p>
            <a:pPr marL="0" indent="0" algn="l">
              <a:buNone/>
            </a:pPr>
            <a:r>
              <a:rPr lang="en-US" sz="624" b="1" dirty="0">
                <a:solidFill>
                  <a:srgbClr val="120180"/>
                </a:solidFill>
                <a:latin typeface="Raleway" pitchFamily="34" charset="0"/>
                <a:ea typeface="Raleway" pitchFamily="34" charset="-122"/>
                <a:cs typeface="Raleway" pitchFamily="34" charset="-120"/>
              </a:rPr>
              <a:t>Socialización y Alineación de Estándares de Calidad Comercial</a:t>
            </a:r>
            <a:endParaRPr lang="en-US" sz="624" dirty="0"/>
          </a:p>
        </p:txBody>
      </p:sp>
      <p:sp>
        <p:nvSpPr>
          <p:cNvPr id="18" name="Text 15"/>
          <p:cNvSpPr/>
          <p:nvPr/>
        </p:nvSpPr>
        <p:spPr>
          <a:xfrm>
            <a:off x="6676858" y="2474416"/>
            <a:ext cx="4915063" cy="128016"/>
          </a:xfrm>
          <a:prstGeom prst="rect">
            <a:avLst/>
          </a:prstGeom>
          <a:noFill/>
          <a:ln/>
        </p:spPr>
        <p:txBody>
          <a:bodyPr wrap="square" lIns="0" tIns="0" rIns="0" bIns="0" rtlCol="0" anchor="t"/>
          <a:lstStyle/>
          <a:p>
            <a:pPr marL="0" indent="0" algn="l">
              <a:buNone/>
            </a:pPr>
            <a:r>
              <a:rPr lang="en-US" sz="624" b="1" dirty="0">
                <a:solidFill>
                  <a:srgbClr val="120180"/>
                </a:solidFill>
                <a:latin typeface="Raleway" pitchFamily="34" charset="0"/>
                <a:ea typeface="Raleway" pitchFamily="34" charset="-122"/>
                <a:cs typeface="Raleway" pitchFamily="34" charset="-120"/>
              </a:rPr>
              <a:t>Fortalecimiento de Conocimientos del Producto Cuota Protegida</a:t>
            </a:r>
            <a:endParaRPr lang="en-US" sz="624" dirty="0"/>
          </a:p>
        </p:txBody>
      </p:sp>
      <p:sp>
        <p:nvSpPr>
          <p:cNvPr id="19" name="Text 16"/>
          <p:cNvSpPr/>
          <p:nvPr/>
        </p:nvSpPr>
        <p:spPr>
          <a:xfrm>
            <a:off x="923902" y="3030587"/>
            <a:ext cx="4915063" cy="128016"/>
          </a:xfrm>
          <a:prstGeom prst="rect">
            <a:avLst/>
          </a:prstGeom>
          <a:noFill/>
          <a:ln/>
        </p:spPr>
        <p:txBody>
          <a:bodyPr wrap="square" lIns="0" tIns="0" rIns="0" bIns="0" rtlCol="0" anchor="t"/>
          <a:lstStyle/>
          <a:p>
            <a:pPr marL="0" indent="0" algn="l">
              <a:buNone/>
            </a:pPr>
            <a:r>
              <a:rPr lang="en-US" sz="624" b="1" dirty="0">
                <a:solidFill>
                  <a:srgbClr val="120180"/>
                </a:solidFill>
                <a:latin typeface="Raleway" pitchFamily="34" charset="0"/>
                <a:ea typeface="Raleway" pitchFamily="34" charset="-122"/>
                <a:cs typeface="Raleway" pitchFamily="34" charset="-120"/>
              </a:rPr>
              <a:t>Aplicación Correcta de la Cláusula de Cobro y Autorizaciones</a:t>
            </a:r>
            <a:endParaRPr lang="en-US" sz="624" dirty="0"/>
          </a:p>
        </p:txBody>
      </p:sp>
      <p:sp>
        <p:nvSpPr>
          <p:cNvPr id="20" name="Text 17"/>
          <p:cNvSpPr/>
          <p:nvPr/>
        </p:nvSpPr>
        <p:spPr>
          <a:xfrm>
            <a:off x="923902" y="4927699"/>
            <a:ext cx="4915063" cy="128016"/>
          </a:xfrm>
          <a:prstGeom prst="rect">
            <a:avLst/>
          </a:prstGeom>
          <a:noFill/>
          <a:ln/>
        </p:spPr>
        <p:txBody>
          <a:bodyPr wrap="square" lIns="0" tIns="0" rIns="0" bIns="0" rtlCol="0" anchor="t"/>
          <a:lstStyle/>
          <a:p>
            <a:pPr marL="0" indent="0" algn="l">
              <a:buNone/>
            </a:pPr>
            <a:r>
              <a:rPr lang="en-US" sz="624" b="1" dirty="0">
                <a:solidFill>
                  <a:srgbClr val="120180"/>
                </a:solidFill>
                <a:latin typeface="Raleway" pitchFamily="34" charset="0"/>
                <a:ea typeface="Raleway" pitchFamily="34" charset="-122"/>
                <a:cs typeface="Raleway" pitchFamily="34" charset="-120"/>
              </a:rPr>
              <a:t>Técnicas Efectivas para el Manejo de Objeciones Comerciales</a:t>
            </a:r>
            <a:endParaRPr lang="en-US" sz="624" dirty="0"/>
          </a:p>
        </p:txBody>
      </p:sp>
      <p:sp>
        <p:nvSpPr>
          <p:cNvPr id="21" name="Text 18"/>
          <p:cNvSpPr/>
          <p:nvPr/>
        </p:nvSpPr>
        <p:spPr>
          <a:xfrm>
            <a:off x="923902" y="4562029"/>
            <a:ext cx="4915063" cy="128016"/>
          </a:xfrm>
          <a:prstGeom prst="rect">
            <a:avLst/>
          </a:prstGeom>
          <a:noFill/>
          <a:ln/>
        </p:spPr>
        <p:txBody>
          <a:bodyPr wrap="square" lIns="0" tIns="0" rIns="0" bIns="0" rtlCol="0" anchor="t"/>
          <a:lstStyle/>
          <a:p>
            <a:pPr marL="0" indent="0" algn="l">
              <a:buNone/>
            </a:pPr>
            <a:r>
              <a:rPr lang="en-US" sz="624" b="1" dirty="0">
                <a:solidFill>
                  <a:srgbClr val="120180"/>
                </a:solidFill>
                <a:latin typeface="Raleway" pitchFamily="34" charset="0"/>
                <a:ea typeface="Raleway" pitchFamily="34" charset="-122"/>
                <a:cs typeface="Raleway" pitchFamily="34" charset="-120"/>
              </a:rPr>
              <a:t>Actualización Comercial del Producto Plan Combo Vida</a:t>
            </a:r>
            <a:endParaRPr lang="en-US" sz="624" dirty="0"/>
          </a:p>
        </p:txBody>
      </p:sp>
      <p:sp>
        <p:nvSpPr>
          <p:cNvPr id="22" name="Text 19"/>
          <p:cNvSpPr/>
          <p:nvPr/>
        </p:nvSpPr>
        <p:spPr>
          <a:xfrm>
            <a:off x="6676858" y="2108746"/>
            <a:ext cx="4915063" cy="128016"/>
          </a:xfrm>
          <a:prstGeom prst="rect">
            <a:avLst/>
          </a:prstGeom>
          <a:noFill/>
          <a:ln/>
        </p:spPr>
        <p:txBody>
          <a:bodyPr wrap="square" lIns="0" tIns="0" rIns="0" bIns="0" rtlCol="0" anchor="t"/>
          <a:lstStyle/>
          <a:p>
            <a:pPr marL="0" indent="0" algn="l">
              <a:buNone/>
            </a:pPr>
            <a:r>
              <a:rPr lang="en-US" sz="624" b="1" dirty="0">
                <a:solidFill>
                  <a:srgbClr val="120180"/>
                </a:solidFill>
                <a:latin typeface="Raleway" pitchFamily="34" charset="0"/>
                <a:ea typeface="Raleway" pitchFamily="34" charset="-122"/>
                <a:cs typeface="Raleway" pitchFamily="34" charset="-120"/>
              </a:rPr>
              <a:t>Estandarización del Protocolo de Cierre Comercial</a:t>
            </a:r>
            <a:endParaRPr lang="en-US" sz="624" dirty="0"/>
          </a:p>
        </p:txBody>
      </p:sp>
      <p:sp>
        <p:nvSpPr>
          <p:cNvPr id="23" name="Text 20"/>
          <p:cNvSpPr/>
          <p:nvPr/>
        </p:nvSpPr>
        <p:spPr>
          <a:xfrm>
            <a:off x="1213514" y="219075"/>
            <a:ext cx="4025526" cy="196215"/>
          </a:xfrm>
          <a:prstGeom prst="rect">
            <a:avLst/>
          </a:prstGeom>
          <a:noFill/>
          <a:ln/>
        </p:spPr>
        <p:txBody>
          <a:bodyPr wrap="square" lIns="0" tIns="0" rIns="0" bIns="0" rtlCol="0" anchor="t"/>
          <a:lstStyle/>
          <a:p>
            <a:pPr marL="0" indent="0" algn="l">
              <a:buNone/>
            </a:pPr>
            <a:r>
              <a:rPr lang="en-US" sz="1260" b="1" dirty="0">
                <a:solidFill>
                  <a:srgbClr val="FFFFFF"/>
                </a:solidFill>
                <a:latin typeface="Raleway" pitchFamily="34" charset="0"/>
                <a:ea typeface="Raleway" pitchFamily="34" charset="-122"/>
                <a:cs typeface="Raleway" pitchFamily="34" charset="-120"/>
              </a:rPr>
              <a:t>Capacitaciones del Semestre · Línea de Tiempo</a:t>
            </a:r>
            <a:endParaRPr lang="en-US" sz="1260" dirty="0"/>
          </a:p>
        </p:txBody>
      </p:sp>
      <p:sp>
        <p:nvSpPr>
          <p:cNvPr id="24" name="Text 21"/>
          <p:cNvSpPr/>
          <p:nvPr/>
        </p:nvSpPr>
        <p:spPr>
          <a:xfrm>
            <a:off x="6676858" y="4005858"/>
            <a:ext cx="4915063" cy="128016"/>
          </a:xfrm>
          <a:prstGeom prst="rect">
            <a:avLst/>
          </a:prstGeom>
          <a:noFill/>
          <a:ln/>
        </p:spPr>
        <p:txBody>
          <a:bodyPr wrap="square" lIns="0" tIns="0" rIns="0" bIns="0" rtlCol="0" anchor="t"/>
          <a:lstStyle/>
          <a:p>
            <a:pPr marL="0" indent="0" algn="l">
              <a:buNone/>
            </a:pPr>
            <a:r>
              <a:rPr lang="en-US" sz="624" b="1" dirty="0">
                <a:solidFill>
                  <a:srgbClr val="120180"/>
                </a:solidFill>
                <a:latin typeface="Raleway" pitchFamily="34" charset="0"/>
                <a:ea typeface="Raleway" pitchFamily="34" charset="-122"/>
                <a:cs typeface="Raleway" pitchFamily="34" charset="-120"/>
              </a:rPr>
              <a:t>Estandarización del Guion Comercial Aprobado</a:t>
            </a:r>
            <a:endParaRPr lang="en-US" sz="624" dirty="0"/>
          </a:p>
        </p:txBody>
      </p:sp>
      <p:sp>
        <p:nvSpPr>
          <p:cNvPr id="25" name="Text 22"/>
          <p:cNvSpPr/>
          <p:nvPr/>
        </p:nvSpPr>
        <p:spPr>
          <a:xfrm>
            <a:off x="10259026" y="111157"/>
            <a:ext cx="1932669" cy="215836"/>
          </a:xfrm>
          <a:prstGeom prst="rect">
            <a:avLst/>
          </a:prstGeom>
          <a:noFill/>
          <a:ln/>
        </p:spPr>
        <p:txBody>
          <a:bodyPr wrap="square" lIns="38100" tIns="114300" rIns="114300" bIns="38100" rtlCol="0" anchor="t"/>
          <a:lstStyle/>
          <a:p>
            <a:pPr marL="0" indent="0" algn="l">
              <a:buNone/>
            </a:pPr>
            <a:r>
              <a:rPr lang="en-US" sz="840" b="1" dirty="0" err="1">
                <a:solidFill>
                  <a:srgbClr val="5AE280"/>
                </a:solidFill>
                <a:latin typeface="Raleway" pitchFamily="34" charset="0"/>
                <a:ea typeface="Raleway" pitchFamily="34" charset="-122"/>
                <a:cs typeface="Raleway" pitchFamily="34" charset="-120"/>
              </a:rPr>
              <a:t>Capacitaciones</a:t>
            </a:r>
            <a:endParaRPr lang="en-US" sz="840" dirty="0"/>
          </a:p>
        </p:txBody>
      </p:sp>
      <p:sp>
        <p:nvSpPr>
          <p:cNvPr id="26" name="Text 23"/>
          <p:cNvSpPr/>
          <p:nvPr/>
        </p:nvSpPr>
        <p:spPr>
          <a:xfrm>
            <a:off x="6739067" y="1984921"/>
            <a:ext cx="301213" cy="128016"/>
          </a:xfrm>
          <a:prstGeom prst="rect">
            <a:avLst/>
          </a:prstGeom>
          <a:noFill/>
          <a:ln/>
        </p:spPr>
        <p:txBody>
          <a:bodyPr wrap="square" lIns="0" tIns="0" rIns="0" bIns="0" rtlCol="0" anchor="t"/>
          <a:lstStyle/>
          <a:p>
            <a:pPr marL="0" indent="0" algn="l">
              <a:buNone/>
            </a:pPr>
            <a:r>
              <a:rPr lang="en-US" sz="480" dirty="0">
                <a:solidFill>
                  <a:srgbClr val="9098B0"/>
                </a:solidFill>
                <a:latin typeface="Raleway" pitchFamily="34" charset="0"/>
                <a:ea typeface="Raleway" pitchFamily="34" charset="-122"/>
                <a:cs typeface="Raleway" pitchFamily="34" charset="-120"/>
              </a:rPr>
              <a:t>2 sesiónes</a:t>
            </a:r>
            <a:endParaRPr lang="en-US" sz="480" dirty="0"/>
          </a:p>
        </p:txBody>
      </p:sp>
      <p:sp>
        <p:nvSpPr>
          <p:cNvPr id="27" name="Text 24"/>
          <p:cNvSpPr/>
          <p:nvPr/>
        </p:nvSpPr>
        <p:spPr>
          <a:xfrm>
            <a:off x="6750675" y="3516362"/>
            <a:ext cx="301213" cy="128016"/>
          </a:xfrm>
          <a:prstGeom prst="rect">
            <a:avLst/>
          </a:prstGeom>
          <a:noFill/>
          <a:ln/>
        </p:spPr>
        <p:txBody>
          <a:bodyPr wrap="square" lIns="0" tIns="0" rIns="0" bIns="0" rtlCol="0" anchor="t"/>
          <a:lstStyle/>
          <a:p>
            <a:pPr marL="0" indent="0" algn="l">
              <a:buNone/>
            </a:pPr>
            <a:r>
              <a:rPr lang="en-US" sz="480" dirty="0">
                <a:solidFill>
                  <a:srgbClr val="9098B0"/>
                </a:solidFill>
                <a:latin typeface="Raleway" pitchFamily="34" charset="0"/>
                <a:ea typeface="Raleway" pitchFamily="34" charset="-122"/>
                <a:cs typeface="Raleway" pitchFamily="34" charset="-120"/>
              </a:rPr>
              <a:t>2 sesiónes</a:t>
            </a:r>
            <a:endParaRPr lang="en-US" sz="480" dirty="0"/>
          </a:p>
        </p:txBody>
      </p:sp>
      <p:sp>
        <p:nvSpPr>
          <p:cNvPr id="28" name="Text 25"/>
          <p:cNvSpPr/>
          <p:nvPr/>
        </p:nvSpPr>
        <p:spPr>
          <a:xfrm>
            <a:off x="1003969" y="4438204"/>
            <a:ext cx="301980" cy="128016"/>
          </a:xfrm>
          <a:prstGeom prst="rect">
            <a:avLst/>
          </a:prstGeom>
          <a:noFill/>
          <a:ln/>
        </p:spPr>
        <p:txBody>
          <a:bodyPr wrap="square" lIns="0" tIns="0" rIns="0" bIns="0" rtlCol="0" anchor="t"/>
          <a:lstStyle/>
          <a:p>
            <a:pPr marL="0" indent="0" algn="l">
              <a:buNone/>
            </a:pPr>
            <a:r>
              <a:rPr lang="en-US" sz="480" dirty="0">
                <a:solidFill>
                  <a:srgbClr val="9098B0"/>
                </a:solidFill>
                <a:latin typeface="Raleway" pitchFamily="34" charset="0"/>
                <a:ea typeface="Raleway" pitchFamily="34" charset="-122"/>
                <a:cs typeface="Raleway" pitchFamily="34" charset="-120"/>
              </a:rPr>
              <a:t>3 sesiónes</a:t>
            </a:r>
            <a:endParaRPr lang="en-US" sz="480" dirty="0"/>
          </a:p>
        </p:txBody>
      </p:sp>
      <p:sp>
        <p:nvSpPr>
          <p:cNvPr id="29" name="Text 26"/>
          <p:cNvSpPr/>
          <p:nvPr/>
        </p:nvSpPr>
        <p:spPr>
          <a:xfrm>
            <a:off x="993105" y="1375321"/>
            <a:ext cx="274320" cy="128016"/>
          </a:xfrm>
          <a:prstGeom prst="rect">
            <a:avLst/>
          </a:prstGeom>
          <a:noFill/>
          <a:ln/>
        </p:spPr>
        <p:txBody>
          <a:bodyPr wrap="square" lIns="0" tIns="0" rIns="0" bIns="0" rtlCol="0" anchor="t"/>
          <a:lstStyle/>
          <a:p>
            <a:pPr marL="0" indent="0" algn="l">
              <a:buNone/>
            </a:pPr>
            <a:r>
              <a:rPr lang="en-US" sz="480" dirty="0">
                <a:solidFill>
                  <a:srgbClr val="9098B0"/>
                </a:solidFill>
                <a:latin typeface="Raleway" pitchFamily="34" charset="0"/>
                <a:ea typeface="Raleway" pitchFamily="34" charset="-122"/>
                <a:cs typeface="Raleway" pitchFamily="34" charset="-120"/>
              </a:rPr>
              <a:t>1 sesión</a:t>
            </a:r>
            <a:endParaRPr lang="en-US" sz="480" dirty="0"/>
          </a:p>
        </p:txBody>
      </p:sp>
      <p:sp>
        <p:nvSpPr>
          <p:cNvPr id="30" name="Text 27"/>
          <p:cNvSpPr/>
          <p:nvPr/>
        </p:nvSpPr>
        <p:spPr>
          <a:xfrm>
            <a:off x="1009476" y="2906762"/>
            <a:ext cx="274320" cy="128016"/>
          </a:xfrm>
          <a:prstGeom prst="rect">
            <a:avLst/>
          </a:prstGeom>
          <a:noFill/>
          <a:ln/>
        </p:spPr>
        <p:txBody>
          <a:bodyPr wrap="square" lIns="0" tIns="0" rIns="0" bIns="0" rtlCol="0" anchor="t"/>
          <a:lstStyle/>
          <a:p>
            <a:pPr marL="0" indent="0" algn="l">
              <a:buNone/>
            </a:pPr>
            <a:r>
              <a:rPr lang="en-US" sz="480" dirty="0">
                <a:solidFill>
                  <a:srgbClr val="9098B0"/>
                </a:solidFill>
                <a:latin typeface="Raleway" pitchFamily="34" charset="0"/>
                <a:ea typeface="Raleway" pitchFamily="34" charset="-122"/>
                <a:cs typeface="Raleway" pitchFamily="34" charset="-120"/>
              </a:rPr>
              <a:t>1 sesión</a:t>
            </a:r>
            <a:endParaRPr lang="en-US" sz="480" dirty="0"/>
          </a:p>
        </p:txBody>
      </p:sp>
      <p:sp>
        <p:nvSpPr>
          <p:cNvPr id="31" name="Text 28"/>
          <p:cNvSpPr/>
          <p:nvPr/>
        </p:nvSpPr>
        <p:spPr>
          <a:xfrm>
            <a:off x="6749038" y="5725716"/>
            <a:ext cx="274320" cy="128016"/>
          </a:xfrm>
          <a:prstGeom prst="rect">
            <a:avLst/>
          </a:prstGeom>
          <a:noFill/>
          <a:ln/>
        </p:spPr>
        <p:txBody>
          <a:bodyPr wrap="square" lIns="0" tIns="0" rIns="0" bIns="0" rtlCol="0" anchor="t"/>
          <a:lstStyle/>
          <a:p>
            <a:pPr marL="0" indent="0" algn="l">
              <a:buNone/>
            </a:pPr>
            <a:r>
              <a:rPr lang="en-US" sz="480" dirty="0">
                <a:solidFill>
                  <a:srgbClr val="9098B0"/>
                </a:solidFill>
                <a:latin typeface="Raleway" pitchFamily="34" charset="0"/>
                <a:ea typeface="Raleway" pitchFamily="34" charset="-122"/>
                <a:cs typeface="Raleway" pitchFamily="34" charset="-120"/>
              </a:rPr>
              <a:t>1 sesión</a:t>
            </a:r>
            <a:endParaRPr lang="en-US" sz="480" dirty="0"/>
          </a:p>
        </p:txBody>
      </p:sp>
      <p:sp>
        <p:nvSpPr>
          <p:cNvPr id="32" name="Text 29"/>
          <p:cNvSpPr/>
          <p:nvPr/>
        </p:nvSpPr>
        <p:spPr>
          <a:xfrm>
            <a:off x="742931" y="1365796"/>
            <a:ext cx="274320" cy="128016"/>
          </a:xfrm>
          <a:prstGeom prst="rect">
            <a:avLst/>
          </a:prstGeom>
          <a:noFill/>
          <a:ln/>
        </p:spPr>
        <p:txBody>
          <a:bodyPr wrap="square" lIns="0" tIns="0" rIns="0" bIns="0" rtlCol="0" anchor="t"/>
          <a:lstStyle/>
          <a:p>
            <a:pPr marL="0" indent="0" algn="l">
              <a:buNone/>
            </a:pPr>
            <a:r>
              <a:rPr lang="en-US" sz="528" b="1" dirty="0">
                <a:solidFill>
                  <a:srgbClr val="FF6B35"/>
                </a:solidFill>
                <a:latin typeface="Raleway" pitchFamily="34" charset="0"/>
                <a:ea typeface="Raleway" pitchFamily="34" charset="-122"/>
                <a:cs typeface="Raleway" pitchFamily="34" charset="-120"/>
              </a:rPr>
              <a:t>Ene</a:t>
            </a:r>
            <a:endParaRPr lang="en-US" sz="528" dirty="0"/>
          </a:p>
        </p:txBody>
      </p:sp>
      <p:sp>
        <p:nvSpPr>
          <p:cNvPr id="33" name="Text 30"/>
          <p:cNvSpPr/>
          <p:nvPr/>
        </p:nvSpPr>
        <p:spPr>
          <a:xfrm>
            <a:off x="6495888" y="1975396"/>
            <a:ext cx="274320" cy="128016"/>
          </a:xfrm>
          <a:prstGeom prst="rect">
            <a:avLst/>
          </a:prstGeom>
          <a:noFill/>
          <a:ln/>
        </p:spPr>
        <p:txBody>
          <a:bodyPr wrap="square" lIns="0" tIns="0" rIns="0" bIns="0" rtlCol="0" anchor="t"/>
          <a:lstStyle/>
          <a:p>
            <a:pPr marL="0" indent="0" algn="l">
              <a:buNone/>
            </a:pPr>
            <a:r>
              <a:rPr lang="en-US" sz="528" b="1" dirty="0">
                <a:solidFill>
                  <a:srgbClr val="F5A623"/>
                </a:solidFill>
                <a:latin typeface="Raleway" pitchFamily="34" charset="0"/>
                <a:ea typeface="Raleway" pitchFamily="34" charset="-122"/>
                <a:cs typeface="Raleway" pitchFamily="34" charset="-120"/>
              </a:rPr>
              <a:t>Feb</a:t>
            </a:r>
            <a:endParaRPr lang="en-US" sz="528" dirty="0"/>
          </a:p>
        </p:txBody>
      </p:sp>
      <p:sp>
        <p:nvSpPr>
          <p:cNvPr id="34" name="Text 31"/>
          <p:cNvSpPr/>
          <p:nvPr/>
        </p:nvSpPr>
        <p:spPr>
          <a:xfrm>
            <a:off x="742931" y="2897237"/>
            <a:ext cx="274320" cy="128016"/>
          </a:xfrm>
          <a:prstGeom prst="rect">
            <a:avLst/>
          </a:prstGeom>
          <a:noFill/>
          <a:ln/>
        </p:spPr>
        <p:txBody>
          <a:bodyPr wrap="square" lIns="0" tIns="0" rIns="0" bIns="0" rtlCol="0" anchor="t"/>
          <a:lstStyle/>
          <a:p>
            <a:pPr marL="0" indent="0" algn="l">
              <a:buNone/>
            </a:pPr>
            <a:r>
              <a:rPr lang="en-US" sz="528" b="1" dirty="0">
                <a:solidFill>
                  <a:srgbClr val="F7C948"/>
                </a:solidFill>
                <a:latin typeface="Raleway" pitchFamily="34" charset="0"/>
                <a:ea typeface="Raleway" pitchFamily="34" charset="-122"/>
                <a:cs typeface="Raleway" pitchFamily="34" charset="-120"/>
              </a:rPr>
              <a:t>Mar</a:t>
            </a:r>
            <a:endParaRPr lang="en-US" sz="528" dirty="0"/>
          </a:p>
        </p:txBody>
      </p:sp>
      <p:sp>
        <p:nvSpPr>
          <p:cNvPr id="35" name="Text 32"/>
          <p:cNvSpPr/>
          <p:nvPr/>
        </p:nvSpPr>
        <p:spPr>
          <a:xfrm>
            <a:off x="6495888" y="3506837"/>
            <a:ext cx="274320" cy="128016"/>
          </a:xfrm>
          <a:prstGeom prst="rect">
            <a:avLst/>
          </a:prstGeom>
          <a:noFill/>
          <a:ln/>
        </p:spPr>
        <p:txBody>
          <a:bodyPr wrap="square" lIns="0" tIns="0" rIns="0" bIns="0" rtlCol="0" anchor="t"/>
          <a:lstStyle/>
          <a:p>
            <a:pPr marL="0" indent="0" algn="l">
              <a:buNone/>
            </a:pPr>
            <a:r>
              <a:rPr lang="en-US" sz="528" b="1" dirty="0">
                <a:solidFill>
                  <a:srgbClr val="5AE280"/>
                </a:solidFill>
                <a:latin typeface="Raleway" pitchFamily="34" charset="0"/>
                <a:ea typeface="Raleway" pitchFamily="34" charset="-122"/>
                <a:cs typeface="Raleway" pitchFamily="34" charset="-120"/>
              </a:rPr>
              <a:t>Abr</a:t>
            </a:r>
            <a:endParaRPr lang="en-US" sz="528" dirty="0"/>
          </a:p>
        </p:txBody>
      </p:sp>
      <p:sp>
        <p:nvSpPr>
          <p:cNvPr id="36" name="Text 33"/>
          <p:cNvSpPr/>
          <p:nvPr/>
        </p:nvSpPr>
        <p:spPr>
          <a:xfrm>
            <a:off x="742931" y="4428679"/>
            <a:ext cx="274320" cy="128016"/>
          </a:xfrm>
          <a:prstGeom prst="rect">
            <a:avLst/>
          </a:prstGeom>
          <a:noFill/>
          <a:ln/>
        </p:spPr>
        <p:txBody>
          <a:bodyPr wrap="square" lIns="0" tIns="0" rIns="0" bIns="0" rtlCol="0" anchor="t"/>
          <a:lstStyle/>
          <a:p>
            <a:pPr marL="0" indent="0" algn="l">
              <a:buNone/>
            </a:pPr>
            <a:r>
              <a:rPr lang="en-US" sz="528" b="1" dirty="0">
                <a:solidFill>
                  <a:srgbClr val="00CD93"/>
                </a:solidFill>
                <a:latin typeface="Raleway" pitchFamily="34" charset="0"/>
                <a:ea typeface="Raleway" pitchFamily="34" charset="-122"/>
                <a:cs typeface="Raleway" pitchFamily="34" charset="-120"/>
              </a:rPr>
              <a:t>May</a:t>
            </a:r>
            <a:endParaRPr lang="en-US" sz="528" dirty="0"/>
          </a:p>
        </p:txBody>
      </p:sp>
      <p:sp>
        <p:nvSpPr>
          <p:cNvPr id="37" name="Text 34"/>
          <p:cNvSpPr/>
          <p:nvPr/>
        </p:nvSpPr>
        <p:spPr>
          <a:xfrm>
            <a:off x="6495888" y="5716191"/>
            <a:ext cx="274320" cy="128016"/>
          </a:xfrm>
          <a:prstGeom prst="rect">
            <a:avLst/>
          </a:prstGeom>
          <a:noFill/>
          <a:ln/>
        </p:spPr>
        <p:txBody>
          <a:bodyPr wrap="square" lIns="0" tIns="0" rIns="0" bIns="0" rtlCol="0" anchor="t"/>
          <a:lstStyle/>
          <a:p>
            <a:pPr marL="0" indent="0" algn="l">
              <a:buNone/>
            </a:pPr>
            <a:r>
              <a:rPr lang="en-US" sz="528" b="1" dirty="0">
                <a:solidFill>
                  <a:srgbClr val="5B8DEF"/>
                </a:solidFill>
                <a:latin typeface="Raleway" pitchFamily="34" charset="0"/>
                <a:ea typeface="Raleway" pitchFamily="34" charset="-122"/>
                <a:cs typeface="Raleway" pitchFamily="34" charset="-120"/>
              </a:rPr>
              <a:t>Jun</a:t>
            </a:r>
            <a:endParaRPr lang="en-US" sz="528" dirty="0"/>
          </a:p>
        </p:txBody>
      </p:sp>
      <p:sp>
        <p:nvSpPr>
          <p:cNvPr id="39" name="TextBox 38">
            <a:extLst>
              <a:ext uri="{FF2B5EF4-FFF2-40B4-BE49-F238E27FC236}">
                <a16:creationId xmlns:a16="http://schemas.microsoft.com/office/drawing/2014/main" id="{31C3D5C3-BE97-3735-DDEE-F964887B0E00}"/>
              </a:ext>
            </a:extLst>
          </p:cNvPr>
          <p:cNvSpPr txBox="1"/>
          <p:nvPr/>
        </p:nvSpPr>
        <p:spPr>
          <a:xfrm>
            <a:off x="3122761" y="987038"/>
            <a:ext cx="5170470" cy="230832"/>
          </a:xfrm>
          <a:prstGeom prst="rect">
            <a:avLst/>
          </a:prstGeom>
          <a:noFill/>
        </p:spPr>
        <p:txBody>
          <a:bodyPr wrap="square">
            <a:spAutoFit/>
          </a:bodyPr>
          <a:lstStyle/>
          <a:p>
            <a:pPr marL="0" marR="0" indent="0" algn="ctr">
              <a:spcAft>
                <a:spcPts val="300"/>
              </a:spcAft>
              <a:buNone/>
            </a:pPr>
            <a:r>
              <a:rPr lang="es-CO" sz="900" b="1" i="0" dirty="0">
                <a:solidFill>
                  <a:srgbClr val="120180"/>
                </a:solidFill>
                <a:effectLst/>
                <a:latin typeface="Raleway" pitchFamily="2" charset="0"/>
              </a:rPr>
              <a:t>10 capacitaciones ejecutadas por </a:t>
            </a:r>
            <a:r>
              <a:rPr lang="es-CO" sz="900" b="1" i="0" dirty="0" err="1">
                <a:solidFill>
                  <a:srgbClr val="120180"/>
                </a:solidFill>
                <a:effectLst/>
                <a:latin typeface="Raleway" pitchFamily="2" charset="0"/>
              </a:rPr>
              <a:t>Xuma</a:t>
            </a:r>
            <a:r>
              <a:rPr lang="es-CO" sz="900" b="1" i="0" dirty="0">
                <a:solidFill>
                  <a:srgbClr val="120180"/>
                </a:solidFill>
                <a:effectLst/>
                <a:latin typeface="Raleway" pitchFamily="2" charset="0"/>
              </a:rPr>
              <a:t> – Impacto Positivo</a:t>
            </a:r>
            <a:endParaRPr lang="es-CO"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C:\01_Repositorios\13_Presentaciones\dash\televentas\ppt_slides\sk_16_main.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6743531" y="3815060"/>
            <a:ext cx="4728663" cy="263357"/>
          </a:xfrm>
          <a:prstGeom prst="rect">
            <a:avLst/>
          </a:prstGeom>
          <a:noFill/>
          <a:ln/>
        </p:spPr>
        <p:txBody>
          <a:bodyPr wrap="square" lIns="0" tIns="0" rIns="0" bIns="0" rtlCol="0" anchor="t"/>
          <a:lstStyle/>
          <a:p>
            <a:pPr marL="0" indent="0" algn="l">
              <a:buNone/>
            </a:pPr>
            <a:r>
              <a:rPr lang="en-US" sz="672" dirty="0">
                <a:solidFill>
                  <a:srgbClr val="0A3D35"/>
                </a:solidFill>
                <a:latin typeface="Raleway" pitchFamily="34" charset="0"/>
                <a:ea typeface="Raleway" pitchFamily="34" charset="-122"/>
                <a:cs typeface="Raleway" pitchFamily="34" charset="-120"/>
              </a:rPr>
              <a:t>Cargues priorizados según mayor presencia de ventas por localidad o edad, y barrido de contactos sin respuesta más cambio de DID si el número marca como spam.</a:t>
            </a:r>
            <a:endParaRPr lang="en-US" sz="672" dirty="0"/>
          </a:p>
        </p:txBody>
      </p:sp>
      <p:sp>
        <p:nvSpPr>
          <p:cNvPr id="4" name="Text 1"/>
          <p:cNvSpPr/>
          <p:nvPr/>
        </p:nvSpPr>
        <p:spPr>
          <a:xfrm>
            <a:off x="6743531" y="1619250"/>
            <a:ext cx="4728663" cy="263357"/>
          </a:xfrm>
          <a:prstGeom prst="rect">
            <a:avLst/>
          </a:prstGeom>
          <a:noFill/>
          <a:ln/>
        </p:spPr>
        <p:txBody>
          <a:bodyPr wrap="square" lIns="0" tIns="0" rIns="0" bIns="0" rtlCol="0" anchor="t"/>
          <a:lstStyle/>
          <a:p>
            <a:pPr marL="0" indent="0" algn="l">
              <a:buNone/>
            </a:pPr>
            <a:r>
              <a:rPr lang="en-US" sz="672" dirty="0">
                <a:solidFill>
                  <a:srgbClr val="0A3D35"/>
                </a:solidFill>
                <a:latin typeface="Raleway" pitchFamily="34" charset="0"/>
                <a:ea typeface="Raleway" pitchFamily="34" charset="-122"/>
                <a:cs typeface="Raleway" pitchFamily="34" charset="-120"/>
              </a:rPr>
              <a:t>Se ajustaron las exclusiones dando más beneficios y menor tiempo de carencia, con el guion actualizado para incorporar la nueva asistencia.</a:t>
            </a:r>
            <a:endParaRPr lang="en-US" sz="672" dirty="0"/>
          </a:p>
        </p:txBody>
      </p:sp>
      <p:sp>
        <p:nvSpPr>
          <p:cNvPr id="5" name="Text 2"/>
          <p:cNvSpPr/>
          <p:nvPr/>
        </p:nvSpPr>
        <p:spPr>
          <a:xfrm>
            <a:off x="6743531" y="3083123"/>
            <a:ext cx="4728663" cy="263357"/>
          </a:xfrm>
          <a:prstGeom prst="rect">
            <a:avLst/>
          </a:prstGeom>
          <a:noFill/>
          <a:ln/>
        </p:spPr>
        <p:txBody>
          <a:bodyPr wrap="square" lIns="0" tIns="0" rIns="0" bIns="0" rtlCol="0" anchor="t"/>
          <a:lstStyle/>
          <a:p>
            <a:pPr marL="0" indent="0" algn="l">
              <a:buNone/>
            </a:pPr>
            <a:r>
              <a:rPr lang="en-US" sz="672" dirty="0">
                <a:solidFill>
                  <a:srgbClr val="0A3D35"/>
                </a:solidFill>
                <a:latin typeface="Raleway" pitchFamily="34" charset="0"/>
                <a:ea typeface="Raleway" pitchFamily="34" charset="-122"/>
                <a:cs typeface="Raleway" pitchFamily="34" charset="-120"/>
              </a:rPr>
              <a:t>Cuando el usuario cree que es solo información, el asesor debe aclarar que se está ofreciendo un seguro, para una venta más transparente.</a:t>
            </a:r>
            <a:endParaRPr lang="en-US" sz="672" dirty="0"/>
          </a:p>
        </p:txBody>
      </p:sp>
      <p:sp>
        <p:nvSpPr>
          <p:cNvPr id="6" name="Text 3"/>
          <p:cNvSpPr/>
          <p:nvPr/>
        </p:nvSpPr>
        <p:spPr>
          <a:xfrm>
            <a:off x="6743531" y="2351187"/>
            <a:ext cx="4728663" cy="263357"/>
          </a:xfrm>
          <a:prstGeom prst="rect">
            <a:avLst/>
          </a:prstGeom>
          <a:noFill/>
          <a:ln/>
        </p:spPr>
        <p:txBody>
          <a:bodyPr wrap="square" lIns="0" tIns="0" rIns="0" bIns="0" rtlCol="0" anchor="t"/>
          <a:lstStyle/>
          <a:p>
            <a:pPr marL="0" indent="0" algn="l">
              <a:buNone/>
            </a:pPr>
            <a:r>
              <a:rPr lang="en-US" sz="672" dirty="0">
                <a:solidFill>
                  <a:srgbClr val="0A3D35"/>
                </a:solidFill>
                <a:latin typeface="Raleway" pitchFamily="34" charset="0"/>
                <a:ea typeface="Raleway" pitchFamily="34" charset="-122"/>
                <a:cs typeface="Raleway" pitchFamily="34" charset="-120"/>
              </a:rPr>
              <a:t>Bienvenida exclusiva para clientes que obtuvieron el crédito por autogestión, conociendo cómo perciben esta nueva forma de crédito.</a:t>
            </a:r>
            <a:endParaRPr lang="en-US" sz="672" dirty="0"/>
          </a:p>
        </p:txBody>
      </p:sp>
      <p:sp>
        <p:nvSpPr>
          <p:cNvPr id="7" name="Text 4"/>
          <p:cNvSpPr/>
          <p:nvPr/>
        </p:nvSpPr>
        <p:spPr>
          <a:xfrm>
            <a:off x="1200120" y="2223343"/>
            <a:ext cx="4728663" cy="263357"/>
          </a:xfrm>
          <a:prstGeom prst="rect">
            <a:avLst/>
          </a:prstGeom>
          <a:noFill/>
          <a:ln/>
        </p:spPr>
        <p:txBody>
          <a:bodyPr wrap="square" lIns="0" tIns="0" rIns="0" bIns="0" rtlCol="0" anchor="t"/>
          <a:lstStyle/>
          <a:p>
            <a:pPr marL="0" indent="0" algn="l">
              <a:buNone/>
            </a:pPr>
            <a:r>
              <a:rPr lang="en-US" sz="672" dirty="0">
                <a:solidFill>
                  <a:srgbClr val="2A2A5A"/>
                </a:solidFill>
                <a:latin typeface="Raleway" pitchFamily="34" charset="0"/>
                <a:ea typeface="Raleway" pitchFamily="34" charset="-122"/>
                <a:cs typeface="Raleway" pitchFamily="34" charset="-120"/>
              </a:rPr>
              <a:t>Auditorías puntuales en algunos meses para verificar que la tipificación registrada coincida con lo que pasó en la llamada.</a:t>
            </a:r>
            <a:endParaRPr lang="en-US" sz="672" dirty="0"/>
          </a:p>
        </p:txBody>
      </p:sp>
      <p:sp>
        <p:nvSpPr>
          <p:cNvPr id="8" name="Text 5"/>
          <p:cNvSpPr/>
          <p:nvPr/>
        </p:nvSpPr>
        <p:spPr>
          <a:xfrm>
            <a:off x="1200120" y="2955280"/>
            <a:ext cx="4728663" cy="263357"/>
          </a:xfrm>
          <a:prstGeom prst="rect">
            <a:avLst/>
          </a:prstGeom>
          <a:noFill/>
          <a:ln/>
        </p:spPr>
        <p:txBody>
          <a:bodyPr wrap="square" lIns="0" tIns="0" rIns="0" bIns="0" rtlCol="0" anchor="t"/>
          <a:lstStyle/>
          <a:p>
            <a:pPr marL="0" indent="0" algn="l">
              <a:buNone/>
            </a:pPr>
            <a:r>
              <a:rPr lang="en-US" sz="672" dirty="0">
                <a:solidFill>
                  <a:srgbClr val="2A2A5A"/>
                </a:solidFill>
                <a:latin typeface="Raleway" pitchFamily="34" charset="0"/>
                <a:ea typeface="Raleway" pitchFamily="34" charset="-122"/>
                <a:cs typeface="Raleway" pitchFamily="34" charset="-120"/>
              </a:rPr>
              <a:t>Se revisan las llamadas tipificadas "no interesado" para nutrir un manual de objeciones que guía al asesor hacia el cierre.</a:t>
            </a:r>
            <a:endParaRPr lang="en-US" sz="672" dirty="0"/>
          </a:p>
        </p:txBody>
      </p:sp>
      <p:sp>
        <p:nvSpPr>
          <p:cNvPr id="9" name="Text 6"/>
          <p:cNvSpPr/>
          <p:nvPr/>
        </p:nvSpPr>
        <p:spPr>
          <a:xfrm>
            <a:off x="1200120" y="1619250"/>
            <a:ext cx="4478189" cy="131679"/>
          </a:xfrm>
          <a:prstGeom prst="rect">
            <a:avLst/>
          </a:prstGeom>
          <a:noFill/>
          <a:ln/>
        </p:spPr>
        <p:txBody>
          <a:bodyPr wrap="square" lIns="0" tIns="0" rIns="0" bIns="0" rtlCol="0" anchor="t"/>
          <a:lstStyle/>
          <a:p>
            <a:pPr marL="0" indent="0" algn="l">
              <a:buNone/>
            </a:pPr>
            <a:r>
              <a:rPr lang="en-US" sz="672" dirty="0">
                <a:solidFill>
                  <a:srgbClr val="2A2A5A"/>
                </a:solidFill>
                <a:latin typeface="Raleway" pitchFamily="34" charset="0"/>
                <a:ea typeface="Raleway" pitchFamily="34" charset="-122"/>
                <a:cs typeface="Raleway" pitchFamily="34" charset="-120"/>
              </a:rPr>
              <a:t>Se revisa en vivo cómo el asesor debate objeciones, si tipifica correctamente y se corrigen errores al momento.</a:t>
            </a:r>
            <a:endParaRPr lang="en-US" sz="672" dirty="0"/>
          </a:p>
        </p:txBody>
      </p:sp>
      <p:sp>
        <p:nvSpPr>
          <p:cNvPr id="10" name="Text 7"/>
          <p:cNvSpPr/>
          <p:nvPr/>
        </p:nvSpPr>
        <p:spPr>
          <a:xfrm>
            <a:off x="1200120" y="3687217"/>
            <a:ext cx="3778577" cy="131679"/>
          </a:xfrm>
          <a:prstGeom prst="rect">
            <a:avLst/>
          </a:prstGeom>
          <a:noFill/>
          <a:ln/>
        </p:spPr>
        <p:txBody>
          <a:bodyPr wrap="square" lIns="0" tIns="0" rIns="0" bIns="0" rtlCol="0" anchor="t"/>
          <a:lstStyle/>
          <a:p>
            <a:pPr marL="0" indent="0" algn="l">
              <a:buNone/>
            </a:pPr>
            <a:r>
              <a:rPr lang="en-US" sz="672" dirty="0">
                <a:solidFill>
                  <a:srgbClr val="2A2A5A"/>
                </a:solidFill>
                <a:latin typeface="Raleway" pitchFamily="34" charset="0"/>
                <a:ea typeface="Raleway" pitchFamily="34" charset="-122"/>
                <a:cs typeface="Raleway" pitchFamily="34" charset="-120"/>
              </a:rPr>
              <a:t>Seguimiento individual: cómo va cada asesor, a qué % se proyecta y qué le falta para su meta.</a:t>
            </a:r>
            <a:endParaRPr lang="en-US" sz="672" dirty="0"/>
          </a:p>
        </p:txBody>
      </p:sp>
      <p:sp>
        <p:nvSpPr>
          <p:cNvPr id="11" name="Text 8"/>
          <p:cNvSpPr/>
          <p:nvPr/>
        </p:nvSpPr>
        <p:spPr>
          <a:xfrm>
            <a:off x="1200120" y="1495425"/>
            <a:ext cx="4478189" cy="128016"/>
          </a:xfrm>
          <a:prstGeom prst="rect">
            <a:avLst/>
          </a:prstGeom>
          <a:noFill/>
          <a:ln/>
        </p:spPr>
        <p:txBody>
          <a:bodyPr wrap="square" lIns="0" tIns="0" rIns="0" bIns="0" rtlCol="0" anchor="t"/>
          <a:lstStyle/>
          <a:p>
            <a:pPr marL="0" indent="0" algn="l">
              <a:buNone/>
            </a:pPr>
            <a:r>
              <a:rPr lang="en-US" sz="672" b="1" dirty="0">
                <a:solidFill>
                  <a:srgbClr val="4A4A8A"/>
                </a:solidFill>
                <a:latin typeface="Raleway" pitchFamily="34" charset="0"/>
                <a:ea typeface="Raleway" pitchFamily="34" charset="-122"/>
                <a:cs typeface="Raleway" pitchFamily="34" charset="-120"/>
              </a:rPr>
              <a:t>Objeciones, tipificación y corrección inmediata</a:t>
            </a:r>
            <a:endParaRPr lang="en-US" sz="672" dirty="0"/>
          </a:p>
        </p:txBody>
      </p:sp>
      <p:sp>
        <p:nvSpPr>
          <p:cNvPr id="12" name="Text 9"/>
          <p:cNvSpPr/>
          <p:nvPr/>
        </p:nvSpPr>
        <p:spPr>
          <a:xfrm>
            <a:off x="6743531" y="2227362"/>
            <a:ext cx="4728663" cy="128016"/>
          </a:xfrm>
          <a:prstGeom prst="rect">
            <a:avLst/>
          </a:prstGeom>
          <a:noFill/>
          <a:ln/>
        </p:spPr>
        <p:txBody>
          <a:bodyPr wrap="square" lIns="0" tIns="0" rIns="0" bIns="0" rtlCol="0" anchor="t"/>
          <a:lstStyle/>
          <a:p>
            <a:pPr marL="0" indent="0" algn="l">
              <a:buNone/>
            </a:pPr>
            <a:r>
              <a:rPr lang="en-US" sz="672" b="1" dirty="0">
                <a:solidFill>
                  <a:srgbClr val="1A7A6A"/>
                </a:solidFill>
                <a:latin typeface="Raleway" pitchFamily="34" charset="0"/>
                <a:ea typeface="Raleway" pitchFamily="34" charset="-122"/>
                <a:cs typeface="Raleway" pitchFamily="34" charset="-120"/>
              </a:rPr>
              <a:t>Trato preferencial y medición de experiencia</a:t>
            </a:r>
            <a:endParaRPr lang="en-US" sz="672" dirty="0"/>
          </a:p>
        </p:txBody>
      </p:sp>
      <p:sp>
        <p:nvSpPr>
          <p:cNvPr id="13" name="Text 10"/>
          <p:cNvSpPr/>
          <p:nvPr/>
        </p:nvSpPr>
        <p:spPr>
          <a:xfrm>
            <a:off x="1200120" y="2099518"/>
            <a:ext cx="4728663" cy="128016"/>
          </a:xfrm>
          <a:prstGeom prst="rect">
            <a:avLst/>
          </a:prstGeom>
          <a:noFill/>
          <a:ln/>
        </p:spPr>
        <p:txBody>
          <a:bodyPr wrap="square" lIns="0" tIns="0" rIns="0" bIns="0" rtlCol="0" anchor="t"/>
          <a:lstStyle/>
          <a:p>
            <a:pPr marL="0" indent="0" algn="l">
              <a:buNone/>
            </a:pPr>
            <a:r>
              <a:rPr lang="en-US" sz="672" b="1" dirty="0">
                <a:solidFill>
                  <a:srgbClr val="4A4A8A"/>
                </a:solidFill>
                <a:latin typeface="Raleway" pitchFamily="34" charset="0"/>
                <a:ea typeface="Raleway" pitchFamily="34" charset="-122"/>
                <a:cs typeface="Raleway" pitchFamily="34" charset="-120"/>
              </a:rPr>
              <a:t>Contrastan tipificación vs. la llamada real</a:t>
            </a:r>
            <a:endParaRPr lang="en-US" sz="672" dirty="0"/>
          </a:p>
        </p:txBody>
      </p:sp>
      <p:sp>
        <p:nvSpPr>
          <p:cNvPr id="14" name="Text 11"/>
          <p:cNvSpPr/>
          <p:nvPr/>
        </p:nvSpPr>
        <p:spPr>
          <a:xfrm>
            <a:off x="1200120" y="2831455"/>
            <a:ext cx="4728663" cy="128016"/>
          </a:xfrm>
          <a:prstGeom prst="rect">
            <a:avLst/>
          </a:prstGeom>
          <a:noFill/>
          <a:ln/>
        </p:spPr>
        <p:txBody>
          <a:bodyPr wrap="square" lIns="0" tIns="0" rIns="0" bIns="0" rtlCol="0" anchor="t"/>
          <a:lstStyle/>
          <a:p>
            <a:pPr marL="0" indent="0" algn="l">
              <a:buNone/>
            </a:pPr>
            <a:r>
              <a:rPr lang="en-US" sz="672" b="1" dirty="0">
                <a:solidFill>
                  <a:srgbClr val="4A4A8A"/>
                </a:solidFill>
                <a:latin typeface="Raleway" pitchFamily="34" charset="0"/>
                <a:ea typeface="Raleway" pitchFamily="34" charset="-122"/>
                <a:cs typeface="Raleway" pitchFamily="34" charset="-120"/>
              </a:rPr>
              <a:t>Manual de objeciones desde "no interesado"</a:t>
            </a:r>
            <a:endParaRPr lang="en-US" sz="672" dirty="0"/>
          </a:p>
        </p:txBody>
      </p:sp>
      <p:sp>
        <p:nvSpPr>
          <p:cNvPr id="15" name="Text 12"/>
          <p:cNvSpPr/>
          <p:nvPr/>
        </p:nvSpPr>
        <p:spPr>
          <a:xfrm>
            <a:off x="6743531" y="2959298"/>
            <a:ext cx="4728663" cy="128016"/>
          </a:xfrm>
          <a:prstGeom prst="rect">
            <a:avLst/>
          </a:prstGeom>
          <a:noFill/>
          <a:ln/>
        </p:spPr>
        <p:txBody>
          <a:bodyPr wrap="square" lIns="0" tIns="0" rIns="0" bIns="0" rtlCol="0" anchor="t"/>
          <a:lstStyle/>
          <a:p>
            <a:pPr marL="0" indent="0" algn="l">
              <a:buNone/>
            </a:pPr>
            <a:r>
              <a:rPr lang="en-US" sz="672" b="1" dirty="0">
                <a:solidFill>
                  <a:srgbClr val="1A7A6A"/>
                </a:solidFill>
                <a:latin typeface="Raleway" pitchFamily="34" charset="0"/>
                <a:ea typeface="Raleway" pitchFamily="34" charset="-122"/>
                <a:cs typeface="Raleway" pitchFamily="34" charset="-120"/>
              </a:rPr>
              <a:t>El asesor deja explícito que es un seguro</a:t>
            </a:r>
            <a:endParaRPr lang="en-US" sz="672" dirty="0"/>
          </a:p>
        </p:txBody>
      </p:sp>
      <p:sp>
        <p:nvSpPr>
          <p:cNvPr id="16" name="Text 13"/>
          <p:cNvSpPr/>
          <p:nvPr/>
        </p:nvSpPr>
        <p:spPr>
          <a:xfrm>
            <a:off x="1213514" y="219075"/>
            <a:ext cx="3564739" cy="196215"/>
          </a:xfrm>
          <a:prstGeom prst="rect">
            <a:avLst/>
          </a:prstGeom>
          <a:noFill/>
          <a:ln/>
        </p:spPr>
        <p:txBody>
          <a:bodyPr wrap="square" lIns="0" tIns="0" rIns="0" bIns="0" rtlCol="0" anchor="t"/>
          <a:lstStyle/>
          <a:p>
            <a:pPr marL="0" indent="0" algn="l">
              <a:buNone/>
            </a:pPr>
            <a:r>
              <a:rPr lang="en-US" sz="1260" b="1" dirty="0">
                <a:solidFill>
                  <a:srgbClr val="FFFFFF"/>
                </a:solidFill>
                <a:latin typeface="Raleway" pitchFamily="34" charset="0"/>
                <a:ea typeface="Raleway" pitchFamily="34" charset="-122"/>
                <a:cs typeface="Raleway" pitchFamily="34" charset="-120"/>
              </a:rPr>
              <a:t>Monitoreo y Cambios de Proceso · 1S 2026</a:t>
            </a:r>
            <a:endParaRPr lang="en-US" sz="1260" dirty="0"/>
          </a:p>
        </p:txBody>
      </p:sp>
      <p:sp>
        <p:nvSpPr>
          <p:cNvPr id="17" name="Text 14"/>
          <p:cNvSpPr/>
          <p:nvPr/>
        </p:nvSpPr>
        <p:spPr>
          <a:xfrm>
            <a:off x="6743531" y="3691235"/>
            <a:ext cx="4728663" cy="128016"/>
          </a:xfrm>
          <a:prstGeom prst="rect">
            <a:avLst/>
          </a:prstGeom>
          <a:noFill/>
          <a:ln/>
        </p:spPr>
        <p:txBody>
          <a:bodyPr wrap="square" lIns="0" tIns="0" rIns="0" bIns="0" rtlCol="0" anchor="t"/>
          <a:lstStyle/>
          <a:p>
            <a:pPr marL="0" indent="0" algn="l">
              <a:buNone/>
            </a:pPr>
            <a:r>
              <a:rPr lang="en-US" sz="672" b="1" dirty="0">
                <a:solidFill>
                  <a:srgbClr val="1A7A6A"/>
                </a:solidFill>
                <a:latin typeface="Raleway" pitchFamily="34" charset="0"/>
                <a:ea typeface="Raleway" pitchFamily="34" charset="-122"/>
                <a:cs typeface="Raleway" pitchFamily="34" charset="-120"/>
              </a:rPr>
              <a:t>Por localidad/edad + control de spam/DID</a:t>
            </a:r>
            <a:endParaRPr lang="en-US" sz="672" dirty="0"/>
          </a:p>
        </p:txBody>
      </p:sp>
      <p:sp>
        <p:nvSpPr>
          <p:cNvPr id="18" name="Text 15"/>
          <p:cNvSpPr/>
          <p:nvPr/>
        </p:nvSpPr>
        <p:spPr>
          <a:xfrm>
            <a:off x="6743531" y="1495425"/>
            <a:ext cx="4728663" cy="128016"/>
          </a:xfrm>
          <a:prstGeom prst="rect">
            <a:avLst/>
          </a:prstGeom>
          <a:noFill/>
          <a:ln/>
        </p:spPr>
        <p:txBody>
          <a:bodyPr wrap="square" lIns="0" tIns="0" rIns="0" bIns="0" rtlCol="0" anchor="t"/>
          <a:lstStyle/>
          <a:p>
            <a:pPr marL="0" indent="0" algn="l">
              <a:buNone/>
            </a:pPr>
            <a:r>
              <a:rPr lang="en-US" sz="672" b="1" dirty="0">
                <a:solidFill>
                  <a:srgbClr val="1A7A6A"/>
                </a:solidFill>
                <a:latin typeface="Raleway" pitchFamily="34" charset="0"/>
                <a:ea typeface="Raleway" pitchFamily="34" charset="-122"/>
                <a:cs typeface="Raleway" pitchFamily="34" charset="-120"/>
              </a:rPr>
              <a:t>Menor carencia + coberturas adicionales</a:t>
            </a:r>
            <a:endParaRPr lang="en-US" sz="672" dirty="0"/>
          </a:p>
        </p:txBody>
      </p:sp>
      <p:sp>
        <p:nvSpPr>
          <p:cNvPr id="19" name="Text 16"/>
          <p:cNvSpPr/>
          <p:nvPr/>
        </p:nvSpPr>
        <p:spPr>
          <a:xfrm>
            <a:off x="1200120" y="3563392"/>
            <a:ext cx="3778577" cy="128016"/>
          </a:xfrm>
          <a:prstGeom prst="rect">
            <a:avLst/>
          </a:prstGeom>
          <a:noFill/>
          <a:ln/>
        </p:spPr>
        <p:txBody>
          <a:bodyPr wrap="square" lIns="0" tIns="0" rIns="0" bIns="0" rtlCol="0" anchor="t"/>
          <a:lstStyle/>
          <a:p>
            <a:pPr marL="0" indent="0" algn="l">
              <a:buNone/>
            </a:pPr>
            <a:r>
              <a:rPr lang="en-US" sz="672" b="1" dirty="0">
                <a:solidFill>
                  <a:srgbClr val="4A4A8A"/>
                </a:solidFill>
                <a:latin typeface="Raleway" pitchFamily="34" charset="0"/>
                <a:ea typeface="Raleway" pitchFamily="34" charset="-122"/>
                <a:cs typeface="Raleway" pitchFamily="34" charset="-120"/>
              </a:rPr>
              <a:t>Avance, proyección y KPI faltante</a:t>
            </a:r>
            <a:endParaRPr lang="en-US" sz="672" dirty="0"/>
          </a:p>
        </p:txBody>
      </p:sp>
      <p:sp>
        <p:nvSpPr>
          <p:cNvPr id="20" name="Text 17"/>
          <p:cNvSpPr/>
          <p:nvPr/>
        </p:nvSpPr>
        <p:spPr>
          <a:xfrm>
            <a:off x="6743531" y="2816423"/>
            <a:ext cx="4728663" cy="137350"/>
          </a:xfrm>
          <a:prstGeom prst="rect">
            <a:avLst/>
          </a:prstGeom>
          <a:noFill/>
          <a:ln/>
        </p:spPr>
        <p:txBody>
          <a:bodyPr wrap="square" lIns="0" tIns="0" rIns="0" bIns="0" rtlCol="0" anchor="t"/>
          <a:lstStyle/>
          <a:p>
            <a:pPr marL="0" indent="0" algn="l">
              <a:buNone/>
            </a:pPr>
            <a:r>
              <a:rPr lang="en-US" sz="864" b="1" dirty="0">
                <a:solidFill>
                  <a:srgbClr val="005F4E"/>
                </a:solidFill>
                <a:latin typeface="Raleway" pitchFamily="34" charset="0"/>
                <a:ea typeface="Raleway" pitchFamily="34" charset="-122"/>
                <a:cs typeface="Raleway" pitchFamily="34" charset="-120"/>
              </a:rPr>
              <a:t>Frase de aclaración obligatoria</a:t>
            </a:r>
            <a:endParaRPr lang="en-US" sz="864" dirty="0"/>
          </a:p>
        </p:txBody>
      </p:sp>
      <p:sp>
        <p:nvSpPr>
          <p:cNvPr id="21" name="Text 18"/>
          <p:cNvSpPr/>
          <p:nvPr/>
        </p:nvSpPr>
        <p:spPr>
          <a:xfrm>
            <a:off x="6743531" y="3548360"/>
            <a:ext cx="4728663" cy="137350"/>
          </a:xfrm>
          <a:prstGeom prst="rect">
            <a:avLst/>
          </a:prstGeom>
          <a:noFill/>
          <a:ln/>
        </p:spPr>
        <p:txBody>
          <a:bodyPr wrap="square" lIns="0" tIns="0" rIns="0" bIns="0" rtlCol="0" anchor="t"/>
          <a:lstStyle/>
          <a:p>
            <a:pPr marL="0" indent="0" algn="l">
              <a:buNone/>
            </a:pPr>
            <a:r>
              <a:rPr lang="en-US" sz="864" b="1" dirty="0">
                <a:solidFill>
                  <a:srgbClr val="005F4E"/>
                </a:solidFill>
                <a:latin typeface="Raleway" pitchFamily="34" charset="0"/>
                <a:ea typeface="Raleway" pitchFamily="34" charset="-122"/>
                <a:cs typeface="Raleway" pitchFamily="34" charset="-120"/>
              </a:rPr>
              <a:t>Segmentación y contactabilidad</a:t>
            </a:r>
            <a:endParaRPr lang="en-US" sz="864" dirty="0"/>
          </a:p>
        </p:txBody>
      </p:sp>
      <p:sp>
        <p:nvSpPr>
          <p:cNvPr id="22" name="Text 19"/>
          <p:cNvSpPr/>
          <p:nvPr/>
        </p:nvSpPr>
        <p:spPr>
          <a:xfrm>
            <a:off x="1200120" y="3420517"/>
            <a:ext cx="3778577" cy="137350"/>
          </a:xfrm>
          <a:prstGeom prst="rect">
            <a:avLst/>
          </a:prstGeom>
          <a:noFill/>
          <a:ln/>
        </p:spPr>
        <p:txBody>
          <a:bodyPr wrap="square" lIns="0" tIns="0" rIns="0" bIns="0" rtlCol="0" anchor="t"/>
          <a:lstStyle/>
          <a:p>
            <a:pPr marL="0" indent="0" algn="l">
              <a:buNone/>
            </a:pPr>
            <a:r>
              <a:rPr lang="en-US" sz="864" b="1" dirty="0">
                <a:solidFill>
                  <a:srgbClr val="120180"/>
                </a:solidFill>
                <a:latin typeface="Raleway" pitchFamily="34" charset="0"/>
                <a:ea typeface="Raleway" pitchFamily="34" charset="-122"/>
                <a:cs typeface="Raleway" pitchFamily="34" charset="-120"/>
              </a:rPr>
              <a:t>Revisión semanal por asesor</a:t>
            </a:r>
            <a:endParaRPr lang="en-US" sz="864" dirty="0"/>
          </a:p>
        </p:txBody>
      </p:sp>
      <p:sp>
        <p:nvSpPr>
          <p:cNvPr id="23" name="Text 20"/>
          <p:cNvSpPr/>
          <p:nvPr/>
        </p:nvSpPr>
        <p:spPr>
          <a:xfrm>
            <a:off x="933431" y="1028700"/>
            <a:ext cx="5317294" cy="156972"/>
          </a:xfrm>
          <a:prstGeom prst="rect">
            <a:avLst/>
          </a:prstGeom>
          <a:noFill/>
          <a:ln/>
        </p:spPr>
        <p:txBody>
          <a:bodyPr wrap="square" lIns="0" tIns="0" rIns="0" bIns="0" rtlCol="0" anchor="t"/>
          <a:lstStyle/>
          <a:p>
            <a:pPr marL="0" indent="0" algn="l">
              <a:buNone/>
            </a:pPr>
            <a:r>
              <a:rPr lang="en-US" sz="936" b="1" dirty="0">
                <a:solidFill>
                  <a:srgbClr val="120180"/>
                </a:solidFill>
                <a:latin typeface="Raleway" pitchFamily="34" charset="0"/>
                <a:ea typeface="Raleway" pitchFamily="34" charset="-122"/>
                <a:cs typeface="Raleway" pitchFamily="34" charset="-120"/>
              </a:rPr>
              <a:t>Monitoreo y acompañamiento</a:t>
            </a:r>
            <a:endParaRPr lang="en-US" sz="936" dirty="0"/>
          </a:p>
        </p:txBody>
      </p:sp>
      <p:sp>
        <p:nvSpPr>
          <p:cNvPr id="24" name="Text 21"/>
          <p:cNvSpPr/>
          <p:nvPr/>
        </p:nvSpPr>
        <p:spPr>
          <a:xfrm>
            <a:off x="1200120" y="1352550"/>
            <a:ext cx="4478189" cy="137350"/>
          </a:xfrm>
          <a:prstGeom prst="rect">
            <a:avLst/>
          </a:prstGeom>
          <a:noFill/>
          <a:ln/>
        </p:spPr>
        <p:txBody>
          <a:bodyPr wrap="square" lIns="0" tIns="0" rIns="0" bIns="0" rtlCol="0" anchor="t"/>
          <a:lstStyle/>
          <a:p>
            <a:pPr marL="0" indent="0" algn="l">
              <a:buNone/>
            </a:pPr>
            <a:r>
              <a:rPr lang="en-US" sz="864" b="1" dirty="0">
                <a:solidFill>
                  <a:srgbClr val="120180"/>
                </a:solidFill>
                <a:latin typeface="Raleway" pitchFamily="34" charset="0"/>
                <a:ea typeface="Raleway" pitchFamily="34" charset="-122"/>
                <a:cs typeface="Raleway" pitchFamily="34" charset="-120"/>
              </a:rPr>
              <a:t>Monitoreo semanal en vivo</a:t>
            </a:r>
            <a:endParaRPr lang="en-US" sz="864" dirty="0"/>
          </a:p>
        </p:txBody>
      </p:sp>
      <p:sp>
        <p:nvSpPr>
          <p:cNvPr id="25" name="Text 22"/>
          <p:cNvSpPr/>
          <p:nvPr/>
        </p:nvSpPr>
        <p:spPr>
          <a:xfrm>
            <a:off x="6505418" y="1028700"/>
            <a:ext cx="5317294" cy="156972"/>
          </a:xfrm>
          <a:prstGeom prst="rect">
            <a:avLst/>
          </a:prstGeom>
          <a:noFill/>
          <a:ln/>
        </p:spPr>
        <p:txBody>
          <a:bodyPr wrap="square" lIns="0" tIns="0" rIns="0" bIns="0" rtlCol="0" anchor="t"/>
          <a:lstStyle/>
          <a:p>
            <a:pPr marL="0" indent="0" algn="l">
              <a:buNone/>
            </a:pPr>
            <a:r>
              <a:rPr lang="en-US" sz="936" b="1" dirty="0">
                <a:solidFill>
                  <a:srgbClr val="00CD93"/>
                </a:solidFill>
                <a:latin typeface="Raleway" pitchFamily="34" charset="0"/>
                <a:ea typeface="Raleway" pitchFamily="34" charset="-122"/>
                <a:cs typeface="Raleway" pitchFamily="34" charset="-120"/>
              </a:rPr>
              <a:t>Cambios de proceso (Xuma)</a:t>
            </a:r>
            <a:endParaRPr lang="en-US" sz="936" dirty="0"/>
          </a:p>
        </p:txBody>
      </p:sp>
      <p:sp>
        <p:nvSpPr>
          <p:cNvPr id="26" name="Text 23"/>
          <p:cNvSpPr/>
          <p:nvPr/>
        </p:nvSpPr>
        <p:spPr>
          <a:xfrm>
            <a:off x="1200120" y="1956643"/>
            <a:ext cx="4728663" cy="137350"/>
          </a:xfrm>
          <a:prstGeom prst="rect">
            <a:avLst/>
          </a:prstGeom>
          <a:noFill/>
          <a:ln/>
        </p:spPr>
        <p:txBody>
          <a:bodyPr wrap="square" lIns="0" tIns="0" rIns="0" bIns="0" rtlCol="0" anchor="t"/>
          <a:lstStyle/>
          <a:p>
            <a:pPr marL="0" indent="0" algn="l">
              <a:buNone/>
            </a:pPr>
            <a:r>
              <a:rPr lang="en-US" sz="864" b="1" dirty="0">
                <a:solidFill>
                  <a:srgbClr val="120180"/>
                </a:solidFill>
                <a:latin typeface="Raleway" pitchFamily="34" charset="0"/>
                <a:ea typeface="Raleway" pitchFamily="34" charset="-122"/>
                <a:cs typeface="Raleway" pitchFamily="34" charset="-120"/>
              </a:rPr>
              <a:t>Monitoreos ocasionales</a:t>
            </a:r>
            <a:endParaRPr lang="en-US" sz="864" dirty="0"/>
          </a:p>
        </p:txBody>
      </p:sp>
      <p:sp>
        <p:nvSpPr>
          <p:cNvPr id="27" name="Text 24"/>
          <p:cNvSpPr/>
          <p:nvPr/>
        </p:nvSpPr>
        <p:spPr>
          <a:xfrm>
            <a:off x="6743531" y="1352550"/>
            <a:ext cx="4728663" cy="137350"/>
          </a:xfrm>
          <a:prstGeom prst="rect">
            <a:avLst/>
          </a:prstGeom>
          <a:noFill/>
          <a:ln/>
        </p:spPr>
        <p:txBody>
          <a:bodyPr wrap="square" lIns="0" tIns="0" rIns="0" bIns="0" rtlCol="0" anchor="t"/>
          <a:lstStyle/>
          <a:p>
            <a:pPr marL="0" indent="0" algn="l">
              <a:buNone/>
            </a:pPr>
            <a:r>
              <a:rPr lang="en-US" sz="864" b="1" dirty="0">
                <a:solidFill>
                  <a:srgbClr val="005F4E"/>
                </a:solidFill>
                <a:latin typeface="Raleway" pitchFamily="34" charset="0"/>
                <a:ea typeface="Raleway" pitchFamily="34" charset="-122"/>
                <a:cs typeface="Raleway" pitchFamily="34" charset="-120"/>
              </a:rPr>
              <a:t>Exclusiones del seguro</a:t>
            </a:r>
            <a:endParaRPr lang="en-US" sz="864" dirty="0"/>
          </a:p>
        </p:txBody>
      </p:sp>
      <p:sp>
        <p:nvSpPr>
          <p:cNvPr id="28" name="Text 25"/>
          <p:cNvSpPr/>
          <p:nvPr/>
        </p:nvSpPr>
        <p:spPr>
          <a:xfrm>
            <a:off x="6743531" y="2084487"/>
            <a:ext cx="4728663" cy="137350"/>
          </a:xfrm>
          <a:prstGeom prst="rect">
            <a:avLst/>
          </a:prstGeom>
          <a:noFill/>
          <a:ln/>
        </p:spPr>
        <p:txBody>
          <a:bodyPr wrap="square" lIns="0" tIns="0" rIns="0" bIns="0" rtlCol="0" anchor="t"/>
          <a:lstStyle/>
          <a:p>
            <a:pPr marL="0" indent="0" algn="l">
              <a:buNone/>
            </a:pPr>
            <a:r>
              <a:rPr lang="en-US" sz="864" b="1" dirty="0">
                <a:solidFill>
                  <a:srgbClr val="005F4E"/>
                </a:solidFill>
                <a:latin typeface="Raleway" pitchFamily="34" charset="0"/>
                <a:ea typeface="Raleway" pitchFamily="34" charset="-122"/>
                <a:cs typeface="Raleway" pitchFamily="34" charset="-120"/>
              </a:rPr>
              <a:t>Bienvenida autogestión</a:t>
            </a:r>
            <a:endParaRPr lang="en-US" sz="864" dirty="0"/>
          </a:p>
        </p:txBody>
      </p:sp>
      <p:sp>
        <p:nvSpPr>
          <p:cNvPr id="29" name="Text 26"/>
          <p:cNvSpPr/>
          <p:nvPr/>
        </p:nvSpPr>
        <p:spPr>
          <a:xfrm>
            <a:off x="10605457" y="113121"/>
            <a:ext cx="1586543" cy="215836"/>
          </a:xfrm>
          <a:prstGeom prst="rect">
            <a:avLst/>
          </a:prstGeom>
          <a:noFill/>
          <a:ln/>
        </p:spPr>
        <p:txBody>
          <a:bodyPr wrap="square" lIns="38100" tIns="114300" rIns="114300" bIns="38100" rtlCol="0" anchor="t"/>
          <a:lstStyle/>
          <a:p>
            <a:pPr marL="0" indent="0" algn="l">
              <a:buNone/>
            </a:pPr>
            <a:r>
              <a:rPr lang="en-US" sz="840" b="1" dirty="0" err="1">
                <a:solidFill>
                  <a:srgbClr val="5AE280"/>
                </a:solidFill>
                <a:latin typeface="Raleway" pitchFamily="34" charset="0"/>
                <a:ea typeface="Raleway" pitchFamily="34" charset="-122"/>
                <a:cs typeface="Raleway" pitchFamily="34" charset="-120"/>
              </a:rPr>
              <a:t>Monitoreo</a:t>
            </a:r>
            <a:endParaRPr lang="en-US" sz="840" dirty="0"/>
          </a:p>
        </p:txBody>
      </p:sp>
      <p:sp>
        <p:nvSpPr>
          <p:cNvPr id="30" name="Text 27"/>
          <p:cNvSpPr/>
          <p:nvPr/>
        </p:nvSpPr>
        <p:spPr>
          <a:xfrm>
            <a:off x="1200120" y="2688580"/>
            <a:ext cx="4728663" cy="137350"/>
          </a:xfrm>
          <a:prstGeom prst="rect">
            <a:avLst/>
          </a:prstGeom>
          <a:noFill/>
          <a:ln/>
        </p:spPr>
        <p:txBody>
          <a:bodyPr wrap="square" lIns="0" tIns="0" rIns="0" bIns="0" rtlCol="0" anchor="t"/>
          <a:lstStyle/>
          <a:p>
            <a:pPr marL="0" indent="0" algn="l">
              <a:buNone/>
            </a:pPr>
            <a:r>
              <a:rPr lang="en-US" sz="864" b="1" dirty="0">
                <a:solidFill>
                  <a:srgbClr val="120180"/>
                </a:solidFill>
                <a:latin typeface="Raleway" pitchFamily="34" charset="0"/>
                <a:ea typeface="Raleway" pitchFamily="34" charset="-122"/>
                <a:cs typeface="Raleway" pitchFamily="34" charset="-120"/>
              </a:rPr>
              <a:t>Kit de emergencia</a:t>
            </a:r>
            <a:endParaRPr lang="en-US" sz="864"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TotalTime>
  <Words>5962</Words>
  <Application>Microsoft Office PowerPoint</Application>
  <PresentationFormat>Widescreen</PresentationFormat>
  <Paragraphs>2608</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Raleway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Jean  Arcon Solano</cp:lastModifiedBy>
  <cp:revision>3</cp:revision>
  <dcterms:created xsi:type="dcterms:W3CDTF">2026-07-15T22:37:25Z</dcterms:created>
  <dcterms:modified xsi:type="dcterms:W3CDTF">2026-07-15T23:36:59Z</dcterms:modified>
</cp:coreProperties>
</file>