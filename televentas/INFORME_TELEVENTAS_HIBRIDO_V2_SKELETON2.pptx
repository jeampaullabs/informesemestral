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2" r:id="rId2"/>
    <p:sldId id="263" r:id="rId3"/>
    <p:sldId id="264" r:id="rId4"/>
    <p:sldId id="265" r:id="rId5"/>
    <p:sldId id="266" r:id="rId6"/>
    <p:sldId id="267" r:id="rId7"/>
    <p:sldId id="268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5138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5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2951" y="6482804"/>
            <a:ext cx="41419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estrategia de cabinas dedicadas logró una tasa de crecimiento de (+553%)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9774102" y="5585520"/>
            <a:ext cx="17318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 de la base total · 7.460 registros descartados</a:t>
            </a:r>
            <a:endParaRPr lang="en-US" sz="540" dirty="0"/>
          </a:p>
        </p:txBody>
      </p:sp>
      <p:sp>
        <p:nvSpPr>
          <p:cNvPr id="5" name="Text 2"/>
          <p:cNvSpPr/>
          <p:nvPr/>
        </p:nvSpPr>
        <p:spPr>
          <a:xfrm>
            <a:off x="6257769" y="3619500"/>
            <a:ext cx="25087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 descartaron? (tipificación rechazos)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731025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Autogestión · Histórico y Análisis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16360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Solicitudes de financiación autogestionada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173608" y="4160937"/>
            <a:ext cx="11820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9067573" y="962025"/>
            <a:ext cx="18310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Vs. promedio general del canal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6198527" y="4635847"/>
            <a:ext cx="11545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1" name="Text 8"/>
          <p:cNvSpPr/>
          <p:nvPr/>
        </p:nvSpPr>
        <p:spPr>
          <a:xfrm>
            <a:off x="809605" y="3977580"/>
            <a:ext cx="1638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Autogestión por asesor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381590" y="1548705"/>
            <a:ext cx="17018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mensual de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286343" y="1272480"/>
            <a:ext cx="10548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 registros descartados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9861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Convierte 3.2 veces mejor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3505112" y="1272480"/>
            <a:ext cx="975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 sobre contactados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381590" y="5737920"/>
            <a:ext cx="146662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Qué cambió en la gestión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6519556" y="3923556"/>
            <a:ext cx="833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685783" y="4977728"/>
            <a:ext cx="1418538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</a:t>
            </a:r>
            <a:r>
              <a:rPr lang="en-US" sz="540" b="1" dirty="0">
                <a:solidFill>
                  <a:srgbClr val="04003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4ª</a:t>
            </a:r>
            <a:endParaRPr lang="en-US" sz="696" dirty="0"/>
          </a:p>
        </p:txBody>
      </p:sp>
      <p:sp>
        <p:nvSpPr>
          <p:cNvPr id="19" name="Text 16"/>
          <p:cNvSpPr/>
          <p:nvPr/>
        </p:nvSpPr>
        <p:spPr>
          <a:xfrm>
            <a:off x="6646075" y="5110609"/>
            <a:ext cx="7070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0" name="Text 17"/>
          <p:cNvSpPr/>
          <p:nvPr/>
        </p:nvSpPr>
        <p:spPr>
          <a:xfrm>
            <a:off x="9062317" y="6137970"/>
            <a:ext cx="99573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Sobremarcación OCM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685783" y="4577678"/>
            <a:ext cx="1418538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Melissa P. Orozco</a:t>
            </a:r>
            <a:endParaRPr lang="en-US" sz="696" dirty="0"/>
          </a:p>
        </p:txBody>
      </p:sp>
      <p:sp>
        <p:nvSpPr>
          <p:cNvPr id="22" name="Text 19"/>
          <p:cNvSpPr/>
          <p:nvPr/>
        </p:nvSpPr>
        <p:spPr>
          <a:xfrm>
            <a:off x="838179" y="1577280"/>
            <a:ext cx="9958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Histórico mensual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679361" y="4398466"/>
            <a:ext cx="6737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683778" y="4873228"/>
            <a:ext cx="6693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Localidad Errónea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85783" y="5181176"/>
            <a:ext cx="1418538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4 asesores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6286343" y="962025"/>
            <a:ext cx="10653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7826951" y="6137970"/>
            <a:ext cx="7529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Foco: 3 asesores</a:t>
            </a:r>
            <a:endParaRPr lang="en-US" sz="696" dirty="0"/>
          </a:p>
        </p:txBody>
      </p:sp>
      <p:sp>
        <p:nvSpPr>
          <p:cNvPr id="28" name="Text 25"/>
          <p:cNvSpPr/>
          <p:nvPr/>
        </p:nvSpPr>
        <p:spPr>
          <a:xfrm>
            <a:off x="685783" y="4382416"/>
            <a:ext cx="1418538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Jesús D. Cortés</a:t>
            </a:r>
            <a:endParaRPr lang="en-US" sz="696" dirty="0"/>
          </a:p>
        </p:txBody>
      </p:sp>
      <p:sp>
        <p:nvSpPr>
          <p:cNvPr id="29" name="Text 26"/>
          <p:cNvSpPr/>
          <p:nvPr/>
        </p:nvSpPr>
        <p:spPr>
          <a:xfrm>
            <a:off x="6798307" y="5348139"/>
            <a:ext cx="5548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(&lt;1% c/u)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685783" y="4777703"/>
            <a:ext cx="1418538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Luisa L. Percy</a:t>
            </a:r>
            <a:endParaRPr lang="en-US" sz="696" dirty="0"/>
          </a:p>
        </p:txBody>
      </p:sp>
      <p:sp>
        <p:nvSpPr>
          <p:cNvPr id="31" name="Text 28"/>
          <p:cNvSpPr/>
          <p:nvPr/>
        </p:nvSpPr>
        <p:spPr>
          <a:xfrm>
            <a:off x="723882" y="962025"/>
            <a:ext cx="7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(1S)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6563513" y="6137970"/>
            <a:ext cx="5660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 focalizar</a:t>
            </a:r>
            <a:endParaRPr lang="en-US" sz="696" dirty="0"/>
          </a:p>
        </p:txBody>
      </p:sp>
      <p:sp>
        <p:nvSpPr>
          <p:cNvPr id="33" name="Text 30"/>
          <p:cNvSpPr/>
          <p:nvPr/>
        </p:nvSpPr>
        <p:spPr>
          <a:xfrm>
            <a:off x="10640004" y="6137970"/>
            <a:ext cx="5540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 asesor (4)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3505112" y="962025"/>
            <a:ext cx="6231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(1S)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4560376" y="1772566"/>
            <a:ext cx="90103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5434719" y="1772566"/>
            <a:ext cx="91636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1167617" y="1772566"/>
            <a:ext cx="80936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955142" y="1772566"/>
            <a:ext cx="74989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2684588" y="1772566"/>
            <a:ext cx="70191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660527" y="6052245"/>
            <a:ext cx="3721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Ene–Feb</a:t>
            </a:r>
            <a:endParaRPr lang="en-US" sz="624" dirty="0"/>
          </a:p>
        </p:txBody>
      </p:sp>
      <p:sp>
        <p:nvSpPr>
          <p:cNvPr id="41" name="Text 38"/>
          <p:cNvSpPr/>
          <p:nvPr/>
        </p:nvSpPr>
        <p:spPr>
          <a:xfrm>
            <a:off x="9371041" y="6052245"/>
            <a:ext cx="3782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Abr–May</a:t>
            </a:r>
            <a:endParaRPr lang="en-US" sz="624" dirty="0"/>
          </a:p>
        </p:txBody>
      </p:sp>
      <p:sp>
        <p:nvSpPr>
          <p:cNvPr id="42" name="Text 39"/>
          <p:cNvSpPr/>
          <p:nvPr/>
        </p:nvSpPr>
        <p:spPr>
          <a:xfrm>
            <a:off x="3937593" y="1772566"/>
            <a:ext cx="64902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684588" y="2001166"/>
            <a:ext cx="70191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41,2 %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4560376" y="2001166"/>
            <a:ext cx="90103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80,9 %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5434719" y="2001166"/>
            <a:ext cx="91636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2684588" y="224405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57,9 %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560376" y="224405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81,3 %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434719" y="224405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32,4 %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2684588" y="249170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4560376" y="249170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76,3 %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5434719" y="249170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18,4 %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2684588" y="273935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58,3 %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4560376" y="273935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5434719" y="273935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20,4 %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2684588" y="298700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60,4 %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4560376" y="298700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75,8 %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5434719" y="298700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33,0 %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2684588" y="3234653"/>
            <a:ext cx="70191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69,4 %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4560376" y="3234653"/>
            <a:ext cx="90103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68,4 %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5434719" y="3234653"/>
            <a:ext cx="91636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27,6 %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167617" y="3482303"/>
            <a:ext cx="80936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2684588" y="3482303"/>
            <a:ext cx="70191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4560376" y="3482303"/>
            <a:ext cx="90103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72,4 %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5434719" y="3482303"/>
            <a:ext cx="91636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685783" y="4153816"/>
            <a:ext cx="141853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723882" y="1085850"/>
            <a:ext cx="436809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1020" dirty="0"/>
          </a:p>
        </p:txBody>
      </p:sp>
      <p:sp>
        <p:nvSpPr>
          <p:cNvPr id="67" name="Text 64"/>
          <p:cNvSpPr/>
          <p:nvPr/>
        </p:nvSpPr>
        <p:spPr>
          <a:xfrm>
            <a:off x="6286343" y="1085850"/>
            <a:ext cx="43949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1020" dirty="0"/>
          </a:p>
        </p:txBody>
      </p:sp>
      <p:sp>
        <p:nvSpPr>
          <p:cNvPr id="68" name="Text 65"/>
          <p:cNvSpPr/>
          <p:nvPr/>
        </p:nvSpPr>
        <p:spPr>
          <a:xfrm>
            <a:off x="3369399" y="1772566"/>
            <a:ext cx="58709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1167617" y="249170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1.864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955142" y="249170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1.189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1167617" y="273935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1.950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955142" y="273935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1.137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1167617" y="298700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2.203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955142" y="298700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1.331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1167617" y="323465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4.968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1955142" y="323465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3.447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3369399" y="323465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1.521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685783" y="3482303"/>
            <a:ext cx="52057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1955142" y="3482303"/>
            <a:ext cx="74989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3369399" y="3482303"/>
            <a:ext cx="58709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5291185" y="4153816"/>
            <a:ext cx="64274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72" dirty="0"/>
          </a:p>
        </p:txBody>
      </p:sp>
      <p:sp>
        <p:nvSpPr>
          <p:cNvPr id="82" name="Text 79"/>
          <p:cNvSpPr/>
          <p:nvPr/>
        </p:nvSpPr>
        <p:spPr>
          <a:xfrm>
            <a:off x="8343394" y="27003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+111%</a:t>
            </a:r>
            <a:endParaRPr lang="en-US" sz="624" dirty="0"/>
          </a:p>
        </p:txBody>
      </p:sp>
      <p:sp>
        <p:nvSpPr>
          <p:cNvPr id="83" name="Text 80"/>
          <p:cNvSpPr/>
          <p:nvPr/>
        </p:nvSpPr>
        <p:spPr>
          <a:xfrm>
            <a:off x="11275130" y="392355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62.3%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11282860" y="416093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14.2%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9067573" y="1085850"/>
            <a:ext cx="2754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3.2×</a:t>
            </a:r>
            <a:endParaRPr lang="en-US" sz="1020" dirty="0"/>
          </a:p>
        </p:txBody>
      </p:sp>
      <p:sp>
        <p:nvSpPr>
          <p:cNvPr id="86" name="Text 83"/>
          <p:cNvSpPr/>
          <p:nvPr/>
        </p:nvSpPr>
        <p:spPr>
          <a:xfrm>
            <a:off x="9223988" y="257591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+21%</a:t>
            </a:r>
            <a:endParaRPr lang="en-US" sz="624" dirty="0"/>
          </a:p>
        </p:txBody>
      </p:sp>
      <p:sp>
        <p:nvSpPr>
          <p:cNvPr id="87" name="Text 84"/>
          <p:cNvSpPr/>
          <p:nvPr/>
        </p:nvSpPr>
        <p:spPr>
          <a:xfrm>
            <a:off x="10081514" y="193684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+90%</a:t>
            </a:r>
            <a:endParaRPr lang="en-US" sz="624" dirty="0"/>
          </a:p>
        </p:txBody>
      </p:sp>
      <p:sp>
        <p:nvSpPr>
          <p:cNvPr id="88" name="Text 85"/>
          <p:cNvSpPr/>
          <p:nvPr/>
        </p:nvSpPr>
        <p:spPr>
          <a:xfrm>
            <a:off x="10948714" y="18527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+32%</a:t>
            </a:r>
            <a:endParaRPr lang="en-US" sz="624" dirty="0"/>
          </a:p>
        </p:txBody>
      </p:sp>
      <p:sp>
        <p:nvSpPr>
          <p:cNvPr id="89" name="Text 86"/>
          <p:cNvSpPr/>
          <p:nvPr/>
        </p:nvSpPr>
        <p:spPr>
          <a:xfrm>
            <a:off x="11318512" y="439846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8.2%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11318354" y="463584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6.2%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11317881" y="487322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4.6%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11332552" y="511060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1.1%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11321667" y="534813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3.4%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685783" y="1772566"/>
            <a:ext cx="52057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685783" y="2001166"/>
            <a:ext cx="52057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1167617" y="2001166"/>
            <a:ext cx="80936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1955142" y="2001166"/>
            <a:ext cx="74989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121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3369399" y="2001166"/>
            <a:ext cx="58709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685783" y="224405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1167617" y="2244053"/>
            <a:ext cx="80936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406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1955142" y="2244053"/>
            <a:ext cx="7498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235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3369399" y="224405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685783" y="249170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3369399" y="249170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675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685783" y="273935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3369399" y="273935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813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3937593" y="273935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685783" y="298700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3369399" y="2987003"/>
            <a:ext cx="58709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872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3937593" y="298700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685783" y="3234653"/>
            <a:ext cx="520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3937593" y="323465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3937593" y="3482303"/>
            <a:ext cx="64902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2046743" y="4153816"/>
            <a:ext cx="55827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2" dirty="0"/>
          </a:p>
        </p:txBody>
      </p:sp>
      <p:sp>
        <p:nvSpPr>
          <p:cNvPr id="115" name="Text 112"/>
          <p:cNvSpPr/>
          <p:nvPr/>
        </p:nvSpPr>
        <p:spPr>
          <a:xfrm>
            <a:off x="2588847" y="4153816"/>
            <a:ext cx="55536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2" dirty="0"/>
          </a:p>
        </p:txBody>
      </p:sp>
      <p:sp>
        <p:nvSpPr>
          <p:cNvPr id="116" name="Text 113"/>
          <p:cNvSpPr/>
          <p:nvPr/>
        </p:nvSpPr>
        <p:spPr>
          <a:xfrm>
            <a:off x="3127886" y="4153816"/>
            <a:ext cx="56057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2" dirty="0"/>
          </a:p>
        </p:txBody>
      </p:sp>
      <p:sp>
        <p:nvSpPr>
          <p:cNvPr id="117" name="Text 114"/>
          <p:cNvSpPr/>
          <p:nvPr/>
        </p:nvSpPr>
        <p:spPr>
          <a:xfrm>
            <a:off x="3672583" y="4153816"/>
            <a:ext cx="54524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2" dirty="0"/>
          </a:p>
        </p:txBody>
      </p:sp>
      <p:sp>
        <p:nvSpPr>
          <p:cNvPr id="118" name="Text 115"/>
          <p:cNvSpPr/>
          <p:nvPr/>
        </p:nvSpPr>
        <p:spPr>
          <a:xfrm>
            <a:off x="4201000" y="4153816"/>
            <a:ext cx="57790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2" dirty="0"/>
          </a:p>
        </p:txBody>
      </p:sp>
      <p:sp>
        <p:nvSpPr>
          <p:cNvPr id="119" name="Text 116"/>
          <p:cNvSpPr/>
          <p:nvPr/>
        </p:nvSpPr>
        <p:spPr>
          <a:xfrm>
            <a:off x="4762970" y="4153816"/>
            <a:ext cx="54693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2" dirty="0"/>
          </a:p>
        </p:txBody>
      </p:sp>
      <p:sp>
        <p:nvSpPr>
          <p:cNvPr id="120" name="Text 117"/>
          <p:cNvSpPr/>
          <p:nvPr/>
        </p:nvSpPr>
        <p:spPr>
          <a:xfrm>
            <a:off x="4201000" y="4382416"/>
            <a:ext cx="577900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72" dirty="0"/>
          </a:p>
        </p:txBody>
      </p:sp>
      <p:sp>
        <p:nvSpPr>
          <p:cNvPr id="121" name="Text 118"/>
          <p:cNvSpPr/>
          <p:nvPr/>
        </p:nvSpPr>
        <p:spPr>
          <a:xfrm>
            <a:off x="5291185" y="4382416"/>
            <a:ext cx="642741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</a:t>
            </a:r>
            <a:endParaRPr lang="en-US" sz="696" dirty="0"/>
          </a:p>
        </p:txBody>
      </p:sp>
      <p:sp>
        <p:nvSpPr>
          <p:cNvPr id="122" name="Text 119"/>
          <p:cNvSpPr/>
          <p:nvPr/>
        </p:nvSpPr>
        <p:spPr>
          <a:xfrm>
            <a:off x="5291185" y="4577678"/>
            <a:ext cx="642741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5291185" y="4777703"/>
            <a:ext cx="642741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4201000" y="5181176"/>
            <a:ext cx="577900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204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762970" y="5181176"/>
            <a:ext cx="546936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266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5291185" y="5181176"/>
            <a:ext cx="642741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605</a:t>
            </a:r>
            <a:endParaRPr lang="en-US" sz="696" dirty="0"/>
          </a:p>
        </p:txBody>
      </p:sp>
      <p:sp>
        <p:nvSpPr>
          <p:cNvPr id="127" name="Text 124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1020" dirty="0"/>
          </a:p>
        </p:txBody>
      </p:sp>
      <p:sp>
        <p:nvSpPr>
          <p:cNvPr id="128" name="Text 125"/>
          <p:cNvSpPr/>
          <p:nvPr/>
        </p:nvSpPr>
        <p:spPr>
          <a:xfrm>
            <a:off x="6643224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96" dirty="0"/>
          </a:p>
        </p:txBody>
      </p:sp>
      <p:sp>
        <p:nvSpPr>
          <p:cNvPr id="129" name="Text 126"/>
          <p:cNvSpPr/>
          <p:nvPr/>
        </p:nvSpPr>
        <p:spPr>
          <a:xfrm>
            <a:off x="7516525" y="30021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+5%</a:t>
            </a:r>
            <a:endParaRPr lang="en-US" sz="624" dirty="0"/>
          </a:p>
        </p:txBody>
      </p:sp>
      <p:sp>
        <p:nvSpPr>
          <p:cNvPr id="130" name="Text 127"/>
          <p:cNvSpPr/>
          <p:nvPr/>
        </p:nvSpPr>
        <p:spPr>
          <a:xfrm>
            <a:off x="750774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96" dirty="0"/>
          </a:p>
        </p:txBody>
      </p:sp>
      <p:sp>
        <p:nvSpPr>
          <p:cNvPr id="131" name="Text 128"/>
          <p:cNvSpPr/>
          <p:nvPr/>
        </p:nvSpPr>
        <p:spPr>
          <a:xfrm>
            <a:off x="8369438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96" dirty="0"/>
          </a:p>
        </p:txBody>
      </p:sp>
      <p:sp>
        <p:nvSpPr>
          <p:cNvPr id="132" name="Text 129"/>
          <p:cNvSpPr/>
          <p:nvPr/>
        </p:nvSpPr>
        <p:spPr>
          <a:xfrm>
            <a:off x="9238126" y="24623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744" dirty="0"/>
          </a:p>
        </p:txBody>
      </p:sp>
      <p:sp>
        <p:nvSpPr>
          <p:cNvPr id="133" name="Text 130"/>
          <p:cNvSpPr/>
          <p:nvPr/>
        </p:nvSpPr>
        <p:spPr>
          <a:xfrm>
            <a:off x="9238573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96" dirty="0"/>
          </a:p>
        </p:txBody>
      </p:sp>
      <p:sp>
        <p:nvSpPr>
          <p:cNvPr id="134" name="Text 131"/>
          <p:cNvSpPr/>
          <p:nvPr/>
        </p:nvSpPr>
        <p:spPr>
          <a:xfrm>
            <a:off x="10096545" y="182329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744" dirty="0"/>
          </a:p>
        </p:txBody>
      </p:sp>
      <p:sp>
        <p:nvSpPr>
          <p:cNvPr id="135" name="Text 132"/>
          <p:cNvSpPr/>
          <p:nvPr/>
        </p:nvSpPr>
        <p:spPr>
          <a:xfrm>
            <a:off x="1009029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10957346" y="173920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744" dirty="0"/>
          </a:p>
        </p:txBody>
      </p:sp>
      <p:sp>
        <p:nvSpPr>
          <p:cNvPr id="137" name="Text 134"/>
          <p:cNvSpPr/>
          <p:nvPr/>
        </p:nvSpPr>
        <p:spPr>
          <a:xfrm>
            <a:off x="10965382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96" dirty="0"/>
          </a:p>
        </p:txBody>
      </p:sp>
      <p:sp>
        <p:nvSpPr>
          <p:cNvPr id="138" name="Text 135"/>
          <p:cNvSpPr/>
          <p:nvPr/>
        </p:nvSpPr>
        <p:spPr>
          <a:xfrm>
            <a:off x="8116907" y="60522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39" name="Text 136"/>
          <p:cNvSpPr/>
          <p:nvPr/>
        </p:nvSpPr>
        <p:spPr>
          <a:xfrm>
            <a:off x="10835457" y="60522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40" name="Text 137"/>
          <p:cNvSpPr/>
          <p:nvPr/>
        </p:nvSpPr>
        <p:spPr>
          <a:xfrm>
            <a:off x="3937593" y="2001166"/>
            <a:ext cx="64902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88" dirty="0"/>
          </a:p>
        </p:txBody>
      </p:sp>
      <p:sp>
        <p:nvSpPr>
          <p:cNvPr id="141" name="Text 138"/>
          <p:cNvSpPr/>
          <p:nvPr/>
        </p:nvSpPr>
        <p:spPr>
          <a:xfrm>
            <a:off x="3937593" y="224405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142" name="Text 139"/>
          <p:cNvSpPr/>
          <p:nvPr/>
        </p:nvSpPr>
        <p:spPr>
          <a:xfrm>
            <a:off x="3937593" y="2491703"/>
            <a:ext cx="64902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43" name="Text 140"/>
          <p:cNvSpPr/>
          <p:nvPr/>
        </p:nvSpPr>
        <p:spPr>
          <a:xfrm>
            <a:off x="3127886" y="4382416"/>
            <a:ext cx="560578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72" dirty="0"/>
          </a:p>
        </p:txBody>
      </p:sp>
      <p:sp>
        <p:nvSpPr>
          <p:cNvPr id="144" name="Text 141"/>
          <p:cNvSpPr/>
          <p:nvPr/>
        </p:nvSpPr>
        <p:spPr>
          <a:xfrm>
            <a:off x="3672583" y="4382416"/>
            <a:ext cx="545249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672" dirty="0"/>
          </a:p>
        </p:txBody>
      </p:sp>
      <p:sp>
        <p:nvSpPr>
          <p:cNvPr id="145" name="Text 142"/>
          <p:cNvSpPr/>
          <p:nvPr/>
        </p:nvSpPr>
        <p:spPr>
          <a:xfrm>
            <a:off x="4762970" y="4382416"/>
            <a:ext cx="546936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</a:t>
            </a:r>
            <a:endParaRPr lang="en-US" sz="672" dirty="0"/>
          </a:p>
        </p:txBody>
      </p:sp>
      <p:sp>
        <p:nvSpPr>
          <p:cNvPr id="146" name="Text 143"/>
          <p:cNvSpPr/>
          <p:nvPr/>
        </p:nvSpPr>
        <p:spPr>
          <a:xfrm>
            <a:off x="3672583" y="4577678"/>
            <a:ext cx="545249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47" name="Text 144"/>
          <p:cNvSpPr/>
          <p:nvPr/>
        </p:nvSpPr>
        <p:spPr>
          <a:xfrm>
            <a:off x="4201000" y="4577678"/>
            <a:ext cx="577900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672" dirty="0"/>
          </a:p>
        </p:txBody>
      </p:sp>
      <p:sp>
        <p:nvSpPr>
          <p:cNvPr id="148" name="Text 145"/>
          <p:cNvSpPr/>
          <p:nvPr/>
        </p:nvSpPr>
        <p:spPr>
          <a:xfrm>
            <a:off x="4762970" y="4577678"/>
            <a:ext cx="546936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672" dirty="0"/>
          </a:p>
        </p:txBody>
      </p:sp>
      <p:sp>
        <p:nvSpPr>
          <p:cNvPr id="149" name="Text 146"/>
          <p:cNvSpPr/>
          <p:nvPr/>
        </p:nvSpPr>
        <p:spPr>
          <a:xfrm>
            <a:off x="3672583" y="4777703"/>
            <a:ext cx="545249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50" name="Text 147"/>
          <p:cNvSpPr/>
          <p:nvPr/>
        </p:nvSpPr>
        <p:spPr>
          <a:xfrm>
            <a:off x="4201000" y="4777703"/>
            <a:ext cx="577900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72" dirty="0"/>
          </a:p>
        </p:txBody>
      </p:sp>
      <p:sp>
        <p:nvSpPr>
          <p:cNvPr id="151" name="Text 148"/>
          <p:cNvSpPr/>
          <p:nvPr/>
        </p:nvSpPr>
        <p:spPr>
          <a:xfrm>
            <a:off x="4762970" y="4777703"/>
            <a:ext cx="546936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672" dirty="0"/>
          </a:p>
        </p:txBody>
      </p:sp>
      <p:sp>
        <p:nvSpPr>
          <p:cNvPr id="152" name="Text 149"/>
          <p:cNvSpPr/>
          <p:nvPr/>
        </p:nvSpPr>
        <p:spPr>
          <a:xfrm>
            <a:off x="4762970" y="4977728"/>
            <a:ext cx="546936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53" name="Text 150"/>
          <p:cNvSpPr/>
          <p:nvPr/>
        </p:nvSpPr>
        <p:spPr>
          <a:xfrm>
            <a:off x="5291185" y="4977728"/>
            <a:ext cx="642741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</a:t>
            </a:r>
            <a:endParaRPr lang="en-US" sz="696" dirty="0"/>
          </a:p>
        </p:txBody>
      </p:sp>
      <p:sp>
        <p:nvSpPr>
          <p:cNvPr id="154" name="Text 151"/>
          <p:cNvSpPr/>
          <p:nvPr/>
        </p:nvSpPr>
        <p:spPr>
          <a:xfrm>
            <a:off x="2046743" y="5181176"/>
            <a:ext cx="55827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55" name="Text 152"/>
          <p:cNvSpPr/>
          <p:nvPr/>
        </p:nvSpPr>
        <p:spPr>
          <a:xfrm>
            <a:off x="2588847" y="5181176"/>
            <a:ext cx="555367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56" name="Text 153"/>
          <p:cNvSpPr/>
          <p:nvPr/>
        </p:nvSpPr>
        <p:spPr>
          <a:xfrm>
            <a:off x="3127886" y="5181176"/>
            <a:ext cx="560578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57" name="Text 154"/>
          <p:cNvSpPr/>
          <p:nvPr/>
        </p:nvSpPr>
        <p:spPr>
          <a:xfrm>
            <a:off x="3672583" y="5181176"/>
            <a:ext cx="54524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marL="0" indent="0" algn="r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72" dirty="0"/>
          </a:p>
        </p:txBody>
      </p:sp>
      <p:sp>
        <p:nvSpPr>
          <p:cNvPr id="158" name="Text 155"/>
          <p:cNvSpPr/>
          <p:nvPr/>
        </p:nvSpPr>
        <p:spPr>
          <a:xfrm>
            <a:off x="6668524" y="290631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44" dirty="0"/>
          </a:p>
        </p:txBody>
      </p:sp>
      <p:sp>
        <p:nvSpPr>
          <p:cNvPr id="159" name="Text 156"/>
          <p:cNvSpPr/>
          <p:nvPr/>
        </p:nvSpPr>
        <p:spPr>
          <a:xfrm>
            <a:off x="7532598" y="288860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44" dirty="0"/>
          </a:p>
        </p:txBody>
      </p:sp>
      <p:sp>
        <p:nvSpPr>
          <p:cNvPr id="160" name="Text 157"/>
          <p:cNvSpPr/>
          <p:nvPr/>
        </p:nvSpPr>
        <p:spPr>
          <a:xfrm>
            <a:off x="8395631" y="258678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74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6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90408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enviados anteriormente: cada vez hay menos clientes nuevos en la base — hay mucho cliente que ya gestionamos en algún momento (los re-envíos suman el 16,6 % del descarte).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75302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es Cuota Protegida Activa (50,9 %), lo que indica que el 1S se depuró correctamente contra clientes vigentes antes de lanzar el marcador.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53525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 representa el 15,9 % de la gestión de leads aptos, convirtiéndose en el motor de ventas del canal.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685783" y="6100763"/>
            <a:ext cx="48984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tiene la mayor contactabilidad del canal (79,0 % Semestre) y una efectividad sobresaliente.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92380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Bienvenidas CP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216595" y="1200894"/>
            <a:ext cx="17195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efectividad comercial sobre contacto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533387" y="1200894"/>
            <a:ext cx="1401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 en contactabilidad del canal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con Localidad Errónea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4374991" y="1200894"/>
            <a:ext cx="1069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 de ventas del canal</a:t>
            </a:r>
            <a:endParaRPr lang="en-US" sz="648" dirty="0"/>
          </a:p>
        </p:txBody>
      </p:sp>
      <p:sp>
        <p:nvSpPr>
          <p:cNvPr id="26" name="Text 23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Cédula/Teléfono Repetido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533387" y="809625"/>
            <a:ext cx="14765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9" name="Text 26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504812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8216595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35" name="Text 32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0204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6267293" y="51537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9" name="Text 36"/>
          <p:cNvSpPr/>
          <p:nvPr/>
        </p:nvSpPr>
        <p:spPr>
          <a:xfrm>
            <a:off x="4374991" y="809625"/>
            <a:ext cx="8581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TOTALES</a:t>
            </a:r>
            <a:endParaRPr lang="en-US" sz="672" dirty="0"/>
          </a:p>
        </p:txBody>
      </p:sp>
      <p:sp>
        <p:nvSpPr>
          <p:cNvPr id="40" name="Text 37"/>
          <p:cNvSpPr/>
          <p:nvPr/>
        </p:nvSpPr>
        <p:spPr>
          <a:xfrm>
            <a:off x="10239394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5" name="Text 42"/>
          <p:cNvSpPr/>
          <p:nvPr/>
        </p:nvSpPr>
        <p:spPr>
          <a:xfrm>
            <a:off x="2951194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294831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540477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477220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40477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114.694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1540477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14.772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4477220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1540477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19.573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2951194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4477220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56,9 %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1540477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21.419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2951194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4477220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63,0 %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40477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19.096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2951194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477220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56,5 %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1540477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20.067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2951194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4477220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1540477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19.767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2951194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4477220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66,8 %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51194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520516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35.758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520516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12.760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2797702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3280489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63275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46061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28848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44870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273649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8294831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10239394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23,8 %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294831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10239394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21,7 %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294831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10239394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294831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39394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294831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10239394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294831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636" dirty="0"/>
          </a:p>
        </p:txBody>
      </p:sp>
      <p:sp>
        <p:nvSpPr>
          <p:cNvPr id="92" name="Text 89"/>
          <p:cNvSpPr/>
          <p:nvPr/>
        </p:nvSpPr>
        <p:spPr>
          <a:xfrm>
            <a:off x="10239394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7316013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44.428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8294831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636" dirty="0"/>
          </a:p>
        </p:txBody>
      </p:sp>
      <p:sp>
        <p:nvSpPr>
          <p:cNvPr id="95" name="Text 92"/>
          <p:cNvSpPr/>
          <p:nvPr/>
        </p:nvSpPr>
        <p:spPr>
          <a:xfrm>
            <a:off x="10239394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807739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6018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04297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952575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00854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49132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10967650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07739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856018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04297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952575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14,2 %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00854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49132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10967650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07739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31,6 %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856018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04297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30,4 %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952575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29,3 %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00854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31,9 %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49132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30,2 %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10967650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30,6 %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807739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10,3 %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856018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00854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10,4 %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67650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7739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18,5 %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856018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04297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21,5 %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952575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24,4 %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00854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10491329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22,1 %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10967650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21,0 %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7739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6018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13,7 %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4297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14,1 %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2575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0854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11,6 %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491329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14,5 %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67650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216595" y="952500"/>
            <a:ext cx="562697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1380" dirty="0"/>
          </a:p>
        </p:txBody>
      </p:sp>
      <p:sp>
        <p:nvSpPr>
          <p:cNvPr id="136" name="Text 133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37" name="Text 134"/>
          <p:cNvSpPr/>
          <p:nvPr/>
        </p:nvSpPr>
        <p:spPr>
          <a:xfrm>
            <a:off x="2951194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636" dirty="0"/>
          </a:p>
        </p:txBody>
      </p:sp>
      <p:sp>
        <p:nvSpPr>
          <p:cNvPr id="138" name="Text 135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39" name="Text 136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0" name="Text 137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520516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3" name="Text 140"/>
          <p:cNvSpPr/>
          <p:nvPr/>
        </p:nvSpPr>
        <p:spPr>
          <a:xfrm>
            <a:off x="231491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4.318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279770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5.666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328048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6.863</a:t>
            </a:r>
            <a:endParaRPr lang="en-US" sz="576" dirty="0"/>
          </a:p>
        </p:txBody>
      </p:sp>
      <p:sp>
        <p:nvSpPr>
          <p:cNvPr id="146" name="Text 143"/>
          <p:cNvSpPr/>
          <p:nvPr/>
        </p:nvSpPr>
        <p:spPr>
          <a:xfrm>
            <a:off x="376327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5.492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424606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6.700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4728848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6.719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31491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1.541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79770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2.022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328048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2.448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76327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1.960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424606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2.391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728848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2.398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279770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1.113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328048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1.349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76327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1.079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424606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1.317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728848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520516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7.027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328048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424606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1.109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4728848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1.112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520516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5.916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520516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4.624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520516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1.912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520516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1.070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504812" y="44870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2314916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7316013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71" name="Text 168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72" name="Text 169"/>
          <p:cNvSpPr/>
          <p:nvPr/>
        </p:nvSpPr>
        <p:spPr>
          <a:xfrm>
            <a:off x="7316013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6.287</a:t>
            </a:r>
            <a:endParaRPr lang="en-US" sz="636" dirty="0"/>
          </a:p>
        </p:txBody>
      </p:sp>
      <p:sp>
        <p:nvSpPr>
          <p:cNvPr id="173" name="Text 170"/>
          <p:cNvSpPr/>
          <p:nvPr/>
        </p:nvSpPr>
        <p:spPr>
          <a:xfrm>
            <a:off x="9273649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1.251</a:t>
            </a:r>
            <a:endParaRPr lang="en-US" sz="636" dirty="0"/>
          </a:p>
        </p:txBody>
      </p:sp>
      <p:sp>
        <p:nvSpPr>
          <p:cNvPr id="174" name="Text 171"/>
          <p:cNvSpPr/>
          <p:nvPr/>
        </p:nvSpPr>
        <p:spPr>
          <a:xfrm>
            <a:off x="7316013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8.439</a:t>
            </a:r>
            <a:endParaRPr lang="en-US" sz="636" dirty="0"/>
          </a:p>
        </p:txBody>
      </p:sp>
      <p:sp>
        <p:nvSpPr>
          <p:cNvPr id="175" name="Text 172"/>
          <p:cNvSpPr/>
          <p:nvPr/>
        </p:nvSpPr>
        <p:spPr>
          <a:xfrm>
            <a:off x="9273649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1.480</a:t>
            </a:r>
            <a:endParaRPr lang="en-US" sz="636" dirty="0"/>
          </a:p>
        </p:txBody>
      </p:sp>
      <p:sp>
        <p:nvSpPr>
          <p:cNvPr id="176" name="Text 173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77" name="Text 174"/>
          <p:cNvSpPr/>
          <p:nvPr/>
        </p:nvSpPr>
        <p:spPr>
          <a:xfrm>
            <a:off x="7316013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7.933</a:t>
            </a:r>
            <a:endParaRPr lang="en-US" sz="636" dirty="0"/>
          </a:p>
        </p:txBody>
      </p:sp>
      <p:sp>
        <p:nvSpPr>
          <p:cNvPr id="178" name="Text 175"/>
          <p:cNvSpPr/>
          <p:nvPr/>
        </p:nvSpPr>
        <p:spPr>
          <a:xfrm>
            <a:off x="9273649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1.265</a:t>
            </a:r>
            <a:endParaRPr lang="en-US" sz="636" dirty="0"/>
          </a:p>
        </p:txBody>
      </p:sp>
      <p:sp>
        <p:nvSpPr>
          <p:cNvPr id="179" name="Text 176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80" name="Text 177"/>
          <p:cNvSpPr/>
          <p:nvPr/>
        </p:nvSpPr>
        <p:spPr>
          <a:xfrm>
            <a:off x="7316013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8.304</a:t>
            </a:r>
            <a:endParaRPr lang="en-US" sz="636" dirty="0"/>
          </a:p>
        </p:txBody>
      </p:sp>
      <p:sp>
        <p:nvSpPr>
          <p:cNvPr id="181" name="Text 178"/>
          <p:cNvSpPr/>
          <p:nvPr/>
        </p:nvSpPr>
        <p:spPr>
          <a:xfrm>
            <a:off x="9273649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1.180</a:t>
            </a:r>
            <a:endParaRPr lang="en-US" sz="636" dirty="0"/>
          </a:p>
        </p:txBody>
      </p:sp>
      <p:sp>
        <p:nvSpPr>
          <p:cNvPr id="182" name="Text 179"/>
          <p:cNvSpPr/>
          <p:nvPr/>
        </p:nvSpPr>
        <p:spPr>
          <a:xfrm>
            <a:off x="7316013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6.901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9273649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1.286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16013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6.564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9273649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1.253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273649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967650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0" name="Text 187"/>
          <p:cNvSpPr/>
          <p:nvPr/>
        </p:nvSpPr>
        <p:spPr>
          <a:xfrm>
            <a:off x="904297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952575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9,5 %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1049132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9,8 %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807739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856018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904297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952575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00854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1049132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10967650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07739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856018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04297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952575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00854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49132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10967650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807739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56018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904297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52575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00854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49132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967650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807739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56018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904297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52575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00854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49132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967650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807739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56018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904297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52575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00854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49132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967650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807739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56018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904297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52575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00854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491329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967650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807739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56018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904297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52575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1000854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491329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967650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8077397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560183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9042970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525756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10008542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491329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967650" y="50204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8077397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560183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9042970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525756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10008542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491329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967650" y="51537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4374991" y="952500"/>
            <a:ext cx="449272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1380" dirty="0"/>
          </a:p>
        </p:txBody>
      </p:sp>
      <p:sp>
        <p:nvSpPr>
          <p:cNvPr id="257" name="Text 254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8" name="Text 255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9" name="Text 256"/>
          <p:cNvSpPr/>
          <p:nvPr/>
        </p:nvSpPr>
        <p:spPr>
          <a:xfrm>
            <a:off x="533387" y="952500"/>
            <a:ext cx="42261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1380" dirty="0"/>
          </a:p>
        </p:txBody>
      </p:sp>
      <p:sp>
        <p:nvSpPr>
          <p:cNvPr id="260" name="Text 257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61" name="Text 258"/>
          <p:cNvSpPr/>
          <p:nvPr/>
        </p:nvSpPr>
        <p:spPr>
          <a:xfrm>
            <a:off x="231491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62" name="Text 259"/>
          <p:cNvSpPr/>
          <p:nvPr/>
        </p:nvSpPr>
        <p:spPr>
          <a:xfrm>
            <a:off x="279770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63" name="Text 260"/>
          <p:cNvSpPr/>
          <p:nvPr/>
        </p:nvSpPr>
        <p:spPr>
          <a:xfrm>
            <a:off x="328048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64" name="Text 261"/>
          <p:cNvSpPr/>
          <p:nvPr/>
        </p:nvSpPr>
        <p:spPr>
          <a:xfrm>
            <a:off x="376327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65" name="Text 262"/>
          <p:cNvSpPr/>
          <p:nvPr/>
        </p:nvSpPr>
        <p:spPr>
          <a:xfrm>
            <a:off x="424606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66" name="Text 263"/>
          <p:cNvSpPr/>
          <p:nvPr/>
        </p:nvSpPr>
        <p:spPr>
          <a:xfrm>
            <a:off x="4728848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67" name="Text 264"/>
          <p:cNvSpPr/>
          <p:nvPr/>
        </p:nvSpPr>
        <p:spPr>
          <a:xfrm>
            <a:off x="231491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849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231491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714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279770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937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376327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909</a:t>
            </a:r>
            <a:endParaRPr lang="en-US" sz="576" dirty="0"/>
          </a:p>
        </p:txBody>
      </p:sp>
      <p:sp>
        <p:nvSpPr>
          <p:cNvPr id="271" name="Text 268"/>
          <p:cNvSpPr/>
          <p:nvPr/>
        </p:nvSpPr>
        <p:spPr>
          <a:xfrm>
            <a:off x="231491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558</a:t>
            </a:r>
            <a:endParaRPr lang="en-US" sz="576" dirty="0"/>
          </a:p>
        </p:txBody>
      </p:sp>
      <p:sp>
        <p:nvSpPr>
          <p:cNvPr id="272" name="Text 269"/>
          <p:cNvSpPr/>
          <p:nvPr/>
        </p:nvSpPr>
        <p:spPr>
          <a:xfrm>
            <a:off x="279770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733</a:t>
            </a:r>
            <a:endParaRPr lang="en-US" sz="576" dirty="0"/>
          </a:p>
        </p:txBody>
      </p:sp>
      <p:sp>
        <p:nvSpPr>
          <p:cNvPr id="273" name="Text 270"/>
          <p:cNvSpPr/>
          <p:nvPr/>
        </p:nvSpPr>
        <p:spPr>
          <a:xfrm>
            <a:off x="328048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576" dirty="0"/>
          </a:p>
        </p:txBody>
      </p:sp>
      <p:sp>
        <p:nvSpPr>
          <p:cNvPr id="274" name="Text 271"/>
          <p:cNvSpPr/>
          <p:nvPr/>
        </p:nvSpPr>
        <p:spPr>
          <a:xfrm>
            <a:off x="376327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710</a:t>
            </a:r>
            <a:endParaRPr lang="en-US" sz="576" dirty="0"/>
          </a:p>
        </p:txBody>
      </p:sp>
      <p:sp>
        <p:nvSpPr>
          <p:cNvPr id="275" name="Text 272"/>
          <p:cNvSpPr/>
          <p:nvPr/>
        </p:nvSpPr>
        <p:spPr>
          <a:xfrm>
            <a:off x="424606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866</a:t>
            </a:r>
            <a:endParaRPr lang="en-US" sz="576" dirty="0"/>
          </a:p>
        </p:txBody>
      </p:sp>
      <p:sp>
        <p:nvSpPr>
          <p:cNvPr id="276" name="Text 273"/>
          <p:cNvSpPr/>
          <p:nvPr/>
        </p:nvSpPr>
        <p:spPr>
          <a:xfrm>
            <a:off x="4728848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869</a:t>
            </a:r>
            <a:endParaRPr lang="en-US" sz="576" dirty="0"/>
          </a:p>
        </p:txBody>
      </p:sp>
      <p:sp>
        <p:nvSpPr>
          <p:cNvPr id="277" name="Text 274"/>
          <p:cNvSpPr/>
          <p:nvPr/>
        </p:nvSpPr>
        <p:spPr>
          <a:xfrm>
            <a:off x="231491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231</a:t>
            </a:r>
            <a:endParaRPr lang="en-US" sz="576" dirty="0"/>
          </a:p>
        </p:txBody>
      </p:sp>
      <p:sp>
        <p:nvSpPr>
          <p:cNvPr id="278" name="Text 275"/>
          <p:cNvSpPr/>
          <p:nvPr/>
        </p:nvSpPr>
        <p:spPr>
          <a:xfrm>
            <a:off x="279770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303</a:t>
            </a:r>
            <a:endParaRPr lang="en-US" sz="576" dirty="0"/>
          </a:p>
        </p:txBody>
      </p:sp>
      <p:sp>
        <p:nvSpPr>
          <p:cNvPr id="279" name="Text 276"/>
          <p:cNvSpPr/>
          <p:nvPr/>
        </p:nvSpPr>
        <p:spPr>
          <a:xfrm>
            <a:off x="328048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367</a:t>
            </a:r>
            <a:endParaRPr lang="en-US" sz="576" dirty="0"/>
          </a:p>
        </p:txBody>
      </p:sp>
      <p:sp>
        <p:nvSpPr>
          <p:cNvPr id="280" name="Text 277"/>
          <p:cNvSpPr/>
          <p:nvPr/>
        </p:nvSpPr>
        <p:spPr>
          <a:xfrm>
            <a:off x="376327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576" dirty="0"/>
          </a:p>
        </p:txBody>
      </p:sp>
      <p:sp>
        <p:nvSpPr>
          <p:cNvPr id="281" name="Text 278"/>
          <p:cNvSpPr/>
          <p:nvPr/>
        </p:nvSpPr>
        <p:spPr>
          <a:xfrm>
            <a:off x="424606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358</a:t>
            </a:r>
            <a:endParaRPr lang="en-US" sz="576" dirty="0"/>
          </a:p>
        </p:txBody>
      </p:sp>
      <p:sp>
        <p:nvSpPr>
          <p:cNvPr id="282" name="Text 279"/>
          <p:cNvSpPr/>
          <p:nvPr/>
        </p:nvSpPr>
        <p:spPr>
          <a:xfrm>
            <a:off x="4728848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359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1491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79770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170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328048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76327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164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424606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200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4728848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520516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79770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8048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63275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4606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4728848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520516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807739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98" name="Text 295"/>
          <p:cNvSpPr/>
          <p:nvPr/>
        </p:nvSpPr>
        <p:spPr>
          <a:xfrm>
            <a:off x="856018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99" name="Text 296"/>
          <p:cNvSpPr/>
          <p:nvPr/>
        </p:nvSpPr>
        <p:spPr>
          <a:xfrm>
            <a:off x="904297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0" name="Text 297"/>
          <p:cNvSpPr/>
          <p:nvPr/>
        </p:nvSpPr>
        <p:spPr>
          <a:xfrm>
            <a:off x="952575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1" name="Text 298"/>
          <p:cNvSpPr/>
          <p:nvPr/>
        </p:nvSpPr>
        <p:spPr>
          <a:xfrm>
            <a:off x="1000854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2" name="Text 299"/>
          <p:cNvSpPr/>
          <p:nvPr/>
        </p:nvSpPr>
        <p:spPr>
          <a:xfrm>
            <a:off x="1049132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231491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576" dirty="0"/>
          </a:p>
        </p:txBody>
      </p:sp>
      <p:sp>
        <p:nvSpPr>
          <p:cNvPr id="304" name="Text 301"/>
          <p:cNvSpPr/>
          <p:nvPr/>
        </p:nvSpPr>
        <p:spPr>
          <a:xfrm>
            <a:off x="279770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305" name="Text 302"/>
          <p:cNvSpPr/>
          <p:nvPr/>
        </p:nvSpPr>
        <p:spPr>
          <a:xfrm>
            <a:off x="328048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6" name="Text 303"/>
          <p:cNvSpPr/>
          <p:nvPr/>
        </p:nvSpPr>
        <p:spPr>
          <a:xfrm>
            <a:off x="376327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576" dirty="0"/>
          </a:p>
        </p:txBody>
      </p:sp>
      <p:sp>
        <p:nvSpPr>
          <p:cNvPr id="307" name="Text 304"/>
          <p:cNvSpPr/>
          <p:nvPr/>
        </p:nvSpPr>
        <p:spPr>
          <a:xfrm>
            <a:off x="424606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8" name="Text 305"/>
          <p:cNvSpPr/>
          <p:nvPr/>
        </p:nvSpPr>
        <p:spPr>
          <a:xfrm>
            <a:off x="4728848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9" name="Text 306"/>
          <p:cNvSpPr/>
          <p:nvPr/>
        </p:nvSpPr>
        <p:spPr>
          <a:xfrm>
            <a:off x="231491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57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7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7622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estructural de Registro Enviado Anteriormente (36,8 %) y Cuota Activa (32,7 %) suma el 69,5 % del rechazo, confirmando el agotamiento de la base.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540103"/>
            <a:ext cx="61137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no contacto es muy alto (48,3 %), impulsado por contestadores automáticos (38,6 %), lo que exige depuración telefónica en 2S.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247209"/>
            <a:ext cx="40400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 es la base de mayor volumen (420.641 registros recibidos) en el semestre.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8216595" y="1200894"/>
            <a:ext cx="17614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contacto (4,6 % sobre contacto apto)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8" name="Text 5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571486" y="209550"/>
            <a:ext cx="334863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Stock</a:t>
            </a:r>
            <a:endParaRPr lang="en-US" sz="1260" dirty="0"/>
          </a:p>
        </p:txBody>
      </p:sp>
      <p:sp>
        <p:nvSpPr>
          <p:cNvPr id="11" name="Text 8"/>
          <p:cNvSpPr/>
          <p:nvPr/>
        </p:nvSpPr>
        <p:spPr>
          <a:xfrm>
            <a:off x="4374991" y="1200894"/>
            <a:ext cx="15040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Segundo mayor aportante de ventas</a:t>
            </a:r>
            <a:endParaRPr lang="en-US" sz="648" dirty="0"/>
          </a:p>
        </p:txBody>
      </p:sp>
      <p:sp>
        <p:nvSpPr>
          <p:cNvPr id="12" name="Text 9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33387" y="1200894"/>
            <a:ext cx="14060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mayor dimensionamiento</a:t>
            </a:r>
            <a:endParaRPr lang="en-US" sz="648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504812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533387" y="809625"/>
            <a:ext cx="12359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REGISTROS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1194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8216595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</a:t>
            </a:r>
            <a:endParaRPr lang="en-US" sz="576" dirty="0"/>
          </a:p>
        </p:txBody>
      </p:sp>
      <p:sp>
        <p:nvSpPr>
          <p:cNvPr id="32" name="Text 29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3" name="Text 30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Repetido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50204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1537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Repetida</a:t>
            </a:r>
            <a:endParaRPr lang="en-US" sz="576" dirty="0"/>
          </a:p>
        </p:txBody>
      </p:sp>
      <p:sp>
        <p:nvSpPr>
          <p:cNvPr id="39" name="Text 36"/>
          <p:cNvSpPr/>
          <p:nvPr/>
        </p:nvSpPr>
        <p:spPr>
          <a:xfrm>
            <a:off x="10239394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1" name="Text 38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2951194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8294831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1540477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477220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540477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114.104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40477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2951194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5205169" y="44870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7316013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533387" y="952500"/>
            <a:ext cx="695683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1380" dirty="0"/>
          </a:p>
        </p:txBody>
      </p:sp>
      <p:sp>
        <p:nvSpPr>
          <p:cNvPr id="56" name="Text 53"/>
          <p:cNvSpPr/>
          <p:nvPr/>
        </p:nvSpPr>
        <p:spPr>
          <a:xfrm>
            <a:off x="1540477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20.864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51194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477220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40477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50.266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2951194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477220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50,6 %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1540477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69.741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2951194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477220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59,9 %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40477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2951194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4477220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1540477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51194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2951194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477220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4477220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62,2 %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328048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15.354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6327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4606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28848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27.509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96.218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328048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376327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2" name="Text 79"/>
          <p:cNvSpPr/>
          <p:nvPr/>
        </p:nvSpPr>
        <p:spPr>
          <a:xfrm>
            <a:off x="424606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3" name="Text 80"/>
          <p:cNvSpPr/>
          <p:nvPr/>
        </p:nvSpPr>
        <p:spPr>
          <a:xfrm>
            <a:off x="4728848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24.431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520516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85.455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520516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21.047</a:t>
            </a:r>
            <a:endParaRPr lang="en-US" sz="576" dirty="0"/>
          </a:p>
        </p:txBody>
      </p:sp>
      <p:sp>
        <p:nvSpPr>
          <p:cNvPr id="86" name="Text 83"/>
          <p:cNvSpPr/>
          <p:nvPr/>
        </p:nvSpPr>
        <p:spPr>
          <a:xfrm>
            <a:off x="520516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19.533</a:t>
            </a:r>
            <a:endParaRPr lang="en-US" sz="576" dirty="0"/>
          </a:p>
        </p:txBody>
      </p:sp>
      <p:sp>
        <p:nvSpPr>
          <p:cNvPr id="87" name="Text 84"/>
          <p:cNvSpPr/>
          <p:nvPr/>
        </p:nvSpPr>
        <p:spPr>
          <a:xfrm>
            <a:off x="520516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8" name="Text 85"/>
          <p:cNvSpPr/>
          <p:nvPr/>
        </p:nvSpPr>
        <p:spPr>
          <a:xfrm>
            <a:off x="2314916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576" dirty="0"/>
          </a:p>
        </p:txBody>
      </p:sp>
      <p:sp>
        <p:nvSpPr>
          <p:cNvPr id="89" name="Text 86"/>
          <p:cNvSpPr/>
          <p:nvPr/>
        </p:nvSpPr>
        <p:spPr>
          <a:xfrm>
            <a:off x="2797702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3280489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3763275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4246061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4728848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9273649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8294831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7316013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24.847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8294831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636" dirty="0"/>
          </a:p>
        </p:txBody>
      </p:sp>
      <p:sp>
        <p:nvSpPr>
          <p:cNvPr id="98" name="Text 95"/>
          <p:cNvSpPr/>
          <p:nvPr/>
        </p:nvSpPr>
        <p:spPr>
          <a:xfrm>
            <a:off x="7316013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27.980</a:t>
            </a:r>
            <a:endParaRPr lang="en-US" sz="636" dirty="0"/>
          </a:p>
        </p:txBody>
      </p:sp>
      <p:sp>
        <p:nvSpPr>
          <p:cNvPr id="99" name="Text 96"/>
          <p:cNvSpPr/>
          <p:nvPr/>
        </p:nvSpPr>
        <p:spPr>
          <a:xfrm>
            <a:off x="8294831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7316013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8294831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7316013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8294831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7316013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39.285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8294831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8294831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51,6 %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807739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856018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904297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952575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1000854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1049132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967650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51,7 %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807739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856018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904297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952575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1000854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49132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17,3 %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67650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7739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904297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52575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1000854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967650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807739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48,9 %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856018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63,2 %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904297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40,8 %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952575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1000854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40,7 %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10491329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53,8 %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967650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48,3 %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807739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39,1 %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856018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50,5 %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904297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32,6 %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952575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34,9 %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1000854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32,5 %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10491329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43,0 %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967650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38,6 %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3" name="Text 140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4" name="Text 141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5" name="Text 142"/>
          <p:cNvSpPr/>
          <p:nvPr/>
        </p:nvSpPr>
        <p:spPr>
          <a:xfrm>
            <a:off x="520516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231491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4.699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279770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9.346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231491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4.173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79770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8.300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31491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1.028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279770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2.044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28048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3.359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376327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24606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4728848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6.018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279770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1.897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28048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3.117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376327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24606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4728848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5.585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279770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328048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2.176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376327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424606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4728848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3.898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328048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1.126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376327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424606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4728848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2.018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520516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7.059</a:t>
            </a:r>
            <a:endParaRPr lang="en-US" sz="576" dirty="0"/>
          </a:p>
        </p:txBody>
      </p:sp>
      <p:sp>
        <p:nvSpPr>
          <p:cNvPr id="171" name="Text 168"/>
          <p:cNvSpPr/>
          <p:nvPr/>
        </p:nvSpPr>
        <p:spPr>
          <a:xfrm>
            <a:off x="376327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2" name="Text 169"/>
          <p:cNvSpPr/>
          <p:nvPr/>
        </p:nvSpPr>
        <p:spPr>
          <a:xfrm>
            <a:off x="424606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3" name="Text 170"/>
          <p:cNvSpPr/>
          <p:nvPr/>
        </p:nvSpPr>
        <p:spPr>
          <a:xfrm>
            <a:off x="4728848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1.445</a:t>
            </a:r>
            <a:endParaRPr lang="en-US" sz="576" dirty="0"/>
          </a:p>
        </p:txBody>
      </p:sp>
      <p:sp>
        <p:nvSpPr>
          <p:cNvPr id="174" name="Text 171"/>
          <p:cNvSpPr/>
          <p:nvPr/>
        </p:nvSpPr>
        <p:spPr>
          <a:xfrm>
            <a:off x="520516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5.053</a:t>
            </a:r>
            <a:endParaRPr lang="en-US" sz="576" dirty="0"/>
          </a:p>
        </p:txBody>
      </p:sp>
      <p:sp>
        <p:nvSpPr>
          <p:cNvPr id="175" name="Text 172"/>
          <p:cNvSpPr/>
          <p:nvPr/>
        </p:nvSpPr>
        <p:spPr>
          <a:xfrm>
            <a:off x="4728848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1.300</a:t>
            </a:r>
            <a:endParaRPr lang="en-US" sz="576" dirty="0"/>
          </a:p>
        </p:txBody>
      </p:sp>
      <p:sp>
        <p:nvSpPr>
          <p:cNvPr id="176" name="Text 173"/>
          <p:cNvSpPr/>
          <p:nvPr/>
        </p:nvSpPr>
        <p:spPr>
          <a:xfrm>
            <a:off x="520516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4.544</a:t>
            </a:r>
            <a:endParaRPr lang="en-US" sz="576" dirty="0"/>
          </a:p>
        </p:txBody>
      </p:sp>
      <p:sp>
        <p:nvSpPr>
          <p:cNvPr id="177" name="Text 174"/>
          <p:cNvSpPr/>
          <p:nvPr/>
        </p:nvSpPr>
        <p:spPr>
          <a:xfrm>
            <a:off x="328048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1.461</a:t>
            </a:r>
            <a:endParaRPr lang="en-US" sz="576" dirty="0"/>
          </a:p>
        </p:txBody>
      </p:sp>
      <p:sp>
        <p:nvSpPr>
          <p:cNvPr id="178" name="Text 175"/>
          <p:cNvSpPr/>
          <p:nvPr/>
        </p:nvSpPr>
        <p:spPr>
          <a:xfrm>
            <a:off x="3763275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79" name="Text 176"/>
          <p:cNvSpPr/>
          <p:nvPr/>
        </p:nvSpPr>
        <p:spPr>
          <a:xfrm>
            <a:off x="424606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80" name="Text 177"/>
          <p:cNvSpPr/>
          <p:nvPr/>
        </p:nvSpPr>
        <p:spPr>
          <a:xfrm>
            <a:off x="4728848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2.617</a:t>
            </a:r>
            <a:endParaRPr lang="en-US" sz="576" dirty="0"/>
          </a:p>
        </p:txBody>
      </p:sp>
      <p:sp>
        <p:nvSpPr>
          <p:cNvPr id="181" name="Text 178"/>
          <p:cNvSpPr/>
          <p:nvPr/>
        </p:nvSpPr>
        <p:spPr>
          <a:xfrm>
            <a:off x="520516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9.154</a:t>
            </a:r>
            <a:endParaRPr lang="en-US" sz="576" dirty="0"/>
          </a:p>
        </p:txBody>
      </p:sp>
      <p:sp>
        <p:nvSpPr>
          <p:cNvPr id="182" name="Text 179"/>
          <p:cNvSpPr/>
          <p:nvPr/>
        </p:nvSpPr>
        <p:spPr>
          <a:xfrm>
            <a:off x="504812" y="44870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83" name="Text 180"/>
          <p:cNvSpPr/>
          <p:nvPr/>
        </p:nvSpPr>
        <p:spPr>
          <a:xfrm>
            <a:off x="7316013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84" name="Text 181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16013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8.083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10239394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10239394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239394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10239394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10239394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636" dirty="0"/>
          </a:p>
        </p:txBody>
      </p:sp>
      <p:sp>
        <p:nvSpPr>
          <p:cNvPr id="193" name="Text 190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94" name="Text 191"/>
          <p:cNvSpPr/>
          <p:nvPr/>
        </p:nvSpPr>
        <p:spPr>
          <a:xfrm>
            <a:off x="10239394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636" dirty="0"/>
          </a:p>
        </p:txBody>
      </p:sp>
      <p:sp>
        <p:nvSpPr>
          <p:cNvPr id="195" name="Text 192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96" name="Text 193"/>
          <p:cNvSpPr/>
          <p:nvPr/>
        </p:nvSpPr>
        <p:spPr>
          <a:xfrm>
            <a:off x="9273649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636" dirty="0"/>
          </a:p>
        </p:txBody>
      </p:sp>
      <p:sp>
        <p:nvSpPr>
          <p:cNvPr id="197" name="Text 194"/>
          <p:cNvSpPr/>
          <p:nvPr/>
        </p:nvSpPr>
        <p:spPr>
          <a:xfrm>
            <a:off x="10239394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3,5 %</a:t>
            </a:r>
            <a:endParaRPr lang="en-US" sz="636" dirty="0"/>
          </a:p>
        </p:txBody>
      </p:sp>
      <p:sp>
        <p:nvSpPr>
          <p:cNvPr id="198" name="Text 195"/>
          <p:cNvSpPr/>
          <p:nvPr/>
        </p:nvSpPr>
        <p:spPr>
          <a:xfrm>
            <a:off x="10967650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9" name="Text 196"/>
          <p:cNvSpPr/>
          <p:nvPr/>
        </p:nvSpPr>
        <p:spPr>
          <a:xfrm>
            <a:off x="807739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56018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04297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52575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00854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49132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967650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6018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1049132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07739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856018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04297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952575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00854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49132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10967650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07739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856018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04297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952575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00854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49132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10967650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07739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856018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04297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952575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2,9 %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00854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49132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10967650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07739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856018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04297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952575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00854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49132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10967650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07739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856018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3,3 %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04297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952575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00854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49132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10967650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07739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856018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04297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952575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00854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491329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10967650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07739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856018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04297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952575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00854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491329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10967650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7" name="Text 254"/>
          <p:cNvSpPr/>
          <p:nvPr/>
        </p:nvSpPr>
        <p:spPr>
          <a:xfrm>
            <a:off x="8077397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8" name="Text 255"/>
          <p:cNvSpPr/>
          <p:nvPr/>
        </p:nvSpPr>
        <p:spPr>
          <a:xfrm>
            <a:off x="8560183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9" name="Text 256"/>
          <p:cNvSpPr/>
          <p:nvPr/>
        </p:nvSpPr>
        <p:spPr>
          <a:xfrm>
            <a:off x="9042970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0" name="Text 257"/>
          <p:cNvSpPr/>
          <p:nvPr/>
        </p:nvSpPr>
        <p:spPr>
          <a:xfrm>
            <a:off x="9525756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1" name="Text 258"/>
          <p:cNvSpPr/>
          <p:nvPr/>
        </p:nvSpPr>
        <p:spPr>
          <a:xfrm>
            <a:off x="10008542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2" name="Text 259"/>
          <p:cNvSpPr/>
          <p:nvPr/>
        </p:nvSpPr>
        <p:spPr>
          <a:xfrm>
            <a:off x="10491329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63" name="Text 260"/>
          <p:cNvSpPr/>
          <p:nvPr/>
        </p:nvSpPr>
        <p:spPr>
          <a:xfrm>
            <a:off x="10967650" y="50204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4" name="Text 261"/>
          <p:cNvSpPr/>
          <p:nvPr/>
        </p:nvSpPr>
        <p:spPr>
          <a:xfrm>
            <a:off x="8077397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5" name="Text 262"/>
          <p:cNvSpPr/>
          <p:nvPr/>
        </p:nvSpPr>
        <p:spPr>
          <a:xfrm>
            <a:off x="8560183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6" name="Text 263"/>
          <p:cNvSpPr/>
          <p:nvPr/>
        </p:nvSpPr>
        <p:spPr>
          <a:xfrm>
            <a:off x="9042970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7" name="Text 264"/>
          <p:cNvSpPr/>
          <p:nvPr/>
        </p:nvSpPr>
        <p:spPr>
          <a:xfrm>
            <a:off x="9525756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8" name="Text 265"/>
          <p:cNvSpPr/>
          <p:nvPr/>
        </p:nvSpPr>
        <p:spPr>
          <a:xfrm>
            <a:off x="10008542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9" name="Text 266"/>
          <p:cNvSpPr/>
          <p:nvPr/>
        </p:nvSpPr>
        <p:spPr>
          <a:xfrm>
            <a:off x="10491329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0" name="Text 267"/>
          <p:cNvSpPr/>
          <p:nvPr/>
        </p:nvSpPr>
        <p:spPr>
          <a:xfrm>
            <a:off x="10967650" y="51537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1" name="Text 268"/>
          <p:cNvSpPr/>
          <p:nvPr/>
        </p:nvSpPr>
        <p:spPr>
          <a:xfrm>
            <a:off x="4374991" y="952500"/>
            <a:ext cx="486186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1380" dirty="0"/>
          </a:p>
        </p:txBody>
      </p:sp>
      <p:sp>
        <p:nvSpPr>
          <p:cNvPr id="272" name="Text 269"/>
          <p:cNvSpPr/>
          <p:nvPr/>
        </p:nvSpPr>
        <p:spPr>
          <a:xfrm>
            <a:off x="8216595" y="952500"/>
            <a:ext cx="468518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1380" dirty="0"/>
          </a:p>
        </p:txBody>
      </p:sp>
      <p:sp>
        <p:nvSpPr>
          <p:cNvPr id="273" name="Text 270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6" name="Text 273"/>
          <p:cNvSpPr/>
          <p:nvPr/>
        </p:nvSpPr>
        <p:spPr>
          <a:xfrm>
            <a:off x="231491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279770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328048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376327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424606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4728848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231491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954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1491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666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31491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79770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231491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247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79770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491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328048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231491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79770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8048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725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6327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4606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231491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447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279770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9273649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322</a:t>
            </a:r>
            <a:endParaRPr lang="en-US" sz="636" dirty="0"/>
          </a:p>
        </p:txBody>
      </p:sp>
      <p:sp>
        <p:nvSpPr>
          <p:cNvPr id="298" name="Text 295"/>
          <p:cNvSpPr/>
          <p:nvPr/>
        </p:nvSpPr>
        <p:spPr>
          <a:xfrm>
            <a:off x="9273649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636" dirty="0"/>
          </a:p>
        </p:txBody>
      </p:sp>
      <p:sp>
        <p:nvSpPr>
          <p:cNvPr id="299" name="Text 296"/>
          <p:cNvSpPr/>
          <p:nvPr/>
        </p:nvSpPr>
        <p:spPr>
          <a:xfrm>
            <a:off x="9273649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626</a:t>
            </a:r>
            <a:endParaRPr lang="en-US" sz="636" dirty="0"/>
          </a:p>
        </p:txBody>
      </p:sp>
      <p:sp>
        <p:nvSpPr>
          <p:cNvPr id="300" name="Text 297"/>
          <p:cNvSpPr/>
          <p:nvPr/>
        </p:nvSpPr>
        <p:spPr>
          <a:xfrm>
            <a:off x="9273649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750</a:t>
            </a:r>
            <a:endParaRPr lang="en-US" sz="636" dirty="0"/>
          </a:p>
        </p:txBody>
      </p:sp>
      <p:sp>
        <p:nvSpPr>
          <p:cNvPr id="301" name="Text 298"/>
          <p:cNvSpPr/>
          <p:nvPr/>
        </p:nvSpPr>
        <p:spPr>
          <a:xfrm>
            <a:off x="9273649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629</a:t>
            </a:r>
            <a:endParaRPr lang="en-US" sz="636" dirty="0"/>
          </a:p>
        </p:txBody>
      </p:sp>
      <p:sp>
        <p:nvSpPr>
          <p:cNvPr id="302" name="Text 299"/>
          <p:cNvSpPr/>
          <p:nvPr/>
        </p:nvSpPr>
        <p:spPr>
          <a:xfrm>
            <a:off x="807739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856018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304" name="Text 301"/>
          <p:cNvSpPr/>
          <p:nvPr/>
        </p:nvSpPr>
        <p:spPr>
          <a:xfrm>
            <a:off x="904297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5" name="Text 302"/>
          <p:cNvSpPr/>
          <p:nvPr/>
        </p:nvSpPr>
        <p:spPr>
          <a:xfrm>
            <a:off x="952575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6" name="Text 303"/>
          <p:cNvSpPr/>
          <p:nvPr/>
        </p:nvSpPr>
        <p:spPr>
          <a:xfrm>
            <a:off x="1000854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7" name="Text 304"/>
          <p:cNvSpPr/>
          <p:nvPr/>
        </p:nvSpPr>
        <p:spPr>
          <a:xfrm>
            <a:off x="1049132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8" name="Text 305"/>
          <p:cNvSpPr/>
          <p:nvPr/>
        </p:nvSpPr>
        <p:spPr>
          <a:xfrm>
            <a:off x="9273649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</a:t>
            </a:r>
            <a:endParaRPr lang="en-US" sz="63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8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540103"/>
            <a:ext cx="99481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Junio: A corte, la base presenta un saludable porcentaje de conversión cercano al 5 %, impulsado principalmente por la calidad de los registros y la integridad de la información suministrada en la base de datos.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393656"/>
            <a:ext cx="32262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Febrero: Cabinas exclusivas, actualmente no se encuentran activas.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21659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Masiva Voluntarios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4374991" y="1200894"/>
            <a:ext cx="1896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Importante repunte tras actualización de base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 para Microseguro (69 años)</a:t>
            </a:r>
            <a:endParaRPr lang="en-US" sz="576" dirty="0"/>
          </a:p>
        </p:txBody>
      </p:sp>
      <p:sp>
        <p:nvSpPr>
          <p:cNvPr id="8" name="Text 5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16248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masiva para gestión del marcador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 / datos</a:t>
            </a:r>
            <a:endParaRPr lang="en-US" sz="552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(&gt;69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685783" y="6100763"/>
            <a:ext cx="16429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oportunidad de conversión.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85783" y="6247209"/>
            <a:ext cx="14041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Densa y baja contactabilidad.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8216595" y="1200894"/>
            <a:ext cx="12339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incremental constante</a:t>
            </a:r>
            <a:endParaRPr lang="en-US" sz="648" dirty="0"/>
          </a:p>
        </p:txBody>
      </p:sp>
      <p:sp>
        <p:nvSpPr>
          <p:cNvPr id="24" name="Text 21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Seguro Voluntario Activo</a:t>
            </a:r>
            <a:endParaRPr lang="en-US" sz="576" dirty="0"/>
          </a:p>
        </p:txBody>
      </p:sp>
      <p:sp>
        <p:nvSpPr>
          <p:cNvPr id="26" name="Text 23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8" name="Text 25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11440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EN JUNIO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8216595" y="809625"/>
            <a:ext cx="1131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CONSEGUIDAS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533387" y="809625"/>
            <a:ext cx="10372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APTO TOTAL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6267293" y="50204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Vacío</a:t>
            </a:r>
            <a:endParaRPr lang="en-US" sz="576" dirty="0"/>
          </a:p>
        </p:txBody>
      </p:sp>
      <p:sp>
        <p:nvSpPr>
          <p:cNvPr id="38" name="Text 35"/>
          <p:cNvSpPr/>
          <p:nvPr/>
        </p:nvSpPr>
        <p:spPr>
          <a:xfrm>
            <a:off x="10239394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0" name="Text 37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2951194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8294831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1540477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4477220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1540477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255.141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2951194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520516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103.678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5205169" y="43536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7316013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533387" y="952500"/>
            <a:ext cx="682274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1380" dirty="0"/>
          </a:p>
        </p:txBody>
      </p:sp>
      <p:sp>
        <p:nvSpPr>
          <p:cNvPr id="55" name="Text 52"/>
          <p:cNvSpPr/>
          <p:nvPr/>
        </p:nvSpPr>
        <p:spPr>
          <a:xfrm>
            <a:off x="1540477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55.557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1540477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24.673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51194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477220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40477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41.873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4477220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10,9 %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1540477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2951194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477220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1540477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2951194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4477220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1540477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34.574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2951194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477220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376327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37.342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424606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4728848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13.532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0516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11.261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797702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3763275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246061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4728848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273649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7316013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51.332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7316013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13.276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294831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7316013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37.311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294831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8294831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294831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7316013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16.913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294831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8294831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19,2 %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56018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904297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52575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1000854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49132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10967650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18,9 %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6018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52575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00854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49132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10,2 %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00854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807739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90,8 %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56018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70,0 %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904297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52575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1000854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56,8 %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49132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72,3 %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967650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807739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88,1 %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56018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67,9 %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904297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73,2 %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52575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55,7 %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00854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55,1 %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491329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967650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78,6 %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2951194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477220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2951194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520516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231491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3.237</a:t>
            </a:r>
            <a:endParaRPr lang="en-US" sz="576" dirty="0"/>
          </a:p>
        </p:txBody>
      </p:sp>
      <p:sp>
        <p:nvSpPr>
          <p:cNvPr id="126" name="Text 123"/>
          <p:cNvSpPr/>
          <p:nvPr/>
        </p:nvSpPr>
        <p:spPr>
          <a:xfrm>
            <a:off x="279770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8.732</a:t>
            </a:r>
            <a:endParaRPr lang="en-US" sz="576" dirty="0"/>
          </a:p>
        </p:txBody>
      </p:sp>
      <p:sp>
        <p:nvSpPr>
          <p:cNvPr id="127" name="Text 124"/>
          <p:cNvSpPr/>
          <p:nvPr/>
        </p:nvSpPr>
        <p:spPr>
          <a:xfrm>
            <a:off x="328048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3.495</a:t>
            </a:r>
            <a:endParaRPr lang="en-US" sz="576" dirty="0"/>
          </a:p>
        </p:txBody>
      </p:sp>
      <p:sp>
        <p:nvSpPr>
          <p:cNvPr id="128" name="Text 125"/>
          <p:cNvSpPr/>
          <p:nvPr/>
        </p:nvSpPr>
        <p:spPr>
          <a:xfrm>
            <a:off x="376327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4.055</a:t>
            </a:r>
            <a:endParaRPr lang="en-US" sz="576" dirty="0"/>
          </a:p>
        </p:txBody>
      </p:sp>
      <p:sp>
        <p:nvSpPr>
          <p:cNvPr id="129" name="Text 126"/>
          <p:cNvSpPr/>
          <p:nvPr/>
        </p:nvSpPr>
        <p:spPr>
          <a:xfrm>
            <a:off x="424606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4.056</a:t>
            </a:r>
            <a:endParaRPr lang="en-US" sz="576" dirty="0"/>
          </a:p>
        </p:txBody>
      </p:sp>
      <p:sp>
        <p:nvSpPr>
          <p:cNvPr id="130" name="Text 127"/>
          <p:cNvSpPr/>
          <p:nvPr/>
        </p:nvSpPr>
        <p:spPr>
          <a:xfrm>
            <a:off x="4728848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1.470</a:t>
            </a:r>
            <a:endParaRPr lang="en-US" sz="576" dirty="0"/>
          </a:p>
        </p:txBody>
      </p:sp>
      <p:sp>
        <p:nvSpPr>
          <p:cNvPr id="131" name="Text 128"/>
          <p:cNvSpPr/>
          <p:nvPr/>
        </p:nvSpPr>
        <p:spPr>
          <a:xfrm>
            <a:off x="376327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2" name="Text 129"/>
          <p:cNvSpPr/>
          <p:nvPr/>
        </p:nvSpPr>
        <p:spPr>
          <a:xfrm>
            <a:off x="424606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3" name="Text 130"/>
          <p:cNvSpPr/>
          <p:nvPr/>
        </p:nvSpPr>
        <p:spPr>
          <a:xfrm>
            <a:off x="520516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5.948</a:t>
            </a:r>
            <a:endParaRPr lang="en-US" sz="576" dirty="0"/>
          </a:p>
        </p:txBody>
      </p:sp>
      <p:sp>
        <p:nvSpPr>
          <p:cNvPr id="134" name="Text 131"/>
          <p:cNvSpPr/>
          <p:nvPr/>
        </p:nvSpPr>
        <p:spPr>
          <a:xfrm>
            <a:off x="376327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1.618</a:t>
            </a:r>
            <a:endParaRPr lang="en-US" sz="576" dirty="0"/>
          </a:p>
        </p:txBody>
      </p:sp>
      <p:sp>
        <p:nvSpPr>
          <p:cNvPr id="135" name="Text 132"/>
          <p:cNvSpPr/>
          <p:nvPr/>
        </p:nvSpPr>
        <p:spPr>
          <a:xfrm>
            <a:off x="424606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1.619</a:t>
            </a:r>
            <a:endParaRPr lang="en-US" sz="576" dirty="0"/>
          </a:p>
        </p:txBody>
      </p:sp>
      <p:sp>
        <p:nvSpPr>
          <p:cNvPr id="136" name="Text 133"/>
          <p:cNvSpPr/>
          <p:nvPr/>
        </p:nvSpPr>
        <p:spPr>
          <a:xfrm>
            <a:off x="520516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4.495</a:t>
            </a:r>
            <a:endParaRPr lang="en-US" sz="576" dirty="0"/>
          </a:p>
        </p:txBody>
      </p:sp>
      <p:sp>
        <p:nvSpPr>
          <p:cNvPr id="137" name="Text 134"/>
          <p:cNvSpPr/>
          <p:nvPr/>
        </p:nvSpPr>
        <p:spPr>
          <a:xfrm>
            <a:off x="520516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2.330</a:t>
            </a:r>
            <a:endParaRPr lang="en-US" sz="576" dirty="0"/>
          </a:p>
        </p:txBody>
      </p:sp>
      <p:sp>
        <p:nvSpPr>
          <p:cNvPr id="138" name="Text 135"/>
          <p:cNvSpPr/>
          <p:nvPr/>
        </p:nvSpPr>
        <p:spPr>
          <a:xfrm>
            <a:off x="520516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2.145</a:t>
            </a:r>
            <a:endParaRPr lang="en-US" sz="576" dirty="0"/>
          </a:p>
        </p:txBody>
      </p:sp>
      <p:sp>
        <p:nvSpPr>
          <p:cNvPr id="139" name="Text 136"/>
          <p:cNvSpPr/>
          <p:nvPr/>
        </p:nvSpPr>
        <p:spPr>
          <a:xfrm>
            <a:off x="376327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1.632</a:t>
            </a:r>
            <a:endParaRPr lang="en-US" sz="576" dirty="0"/>
          </a:p>
        </p:txBody>
      </p:sp>
      <p:sp>
        <p:nvSpPr>
          <p:cNvPr id="140" name="Text 137"/>
          <p:cNvSpPr/>
          <p:nvPr/>
        </p:nvSpPr>
        <p:spPr>
          <a:xfrm>
            <a:off x="424606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1.633</a:t>
            </a:r>
            <a:endParaRPr lang="en-US" sz="576" dirty="0"/>
          </a:p>
        </p:txBody>
      </p:sp>
      <p:sp>
        <p:nvSpPr>
          <p:cNvPr id="141" name="Text 138"/>
          <p:cNvSpPr/>
          <p:nvPr/>
        </p:nvSpPr>
        <p:spPr>
          <a:xfrm>
            <a:off x="520516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4.534</a:t>
            </a:r>
            <a:endParaRPr lang="en-US" sz="576" dirty="0"/>
          </a:p>
        </p:txBody>
      </p:sp>
      <p:sp>
        <p:nvSpPr>
          <p:cNvPr id="142" name="Text 139"/>
          <p:cNvSpPr/>
          <p:nvPr/>
        </p:nvSpPr>
        <p:spPr>
          <a:xfrm>
            <a:off x="504812" y="43536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43" name="Text 140"/>
          <p:cNvSpPr/>
          <p:nvPr/>
        </p:nvSpPr>
        <p:spPr>
          <a:xfrm>
            <a:off x="2314916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3280489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7316013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7" name="Text 144"/>
          <p:cNvSpPr/>
          <p:nvPr/>
        </p:nvSpPr>
        <p:spPr>
          <a:xfrm>
            <a:off x="8294831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636" dirty="0"/>
          </a:p>
        </p:txBody>
      </p:sp>
      <p:sp>
        <p:nvSpPr>
          <p:cNvPr id="148" name="Text 145"/>
          <p:cNvSpPr/>
          <p:nvPr/>
        </p:nvSpPr>
        <p:spPr>
          <a:xfrm>
            <a:off x="10239394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149" name="Text 146"/>
          <p:cNvSpPr/>
          <p:nvPr/>
        </p:nvSpPr>
        <p:spPr>
          <a:xfrm>
            <a:off x="10239394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636" dirty="0"/>
          </a:p>
        </p:txBody>
      </p:sp>
      <p:sp>
        <p:nvSpPr>
          <p:cNvPr id="150" name="Text 147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51" name="Text 148"/>
          <p:cNvSpPr/>
          <p:nvPr/>
        </p:nvSpPr>
        <p:spPr>
          <a:xfrm>
            <a:off x="10239394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152" name="Text 149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53" name="Text 150"/>
          <p:cNvSpPr/>
          <p:nvPr/>
        </p:nvSpPr>
        <p:spPr>
          <a:xfrm>
            <a:off x="10239394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636" dirty="0"/>
          </a:p>
        </p:txBody>
      </p:sp>
      <p:sp>
        <p:nvSpPr>
          <p:cNvPr id="154" name="Text 151"/>
          <p:cNvSpPr/>
          <p:nvPr/>
        </p:nvSpPr>
        <p:spPr>
          <a:xfrm>
            <a:off x="10239394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636" dirty="0"/>
          </a:p>
        </p:txBody>
      </p:sp>
      <p:sp>
        <p:nvSpPr>
          <p:cNvPr id="155" name="Text 152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56" name="Text 153"/>
          <p:cNvSpPr/>
          <p:nvPr/>
        </p:nvSpPr>
        <p:spPr>
          <a:xfrm>
            <a:off x="10239394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636" dirty="0"/>
          </a:p>
        </p:txBody>
      </p:sp>
      <p:sp>
        <p:nvSpPr>
          <p:cNvPr id="157" name="Text 15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58" name="Text 155"/>
          <p:cNvSpPr/>
          <p:nvPr/>
        </p:nvSpPr>
        <p:spPr>
          <a:xfrm>
            <a:off x="10239394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636" dirty="0"/>
          </a:p>
        </p:txBody>
      </p:sp>
      <p:sp>
        <p:nvSpPr>
          <p:cNvPr id="159" name="Text 156"/>
          <p:cNvSpPr/>
          <p:nvPr/>
        </p:nvSpPr>
        <p:spPr>
          <a:xfrm>
            <a:off x="10967650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60" name="Text 157"/>
          <p:cNvSpPr/>
          <p:nvPr/>
        </p:nvSpPr>
        <p:spPr>
          <a:xfrm>
            <a:off x="807739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07739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856018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04297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952575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00854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49132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10967650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07739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4297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10967650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807739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856018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6,9 %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904297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5,7 %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952575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1049132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10967650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807739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856018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904297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952575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1000854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2" name="Text 179"/>
          <p:cNvSpPr/>
          <p:nvPr/>
        </p:nvSpPr>
        <p:spPr>
          <a:xfrm>
            <a:off x="1049132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10967650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807739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856018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4,7 %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904297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952575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188" name="Text 185"/>
          <p:cNvSpPr/>
          <p:nvPr/>
        </p:nvSpPr>
        <p:spPr>
          <a:xfrm>
            <a:off x="1000854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189" name="Text 186"/>
          <p:cNvSpPr/>
          <p:nvPr/>
        </p:nvSpPr>
        <p:spPr>
          <a:xfrm>
            <a:off x="1049132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90" name="Text 187"/>
          <p:cNvSpPr/>
          <p:nvPr/>
        </p:nvSpPr>
        <p:spPr>
          <a:xfrm>
            <a:off x="10967650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807739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856018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904297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952575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1000854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1049132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967650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807739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856018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904297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52575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1000854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49132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967650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807739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6018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904297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952575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1000854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10491329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967650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807739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856018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904297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952575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1000854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10491329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967650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807739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856018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904297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952575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1000854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10491329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967650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8077397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8560183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9042970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9525756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10008542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10491329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967650" y="50204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4374991" y="952500"/>
            <a:ext cx="447536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1380" dirty="0"/>
          </a:p>
        </p:txBody>
      </p:sp>
      <p:sp>
        <p:nvSpPr>
          <p:cNvPr id="234" name="Text 231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5" name="Text 232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6" name="Text 233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37" name="Text 234"/>
          <p:cNvSpPr/>
          <p:nvPr/>
        </p:nvSpPr>
        <p:spPr>
          <a:xfrm>
            <a:off x="231491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38" name="Text 235"/>
          <p:cNvSpPr/>
          <p:nvPr/>
        </p:nvSpPr>
        <p:spPr>
          <a:xfrm>
            <a:off x="279770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39" name="Text 236"/>
          <p:cNvSpPr/>
          <p:nvPr/>
        </p:nvSpPr>
        <p:spPr>
          <a:xfrm>
            <a:off x="328048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40" name="Text 237"/>
          <p:cNvSpPr/>
          <p:nvPr/>
        </p:nvSpPr>
        <p:spPr>
          <a:xfrm>
            <a:off x="376327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41" name="Text 238"/>
          <p:cNvSpPr/>
          <p:nvPr/>
        </p:nvSpPr>
        <p:spPr>
          <a:xfrm>
            <a:off x="424606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42" name="Text 239"/>
          <p:cNvSpPr/>
          <p:nvPr/>
        </p:nvSpPr>
        <p:spPr>
          <a:xfrm>
            <a:off x="4728848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43" name="Text 240"/>
          <p:cNvSpPr/>
          <p:nvPr/>
        </p:nvSpPr>
        <p:spPr>
          <a:xfrm>
            <a:off x="231491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352</a:t>
            </a:r>
            <a:endParaRPr lang="en-US" sz="576" dirty="0"/>
          </a:p>
        </p:txBody>
      </p:sp>
      <p:sp>
        <p:nvSpPr>
          <p:cNvPr id="244" name="Text 241"/>
          <p:cNvSpPr/>
          <p:nvPr/>
        </p:nvSpPr>
        <p:spPr>
          <a:xfrm>
            <a:off x="279770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948</a:t>
            </a:r>
            <a:endParaRPr lang="en-US" sz="576" dirty="0"/>
          </a:p>
        </p:txBody>
      </p:sp>
      <p:sp>
        <p:nvSpPr>
          <p:cNvPr id="245" name="Text 242"/>
          <p:cNvSpPr/>
          <p:nvPr/>
        </p:nvSpPr>
        <p:spPr>
          <a:xfrm>
            <a:off x="328048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380</a:t>
            </a:r>
            <a:endParaRPr lang="en-US" sz="576" dirty="0"/>
          </a:p>
        </p:txBody>
      </p:sp>
      <p:sp>
        <p:nvSpPr>
          <p:cNvPr id="246" name="Text 243"/>
          <p:cNvSpPr/>
          <p:nvPr/>
        </p:nvSpPr>
        <p:spPr>
          <a:xfrm>
            <a:off x="231491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186</a:t>
            </a:r>
            <a:endParaRPr lang="en-US" sz="576" dirty="0"/>
          </a:p>
        </p:txBody>
      </p:sp>
      <p:sp>
        <p:nvSpPr>
          <p:cNvPr id="247" name="Text 244"/>
          <p:cNvSpPr/>
          <p:nvPr/>
        </p:nvSpPr>
        <p:spPr>
          <a:xfrm>
            <a:off x="279770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501</a:t>
            </a:r>
            <a:endParaRPr lang="en-US" sz="576" dirty="0"/>
          </a:p>
        </p:txBody>
      </p:sp>
      <p:sp>
        <p:nvSpPr>
          <p:cNvPr id="248" name="Text 245"/>
          <p:cNvSpPr/>
          <p:nvPr/>
        </p:nvSpPr>
        <p:spPr>
          <a:xfrm>
            <a:off x="328048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49" name="Text 246"/>
          <p:cNvSpPr/>
          <p:nvPr/>
        </p:nvSpPr>
        <p:spPr>
          <a:xfrm>
            <a:off x="4728848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776</a:t>
            </a:r>
            <a:endParaRPr lang="en-US" sz="576" dirty="0"/>
          </a:p>
        </p:txBody>
      </p:sp>
      <p:sp>
        <p:nvSpPr>
          <p:cNvPr id="250" name="Text 247"/>
          <p:cNvSpPr/>
          <p:nvPr/>
        </p:nvSpPr>
        <p:spPr>
          <a:xfrm>
            <a:off x="231491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576" dirty="0"/>
          </a:p>
        </p:txBody>
      </p:sp>
      <p:sp>
        <p:nvSpPr>
          <p:cNvPr id="251" name="Text 248"/>
          <p:cNvSpPr/>
          <p:nvPr/>
        </p:nvSpPr>
        <p:spPr>
          <a:xfrm>
            <a:off x="279770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379</a:t>
            </a:r>
            <a:endParaRPr lang="en-US" sz="576" dirty="0"/>
          </a:p>
        </p:txBody>
      </p:sp>
      <p:sp>
        <p:nvSpPr>
          <p:cNvPr id="252" name="Text 249"/>
          <p:cNvSpPr/>
          <p:nvPr/>
        </p:nvSpPr>
        <p:spPr>
          <a:xfrm>
            <a:off x="328048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576" dirty="0"/>
          </a:p>
        </p:txBody>
      </p:sp>
      <p:sp>
        <p:nvSpPr>
          <p:cNvPr id="253" name="Text 250"/>
          <p:cNvSpPr/>
          <p:nvPr/>
        </p:nvSpPr>
        <p:spPr>
          <a:xfrm>
            <a:off x="4728848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587</a:t>
            </a:r>
            <a:endParaRPr lang="en-US" sz="576" dirty="0"/>
          </a:p>
        </p:txBody>
      </p:sp>
      <p:sp>
        <p:nvSpPr>
          <p:cNvPr id="254" name="Text 251"/>
          <p:cNvSpPr/>
          <p:nvPr/>
        </p:nvSpPr>
        <p:spPr>
          <a:xfrm>
            <a:off x="279770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196</a:t>
            </a:r>
            <a:endParaRPr lang="en-US" sz="576" dirty="0"/>
          </a:p>
        </p:txBody>
      </p:sp>
      <p:sp>
        <p:nvSpPr>
          <p:cNvPr id="255" name="Text 252"/>
          <p:cNvSpPr/>
          <p:nvPr/>
        </p:nvSpPr>
        <p:spPr>
          <a:xfrm>
            <a:off x="376327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6" name="Text 253"/>
          <p:cNvSpPr/>
          <p:nvPr/>
        </p:nvSpPr>
        <p:spPr>
          <a:xfrm>
            <a:off x="424606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7" name="Text 254"/>
          <p:cNvSpPr/>
          <p:nvPr/>
        </p:nvSpPr>
        <p:spPr>
          <a:xfrm>
            <a:off x="4728848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304</a:t>
            </a:r>
            <a:endParaRPr lang="en-US" sz="576" dirty="0"/>
          </a:p>
        </p:txBody>
      </p:sp>
      <p:sp>
        <p:nvSpPr>
          <p:cNvPr id="258" name="Text 255"/>
          <p:cNvSpPr/>
          <p:nvPr/>
        </p:nvSpPr>
        <p:spPr>
          <a:xfrm>
            <a:off x="279770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181</a:t>
            </a:r>
            <a:endParaRPr lang="en-US" sz="576" dirty="0"/>
          </a:p>
        </p:txBody>
      </p:sp>
      <p:sp>
        <p:nvSpPr>
          <p:cNvPr id="259" name="Text 256"/>
          <p:cNvSpPr/>
          <p:nvPr/>
        </p:nvSpPr>
        <p:spPr>
          <a:xfrm>
            <a:off x="376327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772</a:t>
            </a:r>
            <a:endParaRPr lang="en-US" sz="576" dirty="0"/>
          </a:p>
        </p:txBody>
      </p:sp>
      <p:sp>
        <p:nvSpPr>
          <p:cNvPr id="260" name="Text 257"/>
          <p:cNvSpPr/>
          <p:nvPr/>
        </p:nvSpPr>
        <p:spPr>
          <a:xfrm>
            <a:off x="424606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773</a:t>
            </a:r>
            <a:endParaRPr lang="en-US" sz="576" dirty="0"/>
          </a:p>
        </p:txBody>
      </p:sp>
      <p:sp>
        <p:nvSpPr>
          <p:cNvPr id="261" name="Text 258"/>
          <p:cNvSpPr/>
          <p:nvPr/>
        </p:nvSpPr>
        <p:spPr>
          <a:xfrm>
            <a:off x="4728848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</a:t>
            </a:r>
            <a:endParaRPr lang="en-US" sz="576" dirty="0"/>
          </a:p>
        </p:txBody>
      </p:sp>
      <p:sp>
        <p:nvSpPr>
          <p:cNvPr id="262" name="Text 259"/>
          <p:cNvSpPr/>
          <p:nvPr/>
        </p:nvSpPr>
        <p:spPr>
          <a:xfrm>
            <a:off x="376327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3" name="Text 260"/>
          <p:cNvSpPr/>
          <p:nvPr/>
        </p:nvSpPr>
        <p:spPr>
          <a:xfrm>
            <a:off x="424606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4" name="Text 261"/>
          <p:cNvSpPr/>
          <p:nvPr/>
        </p:nvSpPr>
        <p:spPr>
          <a:xfrm>
            <a:off x="4728848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65" name="Text 262"/>
          <p:cNvSpPr/>
          <p:nvPr/>
        </p:nvSpPr>
        <p:spPr>
          <a:xfrm>
            <a:off x="520516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922</a:t>
            </a:r>
            <a:endParaRPr lang="en-US" sz="576" dirty="0"/>
          </a:p>
        </p:txBody>
      </p:sp>
      <p:sp>
        <p:nvSpPr>
          <p:cNvPr id="266" name="Text 263"/>
          <p:cNvSpPr/>
          <p:nvPr/>
        </p:nvSpPr>
        <p:spPr>
          <a:xfrm>
            <a:off x="231491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576" dirty="0"/>
          </a:p>
        </p:txBody>
      </p:sp>
      <p:sp>
        <p:nvSpPr>
          <p:cNvPr id="267" name="Text 264"/>
          <p:cNvSpPr/>
          <p:nvPr/>
        </p:nvSpPr>
        <p:spPr>
          <a:xfrm>
            <a:off x="279770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382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328048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4728848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592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1" name="Text 268"/>
          <p:cNvSpPr/>
          <p:nvPr/>
        </p:nvSpPr>
        <p:spPr>
          <a:xfrm>
            <a:off x="9273649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36" dirty="0"/>
          </a:p>
        </p:txBody>
      </p:sp>
      <p:sp>
        <p:nvSpPr>
          <p:cNvPr id="272" name="Text 269"/>
          <p:cNvSpPr/>
          <p:nvPr/>
        </p:nvSpPr>
        <p:spPr>
          <a:xfrm>
            <a:off x="7316013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3" name="Text 270"/>
          <p:cNvSpPr/>
          <p:nvPr/>
        </p:nvSpPr>
        <p:spPr>
          <a:xfrm>
            <a:off x="7316013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9273649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9273649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636" dirty="0"/>
          </a:p>
        </p:txBody>
      </p:sp>
      <p:sp>
        <p:nvSpPr>
          <p:cNvPr id="276" name="Text 273"/>
          <p:cNvSpPr/>
          <p:nvPr/>
        </p:nvSpPr>
        <p:spPr>
          <a:xfrm>
            <a:off x="807739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856018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904297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952575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1000854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1049132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8216595" y="952500"/>
            <a:ext cx="332849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1380" dirty="0"/>
          </a:p>
        </p:txBody>
      </p:sp>
      <p:sp>
        <p:nvSpPr>
          <p:cNvPr id="283" name="Text 280"/>
          <p:cNvSpPr/>
          <p:nvPr/>
        </p:nvSpPr>
        <p:spPr>
          <a:xfrm>
            <a:off x="231491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328048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31491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28048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31491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279770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328048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9273649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36" dirty="0"/>
          </a:p>
        </p:txBody>
      </p:sp>
      <p:sp>
        <p:nvSpPr>
          <p:cNvPr id="291" name="Text 288"/>
          <p:cNvSpPr/>
          <p:nvPr/>
        </p:nvSpPr>
        <p:spPr>
          <a:xfrm>
            <a:off x="9273649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3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9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68618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 descarte muy alto (67,58 %) y una bajísima efectividad sobre contacto (1,21 %), lo que justifica que se haya pausado a partir de febrero.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52322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base histórica de clientes satisfechos).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513566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contestador fue el gran bloqueador en enero, consumiendo el 62,7 % de los registros aptos gestionados.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63747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Clientes Satisfechos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8216595" y="1200894"/>
            <a:ext cx="1872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y depurada de forma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 / Producto Activo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15697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Interacción ágil con clientes históricos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4374991" y="1200894"/>
            <a:ext cx="15609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táctico masivo al inicio del año</a:t>
            </a:r>
            <a:endParaRPr lang="en-US" sz="648" dirty="0"/>
          </a:p>
        </p:txBody>
      </p:sp>
      <p:sp>
        <p:nvSpPr>
          <p:cNvPr id="11" name="Text 8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 / experiencia</a:t>
            </a:r>
            <a:endParaRPr lang="en-US" sz="552" dirty="0"/>
          </a:p>
        </p:txBody>
      </p:sp>
      <p:sp>
        <p:nvSpPr>
          <p:cNvPr id="15" name="Text 12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 / Sin Teléfono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15767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 EN ENERO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 / No apto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13095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GENERADOS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4374991" y="809625"/>
            <a:ext cx="124592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INCREMENTALES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3536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10239394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2951194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8294831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1540477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477220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40477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0" name="Text 37"/>
          <p:cNvSpPr/>
          <p:nvPr/>
        </p:nvSpPr>
        <p:spPr>
          <a:xfrm>
            <a:off x="1540477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2951194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477220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2951194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4477220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231491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8" name="Text 45"/>
          <p:cNvSpPr/>
          <p:nvPr/>
        </p:nvSpPr>
        <p:spPr>
          <a:xfrm>
            <a:off x="520516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9" name="Text 46"/>
          <p:cNvSpPr/>
          <p:nvPr/>
        </p:nvSpPr>
        <p:spPr>
          <a:xfrm>
            <a:off x="231491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0" name="Text 47"/>
          <p:cNvSpPr/>
          <p:nvPr/>
        </p:nvSpPr>
        <p:spPr>
          <a:xfrm>
            <a:off x="520516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2314916" y="39536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5205169" y="39536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9273649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7316013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8294831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7316013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8294831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807739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967650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807739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10967650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07739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10967650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807739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967650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533387" y="952500"/>
            <a:ext cx="568849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1380" dirty="0"/>
          </a:p>
        </p:txBody>
      </p:sp>
      <p:sp>
        <p:nvSpPr>
          <p:cNvPr id="67" name="Text 64"/>
          <p:cNvSpPr/>
          <p:nvPr/>
        </p:nvSpPr>
        <p:spPr>
          <a:xfrm>
            <a:off x="8216595" y="952500"/>
            <a:ext cx="588568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1380" dirty="0"/>
          </a:p>
        </p:txBody>
      </p:sp>
      <p:sp>
        <p:nvSpPr>
          <p:cNvPr id="68" name="Text 65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520516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231491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0516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31491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520516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231491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504812" y="39536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7316013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10239394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39394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10967650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807739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967650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807739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10967650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807739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67650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807739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10967650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8077397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967650" y="43536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1491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79770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328048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376327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424606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4728848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807739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856018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904297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952575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1000854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1049132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9273649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9273649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374991" y="952500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13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0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5328" y="3020169"/>
            <a:ext cx="5060575" cy="24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sin descarte: el insumo se fabrica directamente desde Xuma con registros ya validados, por lo que el 100 % de la base recibida es apta para gestión — no existe rechazo en esta campaña.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393656"/>
            <a:ext cx="26783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Alto porcentaje de contactabilidad = mayor efectividad.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4374991" y="1200894"/>
            <a:ext cx="194619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tasa de efectividad comercial en portafolio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685783" y="6540103"/>
            <a:ext cx="221422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soporte efectiva para Masiva Voluntarios.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17703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 respuesta de llamada y atención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66965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Microseguro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cumple requisito de edad (&gt;69 años)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16046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estable y altamente rentable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6" name="Text 13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85783" y="6247209"/>
            <a:ext cx="13760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oportunidad de venta.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609585" y="1486644"/>
            <a:ext cx="14702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Insumo Recibido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14765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85783" y="6100763"/>
            <a:ext cx="12031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Fabricación desde Xuma.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2572756" y="1681930"/>
            <a:ext cx="3361171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4374991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1194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6267293" y="50204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1" name="Text 28"/>
          <p:cNvSpPr/>
          <p:nvPr/>
        </p:nvSpPr>
        <p:spPr>
          <a:xfrm>
            <a:off x="10239394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8294831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95288" y="1991492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8" name="Text 35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9273649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8294831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10239394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8294831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10239394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8294831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10239394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8294831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10239394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294831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0239394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17,8 %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8294831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10239394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14,3 %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8294831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10239394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807739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856018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904297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952575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1000854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49132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10967650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807739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19,3 %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56018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16,1 %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904297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1000854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15,4 %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49132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12,4 %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10967650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67" name="Text 64"/>
          <p:cNvSpPr/>
          <p:nvPr/>
        </p:nvSpPr>
        <p:spPr>
          <a:xfrm>
            <a:off x="807739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29,5 %</a:t>
            </a:r>
            <a:endParaRPr lang="en-US" sz="552" dirty="0"/>
          </a:p>
        </p:txBody>
      </p:sp>
      <p:sp>
        <p:nvSpPr>
          <p:cNvPr id="68" name="Text 65"/>
          <p:cNvSpPr/>
          <p:nvPr/>
        </p:nvSpPr>
        <p:spPr>
          <a:xfrm>
            <a:off x="856018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28,6 %</a:t>
            </a:r>
            <a:endParaRPr lang="en-US" sz="552" dirty="0"/>
          </a:p>
        </p:txBody>
      </p:sp>
      <p:sp>
        <p:nvSpPr>
          <p:cNvPr id="69" name="Text 66"/>
          <p:cNvSpPr/>
          <p:nvPr/>
        </p:nvSpPr>
        <p:spPr>
          <a:xfrm>
            <a:off x="904297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0" name="Text 67"/>
          <p:cNvSpPr/>
          <p:nvPr/>
        </p:nvSpPr>
        <p:spPr>
          <a:xfrm>
            <a:off x="952575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16,8 %</a:t>
            </a:r>
            <a:endParaRPr lang="en-US" sz="552" dirty="0"/>
          </a:p>
        </p:txBody>
      </p:sp>
      <p:sp>
        <p:nvSpPr>
          <p:cNvPr id="71" name="Text 68"/>
          <p:cNvSpPr/>
          <p:nvPr/>
        </p:nvSpPr>
        <p:spPr>
          <a:xfrm>
            <a:off x="1000854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2" name="Text 69"/>
          <p:cNvSpPr/>
          <p:nvPr/>
        </p:nvSpPr>
        <p:spPr>
          <a:xfrm>
            <a:off x="1049132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3" name="Text 70"/>
          <p:cNvSpPr/>
          <p:nvPr/>
        </p:nvSpPr>
        <p:spPr>
          <a:xfrm>
            <a:off x="10967650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4" name="Text 71"/>
          <p:cNvSpPr/>
          <p:nvPr/>
        </p:nvSpPr>
        <p:spPr>
          <a:xfrm>
            <a:off x="807739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552" dirty="0"/>
          </a:p>
        </p:txBody>
      </p:sp>
      <p:sp>
        <p:nvSpPr>
          <p:cNvPr id="75" name="Text 72"/>
          <p:cNvSpPr/>
          <p:nvPr/>
        </p:nvSpPr>
        <p:spPr>
          <a:xfrm>
            <a:off x="856018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10,8 %</a:t>
            </a:r>
            <a:endParaRPr lang="en-US" sz="552" dirty="0"/>
          </a:p>
        </p:txBody>
      </p:sp>
      <p:sp>
        <p:nvSpPr>
          <p:cNvPr id="76" name="Text 73"/>
          <p:cNvSpPr/>
          <p:nvPr/>
        </p:nvSpPr>
        <p:spPr>
          <a:xfrm>
            <a:off x="904297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77" name="Text 74"/>
          <p:cNvSpPr/>
          <p:nvPr/>
        </p:nvSpPr>
        <p:spPr>
          <a:xfrm>
            <a:off x="1000854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78" name="Text 75"/>
          <p:cNvSpPr/>
          <p:nvPr/>
        </p:nvSpPr>
        <p:spPr>
          <a:xfrm>
            <a:off x="1049132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79" name="Text 76"/>
          <p:cNvSpPr/>
          <p:nvPr/>
        </p:nvSpPr>
        <p:spPr>
          <a:xfrm>
            <a:off x="10967650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807739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12,3 %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56018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11,9 %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904297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1000854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49132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10967650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807739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56018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14,8 %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904297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952575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00854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49132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10967650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04297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952575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31,5 %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67650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952575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533387" y="952500"/>
            <a:ext cx="57784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1380" dirty="0"/>
          </a:p>
        </p:txBody>
      </p:sp>
      <p:sp>
        <p:nvSpPr>
          <p:cNvPr id="98" name="Text 95"/>
          <p:cNvSpPr/>
          <p:nvPr/>
        </p:nvSpPr>
        <p:spPr>
          <a:xfrm>
            <a:off x="4374991" y="952500"/>
            <a:ext cx="538245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1380" dirty="0"/>
          </a:p>
        </p:txBody>
      </p:sp>
      <p:sp>
        <p:nvSpPr>
          <p:cNvPr id="99" name="Text 96"/>
          <p:cNvSpPr/>
          <p:nvPr/>
        </p:nvSpPr>
        <p:spPr>
          <a:xfrm>
            <a:off x="495288" y="1853380"/>
            <a:ext cx="224062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2572756" y="1853380"/>
            <a:ext cx="3361171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2572756" y="1991492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2134367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2572756" y="2134367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495288" y="2277242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2572756" y="2277242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2572756" y="2420117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495288" y="2562992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08" name="Text 105"/>
          <p:cNvSpPr/>
          <p:nvPr/>
        </p:nvSpPr>
        <p:spPr>
          <a:xfrm>
            <a:off x="2572756" y="2562992"/>
            <a:ext cx="3361171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09" name="Text 106"/>
          <p:cNvSpPr/>
          <p:nvPr/>
        </p:nvSpPr>
        <p:spPr>
          <a:xfrm>
            <a:off x="495288" y="2705867"/>
            <a:ext cx="224062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10" name="Text 107"/>
          <p:cNvSpPr/>
          <p:nvPr/>
        </p:nvSpPr>
        <p:spPr>
          <a:xfrm>
            <a:off x="2572756" y="2705867"/>
            <a:ext cx="3361171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11" name="Text 108"/>
          <p:cNvSpPr/>
          <p:nvPr/>
        </p:nvSpPr>
        <p:spPr>
          <a:xfrm>
            <a:off x="7316013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3" name="Text 110"/>
          <p:cNvSpPr/>
          <p:nvPr/>
        </p:nvSpPr>
        <p:spPr>
          <a:xfrm>
            <a:off x="7316013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14" name="Text 111"/>
          <p:cNvSpPr/>
          <p:nvPr/>
        </p:nvSpPr>
        <p:spPr>
          <a:xfrm>
            <a:off x="7316013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15" name="Text 112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16" name="Text 113"/>
          <p:cNvSpPr/>
          <p:nvPr/>
        </p:nvSpPr>
        <p:spPr>
          <a:xfrm>
            <a:off x="7316013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7316013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7316013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7316013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7316013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9273649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636" dirty="0"/>
          </a:p>
        </p:txBody>
      </p:sp>
      <p:sp>
        <p:nvSpPr>
          <p:cNvPr id="125" name="Text 122"/>
          <p:cNvSpPr/>
          <p:nvPr/>
        </p:nvSpPr>
        <p:spPr>
          <a:xfrm>
            <a:off x="10967650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952575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952575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7739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6018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4297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2575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0854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8,8 %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49132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67650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07739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856018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904297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952575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00854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1049132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41" name="Text 138"/>
          <p:cNvSpPr/>
          <p:nvPr/>
        </p:nvSpPr>
        <p:spPr>
          <a:xfrm>
            <a:off x="10967650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42" name="Text 139"/>
          <p:cNvSpPr/>
          <p:nvPr/>
        </p:nvSpPr>
        <p:spPr>
          <a:xfrm>
            <a:off x="807739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143" name="Text 140"/>
          <p:cNvSpPr/>
          <p:nvPr/>
        </p:nvSpPr>
        <p:spPr>
          <a:xfrm>
            <a:off x="856018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44" name="Text 141"/>
          <p:cNvSpPr/>
          <p:nvPr/>
        </p:nvSpPr>
        <p:spPr>
          <a:xfrm>
            <a:off x="904297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45" name="Text 142"/>
          <p:cNvSpPr/>
          <p:nvPr/>
        </p:nvSpPr>
        <p:spPr>
          <a:xfrm>
            <a:off x="952575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146" name="Text 143"/>
          <p:cNvSpPr/>
          <p:nvPr/>
        </p:nvSpPr>
        <p:spPr>
          <a:xfrm>
            <a:off x="1000854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47" name="Text 144"/>
          <p:cNvSpPr/>
          <p:nvPr/>
        </p:nvSpPr>
        <p:spPr>
          <a:xfrm>
            <a:off x="1049132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48" name="Text 145"/>
          <p:cNvSpPr/>
          <p:nvPr/>
        </p:nvSpPr>
        <p:spPr>
          <a:xfrm>
            <a:off x="10967650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49" name="Text 146"/>
          <p:cNvSpPr/>
          <p:nvPr/>
        </p:nvSpPr>
        <p:spPr>
          <a:xfrm>
            <a:off x="952575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50" name="Text 147"/>
          <p:cNvSpPr/>
          <p:nvPr/>
        </p:nvSpPr>
        <p:spPr>
          <a:xfrm>
            <a:off x="807739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552" dirty="0"/>
          </a:p>
        </p:txBody>
      </p:sp>
      <p:sp>
        <p:nvSpPr>
          <p:cNvPr id="151" name="Text 148"/>
          <p:cNvSpPr/>
          <p:nvPr/>
        </p:nvSpPr>
        <p:spPr>
          <a:xfrm>
            <a:off x="856018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9,3 %</a:t>
            </a:r>
            <a:endParaRPr lang="en-US" sz="552" dirty="0"/>
          </a:p>
        </p:txBody>
      </p:sp>
      <p:sp>
        <p:nvSpPr>
          <p:cNvPr id="152" name="Text 149"/>
          <p:cNvSpPr/>
          <p:nvPr/>
        </p:nvSpPr>
        <p:spPr>
          <a:xfrm>
            <a:off x="1000854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8,3 %</a:t>
            </a:r>
            <a:endParaRPr lang="en-US" sz="552" dirty="0"/>
          </a:p>
        </p:txBody>
      </p:sp>
      <p:sp>
        <p:nvSpPr>
          <p:cNvPr id="153" name="Text 150"/>
          <p:cNvSpPr/>
          <p:nvPr/>
        </p:nvSpPr>
        <p:spPr>
          <a:xfrm>
            <a:off x="10491329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8,4 %</a:t>
            </a:r>
            <a:endParaRPr lang="en-US" sz="552" dirty="0"/>
          </a:p>
        </p:txBody>
      </p:sp>
      <p:sp>
        <p:nvSpPr>
          <p:cNvPr id="154" name="Text 151"/>
          <p:cNvSpPr/>
          <p:nvPr/>
        </p:nvSpPr>
        <p:spPr>
          <a:xfrm>
            <a:off x="807739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55" name="Text 152"/>
          <p:cNvSpPr/>
          <p:nvPr/>
        </p:nvSpPr>
        <p:spPr>
          <a:xfrm>
            <a:off x="856018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156" name="Text 153"/>
          <p:cNvSpPr/>
          <p:nvPr/>
        </p:nvSpPr>
        <p:spPr>
          <a:xfrm>
            <a:off x="904297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57" name="Text 154"/>
          <p:cNvSpPr/>
          <p:nvPr/>
        </p:nvSpPr>
        <p:spPr>
          <a:xfrm>
            <a:off x="1000854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58" name="Text 155"/>
          <p:cNvSpPr/>
          <p:nvPr/>
        </p:nvSpPr>
        <p:spPr>
          <a:xfrm>
            <a:off x="10491329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59" name="Text 156"/>
          <p:cNvSpPr/>
          <p:nvPr/>
        </p:nvSpPr>
        <p:spPr>
          <a:xfrm>
            <a:off x="10967650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60" name="Text 157"/>
          <p:cNvSpPr/>
          <p:nvPr/>
        </p:nvSpPr>
        <p:spPr>
          <a:xfrm>
            <a:off x="807739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56018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904297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52575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1000854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491329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967650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807739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56018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4297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952575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1000854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10491329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10967650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8077397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8560183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9042970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9525756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10008542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10491329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10967650" y="50204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8216595" y="952500"/>
            <a:ext cx="479087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1380" dirty="0"/>
          </a:p>
        </p:txBody>
      </p:sp>
      <p:sp>
        <p:nvSpPr>
          <p:cNvPr id="182" name="Text 179"/>
          <p:cNvSpPr/>
          <p:nvPr/>
        </p:nvSpPr>
        <p:spPr>
          <a:xfrm>
            <a:off x="495288" y="2420117"/>
            <a:ext cx="224062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495288" y="1681930"/>
            <a:ext cx="224062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85" name="Text 182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86" name="Text 183"/>
          <p:cNvSpPr/>
          <p:nvPr/>
        </p:nvSpPr>
        <p:spPr>
          <a:xfrm>
            <a:off x="9273649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264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9273649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254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273649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9273649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9273649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9273649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211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807739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93" name="Text 190"/>
          <p:cNvSpPr/>
          <p:nvPr/>
        </p:nvSpPr>
        <p:spPr>
          <a:xfrm>
            <a:off x="856018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94" name="Text 191"/>
          <p:cNvSpPr/>
          <p:nvPr/>
        </p:nvSpPr>
        <p:spPr>
          <a:xfrm>
            <a:off x="904297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95" name="Text 192"/>
          <p:cNvSpPr/>
          <p:nvPr/>
        </p:nvSpPr>
        <p:spPr>
          <a:xfrm>
            <a:off x="952575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96" name="Text 193"/>
          <p:cNvSpPr/>
          <p:nvPr/>
        </p:nvSpPr>
        <p:spPr>
          <a:xfrm>
            <a:off x="1000854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97" name="Text 194"/>
          <p:cNvSpPr/>
          <p:nvPr/>
        </p:nvSpPr>
        <p:spPr>
          <a:xfrm>
            <a:off x="1049132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1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58362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una efectividad extremadamente baja (4 ventas totales, 0,38 % del apto), lo que sustentó su suspensión inmediata.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52061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solicitudes de cancelaciones previas).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44363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se concentró en Microseguro Activo (33,8 %) y NIT de Empresa (33,3 %).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89856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Voluntarios Cancelaciones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18158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Buen nivel de interacción telefónica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4374991" y="1200894"/>
            <a:ext cx="17083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en cancelaciones previas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14211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de campaña piloto express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18" name="Text 15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533387" y="809625"/>
            <a:ext cx="13153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INICIAL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4374991" y="809625"/>
            <a:ext cx="14096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GESTIONADOS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6267293" y="46203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8216595" y="809625"/>
            <a:ext cx="10203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GENERADAS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Errada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10239394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Nombre Vacío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2951194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294831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40477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477220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4477220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477220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9273649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294831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8294831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07739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49" name="Text 46"/>
          <p:cNvSpPr/>
          <p:nvPr/>
        </p:nvSpPr>
        <p:spPr>
          <a:xfrm>
            <a:off x="10967650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50" name="Text 47"/>
          <p:cNvSpPr/>
          <p:nvPr/>
        </p:nvSpPr>
        <p:spPr>
          <a:xfrm>
            <a:off x="807739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1" name="Text 48"/>
          <p:cNvSpPr/>
          <p:nvPr/>
        </p:nvSpPr>
        <p:spPr>
          <a:xfrm>
            <a:off x="10967650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2" name="Text 49"/>
          <p:cNvSpPr/>
          <p:nvPr/>
        </p:nvSpPr>
        <p:spPr>
          <a:xfrm>
            <a:off x="807739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3" name="Text 50"/>
          <p:cNvSpPr/>
          <p:nvPr/>
        </p:nvSpPr>
        <p:spPr>
          <a:xfrm>
            <a:off x="10967650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4" name="Text 51"/>
          <p:cNvSpPr/>
          <p:nvPr/>
        </p:nvSpPr>
        <p:spPr>
          <a:xfrm>
            <a:off x="807739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10967650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807739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10967650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533387" y="952500"/>
            <a:ext cx="572635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1380" dirty="0"/>
          </a:p>
        </p:txBody>
      </p:sp>
      <p:sp>
        <p:nvSpPr>
          <p:cNvPr id="59" name="Text 56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40477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40477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520516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504812" y="39536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68" name="Text 65"/>
          <p:cNvSpPr/>
          <p:nvPr/>
        </p:nvSpPr>
        <p:spPr>
          <a:xfrm>
            <a:off x="7316013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7316013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10239394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5" name="Text 72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6" name="Text 73"/>
          <p:cNvSpPr/>
          <p:nvPr/>
        </p:nvSpPr>
        <p:spPr>
          <a:xfrm>
            <a:off x="7316013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7" name="Text 74"/>
          <p:cNvSpPr/>
          <p:nvPr/>
        </p:nvSpPr>
        <p:spPr>
          <a:xfrm>
            <a:off x="10239394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8" name="Text 75"/>
          <p:cNvSpPr/>
          <p:nvPr/>
        </p:nvSpPr>
        <p:spPr>
          <a:xfrm>
            <a:off x="10967650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807739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10967650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07739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10967650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807739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967650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807739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10967650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07739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10967650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8077397" y="46203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967650" y="46203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4374991" y="952500"/>
            <a:ext cx="48161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1380" dirty="0"/>
          </a:p>
        </p:txBody>
      </p:sp>
      <p:sp>
        <p:nvSpPr>
          <p:cNvPr id="92" name="Text 89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951194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2951194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231491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79770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28048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376327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424606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4728848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14916" y="39536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4" name="Text 101"/>
          <p:cNvSpPr/>
          <p:nvPr/>
        </p:nvSpPr>
        <p:spPr>
          <a:xfrm>
            <a:off x="5205169" y="39536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5" name="Text 102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807739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856018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904297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952575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1000854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1049132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231491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3" name="Text 110"/>
          <p:cNvSpPr/>
          <p:nvPr/>
        </p:nvSpPr>
        <p:spPr>
          <a:xfrm>
            <a:off x="520516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4" name="Text 111"/>
          <p:cNvSpPr/>
          <p:nvPr/>
        </p:nvSpPr>
        <p:spPr>
          <a:xfrm>
            <a:off x="231491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5" name="Text 112"/>
          <p:cNvSpPr/>
          <p:nvPr/>
        </p:nvSpPr>
        <p:spPr>
          <a:xfrm>
            <a:off x="520516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6" name="Text 113"/>
          <p:cNvSpPr/>
          <p:nvPr/>
        </p:nvSpPr>
        <p:spPr>
          <a:xfrm>
            <a:off x="231491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17" name="Text 114"/>
          <p:cNvSpPr/>
          <p:nvPr/>
        </p:nvSpPr>
        <p:spPr>
          <a:xfrm>
            <a:off x="520516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marL="0" indent="0" algn="r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3220</Words>
  <Application>Microsoft Office PowerPoint</Application>
  <PresentationFormat>Widescreen</PresentationFormat>
  <Paragraphs>1493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Raleway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Jean  Arcon Solano</cp:lastModifiedBy>
  <cp:revision>2</cp:revision>
  <dcterms:created xsi:type="dcterms:W3CDTF">2026-07-17T22:30:09Z</dcterms:created>
  <dcterms:modified xsi:type="dcterms:W3CDTF">2026-07-17T22:55:21Z</dcterms:modified>
</cp:coreProperties>
</file>