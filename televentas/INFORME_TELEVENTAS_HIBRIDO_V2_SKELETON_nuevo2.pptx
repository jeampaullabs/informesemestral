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55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97102"/>
            <a:ext cx="4977123" cy="48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 Estrategia para alcanzar </a:t>
            </a: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 ventas/mes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1133447" y="5823496"/>
            <a:ext cx="615097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 13.917 ventas 1S 15–21 asesores activos Vanti · Xuma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3174573" y="4959400"/>
            <a:ext cx="2776614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 </a:t>
            </a: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 </a:t>
            </a: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768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98225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 </a:t>
            </a: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952476" y="1872704"/>
            <a:ext cx="34420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952476" y="2167979"/>
            <a:ext cx="3096697" cy="190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</a:t>
            </a:r>
            <a:r>
              <a:rPr lang="en-US" sz="43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r>
              <a:rPr lang="en-US" sz="4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2026</a:t>
            </a:r>
            <a:endParaRPr lang="en-US" sz="4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98764"/>
            <a:ext cx="5604510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 e iniciativas ejecutadas durante el primer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18842"/>
            <a:ext cx="5209810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8642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880592"/>
            <a:ext cx="1331273" cy="128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95975"/>
            <a:ext cx="69279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Vanti: Meta superada al 147 % — 13.917 pólizas vendidas vs 9.444 de meta. CP 10.534 (145 %) · VOL 3.383 (154 %).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738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267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17103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81050" y="4613928"/>
            <a:ext cx="176730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876278" y="2033587"/>
            <a:ext cx="17133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vendidas vs. meta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6410165" y="4675094"/>
            <a:ext cx="15191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2413470" y="2243160"/>
            <a:ext cx="3097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5420764" y="2243160"/>
            <a:ext cx="3097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1126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743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7382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936355" y="2471760"/>
            <a:ext cx="152951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43650" y="2471760"/>
            <a:ext cx="152951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951324" y="2471760"/>
            <a:ext cx="151648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771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502241" y="2047875"/>
            <a:ext cx="91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</a:t>
            </a: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1359649" y="2243160"/>
            <a:ext cx="1098930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8428249" y="2243160"/>
            <a:ext cx="308448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3936355" y="2700360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6943650" y="2700360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9951324" y="2700360"/>
            <a:ext cx="1516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3936355" y="29432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6943650" y="29432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9951324" y="294324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3936355" y="31908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6943650" y="31908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9951324" y="319089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3936355" y="34385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9951324" y="343854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3936355" y="36861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6943650" y="368619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9951324" y="368619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3936355" y="39338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6943650" y="39338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9951324" y="3933848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36355" y="4181498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6943650" y="4181498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9951324" y="4181498"/>
            <a:ext cx="1516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147,0 %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6943650" y="3438548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89,0 %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2434590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449180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800080" y="1143000"/>
            <a:ext cx="990525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4520988" y="1152525"/>
            <a:ext cx="71398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680" dirty="0"/>
          </a:p>
        </p:txBody>
      </p:sp>
      <p:sp>
        <p:nvSpPr>
          <p:cNvPr id="47" name="Text 44"/>
          <p:cNvSpPr/>
          <p:nvPr/>
        </p:nvSpPr>
        <p:spPr>
          <a:xfrm>
            <a:off x="2434590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441885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8449180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2434590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3236532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8449180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9251121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1.695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2434590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3236532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8449180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9251121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1.391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2434590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3236532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8449180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9251121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2434590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3236532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8449180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9251121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1.818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2434590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3236532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8449180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9251121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1.452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2434590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3236532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8449180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9251121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723882" y="4181498"/>
            <a:ext cx="68780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3236532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7.250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5441885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6243827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2.194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9251121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9.444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8242044" y="1152525"/>
            <a:ext cx="59566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680" dirty="0"/>
          </a:p>
        </p:txBody>
      </p:sp>
      <p:sp>
        <p:nvSpPr>
          <p:cNvPr id="80" name="Text 77"/>
          <p:cNvSpPr/>
          <p:nvPr/>
        </p:nvSpPr>
        <p:spPr>
          <a:xfrm>
            <a:off x="3236532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43827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9251121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23882" y="2243160"/>
            <a:ext cx="687808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23882" y="2700360"/>
            <a:ext cx="68780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5441885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6243827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723882" y="29432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5441885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6243827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723882" y="319089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5441885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6243827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371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723882" y="34385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5441885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43827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621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723882" y="368619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5441885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6243827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221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39338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5441885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6243827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289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59649" y="2700360"/>
            <a:ext cx="10989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59649" y="29432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59649" y="319089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59649" y="34385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59649" y="368619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59649" y="39338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1359649" y="4181498"/>
            <a:ext cx="10989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95975"/>
            <a:ext cx="936820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Xuma: GAAP del 4 % frente a la meta general, equivalente a 655 pólizas no emitidas en el semestre. Cumplimiento general 96 % (CP 90 % · VOL 116 %).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738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267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17103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81050" y="4625444"/>
            <a:ext cx="176730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876278" y="2033587"/>
            <a:ext cx="17133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vendidas vs. meta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6410165" y="4684964"/>
            <a:ext cx="15191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2404075" y="2244984"/>
            <a:ext cx="310901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5422943" y="2244984"/>
            <a:ext cx="30808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1126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743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7382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946567" y="2473584"/>
            <a:ext cx="15212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37640" y="2473584"/>
            <a:ext cx="15212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959295" y="2473584"/>
            <a:ext cx="150851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771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502241" y="2047875"/>
            <a:ext cx="91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</a:t>
            </a: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1356247" y="2244984"/>
            <a:ext cx="1093105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8413748" y="2244984"/>
            <a:ext cx="309920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6937640" y="2702184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959295" y="2702184"/>
            <a:ext cx="150851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3946567" y="29450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6937640" y="29450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9959295" y="294507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3946567" y="31927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6937640" y="31927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9959295" y="319272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6937640" y="34403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6937640" y="36880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6937640" y="39356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6937640" y="4183322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3946567" y="2702184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946567" y="34403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9959295" y="344037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3946567" y="368802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9959295" y="368802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46567" y="3935672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9959295" y="3935672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2425493" y="4183322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222283" y="4183322"/>
            <a:ext cx="768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11.643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3946567" y="4183322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90,0 %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435022" y="4183322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9231728" y="4183322"/>
            <a:ext cx="7715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14.572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9959295" y="4183322"/>
            <a:ext cx="150851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96,0 %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800080" y="1143000"/>
            <a:ext cx="990525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520988" y="1152525"/>
            <a:ext cx="71398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680" dirty="0"/>
          </a:p>
        </p:txBody>
      </p:sp>
      <p:sp>
        <p:nvSpPr>
          <p:cNvPr id="49" name="Text 46"/>
          <p:cNvSpPr/>
          <p:nvPr/>
        </p:nvSpPr>
        <p:spPr>
          <a:xfrm>
            <a:off x="2425493" y="2473584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5443949" y="2473584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8435022" y="2473584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425493" y="2702184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3222283" y="2702184"/>
            <a:ext cx="768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1.703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8435022" y="2702184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9231728" y="2702184"/>
            <a:ext cx="7715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2.132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2425493" y="29450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3222283" y="294507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8435022" y="29450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9231728" y="294507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2425493" y="31927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3222283" y="319272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8435022" y="31927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9231728" y="319272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2425493" y="34403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3222283" y="344037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8435022" y="34403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9231728" y="344037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2425493" y="36880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3222283" y="368802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8435022" y="36880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9231728" y="368802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2.600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2425493" y="39356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3222283" y="3935672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2.000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8435022" y="39356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9231728" y="3935672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723882" y="4183322"/>
            <a:ext cx="68412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5443949" y="4183322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6241562" y="4183322"/>
            <a:ext cx="74038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2.929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8242044" y="1152525"/>
            <a:ext cx="59566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680" dirty="0"/>
          </a:p>
        </p:txBody>
      </p:sp>
      <p:sp>
        <p:nvSpPr>
          <p:cNvPr id="80" name="Text 77"/>
          <p:cNvSpPr/>
          <p:nvPr/>
        </p:nvSpPr>
        <p:spPr>
          <a:xfrm>
            <a:off x="3222283" y="2473584"/>
            <a:ext cx="76859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6241562" y="2473584"/>
            <a:ext cx="74038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9231728" y="2473584"/>
            <a:ext cx="7715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23882" y="2244984"/>
            <a:ext cx="684129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723882" y="2702184"/>
            <a:ext cx="68412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5443949" y="2702184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6241562" y="2702184"/>
            <a:ext cx="74038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723882" y="294507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5443949" y="29450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6241562" y="294507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723882" y="319272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5443949" y="31927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6241562" y="319272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723882" y="344037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5443949" y="34403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41562" y="344037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723882" y="368802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5443949" y="368802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6241562" y="368802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3935672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5443949" y="3935672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6241562" y="3935672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56247" y="2702184"/>
            <a:ext cx="109310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56247" y="294507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56247" y="319272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56247" y="344037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56247" y="368802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56247" y="3935672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1356247" y="4183322"/>
            <a:ext cx="109310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349454"/>
            <a:ext cx="74705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 identificada : el 78 % del descarte son, registros recibidos anteriormente y el 49 % y clientes con el producto activo es el 29 %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7166751" y="5977979"/>
            <a:ext cx="34300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24" dirty="0"/>
          </a:p>
        </p:txBody>
      </p:sp>
      <p:sp>
        <p:nvSpPr>
          <p:cNvPr id="5" name="Text 2"/>
          <p:cNvSpPr/>
          <p:nvPr/>
        </p:nvSpPr>
        <p:spPr>
          <a:xfrm>
            <a:off x="6429214" y="1832670"/>
            <a:ext cx="365561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Embudo de la gestión · de la base a la venta (semestre)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9100910" y="1470720"/>
            <a:ext cx="210931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0675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57229" y="1832670"/>
            <a:ext cx="237655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y calidad de base por mes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2931" y="971550"/>
            <a:ext cx="21216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42931" y="1470720"/>
            <a:ext cx="159914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3528924" y="1470720"/>
            <a:ext cx="15238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882872" y="5587008"/>
            <a:ext cx="9512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9929564" y="2467124"/>
            <a:ext cx="111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929564" y="3231505"/>
            <a:ext cx="10417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40 %</a:t>
            </a: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9929564" y="3995737"/>
            <a:ext cx="104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98 %</a:t>
            </a: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9929564" y="4760119"/>
            <a:ext cx="10367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42 %</a:t>
            </a: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9929564" y="5524351"/>
            <a:ext cx="9821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9 %</a:t>
            </a: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paso anterior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6314917" y="971550"/>
            <a:ext cx="150291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314917" y="1470720"/>
            <a:ext cx="11411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921.480 recibidos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6763137" y="2397621"/>
            <a:ext cx="10709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6785538" y="3161854"/>
            <a:ext cx="10485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989041" y="4058394"/>
            <a:ext cx="8450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marcados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7077698" y="4822627"/>
            <a:ext cx="7564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3528924" y="971550"/>
            <a:ext cx="131802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145375" y="3294013"/>
            <a:ext cx="6887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7129442" y="3926235"/>
            <a:ext cx="70467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7113351" y="4690467"/>
            <a:ext cx="72076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2233619" y="2066055"/>
            <a:ext cx="116285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7381059" y="2529780"/>
            <a:ext cx="4530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Vanti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1265284" y="2066055"/>
            <a:ext cx="10022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3365633" y="2066055"/>
            <a:ext cx="105876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9100910" y="971550"/>
            <a:ext cx="68637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1265284" y="2294655"/>
            <a:ext cx="1002204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202.777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4402421" y="2294655"/>
            <a:ext cx="75464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1265284" y="3383630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136.044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1265284" y="3933401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154.848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2233619" y="3933401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1265284" y="4483172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156.200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2233619" y="4483172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1265284" y="5032944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175.118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233619" y="5032944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1265284" y="5582715"/>
            <a:ext cx="1002204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2233619" y="5582715"/>
            <a:ext cx="1162851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4402421" y="5582715"/>
            <a:ext cx="75464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42931" y="1114425"/>
            <a:ext cx="116168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2280" dirty="0"/>
          </a:p>
        </p:txBody>
      </p:sp>
      <p:sp>
        <p:nvSpPr>
          <p:cNvPr id="46" name="Text 43"/>
          <p:cNvSpPr/>
          <p:nvPr/>
        </p:nvSpPr>
        <p:spPr>
          <a:xfrm>
            <a:off x="6314917" y="1114425"/>
            <a:ext cx="111373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2280" dirty="0"/>
          </a:p>
        </p:txBody>
      </p:sp>
      <p:sp>
        <p:nvSpPr>
          <p:cNvPr id="47" name="Text 44"/>
          <p:cNvSpPr/>
          <p:nvPr/>
        </p:nvSpPr>
        <p:spPr>
          <a:xfrm>
            <a:off x="8643958" y="2452836"/>
            <a:ext cx="47561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912" dirty="0"/>
          </a:p>
        </p:txBody>
      </p:sp>
      <p:sp>
        <p:nvSpPr>
          <p:cNvPr id="48" name="Text 45"/>
          <p:cNvSpPr/>
          <p:nvPr/>
        </p:nvSpPr>
        <p:spPr>
          <a:xfrm>
            <a:off x="8653576" y="3217218"/>
            <a:ext cx="4565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912" dirty="0"/>
          </a:p>
        </p:txBody>
      </p:sp>
      <p:sp>
        <p:nvSpPr>
          <p:cNvPr id="49" name="Text 46"/>
          <p:cNvSpPr/>
          <p:nvPr/>
        </p:nvSpPr>
        <p:spPr>
          <a:xfrm>
            <a:off x="8639856" y="3981450"/>
            <a:ext cx="4838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912" dirty="0"/>
          </a:p>
        </p:txBody>
      </p:sp>
      <p:sp>
        <p:nvSpPr>
          <p:cNvPr id="50" name="Text 47"/>
          <p:cNvSpPr/>
          <p:nvPr/>
        </p:nvSpPr>
        <p:spPr>
          <a:xfrm>
            <a:off x="8646955" y="4745831"/>
            <a:ext cx="46962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912" dirty="0"/>
          </a:p>
        </p:txBody>
      </p:sp>
      <p:sp>
        <p:nvSpPr>
          <p:cNvPr id="51" name="Text 48"/>
          <p:cNvSpPr/>
          <p:nvPr/>
        </p:nvSpPr>
        <p:spPr>
          <a:xfrm>
            <a:off x="5134329" y="2066055"/>
            <a:ext cx="78054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233619" y="2294655"/>
            <a:ext cx="1162851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1265284" y="2833859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96.493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2233619" y="2833859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840" dirty="0"/>
          </a:p>
        </p:txBody>
      </p:sp>
      <p:sp>
        <p:nvSpPr>
          <p:cNvPr id="55" name="Text 52"/>
          <p:cNvSpPr/>
          <p:nvPr/>
        </p:nvSpPr>
        <p:spPr>
          <a:xfrm>
            <a:off x="4402421" y="2833859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2233619" y="3383630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4402421" y="3383630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840" dirty="0"/>
          </a:p>
        </p:txBody>
      </p:sp>
      <p:sp>
        <p:nvSpPr>
          <p:cNvPr id="58" name="Text 55"/>
          <p:cNvSpPr/>
          <p:nvPr/>
        </p:nvSpPr>
        <p:spPr>
          <a:xfrm>
            <a:off x="4402421" y="3933401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4402421" y="4483172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840" dirty="0"/>
          </a:p>
        </p:txBody>
      </p:sp>
      <p:sp>
        <p:nvSpPr>
          <p:cNvPr id="60" name="Text 57"/>
          <p:cNvSpPr/>
          <p:nvPr/>
        </p:nvSpPr>
        <p:spPr>
          <a:xfrm>
            <a:off x="4402421" y="5032944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840" dirty="0"/>
          </a:p>
        </p:txBody>
      </p:sp>
      <p:sp>
        <p:nvSpPr>
          <p:cNvPr id="61" name="Text 58"/>
          <p:cNvSpPr/>
          <p:nvPr/>
        </p:nvSpPr>
        <p:spPr>
          <a:xfrm>
            <a:off x="5134329" y="5582715"/>
            <a:ext cx="78054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9100910" y="1114425"/>
            <a:ext cx="94193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280" dirty="0"/>
          </a:p>
        </p:txBody>
      </p:sp>
      <p:sp>
        <p:nvSpPr>
          <p:cNvPr id="63" name="Text 60"/>
          <p:cNvSpPr/>
          <p:nvPr/>
        </p:nvSpPr>
        <p:spPr>
          <a:xfrm>
            <a:off x="7442110" y="5454848"/>
            <a:ext cx="3920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40" dirty="0"/>
          </a:p>
        </p:txBody>
      </p:sp>
      <p:sp>
        <p:nvSpPr>
          <p:cNvPr id="64" name="Text 61"/>
          <p:cNvSpPr/>
          <p:nvPr/>
        </p:nvSpPr>
        <p:spPr>
          <a:xfrm>
            <a:off x="8687967" y="5510064"/>
            <a:ext cx="38774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65" name="Text 62"/>
          <p:cNvSpPr/>
          <p:nvPr/>
        </p:nvSpPr>
        <p:spPr>
          <a:xfrm>
            <a:off x="4402421" y="2066055"/>
            <a:ext cx="7546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5134329" y="2294655"/>
            <a:ext cx="78054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40" dirty="0"/>
          </a:p>
        </p:txBody>
      </p:sp>
      <p:sp>
        <p:nvSpPr>
          <p:cNvPr id="67" name="Text 64"/>
          <p:cNvSpPr/>
          <p:nvPr/>
        </p:nvSpPr>
        <p:spPr>
          <a:xfrm>
            <a:off x="5134329" y="2833859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40" dirty="0"/>
          </a:p>
        </p:txBody>
      </p:sp>
      <p:sp>
        <p:nvSpPr>
          <p:cNvPr id="68" name="Text 65"/>
          <p:cNvSpPr/>
          <p:nvPr/>
        </p:nvSpPr>
        <p:spPr>
          <a:xfrm>
            <a:off x="5134329" y="3383630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40" dirty="0"/>
          </a:p>
        </p:txBody>
      </p:sp>
      <p:sp>
        <p:nvSpPr>
          <p:cNvPr id="69" name="Text 66"/>
          <p:cNvSpPr/>
          <p:nvPr/>
        </p:nvSpPr>
        <p:spPr>
          <a:xfrm>
            <a:off x="5134329" y="3933401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40" dirty="0"/>
          </a:p>
        </p:txBody>
      </p:sp>
      <p:sp>
        <p:nvSpPr>
          <p:cNvPr id="70" name="Text 67"/>
          <p:cNvSpPr/>
          <p:nvPr/>
        </p:nvSpPr>
        <p:spPr>
          <a:xfrm>
            <a:off x="5134329" y="4483172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40" dirty="0"/>
          </a:p>
        </p:txBody>
      </p:sp>
      <p:sp>
        <p:nvSpPr>
          <p:cNvPr id="71" name="Text 68"/>
          <p:cNvSpPr/>
          <p:nvPr/>
        </p:nvSpPr>
        <p:spPr>
          <a:xfrm>
            <a:off x="5134329" y="5032944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40" dirty="0"/>
          </a:p>
        </p:txBody>
      </p:sp>
      <p:sp>
        <p:nvSpPr>
          <p:cNvPr id="72" name="Text 69"/>
          <p:cNvSpPr/>
          <p:nvPr/>
        </p:nvSpPr>
        <p:spPr>
          <a:xfrm>
            <a:off x="704832" y="5582715"/>
            <a:ext cx="60733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3365633" y="2294655"/>
            <a:ext cx="105876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3365633" y="2833859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3365633" y="3383630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3365633" y="3933401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74 %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3365633" y="4483172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75 %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3365633" y="5032944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3365633" y="5582715"/>
            <a:ext cx="105876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840" dirty="0"/>
          </a:p>
        </p:txBody>
      </p:sp>
      <p:sp>
        <p:nvSpPr>
          <p:cNvPr id="80" name="Text 77"/>
          <p:cNvSpPr/>
          <p:nvPr/>
        </p:nvSpPr>
        <p:spPr>
          <a:xfrm>
            <a:off x="3528924" y="1114425"/>
            <a:ext cx="71540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2280" dirty="0"/>
          </a:p>
        </p:txBody>
      </p:sp>
      <p:sp>
        <p:nvSpPr>
          <p:cNvPr id="81" name="Text 78"/>
          <p:cNvSpPr/>
          <p:nvPr/>
        </p:nvSpPr>
        <p:spPr>
          <a:xfrm>
            <a:off x="704832" y="2066055"/>
            <a:ext cx="6073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04832" y="2294655"/>
            <a:ext cx="60733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40" dirty="0"/>
          </a:p>
        </p:txBody>
      </p:sp>
      <p:sp>
        <p:nvSpPr>
          <p:cNvPr id="83" name="Text 80"/>
          <p:cNvSpPr/>
          <p:nvPr/>
        </p:nvSpPr>
        <p:spPr>
          <a:xfrm>
            <a:off x="704832" y="2833859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40" dirty="0"/>
          </a:p>
        </p:txBody>
      </p:sp>
      <p:sp>
        <p:nvSpPr>
          <p:cNvPr id="84" name="Text 81"/>
          <p:cNvSpPr/>
          <p:nvPr/>
        </p:nvSpPr>
        <p:spPr>
          <a:xfrm>
            <a:off x="704832" y="3383630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40" dirty="0"/>
          </a:p>
        </p:txBody>
      </p:sp>
      <p:sp>
        <p:nvSpPr>
          <p:cNvPr id="85" name="Text 82"/>
          <p:cNvSpPr/>
          <p:nvPr/>
        </p:nvSpPr>
        <p:spPr>
          <a:xfrm>
            <a:off x="704832" y="3933401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40" dirty="0"/>
          </a:p>
        </p:txBody>
      </p:sp>
      <p:sp>
        <p:nvSpPr>
          <p:cNvPr id="86" name="Text 83"/>
          <p:cNvSpPr/>
          <p:nvPr/>
        </p:nvSpPr>
        <p:spPr>
          <a:xfrm>
            <a:off x="704832" y="4483172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40" dirty="0"/>
          </a:p>
        </p:txBody>
      </p:sp>
      <p:sp>
        <p:nvSpPr>
          <p:cNvPr id="87" name="Text 84"/>
          <p:cNvSpPr/>
          <p:nvPr/>
        </p:nvSpPr>
        <p:spPr>
          <a:xfrm>
            <a:off x="704832" y="5032944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368504"/>
            <a:ext cx="1013867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la gestión no llega al 100 %? El semestre cerró en 97,9 %: la base de junio no llegó a tiempo — ingresó sobre el cierre del mes y ~8.000 registros quedaron sin tiempo de marcación.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704832" y="3658493"/>
            <a:ext cx="539548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Campañas puntuales solo de enero (no recurrentes). Base apta = registros que quedaron tras la depuración; el total (373.112) es la cifra oficial del semestre e incluye Microseguro.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180350" y="5882729"/>
            <a:ext cx="53065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recibida). El detalle mensual del rechazo está en la slide anterior (Consolidado de las Bases).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6286343" y="1262955"/>
            <a:ext cx="23525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2,9× el promedio del canal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23882" y="1262955"/>
            <a:ext cx="20588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 de las ventas del semestre · 19,6 % de conversión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128740" y="5987504"/>
            <a:ext cx="17766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6286343" y="1567755"/>
            <a:ext cx="18674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857229" y="1586805"/>
            <a:ext cx="20113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Rendimiento por campaña (ene–jun)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6381575" y="2198787"/>
            <a:ext cx="1333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857229" y="3944243"/>
            <a:ext cx="16264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aptos por mes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6502257" y="2725043"/>
            <a:ext cx="1212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6558575" y="3251299"/>
            <a:ext cx="1156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576874" y="3777555"/>
            <a:ext cx="11381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704832" y="325370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Volunt. Cancelaciones*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571486" y="209550"/>
            <a:ext cx="227038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704832" y="300605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Clientes Satisf.*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704832" y="275840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7033730" y="4830217"/>
            <a:ext cx="6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4602548" y="1791616"/>
            <a:ext cx="1302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04832" y="2020216"/>
            <a:ext cx="15633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23882" y="952500"/>
            <a:ext cx="8905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723882" y="1076325"/>
            <a:ext cx="64804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 </a:t>
            </a: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04832" y="226310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6286343" y="952500"/>
            <a:ext cx="7693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7160248" y="4303961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3704357" y="1791616"/>
            <a:ext cx="93613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2197962" y="1791616"/>
            <a:ext cx="84906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apta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04832" y="2510753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3050281" y="4130003"/>
            <a:ext cx="85412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4832" y="1791616"/>
            <a:ext cx="156339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2197962" y="251075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2197962" y="27584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2197962" y="3501353"/>
            <a:ext cx="84906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1665010" y="4130003"/>
            <a:ext cx="73195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2376620" y="4130003"/>
            <a:ext cx="69853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Gest.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3884781" y="4130003"/>
            <a:ext cx="67385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Ctto.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5179375" y="4130003"/>
            <a:ext cx="72597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Conv.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108429" y="4301453"/>
            <a:ext cx="577900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665010" y="4301453"/>
            <a:ext cx="731956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103.531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1108429" y="5721274"/>
            <a:ext cx="577900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624" dirty="0"/>
          </a:p>
        </p:txBody>
      </p:sp>
      <p:sp>
        <p:nvSpPr>
          <p:cNvPr id="43" name="Text 40"/>
          <p:cNvSpPr/>
          <p:nvPr/>
        </p:nvSpPr>
        <p:spPr>
          <a:xfrm>
            <a:off x="1665010" y="5721274"/>
            <a:ext cx="731956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624" dirty="0"/>
          </a:p>
        </p:txBody>
      </p:sp>
      <p:sp>
        <p:nvSpPr>
          <p:cNvPr id="44" name="Text 41"/>
          <p:cNvSpPr/>
          <p:nvPr/>
        </p:nvSpPr>
        <p:spPr>
          <a:xfrm>
            <a:off x="3050281" y="5721274"/>
            <a:ext cx="854127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624" dirty="0"/>
          </a:p>
        </p:txBody>
      </p:sp>
      <p:sp>
        <p:nvSpPr>
          <p:cNvPr id="45" name="Text 42"/>
          <p:cNvSpPr/>
          <p:nvPr/>
        </p:nvSpPr>
        <p:spPr>
          <a:xfrm>
            <a:off x="3026493" y="1791616"/>
            <a:ext cx="70513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2197962" y="2020216"/>
            <a:ext cx="84906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44.428</a:t>
            </a:r>
            <a:endParaRPr lang="en-US" sz="720" dirty="0"/>
          </a:p>
        </p:txBody>
      </p:sp>
      <p:sp>
        <p:nvSpPr>
          <p:cNvPr id="47" name="Text 44"/>
          <p:cNvSpPr/>
          <p:nvPr/>
        </p:nvSpPr>
        <p:spPr>
          <a:xfrm>
            <a:off x="4602548" y="2020216"/>
            <a:ext cx="1302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4602548" y="226310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2197962" y="300605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3026493" y="3501353"/>
            <a:ext cx="70513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10.967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4539384" y="4130003"/>
            <a:ext cx="66113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3050281" y="4301453"/>
            <a:ext cx="854127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660" dirty="0"/>
          </a:p>
        </p:txBody>
      </p:sp>
      <p:sp>
        <p:nvSpPr>
          <p:cNvPr id="53" name="Text 50"/>
          <p:cNvSpPr/>
          <p:nvPr/>
        </p:nvSpPr>
        <p:spPr>
          <a:xfrm>
            <a:off x="1108429" y="453362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660" dirty="0"/>
          </a:p>
        </p:txBody>
      </p:sp>
      <p:sp>
        <p:nvSpPr>
          <p:cNvPr id="54" name="Text 51"/>
          <p:cNvSpPr/>
          <p:nvPr/>
        </p:nvSpPr>
        <p:spPr>
          <a:xfrm>
            <a:off x="1665010" y="453362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47.997</a:t>
            </a:r>
            <a:endParaRPr lang="en-US" sz="660" dirty="0"/>
          </a:p>
        </p:txBody>
      </p:sp>
      <p:sp>
        <p:nvSpPr>
          <p:cNvPr id="55" name="Text 52"/>
          <p:cNvSpPr/>
          <p:nvPr/>
        </p:nvSpPr>
        <p:spPr>
          <a:xfrm>
            <a:off x="3050281" y="453362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1108429" y="477115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1665010" y="477115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71.926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3050281" y="477115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660" dirty="0"/>
          </a:p>
        </p:txBody>
      </p:sp>
      <p:sp>
        <p:nvSpPr>
          <p:cNvPr id="59" name="Text 56"/>
          <p:cNvSpPr/>
          <p:nvPr/>
        </p:nvSpPr>
        <p:spPr>
          <a:xfrm>
            <a:off x="1108429" y="500868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1665010" y="500868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40.682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3050281" y="500868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1108429" y="5246214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1665010" y="5246214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39.504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3050281" y="5246214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1108429" y="5483744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1665010" y="5483744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61.450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3050281" y="5483744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4539384" y="5721274"/>
            <a:ext cx="661136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624" dirty="0"/>
          </a:p>
        </p:txBody>
      </p:sp>
      <p:sp>
        <p:nvSpPr>
          <p:cNvPr id="69" name="Text 66"/>
          <p:cNvSpPr/>
          <p:nvPr/>
        </p:nvSpPr>
        <p:spPr>
          <a:xfrm>
            <a:off x="6286343" y="1076325"/>
            <a:ext cx="43696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1020" dirty="0"/>
          </a:p>
        </p:txBody>
      </p:sp>
      <p:sp>
        <p:nvSpPr>
          <p:cNvPr id="70" name="Text 67"/>
          <p:cNvSpPr/>
          <p:nvPr/>
        </p:nvSpPr>
        <p:spPr>
          <a:xfrm>
            <a:off x="3026493" y="2020216"/>
            <a:ext cx="7051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2197962" y="22631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3026493" y="251075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4602548" y="251075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4602548" y="275840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4602548" y="300605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2197962" y="32537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4602548" y="3253703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704832" y="3501353"/>
            <a:ext cx="156339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4602548" y="3501353"/>
            <a:ext cx="1302804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1108429" y="4130003"/>
            <a:ext cx="5779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4539384" y="4301453"/>
            <a:ext cx="661136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4539384" y="453362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4539384" y="477115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4539384" y="500868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4539384" y="5246214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4539384" y="5483744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704832" y="5721274"/>
            <a:ext cx="433042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88" name="Text 85"/>
          <p:cNvSpPr/>
          <p:nvPr/>
        </p:nvSpPr>
        <p:spPr>
          <a:xfrm>
            <a:off x="7470708" y="535647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672" dirty="0"/>
          </a:p>
        </p:txBody>
      </p:sp>
      <p:sp>
        <p:nvSpPr>
          <p:cNvPr id="89" name="Text 86"/>
          <p:cNvSpPr/>
          <p:nvPr/>
        </p:nvSpPr>
        <p:spPr>
          <a:xfrm>
            <a:off x="3704357" y="2020216"/>
            <a:ext cx="9361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3704357" y="226310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3704357" y="251075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3704357" y="275840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3704357" y="300605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3704357" y="3253703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53 %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3704357" y="3501353"/>
            <a:ext cx="936137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41 %</a:t>
            </a:r>
            <a:endParaRPr lang="en-US" sz="720" dirty="0"/>
          </a:p>
        </p:txBody>
      </p:sp>
      <p:sp>
        <p:nvSpPr>
          <p:cNvPr id="96" name="Text 93"/>
          <p:cNvSpPr/>
          <p:nvPr/>
        </p:nvSpPr>
        <p:spPr>
          <a:xfrm>
            <a:off x="2376620" y="4301453"/>
            <a:ext cx="698539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2376620" y="500868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2376620" y="5246214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3026493" y="226310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720" dirty="0"/>
          </a:p>
        </p:txBody>
      </p:sp>
      <p:sp>
        <p:nvSpPr>
          <p:cNvPr id="100" name="Text 97"/>
          <p:cNvSpPr/>
          <p:nvPr/>
        </p:nvSpPr>
        <p:spPr>
          <a:xfrm>
            <a:off x="3026493" y="275840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720" dirty="0"/>
          </a:p>
        </p:txBody>
      </p:sp>
      <p:sp>
        <p:nvSpPr>
          <p:cNvPr id="101" name="Text 98"/>
          <p:cNvSpPr/>
          <p:nvPr/>
        </p:nvSpPr>
        <p:spPr>
          <a:xfrm>
            <a:off x="704832" y="4130003"/>
            <a:ext cx="433042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704832" y="4301453"/>
            <a:ext cx="433042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3884781" y="4301453"/>
            <a:ext cx="673859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22%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5179375" y="4301453"/>
            <a:ext cx="725977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704832" y="453362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2376620" y="453362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3884781" y="453362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44%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5179375" y="453362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816" dirty="0"/>
          </a:p>
        </p:txBody>
      </p:sp>
      <p:sp>
        <p:nvSpPr>
          <p:cNvPr id="109" name="Text 106"/>
          <p:cNvSpPr/>
          <p:nvPr/>
        </p:nvSpPr>
        <p:spPr>
          <a:xfrm>
            <a:off x="704832" y="477115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2376620" y="477115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96%</a:t>
            </a:r>
            <a:endParaRPr lang="en-US" sz="816" dirty="0"/>
          </a:p>
        </p:txBody>
      </p:sp>
      <p:sp>
        <p:nvSpPr>
          <p:cNvPr id="111" name="Text 108"/>
          <p:cNvSpPr/>
          <p:nvPr/>
        </p:nvSpPr>
        <p:spPr>
          <a:xfrm>
            <a:off x="3884781" y="477115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816" dirty="0"/>
          </a:p>
        </p:txBody>
      </p:sp>
      <p:sp>
        <p:nvSpPr>
          <p:cNvPr id="112" name="Text 109"/>
          <p:cNvSpPr/>
          <p:nvPr/>
        </p:nvSpPr>
        <p:spPr>
          <a:xfrm>
            <a:off x="704832" y="500868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60" dirty="0"/>
          </a:p>
        </p:txBody>
      </p:sp>
      <p:sp>
        <p:nvSpPr>
          <p:cNvPr id="113" name="Text 110"/>
          <p:cNvSpPr/>
          <p:nvPr/>
        </p:nvSpPr>
        <p:spPr>
          <a:xfrm>
            <a:off x="3884781" y="500868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60%</a:t>
            </a:r>
            <a:endParaRPr lang="en-US" sz="816" dirty="0"/>
          </a:p>
        </p:txBody>
      </p:sp>
      <p:sp>
        <p:nvSpPr>
          <p:cNvPr id="114" name="Text 111"/>
          <p:cNvSpPr/>
          <p:nvPr/>
        </p:nvSpPr>
        <p:spPr>
          <a:xfrm>
            <a:off x="5179375" y="500868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816" dirty="0"/>
          </a:p>
        </p:txBody>
      </p:sp>
      <p:sp>
        <p:nvSpPr>
          <p:cNvPr id="115" name="Text 112"/>
          <p:cNvSpPr/>
          <p:nvPr/>
        </p:nvSpPr>
        <p:spPr>
          <a:xfrm>
            <a:off x="704832" y="5246214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3884781" y="5246214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65%</a:t>
            </a:r>
            <a:endParaRPr lang="en-US" sz="816" dirty="0"/>
          </a:p>
        </p:txBody>
      </p:sp>
      <p:sp>
        <p:nvSpPr>
          <p:cNvPr id="117" name="Text 114"/>
          <p:cNvSpPr/>
          <p:nvPr/>
        </p:nvSpPr>
        <p:spPr>
          <a:xfrm>
            <a:off x="704832" y="5483744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2376620" y="5483744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93%</a:t>
            </a:r>
            <a:endParaRPr lang="en-US" sz="816" dirty="0"/>
          </a:p>
        </p:txBody>
      </p:sp>
      <p:sp>
        <p:nvSpPr>
          <p:cNvPr id="119" name="Text 116"/>
          <p:cNvSpPr/>
          <p:nvPr/>
        </p:nvSpPr>
        <p:spPr>
          <a:xfrm>
            <a:off x="3884781" y="5483744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46%</a:t>
            </a:r>
            <a:endParaRPr lang="en-US" sz="816" dirty="0"/>
          </a:p>
        </p:txBody>
      </p:sp>
      <p:sp>
        <p:nvSpPr>
          <p:cNvPr id="120" name="Text 117"/>
          <p:cNvSpPr/>
          <p:nvPr/>
        </p:nvSpPr>
        <p:spPr>
          <a:xfrm>
            <a:off x="2376620" y="5721274"/>
            <a:ext cx="698539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98%</a:t>
            </a:r>
            <a:endParaRPr lang="en-US" sz="816" dirty="0"/>
          </a:p>
        </p:txBody>
      </p:sp>
      <p:sp>
        <p:nvSpPr>
          <p:cNvPr id="121" name="Text 118"/>
          <p:cNvSpPr/>
          <p:nvPr/>
        </p:nvSpPr>
        <p:spPr>
          <a:xfrm>
            <a:off x="3884781" y="5721274"/>
            <a:ext cx="673859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42%</a:t>
            </a:r>
            <a:endParaRPr lang="en-US" sz="816" dirty="0"/>
          </a:p>
        </p:txBody>
      </p:sp>
      <p:sp>
        <p:nvSpPr>
          <p:cNvPr id="122" name="Text 119"/>
          <p:cNvSpPr/>
          <p:nvPr/>
        </p:nvSpPr>
        <p:spPr>
          <a:xfrm>
            <a:off x="11292522" y="21987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672" dirty="0"/>
          </a:p>
        </p:txBody>
      </p:sp>
      <p:sp>
        <p:nvSpPr>
          <p:cNvPr id="123" name="Text 120"/>
          <p:cNvSpPr/>
          <p:nvPr/>
        </p:nvSpPr>
        <p:spPr>
          <a:xfrm>
            <a:off x="11293153" y="272504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672" dirty="0"/>
          </a:p>
        </p:txBody>
      </p:sp>
      <p:sp>
        <p:nvSpPr>
          <p:cNvPr id="124" name="Text 121"/>
          <p:cNvSpPr/>
          <p:nvPr/>
        </p:nvSpPr>
        <p:spPr>
          <a:xfrm>
            <a:off x="3026493" y="300605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20" dirty="0"/>
          </a:p>
        </p:txBody>
      </p:sp>
      <p:sp>
        <p:nvSpPr>
          <p:cNvPr id="125" name="Text 122"/>
          <p:cNvSpPr/>
          <p:nvPr/>
        </p:nvSpPr>
        <p:spPr>
          <a:xfrm>
            <a:off x="5179375" y="477115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7%</a:t>
            </a:r>
            <a:endParaRPr lang="en-US" sz="816" dirty="0"/>
          </a:p>
        </p:txBody>
      </p:sp>
      <p:sp>
        <p:nvSpPr>
          <p:cNvPr id="126" name="Text 123"/>
          <p:cNvSpPr/>
          <p:nvPr/>
        </p:nvSpPr>
        <p:spPr>
          <a:xfrm>
            <a:off x="5179375" y="5246214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816" dirty="0"/>
          </a:p>
        </p:txBody>
      </p:sp>
      <p:sp>
        <p:nvSpPr>
          <p:cNvPr id="127" name="Text 124"/>
          <p:cNvSpPr/>
          <p:nvPr/>
        </p:nvSpPr>
        <p:spPr>
          <a:xfrm>
            <a:off x="5179375" y="5483744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816" dirty="0"/>
          </a:p>
        </p:txBody>
      </p:sp>
      <p:sp>
        <p:nvSpPr>
          <p:cNvPr id="128" name="Text 125"/>
          <p:cNvSpPr/>
          <p:nvPr/>
        </p:nvSpPr>
        <p:spPr>
          <a:xfrm>
            <a:off x="5179375" y="5721274"/>
            <a:ext cx="725977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816" dirty="0"/>
          </a:p>
        </p:txBody>
      </p:sp>
      <p:sp>
        <p:nvSpPr>
          <p:cNvPr id="129" name="Text 126"/>
          <p:cNvSpPr/>
          <p:nvPr/>
        </p:nvSpPr>
        <p:spPr>
          <a:xfrm>
            <a:off x="11345685" y="325129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672" dirty="0"/>
          </a:p>
        </p:txBody>
      </p:sp>
      <p:sp>
        <p:nvSpPr>
          <p:cNvPr id="130" name="Text 127"/>
          <p:cNvSpPr/>
          <p:nvPr/>
        </p:nvSpPr>
        <p:spPr>
          <a:xfrm>
            <a:off x="11345685" y="377755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672" dirty="0"/>
          </a:p>
        </p:txBody>
      </p:sp>
      <p:sp>
        <p:nvSpPr>
          <p:cNvPr id="131" name="Text 128"/>
          <p:cNvSpPr/>
          <p:nvPr/>
        </p:nvSpPr>
        <p:spPr>
          <a:xfrm>
            <a:off x="11346947" y="43039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672" dirty="0"/>
          </a:p>
        </p:txBody>
      </p:sp>
      <p:sp>
        <p:nvSpPr>
          <p:cNvPr id="132" name="Text 129"/>
          <p:cNvSpPr/>
          <p:nvPr/>
        </p:nvSpPr>
        <p:spPr>
          <a:xfrm>
            <a:off x="11346947" y="483021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672" dirty="0"/>
          </a:p>
        </p:txBody>
      </p:sp>
      <p:sp>
        <p:nvSpPr>
          <p:cNvPr id="133" name="Text 130"/>
          <p:cNvSpPr/>
          <p:nvPr/>
        </p:nvSpPr>
        <p:spPr>
          <a:xfrm>
            <a:off x="11342687" y="535647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67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2951" y="6482804"/>
            <a:ext cx="41419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estrategia de cabinas dedicadas logró una tasa de crecimiento de (+553%)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9774102" y="5585520"/>
            <a:ext cx="17318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</a:t>
            </a:r>
            <a:endParaRPr lang="en-US" sz="540" dirty="0"/>
          </a:p>
        </p:txBody>
      </p:sp>
      <p:sp>
        <p:nvSpPr>
          <p:cNvPr id="5" name="Text 2"/>
          <p:cNvSpPr/>
          <p:nvPr/>
        </p:nvSpPr>
        <p:spPr>
          <a:xfrm>
            <a:off x="6257769" y="3619500"/>
            <a:ext cx="25087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rechazos)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373102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16360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73608" y="4160937"/>
            <a:ext cx="1182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9067573" y="962025"/>
            <a:ext cx="1831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6198527" y="4635847"/>
            <a:ext cx="11545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809605" y="3977580"/>
            <a:ext cx="16385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Autogestión por asesor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381590" y="1548705"/>
            <a:ext cx="17018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mensual de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6286343" y="1272480"/>
            <a:ext cx="10548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9861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3.2 veces mejor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505112" y="1272480"/>
            <a:ext cx="975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 sobre contactados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381590" y="5737920"/>
            <a:ext cx="146662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Qué cambió en la gestión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519556" y="3923556"/>
            <a:ext cx="833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685783" y="4977728"/>
            <a:ext cx="1418538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</a:t>
            </a:r>
            <a:r>
              <a:rPr lang="en-US" sz="540" b="1" dirty="0">
                <a:solidFill>
                  <a:srgbClr val="0400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4ª</a:t>
            </a:r>
            <a:endParaRPr lang="en-US" sz="696" dirty="0"/>
          </a:p>
        </p:txBody>
      </p:sp>
      <p:sp>
        <p:nvSpPr>
          <p:cNvPr id="19" name="Text 16"/>
          <p:cNvSpPr/>
          <p:nvPr/>
        </p:nvSpPr>
        <p:spPr>
          <a:xfrm>
            <a:off x="6646075" y="5110609"/>
            <a:ext cx="7070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0" name="Text 17"/>
          <p:cNvSpPr/>
          <p:nvPr/>
        </p:nvSpPr>
        <p:spPr>
          <a:xfrm>
            <a:off x="9062317" y="6137970"/>
            <a:ext cx="9957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96" dirty="0"/>
          </a:p>
        </p:txBody>
      </p:sp>
      <p:sp>
        <p:nvSpPr>
          <p:cNvPr id="21" name="Text 18"/>
          <p:cNvSpPr/>
          <p:nvPr/>
        </p:nvSpPr>
        <p:spPr>
          <a:xfrm>
            <a:off x="685783" y="4577678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Melissa P. Orozco</a:t>
            </a:r>
            <a:endParaRPr lang="en-US" sz="696" dirty="0"/>
          </a:p>
        </p:txBody>
      </p:sp>
      <p:sp>
        <p:nvSpPr>
          <p:cNvPr id="22" name="Text 19"/>
          <p:cNvSpPr/>
          <p:nvPr/>
        </p:nvSpPr>
        <p:spPr>
          <a:xfrm>
            <a:off x="838179" y="1577280"/>
            <a:ext cx="9958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Histórico mensual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6679361" y="4398466"/>
            <a:ext cx="6737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683778" y="4873228"/>
            <a:ext cx="6693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85783" y="5181176"/>
            <a:ext cx="141853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4 asesores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6286343" y="962025"/>
            <a:ext cx="10653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696" dirty="0"/>
          </a:p>
        </p:txBody>
      </p:sp>
      <p:sp>
        <p:nvSpPr>
          <p:cNvPr id="27" name="Text 24"/>
          <p:cNvSpPr/>
          <p:nvPr/>
        </p:nvSpPr>
        <p:spPr>
          <a:xfrm>
            <a:off x="7826951" y="6137970"/>
            <a:ext cx="7529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96" dirty="0"/>
          </a:p>
        </p:txBody>
      </p:sp>
      <p:sp>
        <p:nvSpPr>
          <p:cNvPr id="28" name="Text 25"/>
          <p:cNvSpPr/>
          <p:nvPr/>
        </p:nvSpPr>
        <p:spPr>
          <a:xfrm>
            <a:off x="685783" y="4382416"/>
            <a:ext cx="141853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</a:t>
            </a:r>
            <a:endParaRPr lang="en-US" sz="696" dirty="0"/>
          </a:p>
        </p:txBody>
      </p:sp>
      <p:sp>
        <p:nvSpPr>
          <p:cNvPr id="29" name="Text 26"/>
          <p:cNvSpPr/>
          <p:nvPr/>
        </p:nvSpPr>
        <p:spPr>
          <a:xfrm>
            <a:off x="6798307" y="5348139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685783" y="4777703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Luisa L. Percy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723882" y="962025"/>
            <a:ext cx="7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6563513" y="6137970"/>
            <a:ext cx="5660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96" dirty="0"/>
          </a:p>
        </p:txBody>
      </p:sp>
      <p:sp>
        <p:nvSpPr>
          <p:cNvPr id="33" name="Text 30"/>
          <p:cNvSpPr/>
          <p:nvPr/>
        </p:nvSpPr>
        <p:spPr>
          <a:xfrm>
            <a:off x="10640004" y="6137970"/>
            <a:ext cx="554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3505112" y="962025"/>
            <a:ext cx="623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4560376" y="1772566"/>
            <a:ext cx="9010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5434719" y="1772566"/>
            <a:ext cx="91636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1167617" y="1772566"/>
            <a:ext cx="80936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955142" y="1772566"/>
            <a:ext cx="74989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684588" y="1772566"/>
            <a:ext cx="7019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660527" y="6052245"/>
            <a:ext cx="3721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Ene–Feb</a:t>
            </a:r>
            <a:endParaRPr lang="en-US" sz="624" dirty="0"/>
          </a:p>
        </p:txBody>
      </p:sp>
      <p:sp>
        <p:nvSpPr>
          <p:cNvPr id="41" name="Text 38"/>
          <p:cNvSpPr/>
          <p:nvPr/>
        </p:nvSpPr>
        <p:spPr>
          <a:xfrm>
            <a:off x="9371041" y="6052245"/>
            <a:ext cx="3782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Abr–May</a:t>
            </a:r>
            <a:endParaRPr lang="en-US" sz="624" dirty="0"/>
          </a:p>
        </p:txBody>
      </p:sp>
      <p:sp>
        <p:nvSpPr>
          <p:cNvPr id="42" name="Text 39"/>
          <p:cNvSpPr/>
          <p:nvPr/>
        </p:nvSpPr>
        <p:spPr>
          <a:xfrm>
            <a:off x="3937593" y="1772566"/>
            <a:ext cx="64902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2684588" y="2001166"/>
            <a:ext cx="70191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560376" y="2001166"/>
            <a:ext cx="90103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80,9 %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5434719" y="2001166"/>
            <a:ext cx="91636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2684588" y="224405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57,9 %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560376" y="224405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81,3 %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434719" y="224405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32,4 %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2684588" y="249170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4560376" y="249170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76,3 %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5434719" y="249170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18,4 %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2684588" y="273935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58,3 %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4560376" y="273935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5434719" y="273935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20,4 %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2684588" y="298700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60,4 %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4560376" y="298700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75,8 %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5434719" y="298700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33,0 %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2684588" y="3234653"/>
            <a:ext cx="70191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69,4 %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4560376" y="3234653"/>
            <a:ext cx="90103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68,4 %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5434719" y="3234653"/>
            <a:ext cx="91636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27,6 %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1167617" y="3482303"/>
            <a:ext cx="80936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2684588" y="3482303"/>
            <a:ext cx="70191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4560376" y="3482303"/>
            <a:ext cx="90103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72,4 %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5434719" y="3482303"/>
            <a:ext cx="91636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685783" y="4153816"/>
            <a:ext cx="141853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723882" y="1085850"/>
            <a:ext cx="43680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1020" dirty="0"/>
          </a:p>
        </p:txBody>
      </p:sp>
      <p:sp>
        <p:nvSpPr>
          <p:cNvPr id="67" name="Text 64"/>
          <p:cNvSpPr/>
          <p:nvPr/>
        </p:nvSpPr>
        <p:spPr>
          <a:xfrm>
            <a:off x="6286343" y="1085850"/>
            <a:ext cx="43949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020" dirty="0"/>
          </a:p>
        </p:txBody>
      </p:sp>
      <p:sp>
        <p:nvSpPr>
          <p:cNvPr id="68" name="Text 65"/>
          <p:cNvSpPr/>
          <p:nvPr/>
        </p:nvSpPr>
        <p:spPr>
          <a:xfrm>
            <a:off x="3369399" y="1772566"/>
            <a:ext cx="58709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1167617" y="249170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1.864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1955142" y="249170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1.189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1167617" y="273935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1.950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1955142" y="273935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1.137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1167617" y="298700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2.203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955142" y="298700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1.331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1167617" y="323465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4.968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1955142" y="323465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3.447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3369399" y="323465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1.521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85783" y="3482303"/>
            <a:ext cx="520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1955142" y="3482303"/>
            <a:ext cx="7498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3369399" y="3482303"/>
            <a:ext cx="58709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5291185" y="4153816"/>
            <a:ext cx="6427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72" dirty="0"/>
          </a:p>
        </p:txBody>
      </p:sp>
      <p:sp>
        <p:nvSpPr>
          <p:cNvPr id="82" name="Text 79"/>
          <p:cNvSpPr/>
          <p:nvPr/>
        </p:nvSpPr>
        <p:spPr>
          <a:xfrm>
            <a:off x="8343394" y="270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+111%</a:t>
            </a:r>
            <a:endParaRPr lang="en-US" sz="624" dirty="0"/>
          </a:p>
        </p:txBody>
      </p:sp>
      <p:sp>
        <p:nvSpPr>
          <p:cNvPr id="83" name="Text 80"/>
          <p:cNvSpPr/>
          <p:nvPr/>
        </p:nvSpPr>
        <p:spPr>
          <a:xfrm>
            <a:off x="11275130" y="39235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11282860" y="41609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9067573" y="1085850"/>
            <a:ext cx="27542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3.2×</a:t>
            </a:r>
            <a:endParaRPr lang="en-US" sz="1020" dirty="0"/>
          </a:p>
        </p:txBody>
      </p:sp>
      <p:sp>
        <p:nvSpPr>
          <p:cNvPr id="86" name="Text 83"/>
          <p:cNvSpPr/>
          <p:nvPr/>
        </p:nvSpPr>
        <p:spPr>
          <a:xfrm>
            <a:off x="9223988" y="257591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+21%</a:t>
            </a:r>
            <a:endParaRPr lang="en-US" sz="624" dirty="0"/>
          </a:p>
        </p:txBody>
      </p:sp>
      <p:sp>
        <p:nvSpPr>
          <p:cNvPr id="87" name="Text 84"/>
          <p:cNvSpPr/>
          <p:nvPr/>
        </p:nvSpPr>
        <p:spPr>
          <a:xfrm>
            <a:off x="10081514" y="193684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+90%</a:t>
            </a:r>
            <a:endParaRPr lang="en-US" sz="624" dirty="0"/>
          </a:p>
        </p:txBody>
      </p:sp>
      <p:sp>
        <p:nvSpPr>
          <p:cNvPr id="88" name="Text 85"/>
          <p:cNvSpPr/>
          <p:nvPr/>
        </p:nvSpPr>
        <p:spPr>
          <a:xfrm>
            <a:off x="10948714" y="18527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+32%</a:t>
            </a:r>
            <a:endParaRPr lang="en-US" sz="624" dirty="0"/>
          </a:p>
        </p:txBody>
      </p:sp>
      <p:sp>
        <p:nvSpPr>
          <p:cNvPr id="89" name="Text 86"/>
          <p:cNvSpPr/>
          <p:nvPr/>
        </p:nvSpPr>
        <p:spPr>
          <a:xfrm>
            <a:off x="11318512" y="439846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11318354" y="463584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11317881" y="48732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576" dirty="0"/>
          </a:p>
        </p:txBody>
      </p:sp>
      <p:sp>
        <p:nvSpPr>
          <p:cNvPr id="92" name="Text 89"/>
          <p:cNvSpPr/>
          <p:nvPr/>
        </p:nvSpPr>
        <p:spPr>
          <a:xfrm>
            <a:off x="11332552" y="51106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576" dirty="0"/>
          </a:p>
        </p:txBody>
      </p:sp>
      <p:sp>
        <p:nvSpPr>
          <p:cNvPr id="93" name="Text 90"/>
          <p:cNvSpPr/>
          <p:nvPr/>
        </p:nvSpPr>
        <p:spPr>
          <a:xfrm>
            <a:off x="11321667" y="534813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576" dirty="0"/>
          </a:p>
        </p:txBody>
      </p:sp>
      <p:sp>
        <p:nvSpPr>
          <p:cNvPr id="94" name="Text 91"/>
          <p:cNvSpPr/>
          <p:nvPr/>
        </p:nvSpPr>
        <p:spPr>
          <a:xfrm>
            <a:off x="685783" y="1772566"/>
            <a:ext cx="52057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685783" y="2001166"/>
            <a:ext cx="520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1167617" y="2001166"/>
            <a:ext cx="80936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1955142" y="2001166"/>
            <a:ext cx="7498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3369399" y="2001166"/>
            <a:ext cx="58709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685783" y="224405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1167617" y="2244053"/>
            <a:ext cx="80936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406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1955142" y="2244053"/>
            <a:ext cx="7498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3369399" y="224405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685783" y="249170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3369399" y="249170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675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685783" y="273935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3369399" y="273935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813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3937593" y="273935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685783" y="298700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3369399" y="2987003"/>
            <a:ext cx="5870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872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3937593" y="298700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685783" y="3234653"/>
            <a:ext cx="520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3937593" y="323465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3937593" y="3482303"/>
            <a:ext cx="64902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2046743" y="4153816"/>
            <a:ext cx="55827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15" name="Text 112"/>
          <p:cNvSpPr/>
          <p:nvPr/>
        </p:nvSpPr>
        <p:spPr>
          <a:xfrm>
            <a:off x="2588847" y="4153816"/>
            <a:ext cx="55536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16" name="Text 113"/>
          <p:cNvSpPr/>
          <p:nvPr/>
        </p:nvSpPr>
        <p:spPr>
          <a:xfrm>
            <a:off x="3127886" y="4153816"/>
            <a:ext cx="5605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17" name="Text 114"/>
          <p:cNvSpPr/>
          <p:nvPr/>
        </p:nvSpPr>
        <p:spPr>
          <a:xfrm>
            <a:off x="3672583" y="4153816"/>
            <a:ext cx="54524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18" name="Text 115"/>
          <p:cNvSpPr/>
          <p:nvPr/>
        </p:nvSpPr>
        <p:spPr>
          <a:xfrm>
            <a:off x="4201000" y="4153816"/>
            <a:ext cx="57790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19" name="Text 116"/>
          <p:cNvSpPr/>
          <p:nvPr/>
        </p:nvSpPr>
        <p:spPr>
          <a:xfrm>
            <a:off x="4762970" y="4153816"/>
            <a:ext cx="54693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20" name="Text 117"/>
          <p:cNvSpPr/>
          <p:nvPr/>
        </p:nvSpPr>
        <p:spPr>
          <a:xfrm>
            <a:off x="4201000" y="4382416"/>
            <a:ext cx="577900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72" dirty="0"/>
          </a:p>
        </p:txBody>
      </p:sp>
      <p:sp>
        <p:nvSpPr>
          <p:cNvPr id="121" name="Text 118"/>
          <p:cNvSpPr/>
          <p:nvPr/>
        </p:nvSpPr>
        <p:spPr>
          <a:xfrm>
            <a:off x="5291185" y="4382416"/>
            <a:ext cx="642741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</a:t>
            </a:r>
            <a:endParaRPr lang="en-US" sz="696" dirty="0"/>
          </a:p>
        </p:txBody>
      </p:sp>
      <p:sp>
        <p:nvSpPr>
          <p:cNvPr id="122" name="Text 119"/>
          <p:cNvSpPr/>
          <p:nvPr/>
        </p:nvSpPr>
        <p:spPr>
          <a:xfrm>
            <a:off x="5291185" y="4577678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696" dirty="0"/>
          </a:p>
        </p:txBody>
      </p:sp>
      <p:sp>
        <p:nvSpPr>
          <p:cNvPr id="123" name="Text 120"/>
          <p:cNvSpPr/>
          <p:nvPr/>
        </p:nvSpPr>
        <p:spPr>
          <a:xfrm>
            <a:off x="5291185" y="4777703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24" name="Text 121"/>
          <p:cNvSpPr/>
          <p:nvPr/>
        </p:nvSpPr>
        <p:spPr>
          <a:xfrm>
            <a:off x="4201000" y="5181176"/>
            <a:ext cx="57790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204</a:t>
            </a:r>
            <a:endParaRPr lang="en-US" sz="672" dirty="0"/>
          </a:p>
        </p:txBody>
      </p:sp>
      <p:sp>
        <p:nvSpPr>
          <p:cNvPr id="125" name="Text 122"/>
          <p:cNvSpPr/>
          <p:nvPr/>
        </p:nvSpPr>
        <p:spPr>
          <a:xfrm>
            <a:off x="4762970" y="5181176"/>
            <a:ext cx="54693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266</a:t>
            </a:r>
            <a:endParaRPr lang="en-US" sz="672" dirty="0"/>
          </a:p>
        </p:txBody>
      </p:sp>
      <p:sp>
        <p:nvSpPr>
          <p:cNvPr id="126" name="Text 123"/>
          <p:cNvSpPr/>
          <p:nvPr/>
        </p:nvSpPr>
        <p:spPr>
          <a:xfrm>
            <a:off x="5291185" y="5181176"/>
            <a:ext cx="642741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605</a:t>
            </a:r>
            <a:endParaRPr lang="en-US" sz="696" dirty="0"/>
          </a:p>
        </p:txBody>
      </p:sp>
      <p:sp>
        <p:nvSpPr>
          <p:cNvPr id="127" name="Text 124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1020" dirty="0"/>
          </a:p>
        </p:txBody>
      </p:sp>
      <p:sp>
        <p:nvSpPr>
          <p:cNvPr id="128" name="Text 125"/>
          <p:cNvSpPr/>
          <p:nvPr/>
        </p:nvSpPr>
        <p:spPr>
          <a:xfrm>
            <a:off x="6643224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29" name="Text 126"/>
          <p:cNvSpPr/>
          <p:nvPr/>
        </p:nvSpPr>
        <p:spPr>
          <a:xfrm>
            <a:off x="7516525" y="30021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624" dirty="0"/>
          </a:p>
        </p:txBody>
      </p:sp>
      <p:sp>
        <p:nvSpPr>
          <p:cNvPr id="130" name="Text 127"/>
          <p:cNvSpPr/>
          <p:nvPr/>
        </p:nvSpPr>
        <p:spPr>
          <a:xfrm>
            <a:off x="750774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31" name="Text 128"/>
          <p:cNvSpPr/>
          <p:nvPr/>
        </p:nvSpPr>
        <p:spPr>
          <a:xfrm>
            <a:off x="8369438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32" name="Text 129"/>
          <p:cNvSpPr/>
          <p:nvPr/>
        </p:nvSpPr>
        <p:spPr>
          <a:xfrm>
            <a:off x="9238126" y="24623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744" dirty="0"/>
          </a:p>
        </p:txBody>
      </p:sp>
      <p:sp>
        <p:nvSpPr>
          <p:cNvPr id="133" name="Text 130"/>
          <p:cNvSpPr/>
          <p:nvPr/>
        </p:nvSpPr>
        <p:spPr>
          <a:xfrm>
            <a:off x="9238573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34" name="Text 131"/>
          <p:cNvSpPr/>
          <p:nvPr/>
        </p:nvSpPr>
        <p:spPr>
          <a:xfrm>
            <a:off x="10096545" y="1823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44" dirty="0"/>
          </a:p>
        </p:txBody>
      </p:sp>
      <p:sp>
        <p:nvSpPr>
          <p:cNvPr id="135" name="Text 132"/>
          <p:cNvSpPr/>
          <p:nvPr/>
        </p:nvSpPr>
        <p:spPr>
          <a:xfrm>
            <a:off x="1009029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36" name="Text 133"/>
          <p:cNvSpPr/>
          <p:nvPr/>
        </p:nvSpPr>
        <p:spPr>
          <a:xfrm>
            <a:off x="10957346" y="17392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744" dirty="0"/>
          </a:p>
        </p:txBody>
      </p:sp>
      <p:sp>
        <p:nvSpPr>
          <p:cNvPr id="137" name="Text 134"/>
          <p:cNvSpPr/>
          <p:nvPr/>
        </p:nvSpPr>
        <p:spPr>
          <a:xfrm>
            <a:off x="10965382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138" name="Text 135"/>
          <p:cNvSpPr/>
          <p:nvPr/>
        </p:nvSpPr>
        <p:spPr>
          <a:xfrm>
            <a:off x="8116907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39" name="Text 136"/>
          <p:cNvSpPr/>
          <p:nvPr/>
        </p:nvSpPr>
        <p:spPr>
          <a:xfrm>
            <a:off x="10835457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40" name="Text 137"/>
          <p:cNvSpPr/>
          <p:nvPr/>
        </p:nvSpPr>
        <p:spPr>
          <a:xfrm>
            <a:off x="3937593" y="2001166"/>
            <a:ext cx="64902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88" dirty="0"/>
          </a:p>
        </p:txBody>
      </p:sp>
      <p:sp>
        <p:nvSpPr>
          <p:cNvPr id="141" name="Text 138"/>
          <p:cNvSpPr/>
          <p:nvPr/>
        </p:nvSpPr>
        <p:spPr>
          <a:xfrm>
            <a:off x="3937593" y="224405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142" name="Text 139"/>
          <p:cNvSpPr/>
          <p:nvPr/>
        </p:nvSpPr>
        <p:spPr>
          <a:xfrm>
            <a:off x="3937593" y="2491703"/>
            <a:ext cx="64902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88" dirty="0"/>
          </a:p>
        </p:txBody>
      </p:sp>
      <p:sp>
        <p:nvSpPr>
          <p:cNvPr id="143" name="Text 140"/>
          <p:cNvSpPr/>
          <p:nvPr/>
        </p:nvSpPr>
        <p:spPr>
          <a:xfrm>
            <a:off x="3127886" y="4382416"/>
            <a:ext cx="56057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72" dirty="0"/>
          </a:p>
        </p:txBody>
      </p:sp>
      <p:sp>
        <p:nvSpPr>
          <p:cNvPr id="144" name="Text 141"/>
          <p:cNvSpPr/>
          <p:nvPr/>
        </p:nvSpPr>
        <p:spPr>
          <a:xfrm>
            <a:off x="3672583" y="4382416"/>
            <a:ext cx="545249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672" dirty="0"/>
          </a:p>
        </p:txBody>
      </p:sp>
      <p:sp>
        <p:nvSpPr>
          <p:cNvPr id="145" name="Text 142"/>
          <p:cNvSpPr/>
          <p:nvPr/>
        </p:nvSpPr>
        <p:spPr>
          <a:xfrm>
            <a:off x="4762970" y="4382416"/>
            <a:ext cx="546936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</a:t>
            </a:r>
            <a:endParaRPr lang="en-US" sz="672" dirty="0"/>
          </a:p>
        </p:txBody>
      </p:sp>
      <p:sp>
        <p:nvSpPr>
          <p:cNvPr id="146" name="Text 143"/>
          <p:cNvSpPr/>
          <p:nvPr/>
        </p:nvSpPr>
        <p:spPr>
          <a:xfrm>
            <a:off x="3672583" y="4577678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47" name="Text 144"/>
          <p:cNvSpPr/>
          <p:nvPr/>
        </p:nvSpPr>
        <p:spPr>
          <a:xfrm>
            <a:off x="4201000" y="4577678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672" dirty="0"/>
          </a:p>
        </p:txBody>
      </p:sp>
      <p:sp>
        <p:nvSpPr>
          <p:cNvPr id="148" name="Text 145"/>
          <p:cNvSpPr/>
          <p:nvPr/>
        </p:nvSpPr>
        <p:spPr>
          <a:xfrm>
            <a:off x="4762970" y="4577678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672" dirty="0"/>
          </a:p>
        </p:txBody>
      </p:sp>
      <p:sp>
        <p:nvSpPr>
          <p:cNvPr id="149" name="Text 146"/>
          <p:cNvSpPr/>
          <p:nvPr/>
        </p:nvSpPr>
        <p:spPr>
          <a:xfrm>
            <a:off x="3672583" y="4777703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50" name="Text 147"/>
          <p:cNvSpPr/>
          <p:nvPr/>
        </p:nvSpPr>
        <p:spPr>
          <a:xfrm>
            <a:off x="4201000" y="4777703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72" dirty="0"/>
          </a:p>
        </p:txBody>
      </p:sp>
      <p:sp>
        <p:nvSpPr>
          <p:cNvPr id="151" name="Text 148"/>
          <p:cNvSpPr/>
          <p:nvPr/>
        </p:nvSpPr>
        <p:spPr>
          <a:xfrm>
            <a:off x="4762970" y="4777703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672" dirty="0"/>
          </a:p>
        </p:txBody>
      </p:sp>
      <p:sp>
        <p:nvSpPr>
          <p:cNvPr id="152" name="Text 149"/>
          <p:cNvSpPr/>
          <p:nvPr/>
        </p:nvSpPr>
        <p:spPr>
          <a:xfrm>
            <a:off x="4762970" y="4977728"/>
            <a:ext cx="546936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53" name="Text 150"/>
          <p:cNvSpPr/>
          <p:nvPr/>
        </p:nvSpPr>
        <p:spPr>
          <a:xfrm>
            <a:off x="5291185" y="4977728"/>
            <a:ext cx="642741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696" dirty="0"/>
          </a:p>
        </p:txBody>
      </p:sp>
      <p:sp>
        <p:nvSpPr>
          <p:cNvPr id="154" name="Text 151"/>
          <p:cNvSpPr/>
          <p:nvPr/>
        </p:nvSpPr>
        <p:spPr>
          <a:xfrm>
            <a:off x="2046743" y="5181176"/>
            <a:ext cx="55827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55" name="Text 152"/>
          <p:cNvSpPr/>
          <p:nvPr/>
        </p:nvSpPr>
        <p:spPr>
          <a:xfrm>
            <a:off x="2588847" y="5181176"/>
            <a:ext cx="555367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72" dirty="0"/>
          </a:p>
        </p:txBody>
      </p:sp>
      <p:sp>
        <p:nvSpPr>
          <p:cNvPr id="156" name="Text 153"/>
          <p:cNvSpPr/>
          <p:nvPr/>
        </p:nvSpPr>
        <p:spPr>
          <a:xfrm>
            <a:off x="3127886" y="5181176"/>
            <a:ext cx="56057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57" name="Text 154"/>
          <p:cNvSpPr/>
          <p:nvPr/>
        </p:nvSpPr>
        <p:spPr>
          <a:xfrm>
            <a:off x="3672583" y="5181176"/>
            <a:ext cx="54524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72" dirty="0"/>
          </a:p>
        </p:txBody>
      </p:sp>
      <p:sp>
        <p:nvSpPr>
          <p:cNvPr id="158" name="Text 155"/>
          <p:cNvSpPr/>
          <p:nvPr/>
        </p:nvSpPr>
        <p:spPr>
          <a:xfrm>
            <a:off x="6668524" y="29063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44" dirty="0"/>
          </a:p>
        </p:txBody>
      </p:sp>
      <p:sp>
        <p:nvSpPr>
          <p:cNvPr id="159" name="Text 156"/>
          <p:cNvSpPr/>
          <p:nvPr/>
        </p:nvSpPr>
        <p:spPr>
          <a:xfrm>
            <a:off x="7532598" y="28886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44" dirty="0"/>
          </a:p>
        </p:txBody>
      </p:sp>
      <p:sp>
        <p:nvSpPr>
          <p:cNvPr id="160" name="Text 157"/>
          <p:cNvSpPr/>
          <p:nvPr/>
        </p:nvSpPr>
        <p:spPr>
          <a:xfrm>
            <a:off x="8395631" y="25867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7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90408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enviados anteriormente: cada vez hay menos clientes nuevos en la base — hay mucho cliente que ya gestionamos en algún momento (los re-envíos suman el 16,6 % del descarte).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75302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Cuota Protegida Activa (50,9 %),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53525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 representa el 15,9 % de la gestión de leads aptos, convirtiéndose en el motor de ventas del canal.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685783" y="6100763"/>
            <a:ext cx="48984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tiene la mayor contactabilidad del canal (79,0 % Semestre) y una efectividad sobresaliente.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92380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216595" y="1200894"/>
            <a:ext cx="17195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533387" y="1200894"/>
            <a:ext cx="1401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714357" y="5944791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con Localidad Errónea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4374991" y="1200894"/>
            <a:ext cx="106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de ventas del canal</a:t>
            </a:r>
            <a:endParaRPr lang="en-US" sz="648" dirty="0"/>
          </a:p>
        </p:txBody>
      </p:sp>
      <p:sp>
        <p:nvSpPr>
          <p:cNvPr id="26" name="Text 23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Cédula/Teléfono Repetido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3" name="Text 30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35" name="Text 3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4374991" y="809625"/>
            <a:ext cx="858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40" name="Text 37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2" name="Text 3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5" name="Text 42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114.694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14.772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19.573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56,9 %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21.419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63,0 %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19.096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56,5 %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20.067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19.767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66,8 %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35.758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12.760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279770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328048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76327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424606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728848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05169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23,8 %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21,7 %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44.428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636" dirty="0"/>
          </a:p>
        </p:txBody>
      </p:sp>
      <p:sp>
        <p:nvSpPr>
          <p:cNvPr id="95" name="Text 92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14,2 %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31,6 %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30,4 %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29,3 %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31,9 %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30,2 %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30,6 %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10,3 %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10,4 %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18,5 %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21,5 %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24,4 %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22,1 %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21,0 %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13,7 %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14,1 %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14,5 %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8216595" y="952500"/>
            <a:ext cx="562697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1380" dirty="0"/>
          </a:p>
        </p:txBody>
      </p:sp>
      <p:sp>
        <p:nvSpPr>
          <p:cNvPr id="136" name="Text 13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3" name="Text 140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4.318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5.666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6.863</a:t>
            </a:r>
            <a:endParaRPr lang="en-US" sz="576" dirty="0"/>
          </a:p>
        </p:txBody>
      </p:sp>
      <p:sp>
        <p:nvSpPr>
          <p:cNvPr id="146" name="Text 143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5.492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6.700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6.719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1.541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2.022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2.448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1.960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2.391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2.398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1.113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1.349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1.079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1.317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1.320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7.027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1.135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1.109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1.112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5.916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4.624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1.912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1.070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231491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71" name="Text 168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72" name="Text 169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6.287</a:t>
            </a:r>
            <a:endParaRPr lang="en-US" sz="636" dirty="0"/>
          </a:p>
        </p:txBody>
      </p:sp>
      <p:sp>
        <p:nvSpPr>
          <p:cNvPr id="173" name="Text 170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1.251</a:t>
            </a:r>
            <a:endParaRPr lang="en-US" sz="636" dirty="0"/>
          </a:p>
        </p:txBody>
      </p:sp>
      <p:sp>
        <p:nvSpPr>
          <p:cNvPr id="174" name="Text 171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8.439</a:t>
            </a:r>
            <a:endParaRPr lang="en-US" sz="636" dirty="0"/>
          </a:p>
        </p:txBody>
      </p:sp>
      <p:sp>
        <p:nvSpPr>
          <p:cNvPr id="175" name="Text 172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1.480</a:t>
            </a:r>
            <a:endParaRPr lang="en-US" sz="636" dirty="0"/>
          </a:p>
        </p:txBody>
      </p:sp>
      <p:sp>
        <p:nvSpPr>
          <p:cNvPr id="176" name="Text 173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77" name="Text 174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7.933</a:t>
            </a:r>
            <a:endParaRPr lang="en-US" sz="636" dirty="0"/>
          </a:p>
        </p:txBody>
      </p:sp>
      <p:sp>
        <p:nvSpPr>
          <p:cNvPr id="178" name="Text 175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1.265</a:t>
            </a:r>
            <a:endParaRPr lang="en-US" sz="636" dirty="0"/>
          </a:p>
        </p:txBody>
      </p:sp>
      <p:sp>
        <p:nvSpPr>
          <p:cNvPr id="179" name="Text 176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80" name="Text 177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8.304</a:t>
            </a:r>
            <a:endParaRPr lang="en-US" sz="636" dirty="0"/>
          </a:p>
        </p:txBody>
      </p:sp>
      <p:sp>
        <p:nvSpPr>
          <p:cNvPr id="181" name="Text 178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1.180</a:t>
            </a:r>
            <a:endParaRPr lang="en-US" sz="636" dirty="0"/>
          </a:p>
        </p:txBody>
      </p:sp>
      <p:sp>
        <p:nvSpPr>
          <p:cNvPr id="182" name="Text 179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6.901</a:t>
            </a:r>
            <a:endParaRPr lang="en-US" sz="636" dirty="0"/>
          </a:p>
        </p:txBody>
      </p:sp>
      <p:sp>
        <p:nvSpPr>
          <p:cNvPr id="183" name="Text 180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1.286</a:t>
            </a:r>
            <a:endParaRPr lang="en-US" sz="636" dirty="0"/>
          </a:p>
        </p:txBody>
      </p:sp>
      <p:sp>
        <p:nvSpPr>
          <p:cNvPr id="184" name="Text 18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6.564</a:t>
            </a:r>
            <a:endParaRPr lang="en-US" sz="636" dirty="0"/>
          </a:p>
        </p:txBody>
      </p:sp>
      <p:sp>
        <p:nvSpPr>
          <p:cNvPr id="186" name="Text 183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1.253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90" name="Text 187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9,5 %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9,8 %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807739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856018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904297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952575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1000854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10491329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10967650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807739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856018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904297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952575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1000854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10491329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10967650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4374991" y="952500"/>
            <a:ext cx="44927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1380" dirty="0"/>
          </a:p>
        </p:txBody>
      </p:sp>
      <p:sp>
        <p:nvSpPr>
          <p:cNvPr id="257" name="Text 254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8" name="Text 255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9" name="Text 256"/>
          <p:cNvSpPr/>
          <p:nvPr/>
        </p:nvSpPr>
        <p:spPr>
          <a:xfrm>
            <a:off x="533387" y="952500"/>
            <a:ext cx="422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  <p:sp>
        <p:nvSpPr>
          <p:cNvPr id="260" name="Text 257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61" name="Text 258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62" name="Text 259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63" name="Text 260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64" name="Text 261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65" name="Text 262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66" name="Text 263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67" name="Text 264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849</a:t>
            </a:r>
            <a:endParaRPr lang="en-US" sz="576" dirty="0"/>
          </a:p>
        </p:txBody>
      </p:sp>
      <p:sp>
        <p:nvSpPr>
          <p:cNvPr id="268" name="Text 265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714</a:t>
            </a:r>
            <a:endParaRPr lang="en-US" sz="576" dirty="0"/>
          </a:p>
        </p:txBody>
      </p:sp>
      <p:sp>
        <p:nvSpPr>
          <p:cNvPr id="269" name="Text 266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937</a:t>
            </a:r>
            <a:endParaRPr lang="en-US" sz="576" dirty="0"/>
          </a:p>
        </p:txBody>
      </p:sp>
      <p:sp>
        <p:nvSpPr>
          <p:cNvPr id="270" name="Text 267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909</a:t>
            </a:r>
            <a:endParaRPr lang="en-US" sz="576" dirty="0"/>
          </a:p>
        </p:txBody>
      </p:sp>
      <p:sp>
        <p:nvSpPr>
          <p:cNvPr id="271" name="Text 268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558</a:t>
            </a:r>
            <a:endParaRPr lang="en-US" sz="576" dirty="0"/>
          </a:p>
        </p:txBody>
      </p:sp>
      <p:sp>
        <p:nvSpPr>
          <p:cNvPr id="272" name="Text 269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733</a:t>
            </a:r>
            <a:endParaRPr lang="en-US" sz="576" dirty="0"/>
          </a:p>
        </p:txBody>
      </p:sp>
      <p:sp>
        <p:nvSpPr>
          <p:cNvPr id="273" name="Text 270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576" dirty="0"/>
          </a:p>
        </p:txBody>
      </p:sp>
      <p:sp>
        <p:nvSpPr>
          <p:cNvPr id="274" name="Text 271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710</a:t>
            </a:r>
            <a:endParaRPr lang="en-US" sz="576" dirty="0"/>
          </a:p>
        </p:txBody>
      </p:sp>
      <p:sp>
        <p:nvSpPr>
          <p:cNvPr id="275" name="Text 272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866</a:t>
            </a:r>
            <a:endParaRPr lang="en-US" sz="576" dirty="0"/>
          </a:p>
        </p:txBody>
      </p:sp>
      <p:sp>
        <p:nvSpPr>
          <p:cNvPr id="276" name="Text 273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869</a:t>
            </a:r>
            <a:endParaRPr lang="en-US" sz="576" dirty="0"/>
          </a:p>
        </p:txBody>
      </p:sp>
      <p:sp>
        <p:nvSpPr>
          <p:cNvPr id="277" name="Text 274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576" dirty="0"/>
          </a:p>
        </p:txBody>
      </p:sp>
      <p:sp>
        <p:nvSpPr>
          <p:cNvPr id="278" name="Text 275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576" dirty="0"/>
          </a:p>
        </p:txBody>
      </p:sp>
      <p:sp>
        <p:nvSpPr>
          <p:cNvPr id="279" name="Text 276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367</a:t>
            </a:r>
            <a:endParaRPr lang="en-US" sz="576" dirty="0"/>
          </a:p>
        </p:txBody>
      </p:sp>
      <p:sp>
        <p:nvSpPr>
          <p:cNvPr id="280" name="Text 277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576" dirty="0"/>
          </a:p>
        </p:txBody>
      </p:sp>
      <p:sp>
        <p:nvSpPr>
          <p:cNvPr id="281" name="Text 278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358</a:t>
            </a:r>
            <a:endParaRPr lang="en-US" sz="576" dirty="0"/>
          </a:p>
        </p:txBody>
      </p:sp>
      <p:sp>
        <p:nvSpPr>
          <p:cNvPr id="282" name="Text 279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206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79770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328048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376327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93" name="Text 290"/>
          <p:cNvSpPr/>
          <p:nvPr/>
        </p:nvSpPr>
        <p:spPr>
          <a:xfrm>
            <a:off x="424606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4" name="Text 291"/>
          <p:cNvSpPr/>
          <p:nvPr/>
        </p:nvSpPr>
        <p:spPr>
          <a:xfrm>
            <a:off x="4728848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5" name="Text 292"/>
          <p:cNvSpPr/>
          <p:nvPr/>
        </p:nvSpPr>
        <p:spPr>
          <a:xfrm>
            <a:off x="520516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779</a:t>
            </a:r>
            <a:endParaRPr lang="en-US" sz="576" dirty="0"/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7" name="Text 294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98" name="Text 295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99" name="Text 296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300" name="Text 297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301" name="Text 298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302" name="Text 299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303" name="Text 300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76" dirty="0"/>
          </a:p>
        </p:txBody>
      </p:sp>
      <p:sp>
        <p:nvSpPr>
          <p:cNvPr id="304" name="Text 301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305" name="Text 302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6" name="Text 303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576" dirty="0"/>
          </a:p>
        </p:txBody>
      </p:sp>
      <p:sp>
        <p:nvSpPr>
          <p:cNvPr id="307" name="Text 304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8" name="Text 305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9" name="Text 306"/>
          <p:cNvSpPr/>
          <p:nvPr/>
        </p:nvSpPr>
        <p:spPr>
          <a:xfrm>
            <a:off x="231491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5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762297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Registro Enviado Anteriormente (36,8 %) y Cuota Activa (32,7 %) suma el 69,5 % del rechazo, confirmando el agotamiento de la base.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540103"/>
            <a:ext cx="61137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(48,3 %), impulsado por contestadores automáticos (38,6 %), lo que exige depuración telefónica en 2S.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247209"/>
            <a:ext cx="40400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 es la base de mayor volumen (420.641 registros recibidos) en el semestre.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8216595" y="1200894"/>
            <a:ext cx="17614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contacto (4,6 % sobre contacto apto)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571486" y="209550"/>
            <a:ext cx="334863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4374991" y="1200894"/>
            <a:ext cx="15040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714357" y="6091238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533387" y="1200894"/>
            <a:ext cx="140604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533387" y="809625"/>
            <a:ext cx="12359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</a:t>
            </a:r>
            <a:endParaRPr lang="en-US" sz="576" dirty="0"/>
          </a:p>
        </p:txBody>
      </p:sp>
      <p:sp>
        <p:nvSpPr>
          <p:cNvPr id="32" name="Text 29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Repetido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Repetida</a:t>
            </a:r>
            <a:endParaRPr lang="en-US" sz="576" dirty="0"/>
          </a:p>
        </p:txBody>
      </p:sp>
      <p:sp>
        <p:nvSpPr>
          <p:cNvPr id="39" name="Text 36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1" name="Text 38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114.104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5205169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576" dirty="0"/>
          </a:p>
        </p:txBody>
      </p:sp>
      <p:sp>
        <p:nvSpPr>
          <p:cNvPr id="53" name="Text 50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533387" y="952500"/>
            <a:ext cx="6956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56" name="Text 53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20.864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50.266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50,6 %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69.741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62,2 %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15.354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27.509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96.218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2" name="Text 79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3" name="Text 80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24.431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85.455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21.047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19.533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231491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279770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328048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376327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92" name="Text 89"/>
          <p:cNvSpPr/>
          <p:nvPr/>
        </p:nvSpPr>
        <p:spPr>
          <a:xfrm>
            <a:off x="424606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93" name="Text 90"/>
          <p:cNvSpPr/>
          <p:nvPr/>
        </p:nvSpPr>
        <p:spPr>
          <a:xfrm>
            <a:off x="4728848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576" dirty="0"/>
          </a:p>
        </p:txBody>
      </p:sp>
      <p:sp>
        <p:nvSpPr>
          <p:cNvPr id="94" name="Text 91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24.847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27.980</a:t>
            </a:r>
            <a:endParaRPr lang="en-US" sz="636" dirty="0"/>
          </a:p>
        </p:txBody>
      </p:sp>
      <p:sp>
        <p:nvSpPr>
          <p:cNvPr id="99" name="Text 96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636" dirty="0"/>
          </a:p>
        </p:txBody>
      </p:sp>
      <p:sp>
        <p:nvSpPr>
          <p:cNvPr id="104" name="Text 101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39.285</a:t>
            </a:r>
            <a:endParaRPr lang="en-US" sz="636" dirty="0"/>
          </a:p>
        </p:txBody>
      </p:sp>
      <p:sp>
        <p:nvSpPr>
          <p:cNvPr id="105" name="Text 102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51,6 %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51,7 %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17,3 %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48,9 %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63,2 %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40,8 %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43,6 %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40,7 %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53,8 %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48,3 %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39,1 %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50,5 %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32,6 %</a:t>
            </a:r>
            <a:endParaRPr lang="en-US" sz="552" dirty="0"/>
          </a:p>
        </p:txBody>
      </p:sp>
      <p:sp>
        <p:nvSpPr>
          <p:cNvPr id="136" name="Text 133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34,9 %</a:t>
            </a:r>
            <a:endParaRPr lang="en-US" sz="552" dirty="0"/>
          </a:p>
        </p:txBody>
      </p:sp>
      <p:sp>
        <p:nvSpPr>
          <p:cNvPr id="137" name="Text 134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32,5 %</a:t>
            </a:r>
            <a:endParaRPr lang="en-US" sz="552" dirty="0"/>
          </a:p>
        </p:txBody>
      </p:sp>
      <p:sp>
        <p:nvSpPr>
          <p:cNvPr id="138" name="Text 135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43,0 %</a:t>
            </a:r>
            <a:endParaRPr lang="en-US" sz="552" dirty="0"/>
          </a:p>
        </p:txBody>
      </p:sp>
      <p:sp>
        <p:nvSpPr>
          <p:cNvPr id="139" name="Text 136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38,6 %</a:t>
            </a:r>
            <a:endParaRPr lang="en-US" sz="552" dirty="0"/>
          </a:p>
        </p:txBody>
      </p:sp>
      <p:sp>
        <p:nvSpPr>
          <p:cNvPr id="140" name="Text 137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3" name="Text 14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4" name="Text 14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5" name="Text 142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6" name="Text 143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4.699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9.346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4.173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8.300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1.028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2.044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3.359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6.018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1.897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3.117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5.585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1.325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2.176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3.898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2.018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7.059</a:t>
            </a:r>
            <a:endParaRPr lang="en-US" sz="576" dirty="0"/>
          </a:p>
        </p:txBody>
      </p:sp>
      <p:sp>
        <p:nvSpPr>
          <p:cNvPr id="171" name="Text 168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72" name="Text 169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73" name="Text 170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1.445</a:t>
            </a:r>
            <a:endParaRPr lang="en-US" sz="576" dirty="0"/>
          </a:p>
        </p:txBody>
      </p:sp>
      <p:sp>
        <p:nvSpPr>
          <p:cNvPr id="174" name="Text 171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5.053</a:t>
            </a:r>
            <a:endParaRPr lang="en-US" sz="576" dirty="0"/>
          </a:p>
        </p:txBody>
      </p:sp>
      <p:sp>
        <p:nvSpPr>
          <p:cNvPr id="175" name="Text 172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1.300</a:t>
            </a:r>
            <a:endParaRPr lang="en-US" sz="576" dirty="0"/>
          </a:p>
        </p:txBody>
      </p:sp>
      <p:sp>
        <p:nvSpPr>
          <p:cNvPr id="176" name="Text 173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4.544</a:t>
            </a:r>
            <a:endParaRPr lang="en-US" sz="576" dirty="0"/>
          </a:p>
        </p:txBody>
      </p:sp>
      <p:sp>
        <p:nvSpPr>
          <p:cNvPr id="177" name="Text 174"/>
          <p:cNvSpPr/>
          <p:nvPr/>
        </p:nvSpPr>
        <p:spPr>
          <a:xfrm>
            <a:off x="328048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1.461</a:t>
            </a:r>
            <a:endParaRPr lang="en-US" sz="576" dirty="0"/>
          </a:p>
        </p:txBody>
      </p:sp>
      <p:sp>
        <p:nvSpPr>
          <p:cNvPr id="178" name="Text 175"/>
          <p:cNvSpPr/>
          <p:nvPr/>
        </p:nvSpPr>
        <p:spPr>
          <a:xfrm>
            <a:off x="376327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79" name="Text 176"/>
          <p:cNvSpPr/>
          <p:nvPr/>
        </p:nvSpPr>
        <p:spPr>
          <a:xfrm>
            <a:off x="424606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80" name="Text 177"/>
          <p:cNvSpPr/>
          <p:nvPr/>
        </p:nvSpPr>
        <p:spPr>
          <a:xfrm>
            <a:off x="4728848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2.617</a:t>
            </a:r>
            <a:endParaRPr lang="en-US" sz="576" dirty="0"/>
          </a:p>
        </p:txBody>
      </p:sp>
      <p:sp>
        <p:nvSpPr>
          <p:cNvPr id="181" name="Text 178"/>
          <p:cNvSpPr/>
          <p:nvPr/>
        </p:nvSpPr>
        <p:spPr>
          <a:xfrm>
            <a:off x="520516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9.154</a:t>
            </a:r>
            <a:endParaRPr lang="en-US" sz="576" dirty="0"/>
          </a:p>
        </p:txBody>
      </p:sp>
      <p:sp>
        <p:nvSpPr>
          <p:cNvPr id="182" name="Text 179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83" name="Text 180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84" name="Text 181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8.083</a:t>
            </a:r>
            <a:endParaRPr lang="en-US" sz="636" dirty="0"/>
          </a:p>
        </p:txBody>
      </p:sp>
      <p:sp>
        <p:nvSpPr>
          <p:cNvPr id="186" name="Text 183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636" dirty="0"/>
          </a:p>
        </p:txBody>
      </p:sp>
      <p:sp>
        <p:nvSpPr>
          <p:cNvPr id="190" name="Text 187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91" name="Text 188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636" dirty="0"/>
          </a:p>
        </p:txBody>
      </p:sp>
      <p:sp>
        <p:nvSpPr>
          <p:cNvPr id="192" name="Text 189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636" dirty="0"/>
          </a:p>
        </p:txBody>
      </p:sp>
      <p:sp>
        <p:nvSpPr>
          <p:cNvPr id="193" name="Text 190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94" name="Text 191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636" dirty="0"/>
          </a:p>
        </p:txBody>
      </p:sp>
      <p:sp>
        <p:nvSpPr>
          <p:cNvPr id="195" name="Text 19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96" name="Text 193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636" dirty="0"/>
          </a:p>
        </p:txBody>
      </p:sp>
      <p:sp>
        <p:nvSpPr>
          <p:cNvPr id="197" name="Text 194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636" dirty="0"/>
          </a:p>
        </p:txBody>
      </p:sp>
      <p:sp>
        <p:nvSpPr>
          <p:cNvPr id="198" name="Text 195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99" name="Text 196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2,9 %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3,3 %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57" name="Text 254"/>
          <p:cNvSpPr/>
          <p:nvPr/>
        </p:nvSpPr>
        <p:spPr>
          <a:xfrm>
            <a:off x="807739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8" name="Text 255"/>
          <p:cNvSpPr/>
          <p:nvPr/>
        </p:nvSpPr>
        <p:spPr>
          <a:xfrm>
            <a:off x="856018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9" name="Text 256"/>
          <p:cNvSpPr/>
          <p:nvPr/>
        </p:nvSpPr>
        <p:spPr>
          <a:xfrm>
            <a:off x="904297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0" name="Text 257"/>
          <p:cNvSpPr/>
          <p:nvPr/>
        </p:nvSpPr>
        <p:spPr>
          <a:xfrm>
            <a:off x="952575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1" name="Text 258"/>
          <p:cNvSpPr/>
          <p:nvPr/>
        </p:nvSpPr>
        <p:spPr>
          <a:xfrm>
            <a:off x="1000854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2" name="Text 259"/>
          <p:cNvSpPr/>
          <p:nvPr/>
        </p:nvSpPr>
        <p:spPr>
          <a:xfrm>
            <a:off x="10491329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63" name="Text 260"/>
          <p:cNvSpPr/>
          <p:nvPr/>
        </p:nvSpPr>
        <p:spPr>
          <a:xfrm>
            <a:off x="10967650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4" name="Text 261"/>
          <p:cNvSpPr/>
          <p:nvPr/>
        </p:nvSpPr>
        <p:spPr>
          <a:xfrm>
            <a:off x="807739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5" name="Text 262"/>
          <p:cNvSpPr/>
          <p:nvPr/>
        </p:nvSpPr>
        <p:spPr>
          <a:xfrm>
            <a:off x="856018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6" name="Text 263"/>
          <p:cNvSpPr/>
          <p:nvPr/>
        </p:nvSpPr>
        <p:spPr>
          <a:xfrm>
            <a:off x="904297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7" name="Text 264"/>
          <p:cNvSpPr/>
          <p:nvPr/>
        </p:nvSpPr>
        <p:spPr>
          <a:xfrm>
            <a:off x="952575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8" name="Text 265"/>
          <p:cNvSpPr/>
          <p:nvPr/>
        </p:nvSpPr>
        <p:spPr>
          <a:xfrm>
            <a:off x="1000854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9" name="Text 266"/>
          <p:cNvSpPr/>
          <p:nvPr/>
        </p:nvSpPr>
        <p:spPr>
          <a:xfrm>
            <a:off x="10491329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70" name="Text 267"/>
          <p:cNvSpPr/>
          <p:nvPr/>
        </p:nvSpPr>
        <p:spPr>
          <a:xfrm>
            <a:off x="10967650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71" name="Text 268"/>
          <p:cNvSpPr/>
          <p:nvPr/>
        </p:nvSpPr>
        <p:spPr>
          <a:xfrm>
            <a:off x="4374991" y="952500"/>
            <a:ext cx="48618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1380" dirty="0"/>
          </a:p>
        </p:txBody>
      </p:sp>
      <p:sp>
        <p:nvSpPr>
          <p:cNvPr id="272" name="Text 269"/>
          <p:cNvSpPr/>
          <p:nvPr/>
        </p:nvSpPr>
        <p:spPr>
          <a:xfrm>
            <a:off x="8216595" y="952500"/>
            <a:ext cx="46851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1380" dirty="0"/>
          </a:p>
        </p:txBody>
      </p:sp>
      <p:sp>
        <p:nvSpPr>
          <p:cNvPr id="273" name="Text 270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4" name="Text 271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5" name="Text 272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6" name="Text 273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8" name="Text 275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9" name="Text 276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80" name="Text 277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81" name="Text 278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82" name="Text 279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954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666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686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491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725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93" name="Text 290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94" name="Text 291"/>
          <p:cNvSpPr/>
          <p:nvPr/>
        </p:nvSpPr>
        <p:spPr>
          <a:xfrm>
            <a:off x="231491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76" dirty="0"/>
          </a:p>
        </p:txBody>
      </p:sp>
      <p:sp>
        <p:nvSpPr>
          <p:cNvPr id="295" name="Text 292"/>
          <p:cNvSpPr/>
          <p:nvPr/>
        </p:nvSpPr>
        <p:spPr>
          <a:xfrm>
            <a:off x="279770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889</a:t>
            </a:r>
            <a:endParaRPr lang="en-US" sz="576" dirty="0"/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7" name="Text 294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322</a:t>
            </a:r>
            <a:endParaRPr lang="en-US" sz="636" dirty="0"/>
          </a:p>
        </p:txBody>
      </p:sp>
      <p:sp>
        <p:nvSpPr>
          <p:cNvPr id="298" name="Text 295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636" dirty="0"/>
          </a:p>
        </p:txBody>
      </p:sp>
      <p:sp>
        <p:nvSpPr>
          <p:cNvPr id="299" name="Text 296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626</a:t>
            </a:r>
            <a:endParaRPr lang="en-US" sz="636" dirty="0"/>
          </a:p>
        </p:txBody>
      </p:sp>
      <p:sp>
        <p:nvSpPr>
          <p:cNvPr id="300" name="Text 297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750</a:t>
            </a:r>
            <a:endParaRPr lang="en-US" sz="636" dirty="0"/>
          </a:p>
        </p:txBody>
      </p:sp>
      <p:sp>
        <p:nvSpPr>
          <p:cNvPr id="301" name="Text 298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629</a:t>
            </a:r>
            <a:endParaRPr lang="en-US" sz="636" dirty="0"/>
          </a:p>
        </p:txBody>
      </p:sp>
      <p:sp>
        <p:nvSpPr>
          <p:cNvPr id="302" name="Text 299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303" name="Text 300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304" name="Text 301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305" name="Text 302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306" name="Text 303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307" name="Text 304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308" name="Text 305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</a:t>
            </a:r>
            <a:endParaRPr lang="en-US" sz="63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40103"/>
            <a:ext cx="99481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Junio: A corte, la base presenta un saludable porcentaje de conversión cercano al 5 %, impulsado principalmente por la calidad de los registros y la integridad de la información suministrada en la base de datos.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32262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Febrero: Cabinas exclusivas, actualmente no se encuentran activas.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21659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4374991" y="1200894"/>
            <a:ext cx="1896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 para Microseguro (69 años)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16248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 / datos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(&gt;69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685783" y="6100763"/>
            <a:ext cx="16429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oportunidad de conversión.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714357" y="5944791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85783" y="6247209"/>
            <a:ext cx="14041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Densa y baja contactabilidad.</a:t>
            </a:r>
            <a:endParaRPr lang="en-US" sz="744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8216595" y="1200894"/>
            <a:ext cx="12339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Seguro Voluntario Activo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1144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8216595" y="809625"/>
            <a:ext cx="11315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533387" y="809625"/>
            <a:ext cx="103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Vacío</a:t>
            </a:r>
            <a:endParaRPr lang="en-US" sz="576" dirty="0"/>
          </a:p>
        </p:txBody>
      </p:sp>
      <p:sp>
        <p:nvSpPr>
          <p:cNvPr id="38" name="Text 35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0" name="Text 37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2" name="Text 39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255.141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103.678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5205169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533387" y="952500"/>
            <a:ext cx="682274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55" name="Text 52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55.557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24.673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41.873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34.574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37.342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13.532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11.261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2797702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3763275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246061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4728848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51.332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13.276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37.311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16.913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19,2 %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18,9 %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10,2 %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90,8 %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70,0 %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75,5 %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56,8 %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72,3 %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81,1 %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88,1 %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67,9 %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73,2 %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55,7 %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55,1 %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70,1 %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78,6 %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20" name="Text 117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636" dirty="0"/>
          </a:p>
        </p:txBody>
      </p:sp>
      <p:sp>
        <p:nvSpPr>
          <p:cNvPr id="121" name="Text 118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22" name="Text 119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23" name="Text 120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5" name="Text 122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3.237</a:t>
            </a:r>
            <a:endParaRPr lang="en-US" sz="576" dirty="0"/>
          </a:p>
        </p:txBody>
      </p:sp>
      <p:sp>
        <p:nvSpPr>
          <p:cNvPr id="126" name="Text 123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8.732</a:t>
            </a:r>
            <a:endParaRPr lang="en-US" sz="576" dirty="0"/>
          </a:p>
        </p:txBody>
      </p:sp>
      <p:sp>
        <p:nvSpPr>
          <p:cNvPr id="127" name="Text 124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3.495</a:t>
            </a:r>
            <a:endParaRPr lang="en-US" sz="576" dirty="0"/>
          </a:p>
        </p:txBody>
      </p:sp>
      <p:sp>
        <p:nvSpPr>
          <p:cNvPr id="128" name="Text 125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4.055</a:t>
            </a:r>
            <a:endParaRPr lang="en-US" sz="576" dirty="0"/>
          </a:p>
        </p:txBody>
      </p:sp>
      <p:sp>
        <p:nvSpPr>
          <p:cNvPr id="129" name="Text 126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4.056</a:t>
            </a:r>
            <a:endParaRPr lang="en-US" sz="576" dirty="0"/>
          </a:p>
        </p:txBody>
      </p:sp>
      <p:sp>
        <p:nvSpPr>
          <p:cNvPr id="130" name="Text 127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1.470</a:t>
            </a:r>
            <a:endParaRPr lang="en-US" sz="576" dirty="0"/>
          </a:p>
        </p:txBody>
      </p:sp>
      <p:sp>
        <p:nvSpPr>
          <p:cNvPr id="131" name="Text 128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32" name="Text 129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33" name="Text 130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5.948</a:t>
            </a:r>
            <a:endParaRPr lang="en-US" sz="576" dirty="0"/>
          </a:p>
        </p:txBody>
      </p:sp>
      <p:sp>
        <p:nvSpPr>
          <p:cNvPr id="134" name="Text 131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1.618</a:t>
            </a:r>
            <a:endParaRPr lang="en-US" sz="576" dirty="0"/>
          </a:p>
        </p:txBody>
      </p:sp>
      <p:sp>
        <p:nvSpPr>
          <p:cNvPr id="135" name="Text 132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1.619</a:t>
            </a:r>
            <a:endParaRPr lang="en-US" sz="576" dirty="0"/>
          </a:p>
        </p:txBody>
      </p:sp>
      <p:sp>
        <p:nvSpPr>
          <p:cNvPr id="136" name="Text 133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4.495</a:t>
            </a:r>
            <a:endParaRPr lang="en-US" sz="576" dirty="0"/>
          </a:p>
        </p:txBody>
      </p:sp>
      <p:sp>
        <p:nvSpPr>
          <p:cNvPr id="137" name="Text 134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2.330</a:t>
            </a:r>
            <a:endParaRPr lang="en-US" sz="576" dirty="0"/>
          </a:p>
        </p:txBody>
      </p:sp>
      <p:sp>
        <p:nvSpPr>
          <p:cNvPr id="138" name="Text 135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2.145</a:t>
            </a:r>
            <a:endParaRPr lang="en-US" sz="576" dirty="0"/>
          </a:p>
        </p:txBody>
      </p:sp>
      <p:sp>
        <p:nvSpPr>
          <p:cNvPr id="139" name="Text 136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1.632</a:t>
            </a:r>
            <a:endParaRPr lang="en-US" sz="576" dirty="0"/>
          </a:p>
        </p:txBody>
      </p:sp>
      <p:sp>
        <p:nvSpPr>
          <p:cNvPr id="140" name="Text 137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1.633</a:t>
            </a:r>
            <a:endParaRPr lang="en-US" sz="576" dirty="0"/>
          </a:p>
        </p:txBody>
      </p:sp>
      <p:sp>
        <p:nvSpPr>
          <p:cNvPr id="141" name="Text 138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4.534</a:t>
            </a:r>
            <a:endParaRPr lang="en-US" sz="576" dirty="0"/>
          </a:p>
        </p:txBody>
      </p:sp>
      <p:sp>
        <p:nvSpPr>
          <p:cNvPr id="142" name="Text 139"/>
          <p:cNvSpPr/>
          <p:nvPr/>
        </p:nvSpPr>
        <p:spPr>
          <a:xfrm>
            <a:off x="504812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43" name="Text 140"/>
          <p:cNvSpPr/>
          <p:nvPr/>
        </p:nvSpPr>
        <p:spPr>
          <a:xfrm>
            <a:off x="2314916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3280489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46" name="Text 143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47" name="Text 144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636" dirty="0"/>
          </a:p>
        </p:txBody>
      </p:sp>
      <p:sp>
        <p:nvSpPr>
          <p:cNvPr id="148" name="Text 145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149" name="Text 146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636" dirty="0"/>
          </a:p>
        </p:txBody>
      </p:sp>
      <p:sp>
        <p:nvSpPr>
          <p:cNvPr id="150" name="Text 147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51" name="Text 148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52" name="Text 149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53" name="Text 150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54" name="Text 151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636" dirty="0"/>
          </a:p>
        </p:txBody>
      </p:sp>
      <p:sp>
        <p:nvSpPr>
          <p:cNvPr id="155" name="Text 152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56" name="Text 153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636" dirty="0"/>
          </a:p>
        </p:txBody>
      </p:sp>
      <p:sp>
        <p:nvSpPr>
          <p:cNvPr id="157" name="Text 15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58" name="Text 155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636" dirty="0"/>
          </a:p>
        </p:txBody>
      </p:sp>
      <p:sp>
        <p:nvSpPr>
          <p:cNvPr id="159" name="Text 15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60" name="Text 157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6,9 %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5,7 %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82" name="Text 179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807739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856018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904297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952575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1000854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10491329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10967650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4374991" y="952500"/>
            <a:ext cx="44753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1380" dirty="0"/>
          </a:p>
        </p:txBody>
      </p:sp>
      <p:sp>
        <p:nvSpPr>
          <p:cNvPr id="234" name="Text 231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5" name="Text 232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6" name="Text 233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37" name="Text 234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38" name="Text 235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39" name="Text 236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40" name="Text 237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41" name="Text 238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42" name="Text 239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43" name="Text 240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352</a:t>
            </a:r>
            <a:endParaRPr lang="en-US" sz="576" dirty="0"/>
          </a:p>
        </p:txBody>
      </p:sp>
      <p:sp>
        <p:nvSpPr>
          <p:cNvPr id="244" name="Text 241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948</a:t>
            </a:r>
            <a:endParaRPr lang="en-US" sz="576" dirty="0"/>
          </a:p>
        </p:txBody>
      </p:sp>
      <p:sp>
        <p:nvSpPr>
          <p:cNvPr id="245" name="Text 242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380</a:t>
            </a:r>
            <a:endParaRPr lang="en-US" sz="576" dirty="0"/>
          </a:p>
        </p:txBody>
      </p:sp>
      <p:sp>
        <p:nvSpPr>
          <p:cNvPr id="246" name="Text 243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576" dirty="0"/>
          </a:p>
        </p:txBody>
      </p:sp>
      <p:sp>
        <p:nvSpPr>
          <p:cNvPr id="247" name="Text 244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76" dirty="0"/>
          </a:p>
        </p:txBody>
      </p:sp>
      <p:sp>
        <p:nvSpPr>
          <p:cNvPr id="248" name="Text 245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49" name="Text 246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776</a:t>
            </a:r>
            <a:endParaRPr lang="en-US" sz="576" dirty="0"/>
          </a:p>
        </p:txBody>
      </p:sp>
      <p:sp>
        <p:nvSpPr>
          <p:cNvPr id="250" name="Text 247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576" dirty="0"/>
          </a:p>
        </p:txBody>
      </p:sp>
      <p:sp>
        <p:nvSpPr>
          <p:cNvPr id="251" name="Text 248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576" dirty="0"/>
          </a:p>
        </p:txBody>
      </p:sp>
      <p:sp>
        <p:nvSpPr>
          <p:cNvPr id="252" name="Text 249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576" dirty="0"/>
          </a:p>
        </p:txBody>
      </p:sp>
      <p:sp>
        <p:nvSpPr>
          <p:cNvPr id="253" name="Text 250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587</a:t>
            </a:r>
            <a:endParaRPr lang="en-US" sz="576" dirty="0"/>
          </a:p>
        </p:txBody>
      </p:sp>
      <p:sp>
        <p:nvSpPr>
          <p:cNvPr id="254" name="Text 251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196</a:t>
            </a:r>
            <a:endParaRPr lang="en-US" sz="576" dirty="0"/>
          </a:p>
        </p:txBody>
      </p:sp>
      <p:sp>
        <p:nvSpPr>
          <p:cNvPr id="255" name="Text 252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6" name="Text 253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7" name="Text 254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304</a:t>
            </a:r>
            <a:endParaRPr lang="en-US" sz="576" dirty="0"/>
          </a:p>
        </p:txBody>
      </p:sp>
      <p:sp>
        <p:nvSpPr>
          <p:cNvPr id="258" name="Text 255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576" dirty="0"/>
          </a:p>
        </p:txBody>
      </p:sp>
      <p:sp>
        <p:nvSpPr>
          <p:cNvPr id="259" name="Text 256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772</a:t>
            </a:r>
            <a:endParaRPr lang="en-US" sz="576" dirty="0"/>
          </a:p>
        </p:txBody>
      </p:sp>
      <p:sp>
        <p:nvSpPr>
          <p:cNvPr id="260" name="Text 257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773</a:t>
            </a:r>
            <a:endParaRPr lang="en-US" sz="576" dirty="0"/>
          </a:p>
        </p:txBody>
      </p:sp>
      <p:sp>
        <p:nvSpPr>
          <p:cNvPr id="261" name="Text 258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576" dirty="0"/>
          </a:p>
        </p:txBody>
      </p:sp>
      <p:sp>
        <p:nvSpPr>
          <p:cNvPr id="262" name="Text 259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63" name="Text 260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64" name="Text 261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65" name="Text 262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922</a:t>
            </a:r>
            <a:endParaRPr lang="en-US" sz="576" dirty="0"/>
          </a:p>
        </p:txBody>
      </p:sp>
      <p:sp>
        <p:nvSpPr>
          <p:cNvPr id="266" name="Text 263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576" dirty="0"/>
          </a:p>
        </p:txBody>
      </p:sp>
      <p:sp>
        <p:nvSpPr>
          <p:cNvPr id="267" name="Text 264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382</a:t>
            </a:r>
            <a:endParaRPr lang="en-US" sz="576" dirty="0"/>
          </a:p>
        </p:txBody>
      </p:sp>
      <p:sp>
        <p:nvSpPr>
          <p:cNvPr id="268" name="Text 265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576" dirty="0"/>
          </a:p>
        </p:txBody>
      </p:sp>
      <p:sp>
        <p:nvSpPr>
          <p:cNvPr id="269" name="Text 266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592</a:t>
            </a:r>
            <a:endParaRPr lang="en-US" sz="576" dirty="0"/>
          </a:p>
        </p:txBody>
      </p:sp>
      <p:sp>
        <p:nvSpPr>
          <p:cNvPr id="270" name="Text 267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1" name="Text 268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36" dirty="0"/>
          </a:p>
        </p:txBody>
      </p:sp>
      <p:sp>
        <p:nvSpPr>
          <p:cNvPr id="272" name="Text 269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73" name="Text 270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74" name="Text 271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36" dirty="0"/>
          </a:p>
        </p:txBody>
      </p:sp>
      <p:sp>
        <p:nvSpPr>
          <p:cNvPr id="275" name="Text 272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636" dirty="0"/>
          </a:p>
        </p:txBody>
      </p:sp>
      <p:sp>
        <p:nvSpPr>
          <p:cNvPr id="276" name="Text 273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8" name="Text 275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9" name="Text 276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80" name="Text 277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81" name="Text 278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82" name="Text 279"/>
          <p:cNvSpPr/>
          <p:nvPr/>
        </p:nvSpPr>
        <p:spPr>
          <a:xfrm>
            <a:off x="8216595" y="952500"/>
            <a:ext cx="332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1380" dirty="0"/>
          </a:p>
        </p:txBody>
      </p:sp>
      <p:sp>
        <p:nvSpPr>
          <p:cNvPr id="283" name="Text 280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36" dirty="0"/>
          </a:p>
        </p:txBody>
      </p:sp>
      <p:sp>
        <p:nvSpPr>
          <p:cNvPr id="291" name="Text 288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63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6861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(67,58 %) y una bajísima efectividad sobre contacto (1,21 %), lo que justifica que se haya pausado a partir de febrero.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52322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sólo estuvo activa en enero de 2026 (campaña táctica sobre base histórica de clientes satisfechos).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51356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62,7 % de los registros aptos gestionados.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463747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8216595" y="1200894"/>
            <a:ext cx="1872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 / Producto Activo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15697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4374991" y="1200894"/>
            <a:ext cx="15609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 / experiencia</a:t>
            </a:r>
            <a:endParaRPr lang="en-US" sz="552" dirty="0"/>
          </a:p>
        </p:txBody>
      </p:sp>
      <p:sp>
        <p:nvSpPr>
          <p:cNvPr id="15" name="Text 12"/>
          <p:cNvSpPr/>
          <p:nvPr/>
        </p:nvSpPr>
        <p:spPr>
          <a:xfrm>
            <a:off x="714357" y="6091238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 / Sin Teléfono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533387" y="809625"/>
            <a:ext cx="15767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 / No apto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13095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4374991" y="809625"/>
            <a:ext cx="12459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6267293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8" name="Text 45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2314916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5205169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3" name="Text 50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64" name="Text 6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5" name="Text 6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6" name="Text 63"/>
          <p:cNvSpPr/>
          <p:nvPr/>
        </p:nvSpPr>
        <p:spPr>
          <a:xfrm>
            <a:off x="533387" y="952500"/>
            <a:ext cx="568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67" name="Text 64"/>
          <p:cNvSpPr/>
          <p:nvPr/>
        </p:nvSpPr>
        <p:spPr>
          <a:xfrm>
            <a:off x="8216595" y="952500"/>
            <a:ext cx="58856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68" name="Text 65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8077397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10967650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5" name="Text 112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6" name="Text 113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374991" y="952500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28" y="3020169"/>
            <a:ext cx="5060575" cy="24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sin descarte: el insumo se fabrica directamente desde Xuma con registros ya validados, por lo que el 100 % de la base recibida es apta para gestión — no existe rechazo en esta campaña.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267833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Alto porcentaje de contactabilidad = mayor efectividad.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4374991" y="1200894"/>
            <a:ext cx="194619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685783" y="6540103"/>
            <a:ext cx="22142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soporte efectiva para Masiva Voluntarios.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177030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66965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cumple requisito de edad (&gt;69 años)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8216595" y="1200894"/>
            <a:ext cx="16046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714357" y="5944791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85783" y="6247209"/>
            <a:ext cx="13760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oportunidad de venta.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09585" y="1486644"/>
            <a:ext cx="1470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Insumo Recibido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685783" y="6100763"/>
            <a:ext cx="12031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Fabricación desde Xuma.</a:t>
            </a:r>
            <a:endParaRPr lang="en-US" sz="744" dirty="0"/>
          </a:p>
        </p:txBody>
      </p:sp>
      <p:sp>
        <p:nvSpPr>
          <p:cNvPr id="22" name="Text 19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2572756" y="1681930"/>
            <a:ext cx="3361171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4374991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1" name="Text 28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95288" y="199149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17,8 %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14,3 %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19,3 %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16,1 %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64" name="Text 61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15,4 %</a:t>
            </a:r>
            <a:endParaRPr lang="en-US" sz="552" dirty="0"/>
          </a:p>
        </p:txBody>
      </p:sp>
      <p:sp>
        <p:nvSpPr>
          <p:cNvPr id="65" name="Text 62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12,4 %</a:t>
            </a:r>
            <a:endParaRPr lang="en-US" sz="552" dirty="0"/>
          </a:p>
        </p:txBody>
      </p:sp>
      <p:sp>
        <p:nvSpPr>
          <p:cNvPr id="66" name="Text 63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67" name="Text 64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29,5 %</a:t>
            </a:r>
            <a:endParaRPr lang="en-US" sz="552" dirty="0"/>
          </a:p>
        </p:txBody>
      </p:sp>
      <p:sp>
        <p:nvSpPr>
          <p:cNvPr id="68" name="Text 65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28,6 %</a:t>
            </a:r>
            <a:endParaRPr lang="en-US" sz="552" dirty="0"/>
          </a:p>
        </p:txBody>
      </p:sp>
      <p:sp>
        <p:nvSpPr>
          <p:cNvPr id="69" name="Text 66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70" name="Text 67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16,8 %</a:t>
            </a:r>
            <a:endParaRPr lang="en-US" sz="552" dirty="0"/>
          </a:p>
        </p:txBody>
      </p:sp>
      <p:sp>
        <p:nvSpPr>
          <p:cNvPr id="71" name="Text 68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2" name="Text 69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3" name="Text 70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74" name="Text 71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552" dirty="0"/>
          </a:p>
        </p:txBody>
      </p:sp>
      <p:sp>
        <p:nvSpPr>
          <p:cNvPr id="75" name="Text 72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10,8 %</a:t>
            </a:r>
            <a:endParaRPr lang="en-US" sz="552" dirty="0"/>
          </a:p>
        </p:txBody>
      </p:sp>
      <p:sp>
        <p:nvSpPr>
          <p:cNvPr id="76" name="Text 73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77" name="Text 74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78" name="Text 75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79" name="Text 76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12,3 %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11,9 %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13,2 %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31,5 %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533387" y="952500"/>
            <a:ext cx="57784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98" name="Text 95"/>
          <p:cNvSpPr/>
          <p:nvPr/>
        </p:nvSpPr>
        <p:spPr>
          <a:xfrm>
            <a:off x="4374991" y="952500"/>
            <a:ext cx="538245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99" name="Text 96"/>
          <p:cNvSpPr/>
          <p:nvPr/>
        </p:nvSpPr>
        <p:spPr>
          <a:xfrm>
            <a:off x="495288" y="1853380"/>
            <a:ext cx="224062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2572756" y="1853380"/>
            <a:ext cx="3361171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2572756" y="199149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495288" y="2134367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2572756" y="2134367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104" name="Text 101"/>
          <p:cNvSpPr/>
          <p:nvPr/>
        </p:nvSpPr>
        <p:spPr>
          <a:xfrm>
            <a:off x="495288" y="227724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05" name="Text 102"/>
          <p:cNvSpPr/>
          <p:nvPr/>
        </p:nvSpPr>
        <p:spPr>
          <a:xfrm>
            <a:off x="2572756" y="227724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2572756" y="2420117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495288" y="256299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08" name="Text 105"/>
          <p:cNvSpPr/>
          <p:nvPr/>
        </p:nvSpPr>
        <p:spPr>
          <a:xfrm>
            <a:off x="2572756" y="256299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109" name="Text 106"/>
          <p:cNvSpPr/>
          <p:nvPr/>
        </p:nvSpPr>
        <p:spPr>
          <a:xfrm>
            <a:off x="495288" y="2705867"/>
            <a:ext cx="224062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10" name="Text 107"/>
          <p:cNvSpPr/>
          <p:nvPr/>
        </p:nvSpPr>
        <p:spPr>
          <a:xfrm>
            <a:off x="2572756" y="2705867"/>
            <a:ext cx="3361171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636" dirty="0"/>
          </a:p>
        </p:txBody>
      </p:sp>
      <p:sp>
        <p:nvSpPr>
          <p:cNvPr id="111" name="Text 108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13" name="Text 110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114" name="Text 111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115" name="Text 112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16" name="Text 113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120" name="Text 117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21" name="Text 118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122" name="Text 119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23" name="Text 12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636" dirty="0"/>
          </a:p>
        </p:txBody>
      </p:sp>
      <p:sp>
        <p:nvSpPr>
          <p:cNvPr id="125" name="Text 122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6" name="Text 123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8,8 %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36" name="Text 133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37" name="Text 134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38" name="Text 135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39" name="Text 136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40" name="Text 137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41" name="Text 13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42" name="Text 13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143" name="Text 140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44" name="Text 141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45" name="Text 142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146" name="Text 143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47" name="Text 144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48" name="Text 145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49" name="Text 146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9,3 %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8,3 %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8,4 %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59" name="Text 156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60" name="Text 157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807739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856018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904297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952575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1000854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10491329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10967650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8216595" y="952500"/>
            <a:ext cx="479087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  <p:sp>
        <p:nvSpPr>
          <p:cNvPr id="182" name="Text 179"/>
          <p:cNvSpPr/>
          <p:nvPr/>
        </p:nvSpPr>
        <p:spPr>
          <a:xfrm>
            <a:off x="495288" y="2420117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83" name="Text 180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84" name="Text 181"/>
          <p:cNvSpPr/>
          <p:nvPr/>
        </p:nvSpPr>
        <p:spPr>
          <a:xfrm>
            <a:off x="495288" y="1681930"/>
            <a:ext cx="224062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85" name="Text 182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86" name="Text 183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264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36" dirty="0"/>
          </a:p>
        </p:txBody>
      </p:sp>
      <p:sp>
        <p:nvSpPr>
          <p:cNvPr id="190" name="Text 187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636" dirty="0"/>
          </a:p>
        </p:txBody>
      </p:sp>
      <p:sp>
        <p:nvSpPr>
          <p:cNvPr id="191" name="Text 188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211</a:t>
            </a:r>
            <a:endParaRPr lang="en-US" sz="636" dirty="0"/>
          </a:p>
        </p:txBody>
      </p:sp>
      <p:sp>
        <p:nvSpPr>
          <p:cNvPr id="192" name="Text 189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93" name="Text 190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94" name="Text 191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95" name="Text 192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96" name="Text 193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97" name="Text 194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58362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(4 ventas totales, 0,38 % del apto), lo que sustentó su suspensión inmediata.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52061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sólo estuvo activa en enero de 2026 (campaña táctica sobre solicitudes de cancelaciones previas).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44363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Microseguro Activo (33,8 %) y NIT de Empresa (33,3 %).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489856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18158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4374991" y="1200894"/>
            <a:ext cx="17083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372066" y="1486644"/>
            <a:ext cx="18149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Insumo Apto, Contacto y Ventas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8216595" y="1200894"/>
            <a:ext cx="1421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714357" y="6091238"/>
            <a:ext cx="15686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 Clave de la Base: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533387" y="809625"/>
            <a:ext cx="13153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4374991" y="809625"/>
            <a:ext cx="14096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6267293" y="46203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8216595" y="809625"/>
            <a:ext cx="10203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Errada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Vacío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49" name="Text 46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50" name="Text 47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51" name="Text 48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52" name="Text 49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53" name="Text 50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533387" y="952500"/>
            <a:ext cx="572635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59" name="Text 56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68" name="Text 65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5" name="Text 7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6" name="Text 73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77" name="Text 74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8077397" y="46203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967650" y="46203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4374991" y="952500"/>
            <a:ext cx="481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  <p:sp>
        <p:nvSpPr>
          <p:cNvPr id="92" name="Text 89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2314916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4" name="Text 101"/>
          <p:cNvSpPr/>
          <p:nvPr/>
        </p:nvSpPr>
        <p:spPr>
          <a:xfrm>
            <a:off x="5205169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5" name="Text 102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3" name="Text 110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5" name="Text 112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17" name="Text 114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1871" y="6051203"/>
            <a:ext cx="6140242" cy="46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equipo que rinde: el equipo creció de 15 a 21 asesores (+40 %), pero la productividad media bajó de 150 a 110 pólizas/asesor. El top 5 concentra el 37 % de las ventas (4.279 pólizas): el reto del 2S no es sumar gente, es nivelar al resto hacia ese estándar.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857229" y="1028700"/>
            <a:ext cx="298453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Equipo activo a junio (21 asesores) · histórico ene–jun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809605" y="6534150"/>
            <a:ext cx="2227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</a:t>
            </a: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4.279 pólizas (37 %)</a:t>
            </a: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semestre.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57229" y="5943600"/>
            <a:ext cx="2183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Lectura del equipo </a:t>
            </a: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asesores activos por mes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3259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1240749" y="307957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660" dirty="0"/>
          </a:p>
        </p:txBody>
      </p:sp>
      <p:sp>
        <p:nvSpPr>
          <p:cNvPr id="9" name="Text 6"/>
          <p:cNvSpPr/>
          <p:nvPr/>
        </p:nvSpPr>
        <p:spPr>
          <a:xfrm>
            <a:off x="1240749" y="47525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660" dirty="0"/>
          </a:p>
        </p:txBody>
      </p:sp>
      <p:sp>
        <p:nvSpPr>
          <p:cNvPr id="10" name="Text 7"/>
          <p:cNvSpPr/>
          <p:nvPr/>
        </p:nvSpPr>
        <p:spPr>
          <a:xfrm>
            <a:off x="1240749" y="19758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240749" y="21617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1240749" y="16040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1240749" y="3451347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240749" y="1424010"/>
            <a:ext cx="396390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240749" y="289368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240749" y="326546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240749" y="270780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1240749" y="4009006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240749" y="3637233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1240749" y="17899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1240749" y="512432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240749" y="41948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240749" y="45666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240749" y="2347638"/>
            <a:ext cx="396390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240749" y="493843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240749" y="3823120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240749" y="252191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1240749" y="43807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1240749" y="1233510"/>
            <a:ext cx="396390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10377663" y="5310210"/>
            <a:ext cx="1109200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13.499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10377663" y="1233510"/>
            <a:ext cx="1109200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10377663" y="1424010"/>
            <a:ext cx="1109200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660" dirty="0"/>
          </a:p>
        </p:txBody>
      </p:sp>
      <p:sp>
        <p:nvSpPr>
          <p:cNvPr id="33" name="Text 30"/>
          <p:cNvSpPr/>
          <p:nvPr/>
        </p:nvSpPr>
        <p:spPr>
          <a:xfrm>
            <a:off x="10377663" y="16040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660" dirty="0"/>
          </a:p>
        </p:txBody>
      </p:sp>
      <p:sp>
        <p:nvSpPr>
          <p:cNvPr id="34" name="Text 31"/>
          <p:cNvSpPr/>
          <p:nvPr/>
        </p:nvSpPr>
        <p:spPr>
          <a:xfrm>
            <a:off x="1240749" y="5310210"/>
            <a:ext cx="396390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5062670" y="5310210"/>
            <a:ext cx="91084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2.109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5946958" y="5310210"/>
            <a:ext cx="91176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2.344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6832375" y="5310210"/>
            <a:ext cx="904559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2.313</a:t>
            </a:r>
            <a:endParaRPr lang="en-US" sz="696" dirty="0"/>
          </a:p>
        </p:txBody>
      </p:sp>
      <p:sp>
        <p:nvSpPr>
          <p:cNvPr id="38" name="Text 35"/>
          <p:cNvSpPr/>
          <p:nvPr/>
        </p:nvSpPr>
        <p:spPr>
          <a:xfrm>
            <a:off x="7710494" y="5310210"/>
            <a:ext cx="907778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2.235</a:t>
            </a:r>
            <a:endParaRPr lang="en-US" sz="696" dirty="0"/>
          </a:p>
        </p:txBody>
      </p:sp>
      <p:sp>
        <p:nvSpPr>
          <p:cNvPr id="39" name="Text 36"/>
          <p:cNvSpPr/>
          <p:nvPr/>
        </p:nvSpPr>
        <p:spPr>
          <a:xfrm>
            <a:off x="8590667" y="5310210"/>
            <a:ext cx="947787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2.184</a:t>
            </a:r>
            <a:endParaRPr lang="en-US" sz="696" dirty="0"/>
          </a:p>
        </p:txBody>
      </p:sp>
      <p:sp>
        <p:nvSpPr>
          <p:cNvPr id="40" name="Text 37"/>
          <p:cNvSpPr/>
          <p:nvPr/>
        </p:nvSpPr>
        <p:spPr>
          <a:xfrm>
            <a:off x="9512308" y="5310210"/>
            <a:ext cx="897661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96" dirty="0"/>
          </a:p>
        </p:txBody>
      </p:sp>
      <p:sp>
        <p:nvSpPr>
          <p:cNvPr id="41" name="Text 38"/>
          <p:cNvSpPr/>
          <p:nvPr/>
        </p:nvSpPr>
        <p:spPr>
          <a:xfrm>
            <a:off x="809605" y="55435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</a:t>
            </a:r>
            <a:endParaRPr lang="en-US" sz="648" dirty="0"/>
          </a:p>
        </p:txBody>
      </p:sp>
      <p:sp>
        <p:nvSpPr>
          <p:cNvPr id="42" name="Text 39"/>
          <p:cNvSpPr/>
          <p:nvPr/>
        </p:nvSpPr>
        <p:spPr>
          <a:xfrm>
            <a:off x="5062670" y="1233510"/>
            <a:ext cx="91084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5946958" y="1233510"/>
            <a:ext cx="91176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6832375" y="1233510"/>
            <a:ext cx="904559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7710494" y="1233510"/>
            <a:ext cx="907778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590667" y="1233510"/>
            <a:ext cx="947787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9512308" y="1233510"/>
            <a:ext cx="897661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062670" y="1424010"/>
            <a:ext cx="91084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660" dirty="0"/>
          </a:p>
        </p:txBody>
      </p:sp>
      <p:sp>
        <p:nvSpPr>
          <p:cNvPr id="49" name="Text 46"/>
          <p:cNvSpPr/>
          <p:nvPr/>
        </p:nvSpPr>
        <p:spPr>
          <a:xfrm>
            <a:off x="5946958" y="1424010"/>
            <a:ext cx="91176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660" dirty="0"/>
          </a:p>
        </p:txBody>
      </p:sp>
      <p:sp>
        <p:nvSpPr>
          <p:cNvPr id="50" name="Text 47"/>
          <p:cNvSpPr/>
          <p:nvPr/>
        </p:nvSpPr>
        <p:spPr>
          <a:xfrm>
            <a:off x="6832375" y="1424010"/>
            <a:ext cx="904559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660" dirty="0"/>
          </a:p>
        </p:txBody>
      </p:sp>
      <p:sp>
        <p:nvSpPr>
          <p:cNvPr id="51" name="Text 48"/>
          <p:cNvSpPr/>
          <p:nvPr/>
        </p:nvSpPr>
        <p:spPr>
          <a:xfrm>
            <a:off x="7710494" y="1424010"/>
            <a:ext cx="907778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660" dirty="0"/>
          </a:p>
        </p:txBody>
      </p:sp>
      <p:sp>
        <p:nvSpPr>
          <p:cNvPr id="52" name="Text 49"/>
          <p:cNvSpPr/>
          <p:nvPr/>
        </p:nvSpPr>
        <p:spPr>
          <a:xfrm>
            <a:off x="8590667" y="1424010"/>
            <a:ext cx="947787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660" dirty="0"/>
          </a:p>
        </p:txBody>
      </p:sp>
      <p:sp>
        <p:nvSpPr>
          <p:cNvPr id="53" name="Text 50"/>
          <p:cNvSpPr/>
          <p:nvPr/>
        </p:nvSpPr>
        <p:spPr>
          <a:xfrm>
            <a:off x="9512308" y="1424010"/>
            <a:ext cx="897661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660" dirty="0"/>
          </a:p>
        </p:txBody>
      </p:sp>
      <p:sp>
        <p:nvSpPr>
          <p:cNvPr id="54" name="Text 51"/>
          <p:cNvSpPr/>
          <p:nvPr/>
        </p:nvSpPr>
        <p:spPr>
          <a:xfrm>
            <a:off x="5062670" y="160409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55" name="Text 52"/>
          <p:cNvSpPr/>
          <p:nvPr/>
        </p:nvSpPr>
        <p:spPr>
          <a:xfrm>
            <a:off x="5946958" y="16040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6832375" y="16040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7710494" y="16040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8590667" y="16040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660" dirty="0"/>
          </a:p>
        </p:txBody>
      </p:sp>
      <p:sp>
        <p:nvSpPr>
          <p:cNvPr id="59" name="Text 56"/>
          <p:cNvSpPr/>
          <p:nvPr/>
        </p:nvSpPr>
        <p:spPr>
          <a:xfrm>
            <a:off x="9512308" y="16040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5062670" y="1789979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5946958" y="1789979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6832375" y="1789979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7710494" y="1789979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8590667" y="17899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9512308" y="17899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10377663" y="17899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5062670" y="197586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5946958" y="197586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6832375" y="197586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7710494" y="19758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8590667" y="19758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9512308" y="19758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10377663" y="19758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5062670" y="216175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5946958" y="216175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6832375" y="216175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7710494" y="216175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8590667" y="216175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9512308" y="21617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10377663" y="21617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5062670" y="2347638"/>
            <a:ext cx="91084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5946958" y="2347638"/>
            <a:ext cx="91176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6832375" y="2347638"/>
            <a:ext cx="904559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7710494" y="2347638"/>
            <a:ext cx="907778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9512308" y="2347638"/>
            <a:ext cx="897661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10377663" y="2347638"/>
            <a:ext cx="1109200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5062670" y="252191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88" name="Text 85"/>
          <p:cNvSpPr/>
          <p:nvPr/>
        </p:nvSpPr>
        <p:spPr>
          <a:xfrm>
            <a:off x="5946958" y="252191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660" dirty="0"/>
          </a:p>
        </p:txBody>
      </p:sp>
      <p:sp>
        <p:nvSpPr>
          <p:cNvPr id="89" name="Text 86"/>
          <p:cNvSpPr/>
          <p:nvPr/>
        </p:nvSpPr>
        <p:spPr>
          <a:xfrm>
            <a:off x="6832375" y="252191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0" name="Text 87"/>
          <p:cNvSpPr/>
          <p:nvPr/>
        </p:nvSpPr>
        <p:spPr>
          <a:xfrm>
            <a:off x="7710494" y="252191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91" name="Text 88"/>
          <p:cNvSpPr/>
          <p:nvPr/>
        </p:nvSpPr>
        <p:spPr>
          <a:xfrm>
            <a:off x="8590667" y="252191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92" name="Text 89"/>
          <p:cNvSpPr/>
          <p:nvPr/>
        </p:nvSpPr>
        <p:spPr>
          <a:xfrm>
            <a:off x="9512308" y="252191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93" name="Text 90"/>
          <p:cNvSpPr/>
          <p:nvPr/>
        </p:nvSpPr>
        <p:spPr>
          <a:xfrm>
            <a:off x="10377663" y="252191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660" dirty="0"/>
          </a:p>
        </p:txBody>
      </p:sp>
      <p:sp>
        <p:nvSpPr>
          <p:cNvPr id="94" name="Text 91"/>
          <p:cNvSpPr/>
          <p:nvPr/>
        </p:nvSpPr>
        <p:spPr>
          <a:xfrm>
            <a:off x="5062670" y="270780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95" name="Text 92"/>
          <p:cNvSpPr/>
          <p:nvPr/>
        </p:nvSpPr>
        <p:spPr>
          <a:xfrm>
            <a:off x="5946958" y="270780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60" dirty="0"/>
          </a:p>
        </p:txBody>
      </p:sp>
      <p:sp>
        <p:nvSpPr>
          <p:cNvPr id="96" name="Text 93"/>
          <p:cNvSpPr/>
          <p:nvPr/>
        </p:nvSpPr>
        <p:spPr>
          <a:xfrm>
            <a:off x="6832375" y="270780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660" dirty="0"/>
          </a:p>
        </p:txBody>
      </p:sp>
      <p:sp>
        <p:nvSpPr>
          <p:cNvPr id="97" name="Text 94"/>
          <p:cNvSpPr/>
          <p:nvPr/>
        </p:nvSpPr>
        <p:spPr>
          <a:xfrm>
            <a:off x="7710494" y="270780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98" name="Text 95"/>
          <p:cNvSpPr/>
          <p:nvPr/>
        </p:nvSpPr>
        <p:spPr>
          <a:xfrm>
            <a:off x="8590667" y="270780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99" name="Text 96"/>
          <p:cNvSpPr/>
          <p:nvPr/>
        </p:nvSpPr>
        <p:spPr>
          <a:xfrm>
            <a:off x="9512308" y="270780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696" dirty="0"/>
          </a:p>
        </p:txBody>
      </p:sp>
      <p:sp>
        <p:nvSpPr>
          <p:cNvPr id="100" name="Text 97"/>
          <p:cNvSpPr/>
          <p:nvPr/>
        </p:nvSpPr>
        <p:spPr>
          <a:xfrm>
            <a:off x="10377663" y="270780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660" dirty="0"/>
          </a:p>
        </p:txBody>
      </p:sp>
      <p:sp>
        <p:nvSpPr>
          <p:cNvPr id="101" name="Text 98"/>
          <p:cNvSpPr/>
          <p:nvPr/>
        </p:nvSpPr>
        <p:spPr>
          <a:xfrm>
            <a:off x="5062670" y="2893688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2" name="Text 99"/>
          <p:cNvSpPr/>
          <p:nvPr/>
        </p:nvSpPr>
        <p:spPr>
          <a:xfrm>
            <a:off x="5946958" y="2893688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6832375" y="2893688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660" dirty="0"/>
          </a:p>
        </p:txBody>
      </p:sp>
      <p:sp>
        <p:nvSpPr>
          <p:cNvPr id="104" name="Text 101"/>
          <p:cNvSpPr/>
          <p:nvPr/>
        </p:nvSpPr>
        <p:spPr>
          <a:xfrm>
            <a:off x="7710494" y="2893688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05" name="Text 102"/>
          <p:cNvSpPr/>
          <p:nvPr/>
        </p:nvSpPr>
        <p:spPr>
          <a:xfrm>
            <a:off x="8590667" y="289368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9512308" y="289368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07" name="Text 104"/>
          <p:cNvSpPr/>
          <p:nvPr/>
        </p:nvSpPr>
        <p:spPr>
          <a:xfrm>
            <a:off x="10377663" y="289368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5062670" y="3079574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5946958" y="3079574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6832375" y="3079574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7710494" y="3079574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8590667" y="3079574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13" name="Text 110"/>
          <p:cNvSpPr/>
          <p:nvPr/>
        </p:nvSpPr>
        <p:spPr>
          <a:xfrm>
            <a:off x="10377663" y="307957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660" dirty="0"/>
          </a:p>
        </p:txBody>
      </p:sp>
      <p:sp>
        <p:nvSpPr>
          <p:cNvPr id="114" name="Text 111"/>
          <p:cNvSpPr/>
          <p:nvPr/>
        </p:nvSpPr>
        <p:spPr>
          <a:xfrm>
            <a:off x="5062670" y="326546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696" dirty="0"/>
          </a:p>
        </p:txBody>
      </p:sp>
      <p:sp>
        <p:nvSpPr>
          <p:cNvPr id="115" name="Text 112"/>
          <p:cNvSpPr/>
          <p:nvPr/>
        </p:nvSpPr>
        <p:spPr>
          <a:xfrm>
            <a:off x="5946958" y="326546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6832375" y="326546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7" name="Text 114"/>
          <p:cNvSpPr/>
          <p:nvPr/>
        </p:nvSpPr>
        <p:spPr>
          <a:xfrm>
            <a:off x="7710494" y="326546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8590667" y="326546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96" dirty="0"/>
          </a:p>
        </p:txBody>
      </p:sp>
      <p:sp>
        <p:nvSpPr>
          <p:cNvPr id="119" name="Text 116"/>
          <p:cNvSpPr/>
          <p:nvPr/>
        </p:nvSpPr>
        <p:spPr>
          <a:xfrm>
            <a:off x="10377663" y="326546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660" dirty="0"/>
          </a:p>
        </p:txBody>
      </p:sp>
      <p:sp>
        <p:nvSpPr>
          <p:cNvPr id="120" name="Text 117"/>
          <p:cNvSpPr/>
          <p:nvPr/>
        </p:nvSpPr>
        <p:spPr>
          <a:xfrm>
            <a:off x="5062670" y="3451347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121" name="Text 118"/>
          <p:cNvSpPr/>
          <p:nvPr/>
        </p:nvSpPr>
        <p:spPr>
          <a:xfrm>
            <a:off x="5946958" y="3451347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22" name="Text 119"/>
          <p:cNvSpPr/>
          <p:nvPr/>
        </p:nvSpPr>
        <p:spPr>
          <a:xfrm>
            <a:off x="7710494" y="3451347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96" dirty="0"/>
          </a:p>
        </p:txBody>
      </p:sp>
      <p:sp>
        <p:nvSpPr>
          <p:cNvPr id="123" name="Text 120"/>
          <p:cNvSpPr/>
          <p:nvPr/>
        </p:nvSpPr>
        <p:spPr>
          <a:xfrm>
            <a:off x="9512308" y="3451347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96" dirty="0"/>
          </a:p>
        </p:txBody>
      </p:sp>
      <p:sp>
        <p:nvSpPr>
          <p:cNvPr id="124" name="Text 121"/>
          <p:cNvSpPr/>
          <p:nvPr/>
        </p:nvSpPr>
        <p:spPr>
          <a:xfrm>
            <a:off x="10377663" y="3451347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5062670" y="3637233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5946958" y="3637233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27" name="Text 124"/>
          <p:cNvSpPr/>
          <p:nvPr/>
        </p:nvSpPr>
        <p:spPr>
          <a:xfrm>
            <a:off x="6832375" y="3637233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128" name="Text 125"/>
          <p:cNvSpPr/>
          <p:nvPr/>
        </p:nvSpPr>
        <p:spPr>
          <a:xfrm>
            <a:off x="10377663" y="3637233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660" dirty="0"/>
          </a:p>
        </p:txBody>
      </p:sp>
      <p:sp>
        <p:nvSpPr>
          <p:cNvPr id="129" name="Text 126"/>
          <p:cNvSpPr/>
          <p:nvPr/>
        </p:nvSpPr>
        <p:spPr>
          <a:xfrm>
            <a:off x="5062670" y="3823120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96" dirty="0"/>
          </a:p>
        </p:txBody>
      </p:sp>
      <p:sp>
        <p:nvSpPr>
          <p:cNvPr id="130" name="Text 127"/>
          <p:cNvSpPr/>
          <p:nvPr/>
        </p:nvSpPr>
        <p:spPr>
          <a:xfrm>
            <a:off x="5946958" y="3823120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7710494" y="3823120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96" dirty="0"/>
          </a:p>
        </p:txBody>
      </p:sp>
      <p:sp>
        <p:nvSpPr>
          <p:cNvPr id="132" name="Text 129"/>
          <p:cNvSpPr/>
          <p:nvPr/>
        </p:nvSpPr>
        <p:spPr>
          <a:xfrm>
            <a:off x="10377663" y="3823120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6832375" y="4009006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7710494" y="4009006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8590667" y="4009006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36" name="Text 133"/>
          <p:cNvSpPr/>
          <p:nvPr/>
        </p:nvSpPr>
        <p:spPr>
          <a:xfrm>
            <a:off x="9512308" y="4009006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96" dirty="0"/>
          </a:p>
        </p:txBody>
      </p:sp>
      <p:sp>
        <p:nvSpPr>
          <p:cNvPr id="137" name="Text 134"/>
          <p:cNvSpPr/>
          <p:nvPr/>
        </p:nvSpPr>
        <p:spPr>
          <a:xfrm>
            <a:off x="10377663" y="4009006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6832375" y="41948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696" dirty="0"/>
          </a:p>
        </p:txBody>
      </p:sp>
      <p:sp>
        <p:nvSpPr>
          <p:cNvPr id="139" name="Text 136"/>
          <p:cNvSpPr/>
          <p:nvPr/>
        </p:nvSpPr>
        <p:spPr>
          <a:xfrm>
            <a:off x="8590667" y="41948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696" dirty="0"/>
          </a:p>
        </p:txBody>
      </p:sp>
      <p:sp>
        <p:nvSpPr>
          <p:cNvPr id="140" name="Text 137"/>
          <p:cNvSpPr/>
          <p:nvPr/>
        </p:nvSpPr>
        <p:spPr>
          <a:xfrm>
            <a:off x="9512308" y="41948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696" dirty="0"/>
          </a:p>
        </p:txBody>
      </p:sp>
      <p:sp>
        <p:nvSpPr>
          <p:cNvPr id="141" name="Text 138"/>
          <p:cNvSpPr/>
          <p:nvPr/>
        </p:nvSpPr>
        <p:spPr>
          <a:xfrm>
            <a:off x="10377663" y="41948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8590667" y="43807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96" dirty="0"/>
          </a:p>
        </p:txBody>
      </p:sp>
      <p:sp>
        <p:nvSpPr>
          <p:cNvPr id="143" name="Text 140"/>
          <p:cNvSpPr/>
          <p:nvPr/>
        </p:nvSpPr>
        <p:spPr>
          <a:xfrm>
            <a:off x="9512308" y="43807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44" name="Text 141"/>
          <p:cNvSpPr/>
          <p:nvPr/>
        </p:nvSpPr>
        <p:spPr>
          <a:xfrm>
            <a:off x="10377663" y="43807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10377663" y="45666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6" name="Text 143"/>
          <p:cNvSpPr/>
          <p:nvPr/>
        </p:nvSpPr>
        <p:spPr>
          <a:xfrm>
            <a:off x="734737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24" dirty="0"/>
          </a:p>
        </p:txBody>
      </p:sp>
      <p:sp>
        <p:nvSpPr>
          <p:cNvPr id="147" name="Text 144"/>
          <p:cNvSpPr/>
          <p:nvPr/>
        </p:nvSpPr>
        <p:spPr>
          <a:xfrm>
            <a:off x="104032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24" dirty="0"/>
          </a:p>
        </p:txBody>
      </p:sp>
      <p:sp>
        <p:nvSpPr>
          <p:cNvPr id="148" name="Text 145"/>
          <p:cNvSpPr/>
          <p:nvPr/>
        </p:nvSpPr>
        <p:spPr>
          <a:xfrm>
            <a:off x="1343848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49" name="Text 146"/>
          <p:cNvSpPr/>
          <p:nvPr/>
        </p:nvSpPr>
        <p:spPr>
          <a:xfrm>
            <a:off x="1653851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24" dirty="0"/>
          </a:p>
        </p:txBody>
      </p:sp>
      <p:sp>
        <p:nvSpPr>
          <p:cNvPr id="150" name="Text 147"/>
          <p:cNvSpPr/>
          <p:nvPr/>
        </p:nvSpPr>
        <p:spPr>
          <a:xfrm>
            <a:off x="1946965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24" dirty="0"/>
          </a:p>
        </p:txBody>
      </p:sp>
      <p:sp>
        <p:nvSpPr>
          <p:cNvPr id="151" name="Text 148"/>
          <p:cNvSpPr/>
          <p:nvPr/>
        </p:nvSpPr>
        <p:spPr>
          <a:xfrm>
            <a:off x="226296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52" name="Text 149"/>
          <p:cNvSpPr/>
          <p:nvPr/>
        </p:nvSpPr>
        <p:spPr>
          <a:xfrm>
            <a:off x="8590667" y="2347638"/>
            <a:ext cx="947787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60" dirty="0"/>
          </a:p>
        </p:txBody>
      </p:sp>
      <p:sp>
        <p:nvSpPr>
          <p:cNvPr id="153" name="Text 150"/>
          <p:cNvSpPr/>
          <p:nvPr/>
        </p:nvSpPr>
        <p:spPr>
          <a:xfrm>
            <a:off x="688755" y="3079574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624" dirty="0"/>
          </a:p>
        </p:txBody>
      </p:sp>
      <p:sp>
        <p:nvSpPr>
          <p:cNvPr id="154" name="Text 151"/>
          <p:cNvSpPr/>
          <p:nvPr/>
        </p:nvSpPr>
        <p:spPr>
          <a:xfrm>
            <a:off x="9512308" y="307957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96" dirty="0"/>
          </a:p>
        </p:txBody>
      </p:sp>
      <p:sp>
        <p:nvSpPr>
          <p:cNvPr id="155" name="Text 152"/>
          <p:cNvSpPr/>
          <p:nvPr/>
        </p:nvSpPr>
        <p:spPr>
          <a:xfrm>
            <a:off x="688755" y="3265461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624" dirty="0"/>
          </a:p>
        </p:txBody>
      </p:sp>
      <p:sp>
        <p:nvSpPr>
          <p:cNvPr id="156" name="Text 153"/>
          <p:cNvSpPr/>
          <p:nvPr/>
        </p:nvSpPr>
        <p:spPr>
          <a:xfrm>
            <a:off x="9512308" y="326546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157" name="Text 154"/>
          <p:cNvSpPr/>
          <p:nvPr/>
        </p:nvSpPr>
        <p:spPr>
          <a:xfrm>
            <a:off x="688755" y="3451347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624" dirty="0"/>
          </a:p>
        </p:txBody>
      </p:sp>
      <p:sp>
        <p:nvSpPr>
          <p:cNvPr id="158" name="Text 155"/>
          <p:cNvSpPr/>
          <p:nvPr/>
        </p:nvSpPr>
        <p:spPr>
          <a:xfrm>
            <a:off x="6832375" y="3451347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696" dirty="0"/>
          </a:p>
        </p:txBody>
      </p:sp>
      <p:sp>
        <p:nvSpPr>
          <p:cNvPr id="159" name="Text 156"/>
          <p:cNvSpPr/>
          <p:nvPr/>
        </p:nvSpPr>
        <p:spPr>
          <a:xfrm>
            <a:off x="8590667" y="3451347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60" name="Text 157"/>
          <p:cNvSpPr/>
          <p:nvPr/>
        </p:nvSpPr>
        <p:spPr>
          <a:xfrm>
            <a:off x="688755" y="3637233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24" dirty="0"/>
          </a:p>
        </p:txBody>
      </p:sp>
      <p:sp>
        <p:nvSpPr>
          <p:cNvPr id="161" name="Text 158"/>
          <p:cNvSpPr/>
          <p:nvPr/>
        </p:nvSpPr>
        <p:spPr>
          <a:xfrm>
            <a:off x="7710494" y="3637233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96" dirty="0"/>
          </a:p>
        </p:txBody>
      </p:sp>
      <p:sp>
        <p:nvSpPr>
          <p:cNvPr id="162" name="Text 159"/>
          <p:cNvSpPr/>
          <p:nvPr/>
        </p:nvSpPr>
        <p:spPr>
          <a:xfrm>
            <a:off x="8590667" y="3637233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96" dirty="0"/>
          </a:p>
        </p:txBody>
      </p:sp>
      <p:sp>
        <p:nvSpPr>
          <p:cNvPr id="163" name="Text 160"/>
          <p:cNvSpPr/>
          <p:nvPr/>
        </p:nvSpPr>
        <p:spPr>
          <a:xfrm>
            <a:off x="9512308" y="3637233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96" dirty="0"/>
          </a:p>
        </p:txBody>
      </p:sp>
      <p:sp>
        <p:nvSpPr>
          <p:cNvPr id="164" name="Text 161"/>
          <p:cNvSpPr/>
          <p:nvPr/>
        </p:nvSpPr>
        <p:spPr>
          <a:xfrm>
            <a:off x="688755" y="3823120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24" dirty="0"/>
          </a:p>
        </p:txBody>
      </p:sp>
      <p:sp>
        <p:nvSpPr>
          <p:cNvPr id="165" name="Text 162"/>
          <p:cNvSpPr/>
          <p:nvPr/>
        </p:nvSpPr>
        <p:spPr>
          <a:xfrm>
            <a:off x="6832375" y="3823120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96" dirty="0"/>
          </a:p>
        </p:txBody>
      </p:sp>
      <p:sp>
        <p:nvSpPr>
          <p:cNvPr id="166" name="Text 163"/>
          <p:cNvSpPr/>
          <p:nvPr/>
        </p:nvSpPr>
        <p:spPr>
          <a:xfrm>
            <a:off x="8590667" y="3823120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67" name="Text 164"/>
          <p:cNvSpPr/>
          <p:nvPr/>
        </p:nvSpPr>
        <p:spPr>
          <a:xfrm>
            <a:off x="9512308" y="3823120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96" dirty="0"/>
          </a:p>
        </p:txBody>
      </p:sp>
      <p:sp>
        <p:nvSpPr>
          <p:cNvPr id="168" name="Text 165"/>
          <p:cNvSpPr/>
          <p:nvPr/>
        </p:nvSpPr>
        <p:spPr>
          <a:xfrm>
            <a:off x="688755" y="4009006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24" dirty="0"/>
          </a:p>
        </p:txBody>
      </p:sp>
      <p:sp>
        <p:nvSpPr>
          <p:cNvPr id="169" name="Text 166"/>
          <p:cNvSpPr/>
          <p:nvPr/>
        </p:nvSpPr>
        <p:spPr>
          <a:xfrm>
            <a:off x="5946958" y="4009006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696" dirty="0"/>
          </a:p>
        </p:txBody>
      </p:sp>
      <p:sp>
        <p:nvSpPr>
          <p:cNvPr id="170" name="Text 167"/>
          <p:cNvSpPr/>
          <p:nvPr/>
        </p:nvSpPr>
        <p:spPr>
          <a:xfrm>
            <a:off x="688755" y="4194892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24" dirty="0"/>
          </a:p>
        </p:txBody>
      </p:sp>
      <p:sp>
        <p:nvSpPr>
          <p:cNvPr id="171" name="Text 168"/>
          <p:cNvSpPr/>
          <p:nvPr/>
        </p:nvSpPr>
        <p:spPr>
          <a:xfrm>
            <a:off x="5946958" y="41948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96" dirty="0"/>
          </a:p>
        </p:txBody>
      </p:sp>
      <p:sp>
        <p:nvSpPr>
          <p:cNvPr id="172" name="Text 169"/>
          <p:cNvSpPr/>
          <p:nvPr/>
        </p:nvSpPr>
        <p:spPr>
          <a:xfrm>
            <a:off x="7710494" y="41948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96" dirty="0"/>
          </a:p>
        </p:txBody>
      </p:sp>
      <p:sp>
        <p:nvSpPr>
          <p:cNvPr id="173" name="Text 170"/>
          <p:cNvSpPr/>
          <p:nvPr/>
        </p:nvSpPr>
        <p:spPr>
          <a:xfrm>
            <a:off x="688755" y="4380779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624" dirty="0"/>
          </a:p>
        </p:txBody>
      </p:sp>
      <p:sp>
        <p:nvSpPr>
          <p:cNvPr id="174" name="Text 171"/>
          <p:cNvSpPr/>
          <p:nvPr/>
        </p:nvSpPr>
        <p:spPr>
          <a:xfrm>
            <a:off x="688755" y="4566665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24" dirty="0"/>
          </a:p>
        </p:txBody>
      </p:sp>
      <p:sp>
        <p:nvSpPr>
          <p:cNvPr id="175" name="Text 172"/>
          <p:cNvSpPr/>
          <p:nvPr/>
        </p:nvSpPr>
        <p:spPr>
          <a:xfrm>
            <a:off x="7710494" y="45666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96" dirty="0"/>
          </a:p>
        </p:txBody>
      </p:sp>
      <p:sp>
        <p:nvSpPr>
          <p:cNvPr id="176" name="Text 173"/>
          <p:cNvSpPr/>
          <p:nvPr/>
        </p:nvSpPr>
        <p:spPr>
          <a:xfrm>
            <a:off x="8590667" y="45666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96" dirty="0"/>
          </a:p>
        </p:txBody>
      </p:sp>
      <p:sp>
        <p:nvSpPr>
          <p:cNvPr id="177" name="Text 174"/>
          <p:cNvSpPr/>
          <p:nvPr/>
        </p:nvSpPr>
        <p:spPr>
          <a:xfrm>
            <a:off x="9512308" y="45666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96" dirty="0"/>
          </a:p>
        </p:txBody>
      </p:sp>
      <p:sp>
        <p:nvSpPr>
          <p:cNvPr id="178" name="Text 175"/>
          <p:cNvSpPr/>
          <p:nvPr/>
        </p:nvSpPr>
        <p:spPr>
          <a:xfrm>
            <a:off x="688755" y="4752551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24" dirty="0"/>
          </a:p>
        </p:txBody>
      </p:sp>
      <p:sp>
        <p:nvSpPr>
          <p:cNvPr id="179" name="Text 176"/>
          <p:cNvSpPr/>
          <p:nvPr/>
        </p:nvSpPr>
        <p:spPr>
          <a:xfrm>
            <a:off x="9512308" y="47525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96" dirty="0"/>
          </a:p>
        </p:txBody>
      </p:sp>
      <p:sp>
        <p:nvSpPr>
          <p:cNvPr id="180" name="Text 177"/>
          <p:cNvSpPr/>
          <p:nvPr/>
        </p:nvSpPr>
        <p:spPr>
          <a:xfrm>
            <a:off x="10377663" y="47525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60" dirty="0"/>
          </a:p>
        </p:txBody>
      </p:sp>
      <p:sp>
        <p:nvSpPr>
          <p:cNvPr id="181" name="Text 178"/>
          <p:cNvSpPr/>
          <p:nvPr/>
        </p:nvSpPr>
        <p:spPr>
          <a:xfrm>
            <a:off x="688755" y="4938438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24" dirty="0"/>
          </a:p>
        </p:txBody>
      </p:sp>
      <p:sp>
        <p:nvSpPr>
          <p:cNvPr id="182" name="Text 179"/>
          <p:cNvSpPr/>
          <p:nvPr/>
        </p:nvSpPr>
        <p:spPr>
          <a:xfrm>
            <a:off x="8590667" y="493843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96" dirty="0"/>
          </a:p>
        </p:txBody>
      </p:sp>
      <p:sp>
        <p:nvSpPr>
          <p:cNvPr id="183" name="Text 180"/>
          <p:cNvSpPr/>
          <p:nvPr/>
        </p:nvSpPr>
        <p:spPr>
          <a:xfrm>
            <a:off x="9512308" y="493843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96" dirty="0"/>
          </a:p>
        </p:txBody>
      </p:sp>
      <p:sp>
        <p:nvSpPr>
          <p:cNvPr id="184" name="Text 181"/>
          <p:cNvSpPr/>
          <p:nvPr/>
        </p:nvSpPr>
        <p:spPr>
          <a:xfrm>
            <a:off x="10377663" y="493843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60" dirty="0"/>
          </a:p>
        </p:txBody>
      </p:sp>
      <p:sp>
        <p:nvSpPr>
          <p:cNvPr id="185" name="Text 182"/>
          <p:cNvSpPr/>
          <p:nvPr/>
        </p:nvSpPr>
        <p:spPr>
          <a:xfrm>
            <a:off x="688755" y="5124324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24" dirty="0"/>
          </a:p>
        </p:txBody>
      </p:sp>
      <p:sp>
        <p:nvSpPr>
          <p:cNvPr id="186" name="Text 183"/>
          <p:cNvSpPr/>
          <p:nvPr/>
        </p:nvSpPr>
        <p:spPr>
          <a:xfrm>
            <a:off x="9512308" y="512432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96" dirty="0"/>
          </a:p>
        </p:txBody>
      </p:sp>
      <p:sp>
        <p:nvSpPr>
          <p:cNvPr id="187" name="Text 184"/>
          <p:cNvSpPr/>
          <p:nvPr/>
        </p:nvSpPr>
        <p:spPr>
          <a:xfrm>
            <a:off x="10377663" y="512432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60" dirty="0"/>
          </a:p>
        </p:txBody>
      </p:sp>
      <p:sp>
        <p:nvSpPr>
          <p:cNvPr id="188" name="Text 185"/>
          <p:cNvSpPr/>
          <p:nvPr/>
        </p:nvSpPr>
        <p:spPr>
          <a:xfrm>
            <a:off x="754298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68" dirty="0"/>
          </a:p>
        </p:txBody>
      </p:sp>
      <p:sp>
        <p:nvSpPr>
          <p:cNvPr id="189" name="Text 186"/>
          <p:cNvSpPr/>
          <p:nvPr/>
        </p:nvSpPr>
        <p:spPr>
          <a:xfrm>
            <a:off x="1058149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68" dirty="0"/>
          </a:p>
        </p:txBody>
      </p:sp>
      <p:sp>
        <p:nvSpPr>
          <p:cNvPr id="190" name="Text 187"/>
          <p:cNvSpPr/>
          <p:nvPr/>
        </p:nvSpPr>
        <p:spPr>
          <a:xfrm>
            <a:off x="1361359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68" dirty="0"/>
          </a:p>
        </p:txBody>
      </p:sp>
      <p:sp>
        <p:nvSpPr>
          <p:cNvPr id="191" name="Text 188"/>
          <p:cNvSpPr/>
          <p:nvPr/>
        </p:nvSpPr>
        <p:spPr>
          <a:xfrm>
            <a:off x="1662528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2" name="Text 189"/>
          <p:cNvSpPr/>
          <p:nvPr/>
        </p:nvSpPr>
        <p:spPr>
          <a:xfrm>
            <a:off x="1967320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3" name="Text 190"/>
          <p:cNvSpPr/>
          <p:nvPr/>
        </p:nvSpPr>
        <p:spPr>
          <a:xfrm>
            <a:off x="2277156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6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5025" y="1133475"/>
            <a:ext cx="238806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 ventas</a:t>
            </a: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en 8 iniciativas · </a:t>
            </a:r>
            <a:r>
              <a:rPr lang="en-US" sz="816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Vanti</a:t>
            </a: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· </a:t>
            </a:r>
            <a:r>
              <a:rPr lang="en-US" sz="816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Xuma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285628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933427" y="1104900"/>
            <a:ext cx="145100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 ejecutado en el 1S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3571498" y="3448050"/>
            <a:ext cx="100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 </a:t>
            </a: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10182924" y="4697760"/>
            <a:ext cx="9971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 </a:t>
            </a: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792" dirty="0"/>
          </a:p>
        </p:txBody>
      </p:sp>
      <p:sp>
        <p:nvSpPr>
          <p:cNvPr id="8" name="Text 5"/>
          <p:cNvSpPr/>
          <p:nvPr/>
        </p:nvSpPr>
        <p:spPr>
          <a:xfrm>
            <a:off x="869264" y="3284190"/>
            <a:ext cx="12050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961780" y="3448050"/>
            <a:ext cx="9439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 </a:t>
            </a: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792" dirty="0"/>
          </a:p>
        </p:txBody>
      </p:sp>
      <p:sp>
        <p:nvSpPr>
          <p:cNvPr id="10" name="Text 7"/>
          <p:cNvSpPr/>
          <p:nvPr/>
        </p:nvSpPr>
        <p:spPr>
          <a:xfrm>
            <a:off x="10212816" y="4533900"/>
            <a:ext cx="101371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2319011" y="4697760"/>
            <a:ext cx="8720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 </a:t>
            </a: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792" dirty="0"/>
          </a:p>
        </p:txBody>
      </p:sp>
      <p:sp>
        <p:nvSpPr>
          <p:cNvPr id="12" name="Text 9"/>
          <p:cNvSpPr/>
          <p:nvPr/>
        </p:nvSpPr>
        <p:spPr>
          <a:xfrm>
            <a:off x="3667493" y="3179415"/>
            <a:ext cx="89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 · Vanti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4959802" y="4697760"/>
            <a:ext cx="875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 </a:t>
            </a: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792" dirty="0"/>
          </a:p>
        </p:txBody>
      </p:sp>
      <p:sp>
        <p:nvSpPr>
          <p:cNvPr id="14" name="Text 11"/>
          <p:cNvSpPr/>
          <p:nvPr/>
        </p:nvSpPr>
        <p:spPr>
          <a:xfrm>
            <a:off x="6288384" y="3448050"/>
            <a:ext cx="8588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 </a:t>
            </a: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792" dirty="0"/>
          </a:p>
        </p:txBody>
      </p:sp>
      <p:sp>
        <p:nvSpPr>
          <p:cNvPr id="15" name="Text 12"/>
          <p:cNvSpPr/>
          <p:nvPr/>
        </p:nvSpPr>
        <p:spPr>
          <a:xfrm>
            <a:off x="7578966" y="4533900"/>
            <a:ext cx="99636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935328" y="3448050"/>
            <a:ext cx="8499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 </a:t>
            </a: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792" dirty="0"/>
          </a:p>
        </p:txBody>
      </p:sp>
      <p:sp>
        <p:nvSpPr>
          <p:cNvPr id="17" name="Text 14"/>
          <p:cNvSpPr/>
          <p:nvPr/>
        </p:nvSpPr>
        <p:spPr>
          <a:xfrm>
            <a:off x="2363894" y="4429125"/>
            <a:ext cx="8584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 · Xuma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3655977" y="3284190"/>
            <a:ext cx="9166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626212" y="4697760"/>
            <a:ext cx="825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 </a:t>
            </a: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 </a:t>
            </a: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792" dirty="0"/>
          </a:p>
        </p:txBody>
      </p:sp>
      <p:sp>
        <p:nvSpPr>
          <p:cNvPr id="20" name="Text 17"/>
          <p:cNvSpPr/>
          <p:nvPr/>
        </p:nvSpPr>
        <p:spPr>
          <a:xfrm>
            <a:off x="1098165" y="3179415"/>
            <a:ext cx="7472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 · Vanti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2334398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4976924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5088925" y="442912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6409147" y="317941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7731834" y="4429125"/>
            <a:ext cx="6904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Vanti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10364737" y="4429125"/>
            <a:ext cx="7097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 · Xuma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442910" y="3284190"/>
            <a:ext cx="625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9057356" y="3179415"/>
            <a:ext cx="6819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Xuma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9085436" y="3284190"/>
            <a:ext cx="625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6629400"/>
            <a:ext cx="282946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Parte de La Gran Jugada · 114% meta </a:t>
            </a: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#FeriaVanti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238719" y="6629400"/>
            <a:ext cx="28070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1.520 ventas en dos semanas </a:t>
            </a: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#FeriaMundialista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704832" y="3648075"/>
            <a:ext cx="26333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1.292 ventas logradas </a:t>
            </a: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#SemanasGanadoras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238719" y="3648075"/>
            <a:ext cx="2427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1.266 ventas logradas </a:t>
            </a: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#SemanaBurger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71777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514937" y="1058317"/>
            <a:ext cx="150559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981050" y="1058317"/>
            <a:ext cx="1263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514937" y="4039642"/>
            <a:ext cx="11050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981050" y="4039642"/>
            <a:ext cx="8674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981050" y="959197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3" name="Text 10"/>
          <p:cNvSpPr/>
          <p:nvPr/>
        </p:nvSpPr>
        <p:spPr>
          <a:xfrm>
            <a:off x="6514937" y="959197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81050" y="3940522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514937" y="3940522"/>
            <a:ext cx="8505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704832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6238719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704832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38719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815165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11349051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815165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11349051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2106" y="6399609"/>
            <a:ext cx="423268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del Cumplimiento de Lineamientos Operativos y de Calidad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19150" y="5701754"/>
            <a:ext cx="39190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Lineamientos para la Aplicación del Guion y Control de Modificaciones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772106" y="4432399"/>
            <a:ext cx="390818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 de Herramientas de Apoyo para la Gestión Comercial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4567007" y="1012180"/>
            <a:ext cx="3343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capacitaciones ejecutadas por Xuma — al menos una por mes.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1019150" y="1767185"/>
            <a:ext cx="34975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Socialización y Alineación de Estándares de Calidad Comercial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772106" y="2808089"/>
            <a:ext cx="36199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 Conocimientos del Producto Cuota Protegida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019150" y="3620244"/>
            <a:ext cx="34134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Correcta de la Cláusula de Cobro y Autorizaciones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1019150" y="5473154"/>
            <a:ext cx="343713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Técnicas Efectivas para el Manejo de Objeciones Comerciales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1019150" y="5244554"/>
            <a:ext cx="309306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Actualización Comercial del Producto Plan Combo Vida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772106" y="2579489"/>
            <a:ext cx="281873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Protocolo de Cierre Comercial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571486" y="209550"/>
            <a:ext cx="416106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6772106" y="4660999"/>
            <a:ext cx="26371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Guion Comercial Aprobado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543511" y="2422178"/>
            <a:ext cx="73512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 </a:t>
            </a:r>
            <a:r>
              <a:rPr lang="en-US" sz="624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543511" y="4275088"/>
            <a:ext cx="7518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 </a:t>
            </a:r>
            <a:r>
              <a:rPr lang="en-US" sz="624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790555" y="5087243"/>
            <a:ext cx="76209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 </a:t>
            </a:r>
            <a:r>
              <a:rPr lang="en-US" sz="624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90555" y="1609874"/>
            <a:ext cx="6474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</a:t>
            </a:r>
            <a:r>
              <a:rPr lang="en-US" sz="624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790555" y="3462933"/>
            <a:ext cx="6710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</a:t>
            </a:r>
            <a:r>
              <a:rPr lang="en-US" sz="624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543511" y="6242298"/>
            <a:ext cx="6516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 </a:t>
            </a:r>
            <a:r>
              <a:rPr lang="en-US" sz="624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</a:t>
            </a: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6051500"/>
            <a:ext cx="4711308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922413"/>
            <a:ext cx="4586682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4675138"/>
            <a:ext cx="4796337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3298775"/>
            <a:ext cx="4870481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3298775"/>
            <a:ext cx="4701843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4675138"/>
            <a:ext cx="4716987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986260"/>
            <a:ext cx="46269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6115348"/>
            <a:ext cx="390692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852910"/>
            <a:ext cx="20025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3165425"/>
            <a:ext cx="19196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3165425"/>
            <a:ext cx="17677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4541788"/>
            <a:ext cx="1915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4541788"/>
            <a:ext cx="17542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571486" y="209550"/>
            <a:ext cx="368685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5918150"/>
            <a:ext cx="18491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789063"/>
            <a:ext cx="17379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5981998"/>
            <a:ext cx="143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4398913"/>
            <a:ext cx="17390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5775275"/>
            <a:ext cx="1822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5839123"/>
            <a:ext cx="1593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895328" y="1019175"/>
            <a:ext cx="184965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acompañamiento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1200120" y="1710035"/>
            <a:ext cx="1506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438739" y="1019175"/>
            <a:ext cx="173733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Cambios de proceso (Xuma)</a:t>
            </a:r>
            <a:endParaRPr lang="en-US" sz="936" dirty="0"/>
          </a:p>
        </p:txBody>
      </p:sp>
      <p:sp>
        <p:nvSpPr>
          <p:cNvPr id="26" name="Text 23"/>
          <p:cNvSpPr/>
          <p:nvPr/>
        </p:nvSpPr>
        <p:spPr>
          <a:xfrm>
            <a:off x="1200120" y="3022550"/>
            <a:ext cx="133395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6743531" y="1646188"/>
            <a:ext cx="129830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6743531" y="3022550"/>
            <a:ext cx="13355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1200120" y="4398913"/>
            <a:ext cx="1038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98764"/>
            <a:ext cx="585896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 del volumen necesario para lograr 3.000 ventas/mes en el segundo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18842"/>
            <a:ext cx="5889887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9525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880592"/>
            <a:ext cx="1389958" cy="128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4461570"/>
            <a:ext cx="11033767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 importante: entre enero (22 %) y mayo (65 %) triplicamos la contactabilidad sin cambiar quién llamamos, solo cómo y cuándo. Eso sostuvo el nivel de ventas pese a que la base apta cayó un 62 %. Lectura: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40147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3552736" y="1489770"/>
            <a:ext cx="21389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761981" y="1489770"/>
            <a:ext cx="18252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134247" y="1489770"/>
            <a:ext cx="16852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61981" y="990600"/>
            <a:ext cx="215143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489770"/>
            <a:ext cx="162863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448264" y="2213670"/>
            <a:ext cx="205757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sobre contactados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6343491" y="990600"/>
            <a:ext cx="2037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876278" y="2213670"/>
            <a:ext cx="167233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por mes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9134247" y="990600"/>
            <a:ext cx="17297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47704" y="1842195"/>
            <a:ext cx="17769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mes </a:t>
            </a: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campaña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111047" y="2475630"/>
            <a:ext cx="188821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3552736" y="990600"/>
            <a:ext cx="7422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8963916" y="2475630"/>
            <a:ext cx="121359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0138796" y="2475630"/>
            <a:ext cx="132901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Efect.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111047" y="2704230"/>
            <a:ext cx="188821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0138796" y="2704230"/>
            <a:ext cx="132901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7111047" y="294711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10138796" y="294711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111047" y="319476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111047" y="344241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111047" y="3690067"/>
            <a:ext cx="188821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7111047" y="3937717"/>
            <a:ext cx="188821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61981" y="1133475"/>
            <a:ext cx="94777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2280" dirty="0"/>
          </a:p>
        </p:txBody>
      </p:sp>
      <p:sp>
        <p:nvSpPr>
          <p:cNvPr id="28" name="Text 25"/>
          <p:cNvSpPr/>
          <p:nvPr/>
        </p:nvSpPr>
        <p:spPr>
          <a:xfrm>
            <a:off x="3552736" y="1133475"/>
            <a:ext cx="95976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2280" dirty="0"/>
          </a:p>
        </p:txBody>
      </p:sp>
      <p:sp>
        <p:nvSpPr>
          <p:cNvPr id="29" name="Text 26"/>
          <p:cNvSpPr/>
          <p:nvPr/>
        </p:nvSpPr>
        <p:spPr>
          <a:xfrm>
            <a:off x="5575283" y="2508945"/>
            <a:ext cx="32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21,6 %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5578281" y="2689920"/>
            <a:ext cx="3175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44,1 %</a:t>
            </a:r>
            <a:endParaRPr lang="en-US" sz="768" dirty="0"/>
          </a:p>
        </p:txBody>
      </p:sp>
      <p:sp>
        <p:nvSpPr>
          <p:cNvPr id="31" name="Text 28"/>
          <p:cNvSpPr/>
          <p:nvPr/>
        </p:nvSpPr>
        <p:spPr>
          <a:xfrm>
            <a:off x="5573390" y="2870895"/>
            <a:ext cx="3224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45,3 %</a:t>
            </a:r>
            <a:endParaRPr lang="en-US" sz="768" dirty="0"/>
          </a:p>
        </p:txBody>
      </p:sp>
      <p:sp>
        <p:nvSpPr>
          <p:cNvPr id="32" name="Text 29"/>
          <p:cNvSpPr/>
          <p:nvPr/>
        </p:nvSpPr>
        <p:spPr>
          <a:xfrm>
            <a:off x="5563452" y="3051870"/>
            <a:ext cx="332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60,3 %</a:t>
            </a:r>
            <a:endParaRPr lang="en-US" sz="768" dirty="0"/>
          </a:p>
        </p:txBody>
      </p:sp>
      <p:sp>
        <p:nvSpPr>
          <p:cNvPr id="33" name="Text 30"/>
          <p:cNvSpPr/>
          <p:nvPr/>
        </p:nvSpPr>
        <p:spPr>
          <a:xfrm>
            <a:off x="5564714" y="3232845"/>
            <a:ext cx="331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768" dirty="0"/>
          </a:p>
        </p:txBody>
      </p:sp>
      <p:sp>
        <p:nvSpPr>
          <p:cNvPr id="34" name="Text 31"/>
          <p:cNvSpPr/>
          <p:nvPr/>
        </p:nvSpPr>
        <p:spPr>
          <a:xfrm>
            <a:off x="5568342" y="3413820"/>
            <a:ext cx="32748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46,5 %</a:t>
            </a:r>
            <a:endParaRPr lang="en-US" sz="768" dirty="0"/>
          </a:p>
        </p:txBody>
      </p:sp>
      <p:sp>
        <p:nvSpPr>
          <p:cNvPr id="35" name="Text 32"/>
          <p:cNvSpPr/>
          <p:nvPr/>
        </p:nvSpPr>
        <p:spPr>
          <a:xfrm>
            <a:off x="8963916" y="2704230"/>
            <a:ext cx="12135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8963916" y="294711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8963916" y="319476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0138796" y="319476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7,5 %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963916" y="344241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0138796" y="344241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9,7 %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8963916" y="3690067"/>
            <a:ext cx="121359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0138796" y="3690067"/>
            <a:ext cx="13290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8963916" y="3937717"/>
            <a:ext cx="121359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10138796" y="3937717"/>
            <a:ext cx="132901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8,1 %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6343491" y="1133475"/>
            <a:ext cx="78418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2280" dirty="0"/>
          </a:p>
        </p:txBody>
      </p:sp>
      <p:sp>
        <p:nvSpPr>
          <p:cNvPr id="46" name="Text 43"/>
          <p:cNvSpPr/>
          <p:nvPr/>
        </p:nvSpPr>
        <p:spPr>
          <a:xfrm>
            <a:off x="9134247" y="1133475"/>
            <a:ext cx="85075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2280" dirty="0"/>
          </a:p>
        </p:txBody>
      </p:sp>
      <p:sp>
        <p:nvSpPr>
          <p:cNvPr id="47" name="Text 44"/>
          <p:cNvSpPr/>
          <p:nvPr/>
        </p:nvSpPr>
        <p:spPr>
          <a:xfrm>
            <a:off x="6295868" y="2475630"/>
            <a:ext cx="89628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6295868" y="2704230"/>
            <a:ext cx="89628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6295868" y="294711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6295868" y="319476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6295868" y="344241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6295868" y="3690067"/>
            <a:ext cx="89628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6295868" y="3937717"/>
            <a:ext cx="89628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1213549" y="25041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1215916" y="268515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1212287" y="286613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1226170" y="304710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1195408" y="32280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1225065" y="340905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70" y="4155052"/>
            <a:ext cx="10650268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Clave: Los números en el calendario cambian según qué tipo de cliente estamos llamando. Cuando trabajamos con gente que ya nos conoce (CP y Autogestión) los contactamos unas 4 veces mejor (73-79 %) que números nuevos en Masiva Voluntarios (19 %). Implicación: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723882" y="3807687"/>
            <a:ext cx="67553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ventas en base (operativo) no incluyen campañas fuera de base como Microseguro Activo (</a:t>
            </a: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1.462 pólizas</a:t>
            </a: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). La liquidación consolida ambos orígenes.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876278" y="2255112"/>
            <a:ext cx="396891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Cruce con campañas: el mix explica gran parte de la mejora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340147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3552736" y="1489770"/>
            <a:ext cx="21389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61981" y="1489770"/>
            <a:ext cx="18252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9134247" y="1489770"/>
            <a:ext cx="168527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61981" y="990600"/>
            <a:ext cx="215143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6343491" y="1489770"/>
            <a:ext cx="162863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23882" y="2774248"/>
            <a:ext cx="395072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Cuota Protegida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343491" y="990600"/>
            <a:ext cx="203753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9134247" y="990600"/>
            <a:ext cx="17297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23882" y="3264785"/>
            <a:ext cx="395072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Stock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47704" y="1842195"/>
            <a:ext cx="17769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mes </a:t>
            </a: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campaña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723882" y="3512435"/>
            <a:ext cx="395072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4483660" y="2545648"/>
            <a:ext cx="260499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014483" y="2545648"/>
            <a:ext cx="254659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23882" y="3017135"/>
            <a:ext cx="395072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552736" y="990600"/>
            <a:ext cx="7422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9503873" y="2774248"/>
            <a:ext cx="196394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503873" y="3017135"/>
            <a:ext cx="196394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9503873" y="3264785"/>
            <a:ext cx="196394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Moderado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723882" y="2545648"/>
            <a:ext cx="395072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9503873" y="2545648"/>
            <a:ext cx="196394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Perfil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14483" y="2774248"/>
            <a:ext cx="2546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014483" y="3017135"/>
            <a:ext cx="2546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761981" y="1133475"/>
            <a:ext cx="94777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2280" dirty="0"/>
          </a:p>
        </p:txBody>
      </p:sp>
      <p:sp>
        <p:nvSpPr>
          <p:cNvPr id="30" name="Text 27"/>
          <p:cNvSpPr/>
          <p:nvPr/>
        </p:nvSpPr>
        <p:spPr>
          <a:xfrm>
            <a:off x="3552736" y="1133475"/>
            <a:ext cx="95976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2280" dirty="0"/>
          </a:p>
        </p:txBody>
      </p:sp>
      <p:sp>
        <p:nvSpPr>
          <p:cNvPr id="31" name="Text 28"/>
          <p:cNvSpPr/>
          <p:nvPr/>
        </p:nvSpPr>
        <p:spPr>
          <a:xfrm>
            <a:off x="7014483" y="3264785"/>
            <a:ext cx="2546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14483" y="3512435"/>
            <a:ext cx="2546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343491" y="1133475"/>
            <a:ext cx="784183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2280" dirty="0"/>
          </a:p>
        </p:txBody>
      </p:sp>
      <p:sp>
        <p:nvSpPr>
          <p:cNvPr id="34" name="Text 31"/>
          <p:cNvSpPr/>
          <p:nvPr/>
        </p:nvSpPr>
        <p:spPr>
          <a:xfrm>
            <a:off x="9134247" y="1133475"/>
            <a:ext cx="85075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4483660" y="2774248"/>
            <a:ext cx="26049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4483660" y="3017135"/>
            <a:ext cx="26049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483660" y="3264785"/>
            <a:ext cx="26049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4483660" y="3512435"/>
            <a:ext cx="26049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9503873" y="3512435"/>
            <a:ext cx="196394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Bajo</a:t>
            </a:r>
            <a:endParaRPr lang="en-US" sz="81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80595"/>
            <a:ext cx="4867957" cy="47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57,6 % de "no contacto", al menos 69.740 llamadas (11,1 %) nunca se cursaron por fallas de red. Hipótesis a validar con Isaac: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142971" y="5061645"/>
            <a:ext cx="4822682" cy="523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backup (Movistar) carga el 71 % del tráfico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6965358" y="3994845"/>
            <a:ext cx="38518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505412" y="5154960"/>
            <a:ext cx="45937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505412" y="5568107"/>
            <a:ext cx="409464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505412" y="5361533"/>
            <a:ext cx="357327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467313" y="2804220"/>
            <a:ext cx="391260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 de recuperación (si las caídas se cursan por Tigo)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6343491" y="1508820"/>
            <a:ext cx="201150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134247" y="1508820"/>
            <a:ext cx="2486505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571486" y="209550"/>
            <a:ext cx="389240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876278" y="2804220"/>
            <a:ext cx="301308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· volumen, contacto y caídas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847704" y="2223195"/>
            <a:ext cx="28577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</a:t>
            </a: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Zonas críticas por barrio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448264" y="4964460"/>
            <a:ext cx="28666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ACCIONES PROPUESTAS (frente tecnológico 2S)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3552736" y="1508820"/>
            <a:ext cx="22803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10201864" y="3574405"/>
            <a:ext cx="1037851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(9,0 %)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61981" y="1508820"/>
            <a:ext cx="21607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478968" y="3574405"/>
            <a:ext cx="1165947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8202307" y="3574405"/>
            <a:ext cx="1377969" cy="23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23882" y="4032945"/>
            <a:ext cx="548035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</a:t>
            </a: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(backup) </a:t>
            </a: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1032" dirty="0"/>
          </a:p>
        </p:txBody>
      </p:sp>
      <p:sp>
        <p:nvSpPr>
          <p:cNvPr id="22" name="Text 19"/>
          <p:cNvSpPr/>
          <p:nvPr/>
        </p:nvSpPr>
        <p:spPr>
          <a:xfrm>
            <a:off x="723882" y="3080445"/>
            <a:ext cx="548035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</a:t>
            </a: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 </a:t>
            </a: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1032" dirty="0"/>
          </a:p>
        </p:txBody>
      </p:sp>
      <p:sp>
        <p:nvSpPr>
          <p:cNvPr id="23" name="Text 20"/>
          <p:cNvSpPr/>
          <p:nvPr/>
        </p:nvSpPr>
        <p:spPr>
          <a:xfrm>
            <a:off x="3552736" y="1009650"/>
            <a:ext cx="200425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9134247" y="1009650"/>
            <a:ext cx="1652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61981" y="1009650"/>
            <a:ext cx="15249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343491" y="1009650"/>
            <a:ext cx="13113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8510395" y="3235375"/>
            <a:ext cx="7619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839595" y="3661470"/>
            <a:ext cx="62721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39595" y="4613970"/>
            <a:ext cx="62721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418780" y="3235375"/>
            <a:ext cx="6038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923836" y="3347145"/>
            <a:ext cx="5429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23836" y="4299645"/>
            <a:ext cx="5429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19230" y="3349675"/>
            <a:ext cx="74427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761981" y="1152525"/>
            <a:ext cx="119513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10404108" y="3349675"/>
            <a:ext cx="63321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4.450</a:t>
            </a:r>
            <a:endParaRPr lang="en-US" sz="1320" dirty="0"/>
          </a:p>
        </p:txBody>
      </p:sp>
      <p:sp>
        <p:nvSpPr>
          <p:cNvPr id="36" name="Text 33"/>
          <p:cNvSpPr/>
          <p:nvPr/>
        </p:nvSpPr>
        <p:spPr>
          <a:xfrm>
            <a:off x="3552736" y="1152525"/>
            <a:ext cx="95660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2280" dirty="0"/>
          </a:p>
        </p:txBody>
      </p:sp>
      <p:sp>
        <p:nvSpPr>
          <p:cNvPr id="37" name="Text 34"/>
          <p:cNvSpPr/>
          <p:nvPr/>
        </p:nvSpPr>
        <p:spPr>
          <a:xfrm>
            <a:off x="6343491" y="1152525"/>
            <a:ext cx="98563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9134247" y="1152525"/>
            <a:ext cx="8939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2280" dirty="0"/>
          </a:p>
        </p:txBody>
      </p:sp>
      <p:sp>
        <p:nvSpPr>
          <p:cNvPr id="39" name="Text 36"/>
          <p:cNvSpPr/>
          <p:nvPr/>
        </p:nvSpPr>
        <p:spPr>
          <a:xfrm>
            <a:off x="5517899" y="3347145"/>
            <a:ext cx="3588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5511432" y="4299645"/>
            <a:ext cx="36534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5532728" y="4613970"/>
            <a:ext cx="34405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6772705" y="3349675"/>
            <a:ext cx="57847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43" name="Text 40"/>
          <p:cNvSpPr/>
          <p:nvPr/>
        </p:nvSpPr>
        <p:spPr>
          <a:xfrm>
            <a:off x="5589677" y="3661470"/>
            <a:ext cx="2871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4" name="Text 41"/>
          <p:cNvSpPr/>
          <p:nvPr/>
        </p:nvSpPr>
        <p:spPr>
          <a:xfrm>
            <a:off x="6942606" y="32353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046" y="3263237"/>
            <a:ext cx="457106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 (Tigo 72,4 % contacto · Movistar 25,7 % contacto)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781030" y="3263237"/>
            <a:ext cx="447641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 (Tigo 71,9 % contacto · Movistar 24,1 % contacto)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343491" y="1508820"/>
            <a:ext cx="2011508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933427" y="2882237"/>
            <a:ext cx="326896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críticas de Bogotá · fallas de red por barrio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9134247" y="1508820"/>
            <a:ext cx="2486505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89240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47704" y="2223195"/>
            <a:ext cx="28577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vs. Movistar </a:t>
            </a: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Zonas críticas por barrio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3552736" y="1508820"/>
            <a:ext cx="228032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761981" y="1508820"/>
            <a:ext cx="21607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3552736" y="1009650"/>
            <a:ext cx="200425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9134247" y="1009650"/>
            <a:ext cx="1652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781030" y="3763323"/>
            <a:ext cx="1776774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Gloria Occidental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61981" y="1009650"/>
            <a:ext cx="15249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6172046" y="3763323"/>
            <a:ext cx="1639427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Arborizadora Alta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343491" y="1009650"/>
            <a:ext cx="13113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781030" y="4101460"/>
            <a:ext cx="1776774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Bello Horizonte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453035" y="3439473"/>
            <a:ext cx="1566615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9784727" y="3439473"/>
            <a:ext cx="1625938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6172046" y="4101460"/>
            <a:ext cx="1639427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Mochuelo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269745" y="3439473"/>
            <a:ext cx="122891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8556412" y="3439473"/>
            <a:ext cx="1275672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81030" y="4444360"/>
            <a:ext cx="1776774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Calvo Sur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172046" y="4444360"/>
            <a:ext cx="1639427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Tesoro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761981" y="1152525"/>
            <a:ext cx="119513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2280" dirty="0"/>
          </a:p>
        </p:txBody>
      </p:sp>
      <p:sp>
        <p:nvSpPr>
          <p:cNvPr id="27" name="Text 24"/>
          <p:cNvSpPr/>
          <p:nvPr/>
        </p:nvSpPr>
        <p:spPr>
          <a:xfrm>
            <a:off x="781030" y="3439473"/>
            <a:ext cx="1776774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4453035" y="3763323"/>
            <a:ext cx="156661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4453035" y="4101460"/>
            <a:ext cx="1566615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17,6 %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4453035" y="4444360"/>
            <a:ext cx="156661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6172046" y="3439473"/>
            <a:ext cx="1639427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9784727" y="3763323"/>
            <a:ext cx="162593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9784727" y="4101460"/>
            <a:ext cx="1625938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9784727" y="4444360"/>
            <a:ext cx="162593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552736" y="1152525"/>
            <a:ext cx="95660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2280" dirty="0"/>
          </a:p>
        </p:txBody>
      </p:sp>
      <p:sp>
        <p:nvSpPr>
          <p:cNvPr id="36" name="Text 33"/>
          <p:cNvSpPr/>
          <p:nvPr/>
        </p:nvSpPr>
        <p:spPr>
          <a:xfrm>
            <a:off x="6343491" y="1152525"/>
            <a:ext cx="985635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2280" dirty="0"/>
          </a:p>
        </p:txBody>
      </p:sp>
      <p:sp>
        <p:nvSpPr>
          <p:cNvPr id="37" name="Text 34"/>
          <p:cNvSpPr/>
          <p:nvPr/>
        </p:nvSpPr>
        <p:spPr>
          <a:xfrm>
            <a:off x="9134247" y="1152525"/>
            <a:ext cx="89398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2482070" y="3439473"/>
            <a:ext cx="82346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482070" y="3763323"/>
            <a:ext cx="82346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3.346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3269745" y="3763323"/>
            <a:ext cx="122891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482070" y="4101460"/>
            <a:ext cx="823469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2.384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3269745" y="4101460"/>
            <a:ext cx="1228919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2482070" y="4444360"/>
            <a:ext cx="82346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3269745" y="4444360"/>
            <a:ext cx="1228919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738827" y="3439473"/>
            <a:ext cx="854740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7738827" y="3763323"/>
            <a:ext cx="854740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4.546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8556412" y="3763323"/>
            <a:ext cx="1275672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8556412" y="4101460"/>
            <a:ext cx="1275672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8556412" y="4444360"/>
            <a:ext cx="1275672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7738827" y="4101460"/>
            <a:ext cx="854740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7738827" y="4444360"/>
            <a:ext cx="854740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8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080" y="5490270"/>
            <a:ext cx="51566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 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r>
              <a:rPr lang="en-US" sz="81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+ Volante 120 pól. </a:t>
            </a: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800080" y="5671245"/>
            <a:ext cx="4615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 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800080" y="5309295"/>
            <a:ext cx="44398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 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4766370"/>
            <a:ext cx="332118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 </a:t>
            </a: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895328" y="2613720"/>
            <a:ext cx="360655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con indicadores históricos (semestre ene–jun)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76794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47704" y="2032695"/>
            <a:ext cx="28938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histórico </a:t>
            </a: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Escenario recomendado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43491" y="1489770"/>
            <a:ext cx="21243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134247" y="1489770"/>
            <a:ext cx="19783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800080" y="4947345"/>
            <a:ext cx="2040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 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800080" y="5128320"/>
            <a:ext cx="2040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pol. con bonificación base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3552736" y="1489770"/>
            <a:ext cx="19185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42931" y="4566345"/>
            <a:ext cx="24920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42931" y="4223467"/>
            <a:ext cx="6639719" cy="23336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mínimos requeridos/mes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3552736" y="990600"/>
            <a:ext cx="2332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7061475" y="3566242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42,4 % = </a:t>
            </a: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78.700</a:t>
            </a: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gestionados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061475" y="4004392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40,5 % = </a:t>
            </a: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~198.600</a:t>
            </a: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recibidos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061475" y="3347167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8,99 % = </a:t>
            </a: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33.370</a:t>
            </a: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contactos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42931" y="3347167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/ contactados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9134247" y="990600"/>
            <a:ext cx="186558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061475" y="3785317"/>
            <a:ext cx="438728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97,9 % = </a:t>
            </a: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80.400</a:t>
            </a: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aptos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42931" y="3785317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Gestión sobre aptos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61981" y="990600"/>
            <a:ext cx="16505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42931" y="4004392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Aptos (1–rechazo)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61475" y="2904255"/>
            <a:ext cx="438728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para 3.000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343491" y="990600"/>
            <a:ext cx="129404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4506394" y="2904255"/>
            <a:ext cx="268286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histórico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42931" y="3132855"/>
            <a:ext cx="395685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ventas/mes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742931" y="3566242"/>
            <a:ext cx="395685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61475" y="4223467"/>
            <a:ext cx="4387288" cy="23336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190.000–210.000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61981" y="1489770"/>
            <a:ext cx="7633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6343491" y="1133475"/>
            <a:ext cx="174947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2280" dirty="0"/>
          </a:p>
        </p:txBody>
      </p:sp>
      <p:sp>
        <p:nvSpPr>
          <p:cNvPr id="35" name="Text 32"/>
          <p:cNvSpPr/>
          <p:nvPr/>
        </p:nvSpPr>
        <p:spPr>
          <a:xfrm>
            <a:off x="742931" y="2904255"/>
            <a:ext cx="395685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Parámetro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506394" y="3347167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8,99 %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506394" y="3566242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506394" y="3785317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97,9 %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506394" y="4004392"/>
            <a:ext cx="2682866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40,5 %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7061475" y="3132855"/>
            <a:ext cx="4387288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761981" y="1133475"/>
            <a:ext cx="83166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2280" dirty="0"/>
          </a:p>
        </p:txBody>
      </p:sp>
      <p:sp>
        <p:nvSpPr>
          <p:cNvPr id="42" name="Text 39"/>
          <p:cNvSpPr/>
          <p:nvPr/>
        </p:nvSpPr>
        <p:spPr>
          <a:xfrm>
            <a:off x="3552736" y="1133475"/>
            <a:ext cx="96181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2280" dirty="0"/>
          </a:p>
        </p:txBody>
      </p:sp>
      <p:sp>
        <p:nvSpPr>
          <p:cNvPr id="43" name="Text 40"/>
          <p:cNvSpPr/>
          <p:nvPr/>
        </p:nvSpPr>
        <p:spPr>
          <a:xfrm>
            <a:off x="9134247" y="1133475"/>
            <a:ext cx="81242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2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77" y="3510893"/>
            <a:ext cx="94675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Validado por Isaac: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la deduplicación en origen es viable (registro del distribuidor + validación de fuentes). Su meta de corto plazo: rechazo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≤ 50 %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como escalón intermedio hacia el 35 %.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142971" y="5542545"/>
            <a:ext cx="1008235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calidad y depuración de base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914377" y="3830278"/>
            <a:ext cx="69555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 pólizas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(18 asesores, 134 pol/asesor). Para 3.000 →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~150 pol/asesor con 20 asesores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914377" y="3670586"/>
            <a:ext cx="59645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</a:t>
            </a: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(conversión 17–33 % sobre contacto) reduce el volumen necesario a la mitad.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4075342" y="3377543"/>
            <a:ext cx="40410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97,8 % gestión · 45 % contactabilidad · 9,0 % conversión (históricos 1S)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76794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1283528" y="3144627"/>
            <a:ext cx="22484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4949934" y="3144627"/>
            <a:ext cx="22916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1" name="Text 8"/>
          <p:cNvSpPr/>
          <p:nvPr/>
        </p:nvSpPr>
        <p:spPr>
          <a:xfrm>
            <a:off x="8660190" y="3144627"/>
            <a:ext cx="22473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2" name="Text 9"/>
          <p:cNvSpPr/>
          <p:nvPr/>
        </p:nvSpPr>
        <p:spPr>
          <a:xfrm>
            <a:off x="876278" y="2539343"/>
            <a:ext cx="30343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Escenario con base depurada (recomendado)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47704" y="2032695"/>
            <a:ext cx="289382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Cálculo histórico </a:t>
            </a: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Escenario recomendado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57229" y="4018546"/>
            <a:ext cx="25208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KPIs PROPUESTOS PARA EL SEGUIMIENTO 2S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6343491" y="1489770"/>
            <a:ext cx="21243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9134247" y="1489770"/>
            <a:ext cx="19783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3552736" y="1489770"/>
            <a:ext cx="191859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3552736" y="990600"/>
            <a:ext cx="2332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4377968" y="4375756"/>
            <a:ext cx="4800709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ventas (liquidación)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4377968" y="5247293"/>
            <a:ext cx="4800709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9134247" y="990600"/>
            <a:ext cx="186558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4377968" y="4590069"/>
            <a:ext cx="4800709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≥ meta / total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4377968" y="4809144"/>
            <a:ext cx="4800709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asesor activo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4377968" y="5028218"/>
            <a:ext cx="4800709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 / recibidos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61981" y="990600"/>
            <a:ext cx="16505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723882" y="4375756"/>
            <a:ext cx="3763708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equipo/mes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343491" y="990600"/>
            <a:ext cx="129404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1950823" y="2852329"/>
            <a:ext cx="9140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9" name="Text 26"/>
          <p:cNvSpPr/>
          <p:nvPr/>
        </p:nvSpPr>
        <p:spPr>
          <a:xfrm>
            <a:off x="723882" y="4590069"/>
            <a:ext cx="376370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E1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23882" y="5247293"/>
            <a:ext cx="3763708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9367401" y="2852329"/>
            <a:ext cx="8329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723882" y="5028218"/>
            <a:ext cx="376370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 base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5708730" y="2852329"/>
            <a:ext cx="7740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8965981" y="4375756"/>
            <a:ext cx="25018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 (dic)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723882" y="4809144"/>
            <a:ext cx="3763708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Productividad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761981" y="1489770"/>
            <a:ext cx="7633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6343491" y="1133475"/>
            <a:ext cx="174947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2280" dirty="0"/>
          </a:p>
        </p:txBody>
      </p:sp>
      <p:sp>
        <p:nvSpPr>
          <p:cNvPr id="38" name="Text 35"/>
          <p:cNvSpPr/>
          <p:nvPr/>
        </p:nvSpPr>
        <p:spPr>
          <a:xfrm>
            <a:off x="1930630" y="2957104"/>
            <a:ext cx="954399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39" name="Text 36"/>
          <p:cNvSpPr/>
          <p:nvPr/>
        </p:nvSpPr>
        <p:spPr>
          <a:xfrm>
            <a:off x="5639471" y="2957104"/>
            <a:ext cx="912752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62K → 110K</a:t>
            </a:r>
            <a:endParaRPr lang="en-US" sz="1176" dirty="0"/>
          </a:p>
        </p:txBody>
      </p:sp>
      <p:sp>
        <p:nvSpPr>
          <p:cNvPr id="40" name="Text 37"/>
          <p:cNvSpPr/>
          <p:nvPr/>
        </p:nvSpPr>
        <p:spPr>
          <a:xfrm>
            <a:off x="4377968" y="4147156"/>
            <a:ext cx="48007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Fórmula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8965981" y="4147156"/>
            <a:ext cx="25018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9497552" y="2957104"/>
            <a:ext cx="572477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4.380</a:t>
            </a:r>
            <a:endParaRPr lang="en-US" sz="1176" dirty="0"/>
          </a:p>
        </p:txBody>
      </p:sp>
      <p:sp>
        <p:nvSpPr>
          <p:cNvPr id="43" name="Text 40"/>
          <p:cNvSpPr/>
          <p:nvPr/>
        </p:nvSpPr>
        <p:spPr>
          <a:xfrm>
            <a:off x="8965981" y="4590069"/>
            <a:ext cx="25018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90 %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965981" y="5028218"/>
            <a:ext cx="25018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 40 %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965981" y="5247293"/>
            <a:ext cx="25018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55 %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965981" y="4809144"/>
            <a:ext cx="25018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140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761981" y="1133475"/>
            <a:ext cx="83166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2280" dirty="0"/>
          </a:p>
        </p:txBody>
      </p:sp>
      <p:sp>
        <p:nvSpPr>
          <p:cNvPr id="48" name="Text 45"/>
          <p:cNvSpPr/>
          <p:nvPr/>
        </p:nvSpPr>
        <p:spPr>
          <a:xfrm>
            <a:off x="3552736" y="1133475"/>
            <a:ext cx="96181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2280" dirty="0"/>
          </a:p>
        </p:txBody>
      </p:sp>
      <p:sp>
        <p:nvSpPr>
          <p:cNvPr id="49" name="Text 46"/>
          <p:cNvSpPr/>
          <p:nvPr/>
        </p:nvSpPr>
        <p:spPr>
          <a:xfrm>
            <a:off x="9134247" y="1133475"/>
            <a:ext cx="81242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2280" dirty="0"/>
          </a:p>
        </p:txBody>
      </p:sp>
      <p:sp>
        <p:nvSpPr>
          <p:cNvPr id="50" name="Text 47"/>
          <p:cNvSpPr/>
          <p:nvPr/>
        </p:nvSpPr>
        <p:spPr>
          <a:xfrm>
            <a:off x="723882" y="4147156"/>
            <a:ext cx="376370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</a:t>
            </a:r>
            <a:endParaRPr lang="en-US" sz="888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3893493"/>
            <a:ext cx="7640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asesores nuevos en julio (→23 en operación)  CRM con validaciones automáticas  Bases limpias contra producto ya activo (Vanti)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304892" y="2009775"/>
            <a:ext cx="618741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1304892" y="1743075"/>
            <a:ext cx="2686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304892" y="2607618"/>
            <a:ext cx="242214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304892" y="3179118"/>
            <a:ext cx="222069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1304892" y="3026718"/>
            <a:ext cx="25791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</a:t>
            </a: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Cronograma  KPIs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1304892" y="2455218"/>
            <a:ext cx="1880099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914377" y="3645843"/>
            <a:ext cx="18774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Recursos clave requeridos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1304892" y="1590675"/>
            <a:ext cx="162043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</a:t>
            </a: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Cronograma </a:t>
            </a: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KPIs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781030" y="2125915"/>
            <a:ext cx="3531628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desarrollo emocional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81030" y="2459290"/>
            <a:ext cx="3531628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limpias y actualizadas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781030" y="2792665"/>
            <a:ext cx="3531628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equipos PC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781030" y="1797303"/>
            <a:ext cx="3531628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de tiempos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781030" y="1473453"/>
            <a:ext cx="3531628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Frente / Acción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209796" y="2125915"/>
            <a:ext cx="1959955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GH / Líderes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209796" y="1473453"/>
            <a:ext cx="1959955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Responsable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209796" y="2792665"/>
            <a:ext cx="1959955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209796" y="1797303"/>
            <a:ext cx="1959955" cy="328613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4209796" y="2459290"/>
            <a:ext cx="1959955" cy="333375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088037" y="1473453"/>
            <a:ext cx="845543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905952" y="1473453"/>
            <a:ext cx="948553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7827199" y="1473453"/>
            <a:ext cx="937516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8738302" y="1473453"/>
            <a:ext cx="90685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9617564" y="1473453"/>
            <a:ext cx="947480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Nov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10539676" y="1473453"/>
            <a:ext cx="870989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Dic</a:t>
            </a:r>
            <a:endParaRPr lang="en-US" sz="888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748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4681569" y="2136963"/>
            <a:ext cx="5049651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Autogestión</a:t>
            </a:r>
            <a:endParaRPr lang="en-US" sz="912" dirty="0"/>
          </a:p>
        </p:txBody>
      </p:sp>
      <p:sp>
        <p:nvSpPr>
          <p:cNvPr id="5" name="Text 2"/>
          <p:cNvSpPr/>
          <p:nvPr/>
        </p:nvSpPr>
        <p:spPr>
          <a:xfrm>
            <a:off x="4681569" y="2479863"/>
            <a:ext cx="5049651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Bienvenida</a:t>
            </a:r>
            <a:endParaRPr lang="en-US" sz="912" dirty="0"/>
          </a:p>
        </p:txBody>
      </p:sp>
      <p:sp>
        <p:nvSpPr>
          <p:cNvPr id="6" name="Text 3"/>
          <p:cNvSpPr/>
          <p:nvPr/>
        </p:nvSpPr>
        <p:spPr>
          <a:xfrm>
            <a:off x="4681569" y="2822763"/>
            <a:ext cx="5049651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Sesiones individuales / asesor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681569" y="1798825"/>
            <a:ext cx="5049651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liquidadas totales/mes</a:t>
            </a:r>
            <a:endParaRPr lang="en-US" sz="912" dirty="0"/>
          </a:p>
        </p:txBody>
      </p:sp>
      <p:sp>
        <p:nvSpPr>
          <p:cNvPr id="8" name="Text 5"/>
          <p:cNvSpPr/>
          <p:nvPr/>
        </p:nvSpPr>
        <p:spPr>
          <a:xfrm>
            <a:off x="8829157" y="1171575"/>
            <a:ext cx="260324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 Cronograma </a:t>
            </a:r>
            <a:r>
              <a:rPr lang="en-US" sz="86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KPIs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933427" y="1162050"/>
            <a:ext cx="197317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Comercial 2S 2026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81030" y="2479863"/>
            <a:ext cx="4017555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Bienvenida CP</a:t>
            </a:r>
            <a:endParaRPr lang="en-US" sz="912" dirty="0"/>
          </a:p>
        </p:txBody>
      </p:sp>
      <p:sp>
        <p:nvSpPr>
          <p:cNvPr id="11" name="Text 8"/>
          <p:cNvSpPr/>
          <p:nvPr/>
        </p:nvSpPr>
        <p:spPr>
          <a:xfrm>
            <a:off x="781030" y="2136963"/>
            <a:ext cx="4017555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Autogestión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781030" y="1798825"/>
            <a:ext cx="401755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ventas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781030" y="2822763"/>
            <a:ext cx="4017555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l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Escuela de ventas</a:t>
            </a:r>
            <a:endParaRPr lang="en-US" sz="912" dirty="0"/>
          </a:p>
        </p:txBody>
      </p:sp>
      <p:sp>
        <p:nvSpPr>
          <p:cNvPr id="14" name="Text 11"/>
          <p:cNvSpPr/>
          <p:nvPr/>
        </p:nvSpPr>
        <p:spPr>
          <a:xfrm>
            <a:off x="4681569" y="1474975"/>
            <a:ext cx="5049651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81030" y="1474975"/>
            <a:ext cx="4017555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9529347" y="1474975"/>
            <a:ext cx="1881318" cy="323850"/>
          </a:xfrm>
          <a:prstGeom prst="rect">
            <a:avLst/>
          </a:prstGeom>
          <a:noFill/>
          <a:ln/>
        </p:spPr>
        <p:txBody>
          <a:bodyPr wrap="square" lIns="95250" tIns="133350" rIns="133350" bIns="952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529347" y="1798825"/>
            <a:ext cx="188131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9529347" y="2822763"/>
            <a:ext cx="1881318" cy="338137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/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9529347" y="2136963"/>
            <a:ext cx="1881318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40 %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9529347" y="2479863"/>
            <a:ext cx="1881318" cy="342900"/>
          </a:xfrm>
          <a:prstGeom prst="rect">
            <a:avLst/>
          </a:prstGeom>
          <a:noFill/>
          <a:ln/>
        </p:spPr>
        <p:txBody>
          <a:bodyPr wrap="square" lIns="85725" tIns="133350" rIns="133350" bIns="85725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30 %</a:t>
            </a:r>
            <a:endParaRPr lang="en-US" sz="81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1546" y="5016698"/>
            <a:ext cx="7611139" cy="559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Cifras Oficiales y Consolidación: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 ratifica el uso de las cifras de Liquidación (Martha) como el número oficial de resultados del canal y el Tablero OCM (Isaac) como el indicador diario intra-mes. A pesar de los retos de bases repetidas, el esfuerzo del equipo ha sostenido la meta.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1190595" y="3035498"/>
            <a:ext cx="3403528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</a:t>
            </a: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 (Mar-Abr) 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Vanti: 4.798 ventas (114% meta).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654623"/>
            <a:ext cx="3346106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</a:t>
            </a: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(Jun) 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Xuma: 1.520 ventas en dos semanas.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5190995" y="2778323"/>
            <a:ext cx="3204758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Comercial: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Refuerzo 1-a-1 de baja conversión.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5190995" y="3578423"/>
            <a:ext cx="3094804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Roster en Julio: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Meta de 23 asesores activos en operación.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1190595" y="4016573"/>
            <a:ext cx="3288052" cy="294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 capacitaciones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ejecutadas por Xuma (al menos 1/mes).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5190995" y="3140273"/>
            <a:ext cx="3531782" cy="37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Replicar técnicas de mejores vendedores.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56339" y="2559248"/>
            <a:ext cx="334326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CP+RS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liquidadas en el primer semestre.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2797373"/>
            <a:ext cx="32134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</a:t>
            </a: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 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Xuma: 1.266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1190595" y="3416498"/>
            <a:ext cx="28769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</a:t>
            </a: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 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Xuma: 1.073 ventas.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1355939" y="2559248"/>
            <a:ext cx="287552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(Ene) </a:t>
            </a: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Vanti: 1.292 ventas.</a:t>
            </a:r>
            <a:endParaRPr lang="en-US" sz="984" dirty="0"/>
          </a:p>
        </p:txBody>
      </p:sp>
      <p:sp>
        <p:nvSpPr>
          <p:cNvPr id="14" name="Text 11"/>
          <p:cNvSpPr/>
          <p:nvPr/>
        </p:nvSpPr>
        <p:spPr>
          <a:xfrm>
            <a:off x="952476" y="764977"/>
            <a:ext cx="6450702" cy="109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190595" y="2311598"/>
            <a:ext cx="2036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5190995" y="2311598"/>
            <a:ext cx="20971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952476" y="498277"/>
            <a:ext cx="17766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7111</Words>
  <Application>Microsoft Office PowerPoint</Application>
  <PresentationFormat>Widescreen</PresentationFormat>
  <Paragraphs>2579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  Arcon Solano</cp:lastModifiedBy>
  <cp:revision>1</cp:revision>
  <dcterms:created xsi:type="dcterms:W3CDTF">2026-07-17T20:53:23Z</dcterms:created>
  <dcterms:modified xsi:type="dcterms:W3CDTF">2026-07-17T22:29:40Z</dcterms:modified>
</cp:coreProperties>
</file>