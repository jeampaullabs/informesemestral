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68527"/>
            <a:ext cx="4818491" cy="55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952476" y="1872704"/>
            <a:ext cx="332683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4022872" y="5149900"/>
            <a:ext cx="180651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295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3951734" y="5737771"/>
            <a:ext cx="1915348" cy="323755"/>
          </a:xfrm>
          <a:prstGeom prst="rect">
            <a:avLst/>
          </a:prstGeom>
          <a:noFill/>
          <a:ln/>
        </p:spPr>
        <p:txBody>
          <a:bodyPr wrap="square" lIns="76200" tIns="171450" rIns="171450" bIns="7620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2411997" y="5737771"/>
            <a:ext cx="1468203" cy="323755"/>
          </a:xfrm>
          <a:prstGeom prst="rect">
            <a:avLst/>
          </a:prstGeom>
          <a:noFill/>
          <a:ln/>
        </p:spPr>
        <p:txBody>
          <a:bodyPr wrap="square" lIns="76200" tIns="171450" rIns="171450" bIns="7620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952476" y="5121325"/>
            <a:ext cx="1729561" cy="20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032" dirty="0"/>
          </a:p>
        </p:txBody>
      </p:sp>
      <p:sp>
        <p:nvSpPr>
          <p:cNvPr id="10" name="Text 7"/>
          <p:cNvSpPr/>
          <p:nvPr/>
        </p:nvSpPr>
        <p:spPr>
          <a:xfrm>
            <a:off x="3174573" y="4959400"/>
            <a:ext cx="2680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952476" y="5737771"/>
            <a:ext cx="1385581" cy="323755"/>
          </a:xfrm>
          <a:prstGeom prst="rect">
            <a:avLst/>
          </a:prstGeom>
          <a:noFill/>
          <a:ln/>
        </p:spPr>
        <p:txBody>
          <a:bodyPr wrap="square" lIns="76200" tIns="171450" rIns="171450" bIns="7620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3174573" y="5121325"/>
            <a:ext cx="2680261" cy="203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032" dirty="0"/>
          </a:p>
        </p:txBody>
      </p:sp>
      <p:sp>
        <p:nvSpPr>
          <p:cNvPr id="13" name="Text 10"/>
          <p:cNvSpPr/>
          <p:nvPr/>
        </p:nvSpPr>
        <p:spPr>
          <a:xfrm>
            <a:off x="5925592" y="5737771"/>
            <a:ext cx="1209605" cy="323755"/>
          </a:xfrm>
          <a:prstGeom prst="rect">
            <a:avLst/>
          </a:prstGeom>
          <a:noFill/>
          <a:ln/>
        </p:spPr>
        <p:txBody>
          <a:bodyPr wrap="square" lIns="76200" tIns="171450" rIns="171450" bIns="7620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952476" y="2771329"/>
            <a:ext cx="2991284" cy="65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2476" y="2187029"/>
            <a:ext cx="2991284" cy="186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690093" cy="5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044592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407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275825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86"/>
          <a:ext cx="4572000" cy="21812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1.695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1.391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9.444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142971" y="5452170"/>
            <a:ext cx="8873295" cy="16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cumpliendo los 6 meses. Cuota Protegida aportó 10.534 (145 %) y Combo Vida 3.383 (154 %).</a:t>
            </a:r>
            <a:endParaRPr lang="en-US" sz="864" dirty="0"/>
          </a:p>
        </p:txBody>
      </p:sp>
      <p:sp>
        <p:nvSpPr>
          <p:cNvPr id="5" name="Text 1"/>
          <p:cNvSpPr/>
          <p:nvPr/>
        </p:nvSpPr>
        <p:spPr>
          <a:xfrm>
            <a:off x="8203945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6" name="Text 2"/>
          <p:cNvSpPr/>
          <p:nvPr/>
        </p:nvSpPr>
        <p:spPr>
          <a:xfrm>
            <a:off x="1213514" y="219075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7" name="Text 3"/>
          <p:cNvSpPr/>
          <p:nvPr/>
        </p:nvSpPr>
        <p:spPr>
          <a:xfrm>
            <a:off x="761981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4482889" y="148977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8203945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761981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4482889" y="99060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10362941" y="209550"/>
            <a:ext cx="129498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4482889" y="1162050"/>
            <a:ext cx="336178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61981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03945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378419" y="1908870"/>
            <a:ext cx="514898" cy="245269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10935468" y="1908870"/>
            <a:ext cx="548315" cy="245269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90"/>
          <a:ext cx="4572000" cy="21812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2.132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11.643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14.572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142971" y="5452170"/>
            <a:ext cx="9183859" cy="16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con 3 de 6 meses sobre la meta. Cuota Protegida aportó 10.534 (90 %) y Combo Vida 3.383 (116 %).</a:t>
            </a:r>
            <a:endParaRPr lang="en-US" sz="864" dirty="0"/>
          </a:p>
        </p:txBody>
      </p:sp>
      <p:sp>
        <p:nvSpPr>
          <p:cNvPr id="5" name="Text 1"/>
          <p:cNvSpPr/>
          <p:nvPr/>
        </p:nvSpPr>
        <p:spPr>
          <a:xfrm>
            <a:off x="8203945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6" name="Text 2"/>
          <p:cNvSpPr/>
          <p:nvPr/>
        </p:nvSpPr>
        <p:spPr>
          <a:xfrm>
            <a:off x="1213514" y="219075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7" name="Text 3"/>
          <p:cNvSpPr/>
          <p:nvPr/>
        </p:nvSpPr>
        <p:spPr>
          <a:xfrm>
            <a:off x="761981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4482889" y="148977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8203945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761981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4482889" y="99060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10362941" y="209550"/>
            <a:ext cx="129498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4482889" y="1162050"/>
            <a:ext cx="336178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61981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03945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378419" y="1908870"/>
            <a:ext cx="514898" cy="245269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10935468" y="1908870"/>
            <a:ext cx="548315" cy="245269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232720"/>
          <a:ext cx="4572000" cy="192405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990575" y="5452170"/>
            <a:ext cx="10778526" cy="1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son registros re-enviados (49 %) y clientes con el producto activo (29 %) — depurar la base en origen podría liberar  al semestre.</a:t>
            </a:r>
            <a:endParaRPr lang="en-US" sz="840" dirty="0"/>
          </a:p>
        </p:txBody>
      </p:sp>
      <p:sp>
        <p:nvSpPr>
          <p:cNvPr id="5" name="Text 1"/>
          <p:cNvSpPr/>
          <p:nvPr/>
        </p:nvSpPr>
        <p:spPr>
          <a:xfrm>
            <a:off x="6314917" y="495687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48" dirty="0"/>
          </a:p>
        </p:txBody>
      </p:sp>
      <p:sp>
        <p:nvSpPr>
          <p:cNvPr id="6" name="Text 2"/>
          <p:cNvSpPr/>
          <p:nvPr/>
        </p:nvSpPr>
        <p:spPr>
          <a:xfrm>
            <a:off x="6314917" y="3544342"/>
            <a:ext cx="1574586" cy="21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efectivamente marcados por el equipo</a:t>
            </a:r>
            <a:endParaRPr lang="en-US" sz="672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6314917" y="2528590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enviadas por Vanti (Power BI)</a:t>
            </a:r>
            <a:endParaRPr lang="en-US" sz="672" dirty="0"/>
          </a:p>
        </p:txBody>
      </p:sp>
      <p:sp>
        <p:nvSpPr>
          <p:cNvPr id="9" name="Text 5"/>
          <p:cNvSpPr/>
          <p:nvPr/>
        </p:nvSpPr>
        <p:spPr>
          <a:xfrm>
            <a:off x="1213514" y="219075"/>
            <a:ext cx="29629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10" name="Text 6"/>
          <p:cNvSpPr/>
          <p:nvPr/>
        </p:nvSpPr>
        <p:spPr>
          <a:xfrm>
            <a:off x="6314917" y="4128790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Clientes con contacto efectivo</a:t>
            </a:r>
            <a:endParaRPr lang="en-US" sz="672" dirty="0"/>
          </a:p>
        </p:txBody>
      </p:sp>
      <p:sp>
        <p:nvSpPr>
          <p:cNvPr id="11" name="Text 7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3" name="Text 9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6314917" y="3061990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 y descarte</a:t>
            </a:r>
            <a:endParaRPr lang="en-US" sz="672" dirty="0"/>
          </a:p>
        </p:txBody>
      </p:sp>
      <p:sp>
        <p:nvSpPr>
          <p:cNvPr id="15" name="Text 11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 base</a:t>
            </a:r>
            <a:endParaRPr lang="en-US" sz="864" dirty="0"/>
          </a:p>
        </p:txBody>
      </p:sp>
      <p:sp>
        <p:nvSpPr>
          <p:cNvPr id="16" name="Text 12"/>
          <p:cNvSpPr/>
          <p:nvPr/>
        </p:nvSpPr>
        <p:spPr>
          <a:xfrm>
            <a:off x="9939089" y="2466082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7" name="Text 13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 (liquidación)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9" name="Text 1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912.083 recibidos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6314917" y="2405955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6314917" y="2939355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9939089" y="2999482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3" name="Text 19"/>
          <p:cNvSpPr/>
          <p:nvPr/>
        </p:nvSpPr>
        <p:spPr>
          <a:xfrm>
            <a:off x="9939089" y="3532882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4" name="Text 20"/>
          <p:cNvSpPr/>
          <p:nvPr/>
        </p:nvSpPr>
        <p:spPr>
          <a:xfrm>
            <a:off x="9939089" y="4066282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5" name="Text 21"/>
          <p:cNvSpPr/>
          <p:nvPr/>
        </p:nvSpPr>
        <p:spPr>
          <a:xfrm>
            <a:off x="9939089" y="4599682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6" name="Text 22"/>
          <p:cNvSpPr/>
          <p:nvPr/>
        </p:nvSpPr>
        <p:spPr>
          <a:xfrm>
            <a:off x="10451640" y="209550"/>
            <a:ext cx="1203626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6314917" y="4662190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</a:t>
            </a:r>
            <a:endParaRPr lang="en-US" sz="672" dirty="0"/>
          </a:p>
        </p:txBody>
      </p:sp>
      <p:sp>
        <p:nvSpPr>
          <p:cNvPr id="28" name="Text 24"/>
          <p:cNvSpPr/>
          <p:nvPr/>
        </p:nvSpPr>
        <p:spPr>
          <a:xfrm>
            <a:off x="6314917" y="3421707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6314917" y="4006155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30" name="Text 26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7938889" y="22517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912" dirty="0"/>
          </a:p>
        </p:txBody>
      </p:sp>
      <p:sp>
        <p:nvSpPr>
          <p:cNvPr id="33" name="Text 29"/>
          <p:cNvSpPr/>
          <p:nvPr/>
        </p:nvSpPr>
        <p:spPr>
          <a:xfrm>
            <a:off x="7938889" y="27851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912" dirty="0"/>
          </a:p>
        </p:txBody>
      </p:sp>
      <p:sp>
        <p:nvSpPr>
          <p:cNvPr id="34" name="Text 30"/>
          <p:cNvSpPr/>
          <p:nvPr/>
        </p:nvSpPr>
        <p:spPr>
          <a:xfrm>
            <a:off x="7938889" y="33185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912" dirty="0"/>
          </a:p>
        </p:txBody>
      </p:sp>
      <p:sp>
        <p:nvSpPr>
          <p:cNvPr id="35" name="Text 31"/>
          <p:cNvSpPr/>
          <p:nvPr/>
        </p:nvSpPr>
        <p:spPr>
          <a:xfrm>
            <a:off x="7938889" y="38519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912" dirty="0"/>
          </a:p>
        </p:txBody>
      </p:sp>
      <p:sp>
        <p:nvSpPr>
          <p:cNvPr id="36" name="Text 32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938889" y="43853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38" name="Text 34"/>
          <p:cNvSpPr/>
          <p:nvPr/>
        </p:nvSpPr>
        <p:spPr>
          <a:xfrm>
            <a:off x="6314917" y="4539555"/>
            <a:ext cx="15745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40" dirty="0"/>
          </a:p>
        </p:txBody>
      </p:sp>
      <p:sp>
        <p:nvSpPr>
          <p:cNvPr id="39" name="Text 35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2044005"/>
          <a:ext cx="4572000" cy="16478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CP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Stock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Clientes Satisf.*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910.820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11.142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8,6 %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4110930"/>
          <a:ext cx="4572000" cy="16287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Conv.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46.426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60.402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31.039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43.410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321.087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129.696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343" y="2015430"/>
          <a:ext cx="4572000" cy="16287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49,3 %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50,8 %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45,2 %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74,5 %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75,6 %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62,9 %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60,1 %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47625" marR="47625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6667333" y="4853880"/>
            <a:ext cx="4866010" cy="68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corresponde a bases repetidas y clientes con producto activo. Depurar estos registros en origen podría recuperar hasta  por semestre, equivalentes a ~ adicionales aplicando la conversión actual del canal. Una coordinación con Vanti para limpiar la base antes del cargue liberaría capacidad operativa sin aumentar el equipo.</a:t>
            </a:r>
            <a:endParaRPr lang="en-US" sz="696" dirty="0"/>
          </a:p>
        </p:txBody>
      </p:sp>
      <p:sp>
        <p:nvSpPr>
          <p:cNvPr id="7" name="Text 1"/>
          <p:cNvSpPr/>
          <p:nvPr/>
        </p:nvSpPr>
        <p:spPr>
          <a:xfrm>
            <a:off x="704832" y="3720405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CP Clientes Satisfechos: campaña puntual solo en enero (no recurrente).</a:t>
            </a:r>
            <a:endParaRPr lang="en-US" sz="600" dirty="0"/>
          </a:p>
        </p:txBody>
      </p:sp>
      <p:sp>
        <p:nvSpPr>
          <p:cNvPr id="8" name="Text 2"/>
          <p:cNvSpPr/>
          <p:nvPr/>
        </p:nvSpPr>
        <p:spPr>
          <a:xfrm>
            <a:off x="9067573" y="128200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con mayor volumen de registros (255.138) en el semestre</a:t>
            </a:r>
            <a:endParaRPr lang="en-US" sz="600" dirty="0"/>
          </a:p>
        </p:txBody>
      </p:sp>
      <p:sp>
        <p:nvSpPr>
          <p:cNvPr id="9" name="Text 3"/>
          <p:cNvSpPr/>
          <p:nvPr/>
        </p:nvSpPr>
        <p:spPr>
          <a:xfrm>
            <a:off x="3505112" y="128200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3× el promedio del canal</a:t>
            </a:r>
            <a:endParaRPr lang="en-US" sz="600" dirty="0"/>
          </a:p>
        </p:txBody>
      </p:sp>
      <p:sp>
        <p:nvSpPr>
          <p:cNvPr id="10" name="Text 4"/>
          <p:cNvSpPr/>
          <p:nvPr/>
        </p:nvSpPr>
        <p:spPr>
          <a:xfrm>
            <a:off x="6286343" y="128200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 de conversión · en el objetivo de la campaña (5 %)</a:t>
            </a:r>
            <a:endParaRPr lang="en-US" sz="600" dirty="0"/>
          </a:p>
        </p:txBody>
      </p:sp>
      <p:sp>
        <p:nvSpPr>
          <p:cNvPr id="11" name="Text 5"/>
          <p:cNvSpPr/>
          <p:nvPr/>
        </p:nvSpPr>
        <p:spPr>
          <a:xfrm>
            <a:off x="6286343" y="4653855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12" name="Text 6"/>
          <p:cNvSpPr/>
          <p:nvPr/>
        </p:nvSpPr>
        <p:spPr>
          <a:xfrm>
            <a:off x="723882" y="128200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del total del semestre · 19,5 % de conversión</a:t>
            </a:r>
            <a:endParaRPr lang="en-US" sz="600" dirty="0"/>
          </a:p>
        </p:txBody>
      </p:sp>
      <p:sp>
        <p:nvSpPr>
          <p:cNvPr id="13" name="Text 7"/>
          <p:cNvSpPr/>
          <p:nvPr/>
        </p:nvSpPr>
        <p:spPr>
          <a:xfrm>
            <a:off x="704832" y="5758755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14" name="Text 8"/>
          <p:cNvSpPr/>
          <p:nvPr/>
        </p:nvSpPr>
        <p:spPr>
          <a:xfrm>
            <a:off x="6286343" y="3720405"/>
            <a:ext cx="5356536" cy="17659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5" name="Text 9"/>
          <p:cNvSpPr/>
          <p:nvPr/>
        </p:nvSpPr>
        <p:spPr>
          <a:xfrm>
            <a:off x="6286343" y="3920430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6" name="Text 10"/>
          <p:cNvSpPr/>
          <p:nvPr/>
        </p:nvSpPr>
        <p:spPr>
          <a:xfrm>
            <a:off x="6286343" y="4025205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17" name="Text 11"/>
          <p:cNvSpPr/>
          <p:nvPr/>
        </p:nvSpPr>
        <p:spPr>
          <a:xfrm>
            <a:off x="6286343" y="4129980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18" name="Text 12"/>
          <p:cNvSpPr/>
          <p:nvPr/>
        </p:nvSpPr>
        <p:spPr>
          <a:xfrm>
            <a:off x="6286343" y="4234755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19" name="Text 13"/>
          <p:cNvSpPr/>
          <p:nvPr/>
        </p:nvSpPr>
        <p:spPr>
          <a:xfrm>
            <a:off x="1213514" y="219075"/>
            <a:ext cx="218835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20" name="Text 14"/>
          <p:cNvSpPr/>
          <p:nvPr/>
        </p:nvSpPr>
        <p:spPr>
          <a:xfrm>
            <a:off x="9067573" y="97155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21" name="Text 15"/>
          <p:cNvSpPr/>
          <p:nvPr/>
        </p:nvSpPr>
        <p:spPr>
          <a:xfrm>
            <a:off x="10153843" y="209550"/>
            <a:ext cx="1510358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840" dirty="0"/>
          </a:p>
        </p:txBody>
      </p:sp>
      <p:sp>
        <p:nvSpPr>
          <p:cNvPr id="22" name="Text 16"/>
          <p:cNvSpPr/>
          <p:nvPr/>
        </p:nvSpPr>
        <p:spPr>
          <a:xfrm>
            <a:off x="6286343" y="4444305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23" name="Text 17"/>
          <p:cNvSpPr/>
          <p:nvPr/>
        </p:nvSpPr>
        <p:spPr>
          <a:xfrm>
            <a:off x="723882" y="97155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4" name="Text 18"/>
          <p:cNvSpPr/>
          <p:nvPr/>
        </p:nvSpPr>
        <p:spPr>
          <a:xfrm>
            <a:off x="3505112" y="97155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5" name="Text 19"/>
          <p:cNvSpPr/>
          <p:nvPr/>
        </p:nvSpPr>
        <p:spPr>
          <a:xfrm>
            <a:off x="6286343" y="4339530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26" name="Text 20"/>
          <p:cNvSpPr/>
          <p:nvPr/>
        </p:nvSpPr>
        <p:spPr>
          <a:xfrm>
            <a:off x="6286343" y="97155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27" name="Text 21"/>
          <p:cNvSpPr/>
          <p:nvPr/>
        </p:nvSpPr>
        <p:spPr>
          <a:xfrm>
            <a:off x="1088204" y="11430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3505112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20" dirty="0"/>
          </a:p>
        </p:txBody>
      </p:sp>
      <p:sp>
        <p:nvSpPr>
          <p:cNvPr id="29" name="Text 23"/>
          <p:cNvSpPr/>
          <p:nvPr/>
        </p:nvSpPr>
        <p:spPr>
          <a:xfrm>
            <a:off x="6649177" y="11430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30" name="Text 24"/>
          <p:cNvSpPr/>
          <p:nvPr/>
        </p:nvSpPr>
        <p:spPr>
          <a:xfrm>
            <a:off x="9317301" y="11430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31" name="Text 25"/>
          <p:cNvSpPr/>
          <p:nvPr/>
        </p:nvSpPr>
        <p:spPr>
          <a:xfrm>
            <a:off x="723882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020" dirty="0"/>
          </a:p>
        </p:txBody>
      </p:sp>
      <p:sp>
        <p:nvSpPr>
          <p:cNvPr id="32" name="Text 26"/>
          <p:cNvSpPr/>
          <p:nvPr/>
        </p:nvSpPr>
        <p:spPr>
          <a:xfrm>
            <a:off x="6286343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020" dirty="0"/>
          </a:p>
        </p:txBody>
      </p:sp>
      <p:sp>
        <p:nvSpPr>
          <p:cNvPr id="33" name="Text 27"/>
          <p:cNvSpPr/>
          <p:nvPr/>
        </p:nvSpPr>
        <p:spPr>
          <a:xfrm>
            <a:off x="6286343" y="4549080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34" name="Text 28"/>
          <p:cNvSpPr/>
          <p:nvPr/>
        </p:nvSpPr>
        <p:spPr>
          <a:xfrm>
            <a:off x="9067573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020" dirty="0"/>
          </a:p>
        </p:txBody>
      </p:sp>
      <p:sp>
        <p:nvSpPr>
          <p:cNvPr id="35" name="Text 29"/>
          <p:cNvSpPr/>
          <p:nvPr/>
        </p:nvSpPr>
        <p:spPr>
          <a:xfrm>
            <a:off x="11220169" y="392043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36" name="Text 30"/>
          <p:cNvSpPr/>
          <p:nvPr/>
        </p:nvSpPr>
        <p:spPr>
          <a:xfrm>
            <a:off x="11220169" y="402520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37" name="Text 31"/>
          <p:cNvSpPr/>
          <p:nvPr/>
        </p:nvSpPr>
        <p:spPr>
          <a:xfrm>
            <a:off x="11220169" y="412998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38" name="Text 32"/>
          <p:cNvSpPr/>
          <p:nvPr/>
        </p:nvSpPr>
        <p:spPr>
          <a:xfrm>
            <a:off x="11220169" y="423475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39" name="Text 33"/>
          <p:cNvSpPr/>
          <p:nvPr/>
        </p:nvSpPr>
        <p:spPr>
          <a:xfrm>
            <a:off x="11220169" y="433953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40" name="Text 34"/>
          <p:cNvSpPr/>
          <p:nvPr/>
        </p:nvSpPr>
        <p:spPr>
          <a:xfrm>
            <a:off x="11220169" y="444430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41" name="Text 35"/>
          <p:cNvSpPr/>
          <p:nvPr/>
        </p:nvSpPr>
        <p:spPr>
          <a:xfrm>
            <a:off x="11220169" y="454908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470845"/>
          <a:ext cx="4572000" cy="1952625"/>
        </p:xfrm>
        <a:graphic>
          <a:graphicData uri="http://schemas.openxmlformats.org/drawingml/2006/table">
            <a:tbl>
              <a:tblPr/>
              <a:tblGrid>
                <a:gridCol w="653143"/>
                <a:gridCol w="653143"/>
                <a:gridCol w="653143"/>
                <a:gridCol w="653143"/>
                <a:gridCol w="653143"/>
                <a:gridCol w="653143"/>
                <a:gridCol w="653143"/>
              </a:tblGrid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1.189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1.950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4.968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3.447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7.460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737795"/>
          <a:ext cx="4572000" cy="1287661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Jesús D. Cortés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Melissa P. Orozco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Luisa L. Percy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4ª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4 asesores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648284" y="5367784"/>
            <a:ext cx="4866010" cy="40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 intención de compra validada ·  en el semestre · Crecimiento de  · El equipo focalizado pasó de 14 a 266 ventas/mes () · 26,6% de conversión,  · La autogestión es la campaña de mayor efectividad del portafolio.</a:t>
            </a:r>
            <a:endParaRPr lang="en-US" sz="696" dirty="0"/>
          </a:p>
        </p:txBody>
      </p:sp>
      <p:sp>
        <p:nvSpPr>
          <p:cNvPr id="6" name="Text 1"/>
          <p:cNvSpPr/>
          <p:nvPr/>
        </p:nvSpPr>
        <p:spPr>
          <a:xfrm>
            <a:off x="6314917" y="3575745"/>
            <a:ext cx="5307483" cy="147161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744" dirty="0"/>
          </a:p>
        </p:txBody>
      </p:sp>
      <p:sp>
        <p:nvSpPr>
          <p:cNvPr id="7" name="Text 2"/>
          <p:cNvSpPr/>
          <p:nvPr/>
        </p:nvSpPr>
        <p:spPr>
          <a:xfrm>
            <a:off x="6314917" y="453777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576" dirty="0"/>
          </a:p>
        </p:txBody>
      </p:sp>
      <p:sp>
        <p:nvSpPr>
          <p:cNvPr id="8" name="Text 3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3.0 veces mejor que el resto de la base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1213514" y="219075"/>
            <a:ext cx="360766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10" name="Text 5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634349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6314917" y="38519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6314917" y="40805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 sobre contactados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6314917" y="37376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9936261" y="209550"/>
            <a:ext cx="173446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6314917" y="43091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8988548" y="5099745"/>
            <a:ext cx="116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24" dirty="0"/>
          </a:p>
        </p:txBody>
      </p:sp>
      <p:sp>
        <p:nvSpPr>
          <p:cNvPr id="20" name="Text 15"/>
          <p:cNvSpPr/>
          <p:nvPr/>
        </p:nvSpPr>
        <p:spPr>
          <a:xfrm>
            <a:off x="6314917" y="39662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6314917" y="41948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3" name="Text 18"/>
          <p:cNvSpPr/>
          <p:nvPr/>
        </p:nvSpPr>
        <p:spPr>
          <a:xfrm>
            <a:off x="7665945" y="5099745"/>
            <a:ext cx="11620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24" dirty="0"/>
          </a:p>
        </p:txBody>
      </p:sp>
      <p:sp>
        <p:nvSpPr>
          <p:cNvPr id="24" name="Text 19"/>
          <p:cNvSpPr/>
          <p:nvPr/>
        </p:nvSpPr>
        <p:spPr>
          <a:xfrm>
            <a:off x="6314917" y="4423470"/>
            <a:ext cx="12557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864" dirty="0"/>
          </a:p>
        </p:txBody>
      </p:sp>
      <p:sp>
        <p:nvSpPr>
          <p:cNvPr id="26" name="Text 21"/>
          <p:cNvSpPr/>
          <p:nvPr/>
        </p:nvSpPr>
        <p:spPr>
          <a:xfrm>
            <a:off x="6343491" y="5099745"/>
            <a:ext cx="11619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24" dirty="0"/>
          </a:p>
        </p:txBody>
      </p:sp>
      <p:sp>
        <p:nvSpPr>
          <p:cNvPr id="27" name="Text 22"/>
          <p:cNvSpPr/>
          <p:nvPr/>
        </p:nvSpPr>
        <p:spPr>
          <a:xfrm>
            <a:off x="10311001" y="5099745"/>
            <a:ext cx="11620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24" dirty="0"/>
          </a:p>
        </p:txBody>
      </p:sp>
      <p:sp>
        <p:nvSpPr>
          <p:cNvPr id="28" name="Text 23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864" dirty="0"/>
          </a:p>
        </p:txBody>
      </p:sp>
      <p:sp>
        <p:nvSpPr>
          <p:cNvPr id="29" name="Text 24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11182070" y="37376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11182070" y="38519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3.0×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392059" y="294620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+93%</a:t>
            </a:r>
            <a:endParaRPr lang="en-US" sz="504" dirty="0"/>
          </a:p>
        </p:txBody>
      </p:sp>
      <p:sp>
        <p:nvSpPr>
          <p:cNvPr id="35" name="Text 30"/>
          <p:cNvSpPr/>
          <p:nvPr/>
        </p:nvSpPr>
        <p:spPr>
          <a:xfrm>
            <a:off x="9240656" y="28310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+34%</a:t>
            </a:r>
            <a:endParaRPr lang="en-US" sz="504" dirty="0"/>
          </a:p>
        </p:txBody>
      </p:sp>
      <p:sp>
        <p:nvSpPr>
          <p:cNvPr id="36" name="Text 31"/>
          <p:cNvSpPr/>
          <p:nvPr/>
        </p:nvSpPr>
        <p:spPr>
          <a:xfrm>
            <a:off x="10085532" y="25336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+86%</a:t>
            </a:r>
            <a:endParaRPr lang="en-US" sz="504" dirty="0"/>
          </a:p>
        </p:txBody>
      </p:sp>
      <p:sp>
        <p:nvSpPr>
          <p:cNvPr id="37" name="Text 32"/>
          <p:cNvSpPr/>
          <p:nvPr/>
        </p:nvSpPr>
        <p:spPr>
          <a:xfrm>
            <a:off x="10935320" y="25336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+29%</a:t>
            </a:r>
            <a:endParaRPr lang="en-US" sz="504" dirty="0"/>
          </a:p>
        </p:txBody>
      </p:sp>
      <p:sp>
        <p:nvSpPr>
          <p:cNvPr id="38" name="Text 33"/>
          <p:cNvSpPr/>
          <p:nvPr/>
        </p:nvSpPr>
        <p:spPr>
          <a:xfrm>
            <a:off x="11182070" y="39662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11182070" y="40805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11182070" y="41948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11182070" y="43091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600" dirty="0"/>
          </a:p>
        </p:txBody>
      </p:sp>
      <p:sp>
        <p:nvSpPr>
          <p:cNvPr id="42" name="Text 37"/>
          <p:cNvSpPr/>
          <p:nvPr/>
        </p:nvSpPr>
        <p:spPr>
          <a:xfrm>
            <a:off x="11182070" y="4423470"/>
            <a:ext cx="294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6703349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7563405" y="31033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504" dirty="0"/>
          </a:p>
        </p:txBody>
      </p:sp>
      <p:sp>
        <p:nvSpPr>
          <p:cNvPr id="46" name="Text 41"/>
          <p:cNvSpPr/>
          <p:nvPr/>
        </p:nvSpPr>
        <p:spPr>
          <a:xfrm>
            <a:off x="7552094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8398161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9241400" y="273010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720" dirty="0"/>
          </a:p>
        </p:txBody>
      </p:sp>
      <p:sp>
        <p:nvSpPr>
          <p:cNvPr id="49" name="Text 44"/>
          <p:cNvSpPr/>
          <p:nvPr/>
        </p:nvSpPr>
        <p:spPr>
          <a:xfrm>
            <a:off x="9250627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50" name="Text 45"/>
          <p:cNvSpPr/>
          <p:nvPr/>
        </p:nvSpPr>
        <p:spPr>
          <a:xfrm>
            <a:off x="10084937" y="24327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20" dirty="0"/>
          </a:p>
        </p:txBody>
      </p:sp>
      <p:sp>
        <p:nvSpPr>
          <p:cNvPr id="51" name="Text 46"/>
          <p:cNvSpPr/>
          <p:nvPr/>
        </p:nvSpPr>
        <p:spPr>
          <a:xfrm>
            <a:off x="10088062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52" name="Text 47"/>
          <p:cNvSpPr/>
          <p:nvPr/>
        </p:nvSpPr>
        <p:spPr>
          <a:xfrm>
            <a:off x="10932641" y="24327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720" dirty="0"/>
          </a:p>
        </p:txBody>
      </p:sp>
      <p:sp>
        <p:nvSpPr>
          <p:cNvPr id="53" name="Text 48"/>
          <p:cNvSpPr/>
          <p:nvPr/>
        </p:nvSpPr>
        <p:spPr>
          <a:xfrm>
            <a:off x="10945588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54" name="Text 49"/>
          <p:cNvSpPr/>
          <p:nvPr/>
        </p:nvSpPr>
        <p:spPr>
          <a:xfrm>
            <a:off x="6719571" y="301287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55" name="Text 50"/>
          <p:cNvSpPr/>
          <p:nvPr/>
        </p:nvSpPr>
        <p:spPr>
          <a:xfrm>
            <a:off x="7567870" y="300245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56" name="Text 51"/>
          <p:cNvSpPr/>
          <p:nvPr/>
        </p:nvSpPr>
        <p:spPr>
          <a:xfrm>
            <a:off x="8413341" y="28452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14.772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21.421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19.096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20.067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19.767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4.318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6.863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35.758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Contrato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4.624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con Localidad Errónea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Cédula/Teléfono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8.439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7.935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6.901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44.430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7.149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38.250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 (CP + Autogestión)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7.672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4.822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10.362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1.221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856238"/>
            <a:ext cx="7299322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6002685"/>
            <a:ext cx="7299322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493602" y="5719316"/>
            <a:ext cx="24282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(78,7 % Semestre)</a:t>
            </a:r>
            <a:endParaRPr lang="en-US" sz="744" dirty="0"/>
          </a:p>
        </p:txBody>
      </p:sp>
      <p:sp>
        <p:nvSpPr>
          <p:cNvPr id="10" name="Text 3"/>
          <p:cNvSpPr/>
          <p:nvPr/>
        </p:nvSpPr>
        <p:spPr>
          <a:xfrm>
            <a:off x="1213514" y="219075"/>
            <a:ext cx="37949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11" name="Text 4"/>
          <p:cNvSpPr/>
          <p:nvPr/>
        </p:nvSpPr>
        <p:spPr>
          <a:xfrm>
            <a:off x="8216595" y="121994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533387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4374991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Aporta el 62% de las ventas de CP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445141" y="209550"/>
            <a:ext cx="2240321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4374991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20.864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69.741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15.354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27.509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96.218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85.455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21.047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Dirección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3.117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5.585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3.898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5.053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8.083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24.847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27.980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39.285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158.941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11.869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16.662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67.420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6.179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24.996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14.356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5.881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17.041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68.940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8.867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9.986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14.019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56.723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8.594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6002685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56238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336741" y="5719316"/>
            <a:ext cx="2513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744" dirty="0"/>
          </a:p>
        </p:txBody>
      </p:sp>
      <p:sp>
        <p:nvSpPr>
          <p:cNvPr id="10" name="Text 3"/>
          <p:cNvSpPr/>
          <p:nvPr/>
        </p:nvSpPr>
        <p:spPr>
          <a:xfrm>
            <a:off x="8216595" y="121994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de objetivos sobre contacto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213514" y="219075"/>
            <a:ext cx="323608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12" name="Text 5"/>
          <p:cNvSpPr/>
          <p:nvPr/>
        </p:nvSpPr>
        <p:spPr>
          <a:xfrm>
            <a:off x="4374991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533387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601853" y="209550"/>
            <a:ext cx="207890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55.557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24.673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41.870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34.574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3620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8.732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13.532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103.678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11.261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Supera edad para Microseguro (69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Seguro Voluntario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2.330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51.332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13.276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119.825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5.270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 / datos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25.810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11.700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34.600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8.949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80.769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722888"/>
            <a:ext cx="760605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el más alto del portafolio (), impulsado masivamente por , lo que indica bases quemadas o números desactualizados.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69335"/>
            <a:ext cx="760605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abril y mayo el rechazo llegó al  porque se enviaron registros duplicados.  al actualizarse la base.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213514" y="219075"/>
            <a:ext cx="40794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10" name="Text 3"/>
          <p:cNvSpPr/>
          <p:nvPr/>
        </p:nvSpPr>
        <p:spPr>
          <a:xfrm>
            <a:off x="4374991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579176" y="5585966"/>
            <a:ext cx="194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crítica muy baja (17,0 %)</a:t>
            </a:r>
            <a:endParaRPr lang="en-US" sz="744" dirty="0"/>
          </a:p>
        </p:txBody>
      </p:sp>
      <p:sp>
        <p:nvSpPr>
          <p:cNvPr id="12" name="Text 5"/>
          <p:cNvSpPr/>
          <p:nvPr/>
        </p:nvSpPr>
        <p:spPr>
          <a:xfrm>
            <a:off x="533387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8794481" y="209550"/>
            <a:ext cx="2910501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840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8216595" y="121994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16" name="Text 9"/>
          <p:cNvSpPr/>
          <p:nvPr/>
        </p:nvSpPr>
        <p:spPr>
          <a:xfrm>
            <a:off x="4374991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533387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837984" y="5585966"/>
            <a:ext cx="3577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53,04 %</a:t>
            </a:r>
            <a:endParaRPr lang="en-US" sz="744" dirty="0"/>
          </a:p>
        </p:txBody>
      </p:sp>
      <p:sp>
        <p:nvSpPr>
          <p:cNvPr id="21" name="Text 14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1380" dirty="0"/>
          </a:p>
        </p:txBody>
      </p:sp>
      <p:sp>
        <p:nvSpPr>
          <p:cNvPr id="22" name="Text 15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3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 / Producto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Errado / Sin Teléfono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 / No apto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2287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056138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202585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213514" y="219075"/>
            <a:ext cx="44884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10" name="Text 3"/>
          <p:cNvSpPr/>
          <p:nvPr/>
        </p:nvSpPr>
        <p:spPr>
          <a:xfrm>
            <a:off x="8216595" y="121994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533387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4374991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8681672" y="209550"/>
            <a:ext cx="302669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840" dirty="0"/>
          </a:p>
        </p:txBody>
      </p:sp>
      <p:sp>
        <p:nvSpPr>
          <p:cNvPr id="14" name="Text 7"/>
          <p:cNvSpPr/>
          <p:nvPr/>
        </p:nvSpPr>
        <p:spPr>
          <a:xfrm>
            <a:off x="1138953" y="4919216"/>
            <a:ext cx="17110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5" name="Text 8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4374991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6953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 / Ya Posee el Producto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9.378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cumple requisito de edad (&gt;69 años)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722888"/>
            <a:ext cx="650528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Muestra una contactabilidad excelente () y una conversión sobre contacto muy alta ().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69335"/>
            <a:ext cx="650528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el , consolidándose como un canal de gran eficiencia a menor escala.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4374991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10" name="Text 3"/>
          <p:cNvSpPr/>
          <p:nvPr/>
        </p:nvSpPr>
        <p:spPr>
          <a:xfrm>
            <a:off x="533387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213514" y="219075"/>
            <a:ext cx="35480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12" name="Text 5"/>
          <p:cNvSpPr/>
          <p:nvPr/>
        </p:nvSpPr>
        <p:spPr>
          <a:xfrm>
            <a:off x="8216595" y="121994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2227455" y="5585966"/>
            <a:ext cx="15312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rechazo casi nulo (&lt;1 %)</a:t>
            </a:r>
            <a:endParaRPr lang="en-US" sz="744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287536" y="209550"/>
            <a:ext cx="240265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Errada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Nombre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38100" marR="3810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322838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1213514" y="219075"/>
            <a:ext cx="474215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9" name="Text 2"/>
          <p:cNvSpPr/>
          <p:nvPr/>
        </p:nvSpPr>
        <p:spPr>
          <a:xfrm>
            <a:off x="533387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10" name="Text 3"/>
          <p:cNvSpPr/>
          <p:nvPr/>
        </p:nvSpPr>
        <p:spPr>
          <a:xfrm>
            <a:off x="685783" y="5469285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744" dirty="0"/>
          </a:p>
        </p:txBody>
      </p:sp>
      <p:sp>
        <p:nvSpPr>
          <p:cNvPr id="11" name="Text 4"/>
          <p:cNvSpPr/>
          <p:nvPr/>
        </p:nvSpPr>
        <p:spPr>
          <a:xfrm>
            <a:off x="4374991" y="121994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1138953" y="5185916"/>
            <a:ext cx="17110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3" name="Text 6"/>
          <p:cNvSpPr/>
          <p:nvPr/>
        </p:nvSpPr>
        <p:spPr>
          <a:xfrm>
            <a:off x="8216595" y="121994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9150320" y="209550"/>
            <a:ext cx="254398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840" dirty="0"/>
          </a:p>
        </p:txBody>
      </p:sp>
      <p:sp>
        <p:nvSpPr>
          <p:cNvPr id="15" name="Text 8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042071"/>
          <a:ext cx="3657600" cy="1304925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Semanas Ganadoras: 1.292/950 ventas (136 %) · Bono $100K/semana × trío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Gran Jugada: 4.798/4.200 ventas (114 %) · $7.000.000 al equipo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Acelerador Mayo: 560/650 ventas (86 %) · Bono $300.000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 eventos de incentivo Vanti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7629334" y="4898827"/>
            <a:ext cx="3806476" cy="5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7" name="Text 2"/>
          <p:cNvSpPr/>
          <p:nvPr/>
        </p:nvSpPr>
        <p:spPr>
          <a:xfrm>
            <a:off x="7867453" y="1419225"/>
            <a:ext cx="2918625" cy="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8" name="Text 3"/>
          <p:cNvSpPr/>
          <p:nvPr/>
        </p:nvSpPr>
        <p:spPr>
          <a:xfrm>
            <a:off x="10196555" y="209550"/>
            <a:ext cx="146636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9" name="Text 4"/>
          <p:cNvSpPr/>
          <p:nvPr/>
        </p:nvSpPr>
        <p:spPr>
          <a:xfrm>
            <a:off x="1687222" y="5429250"/>
            <a:ext cx="4638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0" name="Text 5"/>
          <p:cNvSpPr/>
          <p:nvPr/>
        </p:nvSpPr>
        <p:spPr>
          <a:xfrm>
            <a:off x="1149073" y="5429250"/>
            <a:ext cx="4365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1" name="Text 6"/>
          <p:cNvSpPr/>
          <p:nvPr/>
        </p:nvSpPr>
        <p:spPr>
          <a:xfrm>
            <a:off x="10517867" y="1066800"/>
            <a:ext cx="444998" cy="206026"/>
          </a:xfrm>
          <a:prstGeom prst="rect">
            <a:avLst/>
          </a:prstGeom>
          <a:noFill/>
          <a:ln/>
        </p:spPr>
        <p:txBody>
          <a:bodyPr wrap="square" lIns="38100" tIns="95250" rIns="95250" bIns="3810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10988003" y="1066800"/>
            <a:ext cx="474583" cy="206026"/>
          </a:xfrm>
          <a:prstGeom prst="rect">
            <a:avLst/>
          </a:prstGeom>
          <a:noFill/>
          <a:ln/>
        </p:spPr>
        <p:txBody>
          <a:bodyPr wrap="square" lIns="38100" tIns="95250" rIns="95250" bIns="3810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28575" marB="2857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7150" marR="57150" marT="19050" marB="190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710638"/>
          <a:ext cx="3657600" cy="17526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en torneo + varios incentivos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destacado + varios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medio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Patrón similar a marzo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+ Meta Volante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por cumplimiento de metas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 eventos de incentivo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7629334" y="4898827"/>
            <a:ext cx="3806476" cy="5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7" name="Text 2"/>
          <p:cNvSpPr/>
          <p:nvPr/>
        </p:nvSpPr>
        <p:spPr>
          <a:xfrm>
            <a:off x="7867453" y="2085975"/>
            <a:ext cx="2918625" cy="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8" name="Text 3"/>
          <p:cNvSpPr/>
          <p:nvPr/>
        </p:nvSpPr>
        <p:spPr>
          <a:xfrm>
            <a:off x="10196555" y="209550"/>
            <a:ext cx="146636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9" name="Text 4"/>
          <p:cNvSpPr/>
          <p:nvPr/>
        </p:nvSpPr>
        <p:spPr>
          <a:xfrm>
            <a:off x="1687222" y="5429250"/>
            <a:ext cx="4638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0" name="Text 5"/>
          <p:cNvSpPr/>
          <p:nvPr/>
        </p:nvSpPr>
        <p:spPr>
          <a:xfrm>
            <a:off x="1149073" y="5429250"/>
            <a:ext cx="4365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1" name="Text 6"/>
          <p:cNvSpPr/>
          <p:nvPr/>
        </p:nvSpPr>
        <p:spPr>
          <a:xfrm>
            <a:off x="10517867" y="1066800"/>
            <a:ext cx="444998" cy="206026"/>
          </a:xfrm>
          <a:prstGeom prst="rect">
            <a:avLst/>
          </a:prstGeom>
          <a:noFill/>
          <a:ln/>
        </p:spPr>
        <p:txBody>
          <a:bodyPr wrap="square" lIns="38100" tIns="95250" rIns="95250" bIns="3810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10988003" y="1066800"/>
            <a:ext cx="474583" cy="206026"/>
          </a:xfrm>
          <a:prstGeom prst="rect">
            <a:avLst/>
          </a:prstGeom>
          <a:noFill/>
          <a:ln/>
        </p:spPr>
        <p:txBody>
          <a:bodyPr wrap="square" lIns="38100" tIns="95250" rIns="95250" bIns="3810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13" name="Text 8"/>
          <p:cNvSpPr/>
          <p:nvPr/>
        </p:nvSpPr>
        <p:spPr>
          <a:xfrm>
            <a:off x="7448364" y="1811567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4" name="Text 9"/>
          <p:cNvSpPr/>
          <p:nvPr/>
        </p:nvSpPr>
        <p:spPr>
          <a:xfrm>
            <a:off x="7791255" y="1811567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5" name="Text 10"/>
          <p:cNvSpPr/>
          <p:nvPr/>
        </p:nvSpPr>
        <p:spPr>
          <a:xfrm>
            <a:off x="8134147" y="1811567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6" name="Text 11"/>
          <p:cNvSpPr/>
          <p:nvPr/>
        </p:nvSpPr>
        <p:spPr>
          <a:xfrm>
            <a:off x="8477038" y="1811567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7" name="Text 12"/>
          <p:cNvSpPr/>
          <p:nvPr/>
        </p:nvSpPr>
        <p:spPr>
          <a:xfrm>
            <a:off x="8819929" y="1811567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8" name="Text 13"/>
          <p:cNvSpPr/>
          <p:nvPr/>
        </p:nvSpPr>
        <p:spPr>
          <a:xfrm>
            <a:off x="9162821" y="1811567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9" name="Text 14"/>
          <p:cNvSpPr/>
          <p:nvPr/>
        </p:nvSpPr>
        <p:spPr>
          <a:xfrm>
            <a:off x="7448364" y="1525817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88" dirty="0"/>
          </a:p>
        </p:txBody>
      </p:sp>
      <p:sp>
        <p:nvSpPr>
          <p:cNvPr id="20" name="Text 15"/>
          <p:cNvSpPr/>
          <p:nvPr/>
        </p:nvSpPr>
        <p:spPr>
          <a:xfrm>
            <a:off x="7791255" y="1525817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88" dirty="0"/>
          </a:p>
        </p:txBody>
      </p:sp>
      <p:sp>
        <p:nvSpPr>
          <p:cNvPr id="21" name="Text 16"/>
          <p:cNvSpPr/>
          <p:nvPr/>
        </p:nvSpPr>
        <p:spPr>
          <a:xfrm>
            <a:off x="8134147" y="1525817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88" dirty="0"/>
          </a:p>
        </p:txBody>
      </p:sp>
      <p:sp>
        <p:nvSpPr>
          <p:cNvPr id="22" name="Text 17"/>
          <p:cNvSpPr/>
          <p:nvPr/>
        </p:nvSpPr>
        <p:spPr>
          <a:xfrm>
            <a:off x="8477038" y="1525817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3" name="Text 18"/>
          <p:cNvSpPr/>
          <p:nvPr/>
        </p:nvSpPr>
        <p:spPr>
          <a:xfrm>
            <a:off x="8819929" y="1525817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4" name="Text 19"/>
          <p:cNvSpPr/>
          <p:nvPr/>
        </p:nvSpPr>
        <p:spPr>
          <a:xfrm>
            <a:off x="9162821" y="1525817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16595" y="2156520"/>
            <a:ext cx="30740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×2 · Feria Vanti ×2 · Mundialista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28674" y="215652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iniciativas comerciales ejecutadas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4622635" y="215652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La Gran Jugada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27576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1028674" y="165735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 campañas del 1S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10082705" y="209550"/>
            <a:ext cx="1583630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4622635" y="165735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Vanti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216595" y="1657350"/>
            <a:ext cx="30740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Xuma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895328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895328" y="4827091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4457589" y="4827091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8019849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912" dirty="0"/>
          </a:p>
        </p:txBody>
      </p:sp>
      <p:sp>
        <p:nvSpPr>
          <p:cNvPr id="15" name="Text 12"/>
          <p:cNvSpPr/>
          <p:nvPr/>
        </p:nvSpPr>
        <p:spPr>
          <a:xfrm>
            <a:off x="895328" y="3282255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4457589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17" name="Text 14"/>
          <p:cNvSpPr/>
          <p:nvPr/>
        </p:nvSpPr>
        <p:spPr>
          <a:xfrm>
            <a:off x="4457589" y="3282255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8019849" y="3282255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895328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20" name="Text 17"/>
          <p:cNvSpPr/>
          <p:nvPr/>
        </p:nvSpPr>
        <p:spPr>
          <a:xfrm>
            <a:off x="895328" y="4255591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457589" y="4255591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019849" y="4255591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95328" y="5228927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4457589" y="5228927"/>
            <a:ext cx="3355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457589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6" name="Text 23"/>
          <p:cNvSpPr/>
          <p:nvPr/>
        </p:nvSpPr>
        <p:spPr>
          <a:xfrm>
            <a:off x="8019849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7" name="Text 24"/>
          <p:cNvSpPr/>
          <p:nvPr/>
        </p:nvSpPr>
        <p:spPr>
          <a:xfrm>
            <a:off x="7373654" y="2708970"/>
            <a:ext cx="35164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744" dirty="0"/>
          </a:p>
        </p:txBody>
      </p:sp>
      <p:sp>
        <p:nvSpPr>
          <p:cNvPr id="28" name="Text 25"/>
          <p:cNvSpPr/>
          <p:nvPr/>
        </p:nvSpPr>
        <p:spPr>
          <a:xfrm>
            <a:off x="10904811" y="2708970"/>
            <a:ext cx="3836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</a:t>
            </a:r>
            <a:endParaRPr lang="en-US" sz="744" dirty="0"/>
          </a:p>
        </p:txBody>
      </p:sp>
      <p:sp>
        <p:nvSpPr>
          <p:cNvPr id="29" name="Text 26"/>
          <p:cNvSpPr/>
          <p:nvPr/>
        </p:nvSpPr>
        <p:spPr>
          <a:xfrm>
            <a:off x="8377772" y="3082230"/>
            <a:ext cx="41740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1243874" y="5028902"/>
            <a:ext cx="40422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1028674" y="1828800"/>
            <a:ext cx="3073907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5328" y="2689920"/>
            <a:ext cx="386135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3897265" y="270897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744" dirty="0"/>
          </a:p>
        </p:txBody>
      </p:sp>
      <p:sp>
        <p:nvSpPr>
          <p:cNvPr id="34" name="Text 31"/>
          <p:cNvSpPr/>
          <p:nvPr/>
        </p:nvSpPr>
        <p:spPr>
          <a:xfrm>
            <a:off x="895328" y="3082230"/>
            <a:ext cx="29830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1242088" y="3082230"/>
            <a:ext cx="32298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1612810" y="3072705"/>
            <a:ext cx="443619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722794" y="3082230"/>
            <a:ext cx="3330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38" name="Text 35"/>
          <p:cNvSpPr/>
          <p:nvPr/>
        </p:nvSpPr>
        <p:spPr>
          <a:xfrm>
            <a:off x="5103338" y="3072705"/>
            <a:ext cx="437487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019849" y="2689920"/>
            <a:ext cx="386135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8019849" y="3082230"/>
            <a:ext cx="3097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936" dirty="0"/>
          </a:p>
        </p:txBody>
      </p:sp>
      <p:sp>
        <p:nvSpPr>
          <p:cNvPr id="41" name="Text 38"/>
          <p:cNvSpPr/>
          <p:nvPr/>
        </p:nvSpPr>
        <p:spPr>
          <a:xfrm>
            <a:off x="8840170" y="3072705"/>
            <a:ext cx="432889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951139" y="3682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3" name="Text 40"/>
          <p:cNvSpPr/>
          <p:nvPr/>
        </p:nvSpPr>
        <p:spPr>
          <a:xfrm>
            <a:off x="1164402" y="4055566"/>
            <a:ext cx="3330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44" name="Text 41"/>
          <p:cNvSpPr/>
          <p:nvPr/>
        </p:nvSpPr>
        <p:spPr>
          <a:xfrm>
            <a:off x="1544946" y="4046041"/>
            <a:ext cx="437487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7513400" y="3682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6" name="Text 43"/>
          <p:cNvSpPr/>
          <p:nvPr/>
        </p:nvSpPr>
        <p:spPr>
          <a:xfrm>
            <a:off x="4706125" y="4055566"/>
            <a:ext cx="3260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7" name="Text 44"/>
          <p:cNvSpPr/>
          <p:nvPr/>
        </p:nvSpPr>
        <p:spPr>
          <a:xfrm>
            <a:off x="5079823" y="4046041"/>
            <a:ext cx="444385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280888" y="4055566"/>
            <a:ext cx="3260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8654586" y="4046041"/>
            <a:ext cx="424764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3919737" y="465564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744" dirty="0"/>
          </a:p>
        </p:txBody>
      </p:sp>
      <p:sp>
        <p:nvSpPr>
          <p:cNvPr id="51" name="Text 48"/>
          <p:cNvSpPr/>
          <p:nvPr/>
        </p:nvSpPr>
        <p:spPr>
          <a:xfrm>
            <a:off x="895328" y="5028902"/>
            <a:ext cx="30014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936" dirty="0"/>
          </a:p>
        </p:txBody>
      </p:sp>
      <p:sp>
        <p:nvSpPr>
          <p:cNvPr id="52" name="Text 49"/>
          <p:cNvSpPr/>
          <p:nvPr/>
        </p:nvSpPr>
        <p:spPr>
          <a:xfrm>
            <a:off x="1693473" y="5019377"/>
            <a:ext cx="439327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4457589" y="4636591"/>
            <a:ext cx="386135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4725770" y="5028902"/>
            <a:ext cx="32497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936" dirty="0"/>
          </a:p>
        </p:txBody>
      </p:sp>
      <p:sp>
        <p:nvSpPr>
          <p:cNvPr id="55" name="Text 52"/>
          <p:cNvSpPr/>
          <p:nvPr/>
        </p:nvSpPr>
        <p:spPr>
          <a:xfrm>
            <a:off x="4457589" y="2689920"/>
            <a:ext cx="415720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895328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4457589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8019849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11039199" y="3682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0" name="Text 57"/>
          <p:cNvSpPr/>
          <p:nvPr/>
        </p:nvSpPr>
        <p:spPr>
          <a:xfrm>
            <a:off x="895328" y="4636591"/>
            <a:ext cx="415720" cy="147161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7476938" y="465564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2" name="Text 59"/>
          <p:cNvSpPr/>
          <p:nvPr/>
        </p:nvSpPr>
        <p:spPr>
          <a:xfrm>
            <a:off x="5098426" y="5019377"/>
            <a:ext cx="395793" cy="166783"/>
          </a:xfrm>
          <a:prstGeom prst="rect">
            <a:avLst/>
          </a:prstGeom>
          <a:noFill/>
          <a:ln/>
        </p:spPr>
        <p:txBody>
          <a:bodyPr wrap="square" lIns="19050" tIns="76200" rIns="76200" bIns="1905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4457589" y="3082230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936" dirty="0"/>
          </a:p>
        </p:txBody>
      </p:sp>
      <p:sp>
        <p:nvSpPr>
          <p:cNvPr id="64" name="Text 61"/>
          <p:cNvSpPr/>
          <p:nvPr/>
        </p:nvSpPr>
        <p:spPr>
          <a:xfrm>
            <a:off x="895328" y="4055566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936" dirty="0"/>
          </a:p>
        </p:txBody>
      </p:sp>
      <p:sp>
        <p:nvSpPr>
          <p:cNvPr id="65" name="Text 62"/>
          <p:cNvSpPr/>
          <p:nvPr/>
        </p:nvSpPr>
        <p:spPr>
          <a:xfrm>
            <a:off x="4457589" y="4055566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936" dirty="0"/>
          </a:p>
        </p:txBody>
      </p:sp>
      <p:sp>
        <p:nvSpPr>
          <p:cNvPr id="66" name="Text 63"/>
          <p:cNvSpPr/>
          <p:nvPr/>
        </p:nvSpPr>
        <p:spPr>
          <a:xfrm>
            <a:off x="8019849" y="4055566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936" dirty="0"/>
          </a:p>
        </p:txBody>
      </p:sp>
      <p:sp>
        <p:nvSpPr>
          <p:cNvPr id="67" name="Text 64"/>
          <p:cNvSpPr/>
          <p:nvPr/>
        </p:nvSpPr>
        <p:spPr>
          <a:xfrm>
            <a:off x="4457589" y="5028902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9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35947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6514937" y="108689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09585" y="6886575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981050" y="108689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514937" y="419204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43471" y="6886575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981050" y="419204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9585" y="3781425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6143471" y="3781425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10079579" y="209550"/>
            <a:ext cx="1586849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81050" y="97824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6514937" y="97824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81050" y="408339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6514937" y="408339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609585" y="3600450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143471" y="3600450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09585" y="6705600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143471" y="6705600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5815165" y="101441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1349051" y="101441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815165" y="41195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1349051" y="41195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4880" y="1037779"/>
            <a:ext cx="42927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mes, con análisis de impacto operativo por sesión.</a:t>
            </a:r>
            <a:endParaRPr lang="en-US" sz="624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0255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9743831" y="209550"/>
            <a:ext cx="1932669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6739067" y="1984921"/>
            <a:ext cx="3012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6750675" y="3516362"/>
            <a:ext cx="3012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8" name="Text 5"/>
          <p:cNvSpPr/>
          <p:nvPr/>
        </p:nvSpPr>
        <p:spPr>
          <a:xfrm>
            <a:off x="1003969" y="4438204"/>
            <a:ext cx="3019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480" dirty="0"/>
          </a:p>
        </p:txBody>
      </p:sp>
      <p:sp>
        <p:nvSpPr>
          <p:cNvPr id="9" name="Text 6"/>
          <p:cNvSpPr/>
          <p:nvPr/>
        </p:nvSpPr>
        <p:spPr>
          <a:xfrm>
            <a:off x="993105" y="137532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0" name="Text 7"/>
          <p:cNvSpPr/>
          <p:nvPr/>
        </p:nvSpPr>
        <p:spPr>
          <a:xfrm>
            <a:off x="1009476" y="29067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6749038" y="57257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2" name="Text 9"/>
          <p:cNvSpPr/>
          <p:nvPr/>
        </p:nvSpPr>
        <p:spPr>
          <a:xfrm>
            <a:off x="742931" y="13657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28" dirty="0"/>
          </a:p>
        </p:txBody>
      </p:sp>
      <p:sp>
        <p:nvSpPr>
          <p:cNvPr id="13" name="Text 10"/>
          <p:cNvSpPr/>
          <p:nvPr/>
        </p:nvSpPr>
        <p:spPr>
          <a:xfrm>
            <a:off x="6495888" y="19753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28" dirty="0"/>
          </a:p>
        </p:txBody>
      </p:sp>
      <p:sp>
        <p:nvSpPr>
          <p:cNvPr id="14" name="Text 11"/>
          <p:cNvSpPr/>
          <p:nvPr/>
        </p:nvSpPr>
        <p:spPr>
          <a:xfrm>
            <a:off x="742931" y="28972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28" dirty="0"/>
          </a:p>
        </p:txBody>
      </p:sp>
      <p:sp>
        <p:nvSpPr>
          <p:cNvPr id="15" name="Text 12"/>
          <p:cNvSpPr/>
          <p:nvPr/>
        </p:nvSpPr>
        <p:spPr>
          <a:xfrm>
            <a:off x="6495888" y="35068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28" dirty="0"/>
          </a:p>
        </p:txBody>
      </p:sp>
      <p:sp>
        <p:nvSpPr>
          <p:cNvPr id="16" name="Text 13"/>
          <p:cNvSpPr/>
          <p:nvPr/>
        </p:nvSpPr>
        <p:spPr>
          <a:xfrm>
            <a:off x="742931" y="442867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28" dirty="0"/>
          </a:p>
        </p:txBody>
      </p:sp>
      <p:sp>
        <p:nvSpPr>
          <p:cNvPr id="17" name="Text 14"/>
          <p:cNvSpPr/>
          <p:nvPr/>
        </p:nvSpPr>
        <p:spPr>
          <a:xfrm>
            <a:off x="6495888" y="571619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2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381506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61925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308312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2351187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222334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295528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619250"/>
            <a:ext cx="4478189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3687217"/>
            <a:ext cx="3778577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495425"/>
            <a:ext cx="4478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2227362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2099518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2831455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2959298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35647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3691235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495425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3563392"/>
            <a:ext cx="37785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281642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354836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3420517"/>
            <a:ext cx="37785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1200120" y="1352550"/>
            <a:ext cx="447818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200120" y="195664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743531" y="135255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743531" y="2084487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0079877" y="209550"/>
            <a:ext cx="1586543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200120" y="268858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690093" cy="5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705422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49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32849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868" y="2508945"/>
          <a:ext cx="4572000" cy="17049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990575" y="4461570"/>
            <a:ext cx="10811176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(20 %) y mayo (64 %) triplicamos la contactabilidad sin cambiar quién llamamos, solo . Eso nos trajo 21 % más ventas.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5" name="Text 1"/>
          <p:cNvSpPr/>
          <p:nvPr/>
        </p:nvSpPr>
        <p:spPr>
          <a:xfrm>
            <a:off x="1213514" y="219075"/>
            <a:ext cx="32874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6" name="Text 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9637273" y="209550"/>
            <a:ext cx="204242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5" name="Text 11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38639" y="2527995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20,8 %</a:t>
            </a:r>
            <a:endParaRPr lang="en-US" sz="768" dirty="0"/>
          </a:p>
        </p:txBody>
      </p:sp>
      <p:sp>
        <p:nvSpPr>
          <p:cNvPr id="18" name="Text 14"/>
          <p:cNvSpPr/>
          <p:nvPr/>
        </p:nvSpPr>
        <p:spPr>
          <a:xfrm>
            <a:off x="5438639" y="270897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768" dirty="0"/>
          </a:p>
        </p:txBody>
      </p:sp>
      <p:sp>
        <p:nvSpPr>
          <p:cNvPr id="19" name="Text 15"/>
          <p:cNvSpPr/>
          <p:nvPr/>
        </p:nvSpPr>
        <p:spPr>
          <a:xfrm>
            <a:off x="5438639" y="2889945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44,9 %</a:t>
            </a:r>
            <a:endParaRPr lang="en-US" sz="768" dirty="0"/>
          </a:p>
        </p:txBody>
      </p:sp>
      <p:sp>
        <p:nvSpPr>
          <p:cNvPr id="20" name="Text 16"/>
          <p:cNvSpPr/>
          <p:nvPr/>
        </p:nvSpPr>
        <p:spPr>
          <a:xfrm>
            <a:off x="5438639" y="307092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52,2 %</a:t>
            </a:r>
            <a:endParaRPr lang="en-US" sz="768" dirty="0"/>
          </a:p>
        </p:txBody>
      </p:sp>
      <p:sp>
        <p:nvSpPr>
          <p:cNvPr id="21" name="Text 17"/>
          <p:cNvSpPr/>
          <p:nvPr/>
        </p:nvSpPr>
        <p:spPr>
          <a:xfrm>
            <a:off x="5438639" y="3251895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768" dirty="0"/>
          </a:p>
        </p:txBody>
      </p:sp>
      <p:sp>
        <p:nvSpPr>
          <p:cNvPr id="22" name="Text 18"/>
          <p:cNvSpPr/>
          <p:nvPr/>
        </p:nvSpPr>
        <p:spPr>
          <a:xfrm>
            <a:off x="5438639" y="343287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49,0 %</a:t>
            </a:r>
            <a:endParaRPr lang="en-US" sz="768" dirty="0"/>
          </a:p>
        </p:txBody>
      </p:sp>
      <p:sp>
        <p:nvSpPr>
          <p:cNvPr id="23" name="Text 19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23882" y="2523232"/>
            <a:ext cx="7259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26" name="Text 22"/>
          <p:cNvSpPr/>
          <p:nvPr/>
        </p:nvSpPr>
        <p:spPr>
          <a:xfrm>
            <a:off x="723882" y="2704207"/>
            <a:ext cx="7259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27" name="Text 23"/>
          <p:cNvSpPr/>
          <p:nvPr/>
        </p:nvSpPr>
        <p:spPr>
          <a:xfrm>
            <a:off x="723882" y="2885182"/>
            <a:ext cx="7259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28" name="Text 24"/>
          <p:cNvSpPr/>
          <p:nvPr/>
        </p:nvSpPr>
        <p:spPr>
          <a:xfrm>
            <a:off x="723882" y="3066157"/>
            <a:ext cx="7259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29" name="Text 25"/>
          <p:cNvSpPr/>
          <p:nvPr/>
        </p:nvSpPr>
        <p:spPr>
          <a:xfrm>
            <a:off x="723882" y="3247132"/>
            <a:ext cx="7259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30" name="Text 26"/>
          <p:cNvSpPr/>
          <p:nvPr/>
        </p:nvSpPr>
        <p:spPr>
          <a:xfrm>
            <a:off x="723882" y="3428107"/>
            <a:ext cx="7259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577439"/>
          <a:ext cx="10058400" cy="1209675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Perfil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Cuota Protegida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Stock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Moderado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Bajo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181070" y="3996664"/>
            <a:ext cx="10418756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4-5 veces mejor (71-79 %) que números nuevos en Masiva Voluntarios (17 %). 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5" name="Text 1"/>
          <p:cNvSpPr/>
          <p:nvPr/>
        </p:nvSpPr>
        <p:spPr>
          <a:xfrm>
            <a:off x="1213514" y="219075"/>
            <a:ext cx="32874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6" name="Text 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9637273" y="209550"/>
            <a:ext cx="204242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5" name="Text 11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90120"/>
            <a:ext cx="4738474" cy="50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59,6 % de "no contacto", al menos  nunca se cursaron por fallas de red. 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738474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314917" y="4013895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314917" y="5164485"/>
            <a:ext cx="5307483" cy="163717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314917" y="5577632"/>
            <a:ext cx="5307483" cy="163717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314917" y="5371058"/>
            <a:ext cx="5307483" cy="163717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213514" y="219075"/>
            <a:ext cx="376447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10059488" y="3593455"/>
            <a:ext cx="1362281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(8,6 %)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00640" y="3593455"/>
            <a:ext cx="1362281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8229990" y="3593455"/>
            <a:ext cx="1362434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9029177" y="209550"/>
            <a:ext cx="266876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5065983" y="3128070"/>
            <a:ext cx="83511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045445" y="4080570"/>
            <a:ext cx="85627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035074" y="3128070"/>
            <a:ext cx="5909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792" dirty="0"/>
          </a:p>
        </p:txBody>
      </p:sp>
      <p:sp>
        <p:nvSpPr>
          <p:cNvPr id="25" name="Text 22"/>
          <p:cNvSpPr/>
          <p:nvPr/>
        </p:nvSpPr>
        <p:spPr>
          <a:xfrm>
            <a:off x="8229990" y="3254425"/>
            <a:ext cx="13624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23882" y="3680520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3882" y="4633020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9488" y="3254425"/>
            <a:ext cx="13622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723882" y="3366195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3882" y="4051995"/>
            <a:ext cx="106719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032" dirty="0"/>
          </a:p>
        </p:txBody>
      </p:sp>
      <p:sp>
        <p:nvSpPr>
          <p:cNvPr id="31" name="Text 28"/>
          <p:cNvSpPr/>
          <p:nvPr/>
        </p:nvSpPr>
        <p:spPr>
          <a:xfrm>
            <a:off x="723882" y="4318695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29990" y="3387775"/>
            <a:ext cx="1362434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059488" y="3387775"/>
            <a:ext cx="1362281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4.200</a:t>
            </a:r>
            <a:endParaRPr lang="en-US" sz="1320" dirty="0"/>
          </a:p>
        </p:txBody>
      </p:sp>
      <p:sp>
        <p:nvSpPr>
          <p:cNvPr id="35" name="Text 32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419590" y="3366195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5419590" y="4318695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5419590" y="4633020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6400640" y="3387775"/>
            <a:ext cx="1362281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2" name="Text 39"/>
          <p:cNvSpPr/>
          <p:nvPr/>
        </p:nvSpPr>
        <p:spPr>
          <a:xfrm>
            <a:off x="5419590" y="3680520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723882" y="3099495"/>
            <a:ext cx="91145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032" dirty="0"/>
          </a:p>
        </p:txBody>
      </p:sp>
      <p:sp>
        <p:nvSpPr>
          <p:cNvPr id="44" name="Text 41"/>
          <p:cNvSpPr/>
          <p:nvPr/>
        </p:nvSpPr>
        <p:spPr>
          <a:xfrm>
            <a:off x="6400640" y="3254425"/>
            <a:ext cx="13622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3472794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Gloria Occidental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Bello Horizonte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Calvo Sur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046" y="3472794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Arborizadora Alta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Mochuelo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Tesoro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343491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6" name="Text 1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7" name="Text 2"/>
          <p:cNvSpPr/>
          <p:nvPr/>
        </p:nvSpPr>
        <p:spPr>
          <a:xfrm>
            <a:off x="2528080" y="3282294"/>
            <a:ext cx="25324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864" dirty="0"/>
          </a:p>
        </p:txBody>
      </p:sp>
      <p:sp>
        <p:nvSpPr>
          <p:cNvPr id="8" name="Text 3"/>
          <p:cNvSpPr/>
          <p:nvPr/>
        </p:nvSpPr>
        <p:spPr>
          <a:xfrm>
            <a:off x="7997972" y="3282294"/>
            <a:ext cx="25432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1213514" y="219075"/>
            <a:ext cx="376447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0" name="Text 5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9029177" y="209550"/>
            <a:ext cx="2668764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3" name="Text 8"/>
          <p:cNvSpPr/>
          <p:nvPr/>
        </p:nvSpPr>
        <p:spPr>
          <a:xfrm>
            <a:off x="6172046" y="3282294"/>
            <a:ext cx="53957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781030" y="3282294"/>
            <a:ext cx="53957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7" name="Text 12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8" name="Text 13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9" name="Text 14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31" y="2937570"/>
          <a:ext cx="10058400" cy="155257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Parámetro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Valor histórico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Insumo para 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ventas/mes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Efectividad / 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8,59 %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8,59 % = 34.908 contactos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40,4 % = 86.427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Gestión sobre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88,3 % = 97.902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Aptos (1–rechazo)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39,9 % = ~245.500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 mínimos requeridos/mes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235.000–260.000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213514" y="219075"/>
            <a:ext cx="46152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5" name="Text 1"/>
          <p:cNvSpPr/>
          <p:nvPr/>
        </p:nvSpPr>
        <p:spPr>
          <a:xfrm>
            <a:off x="2791946" y="5690295"/>
            <a:ext cx="24150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768" dirty="0"/>
          </a:p>
        </p:txBody>
      </p:sp>
      <p:sp>
        <p:nvSpPr>
          <p:cNvPr id="6" name="Text 2"/>
          <p:cNvSpPr/>
          <p:nvPr/>
        </p:nvSpPr>
        <p:spPr>
          <a:xfrm>
            <a:off x="2791946" y="5328345"/>
            <a:ext cx="22447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768" dirty="0"/>
          </a:p>
        </p:txBody>
      </p:sp>
      <p:sp>
        <p:nvSpPr>
          <p:cNvPr id="7" name="Text 3"/>
          <p:cNvSpPr/>
          <p:nvPr/>
        </p:nvSpPr>
        <p:spPr>
          <a:xfrm>
            <a:off x="3671200" y="5509320"/>
            <a:ext cx="203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768" dirty="0"/>
          </a:p>
        </p:txBody>
      </p:sp>
      <p:sp>
        <p:nvSpPr>
          <p:cNvPr id="8" name="Text 4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742931" y="4585395"/>
            <a:ext cx="11027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2" name="Text 8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3" name="Text 9"/>
          <p:cNvSpPr/>
          <p:nvPr/>
        </p:nvSpPr>
        <p:spPr>
          <a:xfrm>
            <a:off x="1142971" y="4785420"/>
            <a:ext cx="16121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4" name="Text 10"/>
          <p:cNvSpPr/>
          <p:nvPr/>
        </p:nvSpPr>
        <p:spPr>
          <a:xfrm>
            <a:off x="1142971" y="4966395"/>
            <a:ext cx="16121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5" name="Text 11"/>
          <p:cNvSpPr/>
          <p:nvPr/>
        </p:nvSpPr>
        <p:spPr>
          <a:xfrm>
            <a:off x="1142971" y="5147370"/>
            <a:ext cx="16121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6" name="Text 12"/>
          <p:cNvSpPr/>
          <p:nvPr/>
        </p:nvSpPr>
        <p:spPr>
          <a:xfrm>
            <a:off x="1142971" y="5328345"/>
            <a:ext cx="1619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1142971" y="5509320"/>
            <a:ext cx="2525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8" name="Text 14"/>
          <p:cNvSpPr/>
          <p:nvPr/>
        </p:nvSpPr>
        <p:spPr>
          <a:xfrm>
            <a:off x="1142971" y="5690295"/>
            <a:ext cx="1619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9" name="Text 15"/>
          <p:cNvSpPr/>
          <p:nvPr/>
        </p:nvSpPr>
        <p:spPr>
          <a:xfrm>
            <a:off x="2784356" y="4785420"/>
            <a:ext cx="11656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768" dirty="0"/>
          </a:p>
        </p:txBody>
      </p:sp>
      <p:sp>
        <p:nvSpPr>
          <p:cNvPr id="20" name="Text 16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1" name="Text 17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2" name="Text 18"/>
          <p:cNvSpPr/>
          <p:nvPr/>
        </p:nvSpPr>
        <p:spPr>
          <a:xfrm>
            <a:off x="10016775" y="209550"/>
            <a:ext cx="165153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4" name="Text 20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25" name="Text 21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00080" y="478542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30" name="Text 26"/>
          <p:cNvSpPr/>
          <p:nvPr/>
        </p:nvSpPr>
        <p:spPr>
          <a:xfrm>
            <a:off x="800080" y="496639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31" name="Text 27"/>
          <p:cNvSpPr/>
          <p:nvPr/>
        </p:nvSpPr>
        <p:spPr>
          <a:xfrm>
            <a:off x="800080" y="514737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32" name="Text 28"/>
          <p:cNvSpPr/>
          <p:nvPr/>
        </p:nvSpPr>
        <p:spPr>
          <a:xfrm>
            <a:off x="800080" y="532834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33" name="Text 29"/>
          <p:cNvSpPr/>
          <p:nvPr/>
        </p:nvSpPr>
        <p:spPr>
          <a:xfrm>
            <a:off x="800080" y="550932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34" name="Text 30"/>
          <p:cNvSpPr/>
          <p:nvPr/>
        </p:nvSpPr>
        <p:spPr>
          <a:xfrm>
            <a:off x="800080" y="569029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186741"/>
          <a:ext cx="10058400" cy="131445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KPI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Fórmula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47625" marB="476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equipo/mes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ventas (liquidación)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 (dic)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 E1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 ≥ meta / 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90 %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Productividad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/ asesor activo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140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 base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 /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&lt; 40 %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 /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55 %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23882" y="3526688"/>
            <a:ext cx="11066249" cy="154673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816" dirty="0"/>
          </a:p>
        </p:txBody>
      </p:sp>
      <p:sp>
        <p:nvSpPr>
          <p:cNvPr id="5" name="Text 1"/>
          <p:cNvSpPr/>
          <p:nvPr/>
        </p:nvSpPr>
        <p:spPr>
          <a:xfrm>
            <a:off x="1142971" y="5558341"/>
            <a:ext cx="9779234" cy="1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6" name="Text 2"/>
          <p:cNvSpPr/>
          <p:nvPr/>
        </p:nvSpPr>
        <p:spPr>
          <a:xfrm>
            <a:off x="723882" y="3402863"/>
            <a:ext cx="1106624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88 % gestión · 45 % contactabilidad · 8,6 % conversión (históricos 1S)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723882" y="3686381"/>
            <a:ext cx="11066249" cy="154673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816" dirty="0"/>
          </a:p>
        </p:txBody>
      </p:sp>
      <p:sp>
        <p:nvSpPr>
          <p:cNvPr id="8" name="Text 4"/>
          <p:cNvSpPr/>
          <p:nvPr/>
        </p:nvSpPr>
        <p:spPr>
          <a:xfrm>
            <a:off x="723882" y="3846073"/>
            <a:ext cx="11066249" cy="154673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816" dirty="0"/>
          </a:p>
        </p:txBody>
      </p:sp>
      <p:sp>
        <p:nvSpPr>
          <p:cNvPr id="9" name="Text 5"/>
          <p:cNvSpPr/>
          <p:nvPr/>
        </p:nvSpPr>
        <p:spPr>
          <a:xfrm>
            <a:off x="1213514" y="219075"/>
            <a:ext cx="46152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10" name="Text 6"/>
          <p:cNvSpPr/>
          <p:nvPr/>
        </p:nvSpPr>
        <p:spPr>
          <a:xfrm>
            <a:off x="828654" y="3169947"/>
            <a:ext cx="32531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1" name="Text 7"/>
          <p:cNvSpPr/>
          <p:nvPr/>
        </p:nvSpPr>
        <p:spPr>
          <a:xfrm>
            <a:off x="4516672" y="3169947"/>
            <a:ext cx="32531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2" name="Text 8"/>
          <p:cNvSpPr/>
          <p:nvPr/>
        </p:nvSpPr>
        <p:spPr>
          <a:xfrm>
            <a:off x="8204689" y="3169947"/>
            <a:ext cx="32531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3" name="Text 9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5" name="Text 11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6" name="Text 12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7" name="Text 13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19" name="Text 15"/>
          <p:cNvSpPr/>
          <p:nvPr/>
        </p:nvSpPr>
        <p:spPr>
          <a:xfrm>
            <a:off x="10016775" y="209550"/>
            <a:ext cx="1651537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1" name="Text 17"/>
          <p:cNvSpPr/>
          <p:nvPr/>
        </p:nvSpPr>
        <p:spPr>
          <a:xfrm>
            <a:off x="828654" y="2877648"/>
            <a:ext cx="32531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2" name="Text 18"/>
          <p:cNvSpPr/>
          <p:nvPr/>
        </p:nvSpPr>
        <p:spPr>
          <a:xfrm>
            <a:off x="8204689" y="2877648"/>
            <a:ext cx="32531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23" name="Text 19"/>
          <p:cNvSpPr/>
          <p:nvPr/>
        </p:nvSpPr>
        <p:spPr>
          <a:xfrm>
            <a:off x="4516672" y="2877648"/>
            <a:ext cx="32531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24" name="Text 20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25" name="Text 21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28654" y="3001473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27" name="Text 23"/>
          <p:cNvSpPr/>
          <p:nvPr/>
        </p:nvSpPr>
        <p:spPr>
          <a:xfrm>
            <a:off x="4516672" y="3001473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 → 110K</a:t>
            </a:r>
            <a:endParaRPr lang="en-US" sz="1176" dirty="0"/>
          </a:p>
        </p:txBody>
      </p:sp>
      <p:sp>
        <p:nvSpPr>
          <p:cNvPr id="28" name="Text 24"/>
          <p:cNvSpPr/>
          <p:nvPr/>
        </p:nvSpPr>
        <p:spPr>
          <a:xfrm>
            <a:off x="8204689" y="3001473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3.760</a:t>
            </a:r>
            <a:endParaRPr lang="en-US" sz="1176" dirty="0"/>
          </a:p>
        </p:txBody>
      </p:sp>
      <p:sp>
        <p:nvSpPr>
          <p:cNvPr id="29" name="Text 25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902" y="1933575"/>
            <a:ext cx="10654208" cy="262591"/>
          </a:xfrm>
          <a:prstGeom prst="rect">
            <a:avLst/>
          </a:prstGeom>
          <a:noFill/>
          <a:ln/>
        </p:spPr>
        <p:txBody>
          <a:bodyPr wrap="square" lIns="76200" tIns="381000" rIns="38100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1304892" y="1762125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304892" y="2626668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3198168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045768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1304892" y="2474268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304892" y="1609725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8295"/>
          <a:ext cx="10058400" cy="1647825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Frente / Acción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Responsable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Sep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Oct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Nov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Control de tiempos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Isaac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Plan de desarrollo emocional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GH / Líderes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Bases limpias y actualizadas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Vanti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Optimización de equipos PC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Tecnología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5" name="Text 1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8301"/>
          <a:ext cx="10058400" cy="168592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Métrica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Definición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95250" marB="9525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Volumen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liquidadas totales/mes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40 %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Bienvenida CP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Bienvenida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Escuela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Sesiones individuales / asesor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/ 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3350" marR="133350" marT="85725" marB="85725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5" name="Text 1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774502"/>
            <a:ext cx="6867353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190595" y="3635573"/>
            <a:ext cx="343367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016448"/>
            <a:ext cx="343367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1190595" y="2311598"/>
            <a:ext cx="3433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394187" y="2797373"/>
            <a:ext cx="165858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5190995" y="2311598"/>
            <a:ext cx="3433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394187" y="3416498"/>
            <a:ext cx="133852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190595" y="2778323"/>
            <a:ext cx="3433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3397448"/>
            <a:ext cx="3433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952476" y="498277"/>
            <a:ext cx="17085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5363334" y="3140273"/>
            <a:ext cx="1109200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4044" y="2559248"/>
            <a:ext cx="34919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9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2026-07-15T20:32:46Z</dcterms:created>
  <dcterms:modified xsi:type="dcterms:W3CDTF">2026-07-15T20:32:46Z</dcterms:modified>
</cp:coreProperties>
</file>