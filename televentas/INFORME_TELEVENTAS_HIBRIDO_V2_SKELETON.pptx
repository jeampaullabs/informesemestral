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476" y="4168527"/>
            <a:ext cx="4818491" cy="559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dirty="0">
                <a:solidFill>
                  <a:srgbClr val="55555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Gestión del primer semestre · Análisis de bases operativas Estrategia para alcanzar 3.000 ventas/mes</a:t>
            </a:r>
            <a:endParaRPr lang="en-US" sz="1380" dirty="0"/>
          </a:p>
        </p:txBody>
      </p:sp>
      <p:sp>
        <p:nvSpPr>
          <p:cNvPr id="4" name="Text 1"/>
          <p:cNvSpPr/>
          <p:nvPr/>
        </p:nvSpPr>
        <p:spPr>
          <a:xfrm>
            <a:off x="952476" y="5737771"/>
            <a:ext cx="6331914" cy="323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 – Jun 2026 13.917 ventas 1S 15–21 asesores activos Vanti · Xuma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174573" y="4959400"/>
            <a:ext cx="2680261" cy="3700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Contribuyentes Isaac Álvarez · Data Marshall, Gestión Integral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952476" y="4959400"/>
            <a:ext cx="1729561" cy="369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Coordinadora Comercial Martha Carvajal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52476" y="1872704"/>
            <a:ext cx="3326834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Informe Ejecutivo · Canal Televentas</a:t>
            </a:r>
            <a:endParaRPr lang="en-US" sz="936" dirty="0"/>
          </a:p>
        </p:txBody>
      </p:sp>
      <p:sp>
        <p:nvSpPr>
          <p:cNvPr id="8" name="Text 5"/>
          <p:cNvSpPr/>
          <p:nvPr/>
        </p:nvSpPr>
        <p:spPr>
          <a:xfrm>
            <a:off x="952476" y="2187029"/>
            <a:ext cx="2991284" cy="1864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CanalTeleventas2026</a:t>
            </a:r>
            <a:endParaRPr lang="en-US" sz="43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476" y="4370189"/>
            <a:ext cx="5690093" cy="52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dirty="0">
                <a:solidFill>
                  <a:srgbClr val="55555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Resultados de ventas, desempeño por asesor, eficiencia por campaña e iniciativas ejecutadas durante el primer semestre.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952476" y="3128367"/>
            <a:ext cx="5044592" cy="1082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Gestión del CanalPrimer Semestre 2026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952476" y="2852142"/>
            <a:ext cx="940735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Capítulo 1</a:t>
            </a:r>
            <a:endParaRPr lang="en-US" sz="936" dirty="0"/>
          </a:p>
        </p:txBody>
      </p:sp>
      <p:sp>
        <p:nvSpPr>
          <p:cNvPr id="6" name="Text 3"/>
          <p:cNvSpPr/>
          <p:nvPr/>
        </p:nvSpPr>
        <p:spPr>
          <a:xfrm>
            <a:off x="952476" y="1975842"/>
            <a:ext cx="1275825" cy="1098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2_Vant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3882" y="5800725"/>
            <a:ext cx="11066249" cy="435505"/>
          </a:xfrm>
          <a:prstGeom prst="rect">
            <a:avLst/>
          </a:prstGeom>
          <a:noFill/>
          <a:ln/>
        </p:spPr>
        <p:txBody>
          <a:bodyPr wrap="square" lIns="76200" tIns="152400" rIns="152400" bIns="7620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Vanti: Meta superada al 147 % — 13.917 pólizas vendidas vs 9.444 de meta. CP 10.534 (145 %) · VOL 3.383 (154 %).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384357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Resultados de Ventas · Primer Semestre 2026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800080" y="1009650"/>
            <a:ext cx="32831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liquidadas · Semestre completo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800080" y="1514475"/>
            <a:ext cx="328314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Cifra oficial liquidación ene–jun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857229" y="4613955"/>
            <a:ext cx="5199568" cy="186404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Cuota Protegida</a:t>
            </a:r>
            <a:endParaRPr lang="en-US" sz="936" dirty="0"/>
          </a:p>
        </p:txBody>
      </p:sp>
      <p:sp>
        <p:nvSpPr>
          <p:cNvPr id="8" name="Text 5"/>
          <p:cNvSpPr/>
          <p:nvPr/>
        </p:nvSpPr>
        <p:spPr>
          <a:xfrm>
            <a:off x="723882" y="2033587"/>
            <a:ext cx="180406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vendidas vs. meta</a:t>
            </a:r>
            <a:endParaRPr lang="en-US" sz="1020" dirty="0"/>
          </a:p>
        </p:txBody>
      </p:sp>
      <p:sp>
        <p:nvSpPr>
          <p:cNvPr id="9" name="Text 6"/>
          <p:cNvSpPr/>
          <p:nvPr/>
        </p:nvSpPr>
        <p:spPr>
          <a:xfrm>
            <a:off x="6286343" y="4675121"/>
            <a:ext cx="5199568" cy="186404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Combo Vida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2458579" y="2243160"/>
            <a:ext cx="309751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(CP)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5465874" y="2243160"/>
            <a:ext cx="309751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Combo Vida (VOL)</a:t>
            </a:r>
            <a:endParaRPr lang="en-US" sz="888" dirty="0"/>
          </a:p>
        </p:txBody>
      </p:sp>
      <p:sp>
        <p:nvSpPr>
          <p:cNvPr id="12" name="Text 9"/>
          <p:cNvSpPr/>
          <p:nvPr/>
        </p:nvSpPr>
        <p:spPr>
          <a:xfrm>
            <a:off x="4520988" y="1009650"/>
            <a:ext cx="32833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4520988" y="1423095"/>
            <a:ext cx="328330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76 % del total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8242044" y="1423095"/>
            <a:ext cx="328314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24 % del total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3980904" y="2471760"/>
            <a:ext cx="152951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6988199" y="2471760"/>
            <a:ext cx="152951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9995493" y="2471760"/>
            <a:ext cx="151648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8242044" y="1009650"/>
            <a:ext cx="32831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Combo Vida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10378419" y="1990725"/>
            <a:ext cx="1122076" cy="2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 Xuma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391657" y="2243160"/>
            <a:ext cx="1098930" cy="4572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8473169" y="2243160"/>
            <a:ext cx="308448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General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3980904" y="2700360"/>
            <a:ext cx="152951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141,0 %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6988199" y="2700360"/>
            <a:ext cx="152951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112,0 %</a:t>
            </a:r>
            <a:endParaRPr lang="en-US" sz="816" dirty="0"/>
          </a:p>
        </p:txBody>
      </p:sp>
      <p:sp>
        <p:nvSpPr>
          <p:cNvPr id="24" name="Text 21"/>
          <p:cNvSpPr/>
          <p:nvPr/>
        </p:nvSpPr>
        <p:spPr>
          <a:xfrm>
            <a:off x="9995493" y="2700360"/>
            <a:ext cx="151648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132,0 %</a:t>
            </a:r>
            <a:endParaRPr lang="en-US" sz="816" dirty="0"/>
          </a:p>
        </p:txBody>
      </p:sp>
      <p:sp>
        <p:nvSpPr>
          <p:cNvPr id="25" name="Text 22"/>
          <p:cNvSpPr/>
          <p:nvPr/>
        </p:nvSpPr>
        <p:spPr>
          <a:xfrm>
            <a:off x="3980904" y="294324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152,0 %</a:t>
            </a:r>
            <a:endParaRPr lang="en-US" sz="816" dirty="0"/>
          </a:p>
        </p:txBody>
      </p:sp>
      <p:sp>
        <p:nvSpPr>
          <p:cNvPr id="26" name="Text 23"/>
          <p:cNvSpPr/>
          <p:nvPr/>
        </p:nvSpPr>
        <p:spPr>
          <a:xfrm>
            <a:off x="6988199" y="294324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286,0 %</a:t>
            </a:r>
            <a:endParaRPr lang="en-US" sz="816" dirty="0"/>
          </a:p>
        </p:txBody>
      </p:sp>
      <p:sp>
        <p:nvSpPr>
          <p:cNvPr id="27" name="Text 24"/>
          <p:cNvSpPr/>
          <p:nvPr/>
        </p:nvSpPr>
        <p:spPr>
          <a:xfrm>
            <a:off x="9995493" y="2943248"/>
            <a:ext cx="151648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171,0 %</a:t>
            </a:r>
            <a:endParaRPr lang="en-US" sz="816" dirty="0"/>
          </a:p>
        </p:txBody>
      </p:sp>
      <p:sp>
        <p:nvSpPr>
          <p:cNvPr id="28" name="Text 25"/>
          <p:cNvSpPr/>
          <p:nvPr/>
        </p:nvSpPr>
        <p:spPr>
          <a:xfrm>
            <a:off x="3980904" y="319089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159,0 %</a:t>
            </a:r>
            <a:endParaRPr lang="en-US" sz="816" dirty="0"/>
          </a:p>
        </p:txBody>
      </p:sp>
      <p:sp>
        <p:nvSpPr>
          <p:cNvPr id="29" name="Text 26"/>
          <p:cNvSpPr/>
          <p:nvPr/>
        </p:nvSpPr>
        <p:spPr>
          <a:xfrm>
            <a:off x="6988199" y="319089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143,0 %</a:t>
            </a:r>
            <a:endParaRPr lang="en-US" sz="816" dirty="0"/>
          </a:p>
        </p:txBody>
      </p:sp>
      <p:sp>
        <p:nvSpPr>
          <p:cNvPr id="30" name="Text 27"/>
          <p:cNvSpPr/>
          <p:nvPr/>
        </p:nvSpPr>
        <p:spPr>
          <a:xfrm>
            <a:off x="9995493" y="3190898"/>
            <a:ext cx="151648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155,0 %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3980904" y="343854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152,0 %</a:t>
            </a:r>
            <a:endParaRPr lang="en-US" sz="816" dirty="0"/>
          </a:p>
        </p:txBody>
      </p:sp>
      <p:sp>
        <p:nvSpPr>
          <p:cNvPr id="32" name="Text 29"/>
          <p:cNvSpPr/>
          <p:nvPr/>
        </p:nvSpPr>
        <p:spPr>
          <a:xfrm>
            <a:off x="9995493" y="3438548"/>
            <a:ext cx="151648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130,0 %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3980904" y="368619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127,0 %</a:t>
            </a:r>
            <a:endParaRPr lang="en-US" sz="816" dirty="0"/>
          </a:p>
        </p:txBody>
      </p:sp>
      <p:sp>
        <p:nvSpPr>
          <p:cNvPr id="34" name="Text 31"/>
          <p:cNvSpPr/>
          <p:nvPr/>
        </p:nvSpPr>
        <p:spPr>
          <a:xfrm>
            <a:off x="6988199" y="368619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280,0 %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9995493" y="3686198"/>
            <a:ext cx="151648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151,0 %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3980904" y="393384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141,0 %</a:t>
            </a:r>
            <a:endParaRPr lang="en-US" sz="816" dirty="0"/>
          </a:p>
        </p:txBody>
      </p:sp>
      <p:sp>
        <p:nvSpPr>
          <p:cNvPr id="37" name="Text 34"/>
          <p:cNvSpPr/>
          <p:nvPr/>
        </p:nvSpPr>
        <p:spPr>
          <a:xfrm>
            <a:off x="6988199" y="393384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198,0 %</a:t>
            </a:r>
            <a:endParaRPr lang="en-US" sz="816" dirty="0"/>
          </a:p>
        </p:txBody>
      </p:sp>
      <p:sp>
        <p:nvSpPr>
          <p:cNvPr id="38" name="Text 35"/>
          <p:cNvSpPr/>
          <p:nvPr/>
        </p:nvSpPr>
        <p:spPr>
          <a:xfrm>
            <a:off x="9995493" y="3933848"/>
            <a:ext cx="151648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152,0 %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3980904" y="4181498"/>
            <a:ext cx="152951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145,0 %</a:t>
            </a:r>
            <a:endParaRPr lang="en-US" sz="816" dirty="0"/>
          </a:p>
        </p:txBody>
      </p:sp>
      <p:sp>
        <p:nvSpPr>
          <p:cNvPr id="40" name="Text 37"/>
          <p:cNvSpPr/>
          <p:nvPr/>
        </p:nvSpPr>
        <p:spPr>
          <a:xfrm>
            <a:off x="6988199" y="4181498"/>
            <a:ext cx="152951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154,0 %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9995493" y="4181498"/>
            <a:ext cx="151648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147,0 %</a:t>
            </a:r>
            <a:endParaRPr lang="en-US" sz="816" dirty="0"/>
          </a:p>
        </p:txBody>
      </p:sp>
      <p:sp>
        <p:nvSpPr>
          <p:cNvPr id="42" name="Text 39"/>
          <p:cNvSpPr/>
          <p:nvPr/>
        </p:nvSpPr>
        <p:spPr>
          <a:xfrm>
            <a:off x="6988199" y="343854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89,0 %</a:t>
            </a:r>
            <a:endParaRPr lang="en-US" sz="816" dirty="0"/>
          </a:p>
        </p:txBody>
      </p:sp>
      <p:sp>
        <p:nvSpPr>
          <p:cNvPr id="43" name="Text 40"/>
          <p:cNvSpPr/>
          <p:nvPr/>
        </p:nvSpPr>
        <p:spPr>
          <a:xfrm>
            <a:off x="2458579" y="4181498"/>
            <a:ext cx="823623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10.534</a:t>
            </a:r>
            <a:endParaRPr lang="en-US" sz="816" dirty="0"/>
          </a:p>
        </p:txBody>
      </p:sp>
      <p:sp>
        <p:nvSpPr>
          <p:cNvPr id="44" name="Text 41"/>
          <p:cNvSpPr/>
          <p:nvPr/>
        </p:nvSpPr>
        <p:spPr>
          <a:xfrm>
            <a:off x="8473169" y="4181498"/>
            <a:ext cx="823623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816" dirty="0"/>
          </a:p>
        </p:txBody>
      </p:sp>
      <p:sp>
        <p:nvSpPr>
          <p:cNvPr id="45" name="Text 42"/>
          <p:cNvSpPr/>
          <p:nvPr/>
        </p:nvSpPr>
        <p:spPr>
          <a:xfrm>
            <a:off x="800080" y="1171575"/>
            <a:ext cx="3283147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2400" dirty="0"/>
          </a:p>
        </p:txBody>
      </p:sp>
      <p:sp>
        <p:nvSpPr>
          <p:cNvPr id="46" name="Text 43"/>
          <p:cNvSpPr/>
          <p:nvPr/>
        </p:nvSpPr>
        <p:spPr>
          <a:xfrm>
            <a:off x="4520988" y="1171575"/>
            <a:ext cx="3283300" cy="21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10.534</a:t>
            </a:r>
            <a:endParaRPr lang="en-US" sz="1680" dirty="0"/>
          </a:p>
        </p:txBody>
      </p:sp>
      <p:sp>
        <p:nvSpPr>
          <p:cNvPr id="47" name="Text 44"/>
          <p:cNvSpPr/>
          <p:nvPr/>
        </p:nvSpPr>
        <p:spPr>
          <a:xfrm>
            <a:off x="2458579" y="2471760"/>
            <a:ext cx="823623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5465874" y="2471760"/>
            <a:ext cx="823623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8473169" y="2471760"/>
            <a:ext cx="823623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2458579" y="2700360"/>
            <a:ext cx="823623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1.689</a:t>
            </a:r>
            <a:endParaRPr lang="en-US" sz="816" dirty="0"/>
          </a:p>
        </p:txBody>
      </p:sp>
      <p:sp>
        <p:nvSpPr>
          <p:cNvPr id="51" name="Text 48"/>
          <p:cNvSpPr/>
          <p:nvPr/>
        </p:nvSpPr>
        <p:spPr>
          <a:xfrm>
            <a:off x="3258213" y="2700360"/>
            <a:ext cx="74437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52" name="Text 49"/>
          <p:cNvSpPr/>
          <p:nvPr/>
        </p:nvSpPr>
        <p:spPr>
          <a:xfrm>
            <a:off x="8473169" y="2700360"/>
            <a:ext cx="823623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9272802" y="2700360"/>
            <a:ext cx="74437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1.695</a:t>
            </a:r>
            <a:endParaRPr lang="en-US" sz="816" dirty="0"/>
          </a:p>
        </p:txBody>
      </p:sp>
      <p:sp>
        <p:nvSpPr>
          <p:cNvPr id="54" name="Text 51"/>
          <p:cNvSpPr/>
          <p:nvPr/>
        </p:nvSpPr>
        <p:spPr>
          <a:xfrm>
            <a:off x="2458579" y="294324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1.819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3258213" y="294324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8473169" y="294324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9272802" y="294324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1.391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2458579" y="319089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1.901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3258213" y="319089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8473169" y="319089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9272802" y="319089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1.568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2458579" y="343854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1.816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3258213" y="343854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64" name="Text 61"/>
          <p:cNvSpPr/>
          <p:nvPr/>
        </p:nvSpPr>
        <p:spPr>
          <a:xfrm>
            <a:off x="8473169" y="343854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9272802" y="343854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1.818</a:t>
            </a:r>
            <a:endParaRPr lang="en-US" sz="816" dirty="0"/>
          </a:p>
        </p:txBody>
      </p:sp>
      <p:sp>
        <p:nvSpPr>
          <p:cNvPr id="66" name="Text 63"/>
          <p:cNvSpPr/>
          <p:nvPr/>
        </p:nvSpPr>
        <p:spPr>
          <a:xfrm>
            <a:off x="2458579" y="368619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1.568</a:t>
            </a:r>
            <a:endParaRPr lang="en-US" sz="816" dirty="0"/>
          </a:p>
        </p:txBody>
      </p:sp>
      <p:sp>
        <p:nvSpPr>
          <p:cNvPr id="67" name="Text 64"/>
          <p:cNvSpPr/>
          <p:nvPr/>
        </p:nvSpPr>
        <p:spPr>
          <a:xfrm>
            <a:off x="3258213" y="368619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1.231</a:t>
            </a:r>
            <a:endParaRPr lang="en-US" sz="816" dirty="0"/>
          </a:p>
        </p:txBody>
      </p:sp>
      <p:sp>
        <p:nvSpPr>
          <p:cNvPr id="68" name="Text 65"/>
          <p:cNvSpPr/>
          <p:nvPr/>
        </p:nvSpPr>
        <p:spPr>
          <a:xfrm>
            <a:off x="8473169" y="368619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16" dirty="0"/>
          </a:p>
        </p:txBody>
      </p:sp>
      <p:sp>
        <p:nvSpPr>
          <p:cNvPr id="69" name="Text 66"/>
          <p:cNvSpPr/>
          <p:nvPr/>
        </p:nvSpPr>
        <p:spPr>
          <a:xfrm>
            <a:off x="9272802" y="368619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1.452</a:t>
            </a:r>
            <a:endParaRPr lang="en-US" sz="816" dirty="0"/>
          </a:p>
        </p:txBody>
      </p:sp>
      <p:sp>
        <p:nvSpPr>
          <p:cNvPr id="70" name="Text 67"/>
          <p:cNvSpPr/>
          <p:nvPr/>
        </p:nvSpPr>
        <p:spPr>
          <a:xfrm>
            <a:off x="2458579" y="393384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1.741</a:t>
            </a:r>
            <a:endParaRPr lang="en-US" sz="816" dirty="0"/>
          </a:p>
        </p:txBody>
      </p:sp>
      <p:sp>
        <p:nvSpPr>
          <p:cNvPr id="71" name="Text 68"/>
          <p:cNvSpPr/>
          <p:nvPr/>
        </p:nvSpPr>
        <p:spPr>
          <a:xfrm>
            <a:off x="3258213" y="393384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1.231</a:t>
            </a:r>
            <a:endParaRPr lang="en-US" sz="816" dirty="0"/>
          </a:p>
        </p:txBody>
      </p:sp>
      <p:sp>
        <p:nvSpPr>
          <p:cNvPr id="72" name="Text 69"/>
          <p:cNvSpPr/>
          <p:nvPr/>
        </p:nvSpPr>
        <p:spPr>
          <a:xfrm>
            <a:off x="8473169" y="393384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16" dirty="0"/>
          </a:p>
        </p:txBody>
      </p:sp>
      <p:sp>
        <p:nvSpPr>
          <p:cNvPr id="73" name="Text 70"/>
          <p:cNvSpPr/>
          <p:nvPr/>
        </p:nvSpPr>
        <p:spPr>
          <a:xfrm>
            <a:off x="9272802" y="393384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1.520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723882" y="4181498"/>
            <a:ext cx="687808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3258213" y="4181498"/>
            <a:ext cx="74437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7.250</a:t>
            </a:r>
            <a:endParaRPr lang="en-US" sz="816" dirty="0"/>
          </a:p>
        </p:txBody>
      </p:sp>
      <p:sp>
        <p:nvSpPr>
          <p:cNvPr id="76" name="Text 73"/>
          <p:cNvSpPr/>
          <p:nvPr/>
        </p:nvSpPr>
        <p:spPr>
          <a:xfrm>
            <a:off x="5465874" y="4181498"/>
            <a:ext cx="823623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3.383</a:t>
            </a:r>
            <a:endParaRPr lang="en-US" sz="816" dirty="0"/>
          </a:p>
        </p:txBody>
      </p:sp>
      <p:sp>
        <p:nvSpPr>
          <p:cNvPr id="77" name="Text 74"/>
          <p:cNvSpPr/>
          <p:nvPr/>
        </p:nvSpPr>
        <p:spPr>
          <a:xfrm>
            <a:off x="6265507" y="4181498"/>
            <a:ext cx="74437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2.194</a:t>
            </a:r>
            <a:endParaRPr lang="en-US" sz="816" dirty="0"/>
          </a:p>
        </p:txBody>
      </p:sp>
      <p:sp>
        <p:nvSpPr>
          <p:cNvPr id="78" name="Text 75"/>
          <p:cNvSpPr/>
          <p:nvPr/>
        </p:nvSpPr>
        <p:spPr>
          <a:xfrm>
            <a:off x="9272802" y="4181498"/>
            <a:ext cx="74437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9.444</a:t>
            </a:r>
            <a:endParaRPr lang="en-US" sz="816" dirty="0"/>
          </a:p>
        </p:txBody>
      </p:sp>
      <p:sp>
        <p:nvSpPr>
          <p:cNvPr id="79" name="Text 76"/>
          <p:cNvSpPr/>
          <p:nvPr/>
        </p:nvSpPr>
        <p:spPr>
          <a:xfrm>
            <a:off x="8242044" y="1171575"/>
            <a:ext cx="3283147" cy="21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3.383</a:t>
            </a:r>
            <a:endParaRPr lang="en-US" sz="1680" dirty="0"/>
          </a:p>
        </p:txBody>
      </p:sp>
      <p:sp>
        <p:nvSpPr>
          <p:cNvPr id="80" name="Text 77"/>
          <p:cNvSpPr/>
          <p:nvPr/>
        </p:nvSpPr>
        <p:spPr>
          <a:xfrm>
            <a:off x="1163807" y="519021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1.689</a:t>
            </a:r>
            <a:endParaRPr lang="en-US" sz="750" dirty="0"/>
          </a:p>
        </p:txBody>
      </p:sp>
      <p:sp>
        <p:nvSpPr>
          <p:cNvPr id="81" name="Text 78"/>
          <p:cNvSpPr/>
          <p:nvPr/>
        </p:nvSpPr>
        <p:spPr>
          <a:xfrm>
            <a:off x="2006302" y="495971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1.819</a:t>
            </a:r>
            <a:endParaRPr lang="en-US" sz="750" dirty="0"/>
          </a:p>
        </p:txBody>
      </p:sp>
      <p:sp>
        <p:nvSpPr>
          <p:cNvPr id="82" name="Text 79"/>
          <p:cNvSpPr/>
          <p:nvPr/>
        </p:nvSpPr>
        <p:spPr>
          <a:xfrm>
            <a:off x="2844183" y="481398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1.901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3681767" y="4964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1.816</a:t>
            </a:r>
            <a:endParaRPr lang="en-US" sz="750" dirty="0"/>
          </a:p>
        </p:txBody>
      </p:sp>
      <p:sp>
        <p:nvSpPr>
          <p:cNvPr id="84" name="Text 81"/>
          <p:cNvSpPr/>
          <p:nvPr/>
        </p:nvSpPr>
        <p:spPr>
          <a:xfrm>
            <a:off x="4518011" y="540453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1.568</a:t>
            </a:r>
            <a:endParaRPr lang="en-US" sz="750" dirty="0"/>
          </a:p>
        </p:txBody>
      </p:sp>
      <p:sp>
        <p:nvSpPr>
          <p:cNvPr id="85" name="Text 82"/>
          <p:cNvSpPr/>
          <p:nvPr/>
        </p:nvSpPr>
        <p:spPr>
          <a:xfrm>
            <a:off x="5363483" y="509782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1.741</a:t>
            </a:r>
            <a:endParaRPr lang="en-US" sz="750" dirty="0"/>
          </a:p>
        </p:txBody>
      </p:sp>
      <p:sp>
        <p:nvSpPr>
          <p:cNvPr id="86" name="Text 83"/>
          <p:cNvSpPr/>
          <p:nvPr/>
        </p:nvSpPr>
        <p:spPr>
          <a:xfrm>
            <a:off x="3258213" y="2471760"/>
            <a:ext cx="74437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7" name="Text 84"/>
          <p:cNvSpPr/>
          <p:nvPr/>
        </p:nvSpPr>
        <p:spPr>
          <a:xfrm>
            <a:off x="6265507" y="2471760"/>
            <a:ext cx="74437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8" name="Text 85"/>
          <p:cNvSpPr/>
          <p:nvPr/>
        </p:nvSpPr>
        <p:spPr>
          <a:xfrm>
            <a:off x="9272802" y="2471760"/>
            <a:ext cx="74437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9" name="Text 86"/>
          <p:cNvSpPr/>
          <p:nvPr/>
        </p:nvSpPr>
        <p:spPr>
          <a:xfrm>
            <a:off x="723882" y="2243160"/>
            <a:ext cx="687808" cy="4572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723882" y="2700360"/>
            <a:ext cx="687808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16" dirty="0"/>
          </a:p>
        </p:txBody>
      </p:sp>
      <p:sp>
        <p:nvSpPr>
          <p:cNvPr id="91" name="Text 88"/>
          <p:cNvSpPr/>
          <p:nvPr/>
        </p:nvSpPr>
        <p:spPr>
          <a:xfrm>
            <a:off x="5465874" y="2700360"/>
            <a:ext cx="823623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556</a:t>
            </a:r>
            <a:endParaRPr lang="en-US" sz="816" dirty="0"/>
          </a:p>
        </p:txBody>
      </p:sp>
      <p:sp>
        <p:nvSpPr>
          <p:cNvPr id="92" name="Text 89"/>
          <p:cNvSpPr/>
          <p:nvPr/>
        </p:nvSpPr>
        <p:spPr>
          <a:xfrm>
            <a:off x="6265507" y="2700360"/>
            <a:ext cx="74437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498</a:t>
            </a:r>
            <a:endParaRPr lang="en-US" sz="816" dirty="0"/>
          </a:p>
        </p:txBody>
      </p:sp>
      <p:sp>
        <p:nvSpPr>
          <p:cNvPr id="93" name="Text 90"/>
          <p:cNvSpPr/>
          <p:nvPr/>
        </p:nvSpPr>
        <p:spPr>
          <a:xfrm>
            <a:off x="723882" y="2943248"/>
            <a:ext cx="68780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16" dirty="0"/>
          </a:p>
        </p:txBody>
      </p:sp>
      <p:sp>
        <p:nvSpPr>
          <p:cNvPr id="94" name="Text 91"/>
          <p:cNvSpPr/>
          <p:nvPr/>
        </p:nvSpPr>
        <p:spPr>
          <a:xfrm>
            <a:off x="5465874" y="294324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555</a:t>
            </a:r>
            <a:endParaRPr lang="en-US" sz="816" dirty="0"/>
          </a:p>
        </p:txBody>
      </p:sp>
      <p:sp>
        <p:nvSpPr>
          <p:cNvPr id="95" name="Text 92"/>
          <p:cNvSpPr/>
          <p:nvPr/>
        </p:nvSpPr>
        <p:spPr>
          <a:xfrm>
            <a:off x="6265507" y="294324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194</a:t>
            </a:r>
            <a:endParaRPr lang="en-US" sz="816" dirty="0"/>
          </a:p>
        </p:txBody>
      </p:sp>
      <p:sp>
        <p:nvSpPr>
          <p:cNvPr id="96" name="Text 93"/>
          <p:cNvSpPr/>
          <p:nvPr/>
        </p:nvSpPr>
        <p:spPr>
          <a:xfrm>
            <a:off x="723882" y="3190898"/>
            <a:ext cx="68780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16" dirty="0"/>
          </a:p>
        </p:txBody>
      </p:sp>
      <p:sp>
        <p:nvSpPr>
          <p:cNvPr id="97" name="Text 94"/>
          <p:cNvSpPr/>
          <p:nvPr/>
        </p:nvSpPr>
        <p:spPr>
          <a:xfrm>
            <a:off x="5465874" y="319089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530</a:t>
            </a:r>
            <a:endParaRPr lang="en-US" sz="816" dirty="0"/>
          </a:p>
        </p:txBody>
      </p:sp>
      <p:sp>
        <p:nvSpPr>
          <p:cNvPr id="98" name="Text 95"/>
          <p:cNvSpPr/>
          <p:nvPr/>
        </p:nvSpPr>
        <p:spPr>
          <a:xfrm>
            <a:off x="6265507" y="319089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371</a:t>
            </a:r>
            <a:endParaRPr lang="en-US" sz="816" dirty="0"/>
          </a:p>
        </p:txBody>
      </p:sp>
      <p:sp>
        <p:nvSpPr>
          <p:cNvPr id="99" name="Text 96"/>
          <p:cNvSpPr/>
          <p:nvPr/>
        </p:nvSpPr>
        <p:spPr>
          <a:xfrm>
            <a:off x="723882" y="3438548"/>
            <a:ext cx="68780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16" dirty="0"/>
          </a:p>
        </p:txBody>
      </p:sp>
      <p:sp>
        <p:nvSpPr>
          <p:cNvPr id="100" name="Text 97"/>
          <p:cNvSpPr/>
          <p:nvPr/>
        </p:nvSpPr>
        <p:spPr>
          <a:xfrm>
            <a:off x="5465874" y="343854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551</a:t>
            </a:r>
            <a:endParaRPr lang="en-US" sz="816" dirty="0"/>
          </a:p>
        </p:txBody>
      </p:sp>
      <p:sp>
        <p:nvSpPr>
          <p:cNvPr id="101" name="Text 98"/>
          <p:cNvSpPr/>
          <p:nvPr/>
        </p:nvSpPr>
        <p:spPr>
          <a:xfrm>
            <a:off x="6265507" y="343854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621</a:t>
            </a:r>
            <a:endParaRPr lang="en-US" sz="816" dirty="0"/>
          </a:p>
        </p:txBody>
      </p:sp>
      <p:sp>
        <p:nvSpPr>
          <p:cNvPr id="102" name="Text 99"/>
          <p:cNvSpPr/>
          <p:nvPr/>
        </p:nvSpPr>
        <p:spPr>
          <a:xfrm>
            <a:off x="723882" y="3686198"/>
            <a:ext cx="68780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16" dirty="0"/>
          </a:p>
        </p:txBody>
      </p:sp>
      <p:sp>
        <p:nvSpPr>
          <p:cNvPr id="103" name="Text 100"/>
          <p:cNvSpPr/>
          <p:nvPr/>
        </p:nvSpPr>
        <p:spPr>
          <a:xfrm>
            <a:off x="5465874" y="368619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618</a:t>
            </a:r>
            <a:endParaRPr lang="en-US" sz="816" dirty="0"/>
          </a:p>
        </p:txBody>
      </p:sp>
      <p:sp>
        <p:nvSpPr>
          <p:cNvPr id="104" name="Text 101"/>
          <p:cNvSpPr/>
          <p:nvPr/>
        </p:nvSpPr>
        <p:spPr>
          <a:xfrm>
            <a:off x="6265507" y="368619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221</a:t>
            </a:r>
            <a:endParaRPr lang="en-US" sz="816" dirty="0"/>
          </a:p>
        </p:txBody>
      </p:sp>
      <p:sp>
        <p:nvSpPr>
          <p:cNvPr id="105" name="Text 102"/>
          <p:cNvSpPr/>
          <p:nvPr/>
        </p:nvSpPr>
        <p:spPr>
          <a:xfrm>
            <a:off x="723882" y="3933848"/>
            <a:ext cx="68780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16" dirty="0"/>
          </a:p>
        </p:txBody>
      </p:sp>
      <p:sp>
        <p:nvSpPr>
          <p:cNvPr id="106" name="Text 103"/>
          <p:cNvSpPr/>
          <p:nvPr/>
        </p:nvSpPr>
        <p:spPr>
          <a:xfrm>
            <a:off x="5465874" y="393384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573</a:t>
            </a:r>
            <a:endParaRPr lang="en-US" sz="816" dirty="0"/>
          </a:p>
        </p:txBody>
      </p:sp>
      <p:sp>
        <p:nvSpPr>
          <p:cNvPr id="107" name="Text 104"/>
          <p:cNvSpPr/>
          <p:nvPr/>
        </p:nvSpPr>
        <p:spPr>
          <a:xfrm>
            <a:off x="6265507" y="393384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289</a:t>
            </a:r>
            <a:endParaRPr lang="en-US" sz="816" dirty="0"/>
          </a:p>
        </p:txBody>
      </p:sp>
      <p:sp>
        <p:nvSpPr>
          <p:cNvPr id="108" name="Text 105"/>
          <p:cNvSpPr/>
          <p:nvPr/>
        </p:nvSpPr>
        <p:spPr>
          <a:xfrm>
            <a:off x="1209049" y="564265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75" dirty="0"/>
          </a:p>
        </p:txBody>
      </p:sp>
      <p:sp>
        <p:nvSpPr>
          <p:cNvPr id="109" name="Text 106"/>
          <p:cNvSpPr/>
          <p:nvPr/>
        </p:nvSpPr>
        <p:spPr>
          <a:xfrm>
            <a:off x="2048121" y="564265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75" dirty="0"/>
          </a:p>
        </p:txBody>
      </p:sp>
      <p:sp>
        <p:nvSpPr>
          <p:cNvPr id="110" name="Text 107"/>
          <p:cNvSpPr/>
          <p:nvPr/>
        </p:nvSpPr>
        <p:spPr>
          <a:xfrm>
            <a:off x="2884887" y="564265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75" dirty="0"/>
          </a:p>
        </p:txBody>
      </p:sp>
      <p:sp>
        <p:nvSpPr>
          <p:cNvPr id="111" name="Text 108"/>
          <p:cNvSpPr/>
          <p:nvPr/>
        </p:nvSpPr>
        <p:spPr>
          <a:xfrm>
            <a:off x="3718973" y="564265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75" dirty="0"/>
          </a:p>
        </p:txBody>
      </p:sp>
      <p:sp>
        <p:nvSpPr>
          <p:cNvPr id="112" name="Text 109"/>
          <p:cNvSpPr/>
          <p:nvPr/>
        </p:nvSpPr>
        <p:spPr>
          <a:xfrm>
            <a:off x="4554622" y="564265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75" dirty="0"/>
          </a:p>
        </p:txBody>
      </p:sp>
      <p:sp>
        <p:nvSpPr>
          <p:cNvPr id="113" name="Text 110"/>
          <p:cNvSpPr/>
          <p:nvPr/>
        </p:nvSpPr>
        <p:spPr>
          <a:xfrm>
            <a:off x="5394885" y="564265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75" dirty="0"/>
          </a:p>
        </p:txBody>
      </p:sp>
      <p:sp>
        <p:nvSpPr>
          <p:cNvPr id="114" name="Text 111"/>
          <p:cNvSpPr/>
          <p:nvPr/>
        </p:nvSpPr>
        <p:spPr>
          <a:xfrm>
            <a:off x="6632806" y="5291389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556</a:t>
            </a:r>
            <a:endParaRPr lang="en-US" sz="750" dirty="0"/>
          </a:p>
        </p:txBody>
      </p:sp>
      <p:sp>
        <p:nvSpPr>
          <p:cNvPr id="115" name="Text 112"/>
          <p:cNvSpPr/>
          <p:nvPr/>
        </p:nvSpPr>
        <p:spPr>
          <a:xfrm>
            <a:off x="6638164" y="570382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75" dirty="0"/>
          </a:p>
        </p:txBody>
      </p:sp>
      <p:sp>
        <p:nvSpPr>
          <p:cNvPr id="116" name="Text 113"/>
          <p:cNvSpPr/>
          <p:nvPr/>
        </p:nvSpPr>
        <p:spPr>
          <a:xfrm>
            <a:off x="7473366" y="529805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555</a:t>
            </a:r>
            <a:endParaRPr lang="en-US" sz="750" dirty="0"/>
          </a:p>
        </p:txBody>
      </p:sp>
      <p:sp>
        <p:nvSpPr>
          <p:cNvPr id="117" name="Text 114"/>
          <p:cNvSpPr/>
          <p:nvPr/>
        </p:nvSpPr>
        <p:spPr>
          <a:xfrm>
            <a:off x="7477236" y="570382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75" dirty="0"/>
          </a:p>
        </p:txBody>
      </p:sp>
      <p:sp>
        <p:nvSpPr>
          <p:cNvPr id="118" name="Text 115"/>
          <p:cNvSpPr/>
          <p:nvPr/>
        </p:nvSpPr>
        <p:spPr>
          <a:xfrm>
            <a:off x="8308346" y="546569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530</a:t>
            </a:r>
            <a:endParaRPr lang="en-US" sz="750" dirty="0"/>
          </a:p>
        </p:txBody>
      </p:sp>
      <p:sp>
        <p:nvSpPr>
          <p:cNvPr id="119" name="Text 116"/>
          <p:cNvSpPr/>
          <p:nvPr/>
        </p:nvSpPr>
        <p:spPr>
          <a:xfrm>
            <a:off x="8314001" y="570382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75" dirty="0"/>
          </a:p>
        </p:txBody>
      </p:sp>
      <p:sp>
        <p:nvSpPr>
          <p:cNvPr id="120" name="Text 117"/>
          <p:cNvSpPr/>
          <p:nvPr/>
        </p:nvSpPr>
        <p:spPr>
          <a:xfrm>
            <a:off x="9151659" y="532472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551</a:t>
            </a:r>
            <a:endParaRPr lang="en-US" sz="750" dirty="0"/>
          </a:p>
        </p:txBody>
      </p:sp>
      <p:sp>
        <p:nvSpPr>
          <p:cNvPr id="121" name="Text 118"/>
          <p:cNvSpPr/>
          <p:nvPr/>
        </p:nvSpPr>
        <p:spPr>
          <a:xfrm>
            <a:off x="9148087" y="570382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75" dirty="0"/>
          </a:p>
        </p:txBody>
      </p:sp>
      <p:sp>
        <p:nvSpPr>
          <p:cNvPr id="122" name="Text 119"/>
          <p:cNvSpPr/>
          <p:nvPr/>
        </p:nvSpPr>
        <p:spPr>
          <a:xfrm>
            <a:off x="9985076" y="487514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618</a:t>
            </a:r>
            <a:endParaRPr lang="en-US" sz="750" dirty="0"/>
          </a:p>
        </p:txBody>
      </p:sp>
      <p:sp>
        <p:nvSpPr>
          <p:cNvPr id="123" name="Text 120"/>
          <p:cNvSpPr/>
          <p:nvPr/>
        </p:nvSpPr>
        <p:spPr>
          <a:xfrm>
            <a:off x="9983736" y="570382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75" dirty="0"/>
          </a:p>
        </p:txBody>
      </p:sp>
      <p:sp>
        <p:nvSpPr>
          <p:cNvPr id="124" name="Text 121"/>
          <p:cNvSpPr/>
          <p:nvPr/>
        </p:nvSpPr>
        <p:spPr>
          <a:xfrm>
            <a:off x="10824743" y="5177089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573</a:t>
            </a:r>
            <a:endParaRPr lang="en-US" sz="750" dirty="0"/>
          </a:p>
        </p:txBody>
      </p:sp>
      <p:sp>
        <p:nvSpPr>
          <p:cNvPr id="125" name="Text 122"/>
          <p:cNvSpPr/>
          <p:nvPr/>
        </p:nvSpPr>
        <p:spPr>
          <a:xfrm>
            <a:off x="10823999" y="570382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75" dirty="0"/>
          </a:p>
        </p:txBody>
      </p:sp>
      <p:sp>
        <p:nvSpPr>
          <p:cNvPr id="126" name="Text 123"/>
          <p:cNvSpPr/>
          <p:nvPr/>
        </p:nvSpPr>
        <p:spPr>
          <a:xfrm>
            <a:off x="1391657" y="2700360"/>
            <a:ext cx="109893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816" dirty="0"/>
          </a:p>
        </p:txBody>
      </p:sp>
      <p:sp>
        <p:nvSpPr>
          <p:cNvPr id="127" name="Text 124"/>
          <p:cNvSpPr/>
          <p:nvPr/>
        </p:nvSpPr>
        <p:spPr>
          <a:xfrm>
            <a:off x="1391657" y="2943248"/>
            <a:ext cx="109893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816" dirty="0"/>
          </a:p>
        </p:txBody>
      </p:sp>
      <p:sp>
        <p:nvSpPr>
          <p:cNvPr id="128" name="Text 125"/>
          <p:cNvSpPr/>
          <p:nvPr/>
        </p:nvSpPr>
        <p:spPr>
          <a:xfrm>
            <a:off x="1391657" y="3190898"/>
            <a:ext cx="109893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816" dirty="0"/>
          </a:p>
        </p:txBody>
      </p:sp>
      <p:sp>
        <p:nvSpPr>
          <p:cNvPr id="129" name="Text 126"/>
          <p:cNvSpPr/>
          <p:nvPr/>
        </p:nvSpPr>
        <p:spPr>
          <a:xfrm>
            <a:off x="1391657" y="3438548"/>
            <a:ext cx="109893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30" name="Text 127"/>
          <p:cNvSpPr/>
          <p:nvPr/>
        </p:nvSpPr>
        <p:spPr>
          <a:xfrm>
            <a:off x="1391657" y="3686198"/>
            <a:ext cx="109893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31" name="Text 128"/>
          <p:cNvSpPr/>
          <p:nvPr/>
        </p:nvSpPr>
        <p:spPr>
          <a:xfrm>
            <a:off x="1391657" y="3933848"/>
            <a:ext cx="109893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816" dirty="0"/>
          </a:p>
        </p:txBody>
      </p:sp>
      <p:sp>
        <p:nvSpPr>
          <p:cNvPr id="132" name="Text 129"/>
          <p:cNvSpPr/>
          <p:nvPr/>
        </p:nvSpPr>
        <p:spPr>
          <a:xfrm>
            <a:off x="1391657" y="4181498"/>
            <a:ext cx="109893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1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2_Xu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3882" y="5800725"/>
            <a:ext cx="11066249" cy="435505"/>
          </a:xfrm>
          <a:prstGeom prst="rect">
            <a:avLst/>
          </a:prstGeom>
          <a:noFill/>
          <a:ln/>
        </p:spPr>
        <p:txBody>
          <a:bodyPr wrap="square" lIns="76200" tIns="152400" rIns="152400" bIns="7620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Xuma: GAAP del 4 % frente a la meta general, equivalente a 655 pólizas no emitidas en el semestre. Cumplimiento general 96 % (CP 90 % · VOL 116 %).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384357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Resultados de Ventas · Primer Semestre 2026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800080" y="1009650"/>
            <a:ext cx="32831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liquidadas · Semestre completo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800080" y="1514475"/>
            <a:ext cx="328314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Cifra oficial liquidación ene–jun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857229" y="4625446"/>
            <a:ext cx="5199568" cy="186404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Cuota Protegida</a:t>
            </a:r>
            <a:endParaRPr lang="en-US" sz="936" dirty="0"/>
          </a:p>
        </p:txBody>
      </p:sp>
      <p:sp>
        <p:nvSpPr>
          <p:cNvPr id="8" name="Text 5"/>
          <p:cNvSpPr/>
          <p:nvPr/>
        </p:nvSpPr>
        <p:spPr>
          <a:xfrm>
            <a:off x="723882" y="2033587"/>
            <a:ext cx="180406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vendidas vs. meta</a:t>
            </a:r>
            <a:endParaRPr lang="en-US" sz="1020" dirty="0"/>
          </a:p>
        </p:txBody>
      </p:sp>
      <p:sp>
        <p:nvSpPr>
          <p:cNvPr id="9" name="Text 6"/>
          <p:cNvSpPr/>
          <p:nvPr/>
        </p:nvSpPr>
        <p:spPr>
          <a:xfrm>
            <a:off x="6286343" y="4684965"/>
            <a:ext cx="5199568" cy="186404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Combo Vida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2449352" y="2244984"/>
            <a:ext cx="3109010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(CP)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5467809" y="2244984"/>
            <a:ext cx="3080805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Combo Vida (VOL)</a:t>
            </a:r>
            <a:endParaRPr lang="en-US" sz="888" dirty="0"/>
          </a:p>
        </p:txBody>
      </p:sp>
      <p:sp>
        <p:nvSpPr>
          <p:cNvPr id="12" name="Text 9"/>
          <p:cNvSpPr/>
          <p:nvPr/>
        </p:nvSpPr>
        <p:spPr>
          <a:xfrm>
            <a:off x="4520988" y="1009650"/>
            <a:ext cx="32833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4520988" y="1423095"/>
            <a:ext cx="328330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76 % del total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8242044" y="1423095"/>
            <a:ext cx="328314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24 % del total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3990875" y="2473584"/>
            <a:ext cx="152124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6981948" y="2473584"/>
            <a:ext cx="152124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10003232" y="2473584"/>
            <a:ext cx="150851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8242044" y="1009650"/>
            <a:ext cx="32831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Combo Vida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10378419" y="1990725"/>
            <a:ext cx="1122076" cy="2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 Xuma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388085" y="2244984"/>
            <a:ext cx="1093105" cy="4572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8458881" y="2244984"/>
            <a:ext cx="3099200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General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6981948" y="2702184"/>
            <a:ext cx="152124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130,0 %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10003232" y="2702184"/>
            <a:ext cx="1508518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105,0 %</a:t>
            </a:r>
            <a:endParaRPr lang="en-US" sz="816" dirty="0"/>
          </a:p>
        </p:txBody>
      </p:sp>
      <p:sp>
        <p:nvSpPr>
          <p:cNvPr id="24" name="Text 21"/>
          <p:cNvSpPr/>
          <p:nvPr/>
        </p:nvSpPr>
        <p:spPr>
          <a:xfrm>
            <a:off x="3990875" y="2945072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109,0 %</a:t>
            </a:r>
            <a:endParaRPr lang="en-US" sz="816" dirty="0"/>
          </a:p>
        </p:txBody>
      </p:sp>
      <p:sp>
        <p:nvSpPr>
          <p:cNvPr id="25" name="Text 22"/>
          <p:cNvSpPr/>
          <p:nvPr/>
        </p:nvSpPr>
        <p:spPr>
          <a:xfrm>
            <a:off x="6981948" y="2945072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111,0 %</a:t>
            </a:r>
            <a:endParaRPr lang="en-US" sz="816" dirty="0"/>
          </a:p>
        </p:txBody>
      </p:sp>
      <p:sp>
        <p:nvSpPr>
          <p:cNvPr id="26" name="Text 23"/>
          <p:cNvSpPr/>
          <p:nvPr/>
        </p:nvSpPr>
        <p:spPr>
          <a:xfrm>
            <a:off x="10003232" y="2945072"/>
            <a:ext cx="150851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109,0 %</a:t>
            </a:r>
            <a:endParaRPr lang="en-US" sz="816" dirty="0"/>
          </a:p>
        </p:txBody>
      </p:sp>
      <p:sp>
        <p:nvSpPr>
          <p:cNvPr id="27" name="Text 24"/>
          <p:cNvSpPr/>
          <p:nvPr/>
        </p:nvSpPr>
        <p:spPr>
          <a:xfrm>
            <a:off x="3990875" y="3192722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114,0 %</a:t>
            </a:r>
            <a:endParaRPr lang="en-US" sz="816" dirty="0"/>
          </a:p>
        </p:txBody>
      </p:sp>
      <p:sp>
        <p:nvSpPr>
          <p:cNvPr id="28" name="Text 25"/>
          <p:cNvSpPr/>
          <p:nvPr/>
        </p:nvSpPr>
        <p:spPr>
          <a:xfrm>
            <a:off x="6981948" y="3192722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106,0 %</a:t>
            </a:r>
            <a:endParaRPr lang="en-US" sz="816" dirty="0"/>
          </a:p>
        </p:txBody>
      </p:sp>
      <p:sp>
        <p:nvSpPr>
          <p:cNvPr id="29" name="Text 26"/>
          <p:cNvSpPr/>
          <p:nvPr/>
        </p:nvSpPr>
        <p:spPr>
          <a:xfrm>
            <a:off x="10003232" y="3192722"/>
            <a:ext cx="150851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112,0 %</a:t>
            </a:r>
            <a:endParaRPr lang="en-US" sz="816" dirty="0"/>
          </a:p>
        </p:txBody>
      </p:sp>
      <p:sp>
        <p:nvSpPr>
          <p:cNvPr id="30" name="Text 27"/>
          <p:cNvSpPr/>
          <p:nvPr/>
        </p:nvSpPr>
        <p:spPr>
          <a:xfrm>
            <a:off x="6981948" y="3440372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110,0 %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6981948" y="3688022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124,0 %</a:t>
            </a:r>
            <a:endParaRPr lang="en-US" sz="816" dirty="0"/>
          </a:p>
        </p:txBody>
      </p:sp>
      <p:sp>
        <p:nvSpPr>
          <p:cNvPr id="32" name="Text 29"/>
          <p:cNvSpPr/>
          <p:nvPr/>
        </p:nvSpPr>
        <p:spPr>
          <a:xfrm>
            <a:off x="6981948" y="3935672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115,0 %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6981948" y="4183322"/>
            <a:ext cx="152124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116,0 %</a:t>
            </a:r>
            <a:endParaRPr lang="en-US" sz="816" dirty="0"/>
          </a:p>
        </p:txBody>
      </p:sp>
      <p:sp>
        <p:nvSpPr>
          <p:cNvPr id="34" name="Text 31"/>
          <p:cNvSpPr/>
          <p:nvPr/>
        </p:nvSpPr>
        <p:spPr>
          <a:xfrm>
            <a:off x="3990875" y="2702184"/>
            <a:ext cx="152124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99,0 %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3990875" y="3440372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73,0 %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10003232" y="3440372"/>
            <a:ext cx="150851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79,0 %</a:t>
            </a:r>
            <a:endParaRPr lang="en-US" sz="816" dirty="0"/>
          </a:p>
        </p:txBody>
      </p:sp>
      <p:sp>
        <p:nvSpPr>
          <p:cNvPr id="37" name="Text 34"/>
          <p:cNvSpPr/>
          <p:nvPr/>
        </p:nvSpPr>
        <p:spPr>
          <a:xfrm>
            <a:off x="3990875" y="3688022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75,0 %</a:t>
            </a:r>
            <a:endParaRPr lang="en-US" sz="816" dirty="0"/>
          </a:p>
        </p:txBody>
      </p:sp>
      <p:sp>
        <p:nvSpPr>
          <p:cNvPr id="38" name="Text 35"/>
          <p:cNvSpPr/>
          <p:nvPr/>
        </p:nvSpPr>
        <p:spPr>
          <a:xfrm>
            <a:off x="10003232" y="3688022"/>
            <a:ext cx="150851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84,0 %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3990875" y="3935672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87,0 %</a:t>
            </a:r>
            <a:endParaRPr lang="en-US" sz="816" dirty="0"/>
          </a:p>
        </p:txBody>
      </p:sp>
      <p:sp>
        <p:nvSpPr>
          <p:cNvPr id="40" name="Text 37"/>
          <p:cNvSpPr/>
          <p:nvPr/>
        </p:nvSpPr>
        <p:spPr>
          <a:xfrm>
            <a:off x="10003232" y="3935672"/>
            <a:ext cx="150851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93,0 %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2449352" y="4183322"/>
            <a:ext cx="81917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10.534</a:t>
            </a:r>
            <a:endParaRPr lang="en-US" sz="816" dirty="0"/>
          </a:p>
        </p:txBody>
      </p:sp>
      <p:sp>
        <p:nvSpPr>
          <p:cNvPr id="42" name="Text 39"/>
          <p:cNvSpPr/>
          <p:nvPr/>
        </p:nvSpPr>
        <p:spPr>
          <a:xfrm>
            <a:off x="3244670" y="4183322"/>
            <a:ext cx="76859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11.643</a:t>
            </a:r>
            <a:endParaRPr lang="en-US" sz="816" dirty="0"/>
          </a:p>
        </p:txBody>
      </p:sp>
      <p:sp>
        <p:nvSpPr>
          <p:cNvPr id="43" name="Text 40"/>
          <p:cNvSpPr/>
          <p:nvPr/>
        </p:nvSpPr>
        <p:spPr>
          <a:xfrm>
            <a:off x="3990875" y="4183322"/>
            <a:ext cx="152124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90,0 %</a:t>
            </a:r>
            <a:endParaRPr lang="en-US" sz="816" dirty="0"/>
          </a:p>
        </p:txBody>
      </p:sp>
      <p:sp>
        <p:nvSpPr>
          <p:cNvPr id="44" name="Text 41"/>
          <p:cNvSpPr/>
          <p:nvPr/>
        </p:nvSpPr>
        <p:spPr>
          <a:xfrm>
            <a:off x="8458881" y="4183322"/>
            <a:ext cx="81917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816" dirty="0"/>
          </a:p>
        </p:txBody>
      </p:sp>
      <p:sp>
        <p:nvSpPr>
          <p:cNvPr id="45" name="Text 42"/>
          <p:cNvSpPr/>
          <p:nvPr/>
        </p:nvSpPr>
        <p:spPr>
          <a:xfrm>
            <a:off x="9254199" y="4183322"/>
            <a:ext cx="771504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14.572</a:t>
            </a:r>
            <a:endParaRPr lang="en-US" sz="816" dirty="0"/>
          </a:p>
        </p:txBody>
      </p:sp>
      <p:sp>
        <p:nvSpPr>
          <p:cNvPr id="46" name="Text 43"/>
          <p:cNvSpPr/>
          <p:nvPr/>
        </p:nvSpPr>
        <p:spPr>
          <a:xfrm>
            <a:off x="10003232" y="4183322"/>
            <a:ext cx="1508518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96,0 %</a:t>
            </a:r>
            <a:endParaRPr lang="en-US" sz="816" dirty="0"/>
          </a:p>
        </p:txBody>
      </p:sp>
      <p:sp>
        <p:nvSpPr>
          <p:cNvPr id="47" name="Text 44"/>
          <p:cNvSpPr/>
          <p:nvPr/>
        </p:nvSpPr>
        <p:spPr>
          <a:xfrm>
            <a:off x="800080" y="1171575"/>
            <a:ext cx="3283147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2400" dirty="0"/>
          </a:p>
        </p:txBody>
      </p:sp>
      <p:sp>
        <p:nvSpPr>
          <p:cNvPr id="48" name="Text 45"/>
          <p:cNvSpPr/>
          <p:nvPr/>
        </p:nvSpPr>
        <p:spPr>
          <a:xfrm>
            <a:off x="4520988" y="1171575"/>
            <a:ext cx="3283300" cy="21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10.534</a:t>
            </a:r>
            <a:endParaRPr lang="en-US" sz="1680" dirty="0"/>
          </a:p>
        </p:txBody>
      </p:sp>
      <p:sp>
        <p:nvSpPr>
          <p:cNvPr id="49" name="Text 46"/>
          <p:cNvSpPr/>
          <p:nvPr/>
        </p:nvSpPr>
        <p:spPr>
          <a:xfrm>
            <a:off x="2449352" y="2473584"/>
            <a:ext cx="81917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5467809" y="2473584"/>
            <a:ext cx="81917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8458881" y="2473584"/>
            <a:ext cx="81917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2449352" y="2702184"/>
            <a:ext cx="81917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1.689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3244670" y="2702184"/>
            <a:ext cx="76859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1.703</a:t>
            </a:r>
            <a:endParaRPr lang="en-US" sz="816" dirty="0"/>
          </a:p>
        </p:txBody>
      </p:sp>
      <p:sp>
        <p:nvSpPr>
          <p:cNvPr id="54" name="Text 51"/>
          <p:cNvSpPr/>
          <p:nvPr/>
        </p:nvSpPr>
        <p:spPr>
          <a:xfrm>
            <a:off x="8458881" y="2702184"/>
            <a:ext cx="81917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9254199" y="2702184"/>
            <a:ext cx="771504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2.132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2449352" y="2945072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1.819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3244670" y="2945072"/>
            <a:ext cx="76859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1.670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8458881" y="2945072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9254199" y="2945072"/>
            <a:ext cx="7715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2.170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2449352" y="3192722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1.901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3244670" y="3192722"/>
            <a:ext cx="76859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1.670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8458881" y="3192722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9254199" y="3192722"/>
            <a:ext cx="7715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2.170</a:t>
            </a:r>
            <a:endParaRPr lang="en-US" sz="816" dirty="0"/>
          </a:p>
        </p:txBody>
      </p:sp>
      <p:sp>
        <p:nvSpPr>
          <p:cNvPr id="64" name="Text 61"/>
          <p:cNvSpPr/>
          <p:nvPr/>
        </p:nvSpPr>
        <p:spPr>
          <a:xfrm>
            <a:off x="2449352" y="3440372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1.816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3244670" y="3440372"/>
            <a:ext cx="76859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2.500</a:t>
            </a:r>
            <a:endParaRPr lang="en-US" sz="816" dirty="0"/>
          </a:p>
        </p:txBody>
      </p:sp>
      <p:sp>
        <p:nvSpPr>
          <p:cNvPr id="66" name="Text 63"/>
          <p:cNvSpPr/>
          <p:nvPr/>
        </p:nvSpPr>
        <p:spPr>
          <a:xfrm>
            <a:off x="8458881" y="3440372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16" dirty="0"/>
          </a:p>
        </p:txBody>
      </p:sp>
      <p:sp>
        <p:nvSpPr>
          <p:cNvPr id="67" name="Text 64"/>
          <p:cNvSpPr/>
          <p:nvPr/>
        </p:nvSpPr>
        <p:spPr>
          <a:xfrm>
            <a:off x="9254199" y="3440372"/>
            <a:ext cx="7715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816" dirty="0"/>
          </a:p>
        </p:txBody>
      </p:sp>
      <p:sp>
        <p:nvSpPr>
          <p:cNvPr id="68" name="Text 65"/>
          <p:cNvSpPr/>
          <p:nvPr/>
        </p:nvSpPr>
        <p:spPr>
          <a:xfrm>
            <a:off x="2449352" y="3688022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1.568</a:t>
            </a:r>
            <a:endParaRPr lang="en-US" sz="816" dirty="0"/>
          </a:p>
        </p:txBody>
      </p:sp>
      <p:sp>
        <p:nvSpPr>
          <p:cNvPr id="69" name="Text 66"/>
          <p:cNvSpPr/>
          <p:nvPr/>
        </p:nvSpPr>
        <p:spPr>
          <a:xfrm>
            <a:off x="3244670" y="3688022"/>
            <a:ext cx="76859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2.100</a:t>
            </a:r>
            <a:endParaRPr lang="en-US" sz="816" dirty="0"/>
          </a:p>
        </p:txBody>
      </p:sp>
      <p:sp>
        <p:nvSpPr>
          <p:cNvPr id="70" name="Text 67"/>
          <p:cNvSpPr/>
          <p:nvPr/>
        </p:nvSpPr>
        <p:spPr>
          <a:xfrm>
            <a:off x="8458881" y="3688022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16" dirty="0"/>
          </a:p>
        </p:txBody>
      </p:sp>
      <p:sp>
        <p:nvSpPr>
          <p:cNvPr id="71" name="Text 68"/>
          <p:cNvSpPr/>
          <p:nvPr/>
        </p:nvSpPr>
        <p:spPr>
          <a:xfrm>
            <a:off x="9254199" y="3688022"/>
            <a:ext cx="7715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2.600</a:t>
            </a:r>
            <a:endParaRPr lang="en-US" sz="816" dirty="0"/>
          </a:p>
        </p:txBody>
      </p:sp>
      <p:sp>
        <p:nvSpPr>
          <p:cNvPr id="72" name="Text 69"/>
          <p:cNvSpPr/>
          <p:nvPr/>
        </p:nvSpPr>
        <p:spPr>
          <a:xfrm>
            <a:off x="2449352" y="3935672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1.741</a:t>
            </a:r>
            <a:endParaRPr lang="en-US" sz="816" dirty="0"/>
          </a:p>
        </p:txBody>
      </p:sp>
      <p:sp>
        <p:nvSpPr>
          <p:cNvPr id="73" name="Text 70"/>
          <p:cNvSpPr/>
          <p:nvPr/>
        </p:nvSpPr>
        <p:spPr>
          <a:xfrm>
            <a:off x="3244670" y="3935672"/>
            <a:ext cx="76859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2.000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8458881" y="3935672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9254199" y="3935672"/>
            <a:ext cx="7715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2.500</a:t>
            </a:r>
            <a:endParaRPr lang="en-US" sz="816" dirty="0"/>
          </a:p>
        </p:txBody>
      </p:sp>
      <p:sp>
        <p:nvSpPr>
          <p:cNvPr id="76" name="Text 73"/>
          <p:cNvSpPr/>
          <p:nvPr/>
        </p:nvSpPr>
        <p:spPr>
          <a:xfrm>
            <a:off x="723882" y="4183322"/>
            <a:ext cx="68412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16" dirty="0"/>
          </a:p>
        </p:txBody>
      </p:sp>
      <p:sp>
        <p:nvSpPr>
          <p:cNvPr id="77" name="Text 74"/>
          <p:cNvSpPr/>
          <p:nvPr/>
        </p:nvSpPr>
        <p:spPr>
          <a:xfrm>
            <a:off x="5467809" y="4183322"/>
            <a:ext cx="81917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3.383</a:t>
            </a:r>
            <a:endParaRPr lang="en-US" sz="816" dirty="0"/>
          </a:p>
        </p:txBody>
      </p:sp>
      <p:sp>
        <p:nvSpPr>
          <p:cNvPr id="78" name="Text 75"/>
          <p:cNvSpPr/>
          <p:nvPr/>
        </p:nvSpPr>
        <p:spPr>
          <a:xfrm>
            <a:off x="6263126" y="4183322"/>
            <a:ext cx="74038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2.929</a:t>
            </a:r>
            <a:endParaRPr lang="en-US" sz="816" dirty="0"/>
          </a:p>
        </p:txBody>
      </p:sp>
      <p:sp>
        <p:nvSpPr>
          <p:cNvPr id="79" name="Text 76"/>
          <p:cNvSpPr/>
          <p:nvPr/>
        </p:nvSpPr>
        <p:spPr>
          <a:xfrm>
            <a:off x="8242044" y="1171575"/>
            <a:ext cx="3283147" cy="21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3.383</a:t>
            </a:r>
            <a:endParaRPr lang="en-US" sz="1680" dirty="0"/>
          </a:p>
        </p:txBody>
      </p:sp>
      <p:sp>
        <p:nvSpPr>
          <p:cNvPr id="80" name="Text 77"/>
          <p:cNvSpPr/>
          <p:nvPr/>
        </p:nvSpPr>
        <p:spPr>
          <a:xfrm>
            <a:off x="1163807" y="520170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1.689</a:t>
            </a:r>
            <a:endParaRPr lang="en-US" sz="750" dirty="0"/>
          </a:p>
        </p:txBody>
      </p:sp>
      <p:sp>
        <p:nvSpPr>
          <p:cNvPr id="81" name="Text 78"/>
          <p:cNvSpPr/>
          <p:nvPr/>
        </p:nvSpPr>
        <p:spPr>
          <a:xfrm>
            <a:off x="2006302" y="4971204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1.819</a:t>
            </a:r>
            <a:endParaRPr lang="en-US" sz="750" dirty="0"/>
          </a:p>
        </p:txBody>
      </p:sp>
      <p:sp>
        <p:nvSpPr>
          <p:cNvPr id="82" name="Text 79"/>
          <p:cNvSpPr/>
          <p:nvPr/>
        </p:nvSpPr>
        <p:spPr>
          <a:xfrm>
            <a:off x="2844183" y="4825471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1.901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3681767" y="497596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1.816</a:t>
            </a:r>
            <a:endParaRPr lang="en-US" sz="750" dirty="0"/>
          </a:p>
        </p:txBody>
      </p:sp>
      <p:sp>
        <p:nvSpPr>
          <p:cNvPr id="84" name="Text 81"/>
          <p:cNvSpPr/>
          <p:nvPr/>
        </p:nvSpPr>
        <p:spPr>
          <a:xfrm>
            <a:off x="4518011" y="5416021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1.568</a:t>
            </a:r>
            <a:endParaRPr lang="en-US" sz="750" dirty="0"/>
          </a:p>
        </p:txBody>
      </p:sp>
      <p:sp>
        <p:nvSpPr>
          <p:cNvPr id="85" name="Text 82"/>
          <p:cNvSpPr/>
          <p:nvPr/>
        </p:nvSpPr>
        <p:spPr>
          <a:xfrm>
            <a:off x="5363483" y="510931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1.741</a:t>
            </a:r>
            <a:endParaRPr lang="en-US" sz="750" dirty="0"/>
          </a:p>
        </p:txBody>
      </p:sp>
      <p:sp>
        <p:nvSpPr>
          <p:cNvPr id="86" name="Text 83"/>
          <p:cNvSpPr/>
          <p:nvPr/>
        </p:nvSpPr>
        <p:spPr>
          <a:xfrm>
            <a:off x="3244670" y="2473584"/>
            <a:ext cx="76859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7" name="Text 84"/>
          <p:cNvSpPr/>
          <p:nvPr/>
        </p:nvSpPr>
        <p:spPr>
          <a:xfrm>
            <a:off x="6263126" y="2473584"/>
            <a:ext cx="74038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8" name="Text 85"/>
          <p:cNvSpPr/>
          <p:nvPr/>
        </p:nvSpPr>
        <p:spPr>
          <a:xfrm>
            <a:off x="9254199" y="2473584"/>
            <a:ext cx="77150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9" name="Text 86"/>
          <p:cNvSpPr/>
          <p:nvPr/>
        </p:nvSpPr>
        <p:spPr>
          <a:xfrm>
            <a:off x="723882" y="2244984"/>
            <a:ext cx="684129" cy="4572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723882" y="2702184"/>
            <a:ext cx="68412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16" dirty="0"/>
          </a:p>
        </p:txBody>
      </p:sp>
      <p:sp>
        <p:nvSpPr>
          <p:cNvPr id="91" name="Text 88"/>
          <p:cNvSpPr/>
          <p:nvPr/>
        </p:nvSpPr>
        <p:spPr>
          <a:xfrm>
            <a:off x="5467809" y="2702184"/>
            <a:ext cx="81917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556</a:t>
            </a:r>
            <a:endParaRPr lang="en-US" sz="816" dirty="0"/>
          </a:p>
        </p:txBody>
      </p:sp>
      <p:sp>
        <p:nvSpPr>
          <p:cNvPr id="92" name="Text 89"/>
          <p:cNvSpPr/>
          <p:nvPr/>
        </p:nvSpPr>
        <p:spPr>
          <a:xfrm>
            <a:off x="6263126" y="2702184"/>
            <a:ext cx="74038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429</a:t>
            </a:r>
            <a:endParaRPr lang="en-US" sz="816" dirty="0"/>
          </a:p>
        </p:txBody>
      </p:sp>
      <p:sp>
        <p:nvSpPr>
          <p:cNvPr id="93" name="Text 90"/>
          <p:cNvSpPr/>
          <p:nvPr/>
        </p:nvSpPr>
        <p:spPr>
          <a:xfrm>
            <a:off x="723882" y="2945072"/>
            <a:ext cx="68412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16" dirty="0"/>
          </a:p>
        </p:txBody>
      </p:sp>
      <p:sp>
        <p:nvSpPr>
          <p:cNvPr id="94" name="Text 91"/>
          <p:cNvSpPr/>
          <p:nvPr/>
        </p:nvSpPr>
        <p:spPr>
          <a:xfrm>
            <a:off x="5467809" y="2945072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555</a:t>
            </a:r>
            <a:endParaRPr lang="en-US" sz="816" dirty="0"/>
          </a:p>
        </p:txBody>
      </p:sp>
      <p:sp>
        <p:nvSpPr>
          <p:cNvPr id="95" name="Text 92"/>
          <p:cNvSpPr/>
          <p:nvPr/>
        </p:nvSpPr>
        <p:spPr>
          <a:xfrm>
            <a:off x="6263126" y="2945072"/>
            <a:ext cx="74038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96" name="Text 93"/>
          <p:cNvSpPr/>
          <p:nvPr/>
        </p:nvSpPr>
        <p:spPr>
          <a:xfrm>
            <a:off x="723882" y="3192722"/>
            <a:ext cx="68412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16" dirty="0"/>
          </a:p>
        </p:txBody>
      </p:sp>
      <p:sp>
        <p:nvSpPr>
          <p:cNvPr id="97" name="Text 94"/>
          <p:cNvSpPr/>
          <p:nvPr/>
        </p:nvSpPr>
        <p:spPr>
          <a:xfrm>
            <a:off x="5467809" y="3192722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530</a:t>
            </a:r>
            <a:endParaRPr lang="en-US" sz="816" dirty="0"/>
          </a:p>
        </p:txBody>
      </p:sp>
      <p:sp>
        <p:nvSpPr>
          <p:cNvPr id="98" name="Text 95"/>
          <p:cNvSpPr/>
          <p:nvPr/>
        </p:nvSpPr>
        <p:spPr>
          <a:xfrm>
            <a:off x="6263126" y="3192722"/>
            <a:ext cx="74038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99" name="Text 96"/>
          <p:cNvSpPr/>
          <p:nvPr/>
        </p:nvSpPr>
        <p:spPr>
          <a:xfrm>
            <a:off x="723882" y="3440372"/>
            <a:ext cx="68412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16" dirty="0"/>
          </a:p>
        </p:txBody>
      </p:sp>
      <p:sp>
        <p:nvSpPr>
          <p:cNvPr id="100" name="Text 97"/>
          <p:cNvSpPr/>
          <p:nvPr/>
        </p:nvSpPr>
        <p:spPr>
          <a:xfrm>
            <a:off x="5467809" y="3440372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551</a:t>
            </a:r>
            <a:endParaRPr lang="en-US" sz="816" dirty="0"/>
          </a:p>
        </p:txBody>
      </p:sp>
      <p:sp>
        <p:nvSpPr>
          <p:cNvPr id="101" name="Text 98"/>
          <p:cNvSpPr/>
          <p:nvPr/>
        </p:nvSpPr>
        <p:spPr>
          <a:xfrm>
            <a:off x="6263126" y="3440372"/>
            <a:ext cx="74038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102" name="Text 99"/>
          <p:cNvSpPr/>
          <p:nvPr/>
        </p:nvSpPr>
        <p:spPr>
          <a:xfrm>
            <a:off x="723882" y="3688022"/>
            <a:ext cx="68412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16" dirty="0"/>
          </a:p>
        </p:txBody>
      </p:sp>
      <p:sp>
        <p:nvSpPr>
          <p:cNvPr id="103" name="Text 100"/>
          <p:cNvSpPr/>
          <p:nvPr/>
        </p:nvSpPr>
        <p:spPr>
          <a:xfrm>
            <a:off x="5467809" y="3688022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618</a:t>
            </a:r>
            <a:endParaRPr lang="en-US" sz="816" dirty="0"/>
          </a:p>
        </p:txBody>
      </p:sp>
      <p:sp>
        <p:nvSpPr>
          <p:cNvPr id="104" name="Text 101"/>
          <p:cNvSpPr/>
          <p:nvPr/>
        </p:nvSpPr>
        <p:spPr>
          <a:xfrm>
            <a:off x="6263126" y="3688022"/>
            <a:ext cx="74038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105" name="Text 102"/>
          <p:cNvSpPr/>
          <p:nvPr/>
        </p:nvSpPr>
        <p:spPr>
          <a:xfrm>
            <a:off x="723882" y="3935672"/>
            <a:ext cx="68412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16" dirty="0"/>
          </a:p>
        </p:txBody>
      </p:sp>
      <p:sp>
        <p:nvSpPr>
          <p:cNvPr id="106" name="Text 103"/>
          <p:cNvSpPr/>
          <p:nvPr/>
        </p:nvSpPr>
        <p:spPr>
          <a:xfrm>
            <a:off x="5467809" y="3935672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573</a:t>
            </a:r>
            <a:endParaRPr lang="en-US" sz="816" dirty="0"/>
          </a:p>
        </p:txBody>
      </p:sp>
      <p:sp>
        <p:nvSpPr>
          <p:cNvPr id="107" name="Text 104"/>
          <p:cNvSpPr/>
          <p:nvPr/>
        </p:nvSpPr>
        <p:spPr>
          <a:xfrm>
            <a:off x="6263126" y="3935672"/>
            <a:ext cx="74038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108" name="Text 105"/>
          <p:cNvSpPr/>
          <p:nvPr/>
        </p:nvSpPr>
        <p:spPr>
          <a:xfrm>
            <a:off x="1209049" y="565414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75" dirty="0"/>
          </a:p>
        </p:txBody>
      </p:sp>
      <p:sp>
        <p:nvSpPr>
          <p:cNvPr id="109" name="Text 106"/>
          <p:cNvSpPr/>
          <p:nvPr/>
        </p:nvSpPr>
        <p:spPr>
          <a:xfrm>
            <a:off x="2048121" y="565414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75" dirty="0"/>
          </a:p>
        </p:txBody>
      </p:sp>
      <p:sp>
        <p:nvSpPr>
          <p:cNvPr id="110" name="Text 107"/>
          <p:cNvSpPr/>
          <p:nvPr/>
        </p:nvSpPr>
        <p:spPr>
          <a:xfrm>
            <a:off x="2884887" y="565414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75" dirty="0"/>
          </a:p>
        </p:txBody>
      </p:sp>
      <p:sp>
        <p:nvSpPr>
          <p:cNvPr id="111" name="Text 108"/>
          <p:cNvSpPr/>
          <p:nvPr/>
        </p:nvSpPr>
        <p:spPr>
          <a:xfrm>
            <a:off x="3718973" y="565414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75" dirty="0"/>
          </a:p>
        </p:txBody>
      </p:sp>
      <p:sp>
        <p:nvSpPr>
          <p:cNvPr id="112" name="Text 109"/>
          <p:cNvSpPr/>
          <p:nvPr/>
        </p:nvSpPr>
        <p:spPr>
          <a:xfrm>
            <a:off x="4554622" y="565414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75" dirty="0"/>
          </a:p>
        </p:txBody>
      </p:sp>
      <p:sp>
        <p:nvSpPr>
          <p:cNvPr id="113" name="Text 110"/>
          <p:cNvSpPr/>
          <p:nvPr/>
        </p:nvSpPr>
        <p:spPr>
          <a:xfrm>
            <a:off x="5394885" y="565414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75" dirty="0"/>
          </a:p>
        </p:txBody>
      </p:sp>
      <p:sp>
        <p:nvSpPr>
          <p:cNvPr id="114" name="Text 111"/>
          <p:cNvSpPr/>
          <p:nvPr/>
        </p:nvSpPr>
        <p:spPr>
          <a:xfrm>
            <a:off x="6632806" y="530123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556</a:t>
            </a:r>
            <a:endParaRPr lang="en-US" sz="750" dirty="0"/>
          </a:p>
        </p:txBody>
      </p:sp>
      <p:sp>
        <p:nvSpPr>
          <p:cNvPr id="115" name="Text 112"/>
          <p:cNvSpPr/>
          <p:nvPr/>
        </p:nvSpPr>
        <p:spPr>
          <a:xfrm>
            <a:off x="6638164" y="571366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75" dirty="0"/>
          </a:p>
        </p:txBody>
      </p:sp>
      <p:sp>
        <p:nvSpPr>
          <p:cNvPr id="116" name="Text 113"/>
          <p:cNvSpPr/>
          <p:nvPr/>
        </p:nvSpPr>
        <p:spPr>
          <a:xfrm>
            <a:off x="7473366" y="530790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555</a:t>
            </a:r>
            <a:endParaRPr lang="en-US" sz="750" dirty="0"/>
          </a:p>
        </p:txBody>
      </p:sp>
      <p:sp>
        <p:nvSpPr>
          <p:cNvPr id="117" name="Text 114"/>
          <p:cNvSpPr/>
          <p:nvPr/>
        </p:nvSpPr>
        <p:spPr>
          <a:xfrm>
            <a:off x="7477236" y="571366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75" dirty="0"/>
          </a:p>
        </p:txBody>
      </p:sp>
      <p:sp>
        <p:nvSpPr>
          <p:cNvPr id="118" name="Text 115"/>
          <p:cNvSpPr/>
          <p:nvPr/>
        </p:nvSpPr>
        <p:spPr>
          <a:xfrm>
            <a:off x="8308346" y="547554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530</a:t>
            </a:r>
            <a:endParaRPr lang="en-US" sz="750" dirty="0"/>
          </a:p>
        </p:txBody>
      </p:sp>
      <p:sp>
        <p:nvSpPr>
          <p:cNvPr id="119" name="Text 116"/>
          <p:cNvSpPr/>
          <p:nvPr/>
        </p:nvSpPr>
        <p:spPr>
          <a:xfrm>
            <a:off x="8314001" y="571366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75" dirty="0"/>
          </a:p>
        </p:txBody>
      </p:sp>
      <p:sp>
        <p:nvSpPr>
          <p:cNvPr id="120" name="Text 117"/>
          <p:cNvSpPr/>
          <p:nvPr/>
        </p:nvSpPr>
        <p:spPr>
          <a:xfrm>
            <a:off x="9151659" y="533457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551</a:t>
            </a:r>
            <a:endParaRPr lang="en-US" sz="750" dirty="0"/>
          </a:p>
        </p:txBody>
      </p:sp>
      <p:sp>
        <p:nvSpPr>
          <p:cNvPr id="121" name="Text 118"/>
          <p:cNvSpPr/>
          <p:nvPr/>
        </p:nvSpPr>
        <p:spPr>
          <a:xfrm>
            <a:off x="9148087" y="571366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75" dirty="0"/>
          </a:p>
        </p:txBody>
      </p:sp>
      <p:sp>
        <p:nvSpPr>
          <p:cNvPr id="122" name="Text 119"/>
          <p:cNvSpPr/>
          <p:nvPr/>
        </p:nvSpPr>
        <p:spPr>
          <a:xfrm>
            <a:off x="9985076" y="488499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618</a:t>
            </a:r>
            <a:endParaRPr lang="en-US" sz="750" dirty="0"/>
          </a:p>
        </p:txBody>
      </p:sp>
      <p:sp>
        <p:nvSpPr>
          <p:cNvPr id="123" name="Text 120"/>
          <p:cNvSpPr/>
          <p:nvPr/>
        </p:nvSpPr>
        <p:spPr>
          <a:xfrm>
            <a:off x="9983736" y="571366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75" dirty="0"/>
          </a:p>
        </p:txBody>
      </p:sp>
      <p:sp>
        <p:nvSpPr>
          <p:cNvPr id="124" name="Text 121"/>
          <p:cNvSpPr/>
          <p:nvPr/>
        </p:nvSpPr>
        <p:spPr>
          <a:xfrm>
            <a:off x="10824743" y="518693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573</a:t>
            </a:r>
            <a:endParaRPr lang="en-US" sz="750" dirty="0"/>
          </a:p>
        </p:txBody>
      </p:sp>
      <p:sp>
        <p:nvSpPr>
          <p:cNvPr id="125" name="Text 122"/>
          <p:cNvSpPr/>
          <p:nvPr/>
        </p:nvSpPr>
        <p:spPr>
          <a:xfrm>
            <a:off x="10823999" y="571366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75" dirty="0"/>
          </a:p>
        </p:txBody>
      </p:sp>
      <p:sp>
        <p:nvSpPr>
          <p:cNvPr id="126" name="Text 123"/>
          <p:cNvSpPr/>
          <p:nvPr/>
        </p:nvSpPr>
        <p:spPr>
          <a:xfrm>
            <a:off x="1388085" y="2702184"/>
            <a:ext cx="1093105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816" dirty="0"/>
          </a:p>
        </p:txBody>
      </p:sp>
      <p:sp>
        <p:nvSpPr>
          <p:cNvPr id="127" name="Text 124"/>
          <p:cNvSpPr/>
          <p:nvPr/>
        </p:nvSpPr>
        <p:spPr>
          <a:xfrm>
            <a:off x="1388085" y="2945072"/>
            <a:ext cx="1093105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816" dirty="0"/>
          </a:p>
        </p:txBody>
      </p:sp>
      <p:sp>
        <p:nvSpPr>
          <p:cNvPr id="128" name="Text 125"/>
          <p:cNvSpPr/>
          <p:nvPr/>
        </p:nvSpPr>
        <p:spPr>
          <a:xfrm>
            <a:off x="1388085" y="3192722"/>
            <a:ext cx="1093105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816" dirty="0"/>
          </a:p>
        </p:txBody>
      </p:sp>
      <p:sp>
        <p:nvSpPr>
          <p:cNvPr id="129" name="Text 126"/>
          <p:cNvSpPr/>
          <p:nvPr/>
        </p:nvSpPr>
        <p:spPr>
          <a:xfrm>
            <a:off x="1388085" y="3440372"/>
            <a:ext cx="1093105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30" name="Text 127"/>
          <p:cNvSpPr/>
          <p:nvPr/>
        </p:nvSpPr>
        <p:spPr>
          <a:xfrm>
            <a:off x="1388085" y="3688022"/>
            <a:ext cx="1093105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31" name="Text 128"/>
          <p:cNvSpPr/>
          <p:nvPr/>
        </p:nvSpPr>
        <p:spPr>
          <a:xfrm>
            <a:off x="1388085" y="3935672"/>
            <a:ext cx="1093105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816" dirty="0"/>
          </a:p>
        </p:txBody>
      </p:sp>
      <p:sp>
        <p:nvSpPr>
          <p:cNvPr id="132" name="Text 129"/>
          <p:cNvSpPr/>
          <p:nvPr/>
        </p:nvSpPr>
        <p:spPr>
          <a:xfrm>
            <a:off x="1388085" y="4183322"/>
            <a:ext cx="1093105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1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3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486" y="6225629"/>
            <a:ext cx="11380185" cy="513991"/>
          </a:xfrm>
          <a:prstGeom prst="rect">
            <a:avLst/>
          </a:prstGeom>
          <a:noFill/>
          <a:ln/>
        </p:spPr>
        <p:txBody>
          <a:bodyPr wrap="square" lIns="114300" tIns="171450" rIns="171450" bIns="11430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Oportunidad identificada : el 78 % del descarte son, registros recibidos anteriormente y el 49 % y clientes con el producto activo es el 29 %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6276818" y="5977979"/>
            <a:ext cx="536634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Ancho del embudo en escala visual (no lineal) — los valores y porcentajes son los reales.</a:t>
            </a:r>
            <a:endParaRPr lang="en-US" sz="624" dirty="0"/>
          </a:p>
        </p:txBody>
      </p:sp>
      <p:sp>
        <p:nvSpPr>
          <p:cNvPr id="5" name="Text 2"/>
          <p:cNvSpPr/>
          <p:nvPr/>
        </p:nvSpPr>
        <p:spPr>
          <a:xfrm>
            <a:off x="6276818" y="1832670"/>
            <a:ext cx="5366346" cy="215836"/>
          </a:xfrm>
          <a:prstGeom prst="rect">
            <a:avLst/>
          </a:prstGeom>
          <a:noFill/>
          <a:ln/>
        </p:spPr>
        <p:txBody>
          <a:bodyPr wrap="square" lIns="0" tIns="0" rIns="0" bIns="3810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Embudo de la gestión · de la base a la venta (semestre)</a:t>
            </a:r>
            <a:endParaRPr lang="en-US" sz="1020" dirty="0"/>
          </a:p>
        </p:txBody>
      </p:sp>
      <p:sp>
        <p:nvSpPr>
          <p:cNvPr id="6" name="Text 3"/>
          <p:cNvSpPr/>
          <p:nvPr/>
        </p:nvSpPr>
        <p:spPr>
          <a:xfrm>
            <a:off x="9100910" y="1470720"/>
            <a:ext cx="24575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venta por cada 66 registros recibidos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2962926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Consolidado de las Bases · 1S 2026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704832" y="1832670"/>
            <a:ext cx="5366346" cy="215836"/>
          </a:xfrm>
          <a:prstGeom prst="rect">
            <a:avLst/>
          </a:prstGeom>
          <a:noFill/>
          <a:ln/>
        </p:spPr>
        <p:txBody>
          <a:bodyPr wrap="square" lIns="0" tIns="0" rIns="0" bIns="3810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Volumen y calidad de base por mes</a:t>
            </a:r>
            <a:endParaRPr lang="en-US" sz="1020" dirty="0"/>
          </a:p>
        </p:txBody>
      </p:sp>
      <p:sp>
        <p:nvSpPr>
          <p:cNvPr id="9" name="Text 6"/>
          <p:cNvSpPr/>
          <p:nvPr/>
        </p:nvSpPr>
        <p:spPr>
          <a:xfrm>
            <a:off x="742931" y="971550"/>
            <a:ext cx="24575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recibidos (ene–jun)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742931" y="1470720"/>
            <a:ext cx="24575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Fuente: dashboards Power BI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3528924" y="1470720"/>
            <a:ext cx="24575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Solo 40 % apto para gestión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6276818" y="5587008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Cifra oficial liquidación</a:t>
            </a:r>
            <a:endParaRPr lang="en-US" sz="672" dirty="0"/>
          </a:p>
        </p:txBody>
      </p:sp>
      <p:sp>
        <p:nvSpPr>
          <p:cNvPr id="13" name="Text 10"/>
          <p:cNvSpPr/>
          <p:nvPr/>
        </p:nvSpPr>
        <p:spPr>
          <a:xfrm>
            <a:off x="9929564" y="2467124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 · punto de partida</a:t>
            </a:r>
            <a:endParaRPr lang="en-US" sz="744" dirty="0"/>
          </a:p>
        </p:txBody>
      </p:sp>
      <p:sp>
        <p:nvSpPr>
          <p:cNvPr id="14" name="Text 11"/>
          <p:cNvSpPr/>
          <p:nvPr/>
        </p:nvSpPr>
        <p:spPr>
          <a:xfrm>
            <a:off x="9929564" y="3231505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40 % del paso anterior</a:t>
            </a:r>
            <a:endParaRPr lang="en-US" sz="744" dirty="0"/>
          </a:p>
        </p:txBody>
      </p:sp>
      <p:sp>
        <p:nvSpPr>
          <p:cNvPr id="15" name="Text 12"/>
          <p:cNvSpPr/>
          <p:nvPr/>
        </p:nvSpPr>
        <p:spPr>
          <a:xfrm>
            <a:off x="9929564" y="3995737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98 % del paso anterior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9929564" y="4760119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42 % del paso anterior</a:t>
            </a:r>
            <a:endParaRPr lang="en-US" sz="744" dirty="0"/>
          </a:p>
        </p:txBody>
      </p:sp>
      <p:sp>
        <p:nvSpPr>
          <p:cNvPr id="17" name="Text 14"/>
          <p:cNvSpPr/>
          <p:nvPr/>
        </p:nvSpPr>
        <p:spPr>
          <a:xfrm>
            <a:off x="9929564" y="5524351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9 % del paso anterior</a:t>
            </a:r>
            <a:endParaRPr lang="en-US" sz="744" dirty="0"/>
          </a:p>
        </p:txBody>
      </p:sp>
      <p:sp>
        <p:nvSpPr>
          <p:cNvPr id="18" name="Text 15"/>
          <p:cNvSpPr/>
          <p:nvPr/>
        </p:nvSpPr>
        <p:spPr>
          <a:xfrm>
            <a:off x="6314917" y="971550"/>
            <a:ext cx="24575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 (gestionables)</a:t>
            </a:r>
            <a:endParaRPr lang="en-US" sz="864" dirty="0"/>
          </a:p>
        </p:txBody>
      </p:sp>
      <p:sp>
        <p:nvSpPr>
          <p:cNvPr id="19" name="Text 16"/>
          <p:cNvSpPr/>
          <p:nvPr/>
        </p:nvSpPr>
        <p:spPr>
          <a:xfrm>
            <a:off x="6314917" y="1470720"/>
            <a:ext cx="24575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921.480 recibidos</a:t>
            </a:r>
            <a:endParaRPr lang="en-US" sz="864" dirty="0"/>
          </a:p>
        </p:txBody>
      </p:sp>
      <p:sp>
        <p:nvSpPr>
          <p:cNvPr id="20" name="Text 17"/>
          <p:cNvSpPr/>
          <p:nvPr/>
        </p:nvSpPr>
        <p:spPr>
          <a:xfrm>
            <a:off x="6276818" y="2407146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recibidos</a:t>
            </a:r>
            <a:endParaRPr lang="en-US" sz="840" dirty="0"/>
          </a:p>
        </p:txBody>
      </p:sp>
      <p:sp>
        <p:nvSpPr>
          <p:cNvPr id="21" name="Text 18"/>
          <p:cNvSpPr/>
          <p:nvPr/>
        </p:nvSpPr>
        <p:spPr>
          <a:xfrm>
            <a:off x="6276818" y="3171379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 para gestión</a:t>
            </a:r>
            <a:endParaRPr lang="en-US" sz="840" dirty="0"/>
          </a:p>
        </p:txBody>
      </p:sp>
      <p:sp>
        <p:nvSpPr>
          <p:cNvPr id="22" name="Text 19"/>
          <p:cNvSpPr/>
          <p:nvPr/>
        </p:nvSpPr>
        <p:spPr>
          <a:xfrm>
            <a:off x="6276818" y="4058394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marcados</a:t>
            </a:r>
            <a:endParaRPr lang="en-US" sz="672" dirty="0"/>
          </a:p>
        </p:txBody>
      </p:sp>
      <p:sp>
        <p:nvSpPr>
          <p:cNvPr id="23" name="Text 20"/>
          <p:cNvSpPr/>
          <p:nvPr/>
        </p:nvSpPr>
        <p:spPr>
          <a:xfrm>
            <a:off x="6276818" y="4822627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672" dirty="0"/>
          </a:p>
        </p:txBody>
      </p:sp>
      <p:sp>
        <p:nvSpPr>
          <p:cNvPr id="24" name="Text 21"/>
          <p:cNvSpPr/>
          <p:nvPr/>
        </p:nvSpPr>
        <p:spPr>
          <a:xfrm>
            <a:off x="3528924" y="971550"/>
            <a:ext cx="24575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Rechazo promedio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6276818" y="3294013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Tras depuración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6276818" y="3935760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Gestionados</a:t>
            </a:r>
            <a:endParaRPr lang="en-US" sz="840" dirty="0"/>
          </a:p>
        </p:txBody>
      </p:sp>
      <p:sp>
        <p:nvSpPr>
          <p:cNvPr id="27" name="Text 24"/>
          <p:cNvSpPr/>
          <p:nvPr/>
        </p:nvSpPr>
        <p:spPr>
          <a:xfrm>
            <a:off x="6276818" y="4699992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Contactados</a:t>
            </a:r>
            <a:endParaRPr lang="en-US" sz="840" dirty="0"/>
          </a:p>
        </p:txBody>
      </p:sp>
      <p:sp>
        <p:nvSpPr>
          <p:cNvPr id="28" name="Text 25"/>
          <p:cNvSpPr/>
          <p:nvPr/>
        </p:nvSpPr>
        <p:spPr>
          <a:xfrm>
            <a:off x="2267489" y="2066055"/>
            <a:ext cx="116285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6276818" y="2529780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Vanti</a:t>
            </a:r>
            <a:endParaRPr lang="en-US" sz="672" dirty="0"/>
          </a:p>
        </p:txBody>
      </p:sp>
      <p:sp>
        <p:nvSpPr>
          <p:cNvPr id="30" name="Text 27"/>
          <p:cNvSpPr/>
          <p:nvPr/>
        </p:nvSpPr>
        <p:spPr>
          <a:xfrm>
            <a:off x="1294475" y="2066055"/>
            <a:ext cx="100220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3396471" y="2066055"/>
            <a:ext cx="105876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9100910" y="971550"/>
            <a:ext cx="24575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1S</a:t>
            </a:r>
            <a:endParaRPr lang="en-US" sz="864" dirty="0"/>
          </a:p>
        </p:txBody>
      </p:sp>
      <p:sp>
        <p:nvSpPr>
          <p:cNvPr id="33" name="Text 30"/>
          <p:cNvSpPr/>
          <p:nvPr/>
        </p:nvSpPr>
        <p:spPr>
          <a:xfrm>
            <a:off x="1294475" y="2294655"/>
            <a:ext cx="1002204" cy="539204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202.777</a:t>
            </a:r>
            <a:endParaRPr lang="en-US" sz="840" dirty="0"/>
          </a:p>
        </p:txBody>
      </p:sp>
      <p:sp>
        <p:nvSpPr>
          <p:cNvPr id="34" name="Text 31"/>
          <p:cNvSpPr/>
          <p:nvPr/>
        </p:nvSpPr>
        <p:spPr>
          <a:xfrm>
            <a:off x="4424401" y="2294655"/>
            <a:ext cx="754642" cy="539204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103.536</a:t>
            </a:r>
            <a:endParaRPr lang="en-US" sz="840" dirty="0"/>
          </a:p>
        </p:txBody>
      </p:sp>
      <p:sp>
        <p:nvSpPr>
          <p:cNvPr id="35" name="Text 32"/>
          <p:cNvSpPr/>
          <p:nvPr/>
        </p:nvSpPr>
        <p:spPr>
          <a:xfrm>
            <a:off x="1294475" y="3383630"/>
            <a:ext cx="1002204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136.044</a:t>
            </a:r>
            <a:endParaRPr lang="en-US" sz="840" dirty="0"/>
          </a:p>
        </p:txBody>
      </p:sp>
      <p:sp>
        <p:nvSpPr>
          <p:cNvPr id="36" name="Text 33"/>
          <p:cNvSpPr/>
          <p:nvPr/>
        </p:nvSpPr>
        <p:spPr>
          <a:xfrm>
            <a:off x="1294475" y="3933401"/>
            <a:ext cx="1002204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154.848</a:t>
            </a:r>
            <a:endParaRPr lang="en-US" sz="840" dirty="0"/>
          </a:p>
        </p:txBody>
      </p:sp>
      <p:sp>
        <p:nvSpPr>
          <p:cNvPr id="37" name="Text 34"/>
          <p:cNvSpPr/>
          <p:nvPr/>
        </p:nvSpPr>
        <p:spPr>
          <a:xfrm>
            <a:off x="2267489" y="3933401"/>
            <a:ext cx="1162851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114.123</a:t>
            </a:r>
            <a:endParaRPr lang="en-US" sz="840" dirty="0"/>
          </a:p>
        </p:txBody>
      </p:sp>
      <p:sp>
        <p:nvSpPr>
          <p:cNvPr id="38" name="Text 35"/>
          <p:cNvSpPr/>
          <p:nvPr/>
        </p:nvSpPr>
        <p:spPr>
          <a:xfrm>
            <a:off x="1294475" y="4483172"/>
            <a:ext cx="1002204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156.200</a:t>
            </a:r>
            <a:endParaRPr lang="en-US" sz="840" dirty="0"/>
          </a:p>
        </p:txBody>
      </p:sp>
      <p:sp>
        <p:nvSpPr>
          <p:cNvPr id="39" name="Text 36"/>
          <p:cNvSpPr/>
          <p:nvPr/>
        </p:nvSpPr>
        <p:spPr>
          <a:xfrm>
            <a:off x="2267489" y="4483172"/>
            <a:ext cx="1162851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116.691</a:t>
            </a:r>
            <a:endParaRPr lang="en-US" sz="840" dirty="0"/>
          </a:p>
        </p:txBody>
      </p:sp>
      <p:sp>
        <p:nvSpPr>
          <p:cNvPr id="40" name="Text 37"/>
          <p:cNvSpPr/>
          <p:nvPr/>
        </p:nvSpPr>
        <p:spPr>
          <a:xfrm>
            <a:off x="1294475" y="5032944"/>
            <a:ext cx="1002204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175.118</a:t>
            </a:r>
            <a:endParaRPr lang="en-US" sz="840" dirty="0"/>
          </a:p>
        </p:txBody>
      </p:sp>
      <p:sp>
        <p:nvSpPr>
          <p:cNvPr id="41" name="Text 38"/>
          <p:cNvSpPr/>
          <p:nvPr/>
        </p:nvSpPr>
        <p:spPr>
          <a:xfrm>
            <a:off x="2267489" y="5032944"/>
            <a:ext cx="1162851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109.130</a:t>
            </a:r>
            <a:endParaRPr lang="en-US" sz="840" dirty="0"/>
          </a:p>
        </p:txBody>
      </p:sp>
      <p:sp>
        <p:nvSpPr>
          <p:cNvPr id="42" name="Text 39"/>
          <p:cNvSpPr/>
          <p:nvPr/>
        </p:nvSpPr>
        <p:spPr>
          <a:xfrm>
            <a:off x="1294475" y="5582715"/>
            <a:ext cx="1002204" cy="4762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921.480</a:t>
            </a:r>
            <a:endParaRPr lang="en-US" sz="840" dirty="0"/>
          </a:p>
        </p:txBody>
      </p:sp>
      <p:sp>
        <p:nvSpPr>
          <p:cNvPr id="43" name="Text 40"/>
          <p:cNvSpPr/>
          <p:nvPr/>
        </p:nvSpPr>
        <p:spPr>
          <a:xfrm>
            <a:off x="2267489" y="5582715"/>
            <a:ext cx="1162851" cy="4762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548.368</a:t>
            </a:r>
            <a:endParaRPr lang="en-US" sz="840" dirty="0"/>
          </a:p>
        </p:txBody>
      </p:sp>
      <p:sp>
        <p:nvSpPr>
          <p:cNvPr id="44" name="Text 41"/>
          <p:cNvSpPr/>
          <p:nvPr/>
        </p:nvSpPr>
        <p:spPr>
          <a:xfrm>
            <a:off x="4424401" y="5582715"/>
            <a:ext cx="754642" cy="4762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373.112</a:t>
            </a:r>
            <a:endParaRPr lang="en-US" sz="840" dirty="0"/>
          </a:p>
        </p:txBody>
      </p:sp>
      <p:sp>
        <p:nvSpPr>
          <p:cNvPr id="45" name="Text 42"/>
          <p:cNvSpPr/>
          <p:nvPr/>
        </p:nvSpPr>
        <p:spPr>
          <a:xfrm>
            <a:off x="742931" y="1143000"/>
            <a:ext cx="2457531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921.480</a:t>
            </a:r>
            <a:endParaRPr lang="en-US" sz="2280" dirty="0"/>
          </a:p>
        </p:txBody>
      </p:sp>
      <p:sp>
        <p:nvSpPr>
          <p:cNvPr id="46" name="Text 43"/>
          <p:cNvSpPr/>
          <p:nvPr/>
        </p:nvSpPr>
        <p:spPr>
          <a:xfrm>
            <a:off x="6314917" y="1143000"/>
            <a:ext cx="2457531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373.112</a:t>
            </a:r>
            <a:endParaRPr lang="en-US" sz="2280" dirty="0"/>
          </a:p>
        </p:txBody>
      </p:sp>
      <p:sp>
        <p:nvSpPr>
          <p:cNvPr id="47" name="Text 44"/>
          <p:cNvSpPr/>
          <p:nvPr/>
        </p:nvSpPr>
        <p:spPr>
          <a:xfrm>
            <a:off x="7929364" y="2137470"/>
            <a:ext cx="1962101" cy="78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921.480</a:t>
            </a:r>
            <a:endParaRPr lang="en-US" sz="912" dirty="0"/>
          </a:p>
        </p:txBody>
      </p:sp>
      <p:sp>
        <p:nvSpPr>
          <p:cNvPr id="48" name="Text 45"/>
          <p:cNvSpPr/>
          <p:nvPr/>
        </p:nvSpPr>
        <p:spPr>
          <a:xfrm>
            <a:off x="7929364" y="2901702"/>
            <a:ext cx="1962101" cy="787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373.112</a:t>
            </a:r>
            <a:endParaRPr lang="en-US" sz="912" dirty="0"/>
          </a:p>
        </p:txBody>
      </p:sp>
      <p:sp>
        <p:nvSpPr>
          <p:cNvPr id="49" name="Text 46"/>
          <p:cNvSpPr/>
          <p:nvPr/>
        </p:nvSpPr>
        <p:spPr>
          <a:xfrm>
            <a:off x="7929364" y="3666083"/>
            <a:ext cx="1962101" cy="78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365.090</a:t>
            </a:r>
            <a:endParaRPr lang="en-US" sz="912" dirty="0"/>
          </a:p>
        </p:txBody>
      </p:sp>
      <p:sp>
        <p:nvSpPr>
          <p:cNvPr id="50" name="Text 47"/>
          <p:cNvSpPr/>
          <p:nvPr/>
        </p:nvSpPr>
        <p:spPr>
          <a:xfrm>
            <a:off x="7929364" y="4430316"/>
            <a:ext cx="1962101" cy="787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154.838</a:t>
            </a:r>
            <a:endParaRPr lang="en-US" sz="912" dirty="0"/>
          </a:p>
        </p:txBody>
      </p:sp>
      <p:sp>
        <p:nvSpPr>
          <p:cNvPr id="51" name="Text 48"/>
          <p:cNvSpPr/>
          <p:nvPr/>
        </p:nvSpPr>
        <p:spPr>
          <a:xfrm>
            <a:off x="5157063" y="2066055"/>
            <a:ext cx="78054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2267489" y="2294655"/>
            <a:ext cx="1162851" cy="539204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99.241</a:t>
            </a:r>
            <a:endParaRPr lang="en-US" sz="840" dirty="0"/>
          </a:p>
        </p:txBody>
      </p:sp>
      <p:sp>
        <p:nvSpPr>
          <p:cNvPr id="53" name="Text 50"/>
          <p:cNvSpPr/>
          <p:nvPr/>
        </p:nvSpPr>
        <p:spPr>
          <a:xfrm>
            <a:off x="1294475" y="2833859"/>
            <a:ext cx="1002204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96.493</a:t>
            </a:r>
            <a:endParaRPr lang="en-US" sz="840" dirty="0"/>
          </a:p>
        </p:txBody>
      </p:sp>
      <p:sp>
        <p:nvSpPr>
          <p:cNvPr id="54" name="Text 51"/>
          <p:cNvSpPr/>
          <p:nvPr/>
        </p:nvSpPr>
        <p:spPr>
          <a:xfrm>
            <a:off x="2267489" y="2833859"/>
            <a:ext cx="1162851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48.185</a:t>
            </a:r>
            <a:endParaRPr lang="en-US" sz="840" dirty="0"/>
          </a:p>
        </p:txBody>
      </p:sp>
      <p:sp>
        <p:nvSpPr>
          <p:cNvPr id="55" name="Text 52"/>
          <p:cNvSpPr/>
          <p:nvPr/>
        </p:nvSpPr>
        <p:spPr>
          <a:xfrm>
            <a:off x="4424401" y="2833859"/>
            <a:ext cx="75464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48.308</a:t>
            </a:r>
            <a:endParaRPr lang="en-US" sz="840" dirty="0"/>
          </a:p>
        </p:txBody>
      </p:sp>
      <p:sp>
        <p:nvSpPr>
          <p:cNvPr id="56" name="Text 53"/>
          <p:cNvSpPr/>
          <p:nvPr/>
        </p:nvSpPr>
        <p:spPr>
          <a:xfrm>
            <a:off x="2267489" y="3383630"/>
            <a:ext cx="1162851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60.998</a:t>
            </a:r>
            <a:endParaRPr lang="en-US" sz="840" dirty="0"/>
          </a:p>
        </p:txBody>
      </p:sp>
      <p:sp>
        <p:nvSpPr>
          <p:cNvPr id="57" name="Text 54"/>
          <p:cNvSpPr/>
          <p:nvPr/>
        </p:nvSpPr>
        <p:spPr>
          <a:xfrm>
            <a:off x="4424401" y="3383630"/>
            <a:ext cx="75464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75.046</a:t>
            </a:r>
            <a:endParaRPr lang="en-US" sz="840" dirty="0"/>
          </a:p>
        </p:txBody>
      </p:sp>
      <p:sp>
        <p:nvSpPr>
          <p:cNvPr id="58" name="Text 55"/>
          <p:cNvSpPr/>
          <p:nvPr/>
        </p:nvSpPr>
        <p:spPr>
          <a:xfrm>
            <a:off x="4424401" y="3933401"/>
            <a:ext cx="75464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40.725</a:t>
            </a:r>
            <a:endParaRPr lang="en-US" sz="840" dirty="0"/>
          </a:p>
        </p:txBody>
      </p:sp>
      <p:sp>
        <p:nvSpPr>
          <p:cNvPr id="59" name="Text 56"/>
          <p:cNvSpPr/>
          <p:nvPr/>
        </p:nvSpPr>
        <p:spPr>
          <a:xfrm>
            <a:off x="4424401" y="4483172"/>
            <a:ext cx="75464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39.509</a:t>
            </a:r>
            <a:endParaRPr lang="en-US" sz="840" dirty="0"/>
          </a:p>
        </p:txBody>
      </p:sp>
      <p:sp>
        <p:nvSpPr>
          <p:cNvPr id="60" name="Text 57"/>
          <p:cNvSpPr/>
          <p:nvPr/>
        </p:nvSpPr>
        <p:spPr>
          <a:xfrm>
            <a:off x="4424401" y="5032944"/>
            <a:ext cx="75464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65.988</a:t>
            </a:r>
            <a:endParaRPr lang="en-US" sz="840" dirty="0"/>
          </a:p>
        </p:txBody>
      </p:sp>
      <p:sp>
        <p:nvSpPr>
          <p:cNvPr id="61" name="Text 58"/>
          <p:cNvSpPr/>
          <p:nvPr/>
        </p:nvSpPr>
        <p:spPr>
          <a:xfrm>
            <a:off x="5157063" y="5582715"/>
            <a:ext cx="780548" cy="4762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840" dirty="0"/>
          </a:p>
        </p:txBody>
      </p:sp>
      <p:sp>
        <p:nvSpPr>
          <p:cNvPr id="62" name="Text 59"/>
          <p:cNvSpPr/>
          <p:nvPr/>
        </p:nvSpPr>
        <p:spPr>
          <a:xfrm>
            <a:off x="9100910" y="1143000"/>
            <a:ext cx="2457531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2280" dirty="0"/>
          </a:p>
        </p:txBody>
      </p:sp>
      <p:sp>
        <p:nvSpPr>
          <p:cNvPr id="63" name="Text 60"/>
          <p:cNvSpPr/>
          <p:nvPr/>
        </p:nvSpPr>
        <p:spPr>
          <a:xfrm>
            <a:off x="6276818" y="5464373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40" dirty="0"/>
          </a:p>
        </p:txBody>
      </p:sp>
      <p:sp>
        <p:nvSpPr>
          <p:cNvPr id="64" name="Text 61"/>
          <p:cNvSpPr/>
          <p:nvPr/>
        </p:nvSpPr>
        <p:spPr>
          <a:xfrm>
            <a:off x="7929364" y="5194697"/>
            <a:ext cx="1962101" cy="78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912" dirty="0"/>
          </a:p>
        </p:txBody>
      </p:sp>
      <p:sp>
        <p:nvSpPr>
          <p:cNvPr id="65" name="Text 62"/>
          <p:cNvSpPr/>
          <p:nvPr/>
        </p:nvSpPr>
        <p:spPr>
          <a:xfrm>
            <a:off x="4424401" y="2066055"/>
            <a:ext cx="75464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66" name="Text 63"/>
          <p:cNvSpPr/>
          <p:nvPr/>
        </p:nvSpPr>
        <p:spPr>
          <a:xfrm>
            <a:off x="5157063" y="2294655"/>
            <a:ext cx="780548" cy="539204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40" dirty="0"/>
          </a:p>
        </p:txBody>
      </p:sp>
      <p:sp>
        <p:nvSpPr>
          <p:cNvPr id="67" name="Text 64"/>
          <p:cNvSpPr/>
          <p:nvPr/>
        </p:nvSpPr>
        <p:spPr>
          <a:xfrm>
            <a:off x="5157063" y="2833859"/>
            <a:ext cx="78054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40" dirty="0"/>
          </a:p>
        </p:txBody>
      </p:sp>
      <p:sp>
        <p:nvSpPr>
          <p:cNvPr id="68" name="Text 65"/>
          <p:cNvSpPr/>
          <p:nvPr/>
        </p:nvSpPr>
        <p:spPr>
          <a:xfrm>
            <a:off x="5157063" y="3383630"/>
            <a:ext cx="78054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40" dirty="0"/>
          </a:p>
        </p:txBody>
      </p:sp>
      <p:sp>
        <p:nvSpPr>
          <p:cNvPr id="69" name="Text 66"/>
          <p:cNvSpPr/>
          <p:nvPr/>
        </p:nvSpPr>
        <p:spPr>
          <a:xfrm>
            <a:off x="5157063" y="3933401"/>
            <a:ext cx="78054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40" dirty="0"/>
          </a:p>
        </p:txBody>
      </p:sp>
      <p:sp>
        <p:nvSpPr>
          <p:cNvPr id="70" name="Text 67"/>
          <p:cNvSpPr/>
          <p:nvPr/>
        </p:nvSpPr>
        <p:spPr>
          <a:xfrm>
            <a:off x="5157063" y="4483172"/>
            <a:ext cx="78054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40" dirty="0"/>
          </a:p>
        </p:txBody>
      </p:sp>
      <p:sp>
        <p:nvSpPr>
          <p:cNvPr id="71" name="Text 68"/>
          <p:cNvSpPr/>
          <p:nvPr/>
        </p:nvSpPr>
        <p:spPr>
          <a:xfrm>
            <a:off x="5157063" y="5032944"/>
            <a:ext cx="78054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40" dirty="0"/>
          </a:p>
        </p:txBody>
      </p:sp>
      <p:sp>
        <p:nvSpPr>
          <p:cNvPr id="72" name="Text 69"/>
          <p:cNvSpPr/>
          <p:nvPr/>
        </p:nvSpPr>
        <p:spPr>
          <a:xfrm>
            <a:off x="704832" y="5582715"/>
            <a:ext cx="607332" cy="4762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40" dirty="0"/>
          </a:p>
        </p:txBody>
      </p:sp>
      <p:sp>
        <p:nvSpPr>
          <p:cNvPr id="73" name="Text 70"/>
          <p:cNvSpPr/>
          <p:nvPr/>
        </p:nvSpPr>
        <p:spPr>
          <a:xfrm>
            <a:off x="3396471" y="2294655"/>
            <a:ext cx="1058768" cy="539204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49 %</a:t>
            </a:r>
            <a:endParaRPr lang="en-US" sz="840" dirty="0"/>
          </a:p>
        </p:txBody>
      </p:sp>
      <p:sp>
        <p:nvSpPr>
          <p:cNvPr id="74" name="Text 71"/>
          <p:cNvSpPr/>
          <p:nvPr/>
        </p:nvSpPr>
        <p:spPr>
          <a:xfrm>
            <a:off x="3396471" y="2833859"/>
            <a:ext cx="105876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50 %</a:t>
            </a:r>
            <a:endParaRPr lang="en-US" sz="840" dirty="0"/>
          </a:p>
        </p:txBody>
      </p:sp>
      <p:sp>
        <p:nvSpPr>
          <p:cNvPr id="75" name="Text 72"/>
          <p:cNvSpPr/>
          <p:nvPr/>
        </p:nvSpPr>
        <p:spPr>
          <a:xfrm>
            <a:off x="3396471" y="3383630"/>
            <a:ext cx="105876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45 %</a:t>
            </a:r>
            <a:endParaRPr lang="en-US" sz="840" dirty="0"/>
          </a:p>
        </p:txBody>
      </p:sp>
      <p:sp>
        <p:nvSpPr>
          <p:cNvPr id="76" name="Text 73"/>
          <p:cNvSpPr/>
          <p:nvPr/>
        </p:nvSpPr>
        <p:spPr>
          <a:xfrm>
            <a:off x="3396471" y="3933401"/>
            <a:ext cx="105876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74 %</a:t>
            </a:r>
            <a:endParaRPr lang="en-US" sz="840" dirty="0"/>
          </a:p>
        </p:txBody>
      </p:sp>
      <p:sp>
        <p:nvSpPr>
          <p:cNvPr id="77" name="Text 74"/>
          <p:cNvSpPr/>
          <p:nvPr/>
        </p:nvSpPr>
        <p:spPr>
          <a:xfrm>
            <a:off x="3396471" y="4483172"/>
            <a:ext cx="105876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75 %</a:t>
            </a:r>
            <a:endParaRPr lang="en-US" sz="840" dirty="0"/>
          </a:p>
        </p:txBody>
      </p:sp>
      <p:sp>
        <p:nvSpPr>
          <p:cNvPr id="78" name="Text 75"/>
          <p:cNvSpPr/>
          <p:nvPr/>
        </p:nvSpPr>
        <p:spPr>
          <a:xfrm>
            <a:off x="3396471" y="5032944"/>
            <a:ext cx="105876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62 %</a:t>
            </a:r>
            <a:endParaRPr lang="en-US" sz="840" dirty="0"/>
          </a:p>
        </p:txBody>
      </p:sp>
      <p:sp>
        <p:nvSpPr>
          <p:cNvPr id="79" name="Text 76"/>
          <p:cNvSpPr/>
          <p:nvPr/>
        </p:nvSpPr>
        <p:spPr>
          <a:xfrm>
            <a:off x="3396471" y="5582715"/>
            <a:ext cx="1058768" cy="4762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60 %</a:t>
            </a:r>
            <a:endParaRPr lang="en-US" sz="840" dirty="0"/>
          </a:p>
        </p:txBody>
      </p:sp>
      <p:sp>
        <p:nvSpPr>
          <p:cNvPr id="80" name="Text 77"/>
          <p:cNvSpPr/>
          <p:nvPr/>
        </p:nvSpPr>
        <p:spPr>
          <a:xfrm>
            <a:off x="3528924" y="1143000"/>
            <a:ext cx="2457531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60 %</a:t>
            </a:r>
            <a:endParaRPr lang="en-US" sz="2280" dirty="0"/>
          </a:p>
        </p:txBody>
      </p:sp>
      <p:sp>
        <p:nvSpPr>
          <p:cNvPr id="81" name="Text 78"/>
          <p:cNvSpPr/>
          <p:nvPr/>
        </p:nvSpPr>
        <p:spPr>
          <a:xfrm>
            <a:off x="704832" y="2066055"/>
            <a:ext cx="60733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704832" y="2294655"/>
            <a:ext cx="607332" cy="539204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40" dirty="0"/>
          </a:p>
        </p:txBody>
      </p:sp>
      <p:sp>
        <p:nvSpPr>
          <p:cNvPr id="83" name="Text 80"/>
          <p:cNvSpPr/>
          <p:nvPr/>
        </p:nvSpPr>
        <p:spPr>
          <a:xfrm>
            <a:off x="704832" y="2833859"/>
            <a:ext cx="60733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40" dirty="0"/>
          </a:p>
        </p:txBody>
      </p:sp>
      <p:sp>
        <p:nvSpPr>
          <p:cNvPr id="84" name="Text 81"/>
          <p:cNvSpPr/>
          <p:nvPr/>
        </p:nvSpPr>
        <p:spPr>
          <a:xfrm>
            <a:off x="704832" y="3383630"/>
            <a:ext cx="60733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40" dirty="0"/>
          </a:p>
        </p:txBody>
      </p:sp>
      <p:sp>
        <p:nvSpPr>
          <p:cNvPr id="85" name="Text 82"/>
          <p:cNvSpPr/>
          <p:nvPr/>
        </p:nvSpPr>
        <p:spPr>
          <a:xfrm>
            <a:off x="704832" y="3933401"/>
            <a:ext cx="60733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40" dirty="0"/>
          </a:p>
        </p:txBody>
      </p:sp>
      <p:sp>
        <p:nvSpPr>
          <p:cNvPr id="86" name="Text 83"/>
          <p:cNvSpPr/>
          <p:nvPr/>
        </p:nvSpPr>
        <p:spPr>
          <a:xfrm>
            <a:off x="704832" y="4483172"/>
            <a:ext cx="60733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40" dirty="0"/>
          </a:p>
        </p:txBody>
      </p:sp>
      <p:sp>
        <p:nvSpPr>
          <p:cNvPr id="87" name="Text 84"/>
          <p:cNvSpPr/>
          <p:nvPr/>
        </p:nvSpPr>
        <p:spPr>
          <a:xfrm>
            <a:off x="704832" y="5032944"/>
            <a:ext cx="60733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4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486" y="6263729"/>
            <a:ext cx="11380185" cy="474748"/>
          </a:xfrm>
          <a:prstGeom prst="rect">
            <a:avLst/>
          </a:prstGeom>
          <a:noFill/>
          <a:ln/>
        </p:spPr>
        <p:txBody>
          <a:bodyPr wrap="square" lIns="95250" tIns="171450" rIns="171450" bIns="9525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la gestión no llega al 100 %? El semestre cerró en 97,9 %: la base de junio no llegó a tiempo — ingresó sobre el cierre del mes y ~8.000 registros quedaron sin tiempo de marcación.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704832" y="3658493"/>
            <a:ext cx="5356536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Campañas puntuales solo de enero (no recurrentes). Base apta = registros que quedaron tras la depuración; el total (373.112) es la cifra oficial del semestre e incluye Microseguro.</a:t>
            </a:r>
            <a:endParaRPr lang="en-US" sz="600" dirty="0"/>
          </a:p>
        </p:txBody>
      </p:sp>
      <p:sp>
        <p:nvSpPr>
          <p:cNvPr id="5" name="Text 2"/>
          <p:cNvSpPr/>
          <p:nvPr/>
        </p:nvSpPr>
        <p:spPr>
          <a:xfrm>
            <a:off x="6286343" y="5882729"/>
            <a:ext cx="5356536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548.368 registros descartados (60 % de la base recibida). El detalle mensual del rechazo está en la slide anterior (Consolidado de las Bases).</a:t>
            </a:r>
            <a:endParaRPr lang="en-US" sz="648" dirty="0"/>
          </a:p>
        </p:txBody>
      </p:sp>
      <p:sp>
        <p:nvSpPr>
          <p:cNvPr id="6" name="Text 3"/>
          <p:cNvSpPr/>
          <p:nvPr/>
        </p:nvSpPr>
        <p:spPr>
          <a:xfrm>
            <a:off x="6286343" y="1262955"/>
            <a:ext cx="53761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más alta del portafolio · 2,9× el promedio del canal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723882" y="1262955"/>
            <a:ext cx="53761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50 % de las ventas del semestre · 19,6 % de conversión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704832" y="5987504"/>
            <a:ext cx="5356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mes: aptos → gestión → contacto → ventas</a:t>
            </a:r>
            <a:endParaRPr lang="en-US" sz="576" dirty="0"/>
          </a:p>
        </p:txBody>
      </p:sp>
      <p:sp>
        <p:nvSpPr>
          <p:cNvPr id="9" name="Text 6"/>
          <p:cNvSpPr/>
          <p:nvPr/>
        </p:nvSpPr>
        <p:spPr>
          <a:xfrm>
            <a:off x="6286343" y="1567755"/>
            <a:ext cx="5356536" cy="186404"/>
          </a:xfrm>
          <a:prstGeom prst="rect">
            <a:avLst/>
          </a:prstGeom>
          <a:noFill/>
          <a:ln/>
        </p:spPr>
        <p:txBody>
          <a:bodyPr wrap="square" lIns="0" tIns="0" rIns="0" bIns="28575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 de rechazo (semestre)</a:t>
            </a:r>
            <a:endParaRPr lang="en-US" sz="840" dirty="0"/>
          </a:p>
        </p:txBody>
      </p:sp>
      <p:sp>
        <p:nvSpPr>
          <p:cNvPr id="10" name="Text 7"/>
          <p:cNvSpPr/>
          <p:nvPr/>
        </p:nvSpPr>
        <p:spPr>
          <a:xfrm>
            <a:off x="704832" y="1567755"/>
            <a:ext cx="5356536" cy="206026"/>
          </a:xfrm>
          <a:prstGeom prst="rect">
            <a:avLst/>
          </a:prstGeom>
          <a:noFill/>
          <a:ln/>
        </p:spPr>
        <p:txBody>
          <a:bodyPr wrap="square" lIns="0" tIns="0" rIns="0" bIns="28575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Rendimiento por campaña (ene–jun)</a:t>
            </a:r>
            <a:endParaRPr lang="en-US" sz="840" dirty="0"/>
          </a:p>
        </p:txBody>
      </p:sp>
      <p:sp>
        <p:nvSpPr>
          <p:cNvPr id="11" name="Text 8"/>
          <p:cNvSpPr/>
          <p:nvPr/>
        </p:nvSpPr>
        <p:spPr>
          <a:xfrm>
            <a:off x="6286343" y="2198787"/>
            <a:ext cx="14715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672" dirty="0"/>
          </a:p>
        </p:txBody>
      </p:sp>
      <p:sp>
        <p:nvSpPr>
          <p:cNvPr id="12" name="Text 9"/>
          <p:cNvSpPr/>
          <p:nvPr/>
        </p:nvSpPr>
        <p:spPr>
          <a:xfrm>
            <a:off x="704832" y="3925193"/>
            <a:ext cx="5356536" cy="196215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 de aptos por mes</a:t>
            </a:r>
            <a:endParaRPr lang="en-US" sz="840" dirty="0"/>
          </a:p>
        </p:txBody>
      </p:sp>
      <p:sp>
        <p:nvSpPr>
          <p:cNvPr id="13" name="Text 10"/>
          <p:cNvSpPr/>
          <p:nvPr/>
        </p:nvSpPr>
        <p:spPr>
          <a:xfrm>
            <a:off x="6286343" y="2725043"/>
            <a:ext cx="14715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Producto ya activo (CP / MS)</a:t>
            </a:r>
            <a:endParaRPr lang="en-US" sz="672" dirty="0"/>
          </a:p>
        </p:txBody>
      </p:sp>
      <p:sp>
        <p:nvSpPr>
          <p:cNvPr id="14" name="Text 11"/>
          <p:cNvSpPr/>
          <p:nvPr/>
        </p:nvSpPr>
        <p:spPr>
          <a:xfrm>
            <a:off x="6286343" y="3251299"/>
            <a:ext cx="14715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Dirección repetida/errónea</a:t>
            </a:r>
            <a:endParaRPr lang="en-US" sz="672" dirty="0"/>
          </a:p>
        </p:txBody>
      </p:sp>
      <p:sp>
        <p:nvSpPr>
          <p:cNvPr id="15" name="Text 12"/>
          <p:cNvSpPr/>
          <p:nvPr/>
        </p:nvSpPr>
        <p:spPr>
          <a:xfrm>
            <a:off x="6286343" y="3777555"/>
            <a:ext cx="14715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Contrato / cédula repetida</a:t>
            </a:r>
            <a:endParaRPr lang="en-US" sz="672" dirty="0"/>
          </a:p>
        </p:txBody>
      </p:sp>
      <p:sp>
        <p:nvSpPr>
          <p:cNvPr id="16" name="Text 13"/>
          <p:cNvSpPr/>
          <p:nvPr/>
        </p:nvSpPr>
        <p:spPr>
          <a:xfrm>
            <a:off x="704832" y="3253703"/>
            <a:ext cx="156339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Volunt. Cancelaciones*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571486" y="209550"/>
            <a:ext cx="2188356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Desempeño por Campaña</a:t>
            </a:r>
            <a:endParaRPr lang="en-US" sz="1260" dirty="0"/>
          </a:p>
        </p:txBody>
      </p:sp>
      <p:sp>
        <p:nvSpPr>
          <p:cNvPr id="18" name="Text 15"/>
          <p:cNvSpPr/>
          <p:nvPr/>
        </p:nvSpPr>
        <p:spPr>
          <a:xfrm>
            <a:off x="704832" y="3006053"/>
            <a:ext cx="156339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CP Clientes Satisf.*</a:t>
            </a:r>
            <a:endParaRPr lang="en-US" sz="720" dirty="0"/>
          </a:p>
        </p:txBody>
      </p:sp>
      <p:sp>
        <p:nvSpPr>
          <p:cNvPr id="19" name="Text 16"/>
          <p:cNvSpPr/>
          <p:nvPr/>
        </p:nvSpPr>
        <p:spPr>
          <a:xfrm>
            <a:off x="704832" y="2758403"/>
            <a:ext cx="156339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Masiva Voluntarios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6286343" y="4830217"/>
            <a:ext cx="14715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errado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4640494" y="1791616"/>
            <a:ext cx="130280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Conv./contacto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704832" y="2020216"/>
            <a:ext cx="156339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Bienvenidas CP</a:t>
            </a:r>
            <a:endParaRPr lang="en-US" sz="720" dirty="0"/>
          </a:p>
        </p:txBody>
      </p:sp>
      <p:sp>
        <p:nvSpPr>
          <p:cNvPr id="23" name="Text 20"/>
          <p:cNvSpPr/>
          <p:nvPr/>
        </p:nvSpPr>
        <p:spPr>
          <a:xfrm>
            <a:off x="723882" y="952500"/>
            <a:ext cx="53761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Bienvenidas CP</a:t>
            </a:r>
            <a:endParaRPr lang="en-US" sz="720" dirty="0"/>
          </a:p>
        </p:txBody>
      </p:sp>
      <p:sp>
        <p:nvSpPr>
          <p:cNvPr id="24" name="Text 21"/>
          <p:cNvSpPr/>
          <p:nvPr/>
        </p:nvSpPr>
        <p:spPr>
          <a:xfrm>
            <a:off x="723882" y="1095375"/>
            <a:ext cx="5376157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6.912 ventas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704832" y="2263103"/>
            <a:ext cx="156339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Autogestión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6286343" y="952500"/>
            <a:ext cx="53761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Autogestión</a:t>
            </a:r>
            <a:endParaRPr lang="en-US" sz="720" dirty="0"/>
          </a:p>
        </p:txBody>
      </p:sp>
      <p:sp>
        <p:nvSpPr>
          <p:cNvPr id="27" name="Text 24"/>
          <p:cNvSpPr/>
          <p:nvPr/>
        </p:nvSpPr>
        <p:spPr>
          <a:xfrm>
            <a:off x="6286343" y="4303961"/>
            <a:ext cx="14715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Supera edad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3731623" y="1791616"/>
            <a:ext cx="93613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2222692" y="1791616"/>
            <a:ext cx="84906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apta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704832" y="2510753"/>
            <a:ext cx="156339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CP Stock</a:t>
            </a:r>
            <a:endParaRPr lang="en-US" sz="720" dirty="0"/>
          </a:p>
        </p:txBody>
      </p:sp>
      <p:sp>
        <p:nvSpPr>
          <p:cNvPr id="31" name="Text 28"/>
          <p:cNvSpPr/>
          <p:nvPr/>
        </p:nvSpPr>
        <p:spPr>
          <a:xfrm>
            <a:off x="3075159" y="4130003"/>
            <a:ext cx="85412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704832" y="1791616"/>
            <a:ext cx="156339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2222692" y="2510753"/>
            <a:ext cx="84906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158.941</a:t>
            </a:r>
            <a:endParaRPr lang="en-US" sz="720" dirty="0"/>
          </a:p>
        </p:txBody>
      </p:sp>
      <p:sp>
        <p:nvSpPr>
          <p:cNvPr id="34" name="Text 31"/>
          <p:cNvSpPr/>
          <p:nvPr/>
        </p:nvSpPr>
        <p:spPr>
          <a:xfrm>
            <a:off x="2222692" y="2758403"/>
            <a:ext cx="84906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119.828</a:t>
            </a:r>
            <a:endParaRPr lang="en-US" sz="720" dirty="0"/>
          </a:p>
        </p:txBody>
      </p:sp>
      <p:sp>
        <p:nvSpPr>
          <p:cNvPr id="35" name="Text 32"/>
          <p:cNvSpPr/>
          <p:nvPr/>
        </p:nvSpPr>
        <p:spPr>
          <a:xfrm>
            <a:off x="2222692" y="3501353"/>
            <a:ext cx="849069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373.112</a:t>
            </a:r>
            <a:endParaRPr lang="en-US" sz="720" dirty="0"/>
          </a:p>
        </p:txBody>
      </p:sp>
      <p:sp>
        <p:nvSpPr>
          <p:cNvPr id="36" name="Text 33"/>
          <p:cNvSpPr/>
          <p:nvPr/>
        </p:nvSpPr>
        <p:spPr>
          <a:xfrm>
            <a:off x="1686329" y="4130003"/>
            <a:ext cx="731956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Gestión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2396966" y="4130003"/>
            <a:ext cx="698539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Gest.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3904408" y="4130003"/>
            <a:ext cx="673859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Ctto.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5200520" y="4130003"/>
            <a:ext cx="72597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Conv.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1125261" y="4301453"/>
            <a:ext cx="577900" cy="232172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103.536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686329" y="4301453"/>
            <a:ext cx="731956" cy="232172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103.531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1125261" y="5721274"/>
            <a:ext cx="577900" cy="23291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373.112</a:t>
            </a:r>
            <a:endParaRPr lang="en-US" sz="624" dirty="0"/>
          </a:p>
        </p:txBody>
      </p:sp>
      <p:sp>
        <p:nvSpPr>
          <p:cNvPr id="43" name="Text 40"/>
          <p:cNvSpPr/>
          <p:nvPr/>
        </p:nvSpPr>
        <p:spPr>
          <a:xfrm>
            <a:off x="1686329" y="5721274"/>
            <a:ext cx="731956" cy="23291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365.090</a:t>
            </a:r>
            <a:endParaRPr lang="en-US" sz="624" dirty="0"/>
          </a:p>
        </p:txBody>
      </p:sp>
      <p:sp>
        <p:nvSpPr>
          <p:cNvPr id="44" name="Text 41"/>
          <p:cNvSpPr/>
          <p:nvPr/>
        </p:nvSpPr>
        <p:spPr>
          <a:xfrm>
            <a:off x="3075159" y="5721274"/>
            <a:ext cx="854127" cy="23291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154.838</a:t>
            </a:r>
            <a:endParaRPr lang="en-US" sz="624" dirty="0"/>
          </a:p>
        </p:txBody>
      </p:sp>
      <p:sp>
        <p:nvSpPr>
          <p:cNvPr id="45" name="Text 42"/>
          <p:cNvSpPr/>
          <p:nvPr/>
        </p:nvSpPr>
        <p:spPr>
          <a:xfrm>
            <a:off x="3047031" y="1791616"/>
            <a:ext cx="705130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2222692" y="2020216"/>
            <a:ext cx="84906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44.428</a:t>
            </a:r>
            <a:endParaRPr lang="en-US" sz="720" dirty="0"/>
          </a:p>
        </p:txBody>
      </p:sp>
      <p:sp>
        <p:nvSpPr>
          <p:cNvPr id="47" name="Text 44"/>
          <p:cNvSpPr/>
          <p:nvPr/>
        </p:nvSpPr>
        <p:spPr>
          <a:xfrm>
            <a:off x="4640494" y="2020216"/>
            <a:ext cx="1302804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19,6 %</a:t>
            </a:r>
            <a:endParaRPr lang="en-US" sz="720" dirty="0"/>
          </a:p>
        </p:txBody>
      </p:sp>
      <p:sp>
        <p:nvSpPr>
          <p:cNvPr id="48" name="Text 45"/>
          <p:cNvSpPr/>
          <p:nvPr/>
        </p:nvSpPr>
        <p:spPr>
          <a:xfrm>
            <a:off x="4640494" y="2263103"/>
            <a:ext cx="1302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2222692" y="3006053"/>
            <a:ext cx="84906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3047031" y="3501353"/>
            <a:ext cx="705130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10.967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4558640" y="4130003"/>
            <a:ext cx="661136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3075159" y="4301453"/>
            <a:ext cx="854127" cy="232172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22.402</a:t>
            </a:r>
            <a:endParaRPr lang="en-US" sz="660" dirty="0"/>
          </a:p>
        </p:txBody>
      </p:sp>
      <p:sp>
        <p:nvSpPr>
          <p:cNvPr id="53" name="Text 50"/>
          <p:cNvSpPr/>
          <p:nvPr/>
        </p:nvSpPr>
        <p:spPr>
          <a:xfrm>
            <a:off x="1125261" y="4533625"/>
            <a:ext cx="577900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48.308</a:t>
            </a:r>
            <a:endParaRPr lang="en-US" sz="660" dirty="0"/>
          </a:p>
        </p:txBody>
      </p:sp>
      <p:sp>
        <p:nvSpPr>
          <p:cNvPr id="54" name="Text 51"/>
          <p:cNvSpPr/>
          <p:nvPr/>
        </p:nvSpPr>
        <p:spPr>
          <a:xfrm>
            <a:off x="1686329" y="4533625"/>
            <a:ext cx="731956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47.997</a:t>
            </a:r>
            <a:endParaRPr lang="en-US" sz="660" dirty="0"/>
          </a:p>
        </p:txBody>
      </p:sp>
      <p:sp>
        <p:nvSpPr>
          <p:cNvPr id="55" name="Text 52"/>
          <p:cNvSpPr/>
          <p:nvPr/>
        </p:nvSpPr>
        <p:spPr>
          <a:xfrm>
            <a:off x="3075159" y="4533625"/>
            <a:ext cx="854127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21.171</a:t>
            </a:r>
            <a:endParaRPr lang="en-US" sz="660" dirty="0"/>
          </a:p>
        </p:txBody>
      </p:sp>
      <p:sp>
        <p:nvSpPr>
          <p:cNvPr id="56" name="Text 53"/>
          <p:cNvSpPr/>
          <p:nvPr/>
        </p:nvSpPr>
        <p:spPr>
          <a:xfrm>
            <a:off x="1125261" y="4771155"/>
            <a:ext cx="577900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75.046</a:t>
            </a:r>
            <a:endParaRPr lang="en-US" sz="660" dirty="0"/>
          </a:p>
        </p:txBody>
      </p:sp>
      <p:sp>
        <p:nvSpPr>
          <p:cNvPr id="57" name="Text 54"/>
          <p:cNvSpPr/>
          <p:nvPr/>
        </p:nvSpPr>
        <p:spPr>
          <a:xfrm>
            <a:off x="1686329" y="4771155"/>
            <a:ext cx="731956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71.926</a:t>
            </a:r>
            <a:endParaRPr lang="en-US" sz="660" dirty="0"/>
          </a:p>
        </p:txBody>
      </p:sp>
      <p:sp>
        <p:nvSpPr>
          <p:cNvPr id="58" name="Text 55"/>
          <p:cNvSpPr/>
          <p:nvPr/>
        </p:nvSpPr>
        <p:spPr>
          <a:xfrm>
            <a:off x="3075159" y="4771155"/>
            <a:ext cx="854127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32.546</a:t>
            </a:r>
            <a:endParaRPr lang="en-US" sz="660" dirty="0"/>
          </a:p>
        </p:txBody>
      </p:sp>
      <p:sp>
        <p:nvSpPr>
          <p:cNvPr id="59" name="Text 56"/>
          <p:cNvSpPr/>
          <p:nvPr/>
        </p:nvSpPr>
        <p:spPr>
          <a:xfrm>
            <a:off x="1125261" y="5008685"/>
            <a:ext cx="577900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40.725</a:t>
            </a:r>
            <a:endParaRPr lang="en-US" sz="660" dirty="0"/>
          </a:p>
        </p:txBody>
      </p:sp>
      <p:sp>
        <p:nvSpPr>
          <p:cNvPr id="60" name="Text 57"/>
          <p:cNvSpPr/>
          <p:nvPr/>
        </p:nvSpPr>
        <p:spPr>
          <a:xfrm>
            <a:off x="1686329" y="5008685"/>
            <a:ext cx="731956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40.682</a:t>
            </a:r>
            <a:endParaRPr lang="en-US" sz="660" dirty="0"/>
          </a:p>
        </p:txBody>
      </p:sp>
      <p:sp>
        <p:nvSpPr>
          <p:cNvPr id="61" name="Text 58"/>
          <p:cNvSpPr/>
          <p:nvPr/>
        </p:nvSpPr>
        <p:spPr>
          <a:xfrm>
            <a:off x="3075159" y="5008685"/>
            <a:ext cx="854127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24.520</a:t>
            </a:r>
            <a:endParaRPr lang="en-US" sz="660" dirty="0"/>
          </a:p>
        </p:txBody>
      </p:sp>
      <p:sp>
        <p:nvSpPr>
          <p:cNvPr id="62" name="Text 59"/>
          <p:cNvSpPr/>
          <p:nvPr/>
        </p:nvSpPr>
        <p:spPr>
          <a:xfrm>
            <a:off x="1125261" y="5246214"/>
            <a:ext cx="577900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39.509</a:t>
            </a:r>
            <a:endParaRPr lang="en-US" sz="660" dirty="0"/>
          </a:p>
        </p:txBody>
      </p:sp>
      <p:sp>
        <p:nvSpPr>
          <p:cNvPr id="63" name="Text 60"/>
          <p:cNvSpPr/>
          <p:nvPr/>
        </p:nvSpPr>
        <p:spPr>
          <a:xfrm>
            <a:off x="1686329" y="5246214"/>
            <a:ext cx="731956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39.504</a:t>
            </a:r>
            <a:endParaRPr lang="en-US" sz="660" dirty="0"/>
          </a:p>
        </p:txBody>
      </p:sp>
      <p:sp>
        <p:nvSpPr>
          <p:cNvPr id="64" name="Text 61"/>
          <p:cNvSpPr/>
          <p:nvPr/>
        </p:nvSpPr>
        <p:spPr>
          <a:xfrm>
            <a:off x="3075159" y="5246214"/>
            <a:ext cx="854127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25.647</a:t>
            </a:r>
            <a:endParaRPr lang="en-US" sz="660" dirty="0"/>
          </a:p>
        </p:txBody>
      </p:sp>
      <p:sp>
        <p:nvSpPr>
          <p:cNvPr id="65" name="Text 62"/>
          <p:cNvSpPr/>
          <p:nvPr/>
        </p:nvSpPr>
        <p:spPr>
          <a:xfrm>
            <a:off x="1125261" y="5483744"/>
            <a:ext cx="577900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65.988</a:t>
            </a:r>
            <a:endParaRPr lang="en-US" sz="660" dirty="0"/>
          </a:p>
        </p:txBody>
      </p:sp>
      <p:sp>
        <p:nvSpPr>
          <p:cNvPr id="66" name="Text 63"/>
          <p:cNvSpPr/>
          <p:nvPr/>
        </p:nvSpPr>
        <p:spPr>
          <a:xfrm>
            <a:off x="1686329" y="5483744"/>
            <a:ext cx="731956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61.450</a:t>
            </a:r>
            <a:endParaRPr lang="en-US" sz="660" dirty="0"/>
          </a:p>
        </p:txBody>
      </p:sp>
      <p:sp>
        <p:nvSpPr>
          <p:cNvPr id="67" name="Text 64"/>
          <p:cNvSpPr/>
          <p:nvPr/>
        </p:nvSpPr>
        <p:spPr>
          <a:xfrm>
            <a:off x="3075159" y="5483744"/>
            <a:ext cx="854127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28.552</a:t>
            </a:r>
            <a:endParaRPr lang="en-US" sz="660" dirty="0"/>
          </a:p>
        </p:txBody>
      </p:sp>
      <p:sp>
        <p:nvSpPr>
          <p:cNvPr id="68" name="Text 65"/>
          <p:cNvSpPr/>
          <p:nvPr/>
        </p:nvSpPr>
        <p:spPr>
          <a:xfrm>
            <a:off x="4558640" y="5721274"/>
            <a:ext cx="661136" cy="23291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624" dirty="0"/>
          </a:p>
        </p:txBody>
      </p:sp>
      <p:sp>
        <p:nvSpPr>
          <p:cNvPr id="69" name="Text 66"/>
          <p:cNvSpPr/>
          <p:nvPr/>
        </p:nvSpPr>
        <p:spPr>
          <a:xfrm>
            <a:off x="6286343" y="1095375"/>
            <a:ext cx="5376157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</a:t>
            </a:r>
            <a:endParaRPr lang="en-US" sz="1020" dirty="0"/>
          </a:p>
        </p:txBody>
      </p:sp>
      <p:sp>
        <p:nvSpPr>
          <p:cNvPr id="70" name="Text 67"/>
          <p:cNvSpPr/>
          <p:nvPr/>
        </p:nvSpPr>
        <p:spPr>
          <a:xfrm>
            <a:off x="3047031" y="2020216"/>
            <a:ext cx="70513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6.912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2222692" y="2263103"/>
            <a:ext cx="84906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4.225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3047031" y="2510753"/>
            <a:ext cx="70513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2.845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4640494" y="2510753"/>
            <a:ext cx="1302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3,6 %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640494" y="2758403"/>
            <a:ext cx="1302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640494" y="3006053"/>
            <a:ext cx="1302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720" dirty="0"/>
          </a:p>
        </p:txBody>
      </p:sp>
      <p:sp>
        <p:nvSpPr>
          <p:cNvPr id="76" name="Text 73"/>
          <p:cNvSpPr/>
          <p:nvPr/>
        </p:nvSpPr>
        <p:spPr>
          <a:xfrm>
            <a:off x="2222692" y="3253703"/>
            <a:ext cx="84906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720" dirty="0"/>
          </a:p>
        </p:txBody>
      </p:sp>
      <p:sp>
        <p:nvSpPr>
          <p:cNvPr id="77" name="Text 74"/>
          <p:cNvSpPr/>
          <p:nvPr/>
        </p:nvSpPr>
        <p:spPr>
          <a:xfrm>
            <a:off x="4640494" y="3253703"/>
            <a:ext cx="1302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720" dirty="0"/>
          </a:p>
        </p:txBody>
      </p:sp>
      <p:sp>
        <p:nvSpPr>
          <p:cNvPr id="78" name="Text 75"/>
          <p:cNvSpPr/>
          <p:nvPr/>
        </p:nvSpPr>
        <p:spPr>
          <a:xfrm>
            <a:off x="704832" y="3501353"/>
            <a:ext cx="1563396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4640494" y="3501353"/>
            <a:ext cx="1302804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7,4 %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1125261" y="4130003"/>
            <a:ext cx="57790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4558640" y="4301453"/>
            <a:ext cx="661136" cy="232172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660" dirty="0"/>
          </a:p>
        </p:txBody>
      </p:sp>
      <p:sp>
        <p:nvSpPr>
          <p:cNvPr id="82" name="Text 79"/>
          <p:cNvSpPr/>
          <p:nvPr/>
        </p:nvSpPr>
        <p:spPr>
          <a:xfrm>
            <a:off x="4558640" y="4533625"/>
            <a:ext cx="661136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660" dirty="0"/>
          </a:p>
        </p:txBody>
      </p:sp>
      <p:sp>
        <p:nvSpPr>
          <p:cNvPr id="83" name="Text 80"/>
          <p:cNvSpPr/>
          <p:nvPr/>
        </p:nvSpPr>
        <p:spPr>
          <a:xfrm>
            <a:off x="4558640" y="4771155"/>
            <a:ext cx="661136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660" dirty="0"/>
          </a:p>
        </p:txBody>
      </p:sp>
      <p:sp>
        <p:nvSpPr>
          <p:cNvPr id="84" name="Text 81"/>
          <p:cNvSpPr/>
          <p:nvPr/>
        </p:nvSpPr>
        <p:spPr>
          <a:xfrm>
            <a:off x="4558640" y="5008685"/>
            <a:ext cx="661136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660" dirty="0"/>
          </a:p>
        </p:txBody>
      </p:sp>
      <p:sp>
        <p:nvSpPr>
          <p:cNvPr id="85" name="Text 82"/>
          <p:cNvSpPr/>
          <p:nvPr/>
        </p:nvSpPr>
        <p:spPr>
          <a:xfrm>
            <a:off x="4558640" y="5246214"/>
            <a:ext cx="661136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660" dirty="0"/>
          </a:p>
        </p:txBody>
      </p:sp>
      <p:sp>
        <p:nvSpPr>
          <p:cNvPr id="86" name="Text 83"/>
          <p:cNvSpPr/>
          <p:nvPr/>
        </p:nvSpPr>
        <p:spPr>
          <a:xfrm>
            <a:off x="4558640" y="5483744"/>
            <a:ext cx="661136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660" dirty="0"/>
          </a:p>
        </p:txBody>
      </p:sp>
      <p:sp>
        <p:nvSpPr>
          <p:cNvPr id="87" name="Text 84"/>
          <p:cNvSpPr/>
          <p:nvPr/>
        </p:nvSpPr>
        <p:spPr>
          <a:xfrm>
            <a:off x="704832" y="5721274"/>
            <a:ext cx="433042" cy="23291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24" dirty="0"/>
          </a:p>
        </p:txBody>
      </p:sp>
      <p:sp>
        <p:nvSpPr>
          <p:cNvPr id="88" name="Text 85"/>
          <p:cNvSpPr/>
          <p:nvPr/>
        </p:nvSpPr>
        <p:spPr>
          <a:xfrm>
            <a:off x="6286343" y="5356473"/>
            <a:ext cx="14715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</a:t>
            </a:r>
            <a:endParaRPr lang="en-US" sz="672" dirty="0"/>
          </a:p>
        </p:txBody>
      </p:sp>
      <p:sp>
        <p:nvSpPr>
          <p:cNvPr id="89" name="Text 86"/>
          <p:cNvSpPr/>
          <p:nvPr/>
        </p:nvSpPr>
        <p:spPr>
          <a:xfrm>
            <a:off x="3731623" y="2020216"/>
            <a:ext cx="93613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79 %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3731623" y="2263103"/>
            <a:ext cx="93613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73 %</a:t>
            </a:r>
            <a:endParaRPr lang="en-US" sz="720" dirty="0"/>
          </a:p>
        </p:txBody>
      </p:sp>
      <p:sp>
        <p:nvSpPr>
          <p:cNvPr id="91" name="Text 88"/>
          <p:cNvSpPr/>
          <p:nvPr/>
        </p:nvSpPr>
        <p:spPr>
          <a:xfrm>
            <a:off x="3731623" y="2510753"/>
            <a:ext cx="93613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52 %</a:t>
            </a:r>
            <a:endParaRPr lang="en-US" sz="720" dirty="0"/>
          </a:p>
        </p:txBody>
      </p:sp>
      <p:sp>
        <p:nvSpPr>
          <p:cNvPr id="92" name="Text 89"/>
          <p:cNvSpPr/>
          <p:nvPr/>
        </p:nvSpPr>
        <p:spPr>
          <a:xfrm>
            <a:off x="3731623" y="2758403"/>
            <a:ext cx="93613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19 %</a:t>
            </a:r>
            <a:endParaRPr lang="en-US" sz="720" dirty="0"/>
          </a:p>
        </p:txBody>
      </p:sp>
      <p:sp>
        <p:nvSpPr>
          <p:cNvPr id="93" name="Text 90"/>
          <p:cNvSpPr/>
          <p:nvPr/>
        </p:nvSpPr>
        <p:spPr>
          <a:xfrm>
            <a:off x="3731623" y="3006053"/>
            <a:ext cx="93613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19 %</a:t>
            </a:r>
            <a:endParaRPr lang="en-US" sz="720" dirty="0"/>
          </a:p>
        </p:txBody>
      </p:sp>
      <p:sp>
        <p:nvSpPr>
          <p:cNvPr id="94" name="Text 91"/>
          <p:cNvSpPr/>
          <p:nvPr/>
        </p:nvSpPr>
        <p:spPr>
          <a:xfrm>
            <a:off x="3731623" y="3253703"/>
            <a:ext cx="93613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53 %</a:t>
            </a:r>
            <a:endParaRPr lang="en-US" sz="720" dirty="0"/>
          </a:p>
        </p:txBody>
      </p:sp>
      <p:sp>
        <p:nvSpPr>
          <p:cNvPr id="95" name="Text 92"/>
          <p:cNvSpPr/>
          <p:nvPr/>
        </p:nvSpPr>
        <p:spPr>
          <a:xfrm>
            <a:off x="3731623" y="3501353"/>
            <a:ext cx="936137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41 %</a:t>
            </a:r>
            <a:endParaRPr lang="en-US" sz="720" dirty="0"/>
          </a:p>
        </p:txBody>
      </p:sp>
      <p:sp>
        <p:nvSpPr>
          <p:cNvPr id="96" name="Text 93"/>
          <p:cNvSpPr/>
          <p:nvPr/>
        </p:nvSpPr>
        <p:spPr>
          <a:xfrm>
            <a:off x="2396966" y="4301453"/>
            <a:ext cx="698539" cy="232172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660" dirty="0"/>
          </a:p>
        </p:txBody>
      </p:sp>
      <p:sp>
        <p:nvSpPr>
          <p:cNvPr id="97" name="Text 94"/>
          <p:cNvSpPr/>
          <p:nvPr/>
        </p:nvSpPr>
        <p:spPr>
          <a:xfrm>
            <a:off x="2396966" y="5008685"/>
            <a:ext cx="698539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660" dirty="0"/>
          </a:p>
        </p:txBody>
      </p:sp>
      <p:sp>
        <p:nvSpPr>
          <p:cNvPr id="98" name="Text 95"/>
          <p:cNvSpPr/>
          <p:nvPr/>
        </p:nvSpPr>
        <p:spPr>
          <a:xfrm>
            <a:off x="2396966" y="5246214"/>
            <a:ext cx="698539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660" dirty="0"/>
          </a:p>
        </p:txBody>
      </p:sp>
      <p:sp>
        <p:nvSpPr>
          <p:cNvPr id="99" name="Text 96"/>
          <p:cNvSpPr/>
          <p:nvPr/>
        </p:nvSpPr>
        <p:spPr>
          <a:xfrm>
            <a:off x="3047031" y="2263103"/>
            <a:ext cx="70513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803</a:t>
            </a:r>
            <a:endParaRPr lang="en-US" sz="720" dirty="0"/>
          </a:p>
        </p:txBody>
      </p:sp>
      <p:sp>
        <p:nvSpPr>
          <p:cNvPr id="100" name="Text 97"/>
          <p:cNvSpPr/>
          <p:nvPr/>
        </p:nvSpPr>
        <p:spPr>
          <a:xfrm>
            <a:off x="3047031" y="2758403"/>
            <a:ext cx="70513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324</a:t>
            </a:r>
            <a:endParaRPr lang="en-US" sz="720" dirty="0"/>
          </a:p>
        </p:txBody>
      </p:sp>
      <p:sp>
        <p:nvSpPr>
          <p:cNvPr id="101" name="Text 98"/>
          <p:cNvSpPr/>
          <p:nvPr/>
        </p:nvSpPr>
        <p:spPr>
          <a:xfrm>
            <a:off x="704832" y="4130003"/>
            <a:ext cx="433042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704832" y="4301453"/>
            <a:ext cx="433042" cy="232172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60" dirty="0"/>
          </a:p>
        </p:txBody>
      </p:sp>
      <p:sp>
        <p:nvSpPr>
          <p:cNvPr id="103" name="Text 100"/>
          <p:cNvSpPr/>
          <p:nvPr/>
        </p:nvSpPr>
        <p:spPr>
          <a:xfrm>
            <a:off x="3904408" y="4301453"/>
            <a:ext cx="673859" cy="232172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22%</a:t>
            </a:r>
            <a:endParaRPr lang="en-US" sz="660" dirty="0"/>
          </a:p>
        </p:txBody>
      </p:sp>
      <p:sp>
        <p:nvSpPr>
          <p:cNvPr id="104" name="Text 101"/>
          <p:cNvSpPr/>
          <p:nvPr/>
        </p:nvSpPr>
        <p:spPr>
          <a:xfrm>
            <a:off x="5200520" y="4301453"/>
            <a:ext cx="725977" cy="232172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10%</a:t>
            </a:r>
            <a:endParaRPr lang="en-US" sz="660" dirty="0"/>
          </a:p>
        </p:txBody>
      </p:sp>
      <p:sp>
        <p:nvSpPr>
          <p:cNvPr id="105" name="Text 102"/>
          <p:cNvSpPr/>
          <p:nvPr/>
        </p:nvSpPr>
        <p:spPr>
          <a:xfrm>
            <a:off x="704832" y="4533625"/>
            <a:ext cx="433042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60" dirty="0"/>
          </a:p>
        </p:txBody>
      </p:sp>
      <p:sp>
        <p:nvSpPr>
          <p:cNvPr id="106" name="Text 103"/>
          <p:cNvSpPr/>
          <p:nvPr/>
        </p:nvSpPr>
        <p:spPr>
          <a:xfrm>
            <a:off x="2396966" y="4533625"/>
            <a:ext cx="698539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99%</a:t>
            </a:r>
            <a:endParaRPr lang="en-US" sz="660" dirty="0"/>
          </a:p>
        </p:txBody>
      </p:sp>
      <p:sp>
        <p:nvSpPr>
          <p:cNvPr id="107" name="Text 104"/>
          <p:cNvSpPr/>
          <p:nvPr/>
        </p:nvSpPr>
        <p:spPr>
          <a:xfrm>
            <a:off x="3904408" y="4533625"/>
            <a:ext cx="673859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44%</a:t>
            </a:r>
            <a:endParaRPr lang="en-US" sz="660" dirty="0"/>
          </a:p>
        </p:txBody>
      </p:sp>
      <p:sp>
        <p:nvSpPr>
          <p:cNvPr id="108" name="Text 105"/>
          <p:cNvSpPr/>
          <p:nvPr/>
        </p:nvSpPr>
        <p:spPr>
          <a:xfrm>
            <a:off x="5200520" y="4533625"/>
            <a:ext cx="725977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11%</a:t>
            </a:r>
            <a:endParaRPr lang="en-US" sz="660" dirty="0"/>
          </a:p>
        </p:txBody>
      </p:sp>
      <p:sp>
        <p:nvSpPr>
          <p:cNvPr id="109" name="Text 106"/>
          <p:cNvSpPr/>
          <p:nvPr/>
        </p:nvSpPr>
        <p:spPr>
          <a:xfrm>
            <a:off x="704832" y="4771155"/>
            <a:ext cx="433042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60" dirty="0"/>
          </a:p>
        </p:txBody>
      </p:sp>
      <p:sp>
        <p:nvSpPr>
          <p:cNvPr id="110" name="Text 107"/>
          <p:cNvSpPr/>
          <p:nvPr/>
        </p:nvSpPr>
        <p:spPr>
          <a:xfrm>
            <a:off x="2396966" y="4771155"/>
            <a:ext cx="698539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96%</a:t>
            </a:r>
            <a:endParaRPr lang="en-US" sz="660" dirty="0"/>
          </a:p>
        </p:txBody>
      </p:sp>
      <p:sp>
        <p:nvSpPr>
          <p:cNvPr id="111" name="Text 108"/>
          <p:cNvSpPr/>
          <p:nvPr/>
        </p:nvSpPr>
        <p:spPr>
          <a:xfrm>
            <a:off x="3904408" y="4771155"/>
            <a:ext cx="673859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45%</a:t>
            </a:r>
            <a:endParaRPr lang="en-US" sz="660" dirty="0"/>
          </a:p>
        </p:txBody>
      </p:sp>
      <p:sp>
        <p:nvSpPr>
          <p:cNvPr id="112" name="Text 109"/>
          <p:cNvSpPr/>
          <p:nvPr/>
        </p:nvSpPr>
        <p:spPr>
          <a:xfrm>
            <a:off x="704832" y="5008685"/>
            <a:ext cx="433042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60" dirty="0"/>
          </a:p>
        </p:txBody>
      </p:sp>
      <p:sp>
        <p:nvSpPr>
          <p:cNvPr id="113" name="Text 110"/>
          <p:cNvSpPr/>
          <p:nvPr/>
        </p:nvSpPr>
        <p:spPr>
          <a:xfrm>
            <a:off x="3904408" y="5008685"/>
            <a:ext cx="673859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60%</a:t>
            </a:r>
            <a:endParaRPr lang="en-US" sz="660" dirty="0"/>
          </a:p>
        </p:txBody>
      </p:sp>
      <p:sp>
        <p:nvSpPr>
          <p:cNvPr id="114" name="Text 111"/>
          <p:cNvSpPr/>
          <p:nvPr/>
        </p:nvSpPr>
        <p:spPr>
          <a:xfrm>
            <a:off x="5200520" y="5008685"/>
            <a:ext cx="725977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10%</a:t>
            </a:r>
            <a:endParaRPr lang="en-US" sz="660" dirty="0"/>
          </a:p>
        </p:txBody>
      </p:sp>
      <p:sp>
        <p:nvSpPr>
          <p:cNvPr id="115" name="Text 112"/>
          <p:cNvSpPr/>
          <p:nvPr/>
        </p:nvSpPr>
        <p:spPr>
          <a:xfrm>
            <a:off x="704832" y="5246214"/>
            <a:ext cx="433042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60" dirty="0"/>
          </a:p>
        </p:txBody>
      </p:sp>
      <p:sp>
        <p:nvSpPr>
          <p:cNvPr id="116" name="Text 113"/>
          <p:cNvSpPr/>
          <p:nvPr/>
        </p:nvSpPr>
        <p:spPr>
          <a:xfrm>
            <a:off x="3904408" y="5246214"/>
            <a:ext cx="673859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65%</a:t>
            </a:r>
            <a:endParaRPr lang="en-US" sz="660" dirty="0"/>
          </a:p>
        </p:txBody>
      </p:sp>
      <p:sp>
        <p:nvSpPr>
          <p:cNvPr id="117" name="Text 114"/>
          <p:cNvSpPr/>
          <p:nvPr/>
        </p:nvSpPr>
        <p:spPr>
          <a:xfrm>
            <a:off x="704832" y="5483744"/>
            <a:ext cx="433042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60" dirty="0"/>
          </a:p>
        </p:txBody>
      </p:sp>
      <p:sp>
        <p:nvSpPr>
          <p:cNvPr id="118" name="Text 115"/>
          <p:cNvSpPr/>
          <p:nvPr/>
        </p:nvSpPr>
        <p:spPr>
          <a:xfrm>
            <a:off x="2396966" y="5483744"/>
            <a:ext cx="698539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93%</a:t>
            </a:r>
            <a:endParaRPr lang="en-US" sz="660" dirty="0"/>
          </a:p>
        </p:txBody>
      </p:sp>
      <p:sp>
        <p:nvSpPr>
          <p:cNvPr id="119" name="Text 116"/>
          <p:cNvSpPr/>
          <p:nvPr/>
        </p:nvSpPr>
        <p:spPr>
          <a:xfrm>
            <a:off x="3904408" y="5483744"/>
            <a:ext cx="673859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46%</a:t>
            </a:r>
            <a:endParaRPr lang="en-US" sz="660" dirty="0"/>
          </a:p>
        </p:txBody>
      </p:sp>
      <p:sp>
        <p:nvSpPr>
          <p:cNvPr id="120" name="Text 117"/>
          <p:cNvSpPr/>
          <p:nvPr/>
        </p:nvSpPr>
        <p:spPr>
          <a:xfrm>
            <a:off x="2396966" y="5721274"/>
            <a:ext cx="698539" cy="23291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98%</a:t>
            </a:r>
            <a:endParaRPr lang="en-US" sz="624" dirty="0"/>
          </a:p>
        </p:txBody>
      </p:sp>
      <p:sp>
        <p:nvSpPr>
          <p:cNvPr id="121" name="Text 118"/>
          <p:cNvSpPr/>
          <p:nvPr/>
        </p:nvSpPr>
        <p:spPr>
          <a:xfrm>
            <a:off x="3904408" y="5721274"/>
            <a:ext cx="673859" cy="23291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42%</a:t>
            </a:r>
            <a:endParaRPr lang="en-US" sz="624" dirty="0"/>
          </a:p>
        </p:txBody>
      </p:sp>
      <p:sp>
        <p:nvSpPr>
          <p:cNvPr id="122" name="Text 119"/>
          <p:cNvSpPr/>
          <p:nvPr/>
        </p:nvSpPr>
        <p:spPr>
          <a:xfrm>
            <a:off x="11163021" y="2198787"/>
            <a:ext cx="3335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49%</a:t>
            </a:r>
            <a:endParaRPr lang="en-US" sz="672" dirty="0"/>
          </a:p>
        </p:txBody>
      </p:sp>
      <p:sp>
        <p:nvSpPr>
          <p:cNvPr id="123" name="Text 120"/>
          <p:cNvSpPr/>
          <p:nvPr/>
        </p:nvSpPr>
        <p:spPr>
          <a:xfrm>
            <a:off x="11163021" y="2725043"/>
            <a:ext cx="3335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29%</a:t>
            </a:r>
            <a:endParaRPr lang="en-US" sz="672" dirty="0"/>
          </a:p>
        </p:txBody>
      </p:sp>
      <p:sp>
        <p:nvSpPr>
          <p:cNvPr id="124" name="Text 121"/>
          <p:cNvSpPr/>
          <p:nvPr/>
        </p:nvSpPr>
        <p:spPr>
          <a:xfrm>
            <a:off x="3047031" y="3006053"/>
            <a:ext cx="70513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720" dirty="0"/>
          </a:p>
        </p:txBody>
      </p:sp>
      <p:sp>
        <p:nvSpPr>
          <p:cNvPr id="125" name="Text 122"/>
          <p:cNvSpPr/>
          <p:nvPr/>
        </p:nvSpPr>
        <p:spPr>
          <a:xfrm>
            <a:off x="5200520" y="4771155"/>
            <a:ext cx="725977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7%</a:t>
            </a:r>
            <a:endParaRPr lang="en-US" sz="660" dirty="0"/>
          </a:p>
        </p:txBody>
      </p:sp>
      <p:sp>
        <p:nvSpPr>
          <p:cNvPr id="126" name="Text 123"/>
          <p:cNvSpPr/>
          <p:nvPr/>
        </p:nvSpPr>
        <p:spPr>
          <a:xfrm>
            <a:off x="5200520" y="5246214"/>
            <a:ext cx="725977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9%</a:t>
            </a:r>
            <a:endParaRPr lang="en-US" sz="660" dirty="0"/>
          </a:p>
        </p:txBody>
      </p:sp>
      <p:sp>
        <p:nvSpPr>
          <p:cNvPr id="127" name="Text 124"/>
          <p:cNvSpPr/>
          <p:nvPr/>
        </p:nvSpPr>
        <p:spPr>
          <a:xfrm>
            <a:off x="5200520" y="5483744"/>
            <a:ext cx="725977" cy="23753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8%</a:t>
            </a:r>
            <a:endParaRPr lang="en-US" sz="660" dirty="0"/>
          </a:p>
        </p:txBody>
      </p:sp>
      <p:sp>
        <p:nvSpPr>
          <p:cNvPr id="128" name="Text 125"/>
          <p:cNvSpPr/>
          <p:nvPr/>
        </p:nvSpPr>
        <p:spPr>
          <a:xfrm>
            <a:off x="5200520" y="5721274"/>
            <a:ext cx="725977" cy="23291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9%</a:t>
            </a:r>
            <a:endParaRPr lang="en-US" sz="624" dirty="0"/>
          </a:p>
        </p:txBody>
      </p:sp>
      <p:sp>
        <p:nvSpPr>
          <p:cNvPr id="129" name="Text 126"/>
          <p:cNvSpPr/>
          <p:nvPr/>
        </p:nvSpPr>
        <p:spPr>
          <a:xfrm>
            <a:off x="11163021" y="3251299"/>
            <a:ext cx="3335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4%</a:t>
            </a:r>
            <a:endParaRPr lang="en-US" sz="672" dirty="0"/>
          </a:p>
        </p:txBody>
      </p:sp>
      <p:sp>
        <p:nvSpPr>
          <p:cNvPr id="130" name="Text 127"/>
          <p:cNvSpPr/>
          <p:nvPr/>
        </p:nvSpPr>
        <p:spPr>
          <a:xfrm>
            <a:off x="11163021" y="3777555"/>
            <a:ext cx="3335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4%</a:t>
            </a:r>
            <a:endParaRPr lang="en-US" sz="672" dirty="0"/>
          </a:p>
        </p:txBody>
      </p:sp>
      <p:sp>
        <p:nvSpPr>
          <p:cNvPr id="131" name="Text 128"/>
          <p:cNvSpPr/>
          <p:nvPr/>
        </p:nvSpPr>
        <p:spPr>
          <a:xfrm>
            <a:off x="11163021" y="4303961"/>
            <a:ext cx="3335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3%</a:t>
            </a:r>
            <a:endParaRPr lang="en-US" sz="672" dirty="0"/>
          </a:p>
        </p:txBody>
      </p:sp>
      <p:sp>
        <p:nvSpPr>
          <p:cNvPr id="132" name="Text 129"/>
          <p:cNvSpPr/>
          <p:nvPr/>
        </p:nvSpPr>
        <p:spPr>
          <a:xfrm>
            <a:off x="11163021" y="4830217"/>
            <a:ext cx="3335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3%</a:t>
            </a:r>
            <a:endParaRPr lang="en-US" sz="672" dirty="0"/>
          </a:p>
        </p:txBody>
      </p:sp>
      <p:sp>
        <p:nvSpPr>
          <p:cNvPr id="133" name="Text 130"/>
          <p:cNvSpPr/>
          <p:nvPr/>
        </p:nvSpPr>
        <p:spPr>
          <a:xfrm>
            <a:off x="11163021" y="5356473"/>
            <a:ext cx="3335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8%</a:t>
            </a:r>
            <a:endParaRPr lang="en-US" sz="672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5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486" y="6416129"/>
            <a:ext cx="11380185" cy="396262"/>
          </a:xfrm>
          <a:prstGeom prst="rect">
            <a:avLst/>
          </a:prstGeom>
          <a:noFill/>
          <a:ln/>
        </p:spPr>
        <p:txBody>
          <a:bodyPr wrap="square" lIns="57150" tIns="133350" rIns="133350" bIns="5715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estrategia de cabinas dedicadas logró una tasa de crecimiento de (+553%)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6257769" y="5585520"/>
            <a:ext cx="54055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 de la base total · 7.460 registros descartados</a:t>
            </a:r>
            <a:endParaRPr lang="en-US" sz="540" dirty="0"/>
          </a:p>
        </p:txBody>
      </p:sp>
      <p:sp>
        <p:nvSpPr>
          <p:cNvPr id="5" name="Text 2"/>
          <p:cNvSpPr/>
          <p:nvPr/>
        </p:nvSpPr>
        <p:spPr>
          <a:xfrm>
            <a:off x="6257769" y="3619500"/>
            <a:ext cx="5405588" cy="156972"/>
          </a:xfrm>
          <a:prstGeom prst="rect">
            <a:avLst/>
          </a:prstGeom>
          <a:noFill/>
          <a:ln/>
        </p:spPr>
        <p:txBody>
          <a:bodyPr wrap="square" lIns="0" tIns="0" rIns="0" bIns="9525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se descartaron? (tipificación rechazos)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3607660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 Autogestión · Histórico y Análisis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723882" y="1272480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Solicitudes de financiación autogestionada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257769" y="4160937"/>
            <a:ext cx="112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9" name="Text 6"/>
          <p:cNvSpPr/>
          <p:nvPr/>
        </p:nvSpPr>
        <p:spPr>
          <a:xfrm>
            <a:off x="9067573" y="962025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Vs. promedio general del canal</a:t>
            </a:r>
            <a:endParaRPr lang="en-US" sz="696" dirty="0"/>
          </a:p>
        </p:txBody>
      </p:sp>
      <p:sp>
        <p:nvSpPr>
          <p:cNvPr id="10" name="Text 7"/>
          <p:cNvSpPr/>
          <p:nvPr/>
        </p:nvSpPr>
        <p:spPr>
          <a:xfrm>
            <a:off x="6257769" y="4635847"/>
            <a:ext cx="112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1" name="Text 8"/>
          <p:cNvSpPr/>
          <p:nvPr/>
        </p:nvSpPr>
        <p:spPr>
          <a:xfrm>
            <a:off x="685783" y="3977580"/>
            <a:ext cx="5405588" cy="166783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Autogestión por asesor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6257769" y="1548705"/>
            <a:ext cx="5405588" cy="166783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mensual de ventas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6286343" y="1272480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7.460 registros descartados</a:t>
            </a:r>
            <a:endParaRPr lang="en-US" sz="600" dirty="0"/>
          </a:p>
        </p:txBody>
      </p:sp>
      <p:sp>
        <p:nvSpPr>
          <p:cNvPr id="14" name="Text 11"/>
          <p:cNvSpPr/>
          <p:nvPr/>
        </p:nvSpPr>
        <p:spPr>
          <a:xfrm>
            <a:off x="9067573" y="1272480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Convierte 3.2 veces mejor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3505112" y="1272480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 sobre contactados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257769" y="5728395"/>
            <a:ext cx="54055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Qué cambió en la gestión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6257769" y="3923556"/>
            <a:ext cx="112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</a:t>
            </a:r>
            <a:endParaRPr lang="en-US" sz="576" dirty="0"/>
          </a:p>
        </p:txBody>
      </p:sp>
      <p:sp>
        <p:nvSpPr>
          <p:cNvPr id="18" name="Text 15"/>
          <p:cNvSpPr/>
          <p:nvPr/>
        </p:nvSpPr>
        <p:spPr>
          <a:xfrm>
            <a:off x="685783" y="4977728"/>
            <a:ext cx="1418538" cy="20344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Joelis J. Barros 4ª</a:t>
            </a:r>
            <a:endParaRPr lang="en-US" sz="792" dirty="0"/>
          </a:p>
        </p:txBody>
      </p:sp>
      <p:sp>
        <p:nvSpPr>
          <p:cNvPr id="19" name="Text 16"/>
          <p:cNvSpPr/>
          <p:nvPr/>
        </p:nvSpPr>
        <p:spPr>
          <a:xfrm>
            <a:off x="6257769" y="5110609"/>
            <a:ext cx="112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20" name="Text 17"/>
          <p:cNvSpPr/>
          <p:nvPr/>
        </p:nvSpPr>
        <p:spPr>
          <a:xfrm>
            <a:off x="9000007" y="6147495"/>
            <a:ext cx="11541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Sobremarcación OCM</a:t>
            </a:r>
            <a:endParaRPr lang="en-US" sz="696" dirty="0"/>
          </a:p>
        </p:txBody>
      </p:sp>
      <p:sp>
        <p:nvSpPr>
          <p:cNvPr id="21" name="Text 18"/>
          <p:cNvSpPr/>
          <p:nvPr/>
        </p:nvSpPr>
        <p:spPr>
          <a:xfrm>
            <a:off x="685783" y="4577678"/>
            <a:ext cx="1418538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Melissa P. Orozco</a:t>
            </a:r>
            <a:endParaRPr lang="en-US" sz="792" dirty="0"/>
          </a:p>
        </p:txBody>
      </p:sp>
      <p:sp>
        <p:nvSpPr>
          <p:cNvPr id="22" name="Text 19"/>
          <p:cNvSpPr/>
          <p:nvPr/>
        </p:nvSpPr>
        <p:spPr>
          <a:xfrm>
            <a:off x="685783" y="1548705"/>
            <a:ext cx="5405588" cy="206026"/>
          </a:xfrm>
          <a:prstGeom prst="rect">
            <a:avLst/>
          </a:prstGeom>
          <a:noFill/>
          <a:ln/>
        </p:spPr>
        <p:txBody>
          <a:bodyPr wrap="square" lIns="0" tIns="0" rIns="0" bIns="28575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Histórico mensual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6257769" y="4398466"/>
            <a:ext cx="112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Contrato Repetido</a:t>
            </a:r>
            <a:endParaRPr lang="en-US" sz="576" dirty="0"/>
          </a:p>
        </p:txBody>
      </p:sp>
      <p:sp>
        <p:nvSpPr>
          <p:cNvPr id="24" name="Text 21"/>
          <p:cNvSpPr/>
          <p:nvPr/>
        </p:nvSpPr>
        <p:spPr>
          <a:xfrm>
            <a:off x="6257769" y="4873228"/>
            <a:ext cx="112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Localidad Errónea</a:t>
            </a:r>
            <a:endParaRPr lang="en-US" sz="576" dirty="0"/>
          </a:p>
        </p:txBody>
      </p:sp>
      <p:sp>
        <p:nvSpPr>
          <p:cNvPr id="25" name="Text 22"/>
          <p:cNvSpPr/>
          <p:nvPr/>
        </p:nvSpPr>
        <p:spPr>
          <a:xfrm>
            <a:off x="685783" y="5181176"/>
            <a:ext cx="1418538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4 asesores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6286343" y="962025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Rechazo promedio</a:t>
            </a:r>
            <a:endParaRPr lang="en-US" sz="696" dirty="0"/>
          </a:p>
        </p:txBody>
      </p:sp>
      <p:sp>
        <p:nvSpPr>
          <p:cNvPr id="27" name="Text 24"/>
          <p:cNvSpPr/>
          <p:nvPr/>
        </p:nvSpPr>
        <p:spPr>
          <a:xfrm>
            <a:off x="7643175" y="6147495"/>
            <a:ext cx="11541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Foco: 3 asesores</a:t>
            </a:r>
            <a:endParaRPr lang="en-US" sz="696" dirty="0"/>
          </a:p>
        </p:txBody>
      </p:sp>
      <p:sp>
        <p:nvSpPr>
          <p:cNvPr id="28" name="Text 25"/>
          <p:cNvSpPr/>
          <p:nvPr/>
        </p:nvSpPr>
        <p:spPr>
          <a:xfrm>
            <a:off x="685783" y="4382416"/>
            <a:ext cx="1418538" cy="1952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Jesús D. Cortés</a:t>
            </a:r>
            <a:endParaRPr lang="en-US" sz="792" dirty="0"/>
          </a:p>
        </p:txBody>
      </p:sp>
      <p:sp>
        <p:nvSpPr>
          <p:cNvPr id="29" name="Text 26"/>
          <p:cNvSpPr/>
          <p:nvPr/>
        </p:nvSpPr>
        <p:spPr>
          <a:xfrm>
            <a:off x="6257769" y="5348139"/>
            <a:ext cx="112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(&lt;1% c/u)</a:t>
            </a:r>
            <a:endParaRPr lang="en-US" sz="576" dirty="0"/>
          </a:p>
        </p:txBody>
      </p:sp>
      <p:sp>
        <p:nvSpPr>
          <p:cNvPr id="30" name="Text 27"/>
          <p:cNvSpPr/>
          <p:nvPr/>
        </p:nvSpPr>
        <p:spPr>
          <a:xfrm>
            <a:off x="685783" y="4777703"/>
            <a:ext cx="1418538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Luisa L. Percy</a:t>
            </a:r>
            <a:endParaRPr lang="en-US" sz="792" dirty="0"/>
          </a:p>
        </p:txBody>
      </p:sp>
      <p:sp>
        <p:nvSpPr>
          <p:cNvPr id="31" name="Text 28"/>
          <p:cNvSpPr/>
          <p:nvPr/>
        </p:nvSpPr>
        <p:spPr>
          <a:xfrm>
            <a:off x="723882" y="962025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(1S)</a:t>
            </a:r>
            <a:endParaRPr lang="en-US" sz="696" dirty="0"/>
          </a:p>
        </p:txBody>
      </p:sp>
      <p:sp>
        <p:nvSpPr>
          <p:cNvPr id="32" name="Text 29"/>
          <p:cNvSpPr/>
          <p:nvPr/>
        </p:nvSpPr>
        <p:spPr>
          <a:xfrm>
            <a:off x="6286343" y="6147495"/>
            <a:ext cx="11541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Sin focalizar</a:t>
            </a:r>
            <a:endParaRPr lang="en-US" sz="696" dirty="0"/>
          </a:p>
        </p:txBody>
      </p:sp>
      <p:sp>
        <p:nvSpPr>
          <p:cNvPr id="33" name="Text 30"/>
          <p:cNvSpPr/>
          <p:nvPr/>
        </p:nvSpPr>
        <p:spPr>
          <a:xfrm>
            <a:off x="10356839" y="6147495"/>
            <a:ext cx="11541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+1 asesor (4)</a:t>
            </a:r>
            <a:endParaRPr lang="en-US" sz="696" dirty="0"/>
          </a:p>
        </p:txBody>
      </p:sp>
      <p:sp>
        <p:nvSpPr>
          <p:cNvPr id="34" name="Text 31"/>
          <p:cNvSpPr/>
          <p:nvPr/>
        </p:nvSpPr>
        <p:spPr>
          <a:xfrm>
            <a:off x="3505112" y="962025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(1S)</a:t>
            </a:r>
            <a:endParaRPr lang="en-US" sz="696" dirty="0"/>
          </a:p>
        </p:txBody>
      </p:sp>
      <p:sp>
        <p:nvSpPr>
          <p:cNvPr id="35" name="Text 32"/>
          <p:cNvSpPr/>
          <p:nvPr/>
        </p:nvSpPr>
        <p:spPr>
          <a:xfrm>
            <a:off x="4586619" y="1772566"/>
            <a:ext cx="90103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5461409" y="1772566"/>
            <a:ext cx="91636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1191191" y="1772566"/>
            <a:ext cx="80936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1976983" y="1772566"/>
            <a:ext cx="749890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Rechazo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2705032" y="1772566"/>
            <a:ext cx="70191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Rech.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6286343" y="6052245"/>
            <a:ext cx="11541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Ene–Feb</a:t>
            </a:r>
            <a:endParaRPr lang="en-US" sz="624" dirty="0"/>
          </a:p>
        </p:txBody>
      </p:sp>
      <p:sp>
        <p:nvSpPr>
          <p:cNvPr id="41" name="Text 38"/>
          <p:cNvSpPr/>
          <p:nvPr/>
        </p:nvSpPr>
        <p:spPr>
          <a:xfrm>
            <a:off x="9000007" y="6052245"/>
            <a:ext cx="11541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Abr–May</a:t>
            </a:r>
            <a:endParaRPr lang="en-US" sz="624" dirty="0"/>
          </a:p>
        </p:txBody>
      </p:sp>
      <p:sp>
        <p:nvSpPr>
          <p:cNvPr id="42" name="Text 39"/>
          <p:cNvSpPr/>
          <p:nvPr/>
        </p:nvSpPr>
        <p:spPr>
          <a:xfrm>
            <a:off x="3956497" y="1772566"/>
            <a:ext cx="64902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2705032" y="2001166"/>
            <a:ext cx="70191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41,2 %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4586619" y="2001166"/>
            <a:ext cx="901034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80,9 %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5461409" y="2001166"/>
            <a:ext cx="91636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30,7 %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2705032" y="2244053"/>
            <a:ext cx="70191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57,9 %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4586619" y="2244053"/>
            <a:ext cx="90103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81,3 %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5461409" y="2244053"/>
            <a:ext cx="91636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32,4 %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2705032" y="2491703"/>
            <a:ext cx="70191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4586619" y="2491703"/>
            <a:ext cx="90103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76,3 %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5461409" y="2491703"/>
            <a:ext cx="91636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18,4 %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2705032" y="2739353"/>
            <a:ext cx="70191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58,3 %</a:t>
            </a:r>
            <a:endParaRPr lang="en-US" sz="888" dirty="0"/>
          </a:p>
        </p:txBody>
      </p:sp>
      <p:sp>
        <p:nvSpPr>
          <p:cNvPr id="53" name="Text 50"/>
          <p:cNvSpPr/>
          <p:nvPr/>
        </p:nvSpPr>
        <p:spPr>
          <a:xfrm>
            <a:off x="4586619" y="2739353"/>
            <a:ext cx="90103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71,0 %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5461409" y="2739353"/>
            <a:ext cx="91636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20,4 %</a:t>
            </a:r>
            <a:endParaRPr lang="en-US" sz="888" dirty="0"/>
          </a:p>
        </p:txBody>
      </p:sp>
      <p:sp>
        <p:nvSpPr>
          <p:cNvPr id="55" name="Text 52"/>
          <p:cNvSpPr/>
          <p:nvPr/>
        </p:nvSpPr>
        <p:spPr>
          <a:xfrm>
            <a:off x="2705032" y="2987003"/>
            <a:ext cx="70191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60,4 %</a:t>
            </a:r>
            <a:endParaRPr lang="en-US" sz="888" dirty="0"/>
          </a:p>
        </p:txBody>
      </p:sp>
      <p:sp>
        <p:nvSpPr>
          <p:cNvPr id="56" name="Text 53"/>
          <p:cNvSpPr/>
          <p:nvPr/>
        </p:nvSpPr>
        <p:spPr>
          <a:xfrm>
            <a:off x="4586619" y="2987003"/>
            <a:ext cx="90103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75,8 %</a:t>
            </a:r>
            <a:endParaRPr lang="en-US" sz="888" dirty="0"/>
          </a:p>
        </p:txBody>
      </p:sp>
      <p:sp>
        <p:nvSpPr>
          <p:cNvPr id="57" name="Text 54"/>
          <p:cNvSpPr/>
          <p:nvPr/>
        </p:nvSpPr>
        <p:spPr>
          <a:xfrm>
            <a:off x="5461409" y="2987003"/>
            <a:ext cx="91636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33,0 %</a:t>
            </a:r>
            <a:endParaRPr lang="en-US" sz="888" dirty="0"/>
          </a:p>
        </p:txBody>
      </p:sp>
      <p:sp>
        <p:nvSpPr>
          <p:cNvPr id="58" name="Text 55"/>
          <p:cNvSpPr/>
          <p:nvPr/>
        </p:nvSpPr>
        <p:spPr>
          <a:xfrm>
            <a:off x="2705032" y="3234653"/>
            <a:ext cx="70191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69,4 %</a:t>
            </a:r>
            <a:endParaRPr lang="en-US" sz="888" dirty="0"/>
          </a:p>
        </p:txBody>
      </p:sp>
      <p:sp>
        <p:nvSpPr>
          <p:cNvPr id="59" name="Text 56"/>
          <p:cNvSpPr/>
          <p:nvPr/>
        </p:nvSpPr>
        <p:spPr>
          <a:xfrm>
            <a:off x="4586619" y="3234653"/>
            <a:ext cx="90103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68,4 %</a:t>
            </a:r>
            <a:endParaRPr lang="en-US" sz="888" dirty="0"/>
          </a:p>
        </p:txBody>
      </p:sp>
      <p:sp>
        <p:nvSpPr>
          <p:cNvPr id="60" name="Text 57"/>
          <p:cNvSpPr/>
          <p:nvPr/>
        </p:nvSpPr>
        <p:spPr>
          <a:xfrm>
            <a:off x="5461409" y="3234653"/>
            <a:ext cx="91636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27,6 %</a:t>
            </a:r>
            <a:endParaRPr lang="en-US" sz="888" dirty="0"/>
          </a:p>
        </p:txBody>
      </p:sp>
      <p:sp>
        <p:nvSpPr>
          <p:cNvPr id="61" name="Text 58"/>
          <p:cNvSpPr/>
          <p:nvPr/>
        </p:nvSpPr>
        <p:spPr>
          <a:xfrm>
            <a:off x="1191191" y="3482303"/>
            <a:ext cx="80936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11.685</a:t>
            </a:r>
            <a:endParaRPr lang="en-US" sz="888" dirty="0"/>
          </a:p>
        </p:txBody>
      </p:sp>
      <p:sp>
        <p:nvSpPr>
          <p:cNvPr id="62" name="Text 59"/>
          <p:cNvSpPr/>
          <p:nvPr/>
        </p:nvSpPr>
        <p:spPr>
          <a:xfrm>
            <a:off x="2705032" y="3482303"/>
            <a:ext cx="70191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888" dirty="0"/>
          </a:p>
        </p:txBody>
      </p:sp>
      <p:sp>
        <p:nvSpPr>
          <p:cNvPr id="63" name="Text 60"/>
          <p:cNvSpPr/>
          <p:nvPr/>
        </p:nvSpPr>
        <p:spPr>
          <a:xfrm>
            <a:off x="4586619" y="3482303"/>
            <a:ext cx="901034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72,4 %</a:t>
            </a:r>
            <a:endParaRPr lang="en-US" sz="888" dirty="0"/>
          </a:p>
        </p:txBody>
      </p:sp>
      <p:sp>
        <p:nvSpPr>
          <p:cNvPr id="64" name="Text 61"/>
          <p:cNvSpPr/>
          <p:nvPr/>
        </p:nvSpPr>
        <p:spPr>
          <a:xfrm>
            <a:off x="5461409" y="3482303"/>
            <a:ext cx="91636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</a:t>
            </a:r>
            <a:endParaRPr lang="en-US" sz="888" dirty="0"/>
          </a:p>
        </p:txBody>
      </p:sp>
      <p:sp>
        <p:nvSpPr>
          <p:cNvPr id="65" name="Text 62"/>
          <p:cNvSpPr/>
          <p:nvPr/>
        </p:nvSpPr>
        <p:spPr>
          <a:xfrm>
            <a:off x="685783" y="4153816"/>
            <a:ext cx="141853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888" dirty="0"/>
          </a:p>
        </p:txBody>
      </p:sp>
      <p:sp>
        <p:nvSpPr>
          <p:cNvPr id="66" name="Text 63"/>
          <p:cNvSpPr/>
          <p:nvPr/>
        </p:nvSpPr>
        <p:spPr>
          <a:xfrm>
            <a:off x="723882" y="1104900"/>
            <a:ext cx="2511489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11.685</a:t>
            </a:r>
            <a:endParaRPr lang="en-US" sz="1020" dirty="0"/>
          </a:p>
        </p:txBody>
      </p:sp>
      <p:sp>
        <p:nvSpPr>
          <p:cNvPr id="67" name="Text 64"/>
          <p:cNvSpPr/>
          <p:nvPr/>
        </p:nvSpPr>
        <p:spPr>
          <a:xfrm>
            <a:off x="6286343" y="1104900"/>
            <a:ext cx="2511489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1020" dirty="0"/>
          </a:p>
        </p:txBody>
      </p:sp>
      <p:sp>
        <p:nvSpPr>
          <p:cNvPr id="68" name="Text 65"/>
          <p:cNvSpPr/>
          <p:nvPr/>
        </p:nvSpPr>
        <p:spPr>
          <a:xfrm>
            <a:off x="3386499" y="1772566"/>
            <a:ext cx="58709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1191191" y="2491703"/>
            <a:ext cx="80936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1.864</a:t>
            </a:r>
            <a:endParaRPr lang="en-US" sz="888" dirty="0"/>
          </a:p>
        </p:txBody>
      </p:sp>
      <p:sp>
        <p:nvSpPr>
          <p:cNvPr id="70" name="Text 67"/>
          <p:cNvSpPr/>
          <p:nvPr/>
        </p:nvSpPr>
        <p:spPr>
          <a:xfrm>
            <a:off x="1976983" y="2491703"/>
            <a:ext cx="74989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1.189</a:t>
            </a:r>
            <a:endParaRPr lang="en-US" sz="888" dirty="0"/>
          </a:p>
        </p:txBody>
      </p:sp>
      <p:sp>
        <p:nvSpPr>
          <p:cNvPr id="71" name="Text 68"/>
          <p:cNvSpPr/>
          <p:nvPr/>
        </p:nvSpPr>
        <p:spPr>
          <a:xfrm>
            <a:off x="1191191" y="2739353"/>
            <a:ext cx="80936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1.950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1976983" y="2739353"/>
            <a:ext cx="74989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1.137</a:t>
            </a:r>
            <a:endParaRPr lang="en-US" sz="888" dirty="0"/>
          </a:p>
        </p:txBody>
      </p:sp>
      <p:sp>
        <p:nvSpPr>
          <p:cNvPr id="73" name="Text 70"/>
          <p:cNvSpPr/>
          <p:nvPr/>
        </p:nvSpPr>
        <p:spPr>
          <a:xfrm>
            <a:off x="1191191" y="2987003"/>
            <a:ext cx="80936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2.203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1976983" y="2987003"/>
            <a:ext cx="74989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1.331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1191191" y="3234653"/>
            <a:ext cx="80936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4.968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1976983" y="3234653"/>
            <a:ext cx="74989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3.447</a:t>
            </a:r>
            <a:endParaRPr lang="en-US" sz="888" dirty="0"/>
          </a:p>
        </p:txBody>
      </p:sp>
      <p:sp>
        <p:nvSpPr>
          <p:cNvPr id="77" name="Text 74"/>
          <p:cNvSpPr/>
          <p:nvPr/>
        </p:nvSpPr>
        <p:spPr>
          <a:xfrm>
            <a:off x="3386499" y="3234653"/>
            <a:ext cx="58709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1.521</a:t>
            </a:r>
            <a:endParaRPr lang="en-US" sz="888" dirty="0"/>
          </a:p>
        </p:txBody>
      </p:sp>
      <p:sp>
        <p:nvSpPr>
          <p:cNvPr id="78" name="Text 75"/>
          <p:cNvSpPr/>
          <p:nvPr/>
        </p:nvSpPr>
        <p:spPr>
          <a:xfrm>
            <a:off x="685783" y="3482303"/>
            <a:ext cx="52057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1976983" y="3482303"/>
            <a:ext cx="74989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7.460</a:t>
            </a:r>
            <a:endParaRPr lang="en-US" sz="888" dirty="0"/>
          </a:p>
        </p:txBody>
      </p:sp>
      <p:sp>
        <p:nvSpPr>
          <p:cNvPr id="80" name="Text 77"/>
          <p:cNvSpPr/>
          <p:nvPr/>
        </p:nvSpPr>
        <p:spPr>
          <a:xfrm>
            <a:off x="3386499" y="3482303"/>
            <a:ext cx="58709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4.225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5309906" y="4153816"/>
            <a:ext cx="64274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72" dirty="0"/>
          </a:p>
        </p:txBody>
      </p:sp>
      <p:sp>
        <p:nvSpPr>
          <p:cNvPr id="82" name="Text 79"/>
          <p:cNvSpPr/>
          <p:nvPr/>
        </p:nvSpPr>
        <p:spPr>
          <a:xfrm>
            <a:off x="8343394" y="270033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+111%</a:t>
            </a:r>
            <a:endParaRPr lang="en-US" sz="624" dirty="0"/>
          </a:p>
        </p:txBody>
      </p:sp>
      <p:sp>
        <p:nvSpPr>
          <p:cNvPr id="83" name="Text 80"/>
          <p:cNvSpPr/>
          <p:nvPr/>
        </p:nvSpPr>
        <p:spPr>
          <a:xfrm>
            <a:off x="11267793" y="392355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62.3%</a:t>
            </a:r>
            <a:endParaRPr lang="en-US" sz="576" dirty="0"/>
          </a:p>
        </p:txBody>
      </p:sp>
      <p:sp>
        <p:nvSpPr>
          <p:cNvPr id="84" name="Text 81"/>
          <p:cNvSpPr/>
          <p:nvPr/>
        </p:nvSpPr>
        <p:spPr>
          <a:xfrm>
            <a:off x="11267793" y="416093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14.2%</a:t>
            </a:r>
            <a:endParaRPr lang="en-US" sz="576" dirty="0"/>
          </a:p>
        </p:txBody>
      </p:sp>
      <p:sp>
        <p:nvSpPr>
          <p:cNvPr id="85" name="Text 82"/>
          <p:cNvSpPr/>
          <p:nvPr/>
        </p:nvSpPr>
        <p:spPr>
          <a:xfrm>
            <a:off x="9067573" y="1104900"/>
            <a:ext cx="2511489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3.2×</a:t>
            </a:r>
            <a:endParaRPr lang="en-US" sz="1020" dirty="0"/>
          </a:p>
        </p:txBody>
      </p:sp>
      <p:sp>
        <p:nvSpPr>
          <p:cNvPr id="86" name="Text 83"/>
          <p:cNvSpPr/>
          <p:nvPr/>
        </p:nvSpPr>
        <p:spPr>
          <a:xfrm>
            <a:off x="9223988" y="257591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+21%</a:t>
            </a:r>
            <a:endParaRPr lang="en-US" sz="624" dirty="0"/>
          </a:p>
        </p:txBody>
      </p:sp>
      <p:sp>
        <p:nvSpPr>
          <p:cNvPr id="87" name="Text 84"/>
          <p:cNvSpPr/>
          <p:nvPr/>
        </p:nvSpPr>
        <p:spPr>
          <a:xfrm>
            <a:off x="10081514" y="1936849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+90%</a:t>
            </a:r>
            <a:endParaRPr lang="en-US" sz="624" dirty="0"/>
          </a:p>
        </p:txBody>
      </p:sp>
      <p:sp>
        <p:nvSpPr>
          <p:cNvPr id="88" name="Text 85"/>
          <p:cNvSpPr/>
          <p:nvPr/>
        </p:nvSpPr>
        <p:spPr>
          <a:xfrm>
            <a:off x="10948714" y="1852761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+32%</a:t>
            </a:r>
            <a:endParaRPr lang="en-US" sz="624" dirty="0"/>
          </a:p>
        </p:txBody>
      </p:sp>
      <p:sp>
        <p:nvSpPr>
          <p:cNvPr id="89" name="Text 86"/>
          <p:cNvSpPr/>
          <p:nvPr/>
        </p:nvSpPr>
        <p:spPr>
          <a:xfrm>
            <a:off x="11267793" y="439846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8.2%</a:t>
            </a:r>
            <a:endParaRPr lang="en-US" sz="576" dirty="0"/>
          </a:p>
        </p:txBody>
      </p:sp>
      <p:sp>
        <p:nvSpPr>
          <p:cNvPr id="90" name="Text 87"/>
          <p:cNvSpPr/>
          <p:nvPr/>
        </p:nvSpPr>
        <p:spPr>
          <a:xfrm>
            <a:off x="11267793" y="463584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6.2%</a:t>
            </a:r>
            <a:endParaRPr lang="en-US" sz="576" dirty="0"/>
          </a:p>
        </p:txBody>
      </p:sp>
      <p:sp>
        <p:nvSpPr>
          <p:cNvPr id="91" name="Text 88"/>
          <p:cNvSpPr/>
          <p:nvPr/>
        </p:nvSpPr>
        <p:spPr>
          <a:xfrm>
            <a:off x="11267793" y="487322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4.6%</a:t>
            </a:r>
            <a:endParaRPr lang="en-US" sz="576" dirty="0"/>
          </a:p>
        </p:txBody>
      </p:sp>
      <p:sp>
        <p:nvSpPr>
          <p:cNvPr id="92" name="Text 89"/>
          <p:cNvSpPr/>
          <p:nvPr/>
        </p:nvSpPr>
        <p:spPr>
          <a:xfrm>
            <a:off x="11267793" y="5110609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1.1%</a:t>
            </a:r>
            <a:endParaRPr lang="en-US" sz="576" dirty="0"/>
          </a:p>
        </p:txBody>
      </p:sp>
      <p:sp>
        <p:nvSpPr>
          <p:cNvPr id="93" name="Text 90"/>
          <p:cNvSpPr/>
          <p:nvPr/>
        </p:nvSpPr>
        <p:spPr>
          <a:xfrm>
            <a:off x="11267793" y="5348139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3.4%</a:t>
            </a:r>
            <a:endParaRPr lang="en-US" sz="576" dirty="0"/>
          </a:p>
        </p:txBody>
      </p:sp>
      <p:sp>
        <p:nvSpPr>
          <p:cNvPr id="94" name="Text 91"/>
          <p:cNvSpPr/>
          <p:nvPr/>
        </p:nvSpPr>
        <p:spPr>
          <a:xfrm>
            <a:off x="685783" y="1772566"/>
            <a:ext cx="520570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685783" y="2001166"/>
            <a:ext cx="52057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96" name="Text 93"/>
          <p:cNvSpPr/>
          <p:nvPr/>
        </p:nvSpPr>
        <p:spPr>
          <a:xfrm>
            <a:off x="1191191" y="2001166"/>
            <a:ext cx="80936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294</a:t>
            </a:r>
            <a:endParaRPr lang="en-US" sz="888" dirty="0"/>
          </a:p>
        </p:txBody>
      </p:sp>
      <p:sp>
        <p:nvSpPr>
          <p:cNvPr id="97" name="Text 94"/>
          <p:cNvSpPr/>
          <p:nvPr/>
        </p:nvSpPr>
        <p:spPr>
          <a:xfrm>
            <a:off x="1976983" y="2001166"/>
            <a:ext cx="74989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121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3386499" y="2001166"/>
            <a:ext cx="58709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173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685783" y="2244053"/>
            <a:ext cx="52057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1191191" y="2244053"/>
            <a:ext cx="80936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406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1976983" y="2244053"/>
            <a:ext cx="74989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235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3386499" y="2244053"/>
            <a:ext cx="58709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171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685783" y="2491703"/>
            <a:ext cx="52057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04" name="Text 101"/>
          <p:cNvSpPr/>
          <p:nvPr/>
        </p:nvSpPr>
        <p:spPr>
          <a:xfrm>
            <a:off x="3386499" y="2491703"/>
            <a:ext cx="58709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675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685783" y="2739353"/>
            <a:ext cx="52057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3386499" y="2739353"/>
            <a:ext cx="58709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813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3956497" y="2739353"/>
            <a:ext cx="64902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685783" y="2987003"/>
            <a:ext cx="52057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09" name="Text 106"/>
          <p:cNvSpPr/>
          <p:nvPr/>
        </p:nvSpPr>
        <p:spPr>
          <a:xfrm>
            <a:off x="3386499" y="2987003"/>
            <a:ext cx="58709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872</a:t>
            </a:r>
            <a:endParaRPr lang="en-US" sz="888" dirty="0"/>
          </a:p>
        </p:txBody>
      </p:sp>
      <p:sp>
        <p:nvSpPr>
          <p:cNvPr id="110" name="Text 107"/>
          <p:cNvSpPr/>
          <p:nvPr/>
        </p:nvSpPr>
        <p:spPr>
          <a:xfrm>
            <a:off x="3956497" y="2987003"/>
            <a:ext cx="64902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218</a:t>
            </a:r>
            <a:endParaRPr lang="en-US" sz="888" dirty="0"/>
          </a:p>
        </p:txBody>
      </p:sp>
      <p:sp>
        <p:nvSpPr>
          <p:cNvPr id="111" name="Text 108"/>
          <p:cNvSpPr/>
          <p:nvPr/>
        </p:nvSpPr>
        <p:spPr>
          <a:xfrm>
            <a:off x="685783" y="3234653"/>
            <a:ext cx="52057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3956497" y="3234653"/>
            <a:ext cx="64902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287</a:t>
            </a:r>
            <a:endParaRPr lang="en-US" sz="888" dirty="0"/>
          </a:p>
        </p:txBody>
      </p:sp>
      <p:sp>
        <p:nvSpPr>
          <p:cNvPr id="113" name="Text 110"/>
          <p:cNvSpPr/>
          <p:nvPr/>
        </p:nvSpPr>
        <p:spPr>
          <a:xfrm>
            <a:off x="3956497" y="3482303"/>
            <a:ext cx="64902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803</a:t>
            </a:r>
            <a:endParaRPr lang="en-US" sz="888" dirty="0"/>
          </a:p>
        </p:txBody>
      </p:sp>
      <p:sp>
        <p:nvSpPr>
          <p:cNvPr id="114" name="Text 111"/>
          <p:cNvSpPr/>
          <p:nvPr/>
        </p:nvSpPr>
        <p:spPr>
          <a:xfrm>
            <a:off x="2063004" y="4153816"/>
            <a:ext cx="55827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72" dirty="0"/>
          </a:p>
        </p:txBody>
      </p:sp>
      <p:sp>
        <p:nvSpPr>
          <p:cNvPr id="115" name="Text 112"/>
          <p:cNvSpPr/>
          <p:nvPr/>
        </p:nvSpPr>
        <p:spPr>
          <a:xfrm>
            <a:off x="2605022" y="4153816"/>
            <a:ext cx="55536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72" dirty="0"/>
          </a:p>
        </p:txBody>
      </p:sp>
      <p:sp>
        <p:nvSpPr>
          <p:cNvPr id="116" name="Text 113"/>
          <p:cNvSpPr/>
          <p:nvPr/>
        </p:nvSpPr>
        <p:spPr>
          <a:xfrm>
            <a:off x="3144213" y="4153816"/>
            <a:ext cx="56057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72" dirty="0"/>
          </a:p>
        </p:txBody>
      </p:sp>
      <p:sp>
        <p:nvSpPr>
          <p:cNvPr id="117" name="Text 114"/>
          <p:cNvSpPr/>
          <p:nvPr/>
        </p:nvSpPr>
        <p:spPr>
          <a:xfrm>
            <a:off x="3688464" y="4153816"/>
            <a:ext cx="54524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72" dirty="0"/>
          </a:p>
        </p:txBody>
      </p:sp>
      <p:sp>
        <p:nvSpPr>
          <p:cNvPr id="118" name="Text 115"/>
          <p:cNvSpPr/>
          <p:nvPr/>
        </p:nvSpPr>
        <p:spPr>
          <a:xfrm>
            <a:off x="4217832" y="4153816"/>
            <a:ext cx="577900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72" dirty="0"/>
          </a:p>
        </p:txBody>
      </p:sp>
      <p:sp>
        <p:nvSpPr>
          <p:cNvPr id="119" name="Text 116"/>
          <p:cNvSpPr/>
          <p:nvPr/>
        </p:nvSpPr>
        <p:spPr>
          <a:xfrm>
            <a:off x="4778900" y="4153816"/>
            <a:ext cx="54693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72" dirty="0"/>
          </a:p>
        </p:txBody>
      </p:sp>
      <p:sp>
        <p:nvSpPr>
          <p:cNvPr id="120" name="Text 117"/>
          <p:cNvSpPr/>
          <p:nvPr/>
        </p:nvSpPr>
        <p:spPr>
          <a:xfrm>
            <a:off x="4217832" y="4382416"/>
            <a:ext cx="577900" cy="1952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</a:t>
            </a:r>
            <a:endParaRPr lang="en-US" sz="672" dirty="0"/>
          </a:p>
        </p:txBody>
      </p:sp>
      <p:sp>
        <p:nvSpPr>
          <p:cNvPr id="121" name="Text 118"/>
          <p:cNvSpPr/>
          <p:nvPr/>
        </p:nvSpPr>
        <p:spPr>
          <a:xfrm>
            <a:off x="5309906" y="4382416"/>
            <a:ext cx="642741" cy="1952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255</a:t>
            </a:r>
            <a:endParaRPr lang="en-US" sz="696" dirty="0"/>
          </a:p>
        </p:txBody>
      </p:sp>
      <p:sp>
        <p:nvSpPr>
          <p:cNvPr id="122" name="Text 119"/>
          <p:cNvSpPr/>
          <p:nvPr/>
        </p:nvSpPr>
        <p:spPr>
          <a:xfrm>
            <a:off x="5309906" y="4577678"/>
            <a:ext cx="642741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165</a:t>
            </a:r>
            <a:endParaRPr lang="en-US" sz="696" dirty="0"/>
          </a:p>
        </p:txBody>
      </p:sp>
      <p:sp>
        <p:nvSpPr>
          <p:cNvPr id="123" name="Text 120"/>
          <p:cNvSpPr/>
          <p:nvPr/>
        </p:nvSpPr>
        <p:spPr>
          <a:xfrm>
            <a:off x="5309906" y="4777703"/>
            <a:ext cx="642741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696" dirty="0"/>
          </a:p>
        </p:txBody>
      </p:sp>
      <p:sp>
        <p:nvSpPr>
          <p:cNvPr id="124" name="Text 121"/>
          <p:cNvSpPr/>
          <p:nvPr/>
        </p:nvSpPr>
        <p:spPr>
          <a:xfrm>
            <a:off x="4217832" y="5181176"/>
            <a:ext cx="577900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204</a:t>
            </a:r>
            <a:endParaRPr lang="en-US" sz="672" dirty="0"/>
          </a:p>
        </p:txBody>
      </p:sp>
      <p:sp>
        <p:nvSpPr>
          <p:cNvPr id="125" name="Text 122"/>
          <p:cNvSpPr/>
          <p:nvPr/>
        </p:nvSpPr>
        <p:spPr>
          <a:xfrm>
            <a:off x="4778900" y="5181176"/>
            <a:ext cx="546936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266</a:t>
            </a:r>
            <a:endParaRPr lang="en-US" sz="672" dirty="0"/>
          </a:p>
        </p:txBody>
      </p:sp>
      <p:sp>
        <p:nvSpPr>
          <p:cNvPr id="126" name="Text 123"/>
          <p:cNvSpPr/>
          <p:nvPr/>
        </p:nvSpPr>
        <p:spPr>
          <a:xfrm>
            <a:off x="5309906" y="5181176"/>
            <a:ext cx="642741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605</a:t>
            </a:r>
            <a:endParaRPr lang="en-US" sz="696" dirty="0"/>
          </a:p>
        </p:txBody>
      </p:sp>
      <p:sp>
        <p:nvSpPr>
          <p:cNvPr id="127" name="Text 124"/>
          <p:cNvSpPr/>
          <p:nvPr/>
        </p:nvSpPr>
        <p:spPr>
          <a:xfrm>
            <a:off x="3505112" y="1104900"/>
            <a:ext cx="2511489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803</a:t>
            </a:r>
            <a:endParaRPr lang="en-US" sz="1020" dirty="0"/>
          </a:p>
        </p:txBody>
      </p:sp>
      <p:sp>
        <p:nvSpPr>
          <p:cNvPr id="128" name="Text 125"/>
          <p:cNvSpPr/>
          <p:nvPr/>
        </p:nvSpPr>
        <p:spPr>
          <a:xfrm>
            <a:off x="6643224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96" dirty="0"/>
          </a:p>
        </p:txBody>
      </p:sp>
      <p:sp>
        <p:nvSpPr>
          <p:cNvPr id="129" name="Text 126"/>
          <p:cNvSpPr/>
          <p:nvPr/>
        </p:nvSpPr>
        <p:spPr>
          <a:xfrm>
            <a:off x="7516525" y="3002161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+5%</a:t>
            </a:r>
            <a:endParaRPr lang="en-US" sz="624" dirty="0"/>
          </a:p>
        </p:txBody>
      </p:sp>
      <p:sp>
        <p:nvSpPr>
          <p:cNvPr id="130" name="Text 127"/>
          <p:cNvSpPr/>
          <p:nvPr/>
        </p:nvSpPr>
        <p:spPr>
          <a:xfrm>
            <a:off x="7507745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96" dirty="0"/>
          </a:p>
        </p:txBody>
      </p:sp>
      <p:sp>
        <p:nvSpPr>
          <p:cNvPr id="131" name="Text 128"/>
          <p:cNvSpPr/>
          <p:nvPr/>
        </p:nvSpPr>
        <p:spPr>
          <a:xfrm>
            <a:off x="8369438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96" dirty="0"/>
          </a:p>
        </p:txBody>
      </p:sp>
      <p:sp>
        <p:nvSpPr>
          <p:cNvPr id="132" name="Text 129"/>
          <p:cNvSpPr/>
          <p:nvPr/>
        </p:nvSpPr>
        <p:spPr>
          <a:xfrm>
            <a:off x="9238126" y="247188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</a:t>
            </a:r>
            <a:endParaRPr lang="en-US" sz="744" dirty="0"/>
          </a:p>
        </p:txBody>
      </p:sp>
      <p:sp>
        <p:nvSpPr>
          <p:cNvPr id="133" name="Text 130"/>
          <p:cNvSpPr/>
          <p:nvPr/>
        </p:nvSpPr>
        <p:spPr>
          <a:xfrm>
            <a:off x="9238573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96" dirty="0"/>
          </a:p>
        </p:txBody>
      </p:sp>
      <p:sp>
        <p:nvSpPr>
          <p:cNvPr id="134" name="Text 131"/>
          <p:cNvSpPr/>
          <p:nvPr/>
        </p:nvSpPr>
        <p:spPr>
          <a:xfrm>
            <a:off x="10096545" y="183281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218</a:t>
            </a:r>
            <a:endParaRPr lang="en-US" sz="744" dirty="0"/>
          </a:p>
        </p:txBody>
      </p:sp>
      <p:sp>
        <p:nvSpPr>
          <p:cNvPr id="135" name="Text 132"/>
          <p:cNvSpPr/>
          <p:nvPr/>
        </p:nvSpPr>
        <p:spPr>
          <a:xfrm>
            <a:off x="10090295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96" dirty="0"/>
          </a:p>
        </p:txBody>
      </p:sp>
      <p:sp>
        <p:nvSpPr>
          <p:cNvPr id="136" name="Text 133"/>
          <p:cNvSpPr/>
          <p:nvPr/>
        </p:nvSpPr>
        <p:spPr>
          <a:xfrm>
            <a:off x="10957346" y="174873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287</a:t>
            </a:r>
            <a:endParaRPr lang="en-US" sz="744" dirty="0"/>
          </a:p>
        </p:txBody>
      </p:sp>
      <p:sp>
        <p:nvSpPr>
          <p:cNvPr id="137" name="Text 134"/>
          <p:cNvSpPr/>
          <p:nvPr/>
        </p:nvSpPr>
        <p:spPr>
          <a:xfrm>
            <a:off x="10965382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96" dirty="0"/>
          </a:p>
        </p:txBody>
      </p:sp>
      <p:sp>
        <p:nvSpPr>
          <p:cNvPr id="138" name="Text 135"/>
          <p:cNvSpPr/>
          <p:nvPr/>
        </p:nvSpPr>
        <p:spPr>
          <a:xfrm>
            <a:off x="7643175" y="6052245"/>
            <a:ext cx="11541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24" dirty="0"/>
          </a:p>
        </p:txBody>
      </p:sp>
      <p:sp>
        <p:nvSpPr>
          <p:cNvPr id="139" name="Text 136"/>
          <p:cNvSpPr/>
          <p:nvPr/>
        </p:nvSpPr>
        <p:spPr>
          <a:xfrm>
            <a:off x="10356839" y="6052245"/>
            <a:ext cx="11541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24" dirty="0"/>
          </a:p>
        </p:txBody>
      </p:sp>
      <p:sp>
        <p:nvSpPr>
          <p:cNvPr id="140" name="Text 137"/>
          <p:cNvSpPr/>
          <p:nvPr/>
        </p:nvSpPr>
        <p:spPr>
          <a:xfrm>
            <a:off x="3956497" y="2001166"/>
            <a:ext cx="64902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888" dirty="0"/>
          </a:p>
        </p:txBody>
      </p:sp>
      <p:sp>
        <p:nvSpPr>
          <p:cNvPr id="141" name="Text 138"/>
          <p:cNvSpPr/>
          <p:nvPr/>
        </p:nvSpPr>
        <p:spPr>
          <a:xfrm>
            <a:off x="3956497" y="2244053"/>
            <a:ext cx="64902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888" dirty="0"/>
          </a:p>
        </p:txBody>
      </p:sp>
      <p:sp>
        <p:nvSpPr>
          <p:cNvPr id="142" name="Text 139"/>
          <p:cNvSpPr/>
          <p:nvPr/>
        </p:nvSpPr>
        <p:spPr>
          <a:xfrm>
            <a:off x="3956497" y="2491703"/>
            <a:ext cx="64902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888" dirty="0"/>
          </a:p>
        </p:txBody>
      </p:sp>
      <p:sp>
        <p:nvSpPr>
          <p:cNvPr id="143" name="Text 140"/>
          <p:cNvSpPr/>
          <p:nvPr/>
        </p:nvSpPr>
        <p:spPr>
          <a:xfrm>
            <a:off x="3144213" y="4382416"/>
            <a:ext cx="560578" cy="1952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72" dirty="0"/>
          </a:p>
        </p:txBody>
      </p:sp>
      <p:sp>
        <p:nvSpPr>
          <p:cNvPr id="144" name="Text 141"/>
          <p:cNvSpPr/>
          <p:nvPr/>
        </p:nvSpPr>
        <p:spPr>
          <a:xfrm>
            <a:off x="3688464" y="4382416"/>
            <a:ext cx="545249" cy="1952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672" dirty="0"/>
          </a:p>
        </p:txBody>
      </p:sp>
      <p:sp>
        <p:nvSpPr>
          <p:cNvPr id="145" name="Text 142"/>
          <p:cNvSpPr/>
          <p:nvPr/>
        </p:nvSpPr>
        <p:spPr>
          <a:xfrm>
            <a:off x="4778900" y="4382416"/>
            <a:ext cx="546936" cy="1952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97</a:t>
            </a:r>
            <a:endParaRPr lang="en-US" sz="672" dirty="0"/>
          </a:p>
        </p:txBody>
      </p:sp>
      <p:sp>
        <p:nvSpPr>
          <p:cNvPr id="146" name="Text 143"/>
          <p:cNvSpPr/>
          <p:nvPr/>
        </p:nvSpPr>
        <p:spPr>
          <a:xfrm>
            <a:off x="3688464" y="4577678"/>
            <a:ext cx="545249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72" dirty="0"/>
          </a:p>
        </p:txBody>
      </p:sp>
      <p:sp>
        <p:nvSpPr>
          <p:cNvPr id="147" name="Text 144"/>
          <p:cNvSpPr/>
          <p:nvPr/>
        </p:nvSpPr>
        <p:spPr>
          <a:xfrm>
            <a:off x="4217832" y="4577678"/>
            <a:ext cx="577900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672" dirty="0"/>
          </a:p>
        </p:txBody>
      </p:sp>
      <p:sp>
        <p:nvSpPr>
          <p:cNvPr id="148" name="Text 145"/>
          <p:cNvSpPr/>
          <p:nvPr/>
        </p:nvSpPr>
        <p:spPr>
          <a:xfrm>
            <a:off x="4778900" y="4577678"/>
            <a:ext cx="546936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672" dirty="0"/>
          </a:p>
        </p:txBody>
      </p:sp>
      <p:sp>
        <p:nvSpPr>
          <p:cNvPr id="149" name="Text 146"/>
          <p:cNvSpPr/>
          <p:nvPr/>
        </p:nvSpPr>
        <p:spPr>
          <a:xfrm>
            <a:off x="3688464" y="4777703"/>
            <a:ext cx="545249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72" dirty="0"/>
          </a:p>
        </p:txBody>
      </p:sp>
      <p:sp>
        <p:nvSpPr>
          <p:cNvPr id="150" name="Text 147"/>
          <p:cNvSpPr/>
          <p:nvPr/>
        </p:nvSpPr>
        <p:spPr>
          <a:xfrm>
            <a:off x="4217832" y="4777703"/>
            <a:ext cx="577900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672" dirty="0"/>
          </a:p>
        </p:txBody>
      </p:sp>
      <p:sp>
        <p:nvSpPr>
          <p:cNvPr id="151" name="Text 148"/>
          <p:cNvSpPr/>
          <p:nvPr/>
        </p:nvSpPr>
        <p:spPr>
          <a:xfrm>
            <a:off x="4778900" y="4777703"/>
            <a:ext cx="546936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</a:t>
            </a:r>
            <a:endParaRPr lang="en-US" sz="672" dirty="0"/>
          </a:p>
        </p:txBody>
      </p:sp>
      <p:sp>
        <p:nvSpPr>
          <p:cNvPr id="152" name="Text 149"/>
          <p:cNvSpPr/>
          <p:nvPr/>
        </p:nvSpPr>
        <p:spPr>
          <a:xfrm>
            <a:off x="4778900" y="4977728"/>
            <a:ext cx="546936" cy="20344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72" dirty="0"/>
          </a:p>
        </p:txBody>
      </p:sp>
      <p:sp>
        <p:nvSpPr>
          <p:cNvPr id="153" name="Text 150"/>
          <p:cNvSpPr/>
          <p:nvPr/>
        </p:nvSpPr>
        <p:spPr>
          <a:xfrm>
            <a:off x="5309906" y="4977728"/>
            <a:ext cx="642741" cy="20344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</a:t>
            </a:r>
            <a:endParaRPr lang="en-US" sz="696" dirty="0"/>
          </a:p>
        </p:txBody>
      </p:sp>
      <p:sp>
        <p:nvSpPr>
          <p:cNvPr id="154" name="Text 151"/>
          <p:cNvSpPr/>
          <p:nvPr/>
        </p:nvSpPr>
        <p:spPr>
          <a:xfrm>
            <a:off x="2063004" y="5181176"/>
            <a:ext cx="558279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672" dirty="0"/>
          </a:p>
        </p:txBody>
      </p:sp>
      <p:sp>
        <p:nvSpPr>
          <p:cNvPr id="155" name="Text 152"/>
          <p:cNvSpPr/>
          <p:nvPr/>
        </p:nvSpPr>
        <p:spPr>
          <a:xfrm>
            <a:off x="2605022" y="5181176"/>
            <a:ext cx="555367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672" dirty="0"/>
          </a:p>
        </p:txBody>
      </p:sp>
      <p:sp>
        <p:nvSpPr>
          <p:cNvPr id="156" name="Text 153"/>
          <p:cNvSpPr/>
          <p:nvPr/>
        </p:nvSpPr>
        <p:spPr>
          <a:xfrm>
            <a:off x="3144213" y="5181176"/>
            <a:ext cx="560578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72" dirty="0"/>
          </a:p>
        </p:txBody>
      </p:sp>
      <p:sp>
        <p:nvSpPr>
          <p:cNvPr id="157" name="Text 154"/>
          <p:cNvSpPr/>
          <p:nvPr/>
        </p:nvSpPr>
        <p:spPr>
          <a:xfrm>
            <a:off x="3688464" y="5181176"/>
            <a:ext cx="545249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</a:t>
            </a:r>
            <a:endParaRPr lang="en-US" sz="672" dirty="0"/>
          </a:p>
        </p:txBody>
      </p:sp>
      <p:sp>
        <p:nvSpPr>
          <p:cNvPr id="158" name="Text 155"/>
          <p:cNvSpPr/>
          <p:nvPr/>
        </p:nvSpPr>
        <p:spPr>
          <a:xfrm>
            <a:off x="6668524" y="2915841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44" dirty="0"/>
          </a:p>
        </p:txBody>
      </p:sp>
      <p:sp>
        <p:nvSpPr>
          <p:cNvPr id="159" name="Text 156"/>
          <p:cNvSpPr/>
          <p:nvPr/>
        </p:nvSpPr>
        <p:spPr>
          <a:xfrm>
            <a:off x="7532598" y="289813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44" dirty="0"/>
          </a:p>
        </p:txBody>
      </p:sp>
      <p:sp>
        <p:nvSpPr>
          <p:cNvPr id="160" name="Text 157"/>
          <p:cNvSpPr/>
          <p:nvPr/>
        </p:nvSpPr>
        <p:spPr>
          <a:xfrm>
            <a:off x="8395631" y="259630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744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6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84131"/>
            <a:ext cx="8767219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enviados anteriormente: cada vez hay menos clientes nuevos en la base — hay mucho cliente que ya gestionamos en algún momento (los re-envíos suman el 16,6 % del descarte).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237684"/>
            <a:ext cx="8767219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descarte principal es Cuota Protegida Activa (50,9 %), lo que indica que el 1S se depuró correctamente contra clientes vigentes antes de lanzar el marcador.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530578"/>
            <a:ext cx="8767219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 representa el 15,9 % de la gestión de leads aptos, convirtiéndose en el motor de ventas del canal.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685783" y="6091238"/>
            <a:ext cx="8767219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 base tiene la mayor contactabilidad del canal (79,0 % Semestre) y una efectividad sobresaliente.</a:t>
            </a:r>
            <a:endParaRPr lang="en-US" sz="744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379497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Bienvenidas CP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8216595" y="1200894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Alta efectividad comercial sobre contacto</a:t>
            </a:r>
            <a:endParaRPr lang="en-US" sz="648" dirty="0"/>
          </a:p>
        </p:txBody>
      </p:sp>
      <p:sp>
        <p:nvSpPr>
          <p:cNvPr id="9" name="Text 6"/>
          <p:cNvSpPr/>
          <p:nvPr/>
        </p:nvSpPr>
        <p:spPr>
          <a:xfrm>
            <a:off x="6257769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0" name="Text 7"/>
          <p:cNvSpPr/>
          <p:nvPr/>
        </p:nvSpPr>
        <p:spPr>
          <a:xfrm>
            <a:off x="495288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6267293" y="48870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2" name="Text 9"/>
          <p:cNvSpPr/>
          <p:nvPr/>
        </p:nvSpPr>
        <p:spPr>
          <a:xfrm>
            <a:off x="533387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Líder en contactabilidad del canal</a:t>
            </a:r>
            <a:endParaRPr lang="en-US" sz="648" dirty="0"/>
          </a:p>
        </p:txBody>
      </p:sp>
      <p:sp>
        <p:nvSpPr>
          <p:cNvPr id="13" name="Text 10"/>
          <p:cNvSpPr/>
          <p:nvPr/>
        </p:nvSpPr>
        <p:spPr>
          <a:xfrm>
            <a:off x="6257769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504812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Excede límite de edad (&gt;80 años)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504812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16" name="Text 13"/>
          <p:cNvSpPr/>
          <p:nvPr/>
        </p:nvSpPr>
        <p:spPr>
          <a:xfrm>
            <a:off x="552436" y="5935266"/>
            <a:ext cx="1673304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7" name="Text 14"/>
          <p:cNvSpPr/>
          <p:nvPr/>
        </p:nvSpPr>
        <p:spPr>
          <a:xfrm>
            <a:off x="504812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8" name="Text 15"/>
          <p:cNvSpPr/>
          <p:nvPr/>
        </p:nvSpPr>
        <p:spPr>
          <a:xfrm>
            <a:off x="504812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con Localidad Errónea</a:t>
            </a:r>
            <a:endParaRPr lang="en-US" sz="576" dirty="0"/>
          </a:p>
        </p:txBody>
      </p:sp>
      <p:sp>
        <p:nvSpPr>
          <p:cNvPr id="19" name="Text 16"/>
          <p:cNvSpPr/>
          <p:nvPr/>
        </p:nvSpPr>
        <p:spPr>
          <a:xfrm>
            <a:off x="495288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6267293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1" name="Text 18"/>
          <p:cNvSpPr/>
          <p:nvPr/>
        </p:nvSpPr>
        <p:spPr>
          <a:xfrm>
            <a:off x="6267293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22" name="Text 19"/>
          <p:cNvSpPr/>
          <p:nvPr/>
        </p:nvSpPr>
        <p:spPr>
          <a:xfrm>
            <a:off x="6267293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errados / experiencia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precio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6267293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25" name="Text 22"/>
          <p:cNvSpPr/>
          <p:nvPr/>
        </p:nvSpPr>
        <p:spPr>
          <a:xfrm>
            <a:off x="4374991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Motor de ventas del canal</a:t>
            </a:r>
            <a:endParaRPr lang="en-US" sz="648" dirty="0"/>
          </a:p>
        </p:txBody>
      </p:sp>
      <p:sp>
        <p:nvSpPr>
          <p:cNvPr id="26" name="Text 23"/>
          <p:cNvSpPr/>
          <p:nvPr/>
        </p:nvSpPr>
        <p:spPr>
          <a:xfrm>
            <a:off x="504812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Cédula/Teléfono Repetido</a:t>
            </a:r>
            <a:endParaRPr lang="en-US" sz="576" dirty="0"/>
          </a:p>
        </p:txBody>
      </p:sp>
      <p:sp>
        <p:nvSpPr>
          <p:cNvPr id="27" name="Text 24"/>
          <p:cNvSpPr/>
          <p:nvPr/>
        </p:nvSpPr>
        <p:spPr>
          <a:xfrm>
            <a:off x="533387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504812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</a:t>
            </a:r>
            <a:endParaRPr lang="en-US" sz="576" dirty="0"/>
          </a:p>
        </p:txBody>
      </p:sp>
      <p:sp>
        <p:nvSpPr>
          <p:cNvPr id="29" name="Text 26"/>
          <p:cNvSpPr/>
          <p:nvPr/>
        </p:nvSpPr>
        <p:spPr>
          <a:xfrm>
            <a:off x="6267293" y="46203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30" name="Text 27"/>
          <p:cNvSpPr/>
          <p:nvPr/>
        </p:nvSpPr>
        <p:spPr>
          <a:xfrm>
            <a:off x="504812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31" name="Text 28"/>
          <p:cNvSpPr/>
          <p:nvPr/>
        </p:nvSpPr>
        <p:spPr>
          <a:xfrm>
            <a:off x="6267293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32" name="Text 29"/>
          <p:cNvSpPr/>
          <p:nvPr/>
        </p:nvSpPr>
        <p:spPr>
          <a:xfrm>
            <a:off x="8216595" y="809625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PROMEDIO</a:t>
            </a:r>
            <a:endParaRPr lang="en-US" sz="672" dirty="0"/>
          </a:p>
        </p:txBody>
      </p:sp>
      <p:sp>
        <p:nvSpPr>
          <p:cNvPr id="33" name="Text 30"/>
          <p:cNvSpPr/>
          <p:nvPr/>
        </p:nvSpPr>
        <p:spPr>
          <a:xfrm>
            <a:off x="504812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34" name="Text 31"/>
          <p:cNvSpPr/>
          <p:nvPr/>
        </p:nvSpPr>
        <p:spPr>
          <a:xfrm>
            <a:off x="504812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Contrato Repetido</a:t>
            </a:r>
            <a:endParaRPr lang="en-US" sz="576" dirty="0"/>
          </a:p>
        </p:txBody>
      </p:sp>
      <p:sp>
        <p:nvSpPr>
          <p:cNvPr id="35" name="Text 32"/>
          <p:cNvSpPr/>
          <p:nvPr/>
        </p:nvSpPr>
        <p:spPr>
          <a:xfrm>
            <a:off x="6267293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36" name="Text 33"/>
          <p:cNvSpPr/>
          <p:nvPr/>
        </p:nvSpPr>
        <p:spPr>
          <a:xfrm>
            <a:off x="6267293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37" name="Text 34"/>
          <p:cNvSpPr/>
          <p:nvPr/>
        </p:nvSpPr>
        <p:spPr>
          <a:xfrm>
            <a:off x="6267293" y="50204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8" name="Text 35"/>
          <p:cNvSpPr/>
          <p:nvPr/>
        </p:nvSpPr>
        <p:spPr>
          <a:xfrm>
            <a:off x="6267293" y="515379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9" name="Text 36"/>
          <p:cNvSpPr/>
          <p:nvPr/>
        </p:nvSpPr>
        <p:spPr>
          <a:xfrm>
            <a:off x="4374991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TOTALES</a:t>
            </a:r>
            <a:endParaRPr lang="en-US" sz="672" dirty="0"/>
          </a:p>
        </p:txBody>
      </p:sp>
      <p:sp>
        <p:nvSpPr>
          <p:cNvPr id="40" name="Text 37"/>
          <p:cNvSpPr/>
          <p:nvPr/>
        </p:nvSpPr>
        <p:spPr>
          <a:xfrm>
            <a:off x="10281832" y="1681930"/>
            <a:ext cx="145701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6267293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42" name="Text 39"/>
          <p:cNvSpPr/>
          <p:nvPr/>
        </p:nvSpPr>
        <p:spPr>
          <a:xfrm>
            <a:off x="6267293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6267293" y="44870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44" name="Text 41"/>
          <p:cNvSpPr/>
          <p:nvPr/>
        </p:nvSpPr>
        <p:spPr>
          <a:xfrm>
            <a:off x="6267293" y="47537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45" name="Text 42"/>
          <p:cNvSpPr/>
          <p:nvPr/>
        </p:nvSpPr>
        <p:spPr>
          <a:xfrm>
            <a:off x="2996877" y="1681930"/>
            <a:ext cx="1568454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8324195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1582896" y="1681930"/>
            <a:ext cx="145640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4519648" y="1681930"/>
            <a:ext cx="145670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495288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1582896" y="2705867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114.694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6257769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1582896" y="1853380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14.772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4519648" y="1853380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57,4 %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1582896" y="19914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19.573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2996877" y="199149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11.134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4519648" y="19914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56,9 %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1582896" y="213436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21.419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2996877" y="2134367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13.486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4519648" y="213436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63,0 %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1582896" y="227724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19.096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2996877" y="227724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10.792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4519648" y="227724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56,5 %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1582896" y="242011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20.067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2996877" y="2420117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13.166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4519648" y="242011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65,6 %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1582896" y="25629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19.767</a:t>
            </a:r>
            <a:endParaRPr lang="en-US" sz="636" dirty="0"/>
          </a:p>
        </p:txBody>
      </p:sp>
      <p:sp>
        <p:nvSpPr>
          <p:cNvPr id="67" name="Text 64"/>
          <p:cNvSpPr/>
          <p:nvPr/>
        </p:nvSpPr>
        <p:spPr>
          <a:xfrm>
            <a:off x="2996877" y="256299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13.203</a:t>
            </a:r>
            <a:endParaRPr lang="en-US" sz="636" dirty="0"/>
          </a:p>
        </p:txBody>
      </p:sp>
      <p:sp>
        <p:nvSpPr>
          <p:cNvPr id="68" name="Text 65"/>
          <p:cNvSpPr/>
          <p:nvPr/>
        </p:nvSpPr>
        <p:spPr>
          <a:xfrm>
            <a:off x="4519648" y="25629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66,8 %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2996877" y="2705867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70.266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519648" y="2705867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61,3 %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504812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5226118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35.758</a:t>
            </a:r>
            <a:endParaRPr lang="en-US" sz="576" dirty="0"/>
          </a:p>
        </p:txBody>
      </p:sp>
      <p:sp>
        <p:nvSpPr>
          <p:cNvPr id="73" name="Text 70"/>
          <p:cNvSpPr/>
          <p:nvPr/>
        </p:nvSpPr>
        <p:spPr>
          <a:xfrm>
            <a:off x="5226118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12.760</a:t>
            </a:r>
            <a:endParaRPr lang="en-US" sz="576" dirty="0"/>
          </a:p>
        </p:txBody>
      </p:sp>
      <p:sp>
        <p:nvSpPr>
          <p:cNvPr id="74" name="Text 71"/>
          <p:cNvSpPr/>
          <p:nvPr/>
        </p:nvSpPr>
        <p:spPr>
          <a:xfrm>
            <a:off x="2812186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11.134</a:t>
            </a:r>
            <a:endParaRPr lang="en-US" sz="576" dirty="0"/>
          </a:p>
        </p:txBody>
      </p:sp>
      <p:sp>
        <p:nvSpPr>
          <p:cNvPr id="75" name="Text 72"/>
          <p:cNvSpPr/>
          <p:nvPr/>
        </p:nvSpPr>
        <p:spPr>
          <a:xfrm>
            <a:off x="3294972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13.486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3777759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10.792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4260545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13.166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4743331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13.203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5226118" y="448704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70.266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9303014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8324195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81,5 %</a:t>
            </a:r>
            <a:endParaRPr lang="en-US" sz="636" dirty="0"/>
          </a:p>
        </p:txBody>
      </p:sp>
      <p:sp>
        <p:nvSpPr>
          <p:cNvPr id="82" name="Text 79"/>
          <p:cNvSpPr/>
          <p:nvPr/>
        </p:nvSpPr>
        <p:spPr>
          <a:xfrm>
            <a:off x="10281832" y="1853380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23,8 %</a:t>
            </a:r>
            <a:endParaRPr lang="en-US" sz="636" dirty="0"/>
          </a:p>
        </p:txBody>
      </p:sp>
      <p:sp>
        <p:nvSpPr>
          <p:cNvPr id="83" name="Text 80"/>
          <p:cNvSpPr/>
          <p:nvPr/>
        </p:nvSpPr>
        <p:spPr>
          <a:xfrm>
            <a:off x="8324195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79,1 %</a:t>
            </a:r>
            <a:endParaRPr lang="en-US" sz="636" dirty="0"/>
          </a:p>
        </p:txBody>
      </p:sp>
      <p:sp>
        <p:nvSpPr>
          <p:cNvPr id="84" name="Text 81"/>
          <p:cNvSpPr/>
          <p:nvPr/>
        </p:nvSpPr>
        <p:spPr>
          <a:xfrm>
            <a:off x="10281832" y="19914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21,7 %</a:t>
            </a:r>
            <a:endParaRPr lang="en-US" sz="636" dirty="0"/>
          </a:p>
        </p:txBody>
      </p:sp>
      <p:sp>
        <p:nvSpPr>
          <p:cNvPr id="85" name="Text 82"/>
          <p:cNvSpPr/>
          <p:nvPr/>
        </p:nvSpPr>
        <p:spPr>
          <a:xfrm>
            <a:off x="8324195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78,5 %</a:t>
            </a:r>
            <a:endParaRPr lang="en-US" sz="636" dirty="0"/>
          </a:p>
        </p:txBody>
      </p:sp>
      <p:sp>
        <p:nvSpPr>
          <p:cNvPr id="86" name="Text 83"/>
          <p:cNvSpPr/>
          <p:nvPr/>
        </p:nvSpPr>
        <p:spPr>
          <a:xfrm>
            <a:off x="10281832" y="213436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18,7 %</a:t>
            </a:r>
            <a:endParaRPr lang="en-US" sz="636" dirty="0"/>
          </a:p>
        </p:txBody>
      </p:sp>
      <p:sp>
        <p:nvSpPr>
          <p:cNvPr id="87" name="Text 84"/>
          <p:cNvSpPr/>
          <p:nvPr/>
        </p:nvSpPr>
        <p:spPr>
          <a:xfrm>
            <a:off x="8324195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75,6 %</a:t>
            </a:r>
            <a:endParaRPr lang="en-US" sz="636" dirty="0"/>
          </a:p>
        </p:txBody>
      </p:sp>
      <p:sp>
        <p:nvSpPr>
          <p:cNvPr id="88" name="Text 85"/>
          <p:cNvSpPr/>
          <p:nvPr/>
        </p:nvSpPr>
        <p:spPr>
          <a:xfrm>
            <a:off x="10281832" y="227724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17,2 %</a:t>
            </a:r>
            <a:endParaRPr lang="en-US" sz="636" dirty="0"/>
          </a:p>
        </p:txBody>
      </p:sp>
      <p:sp>
        <p:nvSpPr>
          <p:cNvPr id="89" name="Text 86"/>
          <p:cNvSpPr/>
          <p:nvPr/>
        </p:nvSpPr>
        <p:spPr>
          <a:xfrm>
            <a:off x="8324195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82,3 %</a:t>
            </a:r>
            <a:endParaRPr lang="en-US" sz="636" dirty="0"/>
          </a:p>
        </p:txBody>
      </p:sp>
      <p:sp>
        <p:nvSpPr>
          <p:cNvPr id="90" name="Text 87"/>
          <p:cNvSpPr/>
          <p:nvPr/>
        </p:nvSpPr>
        <p:spPr>
          <a:xfrm>
            <a:off x="10281832" y="242011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20,1 %</a:t>
            </a:r>
            <a:endParaRPr lang="en-US" sz="636" dirty="0"/>
          </a:p>
        </p:txBody>
      </p:sp>
      <p:sp>
        <p:nvSpPr>
          <p:cNvPr id="91" name="Text 88"/>
          <p:cNvSpPr/>
          <p:nvPr/>
        </p:nvSpPr>
        <p:spPr>
          <a:xfrm>
            <a:off x="8324195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77,9 %</a:t>
            </a:r>
            <a:endParaRPr lang="en-US" sz="636" dirty="0"/>
          </a:p>
        </p:txBody>
      </p:sp>
      <p:sp>
        <p:nvSpPr>
          <p:cNvPr id="92" name="Text 89"/>
          <p:cNvSpPr/>
          <p:nvPr/>
        </p:nvSpPr>
        <p:spPr>
          <a:xfrm>
            <a:off x="10281832" y="25629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19,9 %</a:t>
            </a:r>
            <a:endParaRPr lang="en-US" sz="636" dirty="0"/>
          </a:p>
        </p:txBody>
      </p:sp>
      <p:sp>
        <p:nvSpPr>
          <p:cNvPr id="93" name="Text 90"/>
          <p:cNvSpPr/>
          <p:nvPr/>
        </p:nvSpPr>
        <p:spPr>
          <a:xfrm>
            <a:off x="7345377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44.428</a:t>
            </a:r>
            <a:endParaRPr lang="en-US" sz="636" dirty="0"/>
          </a:p>
        </p:txBody>
      </p:sp>
      <p:sp>
        <p:nvSpPr>
          <p:cNvPr id="94" name="Text 91"/>
          <p:cNvSpPr/>
          <p:nvPr/>
        </p:nvSpPr>
        <p:spPr>
          <a:xfrm>
            <a:off x="8324195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79,0 %</a:t>
            </a:r>
            <a:endParaRPr lang="en-US" sz="636" dirty="0"/>
          </a:p>
        </p:txBody>
      </p:sp>
      <p:sp>
        <p:nvSpPr>
          <p:cNvPr id="95" name="Text 92"/>
          <p:cNvSpPr/>
          <p:nvPr/>
        </p:nvSpPr>
        <p:spPr>
          <a:xfrm>
            <a:off x="10281832" y="2705867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22,0 %</a:t>
            </a:r>
            <a:endParaRPr lang="en-US" sz="636" dirty="0"/>
          </a:p>
        </p:txBody>
      </p:sp>
      <p:sp>
        <p:nvSpPr>
          <p:cNvPr id="96" name="Text 93"/>
          <p:cNvSpPr/>
          <p:nvPr/>
        </p:nvSpPr>
        <p:spPr>
          <a:xfrm>
            <a:off x="809188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81,5 %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8574667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79,1 %</a:t>
            </a:r>
            <a:endParaRPr lang="en-US" sz="552" dirty="0"/>
          </a:p>
        </p:txBody>
      </p:sp>
      <p:sp>
        <p:nvSpPr>
          <p:cNvPr id="98" name="Text 95"/>
          <p:cNvSpPr/>
          <p:nvPr/>
        </p:nvSpPr>
        <p:spPr>
          <a:xfrm>
            <a:off x="9057453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78,5 %</a:t>
            </a:r>
            <a:endParaRPr lang="en-US" sz="552" dirty="0"/>
          </a:p>
        </p:txBody>
      </p:sp>
      <p:sp>
        <p:nvSpPr>
          <p:cNvPr id="99" name="Text 96"/>
          <p:cNvSpPr/>
          <p:nvPr/>
        </p:nvSpPr>
        <p:spPr>
          <a:xfrm>
            <a:off x="954024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75,6 %</a:t>
            </a:r>
            <a:endParaRPr lang="en-US" sz="552" dirty="0"/>
          </a:p>
        </p:txBody>
      </p:sp>
      <p:sp>
        <p:nvSpPr>
          <p:cNvPr id="100" name="Text 97"/>
          <p:cNvSpPr/>
          <p:nvPr/>
        </p:nvSpPr>
        <p:spPr>
          <a:xfrm>
            <a:off x="1002302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82,3 %</a:t>
            </a:r>
            <a:endParaRPr lang="en-US" sz="552" dirty="0"/>
          </a:p>
        </p:txBody>
      </p:sp>
      <p:sp>
        <p:nvSpPr>
          <p:cNvPr id="101" name="Text 98"/>
          <p:cNvSpPr/>
          <p:nvPr/>
        </p:nvSpPr>
        <p:spPr>
          <a:xfrm>
            <a:off x="1050581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77,9 %</a:t>
            </a:r>
            <a:endParaRPr lang="en-US" sz="552" dirty="0"/>
          </a:p>
        </p:txBody>
      </p:sp>
      <p:sp>
        <p:nvSpPr>
          <p:cNvPr id="102" name="Text 99"/>
          <p:cNvSpPr/>
          <p:nvPr/>
        </p:nvSpPr>
        <p:spPr>
          <a:xfrm>
            <a:off x="10988599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79,0 %</a:t>
            </a:r>
            <a:endParaRPr lang="en-US" sz="552" dirty="0"/>
          </a:p>
        </p:txBody>
      </p:sp>
      <p:sp>
        <p:nvSpPr>
          <p:cNvPr id="103" name="Text 100"/>
          <p:cNvSpPr/>
          <p:nvPr/>
        </p:nvSpPr>
        <p:spPr>
          <a:xfrm>
            <a:off x="809188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19,9 %</a:t>
            </a:r>
            <a:endParaRPr lang="en-US" sz="552" dirty="0"/>
          </a:p>
        </p:txBody>
      </p:sp>
      <p:sp>
        <p:nvSpPr>
          <p:cNvPr id="104" name="Text 101"/>
          <p:cNvSpPr/>
          <p:nvPr/>
        </p:nvSpPr>
        <p:spPr>
          <a:xfrm>
            <a:off x="8574667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17,5 %</a:t>
            </a:r>
            <a:endParaRPr lang="en-US" sz="552" dirty="0"/>
          </a:p>
        </p:txBody>
      </p:sp>
      <p:sp>
        <p:nvSpPr>
          <p:cNvPr id="105" name="Text 102"/>
          <p:cNvSpPr/>
          <p:nvPr/>
        </p:nvSpPr>
        <p:spPr>
          <a:xfrm>
            <a:off x="9057453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15,9 %</a:t>
            </a:r>
            <a:endParaRPr lang="en-US" sz="552" dirty="0"/>
          </a:p>
        </p:txBody>
      </p:sp>
      <p:sp>
        <p:nvSpPr>
          <p:cNvPr id="106" name="Text 103"/>
          <p:cNvSpPr/>
          <p:nvPr/>
        </p:nvSpPr>
        <p:spPr>
          <a:xfrm>
            <a:off x="954024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14,2 %</a:t>
            </a:r>
            <a:endParaRPr lang="en-US" sz="552" dirty="0"/>
          </a:p>
        </p:txBody>
      </p:sp>
      <p:sp>
        <p:nvSpPr>
          <p:cNvPr id="107" name="Text 104"/>
          <p:cNvSpPr/>
          <p:nvPr/>
        </p:nvSpPr>
        <p:spPr>
          <a:xfrm>
            <a:off x="1002302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552" dirty="0"/>
          </a:p>
        </p:txBody>
      </p:sp>
      <p:sp>
        <p:nvSpPr>
          <p:cNvPr id="108" name="Text 105"/>
          <p:cNvSpPr/>
          <p:nvPr/>
        </p:nvSpPr>
        <p:spPr>
          <a:xfrm>
            <a:off x="1050581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19,1 %</a:t>
            </a:r>
            <a:endParaRPr lang="en-US" sz="552" dirty="0"/>
          </a:p>
        </p:txBody>
      </p:sp>
      <p:sp>
        <p:nvSpPr>
          <p:cNvPr id="109" name="Text 106"/>
          <p:cNvSpPr/>
          <p:nvPr/>
        </p:nvSpPr>
        <p:spPr>
          <a:xfrm>
            <a:off x="10988599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15,9 %</a:t>
            </a:r>
            <a:endParaRPr lang="en-US" sz="552" dirty="0"/>
          </a:p>
        </p:txBody>
      </p:sp>
      <p:sp>
        <p:nvSpPr>
          <p:cNvPr id="110" name="Text 107"/>
          <p:cNvSpPr/>
          <p:nvPr/>
        </p:nvSpPr>
        <p:spPr>
          <a:xfrm>
            <a:off x="809188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31,6 %</a:t>
            </a:r>
            <a:endParaRPr lang="en-US" sz="552" dirty="0"/>
          </a:p>
        </p:txBody>
      </p:sp>
      <p:sp>
        <p:nvSpPr>
          <p:cNvPr id="111" name="Text 108"/>
          <p:cNvSpPr/>
          <p:nvPr/>
        </p:nvSpPr>
        <p:spPr>
          <a:xfrm>
            <a:off x="8574667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30,7 %</a:t>
            </a:r>
            <a:endParaRPr lang="en-US" sz="552" dirty="0"/>
          </a:p>
        </p:txBody>
      </p:sp>
      <p:sp>
        <p:nvSpPr>
          <p:cNvPr id="112" name="Text 109"/>
          <p:cNvSpPr/>
          <p:nvPr/>
        </p:nvSpPr>
        <p:spPr>
          <a:xfrm>
            <a:off x="9057453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30,4 %</a:t>
            </a:r>
            <a:endParaRPr lang="en-US" sz="552" dirty="0"/>
          </a:p>
        </p:txBody>
      </p:sp>
      <p:sp>
        <p:nvSpPr>
          <p:cNvPr id="113" name="Text 110"/>
          <p:cNvSpPr/>
          <p:nvPr/>
        </p:nvSpPr>
        <p:spPr>
          <a:xfrm>
            <a:off x="954024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29,3 %</a:t>
            </a:r>
            <a:endParaRPr lang="en-US" sz="552" dirty="0"/>
          </a:p>
        </p:txBody>
      </p:sp>
      <p:sp>
        <p:nvSpPr>
          <p:cNvPr id="114" name="Text 111"/>
          <p:cNvSpPr/>
          <p:nvPr/>
        </p:nvSpPr>
        <p:spPr>
          <a:xfrm>
            <a:off x="1002302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31,9 %</a:t>
            </a:r>
            <a:endParaRPr lang="en-US" sz="552" dirty="0"/>
          </a:p>
        </p:txBody>
      </p:sp>
      <p:sp>
        <p:nvSpPr>
          <p:cNvPr id="115" name="Text 112"/>
          <p:cNvSpPr/>
          <p:nvPr/>
        </p:nvSpPr>
        <p:spPr>
          <a:xfrm>
            <a:off x="1050581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30,2 %</a:t>
            </a:r>
            <a:endParaRPr lang="en-US" sz="552" dirty="0"/>
          </a:p>
        </p:txBody>
      </p:sp>
      <p:sp>
        <p:nvSpPr>
          <p:cNvPr id="116" name="Text 113"/>
          <p:cNvSpPr/>
          <p:nvPr/>
        </p:nvSpPr>
        <p:spPr>
          <a:xfrm>
            <a:off x="10988599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30,6 %</a:t>
            </a:r>
            <a:endParaRPr lang="en-US" sz="552" dirty="0"/>
          </a:p>
        </p:txBody>
      </p:sp>
      <p:sp>
        <p:nvSpPr>
          <p:cNvPr id="117" name="Text 114"/>
          <p:cNvSpPr/>
          <p:nvPr/>
        </p:nvSpPr>
        <p:spPr>
          <a:xfrm>
            <a:off x="809188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10,3 %</a:t>
            </a:r>
            <a:endParaRPr lang="en-US" sz="552" dirty="0"/>
          </a:p>
        </p:txBody>
      </p:sp>
      <p:sp>
        <p:nvSpPr>
          <p:cNvPr id="118" name="Text 115"/>
          <p:cNvSpPr/>
          <p:nvPr/>
        </p:nvSpPr>
        <p:spPr>
          <a:xfrm>
            <a:off x="8574667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119" name="Text 116"/>
          <p:cNvSpPr/>
          <p:nvPr/>
        </p:nvSpPr>
        <p:spPr>
          <a:xfrm>
            <a:off x="1002302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10,4 %</a:t>
            </a:r>
            <a:endParaRPr lang="en-US" sz="552" dirty="0"/>
          </a:p>
        </p:txBody>
      </p:sp>
      <p:sp>
        <p:nvSpPr>
          <p:cNvPr id="120" name="Text 117"/>
          <p:cNvSpPr/>
          <p:nvPr/>
        </p:nvSpPr>
        <p:spPr>
          <a:xfrm>
            <a:off x="10988599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121" name="Text 118"/>
          <p:cNvSpPr/>
          <p:nvPr/>
        </p:nvSpPr>
        <p:spPr>
          <a:xfrm>
            <a:off x="8091881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18,5 %</a:t>
            </a:r>
            <a:endParaRPr lang="en-US" sz="552" dirty="0"/>
          </a:p>
        </p:txBody>
      </p:sp>
      <p:sp>
        <p:nvSpPr>
          <p:cNvPr id="122" name="Text 119"/>
          <p:cNvSpPr/>
          <p:nvPr/>
        </p:nvSpPr>
        <p:spPr>
          <a:xfrm>
            <a:off x="8574667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20,9 %</a:t>
            </a:r>
            <a:endParaRPr lang="en-US" sz="552" dirty="0"/>
          </a:p>
        </p:txBody>
      </p:sp>
      <p:sp>
        <p:nvSpPr>
          <p:cNvPr id="123" name="Text 120"/>
          <p:cNvSpPr/>
          <p:nvPr/>
        </p:nvSpPr>
        <p:spPr>
          <a:xfrm>
            <a:off x="9057453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21,5 %</a:t>
            </a:r>
            <a:endParaRPr lang="en-US" sz="552" dirty="0"/>
          </a:p>
        </p:txBody>
      </p:sp>
      <p:sp>
        <p:nvSpPr>
          <p:cNvPr id="124" name="Text 121"/>
          <p:cNvSpPr/>
          <p:nvPr/>
        </p:nvSpPr>
        <p:spPr>
          <a:xfrm>
            <a:off x="9540240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24,4 %</a:t>
            </a:r>
            <a:endParaRPr lang="en-US" sz="552" dirty="0"/>
          </a:p>
        </p:txBody>
      </p:sp>
      <p:sp>
        <p:nvSpPr>
          <p:cNvPr id="125" name="Text 122"/>
          <p:cNvSpPr/>
          <p:nvPr/>
        </p:nvSpPr>
        <p:spPr>
          <a:xfrm>
            <a:off x="10023026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552" dirty="0"/>
          </a:p>
        </p:txBody>
      </p:sp>
      <p:sp>
        <p:nvSpPr>
          <p:cNvPr id="126" name="Text 123"/>
          <p:cNvSpPr/>
          <p:nvPr/>
        </p:nvSpPr>
        <p:spPr>
          <a:xfrm>
            <a:off x="10505812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22,1 %</a:t>
            </a:r>
            <a:endParaRPr lang="en-US" sz="552" dirty="0"/>
          </a:p>
        </p:txBody>
      </p:sp>
      <p:sp>
        <p:nvSpPr>
          <p:cNvPr id="127" name="Text 124"/>
          <p:cNvSpPr/>
          <p:nvPr/>
        </p:nvSpPr>
        <p:spPr>
          <a:xfrm>
            <a:off x="10988599" y="44870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21,0 %</a:t>
            </a:r>
            <a:endParaRPr lang="en-US" sz="552" dirty="0"/>
          </a:p>
        </p:txBody>
      </p:sp>
      <p:sp>
        <p:nvSpPr>
          <p:cNvPr id="128" name="Text 125"/>
          <p:cNvSpPr/>
          <p:nvPr/>
        </p:nvSpPr>
        <p:spPr>
          <a:xfrm>
            <a:off x="8091881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129" name="Text 126"/>
          <p:cNvSpPr/>
          <p:nvPr/>
        </p:nvSpPr>
        <p:spPr>
          <a:xfrm>
            <a:off x="8574667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13,7 %</a:t>
            </a:r>
            <a:endParaRPr lang="en-US" sz="552" dirty="0"/>
          </a:p>
        </p:txBody>
      </p:sp>
      <p:sp>
        <p:nvSpPr>
          <p:cNvPr id="130" name="Text 127"/>
          <p:cNvSpPr/>
          <p:nvPr/>
        </p:nvSpPr>
        <p:spPr>
          <a:xfrm>
            <a:off x="9057453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14,1 %</a:t>
            </a:r>
            <a:endParaRPr lang="en-US" sz="552" dirty="0"/>
          </a:p>
        </p:txBody>
      </p:sp>
      <p:sp>
        <p:nvSpPr>
          <p:cNvPr id="131" name="Text 128"/>
          <p:cNvSpPr/>
          <p:nvPr/>
        </p:nvSpPr>
        <p:spPr>
          <a:xfrm>
            <a:off x="9540240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16,0 %</a:t>
            </a:r>
            <a:endParaRPr lang="en-US" sz="552" dirty="0"/>
          </a:p>
        </p:txBody>
      </p:sp>
      <p:sp>
        <p:nvSpPr>
          <p:cNvPr id="132" name="Text 129"/>
          <p:cNvSpPr/>
          <p:nvPr/>
        </p:nvSpPr>
        <p:spPr>
          <a:xfrm>
            <a:off x="10023026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11,6 %</a:t>
            </a:r>
            <a:endParaRPr lang="en-US" sz="552" dirty="0"/>
          </a:p>
        </p:txBody>
      </p:sp>
      <p:sp>
        <p:nvSpPr>
          <p:cNvPr id="133" name="Text 130"/>
          <p:cNvSpPr/>
          <p:nvPr/>
        </p:nvSpPr>
        <p:spPr>
          <a:xfrm>
            <a:off x="10505812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14,5 %</a:t>
            </a:r>
            <a:endParaRPr lang="en-US" sz="552" dirty="0"/>
          </a:p>
        </p:txBody>
      </p:sp>
      <p:sp>
        <p:nvSpPr>
          <p:cNvPr id="134" name="Text 131"/>
          <p:cNvSpPr/>
          <p:nvPr/>
        </p:nvSpPr>
        <p:spPr>
          <a:xfrm>
            <a:off x="10988599" y="46203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13,8 %</a:t>
            </a:r>
            <a:endParaRPr lang="en-US" sz="552" dirty="0"/>
          </a:p>
        </p:txBody>
      </p:sp>
      <p:sp>
        <p:nvSpPr>
          <p:cNvPr id="135" name="Text 132"/>
          <p:cNvSpPr/>
          <p:nvPr/>
        </p:nvSpPr>
        <p:spPr>
          <a:xfrm>
            <a:off x="8216595" y="952500"/>
            <a:ext cx="3584207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20,1 %</a:t>
            </a:r>
            <a:endParaRPr lang="en-US" sz="1380" dirty="0"/>
          </a:p>
        </p:txBody>
      </p:sp>
      <p:sp>
        <p:nvSpPr>
          <p:cNvPr id="136" name="Text 133"/>
          <p:cNvSpPr/>
          <p:nvPr/>
        </p:nvSpPr>
        <p:spPr>
          <a:xfrm>
            <a:off x="495288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37" name="Text 134"/>
          <p:cNvSpPr/>
          <p:nvPr/>
        </p:nvSpPr>
        <p:spPr>
          <a:xfrm>
            <a:off x="2996877" y="1853380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8.485</a:t>
            </a:r>
            <a:endParaRPr lang="en-US" sz="636" dirty="0"/>
          </a:p>
        </p:txBody>
      </p:sp>
      <p:sp>
        <p:nvSpPr>
          <p:cNvPr id="138" name="Text 135"/>
          <p:cNvSpPr/>
          <p:nvPr/>
        </p:nvSpPr>
        <p:spPr>
          <a:xfrm>
            <a:off x="495288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39" name="Text 136"/>
          <p:cNvSpPr/>
          <p:nvPr/>
        </p:nvSpPr>
        <p:spPr>
          <a:xfrm>
            <a:off x="495288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40" name="Text 137"/>
          <p:cNvSpPr/>
          <p:nvPr/>
        </p:nvSpPr>
        <p:spPr>
          <a:xfrm>
            <a:off x="495288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41" name="Text 138"/>
          <p:cNvSpPr/>
          <p:nvPr/>
        </p:nvSpPr>
        <p:spPr>
          <a:xfrm>
            <a:off x="495288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42" name="Text 139"/>
          <p:cNvSpPr/>
          <p:nvPr/>
        </p:nvSpPr>
        <p:spPr>
          <a:xfrm>
            <a:off x="5226118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43" name="Text 140"/>
          <p:cNvSpPr/>
          <p:nvPr/>
        </p:nvSpPr>
        <p:spPr>
          <a:xfrm>
            <a:off x="232940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4.318</a:t>
            </a:r>
            <a:endParaRPr lang="en-US" sz="576" dirty="0"/>
          </a:p>
        </p:txBody>
      </p:sp>
      <p:sp>
        <p:nvSpPr>
          <p:cNvPr id="144" name="Text 141"/>
          <p:cNvSpPr/>
          <p:nvPr/>
        </p:nvSpPr>
        <p:spPr>
          <a:xfrm>
            <a:off x="281218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5.666</a:t>
            </a:r>
            <a:endParaRPr lang="en-US" sz="576" dirty="0"/>
          </a:p>
        </p:txBody>
      </p:sp>
      <p:sp>
        <p:nvSpPr>
          <p:cNvPr id="145" name="Text 142"/>
          <p:cNvSpPr/>
          <p:nvPr/>
        </p:nvSpPr>
        <p:spPr>
          <a:xfrm>
            <a:off x="329497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6.863</a:t>
            </a:r>
            <a:endParaRPr lang="en-US" sz="576" dirty="0"/>
          </a:p>
        </p:txBody>
      </p:sp>
      <p:sp>
        <p:nvSpPr>
          <p:cNvPr id="146" name="Text 143"/>
          <p:cNvSpPr/>
          <p:nvPr/>
        </p:nvSpPr>
        <p:spPr>
          <a:xfrm>
            <a:off x="3777759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5.492</a:t>
            </a:r>
            <a:endParaRPr lang="en-US" sz="576" dirty="0"/>
          </a:p>
        </p:txBody>
      </p:sp>
      <p:sp>
        <p:nvSpPr>
          <p:cNvPr id="147" name="Text 144"/>
          <p:cNvSpPr/>
          <p:nvPr/>
        </p:nvSpPr>
        <p:spPr>
          <a:xfrm>
            <a:off x="4260545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6.700</a:t>
            </a:r>
            <a:endParaRPr lang="en-US" sz="576" dirty="0"/>
          </a:p>
        </p:txBody>
      </p:sp>
      <p:sp>
        <p:nvSpPr>
          <p:cNvPr id="148" name="Text 145"/>
          <p:cNvSpPr/>
          <p:nvPr/>
        </p:nvSpPr>
        <p:spPr>
          <a:xfrm>
            <a:off x="474333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6.719</a:t>
            </a:r>
            <a:endParaRPr lang="en-US" sz="576" dirty="0"/>
          </a:p>
        </p:txBody>
      </p:sp>
      <p:sp>
        <p:nvSpPr>
          <p:cNvPr id="149" name="Text 146"/>
          <p:cNvSpPr/>
          <p:nvPr/>
        </p:nvSpPr>
        <p:spPr>
          <a:xfrm>
            <a:off x="232940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1.541</a:t>
            </a:r>
            <a:endParaRPr lang="en-US" sz="576" dirty="0"/>
          </a:p>
        </p:txBody>
      </p:sp>
      <p:sp>
        <p:nvSpPr>
          <p:cNvPr id="150" name="Text 147"/>
          <p:cNvSpPr/>
          <p:nvPr/>
        </p:nvSpPr>
        <p:spPr>
          <a:xfrm>
            <a:off x="281218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2.022</a:t>
            </a:r>
            <a:endParaRPr lang="en-US" sz="576" dirty="0"/>
          </a:p>
        </p:txBody>
      </p:sp>
      <p:sp>
        <p:nvSpPr>
          <p:cNvPr id="151" name="Text 148"/>
          <p:cNvSpPr/>
          <p:nvPr/>
        </p:nvSpPr>
        <p:spPr>
          <a:xfrm>
            <a:off x="329497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2.448</a:t>
            </a:r>
            <a:endParaRPr lang="en-US" sz="576" dirty="0"/>
          </a:p>
        </p:txBody>
      </p:sp>
      <p:sp>
        <p:nvSpPr>
          <p:cNvPr id="152" name="Text 149"/>
          <p:cNvSpPr/>
          <p:nvPr/>
        </p:nvSpPr>
        <p:spPr>
          <a:xfrm>
            <a:off x="3777759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1.960</a:t>
            </a:r>
            <a:endParaRPr lang="en-US" sz="576" dirty="0"/>
          </a:p>
        </p:txBody>
      </p:sp>
      <p:sp>
        <p:nvSpPr>
          <p:cNvPr id="153" name="Text 150"/>
          <p:cNvSpPr/>
          <p:nvPr/>
        </p:nvSpPr>
        <p:spPr>
          <a:xfrm>
            <a:off x="4260545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2.391</a:t>
            </a:r>
            <a:endParaRPr lang="en-US" sz="576" dirty="0"/>
          </a:p>
        </p:txBody>
      </p:sp>
      <p:sp>
        <p:nvSpPr>
          <p:cNvPr id="154" name="Text 151"/>
          <p:cNvSpPr/>
          <p:nvPr/>
        </p:nvSpPr>
        <p:spPr>
          <a:xfrm>
            <a:off x="474333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2.398</a:t>
            </a:r>
            <a:endParaRPr lang="en-US" sz="576" dirty="0"/>
          </a:p>
        </p:txBody>
      </p:sp>
      <p:sp>
        <p:nvSpPr>
          <p:cNvPr id="155" name="Text 152"/>
          <p:cNvSpPr/>
          <p:nvPr/>
        </p:nvSpPr>
        <p:spPr>
          <a:xfrm>
            <a:off x="281218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1.113</a:t>
            </a:r>
            <a:endParaRPr lang="en-US" sz="576" dirty="0"/>
          </a:p>
        </p:txBody>
      </p:sp>
      <p:sp>
        <p:nvSpPr>
          <p:cNvPr id="156" name="Text 153"/>
          <p:cNvSpPr/>
          <p:nvPr/>
        </p:nvSpPr>
        <p:spPr>
          <a:xfrm>
            <a:off x="329497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1.349</a:t>
            </a:r>
            <a:endParaRPr lang="en-US" sz="576" dirty="0"/>
          </a:p>
        </p:txBody>
      </p:sp>
      <p:sp>
        <p:nvSpPr>
          <p:cNvPr id="157" name="Text 154"/>
          <p:cNvSpPr/>
          <p:nvPr/>
        </p:nvSpPr>
        <p:spPr>
          <a:xfrm>
            <a:off x="3777759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1.079</a:t>
            </a:r>
            <a:endParaRPr lang="en-US" sz="576" dirty="0"/>
          </a:p>
        </p:txBody>
      </p:sp>
      <p:sp>
        <p:nvSpPr>
          <p:cNvPr id="158" name="Text 155"/>
          <p:cNvSpPr/>
          <p:nvPr/>
        </p:nvSpPr>
        <p:spPr>
          <a:xfrm>
            <a:off x="4260545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1.317</a:t>
            </a:r>
            <a:endParaRPr lang="en-US" sz="576" dirty="0"/>
          </a:p>
        </p:txBody>
      </p:sp>
      <p:sp>
        <p:nvSpPr>
          <p:cNvPr id="159" name="Text 156"/>
          <p:cNvSpPr/>
          <p:nvPr/>
        </p:nvSpPr>
        <p:spPr>
          <a:xfrm>
            <a:off x="474333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1.320</a:t>
            </a:r>
            <a:endParaRPr lang="en-US" sz="576" dirty="0"/>
          </a:p>
        </p:txBody>
      </p:sp>
      <p:sp>
        <p:nvSpPr>
          <p:cNvPr id="160" name="Text 157"/>
          <p:cNvSpPr/>
          <p:nvPr/>
        </p:nvSpPr>
        <p:spPr>
          <a:xfrm>
            <a:off x="5226118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7.027</a:t>
            </a:r>
            <a:endParaRPr lang="en-US" sz="576" dirty="0"/>
          </a:p>
        </p:txBody>
      </p:sp>
      <p:sp>
        <p:nvSpPr>
          <p:cNvPr id="161" name="Text 158"/>
          <p:cNvSpPr/>
          <p:nvPr/>
        </p:nvSpPr>
        <p:spPr>
          <a:xfrm>
            <a:off x="329497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1.135</a:t>
            </a:r>
            <a:endParaRPr lang="en-US" sz="576" dirty="0"/>
          </a:p>
        </p:txBody>
      </p:sp>
      <p:sp>
        <p:nvSpPr>
          <p:cNvPr id="162" name="Text 159"/>
          <p:cNvSpPr/>
          <p:nvPr/>
        </p:nvSpPr>
        <p:spPr>
          <a:xfrm>
            <a:off x="4260545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1.109</a:t>
            </a:r>
            <a:endParaRPr lang="en-US" sz="576" dirty="0"/>
          </a:p>
        </p:txBody>
      </p:sp>
      <p:sp>
        <p:nvSpPr>
          <p:cNvPr id="163" name="Text 160"/>
          <p:cNvSpPr/>
          <p:nvPr/>
        </p:nvSpPr>
        <p:spPr>
          <a:xfrm>
            <a:off x="474333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1.112</a:t>
            </a:r>
            <a:endParaRPr lang="en-US" sz="576" dirty="0"/>
          </a:p>
        </p:txBody>
      </p:sp>
      <p:sp>
        <p:nvSpPr>
          <p:cNvPr id="164" name="Text 161"/>
          <p:cNvSpPr/>
          <p:nvPr/>
        </p:nvSpPr>
        <p:spPr>
          <a:xfrm>
            <a:off x="5226118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5.916</a:t>
            </a:r>
            <a:endParaRPr lang="en-US" sz="576" dirty="0"/>
          </a:p>
        </p:txBody>
      </p:sp>
      <p:sp>
        <p:nvSpPr>
          <p:cNvPr id="165" name="Text 162"/>
          <p:cNvSpPr/>
          <p:nvPr/>
        </p:nvSpPr>
        <p:spPr>
          <a:xfrm>
            <a:off x="5226118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4.624</a:t>
            </a:r>
            <a:endParaRPr lang="en-US" sz="576" dirty="0"/>
          </a:p>
        </p:txBody>
      </p:sp>
      <p:sp>
        <p:nvSpPr>
          <p:cNvPr id="166" name="Text 163"/>
          <p:cNvSpPr/>
          <p:nvPr/>
        </p:nvSpPr>
        <p:spPr>
          <a:xfrm>
            <a:off x="5226118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1.912</a:t>
            </a:r>
            <a:endParaRPr lang="en-US" sz="576" dirty="0"/>
          </a:p>
        </p:txBody>
      </p:sp>
      <p:sp>
        <p:nvSpPr>
          <p:cNvPr id="167" name="Text 164"/>
          <p:cNvSpPr/>
          <p:nvPr/>
        </p:nvSpPr>
        <p:spPr>
          <a:xfrm>
            <a:off x="5226118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1.070</a:t>
            </a:r>
            <a:endParaRPr lang="en-US" sz="576" dirty="0"/>
          </a:p>
        </p:txBody>
      </p:sp>
      <p:sp>
        <p:nvSpPr>
          <p:cNvPr id="168" name="Text 165"/>
          <p:cNvSpPr/>
          <p:nvPr/>
        </p:nvSpPr>
        <p:spPr>
          <a:xfrm>
            <a:off x="504812" y="448704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169" name="Text 166"/>
          <p:cNvSpPr/>
          <p:nvPr/>
        </p:nvSpPr>
        <p:spPr>
          <a:xfrm>
            <a:off x="2329400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8.485</a:t>
            </a:r>
            <a:endParaRPr lang="en-US" sz="576" dirty="0"/>
          </a:p>
        </p:txBody>
      </p:sp>
      <p:sp>
        <p:nvSpPr>
          <p:cNvPr id="170" name="Text 167"/>
          <p:cNvSpPr/>
          <p:nvPr/>
        </p:nvSpPr>
        <p:spPr>
          <a:xfrm>
            <a:off x="7345377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71" name="Text 168"/>
          <p:cNvSpPr/>
          <p:nvPr/>
        </p:nvSpPr>
        <p:spPr>
          <a:xfrm>
            <a:off x="6257769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72" name="Text 169"/>
          <p:cNvSpPr/>
          <p:nvPr/>
        </p:nvSpPr>
        <p:spPr>
          <a:xfrm>
            <a:off x="7345377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6.287</a:t>
            </a:r>
            <a:endParaRPr lang="en-US" sz="636" dirty="0"/>
          </a:p>
        </p:txBody>
      </p:sp>
      <p:sp>
        <p:nvSpPr>
          <p:cNvPr id="173" name="Text 170"/>
          <p:cNvSpPr/>
          <p:nvPr/>
        </p:nvSpPr>
        <p:spPr>
          <a:xfrm>
            <a:off x="9303014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1.251</a:t>
            </a:r>
            <a:endParaRPr lang="en-US" sz="636" dirty="0"/>
          </a:p>
        </p:txBody>
      </p:sp>
      <p:sp>
        <p:nvSpPr>
          <p:cNvPr id="174" name="Text 171"/>
          <p:cNvSpPr/>
          <p:nvPr/>
        </p:nvSpPr>
        <p:spPr>
          <a:xfrm>
            <a:off x="7345377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8.439</a:t>
            </a:r>
            <a:endParaRPr lang="en-US" sz="636" dirty="0"/>
          </a:p>
        </p:txBody>
      </p:sp>
      <p:sp>
        <p:nvSpPr>
          <p:cNvPr id="175" name="Text 172"/>
          <p:cNvSpPr/>
          <p:nvPr/>
        </p:nvSpPr>
        <p:spPr>
          <a:xfrm>
            <a:off x="9303014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1.480</a:t>
            </a:r>
            <a:endParaRPr lang="en-US" sz="636" dirty="0"/>
          </a:p>
        </p:txBody>
      </p:sp>
      <p:sp>
        <p:nvSpPr>
          <p:cNvPr id="176" name="Text 173"/>
          <p:cNvSpPr/>
          <p:nvPr/>
        </p:nvSpPr>
        <p:spPr>
          <a:xfrm>
            <a:off x="6257769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77" name="Text 174"/>
          <p:cNvSpPr/>
          <p:nvPr/>
        </p:nvSpPr>
        <p:spPr>
          <a:xfrm>
            <a:off x="7345377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7.933</a:t>
            </a:r>
            <a:endParaRPr lang="en-US" sz="636" dirty="0"/>
          </a:p>
        </p:txBody>
      </p:sp>
      <p:sp>
        <p:nvSpPr>
          <p:cNvPr id="178" name="Text 175"/>
          <p:cNvSpPr/>
          <p:nvPr/>
        </p:nvSpPr>
        <p:spPr>
          <a:xfrm>
            <a:off x="9303014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1.265</a:t>
            </a:r>
            <a:endParaRPr lang="en-US" sz="636" dirty="0"/>
          </a:p>
        </p:txBody>
      </p:sp>
      <p:sp>
        <p:nvSpPr>
          <p:cNvPr id="179" name="Text 176"/>
          <p:cNvSpPr/>
          <p:nvPr/>
        </p:nvSpPr>
        <p:spPr>
          <a:xfrm>
            <a:off x="6257769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80" name="Text 177"/>
          <p:cNvSpPr/>
          <p:nvPr/>
        </p:nvSpPr>
        <p:spPr>
          <a:xfrm>
            <a:off x="7345377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8.304</a:t>
            </a:r>
            <a:endParaRPr lang="en-US" sz="636" dirty="0"/>
          </a:p>
        </p:txBody>
      </p:sp>
      <p:sp>
        <p:nvSpPr>
          <p:cNvPr id="181" name="Text 178"/>
          <p:cNvSpPr/>
          <p:nvPr/>
        </p:nvSpPr>
        <p:spPr>
          <a:xfrm>
            <a:off x="9303014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1.180</a:t>
            </a:r>
            <a:endParaRPr lang="en-US" sz="636" dirty="0"/>
          </a:p>
        </p:txBody>
      </p:sp>
      <p:sp>
        <p:nvSpPr>
          <p:cNvPr id="182" name="Text 179"/>
          <p:cNvSpPr/>
          <p:nvPr/>
        </p:nvSpPr>
        <p:spPr>
          <a:xfrm>
            <a:off x="7345377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6.901</a:t>
            </a:r>
            <a:endParaRPr lang="en-US" sz="636" dirty="0"/>
          </a:p>
        </p:txBody>
      </p:sp>
      <p:sp>
        <p:nvSpPr>
          <p:cNvPr id="183" name="Text 180"/>
          <p:cNvSpPr/>
          <p:nvPr/>
        </p:nvSpPr>
        <p:spPr>
          <a:xfrm>
            <a:off x="9303014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1.286</a:t>
            </a:r>
            <a:endParaRPr lang="en-US" sz="636" dirty="0"/>
          </a:p>
        </p:txBody>
      </p:sp>
      <p:sp>
        <p:nvSpPr>
          <p:cNvPr id="184" name="Text 181"/>
          <p:cNvSpPr/>
          <p:nvPr/>
        </p:nvSpPr>
        <p:spPr>
          <a:xfrm>
            <a:off x="6257769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85" name="Text 182"/>
          <p:cNvSpPr/>
          <p:nvPr/>
        </p:nvSpPr>
        <p:spPr>
          <a:xfrm>
            <a:off x="7345377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6.564</a:t>
            </a:r>
            <a:endParaRPr lang="en-US" sz="636" dirty="0"/>
          </a:p>
        </p:txBody>
      </p:sp>
      <p:sp>
        <p:nvSpPr>
          <p:cNvPr id="186" name="Text 183"/>
          <p:cNvSpPr/>
          <p:nvPr/>
        </p:nvSpPr>
        <p:spPr>
          <a:xfrm>
            <a:off x="9303014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1.253</a:t>
            </a:r>
            <a:endParaRPr lang="en-US" sz="636" dirty="0"/>
          </a:p>
        </p:txBody>
      </p:sp>
      <p:sp>
        <p:nvSpPr>
          <p:cNvPr id="187" name="Text 184"/>
          <p:cNvSpPr/>
          <p:nvPr/>
        </p:nvSpPr>
        <p:spPr>
          <a:xfrm>
            <a:off x="6257769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88" name="Text 185"/>
          <p:cNvSpPr/>
          <p:nvPr/>
        </p:nvSpPr>
        <p:spPr>
          <a:xfrm>
            <a:off x="9303014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7.715</a:t>
            </a:r>
            <a:endParaRPr lang="en-US" sz="636" dirty="0"/>
          </a:p>
        </p:txBody>
      </p:sp>
      <p:sp>
        <p:nvSpPr>
          <p:cNvPr id="189" name="Text 186"/>
          <p:cNvSpPr/>
          <p:nvPr/>
        </p:nvSpPr>
        <p:spPr>
          <a:xfrm>
            <a:off x="10988599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90" name="Text 187"/>
          <p:cNvSpPr/>
          <p:nvPr/>
        </p:nvSpPr>
        <p:spPr>
          <a:xfrm>
            <a:off x="9057453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9,9 %</a:t>
            </a:r>
            <a:endParaRPr lang="en-US" sz="552" dirty="0"/>
          </a:p>
        </p:txBody>
      </p:sp>
      <p:sp>
        <p:nvSpPr>
          <p:cNvPr id="191" name="Text 188"/>
          <p:cNvSpPr/>
          <p:nvPr/>
        </p:nvSpPr>
        <p:spPr>
          <a:xfrm>
            <a:off x="954024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9,5 %</a:t>
            </a:r>
            <a:endParaRPr lang="en-US" sz="552" dirty="0"/>
          </a:p>
        </p:txBody>
      </p:sp>
      <p:sp>
        <p:nvSpPr>
          <p:cNvPr id="192" name="Text 189"/>
          <p:cNvSpPr/>
          <p:nvPr/>
        </p:nvSpPr>
        <p:spPr>
          <a:xfrm>
            <a:off x="1050581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9,8 %</a:t>
            </a:r>
            <a:endParaRPr lang="en-US" sz="552" dirty="0"/>
          </a:p>
        </p:txBody>
      </p:sp>
      <p:sp>
        <p:nvSpPr>
          <p:cNvPr id="193" name="Text 190"/>
          <p:cNvSpPr/>
          <p:nvPr/>
        </p:nvSpPr>
        <p:spPr>
          <a:xfrm>
            <a:off x="809188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6,3 %</a:t>
            </a:r>
            <a:endParaRPr lang="en-US" sz="552" dirty="0"/>
          </a:p>
        </p:txBody>
      </p:sp>
      <p:sp>
        <p:nvSpPr>
          <p:cNvPr id="194" name="Text 191"/>
          <p:cNvSpPr/>
          <p:nvPr/>
        </p:nvSpPr>
        <p:spPr>
          <a:xfrm>
            <a:off x="8574667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195" name="Text 192"/>
          <p:cNvSpPr/>
          <p:nvPr/>
        </p:nvSpPr>
        <p:spPr>
          <a:xfrm>
            <a:off x="9057453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196" name="Text 193"/>
          <p:cNvSpPr/>
          <p:nvPr/>
        </p:nvSpPr>
        <p:spPr>
          <a:xfrm>
            <a:off x="954024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197" name="Text 194"/>
          <p:cNvSpPr/>
          <p:nvPr/>
        </p:nvSpPr>
        <p:spPr>
          <a:xfrm>
            <a:off x="1002302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6,3 %</a:t>
            </a:r>
            <a:endParaRPr lang="en-US" sz="552" dirty="0"/>
          </a:p>
        </p:txBody>
      </p:sp>
      <p:sp>
        <p:nvSpPr>
          <p:cNvPr id="198" name="Text 195"/>
          <p:cNvSpPr/>
          <p:nvPr/>
        </p:nvSpPr>
        <p:spPr>
          <a:xfrm>
            <a:off x="1050581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199" name="Text 196"/>
          <p:cNvSpPr/>
          <p:nvPr/>
        </p:nvSpPr>
        <p:spPr>
          <a:xfrm>
            <a:off x="10988599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200" name="Text 197"/>
          <p:cNvSpPr/>
          <p:nvPr/>
        </p:nvSpPr>
        <p:spPr>
          <a:xfrm>
            <a:off x="809188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01" name="Text 198"/>
          <p:cNvSpPr/>
          <p:nvPr/>
        </p:nvSpPr>
        <p:spPr>
          <a:xfrm>
            <a:off x="8574667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02" name="Text 199"/>
          <p:cNvSpPr/>
          <p:nvPr/>
        </p:nvSpPr>
        <p:spPr>
          <a:xfrm>
            <a:off x="9057453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03" name="Text 200"/>
          <p:cNvSpPr/>
          <p:nvPr/>
        </p:nvSpPr>
        <p:spPr>
          <a:xfrm>
            <a:off x="9540240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04" name="Text 201"/>
          <p:cNvSpPr/>
          <p:nvPr/>
        </p:nvSpPr>
        <p:spPr>
          <a:xfrm>
            <a:off x="1002302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205" name="Text 202"/>
          <p:cNvSpPr/>
          <p:nvPr/>
        </p:nvSpPr>
        <p:spPr>
          <a:xfrm>
            <a:off x="1050581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06" name="Text 203"/>
          <p:cNvSpPr/>
          <p:nvPr/>
        </p:nvSpPr>
        <p:spPr>
          <a:xfrm>
            <a:off x="10988599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07" name="Text 204"/>
          <p:cNvSpPr/>
          <p:nvPr/>
        </p:nvSpPr>
        <p:spPr>
          <a:xfrm>
            <a:off x="809188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3,9 %</a:t>
            </a:r>
            <a:endParaRPr lang="en-US" sz="552" dirty="0"/>
          </a:p>
        </p:txBody>
      </p:sp>
      <p:sp>
        <p:nvSpPr>
          <p:cNvPr id="208" name="Text 205"/>
          <p:cNvSpPr/>
          <p:nvPr/>
        </p:nvSpPr>
        <p:spPr>
          <a:xfrm>
            <a:off x="8574667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09" name="Text 206"/>
          <p:cNvSpPr/>
          <p:nvPr/>
        </p:nvSpPr>
        <p:spPr>
          <a:xfrm>
            <a:off x="9057453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0" name="Text 207"/>
          <p:cNvSpPr/>
          <p:nvPr/>
        </p:nvSpPr>
        <p:spPr>
          <a:xfrm>
            <a:off x="9540240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3,7 %</a:t>
            </a:r>
            <a:endParaRPr lang="en-US" sz="552" dirty="0"/>
          </a:p>
        </p:txBody>
      </p:sp>
      <p:sp>
        <p:nvSpPr>
          <p:cNvPr id="211" name="Text 208"/>
          <p:cNvSpPr/>
          <p:nvPr/>
        </p:nvSpPr>
        <p:spPr>
          <a:xfrm>
            <a:off x="1002302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12" name="Text 209"/>
          <p:cNvSpPr/>
          <p:nvPr/>
        </p:nvSpPr>
        <p:spPr>
          <a:xfrm>
            <a:off x="1050581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3" name="Text 210"/>
          <p:cNvSpPr/>
          <p:nvPr/>
        </p:nvSpPr>
        <p:spPr>
          <a:xfrm>
            <a:off x="10988599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4" name="Text 211"/>
          <p:cNvSpPr/>
          <p:nvPr/>
        </p:nvSpPr>
        <p:spPr>
          <a:xfrm>
            <a:off x="809188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15" name="Text 212"/>
          <p:cNvSpPr/>
          <p:nvPr/>
        </p:nvSpPr>
        <p:spPr>
          <a:xfrm>
            <a:off x="8574667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16" name="Text 213"/>
          <p:cNvSpPr/>
          <p:nvPr/>
        </p:nvSpPr>
        <p:spPr>
          <a:xfrm>
            <a:off x="9057453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17" name="Text 214"/>
          <p:cNvSpPr/>
          <p:nvPr/>
        </p:nvSpPr>
        <p:spPr>
          <a:xfrm>
            <a:off x="9540240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218" name="Text 215"/>
          <p:cNvSpPr/>
          <p:nvPr/>
        </p:nvSpPr>
        <p:spPr>
          <a:xfrm>
            <a:off x="1002302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19" name="Text 216"/>
          <p:cNvSpPr/>
          <p:nvPr/>
        </p:nvSpPr>
        <p:spPr>
          <a:xfrm>
            <a:off x="1050581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20" name="Text 217"/>
          <p:cNvSpPr/>
          <p:nvPr/>
        </p:nvSpPr>
        <p:spPr>
          <a:xfrm>
            <a:off x="10988599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21" name="Text 218"/>
          <p:cNvSpPr/>
          <p:nvPr/>
        </p:nvSpPr>
        <p:spPr>
          <a:xfrm>
            <a:off x="8091881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22" name="Text 219"/>
          <p:cNvSpPr/>
          <p:nvPr/>
        </p:nvSpPr>
        <p:spPr>
          <a:xfrm>
            <a:off x="8574667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23" name="Text 220"/>
          <p:cNvSpPr/>
          <p:nvPr/>
        </p:nvSpPr>
        <p:spPr>
          <a:xfrm>
            <a:off x="9057453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4,9 %</a:t>
            </a:r>
            <a:endParaRPr lang="en-US" sz="552" dirty="0"/>
          </a:p>
        </p:txBody>
      </p:sp>
      <p:sp>
        <p:nvSpPr>
          <p:cNvPr id="224" name="Text 221"/>
          <p:cNvSpPr/>
          <p:nvPr/>
        </p:nvSpPr>
        <p:spPr>
          <a:xfrm>
            <a:off x="9540240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4,8 %</a:t>
            </a:r>
            <a:endParaRPr lang="en-US" sz="552" dirty="0"/>
          </a:p>
        </p:txBody>
      </p:sp>
      <p:sp>
        <p:nvSpPr>
          <p:cNvPr id="225" name="Text 222"/>
          <p:cNvSpPr/>
          <p:nvPr/>
        </p:nvSpPr>
        <p:spPr>
          <a:xfrm>
            <a:off x="10023026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26" name="Text 223"/>
          <p:cNvSpPr/>
          <p:nvPr/>
        </p:nvSpPr>
        <p:spPr>
          <a:xfrm>
            <a:off x="10505812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4,9 %</a:t>
            </a:r>
            <a:endParaRPr lang="en-US" sz="552" dirty="0"/>
          </a:p>
        </p:txBody>
      </p:sp>
      <p:sp>
        <p:nvSpPr>
          <p:cNvPr id="227" name="Text 224"/>
          <p:cNvSpPr/>
          <p:nvPr/>
        </p:nvSpPr>
        <p:spPr>
          <a:xfrm>
            <a:off x="10988599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28" name="Text 225"/>
          <p:cNvSpPr/>
          <p:nvPr/>
        </p:nvSpPr>
        <p:spPr>
          <a:xfrm>
            <a:off x="8091881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229" name="Text 226"/>
          <p:cNvSpPr/>
          <p:nvPr/>
        </p:nvSpPr>
        <p:spPr>
          <a:xfrm>
            <a:off x="8574667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30" name="Text 227"/>
          <p:cNvSpPr/>
          <p:nvPr/>
        </p:nvSpPr>
        <p:spPr>
          <a:xfrm>
            <a:off x="9057453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31" name="Text 228"/>
          <p:cNvSpPr/>
          <p:nvPr/>
        </p:nvSpPr>
        <p:spPr>
          <a:xfrm>
            <a:off x="9540240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232" name="Text 229"/>
          <p:cNvSpPr/>
          <p:nvPr/>
        </p:nvSpPr>
        <p:spPr>
          <a:xfrm>
            <a:off x="10023026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4,2 %</a:t>
            </a:r>
            <a:endParaRPr lang="en-US" sz="552" dirty="0"/>
          </a:p>
        </p:txBody>
      </p:sp>
      <p:sp>
        <p:nvSpPr>
          <p:cNvPr id="233" name="Text 230"/>
          <p:cNvSpPr/>
          <p:nvPr/>
        </p:nvSpPr>
        <p:spPr>
          <a:xfrm>
            <a:off x="10505812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34" name="Text 231"/>
          <p:cNvSpPr/>
          <p:nvPr/>
        </p:nvSpPr>
        <p:spPr>
          <a:xfrm>
            <a:off x="10988599" y="47537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35" name="Text 232"/>
          <p:cNvSpPr/>
          <p:nvPr/>
        </p:nvSpPr>
        <p:spPr>
          <a:xfrm>
            <a:off x="8091881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36" name="Text 233"/>
          <p:cNvSpPr/>
          <p:nvPr/>
        </p:nvSpPr>
        <p:spPr>
          <a:xfrm>
            <a:off x="8574667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237" name="Text 234"/>
          <p:cNvSpPr/>
          <p:nvPr/>
        </p:nvSpPr>
        <p:spPr>
          <a:xfrm>
            <a:off x="9057453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38" name="Text 235"/>
          <p:cNvSpPr/>
          <p:nvPr/>
        </p:nvSpPr>
        <p:spPr>
          <a:xfrm>
            <a:off x="9540240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39" name="Text 236"/>
          <p:cNvSpPr/>
          <p:nvPr/>
        </p:nvSpPr>
        <p:spPr>
          <a:xfrm>
            <a:off x="10023026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40" name="Text 237"/>
          <p:cNvSpPr/>
          <p:nvPr/>
        </p:nvSpPr>
        <p:spPr>
          <a:xfrm>
            <a:off x="10505812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41" name="Text 238"/>
          <p:cNvSpPr/>
          <p:nvPr/>
        </p:nvSpPr>
        <p:spPr>
          <a:xfrm>
            <a:off x="10988599" y="48870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242" name="Text 239"/>
          <p:cNvSpPr/>
          <p:nvPr/>
        </p:nvSpPr>
        <p:spPr>
          <a:xfrm>
            <a:off x="8091881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3" name="Text 240"/>
          <p:cNvSpPr/>
          <p:nvPr/>
        </p:nvSpPr>
        <p:spPr>
          <a:xfrm>
            <a:off x="8574667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4" name="Text 241"/>
          <p:cNvSpPr/>
          <p:nvPr/>
        </p:nvSpPr>
        <p:spPr>
          <a:xfrm>
            <a:off x="9057453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5" name="Text 242"/>
          <p:cNvSpPr/>
          <p:nvPr/>
        </p:nvSpPr>
        <p:spPr>
          <a:xfrm>
            <a:off x="9540240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6" name="Text 243"/>
          <p:cNvSpPr/>
          <p:nvPr/>
        </p:nvSpPr>
        <p:spPr>
          <a:xfrm>
            <a:off x="10023026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7" name="Text 244"/>
          <p:cNvSpPr/>
          <p:nvPr/>
        </p:nvSpPr>
        <p:spPr>
          <a:xfrm>
            <a:off x="10505812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8" name="Text 245"/>
          <p:cNvSpPr/>
          <p:nvPr/>
        </p:nvSpPr>
        <p:spPr>
          <a:xfrm>
            <a:off x="10988599" y="50204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9" name="Text 246"/>
          <p:cNvSpPr/>
          <p:nvPr/>
        </p:nvSpPr>
        <p:spPr>
          <a:xfrm>
            <a:off x="8091881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0" name="Text 247"/>
          <p:cNvSpPr/>
          <p:nvPr/>
        </p:nvSpPr>
        <p:spPr>
          <a:xfrm>
            <a:off x="8574667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1" name="Text 248"/>
          <p:cNvSpPr/>
          <p:nvPr/>
        </p:nvSpPr>
        <p:spPr>
          <a:xfrm>
            <a:off x="9057453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2" name="Text 249"/>
          <p:cNvSpPr/>
          <p:nvPr/>
        </p:nvSpPr>
        <p:spPr>
          <a:xfrm>
            <a:off x="9540240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3" name="Text 250"/>
          <p:cNvSpPr/>
          <p:nvPr/>
        </p:nvSpPr>
        <p:spPr>
          <a:xfrm>
            <a:off x="10023026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4" name="Text 251"/>
          <p:cNvSpPr/>
          <p:nvPr/>
        </p:nvSpPr>
        <p:spPr>
          <a:xfrm>
            <a:off x="10505812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5" name="Text 252"/>
          <p:cNvSpPr/>
          <p:nvPr/>
        </p:nvSpPr>
        <p:spPr>
          <a:xfrm>
            <a:off x="10988599" y="515379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6" name="Text 253"/>
          <p:cNvSpPr/>
          <p:nvPr/>
        </p:nvSpPr>
        <p:spPr>
          <a:xfrm>
            <a:off x="4374991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7.715</a:t>
            </a:r>
            <a:endParaRPr lang="en-US" sz="1380" dirty="0"/>
          </a:p>
        </p:txBody>
      </p:sp>
      <p:sp>
        <p:nvSpPr>
          <p:cNvPr id="257" name="Text 254"/>
          <p:cNvSpPr/>
          <p:nvPr/>
        </p:nvSpPr>
        <p:spPr>
          <a:xfrm>
            <a:off x="495288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58" name="Text 255"/>
          <p:cNvSpPr/>
          <p:nvPr/>
        </p:nvSpPr>
        <p:spPr>
          <a:xfrm>
            <a:off x="6257769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59" name="Text 256"/>
          <p:cNvSpPr/>
          <p:nvPr/>
        </p:nvSpPr>
        <p:spPr>
          <a:xfrm>
            <a:off x="533387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79 %</a:t>
            </a:r>
            <a:endParaRPr lang="en-US" sz="1380" dirty="0"/>
          </a:p>
        </p:txBody>
      </p:sp>
      <p:sp>
        <p:nvSpPr>
          <p:cNvPr id="260" name="Text 257"/>
          <p:cNvSpPr/>
          <p:nvPr/>
        </p:nvSpPr>
        <p:spPr>
          <a:xfrm>
            <a:off x="495288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61" name="Text 258"/>
          <p:cNvSpPr/>
          <p:nvPr/>
        </p:nvSpPr>
        <p:spPr>
          <a:xfrm>
            <a:off x="232940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62" name="Text 259"/>
          <p:cNvSpPr/>
          <p:nvPr/>
        </p:nvSpPr>
        <p:spPr>
          <a:xfrm>
            <a:off x="281218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63" name="Text 260"/>
          <p:cNvSpPr/>
          <p:nvPr/>
        </p:nvSpPr>
        <p:spPr>
          <a:xfrm>
            <a:off x="329497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64" name="Text 261"/>
          <p:cNvSpPr/>
          <p:nvPr/>
        </p:nvSpPr>
        <p:spPr>
          <a:xfrm>
            <a:off x="377775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65" name="Text 262"/>
          <p:cNvSpPr/>
          <p:nvPr/>
        </p:nvSpPr>
        <p:spPr>
          <a:xfrm>
            <a:off x="4260545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66" name="Text 263"/>
          <p:cNvSpPr/>
          <p:nvPr/>
        </p:nvSpPr>
        <p:spPr>
          <a:xfrm>
            <a:off x="474333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67" name="Text 264"/>
          <p:cNvSpPr/>
          <p:nvPr/>
        </p:nvSpPr>
        <p:spPr>
          <a:xfrm>
            <a:off x="232940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849</a:t>
            </a:r>
            <a:endParaRPr lang="en-US" sz="576" dirty="0"/>
          </a:p>
        </p:txBody>
      </p:sp>
      <p:sp>
        <p:nvSpPr>
          <p:cNvPr id="268" name="Text 265"/>
          <p:cNvSpPr/>
          <p:nvPr/>
        </p:nvSpPr>
        <p:spPr>
          <a:xfrm>
            <a:off x="232940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714</a:t>
            </a:r>
            <a:endParaRPr lang="en-US" sz="576" dirty="0"/>
          </a:p>
        </p:txBody>
      </p:sp>
      <p:sp>
        <p:nvSpPr>
          <p:cNvPr id="269" name="Text 266"/>
          <p:cNvSpPr/>
          <p:nvPr/>
        </p:nvSpPr>
        <p:spPr>
          <a:xfrm>
            <a:off x="281218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937</a:t>
            </a:r>
            <a:endParaRPr lang="en-US" sz="576" dirty="0"/>
          </a:p>
        </p:txBody>
      </p:sp>
      <p:sp>
        <p:nvSpPr>
          <p:cNvPr id="270" name="Text 267"/>
          <p:cNvSpPr/>
          <p:nvPr/>
        </p:nvSpPr>
        <p:spPr>
          <a:xfrm>
            <a:off x="3777759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909</a:t>
            </a:r>
            <a:endParaRPr lang="en-US" sz="576" dirty="0"/>
          </a:p>
        </p:txBody>
      </p:sp>
      <p:sp>
        <p:nvSpPr>
          <p:cNvPr id="271" name="Text 268"/>
          <p:cNvSpPr/>
          <p:nvPr/>
        </p:nvSpPr>
        <p:spPr>
          <a:xfrm>
            <a:off x="232940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558</a:t>
            </a:r>
            <a:endParaRPr lang="en-US" sz="576" dirty="0"/>
          </a:p>
        </p:txBody>
      </p:sp>
      <p:sp>
        <p:nvSpPr>
          <p:cNvPr id="272" name="Text 269"/>
          <p:cNvSpPr/>
          <p:nvPr/>
        </p:nvSpPr>
        <p:spPr>
          <a:xfrm>
            <a:off x="281218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733</a:t>
            </a:r>
            <a:endParaRPr lang="en-US" sz="576" dirty="0"/>
          </a:p>
        </p:txBody>
      </p:sp>
      <p:sp>
        <p:nvSpPr>
          <p:cNvPr id="273" name="Text 270"/>
          <p:cNvSpPr/>
          <p:nvPr/>
        </p:nvSpPr>
        <p:spPr>
          <a:xfrm>
            <a:off x="329497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888</a:t>
            </a:r>
            <a:endParaRPr lang="en-US" sz="576" dirty="0"/>
          </a:p>
        </p:txBody>
      </p:sp>
      <p:sp>
        <p:nvSpPr>
          <p:cNvPr id="274" name="Text 271"/>
          <p:cNvSpPr/>
          <p:nvPr/>
        </p:nvSpPr>
        <p:spPr>
          <a:xfrm>
            <a:off x="3777759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710</a:t>
            </a:r>
            <a:endParaRPr lang="en-US" sz="576" dirty="0"/>
          </a:p>
        </p:txBody>
      </p:sp>
      <p:sp>
        <p:nvSpPr>
          <p:cNvPr id="275" name="Text 272"/>
          <p:cNvSpPr/>
          <p:nvPr/>
        </p:nvSpPr>
        <p:spPr>
          <a:xfrm>
            <a:off x="4260545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866</a:t>
            </a:r>
            <a:endParaRPr lang="en-US" sz="576" dirty="0"/>
          </a:p>
        </p:txBody>
      </p:sp>
      <p:sp>
        <p:nvSpPr>
          <p:cNvPr id="276" name="Text 273"/>
          <p:cNvSpPr/>
          <p:nvPr/>
        </p:nvSpPr>
        <p:spPr>
          <a:xfrm>
            <a:off x="474333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869</a:t>
            </a:r>
            <a:endParaRPr lang="en-US" sz="576" dirty="0"/>
          </a:p>
        </p:txBody>
      </p:sp>
      <p:sp>
        <p:nvSpPr>
          <p:cNvPr id="277" name="Text 274"/>
          <p:cNvSpPr/>
          <p:nvPr/>
        </p:nvSpPr>
        <p:spPr>
          <a:xfrm>
            <a:off x="2329400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231</a:t>
            </a:r>
            <a:endParaRPr lang="en-US" sz="576" dirty="0"/>
          </a:p>
        </p:txBody>
      </p:sp>
      <p:sp>
        <p:nvSpPr>
          <p:cNvPr id="278" name="Text 275"/>
          <p:cNvSpPr/>
          <p:nvPr/>
        </p:nvSpPr>
        <p:spPr>
          <a:xfrm>
            <a:off x="281218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303</a:t>
            </a:r>
            <a:endParaRPr lang="en-US" sz="576" dirty="0"/>
          </a:p>
        </p:txBody>
      </p:sp>
      <p:sp>
        <p:nvSpPr>
          <p:cNvPr id="279" name="Text 276"/>
          <p:cNvSpPr/>
          <p:nvPr/>
        </p:nvSpPr>
        <p:spPr>
          <a:xfrm>
            <a:off x="329497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367</a:t>
            </a:r>
            <a:endParaRPr lang="en-US" sz="576" dirty="0"/>
          </a:p>
        </p:txBody>
      </p:sp>
      <p:sp>
        <p:nvSpPr>
          <p:cNvPr id="280" name="Text 277"/>
          <p:cNvSpPr/>
          <p:nvPr/>
        </p:nvSpPr>
        <p:spPr>
          <a:xfrm>
            <a:off x="3777759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294</a:t>
            </a:r>
            <a:endParaRPr lang="en-US" sz="576" dirty="0"/>
          </a:p>
        </p:txBody>
      </p:sp>
      <p:sp>
        <p:nvSpPr>
          <p:cNvPr id="281" name="Text 278"/>
          <p:cNvSpPr/>
          <p:nvPr/>
        </p:nvSpPr>
        <p:spPr>
          <a:xfrm>
            <a:off x="4260545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358</a:t>
            </a:r>
            <a:endParaRPr lang="en-US" sz="576" dirty="0"/>
          </a:p>
        </p:txBody>
      </p:sp>
      <p:sp>
        <p:nvSpPr>
          <p:cNvPr id="282" name="Text 279"/>
          <p:cNvSpPr/>
          <p:nvPr/>
        </p:nvSpPr>
        <p:spPr>
          <a:xfrm>
            <a:off x="474333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359</a:t>
            </a:r>
            <a:endParaRPr lang="en-US" sz="576" dirty="0"/>
          </a:p>
        </p:txBody>
      </p:sp>
      <p:sp>
        <p:nvSpPr>
          <p:cNvPr id="283" name="Text 280"/>
          <p:cNvSpPr/>
          <p:nvPr/>
        </p:nvSpPr>
        <p:spPr>
          <a:xfrm>
            <a:off x="2329400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576" dirty="0"/>
          </a:p>
        </p:txBody>
      </p:sp>
      <p:sp>
        <p:nvSpPr>
          <p:cNvPr id="284" name="Text 281"/>
          <p:cNvSpPr/>
          <p:nvPr/>
        </p:nvSpPr>
        <p:spPr>
          <a:xfrm>
            <a:off x="281218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170</a:t>
            </a:r>
            <a:endParaRPr lang="en-US" sz="576" dirty="0"/>
          </a:p>
        </p:txBody>
      </p:sp>
      <p:sp>
        <p:nvSpPr>
          <p:cNvPr id="285" name="Text 282"/>
          <p:cNvSpPr/>
          <p:nvPr/>
        </p:nvSpPr>
        <p:spPr>
          <a:xfrm>
            <a:off x="329497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206</a:t>
            </a:r>
            <a:endParaRPr lang="en-US" sz="576" dirty="0"/>
          </a:p>
        </p:txBody>
      </p:sp>
      <p:sp>
        <p:nvSpPr>
          <p:cNvPr id="286" name="Text 283"/>
          <p:cNvSpPr/>
          <p:nvPr/>
        </p:nvSpPr>
        <p:spPr>
          <a:xfrm>
            <a:off x="3777759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164</a:t>
            </a:r>
            <a:endParaRPr lang="en-US" sz="576" dirty="0"/>
          </a:p>
        </p:txBody>
      </p:sp>
      <p:sp>
        <p:nvSpPr>
          <p:cNvPr id="287" name="Text 284"/>
          <p:cNvSpPr/>
          <p:nvPr/>
        </p:nvSpPr>
        <p:spPr>
          <a:xfrm>
            <a:off x="4260545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200</a:t>
            </a:r>
            <a:endParaRPr lang="en-US" sz="576" dirty="0"/>
          </a:p>
        </p:txBody>
      </p:sp>
      <p:sp>
        <p:nvSpPr>
          <p:cNvPr id="288" name="Text 285"/>
          <p:cNvSpPr/>
          <p:nvPr/>
        </p:nvSpPr>
        <p:spPr>
          <a:xfrm>
            <a:off x="474333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</a:t>
            </a:r>
            <a:endParaRPr lang="en-US" sz="576" dirty="0"/>
          </a:p>
        </p:txBody>
      </p:sp>
      <p:sp>
        <p:nvSpPr>
          <p:cNvPr id="289" name="Text 286"/>
          <p:cNvSpPr/>
          <p:nvPr/>
        </p:nvSpPr>
        <p:spPr>
          <a:xfrm>
            <a:off x="5226118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</a:t>
            </a:r>
            <a:endParaRPr lang="en-US" sz="576" dirty="0"/>
          </a:p>
        </p:txBody>
      </p:sp>
      <p:sp>
        <p:nvSpPr>
          <p:cNvPr id="290" name="Text 287"/>
          <p:cNvSpPr/>
          <p:nvPr/>
        </p:nvSpPr>
        <p:spPr>
          <a:xfrm>
            <a:off x="2812186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576" dirty="0"/>
          </a:p>
        </p:txBody>
      </p:sp>
      <p:sp>
        <p:nvSpPr>
          <p:cNvPr id="291" name="Text 288"/>
          <p:cNvSpPr/>
          <p:nvPr/>
        </p:nvSpPr>
        <p:spPr>
          <a:xfrm>
            <a:off x="3294972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150</a:t>
            </a:r>
            <a:endParaRPr lang="en-US" sz="576" dirty="0"/>
          </a:p>
        </p:txBody>
      </p:sp>
      <p:sp>
        <p:nvSpPr>
          <p:cNvPr id="292" name="Text 289"/>
          <p:cNvSpPr/>
          <p:nvPr/>
        </p:nvSpPr>
        <p:spPr>
          <a:xfrm>
            <a:off x="3777759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576" dirty="0"/>
          </a:p>
        </p:txBody>
      </p:sp>
      <p:sp>
        <p:nvSpPr>
          <p:cNvPr id="293" name="Text 290"/>
          <p:cNvSpPr/>
          <p:nvPr/>
        </p:nvSpPr>
        <p:spPr>
          <a:xfrm>
            <a:off x="4260545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576" dirty="0"/>
          </a:p>
        </p:txBody>
      </p:sp>
      <p:sp>
        <p:nvSpPr>
          <p:cNvPr id="294" name="Text 291"/>
          <p:cNvSpPr/>
          <p:nvPr/>
        </p:nvSpPr>
        <p:spPr>
          <a:xfrm>
            <a:off x="4743331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576" dirty="0"/>
          </a:p>
        </p:txBody>
      </p:sp>
      <p:sp>
        <p:nvSpPr>
          <p:cNvPr id="295" name="Text 292"/>
          <p:cNvSpPr/>
          <p:nvPr/>
        </p:nvSpPr>
        <p:spPr>
          <a:xfrm>
            <a:off x="5226118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779</a:t>
            </a:r>
            <a:endParaRPr lang="en-US" sz="576" dirty="0"/>
          </a:p>
        </p:txBody>
      </p:sp>
      <p:sp>
        <p:nvSpPr>
          <p:cNvPr id="296" name="Text 293"/>
          <p:cNvSpPr/>
          <p:nvPr/>
        </p:nvSpPr>
        <p:spPr>
          <a:xfrm>
            <a:off x="6257769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97" name="Text 294"/>
          <p:cNvSpPr/>
          <p:nvPr/>
        </p:nvSpPr>
        <p:spPr>
          <a:xfrm>
            <a:off x="809188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98" name="Text 295"/>
          <p:cNvSpPr/>
          <p:nvPr/>
        </p:nvSpPr>
        <p:spPr>
          <a:xfrm>
            <a:off x="8574667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99" name="Text 296"/>
          <p:cNvSpPr/>
          <p:nvPr/>
        </p:nvSpPr>
        <p:spPr>
          <a:xfrm>
            <a:off x="9057453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300" name="Text 297"/>
          <p:cNvSpPr/>
          <p:nvPr/>
        </p:nvSpPr>
        <p:spPr>
          <a:xfrm>
            <a:off x="954024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301" name="Text 298"/>
          <p:cNvSpPr/>
          <p:nvPr/>
        </p:nvSpPr>
        <p:spPr>
          <a:xfrm>
            <a:off x="1002302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302" name="Text 299"/>
          <p:cNvSpPr/>
          <p:nvPr/>
        </p:nvSpPr>
        <p:spPr>
          <a:xfrm>
            <a:off x="1050581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303" name="Text 300"/>
          <p:cNvSpPr/>
          <p:nvPr/>
        </p:nvSpPr>
        <p:spPr>
          <a:xfrm>
            <a:off x="2329400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</a:t>
            </a:r>
            <a:endParaRPr lang="en-US" sz="576" dirty="0"/>
          </a:p>
        </p:txBody>
      </p:sp>
      <p:sp>
        <p:nvSpPr>
          <p:cNvPr id="304" name="Text 301"/>
          <p:cNvSpPr/>
          <p:nvPr/>
        </p:nvSpPr>
        <p:spPr>
          <a:xfrm>
            <a:off x="281218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305" name="Text 302"/>
          <p:cNvSpPr/>
          <p:nvPr/>
        </p:nvSpPr>
        <p:spPr>
          <a:xfrm>
            <a:off x="329497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306" name="Text 303"/>
          <p:cNvSpPr/>
          <p:nvPr/>
        </p:nvSpPr>
        <p:spPr>
          <a:xfrm>
            <a:off x="3777759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576" dirty="0"/>
          </a:p>
        </p:txBody>
      </p:sp>
      <p:sp>
        <p:nvSpPr>
          <p:cNvPr id="307" name="Text 304"/>
          <p:cNvSpPr/>
          <p:nvPr/>
        </p:nvSpPr>
        <p:spPr>
          <a:xfrm>
            <a:off x="4260545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308" name="Text 305"/>
          <p:cNvSpPr/>
          <p:nvPr/>
        </p:nvSpPr>
        <p:spPr>
          <a:xfrm>
            <a:off x="474333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309" name="Text 306"/>
          <p:cNvSpPr/>
          <p:nvPr/>
        </p:nvSpPr>
        <p:spPr>
          <a:xfrm>
            <a:off x="2329400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</a:t>
            </a:r>
            <a:endParaRPr lang="en-US" sz="576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7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84131"/>
            <a:ext cx="7389456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descarte estructural de Registro Enviado Anteriormente (36,8 %) y Cuota Activa (32,7 %) suma el 69,5 % del rechazo, confirmando el agotamiento de la base.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530578"/>
            <a:ext cx="7389456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no contacto es muy alto (48,3 %), impulsado por contestadores automáticos (38,6 %), lo que exige depuración telefónica en 2S.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237684"/>
            <a:ext cx="7389456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CP Stock es la base de mayor volumen (420.641 registros recibidos) en el semestre.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8216595" y="1200894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Sobre contacto (4,6 % sobre contacto apto)</a:t>
            </a:r>
            <a:endParaRPr lang="en-US" sz="648" dirty="0"/>
          </a:p>
        </p:txBody>
      </p:sp>
      <p:sp>
        <p:nvSpPr>
          <p:cNvPr id="7" name="Text 4"/>
          <p:cNvSpPr/>
          <p:nvPr/>
        </p:nvSpPr>
        <p:spPr>
          <a:xfrm>
            <a:off x="6257769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8" name="Text 5"/>
          <p:cNvSpPr/>
          <p:nvPr/>
        </p:nvSpPr>
        <p:spPr>
          <a:xfrm>
            <a:off x="495288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6267293" y="48870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0" name="Text 7"/>
          <p:cNvSpPr/>
          <p:nvPr/>
        </p:nvSpPr>
        <p:spPr>
          <a:xfrm>
            <a:off x="571486" y="209550"/>
            <a:ext cx="3236087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CP Stock</a:t>
            </a:r>
            <a:endParaRPr lang="en-US" sz="1260" dirty="0"/>
          </a:p>
        </p:txBody>
      </p:sp>
      <p:sp>
        <p:nvSpPr>
          <p:cNvPr id="11" name="Text 8"/>
          <p:cNvSpPr/>
          <p:nvPr/>
        </p:nvSpPr>
        <p:spPr>
          <a:xfrm>
            <a:off x="4374991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Segundo mayor aportante de ventas</a:t>
            </a:r>
            <a:endParaRPr lang="en-US" sz="648" dirty="0"/>
          </a:p>
        </p:txBody>
      </p:sp>
      <p:sp>
        <p:nvSpPr>
          <p:cNvPr id="12" name="Text 9"/>
          <p:cNvSpPr/>
          <p:nvPr/>
        </p:nvSpPr>
        <p:spPr>
          <a:xfrm>
            <a:off x="6257769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504812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Excede límite de edad (&gt;80 años)</a:t>
            </a:r>
            <a:endParaRPr lang="en-US" sz="576" dirty="0"/>
          </a:p>
        </p:txBody>
      </p:sp>
      <p:sp>
        <p:nvSpPr>
          <p:cNvPr id="14" name="Text 11"/>
          <p:cNvSpPr/>
          <p:nvPr/>
        </p:nvSpPr>
        <p:spPr>
          <a:xfrm>
            <a:off x="504812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552436" y="6081712"/>
            <a:ext cx="1673304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504812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7" name="Text 14"/>
          <p:cNvSpPr/>
          <p:nvPr/>
        </p:nvSpPr>
        <p:spPr>
          <a:xfrm>
            <a:off x="533387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de mayor dimensionamiento</a:t>
            </a:r>
            <a:endParaRPr lang="en-US" sz="648" dirty="0"/>
          </a:p>
        </p:txBody>
      </p:sp>
      <p:sp>
        <p:nvSpPr>
          <p:cNvPr id="18" name="Text 15"/>
          <p:cNvSpPr/>
          <p:nvPr/>
        </p:nvSpPr>
        <p:spPr>
          <a:xfrm>
            <a:off x="495288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6267293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0" name="Text 17"/>
          <p:cNvSpPr/>
          <p:nvPr/>
        </p:nvSpPr>
        <p:spPr>
          <a:xfrm>
            <a:off x="6267293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21" name="Text 18"/>
          <p:cNvSpPr/>
          <p:nvPr/>
        </p:nvSpPr>
        <p:spPr>
          <a:xfrm>
            <a:off x="6267293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errados / experiencia</a:t>
            </a:r>
            <a:endParaRPr lang="en-US" sz="552" dirty="0"/>
          </a:p>
        </p:txBody>
      </p:sp>
      <p:sp>
        <p:nvSpPr>
          <p:cNvPr id="22" name="Text 19"/>
          <p:cNvSpPr/>
          <p:nvPr/>
        </p:nvSpPr>
        <p:spPr>
          <a:xfrm>
            <a:off x="6267293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precio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504812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</a:t>
            </a:r>
            <a:endParaRPr lang="en-US" sz="576" dirty="0"/>
          </a:p>
        </p:txBody>
      </p:sp>
      <p:sp>
        <p:nvSpPr>
          <p:cNvPr id="25" name="Text 22"/>
          <p:cNvSpPr/>
          <p:nvPr/>
        </p:nvSpPr>
        <p:spPr>
          <a:xfrm>
            <a:off x="6267293" y="46203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6" name="Text 23"/>
          <p:cNvSpPr/>
          <p:nvPr/>
        </p:nvSpPr>
        <p:spPr>
          <a:xfrm>
            <a:off x="504812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7" name="Text 24"/>
          <p:cNvSpPr/>
          <p:nvPr/>
        </p:nvSpPr>
        <p:spPr>
          <a:xfrm>
            <a:off x="6267293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8" name="Text 25"/>
          <p:cNvSpPr/>
          <p:nvPr/>
        </p:nvSpPr>
        <p:spPr>
          <a:xfrm>
            <a:off x="533387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VOLUMEN DE REGISTROS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4374991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CONSOLIDADAS</a:t>
            </a:r>
            <a:endParaRPr lang="en-US" sz="672" dirty="0"/>
          </a:p>
        </p:txBody>
      </p:sp>
      <p:sp>
        <p:nvSpPr>
          <p:cNvPr id="30" name="Text 27"/>
          <p:cNvSpPr/>
          <p:nvPr/>
        </p:nvSpPr>
        <p:spPr>
          <a:xfrm>
            <a:off x="8216595" y="809625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PROMEDIO</a:t>
            </a:r>
            <a:endParaRPr lang="en-US" sz="672" dirty="0"/>
          </a:p>
        </p:txBody>
      </p:sp>
      <p:sp>
        <p:nvSpPr>
          <p:cNvPr id="31" name="Text 28"/>
          <p:cNvSpPr/>
          <p:nvPr/>
        </p:nvSpPr>
        <p:spPr>
          <a:xfrm>
            <a:off x="504812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Dirección Repetida</a:t>
            </a:r>
            <a:endParaRPr lang="en-US" sz="576" dirty="0"/>
          </a:p>
        </p:txBody>
      </p:sp>
      <p:sp>
        <p:nvSpPr>
          <p:cNvPr id="32" name="Text 29"/>
          <p:cNvSpPr/>
          <p:nvPr/>
        </p:nvSpPr>
        <p:spPr>
          <a:xfrm>
            <a:off x="504812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33" name="Text 30"/>
          <p:cNvSpPr/>
          <p:nvPr/>
        </p:nvSpPr>
        <p:spPr>
          <a:xfrm>
            <a:off x="504812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Repetido</a:t>
            </a:r>
            <a:endParaRPr lang="en-US" sz="576" dirty="0"/>
          </a:p>
        </p:txBody>
      </p:sp>
      <p:sp>
        <p:nvSpPr>
          <p:cNvPr id="34" name="Text 31"/>
          <p:cNvSpPr/>
          <p:nvPr/>
        </p:nvSpPr>
        <p:spPr>
          <a:xfrm>
            <a:off x="6267293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35" name="Text 32"/>
          <p:cNvSpPr/>
          <p:nvPr/>
        </p:nvSpPr>
        <p:spPr>
          <a:xfrm>
            <a:off x="6267293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36" name="Text 33"/>
          <p:cNvSpPr/>
          <p:nvPr/>
        </p:nvSpPr>
        <p:spPr>
          <a:xfrm>
            <a:off x="6267293" y="50204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7" name="Text 34"/>
          <p:cNvSpPr/>
          <p:nvPr/>
        </p:nvSpPr>
        <p:spPr>
          <a:xfrm>
            <a:off x="6267293" y="515379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8" name="Text 35"/>
          <p:cNvSpPr/>
          <p:nvPr/>
        </p:nvSpPr>
        <p:spPr>
          <a:xfrm>
            <a:off x="504812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Cédula Repetida</a:t>
            </a:r>
            <a:endParaRPr lang="en-US" sz="576" dirty="0"/>
          </a:p>
        </p:txBody>
      </p:sp>
      <p:sp>
        <p:nvSpPr>
          <p:cNvPr id="39" name="Text 36"/>
          <p:cNvSpPr/>
          <p:nvPr/>
        </p:nvSpPr>
        <p:spPr>
          <a:xfrm>
            <a:off x="10281832" y="1681930"/>
            <a:ext cx="145701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6267293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41" name="Text 38"/>
          <p:cNvSpPr/>
          <p:nvPr/>
        </p:nvSpPr>
        <p:spPr>
          <a:xfrm>
            <a:off x="6267293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6267293" y="44870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43" name="Text 40"/>
          <p:cNvSpPr/>
          <p:nvPr/>
        </p:nvSpPr>
        <p:spPr>
          <a:xfrm>
            <a:off x="6267293" y="47537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44" name="Text 41"/>
          <p:cNvSpPr/>
          <p:nvPr/>
        </p:nvSpPr>
        <p:spPr>
          <a:xfrm>
            <a:off x="2996877" y="1681930"/>
            <a:ext cx="1568454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8324195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1582896" y="1681930"/>
            <a:ext cx="145640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4519648" y="1681930"/>
            <a:ext cx="145670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495288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9" name="Text 46"/>
          <p:cNvSpPr/>
          <p:nvPr/>
        </p:nvSpPr>
        <p:spPr>
          <a:xfrm>
            <a:off x="1582896" y="25629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114.104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1582896" y="2705867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420.641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2996877" y="2705867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261.700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5226118" y="448704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261.700</a:t>
            </a:r>
            <a:endParaRPr lang="en-US" sz="576" dirty="0"/>
          </a:p>
        </p:txBody>
      </p:sp>
      <p:sp>
        <p:nvSpPr>
          <p:cNvPr id="53" name="Text 50"/>
          <p:cNvSpPr/>
          <p:nvPr/>
        </p:nvSpPr>
        <p:spPr>
          <a:xfrm>
            <a:off x="6257769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7345377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158.941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533387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420.641</a:t>
            </a:r>
            <a:endParaRPr lang="en-US" sz="1380" dirty="0"/>
          </a:p>
        </p:txBody>
      </p:sp>
      <p:sp>
        <p:nvSpPr>
          <p:cNvPr id="56" name="Text 53"/>
          <p:cNvSpPr/>
          <p:nvPr/>
        </p:nvSpPr>
        <p:spPr>
          <a:xfrm>
            <a:off x="1582896" y="1853380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20.864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2996877" y="1853380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12.781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4519648" y="1853380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61,3 %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1582896" y="19914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50.266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2996877" y="199149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25.419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4519648" y="19914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50,6 %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1582896" y="213436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69.741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2996877" y="2134367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41.761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4519648" y="213436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59,9 %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1582896" y="227724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82.833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2996877" y="227724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636" dirty="0"/>
          </a:p>
        </p:txBody>
      </p:sp>
      <p:sp>
        <p:nvSpPr>
          <p:cNvPr id="67" name="Text 64"/>
          <p:cNvSpPr/>
          <p:nvPr/>
        </p:nvSpPr>
        <p:spPr>
          <a:xfrm>
            <a:off x="4519648" y="227724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64,5 %</a:t>
            </a:r>
            <a:endParaRPr lang="en-US" sz="636" dirty="0"/>
          </a:p>
        </p:txBody>
      </p:sp>
      <p:sp>
        <p:nvSpPr>
          <p:cNvPr id="68" name="Text 65"/>
          <p:cNvSpPr/>
          <p:nvPr/>
        </p:nvSpPr>
        <p:spPr>
          <a:xfrm>
            <a:off x="1582896" y="242011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82.833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2996877" y="2420117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519648" y="242011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64,5 %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2996877" y="256299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74.819</a:t>
            </a:r>
            <a:endParaRPr lang="en-US" sz="636" dirty="0"/>
          </a:p>
        </p:txBody>
      </p:sp>
      <p:sp>
        <p:nvSpPr>
          <p:cNvPr id="72" name="Text 69"/>
          <p:cNvSpPr/>
          <p:nvPr/>
        </p:nvSpPr>
        <p:spPr>
          <a:xfrm>
            <a:off x="4519648" y="25629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65,6 %</a:t>
            </a:r>
            <a:endParaRPr lang="en-US" sz="636" dirty="0"/>
          </a:p>
        </p:txBody>
      </p:sp>
      <p:sp>
        <p:nvSpPr>
          <p:cNvPr id="73" name="Text 70"/>
          <p:cNvSpPr/>
          <p:nvPr/>
        </p:nvSpPr>
        <p:spPr>
          <a:xfrm>
            <a:off x="4519648" y="2705867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62,2 %</a:t>
            </a:r>
            <a:endParaRPr lang="en-US" sz="636" dirty="0"/>
          </a:p>
        </p:txBody>
      </p:sp>
      <p:sp>
        <p:nvSpPr>
          <p:cNvPr id="74" name="Text 71"/>
          <p:cNvSpPr/>
          <p:nvPr/>
        </p:nvSpPr>
        <p:spPr>
          <a:xfrm>
            <a:off x="504812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329497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15.354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3777759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19.655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4260545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19.655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474333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27.509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5226118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96.218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329497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13.637</a:t>
            </a:r>
            <a:endParaRPr lang="en-US" sz="576" dirty="0"/>
          </a:p>
        </p:txBody>
      </p:sp>
      <p:sp>
        <p:nvSpPr>
          <p:cNvPr id="81" name="Text 78"/>
          <p:cNvSpPr/>
          <p:nvPr/>
        </p:nvSpPr>
        <p:spPr>
          <a:xfrm>
            <a:off x="3777759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17.457</a:t>
            </a:r>
            <a:endParaRPr lang="en-US" sz="576" dirty="0"/>
          </a:p>
        </p:txBody>
      </p:sp>
      <p:sp>
        <p:nvSpPr>
          <p:cNvPr id="82" name="Text 79"/>
          <p:cNvSpPr/>
          <p:nvPr/>
        </p:nvSpPr>
        <p:spPr>
          <a:xfrm>
            <a:off x="4260545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17.457</a:t>
            </a:r>
            <a:endParaRPr lang="en-US" sz="576" dirty="0"/>
          </a:p>
        </p:txBody>
      </p:sp>
      <p:sp>
        <p:nvSpPr>
          <p:cNvPr id="83" name="Text 80"/>
          <p:cNvSpPr/>
          <p:nvPr/>
        </p:nvSpPr>
        <p:spPr>
          <a:xfrm>
            <a:off x="474333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24.431</a:t>
            </a:r>
            <a:endParaRPr lang="en-US" sz="576" dirty="0"/>
          </a:p>
        </p:txBody>
      </p:sp>
      <p:sp>
        <p:nvSpPr>
          <p:cNvPr id="84" name="Text 81"/>
          <p:cNvSpPr/>
          <p:nvPr/>
        </p:nvSpPr>
        <p:spPr>
          <a:xfrm>
            <a:off x="5226118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85.455</a:t>
            </a:r>
            <a:endParaRPr lang="en-US" sz="576" dirty="0"/>
          </a:p>
        </p:txBody>
      </p:sp>
      <p:sp>
        <p:nvSpPr>
          <p:cNvPr id="85" name="Text 82"/>
          <p:cNvSpPr/>
          <p:nvPr/>
        </p:nvSpPr>
        <p:spPr>
          <a:xfrm>
            <a:off x="5226118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21.047</a:t>
            </a:r>
            <a:endParaRPr lang="en-US" sz="576" dirty="0"/>
          </a:p>
        </p:txBody>
      </p:sp>
      <p:sp>
        <p:nvSpPr>
          <p:cNvPr id="86" name="Text 83"/>
          <p:cNvSpPr/>
          <p:nvPr/>
        </p:nvSpPr>
        <p:spPr>
          <a:xfrm>
            <a:off x="5226118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19.533</a:t>
            </a:r>
            <a:endParaRPr lang="en-US" sz="576" dirty="0"/>
          </a:p>
        </p:txBody>
      </p:sp>
      <p:sp>
        <p:nvSpPr>
          <p:cNvPr id="87" name="Text 84"/>
          <p:cNvSpPr/>
          <p:nvPr/>
        </p:nvSpPr>
        <p:spPr>
          <a:xfrm>
            <a:off x="5226118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13.637</a:t>
            </a:r>
            <a:endParaRPr lang="en-US" sz="576" dirty="0"/>
          </a:p>
        </p:txBody>
      </p:sp>
      <p:sp>
        <p:nvSpPr>
          <p:cNvPr id="88" name="Text 85"/>
          <p:cNvSpPr/>
          <p:nvPr/>
        </p:nvSpPr>
        <p:spPr>
          <a:xfrm>
            <a:off x="2329400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12.781</a:t>
            </a:r>
            <a:endParaRPr lang="en-US" sz="576" dirty="0"/>
          </a:p>
        </p:txBody>
      </p:sp>
      <p:sp>
        <p:nvSpPr>
          <p:cNvPr id="89" name="Text 86"/>
          <p:cNvSpPr/>
          <p:nvPr/>
        </p:nvSpPr>
        <p:spPr>
          <a:xfrm>
            <a:off x="2812186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25.419</a:t>
            </a:r>
            <a:endParaRPr lang="en-US" sz="576" dirty="0"/>
          </a:p>
        </p:txBody>
      </p:sp>
      <p:sp>
        <p:nvSpPr>
          <p:cNvPr id="90" name="Text 87"/>
          <p:cNvSpPr/>
          <p:nvPr/>
        </p:nvSpPr>
        <p:spPr>
          <a:xfrm>
            <a:off x="3294972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41.761</a:t>
            </a:r>
            <a:endParaRPr lang="en-US" sz="576" dirty="0"/>
          </a:p>
        </p:txBody>
      </p:sp>
      <p:sp>
        <p:nvSpPr>
          <p:cNvPr id="91" name="Text 88"/>
          <p:cNvSpPr/>
          <p:nvPr/>
        </p:nvSpPr>
        <p:spPr>
          <a:xfrm>
            <a:off x="3777759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576" dirty="0"/>
          </a:p>
        </p:txBody>
      </p:sp>
      <p:sp>
        <p:nvSpPr>
          <p:cNvPr id="92" name="Text 89"/>
          <p:cNvSpPr/>
          <p:nvPr/>
        </p:nvSpPr>
        <p:spPr>
          <a:xfrm>
            <a:off x="4260545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576" dirty="0"/>
          </a:p>
        </p:txBody>
      </p:sp>
      <p:sp>
        <p:nvSpPr>
          <p:cNvPr id="93" name="Text 90"/>
          <p:cNvSpPr/>
          <p:nvPr/>
        </p:nvSpPr>
        <p:spPr>
          <a:xfrm>
            <a:off x="4743331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74.819</a:t>
            </a:r>
            <a:endParaRPr lang="en-US" sz="576" dirty="0"/>
          </a:p>
        </p:txBody>
      </p:sp>
      <p:sp>
        <p:nvSpPr>
          <p:cNvPr id="94" name="Text 91"/>
          <p:cNvSpPr/>
          <p:nvPr/>
        </p:nvSpPr>
        <p:spPr>
          <a:xfrm>
            <a:off x="9303014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8324195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51,1 %</a:t>
            </a:r>
            <a:endParaRPr lang="en-US" sz="636" dirty="0"/>
          </a:p>
        </p:txBody>
      </p:sp>
      <p:sp>
        <p:nvSpPr>
          <p:cNvPr id="96" name="Text 93"/>
          <p:cNvSpPr/>
          <p:nvPr/>
        </p:nvSpPr>
        <p:spPr>
          <a:xfrm>
            <a:off x="7345377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24.847</a:t>
            </a:r>
            <a:endParaRPr lang="en-US" sz="636" dirty="0"/>
          </a:p>
        </p:txBody>
      </p:sp>
      <p:sp>
        <p:nvSpPr>
          <p:cNvPr id="97" name="Text 94"/>
          <p:cNvSpPr/>
          <p:nvPr/>
        </p:nvSpPr>
        <p:spPr>
          <a:xfrm>
            <a:off x="8324195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36,8 %</a:t>
            </a:r>
            <a:endParaRPr lang="en-US" sz="636" dirty="0"/>
          </a:p>
        </p:txBody>
      </p:sp>
      <p:sp>
        <p:nvSpPr>
          <p:cNvPr id="98" name="Text 95"/>
          <p:cNvSpPr/>
          <p:nvPr/>
        </p:nvSpPr>
        <p:spPr>
          <a:xfrm>
            <a:off x="7345377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27.980</a:t>
            </a:r>
            <a:endParaRPr lang="en-US" sz="636" dirty="0"/>
          </a:p>
        </p:txBody>
      </p:sp>
      <p:sp>
        <p:nvSpPr>
          <p:cNvPr id="99" name="Text 96"/>
          <p:cNvSpPr/>
          <p:nvPr/>
        </p:nvSpPr>
        <p:spPr>
          <a:xfrm>
            <a:off x="8324195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59,2 %</a:t>
            </a:r>
            <a:endParaRPr lang="en-US" sz="636" dirty="0"/>
          </a:p>
        </p:txBody>
      </p:sp>
      <p:sp>
        <p:nvSpPr>
          <p:cNvPr id="100" name="Text 97"/>
          <p:cNvSpPr/>
          <p:nvPr/>
        </p:nvSpPr>
        <p:spPr>
          <a:xfrm>
            <a:off x="7345377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29.373</a:t>
            </a:r>
            <a:endParaRPr lang="en-US" sz="636" dirty="0"/>
          </a:p>
        </p:txBody>
      </p:sp>
      <p:sp>
        <p:nvSpPr>
          <p:cNvPr id="101" name="Text 98"/>
          <p:cNvSpPr/>
          <p:nvPr/>
        </p:nvSpPr>
        <p:spPr>
          <a:xfrm>
            <a:off x="8324195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56,4 %</a:t>
            </a:r>
            <a:endParaRPr lang="en-US" sz="636" dirty="0"/>
          </a:p>
        </p:txBody>
      </p:sp>
      <p:sp>
        <p:nvSpPr>
          <p:cNvPr id="102" name="Text 99"/>
          <p:cNvSpPr/>
          <p:nvPr/>
        </p:nvSpPr>
        <p:spPr>
          <a:xfrm>
            <a:off x="7345377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29.373</a:t>
            </a:r>
            <a:endParaRPr lang="en-US" sz="636" dirty="0"/>
          </a:p>
        </p:txBody>
      </p:sp>
      <p:sp>
        <p:nvSpPr>
          <p:cNvPr id="103" name="Text 100"/>
          <p:cNvSpPr/>
          <p:nvPr/>
        </p:nvSpPr>
        <p:spPr>
          <a:xfrm>
            <a:off x="8324195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59,3 %</a:t>
            </a:r>
            <a:endParaRPr lang="en-US" sz="636" dirty="0"/>
          </a:p>
        </p:txBody>
      </p:sp>
      <p:sp>
        <p:nvSpPr>
          <p:cNvPr id="104" name="Text 101"/>
          <p:cNvSpPr/>
          <p:nvPr/>
        </p:nvSpPr>
        <p:spPr>
          <a:xfrm>
            <a:off x="7345377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39.285</a:t>
            </a:r>
            <a:endParaRPr lang="en-US" sz="636" dirty="0"/>
          </a:p>
        </p:txBody>
      </p:sp>
      <p:sp>
        <p:nvSpPr>
          <p:cNvPr id="105" name="Text 102"/>
          <p:cNvSpPr/>
          <p:nvPr/>
        </p:nvSpPr>
        <p:spPr>
          <a:xfrm>
            <a:off x="8324195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46,2 %</a:t>
            </a:r>
            <a:endParaRPr lang="en-US" sz="636" dirty="0"/>
          </a:p>
        </p:txBody>
      </p:sp>
      <p:sp>
        <p:nvSpPr>
          <p:cNvPr id="106" name="Text 103"/>
          <p:cNvSpPr/>
          <p:nvPr/>
        </p:nvSpPr>
        <p:spPr>
          <a:xfrm>
            <a:off x="8324195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51,6 %</a:t>
            </a:r>
            <a:endParaRPr lang="en-US" sz="636" dirty="0"/>
          </a:p>
        </p:txBody>
      </p:sp>
      <p:sp>
        <p:nvSpPr>
          <p:cNvPr id="107" name="Text 104"/>
          <p:cNvSpPr/>
          <p:nvPr/>
        </p:nvSpPr>
        <p:spPr>
          <a:xfrm>
            <a:off x="809188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51,1 %</a:t>
            </a:r>
            <a:endParaRPr lang="en-US" sz="552" dirty="0"/>
          </a:p>
        </p:txBody>
      </p:sp>
      <p:sp>
        <p:nvSpPr>
          <p:cNvPr id="108" name="Text 105"/>
          <p:cNvSpPr/>
          <p:nvPr/>
        </p:nvSpPr>
        <p:spPr>
          <a:xfrm>
            <a:off x="8574667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36,8 %</a:t>
            </a:r>
            <a:endParaRPr lang="en-US" sz="552" dirty="0"/>
          </a:p>
        </p:txBody>
      </p:sp>
      <p:sp>
        <p:nvSpPr>
          <p:cNvPr id="109" name="Text 106"/>
          <p:cNvSpPr/>
          <p:nvPr/>
        </p:nvSpPr>
        <p:spPr>
          <a:xfrm>
            <a:off x="9057453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59,2 %</a:t>
            </a:r>
            <a:endParaRPr lang="en-US" sz="552" dirty="0"/>
          </a:p>
        </p:txBody>
      </p:sp>
      <p:sp>
        <p:nvSpPr>
          <p:cNvPr id="110" name="Text 107"/>
          <p:cNvSpPr/>
          <p:nvPr/>
        </p:nvSpPr>
        <p:spPr>
          <a:xfrm>
            <a:off x="954024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56,4 %</a:t>
            </a:r>
            <a:endParaRPr lang="en-US" sz="552" dirty="0"/>
          </a:p>
        </p:txBody>
      </p:sp>
      <p:sp>
        <p:nvSpPr>
          <p:cNvPr id="111" name="Text 108"/>
          <p:cNvSpPr/>
          <p:nvPr/>
        </p:nvSpPr>
        <p:spPr>
          <a:xfrm>
            <a:off x="1002302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59,3 %</a:t>
            </a:r>
            <a:endParaRPr lang="en-US" sz="552" dirty="0"/>
          </a:p>
        </p:txBody>
      </p:sp>
      <p:sp>
        <p:nvSpPr>
          <p:cNvPr id="112" name="Text 109"/>
          <p:cNvSpPr/>
          <p:nvPr/>
        </p:nvSpPr>
        <p:spPr>
          <a:xfrm>
            <a:off x="1050581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46,2 %</a:t>
            </a:r>
            <a:endParaRPr lang="en-US" sz="552" dirty="0"/>
          </a:p>
        </p:txBody>
      </p:sp>
      <p:sp>
        <p:nvSpPr>
          <p:cNvPr id="113" name="Text 110"/>
          <p:cNvSpPr/>
          <p:nvPr/>
        </p:nvSpPr>
        <p:spPr>
          <a:xfrm>
            <a:off x="10988599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51,7 %</a:t>
            </a:r>
            <a:endParaRPr lang="en-US" sz="552" dirty="0"/>
          </a:p>
        </p:txBody>
      </p:sp>
      <p:sp>
        <p:nvSpPr>
          <p:cNvPr id="114" name="Text 111"/>
          <p:cNvSpPr/>
          <p:nvPr/>
        </p:nvSpPr>
        <p:spPr>
          <a:xfrm>
            <a:off x="809188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19,1 %</a:t>
            </a:r>
            <a:endParaRPr lang="en-US" sz="552" dirty="0"/>
          </a:p>
        </p:txBody>
      </p:sp>
      <p:sp>
        <p:nvSpPr>
          <p:cNvPr id="115" name="Text 112"/>
          <p:cNvSpPr/>
          <p:nvPr/>
        </p:nvSpPr>
        <p:spPr>
          <a:xfrm>
            <a:off x="8574667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13,8 %</a:t>
            </a:r>
            <a:endParaRPr lang="en-US" sz="552" dirty="0"/>
          </a:p>
        </p:txBody>
      </p:sp>
      <p:sp>
        <p:nvSpPr>
          <p:cNvPr id="116" name="Text 113"/>
          <p:cNvSpPr/>
          <p:nvPr/>
        </p:nvSpPr>
        <p:spPr>
          <a:xfrm>
            <a:off x="9057453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22,2 %</a:t>
            </a:r>
            <a:endParaRPr lang="en-US" sz="552" dirty="0"/>
          </a:p>
        </p:txBody>
      </p:sp>
      <p:sp>
        <p:nvSpPr>
          <p:cNvPr id="117" name="Text 114"/>
          <p:cNvSpPr/>
          <p:nvPr/>
        </p:nvSpPr>
        <p:spPr>
          <a:xfrm>
            <a:off x="954024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21,1 %</a:t>
            </a:r>
            <a:endParaRPr lang="en-US" sz="552" dirty="0"/>
          </a:p>
        </p:txBody>
      </p:sp>
      <p:sp>
        <p:nvSpPr>
          <p:cNvPr id="118" name="Text 115"/>
          <p:cNvSpPr/>
          <p:nvPr/>
        </p:nvSpPr>
        <p:spPr>
          <a:xfrm>
            <a:off x="1002302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22,2 %</a:t>
            </a:r>
            <a:endParaRPr lang="en-US" sz="552" dirty="0"/>
          </a:p>
        </p:txBody>
      </p:sp>
      <p:sp>
        <p:nvSpPr>
          <p:cNvPr id="119" name="Text 116"/>
          <p:cNvSpPr/>
          <p:nvPr/>
        </p:nvSpPr>
        <p:spPr>
          <a:xfrm>
            <a:off x="1050581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17,3 %</a:t>
            </a:r>
            <a:endParaRPr lang="en-US" sz="552" dirty="0"/>
          </a:p>
        </p:txBody>
      </p:sp>
      <p:sp>
        <p:nvSpPr>
          <p:cNvPr id="120" name="Text 117"/>
          <p:cNvSpPr/>
          <p:nvPr/>
        </p:nvSpPr>
        <p:spPr>
          <a:xfrm>
            <a:off x="10988599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19,4 %</a:t>
            </a:r>
            <a:endParaRPr lang="en-US" sz="552" dirty="0"/>
          </a:p>
        </p:txBody>
      </p:sp>
      <p:sp>
        <p:nvSpPr>
          <p:cNvPr id="121" name="Text 118"/>
          <p:cNvSpPr/>
          <p:nvPr/>
        </p:nvSpPr>
        <p:spPr>
          <a:xfrm>
            <a:off x="809188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122" name="Text 119"/>
          <p:cNvSpPr/>
          <p:nvPr/>
        </p:nvSpPr>
        <p:spPr>
          <a:xfrm>
            <a:off x="9057453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12,7 %</a:t>
            </a:r>
            <a:endParaRPr lang="en-US" sz="552" dirty="0"/>
          </a:p>
        </p:txBody>
      </p:sp>
      <p:sp>
        <p:nvSpPr>
          <p:cNvPr id="123" name="Text 120"/>
          <p:cNvSpPr/>
          <p:nvPr/>
        </p:nvSpPr>
        <p:spPr>
          <a:xfrm>
            <a:off x="954024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124" name="Text 121"/>
          <p:cNvSpPr/>
          <p:nvPr/>
        </p:nvSpPr>
        <p:spPr>
          <a:xfrm>
            <a:off x="1002302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12,7 %</a:t>
            </a:r>
            <a:endParaRPr lang="en-US" sz="552" dirty="0"/>
          </a:p>
        </p:txBody>
      </p:sp>
      <p:sp>
        <p:nvSpPr>
          <p:cNvPr id="125" name="Text 122"/>
          <p:cNvSpPr/>
          <p:nvPr/>
        </p:nvSpPr>
        <p:spPr>
          <a:xfrm>
            <a:off x="10988599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</a:t>
            </a:r>
            <a:endParaRPr lang="en-US" sz="552" dirty="0"/>
          </a:p>
        </p:txBody>
      </p:sp>
      <p:sp>
        <p:nvSpPr>
          <p:cNvPr id="126" name="Text 123"/>
          <p:cNvSpPr/>
          <p:nvPr/>
        </p:nvSpPr>
        <p:spPr>
          <a:xfrm>
            <a:off x="8091881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48,9 %</a:t>
            </a:r>
            <a:endParaRPr lang="en-US" sz="552" dirty="0"/>
          </a:p>
        </p:txBody>
      </p:sp>
      <p:sp>
        <p:nvSpPr>
          <p:cNvPr id="127" name="Text 124"/>
          <p:cNvSpPr/>
          <p:nvPr/>
        </p:nvSpPr>
        <p:spPr>
          <a:xfrm>
            <a:off x="8574667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63,2 %</a:t>
            </a:r>
            <a:endParaRPr lang="en-US" sz="552" dirty="0"/>
          </a:p>
        </p:txBody>
      </p:sp>
      <p:sp>
        <p:nvSpPr>
          <p:cNvPr id="128" name="Text 125"/>
          <p:cNvSpPr/>
          <p:nvPr/>
        </p:nvSpPr>
        <p:spPr>
          <a:xfrm>
            <a:off x="9057453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40,8 %</a:t>
            </a:r>
            <a:endParaRPr lang="en-US" sz="552" dirty="0"/>
          </a:p>
        </p:txBody>
      </p:sp>
      <p:sp>
        <p:nvSpPr>
          <p:cNvPr id="129" name="Text 126"/>
          <p:cNvSpPr/>
          <p:nvPr/>
        </p:nvSpPr>
        <p:spPr>
          <a:xfrm>
            <a:off x="9540240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43,6 %</a:t>
            </a:r>
            <a:endParaRPr lang="en-US" sz="552" dirty="0"/>
          </a:p>
        </p:txBody>
      </p:sp>
      <p:sp>
        <p:nvSpPr>
          <p:cNvPr id="130" name="Text 127"/>
          <p:cNvSpPr/>
          <p:nvPr/>
        </p:nvSpPr>
        <p:spPr>
          <a:xfrm>
            <a:off x="10023026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40,7 %</a:t>
            </a:r>
            <a:endParaRPr lang="en-US" sz="552" dirty="0"/>
          </a:p>
        </p:txBody>
      </p:sp>
      <p:sp>
        <p:nvSpPr>
          <p:cNvPr id="131" name="Text 128"/>
          <p:cNvSpPr/>
          <p:nvPr/>
        </p:nvSpPr>
        <p:spPr>
          <a:xfrm>
            <a:off x="10505812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53,8 %</a:t>
            </a:r>
            <a:endParaRPr lang="en-US" sz="552" dirty="0"/>
          </a:p>
        </p:txBody>
      </p:sp>
      <p:sp>
        <p:nvSpPr>
          <p:cNvPr id="132" name="Text 129"/>
          <p:cNvSpPr/>
          <p:nvPr/>
        </p:nvSpPr>
        <p:spPr>
          <a:xfrm>
            <a:off x="10988599" y="44870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48,3 %</a:t>
            </a:r>
            <a:endParaRPr lang="en-US" sz="552" dirty="0"/>
          </a:p>
        </p:txBody>
      </p:sp>
      <p:sp>
        <p:nvSpPr>
          <p:cNvPr id="133" name="Text 130"/>
          <p:cNvSpPr/>
          <p:nvPr/>
        </p:nvSpPr>
        <p:spPr>
          <a:xfrm>
            <a:off x="8091881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39,1 %</a:t>
            </a:r>
            <a:endParaRPr lang="en-US" sz="552" dirty="0"/>
          </a:p>
        </p:txBody>
      </p:sp>
      <p:sp>
        <p:nvSpPr>
          <p:cNvPr id="134" name="Text 131"/>
          <p:cNvSpPr/>
          <p:nvPr/>
        </p:nvSpPr>
        <p:spPr>
          <a:xfrm>
            <a:off x="8574667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50,5 %</a:t>
            </a:r>
            <a:endParaRPr lang="en-US" sz="552" dirty="0"/>
          </a:p>
        </p:txBody>
      </p:sp>
      <p:sp>
        <p:nvSpPr>
          <p:cNvPr id="135" name="Text 132"/>
          <p:cNvSpPr/>
          <p:nvPr/>
        </p:nvSpPr>
        <p:spPr>
          <a:xfrm>
            <a:off x="9057453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32,6 %</a:t>
            </a:r>
            <a:endParaRPr lang="en-US" sz="552" dirty="0"/>
          </a:p>
        </p:txBody>
      </p:sp>
      <p:sp>
        <p:nvSpPr>
          <p:cNvPr id="136" name="Text 133"/>
          <p:cNvSpPr/>
          <p:nvPr/>
        </p:nvSpPr>
        <p:spPr>
          <a:xfrm>
            <a:off x="9540240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34,9 %</a:t>
            </a:r>
            <a:endParaRPr lang="en-US" sz="552" dirty="0"/>
          </a:p>
        </p:txBody>
      </p:sp>
      <p:sp>
        <p:nvSpPr>
          <p:cNvPr id="137" name="Text 134"/>
          <p:cNvSpPr/>
          <p:nvPr/>
        </p:nvSpPr>
        <p:spPr>
          <a:xfrm>
            <a:off x="10023026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32,5 %</a:t>
            </a:r>
            <a:endParaRPr lang="en-US" sz="552" dirty="0"/>
          </a:p>
        </p:txBody>
      </p:sp>
      <p:sp>
        <p:nvSpPr>
          <p:cNvPr id="138" name="Text 135"/>
          <p:cNvSpPr/>
          <p:nvPr/>
        </p:nvSpPr>
        <p:spPr>
          <a:xfrm>
            <a:off x="10505812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43,0 %</a:t>
            </a:r>
            <a:endParaRPr lang="en-US" sz="552" dirty="0"/>
          </a:p>
        </p:txBody>
      </p:sp>
      <p:sp>
        <p:nvSpPr>
          <p:cNvPr id="139" name="Text 136"/>
          <p:cNvSpPr/>
          <p:nvPr/>
        </p:nvSpPr>
        <p:spPr>
          <a:xfrm>
            <a:off x="10988599" y="46203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38,6 %</a:t>
            </a:r>
            <a:endParaRPr lang="en-US" sz="552" dirty="0"/>
          </a:p>
        </p:txBody>
      </p:sp>
      <p:sp>
        <p:nvSpPr>
          <p:cNvPr id="140" name="Text 137"/>
          <p:cNvSpPr/>
          <p:nvPr/>
        </p:nvSpPr>
        <p:spPr>
          <a:xfrm>
            <a:off x="495288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41" name="Text 138"/>
          <p:cNvSpPr/>
          <p:nvPr/>
        </p:nvSpPr>
        <p:spPr>
          <a:xfrm>
            <a:off x="495288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42" name="Text 139"/>
          <p:cNvSpPr/>
          <p:nvPr/>
        </p:nvSpPr>
        <p:spPr>
          <a:xfrm>
            <a:off x="495288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43" name="Text 140"/>
          <p:cNvSpPr/>
          <p:nvPr/>
        </p:nvSpPr>
        <p:spPr>
          <a:xfrm>
            <a:off x="495288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44" name="Text 141"/>
          <p:cNvSpPr/>
          <p:nvPr/>
        </p:nvSpPr>
        <p:spPr>
          <a:xfrm>
            <a:off x="495288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45" name="Text 142"/>
          <p:cNvSpPr/>
          <p:nvPr/>
        </p:nvSpPr>
        <p:spPr>
          <a:xfrm>
            <a:off x="5226118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46" name="Text 143"/>
          <p:cNvSpPr/>
          <p:nvPr/>
        </p:nvSpPr>
        <p:spPr>
          <a:xfrm>
            <a:off x="232940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4.699</a:t>
            </a:r>
            <a:endParaRPr lang="en-US" sz="576" dirty="0"/>
          </a:p>
        </p:txBody>
      </p:sp>
      <p:sp>
        <p:nvSpPr>
          <p:cNvPr id="147" name="Text 144"/>
          <p:cNvSpPr/>
          <p:nvPr/>
        </p:nvSpPr>
        <p:spPr>
          <a:xfrm>
            <a:off x="281218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9.346</a:t>
            </a:r>
            <a:endParaRPr lang="en-US" sz="576" dirty="0"/>
          </a:p>
        </p:txBody>
      </p:sp>
      <p:sp>
        <p:nvSpPr>
          <p:cNvPr id="148" name="Text 145"/>
          <p:cNvSpPr/>
          <p:nvPr/>
        </p:nvSpPr>
        <p:spPr>
          <a:xfrm>
            <a:off x="232940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4.173</a:t>
            </a:r>
            <a:endParaRPr lang="en-US" sz="576" dirty="0"/>
          </a:p>
        </p:txBody>
      </p:sp>
      <p:sp>
        <p:nvSpPr>
          <p:cNvPr id="149" name="Text 146"/>
          <p:cNvSpPr/>
          <p:nvPr/>
        </p:nvSpPr>
        <p:spPr>
          <a:xfrm>
            <a:off x="281218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8.300</a:t>
            </a:r>
            <a:endParaRPr lang="en-US" sz="576" dirty="0"/>
          </a:p>
        </p:txBody>
      </p:sp>
      <p:sp>
        <p:nvSpPr>
          <p:cNvPr id="150" name="Text 147"/>
          <p:cNvSpPr/>
          <p:nvPr/>
        </p:nvSpPr>
        <p:spPr>
          <a:xfrm>
            <a:off x="232940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1.028</a:t>
            </a:r>
            <a:endParaRPr lang="en-US" sz="576" dirty="0"/>
          </a:p>
        </p:txBody>
      </p:sp>
      <p:sp>
        <p:nvSpPr>
          <p:cNvPr id="151" name="Text 148"/>
          <p:cNvSpPr/>
          <p:nvPr/>
        </p:nvSpPr>
        <p:spPr>
          <a:xfrm>
            <a:off x="281218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2.044</a:t>
            </a:r>
            <a:endParaRPr lang="en-US" sz="576" dirty="0"/>
          </a:p>
        </p:txBody>
      </p:sp>
      <p:sp>
        <p:nvSpPr>
          <p:cNvPr id="152" name="Text 149"/>
          <p:cNvSpPr/>
          <p:nvPr/>
        </p:nvSpPr>
        <p:spPr>
          <a:xfrm>
            <a:off x="329497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3.359</a:t>
            </a:r>
            <a:endParaRPr lang="en-US" sz="576" dirty="0"/>
          </a:p>
        </p:txBody>
      </p:sp>
      <p:sp>
        <p:nvSpPr>
          <p:cNvPr id="153" name="Text 150"/>
          <p:cNvSpPr/>
          <p:nvPr/>
        </p:nvSpPr>
        <p:spPr>
          <a:xfrm>
            <a:off x="3777759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4.299</a:t>
            </a:r>
            <a:endParaRPr lang="en-US" sz="576" dirty="0"/>
          </a:p>
        </p:txBody>
      </p:sp>
      <p:sp>
        <p:nvSpPr>
          <p:cNvPr id="154" name="Text 151"/>
          <p:cNvSpPr/>
          <p:nvPr/>
        </p:nvSpPr>
        <p:spPr>
          <a:xfrm>
            <a:off x="4260545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4.299</a:t>
            </a:r>
            <a:endParaRPr lang="en-US" sz="576" dirty="0"/>
          </a:p>
        </p:txBody>
      </p:sp>
      <p:sp>
        <p:nvSpPr>
          <p:cNvPr id="155" name="Text 152"/>
          <p:cNvSpPr/>
          <p:nvPr/>
        </p:nvSpPr>
        <p:spPr>
          <a:xfrm>
            <a:off x="474333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6.018</a:t>
            </a:r>
            <a:endParaRPr lang="en-US" sz="576" dirty="0"/>
          </a:p>
        </p:txBody>
      </p:sp>
      <p:sp>
        <p:nvSpPr>
          <p:cNvPr id="156" name="Text 153"/>
          <p:cNvSpPr/>
          <p:nvPr/>
        </p:nvSpPr>
        <p:spPr>
          <a:xfrm>
            <a:off x="281218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1.897</a:t>
            </a:r>
            <a:endParaRPr lang="en-US" sz="576" dirty="0"/>
          </a:p>
        </p:txBody>
      </p:sp>
      <p:sp>
        <p:nvSpPr>
          <p:cNvPr id="157" name="Text 154"/>
          <p:cNvSpPr/>
          <p:nvPr/>
        </p:nvSpPr>
        <p:spPr>
          <a:xfrm>
            <a:off x="329497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3.117</a:t>
            </a:r>
            <a:endParaRPr lang="en-US" sz="576" dirty="0"/>
          </a:p>
        </p:txBody>
      </p:sp>
      <p:sp>
        <p:nvSpPr>
          <p:cNvPr id="158" name="Text 155"/>
          <p:cNvSpPr/>
          <p:nvPr/>
        </p:nvSpPr>
        <p:spPr>
          <a:xfrm>
            <a:off x="3777759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3.990</a:t>
            </a:r>
            <a:endParaRPr lang="en-US" sz="576" dirty="0"/>
          </a:p>
        </p:txBody>
      </p:sp>
      <p:sp>
        <p:nvSpPr>
          <p:cNvPr id="159" name="Text 156"/>
          <p:cNvSpPr/>
          <p:nvPr/>
        </p:nvSpPr>
        <p:spPr>
          <a:xfrm>
            <a:off x="4260545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3.990</a:t>
            </a:r>
            <a:endParaRPr lang="en-US" sz="576" dirty="0"/>
          </a:p>
        </p:txBody>
      </p:sp>
      <p:sp>
        <p:nvSpPr>
          <p:cNvPr id="160" name="Text 157"/>
          <p:cNvSpPr/>
          <p:nvPr/>
        </p:nvSpPr>
        <p:spPr>
          <a:xfrm>
            <a:off x="474333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5.585</a:t>
            </a:r>
            <a:endParaRPr lang="en-US" sz="576" dirty="0"/>
          </a:p>
        </p:txBody>
      </p:sp>
      <p:sp>
        <p:nvSpPr>
          <p:cNvPr id="161" name="Text 158"/>
          <p:cNvSpPr/>
          <p:nvPr/>
        </p:nvSpPr>
        <p:spPr>
          <a:xfrm>
            <a:off x="281218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1.325</a:t>
            </a:r>
            <a:endParaRPr lang="en-US" sz="576" dirty="0"/>
          </a:p>
        </p:txBody>
      </p:sp>
      <p:sp>
        <p:nvSpPr>
          <p:cNvPr id="162" name="Text 159"/>
          <p:cNvSpPr/>
          <p:nvPr/>
        </p:nvSpPr>
        <p:spPr>
          <a:xfrm>
            <a:off x="329497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2.176</a:t>
            </a:r>
            <a:endParaRPr lang="en-US" sz="576" dirty="0"/>
          </a:p>
        </p:txBody>
      </p:sp>
      <p:sp>
        <p:nvSpPr>
          <p:cNvPr id="163" name="Text 160"/>
          <p:cNvSpPr/>
          <p:nvPr/>
        </p:nvSpPr>
        <p:spPr>
          <a:xfrm>
            <a:off x="3777759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2.786</a:t>
            </a:r>
            <a:endParaRPr lang="en-US" sz="576" dirty="0"/>
          </a:p>
        </p:txBody>
      </p:sp>
      <p:sp>
        <p:nvSpPr>
          <p:cNvPr id="164" name="Text 161"/>
          <p:cNvSpPr/>
          <p:nvPr/>
        </p:nvSpPr>
        <p:spPr>
          <a:xfrm>
            <a:off x="4260545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2.786</a:t>
            </a:r>
            <a:endParaRPr lang="en-US" sz="576" dirty="0"/>
          </a:p>
        </p:txBody>
      </p:sp>
      <p:sp>
        <p:nvSpPr>
          <p:cNvPr id="165" name="Text 162"/>
          <p:cNvSpPr/>
          <p:nvPr/>
        </p:nvSpPr>
        <p:spPr>
          <a:xfrm>
            <a:off x="474333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3.898</a:t>
            </a:r>
            <a:endParaRPr lang="en-US" sz="576" dirty="0"/>
          </a:p>
        </p:txBody>
      </p:sp>
      <p:sp>
        <p:nvSpPr>
          <p:cNvPr id="166" name="Text 163"/>
          <p:cNvSpPr/>
          <p:nvPr/>
        </p:nvSpPr>
        <p:spPr>
          <a:xfrm>
            <a:off x="329497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1.126</a:t>
            </a:r>
            <a:endParaRPr lang="en-US" sz="576" dirty="0"/>
          </a:p>
        </p:txBody>
      </p:sp>
      <p:sp>
        <p:nvSpPr>
          <p:cNvPr id="167" name="Text 164"/>
          <p:cNvSpPr/>
          <p:nvPr/>
        </p:nvSpPr>
        <p:spPr>
          <a:xfrm>
            <a:off x="3777759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1.442</a:t>
            </a:r>
            <a:endParaRPr lang="en-US" sz="576" dirty="0"/>
          </a:p>
        </p:txBody>
      </p:sp>
      <p:sp>
        <p:nvSpPr>
          <p:cNvPr id="168" name="Text 165"/>
          <p:cNvSpPr/>
          <p:nvPr/>
        </p:nvSpPr>
        <p:spPr>
          <a:xfrm>
            <a:off x="4260545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1.442</a:t>
            </a:r>
            <a:endParaRPr lang="en-US" sz="576" dirty="0"/>
          </a:p>
        </p:txBody>
      </p:sp>
      <p:sp>
        <p:nvSpPr>
          <p:cNvPr id="169" name="Text 166"/>
          <p:cNvSpPr/>
          <p:nvPr/>
        </p:nvSpPr>
        <p:spPr>
          <a:xfrm>
            <a:off x="474333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2.018</a:t>
            </a:r>
            <a:endParaRPr lang="en-US" sz="576" dirty="0"/>
          </a:p>
        </p:txBody>
      </p:sp>
      <p:sp>
        <p:nvSpPr>
          <p:cNvPr id="170" name="Text 167"/>
          <p:cNvSpPr/>
          <p:nvPr/>
        </p:nvSpPr>
        <p:spPr>
          <a:xfrm>
            <a:off x="5226118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7.059</a:t>
            </a:r>
            <a:endParaRPr lang="en-US" sz="576" dirty="0"/>
          </a:p>
        </p:txBody>
      </p:sp>
      <p:sp>
        <p:nvSpPr>
          <p:cNvPr id="171" name="Text 168"/>
          <p:cNvSpPr/>
          <p:nvPr/>
        </p:nvSpPr>
        <p:spPr>
          <a:xfrm>
            <a:off x="3777759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1.032</a:t>
            </a:r>
            <a:endParaRPr lang="en-US" sz="576" dirty="0"/>
          </a:p>
        </p:txBody>
      </p:sp>
      <p:sp>
        <p:nvSpPr>
          <p:cNvPr id="172" name="Text 169"/>
          <p:cNvSpPr/>
          <p:nvPr/>
        </p:nvSpPr>
        <p:spPr>
          <a:xfrm>
            <a:off x="4260545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1.032</a:t>
            </a:r>
            <a:endParaRPr lang="en-US" sz="576" dirty="0"/>
          </a:p>
        </p:txBody>
      </p:sp>
      <p:sp>
        <p:nvSpPr>
          <p:cNvPr id="173" name="Text 170"/>
          <p:cNvSpPr/>
          <p:nvPr/>
        </p:nvSpPr>
        <p:spPr>
          <a:xfrm>
            <a:off x="474333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1.445</a:t>
            </a:r>
            <a:endParaRPr lang="en-US" sz="576" dirty="0"/>
          </a:p>
        </p:txBody>
      </p:sp>
      <p:sp>
        <p:nvSpPr>
          <p:cNvPr id="174" name="Text 171"/>
          <p:cNvSpPr/>
          <p:nvPr/>
        </p:nvSpPr>
        <p:spPr>
          <a:xfrm>
            <a:off x="5226118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5.053</a:t>
            </a:r>
            <a:endParaRPr lang="en-US" sz="576" dirty="0"/>
          </a:p>
        </p:txBody>
      </p:sp>
      <p:sp>
        <p:nvSpPr>
          <p:cNvPr id="175" name="Text 172"/>
          <p:cNvSpPr/>
          <p:nvPr/>
        </p:nvSpPr>
        <p:spPr>
          <a:xfrm>
            <a:off x="474333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1.300</a:t>
            </a:r>
            <a:endParaRPr lang="en-US" sz="576" dirty="0"/>
          </a:p>
        </p:txBody>
      </p:sp>
      <p:sp>
        <p:nvSpPr>
          <p:cNvPr id="176" name="Text 173"/>
          <p:cNvSpPr/>
          <p:nvPr/>
        </p:nvSpPr>
        <p:spPr>
          <a:xfrm>
            <a:off x="5226118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4.544</a:t>
            </a:r>
            <a:endParaRPr lang="en-US" sz="576" dirty="0"/>
          </a:p>
        </p:txBody>
      </p:sp>
      <p:sp>
        <p:nvSpPr>
          <p:cNvPr id="177" name="Text 174"/>
          <p:cNvSpPr/>
          <p:nvPr/>
        </p:nvSpPr>
        <p:spPr>
          <a:xfrm>
            <a:off x="3294972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1.461</a:t>
            </a:r>
            <a:endParaRPr lang="en-US" sz="576" dirty="0"/>
          </a:p>
        </p:txBody>
      </p:sp>
      <p:sp>
        <p:nvSpPr>
          <p:cNvPr id="178" name="Text 175"/>
          <p:cNvSpPr/>
          <p:nvPr/>
        </p:nvSpPr>
        <p:spPr>
          <a:xfrm>
            <a:off x="3777759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1.870</a:t>
            </a:r>
            <a:endParaRPr lang="en-US" sz="576" dirty="0"/>
          </a:p>
        </p:txBody>
      </p:sp>
      <p:sp>
        <p:nvSpPr>
          <p:cNvPr id="179" name="Text 176"/>
          <p:cNvSpPr/>
          <p:nvPr/>
        </p:nvSpPr>
        <p:spPr>
          <a:xfrm>
            <a:off x="4260545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1.870</a:t>
            </a:r>
            <a:endParaRPr lang="en-US" sz="576" dirty="0"/>
          </a:p>
        </p:txBody>
      </p:sp>
      <p:sp>
        <p:nvSpPr>
          <p:cNvPr id="180" name="Text 177"/>
          <p:cNvSpPr/>
          <p:nvPr/>
        </p:nvSpPr>
        <p:spPr>
          <a:xfrm>
            <a:off x="4743331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2.617</a:t>
            </a:r>
            <a:endParaRPr lang="en-US" sz="576" dirty="0"/>
          </a:p>
        </p:txBody>
      </p:sp>
      <p:sp>
        <p:nvSpPr>
          <p:cNvPr id="181" name="Text 178"/>
          <p:cNvSpPr/>
          <p:nvPr/>
        </p:nvSpPr>
        <p:spPr>
          <a:xfrm>
            <a:off x="5226118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9.154</a:t>
            </a:r>
            <a:endParaRPr lang="en-US" sz="576" dirty="0"/>
          </a:p>
        </p:txBody>
      </p:sp>
      <p:sp>
        <p:nvSpPr>
          <p:cNvPr id="182" name="Text 179"/>
          <p:cNvSpPr/>
          <p:nvPr/>
        </p:nvSpPr>
        <p:spPr>
          <a:xfrm>
            <a:off x="504812" y="448704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183" name="Text 180"/>
          <p:cNvSpPr/>
          <p:nvPr/>
        </p:nvSpPr>
        <p:spPr>
          <a:xfrm>
            <a:off x="7345377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84" name="Text 181"/>
          <p:cNvSpPr/>
          <p:nvPr/>
        </p:nvSpPr>
        <p:spPr>
          <a:xfrm>
            <a:off x="6257769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85" name="Text 182"/>
          <p:cNvSpPr/>
          <p:nvPr/>
        </p:nvSpPr>
        <p:spPr>
          <a:xfrm>
            <a:off x="7345377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8.083</a:t>
            </a:r>
            <a:endParaRPr lang="en-US" sz="636" dirty="0"/>
          </a:p>
        </p:txBody>
      </p:sp>
      <p:sp>
        <p:nvSpPr>
          <p:cNvPr id="186" name="Text 183"/>
          <p:cNvSpPr/>
          <p:nvPr/>
        </p:nvSpPr>
        <p:spPr>
          <a:xfrm>
            <a:off x="10281832" y="1853380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7,8 %</a:t>
            </a:r>
            <a:endParaRPr lang="en-US" sz="636" dirty="0"/>
          </a:p>
        </p:txBody>
      </p:sp>
      <p:sp>
        <p:nvSpPr>
          <p:cNvPr id="187" name="Text 184"/>
          <p:cNvSpPr/>
          <p:nvPr/>
        </p:nvSpPr>
        <p:spPr>
          <a:xfrm>
            <a:off x="10281832" y="19914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4,8 %</a:t>
            </a:r>
            <a:endParaRPr lang="en-US" sz="636" dirty="0"/>
          </a:p>
        </p:txBody>
      </p:sp>
      <p:sp>
        <p:nvSpPr>
          <p:cNvPr id="188" name="Text 185"/>
          <p:cNvSpPr/>
          <p:nvPr/>
        </p:nvSpPr>
        <p:spPr>
          <a:xfrm>
            <a:off x="6257769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89" name="Text 186"/>
          <p:cNvSpPr/>
          <p:nvPr/>
        </p:nvSpPr>
        <p:spPr>
          <a:xfrm>
            <a:off x="10281832" y="213436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636" dirty="0"/>
          </a:p>
        </p:txBody>
      </p:sp>
      <p:sp>
        <p:nvSpPr>
          <p:cNvPr id="190" name="Text 187"/>
          <p:cNvSpPr/>
          <p:nvPr/>
        </p:nvSpPr>
        <p:spPr>
          <a:xfrm>
            <a:off x="6257769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91" name="Text 188"/>
          <p:cNvSpPr/>
          <p:nvPr/>
        </p:nvSpPr>
        <p:spPr>
          <a:xfrm>
            <a:off x="10281832" y="227724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636" dirty="0"/>
          </a:p>
        </p:txBody>
      </p:sp>
      <p:sp>
        <p:nvSpPr>
          <p:cNvPr id="192" name="Text 189"/>
          <p:cNvSpPr/>
          <p:nvPr/>
        </p:nvSpPr>
        <p:spPr>
          <a:xfrm>
            <a:off x="10281832" y="242011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636" dirty="0"/>
          </a:p>
        </p:txBody>
      </p:sp>
      <p:sp>
        <p:nvSpPr>
          <p:cNvPr id="193" name="Text 190"/>
          <p:cNvSpPr/>
          <p:nvPr/>
        </p:nvSpPr>
        <p:spPr>
          <a:xfrm>
            <a:off x="6257769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94" name="Text 191"/>
          <p:cNvSpPr/>
          <p:nvPr/>
        </p:nvSpPr>
        <p:spPr>
          <a:xfrm>
            <a:off x="10281832" y="25629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3,9 %</a:t>
            </a:r>
            <a:endParaRPr lang="en-US" sz="636" dirty="0"/>
          </a:p>
        </p:txBody>
      </p:sp>
      <p:sp>
        <p:nvSpPr>
          <p:cNvPr id="195" name="Text 192"/>
          <p:cNvSpPr/>
          <p:nvPr/>
        </p:nvSpPr>
        <p:spPr>
          <a:xfrm>
            <a:off x="6257769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96" name="Text 193"/>
          <p:cNvSpPr/>
          <p:nvPr/>
        </p:nvSpPr>
        <p:spPr>
          <a:xfrm>
            <a:off x="9303014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2.845</a:t>
            </a:r>
            <a:endParaRPr lang="en-US" sz="636" dirty="0"/>
          </a:p>
        </p:txBody>
      </p:sp>
      <p:sp>
        <p:nvSpPr>
          <p:cNvPr id="197" name="Text 194"/>
          <p:cNvSpPr/>
          <p:nvPr/>
        </p:nvSpPr>
        <p:spPr>
          <a:xfrm>
            <a:off x="10281832" y="2705867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3,5 %</a:t>
            </a:r>
            <a:endParaRPr lang="en-US" sz="636" dirty="0"/>
          </a:p>
        </p:txBody>
      </p:sp>
      <p:sp>
        <p:nvSpPr>
          <p:cNvPr id="198" name="Text 195"/>
          <p:cNvSpPr/>
          <p:nvPr/>
        </p:nvSpPr>
        <p:spPr>
          <a:xfrm>
            <a:off x="10988599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99" name="Text 196"/>
          <p:cNvSpPr/>
          <p:nvPr/>
        </p:nvSpPr>
        <p:spPr>
          <a:xfrm>
            <a:off x="809188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00" name="Text 197"/>
          <p:cNvSpPr/>
          <p:nvPr/>
        </p:nvSpPr>
        <p:spPr>
          <a:xfrm>
            <a:off x="8574667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01" name="Text 198"/>
          <p:cNvSpPr/>
          <p:nvPr/>
        </p:nvSpPr>
        <p:spPr>
          <a:xfrm>
            <a:off x="9057453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02" name="Text 199"/>
          <p:cNvSpPr/>
          <p:nvPr/>
        </p:nvSpPr>
        <p:spPr>
          <a:xfrm>
            <a:off x="954024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03" name="Text 200"/>
          <p:cNvSpPr/>
          <p:nvPr/>
        </p:nvSpPr>
        <p:spPr>
          <a:xfrm>
            <a:off x="1002302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04" name="Text 201"/>
          <p:cNvSpPr/>
          <p:nvPr/>
        </p:nvSpPr>
        <p:spPr>
          <a:xfrm>
            <a:off x="1050581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1,6 %</a:t>
            </a:r>
            <a:endParaRPr lang="en-US" sz="552" dirty="0"/>
          </a:p>
        </p:txBody>
      </p:sp>
      <p:sp>
        <p:nvSpPr>
          <p:cNvPr id="205" name="Text 202"/>
          <p:cNvSpPr/>
          <p:nvPr/>
        </p:nvSpPr>
        <p:spPr>
          <a:xfrm>
            <a:off x="10988599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06" name="Text 203"/>
          <p:cNvSpPr/>
          <p:nvPr/>
        </p:nvSpPr>
        <p:spPr>
          <a:xfrm>
            <a:off x="8574667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7,9 %</a:t>
            </a:r>
            <a:endParaRPr lang="en-US" sz="552" dirty="0"/>
          </a:p>
        </p:txBody>
      </p:sp>
      <p:sp>
        <p:nvSpPr>
          <p:cNvPr id="207" name="Text 204"/>
          <p:cNvSpPr/>
          <p:nvPr/>
        </p:nvSpPr>
        <p:spPr>
          <a:xfrm>
            <a:off x="1050581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9,9 %</a:t>
            </a:r>
            <a:endParaRPr lang="en-US" sz="552" dirty="0"/>
          </a:p>
        </p:txBody>
      </p:sp>
      <p:sp>
        <p:nvSpPr>
          <p:cNvPr id="208" name="Text 205"/>
          <p:cNvSpPr/>
          <p:nvPr/>
        </p:nvSpPr>
        <p:spPr>
          <a:xfrm>
            <a:off x="809188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209" name="Text 206"/>
          <p:cNvSpPr/>
          <p:nvPr/>
        </p:nvSpPr>
        <p:spPr>
          <a:xfrm>
            <a:off x="8574667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3,2 %</a:t>
            </a:r>
            <a:endParaRPr lang="en-US" sz="552" dirty="0"/>
          </a:p>
        </p:txBody>
      </p:sp>
      <p:sp>
        <p:nvSpPr>
          <p:cNvPr id="210" name="Text 207"/>
          <p:cNvSpPr/>
          <p:nvPr/>
        </p:nvSpPr>
        <p:spPr>
          <a:xfrm>
            <a:off x="9057453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11" name="Text 208"/>
          <p:cNvSpPr/>
          <p:nvPr/>
        </p:nvSpPr>
        <p:spPr>
          <a:xfrm>
            <a:off x="954024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4,9 %</a:t>
            </a:r>
            <a:endParaRPr lang="en-US" sz="552" dirty="0"/>
          </a:p>
        </p:txBody>
      </p:sp>
      <p:sp>
        <p:nvSpPr>
          <p:cNvPr id="212" name="Text 209"/>
          <p:cNvSpPr/>
          <p:nvPr/>
        </p:nvSpPr>
        <p:spPr>
          <a:xfrm>
            <a:off x="1002302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13" name="Text 210"/>
          <p:cNvSpPr/>
          <p:nvPr/>
        </p:nvSpPr>
        <p:spPr>
          <a:xfrm>
            <a:off x="1050581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14" name="Text 211"/>
          <p:cNvSpPr/>
          <p:nvPr/>
        </p:nvSpPr>
        <p:spPr>
          <a:xfrm>
            <a:off x="10988599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215" name="Text 212"/>
          <p:cNvSpPr/>
          <p:nvPr/>
        </p:nvSpPr>
        <p:spPr>
          <a:xfrm>
            <a:off x="809188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16" name="Text 213"/>
          <p:cNvSpPr/>
          <p:nvPr/>
        </p:nvSpPr>
        <p:spPr>
          <a:xfrm>
            <a:off x="8574667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7" name="Text 214"/>
          <p:cNvSpPr/>
          <p:nvPr/>
        </p:nvSpPr>
        <p:spPr>
          <a:xfrm>
            <a:off x="9057453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218" name="Text 215"/>
          <p:cNvSpPr/>
          <p:nvPr/>
        </p:nvSpPr>
        <p:spPr>
          <a:xfrm>
            <a:off x="9540240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219" name="Text 216"/>
          <p:cNvSpPr/>
          <p:nvPr/>
        </p:nvSpPr>
        <p:spPr>
          <a:xfrm>
            <a:off x="1002302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220" name="Text 217"/>
          <p:cNvSpPr/>
          <p:nvPr/>
        </p:nvSpPr>
        <p:spPr>
          <a:xfrm>
            <a:off x="1050581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4,8 %</a:t>
            </a:r>
            <a:endParaRPr lang="en-US" sz="552" dirty="0"/>
          </a:p>
        </p:txBody>
      </p:sp>
      <p:sp>
        <p:nvSpPr>
          <p:cNvPr id="221" name="Text 218"/>
          <p:cNvSpPr/>
          <p:nvPr/>
        </p:nvSpPr>
        <p:spPr>
          <a:xfrm>
            <a:off x="10988599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222" name="Text 219"/>
          <p:cNvSpPr/>
          <p:nvPr/>
        </p:nvSpPr>
        <p:spPr>
          <a:xfrm>
            <a:off x="809188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2,7 %</a:t>
            </a:r>
            <a:endParaRPr lang="en-US" sz="552" dirty="0"/>
          </a:p>
        </p:txBody>
      </p:sp>
      <p:sp>
        <p:nvSpPr>
          <p:cNvPr id="223" name="Text 220"/>
          <p:cNvSpPr/>
          <p:nvPr/>
        </p:nvSpPr>
        <p:spPr>
          <a:xfrm>
            <a:off x="8574667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24" name="Text 221"/>
          <p:cNvSpPr/>
          <p:nvPr/>
        </p:nvSpPr>
        <p:spPr>
          <a:xfrm>
            <a:off x="9057453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552" dirty="0"/>
          </a:p>
        </p:txBody>
      </p:sp>
      <p:sp>
        <p:nvSpPr>
          <p:cNvPr id="225" name="Text 222"/>
          <p:cNvSpPr/>
          <p:nvPr/>
        </p:nvSpPr>
        <p:spPr>
          <a:xfrm>
            <a:off x="9540240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2,9 %</a:t>
            </a:r>
            <a:endParaRPr lang="en-US" sz="552" dirty="0"/>
          </a:p>
        </p:txBody>
      </p:sp>
      <p:sp>
        <p:nvSpPr>
          <p:cNvPr id="226" name="Text 223"/>
          <p:cNvSpPr/>
          <p:nvPr/>
        </p:nvSpPr>
        <p:spPr>
          <a:xfrm>
            <a:off x="1002302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552" dirty="0"/>
          </a:p>
        </p:txBody>
      </p:sp>
      <p:sp>
        <p:nvSpPr>
          <p:cNvPr id="227" name="Text 224"/>
          <p:cNvSpPr/>
          <p:nvPr/>
        </p:nvSpPr>
        <p:spPr>
          <a:xfrm>
            <a:off x="1050581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228" name="Text 225"/>
          <p:cNvSpPr/>
          <p:nvPr/>
        </p:nvSpPr>
        <p:spPr>
          <a:xfrm>
            <a:off x="10988599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2,7 %</a:t>
            </a:r>
            <a:endParaRPr lang="en-US" sz="552" dirty="0"/>
          </a:p>
        </p:txBody>
      </p:sp>
      <p:sp>
        <p:nvSpPr>
          <p:cNvPr id="229" name="Text 226"/>
          <p:cNvSpPr/>
          <p:nvPr/>
        </p:nvSpPr>
        <p:spPr>
          <a:xfrm>
            <a:off x="809188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230" name="Text 227"/>
          <p:cNvSpPr/>
          <p:nvPr/>
        </p:nvSpPr>
        <p:spPr>
          <a:xfrm>
            <a:off x="8574667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552" dirty="0"/>
          </a:p>
        </p:txBody>
      </p:sp>
      <p:sp>
        <p:nvSpPr>
          <p:cNvPr id="231" name="Text 228"/>
          <p:cNvSpPr/>
          <p:nvPr/>
        </p:nvSpPr>
        <p:spPr>
          <a:xfrm>
            <a:off x="9057453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32" name="Text 229"/>
          <p:cNvSpPr/>
          <p:nvPr/>
        </p:nvSpPr>
        <p:spPr>
          <a:xfrm>
            <a:off x="9540240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233" name="Text 230"/>
          <p:cNvSpPr/>
          <p:nvPr/>
        </p:nvSpPr>
        <p:spPr>
          <a:xfrm>
            <a:off x="1002302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34" name="Text 231"/>
          <p:cNvSpPr/>
          <p:nvPr/>
        </p:nvSpPr>
        <p:spPr>
          <a:xfrm>
            <a:off x="1050581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35" name="Text 232"/>
          <p:cNvSpPr/>
          <p:nvPr/>
        </p:nvSpPr>
        <p:spPr>
          <a:xfrm>
            <a:off x="10988599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36" name="Text 233"/>
          <p:cNvSpPr/>
          <p:nvPr/>
        </p:nvSpPr>
        <p:spPr>
          <a:xfrm>
            <a:off x="8091881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4,6 %</a:t>
            </a:r>
            <a:endParaRPr lang="en-US" sz="552" dirty="0"/>
          </a:p>
        </p:txBody>
      </p:sp>
      <p:sp>
        <p:nvSpPr>
          <p:cNvPr id="237" name="Text 234"/>
          <p:cNvSpPr/>
          <p:nvPr/>
        </p:nvSpPr>
        <p:spPr>
          <a:xfrm>
            <a:off x="8574667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3,3 %</a:t>
            </a:r>
            <a:endParaRPr lang="en-US" sz="552" dirty="0"/>
          </a:p>
        </p:txBody>
      </p:sp>
      <p:sp>
        <p:nvSpPr>
          <p:cNvPr id="238" name="Text 235"/>
          <p:cNvSpPr/>
          <p:nvPr/>
        </p:nvSpPr>
        <p:spPr>
          <a:xfrm>
            <a:off x="9057453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39" name="Text 236"/>
          <p:cNvSpPr/>
          <p:nvPr/>
        </p:nvSpPr>
        <p:spPr>
          <a:xfrm>
            <a:off x="9540240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40" name="Text 237"/>
          <p:cNvSpPr/>
          <p:nvPr/>
        </p:nvSpPr>
        <p:spPr>
          <a:xfrm>
            <a:off x="10023026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41" name="Text 238"/>
          <p:cNvSpPr/>
          <p:nvPr/>
        </p:nvSpPr>
        <p:spPr>
          <a:xfrm>
            <a:off x="10505812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242" name="Text 239"/>
          <p:cNvSpPr/>
          <p:nvPr/>
        </p:nvSpPr>
        <p:spPr>
          <a:xfrm>
            <a:off x="10988599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4,6 %</a:t>
            </a:r>
            <a:endParaRPr lang="en-US" sz="552" dirty="0"/>
          </a:p>
        </p:txBody>
      </p:sp>
      <p:sp>
        <p:nvSpPr>
          <p:cNvPr id="243" name="Text 240"/>
          <p:cNvSpPr/>
          <p:nvPr/>
        </p:nvSpPr>
        <p:spPr>
          <a:xfrm>
            <a:off x="8091881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6,8 %</a:t>
            </a:r>
            <a:endParaRPr lang="en-US" sz="552" dirty="0"/>
          </a:p>
        </p:txBody>
      </p:sp>
      <p:sp>
        <p:nvSpPr>
          <p:cNvPr id="244" name="Text 241"/>
          <p:cNvSpPr/>
          <p:nvPr/>
        </p:nvSpPr>
        <p:spPr>
          <a:xfrm>
            <a:off x="8574667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8,7 %</a:t>
            </a:r>
            <a:endParaRPr lang="en-US" sz="552" dirty="0"/>
          </a:p>
        </p:txBody>
      </p:sp>
      <p:sp>
        <p:nvSpPr>
          <p:cNvPr id="245" name="Text 242"/>
          <p:cNvSpPr/>
          <p:nvPr/>
        </p:nvSpPr>
        <p:spPr>
          <a:xfrm>
            <a:off x="9057453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5,6 %</a:t>
            </a:r>
            <a:endParaRPr lang="en-US" sz="552" dirty="0"/>
          </a:p>
        </p:txBody>
      </p:sp>
      <p:sp>
        <p:nvSpPr>
          <p:cNvPr id="246" name="Text 243"/>
          <p:cNvSpPr/>
          <p:nvPr/>
        </p:nvSpPr>
        <p:spPr>
          <a:xfrm>
            <a:off x="9540240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247" name="Text 244"/>
          <p:cNvSpPr/>
          <p:nvPr/>
        </p:nvSpPr>
        <p:spPr>
          <a:xfrm>
            <a:off x="10023026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5,6 %</a:t>
            </a:r>
            <a:endParaRPr lang="en-US" sz="552" dirty="0"/>
          </a:p>
        </p:txBody>
      </p:sp>
      <p:sp>
        <p:nvSpPr>
          <p:cNvPr id="248" name="Text 245"/>
          <p:cNvSpPr/>
          <p:nvPr/>
        </p:nvSpPr>
        <p:spPr>
          <a:xfrm>
            <a:off x="10505812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7,4 %</a:t>
            </a:r>
            <a:endParaRPr lang="en-US" sz="552" dirty="0"/>
          </a:p>
        </p:txBody>
      </p:sp>
      <p:sp>
        <p:nvSpPr>
          <p:cNvPr id="249" name="Text 246"/>
          <p:cNvSpPr/>
          <p:nvPr/>
        </p:nvSpPr>
        <p:spPr>
          <a:xfrm>
            <a:off x="10988599" y="47537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250" name="Text 247"/>
          <p:cNvSpPr/>
          <p:nvPr/>
        </p:nvSpPr>
        <p:spPr>
          <a:xfrm>
            <a:off x="8091881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251" name="Text 248"/>
          <p:cNvSpPr/>
          <p:nvPr/>
        </p:nvSpPr>
        <p:spPr>
          <a:xfrm>
            <a:off x="8574667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3,6 %</a:t>
            </a:r>
            <a:endParaRPr lang="en-US" sz="552" dirty="0"/>
          </a:p>
        </p:txBody>
      </p:sp>
      <p:sp>
        <p:nvSpPr>
          <p:cNvPr id="252" name="Text 249"/>
          <p:cNvSpPr/>
          <p:nvPr/>
        </p:nvSpPr>
        <p:spPr>
          <a:xfrm>
            <a:off x="9057453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552" dirty="0"/>
          </a:p>
        </p:txBody>
      </p:sp>
      <p:sp>
        <p:nvSpPr>
          <p:cNvPr id="253" name="Text 250"/>
          <p:cNvSpPr/>
          <p:nvPr/>
        </p:nvSpPr>
        <p:spPr>
          <a:xfrm>
            <a:off x="9540240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54" name="Text 251"/>
          <p:cNvSpPr/>
          <p:nvPr/>
        </p:nvSpPr>
        <p:spPr>
          <a:xfrm>
            <a:off x="10023026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552" dirty="0"/>
          </a:p>
        </p:txBody>
      </p:sp>
      <p:sp>
        <p:nvSpPr>
          <p:cNvPr id="255" name="Text 252"/>
          <p:cNvSpPr/>
          <p:nvPr/>
        </p:nvSpPr>
        <p:spPr>
          <a:xfrm>
            <a:off x="10505812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552" dirty="0"/>
          </a:p>
        </p:txBody>
      </p:sp>
      <p:sp>
        <p:nvSpPr>
          <p:cNvPr id="256" name="Text 253"/>
          <p:cNvSpPr/>
          <p:nvPr/>
        </p:nvSpPr>
        <p:spPr>
          <a:xfrm>
            <a:off x="10988599" y="48870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257" name="Text 254"/>
          <p:cNvSpPr/>
          <p:nvPr/>
        </p:nvSpPr>
        <p:spPr>
          <a:xfrm>
            <a:off x="8091881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58" name="Text 255"/>
          <p:cNvSpPr/>
          <p:nvPr/>
        </p:nvSpPr>
        <p:spPr>
          <a:xfrm>
            <a:off x="8574667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59" name="Text 256"/>
          <p:cNvSpPr/>
          <p:nvPr/>
        </p:nvSpPr>
        <p:spPr>
          <a:xfrm>
            <a:off x="9057453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0" name="Text 257"/>
          <p:cNvSpPr/>
          <p:nvPr/>
        </p:nvSpPr>
        <p:spPr>
          <a:xfrm>
            <a:off x="9540240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1" name="Text 258"/>
          <p:cNvSpPr/>
          <p:nvPr/>
        </p:nvSpPr>
        <p:spPr>
          <a:xfrm>
            <a:off x="10023026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2" name="Text 259"/>
          <p:cNvSpPr/>
          <p:nvPr/>
        </p:nvSpPr>
        <p:spPr>
          <a:xfrm>
            <a:off x="10505812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63" name="Text 260"/>
          <p:cNvSpPr/>
          <p:nvPr/>
        </p:nvSpPr>
        <p:spPr>
          <a:xfrm>
            <a:off x="10988599" y="50204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4" name="Text 261"/>
          <p:cNvSpPr/>
          <p:nvPr/>
        </p:nvSpPr>
        <p:spPr>
          <a:xfrm>
            <a:off x="8091881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5" name="Text 262"/>
          <p:cNvSpPr/>
          <p:nvPr/>
        </p:nvSpPr>
        <p:spPr>
          <a:xfrm>
            <a:off x="8574667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6" name="Text 263"/>
          <p:cNvSpPr/>
          <p:nvPr/>
        </p:nvSpPr>
        <p:spPr>
          <a:xfrm>
            <a:off x="9057453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7" name="Text 264"/>
          <p:cNvSpPr/>
          <p:nvPr/>
        </p:nvSpPr>
        <p:spPr>
          <a:xfrm>
            <a:off x="9540240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8" name="Text 265"/>
          <p:cNvSpPr/>
          <p:nvPr/>
        </p:nvSpPr>
        <p:spPr>
          <a:xfrm>
            <a:off x="10023026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9" name="Text 266"/>
          <p:cNvSpPr/>
          <p:nvPr/>
        </p:nvSpPr>
        <p:spPr>
          <a:xfrm>
            <a:off x="10505812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70" name="Text 267"/>
          <p:cNvSpPr/>
          <p:nvPr/>
        </p:nvSpPr>
        <p:spPr>
          <a:xfrm>
            <a:off x="10988599" y="515379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71" name="Text 268"/>
          <p:cNvSpPr/>
          <p:nvPr/>
        </p:nvSpPr>
        <p:spPr>
          <a:xfrm>
            <a:off x="4374991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2.845</a:t>
            </a:r>
            <a:endParaRPr lang="en-US" sz="1380" dirty="0"/>
          </a:p>
        </p:txBody>
      </p:sp>
      <p:sp>
        <p:nvSpPr>
          <p:cNvPr id="272" name="Text 269"/>
          <p:cNvSpPr/>
          <p:nvPr/>
        </p:nvSpPr>
        <p:spPr>
          <a:xfrm>
            <a:off x="8216595" y="952500"/>
            <a:ext cx="3584207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3,6 %</a:t>
            </a:r>
            <a:endParaRPr lang="en-US" sz="1380" dirty="0"/>
          </a:p>
        </p:txBody>
      </p:sp>
      <p:sp>
        <p:nvSpPr>
          <p:cNvPr id="273" name="Text 270"/>
          <p:cNvSpPr/>
          <p:nvPr/>
        </p:nvSpPr>
        <p:spPr>
          <a:xfrm>
            <a:off x="495288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74" name="Text 271"/>
          <p:cNvSpPr/>
          <p:nvPr/>
        </p:nvSpPr>
        <p:spPr>
          <a:xfrm>
            <a:off x="6257769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75" name="Text 272"/>
          <p:cNvSpPr/>
          <p:nvPr/>
        </p:nvSpPr>
        <p:spPr>
          <a:xfrm>
            <a:off x="495288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76" name="Text 273"/>
          <p:cNvSpPr/>
          <p:nvPr/>
        </p:nvSpPr>
        <p:spPr>
          <a:xfrm>
            <a:off x="232940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77" name="Text 274"/>
          <p:cNvSpPr/>
          <p:nvPr/>
        </p:nvSpPr>
        <p:spPr>
          <a:xfrm>
            <a:off x="281218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78" name="Text 275"/>
          <p:cNvSpPr/>
          <p:nvPr/>
        </p:nvSpPr>
        <p:spPr>
          <a:xfrm>
            <a:off x="329497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79" name="Text 276"/>
          <p:cNvSpPr/>
          <p:nvPr/>
        </p:nvSpPr>
        <p:spPr>
          <a:xfrm>
            <a:off x="377775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80" name="Text 277"/>
          <p:cNvSpPr/>
          <p:nvPr/>
        </p:nvSpPr>
        <p:spPr>
          <a:xfrm>
            <a:off x="4260545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81" name="Text 278"/>
          <p:cNvSpPr/>
          <p:nvPr/>
        </p:nvSpPr>
        <p:spPr>
          <a:xfrm>
            <a:off x="474333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82" name="Text 279"/>
          <p:cNvSpPr/>
          <p:nvPr/>
        </p:nvSpPr>
        <p:spPr>
          <a:xfrm>
            <a:off x="232940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954</a:t>
            </a:r>
            <a:endParaRPr lang="en-US" sz="576" dirty="0"/>
          </a:p>
        </p:txBody>
      </p:sp>
      <p:sp>
        <p:nvSpPr>
          <p:cNvPr id="283" name="Text 280"/>
          <p:cNvSpPr/>
          <p:nvPr/>
        </p:nvSpPr>
        <p:spPr>
          <a:xfrm>
            <a:off x="232940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666</a:t>
            </a:r>
            <a:endParaRPr lang="en-US" sz="576" dirty="0"/>
          </a:p>
        </p:txBody>
      </p:sp>
      <p:sp>
        <p:nvSpPr>
          <p:cNvPr id="284" name="Text 281"/>
          <p:cNvSpPr/>
          <p:nvPr/>
        </p:nvSpPr>
        <p:spPr>
          <a:xfrm>
            <a:off x="2329400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345</a:t>
            </a:r>
            <a:endParaRPr lang="en-US" sz="576" dirty="0"/>
          </a:p>
        </p:txBody>
      </p:sp>
      <p:sp>
        <p:nvSpPr>
          <p:cNvPr id="285" name="Text 282"/>
          <p:cNvSpPr/>
          <p:nvPr/>
        </p:nvSpPr>
        <p:spPr>
          <a:xfrm>
            <a:off x="281218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686</a:t>
            </a:r>
            <a:endParaRPr lang="en-US" sz="576" dirty="0"/>
          </a:p>
        </p:txBody>
      </p:sp>
      <p:sp>
        <p:nvSpPr>
          <p:cNvPr id="286" name="Text 283"/>
          <p:cNvSpPr/>
          <p:nvPr/>
        </p:nvSpPr>
        <p:spPr>
          <a:xfrm>
            <a:off x="2329400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247</a:t>
            </a:r>
            <a:endParaRPr lang="en-US" sz="576" dirty="0"/>
          </a:p>
        </p:txBody>
      </p:sp>
      <p:sp>
        <p:nvSpPr>
          <p:cNvPr id="287" name="Text 284"/>
          <p:cNvSpPr/>
          <p:nvPr/>
        </p:nvSpPr>
        <p:spPr>
          <a:xfrm>
            <a:off x="281218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491</a:t>
            </a:r>
            <a:endParaRPr lang="en-US" sz="576" dirty="0"/>
          </a:p>
        </p:txBody>
      </p:sp>
      <p:sp>
        <p:nvSpPr>
          <p:cNvPr id="288" name="Text 285"/>
          <p:cNvSpPr/>
          <p:nvPr/>
        </p:nvSpPr>
        <p:spPr>
          <a:xfrm>
            <a:off x="329497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806</a:t>
            </a:r>
            <a:endParaRPr lang="en-US" sz="576" dirty="0"/>
          </a:p>
        </p:txBody>
      </p:sp>
      <p:sp>
        <p:nvSpPr>
          <p:cNvPr id="289" name="Text 286"/>
          <p:cNvSpPr/>
          <p:nvPr/>
        </p:nvSpPr>
        <p:spPr>
          <a:xfrm>
            <a:off x="2329400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222</a:t>
            </a:r>
            <a:endParaRPr lang="en-US" sz="576" dirty="0"/>
          </a:p>
        </p:txBody>
      </p:sp>
      <p:sp>
        <p:nvSpPr>
          <p:cNvPr id="290" name="Text 287"/>
          <p:cNvSpPr/>
          <p:nvPr/>
        </p:nvSpPr>
        <p:spPr>
          <a:xfrm>
            <a:off x="281218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441</a:t>
            </a:r>
            <a:endParaRPr lang="en-US" sz="576" dirty="0"/>
          </a:p>
        </p:txBody>
      </p:sp>
      <p:sp>
        <p:nvSpPr>
          <p:cNvPr id="291" name="Text 288"/>
          <p:cNvSpPr/>
          <p:nvPr/>
        </p:nvSpPr>
        <p:spPr>
          <a:xfrm>
            <a:off x="329497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725</a:t>
            </a:r>
            <a:endParaRPr lang="en-US" sz="576" dirty="0"/>
          </a:p>
        </p:txBody>
      </p:sp>
      <p:sp>
        <p:nvSpPr>
          <p:cNvPr id="292" name="Text 289"/>
          <p:cNvSpPr/>
          <p:nvPr/>
        </p:nvSpPr>
        <p:spPr>
          <a:xfrm>
            <a:off x="3777759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928</a:t>
            </a:r>
            <a:endParaRPr lang="en-US" sz="576" dirty="0"/>
          </a:p>
        </p:txBody>
      </p:sp>
      <p:sp>
        <p:nvSpPr>
          <p:cNvPr id="293" name="Text 290"/>
          <p:cNvSpPr/>
          <p:nvPr/>
        </p:nvSpPr>
        <p:spPr>
          <a:xfrm>
            <a:off x="4260545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928</a:t>
            </a:r>
            <a:endParaRPr lang="en-US" sz="576" dirty="0"/>
          </a:p>
        </p:txBody>
      </p:sp>
      <p:sp>
        <p:nvSpPr>
          <p:cNvPr id="294" name="Text 291"/>
          <p:cNvSpPr/>
          <p:nvPr/>
        </p:nvSpPr>
        <p:spPr>
          <a:xfrm>
            <a:off x="2329400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447</a:t>
            </a:r>
            <a:endParaRPr lang="en-US" sz="576" dirty="0"/>
          </a:p>
        </p:txBody>
      </p:sp>
      <p:sp>
        <p:nvSpPr>
          <p:cNvPr id="295" name="Text 292"/>
          <p:cNvSpPr/>
          <p:nvPr/>
        </p:nvSpPr>
        <p:spPr>
          <a:xfrm>
            <a:off x="2812186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889</a:t>
            </a:r>
            <a:endParaRPr lang="en-US" sz="576" dirty="0"/>
          </a:p>
        </p:txBody>
      </p:sp>
      <p:sp>
        <p:nvSpPr>
          <p:cNvPr id="296" name="Text 293"/>
          <p:cNvSpPr/>
          <p:nvPr/>
        </p:nvSpPr>
        <p:spPr>
          <a:xfrm>
            <a:off x="6257769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97" name="Text 294"/>
          <p:cNvSpPr/>
          <p:nvPr/>
        </p:nvSpPr>
        <p:spPr>
          <a:xfrm>
            <a:off x="9303014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322</a:t>
            </a:r>
            <a:endParaRPr lang="en-US" sz="636" dirty="0"/>
          </a:p>
        </p:txBody>
      </p:sp>
      <p:sp>
        <p:nvSpPr>
          <p:cNvPr id="298" name="Text 295"/>
          <p:cNvSpPr/>
          <p:nvPr/>
        </p:nvSpPr>
        <p:spPr>
          <a:xfrm>
            <a:off x="9303014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441</a:t>
            </a:r>
            <a:endParaRPr lang="en-US" sz="636" dirty="0"/>
          </a:p>
        </p:txBody>
      </p:sp>
      <p:sp>
        <p:nvSpPr>
          <p:cNvPr id="299" name="Text 296"/>
          <p:cNvSpPr/>
          <p:nvPr/>
        </p:nvSpPr>
        <p:spPr>
          <a:xfrm>
            <a:off x="9303014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626</a:t>
            </a:r>
            <a:endParaRPr lang="en-US" sz="636" dirty="0"/>
          </a:p>
        </p:txBody>
      </p:sp>
      <p:sp>
        <p:nvSpPr>
          <p:cNvPr id="300" name="Text 297"/>
          <p:cNvSpPr/>
          <p:nvPr/>
        </p:nvSpPr>
        <p:spPr>
          <a:xfrm>
            <a:off x="9303014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750</a:t>
            </a:r>
            <a:endParaRPr lang="en-US" sz="636" dirty="0"/>
          </a:p>
        </p:txBody>
      </p:sp>
      <p:sp>
        <p:nvSpPr>
          <p:cNvPr id="301" name="Text 298"/>
          <p:cNvSpPr/>
          <p:nvPr/>
        </p:nvSpPr>
        <p:spPr>
          <a:xfrm>
            <a:off x="9303014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629</a:t>
            </a:r>
            <a:endParaRPr lang="en-US" sz="636" dirty="0"/>
          </a:p>
        </p:txBody>
      </p:sp>
      <p:sp>
        <p:nvSpPr>
          <p:cNvPr id="302" name="Text 299"/>
          <p:cNvSpPr/>
          <p:nvPr/>
        </p:nvSpPr>
        <p:spPr>
          <a:xfrm>
            <a:off x="809188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303" name="Text 300"/>
          <p:cNvSpPr/>
          <p:nvPr/>
        </p:nvSpPr>
        <p:spPr>
          <a:xfrm>
            <a:off x="8574667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304" name="Text 301"/>
          <p:cNvSpPr/>
          <p:nvPr/>
        </p:nvSpPr>
        <p:spPr>
          <a:xfrm>
            <a:off x="9057453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305" name="Text 302"/>
          <p:cNvSpPr/>
          <p:nvPr/>
        </p:nvSpPr>
        <p:spPr>
          <a:xfrm>
            <a:off x="954024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306" name="Text 303"/>
          <p:cNvSpPr/>
          <p:nvPr/>
        </p:nvSpPr>
        <p:spPr>
          <a:xfrm>
            <a:off x="1002302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307" name="Text 304"/>
          <p:cNvSpPr/>
          <p:nvPr/>
        </p:nvSpPr>
        <p:spPr>
          <a:xfrm>
            <a:off x="1050581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308" name="Text 305"/>
          <p:cNvSpPr/>
          <p:nvPr/>
        </p:nvSpPr>
        <p:spPr>
          <a:xfrm>
            <a:off x="9303014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</a:t>
            </a:r>
            <a:endParaRPr lang="en-US" sz="636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8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530578"/>
            <a:ext cx="9648785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Junio: A corte, la base presenta un saludable porcentaje de conversión cercano al 5 %, impulsado principalmente por la calidad de los registros y la integridad de la información suministrada en la base de datos.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384131"/>
            <a:ext cx="9648785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Febrero: Cabinas exclusivas, actualmente no se encuentran activas.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571486" y="209550"/>
            <a:ext cx="4079484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Masiva Voluntarios</a:t>
            </a:r>
            <a:endParaRPr lang="en-US" sz="1260" dirty="0"/>
          </a:p>
        </p:txBody>
      </p:sp>
      <p:sp>
        <p:nvSpPr>
          <p:cNvPr id="6" name="Text 3"/>
          <p:cNvSpPr/>
          <p:nvPr/>
        </p:nvSpPr>
        <p:spPr>
          <a:xfrm>
            <a:off x="4374991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Importante repunte tras actualización de base</a:t>
            </a:r>
            <a:endParaRPr lang="en-US" sz="648" dirty="0"/>
          </a:p>
        </p:txBody>
      </p:sp>
      <p:sp>
        <p:nvSpPr>
          <p:cNvPr id="7" name="Text 4"/>
          <p:cNvSpPr/>
          <p:nvPr/>
        </p:nvSpPr>
        <p:spPr>
          <a:xfrm>
            <a:off x="504812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Supera edad para Microseguro (69 años)</a:t>
            </a:r>
            <a:endParaRPr lang="en-US" sz="576" dirty="0"/>
          </a:p>
        </p:txBody>
      </p:sp>
      <p:sp>
        <p:nvSpPr>
          <p:cNvPr id="8" name="Text 5"/>
          <p:cNvSpPr/>
          <p:nvPr/>
        </p:nvSpPr>
        <p:spPr>
          <a:xfrm>
            <a:off x="6257769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533387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masiva para gestión del marcador</a:t>
            </a:r>
            <a:endParaRPr lang="en-US" sz="648" dirty="0"/>
          </a:p>
        </p:txBody>
      </p:sp>
      <p:sp>
        <p:nvSpPr>
          <p:cNvPr id="10" name="Text 7"/>
          <p:cNvSpPr/>
          <p:nvPr/>
        </p:nvSpPr>
        <p:spPr>
          <a:xfrm>
            <a:off x="495288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6267293" y="47537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2" name="Text 9"/>
          <p:cNvSpPr/>
          <p:nvPr/>
        </p:nvSpPr>
        <p:spPr>
          <a:xfrm>
            <a:off x="6267293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precio / datos</a:t>
            </a:r>
            <a:endParaRPr lang="en-US" sz="552" dirty="0"/>
          </a:p>
        </p:txBody>
      </p:sp>
      <p:sp>
        <p:nvSpPr>
          <p:cNvPr id="13" name="Text 10"/>
          <p:cNvSpPr/>
          <p:nvPr/>
        </p:nvSpPr>
        <p:spPr>
          <a:xfrm>
            <a:off x="6257769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504812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Excede límite de edad (&gt;69 años)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685783" y="6091238"/>
            <a:ext cx="9648785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Menor oportunidad de conversión.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504812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17" name="Text 14"/>
          <p:cNvSpPr/>
          <p:nvPr/>
        </p:nvSpPr>
        <p:spPr>
          <a:xfrm>
            <a:off x="552436" y="5935266"/>
            <a:ext cx="1673304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8" name="Text 15"/>
          <p:cNvSpPr/>
          <p:nvPr/>
        </p:nvSpPr>
        <p:spPr>
          <a:xfrm>
            <a:off x="504812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9" name="Text 16"/>
          <p:cNvSpPr/>
          <p:nvPr/>
        </p:nvSpPr>
        <p:spPr>
          <a:xfrm>
            <a:off x="495288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6267293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1" name="Text 18"/>
          <p:cNvSpPr/>
          <p:nvPr/>
        </p:nvSpPr>
        <p:spPr>
          <a:xfrm>
            <a:off x="685783" y="6237684"/>
            <a:ext cx="9648785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Densa y baja contactabilidad.</a:t>
            </a:r>
            <a:endParaRPr lang="en-US" sz="744" dirty="0"/>
          </a:p>
        </p:txBody>
      </p:sp>
      <p:sp>
        <p:nvSpPr>
          <p:cNvPr id="22" name="Text 19"/>
          <p:cNvSpPr/>
          <p:nvPr/>
        </p:nvSpPr>
        <p:spPr>
          <a:xfrm>
            <a:off x="6267293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8216595" y="1200894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Aporte incremental constante</a:t>
            </a:r>
            <a:endParaRPr lang="en-US" sz="648" dirty="0"/>
          </a:p>
        </p:txBody>
      </p:sp>
      <p:sp>
        <p:nvSpPr>
          <p:cNvPr id="24" name="Text 21"/>
          <p:cNvSpPr/>
          <p:nvPr/>
        </p:nvSpPr>
        <p:spPr>
          <a:xfrm>
            <a:off x="6267293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25" name="Text 22"/>
          <p:cNvSpPr/>
          <p:nvPr/>
        </p:nvSpPr>
        <p:spPr>
          <a:xfrm>
            <a:off x="504812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Seguro Voluntario Activo</a:t>
            </a:r>
            <a:endParaRPr lang="en-US" sz="576" dirty="0"/>
          </a:p>
        </p:txBody>
      </p:sp>
      <p:sp>
        <p:nvSpPr>
          <p:cNvPr id="26" name="Text 23"/>
          <p:cNvSpPr/>
          <p:nvPr/>
        </p:nvSpPr>
        <p:spPr>
          <a:xfrm>
            <a:off x="6267293" y="44870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7" name="Text 24"/>
          <p:cNvSpPr/>
          <p:nvPr/>
        </p:nvSpPr>
        <p:spPr>
          <a:xfrm>
            <a:off x="504812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8" name="Text 25"/>
          <p:cNvSpPr/>
          <p:nvPr/>
        </p:nvSpPr>
        <p:spPr>
          <a:xfrm>
            <a:off x="6267293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9" name="Text 26"/>
          <p:cNvSpPr/>
          <p:nvPr/>
        </p:nvSpPr>
        <p:spPr>
          <a:xfrm>
            <a:off x="4374991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EN JUNIO</a:t>
            </a:r>
            <a:endParaRPr lang="en-US" sz="672" dirty="0"/>
          </a:p>
        </p:txBody>
      </p:sp>
      <p:sp>
        <p:nvSpPr>
          <p:cNvPr id="30" name="Text 27"/>
          <p:cNvSpPr/>
          <p:nvPr/>
        </p:nvSpPr>
        <p:spPr>
          <a:xfrm>
            <a:off x="504812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31" name="Text 28"/>
          <p:cNvSpPr/>
          <p:nvPr/>
        </p:nvSpPr>
        <p:spPr>
          <a:xfrm>
            <a:off x="8216595" y="809625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CONSEGUIDAS</a:t>
            </a:r>
            <a:endParaRPr lang="en-US" sz="672" dirty="0"/>
          </a:p>
        </p:txBody>
      </p:sp>
      <p:sp>
        <p:nvSpPr>
          <p:cNvPr id="32" name="Text 29"/>
          <p:cNvSpPr/>
          <p:nvPr/>
        </p:nvSpPr>
        <p:spPr>
          <a:xfrm>
            <a:off x="6267293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33" name="Text 30"/>
          <p:cNvSpPr/>
          <p:nvPr/>
        </p:nvSpPr>
        <p:spPr>
          <a:xfrm>
            <a:off x="6267293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34" name="Text 31"/>
          <p:cNvSpPr/>
          <p:nvPr/>
        </p:nvSpPr>
        <p:spPr>
          <a:xfrm>
            <a:off x="6267293" y="48870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5" name="Text 32"/>
          <p:cNvSpPr/>
          <p:nvPr/>
        </p:nvSpPr>
        <p:spPr>
          <a:xfrm>
            <a:off x="533387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INSUMO APTO TOTAL</a:t>
            </a:r>
            <a:endParaRPr lang="en-US" sz="672" dirty="0"/>
          </a:p>
        </p:txBody>
      </p:sp>
      <p:sp>
        <p:nvSpPr>
          <p:cNvPr id="36" name="Text 33"/>
          <p:cNvSpPr/>
          <p:nvPr/>
        </p:nvSpPr>
        <p:spPr>
          <a:xfrm>
            <a:off x="6267293" y="502044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7" name="Text 34"/>
          <p:cNvSpPr/>
          <p:nvPr/>
        </p:nvSpPr>
        <p:spPr>
          <a:xfrm>
            <a:off x="504812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Vacío</a:t>
            </a:r>
            <a:endParaRPr lang="en-US" sz="576" dirty="0"/>
          </a:p>
        </p:txBody>
      </p:sp>
      <p:sp>
        <p:nvSpPr>
          <p:cNvPr id="38" name="Text 35"/>
          <p:cNvSpPr/>
          <p:nvPr/>
        </p:nvSpPr>
        <p:spPr>
          <a:xfrm>
            <a:off x="10281832" y="1681930"/>
            <a:ext cx="145701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6267293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40" name="Text 37"/>
          <p:cNvSpPr/>
          <p:nvPr/>
        </p:nvSpPr>
        <p:spPr>
          <a:xfrm>
            <a:off x="6267293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6267293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42" name="Text 39"/>
          <p:cNvSpPr/>
          <p:nvPr/>
        </p:nvSpPr>
        <p:spPr>
          <a:xfrm>
            <a:off x="6267293" y="46203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43" name="Text 40"/>
          <p:cNvSpPr/>
          <p:nvPr/>
        </p:nvSpPr>
        <p:spPr>
          <a:xfrm>
            <a:off x="2996877" y="1681930"/>
            <a:ext cx="1568454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8324195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1582896" y="1681930"/>
            <a:ext cx="145640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4519648" y="1681930"/>
            <a:ext cx="145670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495288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1582896" y="2705867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255.141</a:t>
            </a:r>
            <a:endParaRPr lang="en-US" sz="636" dirty="0"/>
          </a:p>
        </p:txBody>
      </p:sp>
      <p:sp>
        <p:nvSpPr>
          <p:cNvPr id="49" name="Text 46"/>
          <p:cNvSpPr/>
          <p:nvPr/>
        </p:nvSpPr>
        <p:spPr>
          <a:xfrm>
            <a:off x="2996877" y="2705867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135.313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5226118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103.678</a:t>
            </a:r>
            <a:endParaRPr lang="en-US" sz="576" dirty="0"/>
          </a:p>
        </p:txBody>
      </p:sp>
      <p:sp>
        <p:nvSpPr>
          <p:cNvPr id="51" name="Text 48"/>
          <p:cNvSpPr/>
          <p:nvPr/>
        </p:nvSpPr>
        <p:spPr>
          <a:xfrm>
            <a:off x="5226118" y="435369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135.313</a:t>
            </a:r>
            <a:endParaRPr lang="en-US" sz="576" dirty="0"/>
          </a:p>
        </p:txBody>
      </p:sp>
      <p:sp>
        <p:nvSpPr>
          <p:cNvPr id="52" name="Text 49"/>
          <p:cNvSpPr/>
          <p:nvPr/>
        </p:nvSpPr>
        <p:spPr>
          <a:xfrm>
            <a:off x="6257769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7345377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119.828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533387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119.828</a:t>
            </a:r>
            <a:endParaRPr lang="en-US" sz="1380" dirty="0"/>
          </a:p>
        </p:txBody>
      </p:sp>
      <p:sp>
        <p:nvSpPr>
          <p:cNvPr id="55" name="Text 52"/>
          <p:cNvSpPr/>
          <p:nvPr/>
        </p:nvSpPr>
        <p:spPr>
          <a:xfrm>
            <a:off x="1582896" y="1853380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55.557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1582896" y="19914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24.673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2996877" y="199149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11.397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4519648" y="19914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46,2 %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1582896" y="213436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41.873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4519648" y="213436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10,9 %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1582896" y="227724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49.232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2996877" y="227724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4519648" y="227724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99,0 %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1582896" y="242011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49.232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2996877" y="2420117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4519648" y="242011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99,0 %</a:t>
            </a:r>
            <a:endParaRPr lang="en-US" sz="636" dirty="0"/>
          </a:p>
        </p:txBody>
      </p:sp>
      <p:sp>
        <p:nvSpPr>
          <p:cNvPr id="67" name="Text 64"/>
          <p:cNvSpPr/>
          <p:nvPr/>
        </p:nvSpPr>
        <p:spPr>
          <a:xfrm>
            <a:off x="1582896" y="25629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34.574</a:t>
            </a:r>
            <a:endParaRPr lang="en-US" sz="636" dirty="0"/>
          </a:p>
        </p:txBody>
      </p:sp>
      <p:sp>
        <p:nvSpPr>
          <p:cNvPr id="68" name="Text 65"/>
          <p:cNvSpPr/>
          <p:nvPr/>
        </p:nvSpPr>
        <p:spPr>
          <a:xfrm>
            <a:off x="2996877" y="256299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17.661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4519648" y="25629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51,1 %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519648" y="2705867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504812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3777759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37.342</a:t>
            </a:r>
            <a:endParaRPr lang="en-US" sz="576" dirty="0"/>
          </a:p>
        </p:txBody>
      </p:sp>
      <p:sp>
        <p:nvSpPr>
          <p:cNvPr id="73" name="Text 70"/>
          <p:cNvSpPr/>
          <p:nvPr/>
        </p:nvSpPr>
        <p:spPr>
          <a:xfrm>
            <a:off x="4260545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37.340</a:t>
            </a:r>
            <a:endParaRPr lang="en-US" sz="576" dirty="0"/>
          </a:p>
        </p:txBody>
      </p:sp>
      <p:sp>
        <p:nvSpPr>
          <p:cNvPr id="74" name="Text 71"/>
          <p:cNvSpPr/>
          <p:nvPr/>
        </p:nvSpPr>
        <p:spPr>
          <a:xfrm>
            <a:off x="474333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13.532</a:t>
            </a:r>
            <a:endParaRPr lang="en-US" sz="576" dirty="0"/>
          </a:p>
        </p:txBody>
      </p:sp>
      <p:sp>
        <p:nvSpPr>
          <p:cNvPr id="75" name="Text 72"/>
          <p:cNvSpPr/>
          <p:nvPr/>
        </p:nvSpPr>
        <p:spPr>
          <a:xfrm>
            <a:off x="5226118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11.261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2812186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11.397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3777759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4260545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4743331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17.661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9303014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7345377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51.332</a:t>
            </a:r>
            <a:endParaRPr lang="en-US" sz="636" dirty="0"/>
          </a:p>
        </p:txBody>
      </p:sp>
      <p:sp>
        <p:nvSpPr>
          <p:cNvPr id="82" name="Text 79"/>
          <p:cNvSpPr/>
          <p:nvPr/>
        </p:nvSpPr>
        <p:spPr>
          <a:xfrm>
            <a:off x="7345377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13.276</a:t>
            </a:r>
            <a:endParaRPr lang="en-US" sz="636" dirty="0"/>
          </a:p>
        </p:txBody>
      </p:sp>
      <p:sp>
        <p:nvSpPr>
          <p:cNvPr id="83" name="Text 80"/>
          <p:cNvSpPr/>
          <p:nvPr/>
        </p:nvSpPr>
        <p:spPr>
          <a:xfrm>
            <a:off x="8324195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30,0 %</a:t>
            </a:r>
            <a:endParaRPr lang="en-US" sz="636" dirty="0"/>
          </a:p>
        </p:txBody>
      </p:sp>
      <p:sp>
        <p:nvSpPr>
          <p:cNvPr id="84" name="Text 81"/>
          <p:cNvSpPr/>
          <p:nvPr/>
        </p:nvSpPr>
        <p:spPr>
          <a:xfrm>
            <a:off x="7345377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37.311</a:t>
            </a:r>
            <a:endParaRPr lang="en-US" sz="636" dirty="0"/>
          </a:p>
        </p:txBody>
      </p:sp>
      <p:sp>
        <p:nvSpPr>
          <p:cNvPr id="85" name="Text 82"/>
          <p:cNvSpPr/>
          <p:nvPr/>
        </p:nvSpPr>
        <p:spPr>
          <a:xfrm>
            <a:off x="8324195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24,5 %</a:t>
            </a:r>
            <a:endParaRPr lang="en-US" sz="636" dirty="0"/>
          </a:p>
        </p:txBody>
      </p:sp>
      <p:sp>
        <p:nvSpPr>
          <p:cNvPr id="86" name="Text 83"/>
          <p:cNvSpPr/>
          <p:nvPr/>
        </p:nvSpPr>
        <p:spPr>
          <a:xfrm>
            <a:off x="8324195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42,6 %</a:t>
            </a:r>
            <a:endParaRPr lang="en-US" sz="636" dirty="0"/>
          </a:p>
        </p:txBody>
      </p:sp>
      <p:sp>
        <p:nvSpPr>
          <p:cNvPr id="87" name="Text 84"/>
          <p:cNvSpPr/>
          <p:nvPr/>
        </p:nvSpPr>
        <p:spPr>
          <a:xfrm>
            <a:off x="8324195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43,2 %</a:t>
            </a:r>
            <a:endParaRPr lang="en-US" sz="636" dirty="0"/>
          </a:p>
        </p:txBody>
      </p:sp>
      <p:sp>
        <p:nvSpPr>
          <p:cNvPr id="88" name="Text 85"/>
          <p:cNvSpPr/>
          <p:nvPr/>
        </p:nvSpPr>
        <p:spPr>
          <a:xfrm>
            <a:off x="7345377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16.913</a:t>
            </a:r>
            <a:endParaRPr lang="en-US" sz="636" dirty="0"/>
          </a:p>
        </p:txBody>
      </p:sp>
      <p:sp>
        <p:nvSpPr>
          <p:cNvPr id="89" name="Text 86"/>
          <p:cNvSpPr/>
          <p:nvPr/>
        </p:nvSpPr>
        <p:spPr>
          <a:xfrm>
            <a:off x="8324195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27,7 %</a:t>
            </a:r>
            <a:endParaRPr lang="en-US" sz="636" dirty="0"/>
          </a:p>
        </p:txBody>
      </p:sp>
      <p:sp>
        <p:nvSpPr>
          <p:cNvPr id="90" name="Text 87"/>
          <p:cNvSpPr/>
          <p:nvPr/>
        </p:nvSpPr>
        <p:spPr>
          <a:xfrm>
            <a:off x="8324195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19,2 %</a:t>
            </a:r>
            <a:endParaRPr lang="en-US" sz="636" dirty="0"/>
          </a:p>
        </p:txBody>
      </p:sp>
      <p:sp>
        <p:nvSpPr>
          <p:cNvPr id="91" name="Text 88"/>
          <p:cNvSpPr/>
          <p:nvPr/>
        </p:nvSpPr>
        <p:spPr>
          <a:xfrm>
            <a:off x="8574667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30,0 %</a:t>
            </a:r>
            <a:endParaRPr lang="en-US" sz="552" dirty="0"/>
          </a:p>
        </p:txBody>
      </p:sp>
      <p:sp>
        <p:nvSpPr>
          <p:cNvPr id="92" name="Text 89"/>
          <p:cNvSpPr/>
          <p:nvPr/>
        </p:nvSpPr>
        <p:spPr>
          <a:xfrm>
            <a:off x="9057453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24,5 %</a:t>
            </a:r>
            <a:endParaRPr lang="en-US" sz="552" dirty="0"/>
          </a:p>
        </p:txBody>
      </p:sp>
      <p:sp>
        <p:nvSpPr>
          <p:cNvPr id="93" name="Text 90"/>
          <p:cNvSpPr/>
          <p:nvPr/>
        </p:nvSpPr>
        <p:spPr>
          <a:xfrm>
            <a:off x="954024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42,6 %</a:t>
            </a:r>
            <a:endParaRPr lang="en-US" sz="552" dirty="0"/>
          </a:p>
        </p:txBody>
      </p:sp>
      <p:sp>
        <p:nvSpPr>
          <p:cNvPr id="94" name="Text 91"/>
          <p:cNvSpPr/>
          <p:nvPr/>
        </p:nvSpPr>
        <p:spPr>
          <a:xfrm>
            <a:off x="1002302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43,2 %</a:t>
            </a:r>
            <a:endParaRPr lang="en-US" sz="552" dirty="0"/>
          </a:p>
        </p:txBody>
      </p:sp>
      <p:sp>
        <p:nvSpPr>
          <p:cNvPr id="95" name="Text 92"/>
          <p:cNvSpPr/>
          <p:nvPr/>
        </p:nvSpPr>
        <p:spPr>
          <a:xfrm>
            <a:off x="1050581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27,7 %</a:t>
            </a:r>
            <a:endParaRPr lang="en-US" sz="552" dirty="0"/>
          </a:p>
        </p:txBody>
      </p:sp>
      <p:sp>
        <p:nvSpPr>
          <p:cNvPr id="96" name="Text 93"/>
          <p:cNvSpPr/>
          <p:nvPr/>
        </p:nvSpPr>
        <p:spPr>
          <a:xfrm>
            <a:off x="10988599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18,9 %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8574667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</a:t>
            </a:r>
            <a:endParaRPr lang="en-US" sz="552" dirty="0"/>
          </a:p>
        </p:txBody>
      </p:sp>
      <p:sp>
        <p:nvSpPr>
          <p:cNvPr id="98" name="Text 95"/>
          <p:cNvSpPr/>
          <p:nvPr/>
        </p:nvSpPr>
        <p:spPr>
          <a:xfrm>
            <a:off x="954024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15,7 %</a:t>
            </a:r>
            <a:endParaRPr lang="en-US" sz="552" dirty="0"/>
          </a:p>
        </p:txBody>
      </p:sp>
      <p:sp>
        <p:nvSpPr>
          <p:cNvPr id="99" name="Text 96"/>
          <p:cNvSpPr/>
          <p:nvPr/>
        </p:nvSpPr>
        <p:spPr>
          <a:xfrm>
            <a:off x="1002302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16,0 %</a:t>
            </a:r>
            <a:endParaRPr lang="en-US" sz="552" dirty="0"/>
          </a:p>
        </p:txBody>
      </p:sp>
      <p:sp>
        <p:nvSpPr>
          <p:cNvPr id="100" name="Text 97"/>
          <p:cNvSpPr/>
          <p:nvPr/>
        </p:nvSpPr>
        <p:spPr>
          <a:xfrm>
            <a:off x="1050581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10,2 %</a:t>
            </a:r>
            <a:endParaRPr lang="en-US" sz="552" dirty="0"/>
          </a:p>
        </p:txBody>
      </p:sp>
      <p:sp>
        <p:nvSpPr>
          <p:cNvPr id="101" name="Text 98"/>
          <p:cNvSpPr/>
          <p:nvPr/>
        </p:nvSpPr>
        <p:spPr>
          <a:xfrm>
            <a:off x="1002302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102" name="Text 99"/>
          <p:cNvSpPr/>
          <p:nvPr/>
        </p:nvSpPr>
        <p:spPr>
          <a:xfrm>
            <a:off x="8091881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90,8 %</a:t>
            </a:r>
            <a:endParaRPr lang="en-US" sz="552" dirty="0"/>
          </a:p>
        </p:txBody>
      </p:sp>
      <p:sp>
        <p:nvSpPr>
          <p:cNvPr id="103" name="Text 100"/>
          <p:cNvSpPr/>
          <p:nvPr/>
        </p:nvSpPr>
        <p:spPr>
          <a:xfrm>
            <a:off x="8574667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70,0 %</a:t>
            </a:r>
            <a:endParaRPr lang="en-US" sz="552" dirty="0"/>
          </a:p>
        </p:txBody>
      </p:sp>
      <p:sp>
        <p:nvSpPr>
          <p:cNvPr id="104" name="Text 101"/>
          <p:cNvSpPr/>
          <p:nvPr/>
        </p:nvSpPr>
        <p:spPr>
          <a:xfrm>
            <a:off x="9057453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75,5 %</a:t>
            </a:r>
            <a:endParaRPr lang="en-US" sz="552" dirty="0"/>
          </a:p>
        </p:txBody>
      </p:sp>
      <p:sp>
        <p:nvSpPr>
          <p:cNvPr id="105" name="Text 102"/>
          <p:cNvSpPr/>
          <p:nvPr/>
        </p:nvSpPr>
        <p:spPr>
          <a:xfrm>
            <a:off x="9540240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57,4 %</a:t>
            </a:r>
            <a:endParaRPr lang="en-US" sz="552" dirty="0"/>
          </a:p>
        </p:txBody>
      </p:sp>
      <p:sp>
        <p:nvSpPr>
          <p:cNvPr id="106" name="Text 103"/>
          <p:cNvSpPr/>
          <p:nvPr/>
        </p:nvSpPr>
        <p:spPr>
          <a:xfrm>
            <a:off x="10023026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56,8 %</a:t>
            </a:r>
            <a:endParaRPr lang="en-US" sz="552" dirty="0"/>
          </a:p>
        </p:txBody>
      </p:sp>
      <p:sp>
        <p:nvSpPr>
          <p:cNvPr id="107" name="Text 104"/>
          <p:cNvSpPr/>
          <p:nvPr/>
        </p:nvSpPr>
        <p:spPr>
          <a:xfrm>
            <a:off x="10505812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72,3 %</a:t>
            </a:r>
            <a:endParaRPr lang="en-US" sz="552" dirty="0"/>
          </a:p>
        </p:txBody>
      </p:sp>
      <p:sp>
        <p:nvSpPr>
          <p:cNvPr id="108" name="Text 105"/>
          <p:cNvSpPr/>
          <p:nvPr/>
        </p:nvSpPr>
        <p:spPr>
          <a:xfrm>
            <a:off x="10988599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81,1 %</a:t>
            </a:r>
            <a:endParaRPr lang="en-US" sz="552" dirty="0"/>
          </a:p>
        </p:txBody>
      </p:sp>
      <p:sp>
        <p:nvSpPr>
          <p:cNvPr id="109" name="Text 106"/>
          <p:cNvSpPr/>
          <p:nvPr/>
        </p:nvSpPr>
        <p:spPr>
          <a:xfrm>
            <a:off x="8091881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88,1 %</a:t>
            </a:r>
            <a:endParaRPr lang="en-US" sz="552" dirty="0"/>
          </a:p>
        </p:txBody>
      </p:sp>
      <p:sp>
        <p:nvSpPr>
          <p:cNvPr id="110" name="Text 107"/>
          <p:cNvSpPr/>
          <p:nvPr/>
        </p:nvSpPr>
        <p:spPr>
          <a:xfrm>
            <a:off x="8574667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67,9 %</a:t>
            </a:r>
            <a:endParaRPr lang="en-US" sz="552" dirty="0"/>
          </a:p>
        </p:txBody>
      </p:sp>
      <p:sp>
        <p:nvSpPr>
          <p:cNvPr id="111" name="Text 108"/>
          <p:cNvSpPr/>
          <p:nvPr/>
        </p:nvSpPr>
        <p:spPr>
          <a:xfrm>
            <a:off x="9057453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73,2 %</a:t>
            </a:r>
            <a:endParaRPr lang="en-US" sz="552" dirty="0"/>
          </a:p>
        </p:txBody>
      </p:sp>
      <p:sp>
        <p:nvSpPr>
          <p:cNvPr id="112" name="Text 109"/>
          <p:cNvSpPr/>
          <p:nvPr/>
        </p:nvSpPr>
        <p:spPr>
          <a:xfrm>
            <a:off x="9540240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55,7 %</a:t>
            </a:r>
            <a:endParaRPr lang="en-US" sz="552" dirty="0"/>
          </a:p>
        </p:txBody>
      </p:sp>
      <p:sp>
        <p:nvSpPr>
          <p:cNvPr id="113" name="Text 110"/>
          <p:cNvSpPr/>
          <p:nvPr/>
        </p:nvSpPr>
        <p:spPr>
          <a:xfrm>
            <a:off x="10023026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55,1 %</a:t>
            </a:r>
            <a:endParaRPr lang="en-US" sz="552" dirty="0"/>
          </a:p>
        </p:txBody>
      </p:sp>
      <p:sp>
        <p:nvSpPr>
          <p:cNvPr id="114" name="Text 111"/>
          <p:cNvSpPr/>
          <p:nvPr/>
        </p:nvSpPr>
        <p:spPr>
          <a:xfrm>
            <a:off x="10505812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70,1 %</a:t>
            </a:r>
            <a:endParaRPr lang="en-US" sz="552" dirty="0"/>
          </a:p>
        </p:txBody>
      </p:sp>
      <p:sp>
        <p:nvSpPr>
          <p:cNvPr id="115" name="Text 112"/>
          <p:cNvSpPr/>
          <p:nvPr/>
        </p:nvSpPr>
        <p:spPr>
          <a:xfrm>
            <a:off x="10988599" y="44870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78,6 %</a:t>
            </a:r>
            <a:endParaRPr lang="en-US" sz="552" dirty="0"/>
          </a:p>
        </p:txBody>
      </p:sp>
      <p:sp>
        <p:nvSpPr>
          <p:cNvPr id="116" name="Text 113"/>
          <p:cNvSpPr/>
          <p:nvPr/>
        </p:nvSpPr>
        <p:spPr>
          <a:xfrm>
            <a:off x="495288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17" name="Text 114"/>
          <p:cNvSpPr/>
          <p:nvPr/>
        </p:nvSpPr>
        <p:spPr>
          <a:xfrm>
            <a:off x="2996877" y="1853380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4.225</a:t>
            </a:r>
            <a:endParaRPr lang="en-US" sz="636" dirty="0"/>
          </a:p>
        </p:txBody>
      </p:sp>
      <p:sp>
        <p:nvSpPr>
          <p:cNvPr id="118" name="Text 115"/>
          <p:cNvSpPr/>
          <p:nvPr/>
        </p:nvSpPr>
        <p:spPr>
          <a:xfrm>
            <a:off x="4519648" y="1853380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7,6 %</a:t>
            </a:r>
            <a:endParaRPr lang="en-US" sz="636" dirty="0"/>
          </a:p>
        </p:txBody>
      </p:sp>
      <p:sp>
        <p:nvSpPr>
          <p:cNvPr id="119" name="Text 116"/>
          <p:cNvSpPr/>
          <p:nvPr/>
        </p:nvSpPr>
        <p:spPr>
          <a:xfrm>
            <a:off x="495288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20" name="Text 117"/>
          <p:cNvSpPr/>
          <p:nvPr/>
        </p:nvSpPr>
        <p:spPr>
          <a:xfrm>
            <a:off x="2996877" y="2134367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4.562</a:t>
            </a:r>
            <a:endParaRPr lang="en-US" sz="636" dirty="0"/>
          </a:p>
        </p:txBody>
      </p:sp>
      <p:sp>
        <p:nvSpPr>
          <p:cNvPr id="121" name="Text 118"/>
          <p:cNvSpPr/>
          <p:nvPr/>
        </p:nvSpPr>
        <p:spPr>
          <a:xfrm>
            <a:off x="495288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22" name="Text 119"/>
          <p:cNvSpPr/>
          <p:nvPr/>
        </p:nvSpPr>
        <p:spPr>
          <a:xfrm>
            <a:off x="495288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23" name="Text 120"/>
          <p:cNvSpPr/>
          <p:nvPr/>
        </p:nvSpPr>
        <p:spPr>
          <a:xfrm>
            <a:off x="495288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24" name="Text 121"/>
          <p:cNvSpPr/>
          <p:nvPr/>
        </p:nvSpPr>
        <p:spPr>
          <a:xfrm>
            <a:off x="5226118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25" name="Text 122"/>
          <p:cNvSpPr/>
          <p:nvPr/>
        </p:nvSpPr>
        <p:spPr>
          <a:xfrm>
            <a:off x="232940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3.237</a:t>
            </a:r>
            <a:endParaRPr lang="en-US" sz="576" dirty="0"/>
          </a:p>
        </p:txBody>
      </p:sp>
      <p:sp>
        <p:nvSpPr>
          <p:cNvPr id="126" name="Text 123"/>
          <p:cNvSpPr/>
          <p:nvPr/>
        </p:nvSpPr>
        <p:spPr>
          <a:xfrm>
            <a:off x="281218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8.732</a:t>
            </a:r>
            <a:endParaRPr lang="en-US" sz="576" dirty="0"/>
          </a:p>
        </p:txBody>
      </p:sp>
      <p:sp>
        <p:nvSpPr>
          <p:cNvPr id="127" name="Text 124"/>
          <p:cNvSpPr/>
          <p:nvPr/>
        </p:nvSpPr>
        <p:spPr>
          <a:xfrm>
            <a:off x="329497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3.495</a:t>
            </a:r>
            <a:endParaRPr lang="en-US" sz="576" dirty="0"/>
          </a:p>
        </p:txBody>
      </p:sp>
      <p:sp>
        <p:nvSpPr>
          <p:cNvPr id="128" name="Text 125"/>
          <p:cNvSpPr/>
          <p:nvPr/>
        </p:nvSpPr>
        <p:spPr>
          <a:xfrm>
            <a:off x="3777759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4.055</a:t>
            </a:r>
            <a:endParaRPr lang="en-US" sz="576" dirty="0"/>
          </a:p>
        </p:txBody>
      </p:sp>
      <p:sp>
        <p:nvSpPr>
          <p:cNvPr id="129" name="Text 126"/>
          <p:cNvSpPr/>
          <p:nvPr/>
        </p:nvSpPr>
        <p:spPr>
          <a:xfrm>
            <a:off x="4260545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4.056</a:t>
            </a:r>
            <a:endParaRPr lang="en-US" sz="576" dirty="0"/>
          </a:p>
        </p:txBody>
      </p:sp>
      <p:sp>
        <p:nvSpPr>
          <p:cNvPr id="130" name="Text 127"/>
          <p:cNvSpPr/>
          <p:nvPr/>
        </p:nvSpPr>
        <p:spPr>
          <a:xfrm>
            <a:off x="474333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1.470</a:t>
            </a:r>
            <a:endParaRPr lang="en-US" sz="576" dirty="0"/>
          </a:p>
        </p:txBody>
      </p:sp>
      <p:sp>
        <p:nvSpPr>
          <p:cNvPr id="131" name="Text 128"/>
          <p:cNvSpPr/>
          <p:nvPr/>
        </p:nvSpPr>
        <p:spPr>
          <a:xfrm>
            <a:off x="3777759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2.142</a:t>
            </a:r>
            <a:endParaRPr lang="en-US" sz="576" dirty="0"/>
          </a:p>
        </p:txBody>
      </p:sp>
      <p:sp>
        <p:nvSpPr>
          <p:cNvPr id="132" name="Text 129"/>
          <p:cNvSpPr/>
          <p:nvPr/>
        </p:nvSpPr>
        <p:spPr>
          <a:xfrm>
            <a:off x="4260545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2.142</a:t>
            </a:r>
            <a:endParaRPr lang="en-US" sz="576" dirty="0"/>
          </a:p>
        </p:txBody>
      </p:sp>
      <p:sp>
        <p:nvSpPr>
          <p:cNvPr id="133" name="Text 130"/>
          <p:cNvSpPr/>
          <p:nvPr/>
        </p:nvSpPr>
        <p:spPr>
          <a:xfrm>
            <a:off x="5226118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5.948</a:t>
            </a:r>
            <a:endParaRPr lang="en-US" sz="576" dirty="0"/>
          </a:p>
        </p:txBody>
      </p:sp>
      <p:sp>
        <p:nvSpPr>
          <p:cNvPr id="134" name="Text 131"/>
          <p:cNvSpPr/>
          <p:nvPr/>
        </p:nvSpPr>
        <p:spPr>
          <a:xfrm>
            <a:off x="3777759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1.618</a:t>
            </a:r>
            <a:endParaRPr lang="en-US" sz="576" dirty="0"/>
          </a:p>
        </p:txBody>
      </p:sp>
      <p:sp>
        <p:nvSpPr>
          <p:cNvPr id="135" name="Text 132"/>
          <p:cNvSpPr/>
          <p:nvPr/>
        </p:nvSpPr>
        <p:spPr>
          <a:xfrm>
            <a:off x="4260545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1.619</a:t>
            </a:r>
            <a:endParaRPr lang="en-US" sz="576" dirty="0"/>
          </a:p>
        </p:txBody>
      </p:sp>
      <p:sp>
        <p:nvSpPr>
          <p:cNvPr id="136" name="Text 133"/>
          <p:cNvSpPr/>
          <p:nvPr/>
        </p:nvSpPr>
        <p:spPr>
          <a:xfrm>
            <a:off x="5226118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4.495</a:t>
            </a:r>
            <a:endParaRPr lang="en-US" sz="576" dirty="0"/>
          </a:p>
        </p:txBody>
      </p:sp>
      <p:sp>
        <p:nvSpPr>
          <p:cNvPr id="137" name="Text 134"/>
          <p:cNvSpPr/>
          <p:nvPr/>
        </p:nvSpPr>
        <p:spPr>
          <a:xfrm>
            <a:off x="5226118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2.330</a:t>
            </a:r>
            <a:endParaRPr lang="en-US" sz="576" dirty="0"/>
          </a:p>
        </p:txBody>
      </p:sp>
      <p:sp>
        <p:nvSpPr>
          <p:cNvPr id="138" name="Text 135"/>
          <p:cNvSpPr/>
          <p:nvPr/>
        </p:nvSpPr>
        <p:spPr>
          <a:xfrm>
            <a:off x="5226118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2.145</a:t>
            </a:r>
            <a:endParaRPr lang="en-US" sz="576" dirty="0"/>
          </a:p>
        </p:txBody>
      </p:sp>
      <p:sp>
        <p:nvSpPr>
          <p:cNvPr id="139" name="Text 136"/>
          <p:cNvSpPr/>
          <p:nvPr/>
        </p:nvSpPr>
        <p:spPr>
          <a:xfrm>
            <a:off x="3777759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1.632</a:t>
            </a:r>
            <a:endParaRPr lang="en-US" sz="576" dirty="0"/>
          </a:p>
        </p:txBody>
      </p:sp>
      <p:sp>
        <p:nvSpPr>
          <p:cNvPr id="140" name="Text 137"/>
          <p:cNvSpPr/>
          <p:nvPr/>
        </p:nvSpPr>
        <p:spPr>
          <a:xfrm>
            <a:off x="4260545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1.633</a:t>
            </a:r>
            <a:endParaRPr lang="en-US" sz="576" dirty="0"/>
          </a:p>
        </p:txBody>
      </p:sp>
      <p:sp>
        <p:nvSpPr>
          <p:cNvPr id="141" name="Text 138"/>
          <p:cNvSpPr/>
          <p:nvPr/>
        </p:nvSpPr>
        <p:spPr>
          <a:xfrm>
            <a:off x="5226118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4.534</a:t>
            </a:r>
            <a:endParaRPr lang="en-US" sz="576" dirty="0"/>
          </a:p>
        </p:txBody>
      </p:sp>
      <p:sp>
        <p:nvSpPr>
          <p:cNvPr id="142" name="Text 139"/>
          <p:cNvSpPr/>
          <p:nvPr/>
        </p:nvSpPr>
        <p:spPr>
          <a:xfrm>
            <a:off x="504812" y="435369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143" name="Text 140"/>
          <p:cNvSpPr/>
          <p:nvPr/>
        </p:nvSpPr>
        <p:spPr>
          <a:xfrm>
            <a:off x="2329400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4.225</a:t>
            </a:r>
            <a:endParaRPr lang="en-US" sz="576" dirty="0"/>
          </a:p>
        </p:txBody>
      </p:sp>
      <p:sp>
        <p:nvSpPr>
          <p:cNvPr id="144" name="Text 141"/>
          <p:cNvSpPr/>
          <p:nvPr/>
        </p:nvSpPr>
        <p:spPr>
          <a:xfrm>
            <a:off x="3294972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4.562</a:t>
            </a:r>
            <a:endParaRPr lang="en-US" sz="576" dirty="0"/>
          </a:p>
        </p:txBody>
      </p:sp>
      <p:sp>
        <p:nvSpPr>
          <p:cNvPr id="145" name="Text 142"/>
          <p:cNvSpPr/>
          <p:nvPr/>
        </p:nvSpPr>
        <p:spPr>
          <a:xfrm>
            <a:off x="7345377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46" name="Text 143"/>
          <p:cNvSpPr/>
          <p:nvPr/>
        </p:nvSpPr>
        <p:spPr>
          <a:xfrm>
            <a:off x="6257769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47" name="Text 144"/>
          <p:cNvSpPr/>
          <p:nvPr/>
        </p:nvSpPr>
        <p:spPr>
          <a:xfrm>
            <a:off x="8324195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9,2 %</a:t>
            </a:r>
            <a:endParaRPr lang="en-US" sz="636" dirty="0"/>
          </a:p>
        </p:txBody>
      </p:sp>
      <p:sp>
        <p:nvSpPr>
          <p:cNvPr id="148" name="Text 145"/>
          <p:cNvSpPr/>
          <p:nvPr/>
        </p:nvSpPr>
        <p:spPr>
          <a:xfrm>
            <a:off x="10281832" y="1853380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636" dirty="0"/>
          </a:p>
        </p:txBody>
      </p:sp>
      <p:sp>
        <p:nvSpPr>
          <p:cNvPr id="149" name="Text 146"/>
          <p:cNvSpPr/>
          <p:nvPr/>
        </p:nvSpPr>
        <p:spPr>
          <a:xfrm>
            <a:off x="10281832" y="19914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3,2 %</a:t>
            </a:r>
            <a:endParaRPr lang="en-US" sz="636" dirty="0"/>
          </a:p>
        </p:txBody>
      </p:sp>
      <p:sp>
        <p:nvSpPr>
          <p:cNvPr id="150" name="Text 147"/>
          <p:cNvSpPr/>
          <p:nvPr/>
        </p:nvSpPr>
        <p:spPr>
          <a:xfrm>
            <a:off x="6257769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51" name="Text 148"/>
          <p:cNvSpPr/>
          <p:nvPr/>
        </p:nvSpPr>
        <p:spPr>
          <a:xfrm>
            <a:off x="10281832" y="213436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636" dirty="0"/>
          </a:p>
        </p:txBody>
      </p:sp>
      <p:sp>
        <p:nvSpPr>
          <p:cNvPr id="152" name="Text 149"/>
          <p:cNvSpPr/>
          <p:nvPr/>
        </p:nvSpPr>
        <p:spPr>
          <a:xfrm>
            <a:off x="6257769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53" name="Text 150"/>
          <p:cNvSpPr/>
          <p:nvPr/>
        </p:nvSpPr>
        <p:spPr>
          <a:xfrm>
            <a:off x="10281832" y="227724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0,0 %</a:t>
            </a:r>
            <a:endParaRPr lang="en-US" sz="636" dirty="0"/>
          </a:p>
        </p:txBody>
      </p:sp>
      <p:sp>
        <p:nvSpPr>
          <p:cNvPr id="154" name="Text 151"/>
          <p:cNvSpPr/>
          <p:nvPr/>
        </p:nvSpPr>
        <p:spPr>
          <a:xfrm>
            <a:off x="10281832" y="242011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636" dirty="0"/>
          </a:p>
        </p:txBody>
      </p:sp>
      <p:sp>
        <p:nvSpPr>
          <p:cNvPr id="155" name="Text 152"/>
          <p:cNvSpPr/>
          <p:nvPr/>
        </p:nvSpPr>
        <p:spPr>
          <a:xfrm>
            <a:off x="6257769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56" name="Text 153"/>
          <p:cNvSpPr/>
          <p:nvPr/>
        </p:nvSpPr>
        <p:spPr>
          <a:xfrm>
            <a:off x="10281832" y="25629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636" dirty="0"/>
          </a:p>
        </p:txBody>
      </p:sp>
      <p:sp>
        <p:nvSpPr>
          <p:cNvPr id="157" name="Text 154"/>
          <p:cNvSpPr/>
          <p:nvPr/>
        </p:nvSpPr>
        <p:spPr>
          <a:xfrm>
            <a:off x="6257769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58" name="Text 155"/>
          <p:cNvSpPr/>
          <p:nvPr/>
        </p:nvSpPr>
        <p:spPr>
          <a:xfrm>
            <a:off x="10281832" y="2705867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636" dirty="0"/>
          </a:p>
        </p:txBody>
      </p:sp>
      <p:sp>
        <p:nvSpPr>
          <p:cNvPr id="159" name="Text 156"/>
          <p:cNvSpPr/>
          <p:nvPr/>
        </p:nvSpPr>
        <p:spPr>
          <a:xfrm>
            <a:off x="10988599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60" name="Text 157"/>
          <p:cNvSpPr/>
          <p:nvPr/>
        </p:nvSpPr>
        <p:spPr>
          <a:xfrm>
            <a:off x="809188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9,2 %</a:t>
            </a:r>
            <a:endParaRPr lang="en-US" sz="552" dirty="0"/>
          </a:p>
        </p:txBody>
      </p:sp>
      <p:sp>
        <p:nvSpPr>
          <p:cNvPr id="161" name="Text 158"/>
          <p:cNvSpPr/>
          <p:nvPr/>
        </p:nvSpPr>
        <p:spPr>
          <a:xfrm>
            <a:off x="809188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62" name="Text 159"/>
          <p:cNvSpPr/>
          <p:nvPr/>
        </p:nvSpPr>
        <p:spPr>
          <a:xfrm>
            <a:off x="8574667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63" name="Text 160"/>
          <p:cNvSpPr/>
          <p:nvPr/>
        </p:nvSpPr>
        <p:spPr>
          <a:xfrm>
            <a:off x="9057453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64" name="Text 161"/>
          <p:cNvSpPr/>
          <p:nvPr/>
        </p:nvSpPr>
        <p:spPr>
          <a:xfrm>
            <a:off x="954024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0,0 %</a:t>
            </a:r>
            <a:endParaRPr lang="en-US" sz="552" dirty="0"/>
          </a:p>
        </p:txBody>
      </p:sp>
      <p:sp>
        <p:nvSpPr>
          <p:cNvPr id="165" name="Text 162"/>
          <p:cNvSpPr/>
          <p:nvPr/>
        </p:nvSpPr>
        <p:spPr>
          <a:xfrm>
            <a:off x="1002302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1,0 %</a:t>
            </a:r>
            <a:endParaRPr lang="en-US" sz="552" dirty="0"/>
          </a:p>
        </p:txBody>
      </p:sp>
      <p:sp>
        <p:nvSpPr>
          <p:cNvPr id="166" name="Text 163"/>
          <p:cNvSpPr/>
          <p:nvPr/>
        </p:nvSpPr>
        <p:spPr>
          <a:xfrm>
            <a:off x="1050581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0,8 %</a:t>
            </a:r>
            <a:endParaRPr lang="en-US" sz="552" dirty="0"/>
          </a:p>
        </p:txBody>
      </p:sp>
      <p:sp>
        <p:nvSpPr>
          <p:cNvPr id="167" name="Text 164"/>
          <p:cNvSpPr/>
          <p:nvPr/>
        </p:nvSpPr>
        <p:spPr>
          <a:xfrm>
            <a:off x="10988599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168" name="Text 165"/>
          <p:cNvSpPr/>
          <p:nvPr/>
        </p:nvSpPr>
        <p:spPr>
          <a:xfrm>
            <a:off x="809188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3,4 %</a:t>
            </a:r>
            <a:endParaRPr lang="en-US" sz="552" dirty="0"/>
          </a:p>
        </p:txBody>
      </p:sp>
      <p:sp>
        <p:nvSpPr>
          <p:cNvPr id="169" name="Text 166"/>
          <p:cNvSpPr/>
          <p:nvPr/>
        </p:nvSpPr>
        <p:spPr>
          <a:xfrm>
            <a:off x="9057453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9,1 %</a:t>
            </a:r>
            <a:endParaRPr lang="en-US" sz="552" dirty="0"/>
          </a:p>
        </p:txBody>
      </p:sp>
      <p:sp>
        <p:nvSpPr>
          <p:cNvPr id="170" name="Text 167"/>
          <p:cNvSpPr/>
          <p:nvPr/>
        </p:nvSpPr>
        <p:spPr>
          <a:xfrm>
            <a:off x="10988599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7,0 %</a:t>
            </a:r>
            <a:endParaRPr lang="en-US" sz="552" dirty="0"/>
          </a:p>
        </p:txBody>
      </p:sp>
      <p:sp>
        <p:nvSpPr>
          <p:cNvPr id="171" name="Text 168"/>
          <p:cNvSpPr/>
          <p:nvPr/>
        </p:nvSpPr>
        <p:spPr>
          <a:xfrm>
            <a:off x="809188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172" name="Text 169"/>
          <p:cNvSpPr/>
          <p:nvPr/>
        </p:nvSpPr>
        <p:spPr>
          <a:xfrm>
            <a:off x="8574667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6,9 %</a:t>
            </a:r>
            <a:endParaRPr lang="en-US" sz="552" dirty="0"/>
          </a:p>
        </p:txBody>
      </p:sp>
      <p:sp>
        <p:nvSpPr>
          <p:cNvPr id="173" name="Text 170"/>
          <p:cNvSpPr/>
          <p:nvPr/>
        </p:nvSpPr>
        <p:spPr>
          <a:xfrm>
            <a:off x="9057453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5,7 %</a:t>
            </a:r>
            <a:endParaRPr lang="en-US" sz="552" dirty="0"/>
          </a:p>
        </p:txBody>
      </p:sp>
      <p:sp>
        <p:nvSpPr>
          <p:cNvPr id="174" name="Text 171"/>
          <p:cNvSpPr/>
          <p:nvPr/>
        </p:nvSpPr>
        <p:spPr>
          <a:xfrm>
            <a:off x="954024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9,9 %</a:t>
            </a:r>
            <a:endParaRPr lang="en-US" sz="552" dirty="0"/>
          </a:p>
        </p:txBody>
      </p:sp>
      <p:sp>
        <p:nvSpPr>
          <p:cNvPr id="175" name="Text 172"/>
          <p:cNvSpPr/>
          <p:nvPr/>
        </p:nvSpPr>
        <p:spPr>
          <a:xfrm>
            <a:off x="1050581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6,4 %</a:t>
            </a:r>
            <a:endParaRPr lang="en-US" sz="552" dirty="0"/>
          </a:p>
        </p:txBody>
      </p:sp>
      <p:sp>
        <p:nvSpPr>
          <p:cNvPr id="176" name="Text 173"/>
          <p:cNvSpPr/>
          <p:nvPr/>
        </p:nvSpPr>
        <p:spPr>
          <a:xfrm>
            <a:off x="10988599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177" name="Text 174"/>
          <p:cNvSpPr/>
          <p:nvPr/>
        </p:nvSpPr>
        <p:spPr>
          <a:xfrm>
            <a:off x="809188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78" name="Text 175"/>
          <p:cNvSpPr/>
          <p:nvPr/>
        </p:nvSpPr>
        <p:spPr>
          <a:xfrm>
            <a:off x="8574667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3,0 %</a:t>
            </a:r>
            <a:endParaRPr lang="en-US" sz="552" dirty="0"/>
          </a:p>
        </p:txBody>
      </p:sp>
      <p:sp>
        <p:nvSpPr>
          <p:cNvPr id="179" name="Text 176"/>
          <p:cNvSpPr/>
          <p:nvPr/>
        </p:nvSpPr>
        <p:spPr>
          <a:xfrm>
            <a:off x="9057453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180" name="Text 177"/>
          <p:cNvSpPr/>
          <p:nvPr/>
        </p:nvSpPr>
        <p:spPr>
          <a:xfrm>
            <a:off x="954024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181" name="Text 178"/>
          <p:cNvSpPr/>
          <p:nvPr/>
        </p:nvSpPr>
        <p:spPr>
          <a:xfrm>
            <a:off x="1002302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182" name="Text 179"/>
          <p:cNvSpPr/>
          <p:nvPr/>
        </p:nvSpPr>
        <p:spPr>
          <a:xfrm>
            <a:off x="1050581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183" name="Text 180"/>
          <p:cNvSpPr/>
          <p:nvPr/>
        </p:nvSpPr>
        <p:spPr>
          <a:xfrm>
            <a:off x="10988599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184" name="Text 181"/>
          <p:cNvSpPr/>
          <p:nvPr/>
        </p:nvSpPr>
        <p:spPr>
          <a:xfrm>
            <a:off x="809188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552" dirty="0"/>
          </a:p>
        </p:txBody>
      </p:sp>
      <p:sp>
        <p:nvSpPr>
          <p:cNvPr id="185" name="Text 182"/>
          <p:cNvSpPr/>
          <p:nvPr/>
        </p:nvSpPr>
        <p:spPr>
          <a:xfrm>
            <a:off x="8574667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4,7 %</a:t>
            </a:r>
            <a:endParaRPr lang="en-US" sz="552" dirty="0"/>
          </a:p>
        </p:txBody>
      </p:sp>
      <p:sp>
        <p:nvSpPr>
          <p:cNvPr id="186" name="Text 183"/>
          <p:cNvSpPr/>
          <p:nvPr/>
        </p:nvSpPr>
        <p:spPr>
          <a:xfrm>
            <a:off x="9057453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3,9 %</a:t>
            </a:r>
            <a:endParaRPr lang="en-US" sz="552" dirty="0"/>
          </a:p>
        </p:txBody>
      </p:sp>
      <p:sp>
        <p:nvSpPr>
          <p:cNvPr id="187" name="Text 184"/>
          <p:cNvSpPr/>
          <p:nvPr/>
        </p:nvSpPr>
        <p:spPr>
          <a:xfrm>
            <a:off x="9540240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188" name="Text 185"/>
          <p:cNvSpPr/>
          <p:nvPr/>
        </p:nvSpPr>
        <p:spPr>
          <a:xfrm>
            <a:off x="1002302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6,8 %</a:t>
            </a:r>
            <a:endParaRPr lang="en-US" sz="552" dirty="0"/>
          </a:p>
        </p:txBody>
      </p:sp>
      <p:sp>
        <p:nvSpPr>
          <p:cNvPr id="189" name="Text 186"/>
          <p:cNvSpPr/>
          <p:nvPr/>
        </p:nvSpPr>
        <p:spPr>
          <a:xfrm>
            <a:off x="1050581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190" name="Text 187"/>
          <p:cNvSpPr/>
          <p:nvPr/>
        </p:nvSpPr>
        <p:spPr>
          <a:xfrm>
            <a:off x="10988599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3,0 %</a:t>
            </a:r>
            <a:endParaRPr lang="en-US" sz="552" dirty="0"/>
          </a:p>
        </p:txBody>
      </p:sp>
      <p:sp>
        <p:nvSpPr>
          <p:cNvPr id="191" name="Text 188"/>
          <p:cNvSpPr/>
          <p:nvPr/>
        </p:nvSpPr>
        <p:spPr>
          <a:xfrm>
            <a:off x="809188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192" name="Text 189"/>
          <p:cNvSpPr/>
          <p:nvPr/>
        </p:nvSpPr>
        <p:spPr>
          <a:xfrm>
            <a:off x="8574667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1,0 %</a:t>
            </a:r>
            <a:endParaRPr lang="en-US" sz="552" dirty="0"/>
          </a:p>
        </p:txBody>
      </p:sp>
      <p:sp>
        <p:nvSpPr>
          <p:cNvPr id="193" name="Text 190"/>
          <p:cNvSpPr/>
          <p:nvPr/>
        </p:nvSpPr>
        <p:spPr>
          <a:xfrm>
            <a:off x="9057453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0,8 %</a:t>
            </a:r>
            <a:endParaRPr lang="en-US" sz="552" dirty="0"/>
          </a:p>
        </p:txBody>
      </p:sp>
      <p:sp>
        <p:nvSpPr>
          <p:cNvPr id="194" name="Text 191"/>
          <p:cNvSpPr/>
          <p:nvPr/>
        </p:nvSpPr>
        <p:spPr>
          <a:xfrm>
            <a:off x="9540240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552" dirty="0"/>
          </a:p>
        </p:txBody>
      </p:sp>
      <p:sp>
        <p:nvSpPr>
          <p:cNvPr id="195" name="Text 192"/>
          <p:cNvSpPr/>
          <p:nvPr/>
        </p:nvSpPr>
        <p:spPr>
          <a:xfrm>
            <a:off x="1002302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552" dirty="0"/>
          </a:p>
        </p:txBody>
      </p:sp>
      <p:sp>
        <p:nvSpPr>
          <p:cNvPr id="196" name="Text 193"/>
          <p:cNvSpPr/>
          <p:nvPr/>
        </p:nvSpPr>
        <p:spPr>
          <a:xfrm>
            <a:off x="1050581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97" name="Text 194"/>
          <p:cNvSpPr/>
          <p:nvPr/>
        </p:nvSpPr>
        <p:spPr>
          <a:xfrm>
            <a:off x="10988599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0,6 %</a:t>
            </a:r>
            <a:endParaRPr lang="en-US" sz="552" dirty="0"/>
          </a:p>
        </p:txBody>
      </p:sp>
      <p:sp>
        <p:nvSpPr>
          <p:cNvPr id="198" name="Text 195"/>
          <p:cNvSpPr/>
          <p:nvPr/>
        </p:nvSpPr>
        <p:spPr>
          <a:xfrm>
            <a:off x="809188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99" name="Text 196"/>
          <p:cNvSpPr/>
          <p:nvPr/>
        </p:nvSpPr>
        <p:spPr>
          <a:xfrm>
            <a:off x="8574667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200" name="Text 197"/>
          <p:cNvSpPr/>
          <p:nvPr/>
        </p:nvSpPr>
        <p:spPr>
          <a:xfrm>
            <a:off x="9057453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552" dirty="0"/>
          </a:p>
        </p:txBody>
      </p:sp>
      <p:sp>
        <p:nvSpPr>
          <p:cNvPr id="201" name="Text 198"/>
          <p:cNvSpPr/>
          <p:nvPr/>
        </p:nvSpPr>
        <p:spPr>
          <a:xfrm>
            <a:off x="9540240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02" name="Text 199"/>
          <p:cNvSpPr/>
          <p:nvPr/>
        </p:nvSpPr>
        <p:spPr>
          <a:xfrm>
            <a:off x="1002302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03" name="Text 200"/>
          <p:cNvSpPr/>
          <p:nvPr/>
        </p:nvSpPr>
        <p:spPr>
          <a:xfrm>
            <a:off x="1050581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04" name="Text 201"/>
          <p:cNvSpPr/>
          <p:nvPr/>
        </p:nvSpPr>
        <p:spPr>
          <a:xfrm>
            <a:off x="10988599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05" name="Text 202"/>
          <p:cNvSpPr/>
          <p:nvPr/>
        </p:nvSpPr>
        <p:spPr>
          <a:xfrm>
            <a:off x="8091881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06" name="Text 203"/>
          <p:cNvSpPr/>
          <p:nvPr/>
        </p:nvSpPr>
        <p:spPr>
          <a:xfrm>
            <a:off x="8574667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552" dirty="0"/>
          </a:p>
        </p:txBody>
      </p:sp>
      <p:sp>
        <p:nvSpPr>
          <p:cNvPr id="207" name="Text 204"/>
          <p:cNvSpPr/>
          <p:nvPr/>
        </p:nvSpPr>
        <p:spPr>
          <a:xfrm>
            <a:off x="9057453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1,6 %</a:t>
            </a:r>
            <a:endParaRPr lang="en-US" sz="552" dirty="0"/>
          </a:p>
        </p:txBody>
      </p:sp>
      <p:sp>
        <p:nvSpPr>
          <p:cNvPr id="208" name="Text 205"/>
          <p:cNvSpPr/>
          <p:nvPr/>
        </p:nvSpPr>
        <p:spPr>
          <a:xfrm>
            <a:off x="9540240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552" dirty="0"/>
          </a:p>
        </p:txBody>
      </p:sp>
      <p:sp>
        <p:nvSpPr>
          <p:cNvPr id="209" name="Text 206"/>
          <p:cNvSpPr/>
          <p:nvPr/>
        </p:nvSpPr>
        <p:spPr>
          <a:xfrm>
            <a:off x="10023026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552" dirty="0"/>
          </a:p>
        </p:txBody>
      </p:sp>
      <p:sp>
        <p:nvSpPr>
          <p:cNvPr id="210" name="Text 207"/>
          <p:cNvSpPr/>
          <p:nvPr/>
        </p:nvSpPr>
        <p:spPr>
          <a:xfrm>
            <a:off x="10505812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552" dirty="0"/>
          </a:p>
        </p:txBody>
      </p:sp>
      <p:sp>
        <p:nvSpPr>
          <p:cNvPr id="211" name="Text 208"/>
          <p:cNvSpPr/>
          <p:nvPr/>
        </p:nvSpPr>
        <p:spPr>
          <a:xfrm>
            <a:off x="10988599" y="46203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1,7 %</a:t>
            </a:r>
            <a:endParaRPr lang="en-US" sz="552" dirty="0"/>
          </a:p>
        </p:txBody>
      </p:sp>
      <p:sp>
        <p:nvSpPr>
          <p:cNvPr id="212" name="Text 209"/>
          <p:cNvSpPr/>
          <p:nvPr/>
        </p:nvSpPr>
        <p:spPr>
          <a:xfrm>
            <a:off x="8091881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0,6 %</a:t>
            </a:r>
            <a:endParaRPr lang="en-US" sz="552" dirty="0"/>
          </a:p>
        </p:txBody>
      </p:sp>
      <p:sp>
        <p:nvSpPr>
          <p:cNvPr id="213" name="Text 210"/>
          <p:cNvSpPr/>
          <p:nvPr/>
        </p:nvSpPr>
        <p:spPr>
          <a:xfrm>
            <a:off x="8574667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552" dirty="0"/>
          </a:p>
        </p:txBody>
      </p:sp>
      <p:sp>
        <p:nvSpPr>
          <p:cNvPr id="214" name="Text 211"/>
          <p:cNvSpPr/>
          <p:nvPr/>
        </p:nvSpPr>
        <p:spPr>
          <a:xfrm>
            <a:off x="9057453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552" dirty="0"/>
          </a:p>
        </p:txBody>
      </p:sp>
      <p:sp>
        <p:nvSpPr>
          <p:cNvPr id="215" name="Text 212"/>
          <p:cNvSpPr/>
          <p:nvPr/>
        </p:nvSpPr>
        <p:spPr>
          <a:xfrm>
            <a:off x="9540240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216" name="Text 213"/>
          <p:cNvSpPr/>
          <p:nvPr/>
        </p:nvSpPr>
        <p:spPr>
          <a:xfrm>
            <a:off x="10023026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217" name="Text 214"/>
          <p:cNvSpPr/>
          <p:nvPr/>
        </p:nvSpPr>
        <p:spPr>
          <a:xfrm>
            <a:off x="10505812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552" dirty="0"/>
          </a:p>
        </p:txBody>
      </p:sp>
      <p:sp>
        <p:nvSpPr>
          <p:cNvPr id="218" name="Text 215"/>
          <p:cNvSpPr/>
          <p:nvPr/>
        </p:nvSpPr>
        <p:spPr>
          <a:xfrm>
            <a:off x="10988599" y="47537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0,6 %</a:t>
            </a:r>
            <a:endParaRPr lang="en-US" sz="552" dirty="0"/>
          </a:p>
        </p:txBody>
      </p:sp>
      <p:sp>
        <p:nvSpPr>
          <p:cNvPr id="219" name="Text 216"/>
          <p:cNvSpPr/>
          <p:nvPr/>
        </p:nvSpPr>
        <p:spPr>
          <a:xfrm>
            <a:off x="8091881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0" name="Text 217"/>
          <p:cNvSpPr/>
          <p:nvPr/>
        </p:nvSpPr>
        <p:spPr>
          <a:xfrm>
            <a:off x="8574667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1" name="Text 218"/>
          <p:cNvSpPr/>
          <p:nvPr/>
        </p:nvSpPr>
        <p:spPr>
          <a:xfrm>
            <a:off x="9057453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2" name="Text 219"/>
          <p:cNvSpPr/>
          <p:nvPr/>
        </p:nvSpPr>
        <p:spPr>
          <a:xfrm>
            <a:off x="9540240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3" name="Text 220"/>
          <p:cNvSpPr/>
          <p:nvPr/>
        </p:nvSpPr>
        <p:spPr>
          <a:xfrm>
            <a:off x="10023026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4" name="Text 221"/>
          <p:cNvSpPr/>
          <p:nvPr/>
        </p:nvSpPr>
        <p:spPr>
          <a:xfrm>
            <a:off x="10505812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5" name="Text 222"/>
          <p:cNvSpPr/>
          <p:nvPr/>
        </p:nvSpPr>
        <p:spPr>
          <a:xfrm>
            <a:off x="10988599" y="48870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6" name="Text 223"/>
          <p:cNvSpPr/>
          <p:nvPr/>
        </p:nvSpPr>
        <p:spPr>
          <a:xfrm>
            <a:off x="8091881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27" name="Text 224"/>
          <p:cNvSpPr/>
          <p:nvPr/>
        </p:nvSpPr>
        <p:spPr>
          <a:xfrm>
            <a:off x="8574667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28" name="Text 225"/>
          <p:cNvSpPr/>
          <p:nvPr/>
        </p:nvSpPr>
        <p:spPr>
          <a:xfrm>
            <a:off x="9057453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29" name="Text 226"/>
          <p:cNvSpPr/>
          <p:nvPr/>
        </p:nvSpPr>
        <p:spPr>
          <a:xfrm>
            <a:off x="9540240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0" name="Text 227"/>
          <p:cNvSpPr/>
          <p:nvPr/>
        </p:nvSpPr>
        <p:spPr>
          <a:xfrm>
            <a:off x="10023026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1" name="Text 228"/>
          <p:cNvSpPr/>
          <p:nvPr/>
        </p:nvSpPr>
        <p:spPr>
          <a:xfrm>
            <a:off x="10505812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2" name="Text 229"/>
          <p:cNvSpPr/>
          <p:nvPr/>
        </p:nvSpPr>
        <p:spPr>
          <a:xfrm>
            <a:off x="10988599" y="502044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3" name="Text 230"/>
          <p:cNvSpPr/>
          <p:nvPr/>
        </p:nvSpPr>
        <p:spPr>
          <a:xfrm>
            <a:off x="4374991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1380" dirty="0"/>
          </a:p>
        </p:txBody>
      </p:sp>
      <p:sp>
        <p:nvSpPr>
          <p:cNvPr id="234" name="Text 231"/>
          <p:cNvSpPr/>
          <p:nvPr/>
        </p:nvSpPr>
        <p:spPr>
          <a:xfrm>
            <a:off x="495288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35" name="Text 232"/>
          <p:cNvSpPr/>
          <p:nvPr/>
        </p:nvSpPr>
        <p:spPr>
          <a:xfrm>
            <a:off x="6257769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36" name="Text 233"/>
          <p:cNvSpPr/>
          <p:nvPr/>
        </p:nvSpPr>
        <p:spPr>
          <a:xfrm>
            <a:off x="495288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37" name="Text 234"/>
          <p:cNvSpPr/>
          <p:nvPr/>
        </p:nvSpPr>
        <p:spPr>
          <a:xfrm>
            <a:off x="232940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38" name="Text 235"/>
          <p:cNvSpPr/>
          <p:nvPr/>
        </p:nvSpPr>
        <p:spPr>
          <a:xfrm>
            <a:off x="281218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39" name="Text 236"/>
          <p:cNvSpPr/>
          <p:nvPr/>
        </p:nvSpPr>
        <p:spPr>
          <a:xfrm>
            <a:off x="329497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40" name="Text 237"/>
          <p:cNvSpPr/>
          <p:nvPr/>
        </p:nvSpPr>
        <p:spPr>
          <a:xfrm>
            <a:off x="377775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41" name="Text 238"/>
          <p:cNvSpPr/>
          <p:nvPr/>
        </p:nvSpPr>
        <p:spPr>
          <a:xfrm>
            <a:off x="4260545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42" name="Text 239"/>
          <p:cNvSpPr/>
          <p:nvPr/>
        </p:nvSpPr>
        <p:spPr>
          <a:xfrm>
            <a:off x="474333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43" name="Text 240"/>
          <p:cNvSpPr/>
          <p:nvPr/>
        </p:nvSpPr>
        <p:spPr>
          <a:xfrm>
            <a:off x="232940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352</a:t>
            </a:r>
            <a:endParaRPr lang="en-US" sz="576" dirty="0"/>
          </a:p>
        </p:txBody>
      </p:sp>
      <p:sp>
        <p:nvSpPr>
          <p:cNvPr id="244" name="Text 241"/>
          <p:cNvSpPr/>
          <p:nvPr/>
        </p:nvSpPr>
        <p:spPr>
          <a:xfrm>
            <a:off x="281218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948</a:t>
            </a:r>
            <a:endParaRPr lang="en-US" sz="576" dirty="0"/>
          </a:p>
        </p:txBody>
      </p:sp>
      <p:sp>
        <p:nvSpPr>
          <p:cNvPr id="245" name="Text 242"/>
          <p:cNvSpPr/>
          <p:nvPr/>
        </p:nvSpPr>
        <p:spPr>
          <a:xfrm>
            <a:off x="329497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380</a:t>
            </a:r>
            <a:endParaRPr lang="en-US" sz="576" dirty="0"/>
          </a:p>
        </p:txBody>
      </p:sp>
      <p:sp>
        <p:nvSpPr>
          <p:cNvPr id="246" name="Text 243"/>
          <p:cNvSpPr/>
          <p:nvPr/>
        </p:nvSpPr>
        <p:spPr>
          <a:xfrm>
            <a:off x="232940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186</a:t>
            </a:r>
            <a:endParaRPr lang="en-US" sz="576" dirty="0"/>
          </a:p>
        </p:txBody>
      </p:sp>
      <p:sp>
        <p:nvSpPr>
          <p:cNvPr id="247" name="Text 244"/>
          <p:cNvSpPr/>
          <p:nvPr/>
        </p:nvSpPr>
        <p:spPr>
          <a:xfrm>
            <a:off x="281218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501</a:t>
            </a:r>
            <a:endParaRPr lang="en-US" sz="576" dirty="0"/>
          </a:p>
        </p:txBody>
      </p:sp>
      <p:sp>
        <p:nvSpPr>
          <p:cNvPr id="248" name="Text 245"/>
          <p:cNvSpPr/>
          <p:nvPr/>
        </p:nvSpPr>
        <p:spPr>
          <a:xfrm>
            <a:off x="329497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</a:t>
            </a:r>
            <a:endParaRPr lang="en-US" sz="576" dirty="0"/>
          </a:p>
        </p:txBody>
      </p:sp>
      <p:sp>
        <p:nvSpPr>
          <p:cNvPr id="249" name="Text 246"/>
          <p:cNvSpPr/>
          <p:nvPr/>
        </p:nvSpPr>
        <p:spPr>
          <a:xfrm>
            <a:off x="474333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776</a:t>
            </a:r>
            <a:endParaRPr lang="en-US" sz="576" dirty="0"/>
          </a:p>
        </p:txBody>
      </p:sp>
      <p:sp>
        <p:nvSpPr>
          <p:cNvPr id="250" name="Text 247"/>
          <p:cNvSpPr/>
          <p:nvPr/>
        </p:nvSpPr>
        <p:spPr>
          <a:xfrm>
            <a:off x="232940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576" dirty="0"/>
          </a:p>
        </p:txBody>
      </p:sp>
      <p:sp>
        <p:nvSpPr>
          <p:cNvPr id="251" name="Text 248"/>
          <p:cNvSpPr/>
          <p:nvPr/>
        </p:nvSpPr>
        <p:spPr>
          <a:xfrm>
            <a:off x="281218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379</a:t>
            </a:r>
            <a:endParaRPr lang="en-US" sz="576" dirty="0"/>
          </a:p>
        </p:txBody>
      </p:sp>
      <p:sp>
        <p:nvSpPr>
          <p:cNvPr id="252" name="Text 249"/>
          <p:cNvSpPr/>
          <p:nvPr/>
        </p:nvSpPr>
        <p:spPr>
          <a:xfrm>
            <a:off x="329497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</a:t>
            </a:r>
            <a:endParaRPr lang="en-US" sz="576" dirty="0"/>
          </a:p>
        </p:txBody>
      </p:sp>
      <p:sp>
        <p:nvSpPr>
          <p:cNvPr id="253" name="Text 250"/>
          <p:cNvSpPr/>
          <p:nvPr/>
        </p:nvSpPr>
        <p:spPr>
          <a:xfrm>
            <a:off x="474333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587</a:t>
            </a:r>
            <a:endParaRPr lang="en-US" sz="576" dirty="0"/>
          </a:p>
        </p:txBody>
      </p:sp>
      <p:sp>
        <p:nvSpPr>
          <p:cNvPr id="254" name="Text 251"/>
          <p:cNvSpPr/>
          <p:nvPr/>
        </p:nvSpPr>
        <p:spPr>
          <a:xfrm>
            <a:off x="281218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196</a:t>
            </a:r>
            <a:endParaRPr lang="en-US" sz="576" dirty="0"/>
          </a:p>
        </p:txBody>
      </p:sp>
      <p:sp>
        <p:nvSpPr>
          <p:cNvPr id="255" name="Text 252"/>
          <p:cNvSpPr/>
          <p:nvPr/>
        </p:nvSpPr>
        <p:spPr>
          <a:xfrm>
            <a:off x="3777759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839</a:t>
            </a:r>
            <a:endParaRPr lang="en-US" sz="576" dirty="0"/>
          </a:p>
        </p:txBody>
      </p:sp>
      <p:sp>
        <p:nvSpPr>
          <p:cNvPr id="256" name="Text 253"/>
          <p:cNvSpPr/>
          <p:nvPr/>
        </p:nvSpPr>
        <p:spPr>
          <a:xfrm>
            <a:off x="4260545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839</a:t>
            </a:r>
            <a:endParaRPr lang="en-US" sz="576" dirty="0"/>
          </a:p>
        </p:txBody>
      </p:sp>
      <p:sp>
        <p:nvSpPr>
          <p:cNvPr id="257" name="Text 254"/>
          <p:cNvSpPr/>
          <p:nvPr/>
        </p:nvSpPr>
        <p:spPr>
          <a:xfrm>
            <a:off x="474333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304</a:t>
            </a:r>
            <a:endParaRPr lang="en-US" sz="576" dirty="0"/>
          </a:p>
        </p:txBody>
      </p:sp>
      <p:sp>
        <p:nvSpPr>
          <p:cNvPr id="258" name="Text 255"/>
          <p:cNvSpPr/>
          <p:nvPr/>
        </p:nvSpPr>
        <p:spPr>
          <a:xfrm>
            <a:off x="281218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181</a:t>
            </a:r>
            <a:endParaRPr lang="en-US" sz="576" dirty="0"/>
          </a:p>
        </p:txBody>
      </p:sp>
      <p:sp>
        <p:nvSpPr>
          <p:cNvPr id="259" name="Text 256"/>
          <p:cNvSpPr/>
          <p:nvPr/>
        </p:nvSpPr>
        <p:spPr>
          <a:xfrm>
            <a:off x="3777759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772</a:t>
            </a:r>
            <a:endParaRPr lang="en-US" sz="576" dirty="0"/>
          </a:p>
        </p:txBody>
      </p:sp>
      <p:sp>
        <p:nvSpPr>
          <p:cNvPr id="260" name="Text 257"/>
          <p:cNvSpPr/>
          <p:nvPr/>
        </p:nvSpPr>
        <p:spPr>
          <a:xfrm>
            <a:off x="4260545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773</a:t>
            </a:r>
            <a:endParaRPr lang="en-US" sz="576" dirty="0"/>
          </a:p>
        </p:txBody>
      </p:sp>
      <p:sp>
        <p:nvSpPr>
          <p:cNvPr id="261" name="Text 258"/>
          <p:cNvSpPr/>
          <p:nvPr/>
        </p:nvSpPr>
        <p:spPr>
          <a:xfrm>
            <a:off x="474333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280</a:t>
            </a:r>
            <a:endParaRPr lang="en-US" sz="576" dirty="0"/>
          </a:p>
        </p:txBody>
      </p:sp>
      <p:sp>
        <p:nvSpPr>
          <p:cNvPr id="262" name="Text 259"/>
          <p:cNvSpPr/>
          <p:nvPr/>
        </p:nvSpPr>
        <p:spPr>
          <a:xfrm>
            <a:off x="3777759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332</a:t>
            </a:r>
            <a:endParaRPr lang="en-US" sz="576" dirty="0"/>
          </a:p>
        </p:txBody>
      </p:sp>
      <p:sp>
        <p:nvSpPr>
          <p:cNvPr id="263" name="Text 260"/>
          <p:cNvSpPr/>
          <p:nvPr/>
        </p:nvSpPr>
        <p:spPr>
          <a:xfrm>
            <a:off x="4260545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332</a:t>
            </a:r>
            <a:endParaRPr lang="en-US" sz="576" dirty="0"/>
          </a:p>
        </p:txBody>
      </p:sp>
      <p:sp>
        <p:nvSpPr>
          <p:cNvPr id="264" name="Text 261"/>
          <p:cNvSpPr/>
          <p:nvPr/>
        </p:nvSpPr>
        <p:spPr>
          <a:xfrm>
            <a:off x="474333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576" dirty="0"/>
          </a:p>
        </p:txBody>
      </p:sp>
      <p:sp>
        <p:nvSpPr>
          <p:cNvPr id="265" name="Text 262"/>
          <p:cNvSpPr/>
          <p:nvPr/>
        </p:nvSpPr>
        <p:spPr>
          <a:xfrm>
            <a:off x="5226118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922</a:t>
            </a:r>
            <a:endParaRPr lang="en-US" sz="576" dirty="0"/>
          </a:p>
        </p:txBody>
      </p:sp>
      <p:sp>
        <p:nvSpPr>
          <p:cNvPr id="266" name="Text 263"/>
          <p:cNvSpPr/>
          <p:nvPr/>
        </p:nvSpPr>
        <p:spPr>
          <a:xfrm>
            <a:off x="2329400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576" dirty="0"/>
          </a:p>
        </p:txBody>
      </p:sp>
      <p:sp>
        <p:nvSpPr>
          <p:cNvPr id="267" name="Text 264"/>
          <p:cNvSpPr/>
          <p:nvPr/>
        </p:nvSpPr>
        <p:spPr>
          <a:xfrm>
            <a:off x="281218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382</a:t>
            </a:r>
            <a:endParaRPr lang="en-US" sz="576" dirty="0"/>
          </a:p>
        </p:txBody>
      </p:sp>
      <p:sp>
        <p:nvSpPr>
          <p:cNvPr id="268" name="Text 265"/>
          <p:cNvSpPr/>
          <p:nvPr/>
        </p:nvSpPr>
        <p:spPr>
          <a:xfrm>
            <a:off x="329497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153</a:t>
            </a:r>
            <a:endParaRPr lang="en-US" sz="576" dirty="0"/>
          </a:p>
        </p:txBody>
      </p:sp>
      <p:sp>
        <p:nvSpPr>
          <p:cNvPr id="269" name="Text 266"/>
          <p:cNvSpPr/>
          <p:nvPr/>
        </p:nvSpPr>
        <p:spPr>
          <a:xfrm>
            <a:off x="474333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592</a:t>
            </a:r>
            <a:endParaRPr lang="en-US" sz="576" dirty="0"/>
          </a:p>
        </p:txBody>
      </p:sp>
      <p:sp>
        <p:nvSpPr>
          <p:cNvPr id="270" name="Text 267"/>
          <p:cNvSpPr/>
          <p:nvPr/>
        </p:nvSpPr>
        <p:spPr>
          <a:xfrm>
            <a:off x="6257769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71" name="Text 268"/>
          <p:cNvSpPr/>
          <p:nvPr/>
        </p:nvSpPr>
        <p:spPr>
          <a:xfrm>
            <a:off x="9303014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636" dirty="0"/>
          </a:p>
        </p:txBody>
      </p:sp>
      <p:sp>
        <p:nvSpPr>
          <p:cNvPr id="272" name="Text 269"/>
          <p:cNvSpPr/>
          <p:nvPr/>
        </p:nvSpPr>
        <p:spPr>
          <a:xfrm>
            <a:off x="7345377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498</a:t>
            </a:r>
            <a:endParaRPr lang="en-US" sz="636" dirty="0"/>
          </a:p>
        </p:txBody>
      </p:sp>
      <p:sp>
        <p:nvSpPr>
          <p:cNvPr id="273" name="Text 270"/>
          <p:cNvSpPr/>
          <p:nvPr/>
        </p:nvSpPr>
        <p:spPr>
          <a:xfrm>
            <a:off x="7345377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498</a:t>
            </a:r>
            <a:endParaRPr lang="en-US" sz="636" dirty="0"/>
          </a:p>
        </p:txBody>
      </p:sp>
      <p:sp>
        <p:nvSpPr>
          <p:cNvPr id="274" name="Text 271"/>
          <p:cNvSpPr/>
          <p:nvPr/>
        </p:nvSpPr>
        <p:spPr>
          <a:xfrm>
            <a:off x="9303014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143</a:t>
            </a:r>
            <a:endParaRPr lang="en-US" sz="636" dirty="0"/>
          </a:p>
        </p:txBody>
      </p:sp>
      <p:sp>
        <p:nvSpPr>
          <p:cNvPr id="275" name="Text 272"/>
          <p:cNvSpPr/>
          <p:nvPr/>
        </p:nvSpPr>
        <p:spPr>
          <a:xfrm>
            <a:off x="9303014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324</a:t>
            </a:r>
            <a:endParaRPr lang="en-US" sz="636" dirty="0"/>
          </a:p>
        </p:txBody>
      </p:sp>
      <p:sp>
        <p:nvSpPr>
          <p:cNvPr id="276" name="Text 273"/>
          <p:cNvSpPr/>
          <p:nvPr/>
        </p:nvSpPr>
        <p:spPr>
          <a:xfrm>
            <a:off x="809188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77" name="Text 274"/>
          <p:cNvSpPr/>
          <p:nvPr/>
        </p:nvSpPr>
        <p:spPr>
          <a:xfrm>
            <a:off x="8574667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78" name="Text 275"/>
          <p:cNvSpPr/>
          <p:nvPr/>
        </p:nvSpPr>
        <p:spPr>
          <a:xfrm>
            <a:off x="9057453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79" name="Text 276"/>
          <p:cNvSpPr/>
          <p:nvPr/>
        </p:nvSpPr>
        <p:spPr>
          <a:xfrm>
            <a:off x="954024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80" name="Text 277"/>
          <p:cNvSpPr/>
          <p:nvPr/>
        </p:nvSpPr>
        <p:spPr>
          <a:xfrm>
            <a:off x="1002302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81" name="Text 278"/>
          <p:cNvSpPr/>
          <p:nvPr/>
        </p:nvSpPr>
        <p:spPr>
          <a:xfrm>
            <a:off x="1050581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82" name="Text 279"/>
          <p:cNvSpPr/>
          <p:nvPr/>
        </p:nvSpPr>
        <p:spPr>
          <a:xfrm>
            <a:off x="8216595" y="952500"/>
            <a:ext cx="3584207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324</a:t>
            </a:r>
            <a:endParaRPr lang="en-US" sz="1380" dirty="0"/>
          </a:p>
        </p:txBody>
      </p:sp>
      <p:sp>
        <p:nvSpPr>
          <p:cNvPr id="283" name="Text 280"/>
          <p:cNvSpPr/>
          <p:nvPr/>
        </p:nvSpPr>
        <p:spPr>
          <a:xfrm>
            <a:off x="232940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</a:t>
            </a:r>
            <a:endParaRPr lang="en-US" sz="576" dirty="0"/>
          </a:p>
        </p:txBody>
      </p:sp>
      <p:sp>
        <p:nvSpPr>
          <p:cNvPr id="284" name="Text 281"/>
          <p:cNvSpPr/>
          <p:nvPr/>
        </p:nvSpPr>
        <p:spPr>
          <a:xfrm>
            <a:off x="329497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285" name="Text 282"/>
          <p:cNvSpPr/>
          <p:nvPr/>
        </p:nvSpPr>
        <p:spPr>
          <a:xfrm>
            <a:off x="2329400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286" name="Text 283"/>
          <p:cNvSpPr/>
          <p:nvPr/>
        </p:nvSpPr>
        <p:spPr>
          <a:xfrm>
            <a:off x="329497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</a:t>
            </a:r>
            <a:endParaRPr lang="en-US" sz="576" dirty="0"/>
          </a:p>
        </p:txBody>
      </p:sp>
      <p:sp>
        <p:nvSpPr>
          <p:cNvPr id="287" name="Text 284"/>
          <p:cNvSpPr/>
          <p:nvPr/>
        </p:nvSpPr>
        <p:spPr>
          <a:xfrm>
            <a:off x="2329400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</a:t>
            </a:r>
            <a:endParaRPr lang="en-US" sz="576" dirty="0"/>
          </a:p>
        </p:txBody>
      </p:sp>
      <p:sp>
        <p:nvSpPr>
          <p:cNvPr id="288" name="Text 285"/>
          <p:cNvSpPr/>
          <p:nvPr/>
        </p:nvSpPr>
        <p:spPr>
          <a:xfrm>
            <a:off x="281218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</a:t>
            </a:r>
            <a:endParaRPr lang="en-US" sz="576" dirty="0"/>
          </a:p>
        </p:txBody>
      </p:sp>
      <p:sp>
        <p:nvSpPr>
          <p:cNvPr id="289" name="Text 286"/>
          <p:cNvSpPr/>
          <p:nvPr/>
        </p:nvSpPr>
        <p:spPr>
          <a:xfrm>
            <a:off x="329497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576" dirty="0"/>
          </a:p>
        </p:txBody>
      </p:sp>
      <p:sp>
        <p:nvSpPr>
          <p:cNvPr id="290" name="Text 287"/>
          <p:cNvSpPr/>
          <p:nvPr/>
        </p:nvSpPr>
        <p:spPr>
          <a:xfrm>
            <a:off x="9303014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36" dirty="0"/>
          </a:p>
        </p:txBody>
      </p:sp>
      <p:sp>
        <p:nvSpPr>
          <p:cNvPr id="291" name="Text 288"/>
          <p:cNvSpPr/>
          <p:nvPr/>
        </p:nvSpPr>
        <p:spPr>
          <a:xfrm>
            <a:off x="9303014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636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9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84131"/>
            <a:ext cx="6649836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Mostró un descarte muy alto (67,58 %) y una bajísima efectividad sobre contacto (1,21 %), lo que justifica que se haya pausado a partir de febrero.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237684"/>
            <a:ext cx="6649836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 base sólo estuvo activa en enero de 2026 (campaña táctica sobre base histórica de clientes satisfechos).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530578"/>
            <a:ext cx="6649836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contestador fue el gran bloqueador en enero, consumiendo el 62,7 % de los registros aptos gestionados.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448845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CP Clientes Satisfechos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8216595" y="1200894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focalizada y depurada de forma express</a:t>
            </a:r>
            <a:endParaRPr lang="en-US" sz="648" dirty="0"/>
          </a:p>
        </p:txBody>
      </p:sp>
      <p:sp>
        <p:nvSpPr>
          <p:cNvPr id="8" name="Text 5"/>
          <p:cNvSpPr/>
          <p:nvPr/>
        </p:nvSpPr>
        <p:spPr>
          <a:xfrm>
            <a:off x="504812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 / Producto Activo</a:t>
            </a:r>
            <a:endParaRPr lang="en-US" sz="576" dirty="0"/>
          </a:p>
        </p:txBody>
      </p:sp>
      <p:sp>
        <p:nvSpPr>
          <p:cNvPr id="9" name="Text 6"/>
          <p:cNvSpPr/>
          <p:nvPr/>
        </p:nvSpPr>
        <p:spPr>
          <a:xfrm>
            <a:off x="533387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Interacción ágil con clientes históricos</a:t>
            </a:r>
            <a:endParaRPr lang="en-US" sz="648" dirty="0"/>
          </a:p>
        </p:txBody>
      </p:sp>
      <p:sp>
        <p:nvSpPr>
          <p:cNvPr id="10" name="Text 7"/>
          <p:cNvSpPr/>
          <p:nvPr/>
        </p:nvSpPr>
        <p:spPr>
          <a:xfrm>
            <a:off x="4374991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Aporte táctico masivo al inicio del año</a:t>
            </a:r>
            <a:endParaRPr lang="en-US" sz="648" dirty="0"/>
          </a:p>
        </p:txBody>
      </p:sp>
      <p:sp>
        <p:nvSpPr>
          <p:cNvPr id="11" name="Text 8"/>
          <p:cNvSpPr/>
          <p:nvPr/>
        </p:nvSpPr>
        <p:spPr>
          <a:xfrm>
            <a:off x="6257769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495288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6257769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6267293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 / experiencia</a:t>
            </a:r>
            <a:endParaRPr lang="en-US" sz="552" dirty="0"/>
          </a:p>
        </p:txBody>
      </p:sp>
      <p:sp>
        <p:nvSpPr>
          <p:cNvPr id="15" name="Text 12"/>
          <p:cNvSpPr/>
          <p:nvPr/>
        </p:nvSpPr>
        <p:spPr>
          <a:xfrm>
            <a:off x="552436" y="6081712"/>
            <a:ext cx="1673304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504812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7" name="Text 14"/>
          <p:cNvSpPr/>
          <p:nvPr/>
        </p:nvSpPr>
        <p:spPr>
          <a:xfrm>
            <a:off x="504812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Errado / Sin Teléfono</a:t>
            </a:r>
            <a:endParaRPr lang="en-US" sz="576" dirty="0"/>
          </a:p>
        </p:txBody>
      </p:sp>
      <p:sp>
        <p:nvSpPr>
          <p:cNvPr id="18" name="Text 15"/>
          <p:cNvSpPr/>
          <p:nvPr/>
        </p:nvSpPr>
        <p:spPr>
          <a:xfrm>
            <a:off x="495288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6267293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0" name="Text 17"/>
          <p:cNvSpPr/>
          <p:nvPr/>
        </p:nvSpPr>
        <p:spPr>
          <a:xfrm>
            <a:off x="533387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 EN ENERO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504812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NIT de empresa / No apto</a:t>
            </a:r>
            <a:endParaRPr lang="en-US" sz="576" dirty="0"/>
          </a:p>
        </p:txBody>
      </p:sp>
      <p:sp>
        <p:nvSpPr>
          <p:cNvPr id="22" name="Text 19"/>
          <p:cNvSpPr/>
          <p:nvPr/>
        </p:nvSpPr>
        <p:spPr>
          <a:xfrm>
            <a:off x="6267293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504812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4" name="Text 21"/>
          <p:cNvSpPr/>
          <p:nvPr/>
        </p:nvSpPr>
        <p:spPr>
          <a:xfrm>
            <a:off x="6267293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5" name="Text 22"/>
          <p:cNvSpPr/>
          <p:nvPr/>
        </p:nvSpPr>
        <p:spPr>
          <a:xfrm>
            <a:off x="6267293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 / apagado</a:t>
            </a:r>
            <a:endParaRPr lang="en-US" sz="552" dirty="0"/>
          </a:p>
        </p:txBody>
      </p:sp>
      <p:sp>
        <p:nvSpPr>
          <p:cNvPr id="26" name="Text 23"/>
          <p:cNvSpPr/>
          <p:nvPr/>
        </p:nvSpPr>
        <p:spPr>
          <a:xfrm>
            <a:off x="8216595" y="809625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LEADS APTOS GENERADOS</a:t>
            </a:r>
            <a:endParaRPr lang="en-US" sz="672" dirty="0"/>
          </a:p>
        </p:txBody>
      </p:sp>
      <p:sp>
        <p:nvSpPr>
          <p:cNvPr id="27" name="Text 24"/>
          <p:cNvSpPr/>
          <p:nvPr/>
        </p:nvSpPr>
        <p:spPr>
          <a:xfrm>
            <a:off x="4374991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INCREMENTALES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6267293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29" name="Text 26"/>
          <p:cNvSpPr/>
          <p:nvPr/>
        </p:nvSpPr>
        <p:spPr>
          <a:xfrm>
            <a:off x="6267293" y="435369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0" name="Text 27"/>
          <p:cNvSpPr/>
          <p:nvPr/>
        </p:nvSpPr>
        <p:spPr>
          <a:xfrm>
            <a:off x="10281832" y="1681930"/>
            <a:ext cx="145701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6267293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32" name="Text 29"/>
          <p:cNvSpPr/>
          <p:nvPr/>
        </p:nvSpPr>
        <p:spPr>
          <a:xfrm>
            <a:off x="6267293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6267293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4" name="Text 31"/>
          <p:cNvSpPr/>
          <p:nvPr/>
        </p:nvSpPr>
        <p:spPr>
          <a:xfrm>
            <a:off x="2996877" y="1681930"/>
            <a:ext cx="1568454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8324195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1582896" y="1681930"/>
            <a:ext cx="145640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4519648" y="1681930"/>
            <a:ext cx="145670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1582896" y="1853380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108.659</a:t>
            </a:r>
            <a:endParaRPr lang="en-US" sz="636" dirty="0"/>
          </a:p>
        </p:txBody>
      </p:sp>
      <p:sp>
        <p:nvSpPr>
          <p:cNvPr id="39" name="Text 36"/>
          <p:cNvSpPr/>
          <p:nvPr/>
        </p:nvSpPr>
        <p:spPr>
          <a:xfrm>
            <a:off x="495288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0" name="Text 37"/>
          <p:cNvSpPr/>
          <p:nvPr/>
        </p:nvSpPr>
        <p:spPr>
          <a:xfrm>
            <a:off x="1582896" y="2705867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108.659</a:t>
            </a:r>
            <a:endParaRPr lang="en-US" sz="636" dirty="0"/>
          </a:p>
        </p:txBody>
      </p:sp>
      <p:sp>
        <p:nvSpPr>
          <p:cNvPr id="41" name="Text 38"/>
          <p:cNvSpPr/>
          <p:nvPr/>
        </p:nvSpPr>
        <p:spPr>
          <a:xfrm>
            <a:off x="6257769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2" name="Text 39"/>
          <p:cNvSpPr/>
          <p:nvPr/>
        </p:nvSpPr>
        <p:spPr>
          <a:xfrm>
            <a:off x="2996877" y="1853380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636" dirty="0"/>
          </a:p>
        </p:txBody>
      </p:sp>
      <p:sp>
        <p:nvSpPr>
          <p:cNvPr id="43" name="Text 40"/>
          <p:cNvSpPr/>
          <p:nvPr/>
        </p:nvSpPr>
        <p:spPr>
          <a:xfrm>
            <a:off x="4519648" y="1853380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67,6 %</a:t>
            </a:r>
            <a:endParaRPr lang="en-US" sz="636" dirty="0"/>
          </a:p>
        </p:txBody>
      </p:sp>
      <p:sp>
        <p:nvSpPr>
          <p:cNvPr id="44" name="Text 41"/>
          <p:cNvSpPr/>
          <p:nvPr/>
        </p:nvSpPr>
        <p:spPr>
          <a:xfrm>
            <a:off x="2996877" y="2705867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636" dirty="0"/>
          </a:p>
        </p:txBody>
      </p:sp>
      <p:sp>
        <p:nvSpPr>
          <p:cNvPr id="45" name="Text 42"/>
          <p:cNvSpPr/>
          <p:nvPr/>
        </p:nvSpPr>
        <p:spPr>
          <a:xfrm>
            <a:off x="4519648" y="2705867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67,6 %</a:t>
            </a:r>
            <a:endParaRPr lang="en-US" sz="636" dirty="0"/>
          </a:p>
        </p:txBody>
      </p:sp>
      <p:sp>
        <p:nvSpPr>
          <p:cNvPr id="46" name="Text 43"/>
          <p:cNvSpPr/>
          <p:nvPr/>
        </p:nvSpPr>
        <p:spPr>
          <a:xfrm>
            <a:off x="504812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232940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43.210</a:t>
            </a:r>
            <a:endParaRPr lang="en-US" sz="576" dirty="0"/>
          </a:p>
        </p:txBody>
      </p:sp>
      <p:sp>
        <p:nvSpPr>
          <p:cNvPr id="48" name="Text 45"/>
          <p:cNvSpPr/>
          <p:nvPr/>
        </p:nvSpPr>
        <p:spPr>
          <a:xfrm>
            <a:off x="5226118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43.210</a:t>
            </a:r>
            <a:endParaRPr lang="en-US" sz="576" dirty="0"/>
          </a:p>
        </p:txBody>
      </p:sp>
      <p:sp>
        <p:nvSpPr>
          <p:cNvPr id="49" name="Text 46"/>
          <p:cNvSpPr/>
          <p:nvPr/>
        </p:nvSpPr>
        <p:spPr>
          <a:xfrm>
            <a:off x="232940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22.105</a:t>
            </a:r>
            <a:endParaRPr lang="en-US" sz="576" dirty="0"/>
          </a:p>
        </p:txBody>
      </p:sp>
      <p:sp>
        <p:nvSpPr>
          <p:cNvPr id="50" name="Text 47"/>
          <p:cNvSpPr/>
          <p:nvPr/>
        </p:nvSpPr>
        <p:spPr>
          <a:xfrm>
            <a:off x="5226118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22.105</a:t>
            </a:r>
            <a:endParaRPr lang="en-US" sz="576" dirty="0"/>
          </a:p>
        </p:txBody>
      </p:sp>
      <p:sp>
        <p:nvSpPr>
          <p:cNvPr id="51" name="Text 48"/>
          <p:cNvSpPr/>
          <p:nvPr/>
        </p:nvSpPr>
        <p:spPr>
          <a:xfrm>
            <a:off x="2329400" y="39536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576" dirty="0"/>
          </a:p>
        </p:txBody>
      </p:sp>
      <p:sp>
        <p:nvSpPr>
          <p:cNvPr id="52" name="Text 49"/>
          <p:cNvSpPr/>
          <p:nvPr/>
        </p:nvSpPr>
        <p:spPr>
          <a:xfrm>
            <a:off x="5226118" y="395364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576" dirty="0"/>
          </a:p>
        </p:txBody>
      </p:sp>
      <p:sp>
        <p:nvSpPr>
          <p:cNvPr id="53" name="Text 50"/>
          <p:cNvSpPr/>
          <p:nvPr/>
        </p:nvSpPr>
        <p:spPr>
          <a:xfrm>
            <a:off x="9303014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7345377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8324195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7345377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8324195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809188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552" dirty="0"/>
          </a:p>
        </p:txBody>
      </p:sp>
      <p:sp>
        <p:nvSpPr>
          <p:cNvPr id="59" name="Text 56"/>
          <p:cNvSpPr/>
          <p:nvPr/>
        </p:nvSpPr>
        <p:spPr>
          <a:xfrm>
            <a:off x="10988599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552" dirty="0"/>
          </a:p>
        </p:txBody>
      </p:sp>
      <p:sp>
        <p:nvSpPr>
          <p:cNvPr id="60" name="Text 57"/>
          <p:cNvSpPr/>
          <p:nvPr/>
        </p:nvSpPr>
        <p:spPr>
          <a:xfrm>
            <a:off x="809188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81,4 %</a:t>
            </a:r>
            <a:endParaRPr lang="en-US" sz="552" dirty="0"/>
          </a:p>
        </p:txBody>
      </p:sp>
      <p:sp>
        <p:nvSpPr>
          <p:cNvPr id="61" name="Text 58"/>
          <p:cNvSpPr/>
          <p:nvPr/>
        </p:nvSpPr>
        <p:spPr>
          <a:xfrm>
            <a:off x="10988599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81,4 %</a:t>
            </a:r>
            <a:endParaRPr lang="en-US" sz="552" dirty="0"/>
          </a:p>
        </p:txBody>
      </p:sp>
      <p:sp>
        <p:nvSpPr>
          <p:cNvPr id="62" name="Text 59"/>
          <p:cNvSpPr/>
          <p:nvPr/>
        </p:nvSpPr>
        <p:spPr>
          <a:xfrm>
            <a:off x="809188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62,7 %</a:t>
            </a:r>
            <a:endParaRPr lang="en-US" sz="552" dirty="0"/>
          </a:p>
        </p:txBody>
      </p:sp>
      <p:sp>
        <p:nvSpPr>
          <p:cNvPr id="63" name="Text 60"/>
          <p:cNvSpPr/>
          <p:nvPr/>
        </p:nvSpPr>
        <p:spPr>
          <a:xfrm>
            <a:off x="10988599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62,7 %</a:t>
            </a:r>
            <a:endParaRPr lang="en-US" sz="552" dirty="0"/>
          </a:p>
        </p:txBody>
      </p:sp>
      <p:sp>
        <p:nvSpPr>
          <p:cNvPr id="64" name="Text 61"/>
          <p:cNvSpPr/>
          <p:nvPr/>
        </p:nvSpPr>
        <p:spPr>
          <a:xfrm>
            <a:off x="809188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18,7 %</a:t>
            </a:r>
            <a:endParaRPr lang="en-US" sz="552" dirty="0"/>
          </a:p>
        </p:txBody>
      </p:sp>
      <p:sp>
        <p:nvSpPr>
          <p:cNvPr id="65" name="Text 62"/>
          <p:cNvSpPr/>
          <p:nvPr/>
        </p:nvSpPr>
        <p:spPr>
          <a:xfrm>
            <a:off x="10988599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18,7 %</a:t>
            </a:r>
            <a:endParaRPr lang="en-US" sz="552" dirty="0"/>
          </a:p>
        </p:txBody>
      </p:sp>
      <p:sp>
        <p:nvSpPr>
          <p:cNvPr id="66" name="Text 63"/>
          <p:cNvSpPr/>
          <p:nvPr/>
        </p:nvSpPr>
        <p:spPr>
          <a:xfrm>
            <a:off x="533387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1380" dirty="0"/>
          </a:p>
        </p:txBody>
      </p:sp>
      <p:sp>
        <p:nvSpPr>
          <p:cNvPr id="67" name="Text 64"/>
          <p:cNvSpPr/>
          <p:nvPr/>
        </p:nvSpPr>
        <p:spPr>
          <a:xfrm>
            <a:off x="8216595" y="952500"/>
            <a:ext cx="3584207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1380" dirty="0"/>
          </a:p>
        </p:txBody>
      </p:sp>
      <p:sp>
        <p:nvSpPr>
          <p:cNvPr id="68" name="Text 65"/>
          <p:cNvSpPr/>
          <p:nvPr/>
        </p:nvSpPr>
        <p:spPr>
          <a:xfrm>
            <a:off x="495288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495288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95288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495288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72" name="Text 69"/>
          <p:cNvSpPr/>
          <p:nvPr/>
        </p:nvSpPr>
        <p:spPr>
          <a:xfrm>
            <a:off x="495288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73" name="Text 70"/>
          <p:cNvSpPr/>
          <p:nvPr/>
        </p:nvSpPr>
        <p:spPr>
          <a:xfrm>
            <a:off x="5226118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232940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4.120</a:t>
            </a:r>
            <a:endParaRPr lang="en-US" sz="576" dirty="0"/>
          </a:p>
        </p:txBody>
      </p:sp>
      <p:sp>
        <p:nvSpPr>
          <p:cNvPr id="75" name="Text 72"/>
          <p:cNvSpPr/>
          <p:nvPr/>
        </p:nvSpPr>
        <p:spPr>
          <a:xfrm>
            <a:off x="5226118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4.120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232940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2.980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5226118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2.980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232940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1.016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5226118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1.016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504812" y="395364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81" name="Text 78"/>
          <p:cNvSpPr/>
          <p:nvPr/>
        </p:nvSpPr>
        <p:spPr>
          <a:xfrm>
            <a:off x="7345377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6257769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83" name="Text 80"/>
          <p:cNvSpPr/>
          <p:nvPr/>
        </p:nvSpPr>
        <p:spPr>
          <a:xfrm>
            <a:off x="10281832" y="1853380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636" dirty="0"/>
          </a:p>
        </p:txBody>
      </p:sp>
      <p:sp>
        <p:nvSpPr>
          <p:cNvPr id="84" name="Text 81"/>
          <p:cNvSpPr/>
          <p:nvPr/>
        </p:nvSpPr>
        <p:spPr>
          <a:xfrm>
            <a:off x="6257769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85" name="Text 82"/>
          <p:cNvSpPr/>
          <p:nvPr/>
        </p:nvSpPr>
        <p:spPr>
          <a:xfrm>
            <a:off x="6257769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86" name="Text 83"/>
          <p:cNvSpPr/>
          <p:nvPr/>
        </p:nvSpPr>
        <p:spPr>
          <a:xfrm>
            <a:off x="6257769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87" name="Text 84"/>
          <p:cNvSpPr/>
          <p:nvPr/>
        </p:nvSpPr>
        <p:spPr>
          <a:xfrm>
            <a:off x="6257769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88" name="Text 85"/>
          <p:cNvSpPr/>
          <p:nvPr/>
        </p:nvSpPr>
        <p:spPr>
          <a:xfrm>
            <a:off x="10281832" y="2705867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636" dirty="0"/>
          </a:p>
        </p:txBody>
      </p:sp>
      <p:sp>
        <p:nvSpPr>
          <p:cNvPr id="89" name="Text 86"/>
          <p:cNvSpPr/>
          <p:nvPr/>
        </p:nvSpPr>
        <p:spPr>
          <a:xfrm>
            <a:off x="10988599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809188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91" name="Text 88"/>
          <p:cNvSpPr/>
          <p:nvPr/>
        </p:nvSpPr>
        <p:spPr>
          <a:xfrm>
            <a:off x="10988599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92" name="Text 89"/>
          <p:cNvSpPr/>
          <p:nvPr/>
        </p:nvSpPr>
        <p:spPr>
          <a:xfrm>
            <a:off x="809188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9,1 %</a:t>
            </a:r>
            <a:endParaRPr lang="en-US" sz="552" dirty="0"/>
          </a:p>
        </p:txBody>
      </p:sp>
      <p:sp>
        <p:nvSpPr>
          <p:cNvPr id="93" name="Text 90"/>
          <p:cNvSpPr/>
          <p:nvPr/>
        </p:nvSpPr>
        <p:spPr>
          <a:xfrm>
            <a:off x="10988599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9,1 %</a:t>
            </a:r>
            <a:endParaRPr lang="en-US" sz="552" dirty="0"/>
          </a:p>
        </p:txBody>
      </p:sp>
      <p:sp>
        <p:nvSpPr>
          <p:cNvPr id="94" name="Text 91"/>
          <p:cNvSpPr/>
          <p:nvPr/>
        </p:nvSpPr>
        <p:spPr>
          <a:xfrm>
            <a:off x="809188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95" name="Text 92"/>
          <p:cNvSpPr/>
          <p:nvPr/>
        </p:nvSpPr>
        <p:spPr>
          <a:xfrm>
            <a:off x="10988599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96" name="Text 93"/>
          <p:cNvSpPr/>
          <p:nvPr/>
        </p:nvSpPr>
        <p:spPr>
          <a:xfrm>
            <a:off x="809188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10988599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98" name="Text 95"/>
          <p:cNvSpPr/>
          <p:nvPr/>
        </p:nvSpPr>
        <p:spPr>
          <a:xfrm>
            <a:off x="8091881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99" name="Text 96"/>
          <p:cNvSpPr/>
          <p:nvPr/>
        </p:nvSpPr>
        <p:spPr>
          <a:xfrm>
            <a:off x="10988599" y="435369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00" name="Text 97"/>
          <p:cNvSpPr/>
          <p:nvPr/>
        </p:nvSpPr>
        <p:spPr>
          <a:xfrm>
            <a:off x="495288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01" name="Text 98"/>
          <p:cNvSpPr/>
          <p:nvPr/>
        </p:nvSpPr>
        <p:spPr>
          <a:xfrm>
            <a:off x="6257769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02" name="Text 99"/>
          <p:cNvSpPr/>
          <p:nvPr/>
        </p:nvSpPr>
        <p:spPr>
          <a:xfrm>
            <a:off x="495288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232940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04" name="Text 101"/>
          <p:cNvSpPr/>
          <p:nvPr/>
        </p:nvSpPr>
        <p:spPr>
          <a:xfrm>
            <a:off x="281218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329497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377775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4260545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474333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09" name="Text 106"/>
          <p:cNvSpPr/>
          <p:nvPr/>
        </p:nvSpPr>
        <p:spPr>
          <a:xfrm>
            <a:off x="6257769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10" name="Text 107"/>
          <p:cNvSpPr/>
          <p:nvPr/>
        </p:nvSpPr>
        <p:spPr>
          <a:xfrm>
            <a:off x="809188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11" name="Text 108"/>
          <p:cNvSpPr/>
          <p:nvPr/>
        </p:nvSpPr>
        <p:spPr>
          <a:xfrm>
            <a:off x="8574667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9057453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13" name="Text 110"/>
          <p:cNvSpPr/>
          <p:nvPr/>
        </p:nvSpPr>
        <p:spPr>
          <a:xfrm>
            <a:off x="954024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14" name="Text 111"/>
          <p:cNvSpPr/>
          <p:nvPr/>
        </p:nvSpPr>
        <p:spPr>
          <a:xfrm>
            <a:off x="1002302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15" name="Text 112"/>
          <p:cNvSpPr/>
          <p:nvPr/>
        </p:nvSpPr>
        <p:spPr>
          <a:xfrm>
            <a:off x="1050581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16" name="Text 113"/>
          <p:cNvSpPr/>
          <p:nvPr/>
        </p:nvSpPr>
        <p:spPr>
          <a:xfrm>
            <a:off x="9303014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636" dirty="0"/>
          </a:p>
        </p:txBody>
      </p:sp>
      <p:sp>
        <p:nvSpPr>
          <p:cNvPr id="117" name="Text 114"/>
          <p:cNvSpPr/>
          <p:nvPr/>
        </p:nvSpPr>
        <p:spPr>
          <a:xfrm>
            <a:off x="9303014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636" dirty="0"/>
          </a:p>
        </p:txBody>
      </p:sp>
      <p:sp>
        <p:nvSpPr>
          <p:cNvPr id="118" name="Text 115"/>
          <p:cNvSpPr/>
          <p:nvPr/>
        </p:nvSpPr>
        <p:spPr>
          <a:xfrm>
            <a:off x="4374991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13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5288" y="2934444"/>
            <a:ext cx="5601798" cy="435505"/>
          </a:xfrm>
          <a:prstGeom prst="rect">
            <a:avLst/>
          </a:prstGeom>
          <a:noFill/>
          <a:ln/>
        </p:spPr>
        <p:txBody>
          <a:bodyPr wrap="square" lIns="76200" tIns="114300" rIns="114300" bIns="7620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sin descarte: el insumo se fabrica directamente desde Xuma con registros ya validados, por lo que el 100 % de la base recibida es apta para gestión — no existe rechazo en esta campaña.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685783" y="6384131"/>
            <a:ext cx="2584761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Alto porcentaje de contactabilidad = mayor efectividad.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4374991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Alta tasa de efectividad comercial en portafolio</a:t>
            </a:r>
            <a:endParaRPr lang="en-US" sz="648" dirty="0"/>
          </a:p>
        </p:txBody>
      </p:sp>
      <p:sp>
        <p:nvSpPr>
          <p:cNvPr id="6" name="Text 3"/>
          <p:cNvSpPr/>
          <p:nvPr/>
        </p:nvSpPr>
        <p:spPr>
          <a:xfrm>
            <a:off x="685783" y="6530578"/>
            <a:ext cx="2584761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soporte efectiva para Masiva Voluntarios.</a:t>
            </a:r>
            <a:endParaRPr lang="en-US" sz="744" dirty="0"/>
          </a:p>
        </p:txBody>
      </p:sp>
      <p:sp>
        <p:nvSpPr>
          <p:cNvPr id="7" name="Text 4"/>
          <p:cNvSpPr/>
          <p:nvPr/>
        </p:nvSpPr>
        <p:spPr>
          <a:xfrm>
            <a:off x="533387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Excelente respuesta de llamada y atención</a:t>
            </a:r>
            <a:endParaRPr lang="en-US" sz="648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3548030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Microseguro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6267293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cumple requisito de edad (&gt;69 años)</a:t>
            </a:r>
            <a:endParaRPr lang="en-US" sz="552" dirty="0"/>
          </a:p>
        </p:txBody>
      </p:sp>
      <p:sp>
        <p:nvSpPr>
          <p:cNvPr id="10" name="Text 7"/>
          <p:cNvSpPr/>
          <p:nvPr/>
        </p:nvSpPr>
        <p:spPr>
          <a:xfrm>
            <a:off x="6257769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6267293" y="47537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2" name="Text 9"/>
          <p:cNvSpPr/>
          <p:nvPr/>
        </p:nvSpPr>
        <p:spPr>
          <a:xfrm>
            <a:off x="8216595" y="1200894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 estable y altamente rentable</a:t>
            </a:r>
            <a:endParaRPr lang="en-US" sz="648" dirty="0"/>
          </a:p>
        </p:txBody>
      </p:sp>
      <p:sp>
        <p:nvSpPr>
          <p:cNvPr id="13" name="Text 10"/>
          <p:cNvSpPr/>
          <p:nvPr/>
        </p:nvSpPr>
        <p:spPr>
          <a:xfrm>
            <a:off x="6257769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552436" y="5935266"/>
            <a:ext cx="1673304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5" name="Text 12"/>
          <p:cNvSpPr/>
          <p:nvPr/>
        </p:nvSpPr>
        <p:spPr>
          <a:xfrm>
            <a:off x="6267293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16" name="Text 13"/>
          <p:cNvSpPr/>
          <p:nvPr/>
        </p:nvSpPr>
        <p:spPr>
          <a:xfrm>
            <a:off x="6267293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17" name="Text 14"/>
          <p:cNvSpPr/>
          <p:nvPr/>
        </p:nvSpPr>
        <p:spPr>
          <a:xfrm>
            <a:off x="685783" y="6237684"/>
            <a:ext cx="2584761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Mayor oportunidad de venta.</a:t>
            </a:r>
            <a:endParaRPr lang="en-US" sz="744" dirty="0"/>
          </a:p>
        </p:txBody>
      </p:sp>
      <p:sp>
        <p:nvSpPr>
          <p:cNvPr id="18" name="Text 15"/>
          <p:cNvSpPr/>
          <p:nvPr/>
        </p:nvSpPr>
        <p:spPr>
          <a:xfrm>
            <a:off x="6267293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19" name="Text 16"/>
          <p:cNvSpPr/>
          <p:nvPr/>
        </p:nvSpPr>
        <p:spPr>
          <a:xfrm>
            <a:off x="495288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Insumo Recibido por Mes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533387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685783" y="6091238"/>
            <a:ext cx="2584761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Fabricación desde Xuma.</a:t>
            </a:r>
            <a:endParaRPr lang="en-US" sz="744" dirty="0"/>
          </a:p>
        </p:txBody>
      </p:sp>
      <p:sp>
        <p:nvSpPr>
          <p:cNvPr id="22" name="Text 19"/>
          <p:cNvSpPr/>
          <p:nvPr/>
        </p:nvSpPr>
        <p:spPr>
          <a:xfrm>
            <a:off x="6267293" y="44870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2670654" y="1681930"/>
            <a:ext cx="3361171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recibidos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4374991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PROMEDIO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8216595" y="809625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CONSOLIDADAS</a:t>
            </a:r>
            <a:endParaRPr lang="en-US" sz="672" dirty="0"/>
          </a:p>
        </p:txBody>
      </p:sp>
      <p:sp>
        <p:nvSpPr>
          <p:cNvPr id="27" name="Text 24"/>
          <p:cNvSpPr/>
          <p:nvPr/>
        </p:nvSpPr>
        <p:spPr>
          <a:xfrm>
            <a:off x="6267293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28" name="Text 25"/>
          <p:cNvSpPr/>
          <p:nvPr/>
        </p:nvSpPr>
        <p:spPr>
          <a:xfrm>
            <a:off x="6267293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29" name="Text 26"/>
          <p:cNvSpPr/>
          <p:nvPr/>
        </p:nvSpPr>
        <p:spPr>
          <a:xfrm>
            <a:off x="6267293" y="48870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0" name="Text 27"/>
          <p:cNvSpPr/>
          <p:nvPr/>
        </p:nvSpPr>
        <p:spPr>
          <a:xfrm>
            <a:off x="6267293" y="502044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1" name="Text 28"/>
          <p:cNvSpPr/>
          <p:nvPr/>
        </p:nvSpPr>
        <p:spPr>
          <a:xfrm>
            <a:off x="10281832" y="1681930"/>
            <a:ext cx="145701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6267293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33" name="Text 30"/>
          <p:cNvSpPr/>
          <p:nvPr/>
        </p:nvSpPr>
        <p:spPr>
          <a:xfrm>
            <a:off x="6267293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6267293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5" name="Text 32"/>
          <p:cNvSpPr/>
          <p:nvPr/>
        </p:nvSpPr>
        <p:spPr>
          <a:xfrm>
            <a:off x="6267293" y="46203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36" name="Text 33"/>
          <p:cNvSpPr/>
          <p:nvPr/>
        </p:nvSpPr>
        <p:spPr>
          <a:xfrm>
            <a:off x="8324195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495288" y="1991492"/>
            <a:ext cx="224062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38" name="Text 35"/>
          <p:cNvSpPr/>
          <p:nvPr/>
        </p:nvSpPr>
        <p:spPr>
          <a:xfrm>
            <a:off x="6257769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39" name="Text 36"/>
          <p:cNvSpPr/>
          <p:nvPr/>
        </p:nvSpPr>
        <p:spPr>
          <a:xfrm>
            <a:off x="9303014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8324195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87,9 %</a:t>
            </a:r>
            <a:endParaRPr lang="en-US" sz="636" dirty="0"/>
          </a:p>
        </p:txBody>
      </p:sp>
      <p:sp>
        <p:nvSpPr>
          <p:cNvPr id="41" name="Text 38"/>
          <p:cNvSpPr/>
          <p:nvPr/>
        </p:nvSpPr>
        <p:spPr>
          <a:xfrm>
            <a:off x="10281832" y="1853380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22,0 %</a:t>
            </a:r>
            <a:endParaRPr lang="en-US" sz="636" dirty="0"/>
          </a:p>
        </p:txBody>
      </p:sp>
      <p:sp>
        <p:nvSpPr>
          <p:cNvPr id="42" name="Text 39"/>
          <p:cNvSpPr/>
          <p:nvPr/>
        </p:nvSpPr>
        <p:spPr>
          <a:xfrm>
            <a:off x="8324195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85,2 %</a:t>
            </a:r>
            <a:endParaRPr lang="en-US" sz="636" dirty="0"/>
          </a:p>
        </p:txBody>
      </p:sp>
      <p:sp>
        <p:nvSpPr>
          <p:cNvPr id="43" name="Text 40"/>
          <p:cNvSpPr/>
          <p:nvPr/>
        </p:nvSpPr>
        <p:spPr>
          <a:xfrm>
            <a:off x="10281832" y="19914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19,0 %</a:t>
            </a:r>
            <a:endParaRPr lang="en-US" sz="636" dirty="0"/>
          </a:p>
        </p:txBody>
      </p:sp>
      <p:sp>
        <p:nvSpPr>
          <p:cNvPr id="44" name="Text 41"/>
          <p:cNvSpPr/>
          <p:nvPr/>
        </p:nvSpPr>
        <p:spPr>
          <a:xfrm>
            <a:off x="8324195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636" dirty="0"/>
          </a:p>
        </p:txBody>
      </p:sp>
      <p:sp>
        <p:nvSpPr>
          <p:cNvPr id="45" name="Text 42"/>
          <p:cNvSpPr/>
          <p:nvPr/>
        </p:nvSpPr>
        <p:spPr>
          <a:xfrm>
            <a:off x="10281832" y="213436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17,5 %</a:t>
            </a:r>
            <a:endParaRPr lang="en-US" sz="636" dirty="0"/>
          </a:p>
        </p:txBody>
      </p:sp>
      <p:sp>
        <p:nvSpPr>
          <p:cNvPr id="46" name="Text 43"/>
          <p:cNvSpPr/>
          <p:nvPr/>
        </p:nvSpPr>
        <p:spPr>
          <a:xfrm>
            <a:off x="8324195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50,0 %</a:t>
            </a:r>
            <a:endParaRPr lang="en-US" sz="636" dirty="0"/>
          </a:p>
        </p:txBody>
      </p:sp>
      <p:sp>
        <p:nvSpPr>
          <p:cNvPr id="47" name="Text 44"/>
          <p:cNvSpPr/>
          <p:nvPr/>
        </p:nvSpPr>
        <p:spPr>
          <a:xfrm>
            <a:off x="10281832" y="227724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15,6 %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8324195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86,8 %</a:t>
            </a:r>
            <a:endParaRPr lang="en-US" sz="636" dirty="0"/>
          </a:p>
        </p:txBody>
      </p:sp>
      <p:sp>
        <p:nvSpPr>
          <p:cNvPr id="49" name="Text 46"/>
          <p:cNvSpPr/>
          <p:nvPr/>
        </p:nvSpPr>
        <p:spPr>
          <a:xfrm>
            <a:off x="10281832" y="242011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17,8 %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8324195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86,7 %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10281832" y="25629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14,3 %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8324195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10281832" y="2705867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809188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87,9 %</a:t>
            </a:r>
            <a:endParaRPr lang="en-US" sz="552" dirty="0"/>
          </a:p>
        </p:txBody>
      </p:sp>
      <p:sp>
        <p:nvSpPr>
          <p:cNvPr id="55" name="Text 52"/>
          <p:cNvSpPr/>
          <p:nvPr/>
        </p:nvSpPr>
        <p:spPr>
          <a:xfrm>
            <a:off x="8574667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85,2 %</a:t>
            </a:r>
            <a:endParaRPr lang="en-US" sz="552" dirty="0"/>
          </a:p>
        </p:txBody>
      </p:sp>
      <p:sp>
        <p:nvSpPr>
          <p:cNvPr id="56" name="Text 53"/>
          <p:cNvSpPr/>
          <p:nvPr/>
        </p:nvSpPr>
        <p:spPr>
          <a:xfrm>
            <a:off x="9057453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552" dirty="0"/>
          </a:p>
        </p:txBody>
      </p:sp>
      <p:sp>
        <p:nvSpPr>
          <p:cNvPr id="57" name="Text 54"/>
          <p:cNvSpPr/>
          <p:nvPr/>
        </p:nvSpPr>
        <p:spPr>
          <a:xfrm>
            <a:off x="954024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50,0 %</a:t>
            </a:r>
            <a:endParaRPr lang="en-US" sz="552" dirty="0"/>
          </a:p>
        </p:txBody>
      </p:sp>
      <p:sp>
        <p:nvSpPr>
          <p:cNvPr id="58" name="Text 55"/>
          <p:cNvSpPr/>
          <p:nvPr/>
        </p:nvSpPr>
        <p:spPr>
          <a:xfrm>
            <a:off x="1002302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86,8 %</a:t>
            </a:r>
            <a:endParaRPr lang="en-US" sz="552" dirty="0"/>
          </a:p>
        </p:txBody>
      </p:sp>
      <p:sp>
        <p:nvSpPr>
          <p:cNvPr id="59" name="Text 56"/>
          <p:cNvSpPr/>
          <p:nvPr/>
        </p:nvSpPr>
        <p:spPr>
          <a:xfrm>
            <a:off x="1050581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86,7 %</a:t>
            </a:r>
            <a:endParaRPr lang="en-US" sz="552" dirty="0"/>
          </a:p>
        </p:txBody>
      </p:sp>
      <p:sp>
        <p:nvSpPr>
          <p:cNvPr id="60" name="Text 57"/>
          <p:cNvSpPr/>
          <p:nvPr/>
        </p:nvSpPr>
        <p:spPr>
          <a:xfrm>
            <a:off x="10988599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552" dirty="0"/>
          </a:p>
        </p:txBody>
      </p:sp>
      <p:sp>
        <p:nvSpPr>
          <p:cNvPr id="61" name="Text 58"/>
          <p:cNvSpPr/>
          <p:nvPr/>
        </p:nvSpPr>
        <p:spPr>
          <a:xfrm>
            <a:off x="809188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19,3 %</a:t>
            </a:r>
            <a:endParaRPr lang="en-US" sz="552" dirty="0"/>
          </a:p>
        </p:txBody>
      </p:sp>
      <p:sp>
        <p:nvSpPr>
          <p:cNvPr id="62" name="Text 59"/>
          <p:cNvSpPr/>
          <p:nvPr/>
        </p:nvSpPr>
        <p:spPr>
          <a:xfrm>
            <a:off x="8574667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16,1 %</a:t>
            </a:r>
            <a:endParaRPr lang="en-US" sz="552" dirty="0"/>
          </a:p>
        </p:txBody>
      </p:sp>
      <p:sp>
        <p:nvSpPr>
          <p:cNvPr id="63" name="Text 60"/>
          <p:cNvSpPr/>
          <p:nvPr/>
        </p:nvSpPr>
        <p:spPr>
          <a:xfrm>
            <a:off x="9057453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13,8 %</a:t>
            </a:r>
            <a:endParaRPr lang="en-US" sz="552" dirty="0"/>
          </a:p>
        </p:txBody>
      </p:sp>
      <p:sp>
        <p:nvSpPr>
          <p:cNvPr id="64" name="Text 61"/>
          <p:cNvSpPr/>
          <p:nvPr/>
        </p:nvSpPr>
        <p:spPr>
          <a:xfrm>
            <a:off x="1002302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15,4 %</a:t>
            </a:r>
            <a:endParaRPr lang="en-US" sz="552" dirty="0"/>
          </a:p>
        </p:txBody>
      </p:sp>
      <p:sp>
        <p:nvSpPr>
          <p:cNvPr id="65" name="Text 62"/>
          <p:cNvSpPr/>
          <p:nvPr/>
        </p:nvSpPr>
        <p:spPr>
          <a:xfrm>
            <a:off x="1050581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12,4 %</a:t>
            </a:r>
            <a:endParaRPr lang="en-US" sz="552" dirty="0"/>
          </a:p>
        </p:txBody>
      </p:sp>
      <p:sp>
        <p:nvSpPr>
          <p:cNvPr id="66" name="Text 63"/>
          <p:cNvSpPr/>
          <p:nvPr/>
        </p:nvSpPr>
        <p:spPr>
          <a:xfrm>
            <a:off x="10988599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14,0 %</a:t>
            </a:r>
            <a:endParaRPr lang="en-US" sz="552" dirty="0"/>
          </a:p>
        </p:txBody>
      </p:sp>
      <p:sp>
        <p:nvSpPr>
          <p:cNvPr id="67" name="Text 64"/>
          <p:cNvSpPr/>
          <p:nvPr/>
        </p:nvSpPr>
        <p:spPr>
          <a:xfrm>
            <a:off x="809188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29,5 %</a:t>
            </a:r>
            <a:endParaRPr lang="en-US" sz="552" dirty="0"/>
          </a:p>
        </p:txBody>
      </p:sp>
      <p:sp>
        <p:nvSpPr>
          <p:cNvPr id="68" name="Text 65"/>
          <p:cNvSpPr/>
          <p:nvPr/>
        </p:nvSpPr>
        <p:spPr>
          <a:xfrm>
            <a:off x="8574667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28,6 %</a:t>
            </a:r>
            <a:endParaRPr lang="en-US" sz="552" dirty="0"/>
          </a:p>
        </p:txBody>
      </p:sp>
      <p:sp>
        <p:nvSpPr>
          <p:cNvPr id="69" name="Text 66"/>
          <p:cNvSpPr/>
          <p:nvPr/>
        </p:nvSpPr>
        <p:spPr>
          <a:xfrm>
            <a:off x="9057453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26,4 %</a:t>
            </a:r>
            <a:endParaRPr lang="en-US" sz="552" dirty="0"/>
          </a:p>
        </p:txBody>
      </p:sp>
      <p:sp>
        <p:nvSpPr>
          <p:cNvPr id="70" name="Text 67"/>
          <p:cNvSpPr/>
          <p:nvPr/>
        </p:nvSpPr>
        <p:spPr>
          <a:xfrm>
            <a:off x="954024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16,8 %</a:t>
            </a:r>
            <a:endParaRPr lang="en-US" sz="552" dirty="0"/>
          </a:p>
        </p:txBody>
      </p:sp>
      <p:sp>
        <p:nvSpPr>
          <p:cNvPr id="71" name="Text 68"/>
          <p:cNvSpPr/>
          <p:nvPr/>
        </p:nvSpPr>
        <p:spPr>
          <a:xfrm>
            <a:off x="1002302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29,1 %</a:t>
            </a:r>
            <a:endParaRPr lang="en-US" sz="552" dirty="0"/>
          </a:p>
        </p:txBody>
      </p:sp>
      <p:sp>
        <p:nvSpPr>
          <p:cNvPr id="72" name="Text 69"/>
          <p:cNvSpPr/>
          <p:nvPr/>
        </p:nvSpPr>
        <p:spPr>
          <a:xfrm>
            <a:off x="1050581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29,1 %</a:t>
            </a:r>
            <a:endParaRPr lang="en-US" sz="552" dirty="0"/>
          </a:p>
        </p:txBody>
      </p:sp>
      <p:sp>
        <p:nvSpPr>
          <p:cNvPr id="73" name="Text 70"/>
          <p:cNvSpPr/>
          <p:nvPr/>
        </p:nvSpPr>
        <p:spPr>
          <a:xfrm>
            <a:off x="10988599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26,4 %</a:t>
            </a:r>
            <a:endParaRPr lang="en-US" sz="552" dirty="0"/>
          </a:p>
        </p:txBody>
      </p:sp>
      <p:sp>
        <p:nvSpPr>
          <p:cNvPr id="74" name="Text 71"/>
          <p:cNvSpPr/>
          <p:nvPr/>
        </p:nvSpPr>
        <p:spPr>
          <a:xfrm>
            <a:off x="809188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11,2 %</a:t>
            </a:r>
            <a:endParaRPr lang="en-US" sz="552" dirty="0"/>
          </a:p>
        </p:txBody>
      </p:sp>
      <p:sp>
        <p:nvSpPr>
          <p:cNvPr id="75" name="Text 72"/>
          <p:cNvSpPr/>
          <p:nvPr/>
        </p:nvSpPr>
        <p:spPr>
          <a:xfrm>
            <a:off x="8574667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10,8 %</a:t>
            </a:r>
            <a:endParaRPr lang="en-US" sz="552" dirty="0"/>
          </a:p>
        </p:txBody>
      </p:sp>
      <p:sp>
        <p:nvSpPr>
          <p:cNvPr id="76" name="Text 73"/>
          <p:cNvSpPr/>
          <p:nvPr/>
        </p:nvSpPr>
        <p:spPr>
          <a:xfrm>
            <a:off x="9057453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77" name="Text 74"/>
          <p:cNvSpPr/>
          <p:nvPr/>
        </p:nvSpPr>
        <p:spPr>
          <a:xfrm>
            <a:off x="1002302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78" name="Text 75"/>
          <p:cNvSpPr/>
          <p:nvPr/>
        </p:nvSpPr>
        <p:spPr>
          <a:xfrm>
            <a:off x="1050581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79" name="Text 76"/>
          <p:cNvSpPr/>
          <p:nvPr/>
        </p:nvSpPr>
        <p:spPr>
          <a:xfrm>
            <a:off x="10988599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80" name="Text 77"/>
          <p:cNvSpPr/>
          <p:nvPr/>
        </p:nvSpPr>
        <p:spPr>
          <a:xfrm>
            <a:off x="809188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12,3 %</a:t>
            </a:r>
            <a:endParaRPr lang="en-US" sz="552" dirty="0"/>
          </a:p>
        </p:txBody>
      </p:sp>
      <p:sp>
        <p:nvSpPr>
          <p:cNvPr id="81" name="Text 78"/>
          <p:cNvSpPr/>
          <p:nvPr/>
        </p:nvSpPr>
        <p:spPr>
          <a:xfrm>
            <a:off x="8574667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11,9 %</a:t>
            </a:r>
            <a:endParaRPr lang="en-US" sz="552" dirty="0"/>
          </a:p>
        </p:txBody>
      </p:sp>
      <p:sp>
        <p:nvSpPr>
          <p:cNvPr id="82" name="Text 79"/>
          <p:cNvSpPr/>
          <p:nvPr/>
        </p:nvSpPr>
        <p:spPr>
          <a:xfrm>
            <a:off x="9057453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83" name="Text 80"/>
          <p:cNvSpPr/>
          <p:nvPr/>
        </p:nvSpPr>
        <p:spPr>
          <a:xfrm>
            <a:off x="1002302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84" name="Text 81"/>
          <p:cNvSpPr/>
          <p:nvPr/>
        </p:nvSpPr>
        <p:spPr>
          <a:xfrm>
            <a:off x="1050581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85" name="Text 82"/>
          <p:cNvSpPr/>
          <p:nvPr/>
        </p:nvSpPr>
        <p:spPr>
          <a:xfrm>
            <a:off x="10988599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86" name="Text 83"/>
          <p:cNvSpPr/>
          <p:nvPr/>
        </p:nvSpPr>
        <p:spPr>
          <a:xfrm>
            <a:off x="8091881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87" name="Text 84"/>
          <p:cNvSpPr/>
          <p:nvPr/>
        </p:nvSpPr>
        <p:spPr>
          <a:xfrm>
            <a:off x="8574667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14,8 %</a:t>
            </a:r>
            <a:endParaRPr lang="en-US" sz="552" dirty="0"/>
          </a:p>
        </p:txBody>
      </p:sp>
      <p:sp>
        <p:nvSpPr>
          <p:cNvPr id="88" name="Text 85"/>
          <p:cNvSpPr/>
          <p:nvPr/>
        </p:nvSpPr>
        <p:spPr>
          <a:xfrm>
            <a:off x="9057453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21,1 %</a:t>
            </a:r>
            <a:endParaRPr lang="en-US" sz="552" dirty="0"/>
          </a:p>
        </p:txBody>
      </p:sp>
      <p:sp>
        <p:nvSpPr>
          <p:cNvPr id="89" name="Text 86"/>
          <p:cNvSpPr/>
          <p:nvPr/>
        </p:nvSpPr>
        <p:spPr>
          <a:xfrm>
            <a:off x="9540240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50,0 %</a:t>
            </a:r>
            <a:endParaRPr lang="en-US" sz="552" dirty="0"/>
          </a:p>
        </p:txBody>
      </p:sp>
      <p:sp>
        <p:nvSpPr>
          <p:cNvPr id="90" name="Text 87"/>
          <p:cNvSpPr/>
          <p:nvPr/>
        </p:nvSpPr>
        <p:spPr>
          <a:xfrm>
            <a:off x="10023026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13,2 %</a:t>
            </a:r>
            <a:endParaRPr lang="en-US" sz="552" dirty="0"/>
          </a:p>
        </p:txBody>
      </p:sp>
      <p:sp>
        <p:nvSpPr>
          <p:cNvPr id="91" name="Text 88"/>
          <p:cNvSpPr/>
          <p:nvPr/>
        </p:nvSpPr>
        <p:spPr>
          <a:xfrm>
            <a:off x="10505812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13,3 %</a:t>
            </a:r>
            <a:endParaRPr lang="en-US" sz="552" dirty="0"/>
          </a:p>
        </p:txBody>
      </p:sp>
      <p:sp>
        <p:nvSpPr>
          <p:cNvPr id="92" name="Text 89"/>
          <p:cNvSpPr/>
          <p:nvPr/>
        </p:nvSpPr>
        <p:spPr>
          <a:xfrm>
            <a:off x="10988599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21,1 %</a:t>
            </a:r>
            <a:endParaRPr lang="en-US" sz="552" dirty="0"/>
          </a:p>
        </p:txBody>
      </p:sp>
      <p:sp>
        <p:nvSpPr>
          <p:cNvPr id="93" name="Text 90"/>
          <p:cNvSpPr/>
          <p:nvPr/>
        </p:nvSpPr>
        <p:spPr>
          <a:xfrm>
            <a:off x="9057453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13,3 %</a:t>
            </a:r>
            <a:endParaRPr lang="en-US" sz="552" dirty="0"/>
          </a:p>
        </p:txBody>
      </p:sp>
      <p:sp>
        <p:nvSpPr>
          <p:cNvPr id="94" name="Text 91"/>
          <p:cNvSpPr/>
          <p:nvPr/>
        </p:nvSpPr>
        <p:spPr>
          <a:xfrm>
            <a:off x="9540240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31,5 %</a:t>
            </a:r>
            <a:endParaRPr lang="en-US" sz="552" dirty="0"/>
          </a:p>
        </p:txBody>
      </p:sp>
      <p:sp>
        <p:nvSpPr>
          <p:cNvPr id="95" name="Text 92"/>
          <p:cNvSpPr/>
          <p:nvPr/>
        </p:nvSpPr>
        <p:spPr>
          <a:xfrm>
            <a:off x="10988599" y="44870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13,3 %</a:t>
            </a:r>
            <a:endParaRPr lang="en-US" sz="552" dirty="0"/>
          </a:p>
        </p:txBody>
      </p:sp>
      <p:sp>
        <p:nvSpPr>
          <p:cNvPr id="96" name="Text 93"/>
          <p:cNvSpPr/>
          <p:nvPr/>
        </p:nvSpPr>
        <p:spPr>
          <a:xfrm>
            <a:off x="9540240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14,0 %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533387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1380" dirty="0"/>
          </a:p>
        </p:txBody>
      </p:sp>
      <p:sp>
        <p:nvSpPr>
          <p:cNvPr id="98" name="Text 95"/>
          <p:cNvSpPr/>
          <p:nvPr/>
        </p:nvSpPr>
        <p:spPr>
          <a:xfrm>
            <a:off x="4374991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1380" dirty="0"/>
          </a:p>
        </p:txBody>
      </p:sp>
      <p:sp>
        <p:nvSpPr>
          <p:cNvPr id="99" name="Text 96"/>
          <p:cNvSpPr/>
          <p:nvPr/>
        </p:nvSpPr>
        <p:spPr>
          <a:xfrm>
            <a:off x="495288" y="1853380"/>
            <a:ext cx="224062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00" name="Text 97"/>
          <p:cNvSpPr/>
          <p:nvPr/>
        </p:nvSpPr>
        <p:spPr>
          <a:xfrm>
            <a:off x="2670654" y="1853380"/>
            <a:ext cx="3361171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1.368</a:t>
            </a:r>
            <a:endParaRPr lang="en-US" sz="636" dirty="0"/>
          </a:p>
        </p:txBody>
      </p:sp>
      <p:sp>
        <p:nvSpPr>
          <p:cNvPr id="101" name="Text 98"/>
          <p:cNvSpPr/>
          <p:nvPr/>
        </p:nvSpPr>
        <p:spPr>
          <a:xfrm>
            <a:off x="2670654" y="1991492"/>
            <a:ext cx="3361171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1.575</a:t>
            </a:r>
            <a:endParaRPr lang="en-US" sz="636" dirty="0"/>
          </a:p>
        </p:txBody>
      </p:sp>
      <p:sp>
        <p:nvSpPr>
          <p:cNvPr id="102" name="Text 99"/>
          <p:cNvSpPr/>
          <p:nvPr/>
        </p:nvSpPr>
        <p:spPr>
          <a:xfrm>
            <a:off x="495288" y="2134367"/>
            <a:ext cx="224062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03" name="Text 100"/>
          <p:cNvSpPr/>
          <p:nvPr/>
        </p:nvSpPr>
        <p:spPr>
          <a:xfrm>
            <a:off x="2670654" y="2134367"/>
            <a:ext cx="3361171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1.147</a:t>
            </a:r>
            <a:endParaRPr lang="en-US" sz="636" dirty="0"/>
          </a:p>
        </p:txBody>
      </p:sp>
      <p:sp>
        <p:nvSpPr>
          <p:cNvPr id="104" name="Text 101"/>
          <p:cNvSpPr/>
          <p:nvPr/>
        </p:nvSpPr>
        <p:spPr>
          <a:xfrm>
            <a:off x="495288" y="2277242"/>
            <a:ext cx="224062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05" name="Text 102"/>
          <p:cNvSpPr/>
          <p:nvPr/>
        </p:nvSpPr>
        <p:spPr>
          <a:xfrm>
            <a:off x="2670654" y="2277242"/>
            <a:ext cx="3361171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1.737</a:t>
            </a:r>
            <a:endParaRPr lang="en-US" sz="636" dirty="0"/>
          </a:p>
        </p:txBody>
      </p:sp>
      <p:sp>
        <p:nvSpPr>
          <p:cNvPr id="106" name="Text 103"/>
          <p:cNvSpPr/>
          <p:nvPr/>
        </p:nvSpPr>
        <p:spPr>
          <a:xfrm>
            <a:off x="2670654" y="2420117"/>
            <a:ext cx="3361171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1.865</a:t>
            </a:r>
            <a:endParaRPr lang="en-US" sz="636" dirty="0"/>
          </a:p>
        </p:txBody>
      </p:sp>
      <p:sp>
        <p:nvSpPr>
          <p:cNvPr id="107" name="Text 104"/>
          <p:cNvSpPr/>
          <p:nvPr/>
        </p:nvSpPr>
        <p:spPr>
          <a:xfrm>
            <a:off x="495288" y="2562992"/>
            <a:ext cx="224062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08" name="Text 105"/>
          <p:cNvSpPr/>
          <p:nvPr/>
        </p:nvSpPr>
        <p:spPr>
          <a:xfrm>
            <a:off x="2670654" y="2562992"/>
            <a:ext cx="3361171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1.705</a:t>
            </a:r>
            <a:endParaRPr lang="en-US" sz="636" dirty="0"/>
          </a:p>
        </p:txBody>
      </p:sp>
      <p:sp>
        <p:nvSpPr>
          <p:cNvPr id="109" name="Text 106"/>
          <p:cNvSpPr/>
          <p:nvPr/>
        </p:nvSpPr>
        <p:spPr>
          <a:xfrm>
            <a:off x="495288" y="2705867"/>
            <a:ext cx="224062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10" name="Text 107"/>
          <p:cNvSpPr/>
          <p:nvPr/>
        </p:nvSpPr>
        <p:spPr>
          <a:xfrm>
            <a:off x="2670654" y="2705867"/>
            <a:ext cx="3361171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9.397</a:t>
            </a:r>
            <a:endParaRPr lang="en-US" sz="636" dirty="0"/>
          </a:p>
        </p:txBody>
      </p:sp>
      <p:sp>
        <p:nvSpPr>
          <p:cNvPr id="111" name="Text 108"/>
          <p:cNvSpPr/>
          <p:nvPr/>
        </p:nvSpPr>
        <p:spPr>
          <a:xfrm>
            <a:off x="7345377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6257769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13" name="Text 110"/>
          <p:cNvSpPr/>
          <p:nvPr/>
        </p:nvSpPr>
        <p:spPr>
          <a:xfrm>
            <a:off x="7345377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1.368</a:t>
            </a:r>
            <a:endParaRPr lang="en-US" sz="636" dirty="0"/>
          </a:p>
        </p:txBody>
      </p:sp>
      <p:sp>
        <p:nvSpPr>
          <p:cNvPr id="114" name="Text 111"/>
          <p:cNvSpPr/>
          <p:nvPr/>
        </p:nvSpPr>
        <p:spPr>
          <a:xfrm>
            <a:off x="7345377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1.575</a:t>
            </a:r>
            <a:endParaRPr lang="en-US" sz="636" dirty="0"/>
          </a:p>
        </p:txBody>
      </p:sp>
      <p:sp>
        <p:nvSpPr>
          <p:cNvPr id="115" name="Text 112"/>
          <p:cNvSpPr/>
          <p:nvPr/>
        </p:nvSpPr>
        <p:spPr>
          <a:xfrm>
            <a:off x="6257769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16" name="Text 113"/>
          <p:cNvSpPr/>
          <p:nvPr/>
        </p:nvSpPr>
        <p:spPr>
          <a:xfrm>
            <a:off x="7345377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1.147</a:t>
            </a:r>
            <a:endParaRPr lang="en-US" sz="636" dirty="0"/>
          </a:p>
        </p:txBody>
      </p:sp>
      <p:sp>
        <p:nvSpPr>
          <p:cNvPr id="117" name="Text 114"/>
          <p:cNvSpPr/>
          <p:nvPr/>
        </p:nvSpPr>
        <p:spPr>
          <a:xfrm>
            <a:off x="6257769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18" name="Text 115"/>
          <p:cNvSpPr/>
          <p:nvPr/>
        </p:nvSpPr>
        <p:spPr>
          <a:xfrm>
            <a:off x="7345377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1.737</a:t>
            </a:r>
            <a:endParaRPr lang="en-US" sz="636" dirty="0"/>
          </a:p>
        </p:txBody>
      </p:sp>
      <p:sp>
        <p:nvSpPr>
          <p:cNvPr id="119" name="Text 116"/>
          <p:cNvSpPr/>
          <p:nvPr/>
        </p:nvSpPr>
        <p:spPr>
          <a:xfrm>
            <a:off x="7345377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1.865</a:t>
            </a:r>
            <a:endParaRPr lang="en-US" sz="636" dirty="0"/>
          </a:p>
        </p:txBody>
      </p:sp>
      <p:sp>
        <p:nvSpPr>
          <p:cNvPr id="120" name="Text 117"/>
          <p:cNvSpPr/>
          <p:nvPr/>
        </p:nvSpPr>
        <p:spPr>
          <a:xfrm>
            <a:off x="6257769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21" name="Text 118"/>
          <p:cNvSpPr/>
          <p:nvPr/>
        </p:nvSpPr>
        <p:spPr>
          <a:xfrm>
            <a:off x="7345377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1.705</a:t>
            </a:r>
            <a:endParaRPr lang="en-US" sz="636" dirty="0"/>
          </a:p>
        </p:txBody>
      </p:sp>
      <p:sp>
        <p:nvSpPr>
          <p:cNvPr id="122" name="Text 119"/>
          <p:cNvSpPr/>
          <p:nvPr/>
        </p:nvSpPr>
        <p:spPr>
          <a:xfrm>
            <a:off x="6257769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23" name="Text 120"/>
          <p:cNvSpPr/>
          <p:nvPr/>
        </p:nvSpPr>
        <p:spPr>
          <a:xfrm>
            <a:off x="7345377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9.397</a:t>
            </a:r>
            <a:endParaRPr lang="en-US" sz="636" dirty="0"/>
          </a:p>
        </p:txBody>
      </p:sp>
      <p:sp>
        <p:nvSpPr>
          <p:cNvPr id="124" name="Text 121"/>
          <p:cNvSpPr/>
          <p:nvPr/>
        </p:nvSpPr>
        <p:spPr>
          <a:xfrm>
            <a:off x="9303014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1.309</a:t>
            </a:r>
            <a:endParaRPr lang="en-US" sz="636" dirty="0"/>
          </a:p>
        </p:txBody>
      </p:sp>
      <p:sp>
        <p:nvSpPr>
          <p:cNvPr id="125" name="Text 122"/>
          <p:cNvSpPr/>
          <p:nvPr/>
        </p:nvSpPr>
        <p:spPr>
          <a:xfrm>
            <a:off x="10988599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26" name="Text 123"/>
          <p:cNvSpPr/>
          <p:nvPr/>
        </p:nvSpPr>
        <p:spPr>
          <a:xfrm>
            <a:off x="954024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7,8 %</a:t>
            </a:r>
            <a:endParaRPr lang="en-US" sz="552" dirty="0"/>
          </a:p>
        </p:txBody>
      </p:sp>
      <p:sp>
        <p:nvSpPr>
          <p:cNvPr id="127" name="Text 124"/>
          <p:cNvSpPr/>
          <p:nvPr/>
        </p:nvSpPr>
        <p:spPr>
          <a:xfrm>
            <a:off x="954024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6,3 %</a:t>
            </a:r>
            <a:endParaRPr lang="en-US" sz="552" dirty="0"/>
          </a:p>
        </p:txBody>
      </p:sp>
      <p:sp>
        <p:nvSpPr>
          <p:cNvPr id="128" name="Text 125"/>
          <p:cNvSpPr/>
          <p:nvPr/>
        </p:nvSpPr>
        <p:spPr>
          <a:xfrm>
            <a:off x="809188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8,9 %</a:t>
            </a:r>
            <a:endParaRPr lang="en-US" sz="552" dirty="0"/>
          </a:p>
        </p:txBody>
      </p:sp>
      <p:sp>
        <p:nvSpPr>
          <p:cNvPr id="129" name="Text 126"/>
          <p:cNvSpPr/>
          <p:nvPr/>
        </p:nvSpPr>
        <p:spPr>
          <a:xfrm>
            <a:off x="8574667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8,6 %</a:t>
            </a:r>
            <a:endParaRPr lang="en-US" sz="552" dirty="0"/>
          </a:p>
        </p:txBody>
      </p:sp>
      <p:sp>
        <p:nvSpPr>
          <p:cNvPr id="130" name="Text 127"/>
          <p:cNvSpPr/>
          <p:nvPr/>
        </p:nvSpPr>
        <p:spPr>
          <a:xfrm>
            <a:off x="9057453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8,0 %</a:t>
            </a:r>
            <a:endParaRPr lang="en-US" sz="552" dirty="0"/>
          </a:p>
        </p:txBody>
      </p:sp>
      <p:sp>
        <p:nvSpPr>
          <p:cNvPr id="131" name="Text 128"/>
          <p:cNvSpPr/>
          <p:nvPr/>
        </p:nvSpPr>
        <p:spPr>
          <a:xfrm>
            <a:off x="954024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132" name="Text 129"/>
          <p:cNvSpPr/>
          <p:nvPr/>
        </p:nvSpPr>
        <p:spPr>
          <a:xfrm>
            <a:off x="1002302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8,8 %</a:t>
            </a:r>
            <a:endParaRPr lang="en-US" sz="552" dirty="0"/>
          </a:p>
        </p:txBody>
      </p:sp>
      <p:sp>
        <p:nvSpPr>
          <p:cNvPr id="133" name="Text 130"/>
          <p:cNvSpPr/>
          <p:nvPr/>
        </p:nvSpPr>
        <p:spPr>
          <a:xfrm>
            <a:off x="1050581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8,7 %</a:t>
            </a:r>
            <a:endParaRPr lang="en-US" sz="552" dirty="0"/>
          </a:p>
        </p:txBody>
      </p:sp>
      <p:sp>
        <p:nvSpPr>
          <p:cNvPr id="134" name="Text 131"/>
          <p:cNvSpPr/>
          <p:nvPr/>
        </p:nvSpPr>
        <p:spPr>
          <a:xfrm>
            <a:off x="10988599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8,0 %</a:t>
            </a:r>
            <a:endParaRPr lang="en-US" sz="552" dirty="0"/>
          </a:p>
        </p:txBody>
      </p:sp>
      <p:sp>
        <p:nvSpPr>
          <p:cNvPr id="135" name="Text 132"/>
          <p:cNvSpPr/>
          <p:nvPr/>
        </p:nvSpPr>
        <p:spPr>
          <a:xfrm>
            <a:off x="809188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136" name="Text 133"/>
          <p:cNvSpPr/>
          <p:nvPr/>
        </p:nvSpPr>
        <p:spPr>
          <a:xfrm>
            <a:off x="8574667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137" name="Text 134"/>
          <p:cNvSpPr/>
          <p:nvPr/>
        </p:nvSpPr>
        <p:spPr>
          <a:xfrm>
            <a:off x="9057453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138" name="Text 135"/>
          <p:cNvSpPr/>
          <p:nvPr/>
        </p:nvSpPr>
        <p:spPr>
          <a:xfrm>
            <a:off x="9540240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3,4 %</a:t>
            </a:r>
            <a:endParaRPr lang="en-US" sz="552" dirty="0"/>
          </a:p>
        </p:txBody>
      </p:sp>
      <p:sp>
        <p:nvSpPr>
          <p:cNvPr id="139" name="Text 136"/>
          <p:cNvSpPr/>
          <p:nvPr/>
        </p:nvSpPr>
        <p:spPr>
          <a:xfrm>
            <a:off x="1002302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40" name="Text 137"/>
          <p:cNvSpPr/>
          <p:nvPr/>
        </p:nvSpPr>
        <p:spPr>
          <a:xfrm>
            <a:off x="1050581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41" name="Text 138"/>
          <p:cNvSpPr/>
          <p:nvPr/>
        </p:nvSpPr>
        <p:spPr>
          <a:xfrm>
            <a:off x="10988599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142" name="Text 139"/>
          <p:cNvSpPr/>
          <p:nvPr/>
        </p:nvSpPr>
        <p:spPr>
          <a:xfrm>
            <a:off x="809188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4,6 %</a:t>
            </a:r>
            <a:endParaRPr lang="en-US" sz="552" dirty="0"/>
          </a:p>
        </p:txBody>
      </p:sp>
      <p:sp>
        <p:nvSpPr>
          <p:cNvPr id="143" name="Text 140"/>
          <p:cNvSpPr/>
          <p:nvPr/>
        </p:nvSpPr>
        <p:spPr>
          <a:xfrm>
            <a:off x="8574667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144" name="Text 141"/>
          <p:cNvSpPr/>
          <p:nvPr/>
        </p:nvSpPr>
        <p:spPr>
          <a:xfrm>
            <a:off x="9057453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145" name="Text 142"/>
          <p:cNvSpPr/>
          <p:nvPr/>
        </p:nvSpPr>
        <p:spPr>
          <a:xfrm>
            <a:off x="9540240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146" name="Text 143"/>
          <p:cNvSpPr/>
          <p:nvPr/>
        </p:nvSpPr>
        <p:spPr>
          <a:xfrm>
            <a:off x="1002302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147" name="Text 144"/>
          <p:cNvSpPr/>
          <p:nvPr/>
        </p:nvSpPr>
        <p:spPr>
          <a:xfrm>
            <a:off x="1050581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148" name="Text 145"/>
          <p:cNvSpPr/>
          <p:nvPr/>
        </p:nvSpPr>
        <p:spPr>
          <a:xfrm>
            <a:off x="10988599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149" name="Text 146"/>
          <p:cNvSpPr/>
          <p:nvPr/>
        </p:nvSpPr>
        <p:spPr>
          <a:xfrm>
            <a:off x="9540240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7,0 %</a:t>
            </a:r>
            <a:endParaRPr lang="en-US" sz="552" dirty="0"/>
          </a:p>
        </p:txBody>
      </p:sp>
      <p:sp>
        <p:nvSpPr>
          <p:cNvPr id="150" name="Text 147"/>
          <p:cNvSpPr/>
          <p:nvPr/>
        </p:nvSpPr>
        <p:spPr>
          <a:xfrm>
            <a:off x="8091881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7,6 %</a:t>
            </a:r>
            <a:endParaRPr lang="en-US" sz="552" dirty="0"/>
          </a:p>
        </p:txBody>
      </p:sp>
      <p:sp>
        <p:nvSpPr>
          <p:cNvPr id="151" name="Text 148"/>
          <p:cNvSpPr/>
          <p:nvPr/>
        </p:nvSpPr>
        <p:spPr>
          <a:xfrm>
            <a:off x="8574667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9,3 %</a:t>
            </a:r>
            <a:endParaRPr lang="en-US" sz="552" dirty="0"/>
          </a:p>
        </p:txBody>
      </p:sp>
      <p:sp>
        <p:nvSpPr>
          <p:cNvPr id="152" name="Text 149"/>
          <p:cNvSpPr/>
          <p:nvPr/>
        </p:nvSpPr>
        <p:spPr>
          <a:xfrm>
            <a:off x="10023026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8,3 %</a:t>
            </a:r>
            <a:endParaRPr lang="en-US" sz="552" dirty="0"/>
          </a:p>
        </p:txBody>
      </p:sp>
      <p:sp>
        <p:nvSpPr>
          <p:cNvPr id="153" name="Text 150"/>
          <p:cNvSpPr/>
          <p:nvPr/>
        </p:nvSpPr>
        <p:spPr>
          <a:xfrm>
            <a:off x="10505812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8,4 %</a:t>
            </a:r>
            <a:endParaRPr lang="en-US" sz="552" dirty="0"/>
          </a:p>
        </p:txBody>
      </p:sp>
      <p:sp>
        <p:nvSpPr>
          <p:cNvPr id="154" name="Text 151"/>
          <p:cNvSpPr/>
          <p:nvPr/>
        </p:nvSpPr>
        <p:spPr>
          <a:xfrm>
            <a:off x="8091881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3,4 %</a:t>
            </a:r>
            <a:endParaRPr lang="en-US" sz="552" dirty="0"/>
          </a:p>
        </p:txBody>
      </p:sp>
      <p:sp>
        <p:nvSpPr>
          <p:cNvPr id="155" name="Text 152"/>
          <p:cNvSpPr/>
          <p:nvPr/>
        </p:nvSpPr>
        <p:spPr>
          <a:xfrm>
            <a:off x="8574667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4,2 %</a:t>
            </a:r>
            <a:endParaRPr lang="en-US" sz="552" dirty="0"/>
          </a:p>
        </p:txBody>
      </p:sp>
      <p:sp>
        <p:nvSpPr>
          <p:cNvPr id="156" name="Text 153"/>
          <p:cNvSpPr/>
          <p:nvPr/>
        </p:nvSpPr>
        <p:spPr>
          <a:xfrm>
            <a:off x="9057453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57" name="Text 154"/>
          <p:cNvSpPr/>
          <p:nvPr/>
        </p:nvSpPr>
        <p:spPr>
          <a:xfrm>
            <a:off x="10023026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3,7 %</a:t>
            </a:r>
            <a:endParaRPr lang="en-US" sz="552" dirty="0"/>
          </a:p>
        </p:txBody>
      </p:sp>
      <p:sp>
        <p:nvSpPr>
          <p:cNvPr id="158" name="Text 155"/>
          <p:cNvSpPr/>
          <p:nvPr/>
        </p:nvSpPr>
        <p:spPr>
          <a:xfrm>
            <a:off x="10505812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3,7 %</a:t>
            </a:r>
            <a:endParaRPr lang="en-US" sz="552" dirty="0"/>
          </a:p>
        </p:txBody>
      </p:sp>
      <p:sp>
        <p:nvSpPr>
          <p:cNvPr id="159" name="Text 156"/>
          <p:cNvSpPr/>
          <p:nvPr/>
        </p:nvSpPr>
        <p:spPr>
          <a:xfrm>
            <a:off x="10988599" y="46203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60" name="Text 157"/>
          <p:cNvSpPr/>
          <p:nvPr/>
        </p:nvSpPr>
        <p:spPr>
          <a:xfrm>
            <a:off x="8091881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1,0 %</a:t>
            </a:r>
            <a:endParaRPr lang="en-US" sz="552" dirty="0"/>
          </a:p>
        </p:txBody>
      </p:sp>
      <p:sp>
        <p:nvSpPr>
          <p:cNvPr id="161" name="Text 158"/>
          <p:cNvSpPr/>
          <p:nvPr/>
        </p:nvSpPr>
        <p:spPr>
          <a:xfrm>
            <a:off x="8574667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552" dirty="0"/>
          </a:p>
        </p:txBody>
      </p:sp>
      <p:sp>
        <p:nvSpPr>
          <p:cNvPr id="162" name="Text 159"/>
          <p:cNvSpPr/>
          <p:nvPr/>
        </p:nvSpPr>
        <p:spPr>
          <a:xfrm>
            <a:off x="9057453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1,7 %</a:t>
            </a:r>
            <a:endParaRPr lang="en-US" sz="552" dirty="0"/>
          </a:p>
        </p:txBody>
      </p:sp>
      <p:sp>
        <p:nvSpPr>
          <p:cNvPr id="163" name="Text 160"/>
          <p:cNvSpPr/>
          <p:nvPr/>
        </p:nvSpPr>
        <p:spPr>
          <a:xfrm>
            <a:off x="9540240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164" name="Text 161"/>
          <p:cNvSpPr/>
          <p:nvPr/>
        </p:nvSpPr>
        <p:spPr>
          <a:xfrm>
            <a:off x="10023026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1,1 %</a:t>
            </a:r>
            <a:endParaRPr lang="en-US" sz="552" dirty="0"/>
          </a:p>
        </p:txBody>
      </p:sp>
      <p:sp>
        <p:nvSpPr>
          <p:cNvPr id="165" name="Text 162"/>
          <p:cNvSpPr/>
          <p:nvPr/>
        </p:nvSpPr>
        <p:spPr>
          <a:xfrm>
            <a:off x="10505812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1,1 %</a:t>
            </a:r>
            <a:endParaRPr lang="en-US" sz="552" dirty="0"/>
          </a:p>
        </p:txBody>
      </p:sp>
      <p:sp>
        <p:nvSpPr>
          <p:cNvPr id="166" name="Text 163"/>
          <p:cNvSpPr/>
          <p:nvPr/>
        </p:nvSpPr>
        <p:spPr>
          <a:xfrm>
            <a:off x="10988599" y="47537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1,7 %</a:t>
            </a:r>
            <a:endParaRPr lang="en-US" sz="552" dirty="0"/>
          </a:p>
        </p:txBody>
      </p:sp>
      <p:sp>
        <p:nvSpPr>
          <p:cNvPr id="167" name="Text 164"/>
          <p:cNvSpPr/>
          <p:nvPr/>
        </p:nvSpPr>
        <p:spPr>
          <a:xfrm>
            <a:off x="8091881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68" name="Text 165"/>
          <p:cNvSpPr/>
          <p:nvPr/>
        </p:nvSpPr>
        <p:spPr>
          <a:xfrm>
            <a:off x="8574667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69" name="Text 166"/>
          <p:cNvSpPr/>
          <p:nvPr/>
        </p:nvSpPr>
        <p:spPr>
          <a:xfrm>
            <a:off x="9057453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170" name="Text 167"/>
          <p:cNvSpPr/>
          <p:nvPr/>
        </p:nvSpPr>
        <p:spPr>
          <a:xfrm>
            <a:off x="9540240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171" name="Text 168"/>
          <p:cNvSpPr/>
          <p:nvPr/>
        </p:nvSpPr>
        <p:spPr>
          <a:xfrm>
            <a:off x="10023026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72" name="Text 169"/>
          <p:cNvSpPr/>
          <p:nvPr/>
        </p:nvSpPr>
        <p:spPr>
          <a:xfrm>
            <a:off x="10505812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73" name="Text 170"/>
          <p:cNvSpPr/>
          <p:nvPr/>
        </p:nvSpPr>
        <p:spPr>
          <a:xfrm>
            <a:off x="10988599" y="48870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174" name="Text 171"/>
          <p:cNvSpPr/>
          <p:nvPr/>
        </p:nvSpPr>
        <p:spPr>
          <a:xfrm>
            <a:off x="8091881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5" name="Text 172"/>
          <p:cNvSpPr/>
          <p:nvPr/>
        </p:nvSpPr>
        <p:spPr>
          <a:xfrm>
            <a:off x="8574667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6" name="Text 173"/>
          <p:cNvSpPr/>
          <p:nvPr/>
        </p:nvSpPr>
        <p:spPr>
          <a:xfrm>
            <a:off x="9057453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7" name="Text 174"/>
          <p:cNvSpPr/>
          <p:nvPr/>
        </p:nvSpPr>
        <p:spPr>
          <a:xfrm>
            <a:off x="9540240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8" name="Text 175"/>
          <p:cNvSpPr/>
          <p:nvPr/>
        </p:nvSpPr>
        <p:spPr>
          <a:xfrm>
            <a:off x="10023026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9" name="Text 176"/>
          <p:cNvSpPr/>
          <p:nvPr/>
        </p:nvSpPr>
        <p:spPr>
          <a:xfrm>
            <a:off x="10505812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80" name="Text 177"/>
          <p:cNvSpPr/>
          <p:nvPr/>
        </p:nvSpPr>
        <p:spPr>
          <a:xfrm>
            <a:off x="10988599" y="502044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81" name="Text 178"/>
          <p:cNvSpPr/>
          <p:nvPr/>
        </p:nvSpPr>
        <p:spPr>
          <a:xfrm>
            <a:off x="8216595" y="952500"/>
            <a:ext cx="3584207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1.309</a:t>
            </a:r>
            <a:endParaRPr lang="en-US" sz="1380" dirty="0"/>
          </a:p>
        </p:txBody>
      </p:sp>
      <p:sp>
        <p:nvSpPr>
          <p:cNvPr id="182" name="Text 179"/>
          <p:cNvSpPr/>
          <p:nvPr/>
        </p:nvSpPr>
        <p:spPr>
          <a:xfrm>
            <a:off x="495288" y="2420117"/>
            <a:ext cx="224062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83" name="Text 180"/>
          <p:cNvSpPr/>
          <p:nvPr/>
        </p:nvSpPr>
        <p:spPr>
          <a:xfrm>
            <a:off x="6257769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84" name="Text 181"/>
          <p:cNvSpPr/>
          <p:nvPr/>
        </p:nvSpPr>
        <p:spPr>
          <a:xfrm>
            <a:off x="495288" y="1681930"/>
            <a:ext cx="224062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85" name="Text 182"/>
          <p:cNvSpPr/>
          <p:nvPr/>
        </p:nvSpPr>
        <p:spPr>
          <a:xfrm>
            <a:off x="6257769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86" name="Text 183"/>
          <p:cNvSpPr/>
          <p:nvPr/>
        </p:nvSpPr>
        <p:spPr>
          <a:xfrm>
            <a:off x="9303014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264</a:t>
            </a:r>
            <a:endParaRPr lang="en-US" sz="636" dirty="0"/>
          </a:p>
        </p:txBody>
      </p:sp>
      <p:sp>
        <p:nvSpPr>
          <p:cNvPr id="187" name="Text 184"/>
          <p:cNvSpPr/>
          <p:nvPr/>
        </p:nvSpPr>
        <p:spPr>
          <a:xfrm>
            <a:off x="9303014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254</a:t>
            </a:r>
            <a:endParaRPr lang="en-US" sz="636" dirty="0"/>
          </a:p>
        </p:txBody>
      </p:sp>
      <p:sp>
        <p:nvSpPr>
          <p:cNvPr id="188" name="Text 185"/>
          <p:cNvSpPr/>
          <p:nvPr/>
        </p:nvSpPr>
        <p:spPr>
          <a:xfrm>
            <a:off x="9303014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158</a:t>
            </a:r>
            <a:endParaRPr lang="en-US" sz="636" dirty="0"/>
          </a:p>
        </p:txBody>
      </p:sp>
      <p:sp>
        <p:nvSpPr>
          <p:cNvPr id="189" name="Text 186"/>
          <p:cNvSpPr/>
          <p:nvPr/>
        </p:nvSpPr>
        <p:spPr>
          <a:xfrm>
            <a:off x="9303014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36" dirty="0"/>
          </a:p>
        </p:txBody>
      </p:sp>
      <p:sp>
        <p:nvSpPr>
          <p:cNvPr id="190" name="Text 187"/>
          <p:cNvSpPr/>
          <p:nvPr/>
        </p:nvSpPr>
        <p:spPr>
          <a:xfrm>
            <a:off x="9303014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287</a:t>
            </a:r>
            <a:endParaRPr lang="en-US" sz="636" dirty="0"/>
          </a:p>
        </p:txBody>
      </p:sp>
      <p:sp>
        <p:nvSpPr>
          <p:cNvPr id="191" name="Text 188"/>
          <p:cNvSpPr/>
          <p:nvPr/>
        </p:nvSpPr>
        <p:spPr>
          <a:xfrm>
            <a:off x="9303014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211</a:t>
            </a:r>
            <a:endParaRPr lang="en-US" sz="636" dirty="0"/>
          </a:p>
        </p:txBody>
      </p:sp>
      <p:sp>
        <p:nvSpPr>
          <p:cNvPr id="192" name="Text 189"/>
          <p:cNvSpPr/>
          <p:nvPr/>
        </p:nvSpPr>
        <p:spPr>
          <a:xfrm>
            <a:off x="809188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93" name="Text 190"/>
          <p:cNvSpPr/>
          <p:nvPr/>
        </p:nvSpPr>
        <p:spPr>
          <a:xfrm>
            <a:off x="8574667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94" name="Text 191"/>
          <p:cNvSpPr/>
          <p:nvPr/>
        </p:nvSpPr>
        <p:spPr>
          <a:xfrm>
            <a:off x="9057453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95" name="Text 192"/>
          <p:cNvSpPr/>
          <p:nvPr/>
        </p:nvSpPr>
        <p:spPr>
          <a:xfrm>
            <a:off x="954024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96" name="Text 193"/>
          <p:cNvSpPr/>
          <p:nvPr/>
        </p:nvSpPr>
        <p:spPr>
          <a:xfrm>
            <a:off x="1002302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97" name="Text 194"/>
          <p:cNvSpPr/>
          <p:nvPr/>
        </p:nvSpPr>
        <p:spPr>
          <a:xfrm>
            <a:off x="1050581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84131"/>
            <a:ext cx="5653303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Mostró una efectividad extremadamente baja (4 ventas totales, 0,38 % del apto), lo que sustentó su suspensión inmediata.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237684"/>
            <a:ext cx="5653303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 base sólo estuvo activa en enero de 2026 (campaña táctica sobre solicitudes de cancelaciones previas).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530578"/>
            <a:ext cx="5653303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descarte principal se concentró en Microseguro Activo (33,8 %) y NIT de Empresa (33,3 %).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4742153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Voluntarios Cancelaciones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533387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Buen nivel de interacción telefónica express</a:t>
            </a:r>
            <a:endParaRPr lang="en-US" sz="648" dirty="0"/>
          </a:p>
        </p:txBody>
      </p:sp>
      <p:sp>
        <p:nvSpPr>
          <p:cNvPr id="8" name="Text 5"/>
          <p:cNvSpPr/>
          <p:nvPr/>
        </p:nvSpPr>
        <p:spPr>
          <a:xfrm>
            <a:off x="4374991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focalizada en cancelaciones previas</a:t>
            </a:r>
            <a:endParaRPr lang="en-US" sz="648" dirty="0"/>
          </a:p>
        </p:txBody>
      </p:sp>
      <p:sp>
        <p:nvSpPr>
          <p:cNvPr id="9" name="Text 6"/>
          <p:cNvSpPr/>
          <p:nvPr/>
        </p:nvSpPr>
        <p:spPr>
          <a:xfrm>
            <a:off x="6257769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0" name="Text 7"/>
          <p:cNvSpPr/>
          <p:nvPr/>
        </p:nvSpPr>
        <p:spPr>
          <a:xfrm>
            <a:off x="495288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6257769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8216595" y="1200894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Aporte de campaña piloto express</a:t>
            </a:r>
            <a:endParaRPr lang="en-US" sz="648" dirty="0"/>
          </a:p>
        </p:txBody>
      </p:sp>
      <p:sp>
        <p:nvSpPr>
          <p:cNvPr id="13" name="Text 10"/>
          <p:cNvSpPr/>
          <p:nvPr/>
        </p:nvSpPr>
        <p:spPr>
          <a:xfrm>
            <a:off x="552436" y="6081712"/>
            <a:ext cx="1673304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4" name="Text 11"/>
          <p:cNvSpPr/>
          <p:nvPr/>
        </p:nvSpPr>
        <p:spPr>
          <a:xfrm>
            <a:off x="504812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495288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6" name="Text 13"/>
          <p:cNvSpPr/>
          <p:nvPr/>
        </p:nvSpPr>
        <p:spPr>
          <a:xfrm>
            <a:off x="6267293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17" name="Text 14"/>
          <p:cNvSpPr/>
          <p:nvPr/>
        </p:nvSpPr>
        <p:spPr>
          <a:xfrm>
            <a:off x="6267293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errados / experiencia</a:t>
            </a:r>
            <a:endParaRPr lang="en-US" sz="552" dirty="0"/>
          </a:p>
        </p:txBody>
      </p:sp>
      <p:sp>
        <p:nvSpPr>
          <p:cNvPr id="18" name="Text 15"/>
          <p:cNvSpPr/>
          <p:nvPr/>
        </p:nvSpPr>
        <p:spPr>
          <a:xfrm>
            <a:off x="6267293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19" name="Text 16"/>
          <p:cNvSpPr/>
          <p:nvPr/>
        </p:nvSpPr>
        <p:spPr>
          <a:xfrm>
            <a:off x="533387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INICIAL</a:t>
            </a:r>
            <a:endParaRPr lang="en-US" sz="672" dirty="0"/>
          </a:p>
        </p:txBody>
      </p:sp>
      <p:sp>
        <p:nvSpPr>
          <p:cNvPr id="20" name="Text 17"/>
          <p:cNvSpPr/>
          <p:nvPr/>
        </p:nvSpPr>
        <p:spPr>
          <a:xfrm>
            <a:off x="4374991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LEADS APTOS GESTIONADOS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6267293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2" name="Text 19"/>
          <p:cNvSpPr/>
          <p:nvPr/>
        </p:nvSpPr>
        <p:spPr>
          <a:xfrm>
            <a:off x="6267293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44870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 / apagado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504812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25" name="Text 22"/>
          <p:cNvSpPr/>
          <p:nvPr/>
        </p:nvSpPr>
        <p:spPr>
          <a:xfrm>
            <a:off x="6267293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26" name="Text 23"/>
          <p:cNvSpPr/>
          <p:nvPr/>
        </p:nvSpPr>
        <p:spPr>
          <a:xfrm>
            <a:off x="6267293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27" name="Text 24"/>
          <p:cNvSpPr/>
          <p:nvPr/>
        </p:nvSpPr>
        <p:spPr>
          <a:xfrm>
            <a:off x="6267293" y="462039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28" name="Text 25"/>
          <p:cNvSpPr/>
          <p:nvPr/>
        </p:nvSpPr>
        <p:spPr>
          <a:xfrm>
            <a:off x="8216595" y="809625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GENERADAS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504812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NIT de empresa</a:t>
            </a:r>
            <a:endParaRPr lang="en-US" sz="576" dirty="0"/>
          </a:p>
        </p:txBody>
      </p:sp>
      <p:sp>
        <p:nvSpPr>
          <p:cNvPr id="30" name="Text 27"/>
          <p:cNvSpPr/>
          <p:nvPr/>
        </p:nvSpPr>
        <p:spPr>
          <a:xfrm>
            <a:off x="504812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Cédula Errada</a:t>
            </a:r>
            <a:endParaRPr lang="en-US" sz="576" dirty="0"/>
          </a:p>
        </p:txBody>
      </p:sp>
      <p:sp>
        <p:nvSpPr>
          <p:cNvPr id="31" name="Text 28"/>
          <p:cNvSpPr/>
          <p:nvPr/>
        </p:nvSpPr>
        <p:spPr>
          <a:xfrm>
            <a:off x="10281832" y="1681930"/>
            <a:ext cx="145701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6267293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33" name="Text 30"/>
          <p:cNvSpPr/>
          <p:nvPr/>
        </p:nvSpPr>
        <p:spPr>
          <a:xfrm>
            <a:off x="504812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Nombre Vacío</a:t>
            </a:r>
            <a:endParaRPr lang="en-US" sz="576" dirty="0"/>
          </a:p>
        </p:txBody>
      </p:sp>
      <p:sp>
        <p:nvSpPr>
          <p:cNvPr id="34" name="Text 31"/>
          <p:cNvSpPr/>
          <p:nvPr/>
        </p:nvSpPr>
        <p:spPr>
          <a:xfrm>
            <a:off x="6267293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6267293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6" name="Text 33"/>
          <p:cNvSpPr/>
          <p:nvPr/>
        </p:nvSpPr>
        <p:spPr>
          <a:xfrm>
            <a:off x="2996877" y="1681930"/>
            <a:ext cx="1568454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8324195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1582896" y="1681930"/>
            <a:ext cx="145640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4519648" y="1681930"/>
            <a:ext cx="145670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495288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1" name="Text 38"/>
          <p:cNvSpPr/>
          <p:nvPr/>
        </p:nvSpPr>
        <p:spPr>
          <a:xfrm>
            <a:off x="6257769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2" name="Text 39"/>
          <p:cNvSpPr/>
          <p:nvPr/>
        </p:nvSpPr>
        <p:spPr>
          <a:xfrm>
            <a:off x="4519648" y="1853380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15,7 %</a:t>
            </a:r>
            <a:endParaRPr lang="en-US" sz="636" dirty="0"/>
          </a:p>
        </p:txBody>
      </p:sp>
      <p:sp>
        <p:nvSpPr>
          <p:cNvPr id="43" name="Text 40"/>
          <p:cNvSpPr/>
          <p:nvPr/>
        </p:nvSpPr>
        <p:spPr>
          <a:xfrm>
            <a:off x="4519648" y="2705867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15,7 %</a:t>
            </a:r>
            <a:endParaRPr lang="en-US" sz="636" dirty="0"/>
          </a:p>
        </p:txBody>
      </p:sp>
      <p:sp>
        <p:nvSpPr>
          <p:cNvPr id="44" name="Text 41"/>
          <p:cNvSpPr/>
          <p:nvPr/>
        </p:nvSpPr>
        <p:spPr>
          <a:xfrm>
            <a:off x="504812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9303014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8324195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636" dirty="0"/>
          </a:p>
        </p:txBody>
      </p:sp>
      <p:sp>
        <p:nvSpPr>
          <p:cNvPr id="47" name="Text 44"/>
          <p:cNvSpPr/>
          <p:nvPr/>
        </p:nvSpPr>
        <p:spPr>
          <a:xfrm>
            <a:off x="8324195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809188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552" dirty="0"/>
          </a:p>
        </p:txBody>
      </p:sp>
      <p:sp>
        <p:nvSpPr>
          <p:cNvPr id="49" name="Text 46"/>
          <p:cNvSpPr/>
          <p:nvPr/>
        </p:nvSpPr>
        <p:spPr>
          <a:xfrm>
            <a:off x="10988599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552" dirty="0"/>
          </a:p>
        </p:txBody>
      </p:sp>
      <p:sp>
        <p:nvSpPr>
          <p:cNvPr id="50" name="Text 47"/>
          <p:cNvSpPr/>
          <p:nvPr/>
        </p:nvSpPr>
        <p:spPr>
          <a:xfrm>
            <a:off x="809188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13,4 %</a:t>
            </a:r>
            <a:endParaRPr lang="en-US" sz="552" dirty="0"/>
          </a:p>
        </p:txBody>
      </p:sp>
      <p:sp>
        <p:nvSpPr>
          <p:cNvPr id="51" name="Text 48"/>
          <p:cNvSpPr/>
          <p:nvPr/>
        </p:nvSpPr>
        <p:spPr>
          <a:xfrm>
            <a:off x="10988599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13,4 %</a:t>
            </a:r>
            <a:endParaRPr lang="en-US" sz="552" dirty="0"/>
          </a:p>
        </p:txBody>
      </p:sp>
      <p:sp>
        <p:nvSpPr>
          <p:cNvPr id="52" name="Text 49"/>
          <p:cNvSpPr/>
          <p:nvPr/>
        </p:nvSpPr>
        <p:spPr>
          <a:xfrm>
            <a:off x="809188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552" dirty="0"/>
          </a:p>
        </p:txBody>
      </p:sp>
      <p:sp>
        <p:nvSpPr>
          <p:cNvPr id="53" name="Text 50"/>
          <p:cNvSpPr/>
          <p:nvPr/>
        </p:nvSpPr>
        <p:spPr>
          <a:xfrm>
            <a:off x="10988599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552" dirty="0"/>
          </a:p>
        </p:txBody>
      </p:sp>
      <p:sp>
        <p:nvSpPr>
          <p:cNvPr id="54" name="Text 51"/>
          <p:cNvSpPr/>
          <p:nvPr/>
        </p:nvSpPr>
        <p:spPr>
          <a:xfrm>
            <a:off x="809188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47,0 %</a:t>
            </a:r>
            <a:endParaRPr lang="en-US" sz="552" dirty="0"/>
          </a:p>
        </p:txBody>
      </p:sp>
      <p:sp>
        <p:nvSpPr>
          <p:cNvPr id="55" name="Text 52"/>
          <p:cNvSpPr/>
          <p:nvPr/>
        </p:nvSpPr>
        <p:spPr>
          <a:xfrm>
            <a:off x="10988599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47,0 %</a:t>
            </a:r>
            <a:endParaRPr lang="en-US" sz="552" dirty="0"/>
          </a:p>
        </p:txBody>
      </p:sp>
      <p:sp>
        <p:nvSpPr>
          <p:cNvPr id="56" name="Text 53"/>
          <p:cNvSpPr/>
          <p:nvPr/>
        </p:nvSpPr>
        <p:spPr>
          <a:xfrm>
            <a:off x="8091881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42,7 %</a:t>
            </a:r>
            <a:endParaRPr lang="en-US" sz="552" dirty="0"/>
          </a:p>
        </p:txBody>
      </p:sp>
      <p:sp>
        <p:nvSpPr>
          <p:cNvPr id="57" name="Text 54"/>
          <p:cNvSpPr/>
          <p:nvPr/>
        </p:nvSpPr>
        <p:spPr>
          <a:xfrm>
            <a:off x="10988599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42,7 %</a:t>
            </a:r>
            <a:endParaRPr lang="en-US" sz="552" dirty="0"/>
          </a:p>
        </p:txBody>
      </p:sp>
      <p:sp>
        <p:nvSpPr>
          <p:cNvPr id="58" name="Text 55"/>
          <p:cNvSpPr/>
          <p:nvPr/>
        </p:nvSpPr>
        <p:spPr>
          <a:xfrm>
            <a:off x="533387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1380" dirty="0"/>
          </a:p>
        </p:txBody>
      </p:sp>
      <p:sp>
        <p:nvSpPr>
          <p:cNvPr id="59" name="Text 56"/>
          <p:cNvSpPr/>
          <p:nvPr/>
        </p:nvSpPr>
        <p:spPr>
          <a:xfrm>
            <a:off x="495288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1582896" y="1853380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1.263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495288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495288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495288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495288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1582896" y="2705867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1.263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5226118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67" name="Text 64"/>
          <p:cNvSpPr/>
          <p:nvPr/>
        </p:nvSpPr>
        <p:spPr>
          <a:xfrm>
            <a:off x="504812" y="395364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68" name="Text 65"/>
          <p:cNvSpPr/>
          <p:nvPr/>
        </p:nvSpPr>
        <p:spPr>
          <a:xfrm>
            <a:off x="7345377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6257769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7345377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10281832" y="1853380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636" dirty="0"/>
          </a:p>
        </p:txBody>
      </p:sp>
      <p:sp>
        <p:nvSpPr>
          <p:cNvPr id="72" name="Text 69"/>
          <p:cNvSpPr/>
          <p:nvPr/>
        </p:nvSpPr>
        <p:spPr>
          <a:xfrm>
            <a:off x="6257769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73" name="Text 70"/>
          <p:cNvSpPr/>
          <p:nvPr/>
        </p:nvSpPr>
        <p:spPr>
          <a:xfrm>
            <a:off x="6257769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74" name="Text 71"/>
          <p:cNvSpPr/>
          <p:nvPr/>
        </p:nvSpPr>
        <p:spPr>
          <a:xfrm>
            <a:off x="6257769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75" name="Text 72"/>
          <p:cNvSpPr/>
          <p:nvPr/>
        </p:nvSpPr>
        <p:spPr>
          <a:xfrm>
            <a:off x="6257769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76" name="Text 73"/>
          <p:cNvSpPr/>
          <p:nvPr/>
        </p:nvSpPr>
        <p:spPr>
          <a:xfrm>
            <a:off x="7345377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636" dirty="0"/>
          </a:p>
        </p:txBody>
      </p:sp>
      <p:sp>
        <p:nvSpPr>
          <p:cNvPr id="77" name="Text 74"/>
          <p:cNvSpPr/>
          <p:nvPr/>
        </p:nvSpPr>
        <p:spPr>
          <a:xfrm>
            <a:off x="10281832" y="2705867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636" dirty="0"/>
          </a:p>
        </p:txBody>
      </p:sp>
      <p:sp>
        <p:nvSpPr>
          <p:cNvPr id="78" name="Text 75"/>
          <p:cNvSpPr/>
          <p:nvPr/>
        </p:nvSpPr>
        <p:spPr>
          <a:xfrm>
            <a:off x="10988599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809188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80" name="Text 77"/>
          <p:cNvSpPr/>
          <p:nvPr/>
        </p:nvSpPr>
        <p:spPr>
          <a:xfrm>
            <a:off x="10988599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81" name="Text 78"/>
          <p:cNvSpPr/>
          <p:nvPr/>
        </p:nvSpPr>
        <p:spPr>
          <a:xfrm>
            <a:off x="809188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8,5 %</a:t>
            </a:r>
            <a:endParaRPr lang="en-US" sz="552" dirty="0"/>
          </a:p>
        </p:txBody>
      </p:sp>
      <p:sp>
        <p:nvSpPr>
          <p:cNvPr id="82" name="Text 79"/>
          <p:cNvSpPr/>
          <p:nvPr/>
        </p:nvSpPr>
        <p:spPr>
          <a:xfrm>
            <a:off x="10988599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8,5 %</a:t>
            </a:r>
            <a:endParaRPr lang="en-US" sz="552" dirty="0"/>
          </a:p>
        </p:txBody>
      </p:sp>
      <p:sp>
        <p:nvSpPr>
          <p:cNvPr id="83" name="Text 80"/>
          <p:cNvSpPr/>
          <p:nvPr/>
        </p:nvSpPr>
        <p:spPr>
          <a:xfrm>
            <a:off x="809188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6,4 %</a:t>
            </a:r>
            <a:endParaRPr lang="en-US" sz="552" dirty="0"/>
          </a:p>
        </p:txBody>
      </p:sp>
      <p:sp>
        <p:nvSpPr>
          <p:cNvPr id="84" name="Text 81"/>
          <p:cNvSpPr/>
          <p:nvPr/>
        </p:nvSpPr>
        <p:spPr>
          <a:xfrm>
            <a:off x="10988599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6,4 %</a:t>
            </a:r>
            <a:endParaRPr lang="en-US" sz="552" dirty="0"/>
          </a:p>
        </p:txBody>
      </p:sp>
      <p:sp>
        <p:nvSpPr>
          <p:cNvPr id="85" name="Text 82"/>
          <p:cNvSpPr/>
          <p:nvPr/>
        </p:nvSpPr>
        <p:spPr>
          <a:xfrm>
            <a:off x="809188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86" name="Text 83"/>
          <p:cNvSpPr/>
          <p:nvPr/>
        </p:nvSpPr>
        <p:spPr>
          <a:xfrm>
            <a:off x="10988599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87" name="Text 84"/>
          <p:cNvSpPr/>
          <p:nvPr/>
        </p:nvSpPr>
        <p:spPr>
          <a:xfrm>
            <a:off x="8091881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88" name="Text 85"/>
          <p:cNvSpPr/>
          <p:nvPr/>
        </p:nvSpPr>
        <p:spPr>
          <a:xfrm>
            <a:off x="10988599" y="44870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89" name="Text 86"/>
          <p:cNvSpPr/>
          <p:nvPr/>
        </p:nvSpPr>
        <p:spPr>
          <a:xfrm>
            <a:off x="8091881" y="46203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90" name="Text 87"/>
          <p:cNvSpPr/>
          <p:nvPr/>
        </p:nvSpPr>
        <p:spPr>
          <a:xfrm>
            <a:off x="10988599" y="462039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91" name="Text 88"/>
          <p:cNvSpPr/>
          <p:nvPr/>
        </p:nvSpPr>
        <p:spPr>
          <a:xfrm>
            <a:off x="4374991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1380" dirty="0"/>
          </a:p>
        </p:txBody>
      </p:sp>
      <p:sp>
        <p:nvSpPr>
          <p:cNvPr id="92" name="Text 89"/>
          <p:cNvSpPr/>
          <p:nvPr/>
        </p:nvSpPr>
        <p:spPr>
          <a:xfrm>
            <a:off x="495288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93" name="Text 90"/>
          <p:cNvSpPr/>
          <p:nvPr/>
        </p:nvSpPr>
        <p:spPr>
          <a:xfrm>
            <a:off x="6257769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94" name="Text 91"/>
          <p:cNvSpPr/>
          <p:nvPr/>
        </p:nvSpPr>
        <p:spPr>
          <a:xfrm>
            <a:off x="495288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2996877" y="1853380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636" dirty="0"/>
          </a:p>
        </p:txBody>
      </p:sp>
      <p:sp>
        <p:nvSpPr>
          <p:cNvPr id="96" name="Text 93"/>
          <p:cNvSpPr/>
          <p:nvPr/>
        </p:nvSpPr>
        <p:spPr>
          <a:xfrm>
            <a:off x="2996877" y="2705867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636" dirty="0"/>
          </a:p>
        </p:txBody>
      </p:sp>
      <p:sp>
        <p:nvSpPr>
          <p:cNvPr id="97" name="Text 94"/>
          <p:cNvSpPr/>
          <p:nvPr/>
        </p:nvSpPr>
        <p:spPr>
          <a:xfrm>
            <a:off x="232940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281218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329497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377775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4260545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474333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2329400" y="39536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576" dirty="0"/>
          </a:p>
        </p:txBody>
      </p:sp>
      <p:sp>
        <p:nvSpPr>
          <p:cNvPr id="104" name="Text 101"/>
          <p:cNvSpPr/>
          <p:nvPr/>
        </p:nvSpPr>
        <p:spPr>
          <a:xfrm>
            <a:off x="5226118" y="395364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576" dirty="0"/>
          </a:p>
        </p:txBody>
      </p:sp>
      <p:sp>
        <p:nvSpPr>
          <p:cNvPr id="105" name="Text 102"/>
          <p:cNvSpPr/>
          <p:nvPr/>
        </p:nvSpPr>
        <p:spPr>
          <a:xfrm>
            <a:off x="6257769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809188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8574667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9057453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09" name="Text 106"/>
          <p:cNvSpPr/>
          <p:nvPr/>
        </p:nvSpPr>
        <p:spPr>
          <a:xfrm>
            <a:off x="954024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10" name="Text 107"/>
          <p:cNvSpPr/>
          <p:nvPr/>
        </p:nvSpPr>
        <p:spPr>
          <a:xfrm>
            <a:off x="1002302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11" name="Text 108"/>
          <p:cNvSpPr/>
          <p:nvPr/>
        </p:nvSpPr>
        <p:spPr>
          <a:xfrm>
            <a:off x="1050581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232940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113" name="Text 110"/>
          <p:cNvSpPr/>
          <p:nvPr/>
        </p:nvSpPr>
        <p:spPr>
          <a:xfrm>
            <a:off x="5226118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114" name="Text 111"/>
          <p:cNvSpPr/>
          <p:nvPr/>
        </p:nvSpPr>
        <p:spPr>
          <a:xfrm>
            <a:off x="232940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</a:t>
            </a:r>
            <a:endParaRPr lang="en-US" sz="576" dirty="0"/>
          </a:p>
        </p:txBody>
      </p:sp>
      <p:sp>
        <p:nvSpPr>
          <p:cNvPr id="115" name="Text 112"/>
          <p:cNvSpPr/>
          <p:nvPr/>
        </p:nvSpPr>
        <p:spPr>
          <a:xfrm>
            <a:off x="5226118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</a:t>
            </a:r>
            <a:endParaRPr lang="en-US" sz="576" dirty="0"/>
          </a:p>
        </p:txBody>
      </p:sp>
      <p:sp>
        <p:nvSpPr>
          <p:cNvPr id="116" name="Text 113"/>
          <p:cNvSpPr/>
          <p:nvPr/>
        </p:nvSpPr>
        <p:spPr>
          <a:xfrm>
            <a:off x="232940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576" dirty="0"/>
          </a:p>
        </p:txBody>
      </p:sp>
      <p:sp>
        <p:nvSpPr>
          <p:cNvPr id="117" name="Text 114"/>
          <p:cNvSpPr/>
          <p:nvPr/>
        </p:nvSpPr>
        <p:spPr>
          <a:xfrm>
            <a:off x="5226118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576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2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07078" y="5838825"/>
            <a:ext cx="6502525" cy="912400"/>
          </a:xfrm>
          <a:prstGeom prst="rect">
            <a:avLst/>
          </a:prstGeom>
          <a:noFill/>
          <a:ln/>
        </p:spPr>
        <p:txBody>
          <a:bodyPr wrap="square" lIns="95250" tIns="171450" rIns="171450" bIns="9525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 equipo que rinde: el equipo creció de 15 a 21 asesores (+40 %), pero la productividad media bajó de 150 a 110 pólizas/asesor. El top 5 concentra el 37 % de las ventas (4.279 pólizas): el reto del 2S no es sumar gente, es nivelar al resto hacia ese estándar.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704832" y="1009650"/>
            <a:ext cx="11105491" cy="206026"/>
          </a:xfrm>
          <a:prstGeom prst="rect">
            <a:avLst/>
          </a:prstGeom>
          <a:noFill/>
          <a:ln/>
        </p:spPr>
        <p:txBody>
          <a:bodyPr wrap="square" lIns="0" tIns="0" rIns="0" bIns="28575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Equipo activo a junio (21 asesores) · histórico ene–jun</a:t>
            </a:r>
            <a:endParaRPr lang="en-US" sz="864" dirty="0"/>
          </a:p>
        </p:txBody>
      </p:sp>
      <p:sp>
        <p:nvSpPr>
          <p:cNvPr id="5" name="Text 2"/>
          <p:cNvSpPr/>
          <p:nvPr/>
        </p:nvSpPr>
        <p:spPr>
          <a:xfrm>
            <a:off x="704832" y="6534150"/>
            <a:ext cx="45048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top 5 aporta 4.279 pólizas (37 %) del semestre.</a:t>
            </a:r>
            <a:endParaRPr lang="en-US" sz="720" dirty="0"/>
          </a:p>
        </p:txBody>
      </p:sp>
      <p:sp>
        <p:nvSpPr>
          <p:cNvPr id="6" name="Text 3"/>
          <p:cNvSpPr/>
          <p:nvPr/>
        </p:nvSpPr>
        <p:spPr>
          <a:xfrm>
            <a:off x="704832" y="5915025"/>
            <a:ext cx="4504861" cy="186404"/>
          </a:xfrm>
          <a:prstGeom prst="rect">
            <a:avLst/>
          </a:prstGeom>
          <a:noFill/>
          <a:ln/>
        </p:spPr>
        <p:txBody>
          <a:bodyPr wrap="square" lIns="0" tIns="0" rIns="0" bIns="28575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Lectura del equipo · asesores activos por mes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3214013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Desempeño del Equipo · Top Asesores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1240749" y="3079574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Julithza Milagros Padilla MejíA</a:t>
            </a:r>
            <a:endParaRPr lang="en-US" sz="660" dirty="0"/>
          </a:p>
        </p:txBody>
      </p:sp>
      <p:sp>
        <p:nvSpPr>
          <p:cNvPr id="9" name="Text 6"/>
          <p:cNvSpPr/>
          <p:nvPr/>
        </p:nvSpPr>
        <p:spPr>
          <a:xfrm>
            <a:off x="1240749" y="4752551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Karina Yisell Marquez Hernandez</a:t>
            </a:r>
            <a:endParaRPr lang="en-US" sz="660" dirty="0"/>
          </a:p>
        </p:txBody>
      </p:sp>
      <p:sp>
        <p:nvSpPr>
          <p:cNvPr id="10" name="Text 7"/>
          <p:cNvSpPr/>
          <p:nvPr/>
        </p:nvSpPr>
        <p:spPr>
          <a:xfrm>
            <a:off x="1240749" y="1975865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Dayana D. Guerrero HernáNdez</a:t>
            </a:r>
            <a:endParaRPr lang="en-US" sz="660" dirty="0"/>
          </a:p>
        </p:txBody>
      </p:sp>
      <p:sp>
        <p:nvSpPr>
          <p:cNvPr id="11" name="Text 8"/>
          <p:cNvSpPr/>
          <p:nvPr/>
        </p:nvSpPr>
        <p:spPr>
          <a:xfrm>
            <a:off x="1240749" y="2161751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Anderson Monterrosa Castilla</a:t>
            </a:r>
            <a:endParaRPr lang="en-US" sz="660" dirty="0"/>
          </a:p>
        </p:txBody>
      </p:sp>
      <p:sp>
        <p:nvSpPr>
          <p:cNvPr id="12" name="Text 9"/>
          <p:cNvSpPr/>
          <p:nvPr/>
        </p:nvSpPr>
        <p:spPr>
          <a:xfrm>
            <a:off x="1240749" y="1604092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Melissa Paola Orozco Jinete</a:t>
            </a:r>
            <a:endParaRPr lang="en-US" sz="660" dirty="0"/>
          </a:p>
        </p:txBody>
      </p:sp>
      <p:sp>
        <p:nvSpPr>
          <p:cNvPr id="13" name="Text 10"/>
          <p:cNvSpPr/>
          <p:nvPr/>
        </p:nvSpPr>
        <p:spPr>
          <a:xfrm>
            <a:off x="1240749" y="3451347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Isabella SofíA Rueda Caserta</a:t>
            </a:r>
            <a:endParaRPr lang="en-US" sz="660" dirty="0"/>
          </a:p>
        </p:txBody>
      </p:sp>
      <p:sp>
        <p:nvSpPr>
          <p:cNvPr id="14" name="Text 11"/>
          <p:cNvSpPr/>
          <p:nvPr/>
        </p:nvSpPr>
        <p:spPr>
          <a:xfrm>
            <a:off x="1240749" y="1424010"/>
            <a:ext cx="3963904" cy="180082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JesúS David CortéS Ortega</a:t>
            </a:r>
            <a:endParaRPr lang="en-US" sz="660" dirty="0"/>
          </a:p>
        </p:txBody>
      </p:sp>
      <p:sp>
        <p:nvSpPr>
          <p:cNvPr id="15" name="Text 12"/>
          <p:cNvSpPr/>
          <p:nvPr/>
        </p:nvSpPr>
        <p:spPr>
          <a:xfrm>
            <a:off x="1240749" y="2893688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Santiago Elí CháVez Carmona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1240749" y="3265461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Nohelia H. Salas Monterrosa</a:t>
            </a:r>
            <a:endParaRPr lang="en-US" sz="660" dirty="0"/>
          </a:p>
        </p:txBody>
      </p:sp>
      <p:sp>
        <p:nvSpPr>
          <p:cNvPr id="17" name="Text 14"/>
          <p:cNvSpPr/>
          <p:nvPr/>
        </p:nvSpPr>
        <p:spPr>
          <a:xfrm>
            <a:off x="1240749" y="2707802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Alan José HernáNdez Loaiza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240749" y="4009006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Rhoymar HernáNdez AlbarráN</a:t>
            </a:r>
            <a:endParaRPr lang="en-US" sz="660" dirty="0"/>
          </a:p>
        </p:txBody>
      </p:sp>
      <p:sp>
        <p:nvSpPr>
          <p:cNvPr id="19" name="Text 16"/>
          <p:cNvSpPr/>
          <p:nvPr/>
        </p:nvSpPr>
        <p:spPr>
          <a:xfrm>
            <a:off x="1240749" y="3637233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Laura L. Herrera Palomino</a:t>
            </a:r>
            <a:endParaRPr lang="en-US" sz="660" dirty="0"/>
          </a:p>
        </p:txBody>
      </p:sp>
      <p:sp>
        <p:nvSpPr>
          <p:cNvPr id="20" name="Text 17"/>
          <p:cNvSpPr/>
          <p:nvPr/>
        </p:nvSpPr>
        <p:spPr>
          <a:xfrm>
            <a:off x="1240749" y="1789979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Luisa L. Percy Jaraba</a:t>
            </a:r>
            <a:endParaRPr lang="en-US" sz="660" dirty="0"/>
          </a:p>
        </p:txBody>
      </p:sp>
      <p:sp>
        <p:nvSpPr>
          <p:cNvPr id="21" name="Text 18"/>
          <p:cNvSpPr/>
          <p:nvPr/>
        </p:nvSpPr>
        <p:spPr>
          <a:xfrm>
            <a:off x="1240749" y="5124324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Rosalinda Rivera Senior</a:t>
            </a:r>
            <a:endParaRPr lang="en-US" sz="660" dirty="0"/>
          </a:p>
        </p:txBody>
      </p:sp>
      <p:sp>
        <p:nvSpPr>
          <p:cNvPr id="22" name="Text 19"/>
          <p:cNvSpPr/>
          <p:nvPr/>
        </p:nvSpPr>
        <p:spPr>
          <a:xfrm>
            <a:off x="1240749" y="4194892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CéSar Barrera PáJaro</a:t>
            </a:r>
            <a:endParaRPr lang="en-US" sz="660" dirty="0"/>
          </a:p>
        </p:txBody>
      </p:sp>
      <p:sp>
        <p:nvSpPr>
          <p:cNvPr id="23" name="Text 20"/>
          <p:cNvSpPr/>
          <p:nvPr/>
        </p:nvSpPr>
        <p:spPr>
          <a:xfrm>
            <a:off x="1240749" y="4566665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Yannecce MejíA GóMez</a:t>
            </a:r>
            <a:endParaRPr lang="en-US" sz="660" dirty="0"/>
          </a:p>
        </p:txBody>
      </p:sp>
      <p:sp>
        <p:nvSpPr>
          <p:cNvPr id="24" name="Text 21"/>
          <p:cNvSpPr/>
          <p:nvPr/>
        </p:nvSpPr>
        <p:spPr>
          <a:xfrm>
            <a:off x="1240749" y="2347638"/>
            <a:ext cx="3963904" cy="174278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Joelis J. Barros B.</a:t>
            </a:r>
            <a:endParaRPr lang="en-US" sz="660" dirty="0"/>
          </a:p>
        </p:txBody>
      </p:sp>
      <p:sp>
        <p:nvSpPr>
          <p:cNvPr id="25" name="Text 22"/>
          <p:cNvSpPr/>
          <p:nvPr/>
        </p:nvSpPr>
        <p:spPr>
          <a:xfrm>
            <a:off x="1240749" y="4938438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Ruddy Olmos Simanca</a:t>
            </a:r>
            <a:endParaRPr lang="en-US" sz="660" dirty="0"/>
          </a:p>
        </p:txBody>
      </p:sp>
      <p:sp>
        <p:nvSpPr>
          <p:cNvPr id="26" name="Text 23"/>
          <p:cNvSpPr/>
          <p:nvPr/>
        </p:nvSpPr>
        <p:spPr>
          <a:xfrm>
            <a:off x="1240749" y="3823120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Valentina Orozco</a:t>
            </a:r>
            <a:endParaRPr lang="en-US" sz="660" dirty="0"/>
          </a:p>
        </p:txBody>
      </p:sp>
      <p:sp>
        <p:nvSpPr>
          <p:cNvPr id="27" name="Text 24"/>
          <p:cNvSpPr/>
          <p:nvPr/>
        </p:nvSpPr>
        <p:spPr>
          <a:xfrm>
            <a:off x="1240749" y="2521915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Yulieth Pacheco</a:t>
            </a:r>
            <a:endParaRPr lang="en-US" sz="660" dirty="0"/>
          </a:p>
        </p:txBody>
      </p:sp>
      <p:sp>
        <p:nvSpPr>
          <p:cNvPr id="28" name="Text 25"/>
          <p:cNvSpPr/>
          <p:nvPr/>
        </p:nvSpPr>
        <p:spPr>
          <a:xfrm>
            <a:off x="1240749" y="4380779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Jean J. GuzmáN</a:t>
            </a:r>
            <a:endParaRPr lang="en-US" sz="660" dirty="0"/>
          </a:p>
        </p:txBody>
      </p:sp>
      <p:sp>
        <p:nvSpPr>
          <p:cNvPr id="29" name="Text 26"/>
          <p:cNvSpPr/>
          <p:nvPr/>
        </p:nvSpPr>
        <p:spPr>
          <a:xfrm>
            <a:off x="1240749" y="1233510"/>
            <a:ext cx="3963904" cy="190500"/>
          </a:xfrm>
          <a:prstGeom prst="rect">
            <a:avLst/>
          </a:prstGeom>
          <a:noFill/>
          <a:ln/>
        </p:spPr>
        <p:txBody>
          <a:bodyPr wrap="square" lIns="28575" tIns="57150" rIns="57150" bIns="2857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10409969" y="5310210"/>
            <a:ext cx="1109200" cy="180975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13.499</a:t>
            </a:r>
            <a:endParaRPr lang="en-US" sz="696" dirty="0"/>
          </a:p>
        </p:txBody>
      </p:sp>
      <p:sp>
        <p:nvSpPr>
          <p:cNvPr id="31" name="Text 28"/>
          <p:cNvSpPr/>
          <p:nvPr/>
        </p:nvSpPr>
        <p:spPr>
          <a:xfrm>
            <a:off x="10409969" y="1233510"/>
            <a:ext cx="1109200" cy="190500"/>
          </a:xfrm>
          <a:prstGeom prst="rect">
            <a:avLst/>
          </a:prstGeom>
          <a:noFill/>
          <a:ln/>
        </p:spPr>
        <p:txBody>
          <a:bodyPr wrap="square" lIns="28575" tIns="57150" rIns="57150" bIns="2857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10409969" y="1424010"/>
            <a:ext cx="1109200" cy="180082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1.276</a:t>
            </a:r>
            <a:endParaRPr lang="en-US" sz="660" dirty="0"/>
          </a:p>
        </p:txBody>
      </p:sp>
      <p:sp>
        <p:nvSpPr>
          <p:cNvPr id="33" name="Text 30"/>
          <p:cNvSpPr/>
          <p:nvPr/>
        </p:nvSpPr>
        <p:spPr>
          <a:xfrm>
            <a:off x="10409969" y="1604092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1.021</a:t>
            </a:r>
            <a:endParaRPr lang="en-US" sz="660" dirty="0"/>
          </a:p>
        </p:txBody>
      </p:sp>
      <p:sp>
        <p:nvSpPr>
          <p:cNvPr id="34" name="Text 31"/>
          <p:cNvSpPr/>
          <p:nvPr/>
        </p:nvSpPr>
        <p:spPr>
          <a:xfrm>
            <a:off x="1240749" y="5310210"/>
            <a:ext cx="3963904" cy="180975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96" dirty="0"/>
          </a:p>
        </p:txBody>
      </p:sp>
      <p:sp>
        <p:nvSpPr>
          <p:cNvPr id="35" name="Text 32"/>
          <p:cNvSpPr/>
          <p:nvPr/>
        </p:nvSpPr>
        <p:spPr>
          <a:xfrm>
            <a:off x="5089199" y="5310210"/>
            <a:ext cx="910844" cy="180975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2.109</a:t>
            </a:r>
            <a:endParaRPr lang="en-US" sz="696" dirty="0"/>
          </a:p>
        </p:txBody>
      </p:sp>
      <p:sp>
        <p:nvSpPr>
          <p:cNvPr id="36" name="Text 33"/>
          <p:cNvSpPr/>
          <p:nvPr/>
        </p:nvSpPr>
        <p:spPr>
          <a:xfrm>
            <a:off x="5973514" y="5310210"/>
            <a:ext cx="911764" cy="180975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2.344</a:t>
            </a:r>
            <a:endParaRPr lang="en-US" sz="696" dirty="0"/>
          </a:p>
        </p:txBody>
      </p:sp>
      <p:sp>
        <p:nvSpPr>
          <p:cNvPr id="37" name="Text 34"/>
          <p:cNvSpPr/>
          <p:nvPr/>
        </p:nvSpPr>
        <p:spPr>
          <a:xfrm>
            <a:off x="6858721" y="5310210"/>
            <a:ext cx="904559" cy="180975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2.313</a:t>
            </a:r>
            <a:endParaRPr lang="en-US" sz="696" dirty="0"/>
          </a:p>
        </p:txBody>
      </p:sp>
      <p:sp>
        <p:nvSpPr>
          <p:cNvPr id="38" name="Text 35"/>
          <p:cNvSpPr/>
          <p:nvPr/>
        </p:nvSpPr>
        <p:spPr>
          <a:xfrm>
            <a:off x="7736934" y="5310210"/>
            <a:ext cx="907778" cy="180975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2.235</a:t>
            </a:r>
            <a:endParaRPr lang="en-US" sz="696" dirty="0"/>
          </a:p>
        </p:txBody>
      </p:sp>
      <p:sp>
        <p:nvSpPr>
          <p:cNvPr id="39" name="Text 36"/>
          <p:cNvSpPr/>
          <p:nvPr/>
        </p:nvSpPr>
        <p:spPr>
          <a:xfrm>
            <a:off x="8618272" y="5310210"/>
            <a:ext cx="947787" cy="180975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2.184</a:t>
            </a:r>
            <a:endParaRPr lang="en-US" sz="696" dirty="0"/>
          </a:p>
        </p:txBody>
      </p:sp>
      <p:sp>
        <p:nvSpPr>
          <p:cNvPr id="40" name="Text 37"/>
          <p:cNvSpPr/>
          <p:nvPr/>
        </p:nvSpPr>
        <p:spPr>
          <a:xfrm>
            <a:off x="9538454" y="5310210"/>
            <a:ext cx="897661" cy="180975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696" dirty="0"/>
          </a:p>
        </p:txBody>
      </p:sp>
      <p:sp>
        <p:nvSpPr>
          <p:cNvPr id="41" name="Text 38"/>
          <p:cNvSpPr/>
          <p:nvPr/>
        </p:nvSpPr>
        <p:spPr>
          <a:xfrm>
            <a:off x="704832" y="5543550"/>
            <a:ext cx="1110549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Top 5</a:t>
            </a:r>
            <a:endParaRPr lang="en-US" sz="648" dirty="0"/>
          </a:p>
        </p:txBody>
      </p:sp>
      <p:sp>
        <p:nvSpPr>
          <p:cNvPr id="42" name="Text 39"/>
          <p:cNvSpPr/>
          <p:nvPr/>
        </p:nvSpPr>
        <p:spPr>
          <a:xfrm>
            <a:off x="5089199" y="1233510"/>
            <a:ext cx="910844" cy="190500"/>
          </a:xfrm>
          <a:prstGeom prst="rect">
            <a:avLst/>
          </a:prstGeom>
          <a:noFill/>
          <a:ln/>
        </p:spPr>
        <p:txBody>
          <a:bodyPr wrap="square" lIns="28575" tIns="57150" rIns="57150" bIns="2857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5973514" y="1233510"/>
            <a:ext cx="911764" cy="190500"/>
          </a:xfrm>
          <a:prstGeom prst="rect">
            <a:avLst/>
          </a:prstGeom>
          <a:noFill/>
          <a:ln/>
        </p:spPr>
        <p:txBody>
          <a:bodyPr wrap="square" lIns="28575" tIns="57150" rIns="57150" bIns="2857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6858721" y="1233510"/>
            <a:ext cx="904559" cy="190500"/>
          </a:xfrm>
          <a:prstGeom prst="rect">
            <a:avLst/>
          </a:prstGeom>
          <a:noFill/>
          <a:ln/>
        </p:spPr>
        <p:txBody>
          <a:bodyPr wrap="square" lIns="28575" tIns="57150" rIns="57150" bIns="2857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7736934" y="1233510"/>
            <a:ext cx="907778" cy="190500"/>
          </a:xfrm>
          <a:prstGeom prst="rect">
            <a:avLst/>
          </a:prstGeom>
          <a:noFill/>
          <a:ln/>
        </p:spPr>
        <p:txBody>
          <a:bodyPr wrap="square" lIns="28575" tIns="57150" rIns="57150" bIns="2857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8618272" y="1233510"/>
            <a:ext cx="947787" cy="190500"/>
          </a:xfrm>
          <a:prstGeom prst="rect">
            <a:avLst/>
          </a:prstGeom>
          <a:noFill/>
          <a:ln/>
        </p:spPr>
        <p:txBody>
          <a:bodyPr wrap="square" lIns="28575" tIns="57150" rIns="57150" bIns="2857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9538454" y="1233510"/>
            <a:ext cx="897661" cy="190500"/>
          </a:xfrm>
          <a:prstGeom prst="rect">
            <a:avLst/>
          </a:prstGeom>
          <a:noFill/>
          <a:ln/>
        </p:spPr>
        <p:txBody>
          <a:bodyPr wrap="square" lIns="28575" tIns="57150" rIns="57150" bIns="2857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5089199" y="1424010"/>
            <a:ext cx="910844" cy="180082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205</a:t>
            </a:r>
            <a:endParaRPr lang="en-US" sz="660" dirty="0"/>
          </a:p>
        </p:txBody>
      </p:sp>
      <p:sp>
        <p:nvSpPr>
          <p:cNvPr id="49" name="Text 46"/>
          <p:cNvSpPr/>
          <p:nvPr/>
        </p:nvSpPr>
        <p:spPr>
          <a:xfrm>
            <a:off x="5973514" y="1424010"/>
            <a:ext cx="911764" cy="180082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234</a:t>
            </a:r>
            <a:endParaRPr lang="en-US" sz="660" dirty="0"/>
          </a:p>
        </p:txBody>
      </p:sp>
      <p:sp>
        <p:nvSpPr>
          <p:cNvPr id="50" name="Text 47"/>
          <p:cNvSpPr/>
          <p:nvPr/>
        </p:nvSpPr>
        <p:spPr>
          <a:xfrm>
            <a:off x="6858721" y="1424010"/>
            <a:ext cx="904559" cy="180082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208</a:t>
            </a:r>
            <a:endParaRPr lang="en-US" sz="660" dirty="0"/>
          </a:p>
        </p:txBody>
      </p:sp>
      <p:sp>
        <p:nvSpPr>
          <p:cNvPr id="51" name="Text 48"/>
          <p:cNvSpPr/>
          <p:nvPr/>
        </p:nvSpPr>
        <p:spPr>
          <a:xfrm>
            <a:off x="7736934" y="1424010"/>
            <a:ext cx="907778" cy="180082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197</a:t>
            </a:r>
            <a:endParaRPr lang="en-US" sz="660" dirty="0"/>
          </a:p>
        </p:txBody>
      </p:sp>
      <p:sp>
        <p:nvSpPr>
          <p:cNvPr id="52" name="Text 49"/>
          <p:cNvSpPr/>
          <p:nvPr/>
        </p:nvSpPr>
        <p:spPr>
          <a:xfrm>
            <a:off x="8618272" y="1424010"/>
            <a:ext cx="947787" cy="180082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210</a:t>
            </a:r>
            <a:endParaRPr lang="en-US" sz="660" dirty="0"/>
          </a:p>
        </p:txBody>
      </p:sp>
      <p:sp>
        <p:nvSpPr>
          <p:cNvPr id="53" name="Text 50"/>
          <p:cNvSpPr/>
          <p:nvPr/>
        </p:nvSpPr>
        <p:spPr>
          <a:xfrm>
            <a:off x="9538454" y="1424010"/>
            <a:ext cx="897661" cy="180082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222</a:t>
            </a:r>
            <a:endParaRPr lang="en-US" sz="660" dirty="0"/>
          </a:p>
        </p:txBody>
      </p:sp>
      <p:sp>
        <p:nvSpPr>
          <p:cNvPr id="54" name="Text 51"/>
          <p:cNvSpPr/>
          <p:nvPr/>
        </p:nvSpPr>
        <p:spPr>
          <a:xfrm>
            <a:off x="5089199" y="1604092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144</a:t>
            </a:r>
            <a:endParaRPr lang="en-US" sz="660" dirty="0"/>
          </a:p>
        </p:txBody>
      </p:sp>
      <p:sp>
        <p:nvSpPr>
          <p:cNvPr id="55" name="Text 52"/>
          <p:cNvSpPr/>
          <p:nvPr/>
        </p:nvSpPr>
        <p:spPr>
          <a:xfrm>
            <a:off x="5973514" y="1604092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195</a:t>
            </a:r>
            <a:endParaRPr lang="en-US" sz="660" dirty="0"/>
          </a:p>
        </p:txBody>
      </p:sp>
      <p:sp>
        <p:nvSpPr>
          <p:cNvPr id="56" name="Text 53"/>
          <p:cNvSpPr/>
          <p:nvPr/>
        </p:nvSpPr>
        <p:spPr>
          <a:xfrm>
            <a:off x="6858721" y="1604092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189</a:t>
            </a:r>
            <a:endParaRPr lang="en-US" sz="660" dirty="0"/>
          </a:p>
        </p:txBody>
      </p:sp>
      <p:sp>
        <p:nvSpPr>
          <p:cNvPr id="57" name="Text 54"/>
          <p:cNvSpPr/>
          <p:nvPr/>
        </p:nvSpPr>
        <p:spPr>
          <a:xfrm>
            <a:off x="7736934" y="1604092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157</a:t>
            </a:r>
            <a:endParaRPr lang="en-US" sz="660" dirty="0"/>
          </a:p>
        </p:txBody>
      </p:sp>
      <p:sp>
        <p:nvSpPr>
          <p:cNvPr id="58" name="Text 55"/>
          <p:cNvSpPr/>
          <p:nvPr/>
        </p:nvSpPr>
        <p:spPr>
          <a:xfrm>
            <a:off x="8618272" y="1604092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161</a:t>
            </a:r>
            <a:endParaRPr lang="en-US" sz="660" dirty="0"/>
          </a:p>
        </p:txBody>
      </p:sp>
      <p:sp>
        <p:nvSpPr>
          <p:cNvPr id="59" name="Text 56"/>
          <p:cNvSpPr/>
          <p:nvPr/>
        </p:nvSpPr>
        <p:spPr>
          <a:xfrm>
            <a:off x="9538454" y="1604092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175</a:t>
            </a:r>
            <a:endParaRPr lang="en-US" sz="660" dirty="0"/>
          </a:p>
        </p:txBody>
      </p:sp>
      <p:sp>
        <p:nvSpPr>
          <p:cNvPr id="60" name="Text 57"/>
          <p:cNvSpPr/>
          <p:nvPr/>
        </p:nvSpPr>
        <p:spPr>
          <a:xfrm>
            <a:off x="5089199" y="1789979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155</a:t>
            </a:r>
            <a:endParaRPr lang="en-US" sz="660" dirty="0"/>
          </a:p>
        </p:txBody>
      </p:sp>
      <p:sp>
        <p:nvSpPr>
          <p:cNvPr id="61" name="Text 58"/>
          <p:cNvSpPr/>
          <p:nvPr/>
        </p:nvSpPr>
        <p:spPr>
          <a:xfrm>
            <a:off x="5973514" y="1789979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175</a:t>
            </a:r>
            <a:endParaRPr lang="en-US" sz="660" dirty="0"/>
          </a:p>
        </p:txBody>
      </p:sp>
      <p:sp>
        <p:nvSpPr>
          <p:cNvPr id="62" name="Text 59"/>
          <p:cNvSpPr/>
          <p:nvPr/>
        </p:nvSpPr>
        <p:spPr>
          <a:xfrm>
            <a:off x="6858721" y="1789979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178</a:t>
            </a:r>
            <a:endParaRPr lang="en-US" sz="660" dirty="0"/>
          </a:p>
        </p:txBody>
      </p:sp>
      <p:sp>
        <p:nvSpPr>
          <p:cNvPr id="63" name="Text 60"/>
          <p:cNvSpPr/>
          <p:nvPr/>
        </p:nvSpPr>
        <p:spPr>
          <a:xfrm>
            <a:off x="7736934" y="1789979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660" dirty="0"/>
          </a:p>
        </p:txBody>
      </p:sp>
      <p:sp>
        <p:nvSpPr>
          <p:cNvPr id="64" name="Text 61"/>
          <p:cNvSpPr/>
          <p:nvPr/>
        </p:nvSpPr>
        <p:spPr>
          <a:xfrm>
            <a:off x="8618272" y="1789979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144</a:t>
            </a:r>
            <a:endParaRPr lang="en-US" sz="660" dirty="0"/>
          </a:p>
        </p:txBody>
      </p:sp>
      <p:sp>
        <p:nvSpPr>
          <p:cNvPr id="65" name="Text 62"/>
          <p:cNvSpPr/>
          <p:nvPr/>
        </p:nvSpPr>
        <p:spPr>
          <a:xfrm>
            <a:off x="9538454" y="1789979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153</a:t>
            </a:r>
            <a:endParaRPr lang="en-US" sz="660" dirty="0"/>
          </a:p>
        </p:txBody>
      </p:sp>
      <p:sp>
        <p:nvSpPr>
          <p:cNvPr id="66" name="Text 63"/>
          <p:cNvSpPr/>
          <p:nvPr/>
        </p:nvSpPr>
        <p:spPr>
          <a:xfrm>
            <a:off x="10409969" y="1789979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952</a:t>
            </a:r>
            <a:endParaRPr lang="en-US" sz="660" dirty="0"/>
          </a:p>
        </p:txBody>
      </p:sp>
      <p:sp>
        <p:nvSpPr>
          <p:cNvPr id="67" name="Text 64"/>
          <p:cNvSpPr/>
          <p:nvPr/>
        </p:nvSpPr>
        <p:spPr>
          <a:xfrm>
            <a:off x="5089199" y="1975865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151</a:t>
            </a:r>
            <a:endParaRPr lang="en-US" sz="660" dirty="0"/>
          </a:p>
        </p:txBody>
      </p:sp>
      <p:sp>
        <p:nvSpPr>
          <p:cNvPr id="68" name="Text 65"/>
          <p:cNvSpPr/>
          <p:nvPr/>
        </p:nvSpPr>
        <p:spPr>
          <a:xfrm>
            <a:off x="5973514" y="1975865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188</a:t>
            </a:r>
            <a:endParaRPr lang="en-US" sz="660" dirty="0"/>
          </a:p>
        </p:txBody>
      </p:sp>
      <p:sp>
        <p:nvSpPr>
          <p:cNvPr id="69" name="Text 66"/>
          <p:cNvSpPr/>
          <p:nvPr/>
        </p:nvSpPr>
        <p:spPr>
          <a:xfrm>
            <a:off x="6858721" y="1975865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169</a:t>
            </a:r>
            <a:endParaRPr lang="en-US" sz="660" dirty="0"/>
          </a:p>
        </p:txBody>
      </p:sp>
      <p:sp>
        <p:nvSpPr>
          <p:cNvPr id="70" name="Text 67"/>
          <p:cNvSpPr/>
          <p:nvPr/>
        </p:nvSpPr>
        <p:spPr>
          <a:xfrm>
            <a:off x="7736934" y="1975865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660" dirty="0"/>
          </a:p>
        </p:txBody>
      </p:sp>
      <p:sp>
        <p:nvSpPr>
          <p:cNvPr id="71" name="Text 68"/>
          <p:cNvSpPr/>
          <p:nvPr/>
        </p:nvSpPr>
        <p:spPr>
          <a:xfrm>
            <a:off x="8618272" y="1975865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144</a:t>
            </a:r>
            <a:endParaRPr lang="en-US" sz="660" dirty="0"/>
          </a:p>
        </p:txBody>
      </p:sp>
      <p:sp>
        <p:nvSpPr>
          <p:cNvPr id="72" name="Text 69"/>
          <p:cNvSpPr/>
          <p:nvPr/>
        </p:nvSpPr>
        <p:spPr>
          <a:xfrm>
            <a:off x="9538454" y="1975865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60" dirty="0"/>
          </a:p>
        </p:txBody>
      </p:sp>
      <p:sp>
        <p:nvSpPr>
          <p:cNvPr id="73" name="Text 70"/>
          <p:cNvSpPr/>
          <p:nvPr/>
        </p:nvSpPr>
        <p:spPr>
          <a:xfrm>
            <a:off x="10409969" y="1975865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935</a:t>
            </a:r>
            <a:endParaRPr lang="en-US" sz="660" dirty="0"/>
          </a:p>
        </p:txBody>
      </p:sp>
      <p:sp>
        <p:nvSpPr>
          <p:cNvPr id="74" name="Text 71"/>
          <p:cNvSpPr/>
          <p:nvPr/>
        </p:nvSpPr>
        <p:spPr>
          <a:xfrm>
            <a:off x="5089199" y="2161751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167</a:t>
            </a:r>
            <a:endParaRPr lang="en-US" sz="660" dirty="0"/>
          </a:p>
        </p:txBody>
      </p:sp>
      <p:sp>
        <p:nvSpPr>
          <p:cNvPr id="75" name="Text 72"/>
          <p:cNvSpPr/>
          <p:nvPr/>
        </p:nvSpPr>
        <p:spPr>
          <a:xfrm>
            <a:off x="5973514" y="2161751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76" name="Text 73"/>
          <p:cNvSpPr/>
          <p:nvPr/>
        </p:nvSpPr>
        <p:spPr>
          <a:xfrm>
            <a:off x="6858721" y="2161751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169</a:t>
            </a:r>
            <a:endParaRPr lang="en-US" sz="660" dirty="0"/>
          </a:p>
        </p:txBody>
      </p:sp>
      <p:sp>
        <p:nvSpPr>
          <p:cNvPr id="77" name="Text 74"/>
          <p:cNvSpPr/>
          <p:nvPr/>
        </p:nvSpPr>
        <p:spPr>
          <a:xfrm>
            <a:off x="7736934" y="2161751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660" dirty="0"/>
          </a:p>
        </p:txBody>
      </p:sp>
      <p:sp>
        <p:nvSpPr>
          <p:cNvPr id="78" name="Text 75"/>
          <p:cNvSpPr/>
          <p:nvPr/>
        </p:nvSpPr>
        <p:spPr>
          <a:xfrm>
            <a:off x="8618272" y="2161751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79" name="Text 76"/>
          <p:cNvSpPr/>
          <p:nvPr/>
        </p:nvSpPr>
        <p:spPr>
          <a:xfrm>
            <a:off x="9538454" y="2161751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145</a:t>
            </a:r>
            <a:endParaRPr lang="en-US" sz="660" dirty="0"/>
          </a:p>
        </p:txBody>
      </p:sp>
      <p:sp>
        <p:nvSpPr>
          <p:cNvPr id="80" name="Text 77"/>
          <p:cNvSpPr/>
          <p:nvPr/>
        </p:nvSpPr>
        <p:spPr>
          <a:xfrm>
            <a:off x="10409969" y="2161751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925</a:t>
            </a:r>
            <a:endParaRPr lang="en-US" sz="660" dirty="0"/>
          </a:p>
        </p:txBody>
      </p:sp>
      <p:sp>
        <p:nvSpPr>
          <p:cNvPr id="81" name="Text 78"/>
          <p:cNvSpPr/>
          <p:nvPr/>
        </p:nvSpPr>
        <p:spPr>
          <a:xfrm>
            <a:off x="5089199" y="2347638"/>
            <a:ext cx="910844" cy="174278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</a:t>
            </a:r>
            <a:endParaRPr lang="en-US" sz="660" dirty="0"/>
          </a:p>
        </p:txBody>
      </p:sp>
      <p:sp>
        <p:nvSpPr>
          <p:cNvPr id="82" name="Text 79"/>
          <p:cNvSpPr/>
          <p:nvPr/>
        </p:nvSpPr>
        <p:spPr>
          <a:xfrm>
            <a:off x="5973514" y="2347638"/>
            <a:ext cx="911764" cy="174278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180</a:t>
            </a:r>
            <a:endParaRPr lang="en-US" sz="660" dirty="0"/>
          </a:p>
        </p:txBody>
      </p:sp>
      <p:sp>
        <p:nvSpPr>
          <p:cNvPr id="83" name="Text 80"/>
          <p:cNvSpPr/>
          <p:nvPr/>
        </p:nvSpPr>
        <p:spPr>
          <a:xfrm>
            <a:off x="6858721" y="2347638"/>
            <a:ext cx="904559" cy="174278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168</a:t>
            </a:r>
            <a:endParaRPr lang="en-US" sz="660" dirty="0"/>
          </a:p>
        </p:txBody>
      </p:sp>
      <p:sp>
        <p:nvSpPr>
          <p:cNvPr id="84" name="Text 81"/>
          <p:cNvSpPr/>
          <p:nvPr/>
        </p:nvSpPr>
        <p:spPr>
          <a:xfrm>
            <a:off x="7736934" y="2347638"/>
            <a:ext cx="907778" cy="174278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85" name="Text 82"/>
          <p:cNvSpPr/>
          <p:nvPr/>
        </p:nvSpPr>
        <p:spPr>
          <a:xfrm>
            <a:off x="9538454" y="2347638"/>
            <a:ext cx="897661" cy="174278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167</a:t>
            </a:r>
            <a:endParaRPr lang="en-US" sz="660" dirty="0"/>
          </a:p>
        </p:txBody>
      </p:sp>
      <p:sp>
        <p:nvSpPr>
          <p:cNvPr id="86" name="Text 83"/>
          <p:cNvSpPr/>
          <p:nvPr/>
        </p:nvSpPr>
        <p:spPr>
          <a:xfrm>
            <a:off x="10409969" y="2347638"/>
            <a:ext cx="1109200" cy="174278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886</a:t>
            </a:r>
            <a:endParaRPr lang="en-US" sz="660" dirty="0"/>
          </a:p>
        </p:txBody>
      </p:sp>
      <p:sp>
        <p:nvSpPr>
          <p:cNvPr id="87" name="Text 84"/>
          <p:cNvSpPr/>
          <p:nvPr/>
        </p:nvSpPr>
        <p:spPr>
          <a:xfrm>
            <a:off x="5089199" y="2521915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163</a:t>
            </a:r>
            <a:endParaRPr lang="en-US" sz="660" dirty="0"/>
          </a:p>
        </p:txBody>
      </p:sp>
      <p:sp>
        <p:nvSpPr>
          <p:cNvPr id="88" name="Text 85"/>
          <p:cNvSpPr/>
          <p:nvPr/>
        </p:nvSpPr>
        <p:spPr>
          <a:xfrm>
            <a:off x="5973514" y="2521915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176</a:t>
            </a:r>
            <a:endParaRPr lang="en-US" sz="660" dirty="0"/>
          </a:p>
        </p:txBody>
      </p:sp>
      <p:sp>
        <p:nvSpPr>
          <p:cNvPr id="89" name="Text 86"/>
          <p:cNvSpPr/>
          <p:nvPr/>
        </p:nvSpPr>
        <p:spPr>
          <a:xfrm>
            <a:off x="6858721" y="2521915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90" name="Text 87"/>
          <p:cNvSpPr/>
          <p:nvPr/>
        </p:nvSpPr>
        <p:spPr>
          <a:xfrm>
            <a:off x="7736934" y="2521915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145</a:t>
            </a:r>
            <a:endParaRPr lang="en-US" sz="660" dirty="0"/>
          </a:p>
        </p:txBody>
      </p:sp>
      <p:sp>
        <p:nvSpPr>
          <p:cNvPr id="91" name="Text 88"/>
          <p:cNvSpPr/>
          <p:nvPr/>
        </p:nvSpPr>
        <p:spPr>
          <a:xfrm>
            <a:off x="8618272" y="2521915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696" dirty="0"/>
          </a:p>
        </p:txBody>
      </p:sp>
      <p:sp>
        <p:nvSpPr>
          <p:cNvPr id="92" name="Text 89"/>
          <p:cNvSpPr/>
          <p:nvPr/>
        </p:nvSpPr>
        <p:spPr>
          <a:xfrm>
            <a:off x="9538454" y="2521915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96" dirty="0"/>
          </a:p>
        </p:txBody>
      </p:sp>
      <p:sp>
        <p:nvSpPr>
          <p:cNvPr id="93" name="Text 90"/>
          <p:cNvSpPr/>
          <p:nvPr/>
        </p:nvSpPr>
        <p:spPr>
          <a:xfrm>
            <a:off x="10409969" y="2521915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885</a:t>
            </a:r>
            <a:endParaRPr lang="en-US" sz="660" dirty="0"/>
          </a:p>
        </p:txBody>
      </p:sp>
      <p:sp>
        <p:nvSpPr>
          <p:cNvPr id="94" name="Text 91"/>
          <p:cNvSpPr/>
          <p:nvPr/>
        </p:nvSpPr>
        <p:spPr>
          <a:xfrm>
            <a:off x="5089199" y="2707802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163</a:t>
            </a:r>
            <a:endParaRPr lang="en-US" sz="660" dirty="0"/>
          </a:p>
        </p:txBody>
      </p:sp>
      <p:sp>
        <p:nvSpPr>
          <p:cNvPr id="95" name="Text 92"/>
          <p:cNvSpPr/>
          <p:nvPr/>
        </p:nvSpPr>
        <p:spPr>
          <a:xfrm>
            <a:off x="5973514" y="2707802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137</a:t>
            </a:r>
            <a:endParaRPr lang="en-US" sz="660" dirty="0"/>
          </a:p>
        </p:txBody>
      </p:sp>
      <p:sp>
        <p:nvSpPr>
          <p:cNvPr id="96" name="Text 93"/>
          <p:cNvSpPr/>
          <p:nvPr/>
        </p:nvSpPr>
        <p:spPr>
          <a:xfrm>
            <a:off x="6858721" y="2707802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</a:t>
            </a:r>
            <a:endParaRPr lang="en-US" sz="660" dirty="0"/>
          </a:p>
        </p:txBody>
      </p:sp>
      <p:sp>
        <p:nvSpPr>
          <p:cNvPr id="97" name="Text 94"/>
          <p:cNvSpPr/>
          <p:nvPr/>
        </p:nvSpPr>
        <p:spPr>
          <a:xfrm>
            <a:off x="7736934" y="2707802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</a:t>
            </a:r>
            <a:endParaRPr lang="en-US" sz="660" dirty="0"/>
          </a:p>
        </p:txBody>
      </p:sp>
      <p:sp>
        <p:nvSpPr>
          <p:cNvPr id="98" name="Text 95"/>
          <p:cNvSpPr/>
          <p:nvPr/>
        </p:nvSpPr>
        <p:spPr>
          <a:xfrm>
            <a:off x="8618272" y="2707802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99" name="Text 96"/>
          <p:cNvSpPr/>
          <p:nvPr/>
        </p:nvSpPr>
        <p:spPr>
          <a:xfrm>
            <a:off x="9538454" y="2707802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132</a:t>
            </a:r>
            <a:endParaRPr lang="en-US" sz="696" dirty="0"/>
          </a:p>
        </p:txBody>
      </p:sp>
      <p:sp>
        <p:nvSpPr>
          <p:cNvPr id="100" name="Text 97"/>
          <p:cNvSpPr/>
          <p:nvPr/>
        </p:nvSpPr>
        <p:spPr>
          <a:xfrm>
            <a:off x="10409969" y="2707802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865</a:t>
            </a:r>
            <a:endParaRPr lang="en-US" sz="660" dirty="0"/>
          </a:p>
        </p:txBody>
      </p:sp>
      <p:sp>
        <p:nvSpPr>
          <p:cNvPr id="101" name="Text 98"/>
          <p:cNvSpPr/>
          <p:nvPr/>
        </p:nvSpPr>
        <p:spPr>
          <a:xfrm>
            <a:off x="5089199" y="2893688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102" name="Text 99"/>
          <p:cNvSpPr/>
          <p:nvPr/>
        </p:nvSpPr>
        <p:spPr>
          <a:xfrm>
            <a:off x="5973514" y="2893688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103" name="Text 100"/>
          <p:cNvSpPr/>
          <p:nvPr/>
        </p:nvSpPr>
        <p:spPr>
          <a:xfrm>
            <a:off x="6858721" y="2893688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156</a:t>
            </a:r>
            <a:endParaRPr lang="en-US" sz="660" dirty="0"/>
          </a:p>
        </p:txBody>
      </p:sp>
      <p:sp>
        <p:nvSpPr>
          <p:cNvPr id="104" name="Text 101"/>
          <p:cNvSpPr/>
          <p:nvPr/>
        </p:nvSpPr>
        <p:spPr>
          <a:xfrm>
            <a:off x="7736934" y="2893688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696" dirty="0"/>
          </a:p>
        </p:txBody>
      </p:sp>
      <p:sp>
        <p:nvSpPr>
          <p:cNvPr id="105" name="Text 102"/>
          <p:cNvSpPr/>
          <p:nvPr/>
        </p:nvSpPr>
        <p:spPr>
          <a:xfrm>
            <a:off x="8618272" y="2893688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06" name="Text 103"/>
          <p:cNvSpPr/>
          <p:nvPr/>
        </p:nvSpPr>
        <p:spPr>
          <a:xfrm>
            <a:off x="9538454" y="2893688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696" dirty="0"/>
          </a:p>
        </p:txBody>
      </p:sp>
      <p:sp>
        <p:nvSpPr>
          <p:cNvPr id="107" name="Text 104"/>
          <p:cNvSpPr/>
          <p:nvPr/>
        </p:nvSpPr>
        <p:spPr>
          <a:xfrm>
            <a:off x="10409969" y="2893688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829</a:t>
            </a:r>
            <a:endParaRPr lang="en-US" sz="660" dirty="0"/>
          </a:p>
        </p:txBody>
      </p:sp>
      <p:sp>
        <p:nvSpPr>
          <p:cNvPr id="108" name="Text 105"/>
          <p:cNvSpPr/>
          <p:nvPr/>
        </p:nvSpPr>
        <p:spPr>
          <a:xfrm>
            <a:off x="5089199" y="3079574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660" dirty="0"/>
          </a:p>
        </p:txBody>
      </p:sp>
      <p:sp>
        <p:nvSpPr>
          <p:cNvPr id="109" name="Text 106"/>
          <p:cNvSpPr/>
          <p:nvPr/>
        </p:nvSpPr>
        <p:spPr>
          <a:xfrm>
            <a:off x="5973514" y="3079574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10" name="Text 107"/>
          <p:cNvSpPr/>
          <p:nvPr/>
        </p:nvSpPr>
        <p:spPr>
          <a:xfrm>
            <a:off x="6858721" y="3079574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660" dirty="0"/>
          </a:p>
        </p:txBody>
      </p:sp>
      <p:sp>
        <p:nvSpPr>
          <p:cNvPr id="111" name="Text 108"/>
          <p:cNvSpPr/>
          <p:nvPr/>
        </p:nvSpPr>
        <p:spPr>
          <a:xfrm>
            <a:off x="7736934" y="3079574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143</a:t>
            </a:r>
            <a:endParaRPr lang="en-US" sz="660" dirty="0"/>
          </a:p>
        </p:txBody>
      </p:sp>
      <p:sp>
        <p:nvSpPr>
          <p:cNvPr id="112" name="Text 109"/>
          <p:cNvSpPr/>
          <p:nvPr/>
        </p:nvSpPr>
        <p:spPr>
          <a:xfrm>
            <a:off x="8618272" y="3079574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</a:t>
            </a:r>
            <a:endParaRPr lang="en-US" sz="696" dirty="0"/>
          </a:p>
        </p:txBody>
      </p:sp>
      <p:sp>
        <p:nvSpPr>
          <p:cNvPr id="113" name="Text 110"/>
          <p:cNvSpPr/>
          <p:nvPr/>
        </p:nvSpPr>
        <p:spPr>
          <a:xfrm>
            <a:off x="10409969" y="3079574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769</a:t>
            </a:r>
            <a:endParaRPr lang="en-US" sz="660" dirty="0"/>
          </a:p>
        </p:txBody>
      </p:sp>
      <p:sp>
        <p:nvSpPr>
          <p:cNvPr id="114" name="Text 111"/>
          <p:cNvSpPr/>
          <p:nvPr/>
        </p:nvSpPr>
        <p:spPr>
          <a:xfrm>
            <a:off x="5089199" y="3265461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131</a:t>
            </a:r>
            <a:endParaRPr lang="en-US" sz="696" dirty="0"/>
          </a:p>
        </p:txBody>
      </p:sp>
      <p:sp>
        <p:nvSpPr>
          <p:cNvPr id="115" name="Text 112"/>
          <p:cNvSpPr/>
          <p:nvPr/>
        </p:nvSpPr>
        <p:spPr>
          <a:xfrm>
            <a:off x="5973514" y="3265461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660" dirty="0"/>
          </a:p>
        </p:txBody>
      </p:sp>
      <p:sp>
        <p:nvSpPr>
          <p:cNvPr id="116" name="Text 113"/>
          <p:cNvSpPr/>
          <p:nvPr/>
        </p:nvSpPr>
        <p:spPr>
          <a:xfrm>
            <a:off x="6858721" y="3265461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660" dirty="0"/>
          </a:p>
        </p:txBody>
      </p:sp>
      <p:sp>
        <p:nvSpPr>
          <p:cNvPr id="117" name="Text 114"/>
          <p:cNvSpPr/>
          <p:nvPr/>
        </p:nvSpPr>
        <p:spPr>
          <a:xfrm>
            <a:off x="7736934" y="3265461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</a:t>
            </a:r>
            <a:endParaRPr lang="en-US" sz="660" dirty="0"/>
          </a:p>
        </p:txBody>
      </p:sp>
      <p:sp>
        <p:nvSpPr>
          <p:cNvPr id="118" name="Text 115"/>
          <p:cNvSpPr/>
          <p:nvPr/>
        </p:nvSpPr>
        <p:spPr>
          <a:xfrm>
            <a:off x="8618272" y="3265461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endParaRPr lang="en-US" sz="696" dirty="0"/>
          </a:p>
        </p:txBody>
      </p:sp>
      <p:sp>
        <p:nvSpPr>
          <p:cNvPr id="119" name="Text 116"/>
          <p:cNvSpPr/>
          <p:nvPr/>
        </p:nvSpPr>
        <p:spPr>
          <a:xfrm>
            <a:off x="10409969" y="3265461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732</a:t>
            </a:r>
            <a:endParaRPr lang="en-US" sz="660" dirty="0"/>
          </a:p>
        </p:txBody>
      </p:sp>
      <p:sp>
        <p:nvSpPr>
          <p:cNvPr id="120" name="Text 117"/>
          <p:cNvSpPr/>
          <p:nvPr/>
        </p:nvSpPr>
        <p:spPr>
          <a:xfrm>
            <a:off x="5089199" y="3451347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60" dirty="0"/>
          </a:p>
        </p:txBody>
      </p:sp>
      <p:sp>
        <p:nvSpPr>
          <p:cNvPr id="121" name="Text 118"/>
          <p:cNvSpPr/>
          <p:nvPr/>
        </p:nvSpPr>
        <p:spPr>
          <a:xfrm>
            <a:off x="5973514" y="3451347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96" dirty="0"/>
          </a:p>
        </p:txBody>
      </p:sp>
      <p:sp>
        <p:nvSpPr>
          <p:cNvPr id="122" name="Text 119"/>
          <p:cNvSpPr/>
          <p:nvPr/>
        </p:nvSpPr>
        <p:spPr>
          <a:xfrm>
            <a:off x="7736934" y="3451347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96" dirty="0"/>
          </a:p>
        </p:txBody>
      </p:sp>
      <p:sp>
        <p:nvSpPr>
          <p:cNvPr id="123" name="Text 120"/>
          <p:cNvSpPr/>
          <p:nvPr/>
        </p:nvSpPr>
        <p:spPr>
          <a:xfrm>
            <a:off x="9538454" y="3451347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122</a:t>
            </a:r>
            <a:endParaRPr lang="en-US" sz="696" dirty="0"/>
          </a:p>
        </p:txBody>
      </p:sp>
      <p:sp>
        <p:nvSpPr>
          <p:cNvPr id="124" name="Text 121"/>
          <p:cNvSpPr/>
          <p:nvPr/>
        </p:nvSpPr>
        <p:spPr>
          <a:xfrm>
            <a:off x="10409969" y="3451347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647</a:t>
            </a:r>
            <a:endParaRPr lang="en-US" sz="660" dirty="0"/>
          </a:p>
        </p:txBody>
      </p:sp>
      <p:sp>
        <p:nvSpPr>
          <p:cNvPr id="125" name="Text 122"/>
          <p:cNvSpPr/>
          <p:nvPr/>
        </p:nvSpPr>
        <p:spPr>
          <a:xfrm>
            <a:off x="5089199" y="3637233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26" name="Text 123"/>
          <p:cNvSpPr/>
          <p:nvPr/>
        </p:nvSpPr>
        <p:spPr>
          <a:xfrm>
            <a:off x="5973514" y="3637233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127" name="Text 124"/>
          <p:cNvSpPr/>
          <p:nvPr/>
        </p:nvSpPr>
        <p:spPr>
          <a:xfrm>
            <a:off x="6858721" y="3637233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660" dirty="0"/>
          </a:p>
        </p:txBody>
      </p:sp>
      <p:sp>
        <p:nvSpPr>
          <p:cNvPr id="128" name="Text 125"/>
          <p:cNvSpPr/>
          <p:nvPr/>
        </p:nvSpPr>
        <p:spPr>
          <a:xfrm>
            <a:off x="10409969" y="3637233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633</a:t>
            </a:r>
            <a:endParaRPr lang="en-US" sz="660" dirty="0"/>
          </a:p>
        </p:txBody>
      </p:sp>
      <p:sp>
        <p:nvSpPr>
          <p:cNvPr id="129" name="Text 126"/>
          <p:cNvSpPr/>
          <p:nvPr/>
        </p:nvSpPr>
        <p:spPr>
          <a:xfrm>
            <a:off x="5089199" y="3823120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</a:t>
            </a:r>
            <a:endParaRPr lang="en-US" sz="696" dirty="0"/>
          </a:p>
        </p:txBody>
      </p:sp>
      <p:sp>
        <p:nvSpPr>
          <p:cNvPr id="130" name="Text 127"/>
          <p:cNvSpPr/>
          <p:nvPr/>
        </p:nvSpPr>
        <p:spPr>
          <a:xfrm>
            <a:off x="5973514" y="3823120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660" dirty="0"/>
          </a:p>
        </p:txBody>
      </p:sp>
      <p:sp>
        <p:nvSpPr>
          <p:cNvPr id="131" name="Text 128"/>
          <p:cNvSpPr/>
          <p:nvPr/>
        </p:nvSpPr>
        <p:spPr>
          <a:xfrm>
            <a:off x="7736934" y="3823120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139</a:t>
            </a:r>
            <a:endParaRPr lang="en-US" sz="696" dirty="0"/>
          </a:p>
        </p:txBody>
      </p:sp>
      <p:sp>
        <p:nvSpPr>
          <p:cNvPr id="132" name="Text 129"/>
          <p:cNvSpPr/>
          <p:nvPr/>
        </p:nvSpPr>
        <p:spPr>
          <a:xfrm>
            <a:off x="10409969" y="3823120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622</a:t>
            </a:r>
            <a:endParaRPr lang="en-US" sz="660" dirty="0"/>
          </a:p>
        </p:txBody>
      </p:sp>
      <p:sp>
        <p:nvSpPr>
          <p:cNvPr id="133" name="Text 130"/>
          <p:cNvSpPr/>
          <p:nvPr/>
        </p:nvSpPr>
        <p:spPr>
          <a:xfrm>
            <a:off x="6858721" y="4009006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157</a:t>
            </a:r>
            <a:endParaRPr lang="en-US" sz="660" dirty="0"/>
          </a:p>
        </p:txBody>
      </p:sp>
      <p:sp>
        <p:nvSpPr>
          <p:cNvPr id="134" name="Text 131"/>
          <p:cNvSpPr/>
          <p:nvPr/>
        </p:nvSpPr>
        <p:spPr>
          <a:xfrm>
            <a:off x="7736934" y="4009006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35" name="Text 132"/>
          <p:cNvSpPr/>
          <p:nvPr/>
        </p:nvSpPr>
        <p:spPr>
          <a:xfrm>
            <a:off x="8618272" y="4009006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96" dirty="0"/>
          </a:p>
        </p:txBody>
      </p:sp>
      <p:sp>
        <p:nvSpPr>
          <p:cNvPr id="136" name="Text 133"/>
          <p:cNvSpPr/>
          <p:nvPr/>
        </p:nvSpPr>
        <p:spPr>
          <a:xfrm>
            <a:off x="9538454" y="4009006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137</a:t>
            </a:r>
            <a:endParaRPr lang="en-US" sz="696" dirty="0"/>
          </a:p>
        </p:txBody>
      </p:sp>
      <p:sp>
        <p:nvSpPr>
          <p:cNvPr id="137" name="Text 134"/>
          <p:cNvSpPr/>
          <p:nvPr/>
        </p:nvSpPr>
        <p:spPr>
          <a:xfrm>
            <a:off x="10409969" y="4009006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602</a:t>
            </a:r>
            <a:endParaRPr lang="en-US" sz="660" dirty="0"/>
          </a:p>
        </p:txBody>
      </p:sp>
      <p:sp>
        <p:nvSpPr>
          <p:cNvPr id="138" name="Text 135"/>
          <p:cNvSpPr/>
          <p:nvPr/>
        </p:nvSpPr>
        <p:spPr>
          <a:xfrm>
            <a:off x="6858721" y="4194892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134</a:t>
            </a:r>
            <a:endParaRPr lang="en-US" sz="696" dirty="0"/>
          </a:p>
        </p:txBody>
      </p:sp>
      <p:sp>
        <p:nvSpPr>
          <p:cNvPr id="139" name="Text 136"/>
          <p:cNvSpPr/>
          <p:nvPr/>
        </p:nvSpPr>
        <p:spPr>
          <a:xfrm>
            <a:off x="8618272" y="4194892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104</a:t>
            </a:r>
            <a:endParaRPr lang="en-US" sz="696" dirty="0"/>
          </a:p>
        </p:txBody>
      </p:sp>
      <p:sp>
        <p:nvSpPr>
          <p:cNvPr id="140" name="Text 137"/>
          <p:cNvSpPr/>
          <p:nvPr/>
        </p:nvSpPr>
        <p:spPr>
          <a:xfrm>
            <a:off x="9538454" y="4194892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</a:t>
            </a:r>
            <a:endParaRPr lang="en-US" sz="696" dirty="0"/>
          </a:p>
        </p:txBody>
      </p:sp>
      <p:sp>
        <p:nvSpPr>
          <p:cNvPr id="141" name="Text 138"/>
          <p:cNvSpPr/>
          <p:nvPr/>
        </p:nvSpPr>
        <p:spPr>
          <a:xfrm>
            <a:off x="10409969" y="4194892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451</a:t>
            </a:r>
            <a:endParaRPr lang="en-US" sz="660" dirty="0"/>
          </a:p>
        </p:txBody>
      </p:sp>
      <p:sp>
        <p:nvSpPr>
          <p:cNvPr id="142" name="Text 139"/>
          <p:cNvSpPr/>
          <p:nvPr/>
        </p:nvSpPr>
        <p:spPr>
          <a:xfrm>
            <a:off x="8618272" y="4380779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</a:t>
            </a:r>
            <a:endParaRPr lang="en-US" sz="696" dirty="0"/>
          </a:p>
        </p:txBody>
      </p:sp>
      <p:sp>
        <p:nvSpPr>
          <p:cNvPr id="143" name="Text 140"/>
          <p:cNvSpPr/>
          <p:nvPr/>
        </p:nvSpPr>
        <p:spPr>
          <a:xfrm>
            <a:off x="9538454" y="4380779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</a:t>
            </a:r>
            <a:endParaRPr lang="en-US" sz="696" dirty="0"/>
          </a:p>
        </p:txBody>
      </p:sp>
      <p:sp>
        <p:nvSpPr>
          <p:cNvPr id="144" name="Text 141"/>
          <p:cNvSpPr/>
          <p:nvPr/>
        </p:nvSpPr>
        <p:spPr>
          <a:xfrm>
            <a:off x="10409969" y="4380779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220</a:t>
            </a:r>
            <a:endParaRPr lang="en-US" sz="660" dirty="0"/>
          </a:p>
        </p:txBody>
      </p:sp>
      <p:sp>
        <p:nvSpPr>
          <p:cNvPr id="145" name="Text 142"/>
          <p:cNvSpPr/>
          <p:nvPr/>
        </p:nvSpPr>
        <p:spPr>
          <a:xfrm>
            <a:off x="10409969" y="4566665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46" name="Text 143"/>
          <p:cNvSpPr/>
          <p:nvPr/>
        </p:nvSpPr>
        <p:spPr>
          <a:xfrm>
            <a:off x="704832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24" dirty="0"/>
          </a:p>
        </p:txBody>
      </p:sp>
      <p:sp>
        <p:nvSpPr>
          <p:cNvPr id="147" name="Text 144"/>
          <p:cNvSpPr/>
          <p:nvPr/>
        </p:nvSpPr>
        <p:spPr>
          <a:xfrm>
            <a:off x="1009625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24" dirty="0"/>
          </a:p>
        </p:txBody>
      </p:sp>
      <p:sp>
        <p:nvSpPr>
          <p:cNvPr id="148" name="Text 145"/>
          <p:cNvSpPr/>
          <p:nvPr/>
        </p:nvSpPr>
        <p:spPr>
          <a:xfrm>
            <a:off x="1314417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24" dirty="0"/>
          </a:p>
        </p:txBody>
      </p:sp>
      <p:sp>
        <p:nvSpPr>
          <p:cNvPr id="149" name="Text 146"/>
          <p:cNvSpPr/>
          <p:nvPr/>
        </p:nvSpPr>
        <p:spPr>
          <a:xfrm>
            <a:off x="1619210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24" dirty="0"/>
          </a:p>
        </p:txBody>
      </p:sp>
      <p:sp>
        <p:nvSpPr>
          <p:cNvPr id="150" name="Text 147"/>
          <p:cNvSpPr/>
          <p:nvPr/>
        </p:nvSpPr>
        <p:spPr>
          <a:xfrm>
            <a:off x="1924002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24" dirty="0"/>
          </a:p>
        </p:txBody>
      </p:sp>
      <p:sp>
        <p:nvSpPr>
          <p:cNvPr id="151" name="Text 148"/>
          <p:cNvSpPr/>
          <p:nvPr/>
        </p:nvSpPr>
        <p:spPr>
          <a:xfrm>
            <a:off x="2228794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24" dirty="0"/>
          </a:p>
        </p:txBody>
      </p:sp>
      <p:sp>
        <p:nvSpPr>
          <p:cNvPr id="152" name="Text 149"/>
          <p:cNvSpPr/>
          <p:nvPr/>
        </p:nvSpPr>
        <p:spPr>
          <a:xfrm>
            <a:off x="8618272" y="2347638"/>
            <a:ext cx="947787" cy="174278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660" dirty="0"/>
          </a:p>
        </p:txBody>
      </p:sp>
      <p:sp>
        <p:nvSpPr>
          <p:cNvPr id="153" name="Text 150"/>
          <p:cNvSpPr/>
          <p:nvPr/>
        </p:nvSpPr>
        <p:spPr>
          <a:xfrm>
            <a:off x="704832" y="3079574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</a:t>
            </a:r>
            <a:endParaRPr lang="en-US" sz="624" dirty="0"/>
          </a:p>
        </p:txBody>
      </p:sp>
      <p:sp>
        <p:nvSpPr>
          <p:cNvPr id="154" name="Text 151"/>
          <p:cNvSpPr/>
          <p:nvPr/>
        </p:nvSpPr>
        <p:spPr>
          <a:xfrm>
            <a:off x="9538454" y="3079574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696" dirty="0"/>
          </a:p>
        </p:txBody>
      </p:sp>
      <p:sp>
        <p:nvSpPr>
          <p:cNvPr id="155" name="Text 152"/>
          <p:cNvSpPr/>
          <p:nvPr/>
        </p:nvSpPr>
        <p:spPr>
          <a:xfrm>
            <a:off x="704832" y="3265461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</a:t>
            </a:r>
            <a:endParaRPr lang="en-US" sz="624" dirty="0"/>
          </a:p>
        </p:txBody>
      </p:sp>
      <p:sp>
        <p:nvSpPr>
          <p:cNvPr id="156" name="Text 153"/>
          <p:cNvSpPr/>
          <p:nvPr/>
        </p:nvSpPr>
        <p:spPr>
          <a:xfrm>
            <a:off x="9538454" y="3265461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660" dirty="0"/>
          </a:p>
        </p:txBody>
      </p:sp>
      <p:sp>
        <p:nvSpPr>
          <p:cNvPr id="157" name="Text 154"/>
          <p:cNvSpPr/>
          <p:nvPr/>
        </p:nvSpPr>
        <p:spPr>
          <a:xfrm>
            <a:off x="704832" y="3451347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624" dirty="0"/>
          </a:p>
        </p:txBody>
      </p:sp>
      <p:sp>
        <p:nvSpPr>
          <p:cNvPr id="158" name="Text 155"/>
          <p:cNvSpPr/>
          <p:nvPr/>
        </p:nvSpPr>
        <p:spPr>
          <a:xfrm>
            <a:off x="6858721" y="3451347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</a:t>
            </a:r>
            <a:endParaRPr lang="en-US" sz="696" dirty="0"/>
          </a:p>
        </p:txBody>
      </p:sp>
      <p:sp>
        <p:nvSpPr>
          <p:cNvPr id="159" name="Text 156"/>
          <p:cNvSpPr/>
          <p:nvPr/>
        </p:nvSpPr>
        <p:spPr>
          <a:xfrm>
            <a:off x="8618272" y="3451347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696" dirty="0"/>
          </a:p>
        </p:txBody>
      </p:sp>
      <p:sp>
        <p:nvSpPr>
          <p:cNvPr id="160" name="Text 157"/>
          <p:cNvSpPr/>
          <p:nvPr/>
        </p:nvSpPr>
        <p:spPr>
          <a:xfrm>
            <a:off x="704832" y="3637233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24" dirty="0"/>
          </a:p>
        </p:txBody>
      </p:sp>
      <p:sp>
        <p:nvSpPr>
          <p:cNvPr id="161" name="Text 158"/>
          <p:cNvSpPr/>
          <p:nvPr/>
        </p:nvSpPr>
        <p:spPr>
          <a:xfrm>
            <a:off x="7736934" y="3637233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</a:t>
            </a:r>
            <a:endParaRPr lang="en-US" sz="696" dirty="0"/>
          </a:p>
        </p:txBody>
      </p:sp>
      <p:sp>
        <p:nvSpPr>
          <p:cNvPr id="162" name="Text 159"/>
          <p:cNvSpPr/>
          <p:nvPr/>
        </p:nvSpPr>
        <p:spPr>
          <a:xfrm>
            <a:off x="8618272" y="3637233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</a:t>
            </a:r>
            <a:endParaRPr lang="en-US" sz="696" dirty="0"/>
          </a:p>
        </p:txBody>
      </p:sp>
      <p:sp>
        <p:nvSpPr>
          <p:cNvPr id="163" name="Text 160"/>
          <p:cNvSpPr/>
          <p:nvPr/>
        </p:nvSpPr>
        <p:spPr>
          <a:xfrm>
            <a:off x="9538454" y="3637233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696" dirty="0"/>
          </a:p>
        </p:txBody>
      </p:sp>
      <p:sp>
        <p:nvSpPr>
          <p:cNvPr id="164" name="Text 161"/>
          <p:cNvSpPr/>
          <p:nvPr/>
        </p:nvSpPr>
        <p:spPr>
          <a:xfrm>
            <a:off x="704832" y="3823120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624" dirty="0"/>
          </a:p>
        </p:txBody>
      </p:sp>
      <p:sp>
        <p:nvSpPr>
          <p:cNvPr id="165" name="Text 162"/>
          <p:cNvSpPr/>
          <p:nvPr/>
        </p:nvSpPr>
        <p:spPr>
          <a:xfrm>
            <a:off x="6858721" y="3823120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696" dirty="0"/>
          </a:p>
        </p:txBody>
      </p:sp>
      <p:sp>
        <p:nvSpPr>
          <p:cNvPr id="166" name="Text 163"/>
          <p:cNvSpPr/>
          <p:nvPr/>
        </p:nvSpPr>
        <p:spPr>
          <a:xfrm>
            <a:off x="8618272" y="3823120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696" dirty="0"/>
          </a:p>
        </p:txBody>
      </p:sp>
      <p:sp>
        <p:nvSpPr>
          <p:cNvPr id="167" name="Text 164"/>
          <p:cNvSpPr/>
          <p:nvPr/>
        </p:nvSpPr>
        <p:spPr>
          <a:xfrm>
            <a:off x="9538454" y="3823120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696" dirty="0"/>
          </a:p>
        </p:txBody>
      </p:sp>
      <p:sp>
        <p:nvSpPr>
          <p:cNvPr id="168" name="Text 165"/>
          <p:cNvSpPr/>
          <p:nvPr/>
        </p:nvSpPr>
        <p:spPr>
          <a:xfrm>
            <a:off x="704832" y="4009006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624" dirty="0"/>
          </a:p>
        </p:txBody>
      </p:sp>
      <p:sp>
        <p:nvSpPr>
          <p:cNvPr id="169" name="Text 166"/>
          <p:cNvSpPr/>
          <p:nvPr/>
        </p:nvSpPr>
        <p:spPr>
          <a:xfrm>
            <a:off x="5973514" y="4009006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</a:t>
            </a:r>
            <a:endParaRPr lang="en-US" sz="696" dirty="0"/>
          </a:p>
        </p:txBody>
      </p:sp>
      <p:sp>
        <p:nvSpPr>
          <p:cNvPr id="170" name="Text 167"/>
          <p:cNvSpPr/>
          <p:nvPr/>
        </p:nvSpPr>
        <p:spPr>
          <a:xfrm>
            <a:off x="704832" y="4194892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624" dirty="0"/>
          </a:p>
        </p:txBody>
      </p:sp>
      <p:sp>
        <p:nvSpPr>
          <p:cNvPr id="171" name="Text 168"/>
          <p:cNvSpPr/>
          <p:nvPr/>
        </p:nvSpPr>
        <p:spPr>
          <a:xfrm>
            <a:off x="5973514" y="4194892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696" dirty="0"/>
          </a:p>
        </p:txBody>
      </p:sp>
      <p:sp>
        <p:nvSpPr>
          <p:cNvPr id="172" name="Text 169"/>
          <p:cNvSpPr/>
          <p:nvPr/>
        </p:nvSpPr>
        <p:spPr>
          <a:xfrm>
            <a:off x="7736934" y="4194892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</a:t>
            </a:r>
            <a:endParaRPr lang="en-US" sz="696" dirty="0"/>
          </a:p>
        </p:txBody>
      </p:sp>
      <p:sp>
        <p:nvSpPr>
          <p:cNvPr id="173" name="Text 170"/>
          <p:cNvSpPr/>
          <p:nvPr/>
        </p:nvSpPr>
        <p:spPr>
          <a:xfrm>
            <a:off x="704832" y="4380779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624" dirty="0"/>
          </a:p>
        </p:txBody>
      </p:sp>
      <p:sp>
        <p:nvSpPr>
          <p:cNvPr id="174" name="Text 171"/>
          <p:cNvSpPr/>
          <p:nvPr/>
        </p:nvSpPr>
        <p:spPr>
          <a:xfrm>
            <a:off x="704832" y="4566665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24" dirty="0"/>
          </a:p>
        </p:txBody>
      </p:sp>
      <p:sp>
        <p:nvSpPr>
          <p:cNvPr id="175" name="Text 172"/>
          <p:cNvSpPr/>
          <p:nvPr/>
        </p:nvSpPr>
        <p:spPr>
          <a:xfrm>
            <a:off x="7736934" y="4566665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696" dirty="0"/>
          </a:p>
        </p:txBody>
      </p:sp>
      <p:sp>
        <p:nvSpPr>
          <p:cNvPr id="176" name="Text 173"/>
          <p:cNvSpPr/>
          <p:nvPr/>
        </p:nvSpPr>
        <p:spPr>
          <a:xfrm>
            <a:off x="8618272" y="4566665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696" dirty="0"/>
          </a:p>
        </p:txBody>
      </p:sp>
      <p:sp>
        <p:nvSpPr>
          <p:cNvPr id="177" name="Text 174"/>
          <p:cNvSpPr/>
          <p:nvPr/>
        </p:nvSpPr>
        <p:spPr>
          <a:xfrm>
            <a:off x="9538454" y="4566665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696" dirty="0"/>
          </a:p>
        </p:txBody>
      </p:sp>
      <p:sp>
        <p:nvSpPr>
          <p:cNvPr id="178" name="Text 175"/>
          <p:cNvSpPr/>
          <p:nvPr/>
        </p:nvSpPr>
        <p:spPr>
          <a:xfrm>
            <a:off x="704832" y="4752551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624" dirty="0"/>
          </a:p>
        </p:txBody>
      </p:sp>
      <p:sp>
        <p:nvSpPr>
          <p:cNvPr id="179" name="Text 176"/>
          <p:cNvSpPr/>
          <p:nvPr/>
        </p:nvSpPr>
        <p:spPr>
          <a:xfrm>
            <a:off x="9538454" y="4752551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</a:t>
            </a:r>
            <a:endParaRPr lang="en-US" sz="696" dirty="0"/>
          </a:p>
        </p:txBody>
      </p:sp>
      <p:sp>
        <p:nvSpPr>
          <p:cNvPr id="180" name="Text 177"/>
          <p:cNvSpPr/>
          <p:nvPr/>
        </p:nvSpPr>
        <p:spPr>
          <a:xfrm>
            <a:off x="10409969" y="4752551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</a:t>
            </a:r>
            <a:endParaRPr lang="en-US" sz="660" dirty="0"/>
          </a:p>
        </p:txBody>
      </p:sp>
      <p:sp>
        <p:nvSpPr>
          <p:cNvPr id="181" name="Text 178"/>
          <p:cNvSpPr/>
          <p:nvPr/>
        </p:nvSpPr>
        <p:spPr>
          <a:xfrm>
            <a:off x="704832" y="4938438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624" dirty="0"/>
          </a:p>
        </p:txBody>
      </p:sp>
      <p:sp>
        <p:nvSpPr>
          <p:cNvPr id="182" name="Text 179"/>
          <p:cNvSpPr/>
          <p:nvPr/>
        </p:nvSpPr>
        <p:spPr>
          <a:xfrm>
            <a:off x="8618272" y="4938438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96" dirty="0"/>
          </a:p>
        </p:txBody>
      </p:sp>
      <p:sp>
        <p:nvSpPr>
          <p:cNvPr id="183" name="Text 180"/>
          <p:cNvSpPr/>
          <p:nvPr/>
        </p:nvSpPr>
        <p:spPr>
          <a:xfrm>
            <a:off x="9538454" y="4938438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96" dirty="0"/>
          </a:p>
        </p:txBody>
      </p:sp>
      <p:sp>
        <p:nvSpPr>
          <p:cNvPr id="184" name="Text 181"/>
          <p:cNvSpPr/>
          <p:nvPr/>
        </p:nvSpPr>
        <p:spPr>
          <a:xfrm>
            <a:off x="10409969" y="4938438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660" dirty="0"/>
          </a:p>
        </p:txBody>
      </p:sp>
      <p:sp>
        <p:nvSpPr>
          <p:cNvPr id="185" name="Text 182"/>
          <p:cNvSpPr/>
          <p:nvPr/>
        </p:nvSpPr>
        <p:spPr>
          <a:xfrm>
            <a:off x="704832" y="5124324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624" dirty="0"/>
          </a:p>
        </p:txBody>
      </p:sp>
      <p:sp>
        <p:nvSpPr>
          <p:cNvPr id="186" name="Text 183"/>
          <p:cNvSpPr/>
          <p:nvPr/>
        </p:nvSpPr>
        <p:spPr>
          <a:xfrm>
            <a:off x="9538454" y="5124324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696" dirty="0"/>
          </a:p>
        </p:txBody>
      </p:sp>
      <p:sp>
        <p:nvSpPr>
          <p:cNvPr id="187" name="Text 184"/>
          <p:cNvSpPr/>
          <p:nvPr/>
        </p:nvSpPr>
        <p:spPr>
          <a:xfrm>
            <a:off x="10409969" y="5124324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660" dirty="0"/>
          </a:p>
        </p:txBody>
      </p:sp>
      <p:sp>
        <p:nvSpPr>
          <p:cNvPr id="188" name="Text 185"/>
          <p:cNvSpPr/>
          <p:nvPr/>
        </p:nvSpPr>
        <p:spPr>
          <a:xfrm>
            <a:off x="704832" y="6143625"/>
            <a:ext cx="274320" cy="235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768" dirty="0"/>
          </a:p>
        </p:txBody>
      </p:sp>
      <p:sp>
        <p:nvSpPr>
          <p:cNvPr id="189" name="Text 186"/>
          <p:cNvSpPr/>
          <p:nvPr/>
        </p:nvSpPr>
        <p:spPr>
          <a:xfrm>
            <a:off x="1009625" y="6143625"/>
            <a:ext cx="274320" cy="235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768" dirty="0"/>
          </a:p>
        </p:txBody>
      </p:sp>
      <p:sp>
        <p:nvSpPr>
          <p:cNvPr id="190" name="Text 187"/>
          <p:cNvSpPr/>
          <p:nvPr/>
        </p:nvSpPr>
        <p:spPr>
          <a:xfrm>
            <a:off x="1314417" y="6143625"/>
            <a:ext cx="274320" cy="235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768" dirty="0"/>
          </a:p>
        </p:txBody>
      </p:sp>
      <p:sp>
        <p:nvSpPr>
          <p:cNvPr id="191" name="Text 188"/>
          <p:cNvSpPr/>
          <p:nvPr/>
        </p:nvSpPr>
        <p:spPr>
          <a:xfrm>
            <a:off x="1619210" y="6143625"/>
            <a:ext cx="274320" cy="235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768" dirty="0"/>
          </a:p>
        </p:txBody>
      </p:sp>
      <p:sp>
        <p:nvSpPr>
          <p:cNvPr id="192" name="Text 189"/>
          <p:cNvSpPr/>
          <p:nvPr/>
        </p:nvSpPr>
        <p:spPr>
          <a:xfrm>
            <a:off x="1924002" y="6143625"/>
            <a:ext cx="274320" cy="235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768" dirty="0"/>
          </a:p>
        </p:txBody>
      </p:sp>
      <p:sp>
        <p:nvSpPr>
          <p:cNvPr id="193" name="Text 190"/>
          <p:cNvSpPr/>
          <p:nvPr/>
        </p:nvSpPr>
        <p:spPr>
          <a:xfrm>
            <a:off x="2228794" y="6143625"/>
            <a:ext cx="274320" cy="235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768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3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75025" y="1133475"/>
            <a:ext cx="230270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10.509 ventas en 8 iniciativas · 3 Vanti · 5 Xuma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275767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Comerciales · 1S 2026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781030" y="1104900"/>
            <a:ext cx="154914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 ejecutado en el 1S</a:t>
            </a:r>
            <a:endParaRPr lang="en-US" sz="1020" dirty="0"/>
          </a:p>
        </p:txBody>
      </p:sp>
      <p:sp>
        <p:nvSpPr>
          <p:cNvPr id="6" name="Text 3"/>
          <p:cNvSpPr/>
          <p:nvPr/>
        </p:nvSpPr>
        <p:spPr>
          <a:xfrm>
            <a:off x="3361943" y="3429000"/>
            <a:ext cx="155006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4.798 / 4.200 114 %</a:t>
            </a:r>
            <a:endParaRPr lang="en-US" sz="792" dirty="0"/>
          </a:p>
        </p:txBody>
      </p:sp>
      <p:sp>
        <p:nvSpPr>
          <p:cNvPr id="7" name="Text 4"/>
          <p:cNvSpPr/>
          <p:nvPr/>
        </p:nvSpPr>
        <p:spPr>
          <a:xfrm>
            <a:off x="9967217" y="4678710"/>
            <a:ext cx="155006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1.520 / 1.200 127 %</a:t>
            </a:r>
            <a:endParaRPr lang="en-US" sz="792" dirty="0"/>
          </a:p>
        </p:txBody>
      </p:sp>
      <p:sp>
        <p:nvSpPr>
          <p:cNvPr id="8" name="Text 5"/>
          <p:cNvSpPr/>
          <p:nvPr/>
        </p:nvSpPr>
        <p:spPr>
          <a:xfrm>
            <a:off x="719417" y="3284190"/>
            <a:ext cx="1550060" cy="139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Semanas Ganadoras</a:t>
            </a:r>
            <a:endParaRPr lang="en-US" sz="888" dirty="0"/>
          </a:p>
        </p:txBody>
      </p:sp>
      <p:sp>
        <p:nvSpPr>
          <p:cNvPr id="9" name="Text 6"/>
          <p:cNvSpPr/>
          <p:nvPr/>
        </p:nvSpPr>
        <p:spPr>
          <a:xfrm>
            <a:off x="719417" y="3429000"/>
            <a:ext cx="155006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1.292 / 950 136 %</a:t>
            </a:r>
            <a:endParaRPr lang="en-US" sz="792" dirty="0"/>
          </a:p>
        </p:txBody>
      </p:sp>
      <p:sp>
        <p:nvSpPr>
          <p:cNvPr id="10" name="Text 7"/>
          <p:cNvSpPr/>
          <p:nvPr/>
        </p:nvSpPr>
        <p:spPr>
          <a:xfrm>
            <a:off x="9967217" y="4533900"/>
            <a:ext cx="1550060" cy="139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Mundialista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2040680" y="4678710"/>
            <a:ext cx="155006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659 / 600 110 %</a:t>
            </a:r>
            <a:endParaRPr lang="en-US" sz="792" dirty="0"/>
          </a:p>
        </p:txBody>
      </p:sp>
      <p:sp>
        <p:nvSpPr>
          <p:cNvPr id="12" name="Text 9"/>
          <p:cNvSpPr/>
          <p:nvPr/>
        </p:nvSpPr>
        <p:spPr>
          <a:xfrm>
            <a:off x="3361943" y="3179415"/>
            <a:ext cx="15500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C9890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Mar–Abr · Vanti</a:t>
            </a:r>
            <a:endParaRPr lang="en-US" sz="672" dirty="0"/>
          </a:p>
        </p:txBody>
      </p:sp>
      <p:sp>
        <p:nvSpPr>
          <p:cNvPr id="13" name="Text 10"/>
          <p:cNvSpPr/>
          <p:nvPr/>
        </p:nvSpPr>
        <p:spPr>
          <a:xfrm>
            <a:off x="4683206" y="4678710"/>
            <a:ext cx="155006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607 / 600 101 %</a:t>
            </a:r>
            <a:endParaRPr lang="en-US" sz="792" dirty="0"/>
          </a:p>
        </p:txBody>
      </p:sp>
      <p:sp>
        <p:nvSpPr>
          <p:cNvPr id="14" name="Text 11"/>
          <p:cNvSpPr/>
          <p:nvPr/>
        </p:nvSpPr>
        <p:spPr>
          <a:xfrm>
            <a:off x="6003428" y="3429000"/>
            <a:ext cx="155006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517 / 500 103 %</a:t>
            </a:r>
            <a:endParaRPr lang="en-US" sz="792" dirty="0"/>
          </a:p>
        </p:txBody>
      </p:sp>
      <p:sp>
        <p:nvSpPr>
          <p:cNvPr id="15" name="Text 12"/>
          <p:cNvSpPr/>
          <p:nvPr/>
        </p:nvSpPr>
        <p:spPr>
          <a:xfrm>
            <a:off x="7324691" y="4533900"/>
            <a:ext cx="1550060" cy="139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Acelerador Mayo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8645954" y="3429000"/>
            <a:ext cx="155006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556 / 500 111 %</a:t>
            </a:r>
            <a:endParaRPr lang="en-US" sz="792" dirty="0"/>
          </a:p>
        </p:txBody>
      </p:sp>
      <p:sp>
        <p:nvSpPr>
          <p:cNvPr id="17" name="Text 14"/>
          <p:cNvSpPr/>
          <p:nvPr/>
        </p:nvSpPr>
        <p:spPr>
          <a:xfrm>
            <a:off x="2040680" y="4429125"/>
            <a:ext cx="15500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 · Xuma</a:t>
            </a:r>
            <a:endParaRPr lang="en-US" sz="672" dirty="0"/>
          </a:p>
        </p:txBody>
      </p:sp>
      <p:sp>
        <p:nvSpPr>
          <p:cNvPr id="18" name="Text 15"/>
          <p:cNvSpPr/>
          <p:nvPr/>
        </p:nvSpPr>
        <p:spPr>
          <a:xfrm>
            <a:off x="3361943" y="3284190"/>
            <a:ext cx="1550060" cy="139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Gran Jugada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324691" y="4678710"/>
            <a:ext cx="155006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560 / 650 86 %</a:t>
            </a:r>
            <a:endParaRPr lang="en-US" sz="792" dirty="0"/>
          </a:p>
        </p:txBody>
      </p:sp>
      <p:sp>
        <p:nvSpPr>
          <p:cNvPr id="20" name="Text 17"/>
          <p:cNvSpPr/>
          <p:nvPr/>
        </p:nvSpPr>
        <p:spPr>
          <a:xfrm>
            <a:off x="719417" y="3179415"/>
            <a:ext cx="15500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C9890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 · Vanti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2040680" y="4533900"/>
            <a:ext cx="1550060" cy="139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 Burger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4683206" y="4533900"/>
            <a:ext cx="1550060" cy="139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 Burger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4683206" y="4429125"/>
            <a:ext cx="15500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 · Xuma</a:t>
            </a:r>
            <a:endParaRPr lang="en-US" sz="672" dirty="0"/>
          </a:p>
        </p:txBody>
      </p:sp>
      <p:sp>
        <p:nvSpPr>
          <p:cNvPr id="24" name="Text 21"/>
          <p:cNvSpPr/>
          <p:nvPr/>
        </p:nvSpPr>
        <p:spPr>
          <a:xfrm>
            <a:off x="6003428" y="3179415"/>
            <a:ext cx="15500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 · Xuma</a:t>
            </a:r>
            <a:endParaRPr lang="en-US" sz="672" dirty="0"/>
          </a:p>
        </p:txBody>
      </p:sp>
      <p:sp>
        <p:nvSpPr>
          <p:cNvPr id="25" name="Text 22"/>
          <p:cNvSpPr/>
          <p:nvPr/>
        </p:nvSpPr>
        <p:spPr>
          <a:xfrm>
            <a:off x="7324691" y="4429125"/>
            <a:ext cx="15500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C9890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 · Vanti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9967217" y="4429125"/>
            <a:ext cx="15500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 · Xuma</a:t>
            </a:r>
            <a:endParaRPr lang="en-US" sz="672" dirty="0"/>
          </a:p>
        </p:txBody>
      </p:sp>
      <p:sp>
        <p:nvSpPr>
          <p:cNvPr id="27" name="Text 24"/>
          <p:cNvSpPr/>
          <p:nvPr/>
        </p:nvSpPr>
        <p:spPr>
          <a:xfrm>
            <a:off x="6003428" y="3284190"/>
            <a:ext cx="1550060" cy="139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Vanti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8645954" y="3179415"/>
            <a:ext cx="15500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 · Xuma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8645954" y="3284190"/>
            <a:ext cx="1550060" cy="139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Vanti</a:t>
            </a:r>
            <a:endParaRPr lang="en-US" sz="888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4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6619875"/>
            <a:ext cx="5601798" cy="166783"/>
          </a:xfrm>
          <a:prstGeom prst="rect">
            <a:avLst/>
          </a:prstGeom>
          <a:noFill/>
          <a:ln/>
        </p:spPr>
        <p:txBody>
          <a:bodyPr wrap="square" lIns="9525" tIns="95250" rIns="95250" bIns="5715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 Parte de La Gran Jugada · 114% meta #FeriaVanti</a:t>
            </a:r>
            <a:endParaRPr lang="en-US" sz="672" dirty="0"/>
          </a:p>
        </p:txBody>
      </p:sp>
      <p:sp>
        <p:nvSpPr>
          <p:cNvPr id="4" name="Text 1"/>
          <p:cNvSpPr/>
          <p:nvPr/>
        </p:nvSpPr>
        <p:spPr>
          <a:xfrm>
            <a:off x="6143471" y="6619875"/>
            <a:ext cx="5601798" cy="166783"/>
          </a:xfrm>
          <a:prstGeom prst="rect">
            <a:avLst/>
          </a:prstGeom>
          <a:noFill/>
          <a:ln/>
        </p:spPr>
        <p:txBody>
          <a:bodyPr wrap="square" lIns="9525" tIns="95250" rIns="95250" bIns="5715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 1.520 ventas en dos semanas #FeriaMundialista</a:t>
            </a:r>
            <a:endParaRPr lang="en-US" sz="672" dirty="0"/>
          </a:p>
        </p:txBody>
      </p:sp>
      <p:sp>
        <p:nvSpPr>
          <p:cNvPr id="5" name="Text 2"/>
          <p:cNvSpPr/>
          <p:nvPr/>
        </p:nvSpPr>
        <p:spPr>
          <a:xfrm>
            <a:off x="609585" y="3638550"/>
            <a:ext cx="5601798" cy="166783"/>
          </a:xfrm>
          <a:prstGeom prst="rect">
            <a:avLst/>
          </a:prstGeom>
          <a:noFill/>
          <a:ln/>
        </p:spPr>
        <p:txBody>
          <a:bodyPr wrap="square" lIns="9525" tIns="95250" rIns="95250" bIns="5715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 1.292 ventas logradas #SemanasGanadoras</a:t>
            </a:r>
            <a:endParaRPr lang="en-US" sz="672" dirty="0"/>
          </a:p>
        </p:txBody>
      </p:sp>
      <p:sp>
        <p:nvSpPr>
          <p:cNvPr id="6" name="Text 3"/>
          <p:cNvSpPr/>
          <p:nvPr/>
        </p:nvSpPr>
        <p:spPr>
          <a:xfrm>
            <a:off x="6143471" y="3638550"/>
            <a:ext cx="5601798" cy="166783"/>
          </a:xfrm>
          <a:prstGeom prst="rect">
            <a:avLst/>
          </a:prstGeom>
          <a:noFill/>
          <a:ln/>
        </p:spPr>
        <p:txBody>
          <a:bodyPr wrap="square" lIns="9525" tIns="95250" rIns="95250" bIns="5715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 1.266 ventas logradas #SemanaBurger</a:t>
            </a:r>
            <a:endParaRPr lang="en-US" sz="672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3594784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Evidencias · Iniciativas Ejecutadas 1S 2026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6514937" y="1067842"/>
            <a:ext cx="4910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 Burger &amp; Feria Vanti · Abril 2026</a:t>
            </a:r>
            <a:endParaRPr lang="en-US" sz="600" dirty="0"/>
          </a:p>
        </p:txBody>
      </p:sp>
      <p:sp>
        <p:nvSpPr>
          <p:cNvPr id="9" name="Text 6"/>
          <p:cNvSpPr/>
          <p:nvPr/>
        </p:nvSpPr>
        <p:spPr>
          <a:xfrm>
            <a:off x="981050" y="1067842"/>
            <a:ext cx="4910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Semanas Ganadoras · Enero 2026</a:t>
            </a:r>
            <a:endParaRPr lang="en-US" sz="600" dirty="0"/>
          </a:p>
        </p:txBody>
      </p:sp>
      <p:sp>
        <p:nvSpPr>
          <p:cNvPr id="10" name="Text 7"/>
          <p:cNvSpPr/>
          <p:nvPr/>
        </p:nvSpPr>
        <p:spPr>
          <a:xfrm>
            <a:off x="6514937" y="4049167"/>
            <a:ext cx="4910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Mundialista · Junio 2026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981050" y="4049167"/>
            <a:ext cx="4910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Vanti · Mayo 2026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981050" y="959197"/>
            <a:ext cx="4910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3" name="Text 10"/>
          <p:cNvSpPr/>
          <p:nvPr/>
        </p:nvSpPr>
        <p:spPr>
          <a:xfrm>
            <a:off x="6514937" y="959197"/>
            <a:ext cx="4910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4" name="Text 11"/>
          <p:cNvSpPr/>
          <p:nvPr/>
        </p:nvSpPr>
        <p:spPr>
          <a:xfrm>
            <a:off x="981050" y="3940522"/>
            <a:ext cx="4910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5" name="Text 12"/>
          <p:cNvSpPr/>
          <p:nvPr/>
        </p:nvSpPr>
        <p:spPr>
          <a:xfrm>
            <a:off x="6514937" y="3940522"/>
            <a:ext cx="4910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609585" y="3457575"/>
            <a:ext cx="5601798" cy="186404"/>
          </a:xfrm>
          <a:prstGeom prst="rect">
            <a:avLst/>
          </a:prstGeom>
          <a:noFill/>
          <a:ln/>
        </p:spPr>
        <p:txBody>
          <a:bodyPr wrap="square" lIns="38100" tIns="95250" rIns="9525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💬 ✈️</a:t>
            </a:r>
            <a:endParaRPr lang="en-US" sz="816" dirty="0"/>
          </a:p>
        </p:txBody>
      </p:sp>
      <p:sp>
        <p:nvSpPr>
          <p:cNvPr id="17" name="Text 14"/>
          <p:cNvSpPr/>
          <p:nvPr/>
        </p:nvSpPr>
        <p:spPr>
          <a:xfrm>
            <a:off x="6143471" y="3457575"/>
            <a:ext cx="5601798" cy="186404"/>
          </a:xfrm>
          <a:prstGeom prst="rect">
            <a:avLst/>
          </a:prstGeom>
          <a:noFill/>
          <a:ln/>
        </p:spPr>
        <p:txBody>
          <a:bodyPr wrap="square" lIns="38100" tIns="95250" rIns="9525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💬 ✈️</a:t>
            </a:r>
            <a:endParaRPr lang="en-US" sz="816" dirty="0"/>
          </a:p>
        </p:txBody>
      </p:sp>
      <p:sp>
        <p:nvSpPr>
          <p:cNvPr id="18" name="Text 15"/>
          <p:cNvSpPr/>
          <p:nvPr/>
        </p:nvSpPr>
        <p:spPr>
          <a:xfrm>
            <a:off x="609585" y="6438900"/>
            <a:ext cx="5601798" cy="186404"/>
          </a:xfrm>
          <a:prstGeom prst="rect">
            <a:avLst/>
          </a:prstGeom>
          <a:noFill/>
          <a:ln/>
        </p:spPr>
        <p:txBody>
          <a:bodyPr wrap="square" lIns="38100" tIns="95250" rIns="9525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💬 ✈️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6143471" y="6438900"/>
            <a:ext cx="5601798" cy="186404"/>
          </a:xfrm>
          <a:prstGeom prst="rect">
            <a:avLst/>
          </a:prstGeom>
          <a:noFill/>
          <a:ln/>
        </p:spPr>
        <p:txBody>
          <a:bodyPr wrap="square" lIns="38100" tIns="95250" rIns="9525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💬 ✈️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5815165" y="99536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  <p:sp>
        <p:nvSpPr>
          <p:cNvPr id="21" name="Text 18"/>
          <p:cNvSpPr/>
          <p:nvPr/>
        </p:nvSpPr>
        <p:spPr>
          <a:xfrm>
            <a:off x="11349051" y="99536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  <p:sp>
        <p:nvSpPr>
          <p:cNvPr id="22" name="Text 19"/>
          <p:cNvSpPr/>
          <p:nvPr/>
        </p:nvSpPr>
        <p:spPr>
          <a:xfrm>
            <a:off x="5815165" y="397668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11349051" y="397668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5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772106" y="6399609"/>
            <a:ext cx="4095119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Fortalecimiento del Cumplimiento de Lineamientos Operativos y de Calidad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1019150" y="5701754"/>
            <a:ext cx="3790380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Lineamientos para la Aplicación del Guion y Control de Modificaciones</a:t>
            </a:r>
            <a:endParaRPr lang="en-US" sz="864" dirty="0"/>
          </a:p>
        </p:txBody>
      </p:sp>
      <p:sp>
        <p:nvSpPr>
          <p:cNvPr id="5" name="Text 2"/>
          <p:cNvSpPr/>
          <p:nvPr/>
        </p:nvSpPr>
        <p:spPr>
          <a:xfrm>
            <a:off x="6772106" y="4432399"/>
            <a:ext cx="3779804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Implementación de Herramientas de Apoyo para la Gestión Comercial</a:t>
            </a:r>
            <a:endParaRPr lang="en-US" sz="864" dirty="0"/>
          </a:p>
        </p:txBody>
      </p:sp>
      <p:sp>
        <p:nvSpPr>
          <p:cNvPr id="6" name="Text 3"/>
          <p:cNvSpPr/>
          <p:nvPr/>
        </p:nvSpPr>
        <p:spPr>
          <a:xfrm>
            <a:off x="666733" y="914400"/>
            <a:ext cx="11183975" cy="33739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t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 capacitaciones ejecutadas por Xuma — al menos una por mes.</a:t>
            </a:r>
            <a:endParaRPr lang="en-US" sz="960" dirty="0"/>
          </a:p>
        </p:txBody>
      </p:sp>
      <p:sp>
        <p:nvSpPr>
          <p:cNvPr id="7" name="Text 4"/>
          <p:cNvSpPr/>
          <p:nvPr/>
        </p:nvSpPr>
        <p:spPr>
          <a:xfrm>
            <a:off x="1019150" y="1767185"/>
            <a:ext cx="3380792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Socialización y Alineación de Estándares de Calidad Comercial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6772106" y="2808089"/>
            <a:ext cx="3499744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Fortalecimiento de Conocimientos del Producto Cuota Protegida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1019150" y="3620244"/>
            <a:ext cx="3299089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Aplicación Correcta de la Cláusula de Cobro y Autorizaciones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1019150" y="5473154"/>
            <a:ext cx="3322082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Técnicas Efectivas para el Manejo de Objeciones Comerciales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1019150" y="5244554"/>
            <a:ext cx="2987759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Actualización Comercial del Producto Plan Combo Vida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6772106" y="2579489"/>
            <a:ext cx="2721189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Estandarización del Protocolo de Cierre Comercial</a:t>
            </a:r>
            <a:endParaRPr lang="en-US" sz="864" dirty="0"/>
          </a:p>
        </p:txBody>
      </p:sp>
      <p:sp>
        <p:nvSpPr>
          <p:cNvPr id="13" name="Text 10"/>
          <p:cNvSpPr/>
          <p:nvPr/>
        </p:nvSpPr>
        <p:spPr>
          <a:xfrm>
            <a:off x="571486" y="209550"/>
            <a:ext cx="4025526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Capacitaciones del Semestre · Línea de Tiempo</a:t>
            </a:r>
            <a:endParaRPr lang="en-US" sz="1260" dirty="0"/>
          </a:p>
        </p:txBody>
      </p:sp>
      <p:sp>
        <p:nvSpPr>
          <p:cNvPr id="14" name="Text 11"/>
          <p:cNvSpPr/>
          <p:nvPr/>
        </p:nvSpPr>
        <p:spPr>
          <a:xfrm>
            <a:off x="6772106" y="4660999"/>
            <a:ext cx="2544753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Estandarización del Guion Comercial Aprobado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6543511" y="2422178"/>
            <a:ext cx="5003357" cy="137350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 · 2 sesiónes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543511" y="4275088"/>
            <a:ext cx="5003357" cy="137350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 · 2 sesiónes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90555" y="5087243"/>
            <a:ext cx="5003357" cy="137350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 · 3 sesiónes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90555" y="1609874"/>
            <a:ext cx="5003357" cy="137350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 · 1 sesión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90555" y="3462933"/>
            <a:ext cx="5003357" cy="137350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 · 1 sesión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543511" y="6242298"/>
            <a:ext cx="5003357" cy="137350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 · 1 sesión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6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743531" y="6041975"/>
            <a:ext cx="4728663" cy="26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Cargues priorizados según mayor presencia de ventas por localidad o edad, y barrido de contactos sin respuesta más cambio de DID si el número marca como spam.</a:t>
            </a:r>
            <a:endParaRPr lang="en-US" sz="672" dirty="0"/>
          </a:p>
        </p:txBody>
      </p:sp>
      <p:sp>
        <p:nvSpPr>
          <p:cNvPr id="4" name="Text 1"/>
          <p:cNvSpPr/>
          <p:nvPr/>
        </p:nvSpPr>
        <p:spPr>
          <a:xfrm>
            <a:off x="6743531" y="1912888"/>
            <a:ext cx="4728663" cy="26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ajustaron las exclusiones dando más beneficios y menor tiempo de carencia, con el guion actualizado para incorporar la nueva asistencia.</a:t>
            </a:r>
            <a:endParaRPr lang="en-US" sz="672" dirty="0"/>
          </a:p>
        </p:txBody>
      </p:sp>
      <p:sp>
        <p:nvSpPr>
          <p:cNvPr id="5" name="Text 2"/>
          <p:cNvSpPr/>
          <p:nvPr/>
        </p:nvSpPr>
        <p:spPr>
          <a:xfrm>
            <a:off x="6743531" y="4665613"/>
            <a:ext cx="4728663" cy="26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Cuando el usuario cree que es solo información, el asesor debe aclarar que se está ofreciendo un seguro, para una venta más transparente.</a:t>
            </a:r>
            <a:endParaRPr lang="en-US" sz="672" dirty="0"/>
          </a:p>
        </p:txBody>
      </p:sp>
      <p:sp>
        <p:nvSpPr>
          <p:cNvPr id="6" name="Text 3"/>
          <p:cNvSpPr/>
          <p:nvPr/>
        </p:nvSpPr>
        <p:spPr>
          <a:xfrm>
            <a:off x="6743531" y="3289250"/>
            <a:ext cx="4728663" cy="26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 exclusiva para clientes que obtuvieron el crédito por autogestión, conociendo cómo perciben esta nueva forma de crédito.</a:t>
            </a:r>
            <a:endParaRPr lang="en-US" sz="672" dirty="0"/>
          </a:p>
        </p:txBody>
      </p:sp>
      <p:sp>
        <p:nvSpPr>
          <p:cNvPr id="7" name="Text 4"/>
          <p:cNvSpPr/>
          <p:nvPr/>
        </p:nvSpPr>
        <p:spPr>
          <a:xfrm>
            <a:off x="1200120" y="3289250"/>
            <a:ext cx="4728663" cy="26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Auditorías puntuales en algunos meses para verificar que la tipificación registrada coincida con lo que pasó en la llamada.</a:t>
            </a:r>
            <a:endParaRPr lang="en-US" sz="672" dirty="0"/>
          </a:p>
        </p:txBody>
      </p:sp>
      <p:sp>
        <p:nvSpPr>
          <p:cNvPr id="8" name="Text 5"/>
          <p:cNvSpPr/>
          <p:nvPr/>
        </p:nvSpPr>
        <p:spPr>
          <a:xfrm>
            <a:off x="1200120" y="4665613"/>
            <a:ext cx="4728663" cy="26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revisan las llamadas tipificadas "no interesado" para nutrir un manual de objeciones que guía al asesor hacia el cierre.</a:t>
            </a:r>
            <a:endParaRPr lang="en-US" sz="672" dirty="0"/>
          </a:p>
        </p:txBody>
      </p:sp>
      <p:sp>
        <p:nvSpPr>
          <p:cNvPr id="9" name="Text 6"/>
          <p:cNvSpPr/>
          <p:nvPr/>
        </p:nvSpPr>
        <p:spPr>
          <a:xfrm>
            <a:off x="1200120" y="1976735"/>
            <a:ext cx="4478189" cy="131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revisa en vivo cómo el asesor debate objeciones, si tipifica correctamente y se corrigen errores al momento.</a:t>
            </a:r>
            <a:endParaRPr lang="en-US" sz="672" dirty="0"/>
          </a:p>
        </p:txBody>
      </p:sp>
      <p:sp>
        <p:nvSpPr>
          <p:cNvPr id="10" name="Text 7"/>
          <p:cNvSpPr/>
          <p:nvPr/>
        </p:nvSpPr>
        <p:spPr>
          <a:xfrm>
            <a:off x="1200120" y="6105823"/>
            <a:ext cx="3778577" cy="131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Seguimiento individual: cómo va cada asesor, a qué % se proyecta y qué le falta para su meta.</a:t>
            </a:r>
            <a:endParaRPr lang="en-US" sz="672" dirty="0"/>
          </a:p>
        </p:txBody>
      </p:sp>
      <p:sp>
        <p:nvSpPr>
          <p:cNvPr id="11" name="Text 8"/>
          <p:cNvSpPr/>
          <p:nvPr/>
        </p:nvSpPr>
        <p:spPr>
          <a:xfrm>
            <a:off x="1200120" y="1852910"/>
            <a:ext cx="44781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Objeciones, tipificación y corrección inmediata</a:t>
            </a:r>
            <a:endParaRPr lang="en-US" sz="672" dirty="0"/>
          </a:p>
        </p:txBody>
      </p:sp>
      <p:sp>
        <p:nvSpPr>
          <p:cNvPr id="12" name="Text 9"/>
          <p:cNvSpPr/>
          <p:nvPr/>
        </p:nvSpPr>
        <p:spPr>
          <a:xfrm>
            <a:off x="6743531" y="3165425"/>
            <a:ext cx="47286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Trato preferencial y medición de experiencia</a:t>
            </a:r>
            <a:endParaRPr lang="en-US" sz="672" dirty="0"/>
          </a:p>
        </p:txBody>
      </p:sp>
      <p:sp>
        <p:nvSpPr>
          <p:cNvPr id="13" name="Text 10"/>
          <p:cNvSpPr/>
          <p:nvPr/>
        </p:nvSpPr>
        <p:spPr>
          <a:xfrm>
            <a:off x="1200120" y="3165425"/>
            <a:ext cx="47286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Contrastan tipificación vs. la llamada real</a:t>
            </a:r>
            <a:endParaRPr lang="en-US" sz="672" dirty="0"/>
          </a:p>
        </p:txBody>
      </p:sp>
      <p:sp>
        <p:nvSpPr>
          <p:cNvPr id="14" name="Text 11"/>
          <p:cNvSpPr/>
          <p:nvPr/>
        </p:nvSpPr>
        <p:spPr>
          <a:xfrm>
            <a:off x="1200120" y="4541788"/>
            <a:ext cx="47286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Manual de objeciones desde "no interesado"</a:t>
            </a:r>
            <a:endParaRPr lang="en-US" sz="672" dirty="0"/>
          </a:p>
        </p:txBody>
      </p:sp>
      <p:sp>
        <p:nvSpPr>
          <p:cNvPr id="15" name="Text 12"/>
          <p:cNvSpPr/>
          <p:nvPr/>
        </p:nvSpPr>
        <p:spPr>
          <a:xfrm>
            <a:off x="6743531" y="4541788"/>
            <a:ext cx="47286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asesor deja explícito que es un seguro</a:t>
            </a:r>
            <a:endParaRPr lang="en-US" sz="672" dirty="0"/>
          </a:p>
        </p:txBody>
      </p:sp>
      <p:sp>
        <p:nvSpPr>
          <p:cNvPr id="16" name="Text 13"/>
          <p:cNvSpPr/>
          <p:nvPr/>
        </p:nvSpPr>
        <p:spPr>
          <a:xfrm>
            <a:off x="571486" y="209550"/>
            <a:ext cx="356473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Monitoreo y Cambios de Proceso · 1S 2026</a:t>
            </a:r>
            <a:endParaRPr lang="en-US" sz="1260" dirty="0"/>
          </a:p>
        </p:txBody>
      </p:sp>
      <p:sp>
        <p:nvSpPr>
          <p:cNvPr id="17" name="Text 14"/>
          <p:cNvSpPr/>
          <p:nvPr/>
        </p:nvSpPr>
        <p:spPr>
          <a:xfrm>
            <a:off x="6743531" y="5918150"/>
            <a:ext cx="47286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 localidad/edad + control de spam/DID</a:t>
            </a:r>
            <a:endParaRPr lang="en-US" sz="672" dirty="0"/>
          </a:p>
        </p:txBody>
      </p:sp>
      <p:sp>
        <p:nvSpPr>
          <p:cNvPr id="18" name="Text 15"/>
          <p:cNvSpPr/>
          <p:nvPr/>
        </p:nvSpPr>
        <p:spPr>
          <a:xfrm>
            <a:off x="6743531" y="1789063"/>
            <a:ext cx="47286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Menor carencia + coberturas adicionales</a:t>
            </a:r>
            <a:endParaRPr lang="en-US" sz="672" dirty="0"/>
          </a:p>
        </p:txBody>
      </p:sp>
      <p:sp>
        <p:nvSpPr>
          <p:cNvPr id="19" name="Text 16"/>
          <p:cNvSpPr/>
          <p:nvPr/>
        </p:nvSpPr>
        <p:spPr>
          <a:xfrm>
            <a:off x="1200120" y="5981998"/>
            <a:ext cx="37785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Avance, proyección y KPI faltante</a:t>
            </a:r>
            <a:endParaRPr lang="en-US" sz="672" dirty="0"/>
          </a:p>
        </p:txBody>
      </p:sp>
      <p:sp>
        <p:nvSpPr>
          <p:cNvPr id="20" name="Text 17"/>
          <p:cNvSpPr/>
          <p:nvPr/>
        </p:nvSpPr>
        <p:spPr>
          <a:xfrm>
            <a:off x="6743531" y="4398913"/>
            <a:ext cx="472866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Frase de aclaración obligatoria</a:t>
            </a:r>
            <a:endParaRPr lang="en-US" sz="864" dirty="0"/>
          </a:p>
        </p:txBody>
      </p:sp>
      <p:sp>
        <p:nvSpPr>
          <p:cNvPr id="21" name="Text 18"/>
          <p:cNvSpPr/>
          <p:nvPr/>
        </p:nvSpPr>
        <p:spPr>
          <a:xfrm>
            <a:off x="6743531" y="5775275"/>
            <a:ext cx="472866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Segmentación y contactabilidad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1200120" y="5839123"/>
            <a:ext cx="377857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Revisión semanal por asesor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742931" y="1009650"/>
            <a:ext cx="5317294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Monitoreo y acompañamiento</a:t>
            </a:r>
            <a:endParaRPr lang="en-US" sz="936" dirty="0"/>
          </a:p>
        </p:txBody>
      </p:sp>
      <p:sp>
        <p:nvSpPr>
          <p:cNvPr id="24" name="Text 21"/>
          <p:cNvSpPr/>
          <p:nvPr/>
        </p:nvSpPr>
        <p:spPr>
          <a:xfrm>
            <a:off x="1200120" y="1710035"/>
            <a:ext cx="447818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Monitoreo semanal en vivo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6286343" y="1009650"/>
            <a:ext cx="5317294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Cambios de proceso (Xuma)</a:t>
            </a:r>
            <a:endParaRPr lang="en-US" sz="936" dirty="0"/>
          </a:p>
        </p:txBody>
      </p:sp>
      <p:sp>
        <p:nvSpPr>
          <p:cNvPr id="26" name="Text 23"/>
          <p:cNvSpPr/>
          <p:nvPr/>
        </p:nvSpPr>
        <p:spPr>
          <a:xfrm>
            <a:off x="1200120" y="3022550"/>
            <a:ext cx="472866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Monitoreos ocasionales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6743531" y="1646188"/>
            <a:ext cx="472866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Exclusiones del seguro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6743531" y="3022550"/>
            <a:ext cx="472866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 autogestión</a:t>
            </a:r>
            <a:endParaRPr lang="en-US" sz="864" dirty="0"/>
          </a:p>
        </p:txBody>
      </p:sp>
      <p:sp>
        <p:nvSpPr>
          <p:cNvPr id="29" name="Text 26"/>
          <p:cNvSpPr/>
          <p:nvPr/>
        </p:nvSpPr>
        <p:spPr>
          <a:xfrm>
            <a:off x="1200120" y="4398913"/>
            <a:ext cx="472866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de emergencia</a:t>
            </a:r>
            <a:endParaRPr lang="en-US" sz="864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7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476" y="4370189"/>
            <a:ext cx="5690093" cy="52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Contactabilidad, conversión, motivos de rechazo y proyección del volumen necesario para lograr 3.000 ventas/mes en el segundo semestre.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952476" y="3128367"/>
            <a:ext cx="5705422" cy="1082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Análisis de Basese Indicadores Operativos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952476" y="2852142"/>
            <a:ext cx="9493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Capítulo 2</a:t>
            </a:r>
            <a:endParaRPr lang="en-US" sz="936" dirty="0"/>
          </a:p>
        </p:txBody>
      </p:sp>
      <p:sp>
        <p:nvSpPr>
          <p:cNvPr id="6" name="Text 3"/>
          <p:cNvSpPr/>
          <p:nvPr/>
        </p:nvSpPr>
        <p:spPr>
          <a:xfrm>
            <a:off x="952476" y="1975842"/>
            <a:ext cx="1332849" cy="1098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4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8_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486" y="4366320"/>
            <a:ext cx="11380185" cy="721703"/>
          </a:xfrm>
          <a:prstGeom prst="rect">
            <a:avLst/>
          </a:prstGeom>
          <a:noFill/>
          <a:ln/>
        </p:spPr>
        <p:txBody>
          <a:bodyPr wrap="square" lIns="76200" tIns="133350" rIns="133350" bIns="7620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 importante: entre enero (22 %) y mayo (65 %) triplicamos la contactabilidad sin cambiar quién llamamos, solo cómo y cuándo. Eso sostuvo el nivel de ventas pese a que la base apta cayó un 62 %. Lectura: el calendario, horarios y estrategia de llamadas son tan poderosos como la base misma. Febrero y junio bajan porque cambia el mix de campañas (vimos esto arriba). En el 2S, Isaac propone seguir con análisis por franja horaria para identificar ventanas óptimas.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328743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y Conversión · 1S 2026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3552736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Jun: 46,5 % (+56 % volumen gestionado)</a:t>
            </a:r>
            <a:endParaRPr lang="en-US" sz="864" dirty="0"/>
          </a:p>
        </p:txBody>
      </p:sp>
      <p:sp>
        <p:nvSpPr>
          <p:cNvPr id="6" name="Text 3"/>
          <p:cNvSpPr/>
          <p:nvPr/>
        </p:nvSpPr>
        <p:spPr>
          <a:xfrm>
            <a:off x="761981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154.838 contactos en el semestre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9134247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Principal causa de no contacto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761981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 (1S)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6343491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Promedio ene–jun (7,5–11,2 %)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6295868" y="2213670"/>
            <a:ext cx="5327104" cy="225647"/>
          </a:xfrm>
          <a:prstGeom prst="rect">
            <a:avLst/>
          </a:prstGeom>
          <a:noFill/>
          <a:ln/>
        </p:spPr>
        <p:txBody>
          <a:bodyPr wrap="square" lIns="0" tIns="0" rIns="0" bIns="47625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sobre contactados</a:t>
            </a:r>
            <a:endParaRPr lang="en-US" sz="1020" dirty="0"/>
          </a:p>
        </p:txBody>
      </p:sp>
      <p:sp>
        <p:nvSpPr>
          <p:cNvPr id="11" name="Text 8"/>
          <p:cNvSpPr/>
          <p:nvPr/>
        </p:nvSpPr>
        <p:spPr>
          <a:xfrm>
            <a:off x="6343491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prom./contacto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723882" y="2213670"/>
            <a:ext cx="5327104" cy="225647"/>
          </a:xfrm>
          <a:prstGeom prst="rect">
            <a:avLst/>
          </a:prstGeom>
          <a:noFill/>
          <a:ln/>
        </p:spPr>
        <p:txBody>
          <a:bodyPr wrap="square" lIns="0" tIns="0" rIns="0" bIns="47625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por mes</a:t>
            </a:r>
            <a:endParaRPr lang="en-US" sz="1020" dirty="0"/>
          </a:p>
        </p:txBody>
      </p:sp>
      <p:sp>
        <p:nvSpPr>
          <p:cNvPr id="13" name="Text 10"/>
          <p:cNvSpPr/>
          <p:nvPr/>
        </p:nvSpPr>
        <p:spPr>
          <a:xfrm>
            <a:off x="9134247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(semestre)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571486" y="1775520"/>
            <a:ext cx="11380185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 mes Por campaña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166044" y="2475630"/>
            <a:ext cx="188821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Contactados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3552736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Pico: mayo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8999263" y="2475630"/>
            <a:ext cx="1213590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10177506" y="2475630"/>
            <a:ext cx="132901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Efect.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166044" y="2704230"/>
            <a:ext cx="188821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22.402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10177506" y="2704230"/>
            <a:ext cx="132901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7166044" y="2947117"/>
            <a:ext cx="188821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21.171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10177506" y="2947117"/>
            <a:ext cx="132901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11,2 %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7166044" y="3194767"/>
            <a:ext cx="188821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32.546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7166044" y="3442417"/>
            <a:ext cx="188821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24.520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7166044" y="3690067"/>
            <a:ext cx="188821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25.647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7166044" y="3937717"/>
            <a:ext cx="188821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28.552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761981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42,4 %</a:t>
            </a:r>
            <a:endParaRPr lang="en-US" sz="2280" dirty="0"/>
          </a:p>
        </p:txBody>
      </p:sp>
      <p:sp>
        <p:nvSpPr>
          <p:cNvPr id="28" name="Text 25"/>
          <p:cNvSpPr/>
          <p:nvPr/>
        </p:nvSpPr>
        <p:spPr>
          <a:xfrm>
            <a:off x="3552736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64,9 %</a:t>
            </a:r>
            <a:endParaRPr lang="en-US" sz="2280" dirty="0"/>
          </a:p>
        </p:txBody>
      </p:sp>
      <p:sp>
        <p:nvSpPr>
          <p:cNvPr id="29" name="Text 26"/>
          <p:cNvSpPr/>
          <p:nvPr/>
        </p:nvSpPr>
        <p:spPr>
          <a:xfrm>
            <a:off x="5438639" y="2508945"/>
            <a:ext cx="47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21,6 %</a:t>
            </a:r>
            <a:endParaRPr lang="en-US" sz="768" dirty="0"/>
          </a:p>
        </p:txBody>
      </p:sp>
      <p:sp>
        <p:nvSpPr>
          <p:cNvPr id="30" name="Text 27"/>
          <p:cNvSpPr/>
          <p:nvPr/>
        </p:nvSpPr>
        <p:spPr>
          <a:xfrm>
            <a:off x="5438639" y="2689920"/>
            <a:ext cx="47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44,1 %</a:t>
            </a:r>
            <a:endParaRPr lang="en-US" sz="768" dirty="0"/>
          </a:p>
        </p:txBody>
      </p:sp>
      <p:sp>
        <p:nvSpPr>
          <p:cNvPr id="31" name="Text 28"/>
          <p:cNvSpPr/>
          <p:nvPr/>
        </p:nvSpPr>
        <p:spPr>
          <a:xfrm>
            <a:off x="5438639" y="2870895"/>
            <a:ext cx="47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45,3 %</a:t>
            </a:r>
            <a:endParaRPr lang="en-US" sz="768" dirty="0"/>
          </a:p>
        </p:txBody>
      </p:sp>
      <p:sp>
        <p:nvSpPr>
          <p:cNvPr id="32" name="Text 29"/>
          <p:cNvSpPr/>
          <p:nvPr/>
        </p:nvSpPr>
        <p:spPr>
          <a:xfrm>
            <a:off x="5438639" y="3051870"/>
            <a:ext cx="47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60,3 %</a:t>
            </a:r>
            <a:endParaRPr lang="en-US" sz="768" dirty="0"/>
          </a:p>
        </p:txBody>
      </p:sp>
      <p:sp>
        <p:nvSpPr>
          <p:cNvPr id="33" name="Text 30"/>
          <p:cNvSpPr/>
          <p:nvPr/>
        </p:nvSpPr>
        <p:spPr>
          <a:xfrm>
            <a:off x="5438639" y="3232845"/>
            <a:ext cx="47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64,9 %</a:t>
            </a:r>
            <a:endParaRPr lang="en-US" sz="768" dirty="0"/>
          </a:p>
        </p:txBody>
      </p:sp>
      <p:sp>
        <p:nvSpPr>
          <p:cNvPr id="34" name="Text 31"/>
          <p:cNvSpPr/>
          <p:nvPr/>
        </p:nvSpPr>
        <p:spPr>
          <a:xfrm>
            <a:off x="5438639" y="3413820"/>
            <a:ext cx="47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46,5 %</a:t>
            </a:r>
            <a:endParaRPr lang="en-US" sz="768" dirty="0"/>
          </a:p>
        </p:txBody>
      </p:sp>
      <p:sp>
        <p:nvSpPr>
          <p:cNvPr id="35" name="Text 32"/>
          <p:cNvSpPr/>
          <p:nvPr/>
        </p:nvSpPr>
        <p:spPr>
          <a:xfrm>
            <a:off x="8999263" y="2704230"/>
            <a:ext cx="121359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8999263" y="2947117"/>
            <a:ext cx="121359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8999263" y="3194767"/>
            <a:ext cx="121359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10177506" y="3194767"/>
            <a:ext cx="132901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7,5 %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8999263" y="3442417"/>
            <a:ext cx="121359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10177506" y="3442417"/>
            <a:ext cx="132901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9,7 %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8999263" y="3690067"/>
            <a:ext cx="121359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10177506" y="3690067"/>
            <a:ext cx="132901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8,5 %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8999263" y="3937717"/>
            <a:ext cx="121359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10177506" y="3937717"/>
            <a:ext cx="132901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8,1 %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6343491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9,0 %</a:t>
            </a:r>
            <a:endParaRPr lang="en-US" sz="2280" dirty="0"/>
          </a:p>
        </p:txBody>
      </p:sp>
      <p:sp>
        <p:nvSpPr>
          <p:cNvPr id="46" name="Text 43"/>
          <p:cNvSpPr/>
          <p:nvPr/>
        </p:nvSpPr>
        <p:spPr>
          <a:xfrm>
            <a:off x="9134247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~51 %</a:t>
            </a:r>
            <a:endParaRPr lang="en-US" sz="2280" dirty="0"/>
          </a:p>
        </p:txBody>
      </p:sp>
      <p:sp>
        <p:nvSpPr>
          <p:cNvPr id="47" name="Text 44"/>
          <p:cNvSpPr/>
          <p:nvPr/>
        </p:nvSpPr>
        <p:spPr>
          <a:xfrm>
            <a:off x="6295868" y="2475630"/>
            <a:ext cx="89628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6295868" y="2704230"/>
            <a:ext cx="89628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6295868" y="2947117"/>
            <a:ext cx="89628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6295868" y="3194767"/>
            <a:ext cx="89628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6295868" y="3442417"/>
            <a:ext cx="89628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6295868" y="3690067"/>
            <a:ext cx="89628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53" name="Text 50"/>
          <p:cNvSpPr/>
          <p:nvPr/>
        </p:nvSpPr>
        <p:spPr>
          <a:xfrm>
            <a:off x="6295868" y="3937717"/>
            <a:ext cx="89628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723882" y="2504182"/>
            <a:ext cx="7259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723882" y="2685157"/>
            <a:ext cx="7259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723882" y="2866132"/>
            <a:ext cx="7259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723882" y="3047107"/>
            <a:ext cx="7259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723882" y="3228082"/>
            <a:ext cx="7259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723882" y="3409057"/>
            <a:ext cx="7259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16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8_Campa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3882" y="4021712"/>
            <a:ext cx="11066249" cy="800189"/>
          </a:xfrm>
          <a:prstGeom prst="rect">
            <a:avLst/>
          </a:prstGeom>
          <a:noFill/>
          <a:ln/>
        </p:spPr>
        <p:txBody>
          <a:bodyPr wrap="square" lIns="114300" tIns="171450" rIns="171450" bIns="11430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Clave: Los números en el calendario cambian según qué tipo de cliente estamos llamando. Cuando trabajamos con gente que ya nos conoce (CP y Autogestión) los contactamos unas 4 veces mejor (73-79 %) que números nuevos en Masiva Voluntarios (19 %). Implicación: mejorar contactabilidad no es solo cuestión de horarios — es el tipo de base. Mejor calidad de números = mejores resultados.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723882" y="3807697"/>
            <a:ext cx="1106624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Las ventas en base (operativo) no incluyen campañas fuera de base como Microseguro Activo (1.462 pólizas). La liquidación consolida ambos orígenes.</a:t>
            </a:r>
            <a:endParaRPr lang="en-US" sz="720" dirty="0"/>
          </a:p>
        </p:txBody>
      </p:sp>
      <p:sp>
        <p:nvSpPr>
          <p:cNvPr id="5" name="Text 2"/>
          <p:cNvSpPr/>
          <p:nvPr/>
        </p:nvSpPr>
        <p:spPr>
          <a:xfrm>
            <a:off x="723882" y="2255122"/>
            <a:ext cx="11066249" cy="235458"/>
          </a:xfrm>
          <a:prstGeom prst="rect">
            <a:avLst/>
          </a:prstGeom>
          <a:noFill/>
          <a:ln/>
        </p:spPr>
        <p:txBody>
          <a:bodyPr wrap="square" lIns="0" tIns="0" rIns="0" bIns="5715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Cruce con campañas: el mix explica gran parte de la mejora</a:t>
            </a:r>
            <a:endParaRPr lang="en-US" sz="1020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328743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y Conversión · 1S 2026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3552736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Jun: 46,5 % (+56 % volumen gestionado)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761981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154.838 contactos en el semestre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9134247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Principal causa de no contacto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761981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 (1S)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6343491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Promedio ene–jun (7,5–11,2 %)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723882" y="2774258"/>
            <a:ext cx="395072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Bienvenidas Cuota Protegida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6343491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prom./contacto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9134247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(semestre)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723882" y="3264795"/>
            <a:ext cx="395072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Stock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571486" y="1775520"/>
            <a:ext cx="11380185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 mes Por campaña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23882" y="3512445"/>
            <a:ext cx="395072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Masiva Voluntarios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4559533" y="2545658"/>
            <a:ext cx="260499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088655" y="2545658"/>
            <a:ext cx="254659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Conv./contacto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723882" y="3017145"/>
            <a:ext cx="395072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Autogestión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3552736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Pico: mayo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9561075" y="2774258"/>
            <a:ext cx="196394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Excelente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9561075" y="3017145"/>
            <a:ext cx="196394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Excelente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9561075" y="3264795"/>
            <a:ext cx="196394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Moderado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723882" y="2545658"/>
            <a:ext cx="395072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9561075" y="2545658"/>
            <a:ext cx="1963940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Perfil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7088655" y="2774258"/>
            <a:ext cx="254659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19,6 %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7088655" y="3017145"/>
            <a:ext cx="254659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761981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42,4 %</a:t>
            </a:r>
            <a:endParaRPr lang="en-US" sz="2280" dirty="0"/>
          </a:p>
        </p:txBody>
      </p:sp>
      <p:sp>
        <p:nvSpPr>
          <p:cNvPr id="30" name="Text 27"/>
          <p:cNvSpPr/>
          <p:nvPr/>
        </p:nvSpPr>
        <p:spPr>
          <a:xfrm>
            <a:off x="3552736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64,9 %</a:t>
            </a:r>
            <a:endParaRPr lang="en-US" sz="2280" dirty="0"/>
          </a:p>
        </p:txBody>
      </p:sp>
      <p:sp>
        <p:nvSpPr>
          <p:cNvPr id="31" name="Text 28"/>
          <p:cNvSpPr/>
          <p:nvPr/>
        </p:nvSpPr>
        <p:spPr>
          <a:xfrm>
            <a:off x="7088655" y="3264795"/>
            <a:ext cx="254659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3,6 %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7088655" y="3512445"/>
            <a:ext cx="254659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6343491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9,0 %</a:t>
            </a:r>
            <a:endParaRPr lang="en-US" sz="2280" dirty="0"/>
          </a:p>
        </p:txBody>
      </p:sp>
      <p:sp>
        <p:nvSpPr>
          <p:cNvPr id="34" name="Text 31"/>
          <p:cNvSpPr/>
          <p:nvPr/>
        </p:nvSpPr>
        <p:spPr>
          <a:xfrm>
            <a:off x="9134247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~51 %</a:t>
            </a:r>
            <a:endParaRPr lang="en-US" sz="2280" dirty="0"/>
          </a:p>
        </p:txBody>
      </p:sp>
      <p:sp>
        <p:nvSpPr>
          <p:cNvPr id="35" name="Text 32"/>
          <p:cNvSpPr/>
          <p:nvPr/>
        </p:nvSpPr>
        <p:spPr>
          <a:xfrm>
            <a:off x="4559533" y="2774258"/>
            <a:ext cx="260499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79 %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4559533" y="3017145"/>
            <a:ext cx="260499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73 %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4559533" y="3264795"/>
            <a:ext cx="260499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52 %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4559533" y="3512445"/>
            <a:ext cx="260499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19 %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9561075" y="3512445"/>
            <a:ext cx="196394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Bajo</a:t>
            </a:r>
            <a:endParaRPr lang="en-US" sz="888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9_Resu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14917" y="4194870"/>
            <a:ext cx="5307483" cy="665138"/>
          </a:xfrm>
          <a:prstGeom prst="rect">
            <a:avLst/>
          </a:prstGeom>
          <a:noFill/>
          <a:ln/>
        </p:spPr>
        <p:txBody>
          <a:bodyPr wrap="square" lIns="76200" tIns="133350" rIns="133350" bIns="7620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57,6 % de "no contacto", al menos 69.740 llamadas (11,1 %) nunca se cursaron por fallas de red. Hipótesis a validar con Isaac: parte de ese insumo termina descartándose luego como "re-enviado" — cruce pendiente de confirmar registro por registro.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723882" y="4966395"/>
            <a:ext cx="5307483" cy="721703"/>
          </a:xfrm>
          <a:prstGeom prst="rect">
            <a:avLst/>
          </a:prstGeom>
          <a:noFill/>
          <a:ln/>
        </p:spPr>
        <p:txBody>
          <a:bodyPr wrap="square" lIns="76200" tIns="133350" rIns="133350" bIns="7620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7A301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backup (Movistar) carga el 71 % del tráfico con la red menos estable de las dos: pierde 17 de cada 100 llamadas por congestión o rechazo de troncal, frente a 0,86 % en Tigo.</a:t>
            </a:r>
            <a:endParaRPr lang="en-US" sz="960" dirty="0"/>
          </a:p>
        </p:txBody>
      </p:sp>
      <p:sp>
        <p:nvSpPr>
          <p:cNvPr id="5" name="Text 2"/>
          <p:cNvSpPr/>
          <p:nvPr/>
        </p:nvSpPr>
        <p:spPr>
          <a:xfrm>
            <a:off x="6314917" y="3994845"/>
            <a:ext cx="53074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Estimación con la efectividad del semestre; validar con Isaac el período de la muestra.</a:t>
            </a:r>
            <a:endParaRPr lang="en-US" sz="720" dirty="0"/>
          </a:p>
        </p:txBody>
      </p:sp>
      <p:sp>
        <p:nvSpPr>
          <p:cNvPr id="6" name="Text 3"/>
          <p:cNvSpPr/>
          <p:nvPr/>
        </p:nvSpPr>
        <p:spPr>
          <a:xfrm>
            <a:off x="6314917" y="5145435"/>
            <a:ext cx="5307483" cy="163717"/>
          </a:xfrm>
          <a:prstGeom prst="rect">
            <a:avLst/>
          </a:prstGeom>
          <a:noFill/>
          <a:ln/>
        </p:spPr>
        <p:txBody>
          <a:bodyPr wrap="square" lIns="0" tIns="19050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Rebalancear troncales hacia Tigo en zonas periféricas (San Cristóbal, Ciudad Bolívar)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6314917" y="5558582"/>
            <a:ext cx="5307483" cy="163717"/>
          </a:xfrm>
          <a:prstGeom prst="rect">
            <a:avLst/>
          </a:prstGeom>
          <a:noFill/>
          <a:ln/>
        </p:spPr>
        <p:txBody>
          <a:bodyPr wrap="square" lIns="0" tIns="19050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Enrutamiento dinámico: salida obligada por Tigo donde Movistar falla &gt;17 %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6314917" y="5352008"/>
            <a:ext cx="5307483" cy="163717"/>
          </a:xfrm>
          <a:prstGeom prst="rect">
            <a:avLst/>
          </a:prstGeom>
          <a:noFill/>
          <a:ln/>
        </p:spPr>
        <p:txBody>
          <a:bodyPr wrap="square" lIns="0" tIns="19050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Auditoría formal a Movistar: códigos 34 (congestión) y 21 (rechazo)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6314917" y="2804220"/>
            <a:ext cx="5307483" cy="225647"/>
          </a:xfrm>
          <a:prstGeom prst="rect">
            <a:avLst/>
          </a:prstGeom>
          <a:noFill/>
          <a:ln/>
        </p:spPr>
        <p:txBody>
          <a:bodyPr wrap="square" lIns="0" tIns="0" rIns="0" bIns="47625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Potencial de recuperación (si las caídas se cursan por Tigo)</a:t>
            </a:r>
            <a:endParaRPr lang="en-US" sz="1020" dirty="0"/>
          </a:p>
        </p:txBody>
      </p:sp>
      <p:sp>
        <p:nvSpPr>
          <p:cNvPr id="10" name="Text 7"/>
          <p:cNvSpPr/>
          <p:nvPr/>
        </p:nvSpPr>
        <p:spPr>
          <a:xfrm>
            <a:off x="6343491" y="1508820"/>
            <a:ext cx="2403574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 de las llamadas se pierden por infraestructura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9134247" y="1508820"/>
            <a:ext cx="2403574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Congestión 9,96 % + rechazo 7,13 % (Tigo: 0,86 %)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571486" y="209550"/>
            <a:ext cx="3764475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Infraestructura Telefónica · Tigo vs. Movistar</a:t>
            </a:r>
            <a:endParaRPr lang="en-US" sz="1260" dirty="0"/>
          </a:p>
        </p:txBody>
      </p:sp>
      <p:sp>
        <p:nvSpPr>
          <p:cNvPr id="13" name="Text 10"/>
          <p:cNvSpPr/>
          <p:nvPr/>
        </p:nvSpPr>
        <p:spPr>
          <a:xfrm>
            <a:off x="723882" y="2804220"/>
            <a:ext cx="5307483" cy="225647"/>
          </a:xfrm>
          <a:prstGeom prst="rect">
            <a:avLst/>
          </a:prstGeom>
          <a:noFill/>
          <a:ln/>
        </p:spPr>
        <p:txBody>
          <a:bodyPr wrap="square" lIns="0" tIns="0" rIns="0" bIns="47625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vs. Movistar · volumen, contacto y caídas</a:t>
            </a:r>
            <a:endParaRPr lang="en-US" sz="1020" dirty="0"/>
          </a:p>
        </p:txBody>
      </p:sp>
      <p:sp>
        <p:nvSpPr>
          <p:cNvPr id="14" name="Text 11"/>
          <p:cNvSpPr/>
          <p:nvPr/>
        </p:nvSpPr>
        <p:spPr>
          <a:xfrm>
            <a:off x="571486" y="2156520"/>
            <a:ext cx="11380185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vs. Movistar Zonas críticas por barrio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314917" y="4954935"/>
            <a:ext cx="530748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ACCIONES PROPUESTAS (frente tecnológico 2S)</a:t>
            </a:r>
            <a:endParaRPr lang="en-US" sz="816" dirty="0"/>
          </a:p>
        </p:txBody>
      </p:sp>
      <p:sp>
        <p:nvSpPr>
          <p:cNvPr id="16" name="Text 13"/>
          <p:cNvSpPr/>
          <p:nvPr/>
        </p:nvSpPr>
        <p:spPr>
          <a:xfrm>
            <a:off x="3552736" y="150882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Consistente con el 42,4 % operativo del 1S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10059488" y="3574405"/>
            <a:ext cx="1362281" cy="253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ventas, a la efectividad histórica (9,0 %)</a:t>
            </a:r>
            <a:endParaRPr lang="en-US" sz="720" dirty="0"/>
          </a:p>
        </p:txBody>
      </p:sp>
      <p:sp>
        <p:nvSpPr>
          <p:cNvPr id="18" name="Text 15"/>
          <p:cNvSpPr/>
          <p:nvPr/>
        </p:nvSpPr>
        <p:spPr>
          <a:xfrm>
            <a:off x="761981" y="150882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13.516 teléfonos · 972 barrios de Bogotá</a:t>
            </a:r>
            <a:endParaRPr lang="en-US" sz="864" dirty="0"/>
          </a:p>
        </p:txBody>
      </p:sp>
      <p:sp>
        <p:nvSpPr>
          <p:cNvPr id="19" name="Text 16"/>
          <p:cNvSpPr/>
          <p:nvPr/>
        </p:nvSpPr>
        <p:spPr>
          <a:xfrm>
            <a:off x="6400640" y="3574405"/>
            <a:ext cx="1362281" cy="253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de troncal (backup Movistar)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8229990" y="3574405"/>
            <a:ext cx="1362434" cy="253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contactos, a la tasa de Tigo (71 %)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723882" y="4032945"/>
            <a:ext cx="5307483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Movistar (backup) 448.057 llamadas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23882" y="3080445"/>
            <a:ext cx="5307483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(principal) 173.548 llamadas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552736" y="100965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telefónica</a:t>
            </a:r>
            <a:endParaRPr lang="en-US" sz="864" dirty="0"/>
          </a:p>
        </p:txBody>
      </p:sp>
      <p:sp>
        <p:nvSpPr>
          <p:cNvPr id="24" name="Text 21"/>
          <p:cNvSpPr/>
          <p:nvPr/>
        </p:nvSpPr>
        <p:spPr>
          <a:xfrm>
            <a:off x="9134247" y="100965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Fallas de red Movistar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761981" y="100965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Llamadas analizadas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6343491" y="100965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de troncal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8229990" y="3235375"/>
            <a:ext cx="136243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Recuperable</a:t>
            </a:r>
            <a:endParaRPr lang="en-US" sz="720" dirty="0"/>
          </a:p>
        </p:txBody>
      </p:sp>
      <p:sp>
        <p:nvSpPr>
          <p:cNvPr id="28" name="Text 25"/>
          <p:cNvSpPr/>
          <p:nvPr/>
        </p:nvSpPr>
        <p:spPr>
          <a:xfrm>
            <a:off x="723882" y="3661470"/>
            <a:ext cx="76521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red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23882" y="4613970"/>
            <a:ext cx="76521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red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059488" y="3235375"/>
            <a:ext cx="136228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Potencial</a:t>
            </a:r>
            <a:endParaRPr lang="en-US" sz="720" dirty="0"/>
          </a:p>
        </p:txBody>
      </p:sp>
      <p:sp>
        <p:nvSpPr>
          <p:cNvPr id="31" name="Text 28"/>
          <p:cNvSpPr/>
          <p:nvPr/>
        </p:nvSpPr>
        <p:spPr>
          <a:xfrm>
            <a:off x="723882" y="3347145"/>
            <a:ext cx="76521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723882" y="4299645"/>
            <a:ext cx="76521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8229990" y="3368725"/>
            <a:ext cx="1362434" cy="17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49.500</a:t>
            </a:r>
            <a:endParaRPr lang="en-US" sz="1320" dirty="0"/>
          </a:p>
        </p:txBody>
      </p:sp>
      <p:sp>
        <p:nvSpPr>
          <p:cNvPr id="34" name="Text 31"/>
          <p:cNvSpPr/>
          <p:nvPr/>
        </p:nvSpPr>
        <p:spPr>
          <a:xfrm>
            <a:off x="761981" y="118110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628.406</a:t>
            </a:r>
            <a:endParaRPr lang="en-US" sz="2280" dirty="0"/>
          </a:p>
        </p:txBody>
      </p:sp>
      <p:sp>
        <p:nvSpPr>
          <p:cNvPr id="35" name="Text 32"/>
          <p:cNvSpPr/>
          <p:nvPr/>
        </p:nvSpPr>
        <p:spPr>
          <a:xfrm>
            <a:off x="10059488" y="3368725"/>
            <a:ext cx="1362281" cy="17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4.450</a:t>
            </a:r>
            <a:endParaRPr lang="en-US" sz="1320" dirty="0"/>
          </a:p>
        </p:txBody>
      </p:sp>
      <p:sp>
        <p:nvSpPr>
          <p:cNvPr id="36" name="Text 33"/>
          <p:cNvSpPr/>
          <p:nvPr/>
        </p:nvSpPr>
        <p:spPr>
          <a:xfrm>
            <a:off x="3552736" y="118110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38,9 %</a:t>
            </a:r>
            <a:endParaRPr lang="en-US" sz="2280" dirty="0"/>
          </a:p>
        </p:txBody>
      </p:sp>
      <p:sp>
        <p:nvSpPr>
          <p:cNvPr id="37" name="Text 34"/>
          <p:cNvSpPr/>
          <p:nvPr/>
        </p:nvSpPr>
        <p:spPr>
          <a:xfrm>
            <a:off x="6343491" y="118110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69.740</a:t>
            </a:r>
            <a:endParaRPr lang="en-US" sz="2280" dirty="0"/>
          </a:p>
        </p:txBody>
      </p:sp>
      <p:sp>
        <p:nvSpPr>
          <p:cNvPr id="38" name="Text 35"/>
          <p:cNvSpPr/>
          <p:nvPr/>
        </p:nvSpPr>
        <p:spPr>
          <a:xfrm>
            <a:off x="9134247" y="118110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17,1 %</a:t>
            </a:r>
            <a:endParaRPr lang="en-US" sz="2280" dirty="0"/>
          </a:p>
        </p:txBody>
      </p:sp>
      <p:sp>
        <p:nvSpPr>
          <p:cNvPr id="39" name="Text 36"/>
          <p:cNvSpPr/>
          <p:nvPr/>
        </p:nvSpPr>
        <p:spPr>
          <a:xfrm>
            <a:off x="5419590" y="3347145"/>
            <a:ext cx="47090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71,0 %</a:t>
            </a:r>
            <a:endParaRPr lang="en-US" sz="864" dirty="0"/>
          </a:p>
        </p:txBody>
      </p:sp>
      <p:sp>
        <p:nvSpPr>
          <p:cNvPr id="40" name="Text 37"/>
          <p:cNvSpPr/>
          <p:nvPr/>
        </p:nvSpPr>
        <p:spPr>
          <a:xfrm>
            <a:off x="5419590" y="4299645"/>
            <a:ext cx="47090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25,6 %</a:t>
            </a:r>
            <a:endParaRPr lang="en-US" sz="864" dirty="0"/>
          </a:p>
        </p:txBody>
      </p:sp>
      <p:sp>
        <p:nvSpPr>
          <p:cNvPr id="41" name="Text 38"/>
          <p:cNvSpPr/>
          <p:nvPr/>
        </p:nvSpPr>
        <p:spPr>
          <a:xfrm>
            <a:off x="5419590" y="4613970"/>
            <a:ext cx="47090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15,1 %</a:t>
            </a:r>
            <a:endParaRPr lang="en-US" sz="864" dirty="0"/>
          </a:p>
        </p:txBody>
      </p:sp>
      <p:sp>
        <p:nvSpPr>
          <p:cNvPr id="42" name="Text 39"/>
          <p:cNvSpPr/>
          <p:nvPr/>
        </p:nvSpPr>
        <p:spPr>
          <a:xfrm>
            <a:off x="6400640" y="3368725"/>
            <a:ext cx="1362281" cy="17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69.740</a:t>
            </a:r>
            <a:endParaRPr lang="en-US" sz="1320" dirty="0"/>
          </a:p>
        </p:txBody>
      </p:sp>
      <p:sp>
        <p:nvSpPr>
          <p:cNvPr id="43" name="Text 40"/>
          <p:cNvSpPr/>
          <p:nvPr/>
        </p:nvSpPr>
        <p:spPr>
          <a:xfrm>
            <a:off x="5419590" y="3661470"/>
            <a:ext cx="47090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1,3 %</a:t>
            </a:r>
            <a:endParaRPr lang="en-US" sz="864" dirty="0"/>
          </a:p>
        </p:txBody>
      </p:sp>
      <p:sp>
        <p:nvSpPr>
          <p:cNvPr id="44" name="Text 41"/>
          <p:cNvSpPr/>
          <p:nvPr/>
        </p:nvSpPr>
        <p:spPr>
          <a:xfrm>
            <a:off x="6400640" y="3235375"/>
            <a:ext cx="136228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Hoy</a:t>
            </a:r>
            <a:endParaRPr lang="en-US" sz="7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9_Zon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72046" y="3264767"/>
            <a:ext cx="539577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Ciudad Bolívar — 28.819 llamadas (Tigo 72,4 % contacto · Movistar 25,7 % contacto)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781030" y="3264767"/>
            <a:ext cx="539577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San Cristóbal — 32.619 llamadas (Tigo 71,9 % contacto · Movistar 24,1 % contacto)</a:t>
            </a:r>
            <a:endParaRPr lang="en-US" sz="864" dirty="0"/>
          </a:p>
        </p:txBody>
      </p:sp>
      <p:sp>
        <p:nvSpPr>
          <p:cNvPr id="5" name="Text 2"/>
          <p:cNvSpPr/>
          <p:nvPr/>
        </p:nvSpPr>
        <p:spPr>
          <a:xfrm>
            <a:off x="6343491" y="1508820"/>
            <a:ext cx="2403574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 de las llamadas se pierden por infraestructura</a:t>
            </a:r>
            <a:endParaRPr lang="en-US" sz="864" dirty="0"/>
          </a:p>
        </p:txBody>
      </p:sp>
      <p:sp>
        <p:nvSpPr>
          <p:cNvPr id="6" name="Text 3"/>
          <p:cNvSpPr/>
          <p:nvPr/>
        </p:nvSpPr>
        <p:spPr>
          <a:xfrm>
            <a:off x="781030" y="2883767"/>
            <a:ext cx="10948523" cy="255079"/>
          </a:xfrm>
          <a:prstGeom prst="rect">
            <a:avLst/>
          </a:prstGeom>
          <a:noFill/>
          <a:ln/>
        </p:spPr>
        <p:txBody>
          <a:bodyPr wrap="square" lIns="0" tIns="0" rIns="0" bIns="7620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Zonas críticas de Bogotá · fallas de red por barrio</a:t>
            </a:r>
            <a:endParaRPr lang="en-US" sz="1020" dirty="0"/>
          </a:p>
        </p:txBody>
      </p:sp>
      <p:sp>
        <p:nvSpPr>
          <p:cNvPr id="7" name="Text 4"/>
          <p:cNvSpPr/>
          <p:nvPr/>
        </p:nvSpPr>
        <p:spPr>
          <a:xfrm>
            <a:off x="9134247" y="1508820"/>
            <a:ext cx="2403574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Congestión 9,96 % + rechazo 7,13 % (Tigo: 0,86 %)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3764475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Infraestructura Telefónica · Tigo vs. Movistar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571486" y="2156520"/>
            <a:ext cx="11380185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vs. Movistar Zonas críticas por barrio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52736" y="150882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Consistente con el 42,4 % operativo del 1S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761981" y="150882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13.516 teléfonos · 972 barrios de Bogotá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3552736" y="100965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telefónica</a:t>
            </a:r>
            <a:endParaRPr lang="en-US" sz="864" dirty="0"/>
          </a:p>
        </p:txBody>
      </p:sp>
      <p:sp>
        <p:nvSpPr>
          <p:cNvPr id="13" name="Text 10"/>
          <p:cNvSpPr/>
          <p:nvPr/>
        </p:nvSpPr>
        <p:spPr>
          <a:xfrm>
            <a:off x="9134247" y="100965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Fallas de red Movistar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781030" y="3764852"/>
            <a:ext cx="1776774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Gloria Occidental</a:t>
            </a:r>
            <a:endParaRPr lang="en-US" sz="840" dirty="0"/>
          </a:p>
        </p:txBody>
      </p:sp>
      <p:sp>
        <p:nvSpPr>
          <p:cNvPr id="15" name="Text 12"/>
          <p:cNvSpPr/>
          <p:nvPr/>
        </p:nvSpPr>
        <p:spPr>
          <a:xfrm>
            <a:off x="761981" y="100965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Llamadas analizadas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6172046" y="3764852"/>
            <a:ext cx="1639427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Arborizadora Alta</a:t>
            </a:r>
            <a:endParaRPr lang="en-US" sz="840" dirty="0"/>
          </a:p>
        </p:txBody>
      </p:sp>
      <p:sp>
        <p:nvSpPr>
          <p:cNvPr id="17" name="Text 14"/>
          <p:cNvSpPr/>
          <p:nvPr/>
        </p:nvSpPr>
        <p:spPr>
          <a:xfrm>
            <a:off x="6343491" y="100965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de troncal</a:t>
            </a:r>
            <a:endParaRPr lang="en-US" sz="864" dirty="0"/>
          </a:p>
        </p:txBody>
      </p:sp>
      <p:sp>
        <p:nvSpPr>
          <p:cNvPr id="18" name="Text 15"/>
          <p:cNvSpPr/>
          <p:nvPr/>
        </p:nvSpPr>
        <p:spPr>
          <a:xfrm>
            <a:off x="781030" y="4102990"/>
            <a:ext cx="1776774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Bello Horizonte</a:t>
            </a:r>
            <a:endParaRPr lang="en-US" sz="840" dirty="0"/>
          </a:p>
        </p:txBody>
      </p:sp>
      <p:sp>
        <p:nvSpPr>
          <p:cNvPr id="19" name="Text 16"/>
          <p:cNvSpPr/>
          <p:nvPr/>
        </p:nvSpPr>
        <p:spPr>
          <a:xfrm>
            <a:off x="4498664" y="3441002"/>
            <a:ext cx="1566615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Movistar caída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9832084" y="3441002"/>
            <a:ext cx="1625938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Movistar caída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6172046" y="4102990"/>
            <a:ext cx="1639427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Mochuelo</a:t>
            </a:r>
            <a:endParaRPr lang="en-US" sz="840" dirty="0"/>
          </a:p>
        </p:txBody>
      </p:sp>
      <p:sp>
        <p:nvSpPr>
          <p:cNvPr id="22" name="Text 19"/>
          <p:cNvSpPr/>
          <p:nvPr/>
        </p:nvSpPr>
        <p:spPr>
          <a:xfrm>
            <a:off x="3305539" y="3441002"/>
            <a:ext cx="1228919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caída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8593568" y="3441002"/>
            <a:ext cx="1275672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caída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781030" y="4445890"/>
            <a:ext cx="1776774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Calvo Sur</a:t>
            </a:r>
            <a:endParaRPr lang="en-US" sz="840" dirty="0"/>
          </a:p>
        </p:txBody>
      </p:sp>
      <p:sp>
        <p:nvSpPr>
          <p:cNvPr id="25" name="Text 22"/>
          <p:cNvSpPr/>
          <p:nvPr/>
        </p:nvSpPr>
        <p:spPr>
          <a:xfrm>
            <a:off x="6172046" y="4445890"/>
            <a:ext cx="1639427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Tesoro</a:t>
            </a:r>
            <a:endParaRPr lang="en-US" sz="840" dirty="0"/>
          </a:p>
        </p:txBody>
      </p:sp>
      <p:sp>
        <p:nvSpPr>
          <p:cNvPr id="26" name="Text 23"/>
          <p:cNvSpPr/>
          <p:nvPr/>
        </p:nvSpPr>
        <p:spPr>
          <a:xfrm>
            <a:off x="761981" y="118110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628.406</a:t>
            </a:r>
            <a:endParaRPr lang="en-US" sz="2280" dirty="0"/>
          </a:p>
        </p:txBody>
      </p:sp>
      <p:sp>
        <p:nvSpPr>
          <p:cNvPr id="27" name="Text 24"/>
          <p:cNvSpPr/>
          <p:nvPr/>
        </p:nvSpPr>
        <p:spPr>
          <a:xfrm>
            <a:off x="781030" y="3441002"/>
            <a:ext cx="1776774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Barrio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4498664" y="3764852"/>
            <a:ext cx="1566615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15,6 %</a:t>
            </a:r>
            <a:endParaRPr lang="en-US" sz="840" dirty="0"/>
          </a:p>
        </p:txBody>
      </p:sp>
      <p:sp>
        <p:nvSpPr>
          <p:cNvPr id="29" name="Text 26"/>
          <p:cNvSpPr/>
          <p:nvPr/>
        </p:nvSpPr>
        <p:spPr>
          <a:xfrm>
            <a:off x="4498664" y="4102990"/>
            <a:ext cx="1566615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17,6 %</a:t>
            </a:r>
            <a:endParaRPr lang="en-US" sz="840" dirty="0"/>
          </a:p>
        </p:txBody>
      </p:sp>
      <p:sp>
        <p:nvSpPr>
          <p:cNvPr id="30" name="Text 27"/>
          <p:cNvSpPr/>
          <p:nvPr/>
        </p:nvSpPr>
        <p:spPr>
          <a:xfrm>
            <a:off x="4498664" y="4445890"/>
            <a:ext cx="1566615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19,0 %</a:t>
            </a:r>
            <a:endParaRPr lang="en-US" sz="840" dirty="0"/>
          </a:p>
        </p:txBody>
      </p:sp>
      <p:sp>
        <p:nvSpPr>
          <p:cNvPr id="31" name="Text 28"/>
          <p:cNvSpPr/>
          <p:nvPr/>
        </p:nvSpPr>
        <p:spPr>
          <a:xfrm>
            <a:off x="6172046" y="3441002"/>
            <a:ext cx="1639427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Barrio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9832084" y="3764852"/>
            <a:ext cx="1625938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15,0 %</a:t>
            </a:r>
            <a:endParaRPr lang="en-US" sz="840" dirty="0"/>
          </a:p>
        </p:txBody>
      </p:sp>
      <p:sp>
        <p:nvSpPr>
          <p:cNvPr id="33" name="Text 30"/>
          <p:cNvSpPr/>
          <p:nvPr/>
        </p:nvSpPr>
        <p:spPr>
          <a:xfrm>
            <a:off x="9832084" y="4102990"/>
            <a:ext cx="1625938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20,9 %</a:t>
            </a:r>
            <a:endParaRPr lang="en-US" sz="840" dirty="0"/>
          </a:p>
        </p:txBody>
      </p:sp>
      <p:sp>
        <p:nvSpPr>
          <p:cNvPr id="34" name="Text 31"/>
          <p:cNvSpPr/>
          <p:nvPr/>
        </p:nvSpPr>
        <p:spPr>
          <a:xfrm>
            <a:off x="9832084" y="4445890"/>
            <a:ext cx="1625938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19,4 %</a:t>
            </a:r>
            <a:endParaRPr lang="en-US" sz="840" dirty="0"/>
          </a:p>
        </p:txBody>
      </p:sp>
      <p:sp>
        <p:nvSpPr>
          <p:cNvPr id="35" name="Text 32"/>
          <p:cNvSpPr/>
          <p:nvPr/>
        </p:nvSpPr>
        <p:spPr>
          <a:xfrm>
            <a:off x="3552736" y="118110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38,9 %</a:t>
            </a:r>
            <a:endParaRPr lang="en-US" sz="2280" dirty="0"/>
          </a:p>
        </p:txBody>
      </p:sp>
      <p:sp>
        <p:nvSpPr>
          <p:cNvPr id="36" name="Text 33"/>
          <p:cNvSpPr/>
          <p:nvPr/>
        </p:nvSpPr>
        <p:spPr>
          <a:xfrm>
            <a:off x="6343491" y="118110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69.740</a:t>
            </a:r>
            <a:endParaRPr lang="en-US" sz="2280" dirty="0"/>
          </a:p>
        </p:txBody>
      </p:sp>
      <p:sp>
        <p:nvSpPr>
          <p:cNvPr id="37" name="Text 34"/>
          <p:cNvSpPr/>
          <p:nvPr/>
        </p:nvSpPr>
        <p:spPr>
          <a:xfrm>
            <a:off x="9134247" y="118110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17,1 %</a:t>
            </a:r>
            <a:endParaRPr lang="en-US" sz="2280" dirty="0"/>
          </a:p>
        </p:txBody>
      </p:sp>
      <p:sp>
        <p:nvSpPr>
          <p:cNvPr id="38" name="Text 35"/>
          <p:cNvSpPr/>
          <p:nvPr/>
        </p:nvSpPr>
        <p:spPr>
          <a:xfrm>
            <a:off x="2506054" y="3441002"/>
            <a:ext cx="823469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Llam.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2506054" y="3764852"/>
            <a:ext cx="823469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3.346</a:t>
            </a:r>
            <a:endParaRPr lang="en-US" sz="840" dirty="0"/>
          </a:p>
        </p:txBody>
      </p:sp>
      <p:sp>
        <p:nvSpPr>
          <p:cNvPr id="40" name="Text 37"/>
          <p:cNvSpPr/>
          <p:nvPr/>
        </p:nvSpPr>
        <p:spPr>
          <a:xfrm>
            <a:off x="3305539" y="3764852"/>
            <a:ext cx="1228919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840" dirty="0"/>
          </a:p>
        </p:txBody>
      </p:sp>
      <p:sp>
        <p:nvSpPr>
          <p:cNvPr id="41" name="Text 38"/>
          <p:cNvSpPr/>
          <p:nvPr/>
        </p:nvSpPr>
        <p:spPr>
          <a:xfrm>
            <a:off x="2506054" y="4102990"/>
            <a:ext cx="823469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2.384</a:t>
            </a:r>
            <a:endParaRPr lang="en-US" sz="840" dirty="0"/>
          </a:p>
        </p:txBody>
      </p:sp>
      <p:sp>
        <p:nvSpPr>
          <p:cNvPr id="42" name="Text 39"/>
          <p:cNvSpPr/>
          <p:nvPr/>
        </p:nvSpPr>
        <p:spPr>
          <a:xfrm>
            <a:off x="3305539" y="4102990"/>
            <a:ext cx="1228919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840" dirty="0"/>
          </a:p>
        </p:txBody>
      </p:sp>
      <p:sp>
        <p:nvSpPr>
          <p:cNvPr id="43" name="Text 40"/>
          <p:cNvSpPr/>
          <p:nvPr/>
        </p:nvSpPr>
        <p:spPr>
          <a:xfrm>
            <a:off x="2506054" y="4445890"/>
            <a:ext cx="823469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1.021</a:t>
            </a:r>
            <a:endParaRPr lang="en-US" sz="840" dirty="0"/>
          </a:p>
        </p:txBody>
      </p:sp>
      <p:sp>
        <p:nvSpPr>
          <p:cNvPr id="44" name="Text 41"/>
          <p:cNvSpPr/>
          <p:nvPr/>
        </p:nvSpPr>
        <p:spPr>
          <a:xfrm>
            <a:off x="3305539" y="4445890"/>
            <a:ext cx="1228919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1,3 %</a:t>
            </a:r>
            <a:endParaRPr lang="en-US" sz="840" dirty="0"/>
          </a:p>
        </p:txBody>
      </p:sp>
      <p:sp>
        <p:nvSpPr>
          <p:cNvPr id="45" name="Text 42"/>
          <p:cNvSpPr/>
          <p:nvPr/>
        </p:nvSpPr>
        <p:spPr>
          <a:xfrm>
            <a:off x="7763723" y="3441002"/>
            <a:ext cx="854740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Llam.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7763723" y="3764852"/>
            <a:ext cx="854740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4.546</a:t>
            </a:r>
            <a:endParaRPr lang="en-US" sz="840" dirty="0"/>
          </a:p>
        </p:txBody>
      </p:sp>
      <p:sp>
        <p:nvSpPr>
          <p:cNvPr id="47" name="Text 44"/>
          <p:cNvSpPr/>
          <p:nvPr/>
        </p:nvSpPr>
        <p:spPr>
          <a:xfrm>
            <a:off x="8593568" y="3764852"/>
            <a:ext cx="1275672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840" dirty="0"/>
          </a:p>
        </p:txBody>
      </p:sp>
      <p:sp>
        <p:nvSpPr>
          <p:cNvPr id="48" name="Text 45"/>
          <p:cNvSpPr/>
          <p:nvPr/>
        </p:nvSpPr>
        <p:spPr>
          <a:xfrm>
            <a:off x="8593568" y="4102990"/>
            <a:ext cx="1275672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840" dirty="0"/>
          </a:p>
        </p:txBody>
      </p:sp>
      <p:sp>
        <p:nvSpPr>
          <p:cNvPr id="49" name="Text 46"/>
          <p:cNvSpPr/>
          <p:nvPr/>
        </p:nvSpPr>
        <p:spPr>
          <a:xfrm>
            <a:off x="8593568" y="4445890"/>
            <a:ext cx="1275672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0,0 %</a:t>
            </a:r>
            <a:endParaRPr lang="en-US" sz="840" dirty="0"/>
          </a:p>
        </p:txBody>
      </p:sp>
      <p:sp>
        <p:nvSpPr>
          <p:cNvPr id="50" name="Text 47"/>
          <p:cNvSpPr/>
          <p:nvPr/>
        </p:nvSpPr>
        <p:spPr>
          <a:xfrm>
            <a:off x="7763723" y="4102990"/>
            <a:ext cx="854740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531</a:t>
            </a:r>
            <a:endParaRPr lang="en-US" sz="840" dirty="0"/>
          </a:p>
        </p:txBody>
      </p:sp>
      <p:sp>
        <p:nvSpPr>
          <p:cNvPr id="51" name="Text 48"/>
          <p:cNvSpPr/>
          <p:nvPr/>
        </p:nvSpPr>
        <p:spPr>
          <a:xfrm>
            <a:off x="7763723" y="4445890"/>
            <a:ext cx="854740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566</a:t>
            </a:r>
            <a:endParaRPr lang="en-US" sz="84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0_Calcu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42931" y="5471220"/>
            <a:ext cx="11027007" cy="166783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 E1 140 pol. con bonificación base + Volante 120 pól. ← Meta Volante: +Bono por 120 pólizas extra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742931" y="5652195"/>
            <a:ext cx="11027007" cy="166783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 E1 140 pol. con bonificación base ← Metas diferenciadas: top performers a 150 pólizas</a:t>
            </a:r>
            <a:endParaRPr lang="en-US" sz="816" dirty="0"/>
          </a:p>
        </p:txBody>
      </p:sp>
      <p:sp>
        <p:nvSpPr>
          <p:cNvPr id="5" name="Text 2"/>
          <p:cNvSpPr/>
          <p:nvPr/>
        </p:nvSpPr>
        <p:spPr>
          <a:xfrm>
            <a:off x="742931" y="5290245"/>
            <a:ext cx="11027007" cy="166783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 E1 140 pol. con bonificación base ← Meta sube 3,7 % — equipo llega a 20 asesores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742931" y="4747320"/>
            <a:ext cx="11027007" cy="166783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 E1 135 pol. con bonificación base ← Meta inicial del equipo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742931" y="2613720"/>
            <a:ext cx="11027007" cy="235458"/>
          </a:xfrm>
          <a:prstGeom prst="rect">
            <a:avLst/>
          </a:prstGeom>
          <a:noFill/>
          <a:ln/>
        </p:spPr>
        <p:txBody>
          <a:bodyPr wrap="square" lIns="0" tIns="0" rIns="0" bIns="5715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Cálculo con indicadores históricos (semestre ene–jun)</a:t>
            </a:r>
            <a:endParaRPr lang="en-US" sz="1020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461522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Proyección · ¿Qué se necesita para 3.000 ventas/mes?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571486" y="1966020"/>
            <a:ext cx="11380185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Cálculo histórico Escenario recomendado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343491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Reducir rechazo del 60 % del semestre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9134247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 asesores activos · E1 diferenciada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742931" y="4928295"/>
            <a:ext cx="11027007" cy="166783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 E1 135 pol. con bonificación base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742931" y="5109270"/>
            <a:ext cx="11027007" cy="166783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 E1 135 pol. con bonificación base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3552736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indicadores históricos ene–jun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742931" y="4566345"/>
            <a:ext cx="1102700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ESQUEMA COMISIONES 1S — EVOLUCIÓN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742931" y="4223467"/>
            <a:ext cx="6639719" cy="23336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mínimos requeridos/mes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3552736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requeridos (estimado)</a:t>
            </a:r>
            <a:endParaRPr lang="en-US" sz="864" dirty="0"/>
          </a:p>
        </p:txBody>
      </p:sp>
      <p:sp>
        <p:nvSpPr>
          <p:cNvPr id="18" name="Text 15"/>
          <p:cNvSpPr/>
          <p:nvPr/>
        </p:nvSpPr>
        <p:spPr>
          <a:xfrm>
            <a:off x="7189260" y="3566242"/>
            <a:ext cx="4387288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42,4 % = 78.700 gestionados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189260" y="4004392"/>
            <a:ext cx="4387288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40,5 % = ~198.600 recibidos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7189260" y="3347167"/>
            <a:ext cx="4387288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8,99 % = 33.370 contactos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742931" y="3347167"/>
            <a:ext cx="395685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/ contactados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9134247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agregada equipo Jun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7189260" y="3785317"/>
            <a:ext cx="4387288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97,9 % = 80.400 aptos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742931" y="3785317"/>
            <a:ext cx="395685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Gestión sobre aptos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761981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mensual objetivo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742931" y="4004392"/>
            <a:ext cx="395685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Aptos (1–rechazo)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7189260" y="2904255"/>
            <a:ext cx="438728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Insumo para 3.000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6343491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Palanca principal</a:t>
            </a:r>
            <a:endParaRPr lang="en-US" sz="864" dirty="0"/>
          </a:p>
        </p:txBody>
      </p:sp>
      <p:sp>
        <p:nvSpPr>
          <p:cNvPr id="29" name="Text 26"/>
          <p:cNvSpPr/>
          <p:nvPr/>
        </p:nvSpPr>
        <p:spPr>
          <a:xfrm>
            <a:off x="4584536" y="2904255"/>
            <a:ext cx="268286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Valor histórico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742931" y="3132855"/>
            <a:ext cx="3956852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ventas/mes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742931" y="3566242"/>
            <a:ext cx="395685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7189260" y="4223467"/>
            <a:ext cx="4387288" cy="23336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190.000–210.000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761981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/ mes</a:t>
            </a:r>
            <a:endParaRPr lang="en-US" sz="864" dirty="0"/>
          </a:p>
        </p:txBody>
      </p:sp>
      <p:sp>
        <p:nvSpPr>
          <p:cNvPr id="34" name="Text 31"/>
          <p:cNvSpPr/>
          <p:nvPr/>
        </p:nvSpPr>
        <p:spPr>
          <a:xfrm>
            <a:off x="6343491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limpia</a:t>
            </a:r>
            <a:endParaRPr lang="en-US" sz="2280" dirty="0"/>
          </a:p>
        </p:txBody>
      </p:sp>
      <p:sp>
        <p:nvSpPr>
          <p:cNvPr id="35" name="Text 32"/>
          <p:cNvSpPr/>
          <p:nvPr/>
        </p:nvSpPr>
        <p:spPr>
          <a:xfrm>
            <a:off x="742931" y="2904255"/>
            <a:ext cx="395685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Parámetro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4584536" y="3347167"/>
            <a:ext cx="2682866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8,99 %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4584536" y="3566242"/>
            <a:ext cx="2682866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42,4 %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4584536" y="3785317"/>
            <a:ext cx="2682866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97,9 %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4584536" y="4004392"/>
            <a:ext cx="2682866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40,5 %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7189260" y="3132855"/>
            <a:ext cx="4387288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761981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2280" dirty="0"/>
          </a:p>
        </p:txBody>
      </p:sp>
      <p:sp>
        <p:nvSpPr>
          <p:cNvPr id="42" name="Text 39"/>
          <p:cNvSpPr/>
          <p:nvPr/>
        </p:nvSpPr>
        <p:spPr>
          <a:xfrm>
            <a:off x="3552736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~200K</a:t>
            </a:r>
            <a:endParaRPr lang="en-US" sz="2280" dirty="0"/>
          </a:p>
        </p:txBody>
      </p:sp>
      <p:sp>
        <p:nvSpPr>
          <p:cNvPr id="43" name="Text 40"/>
          <p:cNvSpPr/>
          <p:nvPr/>
        </p:nvSpPr>
        <p:spPr>
          <a:xfrm>
            <a:off x="9134247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2.407</a:t>
            </a:r>
            <a:endParaRPr lang="en-US" sz="22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0_Escen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3882" y="3502896"/>
            <a:ext cx="11066249" cy="154673"/>
          </a:xfrm>
          <a:prstGeom prst="rect">
            <a:avLst/>
          </a:prstGeom>
          <a:noFill/>
          <a:ln/>
        </p:spPr>
        <p:txBody>
          <a:bodyPr wrap="square" lIns="0" tIns="19050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Validado por Isaac: la deduplicación en origen es viable (registro del distribuidor + validación de fuentes). Su meta de corto plazo: rechazo ≤ 50 % como escalón intermedio hacia el 35 %.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723882" y="5496449"/>
            <a:ext cx="11066249" cy="357019"/>
          </a:xfrm>
          <a:prstGeom prst="rect">
            <a:avLst/>
          </a:prstGeom>
          <a:noFill/>
          <a:ln/>
        </p:spPr>
        <p:txBody>
          <a:bodyPr wrap="square" lIns="38100" tIns="133350" rIns="133350" bIns="3810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camino a 3.000 pasa más por calidad y depuración de base que por aumentar el volumen bruto de registros. Cálculo con el semestre completo (ene–jun), liquidación de junio ya incluida.</a:t>
            </a:r>
            <a:endParaRPr lang="en-US" sz="960" dirty="0"/>
          </a:p>
        </p:txBody>
      </p:sp>
      <p:sp>
        <p:nvSpPr>
          <p:cNvPr id="5" name="Text 2"/>
          <p:cNvSpPr/>
          <p:nvPr/>
        </p:nvSpPr>
        <p:spPr>
          <a:xfrm>
            <a:off x="723882" y="3822282"/>
            <a:ext cx="11066249" cy="154673"/>
          </a:xfrm>
          <a:prstGeom prst="rect">
            <a:avLst/>
          </a:prstGeom>
          <a:noFill/>
          <a:ln/>
        </p:spPr>
        <p:txBody>
          <a:bodyPr wrap="square" lIns="0" tIns="19050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Capacidad del equipo: meta agregada jun = 2.407 pólizas (18 asesores, 134 pol/asesor). Para 3.000 → ~150 pol/asesor con 20 asesores.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723882" y="3662589"/>
            <a:ext cx="11066249" cy="154673"/>
          </a:xfrm>
          <a:prstGeom prst="rect">
            <a:avLst/>
          </a:prstGeom>
          <a:noFill/>
          <a:ln/>
        </p:spPr>
        <p:txBody>
          <a:bodyPr wrap="square" lIns="0" tIns="19050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Priorizar Bienvenidas CP y Autogestión (conversión 17–33 % sobre contacto) reduce el volumen necesario a la mitad.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723882" y="3379071"/>
            <a:ext cx="1106624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Premisas del cálculo: 97,8 % gestión · 45 % contactabilidad · 9,0 % conversión (históricos 1S)</a:t>
            </a:r>
            <a:endParaRPr lang="en-US" sz="720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461522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Proyección · ¿Qué se necesita para 3.000 ventas/mes?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828654" y="3146155"/>
            <a:ext cx="32531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rechazo, excluyendo re-envíos y producto activo</a:t>
            </a:r>
            <a:endParaRPr lang="en-US" sz="696" dirty="0"/>
          </a:p>
        </p:txBody>
      </p:sp>
      <p:sp>
        <p:nvSpPr>
          <p:cNvPr id="10" name="Text 7"/>
          <p:cNvSpPr/>
          <p:nvPr/>
        </p:nvSpPr>
        <p:spPr>
          <a:xfrm>
            <a:off x="4516672" y="3146155"/>
            <a:ext cx="32531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aptos/mes con los mismos ~170K recibidos</a:t>
            </a:r>
            <a:endParaRPr lang="en-US" sz="696" dirty="0"/>
          </a:p>
        </p:txBody>
      </p:sp>
      <p:sp>
        <p:nvSpPr>
          <p:cNvPr id="11" name="Text 8"/>
          <p:cNvSpPr/>
          <p:nvPr/>
        </p:nvSpPr>
        <p:spPr>
          <a:xfrm>
            <a:off x="8204689" y="3146155"/>
            <a:ext cx="32531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ventas/mes potenciales — supera la meta de 3.000</a:t>
            </a:r>
            <a:endParaRPr lang="en-US" sz="696" dirty="0"/>
          </a:p>
        </p:txBody>
      </p:sp>
      <p:sp>
        <p:nvSpPr>
          <p:cNvPr id="12" name="Text 9"/>
          <p:cNvSpPr/>
          <p:nvPr/>
        </p:nvSpPr>
        <p:spPr>
          <a:xfrm>
            <a:off x="723882" y="2540871"/>
            <a:ext cx="11066249" cy="196215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Escenario con base depurada (recomendado)</a:t>
            </a:r>
            <a:endParaRPr lang="en-US" sz="1020" dirty="0"/>
          </a:p>
        </p:txBody>
      </p:sp>
      <p:sp>
        <p:nvSpPr>
          <p:cNvPr id="13" name="Text 10"/>
          <p:cNvSpPr/>
          <p:nvPr/>
        </p:nvSpPr>
        <p:spPr>
          <a:xfrm>
            <a:off x="571486" y="1966020"/>
            <a:ext cx="11380185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Cálculo histórico Escenario recomendado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23882" y="4010549"/>
            <a:ext cx="1106624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KPIs PROPUESTOS PARA EL SEGUIMIENTO 2S</a:t>
            </a:r>
            <a:endParaRPr lang="en-US" sz="768" dirty="0"/>
          </a:p>
        </p:txBody>
      </p:sp>
      <p:sp>
        <p:nvSpPr>
          <p:cNvPr id="15" name="Text 12"/>
          <p:cNvSpPr/>
          <p:nvPr/>
        </p:nvSpPr>
        <p:spPr>
          <a:xfrm>
            <a:off x="6343491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Reducir rechazo del 60 % del semestre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9134247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 asesores activos · E1 diferenciada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3552736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indicadores históricos ene–jun</a:t>
            </a:r>
            <a:endParaRPr lang="en-US" sz="864" dirty="0"/>
          </a:p>
        </p:txBody>
      </p:sp>
      <p:sp>
        <p:nvSpPr>
          <p:cNvPr id="18" name="Text 15"/>
          <p:cNvSpPr/>
          <p:nvPr/>
        </p:nvSpPr>
        <p:spPr>
          <a:xfrm>
            <a:off x="3552736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requeridos (estimado)</a:t>
            </a:r>
            <a:endParaRPr lang="en-US" sz="864" dirty="0"/>
          </a:p>
        </p:txBody>
      </p:sp>
      <p:sp>
        <p:nvSpPr>
          <p:cNvPr id="19" name="Text 16"/>
          <p:cNvSpPr/>
          <p:nvPr/>
        </p:nvSpPr>
        <p:spPr>
          <a:xfrm>
            <a:off x="4377968" y="4377284"/>
            <a:ext cx="4800709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ventas (liquidación)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4377968" y="5248822"/>
            <a:ext cx="4800709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Contactados / gestionados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9134247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agregada equipo Jun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4377968" y="4591597"/>
            <a:ext cx="4800709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 ≥ meta / total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4377968" y="4810672"/>
            <a:ext cx="4800709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/ asesor activo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4377968" y="5029747"/>
            <a:ext cx="4800709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 / recibidos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761981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mensual objetivo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723882" y="4377284"/>
            <a:ext cx="3763708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equipo/mes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6343491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Palanca principal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828654" y="2853857"/>
            <a:ext cx="32531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Paso 1 · Depurar</a:t>
            </a:r>
            <a:endParaRPr lang="en-US" sz="696" dirty="0"/>
          </a:p>
        </p:txBody>
      </p:sp>
      <p:sp>
        <p:nvSpPr>
          <p:cNvPr id="29" name="Text 26"/>
          <p:cNvSpPr/>
          <p:nvPr/>
        </p:nvSpPr>
        <p:spPr>
          <a:xfrm>
            <a:off x="723882" y="4591597"/>
            <a:ext cx="3763708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 E1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723882" y="5248822"/>
            <a:ext cx="3763708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8204689" y="2853857"/>
            <a:ext cx="32531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Paso 3 · Ventas</a:t>
            </a:r>
            <a:endParaRPr lang="en-US" sz="696" dirty="0"/>
          </a:p>
        </p:txBody>
      </p:sp>
      <p:sp>
        <p:nvSpPr>
          <p:cNvPr id="32" name="Text 29"/>
          <p:cNvSpPr/>
          <p:nvPr/>
        </p:nvSpPr>
        <p:spPr>
          <a:xfrm>
            <a:off x="723882" y="5029747"/>
            <a:ext cx="3763708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 base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4516672" y="2853857"/>
            <a:ext cx="32531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Paso 2 · Aptos</a:t>
            </a:r>
            <a:endParaRPr lang="en-US" sz="696" dirty="0"/>
          </a:p>
        </p:txBody>
      </p:sp>
      <p:sp>
        <p:nvSpPr>
          <p:cNvPr id="34" name="Text 31"/>
          <p:cNvSpPr/>
          <p:nvPr/>
        </p:nvSpPr>
        <p:spPr>
          <a:xfrm>
            <a:off x="9038850" y="4377284"/>
            <a:ext cx="2501832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3.000 (dic)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723882" y="4810672"/>
            <a:ext cx="3763708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Productividad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761981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/ mes</a:t>
            </a:r>
            <a:endParaRPr lang="en-US" sz="864" dirty="0"/>
          </a:p>
        </p:txBody>
      </p:sp>
      <p:sp>
        <p:nvSpPr>
          <p:cNvPr id="37" name="Text 34"/>
          <p:cNvSpPr/>
          <p:nvPr/>
        </p:nvSpPr>
        <p:spPr>
          <a:xfrm>
            <a:off x="6343491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limpia</a:t>
            </a:r>
            <a:endParaRPr lang="en-US" sz="2280" dirty="0"/>
          </a:p>
        </p:txBody>
      </p:sp>
      <p:sp>
        <p:nvSpPr>
          <p:cNvPr id="38" name="Text 35"/>
          <p:cNvSpPr/>
          <p:nvPr/>
        </p:nvSpPr>
        <p:spPr>
          <a:xfrm>
            <a:off x="828654" y="2977682"/>
            <a:ext cx="3253102" cy="153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60 % → 35 %</a:t>
            </a:r>
            <a:endParaRPr lang="en-US" sz="1176" dirty="0"/>
          </a:p>
        </p:txBody>
      </p:sp>
      <p:sp>
        <p:nvSpPr>
          <p:cNvPr id="39" name="Text 36"/>
          <p:cNvSpPr/>
          <p:nvPr/>
        </p:nvSpPr>
        <p:spPr>
          <a:xfrm>
            <a:off x="4516672" y="2977682"/>
            <a:ext cx="3253102" cy="153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62K → 110K</a:t>
            </a:r>
            <a:endParaRPr lang="en-US" sz="1176" dirty="0"/>
          </a:p>
        </p:txBody>
      </p:sp>
      <p:sp>
        <p:nvSpPr>
          <p:cNvPr id="40" name="Text 37"/>
          <p:cNvSpPr/>
          <p:nvPr/>
        </p:nvSpPr>
        <p:spPr>
          <a:xfrm>
            <a:off x="4377968" y="4148684"/>
            <a:ext cx="480070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Fórmula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9038850" y="4148684"/>
            <a:ext cx="250183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2S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8204689" y="2977682"/>
            <a:ext cx="3253102" cy="153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4.380</a:t>
            </a:r>
            <a:endParaRPr lang="en-US" sz="1176" dirty="0"/>
          </a:p>
        </p:txBody>
      </p:sp>
      <p:sp>
        <p:nvSpPr>
          <p:cNvPr id="43" name="Text 40"/>
          <p:cNvSpPr/>
          <p:nvPr/>
        </p:nvSpPr>
        <p:spPr>
          <a:xfrm>
            <a:off x="9038850" y="4591597"/>
            <a:ext cx="250183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90 %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9038850" y="5029747"/>
            <a:ext cx="250183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&lt; 40 %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9038850" y="5248822"/>
            <a:ext cx="2501832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55 %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9038850" y="4810672"/>
            <a:ext cx="250183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140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761981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2280" dirty="0"/>
          </a:p>
        </p:txBody>
      </p:sp>
      <p:sp>
        <p:nvSpPr>
          <p:cNvPr id="48" name="Text 45"/>
          <p:cNvSpPr/>
          <p:nvPr/>
        </p:nvSpPr>
        <p:spPr>
          <a:xfrm>
            <a:off x="3552736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~200K</a:t>
            </a:r>
            <a:endParaRPr lang="en-US" sz="2280" dirty="0"/>
          </a:p>
        </p:txBody>
      </p:sp>
      <p:sp>
        <p:nvSpPr>
          <p:cNvPr id="49" name="Text 46"/>
          <p:cNvSpPr/>
          <p:nvPr/>
        </p:nvSpPr>
        <p:spPr>
          <a:xfrm>
            <a:off x="9134247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2.407</a:t>
            </a:r>
            <a:endParaRPr lang="en-US" sz="2280" dirty="0"/>
          </a:p>
        </p:txBody>
      </p:sp>
      <p:sp>
        <p:nvSpPr>
          <p:cNvPr id="50" name="Text 47"/>
          <p:cNvSpPr/>
          <p:nvPr/>
        </p:nvSpPr>
        <p:spPr>
          <a:xfrm>
            <a:off x="723882" y="4148684"/>
            <a:ext cx="376370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KPI</a:t>
            </a:r>
            <a:endParaRPr lang="en-US" sz="888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1_Iniciati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030" y="3826818"/>
            <a:ext cx="10948523" cy="25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asesores nuevos en julio (→23 en operación) CRM con validaciones automáticas Bases limpias contra producto ya activo (Vanti)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923902" y="1914525"/>
            <a:ext cx="10654208" cy="262591"/>
          </a:xfrm>
          <a:prstGeom prst="rect">
            <a:avLst/>
          </a:prstGeom>
          <a:noFill/>
          <a:ln/>
        </p:spPr>
        <p:txBody>
          <a:bodyPr wrap="square" lIns="76200" tIns="381000" rIns="381000" bIns="0" rtlCol="0" anchor="t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Diagnóstico individual de dificultades, talleres guiados en la Universidad ILAO y seguimiento cercano por asesor.</a:t>
            </a:r>
            <a:endParaRPr lang="en-US" sz="888" dirty="0"/>
          </a:p>
        </p:txBody>
      </p:sp>
      <p:sp>
        <p:nvSpPr>
          <p:cNvPr id="5" name="Text 2"/>
          <p:cNvSpPr/>
          <p:nvPr/>
        </p:nvSpPr>
        <p:spPr>
          <a:xfrm>
            <a:off x="571486" y="209550"/>
            <a:ext cx="452478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Segundo Semestre 2026 · Meta 3.000/mes</a:t>
            </a:r>
            <a:endParaRPr lang="en-US" sz="1260" dirty="0"/>
          </a:p>
        </p:txBody>
      </p:sp>
      <p:sp>
        <p:nvSpPr>
          <p:cNvPr id="6" name="Text 3"/>
          <p:cNvSpPr/>
          <p:nvPr/>
        </p:nvSpPr>
        <p:spPr>
          <a:xfrm>
            <a:off x="1304892" y="1743075"/>
            <a:ext cx="1005576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Acompañamiento 1-a-1 para baja conversión en CP.</a:t>
            </a:r>
            <a:endParaRPr lang="en-US" sz="840" dirty="0"/>
          </a:p>
        </p:txBody>
      </p:sp>
      <p:sp>
        <p:nvSpPr>
          <p:cNvPr id="7" name="Text 4"/>
          <p:cNvSpPr/>
          <p:nvPr/>
        </p:nvSpPr>
        <p:spPr>
          <a:xfrm>
            <a:off x="1304892" y="2607618"/>
            <a:ext cx="1005576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Replicar las técnicas de Jesús, Melissa y Luisa.</a:t>
            </a:r>
            <a:endParaRPr lang="en-US" sz="840" dirty="0"/>
          </a:p>
        </p:txBody>
      </p:sp>
      <p:sp>
        <p:nvSpPr>
          <p:cNvPr id="8" name="Text 5"/>
          <p:cNvSpPr/>
          <p:nvPr/>
        </p:nvSpPr>
        <p:spPr>
          <a:xfrm>
            <a:off x="1304892" y="3179118"/>
            <a:ext cx="1005576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Resiliencia y manejo del estrés del equipo.</a:t>
            </a:r>
            <a:endParaRPr lang="en-US" sz="840" dirty="0"/>
          </a:p>
        </p:txBody>
      </p:sp>
      <p:sp>
        <p:nvSpPr>
          <p:cNvPr id="9" name="Text 6"/>
          <p:cNvSpPr/>
          <p:nvPr/>
        </p:nvSpPr>
        <p:spPr>
          <a:xfrm>
            <a:off x="1304892" y="3026718"/>
            <a:ext cx="10055767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Desarrollo Emocional (Gestión Humana)</a:t>
            </a:r>
            <a:endParaRPr lang="en-US" sz="984" dirty="0"/>
          </a:p>
        </p:txBody>
      </p:sp>
      <p:sp>
        <p:nvSpPr>
          <p:cNvPr id="10" name="Text 7"/>
          <p:cNvSpPr/>
          <p:nvPr/>
        </p:nvSpPr>
        <p:spPr>
          <a:xfrm>
            <a:off x="781030" y="1162050"/>
            <a:ext cx="205652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Comercial 2S 2026</a:t>
            </a:r>
            <a:endParaRPr lang="en-US" sz="1020" dirty="0"/>
          </a:p>
        </p:txBody>
      </p:sp>
      <p:sp>
        <p:nvSpPr>
          <p:cNvPr id="11" name="Text 8"/>
          <p:cNvSpPr/>
          <p:nvPr/>
        </p:nvSpPr>
        <p:spPr>
          <a:xfrm>
            <a:off x="8552939" y="1104900"/>
            <a:ext cx="2943458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Cronograma KPIs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304892" y="2455218"/>
            <a:ext cx="10055767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Modelado de Top Performers</a:t>
            </a:r>
            <a:endParaRPr lang="en-US" sz="984" dirty="0"/>
          </a:p>
        </p:txBody>
      </p:sp>
      <p:sp>
        <p:nvSpPr>
          <p:cNvPr id="13" name="Text 10"/>
          <p:cNvSpPr/>
          <p:nvPr/>
        </p:nvSpPr>
        <p:spPr>
          <a:xfrm>
            <a:off x="781030" y="3636318"/>
            <a:ext cx="1094852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Recursos clave requeridos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1304892" y="1590675"/>
            <a:ext cx="10055767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School Master Comercial</a:t>
            </a:r>
            <a:endParaRPr lang="en-US" sz="984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1_Crono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486" y="209550"/>
            <a:ext cx="452478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Segundo Semestre 2026 · Meta 3.000/mes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781030" y="2125915"/>
            <a:ext cx="3531628" cy="333375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desarrollo emocional</a:t>
            </a:r>
            <a:endParaRPr lang="en-US" sz="888" dirty="0"/>
          </a:p>
        </p:txBody>
      </p:sp>
      <p:sp>
        <p:nvSpPr>
          <p:cNvPr id="5" name="Text 2"/>
          <p:cNvSpPr/>
          <p:nvPr/>
        </p:nvSpPr>
        <p:spPr>
          <a:xfrm>
            <a:off x="781030" y="2459290"/>
            <a:ext cx="3531628" cy="333375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Bases limpias y actualizadas</a:t>
            </a:r>
            <a:endParaRPr lang="en-US" sz="888" dirty="0"/>
          </a:p>
        </p:txBody>
      </p:sp>
      <p:sp>
        <p:nvSpPr>
          <p:cNvPr id="6" name="Text 3"/>
          <p:cNvSpPr/>
          <p:nvPr/>
        </p:nvSpPr>
        <p:spPr>
          <a:xfrm>
            <a:off x="781030" y="1162050"/>
            <a:ext cx="205652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Comercial 2S 2026</a:t>
            </a:r>
            <a:endParaRPr lang="en-US" sz="1020" dirty="0"/>
          </a:p>
        </p:txBody>
      </p:sp>
      <p:sp>
        <p:nvSpPr>
          <p:cNvPr id="7" name="Text 4"/>
          <p:cNvSpPr/>
          <p:nvPr/>
        </p:nvSpPr>
        <p:spPr>
          <a:xfrm>
            <a:off x="8552939" y="1104900"/>
            <a:ext cx="2943458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Cronograma KPIs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81030" y="2792665"/>
            <a:ext cx="3531628" cy="328613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Optimización de equipos PC</a:t>
            </a:r>
            <a:endParaRPr lang="en-US" sz="888" dirty="0"/>
          </a:p>
        </p:txBody>
      </p:sp>
      <p:sp>
        <p:nvSpPr>
          <p:cNvPr id="9" name="Text 6"/>
          <p:cNvSpPr/>
          <p:nvPr/>
        </p:nvSpPr>
        <p:spPr>
          <a:xfrm>
            <a:off x="781030" y="1797302"/>
            <a:ext cx="3531628" cy="328613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Control de tiempos</a:t>
            </a:r>
            <a:endParaRPr lang="en-US" sz="888" dirty="0"/>
          </a:p>
        </p:txBody>
      </p:sp>
      <p:sp>
        <p:nvSpPr>
          <p:cNvPr id="10" name="Text 7"/>
          <p:cNvSpPr/>
          <p:nvPr/>
        </p:nvSpPr>
        <p:spPr>
          <a:xfrm>
            <a:off x="781030" y="1473452"/>
            <a:ext cx="3531628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Frente / Acción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4209796" y="2125915"/>
            <a:ext cx="1959955" cy="333375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GH / Líderes</a:t>
            </a:r>
            <a:endParaRPr lang="en-US" sz="888" dirty="0"/>
          </a:p>
        </p:txBody>
      </p:sp>
      <p:sp>
        <p:nvSpPr>
          <p:cNvPr id="12" name="Text 9"/>
          <p:cNvSpPr/>
          <p:nvPr/>
        </p:nvSpPr>
        <p:spPr>
          <a:xfrm>
            <a:off x="4209796" y="1473452"/>
            <a:ext cx="1959955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Responsable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4209796" y="2792665"/>
            <a:ext cx="1959955" cy="328613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Tecnología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4209796" y="1797302"/>
            <a:ext cx="1959955" cy="328613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Isaac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4209796" y="2459290"/>
            <a:ext cx="1959955" cy="333375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6112665" y="1473452"/>
            <a:ext cx="845543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6933580" y="1473452"/>
            <a:ext cx="948553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7854506" y="1473452"/>
            <a:ext cx="937516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Sep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8764716" y="1473452"/>
            <a:ext cx="906859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Oct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9645161" y="1473452"/>
            <a:ext cx="947480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Nov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10565044" y="1473452"/>
            <a:ext cx="870989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Dic</a:t>
            </a:r>
            <a:endParaRPr lang="en-US" sz="888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1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486" y="209550"/>
            <a:ext cx="452478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Segundo Semestre 2026 · Meta 3.000/mes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4681569" y="2135448"/>
            <a:ext cx="5049651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/ contactos en Autogestión</a:t>
            </a:r>
            <a:endParaRPr lang="en-US" sz="912" dirty="0"/>
          </a:p>
        </p:txBody>
      </p:sp>
      <p:sp>
        <p:nvSpPr>
          <p:cNvPr id="5" name="Text 2"/>
          <p:cNvSpPr/>
          <p:nvPr/>
        </p:nvSpPr>
        <p:spPr>
          <a:xfrm>
            <a:off x="4681569" y="2478348"/>
            <a:ext cx="5049651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/ contactos en Bienvenida</a:t>
            </a:r>
            <a:endParaRPr lang="en-US" sz="912" dirty="0"/>
          </a:p>
        </p:txBody>
      </p:sp>
      <p:sp>
        <p:nvSpPr>
          <p:cNvPr id="6" name="Text 3"/>
          <p:cNvSpPr/>
          <p:nvPr/>
        </p:nvSpPr>
        <p:spPr>
          <a:xfrm>
            <a:off x="4681569" y="2821248"/>
            <a:ext cx="5049651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Sesiones individuales / asesor</a:t>
            </a:r>
            <a:endParaRPr lang="en-US" sz="912" dirty="0"/>
          </a:p>
        </p:txBody>
      </p:sp>
      <p:sp>
        <p:nvSpPr>
          <p:cNvPr id="7" name="Text 4"/>
          <p:cNvSpPr/>
          <p:nvPr/>
        </p:nvSpPr>
        <p:spPr>
          <a:xfrm>
            <a:off x="4681569" y="1797310"/>
            <a:ext cx="5049651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liquidadas totales/mes</a:t>
            </a:r>
            <a:endParaRPr lang="en-US" sz="912" dirty="0"/>
          </a:p>
        </p:txBody>
      </p:sp>
      <p:sp>
        <p:nvSpPr>
          <p:cNvPr id="8" name="Text 5"/>
          <p:cNvSpPr/>
          <p:nvPr/>
        </p:nvSpPr>
        <p:spPr>
          <a:xfrm>
            <a:off x="781030" y="1162050"/>
            <a:ext cx="205652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Comercial 2S 2026</a:t>
            </a:r>
            <a:endParaRPr lang="en-US" sz="1020" dirty="0"/>
          </a:p>
        </p:txBody>
      </p:sp>
      <p:sp>
        <p:nvSpPr>
          <p:cNvPr id="9" name="Text 6"/>
          <p:cNvSpPr/>
          <p:nvPr/>
        </p:nvSpPr>
        <p:spPr>
          <a:xfrm>
            <a:off x="8552939" y="1104900"/>
            <a:ext cx="2943458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Cronograma KPIs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81030" y="2478348"/>
            <a:ext cx="4017555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Bienvenida CP</a:t>
            </a:r>
            <a:endParaRPr lang="en-US" sz="912" dirty="0"/>
          </a:p>
        </p:txBody>
      </p:sp>
      <p:sp>
        <p:nvSpPr>
          <p:cNvPr id="11" name="Text 8"/>
          <p:cNvSpPr/>
          <p:nvPr/>
        </p:nvSpPr>
        <p:spPr>
          <a:xfrm>
            <a:off x="781030" y="2135448"/>
            <a:ext cx="4017555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Autogestión</a:t>
            </a:r>
            <a:endParaRPr lang="en-US" sz="912" dirty="0"/>
          </a:p>
        </p:txBody>
      </p:sp>
      <p:sp>
        <p:nvSpPr>
          <p:cNvPr id="12" name="Text 9"/>
          <p:cNvSpPr/>
          <p:nvPr/>
        </p:nvSpPr>
        <p:spPr>
          <a:xfrm>
            <a:off x="781030" y="1797310"/>
            <a:ext cx="4017555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Volumen de ventas</a:t>
            </a:r>
            <a:endParaRPr lang="en-US" sz="912" dirty="0"/>
          </a:p>
        </p:txBody>
      </p:sp>
      <p:sp>
        <p:nvSpPr>
          <p:cNvPr id="13" name="Text 10"/>
          <p:cNvSpPr/>
          <p:nvPr/>
        </p:nvSpPr>
        <p:spPr>
          <a:xfrm>
            <a:off x="781030" y="2821248"/>
            <a:ext cx="4017555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Escuela de ventas</a:t>
            </a:r>
            <a:endParaRPr lang="en-US" sz="912" dirty="0"/>
          </a:p>
        </p:txBody>
      </p:sp>
      <p:sp>
        <p:nvSpPr>
          <p:cNvPr id="14" name="Text 11"/>
          <p:cNvSpPr/>
          <p:nvPr/>
        </p:nvSpPr>
        <p:spPr>
          <a:xfrm>
            <a:off x="4681569" y="1473460"/>
            <a:ext cx="5049651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Definición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781030" y="1473460"/>
            <a:ext cx="4017555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Métrica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9584143" y="1473460"/>
            <a:ext cx="1881318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2S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9584143" y="1797310"/>
            <a:ext cx="1881318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3.000</a:t>
            </a:r>
            <a:endParaRPr lang="en-US" sz="912" dirty="0"/>
          </a:p>
        </p:txBody>
      </p:sp>
      <p:sp>
        <p:nvSpPr>
          <p:cNvPr id="18" name="Text 15"/>
          <p:cNvSpPr/>
          <p:nvPr/>
        </p:nvSpPr>
        <p:spPr>
          <a:xfrm>
            <a:off x="9584143" y="2821248"/>
            <a:ext cx="1881318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/ mes</a:t>
            </a:r>
            <a:endParaRPr lang="en-US" sz="912" dirty="0"/>
          </a:p>
        </p:txBody>
      </p:sp>
      <p:sp>
        <p:nvSpPr>
          <p:cNvPr id="19" name="Text 16"/>
          <p:cNvSpPr/>
          <p:nvPr/>
        </p:nvSpPr>
        <p:spPr>
          <a:xfrm>
            <a:off x="9584143" y="2135448"/>
            <a:ext cx="1881318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40 %</a:t>
            </a:r>
            <a:endParaRPr lang="en-US" sz="912" dirty="0"/>
          </a:p>
        </p:txBody>
      </p:sp>
      <p:sp>
        <p:nvSpPr>
          <p:cNvPr id="20" name="Text 17"/>
          <p:cNvSpPr/>
          <p:nvPr/>
        </p:nvSpPr>
        <p:spPr>
          <a:xfrm>
            <a:off x="9584143" y="2478348"/>
            <a:ext cx="1881318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30 %</a:t>
            </a:r>
            <a:endParaRPr lang="en-US" sz="912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2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476" y="4826198"/>
            <a:ext cx="8044614" cy="951643"/>
          </a:xfrm>
          <a:prstGeom prst="rect">
            <a:avLst/>
          </a:prstGeom>
          <a:noFill/>
          <a:ln/>
        </p:spPr>
        <p:txBody>
          <a:bodyPr wrap="square" lIns="152400" tIns="209550" rIns="209550" bIns="15240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Cifras Oficiales y Consolidación: Se ratifica el uso de las cifras de Liquidación (Martha) como el número oficial de resultados del canal y el Tablero OCM (Isaac) como el indicador diario intra-mes. A pesar de los retos de bases repetidas, el esfuerzo del equipo ha sostenido la meta.</a:t>
            </a:r>
            <a:endParaRPr lang="en-US" sz="984" dirty="0"/>
          </a:p>
        </p:txBody>
      </p:sp>
      <p:sp>
        <p:nvSpPr>
          <p:cNvPr id="4" name="Text 1"/>
          <p:cNvSpPr/>
          <p:nvPr/>
        </p:nvSpPr>
        <p:spPr>
          <a:xfrm>
            <a:off x="1190595" y="3016448"/>
            <a:ext cx="3433677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🎮 La Gran Jugada (Mar-Abr) · Vanti: 4.798 ventas (114% meta).</a:t>
            </a:r>
            <a:endParaRPr lang="en-US" sz="984" dirty="0"/>
          </a:p>
        </p:txBody>
      </p:sp>
      <p:sp>
        <p:nvSpPr>
          <p:cNvPr id="5" name="Text 2"/>
          <p:cNvSpPr/>
          <p:nvPr/>
        </p:nvSpPr>
        <p:spPr>
          <a:xfrm>
            <a:off x="1190595" y="3635573"/>
            <a:ext cx="3433677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⚽ Feria Mundialista (Jun) · Xuma: 1.520 ventas en dos semanas.</a:t>
            </a:r>
            <a:endParaRPr lang="en-US" sz="984" dirty="0"/>
          </a:p>
        </p:txBody>
      </p:sp>
      <p:sp>
        <p:nvSpPr>
          <p:cNvPr id="6" name="Text 3"/>
          <p:cNvSpPr/>
          <p:nvPr/>
        </p:nvSpPr>
        <p:spPr>
          <a:xfrm>
            <a:off x="5190995" y="2778323"/>
            <a:ext cx="3433677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School Master Comercial: Refuerzo 1-a-1 de baja conversión.</a:t>
            </a:r>
            <a:endParaRPr lang="en-US" sz="984" dirty="0"/>
          </a:p>
        </p:txBody>
      </p:sp>
      <p:sp>
        <p:nvSpPr>
          <p:cNvPr id="7" name="Text 4"/>
          <p:cNvSpPr/>
          <p:nvPr/>
        </p:nvSpPr>
        <p:spPr>
          <a:xfrm>
            <a:off x="5190995" y="3578423"/>
            <a:ext cx="3433677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Roster en Julio: Meta de 23 asesores activos en operación.</a:t>
            </a:r>
            <a:endParaRPr lang="en-US" sz="984" dirty="0"/>
          </a:p>
        </p:txBody>
      </p:sp>
      <p:sp>
        <p:nvSpPr>
          <p:cNvPr id="8" name="Text 5"/>
          <p:cNvSpPr/>
          <p:nvPr/>
        </p:nvSpPr>
        <p:spPr>
          <a:xfrm>
            <a:off x="1190595" y="4016573"/>
            <a:ext cx="3433677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 capacitaciones ejecutadas por Xuma (al menos 1/mes).</a:t>
            </a:r>
            <a:endParaRPr lang="en-US" sz="984" dirty="0"/>
          </a:p>
        </p:txBody>
      </p:sp>
      <p:sp>
        <p:nvSpPr>
          <p:cNvPr id="9" name="Text 6"/>
          <p:cNvSpPr/>
          <p:nvPr/>
        </p:nvSpPr>
        <p:spPr>
          <a:xfrm>
            <a:off x="5190995" y="3140273"/>
            <a:ext cx="3433677" cy="372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Modelado Top: Replicar técnicas de mejores vendedores.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190995" y="2559248"/>
            <a:ext cx="3433677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 ventas CP+RS liquidadas en el primer semestre.</a:t>
            </a:r>
            <a:endParaRPr lang="en-US" sz="984" dirty="0"/>
          </a:p>
        </p:txBody>
      </p:sp>
      <p:sp>
        <p:nvSpPr>
          <p:cNvPr id="11" name="Text 8"/>
          <p:cNvSpPr/>
          <p:nvPr/>
        </p:nvSpPr>
        <p:spPr>
          <a:xfrm>
            <a:off x="1190595" y="2778323"/>
            <a:ext cx="3433677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🍔 Semana Burger (Feb &amp; Abr) · Xuma: 1.266 ventas.</a:t>
            </a:r>
            <a:endParaRPr lang="en-US" sz="984" dirty="0"/>
          </a:p>
        </p:txBody>
      </p:sp>
      <p:sp>
        <p:nvSpPr>
          <p:cNvPr id="12" name="Text 9"/>
          <p:cNvSpPr/>
          <p:nvPr/>
        </p:nvSpPr>
        <p:spPr>
          <a:xfrm>
            <a:off x="1190595" y="3397448"/>
            <a:ext cx="3433677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🎡 Ferias Vanti (Abr-May) · Xuma: 1.073 ventas.</a:t>
            </a:r>
            <a:endParaRPr lang="en-US" sz="984" dirty="0"/>
          </a:p>
        </p:txBody>
      </p:sp>
      <p:sp>
        <p:nvSpPr>
          <p:cNvPr id="13" name="Text 10"/>
          <p:cNvSpPr/>
          <p:nvPr/>
        </p:nvSpPr>
        <p:spPr>
          <a:xfrm>
            <a:off x="1190595" y="2559248"/>
            <a:ext cx="3433677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Semanas Ganadoras (Ene) · Vanti: 1.292 ventas.</a:t>
            </a:r>
            <a:endParaRPr lang="en-US" sz="984" dirty="0"/>
          </a:p>
        </p:txBody>
      </p:sp>
      <p:sp>
        <p:nvSpPr>
          <p:cNvPr id="14" name="Text 11"/>
          <p:cNvSpPr/>
          <p:nvPr/>
        </p:nvSpPr>
        <p:spPr>
          <a:xfrm>
            <a:off x="952476" y="774502"/>
            <a:ext cx="6867353" cy="1082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Hitos Consolidados del 1S y Plan 2S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1190595" y="2311598"/>
            <a:ext cx="343367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1S Ejecutadas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5190995" y="2311598"/>
            <a:ext cx="343367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Hitos y Plan Comercial 2S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952476" y="498277"/>
            <a:ext cx="1708561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Cierre del Informe</a:t>
            </a:r>
            <a:endParaRPr lang="en-US" sz="93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2026-07-17T19:53:11Z</dcterms:created>
  <dcterms:modified xsi:type="dcterms:W3CDTF">2026-07-17T19:53:11Z</dcterms:modified>
</cp:coreProperties>
</file>