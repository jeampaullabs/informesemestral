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0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52476" y="4197102"/>
            <a:ext cx="4977123" cy="485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dirty="0">
                <a:solidFill>
                  <a:srgbClr val="55555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Gestión del primer semestre · Análisis de bases operativas Estrategia para alcanzar </a:t>
            </a:r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3.000 ventas/mes</a:t>
            </a:r>
            <a:endParaRPr lang="en-US" sz="1380" dirty="0"/>
          </a:p>
        </p:txBody>
      </p:sp>
      <p:sp>
        <p:nvSpPr>
          <p:cNvPr id="4" name="Text 1"/>
          <p:cNvSpPr/>
          <p:nvPr/>
        </p:nvSpPr>
        <p:spPr>
          <a:xfrm>
            <a:off x="1133447" y="5823496"/>
            <a:ext cx="6150970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 – Jun 2026 13.917 ventas 1S 15–21 asesores activos Vanti · Xuma</a:t>
            </a:r>
            <a:endParaRPr lang="en-US" sz="936" dirty="0"/>
          </a:p>
        </p:txBody>
      </p:sp>
      <p:sp>
        <p:nvSpPr>
          <p:cNvPr id="5" name="Text 2"/>
          <p:cNvSpPr/>
          <p:nvPr/>
        </p:nvSpPr>
        <p:spPr>
          <a:xfrm>
            <a:off x="3174573" y="4959400"/>
            <a:ext cx="2776614" cy="343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6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Contribuyentes </a:t>
            </a:r>
            <a:pPr algn="l" indent="0" marL="0">
              <a:buNone/>
            </a:pPr>
            <a:r>
              <a:rPr lang="en-US" sz="103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Isaac Álvarez </a:t>
            </a:r>
            <a:pPr algn="l" indent="0" marL="0">
              <a:buNone/>
            </a:pPr>
            <a:r>
              <a:rPr lang="en-US" sz="93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· Data Marshall, Gestión Integral</a:t>
            </a:r>
            <a:endParaRPr lang="en-US" sz="768" dirty="0"/>
          </a:p>
        </p:txBody>
      </p:sp>
      <p:sp>
        <p:nvSpPr>
          <p:cNvPr id="6" name="Text 3"/>
          <p:cNvSpPr/>
          <p:nvPr/>
        </p:nvSpPr>
        <p:spPr>
          <a:xfrm>
            <a:off x="952476" y="4959400"/>
            <a:ext cx="1798225" cy="343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6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Coordinadora Comercial </a:t>
            </a:r>
            <a:pPr algn="l" indent="0" marL="0">
              <a:buNone/>
            </a:pPr>
            <a:r>
              <a:rPr lang="en-US" sz="103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Martha Carvajal</a:t>
            </a:r>
            <a:endParaRPr lang="en-US" sz="768" dirty="0"/>
          </a:p>
        </p:txBody>
      </p:sp>
      <p:sp>
        <p:nvSpPr>
          <p:cNvPr id="7" name="Text 4"/>
          <p:cNvSpPr/>
          <p:nvPr/>
        </p:nvSpPr>
        <p:spPr>
          <a:xfrm>
            <a:off x="952476" y="1872704"/>
            <a:ext cx="3442020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Informe Ejecutivo · Canal Televentas</a:t>
            </a:r>
            <a:endParaRPr lang="en-US" sz="936" dirty="0"/>
          </a:p>
        </p:txBody>
      </p:sp>
      <p:sp>
        <p:nvSpPr>
          <p:cNvPr id="8" name="Text 5"/>
          <p:cNvSpPr/>
          <p:nvPr/>
        </p:nvSpPr>
        <p:spPr>
          <a:xfrm>
            <a:off x="952476" y="2167979"/>
            <a:ext cx="3096697" cy="1900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Canal</a:t>
            </a:r>
            <a:pPr algn="l" indent="0" marL="0">
              <a:buNone/>
            </a:pPr>
            <a:r>
              <a:rPr lang="en-US" sz="43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Televentas</a:t>
            </a:r>
            <a:pPr algn="l" indent="0" marL="0">
              <a:buNone/>
            </a:pPr>
            <a:r>
              <a:rPr lang="en-US" sz="43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2026</a:t>
            </a:r>
            <a:endParaRPr lang="en-US" sz="43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1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52476" y="4398764"/>
            <a:ext cx="5604510" cy="4598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dirty="0">
                <a:solidFill>
                  <a:srgbClr val="55555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Resultados de ventas, desempeño por asesor, eficiencia por campaña e iniciativas ejecutadas durante el primer semestre.</a:t>
            </a:r>
            <a:endParaRPr lang="en-US" sz="1260" dirty="0"/>
          </a:p>
        </p:txBody>
      </p:sp>
      <p:sp>
        <p:nvSpPr>
          <p:cNvPr id="4" name="Text 1"/>
          <p:cNvSpPr/>
          <p:nvPr/>
        </p:nvSpPr>
        <p:spPr>
          <a:xfrm>
            <a:off x="952476" y="3118842"/>
            <a:ext cx="5209810" cy="1090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Gestión del CanalPrimer Semestre 2026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952476" y="2852142"/>
            <a:ext cx="986423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Capítulo 1</a:t>
            </a:r>
            <a:endParaRPr lang="en-US" sz="936" dirty="0"/>
          </a:p>
        </p:txBody>
      </p:sp>
      <p:sp>
        <p:nvSpPr>
          <p:cNvPr id="6" name="Text 3"/>
          <p:cNvSpPr/>
          <p:nvPr/>
        </p:nvSpPr>
        <p:spPr>
          <a:xfrm>
            <a:off x="952476" y="1880592"/>
            <a:ext cx="1331273" cy="1285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</a:t>
            </a:r>
            <a:endParaRPr lang="en-US" sz="4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2_Vant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62021" y="5895975"/>
            <a:ext cx="6927907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Vanti: Meta superada al 147 % — 13.917 pólizas vendidas vs 9.444 de meta. CP 10.534 (145 %) · VOL 3.383 (154 %).</a:t>
            </a:r>
            <a:endParaRPr lang="en-US" sz="984" dirty="0"/>
          </a:p>
        </p:txBody>
      </p:sp>
      <p:sp>
        <p:nvSpPr>
          <p:cNvPr id="4" name="Text 1"/>
          <p:cNvSpPr/>
          <p:nvPr/>
        </p:nvSpPr>
        <p:spPr>
          <a:xfrm>
            <a:off x="571486" y="209550"/>
            <a:ext cx="3973809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Resultados de Ventas · Primer Semestre 2026</a:t>
            </a:r>
            <a:endParaRPr lang="en-US" sz="1260" dirty="0"/>
          </a:p>
        </p:txBody>
      </p:sp>
      <p:sp>
        <p:nvSpPr>
          <p:cNvPr id="5" name="Text 2"/>
          <p:cNvSpPr/>
          <p:nvPr/>
        </p:nvSpPr>
        <p:spPr>
          <a:xfrm>
            <a:off x="800080" y="1009650"/>
            <a:ext cx="26781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liquidadas · Semestre completo</a:t>
            </a:r>
            <a:endParaRPr lang="en-US" sz="816" dirty="0"/>
          </a:p>
        </p:txBody>
      </p:sp>
      <p:sp>
        <p:nvSpPr>
          <p:cNvPr id="6" name="Text 3"/>
          <p:cNvSpPr/>
          <p:nvPr/>
        </p:nvSpPr>
        <p:spPr>
          <a:xfrm>
            <a:off x="800080" y="1514475"/>
            <a:ext cx="171035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Cifra oficial liquidación ene–jun</a:t>
            </a:r>
            <a:endParaRPr lang="en-US" sz="864" dirty="0"/>
          </a:p>
        </p:txBody>
      </p:sp>
      <p:sp>
        <p:nvSpPr>
          <p:cNvPr id="7" name="Text 4"/>
          <p:cNvSpPr/>
          <p:nvPr/>
        </p:nvSpPr>
        <p:spPr>
          <a:xfrm>
            <a:off x="981050" y="4613931"/>
            <a:ext cx="1767305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Crecimiento Cuota Protegida</a:t>
            </a:r>
            <a:endParaRPr lang="en-US" sz="936" dirty="0"/>
          </a:p>
        </p:txBody>
      </p:sp>
      <p:sp>
        <p:nvSpPr>
          <p:cNvPr id="8" name="Text 5"/>
          <p:cNvSpPr/>
          <p:nvPr/>
        </p:nvSpPr>
        <p:spPr>
          <a:xfrm>
            <a:off x="876278" y="2033587"/>
            <a:ext cx="1713353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vendidas vs. meta</a:t>
            </a:r>
            <a:endParaRPr lang="en-US" sz="1020" dirty="0"/>
          </a:p>
        </p:txBody>
      </p:sp>
      <p:sp>
        <p:nvSpPr>
          <p:cNvPr id="9" name="Text 6"/>
          <p:cNvSpPr/>
          <p:nvPr/>
        </p:nvSpPr>
        <p:spPr>
          <a:xfrm>
            <a:off x="6410165" y="4675097"/>
            <a:ext cx="1519158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Crecimiento Combo Vida</a:t>
            </a:r>
            <a:endParaRPr lang="en-US" sz="936" dirty="0"/>
          </a:p>
        </p:txBody>
      </p:sp>
      <p:sp>
        <p:nvSpPr>
          <p:cNvPr id="10" name="Text 7"/>
          <p:cNvSpPr/>
          <p:nvPr/>
        </p:nvSpPr>
        <p:spPr>
          <a:xfrm>
            <a:off x="2413470" y="2305050"/>
            <a:ext cx="309751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(CP)</a:t>
            </a:r>
            <a:endParaRPr lang="en-US" sz="888" dirty="0"/>
          </a:p>
        </p:txBody>
      </p:sp>
      <p:sp>
        <p:nvSpPr>
          <p:cNvPr id="11" name="Text 8"/>
          <p:cNvSpPr/>
          <p:nvPr/>
        </p:nvSpPr>
        <p:spPr>
          <a:xfrm>
            <a:off x="5420764" y="2305050"/>
            <a:ext cx="309751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Combo Vida (VOL)</a:t>
            </a:r>
            <a:endParaRPr lang="en-US" sz="888" dirty="0"/>
          </a:p>
        </p:txBody>
      </p:sp>
      <p:sp>
        <p:nvSpPr>
          <p:cNvPr id="12" name="Text 9"/>
          <p:cNvSpPr/>
          <p:nvPr/>
        </p:nvSpPr>
        <p:spPr>
          <a:xfrm>
            <a:off x="4520988" y="1009650"/>
            <a:ext cx="112619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</a:t>
            </a:r>
            <a:endParaRPr lang="en-US" sz="816" dirty="0"/>
          </a:p>
        </p:txBody>
      </p:sp>
      <p:sp>
        <p:nvSpPr>
          <p:cNvPr id="13" name="Text 10"/>
          <p:cNvSpPr/>
          <p:nvPr/>
        </p:nvSpPr>
        <p:spPr>
          <a:xfrm>
            <a:off x="4520988" y="1423095"/>
            <a:ext cx="74379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76 % del total</a:t>
            </a:r>
            <a:endParaRPr lang="en-US" sz="864" dirty="0"/>
          </a:p>
        </p:txBody>
      </p:sp>
      <p:sp>
        <p:nvSpPr>
          <p:cNvPr id="14" name="Text 11"/>
          <p:cNvSpPr/>
          <p:nvPr/>
        </p:nvSpPr>
        <p:spPr>
          <a:xfrm>
            <a:off x="8242044" y="1423095"/>
            <a:ext cx="73827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24 % del total</a:t>
            </a:r>
            <a:endParaRPr lang="en-US" sz="864" dirty="0"/>
          </a:p>
        </p:txBody>
      </p:sp>
      <p:sp>
        <p:nvSpPr>
          <p:cNvPr id="15" name="Text 12"/>
          <p:cNvSpPr/>
          <p:nvPr/>
        </p:nvSpPr>
        <p:spPr>
          <a:xfrm>
            <a:off x="3936355" y="2533650"/>
            <a:ext cx="152951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Cumplimiento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6943650" y="2533650"/>
            <a:ext cx="152951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Cumplimiento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9951324" y="2533650"/>
            <a:ext cx="151648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Cumplimiento</a:t>
            </a:r>
            <a:endParaRPr lang="en-US" sz="888" dirty="0"/>
          </a:p>
        </p:txBody>
      </p:sp>
      <p:sp>
        <p:nvSpPr>
          <p:cNvPr id="18" name="Text 15"/>
          <p:cNvSpPr/>
          <p:nvPr/>
        </p:nvSpPr>
        <p:spPr>
          <a:xfrm>
            <a:off x="8242044" y="1009650"/>
            <a:ext cx="7710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Combo Vida</a:t>
            </a:r>
            <a:endParaRPr lang="en-US" sz="816" dirty="0"/>
          </a:p>
        </p:txBody>
      </p:sp>
      <p:sp>
        <p:nvSpPr>
          <p:cNvPr id="19" name="Text 16"/>
          <p:cNvSpPr/>
          <p:nvPr/>
        </p:nvSpPr>
        <p:spPr>
          <a:xfrm>
            <a:off x="10502241" y="2047875"/>
            <a:ext cx="9105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Vanti </a:t>
            </a:r>
            <a:pPr algn="l" indent="0" marL="0">
              <a:buNone/>
            </a:pPr>
            <a:r>
              <a:rPr lang="en-US" sz="81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</a:t>
            </a:r>
            <a:endParaRPr lang="en-US" sz="816" dirty="0"/>
          </a:p>
        </p:txBody>
      </p:sp>
      <p:sp>
        <p:nvSpPr>
          <p:cNvPr id="20" name="Text 17"/>
          <p:cNvSpPr/>
          <p:nvPr/>
        </p:nvSpPr>
        <p:spPr>
          <a:xfrm>
            <a:off x="1359649" y="2533650"/>
            <a:ext cx="10989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Asesores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8428249" y="2305050"/>
            <a:ext cx="308448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General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3936355" y="2771775"/>
            <a:ext cx="152951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141,0 %</a:t>
            </a:r>
            <a:endParaRPr lang="en-US" sz="816" dirty="0"/>
          </a:p>
        </p:txBody>
      </p:sp>
      <p:sp>
        <p:nvSpPr>
          <p:cNvPr id="23" name="Text 20"/>
          <p:cNvSpPr/>
          <p:nvPr/>
        </p:nvSpPr>
        <p:spPr>
          <a:xfrm>
            <a:off x="6943650" y="2771775"/>
            <a:ext cx="152951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112,0 %</a:t>
            </a:r>
            <a:endParaRPr lang="en-US" sz="816" dirty="0"/>
          </a:p>
        </p:txBody>
      </p:sp>
      <p:sp>
        <p:nvSpPr>
          <p:cNvPr id="24" name="Text 21"/>
          <p:cNvSpPr/>
          <p:nvPr/>
        </p:nvSpPr>
        <p:spPr>
          <a:xfrm>
            <a:off x="9951324" y="2771775"/>
            <a:ext cx="151648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132,0 %</a:t>
            </a:r>
            <a:endParaRPr lang="en-US" sz="816" dirty="0"/>
          </a:p>
        </p:txBody>
      </p:sp>
      <p:sp>
        <p:nvSpPr>
          <p:cNvPr id="25" name="Text 22"/>
          <p:cNvSpPr/>
          <p:nvPr/>
        </p:nvSpPr>
        <p:spPr>
          <a:xfrm>
            <a:off x="3936355" y="3019425"/>
            <a:ext cx="152951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152,0 %</a:t>
            </a:r>
            <a:endParaRPr lang="en-US" sz="816" dirty="0"/>
          </a:p>
        </p:txBody>
      </p:sp>
      <p:sp>
        <p:nvSpPr>
          <p:cNvPr id="26" name="Text 23"/>
          <p:cNvSpPr/>
          <p:nvPr/>
        </p:nvSpPr>
        <p:spPr>
          <a:xfrm>
            <a:off x="6943650" y="3019425"/>
            <a:ext cx="152951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286,0 %</a:t>
            </a:r>
            <a:endParaRPr lang="en-US" sz="816" dirty="0"/>
          </a:p>
        </p:txBody>
      </p:sp>
      <p:sp>
        <p:nvSpPr>
          <p:cNvPr id="27" name="Text 24"/>
          <p:cNvSpPr/>
          <p:nvPr/>
        </p:nvSpPr>
        <p:spPr>
          <a:xfrm>
            <a:off x="9951324" y="3019425"/>
            <a:ext cx="151648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171,0 %</a:t>
            </a:r>
            <a:endParaRPr lang="en-US" sz="816" dirty="0"/>
          </a:p>
        </p:txBody>
      </p:sp>
      <p:sp>
        <p:nvSpPr>
          <p:cNvPr id="28" name="Text 25"/>
          <p:cNvSpPr/>
          <p:nvPr/>
        </p:nvSpPr>
        <p:spPr>
          <a:xfrm>
            <a:off x="3936355" y="3267075"/>
            <a:ext cx="152951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159,0 %</a:t>
            </a:r>
            <a:endParaRPr lang="en-US" sz="816" dirty="0"/>
          </a:p>
        </p:txBody>
      </p:sp>
      <p:sp>
        <p:nvSpPr>
          <p:cNvPr id="29" name="Text 26"/>
          <p:cNvSpPr/>
          <p:nvPr/>
        </p:nvSpPr>
        <p:spPr>
          <a:xfrm>
            <a:off x="6943650" y="3267075"/>
            <a:ext cx="152951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143,0 %</a:t>
            </a:r>
            <a:endParaRPr lang="en-US" sz="816" dirty="0"/>
          </a:p>
        </p:txBody>
      </p:sp>
      <p:sp>
        <p:nvSpPr>
          <p:cNvPr id="30" name="Text 27"/>
          <p:cNvSpPr/>
          <p:nvPr/>
        </p:nvSpPr>
        <p:spPr>
          <a:xfrm>
            <a:off x="9951324" y="3267075"/>
            <a:ext cx="151648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155,0 %</a:t>
            </a:r>
            <a:endParaRPr lang="en-US" sz="816" dirty="0"/>
          </a:p>
        </p:txBody>
      </p:sp>
      <p:sp>
        <p:nvSpPr>
          <p:cNvPr id="31" name="Text 28"/>
          <p:cNvSpPr/>
          <p:nvPr/>
        </p:nvSpPr>
        <p:spPr>
          <a:xfrm>
            <a:off x="3936355" y="3514725"/>
            <a:ext cx="152951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152,0 %</a:t>
            </a:r>
            <a:endParaRPr lang="en-US" sz="816" dirty="0"/>
          </a:p>
        </p:txBody>
      </p:sp>
      <p:sp>
        <p:nvSpPr>
          <p:cNvPr id="32" name="Text 29"/>
          <p:cNvSpPr/>
          <p:nvPr/>
        </p:nvSpPr>
        <p:spPr>
          <a:xfrm>
            <a:off x="9951324" y="3514725"/>
            <a:ext cx="151648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130,0 %</a:t>
            </a:r>
            <a:endParaRPr lang="en-US" sz="816" dirty="0"/>
          </a:p>
        </p:txBody>
      </p:sp>
      <p:sp>
        <p:nvSpPr>
          <p:cNvPr id="33" name="Text 30"/>
          <p:cNvSpPr/>
          <p:nvPr/>
        </p:nvSpPr>
        <p:spPr>
          <a:xfrm>
            <a:off x="3936355" y="3762375"/>
            <a:ext cx="152951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127,0 %</a:t>
            </a:r>
            <a:endParaRPr lang="en-US" sz="816" dirty="0"/>
          </a:p>
        </p:txBody>
      </p:sp>
      <p:sp>
        <p:nvSpPr>
          <p:cNvPr id="34" name="Text 31"/>
          <p:cNvSpPr/>
          <p:nvPr/>
        </p:nvSpPr>
        <p:spPr>
          <a:xfrm>
            <a:off x="6943650" y="3762375"/>
            <a:ext cx="152951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280,0 %</a:t>
            </a:r>
            <a:endParaRPr lang="en-US" sz="816" dirty="0"/>
          </a:p>
        </p:txBody>
      </p:sp>
      <p:sp>
        <p:nvSpPr>
          <p:cNvPr id="35" name="Text 32"/>
          <p:cNvSpPr/>
          <p:nvPr/>
        </p:nvSpPr>
        <p:spPr>
          <a:xfrm>
            <a:off x="9951324" y="3762375"/>
            <a:ext cx="151648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151,0 %</a:t>
            </a:r>
            <a:endParaRPr lang="en-US" sz="816" dirty="0"/>
          </a:p>
        </p:txBody>
      </p:sp>
      <p:sp>
        <p:nvSpPr>
          <p:cNvPr id="36" name="Text 33"/>
          <p:cNvSpPr/>
          <p:nvPr/>
        </p:nvSpPr>
        <p:spPr>
          <a:xfrm>
            <a:off x="3936355" y="4010025"/>
            <a:ext cx="152951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141,0 %</a:t>
            </a:r>
            <a:endParaRPr lang="en-US" sz="816" dirty="0"/>
          </a:p>
        </p:txBody>
      </p:sp>
      <p:sp>
        <p:nvSpPr>
          <p:cNvPr id="37" name="Text 34"/>
          <p:cNvSpPr/>
          <p:nvPr/>
        </p:nvSpPr>
        <p:spPr>
          <a:xfrm>
            <a:off x="6943650" y="4010025"/>
            <a:ext cx="152951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198,0 %</a:t>
            </a:r>
            <a:endParaRPr lang="en-US" sz="816" dirty="0"/>
          </a:p>
        </p:txBody>
      </p:sp>
      <p:sp>
        <p:nvSpPr>
          <p:cNvPr id="38" name="Text 35"/>
          <p:cNvSpPr/>
          <p:nvPr/>
        </p:nvSpPr>
        <p:spPr>
          <a:xfrm>
            <a:off x="9951324" y="4010025"/>
            <a:ext cx="151648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152,0 %</a:t>
            </a:r>
            <a:endParaRPr lang="en-US" sz="816" dirty="0"/>
          </a:p>
        </p:txBody>
      </p:sp>
      <p:sp>
        <p:nvSpPr>
          <p:cNvPr id="39" name="Text 36"/>
          <p:cNvSpPr/>
          <p:nvPr/>
        </p:nvSpPr>
        <p:spPr>
          <a:xfrm>
            <a:off x="3936355" y="4257675"/>
            <a:ext cx="152951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145,0 %</a:t>
            </a:r>
            <a:endParaRPr lang="en-US" sz="816" dirty="0"/>
          </a:p>
        </p:txBody>
      </p:sp>
      <p:sp>
        <p:nvSpPr>
          <p:cNvPr id="40" name="Text 37"/>
          <p:cNvSpPr/>
          <p:nvPr/>
        </p:nvSpPr>
        <p:spPr>
          <a:xfrm>
            <a:off x="6943650" y="4257675"/>
            <a:ext cx="152951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154,0 %</a:t>
            </a:r>
            <a:endParaRPr lang="en-US" sz="816" dirty="0"/>
          </a:p>
        </p:txBody>
      </p:sp>
      <p:sp>
        <p:nvSpPr>
          <p:cNvPr id="41" name="Text 38"/>
          <p:cNvSpPr/>
          <p:nvPr/>
        </p:nvSpPr>
        <p:spPr>
          <a:xfrm>
            <a:off x="9951324" y="4257675"/>
            <a:ext cx="151648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147,0 %</a:t>
            </a:r>
            <a:endParaRPr lang="en-US" sz="816" dirty="0"/>
          </a:p>
        </p:txBody>
      </p:sp>
      <p:sp>
        <p:nvSpPr>
          <p:cNvPr id="42" name="Text 39"/>
          <p:cNvSpPr/>
          <p:nvPr/>
        </p:nvSpPr>
        <p:spPr>
          <a:xfrm>
            <a:off x="6943650" y="3514725"/>
            <a:ext cx="152951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89,0 %</a:t>
            </a:r>
            <a:endParaRPr lang="en-US" sz="816" dirty="0"/>
          </a:p>
        </p:txBody>
      </p:sp>
      <p:sp>
        <p:nvSpPr>
          <p:cNvPr id="43" name="Text 40"/>
          <p:cNvSpPr/>
          <p:nvPr/>
        </p:nvSpPr>
        <p:spPr>
          <a:xfrm>
            <a:off x="2434590" y="425767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10.534</a:t>
            </a:r>
            <a:endParaRPr lang="en-US" sz="816" dirty="0"/>
          </a:p>
        </p:txBody>
      </p:sp>
      <p:sp>
        <p:nvSpPr>
          <p:cNvPr id="44" name="Text 41"/>
          <p:cNvSpPr/>
          <p:nvPr/>
        </p:nvSpPr>
        <p:spPr>
          <a:xfrm>
            <a:off x="8449180" y="425767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816" dirty="0"/>
          </a:p>
        </p:txBody>
      </p:sp>
      <p:sp>
        <p:nvSpPr>
          <p:cNvPr id="45" name="Text 42"/>
          <p:cNvSpPr/>
          <p:nvPr/>
        </p:nvSpPr>
        <p:spPr>
          <a:xfrm>
            <a:off x="800080" y="1143000"/>
            <a:ext cx="990525" cy="362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2400" dirty="0"/>
          </a:p>
        </p:txBody>
      </p:sp>
      <p:sp>
        <p:nvSpPr>
          <p:cNvPr id="46" name="Text 43"/>
          <p:cNvSpPr/>
          <p:nvPr/>
        </p:nvSpPr>
        <p:spPr>
          <a:xfrm>
            <a:off x="4520988" y="1152525"/>
            <a:ext cx="713983" cy="25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10.534</a:t>
            </a:r>
            <a:endParaRPr lang="en-US" sz="1680" dirty="0"/>
          </a:p>
        </p:txBody>
      </p:sp>
      <p:sp>
        <p:nvSpPr>
          <p:cNvPr id="47" name="Text 44"/>
          <p:cNvSpPr/>
          <p:nvPr/>
        </p:nvSpPr>
        <p:spPr>
          <a:xfrm>
            <a:off x="2434590" y="2533650"/>
            <a:ext cx="82362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</a:t>
            </a:r>
            <a:endParaRPr lang="en-US" sz="888" dirty="0"/>
          </a:p>
        </p:txBody>
      </p:sp>
      <p:sp>
        <p:nvSpPr>
          <p:cNvPr id="48" name="Text 45"/>
          <p:cNvSpPr/>
          <p:nvPr/>
        </p:nvSpPr>
        <p:spPr>
          <a:xfrm>
            <a:off x="5441885" y="2533650"/>
            <a:ext cx="82362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</a:t>
            </a:r>
            <a:endParaRPr lang="en-US" sz="888" dirty="0"/>
          </a:p>
        </p:txBody>
      </p:sp>
      <p:sp>
        <p:nvSpPr>
          <p:cNvPr id="49" name="Text 46"/>
          <p:cNvSpPr/>
          <p:nvPr/>
        </p:nvSpPr>
        <p:spPr>
          <a:xfrm>
            <a:off x="8449180" y="2533650"/>
            <a:ext cx="82362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</a:t>
            </a:r>
            <a:endParaRPr lang="en-US" sz="888" dirty="0"/>
          </a:p>
        </p:txBody>
      </p:sp>
      <p:sp>
        <p:nvSpPr>
          <p:cNvPr id="50" name="Text 47"/>
          <p:cNvSpPr/>
          <p:nvPr/>
        </p:nvSpPr>
        <p:spPr>
          <a:xfrm>
            <a:off x="2434590" y="277177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1.689</a:t>
            </a:r>
            <a:endParaRPr lang="en-US" sz="816" dirty="0"/>
          </a:p>
        </p:txBody>
      </p:sp>
      <p:sp>
        <p:nvSpPr>
          <p:cNvPr id="51" name="Text 48"/>
          <p:cNvSpPr/>
          <p:nvPr/>
        </p:nvSpPr>
        <p:spPr>
          <a:xfrm>
            <a:off x="3236532" y="277177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1.197</a:t>
            </a:r>
            <a:endParaRPr lang="en-US" sz="816" dirty="0"/>
          </a:p>
        </p:txBody>
      </p:sp>
      <p:sp>
        <p:nvSpPr>
          <p:cNvPr id="52" name="Text 49"/>
          <p:cNvSpPr/>
          <p:nvPr/>
        </p:nvSpPr>
        <p:spPr>
          <a:xfrm>
            <a:off x="8449180" y="277177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2.245</a:t>
            </a:r>
            <a:endParaRPr lang="en-US" sz="816" dirty="0"/>
          </a:p>
        </p:txBody>
      </p:sp>
      <p:sp>
        <p:nvSpPr>
          <p:cNvPr id="53" name="Text 50"/>
          <p:cNvSpPr/>
          <p:nvPr/>
        </p:nvSpPr>
        <p:spPr>
          <a:xfrm>
            <a:off x="9251121" y="277177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1.695</a:t>
            </a:r>
            <a:endParaRPr lang="en-US" sz="816" dirty="0"/>
          </a:p>
        </p:txBody>
      </p:sp>
      <p:sp>
        <p:nvSpPr>
          <p:cNvPr id="54" name="Text 51"/>
          <p:cNvSpPr/>
          <p:nvPr/>
        </p:nvSpPr>
        <p:spPr>
          <a:xfrm>
            <a:off x="2434590" y="301942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1.819</a:t>
            </a:r>
            <a:endParaRPr lang="en-US" sz="816" dirty="0"/>
          </a:p>
        </p:txBody>
      </p:sp>
      <p:sp>
        <p:nvSpPr>
          <p:cNvPr id="55" name="Text 52"/>
          <p:cNvSpPr/>
          <p:nvPr/>
        </p:nvSpPr>
        <p:spPr>
          <a:xfrm>
            <a:off x="3236532" y="301942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1.197</a:t>
            </a:r>
            <a:endParaRPr lang="en-US" sz="816" dirty="0"/>
          </a:p>
        </p:txBody>
      </p:sp>
      <p:sp>
        <p:nvSpPr>
          <p:cNvPr id="56" name="Text 53"/>
          <p:cNvSpPr/>
          <p:nvPr/>
        </p:nvSpPr>
        <p:spPr>
          <a:xfrm>
            <a:off x="8449180" y="301942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2.374</a:t>
            </a:r>
            <a:endParaRPr lang="en-US" sz="816" dirty="0"/>
          </a:p>
        </p:txBody>
      </p:sp>
      <p:sp>
        <p:nvSpPr>
          <p:cNvPr id="57" name="Text 54"/>
          <p:cNvSpPr/>
          <p:nvPr/>
        </p:nvSpPr>
        <p:spPr>
          <a:xfrm>
            <a:off x="9251121" y="301942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1.391</a:t>
            </a:r>
            <a:endParaRPr lang="en-US" sz="816" dirty="0"/>
          </a:p>
        </p:txBody>
      </p:sp>
      <p:sp>
        <p:nvSpPr>
          <p:cNvPr id="58" name="Text 55"/>
          <p:cNvSpPr/>
          <p:nvPr/>
        </p:nvSpPr>
        <p:spPr>
          <a:xfrm>
            <a:off x="2434590" y="326707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1.901</a:t>
            </a:r>
            <a:endParaRPr lang="en-US" sz="816" dirty="0"/>
          </a:p>
        </p:txBody>
      </p:sp>
      <p:sp>
        <p:nvSpPr>
          <p:cNvPr id="59" name="Text 56"/>
          <p:cNvSpPr/>
          <p:nvPr/>
        </p:nvSpPr>
        <p:spPr>
          <a:xfrm>
            <a:off x="3236532" y="326707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1.197</a:t>
            </a:r>
            <a:endParaRPr lang="en-US" sz="816" dirty="0"/>
          </a:p>
        </p:txBody>
      </p:sp>
      <p:sp>
        <p:nvSpPr>
          <p:cNvPr id="60" name="Text 57"/>
          <p:cNvSpPr/>
          <p:nvPr/>
        </p:nvSpPr>
        <p:spPr>
          <a:xfrm>
            <a:off x="8449180" y="326707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2.431</a:t>
            </a:r>
            <a:endParaRPr lang="en-US" sz="816" dirty="0"/>
          </a:p>
        </p:txBody>
      </p:sp>
      <p:sp>
        <p:nvSpPr>
          <p:cNvPr id="61" name="Text 58"/>
          <p:cNvSpPr/>
          <p:nvPr/>
        </p:nvSpPr>
        <p:spPr>
          <a:xfrm>
            <a:off x="9251121" y="326707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1.568</a:t>
            </a:r>
            <a:endParaRPr lang="en-US" sz="816" dirty="0"/>
          </a:p>
        </p:txBody>
      </p:sp>
      <p:sp>
        <p:nvSpPr>
          <p:cNvPr id="62" name="Text 59"/>
          <p:cNvSpPr/>
          <p:nvPr/>
        </p:nvSpPr>
        <p:spPr>
          <a:xfrm>
            <a:off x="2434590" y="351472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1.816</a:t>
            </a:r>
            <a:endParaRPr lang="en-US" sz="816" dirty="0"/>
          </a:p>
        </p:txBody>
      </p:sp>
      <p:sp>
        <p:nvSpPr>
          <p:cNvPr id="63" name="Text 60"/>
          <p:cNvSpPr/>
          <p:nvPr/>
        </p:nvSpPr>
        <p:spPr>
          <a:xfrm>
            <a:off x="3236532" y="351472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1.197</a:t>
            </a:r>
            <a:endParaRPr lang="en-US" sz="816" dirty="0"/>
          </a:p>
        </p:txBody>
      </p:sp>
      <p:sp>
        <p:nvSpPr>
          <p:cNvPr id="64" name="Text 61"/>
          <p:cNvSpPr/>
          <p:nvPr/>
        </p:nvSpPr>
        <p:spPr>
          <a:xfrm>
            <a:off x="8449180" y="351472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2.367</a:t>
            </a:r>
            <a:endParaRPr lang="en-US" sz="816" dirty="0"/>
          </a:p>
        </p:txBody>
      </p:sp>
      <p:sp>
        <p:nvSpPr>
          <p:cNvPr id="65" name="Text 62"/>
          <p:cNvSpPr/>
          <p:nvPr/>
        </p:nvSpPr>
        <p:spPr>
          <a:xfrm>
            <a:off x="9251121" y="351472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1.818</a:t>
            </a:r>
            <a:endParaRPr lang="en-US" sz="816" dirty="0"/>
          </a:p>
        </p:txBody>
      </p:sp>
      <p:sp>
        <p:nvSpPr>
          <p:cNvPr id="66" name="Text 63"/>
          <p:cNvSpPr/>
          <p:nvPr/>
        </p:nvSpPr>
        <p:spPr>
          <a:xfrm>
            <a:off x="2434590" y="376237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1.568</a:t>
            </a:r>
            <a:endParaRPr lang="en-US" sz="816" dirty="0"/>
          </a:p>
        </p:txBody>
      </p:sp>
      <p:sp>
        <p:nvSpPr>
          <p:cNvPr id="67" name="Text 64"/>
          <p:cNvSpPr/>
          <p:nvPr/>
        </p:nvSpPr>
        <p:spPr>
          <a:xfrm>
            <a:off x="3236532" y="376237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1.231</a:t>
            </a:r>
            <a:endParaRPr lang="en-US" sz="816" dirty="0"/>
          </a:p>
        </p:txBody>
      </p:sp>
      <p:sp>
        <p:nvSpPr>
          <p:cNvPr id="68" name="Text 65"/>
          <p:cNvSpPr/>
          <p:nvPr/>
        </p:nvSpPr>
        <p:spPr>
          <a:xfrm>
            <a:off x="8449180" y="376237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2.186</a:t>
            </a:r>
            <a:endParaRPr lang="en-US" sz="816" dirty="0"/>
          </a:p>
        </p:txBody>
      </p:sp>
      <p:sp>
        <p:nvSpPr>
          <p:cNvPr id="69" name="Text 66"/>
          <p:cNvSpPr/>
          <p:nvPr/>
        </p:nvSpPr>
        <p:spPr>
          <a:xfrm>
            <a:off x="9251121" y="376237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1.452</a:t>
            </a:r>
            <a:endParaRPr lang="en-US" sz="816" dirty="0"/>
          </a:p>
        </p:txBody>
      </p:sp>
      <p:sp>
        <p:nvSpPr>
          <p:cNvPr id="70" name="Text 67"/>
          <p:cNvSpPr/>
          <p:nvPr/>
        </p:nvSpPr>
        <p:spPr>
          <a:xfrm>
            <a:off x="2434590" y="401002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1.741</a:t>
            </a:r>
            <a:endParaRPr lang="en-US" sz="816" dirty="0"/>
          </a:p>
        </p:txBody>
      </p:sp>
      <p:sp>
        <p:nvSpPr>
          <p:cNvPr id="71" name="Text 68"/>
          <p:cNvSpPr/>
          <p:nvPr/>
        </p:nvSpPr>
        <p:spPr>
          <a:xfrm>
            <a:off x="3236532" y="401002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1.231</a:t>
            </a:r>
            <a:endParaRPr lang="en-US" sz="816" dirty="0"/>
          </a:p>
        </p:txBody>
      </p:sp>
      <p:sp>
        <p:nvSpPr>
          <p:cNvPr id="72" name="Text 69"/>
          <p:cNvSpPr/>
          <p:nvPr/>
        </p:nvSpPr>
        <p:spPr>
          <a:xfrm>
            <a:off x="8449180" y="401002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2.314</a:t>
            </a:r>
            <a:endParaRPr lang="en-US" sz="816" dirty="0"/>
          </a:p>
        </p:txBody>
      </p:sp>
      <p:sp>
        <p:nvSpPr>
          <p:cNvPr id="73" name="Text 70"/>
          <p:cNvSpPr/>
          <p:nvPr/>
        </p:nvSpPr>
        <p:spPr>
          <a:xfrm>
            <a:off x="9251121" y="401002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1.520</a:t>
            </a:r>
            <a:endParaRPr lang="en-US" sz="816" dirty="0"/>
          </a:p>
        </p:txBody>
      </p:sp>
      <p:sp>
        <p:nvSpPr>
          <p:cNvPr id="74" name="Text 71"/>
          <p:cNvSpPr/>
          <p:nvPr/>
        </p:nvSpPr>
        <p:spPr>
          <a:xfrm>
            <a:off x="723882" y="4257675"/>
            <a:ext cx="68780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16" dirty="0"/>
          </a:p>
        </p:txBody>
      </p:sp>
      <p:sp>
        <p:nvSpPr>
          <p:cNvPr id="75" name="Text 72"/>
          <p:cNvSpPr/>
          <p:nvPr/>
        </p:nvSpPr>
        <p:spPr>
          <a:xfrm>
            <a:off x="3236532" y="425767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7.250</a:t>
            </a:r>
            <a:endParaRPr lang="en-US" sz="816" dirty="0"/>
          </a:p>
        </p:txBody>
      </p:sp>
      <p:sp>
        <p:nvSpPr>
          <p:cNvPr id="76" name="Text 73"/>
          <p:cNvSpPr/>
          <p:nvPr/>
        </p:nvSpPr>
        <p:spPr>
          <a:xfrm>
            <a:off x="5441885" y="425767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3.383</a:t>
            </a:r>
            <a:endParaRPr lang="en-US" sz="816" dirty="0"/>
          </a:p>
        </p:txBody>
      </p:sp>
      <p:sp>
        <p:nvSpPr>
          <p:cNvPr id="77" name="Text 74"/>
          <p:cNvSpPr/>
          <p:nvPr/>
        </p:nvSpPr>
        <p:spPr>
          <a:xfrm>
            <a:off x="6243827" y="425767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2.194</a:t>
            </a:r>
            <a:endParaRPr lang="en-US" sz="816" dirty="0"/>
          </a:p>
        </p:txBody>
      </p:sp>
      <p:sp>
        <p:nvSpPr>
          <p:cNvPr id="78" name="Text 75"/>
          <p:cNvSpPr/>
          <p:nvPr/>
        </p:nvSpPr>
        <p:spPr>
          <a:xfrm>
            <a:off x="9251121" y="425767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9.444</a:t>
            </a:r>
            <a:endParaRPr lang="en-US" sz="816" dirty="0"/>
          </a:p>
        </p:txBody>
      </p:sp>
      <p:sp>
        <p:nvSpPr>
          <p:cNvPr id="79" name="Text 76"/>
          <p:cNvSpPr/>
          <p:nvPr/>
        </p:nvSpPr>
        <p:spPr>
          <a:xfrm>
            <a:off x="8242044" y="1152525"/>
            <a:ext cx="595667" cy="25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3.383</a:t>
            </a:r>
            <a:endParaRPr lang="en-US" sz="1680" dirty="0"/>
          </a:p>
        </p:txBody>
      </p:sp>
      <p:sp>
        <p:nvSpPr>
          <p:cNvPr id="80" name="Text 77"/>
          <p:cNvSpPr/>
          <p:nvPr/>
        </p:nvSpPr>
        <p:spPr>
          <a:xfrm>
            <a:off x="3236532" y="2533650"/>
            <a:ext cx="7443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6243827" y="2533650"/>
            <a:ext cx="7443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</a:t>
            </a:r>
            <a:endParaRPr lang="en-US" sz="888" dirty="0"/>
          </a:p>
        </p:txBody>
      </p:sp>
      <p:sp>
        <p:nvSpPr>
          <p:cNvPr id="82" name="Text 79"/>
          <p:cNvSpPr/>
          <p:nvPr/>
        </p:nvSpPr>
        <p:spPr>
          <a:xfrm>
            <a:off x="9251121" y="2533650"/>
            <a:ext cx="7443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</a:t>
            </a:r>
            <a:endParaRPr lang="en-US" sz="888" dirty="0"/>
          </a:p>
        </p:txBody>
      </p:sp>
      <p:sp>
        <p:nvSpPr>
          <p:cNvPr id="83" name="Text 80"/>
          <p:cNvSpPr/>
          <p:nvPr/>
        </p:nvSpPr>
        <p:spPr>
          <a:xfrm>
            <a:off x="723882" y="2533650"/>
            <a:ext cx="68780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84" name="Text 81"/>
          <p:cNvSpPr/>
          <p:nvPr/>
        </p:nvSpPr>
        <p:spPr>
          <a:xfrm>
            <a:off x="723882" y="2771775"/>
            <a:ext cx="68780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16" dirty="0"/>
          </a:p>
        </p:txBody>
      </p:sp>
      <p:sp>
        <p:nvSpPr>
          <p:cNvPr id="85" name="Text 82"/>
          <p:cNvSpPr/>
          <p:nvPr/>
        </p:nvSpPr>
        <p:spPr>
          <a:xfrm>
            <a:off x="5441885" y="277177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556</a:t>
            </a:r>
            <a:endParaRPr lang="en-US" sz="816" dirty="0"/>
          </a:p>
        </p:txBody>
      </p:sp>
      <p:sp>
        <p:nvSpPr>
          <p:cNvPr id="86" name="Text 83"/>
          <p:cNvSpPr/>
          <p:nvPr/>
        </p:nvSpPr>
        <p:spPr>
          <a:xfrm>
            <a:off x="6243827" y="277177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498</a:t>
            </a:r>
            <a:endParaRPr lang="en-US" sz="816" dirty="0"/>
          </a:p>
        </p:txBody>
      </p:sp>
      <p:sp>
        <p:nvSpPr>
          <p:cNvPr id="87" name="Text 84"/>
          <p:cNvSpPr/>
          <p:nvPr/>
        </p:nvSpPr>
        <p:spPr>
          <a:xfrm>
            <a:off x="723882" y="3019425"/>
            <a:ext cx="68780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16" dirty="0"/>
          </a:p>
        </p:txBody>
      </p:sp>
      <p:sp>
        <p:nvSpPr>
          <p:cNvPr id="88" name="Text 85"/>
          <p:cNvSpPr/>
          <p:nvPr/>
        </p:nvSpPr>
        <p:spPr>
          <a:xfrm>
            <a:off x="5441885" y="301942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555</a:t>
            </a:r>
            <a:endParaRPr lang="en-US" sz="816" dirty="0"/>
          </a:p>
        </p:txBody>
      </p:sp>
      <p:sp>
        <p:nvSpPr>
          <p:cNvPr id="89" name="Text 86"/>
          <p:cNvSpPr/>
          <p:nvPr/>
        </p:nvSpPr>
        <p:spPr>
          <a:xfrm>
            <a:off x="6243827" y="301942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194</a:t>
            </a:r>
            <a:endParaRPr lang="en-US" sz="816" dirty="0"/>
          </a:p>
        </p:txBody>
      </p:sp>
      <p:sp>
        <p:nvSpPr>
          <p:cNvPr id="90" name="Text 87"/>
          <p:cNvSpPr/>
          <p:nvPr/>
        </p:nvSpPr>
        <p:spPr>
          <a:xfrm>
            <a:off x="723882" y="3267075"/>
            <a:ext cx="68780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16" dirty="0"/>
          </a:p>
        </p:txBody>
      </p:sp>
      <p:sp>
        <p:nvSpPr>
          <p:cNvPr id="91" name="Text 88"/>
          <p:cNvSpPr/>
          <p:nvPr/>
        </p:nvSpPr>
        <p:spPr>
          <a:xfrm>
            <a:off x="5441885" y="326707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530</a:t>
            </a:r>
            <a:endParaRPr lang="en-US" sz="816" dirty="0"/>
          </a:p>
        </p:txBody>
      </p:sp>
      <p:sp>
        <p:nvSpPr>
          <p:cNvPr id="92" name="Text 89"/>
          <p:cNvSpPr/>
          <p:nvPr/>
        </p:nvSpPr>
        <p:spPr>
          <a:xfrm>
            <a:off x="6243827" y="326707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371</a:t>
            </a:r>
            <a:endParaRPr lang="en-US" sz="816" dirty="0"/>
          </a:p>
        </p:txBody>
      </p:sp>
      <p:sp>
        <p:nvSpPr>
          <p:cNvPr id="93" name="Text 90"/>
          <p:cNvSpPr/>
          <p:nvPr/>
        </p:nvSpPr>
        <p:spPr>
          <a:xfrm>
            <a:off x="723882" y="3514725"/>
            <a:ext cx="68780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16" dirty="0"/>
          </a:p>
        </p:txBody>
      </p:sp>
      <p:sp>
        <p:nvSpPr>
          <p:cNvPr id="94" name="Text 91"/>
          <p:cNvSpPr/>
          <p:nvPr/>
        </p:nvSpPr>
        <p:spPr>
          <a:xfrm>
            <a:off x="5441885" y="351472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551</a:t>
            </a:r>
            <a:endParaRPr lang="en-US" sz="816" dirty="0"/>
          </a:p>
        </p:txBody>
      </p:sp>
      <p:sp>
        <p:nvSpPr>
          <p:cNvPr id="95" name="Text 92"/>
          <p:cNvSpPr/>
          <p:nvPr/>
        </p:nvSpPr>
        <p:spPr>
          <a:xfrm>
            <a:off x="6243827" y="351472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621</a:t>
            </a:r>
            <a:endParaRPr lang="en-US" sz="816" dirty="0"/>
          </a:p>
        </p:txBody>
      </p:sp>
      <p:sp>
        <p:nvSpPr>
          <p:cNvPr id="96" name="Text 93"/>
          <p:cNvSpPr/>
          <p:nvPr/>
        </p:nvSpPr>
        <p:spPr>
          <a:xfrm>
            <a:off x="723882" y="3762375"/>
            <a:ext cx="68780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16" dirty="0"/>
          </a:p>
        </p:txBody>
      </p:sp>
      <p:sp>
        <p:nvSpPr>
          <p:cNvPr id="97" name="Text 94"/>
          <p:cNvSpPr/>
          <p:nvPr/>
        </p:nvSpPr>
        <p:spPr>
          <a:xfrm>
            <a:off x="5441885" y="376237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618</a:t>
            </a:r>
            <a:endParaRPr lang="en-US" sz="816" dirty="0"/>
          </a:p>
        </p:txBody>
      </p:sp>
      <p:sp>
        <p:nvSpPr>
          <p:cNvPr id="98" name="Text 95"/>
          <p:cNvSpPr/>
          <p:nvPr/>
        </p:nvSpPr>
        <p:spPr>
          <a:xfrm>
            <a:off x="6243827" y="376237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221</a:t>
            </a:r>
            <a:endParaRPr lang="en-US" sz="816" dirty="0"/>
          </a:p>
        </p:txBody>
      </p:sp>
      <p:sp>
        <p:nvSpPr>
          <p:cNvPr id="99" name="Text 96"/>
          <p:cNvSpPr/>
          <p:nvPr/>
        </p:nvSpPr>
        <p:spPr>
          <a:xfrm>
            <a:off x="723882" y="4010025"/>
            <a:ext cx="68780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16" dirty="0"/>
          </a:p>
        </p:txBody>
      </p:sp>
      <p:sp>
        <p:nvSpPr>
          <p:cNvPr id="100" name="Text 97"/>
          <p:cNvSpPr/>
          <p:nvPr/>
        </p:nvSpPr>
        <p:spPr>
          <a:xfrm>
            <a:off x="5441885" y="4010025"/>
            <a:ext cx="823623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573</a:t>
            </a:r>
            <a:endParaRPr lang="en-US" sz="816" dirty="0"/>
          </a:p>
        </p:txBody>
      </p:sp>
      <p:sp>
        <p:nvSpPr>
          <p:cNvPr id="101" name="Text 98"/>
          <p:cNvSpPr/>
          <p:nvPr/>
        </p:nvSpPr>
        <p:spPr>
          <a:xfrm>
            <a:off x="6243827" y="4010025"/>
            <a:ext cx="74437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289</a:t>
            </a:r>
            <a:endParaRPr lang="en-US" sz="816" dirty="0"/>
          </a:p>
        </p:txBody>
      </p:sp>
      <p:sp>
        <p:nvSpPr>
          <p:cNvPr id="102" name="Text 99"/>
          <p:cNvSpPr/>
          <p:nvPr/>
        </p:nvSpPr>
        <p:spPr>
          <a:xfrm>
            <a:off x="1359649" y="2771775"/>
            <a:ext cx="10989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816" dirty="0"/>
          </a:p>
        </p:txBody>
      </p:sp>
      <p:sp>
        <p:nvSpPr>
          <p:cNvPr id="103" name="Text 100"/>
          <p:cNvSpPr/>
          <p:nvPr/>
        </p:nvSpPr>
        <p:spPr>
          <a:xfrm>
            <a:off x="1359649" y="3019425"/>
            <a:ext cx="10989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</a:t>
            </a:r>
            <a:endParaRPr lang="en-US" sz="816" dirty="0"/>
          </a:p>
        </p:txBody>
      </p:sp>
      <p:sp>
        <p:nvSpPr>
          <p:cNvPr id="104" name="Text 101"/>
          <p:cNvSpPr/>
          <p:nvPr/>
        </p:nvSpPr>
        <p:spPr>
          <a:xfrm>
            <a:off x="1359649" y="3267075"/>
            <a:ext cx="10989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816" dirty="0"/>
          </a:p>
        </p:txBody>
      </p:sp>
      <p:sp>
        <p:nvSpPr>
          <p:cNvPr id="105" name="Text 102"/>
          <p:cNvSpPr/>
          <p:nvPr/>
        </p:nvSpPr>
        <p:spPr>
          <a:xfrm>
            <a:off x="1359649" y="3514725"/>
            <a:ext cx="10989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816" dirty="0"/>
          </a:p>
        </p:txBody>
      </p:sp>
      <p:sp>
        <p:nvSpPr>
          <p:cNvPr id="106" name="Text 103"/>
          <p:cNvSpPr/>
          <p:nvPr/>
        </p:nvSpPr>
        <p:spPr>
          <a:xfrm>
            <a:off x="1359649" y="3762375"/>
            <a:ext cx="10989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816" dirty="0"/>
          </a:p>
        </p:txBody>
      </p:sp>
      <p:sp>
        <p:nvSpPr>
          <p:cNvPr id="107" name="Text 104"/>
          <p:cNvSpPr/>
          <p:nvPr/>
        </p:nvSpPr>
        <p:spPr>
          <a:xfrm>
            <a:off x="1359649" y="4010025"/>
            <a:ext cx="10989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816" dirty="0"/>
          </a:p>
        </p:txBody>
      </p:sp>
      <p:sp>
        <p:nvSpPr>
          <p:cNvPr id="108" name="Text 105"/>
          <p:cNvSpPr/>
          <p:nvPr/>
        </p:nvSpPr>
        <p:spPr>
          <a:xfrm>
            <a:off x="1359649" y="4257675"/>
            <a:ext cx="10989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81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2_Xu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62021" y="5895975"/>
            <a:ext cx="9368202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Xuma: GAAP del 4 % frente a la meta general, equivalente a 655 pólizas no emitidas en el semestre. Cumplimiento general 96 % (CP 90 % · VOL 116 %).</a:t>
            </a:r>
            <a:endParaRPr lang="en-US" sz="984" dirty="0"/>
          </a:p>
        </p:txBody>
      </p:sp>
      <p:sp>
        <p:nvSpPr>
          <p:cNvPr id="4" name="Text 1"/>
          <p:cNvSpPr/>
          <p:nvPr/>
        </p:nvSpPr>
        <p:spPr>
          <a:xfrm>
            <a:off x="571486" y="209550"/>
            <a:ext cx="3973809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Resultados de Ventas · Primer Semestre 2026</a:t>
            </a:r>
            <a:endParaRPr lang="en-US" sz="1260" dirty="0"/>
          </a:p>
        </p:txBody>
      </p:sp>
      <p:sp>
        <p:nvSpPr>
          <p:cNvPr id="5" name="Text 2"/>
          <p:cNvSpPr/>
          <p:nvPr/>
        </p:nvSpPr>
        <p:spPr>
          <a:xfrm>
            <a:off x="800080" y="1009650"/>
            <a:ext cx="26781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liquidadas · Semestre completo</a:t>
            </a:r>
            <a:endParaRPr lang="en-US" sz="816" dirty="0"/>
          </a:p>
        </p:txBody>
      </p:sp>
      <p:sp>
        <p:nvSpPr>
          <p:cNvPr id="6" name="Text 3"/>
          <p:cNvSpPr/>
          <p:nvPr/>
        </p:nvSpPr>
        <p:spPr>
          <a:xfrm>
            <a:off x="800080" y="1514475"/>
            <a:ext cx="171035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Cifra oficial liquidación ene–jun</a:t>
            </a:r>
            <a:endParaRPr lang="en-US" sz="864" dirty="0"/>
          </a:p>
        </p:txBody>
      </p:sp>
      <p:sp>
        <p:nvSpPr>
          <p:cNvPr id="7" name="Text 4"/>
          <p:cNvSpPr/>
          <p:nvPr/>
        </p:nvSpPr>
        <p:spPr>
          <a:xfrm>
            <a:off x="981050" y="4638321"/>
            <a:ext cx="1767305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Crecimiento Cuota Protegida</a:t>
            </a:r>
            <a:endParaRPr lang="en-US" sz="936" dirty="0"/>
          </a:p>
        </p:txBody>
      </p:sp>
      <p:sp>
        <p:nvSpPr>
          <p:cNvPr id="8" name="Text 5"/>
          <p:cNvSpPr/>
          <p:nvPr/>
        </p:nvSpPr>
        <p:spPr>
          <a:xfrm>
            <a:off x="876278" y="2033587"/>
            <a:ext cx="1713353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vendidas vs. meta</a:t>
            </a:r>
            <a:endParaRPr lang="en-US" sz="1020" dirty="0"/>
          </a:p>
        </p:txBody>
      </p:sp>
      <p:sp>
        <p:nvSpPr>
          <p:cNvPr id="9" name="Text 6"/>
          <p:cNvSpPr/>
          <p:nvPr/>
        </p:nvSpPr>
        <p:spPr>
          <a:xfrm>
            <a:off x="6410165" y="4692365"/>
            <a:ext cx="1519158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Crecimiento Combo Vida</a:t>
            </a:r>
            <a:endParaRPr lang="en-US" sz="936" dirty="0"/>
          </a:p>
        </p:txBody>
      </p:sp>
      <p:sp>
        <p:nvSpPr>
          <p:cNvPr id="10" name="Text 7"/>
          <p:cNvSpPr/>
          <p:nvPr/>
        </p:nvSpPr>
        <p:spPr>
          <a:xfrm>
            <a:off x="2404075" y="2308392"/>
            <a:ext cx="310901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(CP)</a:t>
            </a:r>
            <a:endParaRPr lang="en-US" sz="888" dirty="0"/>
          </a:p>
        </p:txBody>
      </p:sp>
      <p:sp>
        <p:nvSpPr>
          <p:cNvPr id="11" name="Text 8"/>
          <p:cNvSpPr/>
          <p:nvPr/>
        </p:nvSpPr>
        <p:spPr>
          <a:xfrm>
            <a:off x="5422943" y="2308392"/>
            <a:ext cx="30808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Combo Vida (VOL)</a:t>
            </a:r>
            <a:endParaRPr lang="en-US" sz="888" dirty="0"/>
          </a:p>
        </p:txBody>
      </p:sp>
      <p:sp>
        <p:nvSpPr>
          <p:cNvPr id="12" name="Text 9"/>
          <p:cNvSpPr/>
          <p:nvPr/>
        </p:nvSpPr>
        <p:spPr>
          <a:xfrm>
            <a:off x="4520988" y="1009650"/>
            <a:ext cx="112619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</a:t>
            </a:r>
            <a:endParaRPr lang="en-US" sz="816" dirty="0"/>
          </a:p>
        </p:txBody>
      </p:sp>
      <p:sp>
        <p:nvSpPr>
          <p:cNvPr id="13" name="Text 10"/>
          <p:cNvSpPr/>
          <p:nvPr/>
        </p:nvSpPr>
        <p:spPr>
          <a:xfrm>
            <a:off x="4520988" y="1423095"/>
            <a:ext cx="74379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76 % del total</a:t>
            </a:r>
            <a:endParaRPr lang="en-US" sz="864" dirty="0"/>
          </a:p>
        </p:txBody>
      </p:sp>
      <p:sp>
        <p:nvSpPr>
          <p:cNvPr id="14" name="Text 11"/>
          <p:cNvSpPr/>
          <p:nvPr/>
        </p:nvSpPr>
        <p:spPr>
          <a:xfrm>
            <a:off x="8242044" y="1423095"/>
            <a:ext cx="73827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24 % del total</a:t>
            </a:r>
            <a:endParaRPr lang="en-US" sz="864" dirty="0"/>
          </a:p>
        </p:txBody>
      </p:sp>
      <p:sp>
        <p:nvSpPr>
          <p:cNvPr id="15" name="Text 12"/>
          <p:cNvSpPr/>
          <p:nvPr/>
        </p:nvSpPr>
        <p:spPr>
          <a:xfrm>
            <a:off x="3946567" y="2536992"/>
            <a:ext cx="152124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Cumplimiento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6937640" y="2536992"/>
            <a:ext cx="152124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Cumplimiento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9959295" y="2536992"/>
            <a:ext cx="150851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Cumplimiento</a:t>
            </a:r>
            <a:endParaRPr lang="en-US" sz="888" dirty="0"/>
          </a:p>
        </p:txBody>
      </p:sp>
      <p:sp>
        <p:nvSpPr>
          <p:cNvPr id="18" name="Text 15"/>
          <p:cNvSpPr/>
          <p:nvPr/>
        </p:nvSpPr>
        <p:spPr>
          <a:xfrm>
            <a:off x="8242044" y="1009650"/>
            <a:ext cx="7710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Combo Vida</a:t>
            </a:r>
            <a:endParaRPr lang="en-US" sz="816" dirty="0"/>
          </a:p>
        </p:txBody>
      </p:sp>
      <p:sp>
        <p:nvSpPr>
          <p:cNvPr id="19" name="Text 16"/>
          <p:cNvSpPr/>
          <p:nvPr/>
        </p:nvSpPr>
        <p:spPr>
          <a:xfrm>
            <a:off x="10502241" y="2047875"/>
            <a:ext cx="9105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Vanti </a:t>
            </a:r>
            <a:pPr algn="l" indent="0" marL="0">
              <a:buNone/>
            </a:pPr>
            <a:r>
              <a:rPr lang="en-US" sz="816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</a:t>
            </a:r>
            <a:endParaRPr lang="en-US" sz="816" dirty="0"/>
          </a:p>
        </p:txBody>
      </p:sp>
      <p:sp>
        <p:nvSpPr>
          <p:cNvPr id="20" name="Text 17"/>
          <p:cNvSpPr/>
          <p:nvPr/>
        </p:nvSpPr>
        <p:spPr>
          <a:xfrm>
            <a:off x="1356247" y="2536992"/>
            <a:ext cx="10931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Asesores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8413748" y="2308392"/>
            <a:ext cx="309920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General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6937640" y="2775117"/>
            <a:ext cx="1521241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130,0 %</a:t>
            </a:r>
            <a:endParaRPr lang="en-US" sz="816" dirty="0"/>
          </a:p>
        </p:txBody>
      </p:sp>
      <p:sp>
        <p:nvSpPr>
          <p:cNvPr id="23" name="Text 20"/>
          <p:cNvSpPr/>
          <p:nvPr/>
        </p:nvSpPr>
        <p:spPr>
          <a:xfrm>
            <a:off x="9959295" y="2775117"/>
            <a:ext cx="150851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105,0 %</a:t>
            </a:r>
            <a:endParaRPr lang="en-US" sz="816" dirty="0"/>
          </a:p>
        </p:txBody>
      </p:sp>
      <p:sp>
        <p:nvSpPr>
          <p:cNvPr id="24" name="Text 21"/>
          <p:cNvSpPr/>
          <p:nvPr/>
        </p:nvSpPr>
        <p:spPr>
          <a:xfrm>
            <a:off x="3946567" y="3022767"/>
            <a:ext cx="1521241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109,0 %</a:t>
            </a:r>
            <a:endParaRPr lang="en-US" sz="816" dirty="0"/>
          </a:p>
        </p:txBody>
      </p:sp>
      <p:sp>
        <p:nvSpPr>
          <p:cNvPr id="25" name="Text 22"/>
          <p:cNvSpPr/>
          <p:nvPr/>
        </p:nvSpPr>
        <p:spPr>
          <a:xfrm>
            <a:off x="6937640" y="3022767"/>
            <a:ext cx="1521241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111,0 %</a:t>
            </a:r>
            <a:endParaRPr lang="en-US" sz="816" dirty="0"/>
          </a:p>
        </p:txBody>
      </p:sp>
      <p:sp>
        <p:nvSpPr>
          <p:cNvPr id="26" name="Text 23"/>
          <p:cNvSpPr/>
          <p:nvPr/>
        </p:nvSpPr>
        <p:spPr>
          <a:xfrm>
            <a:off x="9959295" y="3022767"/>
            <a:ext cx="150851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109,0 %</a:t>
            </a:r>
            <a:endParaRPr lang="en-US" sz="816" dirty="0"/>
          </a:p>
        </p:txBody>
      </p:sp>
      <p:sp>
        <p:nvSpPr>
          <p:cNvPr id="27" name="Text 24"/>
          <p:cNvSpPr/>
          <p:nvPr/>
        </p:nvSpPr>
        <p:spPr>
          <a:xfrm>
            <a:off x="3946567" y="3270417"/>
            <a:ext cx="1521241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114,0 %</a:t>
            </a:r>
            <a:endParaRPr lang="en-US" sz="816" dirty="0"/>
          </a:p>
        </p:txBody>
      </p:sp>
      <p:sp>
        <p:nvSpPr>
          <p:cNvPr id="28" name="Text 25"/>
          <p:cNvSpPr/>
          <p:nvPr/>
        </p:nvSpPr>
        <p:spPr>
          <a:xfrm>
            <a:off x="6937640" y="3270417"/>
            <a:ext cx="1521241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106,0 %</a:t>
            </a:r>
            <a:endParaRPr lang="en-US" sz="816" dirty="0"/>
          </a:p>
        </p:txBody>
      </p:sp>
      <p:sp>
        <p:nvSpPr>
          <p:cNvPr id="29" name="Text 26"/>
          <p:cNvSpPr/>
          <p:nvPr/>
        </p:nvSpPr>
        <p:spPr>
          <a:xfrm>
            <a:off x="9959295" y="3270417"/>
            <a:ext cx="150851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112,0 %</a:t>
            </a:r>
            <a:endParaRPr lang="en-US" sz="816" dirty="0"/>
          </a:p>
        </p:txBody>
      </p:sp>
      <p:sp>
        <p:nvSpPr>
          <p:cNvPr id="30" name="Text 27"/>
          <p:cNvSpPr/>
          <p:nvPr/>
        </p:nvSpPr>
        <p:spPr>
          <a:xfrm>
            <a:off x="6937640" y="3518067"/>
            <a:ext cx="1521241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110,0 %</a:t>
            </a:r>
            <a:endParaRPr lang="en-US" sz="816" dirty="0"/>
          </a:p>
        </p:txBody>
      </p:sp>
      <p:sp>
        <p:nvSpPr>
          <p:cNvPr id="31" name="Text 28"/>
          <p:cNvSpPr/>
          <p:nvPr/>
        </p:nvSpPr>
        <p:spPr>
          <a:xfrm>
            <a:off x="6937640" y="3765717"/>
            <a:ext cx="1521241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124,0 %</a:t>
            </a:r>
            <a:endParaRPr lang="en-US" sz="816" dirty="0"/>
          </a:p>
        </p:txBody>
      </p:sp>
      <p:sp>
        <p:nvSpPr>
          <p:cNvPr id="32" name="Text 29"/>
          <p:cNvSpPr/>
          <p:nvPr/>
        </p:nvSpPr>
        <p:spPr>
          <a:xfrm>
            <a:off x="6937640" y="4013367"/>
            <a:ext cx="1521241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115,0 %</a:t>
            </a:r>
            <a:endParaRPr lang="en-US" sz="816" dirty="0"/>
          </a:p>
        </p:txBody>
      </p:sp>
      <p:sp>
        <p:nvSpPr>
          <p:cNvPr id="33" name="Text 30"/>
          <p:cNvSpPr/>
          <p:nvPr/>
        </p:nvSpPr>
        <p:spPr>
          <a:xfrm>
            <a:off x="6937640" y="4261017"/>
            <a:ext cx="1521241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116,0 %</a:t>
            </a:r>
            <a:endParaRPr lang="en-US" sz="816" dirty="0"/>
          </a:p>
        </p:txBody>
      </p:sp>
      <p:sp>
        <p:nvSpPr>
          <p:cNvPr id="34" name="Text 31"/>
          <p:cNvSpPr/>
          <p:nvPr/>
        </p:nvSpPr>
        <p:spPr>
          <a:xfrm>
            <a:off x="3946567" y="2775117"/>
            <a:ext cx="1521241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99,0 %</a:t>
            </a:r>
            <a:endParaRPr lang="en-US" sz="816" dirty="0"/>
          </a:p>
        </p:txBody>
      </p:sp>
      <p:sp>
        <p:nvSpPr>
          <p:cNvPr id="35" name="Text 32"/>
          <p:cNvSpPr/>
          <p:nvPr/>
        </p:nvSpPr>
        <p:spPr>
          <a:xfrm>
            <a:off x="3946567" y="3518067"/>
            <a:ext cx="1521241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73,0 %</a:t>
            </a:r>
            <a:endParaRPr lang="en-US" sz="816" dirty="0"/>
          </a:p>
        </p:txBody>
      </p:sp>
      <p:sp>
        <p:nvSpPr>
          <p:cNvPr id="36" name="Text 33"/>
          <p:cNvSpPr/>
          <p:nvPr/>
        </p:nvSpPr>
        <p:spPr>
          <a:xfrm>
            <a:off x="9959295" y="3518067"/>
            <a:ext cx="150851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79,0 %</a:t>
            </a:r>
            <a:endParaRPr lang="en-US" sz="816" dirty="0"/>
          </a:p>
        </p:txBody>
      </p:sp>
      <p:sp>
        <p:nvSpPr>
          <p:cNvPr id="37" name="Text 34"/>
          <p:cNvSpPr/>
          <p:nvPr/>
        </p:nvSpPr>
        <p:spPr>
          <a:xfrm>
            <a:off x="3946567" y="3765717"/>
            <a:ext cx="1521241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75,0 %</a:t>
            </a:r>
            <a:endParaRPr lang="en-US" sz="816" dirty="0"/>
          </a:p>
        </p:txBody>
      </p:sp>
      <p:sp>
        <p:nvSpPr>
          <p:cNvPr id="38" name="Text 35"/>
          <p:cNvSpPr/>
          <p:nvPr/>
        </p:nvSpPr>
        <p:spPr>
          <a:xfrm>
            <a:off x="9959295" y="3765717"/>
            <a:ext cx="150851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84,0 %</a:t>
            </a:r>
            <a:endParaRPr lang="en-US" sz="816" dirty="0"/>
          </a:p>
        </p:txBody>
      </p:sp>
      <p:sp>
        <p:nvSpPr>
          <p:cNvPr id="39" name="Text 36"/>
          <p:cNvSpPr/>
          <p:nvPr/>
        </p:nvSpPr>
        <p:spPr>
          <a:xfrm>
            <a:off x="3946567" y="4013367"/>
            <a:ext cx="1521241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87,0 %</a:t>
            </a:r>
            <a:endParaRPr lang="en-US" sz="816" dirty="0"/>
          </a:p>
        </p:txBody>
      </p:sp>
      <p:sp>
        <p:nvSpPr>
          <p:cNvPr id="40" name="Text 37"/>
          <p:cNvSpPr/>
          <p:nvPr/>
        </p:nvSpPr>
        <p:spPr>
          <a:xfrm>
            <a:off x="9959295" y="4013367"/>
            <a:ext cx="150851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93,0 %</a:t>
            </a:r>
            <a:endParaRPr lang="en-US" sz="816" dirty="0"/>
          </a:p>
        </p:txBody>
      </p:sp>
      <p:sp>
        <p:nvSpPr>
          <p:cNvPr id="41" name="Text 38"/>
          <p:cNvSpPr/>
          <p:nvPr/>
        </p:nvSpPr>
        <p:spPr>
          <a:xfrm>
            <a:off x="2425493" y="4261017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10.534</a:t>
            </a:r>
            <a:endParaRPr lang="en-US" sz="816" dirty="0"/>
          </a:p>
        </p:txBody>
      </p:sp>
      <p:sp>
        <p:nvSpPr>
          <p:cNvPr id="42" name="Text 39"/>
          <p:cNvSpPr/>
          <p:nvPr/>
        </p:nvSpPr>
        <p:spPr>
          <a:xfrm>
            <a:off x="3222283" y="4261017"/>
            <a:ext cx="76859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11.643</a:t>
            </a:r>
            <a:endParaRPr lang="en-US" sz="816" dirty="0"/>
          </a:p>
        </p:txBody>
      </p:sp>
      <p:sp>
        <p:nvSpPr>
          <p:cNvPr id="43" name="Text 40"/>
          <p:cNvSpPr/>
          <p:nvPr/>
        </p:nvSpPr>
        <p:spPr>
          <a:xfrm>
            <a:off x="3946567" y="4261017"/>
            <a:ext cx="1521241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90,0 %</a:t>
            </a:r>
            <a:endParaRPr lang="en-US" sz="816" dirty="0"/>
          </a:p>
        </p:txBody>
      </p:sp>
      <p:sp>
        <p:nvSpPr>
          <p:cNvPr id="44" name="Text 41"/>
          <p:cNvSpPr/>
          <p:nvPr/>
        </p:nvSpPr>
        <p:spPr>
          <a:xfrm>
            <a:off x="8435022" y="4261017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816" dirty="0"/>
          </a:p>
        </p:txBody>
      </p:sp>
      <p:sp>
        <p:nvSpPr>
          <p:cNvPr id="45" name="Text 42"/>
          <p:cNvSpPr/>
          <p:nvPr/>
        </p:nvSpPr>
        <p:spPr>
          <a:xfrm>
            <a:off x="9231728" y="4261017"/>
            <a:ext cx="77150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14.572</a:t>
            </a:r>
            <a:endParaRPr lang="en-US" sz="816" dirty="0"/>
          </a:p>
        </p:txBody>
      </p:sp>
      <p:sp>
        <p:nvSpPr>
          <p:cNvPr id="46" name="Text 43"/>
          <p:cNvSpPr/>
          <p:nvPr/>
        </p:nvSpPr>
        <p:spPr>
          <a:xfrm>
            <a:off x="9959295" y="4261017"/>
            <a:ext cx="150851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96,0 %</a:t>
            </a:r>
            <a:endParaRPr lang="en-US" sz="816" dirty="0"/>
          </a:p>
        </p:txBody>
      </p:sp>
      <p:sp>
        <p:nvSpPr>
          <p:cNvPr id="47" name="Text 44"/>
          <p:cNvSpPr/>
          <p:nvPr/>
        </p:nvSpPr>
        <p:spPr>
          <a:xfrm>
            <a:off x="800080" y="1143000"/>
            <a:ext cx="990525" cy="362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2400" dirty="0"/>
          </a:p>
        </p:txBody>
      </p:sp>
      <p:sp>
        <p:nvSpPr>
          <p:cNvPr id="48" name="Text 45"/>
          <p:cNvSpPr/>
          <p:nvPr/>
        </p:nvSpPr>
        <p:spPr>
          <a:xfrm>
            <a:off x="4520988" y="1152525"/>
            <a:ext cx="713983" cy="25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10.534</a:t>
            </a:r>
            <a:endParaRPr lang="en-US" sz="1680" dirty="0"/>
          </a:p>
        </p:txBody>
      </p:sp>
      <p:sp>
        <p:nvSpPr>
          <p:cNvPr id="49" name="Text 46"/>
          <p:cNvSpPr/>
          <p:nvPr/>
        </p:nvSpPr>
        <p:spPr>
          <a:xfrm>
            <a:off x="2425493" y="2536992"/>
            <a:ext cx="819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</a:t>
            </a:r>
            <a:endParaRPr lang="en-US" sz="888" dirty="0"/>
          </a:p>
        </p:txBody>
      </p:sp>
      <p:sp>
        <p:nvSpPr>
          <p:cNvPr id="50" name="Text 47"/>
          <p:cNvSpPr/>
          <p:nvPr/>
        </p:nvSpPr>
        <p:spPr>
          <a:xfrm>
            <a:off x="5443949" y="2536992"/>
            <a:ext cx="819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</a:t>
            </a:r>
            <a:endParaRPr lang="en-US" sz="888" dirty="0"/>
          </a:p>
        </p:txBody>
      </p:sp>
      <p:sp>
        <p:nvSpPr>
          <p:cNvPr id="51" name="Text 48"/>
          <p:cNvSpPr/>
          <p:nvPr/>
        </p:nvSpPr>
        <p:spPr>
          <a:xfrm>
            <a:off x="8435022" y="2536992"/>
            <a:ext cx="819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</a:t>
            </a:r>
            <a:endParaRPr lang="en-US" sz="888" dirty="0"/>
          </a:p>
        </p:txBody>
      </p:sp>
      <p:sp>
        <p:nvSpPr>
          <p:cNvPr id="52" name="Text 49"/>
          <p:cNvSpPr/>
          <p:nvPr/>
        </p:nvSpPr>
        <p:spPr>
          <a:xfrm>
            <a:off x="2425493" y="2775117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1.689</a:t>
            </a:r>
            <a:endParaRPr lang="en-US" sz="816" dirty="0"/>
          </a:p>
        </p:txBody>
      </p:sp>
      <p:sp>
        <p:nvSpPr>
          <p:cNvPr id="53" name="Text 50"/>
          <p:cNvSpPr/>
          <p:nvPr/>
        </p:nvSpPr>
        <p:spPr>
          <a:xfrm>
            <a:off x="3222283" y="2775117"/>
            <a:ext cx="76859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1.703</a:t>
            </a:r>
            <a:endParaRPr lang="en-US" sz="816" dirty="0"/>
          </a:p>
        </p:txBody>
      </p:sp>
      <p:sp>
        <p:nvSpPr>
          <p:cNvPr id="54" name="Text 51"/>
          <p:cNvSpPr/>
          <p:nvPr/>
        </p:nvSpPr>
        <p:spPr>
          <a:xfrm>
            <a:off x="8435022" y="2775117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2.245</a:t>
            </a:r>
            <a:endParaRPr lang="en-US" sz="816" dirty="0"/>
          </a:p>
        </p:txBody>
      </p:sp>
      <p:sp>
        <p:nvSpPr>
          <p:cNvPr id="55" name="Text 52"/>
          <p:cNvSpPr/>
          <p:nvPr/>
        </p:nvSpPr>
        <p:spPr>
          <a:xfrm>
            <a:off x="9231728" y="2775117"/>
            <a:ext cx="77150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2.132</a:t>
            </a:r>
            <a:endParaRPr lang="en-US" sz="816" dirty="0"/>
          </a:p>
        </p:txBody>
      </p:sp>
      <p:sp>
        <p:nvSpPr>
          <p:cNvPr id="56" name="Text 53"/>
          <p:cNvSpPr/>
          <p:nvPr/>
        </p:nvSpPr>
        <p:spPr>
          <a:xfrm>
            <a:off x="2425493" y="3022767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1.819</a:t>
            </a:r>
            <a:endParaRPr lang="en-US" sz="816" dirty="0"/>
          </a:p>
        </p:txBody>
      </p:sp>
      <p:sp>
        <p:nvSpPr>
          <p:cNvPr id="57" name="Text 54"/>
          <p:cNvSpPr/>
          <p:nvPr/>
        </p:nvSpPr>
        <p:spPr>
          <a:xfrm>
            <a:off x="3222283" y="3022767"/>
            <a:ext cx="76859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1.670</a:t>
            </a:r>
            <a:endParaRPr lang="en-US" sz="816" dirty="0"/>
          </a:p>
        </p:txBody>
      </p:sp>
      <p:sp>
        <p:nvSpPr>
          <p:cNvPr id="58" name="Text 55"/>
          <p:cNvSpPr/>
          <p:nvPr/>
        </p:nvSpPr>
        <p:spPr>
          <a:xfrm>
            <a:off x="8435022" y="3022767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2.374</a:t>
            </a:r>
            <a:endParaRPr lang="en-US" sz="816" dirty="0"/>
          </a:p>
        </p:txBody>
      </p:sp>
      <p:sp>
        <p:nvSpPr>
          <p:cNvPr id="59" name="Text 56"/>
          <p:cNvSpPr/>
          <p:nvPr/>
        </p:nvSpPr>
        <p:spPr>
          <a:xfrm>
            <a:off x="9231728" y="3022767"/>
            <a:ext cx="77150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2.170</a:t>
            </a:r>
            <a:endParaRPr lang="en-US" sz="816" dirty="0"/>
          </a:p>
        </p:txBody>
      </p:sp>
      <p:sp>
        <p:nvSpPr>
          <p:cNvPr id="60" name="Text 57"/>
          <p:cNvSpPr/>
          <p:nvPr/>
        </p:nvSpPr>
        <p:spPr>
          <a:xfrm>
            <a:off x="2425493" y="3270417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1.901</a:t>
            </a:r>
            <a:endParaRPr lang="en-US" sz="816" dirty="0"/>
          </a:p>
        </p:txBody>
      </p:sp>
      <p:sp>
        <p:nvSpPr>
          <p:cNvPr id="61" name="Text 58"/>
          <p:cNvSpPr/>
          <p:nvPr/>
        </p:nvSpPr>
        <p:spPr>
          <a:xfrm>
            <a:off x="3222283" y="3270417"/>
            <a:ext cx="76859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1.670</a:t>
            </a:r>
            <a:endParaRPr lang="en-US" sz="816" dirty="0"/>
          </a:p>
        </p:txBody>
      </p:sp>
      <p:sp>
        <p:nvSpPr>
          <p:cNvPr id="62" name="Text 59"/>
          <p:cNvSpPr/>
          <p:nvPr/>
        </p:nvSpPr>
        <p:spPr>
          <a:xfrm>
            <a:off x="8435022" y="3270417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2.431</a:t>
            </a:r>
            <a:endParaRPr lang="en-US" sz="816" dirty="0"/>
          </a:p>
        </p:txBody>
      </p:sp>
      <p:sp>
        <p:nvSpPr>
          <p:cNvPr id="63" name="Text 60"/>
          <p:cNvSpPr/>
          <p:nvPr/>
        </p:nvSpPr>
        <p:spPr>
          <a:xfrm>
            <a:off x="9231728" y="3270417"/>
            <a:ext cx="77150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2.170</a:t>
            </a:r>
            <a:endParaRPr lang="en-US" sz="816" dirty="0"/>
          </a:p>
        </p:txBody>
      </p:sp>
      <p:sp>
        <p:nvSpPr>
          <p:cNvPr id="64" name="Text 61"/>
          <p:cNvSpPr/>
          <p:nvPr/>
        </p:nvSpPr>
        <p:spPr>
          <a:xfrm>
            <a:off x="2425493" y="3518067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1.816</a:t>
            </a:r>
            <a:endParaRPr lang="en-US" sz="816" dirty="0"/>
          </a:p>
        </p:txBody>
      </p:sp>
      <p:sp>
        <p:nvSpPr>
          <p:cNvPr id="65" name="Text 62"/>
          <p:cNvSpPr/>
          <p:nvPr/>
        </p:nvSpPr>
        <p:spPr>
          <a:xfrm>
            <a:off x="3222283" y="3518067"/>
            <a:ext cx="76859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2.500</a:t>
            </a:r>
            <a:endParaRPr lang="en-US" sz="816" dirty="0"/>
          </a:p>
        </p:txBody>
      </p:sp>
      <p:sp>
        <p:nvSpPr>
          <p:cNvPr id="66" name="Text 63"/>
          <p:cNvSpPr/>
          <p:nvPr/>
        </p:nvSpPr>
        <p:spPr>
          <a:xfrm>
            <a:off x="8435022" y="3518067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2.367</a:t>
            </a:r>
            <a:endParaRPr lang="en-US" sz="816" dirty="0"/>
          </a:p>
        </p:txBody>
      </p:sp>
      <p:sp>
        <p:nvSpPr>
          <p:cNvPr id="67" name="Text 64"/>
          <p:cNvSpPr/>
          <p:nvPr/>
        </p:nvSpPr>
        <p:spPr>
          <a:xfrm>
            <a:off x="9231728" y="3518067"/>
            <a:ext cx="77150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3.000</a:t>
            </a:r>
            <a:endParaRPr lang="en-US" sz="816" dirty="0"/>
          </a:p>
        </p:txBody>
      </p:sp>
      <p:sp>
        <p:nvSpPr>
          <p:cNvPr id="68" name="Text 65"/>
          <p:cNvSpPr/>
          <p:nvPr/>
        </p:nvSpPr>
        <p:spPr>
          <a:xfrm>
            <a:off x="2425493" y="3765717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1.568</a:t>
            </a:r>
            <a:endParaRPr lang="en-US" sz="816" dirty="0"/>
          </a:p>
        </p:txBody>
      </p:sp>
      <p:sp>
        <p:nvSpPr>
          <p:cNvPr id="69" name="Text 66"/>
          <p:cNvSpPr/>
          <p:nvPr/>
        </p:nvSpPr>
        <p:spPr>
          <a:xfrm>
            <a:off x="3222283" y="3765717"/>
            <a:ext cx="76859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2.100</a:t>
            </a:r>
            <a:endParaRPr lang="en-US" sz="816" dirty="0"/>
          </a:p>
        </p:txBody>
      </p:sp>
      <p:sp>
        <p:nvSpPr>
          <p:cNvPr id="70" name="Text 67"/>
          <p:cNvSpPr/>
          <p:nvPr/>
        </p:nvSpPr>
        <p:spPr>
          <a:xfrm>
            <a:off x="8435022" y="3765717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2.186</a:t>
            </a:r>
            <a:endParaRPr lang="en-US" sz="816" dirty="0"/>
          </a:p>
        </p:txBody>
      </p:sp>
      <p:sp>
        <p:nvSpPr>
          <p:cNvPr id="71" name="Text 68"/>
          <p:cNvSpPr/>
          <p:nvPr/>
        </p:nvSpPr>
        <p:spPr>
          <a:xfrm>
            <a:off x="9231728" y="3765717"/>
            <a:ext cx="77150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2.600</a:t>
            </a:r>
            <a:endParaRPr lang="en-US" sz="816" dirty="0"/>
          </a:p>
        </p:txBody>
      </p:sp>
      <p:sp>
        <p:nvSpPr>
          <p:cNvPr id="72" name="Text 69"/>
          <p:cNvSpPr/>
          <p:nvPr/>
        </p:nvSpPr>
        <p:spPr>
          <a:xfrm>
            <a:off x="2425493" y="4013367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1.741</a:t>
            </a:r>
            <a:endParaRPr lang="en-US" sz="816" dirty="0"/>
          </a:p>
        </p:txBody>
      </p:sp>
      <p:sp>
        <p:nvSpPr>
          <p:cNvPr id="73" name="Text 70"/>
          <p:cNvSpPr/>
          <p:nvPr/>
        </p:nvSpPr>
        <p:spPr>
          <a:xfrm>
            <a:off x="3222283" y="4013367"/>
            <a:ext cx="76859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2.000</a:t>
            </a:r>
            <a:endParaRPr lang="en-US" sz="816" dirty="0"/>
          </a:p>
        </p:txBody>
      </p:sp>
      <p:sp>
        <p:nvSpPr>
          <p:cNvPr id="74" name="Text 71"/>
          <p:cNvSpPr/>
          <p:nvPr/>
        </p:nvSpPr>
        <p:spPr>
          <a:xfrm>
            <a:off x="8435022" y="4013367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2.314</a:t>
            </a:r>
            <a:endParaRPr lang="en-US" sz="816" dirty="0"/>
          </a:p>
        </p:txBody>
      </p:sp>
      <p:sp>
        <p:nvSpPr>
          <p:cNvPr id="75" name="Text 72"/>
          <p:cNvSpPr/>
          <p:nvPr/>
        </p:nvSpPr>
        <p:spPr>
          <a:xfrm>
            <a:off x="9231728" y="4013367"/>
            <a:ext cx="77150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2.500</a:t>
            </a:r>
            <a:endParaRPr lang="en-US" sz="816" dirty="0"/>
          </a:p>
        </p:txBody>
      </p:sp>
      <p:sp>
        <p:nvSpPr>
          <p:cNvPr id="76" name="Text 73"/>
          <p:cNvSpPr/>
          <p:nvPr/>
        </p:nvSpPr>
        <p:spPr>
          <a:xfrm>
            <a:off x="723882" y="4261017"/>
            <a:ext cx="68412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16" dirty="0"/>
          </a:p>
        </p:txBody>
      </p:sp>
      <p:sp>
        <p:nvSpPr>
          <p:cNvPr id="77" name="Text 74"/>
          <p:cNvSpPr/>
          <p:nvPr/>
        </p:nvSpPr>
        <p:spPr>
          <a:xfrm>
            <a:off x="5443949" y="4261017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3.383</a:t>
            </a:r>
            <a:endParaRPr lang="en-US" sz="816" dirty="0"/>
          </a:p>
        </p:txBody>
      </p:sp>
      <p:sp>
        <p:nvSpPr>
          <p:cNvPr id="78" name="Text 75"/>
          <p:cNvSpPr/>
          <p:nvPr/>
        </p:nvSpPr>
        <p:spPr>
          <a:xfrm>
            <a:off x="6241562" y="4261017"/>
            <a:ext cx="74038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2.929</a:t>
            </a:r>
            <a:endParaRPr lang="en-US" sz="816" dirty="0"/>
          </a:p>
        </p:txBody>
      </p:sp>
      <p:sp>
        <p:nvSpPr>
          <p:cNvPr id="79" name="Text 76"/>
          <p:cNvSpPr/>
          <p:nvPr/>
        </p:nvSpPr>
        <p:spPr>
          <a:xfrm>
            <a:off x="8242044" y="1152525"/>
            <a:ext cx="595667" cy="25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3.383</a:t>
            </a:r>
            <a:endParaRPr lang="en-US" sz="1680" dirty="0"/>
          </a:p>
        </p:txBody>
      </p:sp>
      <p:sp>
        <p:nvSpPr>
          <p:cNvPr id="80" name="Text 77"/>
          <p:cNvSpPr/>
          <p:nvPr/>
        </p:nvSpPr>
        <p:spPr>
          <a:xfrm>
            <a:off x="3222283" y="2536992"/>
            <a:ext cx="76859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6241562" y="2536992"/>
            <a:ext cx="74038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</a:t>
            </a:r>
            <a:endParaRPr lang="en-US" sz="888" dirty="0"/>
          </a:p>
        </p:txBody>
      </p:sp>
      <p:sp>
        <p:nvSpPr>
          <p:cNvPr id="82" name="Text 79"/>
          <p:cNvSpPr/>
          <p:nvPr/>
        </p:nvSpPr>
        <p:spPr>
          <a:xfrm>
            <a:off x="9231728" y="2536992"/>
            <a:ext cx="77150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</a:t>
            </a:r>
            <a:endParaRPr lang="en-US" sz="888" dirty="0"/>
          </a:p>
        </p:txBody>
      </p:sp>
      <p:sp>
        <p:nvSpPr>
          <p:cNvPr id="83" name="Text 80"/>
          <p:cNvSpPr/>
          <p:nvPr/>
        </p:nvSpPr>
        <p:spPr>
          <a:xfrm>
            <a:off x="723882" y="2536992"/>
            <a:ext cx="68412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84" name="Text 81"/>
          <p:cNvSpPr/>
          <p:nvPr/>
        </p:nvSpPr>
        <p:spPr>
          <a:xfrm>
            <a:off x="723882" y="2775117"/>
            <a:ext cx="68412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16" dirty="0"/>
          </a:p>
        </p:txBody>
      </p:sp>
      <p:sp>
        <p:nvSpPr>
          <p:cNvPr id="85" name="Text 82"/>
          <p:cNvSpPr/>
          <p:nvPr/>
        </p:nvSpPr>
        <p:spPr>
          <a:xfrm>
            <a:off x="5443949" y="2775117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556</a:t>
            </a:r>
            <a:endParaRPr lang="en-US" sz="816" dirty="0"/>
          </a:p>
        </p:txBody>
      </p:sp>
      <p:sp>
        <p:nvSpPr>
          <p:cNvPr id="86" name="Text 83"/>
          <p:cNvSpPr/>
          <p:nvPr/>
        </p:nvSpPr>
        <p:spPr>
          <a:xfrm>
            <a:off x="6241562" y="2775117"/>
            <a:ext cx="74038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429</a:t>
            </a:r>
            <a:endParaRPr lang="en-US" sz="816" dirty="0"/>
          </a:p>
        </p:txBody>
      </p:sp>
      <p:sp>
        <p:nvSpPr>
          <p:cNvPr id="87" name="Text 84"/>
          <p:cNvSpPr/>
          <p:nvPr/>
        </p:nvSpPr>
        <p:spPr>
          <a:xfrm>
            <a:off x="723882" y="3022767"/>
            <a:ext cx="68412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16" dirty="0"/>
          </a:p>
        </p:txBody>
      </p:sp>
      <p:sp>
        <p:nvSpPr>
          <p:cNvPr id="88" name="Text 85"/>
          <p:cNvSpPr/>
          <p:nvPr/>
        </p:nvSpPr>
        <p:spPr>
          <a:xfrm>
            <a:off x="5443949" y="3022767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555</a:t>
            </a:r>
            <a:endParaRPr lang="en-US" sz="816" dirty="0"/>
          </a:p>
        </p:txBody>
      </p:sp>
      <p:sp>
        <p:nvSpPr>
          <p:cNvPr id="89" name="Text 86"/>
          <p:cNvSpPr/>
          <p:nvPr/>
        </p:nvSpPr>
        <p:spPr>
          <a:xfrm>
            <a:off x="6241562" y="3022767"/>
            <a:ext cx="74038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500</a:t>
            </a:r>
            <a:endParaRPr lang="en-US" sz="816" dirty="0"/>
          </a:p>
        </p:txBody>
      </p:sp>
      <p:sp>
        <p:nvSpPr>
          <p:cNvPr id="90" name="Text 87"/>
          <p:cNvSpPr/>
          <p:nvPr/>
        </p:nvSpPr>
        <p:spPr>
          <a:xfrm>
            <a:off x="723882" y="3270417"/>
            <a:ext cx="68412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16" dirty="0"/>
          </a:p>
        </p:txBody>
      </p:sp>
      <p:sp>
        <p:nvSpPr>
          <p:cNvPr id="91" name="Text 88"/>
          <p:cNvSpPr/>
          <p:nvPr/>
        </p:nvSpPr>
        <p:spPr>
          <a:xfrm>
            <a:off x="5443949" y="3270417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530</a:t>
            </a:r>
            <a:endParaRPr lang="en-US" sz="816" dirty="0"/>
          </a:p>
        </p:txBody>
      </p:sp>
      <p:sp>
        <p:nvSpPr>
          <p:cNvPr id="92" name="Text 89"/>
          <p:cNvSpPr/>
          <p:nvPr/>
        </p:nvSpPr>
        <p:spPr>
          <a:xfrm>
            <a:off x="6241562" y="3270417"/>
            <a:ext cx="74038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500</a:t>
            </a:r>
            <a:endParaRPr lang="en-US" sz="816" dirty="0"/>
          </a:p>
        </p:txBody>
      </p:sp>
      <p:sp>
        <p:nvSpPr>
          <p:cNvPr id="93" name="Text 90"/>
          <p:cNvSpPr/>
          <p:nvPr/>
        </p:nvSpPr>
        <p:spPr>
          <a:xfrm>
            <a:off x="723882" y="3518067"/>
            <a:ext cx="68412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16" dirty="0"/>
          </a:p>
        </p:txBody>
      </p:sp>
      <p:sp>
        <p:nvSpPr>
          <p:cNvPr id="94" name="Text 91"/>
          <p:cNvSpPr/>
          <p:nvPr/>
        </p:nvSpPr>
        <p:spPr>
          <a:xfrm>
            <a:off x="5443949" y="3518067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551</a:t>
            </a:r>
            <a:endParaRPr lang="en-US" sz="816" dirty="0"/>
          </a:p>
        </p:txBody>
      </p:sp>
      <p:sp>
        <p:nvSpPr>
          <p:cNvPr id="95" name="Text 92"/>
          <p:cNvSpPr/>
          <p:nvPr/>
        </p:nvSpPr>
        <p:spPr>
          <a:xfrm>
            <a:off x="6241562" y="3518067"/>
            <a:ext cx="74038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500</a:t>
            </a:r>
            <a:endParaRPr lang="en-US" sz="816" dirty="0"/>
          </a:p>
        </p:txBody>
      </p:sp>
      <p:sp>
        <p:nvSpPr>
          <p:cNvPr id="96" name="Text 93"/>
          <p:cNvSpPr/>
          <p:nvPr/>
        </p:nvSpPr>
        <p:spPr>
          <a:xfrm>
            <a:off x="723882" y="3765717"/>
            <a:ext cx="68412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16" dirty="0"/>
          </a:p>
        </p:txBody>
      </p:sp>
      <p:sp>
        <p:nvSpPr>
          <p:cNvPr id="97" name="Text 94"/>
          <p:cNvSpPr/>
          <p:nvPr/>
        </p:nvSpPr>
        <p:spPr>
          <a:xfrm>
            <a:off x="5443949" y="3765717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618</a:t>
            </a:r>
            <a:endParaRPr lang="en-US" sz="816" dirty="0"/>
          </a:p>
        </p:txBody>
      </p:sp>
      <p:sp>
        <p:nvSpPr>
          <p:cNvPr id="98" name="Text 95"/>
          <p:cNvSpPr/>
          <p:nvPr/>
        </p:nvSpPr>
        <p:spPr>
          <a:xfrm>
            <a:off x="6241562" y="3765717"/>
            <a:ext cx="74038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500</a:t>
            </a:r>
            <a:endParaRPr lang="en-US" sz="816" dirty="0"/>
          </a:p>
        </p:txBody>
      </p:sp>
      <p:sp>
        <p:nvSpPr>
          <p:cNvPr id="99" name="Text 96"/>
          <p:cNvSpPr/>
          <p:nvPr/>
        </p:nvSpPr>
        <p:spPr>
          <a:xfrm>
            <a:off x="723882" y="4013367"/>
            <a:ext cx="68412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16" dirty="0"/>
          </a:p>
        </p:txBody>
      </p:sp>
      <p:sp>
        <p:nvSpPr>
          <p:cNvPr id="100" name="Text 97"/>
          <p:cNvSpPr/>
          <p:nvPr/>
        </p:nvSpPr>
        <p:spPr>
          <a:xfrm>
            <a:off x="5443949" y="4013367"/>
            <a:ext cx="81917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573</a:t>
            </a:r>
            <a:endParaRPr lang="en-US" sz="816" dirty="0"/>
          </a:p>
        </p:txBody>
      </p:sp>
      <p:sp>
        <p:nvSpPr>
          <p:cNvPr id="101" name="Text 98"/>
          <p:cNvSpPr/>
          <p:nvPr/>
        </p:nvSpPr>
        <p:spPr>
          <a:xfrm>
            <a:off x="6241562" y="4013367"/>
            <a:ext cx="74038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500</a:t>
            </a:r>
            <a:endParaRPr lang="en-US" sz="816" dirty="0"/>
          </a:p>
        </p:txBody>
      </p:sp>
      <p:sp>
        <p:nvSpPr>
          <p:cNvPr id="102" name="Text 99"/>
          <p:cNvSpPr/>
          <p:nvPr/>
        </p:nvSpPr>
        <p:spPr>
          <a:xfrm>
            <a:off x="1356247" y="2775117"/>
            <a:ext cx="1093105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816" dirty="0"/>
          </a:p>
        </p:txBody>
      </p:sp>
      <p:sp>
        <p:nvSpPr>
          <p:cNvPr id="103" name="Text 100"/>
          <p:cNvSpPr/>
          <p:nvPr/>
        </p:nvSpPr>
        <p:spPr>
          <a:xfrm>
            <a:off x="1356247" y="3022767"/>
            <a:ext cx="1093105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</a:t>
            </a:r>
            <a:endParaRPr lang="en-US" sz="816" dirty="0"/>
          </a:p>
        </p:txBody>
      </p:sp>
      <p:sp>
        <p:nvSpPr>
          <p:cNvPr id="104" name="Text 101"/>
          <p:cNvSpPr/>
          <p:nvPr/>
        </p:nvSpPr>
        <p:spPr>
          <a:xfrm>
            <a:off x="1356247" y="3270417"/>
            <a:ext cx="1093105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816" dirty="0"/>
          </a:p>
        </p:txBody>
      </p:sp>
      <p:sp>
        <p:nvSpPr>
          <p:cNvPr id="105" name="Text 102"/>
          <p:cNvSpPr/>
          <p:nvPr/>
        </p:nvSpPr>
        <p:spPr>
          <a:xfrm>
            <a:off x="1356247" y="3518067"/>
            <a:ext cx="1093105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816" dirty="0"/>
          </a:p>
        </p:txBody>
      </p:sp>
      <p:sp>
        <p:nvSpPr>
          <p:cNvPr id="106" name="Text 103"/>
          <p:cNvSpPr/>
          <p:nvPr/>
        </p:nvSpPr>
        <p:spPr>
          <a:xfrm>
            <a:off x="1356247" y="3765717"/>
            <a:ext cx="1093105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816" dirty="0"/>
          </a:p>
        </p:txBody>
      </p:sp>
      <p:sp>
        <p:nvSpPr>
          <p:cNvPr id="107" name="Text 104"/>
          <p:cNvSpPr/>
          <p:nvPr/>
        </p:nvSpPr>
        <p:spPr>
          <a:xfrm>
            <a:off x="1356247" y="4013367"/>
            <a:ext cx="1093105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816" dirty="0"/>
          </a:p>
        </p:txBody>
      </p:sp>
      <p:sp>
        <p:nvSpPr>
          <p:cNvPr id="108" name="Text 105"/>
          <p:cNvSpPr/>
          <p:nvPr/>
        </p:nvSpPr>
        <p:spPr>
          <a:xfrm>
            <a:off x="1356247" y="4261017"/>
            <a:ext cx="1093105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81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3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28674" y="6349454"/>
            <a:ext cx="747058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Oportunidad identificada : el 78 % del descarte son, registros recibidos anteriormente y el 49 % y clientes con el producto activo es el 29 %</a:t>
            </a:r>
            <a:endParaRPr lang="en-US" sz="840" dirty="0"/>
          </a:p>
        </p:txBody>
      </p:sp>
      <p:sp>
        <p:nvSpPr>
          <p:cNvPr id="4" name="Text 1"/>
          <p:cNvSpPr/>
          <p:nvPr/>
        </p:nvSpPr>
        <p:spPr>
          <a:xfrm>
            <a:off x="7166751" y="5977979"/>
            <a:ext cx="343003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Ancho del embudo en escala visual (no lineal) — los valores y porcentajes son los reales.</a:t>
            </a:r>
            <a:endParaRPr lang="en-US" sz="624" dirty="0"/>
          </a:p>
        </p:txBody>
      </p:sp>
      <p:sp>
        <p:nvSpPr>
          <p:cNvPr id="5" name="Text 2"/>
          <p:cNvSpPr/>
          <p:nvPr/>
        </p:nvSpPr>
        <p:spPr>
          <a:xfrm>
            <a:off x="6429214" y="1832670"/>
            <a:ext cx="3655619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Embudo de la gestión · de la base a la venta (semestre)</a:t>
            </a:r>
            <a:endParaRPr lang="en-US" sz="1020" dirty="0"/>
          </a:p>
        </p:txBody>
      </p:sp>
      <p:sp>
        <p:nvSpPr>
          <p:cNvPr id="6" name="Text 3"/>
          <p:cNvSpPr/>
          <p:nvPr/>
        </p:nvSpPr>
        <p:spPr>
          <a:xfrm>
            <a:off x="9100910" y="1470720"/>
            <a:ext cx="210931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venta por cada 66 registros recibidos</a:t>
            </a:r>
            <a:endParaRPr lang="en-US" sz="864" dirty="0"/>
          </a:p>
        </p:txBody>
      </p:sp>
      <p:sp>
        <p:nvSpPr>
          <p:cNvPr id="7" name="Text 4"/>
          <p:cNvSpPr/>
          <p:nvPr/>
        </p:nvSpPr>
        <p:spPr>
          <a:xfrm>
            <a:off x="571486" y="209550"/>
            <a:ext cx="3067513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Consolidado de las Bases · 1S 2026</a:t>
            </a:r>
            <a:endParaRPr lang="en-US" sz="1260" dirty="0"/>
          </a:p>
        </p:txBody>
      </p:sp>
      <p:sp>
        <p:nvSpPr>
          <p:cNvPr id="8" name="Text 5"/>
          <p:cNvSpPr/>
          <p:nvPr/>
        </p:nvSpPr>
        <p:spPr>
          <a:xfrm>
            <a:off x="857229" y="1832670"/>
            <a:ext cx="2376551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Volumen y calidad de base por mes</a:t>
            </a:r>
            <a:endParaRPr lang="en-US" sz="1020" dirty="0"/>
          </a:p>
        </p:txBody>
      </p:sp>
      <p:sp>
        <p:nvSpPr>
          <p:cNvPr id="9" name="Text 6"/>
          <p:cNvSpPr/>
          <p:nvPr/>
        </p:nvSpPr>
        <p:spPr>
          <a:xfrm>
            <a:off x="742931" y="971550"/>
            <a:ext cx="212162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recibidos (ene–jun)</a:t>
            </a:r>
            <a:endParaRPr lang="en-US" sz="864" dirty="0"/>
          </a:p>
        </p:txBody>
      </p:sp>
      <p:sp>
        <p:nvSpPr>
          <p:cNvPr id="10" name="Text 7"/>
          <p:cNvSpPr/>
          <p:nvPr/>
        </p:nvSpPr>
        <p:spPr>
          <a:xfrm>
            <a:off x="742931" y="1470720"/>
            <a:ext cx="159914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Fuente: dashboards Power BI</a:t>
            </a:r>
            <a:endParaRPr lang="en-US" sz="864" dirty="0"/>
          </a:p>
        </p:txBody>
      </p:sp>
      <p:sp>
        <p:nvSpPr>
          <p:cNvPr id="11" name="Text 8"/>
          <p:cNvSpPr/>
          <p:nvPr/>
        </p:nvSpPr>
        <p:spPr>
          <a:xfrm>
            <a:off x="3528924" y="1470720"/>
            <a:ext cx="152389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Solo 40 % apto para gestión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6882872" y="5587008"/>
            <a:ext cx="9512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Cifra oficial liquidación</a:t>
            </a:r>
            <a:endParaRPr lang="en-US" sz="672" dirty="0"/>
          </a:p>
        </p:txBody>
      </p:sp>
      <p:sp>
        <p:nvSpPr>
          <p:cNvPr id="13" name="Text 10"/>
          <p:cNvSpPr/>
          <p:nvPr/>
        </p:nvSpPr>
        <p:spPr>
          <a:xfrm>
            <a:off x="9929564" y="2467124"/>
            <a:ext cx="111830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 · punto de partida</a:t>
            </a:r>
            <a:endParaRPr lang="en-US" sz="744" dirty="0"/>
          </a:p>
        </p:txBody>
      </p:sp>
      <p:sp>
        <p:nvSpPr>
          <p:cNvPr id="14" name="Text 11"/>
          <p:cNvSpPr/>
          <p:nvPr/>
        </p:nvSpPr>
        <p:spPr>
          <a:xfrm>
            <a:off x="9929564" y="3231505"/>
            <a:ext cx="104179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40 %</a:t>
            </a:r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del paso anterior</a:t>
            </a:r>
            <a:endParaRPr lang="en-US" sz="744" dirty="0"/>
          </a:p>
        </p:txBody>
      </p:sp>
      <p:sp>
        <p:nvSpPr>
          <p:cNvPr id="15" name="Text 12"/>
          <p:cNvSpPr/>
          <p:nvPr/>
        </p:nvSpPr>
        <p:spPr>
          <a:xfrm>
            <a:off x="9929564" y="3995737"/>
            <a:ext cx="10425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98 %</a:t>
            </a:r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del paso anterior</a:t>
            </a:r>
            <a:endParaRPr lang="en-US" sz="744" dirty="0"/>
          </a:p>
        </p:txBody>
      </p:sp>
      <p:sp>
        <p:nvSpPr>
          <p:cNvPr id="16" name="Text 13"/>
          <p:cNvSpPr/>
          <p:nvPr/>
        </p:nvSpPr>
        <p:spPr>
          <a:xfrm>
            <a:off x="9929564" y="4760119"/>
            <a:ext cx="10367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42 %</a:t>
            </a:r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del paso anterior</a:t>
            </a:r>
            <a:endParaRPr lang="en-US" sz="744" dirty="0"/>
          </a:p>
        </p:txBody>
      </p:sp>
      <p:sp>
        <p:nvSpPr>
          <p:cNvPr id="17" name="Text 14"/>
          <p:cNvSpPr/>
          <p:nvPr/>
        </p:nvSpPr>
        <p:spPr>
          <a:xfrm>
            <a:off x="9929564" y="5524351"/>
            <a:ext cx="9821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9 %</a:t>
            </a:r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del paso anterior</a:t>
            </a:r>
            <a:endParaRPr lang="en-US" sz="744" dirty="0"/>
          </a:p>
        </p:txBody>
      </p:sp>
      <p:sp>
        <p:nvSpPr>
          <p:cNvPr id="18" name="Text 15"/>
          <p:cNvSpPr/>
          <p:nvPr/>
        </p:nvSpPr>
        <p:spPr>
          <a:xfrm>
            <a:off x="6314917" y="971550"/>
            <a:ext cx="150291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 (gestionables)</a:t>
            </a:r>
            <a:endParaRPr lang="en-US" sz="864" dirty="0"/>
          </a:p>
        </p:txBody>
      </p:sp>
      <p:sp>
        <p:nvSpPr>
          <p:cNvPr id="19" name="Text 16"/>
          <p:cNvSpPr/>
          <p:nvPr/>
        </p:nvSpPr>
        <p:spPr>
          <a:xfrm>
            <a:off x="6314917" y="1470720"/>
            <a:ext cx="114118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 921.480 recibidos</a:t>
            </a:r>
            <a:endParaRPr lang="en-US" sz="864" dirty="0"/>
          </a:p>
        </p:txBody>
      </p:sp>
      <p:sp>
        <p:nvSpPr>
          <p:cNvPr id="20" name="Text 17"/>
          <p:cNvSpPr/>
          <p:nvPr/>
        </p:nvSpPr>
        <p:spPr>
          <a:xfrm>
            <a:off x="6763137" y="2397621"/>
            <a:ext cx="107098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recibidos</a:t>
            </a:r>
            <a:endParaRPr lang="en-US" sz="840" dirty="0"/>
          </a:p>
        </p:txBody>
      </p:sp>
      <p:sp>
        <p:nvSpPr>
          <p:cNvPr id="21" name="Text 18"/>
          <p:cNvSpPr/>
          <p:nvPr/>
        </p:nvSpPr>
        <p:spPr>
          <a:xfrm>
            <a:off x="6785538" y="3161854"/>
            <a:ext cx="1048579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 para gestión</a:t>
            </a:r>
            <a:endParaRPr lang="en-US" sz="840" dirty="0"/>
          </a:p>
        </p:txBody>
      </p:sp>
      <p:sp>
        <p:nvSpPr>
          <p:cNvPr id="22" name="Text 19"/>
          <p:cNvSpPr/>
          <p:nvPr/>
        </p:nvSpPr>
        <p:spPr>
          <a:xfrm>
            <a:off x="6989041" y="4058394"/>
            <a:ext cx="8450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marcados</a:t>
            </a:r>
            <a:endParaRPr lang="en-US" sz="672" dirty="0"/>
          </a:p>
        </p:txBody>
      </p:sp>
      <p:sp>
        <p:nvSpPr>
          <p:cNvPr id="23" name="Text 20"/>
          <p:cNvSpPr/>
          <p:nvPr/>
        </p:nvSpPr>
        <p:spPr>
          <a:xfrm>
            <a:off x="7077698" y="4822627"/>
            <a:ext cx="7564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672" dirty="0"/>
          </a:p>
        </p:txBody>
      </p:sp>
      <p:sp>
        <p:nvSpPr>
          <p:cNvPr id="24" name="Text 21"/>
          <p:cNvSpPr/>
          <p:nvPr/>
        </p:nvSpPr>
        <p:spPr>
          <a:xfrm>
            <a:off x="3528924" y="971550"/>
            <a:ext cx="1318022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Rechazo promedio</a:t>
            </a:r>
            <a:endParaRPr lang="en-US" sz="864" dirty="0"/>
          </a:p>
        </p:txBody>
      </p:sp>
      <p:sp>
        <p:nvSpPr>
          <p:cNvPr id="25" name="Text 22"/>
          <p:cNvSpPr/>
          <p:nvPr/>
        </p:nvSpPr>
        <p:spPr>
          <a:xfrm>
            <a:off x="7145375" y="3294013"/>
            <a:ext cx="68874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Tras depuración</a:t>
            </a:r>
            <a:endParaRPr lang="en-US" sz="672" dirty="0"/>
          </a:p>
        </p:txBody>
      </p:sp>
      <p:sp>
        <p:nvSpPr>
          <p:cNvPr id="26" name="Text 23"/>
          <p:cNvSpPr/>
          <p:nvPr/>
        </p:nvSpPr>
        <p:spPr>
          <a:xfrm>
            <a:off x="7129442" y="3926235"/>
            <a:ext cx="704675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Gestionados</a:t>
            </a:r>
            <a:endParaRPr lang="en-US" sz="840" dirty="0"/>
          </a:p>
        </p:txBody>
      </p:sp>
      <p:sp>
        <p:nvSpPr>
          <p:cNvPr id="27" name="Text 24"/>
          <p:cNvSpPr/>
          <p:nvPr/>
        </p:nvSpPr>
        <p:spPr>
          <a:xfrm>
            <a:off x="7113351" y="4690467"/>
            <a:ext cx="72076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Contactados</a:t>
            </a:r>
            <a:endParaRPr lang="en-US" sz="840" dirty="0"/>
          </a:p>
        </p:txBody>
      </p:sp>
      <p:sp>
        <p:nvSpPr>
          <p:cNvPr id="28" name="Text 25"/>
          <p:cNvSpPr/>
          <p:nvPr/>
        </p:nvSpPr>
        <p:spPr>
          <a:xfrm>
            <a:off x="2233619" y="2127945"/>
            <a:ext cx="116285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29" name="Text 26"/>
          <p:cNvSpPr/>
          <p:nvPr/>
        </p:nvSpPr>
        <p:spPr>
          <a:xfrm>
            <a:off x="7381059" y="2529780"/>
            <a:ext cx="45305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Vanti</a:t>
            </a:r>
            <a:endParaRPr lang="en-US" sz="672" dirty="0"/>
          </a:p>
        </p:txBody>
      </p:sp>
      <p:sp>
        <p:nvSpPr>
          <p:cNvPr id="30" name="Text 27"/>
          <p:cNvSpPr/>
          <p:nvPr/>
        </p:nvSpPr>
        <p:spPr>
          <a:xfrm>
            <a:off x="1265284" y="2127945"/>
            <a:ext cx="100220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31" name="Text 28"/>
          <p:cNvSpPr/>
          <p:nvPr/>
        </p:nvSpPr>
        <p:spPr>
          <a:xfrm>
            <a:off x="3365633" y="2127945"/>
            <a:ext cx="105876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9100910" y="971550"/>
            <a:ext cx="68637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1S</a:t>
            </a:r>
            <a:endParaRPr lang="en-US" sz="864" dirty="0"/>
          </a:p>
        </p:txBody>
      </p:sp>
      <p:sp>
        <p:nvSpPr>
          <p:cNvPr id="33" name="Text 30"/>
          <p:cNvSpPr/>
          <p:nvPr/>
        </p:nvSpPr>
        <p:spPr>
          <a:xfrm>
            <a:off x="1265284" y="2509391"/>
            <a:ext cx="100220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202.777</a:t>
            </a:r>
            <a:endParaRPr lang="en-US" sz="840" dirty="0"/>
          </a:p>
        </p:txBody>
      </p:sp>
      <p:sp>
        <p:nvSpPr>
          <p:cNvPr id="34" name="Text 31"/>
          <p:cNvSpPr/>
          <p:nvPr/>
        </p:nvSpPr>
        <p:spPr>
          <a:xfrm>
            <a:off x="4402421" y="2509391"/>
            <a:ext cx="7546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103.536</a:t>
            </a:r>
            <a:endParaRPr lang="en-US" sz="840" dirty="0"/>
          </a:p>
        </p:txBody>
      </p:sp>
      <p:sp>
        <p:nvSpPr>
          <p:cNvPr id="35" name="Text 32"/>
          <p:cNvSpPr/>
          <p:nvPr/>
        </p:nvSpPr>
        <p:spPr>
          <a:xfrm>
            <a:off x="1265284" y="3606105"/>
            <a:ext cx="100220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136.044</a:t>
            </a:r>
            <a:endParaRPr lang="en-US" sz="840" dirty="0"/>
          </a:p>
        </p:txBody>
      </p:sp>
      <p:sp>
        <p:nvSpPr>
          <p:cNvPr id="36" name="Text 33"/>
          <p:cNvSpPr/>
          <p:nvPr/>
        </p:nvSpPr>
        <p:spPr>
          <a:xfrm>
            <a:off x="1265284" y="4155877"/>
            <a:ext cx="100220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154.848</a:t>
            </a:r>
            <a:endParaRPr lang="en-US" sz="840" dirty="0"/>
          </a:p>
        </p:txBody>
      </p:sp>
      <p:sp>
        <p:nvSpPr>
          <p:cNvPr id="37" name="Text 34"/>
          <p:cNvSpPr/>
          <p:nvPr/>
        </p:nvSpPr>
        <p:spPr>
          <a:xfrm>
            <a:off x="2233619" y="4155877"/>
            <a:ext cx="116285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114.123</a:t>
            </a:r>
            <a:endParaRPr lang="en-US" sz="840" dirty="0"/>
          </a:p>
        </p:txBody>
      </p:sp>
      <p:sp>
        <p:nvSpPr>
          <p:cNvPr id="38" name="Text 35"/>
          <p:cNvSpPr/>
          <p:nvPr/>
        </p:nvSpPr>
        <p:spPr>
          <a:xfrm>
            <a:off x="1265284" y="4705648"/>
            <a:ext cx="100220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156.200</a:t>
            </a:r>
            <a:endParaRPr lang="en-US" sz="840" dirty="0"/>
          </a:p>
        </p:txBody>
      </p:sp>
      <p:sp>
        <p:nvSpPr>
          <p:cNvPr id="39" name="Text 36"/>
          <p:cNvSpPr/>
          <p:nvPr/>
        </p:nvSpPr>
        <p:spPr>
          <a:xfrm>
            <a:off x="2233619" y="4705648"/>
            <a:ext cx="116285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116.691</a:t>
            </a:r>
            <a:endParaRPr lang="en-US" sz="840" dirty="0"/>
          </a:p>
        </p:txBody>
      </p:sp>
      <p:sp>
        <p:nvSpPr>
          <p:cNvPr id="40" name="Text 37"/>
          <p:cNvSpPr/>
          <p:nvPr/>
        </p:nvSpPr>
        <p:spPr>
          <a:xfrm>
            <a:off x="1265284" y="5255419"/>
            <a:ext cx="100220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175.118</a:t>
            </a:r>
            <a:endParaRPr lang="en-US" sz="840" dirty="0"/>
          </a:p>
        </p:txBody>
      </p:sp>
      <p:sp>
        <p:nvSpPr>
          <p:cNvPr id="41" name="Text 38"/>
          <p:cNvSpPr/>
          <p:nvPr/>
        </p:nvSpPr>
        <p:spPr>
          <a:xfrm>
            <a:off x="2233619" y="5255419"/>
            <a:ext cx="116285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109.130</a:t>
            </a:r>
            <a:endParaRPr lang="en-US" sz="840" dirty="0"/>
          </a:p>
        </p:txBody>
      </p:sp>
      <p:sp>
        <p:nvSpPr>
          <p:cNvPr id="42" name="Text 39"/>
          <p:cNvSpPr/>
          <p:nvPr/>
        </p:nvSpPr>
        <p:spPr>
          <a:xfrm>
            <a:off x="1265284" y="5770811"/>
            <a:ext cx="100220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921.480</a:t>
            </a:r>
            <a:endParaRPr lang="en-US" sz="840" dirty="0"/>
          </a:p>
        </p:txBody>
      </p:sp>
      <p:sp>
        <p:nvSpPr>
          <p:cNvPr id="43" name="Text 40"/>
          <p:cNvSpPr/>
          <p:nvPr/>
        </p:nvSpPr>
        <p:spPr>
          <a:xfrm>
            <a:off x="2233619" y="5770811"/>
            <a:ext cx="116285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548.368</a:t>
            </a:r>
            <a:endParaRPr lang="en-US" sz="840" dirty="0"/>
          </a:p>
        </p:txBody>
      </p:sp>
      <p:sp>
        <p:nvSpPr>
          <p:cNvPr id="44" name="Text 41"/>
          <p:cNvSpPr/>
          <p:nvPr/>
        </p:nvSpPr>
        <p:spPr>
          <a:xfrm>
            <a:off x="4402421" y="5770811"/>
            <a:ext cx="7546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373.112</a:t>
            </a:r>
            <a:endParaRPr lang="en-US" sz="840" dirty="0"/>
          </a:p>
        </p:txBody>
      </p:sp>
      <p:sp>
        <p:nvSpPr>
          <p:cNvPr id="45" name="Text 42"/>
          <p:cNvSpPr/>
          <p:nvPr/>
        </p:nvSpPr>
        <p:spPr>
          <a:xfrm>
            <a:off x="742931" y="1114425"/>
            <a:ext cx="1161688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921.480</a:t>
            </a:r>
            <a:endParaRPr lang="en-US" sz="2280" dirty="0"/>
          </a:p>
        </p:txBody>
      </p:sp>
      <p:sp>
        <p:nvSpPr>
          <p:cNvPr id="46" name="Text 43"/>
          <p:cNvSpPr/>
          <p:nvPr/>
        </p:nvSpPr>
        <p:spPr>
          <a:xfrm>
            <a:off x="6314917" y="1114425"/>
            <a:ext cx="1113731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373.112</a:t>
            </a:r>
            <a:endParaRPr lang="en-US" sz="2280" dirty="0"/>
          </a:p>
        </p:txBody>
      </p:sp>
      <p:sp>
        <p:nvSpPr>
          <p:cNvPr id="47" name="Text 44"/>
          <p:cNvSpPr/>
          <p:nvPr/>
        </p:nvSpPr>
        <p:spPr>
          <a:xfrm>
            <a:off x="8643958" y="2452836"/>
            <a:ext cx="47561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1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921.480</a:t>
            </a:r>
            <a:endParaRPr lang="en-US" sz="912" dirty="0"/>
          </a:p>
        </p:txBody>
      </p:sp>
      <p:sp>
        <p:nvSpPr>
          <p:cNvPr id="48" name="Text 45"/>
          <p:cNvSpPr/>
          <p:nvPr/>
        </p:nvSpPr>
        <p:spPr>
          <a:xfrm>
            <a:off x="8653576" y="3217218"/>
            <a:ext cx="45652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1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373.112</a:t>
            </a:r>
            <a:endParaRPr lang="en-US" sz="912" dirty="0"/>
          </a:p>
        </p:txBody>
      </p:sp>
      <p:sp>
        <p:nvSpPr>
          <p:cNvPr id="49" name="Text 46"/>
          <p:cNvSpPr/>
          <p:nvPr/>
        </p:nvSpPr>
        <p:spPr>
          <a:xfrm>
            <a:off x="8639856" y="3981450"/>
            <a:ext cx="48382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1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365.090</a:t>
            </a:r>
            <a:endParaRPr lang="en-US" sz="912" dirty="0"/>
          </a:p>
        </p:txBody>
      </p:sp>
      <p:sp>
        <p:nvSpPr>
          <p:cNvPr id="50" name="Text 47"/>
          <p:cNvSpPr/>
          <p:nvPr/>
        </p:nvSpPr>
        <p:spPr>
          <a:xfrm>
            <a:off x="8646955" y="4745831"/>
            <a:ext cx="469622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1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154.838</a:t>
            </a:r>
            <a:endParaRPr lang="en-US" sz="912" dirty="0"/>
          </a:p>
        </p:txBody>
      </p:sp>
      <p:sp>
        <p:nvSpPr>
          <p:cNvPr id="51" name="Text 48"/>
          <p:cNvSpPr/>
          <p:nvPr/>
        </p:nvSpPr>
        <p:spPr>
          <a:xfrm>
            <a:off x="5134329" y="2127945"/>
            <a:ext cx="78054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52" name="Text 49"/>
          <p:cNvSpPr/>
          <p:nvPr/>
        </p:nvSpPr>
        <p:spPr>
          <a:xfrm>
            <a:off x="2233619" y="2509391"/>
            <a:ext cx="116285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99.241</a:t>
            </a:r>
            <a:endParaRPr lang="en-US" sz="840" dirty="0"/>
          </a:p>
        </p:txBody>
      </p:sp>
      <p:sp>
        <p:nvSpPr>
          <p:cNvPr id="53" name="Text 50"/>
          <p:cNvSpPr/>
          <p:nvPr/>
        </p:nvSpPr>
        <p:spPr>
          <a:xfrm>
            <a:off x="1265284" y="3056334"/>
            <a:ext cx="100220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96.493</a:t>
            </a:r>
            <a:endParaRPr lang="en-US" sz="840" dirty="0"/>
          </a:p>
        </p:txBody>
      </p:sp>
      <p:sp>
        <p:nvSpPr>
          <p:cNvPr id="54" name="Text 51"/>
          <p:cNvSpPr/>
          <p:nvPr/>
        </p:nvSpPr>
        <p:spPr>
          <a:xfrm>
            <a:off x="2233619" y="3056334"/>
            <a:ext cx="116285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48.185</a:t>
            </a:r>
            <a:endParaRPr lang="en-US" sz="840" dirty="0"/>
          </a:p>
        </p:txBody>
      </p:sp>
      <p:sp>
        <p:nvSpPr>
          <p:cNvPr id="55" name="Text 52"/>
          <p:cNvSpPr/>
          <p:nvPr/>
        </p:nvSpPr>
        <p:spPr>
          <a:xfrm>
            <a:off x="4402421" y="3056334"/>
            <a:ext cx="7546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48.308</a:t>
            </a:r>
            <a:endParaRPr lang="en-US" sz="840" dirty="0"/>
          </a:p>
        </p:txBody>
      </p:sp>
      <p:sp>
        <p:nvSpPr>
          <p:cNvPr id="56" name="Text 53"/>
          <p:cNvSpPr/>
          <p:nvPr/>
        </p:nvSpPr>
        <p:spPr>
          <a:xfrm>
            <a:off x="2233619" y="3606105"/>
            <a:ext cx="116285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60.998</a:t>
            </a:r>
            <a:endParaRPr lang="en-US" sz="840" dirty="0"/>
          </a:p>
        </p:txBody>
      </p:sp>
      <p:sp>
        <p:nvSpPr>
          <p:cNvPr id="57" name="Text 54"/>
          <p:cNvSpPr/>
          <p:nvPr/>
        </p:nvSpPr>
        <p:spPr>
          <a:xfrm>
            <a:off x="4402421" y="3606105"/>
            <a:ext cx="7546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75.046</a:t>
            </a:r>
            <a:endParaRPr lang="en-US" sz="840" dirty="0"/>
          </a:p>
        </p:txBody>
      </p:sp>
      <p:sp>
        <p:nvSpPr>
          <p:cNvPr id="58" name="Text 55"/>
          <p:cNvSpPr/>
          <p:nvPr/>
        </p:nvSpPr>
        <p:spPr>
          <a:xfrm>
            <a:off x="4402421" y="4155877"/>
            <a:ext cx="7546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40.725</a:t>
            </a:r>
            <a:endParaRPr lang="en-US" sz="840" dirty="0"/>
          </a:p>
        </p:txBody>
      </p:sp>
      <p:sp>
        <p:nvSpPr>
          <p:cNvPr id="59" name="Text 56"/>
          <p:cNvSpPr/>
          <p:nvPr/>
        </p:nvSpPr>
        <p:spPr>
          <a:xfrm>
            <a:off x="4402421" y="4705648"/>
            <a:ext cx="7546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39.509</a:t>
            </a:r>
            <a:endParaRPr lang="en-US" sz="840" dirty="0"/>
          </a:p>
        </p:txBody>
      </p:sp>
      <p:sp>
        <p:nvSpPr>
          <p:cNvPr id="60" name="Text 57"/>
          <p:cNvSpPr/>
          <p:nvPr/>
        </p:nvSpPr>
        <p:spPr>
          <a:xfrm>
            <a:off x="4402421" y="5255419"/>
            <a:ext cx="7546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65.988</a:t>
            </a:r>
            <a:endParaRPr lang="en-US" sz="840" dirty="0"/>
          </a:p>
        </p:txBody>
      </p:sp>
      <p:sp>
        <p:nvSpPr>
          <p:cNvPr id="61" name="Text 58"/>
          <p:cNvSpPr/>
          <p:nvPr/>
        </p:nvSpPr>
        <p:spPr>
          <a:xfrm>
            <a:off x="5134329" y="5770811"/>
            <a:ext cx="78054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840" dirty="0"/>
          </a:p>
        </p:txBody>
      </p:sp>
      <p:sp>
        <p:nvSpPr>
          <p:cNvPr id="62" name="Text 59"/>
          <p:cNvSpPr/>
          <p:nvPr/>
        </p:nvSpPr>
        <p:spPr>
          <a:xfrm>
            <a:off x="9100910" y="1114425"/>
            <a:ext cx="941937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2280" dirty="0"/>
          </a:p>
        </p:txBody>
      </p:sp>
      <p:sp>
        <p:nvSpPr>
          <p:cNvPr id="63" name="Text 60"/>
          <p:cNvSpPr/>
          <p:nvPr/>
        </p:nvSpPr>
        <p:spPr>
          <a:xfrm>
            <a:off x="7442110" y="5454848"/>
            <a:ext cx="39200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40" dirty="0"/>
          </a:p>
        </p:txBody>
      </p:sp>
      <p:sp>
        <p:nvSpPr>
          <p:cNvPr id="64" name="Text 61"/>
          <p:cNvSpPr/>
          <p:nvPr/>
        </p:nvSpPr>
        <p:spPr>
          <a:xfrm>
            <a:off x="8687967" y="5510064"/>
            <a:ext cx="38774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1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912" dirty="0"/>
          </a:p>
        </p:txBody>
      </p:sp>
      <p:sp>
        <p:nvSpPr>
          <p:cNvPr id="65" name="Text 62"/>
          <p:cNvSpPr/>
          <p:nvPr/>
        </p:nvSpPr>
        <p:spPr>
          <a:xfrm>
            <a:off x="4402421" y="2127945"/>
            <a:ext cx="7546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66" name="Text 63"/>
          <p:cNvSpPr/>
          <p:nvPr/>
        </p:nvSpPr>
        <p:spPr>
          <a:xfrm>
            <a:off x="5134329" y="2509391"/>
            <a:ext cx="78054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2.245</a:t>
            </a:r>
            <a:endParaRPr lang="en-US" sz="840" dirty="0"/>
          </a:p>
        </p:txBody>
      </p:sp>
      <p:sp>
        <p:nvSpPr>
          <p:cNvPr id="67" name="Text 64"/>
          <p:cNvSpPr/>
          <p:nvPr/>
        </p:nvSpPr>
        <p:spPr>
          <a:xfrm>
            <a:off x="5134329" y="3056334"/>
            <a:ext cx="78054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2.374</a:t>
            </a:r>
            <a:endParaRPr lang="en-US" sz="840" dirty="0"/>
          </a:p>
        </p:txBody>
      </p:sp>
      <p:sp>
        <p:nvSpPr>
          <p:cNvPr id="68" name="Text 65"/>
          <p:cNvSpPr/>
          <p:nvPr/>
        </p:nvSpPr>
        <p:spPr>
          <a:xfrm>
            <a:off x="5134329" y="3606105"/>
            <a:ext cx="78054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2.431</a:t>
            </a:r>
            <a:endParaRPr lang="en-US" sz="840" dirty="0"/>
          </a:p>
        </p:txBody>
      </p:sp>
      <p:sp>
        <p:nvSpPr>
          <p:cNvPr id="69" name="Text 66"/>
          <p:cNvSpPr/>
          <p:nvPr/>
        </p:nvSpPr>
        <p:spPr>
          <a:xfrm>
            <a:off x="5134329" y="4155877"/>
            <a:ext cx="78054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2.367</a:t>
            </a:r>
            <a:endParaRPr lang="en-US" sz="840" dirty="0"/>
          </a:p>
        </p:txBody>
      </p:sp>
      <p:sp>
        <p:nvSpPr>
          <p:cNvPr id="70" name="Text 67"/>
          <p:cNvSpPr/>
          <p:nvPr/>
        </p:nvSpPr>
        <p:spPr>
          <a:xfrm>
            <a:off x="5134329" y="4705648"/>
            <a:ext cx="78054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2.186</a:t>
            </a:r>
            <a:endParaRPr lang="en-US" sz="840" dirty="0"/>
          </a:p>
        </p:txBody>
      </p:sp>
      <p:sp>
        <p:nvSpPr>
          <p:cNvPr id="71" name="Text 68"/>
          <p:cNvSpPr/>
          <p:nvPr/>
        </p:nvSpPr>
        <p:spPr>
          <a:xfrm>
            <a:off x="5134329" y="5255419"/>
            <a:ext cx="78054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2.314</a:t>
            </a:r>
            <a:endParaRPr lang="en-US" sz="840" dirty="0"/>
          </a:p>
        </p:txBody>
      </p:sp>
      <p:sp>
        <p:nvSpPr>
          <p:cNvPr id="72" name="Text 69"/>
          <p:cNvSpPr/>
          <p:nvPr/>
        </p:nvSpPr>
        <p:spPr>
          <a:xfrm>
            <a:off x="704832" y="5770811"/>
            <a:ext cx="6073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40" dirty="0"/>
          </a:p>
        </p:txBody>
      </p:sp>
      <p:sp>
        <p:nvSpPr>
          <p:cNvPr id="73" name="Text 70"/>
          <p:cNvSpPr/>
          <p:nvPr/>
        </p:nvSpPr>
        <p:spPr>
          <a:xfrm>
            <a:off x="3365633" y="2514154"/>
            <a:ext cx="105876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49 %</a:t>
            </a:r>
            <a:endParaRPr lang="en-US" sz="816" dirty="0"/>
          </a:p>
        </p:txBody>
      </p:sp>
      <p:sp>
        <p:nvSpPr>
          <p:cNvPr id="74" name="Text 71"/>
          <p:cNvSpPr/>
          <p:nvPr/>
        </p:nvSpPr>
        <p:spPr>
          <a:xfrm>
            <a:off x="3365633" y="3061097"/>
            <a:ext cx="105876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50 %</a:t>
            </a:r>
            <a:endParaRPr lang="en-US" sz="816" dirty="0"/>
          </a:p>
        </p:txBody>
      </p:sp>
      <p:sp>
        <p:nvSpPr>
          <p:cNvPr id="75" name="Text 72"/>
          <p:cNvSpPr/>
          <p:nvPr/>
        </p:nvSpPr>
        <p:spPr>
          <a:xfrm>
            <a:off x="3365633" y="3610868"/>
            <a:ext cx="105876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45 %</a:t>
            </a:r>
            <a:endParaRPr lang="en-US" sz="816" dirty="0"/>
          </a:p>
        </p:txBody>
      </p:sp>
      <p:sp>
        <p:nvSpPr>
          <p:cNvPr id="76" name="Text 73"/>
          <p:cNvSpPr/>
          <p:nvPr/>
        </p:nvSpPr>
        <p:spPr>
          <a:xfrm>
            <a:off x="3365633" y="4160639"/>
            <a:ext cx="105876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74 %</a:t>
            </a:r>
            <a:endParaRPr lang="en-US" sz="816" dirty="0"/>
          </a:p>
        </p:txBody>
      </p:sp>
      <p:sp>
        <p:nvSpPr>
          <p:cNvPr id="77" name="Text 74"/>
          <p:cNvSpPr/>
          <p:nvPr/>
        </p:nvSpPr>
        <p:spPr>
          <a:xfrm>
            <a:off x="3365633" y="4710410"/>
            <a:ext cx="105876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75 %</a:t>
            </a:r>
            <a:endParaRPr lang="en-US" sz="816" dirty="0"/>
          </a:p>
        </p:txBody>
      </p:sp>
      <p:sp>
        <p:nvSpPr>
          <p:cNvPr id="78" name="Text 75"/>
          <p:cNvSpPr/>
          <p:nvPr/>
        </p:nvSpPr>
        <p:spPr>
          <a:xfrm>
            <a:off x="3365633" y="5260181"/>
            <a:ext cx="1058768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62 %</a:t>
            </a:r>
            <a:endParaRPr lang="en-US" sz="816" dirty="0"/>
          </a:p>
        </p:txBody>
      </p:sp>
      <p:sp>
        <p:nvSpPr>
          <p:cNvPr id="79" name="Text 76"/>
          <p:cNvSpPr/>
          <p:nvPr/>
        </p:nvSpPr>
        <p:spPr>
          <a:xfrm>
            <a:off x="3365633" y="5770811"/>
            <a:ext cx="105876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60 %</a:t>
            </a:r>
            <a:endParaRPr lang="en-US" sz="840" dirty="0"/>
          </a:p>
        </p:txBody>
      </p:sp>
      <p:sp>
        <p:nvSpPr>
          <p:cNvPr id="80" name="Text 77"/>
          <p:cNvSpPr/>
          <p:nvPr/>
        </p:nvSpPr>
        <p:spPr>
          <a:xfrm>
            <a:off x="3528924" y="1114425"/>
            <a:ext cx="715402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60 %</a:t>
            </a:r>
            <a:endParaRPr lang="en-US" sz="2280" dirty="0"/>
          </a:p>
        </p:txBody>
      </p:sp>
      <p:sp>
        <p:nvSpPr>
          <p:cNvPr id="81" name="Text 78"/>
          <p:cNvSpPr/>
          <p:nvPr/>
        </p:nvSpPr>
        <p:spPr>
          <a:xfrm>
            <a:off x="704832" y="2127945"/>
            <a:ext cx="6073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82" name="Text 79"/>
          <p:cNvSpPr/>
          <p:nvPr/>
        </p:nvSpPr>
        <p:spPr>
          <a:xfrm>
            <a:off x="704832" y="2509391"/>
            <a:ext cx="6073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40" dirty="0"/>
          </a:p>
        </p:txBody>
      </p:sp>
      <p:sp>
        <p:nvSpPr>
          <p:cNvPr id="83" name="Text 80"/>
          <p:cNvSpPr/>
          <p:nvPr/>
        </p:nvSpPr>
        <p:spPr>
          <a:xfrm>
            <a:off x="704832" y="3056334"/>
            <a:ext cx="6073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40" dirty="0"/>
          </a:p>
        </p:txBody>
      </p:sp>
      <p:sp>
        <p:nvSpPr>
          <p:cNvPr id="84" name="Text 81"/>
          <p:cNvSpPr/>
          <p:nvPr/>
        </p:nvSpPr>
        <p:spPr>
          <a:xfrm>
            <a:off x="704832" y="3606105"/>
            <a:ext cx="6073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40" dirty="0"/>
          </a:p>
        </p:txBody>
      </p:sp>
      <p:sp>
        <p:nvSpPr>
          <p:cNvPr id="85" name="Text 82"/>
          <p:cNvSpPr/>
          <p:nvPr/>
        </p:nvSpPr>
        <p:spPr>
          <a:xfrm>
            <a:off x="704832" y="4155877"/>
            <a:ext cx="6073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40" dirty="0"/>
          </a:p>
        </p:txBody>
      </p:sp>
      <p:sp>
        <p:nvSpPr>
          <p:cNvPr id="86" name="Text 83"/>
          <p:cNvSpPr/>
          <p:nvPr/>
        </p:nvSpPr>
        <p:spPr>
          <a:xfrm>
            <a:off x="704832" y="4705648"/>
            <a:ext cx="6073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40" dirty="0"/>
          </a:p>
        </p:txBody>
      </p:sp>
      <p:sp>
        <p:nvSpPr>
          <p:cNvPr id="87" name="Text 84"/>
          <p:cNvSpPr/>
          <p:nvPr/>
        </p:nvSpPr>
        <p:spPr>
          <a:xfrm>
            <a:off x="704832" y="5255419"/>
            <a:ext cx="6073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4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28674" y="6368504"/>
            <a:ext cx="10138672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¿Por qué la gestión no llega al 100 %? El semestre cerró en 97,9 %: la base de junio no llegó a tiempo — ingresó sobre el cierre del mes y ~8.000 registros quedaron sin tiempo de marcación.</a:t>
            </a:r>
            <a:endParaRPr lang="en-US" sz="840" dirty="0"/>
          </a:p>
        </p:txBody>
      </p:sp>
      <p:sp>
        <p:nvSpPr>
          <p:cNvPr id="4" name="Text 1"/>
          <p:cNvSpPr/>
          <p:nvPr/>
        </p:nvSpPr>
        <p:spPr>
          <a:xfrm>
            <a:off x="704832" y="3658493"/>
            <a:ext cx="5395486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* Campañas puntuales solo de enero (no recurrentes). Base apta = registros que quedaron tras la depuración; el total (373.112) es la cifra oficial del semestre e incluye Microseguro.</a:t>
            </a:r>
            <a:endParaRPr lang="en-US" sz="600" dirty="0"/>
          </a:p>
        </p:txBody>
      </p:sp>
      <p:sp>
        <p:nvSpPr>
          <p:cNvPr id="5" name="Text 2"/>
          <p:cNvSpPr/>
          <p:nvPr/>
        </p:nvSpPr>
        <p:spPr>
          <a:xfrm>
            <a:off x="6180350" y="5882729"/>
            <a:ext cx="5306513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548.368 registros descartados (60 % de la base recibida). El detalle mensual del rechazo está en la slide anterior (Consolidado de las Bases).</a:t>
            </a:r>
            <a:endParaRPr lang="en-US" sz="648" dirty="0"/>
          </a:p>
        </p:txBody>
      </p:sp>
      <p:sp>
        <p:nvSpPr>
          <p:cNvPr id="6" name="Text 3"/>
          <p:cNvSpPr/>
          <p:nvPr/>
        </p:nvSpPr>
        <p:spPr>
          <a:xfrm>
            <a:off x="6286343" y="1262955"/>
            <a:ext cx="23525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 más alta del portafolio · 2,9× el promedio del canal</a:t>
            </a:r>
            <a:endParaRPr lang="en-US" sz="600" dirty="0"/>
          </a:p>
        </p:txBody>
      </p:sp>
      <p:sp>
        <p:nvSpPr>
          <p:cNvPr id="7" name="Text 4"/>
          <p:cNvSpPr/>
          <p:nvPr/>
        </p:nvSpPr>
        <p:spPr>
          <a:xfrm>
            <a:off x="723882" y="1262955"/>
            <a:ext cx="205883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50 % de las ventas del semestre · 19,6 % de conversión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4128740" y="5987504"/>
            <a:ext cx="177661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Cada mes: aptos → gestión → contacto → ventas</a:t>
            </a:r>
            <a:endParaRPr lang="en-US" sz="576" dirty="0"/>
          </a:p>
        </p:txBody>
      </p:sp>
      <p:sp>
        <p:nvSpPr>
          <p:cNvPr id="9" name="Text 6"/>
          <p:cNvSpPr/>
          <p:nvPr/>
        </p:nvSpPr>
        <p:spPr>
          <a:xfrm>
            <a:off x="6286343" y="1567755"/>
            <a:ext cx="1867479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 de rechazo (semestre)</a:t>
            </a:r>
            <a:endParaRPr lang="en-US" sz="840" dirty="0"/>
          </a:p>
        </p:txBody>
      </p:sp>
      <p:sp>
        <p:nvSpPr>
          <p:cNvPr id="10" name="Text 7"/>
          <p:cNvSpPr/>
          <p:nvPr/>
        </p:nvSpPr>
        <p:spPr>
          <a:xfrm>
            <a:off x="857229" y="1586805"/>
            <a:ext cx="201135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Rendimiento por campaña (ene–jun)</a:t>
            </a:r>
            <a:endParaRPr lang="en-US" sz="840" dirty="0"/>
          </a:p>
        </p:txBody>
      </p:sp>
      <p:sp>
        <p:nvSpPr>
          <p:cNvPr id="11" name="Text 8"/>
          <p:cNvSpPr/>
          <p:nvPr/>
        </p:nvSpPr>
        <p:spPr>
          <a:xfrm>
            <a:off x="6381575" y="2198787"/>
            <a:ext cx="133348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672" dirty="0"/>
          </a:p>
        </p:txBody>
      </p:sp>
      <p:sp>
        <p:nvSpPr>
          <p:cNvPr id="12" name="Text 9"/>
          <p:cNvSpPr/>
          <p:nvPr/>
        </p:nvSpPr>
        <p:spPr>
          <a:xfrm>
            <a:off x="857229" y="3944243"/>
            <a:ext cx="162643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 de aptos por mes</a:t>
            </a:r>
            <a:endParaRPr lang="en-US" sz="840" dirty="0"/>
          </a:p>
        </p:txBody>
      </p:sp>
      <p:sp>
        <p:nvSpPr>
          <p:cNvPr id="13" name="Text 10"/>
          <p:cNvSpPr/>
          <p:nvPr/>
        </p:nvSpPr>
        <p:spPr>
          <a:xfrm>
            <a:off x="6502257" y="2725043"/>
            <a:ext cx="1212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Producto ya activo (CP / MS)</a:t>
            </a:r>
            <a:endParaRPr lang="en-US" sz="672" dirty="0"/>
          </a:p>
        </p:txBody>
      </p:sp>
      <p:sp>
        <p:nvSpPr>
          <p:cNvPr id="14" name="Text 11"/>
          <p:cNvSpPr/>
          <p:nvPr/>
        </p:nvSpPr>
        <p:spPr>
          <a:xfrm>
            <a:off x="6558575" y="3251299"/>
            <a:ext cx="115648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Dirección repetida/errónea</a:t>
            </a:r>
            <a:endParaRPr lang="en-US" sz="672" dirty="0"/>
          </a:p>
        </p:txBody>
      </p:sp>
      <p:sp>
        <p:nvSpPr>
          <p:cNvPr id="15" name="Text 12"/>
          <p:cNvSpPr/>
          <p:nvPr/>
        </p:nvSpPr>
        <p:spPr>
          <a:xfrm>
            <a:off x="6576874" y="3777555"/>
            <a:ext cx="113818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Contrato / cédula repetida</a:t>
            </a:r>
            <a:endParaRPr lang="en-US" sz="672" dirty="0"/>
          </a:p>
        </p:txBody>
      </p:sp>
      <p:sp>
        <p:nvSpPr>
          <p:cNvPr id="16" name="Text 13"/>
          <p:cNvSpPr/>
          <p:nvPr/>
        </p:nvSpPr>
        <p:spPr>
          <a:xfrm>
            <a:off x="704832" y="3329880"/>
            <a:ext cx="156339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Volunt. Cancelaciones*</a:t>
            </a:r>
            <a:endParaRPr lang="en-US" sz="816" dirty="0"/>
          </a:p>
        </p:txBody>
      </p:sp>
      <p:sp>
        <p:nvSpPr>
          <p:cNvPr id="17" name="Text 14"/>
          <p:cNvSpPr/>
          <p:nvPr/>
        </p:nvSpPr>
        <p:spPr>
          <a:xfrm>
            <a:off x="571486" y="209550"/>
            <a:ext cx="2270382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Desempeño por Campaña</a:t>
            </a:r>
            <a:endParaRPr lang="en-US" sz="1260" dirty="0"/>
          </a:p>
        </p:txBody>
      </p:sp>
      <p:sp>
        <p:nvSpPr>
          <p:cNvPr id="18" name="Text 15"/>
          <p:cNvSpPr/>
          <p:nvPr/>
        </p:nvSpPr>
        <p:spPr>
          <a:xfrm>
            <a:off x="704832" y="3082230"/>
            <a:ext cx="156339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CP Clientes Satisf.*</a:t>
            </a:r>
            <a:endParaRPr lang="en-US" sz="816" dirty="0"/>
          </a:p>
        </p:txBody>
      </p:sp>
      <p:sp>
        <p:nvSpPr>
          <p:cNvPr id="19" name="Text 16"/>
          <p:cNvSpPr/>
          <p:nvPr/>
        </p:nvSpPr>
        <p:spPr>
          <a:xfrm>
            <a:off x="704832" y="2834580"/>
            <a:ext cx="156339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Masiva Voluntarios</a:t>
            </a:r>
            <a:endParaRPr lang="en-US" sz="816" dirty="0"/>
          </a:p>
        </p:txBody>
      </p:sp>
      <p:sp>
        <p:nvSpPr>
          <p:cNvPr id="20" name="Text 17"/>
          <p:cNvSpPr/>
          <p:nvPr/>
        </p:nvSpPr>
        <p:spPr>
          <a:xfrm>
            <a:off x="7033730" y="4830217"/>
            <a:ext cx="6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errado</a:t>
            </a:r>
            <a:endParaRPr lang="en-US" sz="672" dirty="0"/>
          </a:p>
        </p:txBody>
      </p:sp>
      <p:sp>
        <p:nvSpPr>
          <p:cNvPr id="21" name="Text 18"/>
          <p:cNvSpPr/>
          <p:nvPr/>
        </p:nvSpPr>
        <p:spPr>
          <a:xfrm>
            <a:off x="4602548" y="1853505"/>
            <a:ext cx="130280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Conv./contacto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704832" y="2091630"/>
            <a:ext cx="156339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Bienvenidas CP</a:t>
            </a:r>
            <a:endParaRPr lang="en-US" sz="816" dirty="0"/>
          </a:p>
        </p:txBody>
      </p:sp>
      <p:sp>
        <p:nvSpPr>
          <p:cNvPr id="23" name="Text 20"/>
          <p:cNvSpPr/>
          <p:nvPr/>
        </p:nvSpPr>
        <p:spPr>
          <a:xfrm>
            <a:off x="723882" y="952500"/>
            <a:ext cx="89050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Bienvenidas CP</a:t>
            </a:r>
            <a:endParaRPr lang="en-US" sz="720" dirty="0"/>
          </a:p>
        </p:txBody>
      </p:sp>
      <p:sp>
        <p:nvSpPr>
          <p:cNvPr id="24" name="Text 21"/>
          <p:cNvSpPr/>
          <p:nvPr/>
        </p:nvSpPr>
        <p:spPr>
          <a:xfrm>
            <a:off x="723882" y="1076325"/>
            <a:ext cx="648041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6.912 </a:t>
            </a:r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1020" dirty="0"/>
          </a:p>
        </p:txBody>
      </p:sp>
      <p:sp>
        <p:nvSpPr>
          <p:cNvPr id="25" name="Text 22"/>
          <p:cNvSpPr/>
          <p:nvPr/>
        </p:nvSpPr>
        <p:spPr>
          <a:xfrm>
            <a:off x="704832" y="2339280"/>
            <a:ext cx="156339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Autogestión</a:t>
            </a:r>
            <a:endParaRPr lang="en-US" sz="816" dirty="0"/>
          </a:p>
        </p:txBody>
      </p:sp>
      <p:sp>
        <p:nvSpPr>
          <p:cNvPr id="26" name="Text 23"/>
          <p:cNvSpPr/>
          <p:nvPr/>
        </p:nvSpPr>
        <p:spPr>
          <a:xfrm>
            <a:off x="6286343" y="952500"/>
            <a:ext cx="76935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Autogestión</a:t>
            </a:r>
            <a:endParaRPr lang="en-US" sz="720" dirty="0"/>
          </a:p>
        </p:txBody>
      </p:sp>
      <p:sp>
        <p:nvSpPr>
          <p:cNvPr id="27" name="Text 24"/>
          <p:cNvSpPr/>
          <p:nvPr/>
        </p:nvSpPr>
        <p:spPr>
          <a:xfrm>
            <a:off x="7160248" y="4303961"/>
            <a:ext cx="55480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Supera edad</a:t>
            </a:r>
            <a:endParaRPr lang="en-US" sz="672" dirty="0"/>
          </a:p>
        </p:txBody>
      </p:sp>
      <p:sp>
        <p:nvSpPr>
          <p:cNvPr id="28" name="Text 25"/>
          <p:cNvSpPr/>
          <p:nvPr/>
        </p:nvSpPr>
        <p:spPr>
          <a:xfrm>
            <a:off x="3704357" y="1853505"/>
            <a:ext cx="9361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29" name="Text 26"/>
          <p:cNvSpPr/>
          <p:nvPr/>
        </p:nvSpPr>
        <p:spPr>
          <a:xfrm>
            <a:off x="2197962" y="1853505"/>
            <a:ext cx="84906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apta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704832" y="2586930"/>
            <a:ext cx="156339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CP Stock</a:t>
            </a:r>
            <a:endParaRPr lang="en-US" sz="816" dirty="0"/>
          </a:p>
        </p:txBody>
      </p:sp>
      <p:sp>
        <p:nvSpPr>
          <p:cNvPr id="31" name="Text 28"/>
          <p:cNvSpPr/>
          <p:nvPr/>
        </p:nvSpPr>
        <p:spPr>
          <a:xfrm>
            <a:off x="3050281" y="4163318"/>
            <a:ext cx="85412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704832" y="1853505"/>
            <a:ext cx="156339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Campaña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2197962" y="2596455"/>
            <a:ext cx="84906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158.941</a:t>
            </a:r>
            <a:endParaRPr lang="en-US" sz="720" dirty="0"/>
          </a:p>
        </p:txBody>
      </p:sp>
      <p:sp>
        <p:nvSpPr>
          <p:cNvPr id="34" name="Text 31"/>
          <p:cNvSpPr/>
          <p:nvPr/>
        </p:nvSpPr>
        <p:spPr>
          <a:xfrm>
            <a:off x="2197962" y="2844105"/>
            <a:ext cx="84906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119.828</a:t>
            </a:r>
            <a:endParaRPr lang="en-US" sz="720" dirty="0"/>
          </a:p>
        </p:txBody>
      </p:sp>
      <p:sp>
        <p:nvSpPr>
          <p:cNvPr id="35" name="Text 32"/>
          <p:cNvSpPr/>
          <p:nvPr/>
        </p:nvSpPr>
        <p:spPr>
          <a:xfrm>
            <a:off x="2197962" y="3558480"/>
            <a:ext cx="84906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373.112</a:t>
            </a:r>
            <a:endParaRPr lang="en-US" sz="720" dirty="0"/>
          </a:p>
        </p:txBody>
      </p:sp>
      <p:sp>
        <p:nvSpPr>
          <p:cNvPr id="36" name="Text 33"/>
          <p:cNvSpPr/>
          <p:nvPr/>
        </p:nvSpPr>
        <p:spPr>
          <a:xfrm>
            <a:off x="1665010" y="4163318"/>
            <a:ext cx="731956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Gestión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2376620" y="4163318"/>
            <a:ext cx="698539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Gest.</a:t>
            </a:r>
            <a:endParaRPr lang="en-US" sz="888" dirty="0"/>
          </a:p>
        </p:txBody>
      </p:sp>
      <p:sp>
        <p:nvSpPr>
          <p:cNvPr id="38" name="Text 35"/>
          <p:cNvSpPr/>
          <p:nvPr/>
        </p:nvSpPr>
        <p:spPr>
          <a:xfrm>
            <a:off x="3884781" y="4163318"/>
            <a:ext cx="673859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Ctto.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5179375" y="4163318"/>
            <a:ext cx="72597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Conv.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1108429" y="4381798"/>
            <a:ext cx="5779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103.536</a:t>
            </a:r>
            <a:endParaRPr lang="en-US" sz="660" dirty="0"/>
          </a:p>
        </p:txBody>
      </p:sp>
      <p:sp>
        <p:nvSpPr>
          <p:cNvPr id="41" name="Text 38"/>
          <p:cNvSpPr/>
          <p:nvPr/>
        </p:nvSpPr>
        <p:spPr>
          <a:xfrm>
            <a:off x="1665010" y="4381798"/>
            <a:ext cx="731956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103.531</a:t>
            </a:r>
            <a:endParaRPr lang="en-US" sz="660" dirty="0"/>
          </a:p>
        </p:txBody>
      </p:sp>
      <p:sp>
        <p:nvSpPr>
          <p:cNvPr id="42" name="Text 39"/>
          <p:cNvSpPr/>
          <p:nvPr/>
        </p:nvSpPr>
        <p:spPr>
          <a:xfrm>
            <a:off x="1108429" y="5806678"/>
            <a:ext cx="5779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373.112</a:t>
            </a:r>
            <a:endParaRPr lang="en-US" sz="624" dirty="0"/>
          </a:p>
        </p:txBody>
      </p:sp>
      <p:sp>
        <p:nvSpPr>
          <p:cNvPr id="43" name="Text 40"/>
          <p:cNvSpPr/>
          <p:nvPr/>
        </p:nvSpPr>
        <p:spPr>
          <a:xfrm>
            <a:off x="1665010" y="5806678"/>
            <a:ext cx="731956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365.090</a:t>
            </a:r>
            <a:endParaRPr lang="en-US" sz="624" dirty="0"/>
          </a:p>
        </p:txBody>
      </p:sp>
      <p:sp>
        <p:nvSpPr>
          <p:cNvPr id="44" name="Text 41"/>
          <p:cNvSpPr/>
          <p:nvPr/>
        </p:nvSpPr>
        <p:spPr>
          <a:xfrm>
            <a:off x="3050281" y="5806678"/>
            <a:ext cx="85412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154.838</a:t>
            </a:r>
            <a:endParaRPr lang="en-US" sz="624" dirty="0"/>
          </a:p>
        </p:txBody>
      </p:sp>
      <p:sp>
        <p:nvSpPr>
          <p:cNvPr id="45" name="Text 42"/>
          <p:cNvSpPr/>
          <p:nvPr/>
        </p:nvSpPr>
        <p:spPr>
          <a:xfrm>
            <a:off x="3026493" y="1853505"/>
            <a:ext cx="7051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2197962" y="2101155"/>
            <a:ext cx="84906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44.428</a:t>
            </a:r>
            <a:endParaRPr lang="en-US" sz="720" dirty="0"/>
          </a:p>
        </p:txBody>
      </p:sp>
      <p:sp>
        <p:nvSpPr>
          <p:cNvPr id="47" name="Text 44"/>
          <p:cNvSpPr/>
          <p:nvPr/>
        </p:nvSpPr>
        <p:spPr>
          <a:xfrm>
            <a:off x="4602548" y="2091630"/>
            <a:ext cx="130280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19,6 %</a:t>
            </a:r>
            <a:endParaRPr lang="en-US" sz="816" dirty="0"/>
          </a:p>
        </p:txBody>
      </p:sp>
      <p:sp>
        <p:nvSpPr>
          <p:cNvPr id="48" name="Text 45"/>
          <p:cNvSpPr/>
          <p:nvPr/>
        </p:nvSpPr>
        <p:spPr>
          <a:xfrm>
            <a:off x="4602548" y="2339280"/>
            <a:ext cx="130280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26,3 %</a:t>
            </a:r>
            <a:endParaRPr lang="en-US" sz="816" dirty="0"/>
          </a:p>
        </p:txBody>
      </p:sp>
      <p:sp>
        <p:nvSpPr>
          <p:cNvPr id="49" name="Text 46"/>
          <p:cNvSpPr/>
          <p:nvPr/>
        </p:nvSpPr>
        <p:spPr>
          <a:xfrm>
            <a:off x="2197962" y="3091755"/>
            <a:ext cx="84906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35.228</a:t>
            </a:r>
            <a:endParaRPr lang="en-US" sz="720" dirty="0"/>
          </a:p>
        </p:txBody>
      </p:sp>
      <p:sp>
        <p:nvSpPr>
          <p:cNvPr id="50" name="Text 47"/>
          <p:cNvSpPr/>
          <p:nvPr/>
        </p:nvSpPr>
        <p:spPr>
          <a:xfrm>
            <a:off x="3026493" y="3558480"/>
            <a:ext cx="70513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10.967</a:t>
            </a:r>
            <a:endParaRPr lang="en-US" sz="720" dirty="0"/>
          </a:p>
        </p:txBody>
      </p:sp>
      <p:sp>
        <p:nvSpPr>
          <p:cNvPr id="51" name="Text 48"/>
          <p:cNvSpPr/>
          <p:nvPr/>
        </p:nvSpPr>
        <p:spPr>
          <a:xfrm>
            <a:off x="4539384" y="4163318"/>
            <a:ext cx="661136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52" name="Text 49"/>
          <p:cNvSpPr/>
          <p:nvPr/>
        </p:nvSpPr>
        <p:spPr>
          <a:xfrm>
            <a:off x="3050281" y="4381798"/>
            <a:ext cx="85412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22.402</a:t>
            </a:r>
            <a:endParaRPr lang="en-US" sz="660" dirty="0"/>
          </a:p>
        </p:txBody>
      </p:sp>
      <p:sp>
        <p:nvSpPr>
          <p:cNvPr id="53" name="Text 50"/>
          <p:cNvSpPr/>
          <p:nvPr/>
        </p:nvSpPr>
        <p:spPr>
          <a:xfrm>
            <a:off x="1108429" y="4619030"/>
            <a:ext cx="5779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48.308</a:t>
            </a:r>
            <a:endParaRPr lang="en-US" sz="660" dirty="0"/>
          </a:p>
        </p:txBody>
      </p:sp>
      <p:sp>
        <p:nvSpPr>
          <p:cNvPr id="54" name="Text 51"/>
          <p:cNvSpPr/>
          <p:nvPr/>
        </p:nvSpPr>
        <p:spPr>
          <a:xfrm>
            <a:off x="1665010" y="4619030"/>
            <a:ext cx="731956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47.997</a:t>
            </a:r>
            <a:endParaRPr lang="en-US" sz="660" dirty="0"/>
          </a:p>
        </p:txBody>
      </p:sp>
      <p:sp>
        <p:nvSpPr>
          <p:cNvPr id="55" name="Text 52"/>
          <p:cNvSpPr/>
          <p:nvPr/>
        </p:nvSpPr>
        <p:spPr>
          <a:xfrm>
            <a:off x="3050281" y="4619030"/>
            <a:ext cx="85412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21.171</a:t>
            </a:r>
            <a:endParaRPr lang="en-US" sz="660" dirty="0"/>
          </a:p>
        </p:txBody>
      </p:sp>
      <p:sp>
        <p:nvSpPr>
          <p:cNvPr id="56" name="Text 53"/>
          <p:cNvSpPr/>
          <p:nvPr/>
        </p:nvSpPr>
        <p:spPr>
          <a:xfrm>
            <a:off x="1108429" y="4856559"/>
            <a:ext cx="5779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75.046</a:t>
            </a:r>
            <a:endParaRPr lang="en-US" sz="660" dirty="0"/>
          </a:p>
        </p:txBody>
      </p:sp>
      <p:sp>
        <p:nvSpPr>
          <p:cNvPr id="57" name="Text 54"/>
          <p:cNvSpPr/>
          <p:nvPr/>
        </p:nvSpPr>
        <p:spPr>
          <a:xfrm>
            <a:off x="1665010" y="4856559"/>
            <a:ext cx="731956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71.926</a:t>
            </a:r>
            <a:endParaRPr lang="en-US" sz="660" dirty="0"/>
          </a:p>
        </p:txBody>
      </p:sp>
      <p:sp>
        <p:nvSpPr>
          <p:cNvPr id="58" name="Text 55"/>
          <p:cNvSpPr/>
          <p:nvPr/>
        </p:nvSpPr>
        <p:spPr>
          <a:xfrm>
            <a:off x="3050281" y="4856559"/>
            <a:ext cx="85412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32.546</a:t>
            </a:r>
            <a:endParaRPr lang="en-US" sz="660" dirty="0"/>
          </a:p>
        </p:txBody>
      </p:sp>
      <p:sp>
        <p:nvSpPr>
          <p:cNvPr id="59" name="Text 56"/>
          <p:cNvSpPr/>
          <p:nvPr/>
        </p:nvSpPr>
        <p:spPr>
          <a:xfrm>
            <a:off x="1108429" y="5094089"/>
            <a:ext cx="5779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40.725</a:t>
            </a:r>
            <a:endParaRPr lang="en-US" sz="660" dirty="0"/>
          </a:p>
        </p:txBody>
      </p:sp>
      <p:sp>
        <p:nvSpPr>
          <p:cNvPr id="60" name="Text 57"/>
          <p:cNvSpPr/>
          <p:nvPr/>
        </p:nvSpPr>
        <p:spPr>
          <a:xfrm>
            <a:off x="1665010" y="5094089"/>
            <a:ext cx="731956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40.682</a:t>
            </a:r>
            <a:endParaRPr lang="en-US" sz="660" dirty="0"/>
          </a:p>
        </p:txBody>
      </p:sp>
      <p:sp>
        <p:nvSpPr>
          <p:cNvPr id="61" name="Text 58"/>
          <p:cNvSpPr/>
          <p:nvPr/>
        </p:nvSpPr>
        <p:spPr>
          <a:xfrm>
            <a:off x="3050281" y="5094089"/>
            <a:ext cx="85412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24.520</a:t>
            </a:r>
            <a:endParaRPr lang="en-US" sz="660" dirty="0"/>
          </a:p>
        </p:txBody>
      </p:sp>
      <p:sp>
        <p:nvSpPr>
          <p:cNvPr id="62" name="Text 59"/>
          <p:cNvSpPr/>
          <p:nvPr/>
        </p:nvSpPr>
        <p:spPr>
          <a:xfrm>
            <a:off x="1108429" y="5331619"/>
            <a:ext cx="5779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39.509</a:t>
            </a:r>
            <a:endParaRPr lang="en-US" sz="660" dirty="0"/>
          </a:p>
        </p:txBody>
      </p:sp>
      <p:sp>
        <p:nvSpPr>
          <p:cNvPr id="63" name="Text 60"/>
          <p:cNvSpPr/>
          <p:nvPr/>
        </p:nvSpPr>
        <p:spPr>
          <a:xfrm>
            <a:off x="1665010" y="5331619"/>
            <a:ext cx="731956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39.504</a:t>
            </a:r>
            <a:endParaRPr lang="en-US" sz="660" dirty="0"/>
          </a:p>
        </p:txBody>
      </p:sp>
      <p:sp>
        <p:nvSpPr>
          <p:cNvPr id="64" name="Text 61"/>
          <p:cNvSpPr/>
          <p:nvPr/>
        </p:nvSpPr>
        <p:spPr>
          <a:xfrm>
            <a:off x="3050281" y="5331619"/>
            <a:ext cx="85412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25.647</a:t>
            </a:r>
            <a:endParaRPr lang="en-US" sz="660" dirty="0"/>
          </a:p>
        </p:txBody>
      </p:sp>
      <p:sp>
        <p:nvSpPr>
          <p:cNvPr id="65" name="Text 62"/>
          <p:cNvSpPr/>
          <p:nvPr/>
        </p:nvSpPr>
        <p:spPr>
          <a:xfrm>
            <a:off x="1108429" y="5569148"/>
            <a:ext cx="5779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65.988</a:t>
            </a:r>
            <a:endParaRPr lang="en-US" sz="660" dirty="0"/>
          </a:p>
        </p:txBody>
      </p:sp>
      <p:sp>
        <p:nvSpPr>
          <p:cNvPr id="66" name="Text 63"/>
          <p:cNvSpPr/>
          <p:nvPr/>
        </p:nvSpPr>
        <p:spPr>
          <a:xfrm>
            <a:off x="1665010" y="5569148"/>
            <a:ext cx="731956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61.450</a:t>
            </a:r>
            <a:endParaRPr lang="en-US" sz="660" dirty="0"/>
          </a:p>
        </p:txBody>
      </p:sp>
      <p:sp>
        <p:nvSpPr>
          <p:cNvPr id="67" name="Text 64"/>
          <p:cNvSpPr/>
          <p:nvPr/>
        </p:nvSpPr>
        <p:spPr>
          <a:xfrm>
            <a:off x="3050281" y="5569148"/>
            <a:ext cx="85412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28.552</a:t>
            </a:r>
            <a:endParaRPr lang="en-US" sz="660" dirty="0"/>
          </a:p>
        </p:txBody>
      </p:sp>
      <p:sp>
        <p:nvSpPr>
          <p:cNvPr id="68" name="Text 65"/>
          <p:cNvSpPr/>
          <p:nvPr/>
        </p:nvSpPr>
        <p:spPr>
          <a:xfrm>
            <a:off x="4539384" y="5806678"/>
            <a:ext cx="661136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624" dirty="0"/>
          </a:p>
        </p:txBody>
      </p:sp>
      <p:sp>
        <p:nvSpPr>
          <p:cNvPr id="69" name="Text 66"/>
          <p:cNvSpPr/>
          <p:nvPr/>
        </p:nvSpPr>
        <p:spPr>
          <a:xfrm>
            <a:off x="6286343" y="1076325"/>
            <a:ext cx="436967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26,3 %</a:t>
            </a:r>
            <a:endParaRPr lang="en-US" sz="1020" dirty="0"/>
          </a:p>
        </p:txBody>
      </p:sp>
      <p:sp>
        <p:nvSpPr>
          <p:cNvPr id="70" name="Text 67"/>
          <p:cNvSpPr/>
          <p:nvPr/>
        </p:nvSpPr>
        <p:spPr>
          <a:xfrm>
            <a:off x="3026493" y="2101155"/>
            <a:ext cx="70513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6.912</a:t>
            </a:r>
            <a:endParaRPr lang="en-US" sz="720" dirty="0"/>
          </a:p>
        </p:txBody>
      </p:sp>
      <p:sp>
        <p:nvSpPr>
          <p:cNvPr id="71" name="Text 68"/>
          <p:cNvSpPr/>
          <p:nvPr/>
        </p:nvSpPr>
        <p:spPr>
          <a:xfrm>
            <a:off x="2197962" y="2348805"/>
            <a:ext cx="84906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4.225</a:t>
            </a:r>
            <a:endParaRPr lang="en-US" sz="720" dirty="0"/>
          </a:p>
        </p:txBody>
      </p:sp>
      <p:sp>
        <p:nvSpPr>
          <p:cNvPr id="72" name="Text 69"/>
          <p:cNvSpPr/>
          <p:nvPr/>
        </p:nvSpPr>
        <p:spPr>
          <a:xfrm>
            <a:off x="3026493" y="2596455"/>
            <a:ext cx="70513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2.845</a:t>
            </a:r>
            <a:endParaRPr lang="en-US" sz="720" dirty="0"/>
          </a:p>
        </p:txBody>
      </p:sp>
      <p:sp>
        <p:nvSpPr>
          <p:cNvPr id="73" name="Text 70"/>
          <p:cNvSpPr/>
          <p:nvPr/>
        </p:nvSpPr>
        <p:spPr>
          <a:xfrm>
            <a:off x="4602548" y="2586930"/>
            <a:ext cx="130280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3,6 %</a:t>
            </a:r>
            <a:endParaRPr lang="en-US" sz="816" dirty="0"/>
          </a:p>
        </p:txBody>
      </p:sp>
      <p:sp>
        <p:nvSpPr>
          <p:cNvPr id="74" name="Text 71"/>
          <p:cNvSpPr/>
          <p:nvPr/>
        </p:nvSpPr>
        <p:spPr>
          <a:xfrm>
            <a:off x="4602548" y="2834580"/>
            <a:ext cx="130280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1,5 %</a:t>
            </a:r>
            <a:endParaRPr lang="en-US" sz="816" dirty="0"/>
          </a:p>
        </p:txBody>
      </p:sp>
      <p:sp>
        <p:nvSpPr>
          <p:cNvPr id="75" name="Text 72"/>
          <p:cNvSpPr/>
          <p:nvPr/>
        </p:nvSpPr>
        <p:spPr>
          <a:xfrm>
            <a:off x="4602548" y="3082230"/>
            <a:ext cx="130280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1,2 %</a:t>
            </a:r>
            <a:endParaRPr lang="en-US" sz="816" dirty="0"/>
          </a:p>
        </p:txBody>
      </p:sp>
      <p:sp>
        <p:nvSpPr>
          <p:cNvPr id="76" name="Text 73"/>
          <p:cNvSpPr/>
          <p:nvPr/>
        </p:nvSpPr>
        <p:spPr>
          <a:xfrm>
            <a:off x="2197962" y="3339405"/>
            <a:ext cx="84906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1.065</a:t>
            </a:r>
            <a:endParaRPr lang="en-US" sz="720" dirty="0"/>
          </a:p>
        </p:txBody>
      </p:sp>
      <p:sp>
        <p:nvSpPr>
          <p:cNvPr id="77" name="Text 74"/>
          <p:cNvSpPr/>
          <p:nvPr/>
        </p:nvSpPr>
        <p:spPr>
          <a:xfrm>
            <a:off x="4602548" y="3329880"/>
            <a:ext cx="130280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0,7 %</a:t>
            </a:r>
            <a:endParaRPr lang="en-US" sz="816" dirty="0"/>
          </a:p>
        </p:txBody>
      </p:sp>
      <p:sp>
        <p:nvSpPr>
          <p:cNvPr id="78" name="Text 75"/>
          <p:cNvSpPr/>
          <p:nvPr/>
        </p:nvSpPr>
        <p:spPr>
          <a:xfrm>
            <a:off x="704832" y="3558480"/>
            <a:ext cx="1563396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720" dirty="0"/>
          </a:p>
        </p:txBody>
      </p:sp>
      <p:sp>
        <p:nvSpPr>
          <p:cNvPr id="79" name="Text 76"/>
          <p:cNvSpPr/>
          <p:nvPr/>
        </p:nvSpPr>
        <p:spPr>
          <a:xfrm>
            <a:off x="4602548" y="3558480"/>
            <a:ext cx="1302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7,4 %</a:t>
            </a:r>
            <a:endParaRPr lang="en-US" sz="720" dirty="0"/>
          </a:p>
        </p:txBody>
      </p:sp>
      <p:sp>
        <p:nvSpPr>
          <p:cNvPr id="80" name="Text 77"/>
          <p:cNvSpPr/>
          <p:nvPr/>
        </p:nvSpPr>
        <p:spPr>
          <a:xfrm>
            <a:off x="1108429" y="4163318"/>
            <a:ext cx="57790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4539384" y="4381798"/>
            <a:ext cx="661136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2.245</a:t>
            </a:r>
            <a:endParaRPr lang="en-US" sz="660" dirty="0"/>
          </a:p>
        </p:txBody>
      </p:sp>
      <p:sp>
        <p:nvSpPr>
          <p:cNvPr id="82" name="Text 79"/>
          <p:cNvSpPr/>
          <p:nvPr/>
        </p:nvSpPr>
        <p:spPr>
          <a:xfrm>
            <a:off x="4539384" y="4619030"/>
            <a:ext cx="661136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2.374</a:t>
            </a:r>
            <a:endParaRPr lang="en-US" sz="660" dirty="0"/>
          </a:p>
        </p:txBody>
      </p:sp>
      <p:sp>
        <p:nvSpPr>
          <p:cNvPr id="83" name="Text 80"/>
          <p:cNvSpPr/>
          <p:nvPr/>
        </p:nvSpPr>
        <p:spPr>
          <a:xfrm>
            <a:off x="4539384" y="4856559"/>
            <a:ext cx="661136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2.431</a:t>
            </a:r>
            <a:endParaRPr lang="en-US" sz="660" dirty="0"/>
          </a:p>
        </p:txBody>
      </p:sp>
      <p:sp>
        <p:nvSpPr>
          <p:cNvPr id="84" name="Text 81"/>
          <p:cNvSpPr/>
          <p:nvPr/>
        </p:nvSpPr>
        <p:spPr>
          <a:xfrm>
            <a:off x="4539384" y="5094089"/>
            <a:ext cx="661136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2.367</a:t>
            </a:r>
            <a:endParaRPr lang="en-US" sz="660" dirty="0"/>
          </a:p>
        </p:txBody>
      </p:sp>
      <p:sp>
        <p:nvSpPr>
          <p:cNvPr id="85" name="Text 82"/>
          <p:cNvSpPr/>
          <p:nvPr/>
        </p:nvSpPr>
        <p:spPr>
          <a:xfrm>
            <a:off x="4539384" y="5331619"/>
            <a:ext cx="661136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2.186</a:t>
            </a:r>
            <a:endParaRPr lang="en-US" sz="660" dirty="0"/>
          </a:p>
        </p:txBody>
      </p:sp>
      <p:sp>
        <p:nvSpPr>
          <p:cNvPr id="86" name="Text 83"/>
          <p:cNvSpPr/>
          <p:nvPr/>
        </p:nvSpPr>
        <p:spPr>
          <a:xfrm>
            <a:off x="4539384" y="5569148"/>
            <a:ext cx="661136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2.314</a:t>
            </a:r>
            <a:endParaRPr lang="en-US" sz="660" dirty="0"/>
          </a:p>
        </p:txBody>
      </p:sp>
      <p:sp>
        <p:nvSpPr>
          <p:cNvPr id="87" name="Text 84"/>
          <p:cNvSpPr/>
          <p:nvPr/>
        </p:nvSpPr>
        <p:spPr>
          <a:xfrm>
            <a:off x="704832" y="5806678"/>
            <a:ext cx="433042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24" dirty="0"/>
          </a:p>
        </p:txBody>
      </p:sp>
      <p:sp>
        <p:nvSpPr>
          <p:cNvPr id="88" name="Text 85"/>
          <p:cNvSpPr/>
          <p:nvPr/>
        </p:nvSpPr>
        <p:spPr>
          <a:xfrm>
            <a:off x="7470708" y="5356473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</a:t>
            </a:r>
            <a:endParaRPr lang="en-US" sz="672" dirty="0"/>
          </a:p>
        </p:txBody>
      </p:sp>
      <p:sp>
        <p:nvSpPr>
          <p:cNvPr id="89" name="Text 86"/>
          <p:cNvSpPr/>
          <p:nvPr/>
        </p:nvSpPr>
        <p:spPr>
          <a:xfrm>
            <a:off x="3704357" y="2091630"/>
            <a:ext cx="9361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79 %</a:t>
            </a:r>
            <a:endParaRPr lang="en-US" sz="816" dirty="0"/>
          </a:p>
        </p:txBody>
      </p:sp>
      <p:sp>
        <p:nvSpPr>
          <p:cNvPr id="90" name="Text 87"/>
          <p:cNvSpPr/>
          <p:nvPr/>
        </p:nvSpPr>
        <p:spPr>
          <a:xfrm>
            <a:off x="3704357" y="2339280"/>
            <a:ext cx="9361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73 %</a:t>
            </a:r>
            <a:endParaRPr lang="en-US" sz="816" dirty="0"/>
          </a:p>
        </p:txBody>
      </p:sp>
      <p:sp>
        <p:nvSpPr>
          <p:cNvPr id="91" name="Text 88"/>
          <p:cNvSpPr/>
          <p:nvPr/>
        </p:nvSpPr>
        <p:spPr>
          <a:xfrm>
            <a:off x="3704357" y="2586930"/>
            <a:ext cx="9361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52 %</a:t>
            </a:r>
            <a:endParaRPr lang="en-US" sz="816" dirty="0"/>
          </a:p>
        </p:txBody>
      </p:sp>
      <p:sp>
        <p:nvSpPr>
          <p:cNvPr id="92" name="Text 89"/>
          <p:cNvSpPr/>
          <p:nvPr/>
        </p:nvSpPr>
        <p:spPr>
          <a:xfrm>
            <a:off x="3704357" y="2834580"/>
            <a:ext cx="9361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19 %</a:t>
            </a:r>
            <a:endParaRPr lang="en-US" sz="816" dirty="0"/>
          </a:p>
        </p:txBody>
      </p:sp>
      <p:sp>
        <p:nvSpPr>
          <p:cNvPr id="93" name="Text 90"/>
          <p:cNvSpPr/>
          <p:nvPr/>
        </p:nvSpPr>
        <p:spPr>
          <a:xfrm>
            <a:off x="3704357" y="3082230"/>
            <a:ext cx="9361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19 %</a:t>
            </a:r>
            <a:endParaRPr lang="en-US" sz="816" dirty="0"/>
          </a:p>
        </p:txBody>
      </p:sp>
      <p:sp>
        <p:nvSpPr>
          <p:cNvPr id="94" name="Text 91"/>
          <p:cNvSpPr/>
          <p:nvPr/>
        </p:nvSpPr>
        <p:spPr>
          <a:xfrm>
            <a:off x="3704357" y="3329880"/>
            <a:ext cx="9361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53 %</a:t>
            </a:r>
            <a:endParaRPr lang="en-US" sz="816" dirty="0"/>
          </a:p>
        </p:txBody>
      </p:sp>
      <p:sp>
        <p:nvSpPr>
          <p:cNvPr id="95" name="Text 92"/>
          <p:cNvSpPr/>
          <p:nvPr/>
        </p:nvSpPr>
        <p:spPr>
          <a:xfrm>
            <a:off x="3704357" y="3558480"/>
            <a:ext cx="93613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41 %</a:t>
            </a:r>
            <a:endParaRPr lang="en-US" sz="720" dirty="0"/>
          </a:p>
        </p:txBody>
      </p:sp>
      <p:sp>
        <p:nvSpPr>
          <p:cNvPr id="96" name="Text 93"/>
          <p:cNvSpPr/>
          <p:nvPr/>
        </p:nvSpPr>
        <p:spPr>
          <a:xfrm>
            <a:off x="2376620" y="4367510"/>
            <a:ext cx="698539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100%</a:t>
            </a:r>
            <a:endParaRPr lang="en-US" sz="816" dirty="0"/>
          </a:p>
        </p:txBody>
      </p:sp>
      <p:sp>
        <p:nvSpPr>
          <p:cNvPr id="97" name="Text 94"/>
          <p:cNvSpPr/>
          <p:nvPr/>
        </p:nvSpPr>
        <p:spPr>
          <a:xfrm>
            <a:off x="2376620" y="5079802"/>
            <a:ext cx="698539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100%</a:t>
            </a:r>
            <a:endParaRPr lang="en-US" sz="816" dirty="0"/>
          </a:p>
        </p:txBody>
      </p:sp>
      <p:sp>
        <p:nvSpPr>
          <p:cNvPr id="98" name="Text 95"/>
          <p:cNvSpPr/>
          <p:nvPr/>
        </p:nvSpPr>
        <p:spPr>
          <a:xfrm>
            <a:off x="2376620" y="5317331"/>
            <a:ext cx="698539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100%</a:t>
            </a:r>
            <a:endParaRPr lang="en-US" sz="816" dirty="0"/>
          </a:p>
        </p:txBody>
      </p:sp>
      <p:sp>
        <p:nvSpPr>
          <p:cNvPr id="99" name="Text 96"/>
          <p:cNvSpPr/>
          <p:nvPr/>
        </p:nvSpPr>
        <p:spPr>
          <a:xfrm>
            <a:off x="3026493" y="2348805"/>
            <a:ext cx="70513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803</a:t>
            </a:r>
            <a:endParaRPr lang="en-US" sz="720" dirty="0"/>
          </a:p>
        </p:txBody>
      </p:sp>
      <p:sp>
        <p:nvSpPr>
          <p:cNvPr id="100" name="Text 97"/>
          <p:cNvSpPr/>
          <p:nvPr/>
        </p:nvSpPr>
        <p:spPr>
          <a:xfrm>
            <a:off x="3026493" y="2844105"/>
            <a:ext cx="70513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324</a:t>
            </a:r>
            <a:endParaRPr lang="en-US" sz="720" dirty="0"/>
          </a:p>
        </p:txBody>
      </p:sp>
      <p:sp>
        <p:nvSpPr>
          <p:cNvPr id="101" name="Text 98"/>
          <p:cNvSpPr/>
          <p:nvPr/>
        </p:nvSpPr>
        <p:spPr>
          <a:xfrm>
            <a:off x="704832" y="4163318"/>
            <a:ext cx="433042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02" name="Text 99"/>
          <p:cNvSpPr/>
          <p:nvPr/>
        </p:nvSpPr>
        <p:spPr>
          <a:xfrm>
            <a:off x="704832" y="4381798"/>
            <a:ext cx="433042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660" dirty="0"/>
          </a:p>
        </p:txBody>
      </p:sp>
      <p:sp>
        <p:nvSpPr>
          <p:cNvPr id="103" name="Text 100"/>
          <p:cNvSpPr/>
          <p:nvPr/>
        </p:nvSpPr>
        <p:spPr>
          <a:xfrm>
            <a:off x="3884781" y="4367510"/>
            <a:ext cx="673859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22%</a:t>
            </a:r>
            <a:endParaRPr lang="en-US" sz="816" dirty="0"/>
          </a:p>
        </p:txBody>
      </p:sp>
      <p:sp>
        <p:nvSpPr>
          <p:cNvPr id="104" name="Text 101"/>
          <p:cNvSpPr/>
          <p:nvPr/>
        </p:nvSpPr>
        <p:spPr>
          <a:xfrm>
            <a:off x="5179375" y="4367510"/>
            <a:ext cx="725977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10%</a:t>
            </a:r>
            <a:endParaRPr lang="en-US" sz="816" dirty="0"/>
          </a:p>
        </p:txBody>
      </p:sp>
      <p:sp>
        <p:nvSpPr>
          <p:cNvPr id="105" name="Text 102"/>
          <p:cNvSpPr/>
          <p:nvPr/>
        </p:nvSpPr>
        <p:spPr>
          <a:xfrm>
            <a:off x="704832" y="4619030"/>
            <a:ext cx="433042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660" dirty="0"/>
          </a:p>
        </p:txBody>
      </p:sp>
      <p:sp>
        <p:nvSpPr>
          <p:cNvPr id="106" name="Text 103"/>
          <p:cNvSpPr/>
          <p:nvPr/>
        </p:nvSpPr>
        <p:spPr>
          <a:xfrm>
            <a:off x="2376620" y="4604742"/>
            <a:ext cx="698539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99%</a:t>
            </a:r>
            <a:endParaRPr lang="en-US" sz="816" dirty="0"/>
          </a:p>
        </p:txBody>
      </p:sp>
      <p:sp>
        <p:nvSpPr>
          <p:cNvPr id="107" name="Text 104"/>
          <p:cNvSpPr/>
          <p:nvPr/>
        </p:nvSpPr>
        <p:spPr>
          <a:xfrm>
            <a:off x="3884781" y="4604742"/>
            <a:ext cx="673859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44%</a:t>
            </a:r>
            <a:endParaRPr lang="en-US" sz="816" dirty="0"/>
          </a:p>
        </p:txBody>
      </p:sp>
      <p:sp>
        <p:nvSpPr>
          <p:cNvPr id="108" name="Text 105"/>
          <p:cNvSpPr/>
          <p:nvPr/>
        </p:nvSpPr>
        <p:spPr>
          <a:xfrm>
            <a:off x="5179375" y="4604742"/>
            <a:ext cx="725977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11%</a:t>
            </a:r>
            <a:endParaRPr lang="en-US" sz="816" dirty="0"/>
          </a:p>
        </p:txBody>
      </p:sp>
      <p:sp>
        <p:nvSpPr>
          <p:cNvPr id="109" name="Text 106"/>
          <p:cNvSpPr/>
          <p:nvPr/>
        </p:nvSpPr>
        <p:spPr>
          <a:xfrm>
            <a:off x="704832" y="4856559"/>
            <a:ext cx="433042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660" dirty="0"/>
          </a:p>
        </p:txBody>
      </p:sp>
      <p:sp>
        <p:nvSpPr>
          <p:cNvPr id="110" name="Text 107"/>
          <p:cNvSpPr/>
          <p:nvPr/>
        </p:nvSpPr>
        <p:spPr>
          <a:xfrm>
            <a:off x="2376620" y="4842272"/>
            <a:ext cx="698539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96%</a:t>
            </a:r>
            <a:endParaRPr lang="en-US" sz="816" dirty="0"/>
          </a:p>
        </p:txBody>
      </p:sp>
      <p:sp>
        <p:nvSpPr>
          <p:cNvPr id="111" name="Text 108"/>
          <p:cNvSpPr/>
          <p:nvPr/>
        </p:nvSpPr>
        <p:spPr>
          <a:xfrm>
            <a:off x="3884781" y="4842272"/>
            <a:ext cx="673859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45%</a:t>
            </a:r>
            <a:endParaRPr lang="en-US" sz="816" dirty="0"/>
          </a:p>
        </p:txBody>
      </p:sp>
      <p:sp>
        <p:nvSpPr>
          <p:cNvPr id="112" name="Text 109"/>
          <p:cNvSpPr/>
          <p:nvPr/>
        </p:nvSpPr>
        <p:spPr>
          <a:xfrm>
            <a:off x="704832" y="5094089"/>
            <a:ext cx="433042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660" dirty="0"/>
          </a:p>
        </p:txBody>
      </p:sp>
      <p:sp>
        <p:nvSpPr>
          <p:cNvPr id="113" name="Text 110"/>
          <p:cNvSpPr/>
          <p:nvPr/>
        </p:nvSpPr>
        <p:spPr>
          <a:xfrm>
            <a:off x="3884781" y="5079802"/>
            <a:ext cx="673859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60%</a:t>
            </a:r>
            <a:endParaRPr lang="en-US" sz="816" dirty="0"/>
          </a:p>
        </p:txBody>
      </p:sp>
      <p:sp>
        <p:nvSpPr>
          <p:cNvPr id="114" name="Text 111"/>
          <p:cNvSpPr/>
          <p:nvPr/>
        </p:nvSpPr>
        <p:spPr>
          <a:xfrm>
            <a:off x="5179375" y="5079802"/>
            <a:ext cx="725977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10%</a:t>
            </a:r>
            <a:endParaRPr lang="en-US" sz="816" dirty="0"/>
          </a:p>
        </p:txBody>
      </p:sp>
      <p:sp>
        <p:nvSpPr>
          <p:cNvPr id="115" name="Text 112"/>
          <p:cNvSpPr/>
          <p:nvPr/>
        </p:nvSpPr>
        <p:spPr>
          <a:xfrm>
            <a:off x="704832" y="5331619"/>
            <a:ext cx="433042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660" dirty="0"/>
          </a:p>
        </p:txBody>
      </p:sp>
      <p:sp>
        <p:nvSpPr>
          <p:cNvPr id="116" name="Text 113"/>
          <p:cNvSpPr/>
          <p:nvPr/>
        </p:nvSpPr>
        <p:spPr>
          <a:xfrm>
            <a:off x="3884781" y="5317331"/>
            <a:ext cx="673859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65%</a:t>
            </a:r>
            <a:endParaRPr lang="en-US" sz="816" dirty="0"/>
          </a:p>
        </p:txBody>
      </p:sp>
      <p:sp>
        <p:nvSpPr>
          <p:cNvPr id="117" name="Text 114"/>
          <p:cNvSpPr/>
          <p:nvPr/>
        </p:nvSpPr>
        <p:spPr>
          <a:xfrm>
            <a:off x="704832" y="5569148"/>
            <a:ext cx="433042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660" dirty="0"/>
          </a:p>
        </p:txBody>
      </p:sp>
      <p:sp>
        <p:nvSpPr>
          <p:cNvPr id="118" name="Text 115"/>
          <p:cNvSpPr/>
          <p:nvPr/>
        </p:nvSpPr>
        <p:spPr>
          <a:xfrm>
            <a:off x="2376620" y="5554861"/>
            <a:ext cx="698539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93%</a:t>
            </a:r>
            <a:endParaRPr lang="en-US" sz="816" dirty="0"/>
          </a:p>
        </p:txBody>
      </p:sp>
      <p:sp>
        <p:nvSpPr>
          <p:cNvPr id="119" name="Text 116"/>
          <p:cNvSpPr/>
          <p:nvPr/>
        </p:nvSpPr>
        <p:spPr>
          <a:xfrm>
            <a:off x="3884781" y="5554861"/>
            <a:ext cx="673859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46%</a:t>
            </a:r>
            <a:endParaRPr lang="en-US" sz="816" dirty="0"/>
          </a:p>
        </p:txBody>
      </p:sp>
      <p:sp>
        <p:nvSpPr>
          <p:cNvPr id="120" name="Text 117"/>
          <p:cNvSpPr/>
          <p:nvPr/>
        </p:nvSpPr>
        <p:spPr>
          <a:xfrm>
            <a:off x="2376620" y="5792391"/>
            <a:ext cx="698539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98%</a:t>
            </a:r>
            <a:endParaRPr lang="en-US" sz="816" dirty="0"/>
          </a:p>
        </p:txBody>
      </p:sp>
      <p:sp>
        <p:nvSpPr>
          <p:cNvPr id="121" name="Text 118"/>
          <p:cNvSpPr/>
          <p:nvPr/>
        </p:nvSpPr>
        <p:spPr>
          <a:xfrm>
            <a:off x="3884781" y="5792391"/>
            <a:ext cx="673859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42%</a:t>
            </a:r>
            <a:endParaRPr lang="en-US" sz="816" dirty="0"/>
          </a:p>
        </p:txBody>
      </p:sp>
      <p:sp>
        <p:nvSpPr>
          <p:cNvPr id="122" name="Text 119"/>
          <p:cNvSpPr/>
          <p:nvPr/>
        </p:nvSpPr>
        <p:spPr>
          <a:xfrm>
            <a:off x="11292522" y="219878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49%</a:t>
            </a:r>
            <a:endParaRPr lang="en-US" sz="672" dirty="0"/>
          </a:p>
        </p:txBody>
      </p:sp>
      <p:sp>
        <p:nvSpPr>
          <p:cNvPr id="123" name="Text 120"/>
          <p:cNvSpPr/>
          <p:nvPr/>
        </p:nvSpPr>
        <p:spPr>
          <a:xfrm>
            <a:off x="11293153" y="2725043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29%</a:t>
            </a:r>
            <a:endParaRPr lang="en-US" sz="672" dirty="0"/>
          </a:p>
        </p:txBody>
      </p:sp>
      <p:sp>
        <p:nvSpPr>
          <p:cNvPr id="124" name="Text 121"/>
          <p:cNvSpPr/>
          <p:nvPr/>
        </p:nvSpPr>
        <p:spPr>
          <a:xfrm>
            <a:off x="3026493" y="3091755"/>
            <a:ext cx="70513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720" dirty="0"/>
          </a:p>
        </p:txBody>
      </p:sp>
      <p:sp>
        <p:nvSpPr>
          <p:cNvPr id="125" name="Text 122"/>
          <p:cNvSpPr/>
          <p:nvPr/>
        </p:nvSpPr>
        <p:spPr>
          <a:xfrm>
            <a:off x="5179375" y="4842272"/>
            <a:ext cx="725977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7%</a:t>
            </a:r>
            <a:endParaRPr lang="en-US" sz="816" dirty="0"/>
          </a:p>
        </p:txBody>
      </p:sp>
      <p:sp>
        <p:nvSpPr>
          <p:cNvPr id="126" name="Text 123"/>
          <p:cNvSpPr/>
          <p:nvPr/>
        </p:nvSpPr>
        <p:spPr>
          <a:xfrm>
            <a:off x="5179375" y="5317331"/>
            <a:ext cx="725977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9%</a:t>
            </a:r>
            <a:endParaRPr lang="en-US" sz="816" dirty="0"/>
          </a:p>
        </p:txBody>
      </p:sp>
      <p:sp>
        <p:nvSpPr>
          <p:cNvPr id="127" name="Text 124"/>
          <p:cNvSpPr/>
          <p:nvPr/>
        </p:nvSpPr>
        <p:spPr>
          <a:xfrm>
            <a:off x="5179375" y="5554861"/>
            <a:ext cx="725977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8%</a:t>
            </a:r>
            <a:endParaRPr lang="en-US" sz="816" dirty="0"/>
          </a:p>
        </p:txBody>
      </p:sp>
      <p:sp>
        <p:nvSpPr>
          <p:cNvPr id="128" name="Text 125"/>
          <p:cNvSpPr/>
          <p:nvPr/>
        </p:nvSpPr>
        <p:spPr>
          <a:xfrm>
            <a:off x="5179375" y="5792391"/>
            <a:ext cx="725977" cy="1238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9%</a:t>
            </a:r>
            <a:endParaRPr lang="en-US" sz="816" dirty="0"/>
          </a:p>
        </p:txBody>
      </p:sp>
      <p:sp>
        <p:nvSpPr>
          <p:cNvPr id="129" name="Text 126"/>
          <p:cNvSpPr/>
          <p:nvPr/>
        </p:nvSpPr>
        <p:spPr>
          <a:xfrm>
            <a:off x="11345685" y="3251299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4%</a:t>
            </a:r>
            <a:endParaRPr lang="en-US" sz="672" dirty="0"/>
          </a:p>
        </p:txBody>
      </p:sp>
      <p:sp>
        <p:nvSpPr>
          <p:cNvPr id="130" name="Text 127"/>
          <p:cNvSpPr/>
          <p:nvPr/>
        </p:nvSpPr>
        <p:spPr>
          <a:xfrm>
            <a:off x="11345685" y="377755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4%</a:t>
            </a:r>
            <a:endParaRPr lang="en-US" sz="672" dirty="0"/>
          </a:p>
        </p:txBody>
      </p:sp>
      <p:sp>
        <p:nvSpPr>
          <p:cNvPr id="131" name="Text 128"/>
          <p:cNvSpPr/>
          <p:nvPr/>
        </p:nvSpPr>
        <p:spPr>
          <a:xfrm>
            <a:off x="11346947" y="4303961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3%</a:t>
            </a:r>
            <a:endParaRPr lang="en-US" sz="672" dirty="0"/>
          </a:p>
        </p:txBody>
      </p:sp>
      <p:sp>
        <p:nvSpPr>
          <p:cNvPr id="132" name="Text 129"/>
          <p:cNvSpPr/>
          <p:nvPr/>
        </p:nvSpPr>
        <p:spPr>
          <a:xfrm>
            <a:off x="11346947" y="483021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3%</a:t>
            </a:r>
            <a:endParaRPr lang="en-US" sz="672" dirty="0"/>
          </a:p>
        </p:txBody>
      </p:sp>
      <p:sp>
        <p:nvSpPr>
          <p:cNvPr id="133" name="Text 130"/>
          <p:cNvSpPr/>
          <p:nvPr/>
        </p:nvSpPr>
        <p:spPr>
          <a:xfrm>
            <a:off x="11342687" y="5356473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8%</a:t>
            </a:r>
            <a:endParaRPr lang="en-US" sz="672" dirty="0"/>
          </a:p>
        </p:txBody>
      </p:sp>
      <p:sp>
        <p:nvSpPr>
          <p:cNvPr id="134" name="Text 131"/>
          <p:cNvSpPr/>
          <p:nvPr/>
        </p:nvSpPr>
        <p:spPr>
          <a:xfrm>
            <a:off x="3026493" y="3339405"/>
            <a:ext cx="70513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7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5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42951" y="6482804"/>
            <a:ext cx="41419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estrategia de cabinas dedicadas logró una tasa de crecimiento de (+553%)</a:t>
            </a:r>
            <a:endParaRPr lang="en-US" sz="840" dirty="0"/>
          </a:p>
        </p:txBody>
      </p:sp>
      <p:sp>
        <p:nvSpPr>
          <p:cNvPr id="4" name="Text 1"/>
          <p:cNvSpPr/>
          <p:nvPr/>
        </p:nvSpPr>
        <p:spPr>
          <a:xfrm>
            <a:off x="9774102" y="5585520"/>
            <a:ext cx="173181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4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63,8 % de la base total · 7.460 registros descartados</a:t>
            </a:r>
            <a:endParaRPr lang="en-US" sz="540" dirty="0"/>
          </a:p>
        </p:txBody>
      </p:sp>
      <p:sp>
        <p:nvSpPr>
          <p:cNvPr id="5" name="Text 2"/>
          <p:cNvSpPr/>
          <p:nvPr/>
        </p:nvSpPr>
        <p:spPr>
          <a:xfrm>
            <a:off x="6257769" y="3619500"/>
            <a:ext cx="25087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¿Por qué se descartaron? (tipificación rechazos)</a:t>
            </a:r>
            <a:endParaRPr lang="en-US" sz="816" dirty="0"/>
          </a:p>
        </p:txBody>
      </p:sp>
      <p:sp>
        <p:nvSpPr>
          <p:cNvPr id="6" name="Text 3"/>
          <p:cNvSpPr/>
          <p:nvPr/>
        </p:nvSpPr>
        <p:spPr>
          <a:xfrm>
            <a:off x="571486" y="209550"/>
            <a:ext cx="3731025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Campaña Autogestión · Histórico y Análisis</a:t>
            </a:r>
            <a:endParaRPr lang="en-US" sz="1260" dirty="0"/>
          </a:p>
        </p:txBody>
      </p:sp>
      <p:sp>
        <p:nvSpPr>
          <p:cNvPr id="7" name="Text 4"/>
          <p:cNvSpPr/>
          <p:nvPr/>
        </p:nvSpPr>
        <p:spPr>
          <a:xfrm>
            <a:off x="723882" y="1272480"/>
            <a:ext cx="163605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Solicitudes de financiación autogestionada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6173608" y="4160937"/>
            <a:ext cx="11820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Recibido Anteriormente</a:t>
            </a:r>
            <a:endParaRPr lang="en-US" sz="576" dirty="0"/>
          </a:p>
        </p:txBody>
      </p:sp>
      <p:sp>
        <p:nvSpPr>
          <p:cNvPr id="9" name="Text 6"/>
          <p:cNvSpPr/>
          <p:nvPr/>
        </p:nvSpPr>
        <p:spPr>
          <a:xfrm>
            <a:off x="9067573" y="962025"/>
            <a:ext cx="18310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Vs. promedio general del canal</a:t>
            </a:r>
            <a:endParaRPr lang="en-US" sz="696" dirty="0"/>
          </a:p>
        </p:txBody>
      </p:sp>
      <p:sp>
        <p:nvSpPr>
          <p:cNvPr id="10" name="Text 7"/>
          <p:cNvSpPr/>
          <p:nvPr/>
        </p:nvSpPr>
        <p:spPr>
          <a:xfrm>
            <a:off x="6198527" y="4635847"/>
            <a:ext cx="11545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1" name="Text 8"/>
          <p:cNvSpPr/>
          <p:nvPr/>
        </p:nvSpPr>
        <p:spPr>
          <a:xfrm>
            <a:off x="809605" y="3977580"/>
            <a:ext cx="163857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Autogestión por asesor</a:t>
            </a:r>
            <a:endParaRPr lang="en-US" sz="816" dirty="0"/>
          </a:p>
        </p:txBody>
      </p:sp>
      <p:sp>
        <p:nvSpPr>
          <p:cNvPr id="12" name="Text 9"/>
          <p:cNvSpPr/>
          <p:nvPr/>
        </p:nvSpPr>
        <p:spPr>
          <a:xfrm>
            <a:off x="6381590" y="1548705"/>
            <a:ext cx="170183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Crecimiento mensual de ventas</a:t>
            </a:r>
            <a:endParaRPr lang="en-US" sz="816" dirty="0"/>
          </a:p>
        </p:txBody>
      </p:sp>
      <p:sp>
        <p:nvSpPr>
          <p:cNvPr id="13" name="Text 10"/>
          <p:cNvSpPr/>
          <p:nvPr/>
        </p:nvSpPr>
        <p:spPr>
          <a:xfrm>
            <a:off x="6286343" y="1272480"/>
            <a:ext cx="10548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7.460 registros descartados</a:t>
            </a:r>
            <a:endParaRPr lang="en-US" sz="600" dirty="0"/>
          </a:p>
        </p:txBody>
      </p:sp>
      <p:sp>
        <p:nvSpPr>
          <p:cNvPr id="14" name="Text 11"/>
          <p:cNvSpPr/>
          <p:nvPr/>
        </p:nvSpPr>
        <p:spPr>
          <a:xfrm>
            <a:off x="9067573" y="1272480"/>
            <a:ext cx="9861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Convierte 3.2 veces mejor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3505112" y="1272480"/>
            <a:ext cx="9755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26,3 % sobre contactados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6381590" y="5737920"/>
            <a:ext cx="146662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Qué cambió en la gestión</a:t>
            </a:r>
            <a:endParaRPr lang="en-US" sz="720" dirty="0"/>
          </a:p>
        </p:txBody>
      </p:sp>
      <p:sp>
        <p:nvSpPr>
          <p:cNvPr id="17" name="Text 14"/>
          <p:cNvSpPr/>
          <p:nvPr/>
        </p:nvSpPr>
        <p:spPr>
          <a:xfrm>
            <a:off x="6519556" y="3923556"/>
            <a:ext cx="833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Activa</a:t>
            </a:r>
            <a:endParaRPr lang="en-US" sz="576" dirty="0"/>
          </a:p>
        </p:txBody>
      </p:sp>
      <p:sp>
        <p:nvSpPr>
          <p:cNvPr id="18" name="Text 15"/>
          <p:cNvSpPr/>
          <p:nvPr/>
        </p:nvSpPr>
        <p:spPr>
          <a:xfrm>
            <a:off x="685783" y="5044380"/>
            <a:ext cx="1418538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Joelis J. Barros </a:t>
            </a:r>
            <a:pPr algn="l" indent="0" marL="0">
              <a:buNone/>
            </a:pPr>
            <a:r>
              <a:rPr lang="en-US" sz="540" b="1" dirty="0">
                <a:solidFill>
                  <a:srgbClr val="04003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4ª</a:t>
            </a:r>
            <a:endParaRPr lang="en-US" sz="696" dirty="0"/>
          </a:p>
        </p:txBody>
      </p:sp>
      <p:sp>
        <p:nvSpPr>
          <p:cNvPr id="19" name="Text 16"/>
          <p:cNvSpPr/>
          <p:nvPr/>
        </p:nvSpPr>
        <p:spPr>
          <a:xfrm>
            <a:off x="6646075" y="5110609"/>
            <a:ext cx="70704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Microseguro Activo</a:t>
            </a:r>
            <a:endParaRPr lang="en-US" sz="576" dirty="0"/>
          </a:p>
        </p:txBody>
      </p:sp>
      <p:sp>
        <p:nvSpPr>
          <p:cNvPr id="20" name="Text 17"/>
          <p:cNvSpPr/>
          <p:nvPr/>
        </p:nvSpPr>
        <p:spPr>
          <a:xfrm>
            <a:off x="9062317" y="6137970"/>
            <a:ext cx="99573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Sobremarcación OCM</a:t>
            </a:r>
            <a:endParaRPr lang="en-US" sz="696" dirty="0"/>
          </a:p>
        </p:txBody>
      </p:sp>
      <p:sp>
        <p:nvSpPr>
          <p:cNvPr id="21" name="Text 18"/>
          <p:cNvSpPr/>
          <p:nvPr/>
        </p:nvSpPr>
        <p:spPr>
          <a:xfrm>
            <a:off x="685783" y="4644330"/>
            <a:ext cx="1418538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Melissa P. Orozco</a:t>
            </a:r>
            <a:endParaRPr lang="en-US" sz="696" dirty="0"/>
          </a:p>
        </p:txBody>
      </p:sp>
      <p:sp>
        <p:nvSpPr>
          <p:cNvPr id="22" name="Text 19"/>
          <p:cNvSpPr/>
          <p:nvPr/>
        </p:nvSpPr>
        <p:spPr>
          <a:xfrm>
            <a:off x="838179" y="1577280"/>
            <a:ext cx="99588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Histórico mensual</a:t>
            </a:r>
            <a:endParaRPr lang="en-US" sz="816" dirty="0"/>
          </a:p>
        </p:txBody>
      </p:sp>
      <p:sp>
        <p:nvSpPr>
          <p:cNvPr id="23" name="Text 20"/>
          <p:cNvSpPr/>
          <p:nvPr/>
        </p:nvSpPr>
        <p:spPr>
          <a:xfrm>
            <a:off x="6679361" y="4398466"/>
            <a:ext cx="67375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Contrato Repetido</a:t>
            </a:r>
            <a:endParaRPr lang="en-US" sz="576" dirty="0"/>
          </a:p>
        </p:txBody>
      </p:sp>
      <p:sp>
        <p:nvSpPr>
          <p:cNvPr id="24" name="Text 21"/>
          <p:cNvSpPr/>
          <p:nvPr/>
        </p:nvSpPr>
        <p:spPr>
          <a:xfrm>
            <a:off x="6683778" y="4873228"/>
            <a:ext cx="6693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Localidad Errónea</a:t>
            </a:r>
            <a:endParaRPr lang="en-US" sz="576" dirty="0"/>
          </a:p>
        </p:txBody>
      </p:sp>
      <p:sp>
        <p:nvSpPr>
          <p:cNvPr id="25" name="Text 22"/>
          <p:cNvSpPr/>
          <p:nvPr/>
        </p:nvSpPr>
        <p:spPr>
          <a:xfrm>
            <a:off x="685783" y="5243066"/>
            <a:ext cx="1418538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4 asesores</a:t>
            </a:r>
            <a:endParaRPr lang="en-US" sz="672" dirty="0"/>
          </a:p>
        </p:txBody>
      </p:sp>
      <p:sp>
        <p:nvSpPr>
          <p:cNvPr id="26" name="Text 23"/>
          <p:cNvSpPr/>
          <p:nvPr/>
        </p:nvSpPr>
        <p:spPr>
          <a:xfrm>
            <a:off x="6286343" y="962025"/>
            <a:ext cx="10653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Rechazo promedio</a:t>
            </a:r>
            <a:endParaRPr lang="en-US" sz="696" dirty="0"/>
          </a:p>
        </p:txBody>
      </p:sp>
      <p:sp>
        <p:nvSpPr>
          <p:cNvPr id="27" name="Text 24"/>
          <p:cNvSpPr/>
          <p:nvPr/>
        </p:nvSpPr>
        <p:spPr>
          <a:xfrm>
            <a:off x="7826951" y="6137970"/>
            <a:ext cx="7529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Foco: 3 asesores</a:t>
            </a:r>
            <a:endParaRPr lang="en-US" sz="696" dirty="0"/>
          </a:p>
        </p:txBody>
      </p:sp>
      <p:sp>
        <p:nvSpPr>
          <p:cNvPr id="28" name="Text 25"/>
          <p:cNvSpPr/>
          <p:nvPr/>
        </p:nvSpPr>
        <p:spPr>
          <a:xfrm>
            <a:off x="685783" y="4444305"/>
            <a:ext cx="1418538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Jesús D. Cortés</a:t>
            </a:r>
            <a:endParaRPr lang="en-US" sz="696" dirty="0"/>
          </a:p>
        </p:txBody>
      </p:sp>
      <p:sp>
        <p:nvSpPr>
          <p:cNvPr id="29" name="Text 26"/>
          <p:cNvSpPr/>
          <p:nvPr/>
        </p:nvSpPr>
        <p:spPr>
          <a:xfrm>
            <a:off x="6798307" y="5348139"/>
            <a:ext cx="55480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(&lt;1% c/u)</a:t>
            </a:r>
            <a:endParaRPr lang="en-US" sz="576" dirty="0"/>
          </a:p>
        </p:txBody>
      </p:sp>
      <p:sp>
        <p:nvSpPr>
          <p:cNvPr id="30" name="Text 27"/>
          <p:cNvSpPr/>
          <p:nvPr/>
        </p:nvSpPr>
        <p:spPr>
          <a:xfrm>
            <a:off x="685783" y="4844355"/>
            <a:ext cx="1418538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Luisa L. Percy</a:t>
            </a:r>
            <a:endParaRPr lang="en-US" sz="696" dirty="0"/>
          </a:p>
        </p:txBody>
      </p:sp>
      <p:sp>
        <p:nvSpPr>
          <p:cNvPr id="31" name="Text 28"/>
          <p:cNvSpPr/>
          <p:nvPr/>
        </p:nvSpPr>
        <p:spPr>
          <a:xfrm>
            <a:off x="723882" y="962025"/>
            <a:ext cx="791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(1S)</a:t>
            </a:r>
            <a:endParaRPr lang="en-US" sz="696" dirty="0"/>
          </a:p>
        </p:txBody>
      </p:sp>
      <p:sp>
        <p:nvSpPr>
          <p:cNvPr id="32" name="Text 29"/>
          <p:cNvSpPr/>
          <p:nvPr/>
        </p:nvSpPr>
        <p:spPr>
          <a:xfrm>
            <a:off x="6563513" y="6137970"/>
            <a:ext cx="56600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Sin focalizar</a:t>
            </a:r>
            <a:endParaRPr lang="en-US" sz="696" dirty="0"/>
          </a:p>
        </p:txBody>
      </p:sp>
      <p:sp>
        <p:nvSpPr>
          <p:cNvPr id="33" name="Text 30"/>
          <p:cNvSpPr/>
          <p:nvPr/>
        </p:nvSpPr>
        <p:spPr>
          <a:xfrm>
            <a:off x="10640004" y="6137970"/>
            <a:ext cx="5540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+1 asesor (4)</a:t>
            </a:r>
            <a:endParaRPr lang="en-US" sz="696" dirty="0"/>
          </a:p>
        </p:txBody>
      </p:sp>
      <p:sp>
        <p:nvSpPr>
          <p:cNvPr id="34" name="Text 31"/>
          <p:cNvSpPr/>
          <p:nvPr/>
        </p:nvSpPr>
        <p:spPr>
          <a:xfrm>
            <a:off x="3505112" y="962025"/>
            <a:ext cx="6231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(1S)</a:t>
            </a:r>
            <a:endParaRPr lang="en-US" sz="696" dirty="0"/>
          </a:p>
        </p:txBody>
      </p:sp>
      <p:sp>
        <p:nvSpPr>
          <p:cNvPr id="35" name="Text 32"/>
          <p:cNvSpPr/>
          <p:nvPr/>
        </p:nvSpPr>
        <p:spPr>
          <a:xfrm>
            <a:off x="4337178" y="1834455"/>
            <a:ext cx="75663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5068609" y="1834455"/>
            <a:ext cx="86531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1347528" y="1834455"/>
            <a:ext cx="7026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</a:t>
            </a:r>
            <a:endParaRPr lang="en-US" sz="888" dirty="0"/>
          </a:p>
        </p:txBody>
      </p:sp>
      <p:sp>
        <p:nvSpPr>
          <p:cNvPr id="38" name="Text 35"/>
          <p:cNvSpPr/>
          <p:nvPr/>
        </p:nvSpPr>
        <p:spPr>
          <a:xfrm>
            <a:off x="2032886" y="1834455"/>
            <a:ext cx="59460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Rechazo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2611752" y="1834455"/>
            <a:ext cx="54049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Rech.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6660527" y="6052245"/>
            <a:ext cx="37213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Ene–Feb</a:t>
            </a:r>
            <a:endParaRPr lang="en-US" sz="624" dirty="0"/>
          </a:p>
        </p:txBody>
      </p:sp>
      <p:sp>
        <p:nvSpPr>
          <p:cNvPr id="41" name="Text 38"/>
          <p:cNvSpPr/>
          <p:nvPr/>
        </p:nvSpPr>
        <p:spPr>
          <a:xfrm>
            <a:off x="9371041" y="6052245"/>
            <a:ext cx="37828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Abr–May</a:t>
            </a:r>
            <a:endParaRPr lang="en-US" sz="624" dirty="0"/>
          </a:p>
        </p:txBody>
      </p:sp>
      <p:sp>
        <p:nvSpPr>
          <p:cNvPr id="42" name="Text 39"/>
          <p:cNvSpPr/>
          <p:nvPr/>
        </p:nvSpPr>
        <p:spPr>
          <a:xfrm>
            <a:off x="3710649" y="1834455"/>
            <a:ext cx="64856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2611752" y="2082105"/>
            <a:ext cx="54049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41,2 %</a:t>
            </a:r>
            <a:endParaRPr lang="en-US" sz="720" dirty="0"/>
          </a:p>
        </p:txBody>
      </p:sp>
      <p:sp>
        <p:nvSpPr>
          <p:cNvPr id="44" name="Text 41"/>
          <p:cNvSpPr/>
          <p:nvPr/>
        </p:nvSpPr>
        <p:spPr>
          <a:xfrm>
            <a:off x="4337178" y="2082105"/>
            <a:ext cx="75663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80,9 %</a:t>
            </a:r>
            <a:endParaRPr lang="en-US" sz="720" dirty="0"/>
          </a:p>
        </p:txBody>
      </p:sp>
      <p:sp>
        <p:nvSpPr>
          <p:cNvPr id="45" name="Text 42"/>
          <p:cNvSpPr/>
          <p:nvPr/>
        </p:nvSpPr>
        <p:spPr>
          <a:xfrm>
            <a:off x="5068609" y="2072580"/>
            <a:ext cx="8653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30,7 %</a:t>
            </a:r>
            <a:endParaRPr lang="en-US" sz="816" dirty="0"/>
          </a:p>
        </p:txBody>
      </p:sp>
      <p:sp>
        <p:nvSpPr>
          <p:cNvPr id="46" name="Text 43"/>
          <p:cNvSpPr/>
          <p:nvPr/>
        </p:nvSpPr>
        <p:spPr>
          <a:xfrm>
            <a:off x="2611752" y="2329755"/>
            <a:ext cx="54049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57,9 %</a:t>
            </a:r>
            <a:endParaRPr lang="en-US" sz="720" dirty="0"/>
          </a:p>
        </p:txBody>
      </p:sp>
      <p:sp>
        <p:nvSpPr>
          <p:cNvPr id="47" name="Text 44"/>
          <p:cNvSpPr/>
          <p:nvPr/>
        </p:nvSpPr>
        <p:spPr>
          <a:xfrm>
            <a:off x="4337178" y="2329755"/>
            <a:ext cx="75663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81,3 %</a:t>
            </a:r>
            <a:endParaRPr lang="en-US" sz="720" dirty="0"/>
          </a:p>
        </p:txBody>
      </p:sp>
      <p:sp>
        <p:nvSpPr>
          <p:cNvPr id="48" name="Text 45"/>
          <p:cNvSpPr/>
          <p:nvPr/>
        </p:nvSpPr>
        <p:spPr>
          <a:xfrm>
            <a:off x="5068609" y="2320230"/>
            <a:ext cx="8653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32,4 %</a:t>
            </a:r>
            <a:endParaRPr lang="en-US" sz="816" dirty="0"/>
          </a:p>
        </p:txBody>
      </p:sp>
      <p:sp>
        <p:nvSpPr>
          <p:cNvPr id="49" name="Text 46"/>
          <p:cNvSpPr/>
          <p:nvPr/>
        </p:nvSpPr>
        <p:spPr>
          <a:xfrm>
            <a:off x="2611752" y="2577405"/>
            <a:ext cx="54049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63,8 %</a:t>
            </a:r>
            <a:endParaRPr lang="en-US" sz="720" dirty="0"/>
          </a:p>
        </p:txBody>
      </p:sp>
      <p:sp>
        <p:nvSpPr>
          <p:cNvPr id="50" name="Text 47"/>
          <p:cNvSpPr/>
          <p:nvPr/>
        </p:nvSpPr>
        <p:spPr>
          <a:xfrm>
            <a:off x="4337178" y="2577405"/>
            <a:ext cx="75663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76,3 %</a:t>
            </a:r>
            <a:endParaRPr lang="en-US" sz="720" dirty="0"/>
          </a:p>
        </p:txBody>
      </p:sp>
      <p:sp>
        <p:nvSpPr>
          <p:cNvPr id="51" name="Text 48"/>
          <p:cNvSpPr/>
          <p:nvPr/>
        </p:nvSpPr>
        <p:spPr>
          <a:xfrm>
            <a:off x="5068609" y="2567880"/>
            <a:ext cx="8653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18,4 %</a:t>
            </a:r>
            <a:endParaRPr lang="en-US" sz="816" dirty="0"/>
          </a:p>
        </p:txBody>
      </p:sp>
      <p:sp>
        <p:nvSpPr>
          <p:cNvPr id="52" name="Text 49"/>
          <p:cNvSpPr/>
          <p:nvPr/>
        </p:nvSpPr>
        <p:spPr>
          <a:xfrm>
            <a:off x="2611752" y="2825055"/>
            <a:ext cx="54049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58,3 %</a:t>
            </a:r>
            <a:endParaRPr lang="en-US" sz="720" dirty="0"/>
          </a:p>
        </p:txBody>
      </p:sp>
      <p:sp>
        <p:nvSpPr>
          <p:cNvPr id="53" name="Text 50"/>
          <p:cNvSpPr/>
          <p:nvPr/>
        </p:nvSpPr>
        <p:spPr>
          <a:xfrm>
            <a:off x="4337178" y="2825055"/>
            <a:ext cx="75663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71,0 %</a:t>
            </a:r>
            <a:endParaRPr lang="en-US" sz="720" dirty="0"/>
          </a:p>
        </p:txBody>
      </p:sp>
      <p:sp>
        <p:nvSpPr>
          <p:cNvPr id="54" name="Text 51"/>
          <p:cNvSpPr/>
          <p:nvPr/>
        </p:nvSpPr>
        <p:spPr>
          <a:xfrm>
            <a:off x="5068609" y="2815530"/>
            <a:ext cx="8653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20,4 %</a:t>
            </a:r>
            <a:endParaRPr lang="en-US" sz="816" dirty="0"/>
          </a:p>
        </p:txBody>
      </p:sp>
      <p:sp>
        <p:nvSpPr>
          <p:cNvPr id="55" name="Text 52"/>
          <p:cNvSpPr/>
          <p:nvPr/>
        </p:nvSpPr>
        <p:spPr>
          <a:xfrm>
            <a:off x="2611752" y="3072705"/>
            <a:ext cx="54049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60,4 %</a:t>
            </a:r>
            <a:endParaRPr lang="en-US" sz="720" dirty="0"/>
          </a:p>
        </p:txBody>
      </p:sp>
      <p:sp>
        <p:nvSpPr>
          <p:cNvPr id="56" name="Text 53"/>
          <p:cNvSpPr/>
          <p:nvPr/>
        </p:nvSpPr>
        <p:spPr>
          <a:xfrm>
            <a:off x="4337178" y="3072705"/>
            <a:ext cx="75663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75,8 %</a:t>
            </a:r>
            <a:endParaRPr lang="en-US" sz="720" dirty="0"/>
          </a:p>
        </p:txBody>
      </p:sp>
      <p:sp>
        <p:nvSpPr>
          <p:cNvPr id="57" name="Text 54"/>
          <p:cNvSpPr/>
          <p:nvPr/>
        </p:nvSpPr>
        <p:spPr>
          <a:xfrm>
            <a:off x="5068609" y="3063180"/>
            <a:ext cx="8653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33,0 %</a:t>
            </a:r>
            <a:endParaRPr lang="en-US" sz="816" dirty="0"/>
          </a:p>
        </p:txBody>
      </p:sp>
      <p:sp>
        <p:nvSpPr>
          <p:cNvPr id="58" name="Text 55"/>
          <p:cNvSpPr/>
          <p:nvPr/>
        </p:nvSpPr>
        <p:spPr>
          <a:xfrm>
            <a:off x="2611752" y="3320355"/>
            <a:ext cx="54049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69,4 %</a:t>
            </a:r>
            <a:endParaRPr lang="en-US" sz="720" dirty="0"/>
          </a:p>
        </p:txBody>
      </p:sp>
      <p:sp>
        <p:nvSpPr>
          <p:cNvPr id="59" name="Text 56"/>
          <p:cNvSpPr/>
          <p:nvPr/>
        </p:nvSpPr>
        <p:spPr>
          <a:xfrm>
            <a:off x="4337178" y="3320355"/>
            <a:ext cx="75663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68,4 %</a:t>
            </a:r>
            <a:endParaRPr lang="en-US" sz="720" dirty="0"/>
          </a:p>
        </p:txBody>
      </p:sp>
      <p:sp>
        <p:nvSpPr>
          <p:cNvPr id="60" name="Text 57"/>
          <p:cNvSpPr/>
          <p:nvPr/>
        </p:nvSpPr>
        <p:spPr>
          <a:xfrm>
            <a:off x="5068609" y="3310830"/>
            <a:ext cx="8653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27,6 %</a:t>
            </a:r>
            <a:endParaRPr lang="en-US" sz="816" dirty="0"/>
          </a:p>
        </p:txBody>
      </p:sp>
      <p:sp>
        <p:nvSpPr>
          <p:cNvPr id="61" name="Text 58"/>
          <p:cNvSpPr/>
          <p:nvPr/>
        </p:nvSpPr>
        <p:spPr>
          <a:xfrm>
            <a:off x="1347528" y="3568005"/>
            <a:ext cx="70267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11.685</a:t>
            </a:r>
            <a:endParaRPr lang="en-US" sz="720" dirty="0"/>
          </a:p>
        </p:txBody>
      </p:sp>
      <p:sp>
        <p:nvSpPr>
          <p:cNvPr id="62" name="Text 59"/>
          <p:cNvSpPr/>
          <p:nvPr/>
        </p:nvSpPr>
        <p:spPr>
          <a:xfrm>
            <a:off x="2611752" y="3568005"/>
            <a:ext cx="54049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63,8 %</a:t>
            </a:r>
            <a:endParaRPr lang="en-US" sz="720" dirty="0"/>
          </a:p>
        </p:txBody>
      </p:sp>
      <p:sp>
        <p:nvSpPr>
          <p:cNvPr id="63" name="Text 60"/>
          <p:cNvSpPr/>
          <p:nvPr/>
        </p:nvSpPr>
        <p:spPr>
          <a:xfrm>
            <a:off x="4337178" y="3568005"/>
            <a:ext cx="75663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72,4 %</a:t>
            </a:r>
            <a:endParaRPr lang="en-US" sz="720" dirty="0"/>
          </a:p>
        </p:txBody>
      </p:sp>
      <p:sp>
        <p:nvSpPr>
          <p:cNvPr id="64" name="Text 61"/>
          <p:cNvSpPr/>
          <p:nvPr/>
        </p:nvSpPr>
        <p:spPr>
          <a:xfrm>
            <a:off x="5068609" y="3558480"/>
            <a:ext cx="8653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26,3 %</a:t>
            </a:r>
            <a:endParaRPr lang="en-US" sz="816" dirty="0"/>
          </a:p>
        </p:txBody>
      </p:sp>
      <p:sp>
        <p:nvSpPr>
          <p:cNvPr id="65" name="Text 62"/>
          <p:cNvSpPr/>
          <p:nvPr/>
        </p:nvSpPr>
        <p:spPr>
          <a:xfrm>
            <a:off x="685783" y="4215705"/>
            <a:ext cx="141853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</a:t>
            </a:r>
            <a:endParaRPr lang="en-US" sz="888" dirty="0"/>
          </a:p>
        </p:txBody>
      </p:sp>
      <p:sp>
        <p:nvSpPr>
          <p:cNvPr id="66" name="Text 63"/>
          <p:cNvSpPr/>
          <p:nvPr/>
        </p:nvSpPr>
        <p:spPr>
          <a:xfrm>
            <a:off x="723882" y="1085850"/>
            <a:ext cx="436809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11.685</a:t>
            </a:r>
            <a:endParaRPr lang="en-US" sz="1020" dirty="0"/>
          </a:p>
        </p:txBody>
      </p:sp>
      <p:sp>
        <p:nvSpPr>
          <p:cNvPr id="67" name="Text 64"/>
          <p:cNvSpPr/>
          <p:nvPr/>
        </p:nvSpPr>
        <p:spPr>
          <a:xfrm>
            <a:off x="6286343" y="1085850"/>
            <a:ext cx="439491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63,8 %</a:t>
            </a:r>
            <a:endParaRPr lang="en-US" sz="1020" dirty="0"/>
          </a:p>
        </p:txBody>
      </p:sp>
      <p:sp>
        <p:nvSpPr>
          <p:cNvPr id="68" name="Text 65"/>
          <p:cNvSpPr/>
          <p:nvPr/>
        </p:nvSpPr>
        <p:spPr>
          <a:xfrm>
            <a:off x="3134931" y="1834455"/>
            <a:ext cx="59460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69" name="Text 66"/>
          <p:cNvSpPr/>
          <p:nvPr/>
        </p:nvSpPr>
        <p:spPr>
          <a:xfrm>
            <a:off x="1347528" y="2577405"/>
            <a:ext cx="70267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1.864</a:t>
            </a:r>
            <a:endParaRPr lang="en-US" sz="720" dirty="0"/>
          </a:p>
        </p:txBody>
      </p:sp>
      <p:sp>
        <p:nvSpPr>
          <p:cNvPr id="70" name="Text 67"/>
          <p:cNvSpPr/>
          <p:nvPr/>
        </p:nvSpPr>
        <p:spPr>
          <a:xfrm>
            <a:off x="2032886" y="2577405"/>
            <a:ext cx="59460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1.189</a:t>
            </a:r>
            <a:endParaRPr lang="en-US" sz="720" dirty="0"/>
          </a:p>
        </p:txBody>
      </p:sp>
      <p:sp>
        <p:nvSpPr>
          <p:cNvPr id="71" name="Text 68"/>
          <p:cNvSpPr/>
          <p:nvPr/>
        </p:nvSpPr>
        <p:spPr>
          <a:xfrm>
            <a:off x="1347528" y="2825055"/>
            <a:ext cx="70267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1.950</a:t>
            </a:r>
            <a:endParaRPr lang="en-US" sz="720" dirty="0"/>
          </a:p>
        </p:txBody>
      </p:sp>
      <p:sp>
        <p:nvSpPr>
          <p:cNvPr id="72" name="Text 69"/>
          <p:cNvSpPr/>
          <p:nvPr/>
        </p:nvSpPr>
        <p:spPr>
          <a:xfrm>
            <a:off x="2032886" y="2825055"/>
            <a:ext cx="59460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1.137</a:t>
            </a:r>
            <a:endParaRPr lang="en-US" sz="720" dirty="0"/>
          </a:p>
        </p:txBody>
      </p:sp>
      <p:sp>
        <p:nvSpPr>
          <p:cNvPr id="73" name="Text 70"/>
          <p:cNvSpPr/>
          <p:nvPr/>
        </p:nvSpPr>
        <p:spPr>
          <a:xfrm>
            <a:off x="1347528" y="3072705"/>
            <a:ext cx="70267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2.203</a:t>
            </a:r>
            <a:endParaRPr lang="en-US" sz="720" dirty="0"/>
          </a:p>
        </p:txBody>
      </p:sp>
      <p:sp>
        <p:nvSpPr>
          <p:cNvPr id="74" name="Text 71"/>
          <p:cNvSpPr/>
          <p:nvPr/>
        </p:nvSpPr>
        <p:spPr>
          <a:xfrm>
            <a:off x="2032886" y="3072705"/>
            <a:ext cx="59460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1.331</a:t>
            </a:r>
            <a:endParaRPr lang="en-US" sz="720" dirty="0"/>
          </a:p>
        </p:txBody>
      </p:sp>
      <p:sp>
        <p:nvSpPr>
          <p:cNvPr id="75" name="Text 72"/>
          <p:cNvSpPr/>
          <p:nvPr/>
        </p:nvSpPr>
        <p:spPr>
          <a:xfrm>
            <a:off x="1347528" y="3320355"/>
            <a:ext cx="70267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4.968</a:t>
            </a:r>
            <a:endParaRPr lang="en-US" sz="720" dirty="0"/>
          </a:p>
        </p:txBody>
      </p:sp>
      <p:sp>
        <p:nvSpPr>
          <p:cNvPr id="76" name="Text 73"/>
          <p:cNvSpPr/>
          <p:nvPr/>
        </p:nvSpPr>
        <p:spPr>
          <a:xfrm>
            <a:off x="2032886" y="3320355"/>
            <a:ext cx="59460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3.447</a:t>
            </a:r>
            <a:endParaRPr lang="en-US" sz="720" dirty="0"/>
          </a:p>
        </p:txBody>
      </p:sp>
      <p:sp>
        <p:nvSpPr>
          <p:cNvPr id="77" name="Text 74"/>
          <p:cNvSpPr/>
          <p:nvPr/>
        </p:nvSpPr>
        <p:spPr>
          <a:xfrm>
            <a:off x="3134931" y="3320355"/>
            <a:ext cx="59460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1.521</a:t>
            </a:r>
            <a:endParaRPr lang="en-US" sz="720" dirty="0"/>
          </a:p>
        </p:txBody>
      </p:sp>
      <p:sp>
        <p:nvSpPr>
          <p:cNvPr id="78" name="Text 75"/>
          <p:cNvSpPr/>
          <p:nvPr/>
        </p:nvSpPr>
        <p:spPr>
          <a:xfrm>
            <a:off x="685783" y="3568005"/>
            <a:ext cx="70267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744" dirty="0"/>
          </a:p>
        </p:txBody>
      </p:sp>
      <p:sp>
        <p:nvSpPr>
          <p:cNvPr id="79" name="Text 76"/>
          <p:cNvSpPr/>
          <p:nvPr/>
        </p:nvSpPr>
        <p:spPr>
          <a:xfrm>
            <a:off x="2032886" y="3568005"/>
            <a:ext cx="59460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7.460</a:t>
            </a:r>
            <a:endParaRPr lang="en-US" sz="720" dirty="0"/>
          </a:p>
        </p:txBody>
      </p:sp>
      <p:sp>
        <p:nvSpPr>
          <p:cNvPr id="80" name="Text 77"/>
          <p:cNvSpPr/>
          <p:nvPr/>
        </p:nvSpPr>
        <p:spPr>
          <a:xfrm>
            <a:off x="3134931" y="3568005"/>
            <a:ext cx="59460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4.225</a:t>
            </a:r>
            <a:endParaRPr lang="en-US" sz="720" dirty="0"/>
          </a:p>
        </p:txBody>
      </p:sp>
      <p:sp>
        <p:nvSpPr>
          <p:cNvPr id="81" name="Text 78"/>
          <p:cNvSpPr/>
          <p:nvPr/>
        </p:nvSpPr>
        <p:spPr>
          <a:xfrm>
            <a:off x="5291185" y="4234755"/>
            <a:ext cx="642741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72" dirty="0"/>
          </a:p>
        </p:txBody>
      </p:sp>
      <p:sp>
        <p:nvSpPr>
          <p:cNvPr id="82" name="Text 79"/>
          <p:cNvSpPr/>
          <p:nvPr/>
        </p:nvSpPr>
        <p:spPr>
          <a:xfrm>
            <a:off x="8343394" y="270033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+111%</a:t>
            </a:r>
            <a:endParaRPr lang="en-US" sz="624" dirty="0"/>
          </a:p>
        </p:txBody>
      </p:sp>
      <p:sp>
        <p:nvSpPr>
          <p:cNvPr id="83" name="Text 80"/>
          <p:cNvSpPr/>
          <p:nvPr/>
        </p:nvSpPr>
        <p:spPr>
          <a:xfrm>
            <a:off x="11275130" y="3923556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62.3%</a:t>
            </a:r>
            <a:endParaRPr lang="en-US" sz="576" dirty="0"/>
          </a:p>
        </p:txBody>
      </p:sp>
      <p:sp>
        <p:nvSpPr>
          <p:cNvPr id="84" name="Text 81"/>
          <p:cNvSpPr/>
          <p:nvPr/>
        </p:nvSpPr>
        <p:spPr>
          <a:xfrm>
            <a:off x="11282860" y="416093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14.2%</a:t>
            </a:r>
            <a:endParaRPr lang="en-US" sz="576" dirty="0"/>
          </a:p>
        </p:txBody>
      </p:sp>
      <p:sp>
        <p:nvSpPr>
          <p:cNvPr id="85" name="Text 82"/>
          <p:cNvSpPr/>
          <p:nvPr/>
        </p:nvSpPr>
        <p:spPr>
          <a:xfrm>
            <a:off x="9067573" y="1085850"/>
            <a:ext cx="275427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3.2×</a:t>
            </a:r>
            <a:endParaRPr lang="en-US" sz="1020" dirty="0"/>
          </a:p>
        </p:txBody>
      </p:sp>
      <p:sp>
        <p:nvSpPr>
          <p:cNvPr id="86" name="Text 83"/>
          <p:cNvSpPr/>
          <p:nvPr/>
        </p:nvSpPr>
        <p:spPr>
          <a:xfrm>
            <a:off x="9223988" y="257591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+21%</a:t>
            </a:r>
            <a:endParaRPr lang="en-US" sz="624" dirty="0"/>
          </a:p>
        </p:txBody>
      </p:sp>
      <p:sp>
        <p:nvSpPr>
          <p:cNvPr id="87" name="Text 84"/>
          <p:cNvSpPr/>
          <p:nvPr/>
        </p:nvSpPr>
        <p:spPr>
          <a:xfrm>
            <a:off x="10081514" y="1936849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+90%</a:t>
            </a:r>
            <a:endParaRPr lang="en-US" sz="624" dirty="0"/>
          </a:p>
        </p:txBody>
      </p:sp>
      <p:sp>
        <p:nvSpPr>
          <p:cNvPr id="88" name="Text 85"/>
          <p:cNvSpPr/>
          <p:nvPr/>
        </p:nvSpPr>
        <p:spPr>
          <a:xfrm>
            <a:off x="10948714" y="1852761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+32%</a:t>
            </a:r>
            <a:endParaRPr lang="en-US" sz="624" dirty="0"/>
          </a:p>
        </p:txBody>
      </p:sp>
      <p:sp>
        <p:nvSpPr>
          <p:cNvPr id="89" name="Text 86"/>
          <p:cNvSpPr/>
          <p:nvPr/>
        </p:nvSpPr>
        <p:spPr>
          <a:xfrm>
            <a:off x="11318512" y="4398466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8.2%</a:t>
            </a:r>
            <a:endParaRPr lang="en-US" sz="576" dirty="0"/>
          </a:p>
        </p:txBody>
      </p:sp>
      <p:sp>
        <p:nvSpPr>
          <p:cNvPr id="90" name="Text 87"/>
          <p:cNvSpPr/>
          <p:nvPr/>
        </p:nvSpPr>
        <p:spPr>
          <a:xfrm>
            <a:off x="11318354" y="463584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6.2%</a:t>
            </a:r>
            <a:endParaRPr lang="en-US" sz="576" dirty="0"/>
          </a:p>
        </p:txBody>
      </p:sp>
      <p:sp>
        <p:nvSpPr>
          <p:cNvPr id="91" name="Text 88"/>
          <p:cNvSpPr/>
          <p:nvPr/>
        </p:nvSpPr>
        <p:spPr>
          <a:xfrm>
            <a:off x="11317881" y="487322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4.6%</a:t>
            </a:r>
            <a:endParaRPr lang="en-US" sz="576" dirty="0"/>
          </a:p>
        </p:txBody>
      </p:sp>
      <p:sp>
        <p:nvSpPr>
          <p:cNvPr id="92" name="Text 89"/>
          <p:cNvSpPr/>
          <p:nvPr/>
        </p:nvSpPr>
        <p:spPr>
          <a:xfrm>
            <a:off x="11332552" y="5110609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1.1%</a:t>
            </a:r>
            <a:endParaRPr lang="en-US" sz="576" dirty="0"/>
          </a:p>
        </p:txBody>
      </p:sp>
      <p:sp>
        <p:nvSpPr>
          <p:cNvPr id="93" name="Text 90"/>
          <p:cNvSpPr/>
          <p:nvPr/>
        </p:nvSpPr>
        <p:spPr>
          <a:xfrm>
            <a:off x="11321667" y="5348139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3.4%</a:t>
            </a:r>
            <a:endParaRPr lang="en-US" sz="576" dirty="0"/>
          </a:p>
        </p:txBody>
      </p:sp>
      <p:sp>
        <p:nvSpPr>
          <p:cNvPr id="94" name="Text 91"/>
          <p:cNvSpPr/>
          <p:nvPr/>
        </p:nvSpPr>
        <p:spPr>
          <a:xfrm>
            <a:off x="685783" y="1834455"/>
            <a:ext cx="7026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95" name="Text 92"/>
          <p:cNvSpPr/>
          <p:nvPr/>
        </p:nvSpPr>
        <p:spPr>
          <a:xfrm>
            <a:off x="685783" y="2082105"/>
            <a:ext cx="70267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744" dirty="0"/>
          </a:p>
        </p:txBody>
      </p:sp>
      <p:sp>
        <p:nvSpPr>
          <p:cNvPr id="96" name="Text 93"/>
          <p:cNvSpPr/>
          <p:nvPr/>
        </p:nvSpPr>
        <p:spPr>
          <a:xfrm>
            <a:off x="1347528" y="2082105"/>
            <a:ext cx="70267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294</a:t>
            </a:r>
            <a:endParaRPr lang="en-US" sz="720" dirty="0"/>
          </a:p>
        </p:txBody>
      </p:sp>
      <p:sp>
        <p:nvSpPr>
          <p:cNvPr id="97" name="Text 94"/>
          <p:cNvSpPr/>
          <p:nvPr/>
        </p:nvSpPr>
        <p:spPr>
          <a:xfrm>
            <a:off x="2032886" y="2082105"/>
            <a:ext cx="59460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121</a:t>
            </a:r>
            <a:endParaRPr lang="en-US" sz="720" dirty="0"/>
          </a:p>
        </p:txBody>
      </p:sp>
      <p:sp>
        <p:nvSpPr>
          <p:cNvPr id="98" name="Text 95"/>
          <p:cNvSpPr/>
          <p:nvPr/>
        </p:nvSpPr>
        <p:spPr>
          <a:xfrm>
            <a:off x="3134931" y="2082105"/>
            <a:ext cx="59460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173</a:t>
            </a:r>
            <a:endParaRPr lang="en-US" sz="720" dirty="0"/>
          </a:p>
        </p:txBody>
      </p:sp>
      <p:sp>
        <p:nvSpPr>
          <p:cNvPr id="99" name="Text 96"/>
          <p:cNvSpPr/>
          <p:nvPr/>
        </p:nvSpPr>
        <p:spPr>
          <a:xfrm>
            <a:off x="685783" y="2329755"/>
            <a:ext cx="70267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744" dirty="0"/>
          </a:p>
        </p:txBody>
      </p:sp>
      <p:sp>
        <p:nvSpPr>
          <p:cNvPr id="100" name="Text 97"/>
          <p:cNvSpPr/>
          <p:nvPr/>
        </p:nvSpPr>
        <p:spPr>
          <a:xfrm>
            <a:off x="1347528" y="2329755"/>
            <a:ext cx="70267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406</a:t>
            </a:r>
            <a:endParaRPr lang="en-US" sz="720" dirty="0"/>
          </a:p>
        </p:txBody>
      </p:sp>
      <p:sp>
        <p:nvSpPr>
          <p:cNvPr id="101" name="Text 98"/>
          <p:cNvSpPr/>
          <p:nvPr/>
        </p:nvSpPr>
        <p:spPr>
          <a:xfrm>
            <a:off x="2032886" y="2329755"/>
            <a:ext cx="59460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235</a:t>
            </a:r>
            <a:endParaRPr lang="en-US" sz="720" dirty="0"/>
          </a:p>
        </p:txBody>
      </p:sp>
      <p:sp>
        <p:nvSpPr>
          <p:cNvPr id="102" name="Text 99"/>
          <p:cNvSpPr/>
          <p:nvPr/>
        </p:nvSpPr>
        <p:spPr>
          <a:xfrm>
            <a:off x="3134931" y="2329755"/>
            <a:ext cx="59460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171</a:t>
            </a:r>
            <a:endParaRPr lang="en-US" sz="720" dirty="0"/>
          </a:p>
        </p:txBody>
      </p:sp>
      <p:sp>
        <p:nvSpPr>
          <p:cNvPr id="103" name="Text 100"/>
          <p:cNvSpPr/>
          <p:nvPr/>
        </p:nvSpPr>
        <p:spPr>
          <a:xfrm>
            <a:off x="685783" y="2577405"/>
            <a:ext cx="70267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744" dirty="0"/>
          </a:p>
        </p:txBody>
      </p:sp>
      <p:sp>
        <p:nvSpPr>
          <p:cNvPr id="104" name="Text 101"/>
          <p:cNvSpPr/>
          <p:nvPr/>
        </p:nvSpPr>
        <p:spPr>
          <a:xfrm>
            <a:off x="3134931" y="2577405"/>
            <a:ext cx="59460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675</a:t>
            </a:r>
            <a:endParaRPr lang="en-US" sz="720" dirty="0"/>
          </a:p>
        </p:txBody>
      </p:sp>
      <p:sp>
        <p:nvSpPr>
          <p:cNvPr id="105" name="Text 102"/>
          <p:cNvSpPr/>
          <p:nvPr/>
        </p:nvSpPr>
        <p:spPr>
          <a:xfrm>
            <a:off x="685783" y="2825055"/>
            <a:ext cx="70267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744" dirty="0"/>
          </a:p>
        </p:txBody>
      </p:sp>
      <p:sp>
        <p:nvSpPr>
          <p:cNvPr id="106" name="Text 103"/>
          <p:cNvSpPr/>
          <p:nvPr/>
        </p:nvSpPr>
        <p:spPr>
          <a:xfrm>
            <a:off x="3134931" y="2825055"/>
            <a:ext cx="59460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813</a:t>
            </a:r>
            <a:endParaRPr lang="en-US" sz="720" dirty="0"/>
          </a:p>
        </p:txBody>
      </p:sp>
      <p:sp>
        <p:nvSpPr>
          <p:cNvPr id="107" name="Text 104"/>
          <p:cNvSpPr/>
          <p:nvPr/>
        </p:nvSpPr>
        <p:spPr>
          <a:xfrm>
            <a:off x="3710649" y="2825055"/>
            <a:ext cx="648566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115</a:t>
            </a:r>
            <a:endParaRPr lang="en-US" sz="720" dirty="0"/>
          </a:p>
        </p:txBody>
      </p:sp>
      <p:sp>
        <p:nvSpPr>
          <p:cNvPr id="108" name="Text 105"/>
          <p:cNvSpPr/>
          <p:nvPr/>
        </p:nvSpPr>
        <p:spPr>
          <a:xfrm>
            <a:off x="685783" y="3072705"/>
            <a:ext cx="70267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744" dirty="0"/>
          </a:p>
        </p:txBody>
      </p:sp>
      <p:sp>
        <p:nvSpPr>
          <p:cNvPr id="109" name="Text 106"/>
          <p:cNvSpPr/>
          <p:nvPr/>
        </p:nvSpPr>
        <p:spPr>
          <a:xfrm>
            <a:off x="3134931" y="3072705"/>
            <a:ext cx="59460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872</a:t>
            </a:r>
            <a:endParaRPr lang="en-US" sz="720" dirty="0"/>
          </a:p>
        </p:txBody>
      </p:sp>
      <p:sp>
        <p:nvSpPr>
          <p:cNvPr id="110" name="Text 107"/>
          <p:cNvSpPr/>
          <p:nvPr/>
        </p:nvSpPr>
        <p:spPr>
          <a:xfrm>
            <a:off x="3710649" y="3072705"/>
            <a:ext cx="648566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218</a:t>
            </a:r>
            <a:endParaRPr lang="en-US" sz="720" dirty="0"/>
          </a:p>
        </p:txBody>
      </p:sp>
      <p:sp>
        <p:nvSpPr>
          <p:cNvPr id="111" name="Text 108"/>
          <p:cNvSpPr/>
          <p:nvPr/>
        </p:nvSpPr>
        <p:spPr>
          <a:xfrm>
            <a:off x="685783" y="3320355"/>
            <a:ext cx="70267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744" dirty="0"/>
          </a:p>
        </p:txBody>
      </p:sp>
      <p:sp>
        <p:nvSpPr>
          <p:cNvPr id="112" name="Text 109"/>
          <p:cNvSpPr/>
          <p:nvPr/>
        </p:nvSpPr>
        <p:spPr>
          <a:xfrm>
            <a:off x="3710649" y="3320355"/>
            <a:ext cx="648566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287</a:t>
            </a:r>
            <a:endParaRPr lang="en-US" sz="720" dirty="0"/>
          </a:p>
        </p:txBody>
      </p:sp>
      <p:sp>
        <p:nvSpPr>
          <p:cNvPr id="113" name="Text 110"/>
          <p:cNvSpPr/>
          <p:nvPr/>
        </p:nvSpPr>
        <p:spPr>
          <a:xfrm>
            <a:off x="3710649" y="3568005"/>
            <a:ext cx="648566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803</a:t>
            </a:r>
            <a:endParaRPr lang="en-US" sz="720" dirty="0"/>
          </a:p>
        </p:txBody>
      </p:sp>
      <p:sp>
        <p:nvSpPr>
          <p:cNvPr id="114" name="Text 111"/>
          <p:cNvSpPr/>
          <p:nvPr/>
        </p:nvSpPr>
        <p:spPr>
          <a:xfrm>
            <a:off x="2046743" y="4234755"/>
            <a:ext cx="558279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672" dirty="0"/>
          </a:p>
        </p:txBody>
      </p:sp>
      <p:sp>
        <p:nvSpPr>
          <p:cNvPr id="115" name="Text 112"/>
          <p:cNvSpPr/>
          <p:nvPr/>
        </p:nvSpPr>
        <p:spPr>
          <a:xfrm>
            <a:off x="2588847" y="4234755"/>
            <a:ext cx="55536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672" dirty="0"/>
          </a:p>
        </p:txBody>
      </p:sp>
      <p:sp>
        <p:nvSpPr>
          <p:cNvPr id="116" name="Text 113"/>
          <p:cNvSpPr/>
          <p:nvPr/>
        </p:nvSpPr>
        <p:spPr>
          <a:xfrm>
            <a:off x="3127886" y="4234755"/>
            <a:ext cx="560578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672" dirty="0"/>
          </a:p>
        </p:txBody>
      </p:sp>
      <p:sp>
        <p:nvSpPr>
          <p:cNvPr id="117" name="Text 114"/>
          <p:cNvSpPr/>
          <p:nvPr/>
        </p:nvSpPr>
        <p:spPr>
          <a:xfrm>
            <a:off x="3672583" y="4234755"/>
            <a:ext cx="545249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672" dirty="0"/>
          </a:p>
        </p:txBody>
      </p:sp>
      <p:sp>
        <p:nvSpPr>
          <p:cNvPr id="118" name="Text 115"/>
          <p:cNvSpPr/>
          <p:nvPr/>
        </p:nvSpPr>
        <p:spPr>
          <a:xfrm>
            <a:off x="4201000" y="4234755"/>
            <a:ext cx="577900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672" dirty="0"/>
          </a:p>
        </p:txBody>
      </p:sp>
      <p:sp>
        <p:nvSpPr>
          <p:cNvPr id="119" name="Text 116"/>
          <p:cNvSpPr/>
          <p:nvPr/>
        </p:nvSpPr>
        <p:spPr>
          <a:xfrm>
            <a:off x="4762970" y="4234755"/>
            <a:ext cx="54693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672" dirty="0"/>
          </a:p>
        </p:txBody>
      </p:sp>
      <p:sp>
        <p:nvSpPr>
          <p:cNvPr id="120" name="Text 117"/>
          <p:cNvSpPr/>
          <p:nvPr/>
        </p:nvSpPr>
        <p:spPr>
          <a:xfrm>
            <a:off x="4201000" y="4444305"/>
            <a:ext cx="577900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101</a:t>
            </a:r>
            <a:endParaRPr lang="en-US" sz="672" dirty="0"/>
          </a:p>
        </p:txBody>
      </p:sp>
      <p:sp>
        <p:nvSpPr>
          <p:cNvPr id="121" name="Text 118"/>
          <p:cNvSpPr/>
          <p:nvPr/>
        </p:nvSpPr>
        <p:spPr>
          <a:xfrm>
            <a:off x="5291185" y="4439543"/>
            <a:ext cx="64274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255</a:t>
            </a:r>
            <a:endParaRPr lang="en-US" sz="696" dirty="0"/>
          </a:p>
        </p:txBody>
      </p:sp>
      <p:sp>
        <p:nvSpPr>
          <p:cNvPr id="122" name="Text 119"/>
          <p:cNvSpPr/>
          <p:nvPr/>
        </p:nvSpPr>
        <p:spPr>
          <a:xfrm>
            <a:off x="5291185" y="4639568"/>
            <a:ext cx="64274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165</a:t>
            </a:r>
            <a:endParaRPr lang="en-US" sz="696" dirty="0"/>
          </a:p>
        </p:txBody>
      </p:sp>
      <p:sp>
        <p:nvSpPr>
          <p:cNvPr id="123" name="Text 120"/>
          <p:cNvSpPr/>
          <p:nvPr/>
        </p:nvSpPr>
        <p:spPr>
          <a:xfrm>
            <a:off x="5291185" y="4839593"/>
            <a:ext cx="64274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138</a:t>
            </a:r>
            <a:endParaRPr lang="en-US" sz="696" dirty="0"/>
          </a:p>
        </p:txBody>
      </p:sp>
      <p:sp>
        <p:nvSpPr>
          <p:cNvPr id="124" name="Text 121"/>
          <p:cNvSpPr/>
          <p:nvPr/>
        </p:nvSpPr>
        <p:spPr>
          <a:xfrm>
            <a:off x="4201000" y="5243066"/>
            <a:ext cx="577900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204</a:t>
            </a:r>
            <a:endParaRPr lang="en-US" sz="672" dirty="0"/>
          </a:p>
        </p:txBody>
      </p:sp>
      <p:sp>
        <p:nvSpPr>
          <p:cNvPr id="125" name="Text 122"/>
          <p:cNvSpPr/>
          <p:nvPr/>
        </p:nvSpPr>
        <p:spPr>
          <a:xfrm>
            <a:off x="4762970" y="5243066"/>
            <a:ext cx="54693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266</a:t>
            </a:r>
            <a:endParaRPr lang="en-US" sz="672" dirty="0"/>
          </a:p>
        </p:txBody>
      </p:sp>
      <p:sp>
        <p:nvSpPr>
          <p:cNvPr id="126" name="Text 123"/>
          <p:cNvSpPr/>
          <p:nvPr/>
        </p:nvSpPr>
        <p:spPr>
          <a:xfrm>
            <a:off x="5291185" y="5238304"/>
            <a:ext cx="64274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605</a:t>
            </a:r>
            <a:endParaRPr lang="en-US" sz="696" dirty="0"/>
          </a:p>
        </p:txBody>
      </p:sp>
      <p:sp>
        <p:nvSpPr>
          <p:cNvPr id="127" name="Text 124"/>
          <p:cNvSpPr/>
          <p:nvPr/>
        </p:nvSpPr>
        <p:spPr>
          <a:xfrm>
            <a:off x="3505112" y="1085850"/>
            <a:ext cx="27432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803</a:t>
            </a:r>
            <a:endParaRPr lang="en-US" sz="1020" dirty="0"/>
          </a:p>
        </p:txBody>
      </p:sp>
      <p:sp>
        <p:nvSpPr>
          <p:cNvPr id="128" name="Text 125"/>
          <p:cNvSpPr/>
          <p:nvPr/>
        </p:nvSpPr>
        <p:spPr>
          <a:xfrm>
            <a:off x="6643224" y="34194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696" dirty="0"/>
          </a:p>
        </p:txBody>
      </p:sp>
      <p:sp>
        <p:nvSpPr>
          <p:cNvPr id="129" name="Text 126"/>
          <p:cNvSpPr/>
          <p:nvPr/>
        </p:nvSpPr>
        <p:spPr>
          <a:xfrm>
            <a:off x="7516525" y="3002161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+5%</a:t>
            </a:r>
            <a:endParaRPr lang="en-US" sz="624" dirty="0"/>
          </a:p>
        </p:txBody>
      </p:sp>
      <p:sp>
        <p:nvSpPr>
          <p:cNvPr id="130" name="Text 127"/>
          <p:cNvSpPr/>
          <p:nvPr/>
        </p:nvSpPr>
        <p:spPr>
          <a:xfrm>
            <a:off x="7507745" y="34194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696" dirty="0"/>
          </a:p>
        </p:txBody>
      </p:sp>
      <p:sp>
        <p:nvSpPr>
          <p:cNvPr id="131" name="Text 128"/>
          <p:cNvSpPr/>
          <p:nvPr/>
        </p:nvSpPr>
        <p:spPr>
          <a:xfrm>
            <a:off x="8369438" y="34194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696" dirty="0"/>
          </a:p>
        </p:txBody>
      </p:sp>
      <p:sp>
        <p:nvSpPr>
          <p:cNvPr id="132" name="Text 129"/>
          <p:cNvSpPr/>
          <p:nvPr/>
        </p:nvSpPr>
        <p:spPr>
          <a:xfrm>
            <a:off x="9238126" y="2462361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115</a:t>
            </a:r>
            <a:endParaRPr lang="en-US" sz="744" dirty="0"/>
          </a:p>
        </p:txBody>
      </p:sp>
      <p:sp>
        <p:nvSpPr>
          <p:cNvPr id="133" name="Text 130"/>
          <p:cNvSpPr/>
          <p:nvPr/>
        </p:nvSpPr>
        <p:spPr>
          <a:xfrm>
            <a:off x="9238573" y="34194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696" dirty="0"/>
          </a:p>
        </p:txBody>
      </p:sp>
      <p:sp>
        <p:nvSpPr>
          <p:cNvPr id="134" name="Text 131"/>
          <p:cNvSpPr/>
          <p:nvPr/>
        </p:nvSpPr>
        <p:spPr>
          <a:xfrm>
            <a:off x="10096545" y="1823293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218</a:t>
            </a:r>
            <a:endParaRPr lang="en-US" sz="744" dirty="0"/>
          </a:p>
        </p:txBody>
      </p:sp>
      <p:sp>
        <p:nvSpPr>
          <p:cNvPr id="135" name="Text 132"/>
          <p:cNvSpPr/>
          <p:nvPr/>
        </p:nvSpPr>
        <p:spPr>
          <a:xfrm>
            <a:off x="10090295" y="34194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696" dirty="0"/>
          </a:p>
        </p:txBody>
      </p:sp>
      <p:sp>
        <p:nvSpPr>
          <p:cNvPr id="136" name="Text 133"/>
          <p:cNvSpPr/>
          <p:nvPr/>
        </p:nvSpPr>
        <p:spPr>
          <a:xfrm>
            <a:off x="10957346" y="173920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287</a:t>
            </a:r>
            <a:endParaRPr lang="en-US" sz="744" dirty="0"/>
          </a:p>
        </p:txBody>
      </p:sp>
      <p:sp>
        <p:nvSpPr>
          <p:cNvPr id="137" name="Text 134"/>
          <p:cNvSpPr/>
          <p:nvPr/>
        </p:nvSpPr>
        <p:spPr>
          <a:xfrm>
            <a:off x="10965382" y="34194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696" dirty="0"/>
          </a:p>
        </p:txBody>
      </p:sp>
      <p:sp>
        <p:nvSpPr>
          <p:cNvPr id="138" name="Text 135"/>
          <p:cNvSpPr/>
          <p:nvPr/>
        </p:nvSpPr>
        <p:spPr>
          <a:xfrm>
            <a:off x="8116907" y="605224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624" dirty="0"/>
          </a:p>
        </p:txBody>
      </p:sp>
      <p:sp>
        <p:nvSpPr>
          <p:cNvPr id="139" name="Text 136"/>
          <p:cNvSpPr/>
          <p:nvPr/>
        </p:nvSpPr>
        <p:spPr>
          <a:xfrm>
            <a:off x="10835457" y="605224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624" dirty="0"/>
          </a:p>
        </p:txBody>
      </p:sp>
      <p:sp>
        <p:nvSpPr>
          <p:cNvPr id="140" name="Text 137"/>
          <p:cNvSpPr/>
          <p:nvPr/>
        </p:nvSpPr>
        <p:spPr>
          <a:xfrm>
            <a:off x="3710649" y="2082105"/>
            <a:ext cx="648566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</a:t>
            </a:r>
            <a:endParaRPr lang="en-US" sz="720" dirty="0"/>
          </a:p>
        </p:txBody>
      </p:sp>
      <p:sp>
        <p:nvSpPr>
          <p:cNvPr id="141" name="Text 138"/>
          <p:cNvSpPr/>
          <p:nvPr/>
        </p:nvSpPr>
        <p:spPr>
          <a:xfrm>
            <a:off x="3710649" y="2329755"/>
            <a:ext cx="648566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720" dirty="0"/>
          </a:p>
        </p:txBody>
      </p:sp>
      <p:sp>
        <p:nvSpPr>
          <p:cNvPr id="142" name="Text 139"/>
          <p:cNvSpPr/>
          <p:nvPr/>
        </p:nvSpPr>
        <p:spPr>
          <a:xfrm>
            <a:off x="3710649" y="2577405"/>
            <a:ext cx="648566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</a:t>
            </a:r>
            <a:endParaRPr lang="en-US" sz="720" dirty="0"/>
          </a:p>
        </p:txBody>
      </p:sp>
      <p:sp>
        <p:nvSpPr>
          <p:cNvPr id="143" name="Text 140"/>
          <p:cNvSpPr/>
          <p:nvPr/>
        </p:nvSpPr>
        <p:spPr>
          <a:xfrm>
            <a:off x="3127886" y="4444305"/>
            <a:ext cx="560578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</a:t>
            </a:r>
            <a:endParaRPr lang="en-US" sz="672" dirty="0"/>
          </a:p>
        </p:txBody>
      </p:sp>
      <p:sp>
        <p:nvSpPr>
          <p:cNvPr id="144" name="Text 141"/>
          <p:cNvSpPr/>
          <p:nvPr/>
        </p:nvSpPr>
        <p:spPr>
          <a:xfrm>
            <a:off x="3672583" y="4444305"/>
            <a:ext cx="545249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</a:t>
            </a:r>
            <a:endParaRPr lang="en-US" sz="672" dirty="0"/>
          </a:p>
        </p:txBody>
      </p:sp>
      <p:sp>
        <p:nvSpPr>
          <p:cNvPr id="145" name="Text 142"/>
          <p:cNvSpPr/>
          <p:nvPr/>
        </p:nvSpPr>
        <p:spPr>
          <a:xfrm>
            <a:off x="4762970" y="4444305"/>
            <a:ext cx="54693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97</a:t>
            </a:r>
            <a:endParaRPr lang="en-US" sz="672" dirty="0"/>
          </a:p>
        </p:txBody>
      </p:sp>
      <p:sp>
        <p:nvSpPr>
          <p:cNvPr id="146" name="Text 143"/>
          <p:cNvSpPr/>
          <p:nvPr/>
        </p:nvSpPr>
        <p:spPr>
          <a:xfrm>
            <a:off x="3672583" y="4644330"/>
            <a:ext cx="545249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672" dirty="0"/>
          </a:p>
        </p:txBody>
      </p:sp>
      <p:sp>
        <p:nvSpPr>
          <p:cNvPr id="147" name="Text 144"/>
          <p:cNvSpPr/>
          <p:nvPr/>
        </p:nvSpPr>
        <p:spPr>
          <a:xfrm>
            <a:off x="4201000" y="4644330"/>
            <a:ext cx="577900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</a:t>
            </a:r>
            <a:endParaRPr lang="en-US" sz="672" dirty="0"/>
          </a:p>
        </p:txBody>
      </p:sp>
      <p:sp>
        <p:nvSpPr>
          <p:cNvPr id="148" name="Text 145"/>
          <p:cNvSpPr/>
          <p:nvPr/>
        </p:nvSpPr>
        <p:spPr>
          <a:xfrm>
            <a:off x="4762970" y="4644330"/>
            <a:ext cx="54693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</a:t>
            </a:r>
            <a:endParaRPr lang="en-US" sz="672" dirty="0"/>
          </a:p>
        </p:txBody>
      </p:sp>
      <p:sp>
        <p:nvSpPr>
          <p:cNvPr id="149" name="Text 146"/>
          <p:cNvSpPr/>
          <p:nvPr/>
        </p:nvSpPr>
        <p:spPr>
          <a:xfrm>
            <a:off x="3672583" y="4844355"/>
            <a:ext cx="545249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672" dirty="0"/>
          </a:p>
        </p:txBody>
      </p:sp>
      <p:sp>
        <p:nvSpPr>
          <p:cNvPr id="150" name="Text 147"/>
          <p:cNvSpPr/>
          <p:nvPr/>
        </p:nvSpPr>
        <p:spPr>
          <a:xfrm>
            <a:off x="4201000" y="4844355"/>
            <a:ext cx="577900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672" dirty="0"/>
          </a:p>
        </p:txBody>
      </p:sp>
      <p:sp>
        <p:nvSpPr>
          <p:cNvPr id="151" name="Text 148"/>
          <p:cNvSpPr/>
          <p:nvPr/>
        </p:nvSpPr>
        <p:spPr>
          <a:xfrm>
            <a:off x="4762970" y="4844355"/>
            <a:ext cx="54693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</a:t>
            </a:r>
            <a:endParaRPr lang="en-US" sz="672" dirty="0"/>
          </a:p>
        </p:txBody>
      </p:sp>
      <p:sp>
        <p:nvSpPr>
          <p:cNvPr id="152" name="Text 149"/>
          <p:cNvSpPr/>
          <p:nvPr/>
        </p:nvSpPr>
        <p:spPr>
          <a:xfrm>
            <a:off x="4762970" y="5046018"/>
            <a:ext cx="54693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672" dirty="0"/>
          </a:p>
        </p:txBody>
      </p:sp>
      <p:sp>
        <p:nvSpPr>
          <p:cNvPr id="153" name="Text 150"/>
          <p:cNvSpPr/>
          <p:nvPr/>
        </p:nvSpPr>
        <p:spPr>
          <a:xfrm>
            <a:off x="5291185" y="5041255"/>
            <a:ext cx="64274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47</a:t>
            </a:r>
            <a:endParaRPr lang="en-US" sz="696" dirty="0"/>
          </a:p>
        </p:txBody>
      </p:sp>
      <p:sp>
        <p:nvSpPr>
          <p:cNvPr id="154" name="Text 151"/>
          <p:cNvSpPr/>
          <p:nvPr/>
        </p:nvSpPr>
        <p:spPr>
          <a:xfrm>
            <a:off x="2046743" y="5243066"/>
            <a:ext cx="558279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672" dirty="0"/>
          </a:p>
        </p:txBody>
      </p:sp>
      <p:sp>
        <p:nvSpPr>
          <p:cNvPr id="155" name="Text 152"/>
          <p:cNvSpPr/>
          <p:nvPr/>
        </p:nvSpPr>
        <p:spPr>
          <a:xfrm>
            <a:off x="2588847" y="5243066"/>
            <a:ext cx="55536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672" dirty="0"/>
          </a:p>
        </p:txBody>
      </p:sp>
      <p:sp>
        <p:nvSpPr>
          <p:cNvPr id="156" name="Text 153"/>
          <p:cNvSpPr/>
          <p:nvPr/>
        </p:nvSpPr>
        <p:spPr>
          <a:xfrm>
            <a:off x="3127886" y="5243066"/>
            <a:ext cx="560578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672" dirty="0"/>
          </a:p>
        </p:txBody>
      </p:sp>
      <p:sp>
        <p:nvSpPr>
          <p:cNvPr id="157" name="Text 154"/>
          <p:cNvSpPr/>
          <p:nvPr/>
        </p:nvSpPr>
        <p:spPr>
          <a:xfrm>
            <a:off x="3672583" y="5243066"/>
            <a:ext cx="545249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</a:t>
            </a:r>
            <a:endParaRPr lang="en-US" sz="672" dirty="0"/>
          </a:p>
        </p:txBody>
      </p:sp>
      <p:sp>
        <p:nvSpPr>
          <p:cNvPr id="158" name="Text 155"/>
          <p:cNvSpPr/>
          <p:nvPr/>
        </p:nvSpPr>
        <p:spPr>
          <a:xfrm>
            <a:off x="6668524" y="2906316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</a:t>
            </a:r>
            <a:endParaRPr lang="en-US" sz="744" dirty="0"/>
          </a:p>
        </p:txBody>
      </p:sp>
      <p:sp>
        <p:nvSpPr>
          <p:cNvPr id="159" name="Text 156"/>
          <p:cNvSpPr/>
          <p:nvPr/>
        </p:nvSpPr>
        <p:spPr>
          <a:xfrm>
            <a:off x="7532598" y="288860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744" dirty="0"/>
          </a:p>
        </p:txBody>
      </p:sp>
      <p:sp>
        <p:nvSpPr>
          <p:cNvPr id="160" name="Text 157"/>
          <p:cNvSpPr/>
          <p:nvPr/>
        </p:nvSpPr>
        <p:spPr>
          <a:xfrm>
            <a:off x="8395631" y="258678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</a:t>
            </a:r>
            <a:endParaRPr lang="en-US" sz="744" dirty="0"/>
          </a:p>
        </p:txBody>
      </p:sp>
      <p:sp>
        <p:nvSpPr>
          <p:cNvPr id="161" name="Text 158"/>
          <p:cNvSpPr/>
          <p:nvPr/>
        </p:nvSpPr>
        <p:spPr>
          <a:xfrm>
            <a:off x="2046743" y="4444305"/>
            <a:ext cx="558279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672" dirty="0"/>
          </a:p>
        </p:txBody>
      </p:sp>
      <p:sp>
        <p:nvSpPr>
          <p:cNvPr id="162" name="Text 159"/>
          <p:cNvSpPr/>
          <p:nvPr/>
        </p:nvSpPr>
        <p:spPr>
          <a:xfrm>
            <a:off x="2588847" y="4444305"/>
            <a:ext cx="55536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672" dirty="0"/>
          </a:p>
        </p:txBody>
      </p:sp>
      <p:sp>
        <p:nvSpPr>
          <p:cNvPr id="163" name="Text 160"/>
          <p:cNvSpPr/>
          <p:nvPr/>
        </p:nvSpPr>
        <p:spPr>
          <a:xfrm>
            <a:off x="2046743" y="4644330"/>
            <a:ext cx="558279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672" dirty="0"/>
          </a:p>
        </p:txBody>
      </p:sp>
      <p:sp>
        <p:nvSpPr>
          <p:cNvPr id="164" name="Text 161"/>
          <p:cNvSpPr/>
          <p:nvPr/>
        </p:nvSpPr>
        <p:spPr>
          <a:xfrm>
            <a:off x="2588847" y="4644330"/>
            <a:ext cx="55536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672" dirty="0"/>
          </a:p>
        </p:txBody>
      </p:sp>
      <p:sp>
        <p:nvSpPr>
          <p:cNvPr id="165" name="Text 162"/>
          <p:cNvSpPr/>
          <p:nvPr/>
        </p:nvSpPr>
        <p:spPr>
          <a:xfrm>
            <a:off x="3127886" y="4644330"/>
            <a:ext cx="560578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672" dirty="0"/>
          </a:p>
        </p:txBody>
      </p:sp>
      <p:sp>
        <p:nvSpPr>
          <p:cNvPr id="166" name="Text 163"/>
          <p:cNvSpPr/>
          <p:nvPr/>
        </p:nvSpPr>
        <p:spPr>
          <a:xfrm>
            <a:off x="2046743" y="4844355"/>
            <a:ext cx="558279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672" dirty="0"/>
          </a:p>
        </p:txBody>
      </p:sp>
      <p:sp>
        <p:nvSpPr>
          <p:cNvPr id="167" name="Text 164"/>
          <p:cNvSpPr/>
          <p:nvPr/>
        </p:nvSpPr>
        <p:spPr>
          <a:xfrm>
            <a:off x="2588847" y="4844355"/>
            <a:ext cx="55536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672" dirty="0"/>
          </a:p>
        </p:txBody>
      </p:sp>
      <p:sp>
        <p:nvSpPr>
          <p:cNvPr id="168" name="Text 165"/>
          <p:cNvSpPr/>
          <p:nvPr/>
        </p:nvSpPr>
        <p:spPr>
          <a:xfrm>
            <a:off x="3127886" y="4844355"/>
            <a:ext cx="560578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672" dirty="0"/>
          </a:p>
        </p:txBody>
      </p:sp>
      <p:sp>
        <p:nvSpPr>
          <p:cNvPr id="169" name="Text 166"/>
          <p:cNvSpPr/>
          <p:nvPr/>
        </p:nvSpPr>
        <p:spPr>
          <a:xfrm>
            <a:off x="2046743" y="5046018"/>
            <a:ext cx="558279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672" dirty="0"/>
          </a:p>
        </p:txBody>
      </p:sp>
      <p:sp>
        <p:nvSpPr>
          <p:cNvPr id="170" name="Text 167"/>
          <p:cNvSpPr/>
          <p:nvPr/>
        </p:nvSpPr>
        <p:spPr>
          <a:xfrm>
            <a:off x="2588847" y="5046018"/>
            <a:ext cx="55536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672" dirty="0"/>
          </a:p>
        </p:txBody>
      </p:sp>
      <p:sp>
        <p:nvSpPr>
          <p:cNvPr id="171" name="Text 168"/>
          <p:cNvSpPr/>
          <p:nvPr/>
        </p:nvSpPr>
        <p:spPr>
          <a:xfrm>
            <a:off x="3127886" y="5046018"/>
            <a:ext cx="560578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672" dirty="0"/>
          </a:p>
        </p:txBody>
      </p:sp>
      <p:sp>
        <p:nvSpPr>
          <p:cNvPr id="172" name="Text 169"/>
          <p:cNvSpPr/>
          <p:nvPr/>
        </p:nvSpPr>
        <p:spPr>
          <a:xfrm>
            <a:off x="3672583" y="5046018"/>
            <a:ext cx="545249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672" dirty="0"/>
          </a:p>
        </p:txBody>
      </p:sp>
      <p:sp>
        <p:nvSpPr>
          <p:cNvPr id="173" name="Text 170"/>
          <p:cNvSpPr/>
          <p:nvPr/>
        </p:nvSpPr>
        <p:spPr>
          <a:xfrm>
            <a:off x="7463990" y="6015038"/>
            <a:ext cx="274320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→</a:t>
            </a:r>
            <a:endParaRPr lang="en-US" sz="960" dirty="0"/>
          </a:p>
        </p:txBody>
      </p:sp>
      <p:sp>
        <p:nvSpPr>
          <p:cNvPr id="174" name="Text 171"/>
          <p:cNvSpPr/>
          <p:nvPr/>
        </p:nvSpPr>
        <p:spPr>
          <a:xfrm>
            <a:off x="8820822" y="6015038"/>
            <a:ext cx="274320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→</a:t>
            </a:r>
            <a:endParaRPr lang="en-US" sz="960" dirty="0"/>
          </a:p>
        </p:txBody>
      </p:sp>
      <p:sp>
        <p:nvSpPr>
          <p:cNvPr id="175" name="Text 172"/>
          <p:cNvSpPr/>
          <p:nvPr/>
        </p:nvSpPr>
        <p:spPr>
          <a:xfrm>
            <a:off x="10177655" y="6015038"/>
            <a:ext cx="274320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→</a:t>
            </a:r>
            <a:endParaRPr lang="en-US" sz="9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6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783" y="6393656"/>
            <a:ext cx="904086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enviados anteriormente: cada vez hay menos clientes nuevos en la base — hay mucho cliente que ya gestionamos en algún momento (los re-envíos suman el 16,6 % del descarte).</a:t>
            </a:r>
            <a:endParaRPr lang="en-US" sz="744" dirty="0"/>
          </a:p>
        </p:txBody>
      </p:sp>
      <p:sp>
        <p:nvSpPr>
          <p:cNvPr id="4" name="Text 1"/>
          <p:cNvSpPr/>
          <p:nvPr/>
        </p:nvSpPr>
        <p:spPr>
          <a:xfrm>
            <a:off x="685783" y="6247209"/>
            <a:ext cx="75302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descarte principal es Cuota Protegida Activa (50,9 %), lo que indica que el 1S se depuró correctamente contra clientes vigentes antes de lanzar el marcador.</a:t>
            </a:r>
            <a:endParaRPr lang="en-US" sz="744" dirty="0"/>
          </a:p>
        </p:txBody>
      </p:sp>
      <p:sp>
        <p:nvSpPr>
          <p:cNvPr id="5" name="Text 2"/>
          <p:cNvSpPr/>
          <p:nvPr/>
        </p:nvSpPr>
        <p:spPr>
          <a:xfrm>
            <a:off x="685783" y="6540103"/>
            <a:ext cx="535257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 representa el 15,9 % de la gestión de leads aptos, convirtiéndose en el motor de ventas del canal.</a:t>
            </a:r>
            <a:endParaRPr lang="en-US" sz="744" dirty="0"/>
          </a:p>
        </p:txBody>
      </p:sp>
      <p:sp>
        <p:nvSpPr>
          <p:cNvPr id="6" name="Text 3"/>
          <p:cNvSpPr/>
          <p:nvPr/>
        </p:nvSpPr>
        <p:spPr>
          <a:xfrm>
            <a:off x="685783" y="6100763"/>
            <a:ext cx="48984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 base tiene la mayor contactabilidad del canal (79,0 % Semestre) y una efectividad sobresaliente.</a:t>
            </a:r>
            <a:endParaRPr lang="en-US" sz="744" dirty="0"/>
          </a:p>
        </p:txBody>
      </p:sp>
      <p:sp>
        <p:nvSpPr>
          <p:cNvPr id="7" name="Text 4"/>
          <p:cNvSpPr/>
          <p:nvPr/>
        </p:nvSpPr>
        <p:spPr>
          <a:xfrm>
            <a:off x="571486" y="209550"/>
            <a:ext cx="3923801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Operativo · Campaña Bienvenidas CP</a:t>
            </a:r>
            <a:endParaRPr lang="en-US" sz="1260" dirty="0"/>
          </a:p>
        </p:txBody>
      </p:sp>
      <p:sp>
        <p:nvSpPr>
          <p:cNvPr id="8" name="Text 5"/>
          <p:cNvSpPr/>
          <p:nvPr/>
        </p:nvSpPr>
        <p:spPr>
          <a:xfrm>
            <a:off x="8216595" y="1200894"/>
            <a:ext cx="171950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Alta efectividad comercial sobre contacto</a:t>
            </a:r>
            <a:endParaRPr lang="en-US" sz="648" dirty="0"/>
          </a:p>
        </p:txBody>
      </p:sp>
      <p:sp>
        <p:nvSpPr>
          <p:cNvPr id="9" name="Text 6"/>
          <p:cNvSpPr/>
          <p:nvPr/>
        </p:nvSpPr>
        <p:spPr>
          <a:xfrm>
            <a:off x="6372066" y="2915394"/>
            <a:ext cx="20375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Tipificación de Leads Aptos por Mes</a:t>
            </a:r>
            <a:endParaRPr lang="en-US" sz="816" dirty="0"/>
          </a:p>
        </p:txBody>
      </p:sp>
      <p:sp>
        <p:nvSpPr>
          <p:cNvPr id="10" name="Text 7"/>
          <p:cNvSpPr/>
          <p:nvPr/>
        </p:nvSpPr>
        <p:spPr>
          <a:xfrm>
            <a:off x="609585" y="1486644"/>
            <a:ext cx="205678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Calidad de Base y Descarte Mensual</a:t>
            </a:r>
            <a:endParaRPr lang="en-US" sz="816" dirty="0"/>
          </a:p>
        </p:txBody>
      </p:sp>
      <p:sp>
        <p:nvSpPr>
          <p:cNvPr id="11" name="Text 8"/>
          <p:cNvSpPr/>
          <p:nvPr/>
        </p:nvSpPr>
        <p:spPr>
          <a:xfrm>
            <a:off x="6267293" y="49251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apagado / fuera de servicio</a:t>
            </a:r>
            <a:endParaRPr lang="en-US" sz="552" dirty="0"/>
          </a:p>
        </p:txBody>
      </p:sp>
      <p:sp>
        <p:nvSpPr>
          <p:cNvPr id="12" name="Text 9"/>
          <p:cNvSpPr/>
          <p:nvPr/>
        </p:nvSpPr>
        <p:spPr>
          <a:xfrm>
            <a:off x="533387" y="1200894"/>
            <a:ext cx="14019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Líder en contactabilidad del canal</a:t>
            </a:r>
            <a:endParaRPr lang="en-US" sz="648" dirty="0"/>
          </a:p>
        </p:txBody>
      </p:sp>
      <p:sp>
        <p:nvSpPr>
          <p:cNvPr id="13" name="Text 10"/>
          <p:cNvSpPr/>
          <p:nvPr/>
        </p:nvSpPr>
        <p:spPr>
          <a:xfrm>
            <a:off x="6372066" y="1486644"/>
            <a:ext cx="18149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Insumo Apto, Contacto y Ventas</a:t>
            </a:r>
            <a:endParaRPr lang="en-US" sz="816" dirty="0"/>
          </a:p>
        </p:txBody>
      </p:sp>
      <p:sp>
        <p:nvSpPr>
          <p:cNvPr id="14" name="Text 11"/>
          <p:cNvSpPr/>
          <p:nvPr/>
        </p:nvSpPr>
        <p:spPr>
          <a:xfrm>
            <a:off x="504812" y="42584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Excede límite de edad (&gt;80 años)</a:t>
            </a:r>
            <a:endParaRPr lang="en-US" sz="576" dirty="0"/>
          </a:p>
        </p:txBody>
      </p:sp>
      <p:sp>
        <p:nvSpPr>
          <p:cNvPr id="15" name="Text 12"/>
          <p:cNvSpPr/>
          <p:nvPr/>
        </p:nvSpPr>
        <p:spPr>
          <a:xfrm>
            <a:off x="504812" y="38583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Recibido Anteriormente</a:t>
            </a:r>
            <a:endParaRPr lang="en-US" sz="576" dirty="0"/>
          </a:p>
        </p:txBody>
      </p:sp>
      <p:sp>
        <p:nvSpPr>
          <p:cNvPr id="16" name="Text 13"/>
          <p:cNvSpPr/>
          <p:nvPr/>
        </p:nvSpPr>
        <p:spPr>
          <a:xfrm>
            <a:off x="714357" y="5944791"/>
            <a:ext cx="156869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Observaciones Clave de la Base:</a:t>
            </a:r>
            <a:endParaRPr lang="en-US" sz="744" dirty="0"/>
          </a:p>
        </p:txBody>
      </p:sp>
      <p:sp>
        <p:nvSpPr>
          <p:cNvPr id="17" name="Text 14"/>
          <p:cNvSpPr/>
          <p:nvPr/>
        </p:nvSpPr>
        <p:spPr>
          <a:xfrm>
            <a:off x="504812" y="35916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8" name="Text 15"/>
          <p:cNvSpPr/>
          <p:nvPr/>
        </p:nvSpPr>
        <p:spPr>
          <a:xfrm>
            <a:off x="504812" y="39917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con Localidad Errónea</a:t>
            </a:r>
            <a:endParaRPr lang="en-US" sz="576" dirty="0"/>
          </a:p>
        </p:txBody>
      </p:sp>
      <p:sp>
        <p:nvSpPr>
          <p:cNvPr id="19" name="Text 16"/>
          <p:cNvSpPr/>
          <p:nvPr/>
        </p:nvSpPr>
        <p:spPr>
          <a:xfrm>
            <a:off x="495288" y="2915394"/>
            <a:ext cx="164662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Motivos de Descarte por Mes</a:t>
            </a:r>
            <a:endParaRPr lang="en-US" sz="816" dirty="0"/>
          </a:p>
        </p:txBody>
      </p:sp>
      <p:sp>
        <p:nvSpPr>
          <p:cNvPr id="20" name="Text 17"/>
          <p:cNvSpPr/>
          <p:nvPr/>
        </p:nvSpPr>
        <p:spPr>
          <a:xfrm>
            <a:off x="6267293" y="35916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producto</a:t>
            </a:r>
            <a:endParaRPr lang="en-US" sz="552" dirty="0"/>
          </a:p>
        </p:txBody>
      </p:sp>
      <p:sp>
        <p:nvSpPr>
          <p:cNvPr id="21" name="Text 18"/>
          <p:cNvSpPr/>
          <p:nvPr/>
        </p:nvSpPr>
        <p:spPr>
          <a:xfrm>
            <a:off x="6267293" y="38583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Agendado / llamada posterior</a:t>
            </a:r>
            <a:endParaRPr lang="en-US" sz="552" dirty="0"/>
          </a:p>
        </p:txBody>
      </p:sp>
      <p:sp>
        <p:nvSpPr>
          <p:cNvPr id="22" name="Text 19"/>
          <p:cNvSpPr/>
          <p:nvPr/>
        </p:nvSpPr>
        <p:spPr>
          <a:xfrm>
            <a:off x="6267293" y="41250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Datos errados / experiencia</a:t>
            </a:r>
            <a:endParaRPr lang="en-US" sz="552" dirty="0"/>
          </a:p>
        </p:txBody>
      </p:sp>
      <p:sp>
        <p:nvSpPr>
          <p:cNvPr id="23" name="Text 20"/>
          <p:cNvSpPr/>
          <p:nvPr/>
        </p:nvSpPr>
        <p:spPr>
          <a:xfrm>
            <a:off x="6267293" y="42584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precio</a:t>
            </a:r>
            <a:endParaRPr lang="en-US" sz="552" dirty="0"/>
          </a:p>
        </p:txBody>
      </p:sp>
      <p:sp>
        <p:nvSpPr>
          <p:cNvPr id="24" name="Text 21"/>
          <p:cNvSpPr/>
          <p:nvPr/>
        </p:nvSpPr>
        <p:spPr>
          <a:xfrm>
            <a:off x="6267293" y="39917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es responsable del pago</a:t>
            </a:r>
            <a:endParaRPr lang="en-US" sz="552" dirty="0"/>
          </a:p>
        </p:txBody>
      </p:sp>
      <p:sp>
        <p:nvSpPr>
          <p:cNvPr id="25" name="Text 22"/>
          <p:cNvSpPr/>
          <p:nvPr/>
        </p:nvSpPr>
        <p:spPr>
          <a:xfrm>
            <a:off x="4374991" y="1200894"/>
            <a:ext cx="1069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Motor de ventas del canal</a:t>
            </a:r>
            <a:endParaRPr lang="en-US" sz="648" dirty="0"/>
          </a:p>
        </p:txBody>
      </p:sp>
      <p:sp>
        <p:nvSpPr>
          <p:cNvPr id="26" name="Text 23"/>
          <p:cNvSpPr/>
          <p:nvPr/>
        </p:nvSpPr>
        <p:spPr>
          <a:xfrm>
            <a:off x="504812" y="41250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Cédula/Teléfono Repetido</a:t>
            </a:r>
            <a:endParaRPr lang="en-US" sz="576" dirty="0"/>
          </a:p>
        </p:txBody>
      </p:sp>
      <p:sp>
        <p:nvSpPr>
          <p:cNvPr id="27" name="Text 24"/>
          <p:cNvSpPr/>
          <p:nvPr/>
        </p:nvSpPr>
        <p:spPr>
          <a:xfrm>
            <a:off x="533387" y="809625"/>
            <a:ext cx="147656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PROMEDIO</a:t>
            </a:r>
            <a:endParaRPr lang="en-US" sz="672" dirty="0"/>
          </a:p>
        </p:txBody>
      </p:sp>
      <p:sp>
        <p:nvSpPr>
          <p:cNvPr id="28" name="Text 25"/>
          <p:cNvSpPr/>
          <p:nvPr/>
        </p:nvSpPr>
        <p:spPr>
          <a:xfrm>
            <a:off x="504812" y="33249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Activa</a:t>
            </a:r>
            <a:endParaRPr lang="en-US" sz="576" dirty="0"/>
          </a:p>
        </p:txBody>
      </p:sp>
      <p:sp>
        <p:nvSpPr>
          <p:cNvPr id="29" name="Text 26"/>
          <p:cNvSpPr/>
          <p:nvPr/>
        </p:nvSpPr>
        <p:spPr>
          <a:xfrm>
            <a:off x="6267293" y="46584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automático</a:t>
            </a:r>
            <a:endParaRPr lang="en-US" sz="552" dirty="0"/>
          </a:p>
        </p:txBody>
      </p:sp>
      <p:sp>
        <p:nvSpPr>
          <p:cNvPr id="30" name="Text 27"/>
          <p:cNvSpPr/>
          <p:nvPr/>
        </p:nvSpPr>
        <p:spPr>
          <a:xfrm>
            <a:off x="504812" y="43917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76" dirty="0"/>
          </a:p>
        </p:txBody>
      </p:sp>
      <p:sp>
        <p:nvSpPr>
          <p:cNvPr id="31" name="Text 28"/>
          <p:cNvSpPr/>
          <p:nvPr/>
        </p:nvSpPr>
        <p:spPr>
          <a:xfrm>
            <a:off x="6267293" y="43917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52" dirty="0"/>
          </a:p>
        </p:txBody>
      </p:sp>
      <p:sp>
        <p:nvSpPr>
          <p:cNvPr id="32" name="Text 29"/>
          <p:cNvSpPr/>
          <p:nvPr/>
        </p:nvSpPr>
        <p:spPr>
          <a:xfrm>
            <a:off x="8216595" y="809625"/>
            <a:ext cx="120996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 PROMEDIO</a:t>
            </a:r>
            <a:endParaRPr lang="en-US" sz="672" dirty="0"/>
          </a:p>
        </p:txBody>
      </p:sp>
      <p:sp>
        <p:nvSpPr>
          <p:cNvPr id="33" name="Text 30"/>
          <p:cNvSpPr/>
          <p:nvPr/>
        </p:nvSpPr>
        <p:spPr>
          <a:xfrm>
            <a:off x="504812" y="37250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Microseguro Activo</a:t>
            </a:r>
            <a:endParaRPr lang="en-US" sz="576" dirty="0"/>
          </a:p>
        </p:txBody>
      </p:sp>
      <p:sp>
        <p:nvSpPr>
          <p:cNvPr id="34" name="Text 31"/>
          <p:cNvSpPr/>
          <p:nvPr/>
        </p:nvSpPr>
        <p:spPr>
          <a:xfrm>
            <a:off x="504812" y="34583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Contrato Repetido</a:t>
            </a:r>
            <a:endParaRPr lang="en-US" sz="576" dirty="0"/>
          </a:p>
        </p:txBody>
      </p:sp>
      <p:sp>
        <p:nvSpPr>
          <p:cNvPr id="35" name="Text 32"/>
          <p:cNvSpPr/>
          <p:nvPr/>
        </p:nvSpPr>
        <p:spPr>
          <a:xfrm>
            <a:off x="6267293" y="33249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552" dirty="0"/>
          </a:p>
        </p:txBody>
      </p:sp>
      <p:sp>
        <p:nvSpPr>
          <p:cNvPr id="36" name="Text 33"/>
          <p:cNvSpPr/>
          <p:nvPr/>
        </p:nvSpPr>
        <p:spPr>
          <a:xfrm>
            <a:off x="6267293" y="37250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Cuelga la llamada</a:t>
            </a:r>
            <a:endParaRPr lang="en-US" sz="552" dirty="0"/>
          </a:p>
        </p:txBody>
      </p:sp>
      <p:sp>
        <p:nvSpPr>
          <p:cNvPr id="37" name="Text 34"/>
          <p:cNvSpPr/>
          <p:nvPr/>
        </p:nvSpPr>
        <p:spPr>
          <a:xfrm>
            <a:off x="6267293" y="50585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no contacto</a:t>
            </a:r>
            <a:endParaRPr lang="en-US" sz="552" dirty="0"/>
          </a:p>
        </p:txBody>
      </p:sp>
      <p:sp>
        <p:nvSpPr>
          <p:cNvPr id="38" name="Text 35"/>
          <p:cNvSpPr/>
          <p:nvPr/>
        </p:nvSpPr>
        <p:spPr>
          <a:xfrm>
            <a:off x="6267293" y="51918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gestionado</a:t>
            </a:r>
            <a:endParaRPr lang="en-US" sz="552" dirty="0"/>
          </a:p>
        </p:txBody>
      </p:sp>
      <p:sp>
        <p:nvSpPr>
          <p:cNvPr id="39" name="Text 36"/>
          <p:cNvSpPr/>
          <p:nvPr/>
        </p:nvSpPr>
        <p:spPr>
          <a:xfrm>
            <a:off x="4374991" y="809625"/>
            <a:ext cx="8581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TOTALES</a:t>
            </a:r>
            <a:endParaRPr lang="en-US" sz="672" dirty="0"/>
          </a:p>
        </p:txBody>
      </p:sp>
      <p:sp>
        <p:nvSpPr>
          <p:cNvPr id="40" name="Text 37"/>
          <p:cNvSpPr/>
          <p:nvPr/>
        </p:nvSpPr>
        <p:spPr>
          <a:xfrm>
            <a:off x="10239394" y="1715244"/>
            <a:ext cx="145701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 / Ctto.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6267293" y="34583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</a:t>
            </a:r>
            <a:endParaRPr lang="en-US" sz="552" dirty="0"/>
          </a:p>
        </p:txBody>
      </p:sp>
      <p:sp>
        <p:nvSpPr>
          <p:cNvPr id="42" name="Text 39"/>
          <p:cNvSpPr/>
          <p:nvPr/>
        </p:nvSpPr>
        <p:spPr>
          <a:xfrm>
            <a:off x="6267293" y="3153519"/>
            <a:ext cx="1879325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6267293" y="45251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CONTACTO</a:t>
            </a:r>
            <a:endParaRPr lang="en-US" sz="552" dirty="0"/>
          </a:p>
        </p:txBody>
      </p:sp>
      <p:sp>
        <p:nvSpPr>
          <p:cNvPr id="44" name="Text 41"/>
          <p:cNvSpPr/>
          <p:nvPr/>
        </p:nvSpPr>
        <p:spPr>
          <a:xfrm>
            <a:off x="6267293" y="47918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contesta</a:t>
            </a:r>
            <a:endParaRPr lang="en-US" sz="552" dirty="0"/>
          </a:p>
        </p:txBody>
      </p:sp>
      <p:sp>
        <p:nvSpPr>
          <p:cNvPr id="45" name="Text 42"/>
          <p:cNvSpPr/>
          <p:nvPr/>
        </p:nvSpPr>
        <p:spPr>
          <a:xfrm>
            <a:off x="2951194" y="1715244"/>
            <a:ext cx="1568454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8294831" y="1715244"/>
            <a:ext cx="100818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1540477" y="1715244"/>
            <a:ext cx="145640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48" name="Text 45"/>
          <p:cNvSpPr/>
          <p:nvPr/>
        </p:nvSpPr>
        <p:spPr>
          <a:xfrm>
            <a:off x="4477220" y="1715244"/>
            <a:ext cx="145670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49" name="Text 46"/>
          <p:cNvSpPr/>
          <p:nvPr/>
        </p:nvSpPr>
        <p:spPr>
          <a:xfrm>
            <a:off x="495288" y="20295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50" name="Text 47"/>
          <p:cNvSpPr/>
          <p:nvPr/>
        </p:nvSpPr>
        <p:spPr>
          <a:xfrm>
            <a:off x="1540477" y="2743944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114.694</a:t>
            </a:r>
            <a:endParaRPr lang="en-US" sz="636" dirty="0"/>
          </a:p>
        </p:txBody>
      </p:sp>
      <p:sp>
        <p:nvSpPr>
          <p:cNvPr id="51" name="Text 48"/>
          <p:cNvSpPr/>
          <p:nvPr/>
        </p:nvSpPr>
        <p:spPr>
          <a:xfrm>
            <a:off x="6257769" y="20295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52" name="Text 49"/>
          <p:cNvSpPr/>
          <p:nvPr/>
        </p:nvSpPr>
        <p:spPr>
          <a:xfrm>
            <a:off x="1540477" y="1886694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14.772</a:t>
            </a:r>
            <a:endParaRPr lang="en-US" sz="636" dirty="0"/>
          </a:p>
        </p:txBody>
      </p:sp>
      <p:sp>
        <p:nvSpPr>
          <p:cNvPr id="53" name="Text 50"/>
          <p:cNvSpPr/>
          <p:nvPr/>
        </p:nvSpPr>
        <p:spPr>
          <a:xfrm>
            <a:off x="4477220" y="1886694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57,4 %</a:t>
            </a:r>
            <a:endParaRPr lang="en-US" sz="636" dirty="0"/>
          </a:p>
        </p:txBody>
      </p:sp>
      <p:sp>
        <p:nvSpPr>
          <p:cNvPr id="54" name="Text 51"/>
          <p:cNvSpPr/>
          <p:nvPr/>
        </p:nvSpPr>
        <p:spPr>
          <a:xfrm>
            <a:off x="1540477" y="2029569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19.573</a:t>
            </a:r>
            <a:endParaRPr lang="en-US" sz="636" dirty="0"/>
          </a:p>
        </p:txBody>
      </p:sp>
      <p:sp>
        <p:nvSpPr>
          <p:cNvPr id="55" name="Text 52"/>
          <p:cNvSpPr/>
          <p:nvPr/>
        </p:nvSpPr>
        <p:spPr>
          <a:xfrm>
            <a:off x="2951194" y="2029569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11.134</a:t>
            </a:r>
            <a:endParaRPr lang="en-US" sz="636" dirty="0"/>
          </a:p>
        </p:txBody>
      </p:sp>
      <p:sp>
        <p:nvSpPr>
          <p:cNvPr id="56" name="Text 53"/>
          <p:cNvSpPr/>
          <p:nvPr/>
        </p:nvSpPr>
        <p:spPr>
          <a:xfrm>
            <a:off x="4477220" y="2029569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56,9 %</a:t>
            </a:r>
            <a:endParaRPr lang="en-US" sz="636" dirty="0"/>
          </a:p>
        </p:txBody>
      </p:sp>
      <p:sp>
        <p:nvSpPr>
          <p:cNvPr id="57" name="Text 54"/>
          <p:cNvSpPr/>
          <p:nvPr/>
        </p:nvSpPr>
        <p:spPr>
          <a:xfrm>
            <a:off x="1540477" y="2172444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21.419</a:t>
            </a:r>
            <a:endParaRPr lang="en-US" sz="636" dirty="0"/>
          </a:p>
        </p:txBody>
      </p:sp>
      <p:sp>
        <p:nvSpPr>
          <p:cNvPr id="58" name="Text 55"/>
          <p:cNvSpPr/>
          <p:nvPr/>
        </p:nvSpPr>
        <p:spPr>
          <a:xfrm>
            <a:off x="2951194" y="2172444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13.486</a:t>
            </a:r>
            <a:endParaRPr lang="en-US" sz="636" dirty="0"/>
          </a:p>
        </p:txBody>
      </p:sp>
      <p:sp>
        <p:nvSpPr>
          <p:cNvPr id="59" name="Text 56"/>
          <p:cNvSpPr/>
          <p:nvPr/>
        </p:nvSpPr>
        <p:spPr>
          <a:xfrm>
            <a:off x="4477220" y="2172444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63,0 %</a:t>
            </a:r>
            <a:endParaRPr lang="en-US" sz="636" dirty="0"/>
          </a:p>
        </p:txBody>
      </p:sp>
      <p:sp>
        <p:nvSpPr>
          <p:cNvPr id="60" name="Text 57"/>
          <p:cNvSpPr/>
          <p:nvPr/>
        </p:nvSpPr>
        <p:spPr>
          <a:xfrm>
            <a:off x="1540477" y="2315319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19.096</a:t>
            </a:r>
            <a:endParaRPr lang="en-US" sz="636" dirty="0"/>
          </a:p>
        </p:txBody>
      </p:sp>
      <p:sp>
        <p:nvSpPr>
          <p:cNvPr id="61" name="Text 58"/>
          <p:cNvSpPr/>
          <p:nvPr/>
        </p:nvSpPr>
        <p:spPr>
          <a:xfrm>
            <a:off x="2951194" y="2315319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10.792</a:t>
            </a:r>
            <a:endParaRPr lang="en-US" sz="636" dirty="0"/>
          </a:p>
        </p:txBody>
      </p:sp>
      <p:sp>
        <p:nvSpPr>
          <p:cNvPr id="62" name="Text 59"/>
          <p:cNvSpPr/>
          <p:nvPr/>
        </p:nvSpPr>
        <p:spPr>
          <a:xfrm>
            <a:off x="4477220" y="2315319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56,5 %</a:t>
            </a:r>
            <a:endParaRPr lang="en-US" sz="636" dirty="0"/>
          </a:p>
        </p:txBody>
      </p:sp>
      <p:sp>
        <p:nvSpPr>
          <p:cNvPr id="63" name="Text 60"/>
          <p:cNvSpPr/>
          <p:nvPr/>
        </p:nvSpPr>
        <p:spPr>
          <a:xfrm>
            <a:off x="1540477" y="2458194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20.067</a:t>
            </a:r>
            <a:endParaRPr lang="en-US" sz="636" dirty="0"/>
          </a:p>
        </p:txBody>
      </p:sp>
      <p:sp>
        <p:nvSpPr>
          <p:cNvPr id="64" name="Text 61"/>
          <p:cNvSpPr/>
          <p:nvPr/>
        </p:nvSpPr>
        <p:spPr>
          <a:xfrm>
            <a:off x="2951194" y="2458194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13.166</a:t>
            </a:r>
            <a:endParaRPr lang="en-US" sz="636" dirty="0"/>
          </a:p>
        </p:txBody>
      </p:sp>
      <p:sp>
        <p:nvSpPr>
          <p:cNvPr id="65" name="Text 62"/>
          <p:cNvSpPr/>
          <p:nvPr/>
        </p:nvSpPr>
        <p:spPr>
          <a:xfrm>
            <a:off x="4477220" y="2458194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65,6 %</a:t>
            </a:r>
            <a:endParaRPr lang="en-US" sz="636" dirty="0"/>
          </a:p>
        </p:txBody>
      </p:sp>
      <p:sp>
        <p:nvSpPr>
          <p:cNvPr id="66" name="Text 63"/>
          <p:cNvSpPr/>
          <p:nvPr/>
        </p:nvSpPr>
        <p:spPr>
          <a:xfrm>
            <a:off x="1540477" y="2601069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19.767</a:t>
            </a:r>
            <a:endParaRPr lang="en-US" sz="636" dirty="0"/>
          </a:p>
        </p:txBody>
      </p:sp>
      <p:sp>
        <p:nvSpPr>
          <p:cNvPr id="67" name="Text 64"/>
          <p:cNvSpPr/>
          <p:nvPr/>
        </p:nvSpPr>
        <p:spPr>
          <a:xfrm>
            <a:off x="2951194" y="2601069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13.203</a:t>
            </a:r>
            <a:endParaRPr lang="en-US" sz="636" dirty="0"/>
          </a:p>
        </p:txBody>
      </p:sp>
      <p:sp>
        <p:nvSpPr>
          <p:cNvPr id="68" name="Text 65"/>
          <p:cNvSpPr/>
          <p:nvPr/>
        </p:nvSpPr>
        <p:spPr>
          <a:xfrm>
            <a:off x="4477220" y="2601069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66,8 %</a:t>
            </a:r>
            <a:endParaRPr lang="en-US" sz="636" dirty="0"/>
          </a:p>
        </p:txBody>
      </p:sp>
      <p:sp>
        <p:nvSpPr>
          <p:cNvPr id="69" name="Text 66"/>
          <p:cNvSpPr/>
          <p:nvPr/>
        </p:nvSpPr>
        <p:spPr>
          <a:xfrm>
            <a:off x="2951194" y="2743944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70.266</a:t>
            </a:r>
            <a:endParaRPr lang="en-US" sz="636" dirty="0"/>
          </a:p>
        </p:txBody>
      </p:sp>
      <p:sp>
        <p:nvSpPr>
          <p:cNvPr id="70" name="Text 67"/>
          <p:cNvSpPr/>
          <p:nvPr/>
        </p:nvSpPr>
        <p:spPr>
          <a:xfrm>
            <a:off x="4477220" y="2743944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61,3 %</a:t>
            </a:r>
            <a:endParaRPr lang="en-US" sz="636" dirty="0"/>
          </a:p>
        </p:txBody>
      </p:sp>
      <p:sp>
        <p:nvSpPr>
          <p:cNvPr id="71" name="Text 68"/>
          <p:cNvSpPr/>
          <p:nvPr/>
        </p:nvSpPr>
        <p:spPr>
          <a:xfrm>
            <a:off x="504812" y="3153519"/>
            <a:ext cx="1879325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Motivo</a:t>
            </a:r>
            <a:endParaRPr lang="en-US" sz="888" dirty="0"/>
          </a:p>
        </p:txBody>
      </p:sp>
      <p:sp>
        <p:nvSpPr>
          <p:cNvPr id="72" name="Text 69"/>
          <p:cNvSpPr/>
          <p:nvPr/>
        </p:nvSpPr>
        <p:spPr>
          <a:xfrm>
            <a:off x="5205169" y="33249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35.758</a:t>
            </a:r>
            <a:endParaRPr lang="en-US" sz="576" dirty="0"/>
          </a:p>
        </p:txBody>
      </p:sp>
      <p:sp>
        <p:nvSpPr>
          <p:cNvPr id="73" name="Text 70"/>
          <p:cNvSpPr/>
          <p:nvPr/>
        </p:nvSpPr>
        <p:spPr>
          <a:xfrm>
            <a:off x="5205169" y="34583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12.760</a:t>
            </a:r>
            <a:endParaRPr lang="en-US" sz="576" dirty="0"/>
          </a:p>
        </p:txBody>
      </p:sp>
      <p:sp>
        <p:nvSpPr>
          <p:cNvPr id="74" name="Text 71"/>
          <p:cNvSpPr/>
          <p:nvPr/>
        </p:nvSpPr>
        <p:spPr>
          <a:xfrm>
            <a:off x="2797702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11.134</a:t>
            </a:r>
            <a:endParaRPr lang="en-US" sz="576" dirty="0"/>
          </a:p>
        </p:txBody>
      </p:sp>
      <p:sp>
        <p:nvSpPr>
          <p:cNvPr id="75" name="Text 72"/>
          <p:cNvSpPr/>
          <p:nvPr/>
        </p:nvSpPr>
        <p:spPr>
          <a:xfrm>
            <a:off x="3280489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13.486</a:t>
            </a:r>
            <a:endParaRPr lang="en-US" sz="576" dirty="0"/>
          </a:p>
        </p:txBody>
      </p:sp>
      <p:sp>
        <p:nvSpPr>
          <p:cNvPr id="76" name="Text 73"/>
          <p:cNvSpPr/>
          <p:nvPr/>
        </p:nvSpPr>
        <p:spPr>
          <a:xfrm>
            <a:off x="3763275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10.792</a:t>
            </a:r>
            <a:endParaRPr lang="en-US" sz="576" dirty="0"/>
          </a:p>
        </p:txBody>
      </p:sp>
      <p:sp>
        <p:nvSpPr>
          <p:cNvPr id="77" name="Text 74"/>
          <p:cNvSpPr/>
          <p:nvPr/>
        </p:nvSpPr>
        <p:spPr>
          <a:xfrm>
            <a:off x="4246061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13.166</a:t>
            </a:r>
            <a:endParaRPr lang="en-US" sz="576" dirty="0"/>
          </a:p>
        </p:txBody>
      </p:sp>
      <p:sp>
        <p:nvSpPr>
          <p:cNvPr id="78" name="Text 75"/>
          <p:cNvSpPr/>
          <p:nvPr/>
        </p:nvSpPr>
        <p:spPr>
          <a:xfrm>
            <a:off x="4728848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13.203</a:t>
            </a:r>
            <a:endParaRPr lang="en-US" sz="576" dirty="0"/>
          </a:p>
        </p:txBody>
      </p:sp>
      <p:sp>
        <p:nvSpPr>
          <p:cNvPr id="79" name="Text 76"/>
          <p:cNvSpPr/>
          <p:nvPr/>
        </p:nvSpPr>
        <p:spPr>
          <a:xfrm>
            <a:off x="5205169" y="45251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70.266</a:t>
            </a:r>
            <a:endParaRPr lang="en-US" sz="576" dirty="0"/>
          </a:p>
        </p:txBody>
      </p:sp>
      <p:sp>
        <p:nvSpPr>
          <p:cNvPr id="80" name="Text 77"/>
          <p:cNvSpPr/>
          <p:nvPr/>
        </p:nvSpPr>
        <p:spPr>
          <a:xfrm>
            <a:off x="9273649" y="1715244"/>
            <a:ext cx="100818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8294831" y="18866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81,5 %</a:t>
            </a:r>
            <a:endParaRPr lang="en-US" sz="636" dirty="0"/>
          </a:p>
        </p:txBody>
      </p:sp>
      <p:sp>
        <p:nvSpPr>
          <p:cNvPr id="82" name="Text 79"/>
          <p:cNvSpPr/>
          <p:nvPr/>
        </p:nvSpPr>
        <p:spPr>
          <a:xfrm>
            <a:off x="10239394" y="188669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23,8 %</a:t>
            </a:r>
            <a:endParaRPr lang="en-US" sz="636" dirty="0"/>
          </a:p>
        </p:txBody>
      </p:sp>
      <p:sp>
        <p:nvSpPr>
          <p:cNvPr id="83" name="Text 80"/>
          <p:cNvSpPr/>
          <p:nvPr/>
        </p:nvSpPr>
        <p:spPr>
          <a:xfrm>
            <a:off x="8294831" y="20295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79,1 %</a:t>
            </a:r>
            <a:endParaRPr lang="en-US" sz="636" dirty="0"/>
          </a:p>
        </p:txBody>
      </p:sp>
      <p:sp>
        <p:nvSpPr>
          <p:cNvPr id="84" name="Text 81"/>
          <p:cNvSpPr/>
          <p:nvPr/>
        </p:nvSpPr>
        <p:spPr>
          <a:xfrm>
            <a:off x="10239394" y="2029569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21,7 %</a:t>
            </a:r>
            <a:endParaRPr lang="en-US" sz="636" dirty="0"/>
          </a:p>
        </p:txBody>
      </p:sp>
      <p:sp>
        <p:nvSpPr>
          <p:cNvPr id="85" name="Text 82"/>
          <p:cNvSpPr/>
          <p:nvPr/>
        </p:nvSpPr>
        <p:spPr>
          <a:xfrm>
            <a:off x="8294831" y="21724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78,5 %</a:t>
            </a:r>
            <a:endParaRPr lang="en-US" sz="636" dirty="0"/>
          </a:p>
        </p:txBody>
      </p:sp>
      <p:sp>
        <p:nvSpPr>
          <p:cNvPr id="86" name="Text 83"/>
          <p:cNvSpPr/>
          <p:nvPr/>
        </p:nvSpPr>
        <p:spPr>
          <a:xfrm>
            <a:off x="10239394" y="217244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18,7 %</a:t>
            </a:r>
            <a:endParaRPr lang="en-US" sz="636" dirty="0"/>
          </a:p>
        </p:txBody>
      </p:sp>
      <p:sp>
        <p:nvSpPr>
          <p:cNvPr id="87" name="Text 84"/>
          <p:cNvSpPr/>
          <p:nvPr/>
        </p:nvSpPr>
        <p:spPr>
          <a:xfrm>
            <a:off x="8294831" y="231531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75,6 %</a:t>
            </a:r>
            <a:endParaRPr lang="en-US" sz="636" dirty="0"/>
          </a:p>
        </p:txBody>
      </p:sp>
      <p:sp>
        <p:nvSpPr>
          <p:cNvPr id="88" name="Text 85"/>
          <p:cNvSpPr/>
          <p:nvPr/>
        </p:nvSpPr>
        <p:spPr>
          <a:xfrm>
            <a:off x="10239394" y="2315319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17,2 %</a:t>
            </a:r>
            <a:endParaRPr lang="en-US" sz="636" dirty="0"/>
          </a:p>
        </p:txBody>
      </p:sp>
      <p:sp>
        <p:nvSpPr>
          <p:cNvPr id="89" name="Text 86"/>
          <p:cNvSpPr/>
          <p:nvPr/>
        </p:nvSpPr>
        <p:spPr>
          <a:xfrm>
            <a:off x="8294831" y="24581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82,3 %</a:t>
            </a:r>
            <a:endParaRPr lang="en-US" sz="636" dirty="0"/>
          </a:p>
        </p:txBody>
      </p:sp>
      <p:sp>
        <p:nvSpPr>
          <p:cNvPr id="90" name="Text 87"/>
          <p:cNvSpPr/>
          <p:nvPr/>
        </p:nvSpPr>
        <p:spPr>
          <a:xfrm>
            <a:off x="10239394" y="245819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20,1 %</a:t>
            </a:r>
            <a:endParaRPr lang="en-US" sz="636" dirty="0"/>
          </a:p>
        </p:txBody>
      </p:sp>
      <p:sp>
        <p:nvSpPr>
          <p:cNvPr id="91" name="Text 88"/>
          <p:cNvSpPr/>
          <p:nvPr/>
        </p:nvSpPr>
        <p:spPr>
          <a:xfrm>
            <a:off x="8294831" y="26010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77,9 %</a:t>
            </a:r>
            <a:endParaRPr lang="en-US" sz="636" dirty="0"/>
          </a:p>
        </p:txBody>
      </p:sp>
      <p:sp>
        <p:nvSpPr>
          <p:cNvPr id="92" name="Text 89"/>
          <p:cNvSpPr/>
          <p:nvPr/>
        </p:nvSpPr>
        <p:spPr>
          <a:xfrm>
            <a:off x="10239394" y="2601069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19,9 %</a:t>
            </a:r>
            <a:endParaRPr lang="en-US" sz="636" dirty="0"/>
          </a:p>
        </p:txBody>
      </p:sp>
      <p:sp>
        <p:nvSpPr>
          <p:cNvPr id="93" name="Text 90"/>
          <p:cNvSpPr/>
          <p:nvPr/>
        </p:nvSpPr>
        <p:spPr>
          <a:xfrm>
            <a:off x="7316013" y="27439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44.428</a:t>
            </a:r>
            <a:endParaRPr lang="en-US" sz="636" dirty="0"/>
          </a:p>
        </p:txBody>
      </p:sp>
      <p:sp>
        <p:nvSpPr>
          <p:cNvPr id="94" name="Text 91"/>
          <p:cNvSpPr/>
          <p:nvPr/>
        </p:nvSpPr>
        <p:spPr>
          <a:xfrm>
            <a:off x="8294831" y="27439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79,0 %</a:t>
            </a:r>
            <a:endParaRPr lang="en-US" sz="636" dirty="0"/>
          </a:p>
        </p:txBody>
      </p:sp>
      <p:sp>
        <p:nvSpPr>
          <p:cNvPr id="95" name="Text 92"/>
          <p:cNvSpPr/>
          <p:nvPr/>
        </p:nvSpPr>
        <p:spPr>
          <a:xfrm>
            <a:off x="10239394" y="274394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22,0 %</a:t>
            </a:r>
            <a:endParaRPr lang="en-US" sz="636" dirty="0"/>
          </a:p>
        </p:txBody>
      </p:sp>
      <p:sp>
        <p:nvSpPr>
          <p:cNvPr id="96" name="Text 93"/>
          <p:cNvSpPr/>
          <p:nvPr/>
        </p:nvSpPr>
        <p:spPr>
          <a:xfrm>
            <a:off x="8077397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81,5 %</a:t>
            </a:r>
            <a:endParaRPr lang="en-US" sz="552" dirty="0"/>
          </a:p>
        </p:txBody>
      </p:sp>
      <p:sp>
        <p:nvSpPr>
          <p:cNvPr id="97" name="Text 94"/>
          <p:cNvSpPr/>
          <p:nvPr/>
        </p:nvSpPr>
        <p:spPr>
          <a:xfrm>
            <a:off x="8560183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79,1 %</a:t>
            </a:r>
            <a:endParaRPr lang="en-US" sz="552" dirty="0"/>
          </a:p>
        </p:txBody>
      </p:sp>
      <p:sp>
        <p:nvSpPr>
          <p:cNvPr id="98" name="Text 95"/>
          <p:cNvSpPr/>
          <p:nvPr/>
        </p:nvSpPr>
        <p:spPr>
          <a:xfrm>
            <a:off x="9042970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78,5 %</a:t>
            </a:r>
            <a:endParaRPr lang="en-US" sz="552" dirty="0"/>
          </a:p>
        </p:txBody>
      </p:sp>
      <p:sp>
        <p:nvSpPr>
          <p:cNvPr id="99" name="Text 96"/>
          <p:cNvSpPr/>
          <p:nvPr/>
        </p:nvSpPr>
        <p:spPr>
          <a:xfrm>
            <a:off x="9525756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75,6 %</a:t>
            </a:r>
            <a:endParaRPr lang="en-US" sz="552" dirty="0"/>
          </a:p>
        </p:txBody>
      </p:sp>
      <p:sp>
        <p:nvSpPr>
          <p:cNvPr id="100" name="Text 97"/>
          <p:cNvSpPr/>
          <p:nvPr/>
        </p:nvSpPr>
        <p:spPr>
          <a:xfrm>
            <a:off x="10008542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82,3 %</a:t>
            </a:r>
            <a:endParaRPr lang="en-US" sz="552" dirty="0"/>
          </a:p>
        </p:txBody>
      </p:sp>
      <p:sp>
        <p:nvSpPr>
          <p:cNvPr id="101" name="Text 98"/>
          <p:cNvSpPr/>
          <p:nvPr/>
        </p:nvSpPr>
        <p:spPr>
          <a:xfrm>
            <a:off x="10491329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77,9 %</a:t>
            </a:r>
            <a:endParaRPr lang="en-US" sz="552" dirty="0"/>
          </a:p>
        </p:txBody>
      </p:sp>
      <p:sp>
        <p:nvSpPr>
          <p:cNvPr id="102" name="Text 99"/>
          <p:cNvSpPr/>
          <p:nvPr/>
        </p:nvSpPr>
        <p:spPr>
          <a:xfrm>
            <a:off x="10967650" y="33249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79,0 %</a:t>
            </a:r>
            <a:endParaRPr lang="en-US" sz="552" dirty="0"/>
          </a:p>
        </p:txBody>
      </p:sp>
      <p:sp>
        <p:nvSpPr>
          <p:cNvPr id="103" name="Text 100"/>
          <p:cNvSpPr/>
          <p:nvPr/>
        </p:nvSpPr>
        <p:spPr>
          <a:xfrm>
            <a:off x="8077397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19,9 %</a:t>
            </a:r>
            <a:endParaRPr lang="en-US" sz="552" dirty="0"/>
          </a:p>
        </p:txBody>
      </p:sp>
      <p:sp>
        <p:nvSpPr>
          <p:cNvPr id="104" name="Text 101"/>
          <p:cNvSpPr/>
          <p:nvPr/>
        </p:nvSpPr>
        <p:spPr>
          <a:xfrm>
            <a:off x="8560183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17,5 %</a:t>
            </a:r>
            <a:endParaRPr lang="en-US" sz="552" dirty="0"/>
          </a:p>
        </p:txBody>
      </p:sp>
      <p:sp>
        <p:nvSpPr>
          <p:cNvPr id="105" name="Text 102"/>
          <p:cNvSpPr/>
          <p:nvPr/>
        </p:nvSpPr>
        <p:spPr>
          <a:xfrm>
            <a:off x="9042970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15,9 %</a:t>
            </a:r>
            <a:endParaRPr lang="en-US" sz="552" dirty="0"/>
          </a:p>
        </p:txBody>
      </p:sp>
      <p:sp>
        <p:nvSpPr>
          <p:cNvPr id="106" name="Text 103"/>
          <p:cNvSpPr/>
          <p:nvPr/>
        </p:nvSpPr>
        <p:spPr>
          <a:xfrm>
            <a:off x="9525756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14,2 %</a:t>
            </a:r>
            <a:endParaRPr lang="en-US" sz="552" dirty="0"/>
          </a:p>
        </p:txBody>
      </p:sp>
      <p:sp>
        <p:nvSpPr>
          <p:cNvPr id="107" name="Text 104"/>
          <p:cNvSpPr/>
          <p:nvPr/>
        </p:nvSpPr>
        <p:spPr>
          <a:xfrm>
            <a:off x="10008542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18,6 %</a:t>
            </a:r>
            <a:endParaRPr lang="en-US" sz="552" dirty="0"/>
          </a:p>
        </p:txBody>
      </p:sp>
      <p:sp>
        <p:nvSpPr>
          <p:cNvPr id="108" name="Text 105"/>
          <p:cNvSpPr/>
          <p:nvPr/>
        </p:nvSpPr>
        <p:spPr>
          <a:xfrm>
            <a:off x="10491329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19,1 %</a:t>
            </a:r>
            <a:endParaRPr lang="en-US" sz="552" dirty="0"/>
          </a:p>
        </p:txBody>
      </p:sp>
      <p:sp>
        <p:nvSpPr>
          <p:cNvPr id="109" name="Text 106"/>
          <p:cNvSpPr/>
          <p:nvPr/>
        </p:nvSpPr>
        <p:spPr>
          <a:xfrm>
            <a:off x="10967650" y="34583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15,9 %</a:t>
            </a:r>
            <a:endParaRPr lang="en-US" sz="552" dirty="0"/>
          </a:p>
        </p:txBody>
      </p:sp>
      <p:sp>
        <p:nvSpPr>
          <p:cNvPr id="110" name="Text 107"/>
          <p:cNvSpPr/>
          <p:nvPr/>
        </p:nvSpPr>
        <p:spPr>
          <a:xfrm>
            <a:off x="8077397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31,6 %</a:t>
            </a:r>
            <a:endParaRPr lang="en-US" sz="552" dirty="0"/>
          </a:p>
        </p:txBody>
      </p:sp>
      <p:sp>
        <p:nvSpPr>
          <p:cNvPr id="111" name="Text 108"/>
          <p:cNvSpPr/>
          <p:nvPr/>
        </p:nvSpPr>
        <p:spPr>
          <a:xfrm>
            <a:off x="8560183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30,7 %</a:t>
            </a:r>
            <a:endParaRPr lang="en-US" sz="552" dirty="0"/>
          </a:p>
        </p:txBody>
      </p:sp>
      <p:sp>
        <p:nvSpPr>
          <p:cNvPr id="112" name="Text 109"/>
          <p:cNvSpPr/>
          <p:nvPr/>
        </p:nvSpPr>
        <p:spPr>
          <a:xfrm>
            <a:off x="9042970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30,4 %</a:t>
            </a:r>
            <a:endParaRPr lang="en-US" sz="552" dirty="0"/>
          </a:p>
        </p:txBody>
      </p:sp>
      <p:sp>
        <p:nvSpPr>
          <p:cNvPr id="113" name="Text 110"/>
          <p:cNvSpPr/>
          <p:nvPr/>
        </p:nvSpPr>
        <p:spPr>
          <a:xfrm>
            <a:off x="9525756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29,3 %</a:t>
            </a:r>
            <a:endParaRPr lang="en-US" sz="552" dirty="0"/>
          </a:p>
        </p:txBody>
      </p:sp>
      <p:sp>
        <p:nvSpPr>
          <p:cNvPr id="114" name="Text 111"/>
          <p:cNvSpPr/>
          <p:nvPr/>
        </p:nvSpPr>
        <p:spPr>
          <a:xfrm>
            <a:off x="10008542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31,9 %</a:t>
            </a:r>
            <a:endParaRPr lang="en-US" sz="552" dirty="0"/>
          </a:p>
        </p:txBody>
      </p:sp>
      <p:sp>
        <p:nvSpPr>
          <p:cNvPr id="115" name="Text 112"/>
          <p:cNvSpPr/>
          <p:nvPr/>
        </p:nvSpPr>
        <p:spPr>
          <a:xfrm>
            <a:off x="10491329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30,2 %</a:t>
            </a:r>
            <a:endParaRPr lang="en-US" sz="552" dirty="0"/>
          </a:p>
        </p:txBody>
      </p:sp>
      <p:sp>
        <p:nvSpPr>
          <p:cNvPr id="116" name="Text 113"/>
          <p:cNvSpPr/>
          <p:nvPr/>
        </p:nvSpPr>
        <p:spPr>
          <a:xfrm>
            <a:off x="10967650" y="35916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30,6 %</a:t>
            </a:r>
            <a:endParaRPr lang="en-US" sz="552" dirty="0"/>
          </a:p>
        </p:txBody>
      </p:sp>
      <p:sp>
        <p:nvSpPr>
          <p:cNvPr id="117" name="Text 114"/>
          <p:cNvSpPr/>
          <p:nvPr/>
        </p:nvSpPr>
        <p:spPr>
          <a:xfrm>
            <a:off x="8077397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10,3 %</a:t>
            </a:r>
            <a:endParaRPr lang="en-US" sz="552" dirty="0"/>
          </a:p>
        </p:txBody>
      </p:sp>
      <p:sp>
        <p:nvSpPr>
          <p:cNvPr id="118" name="Text 115"/>
          <p:cNvSpPr/>
          <p:nvPr/>
        </p:nvSpPr>
        <p:spPr>
          <a:xfrm>
            <a:off x="8560183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10,0 %</a:t>
            </a:r>
            <a:endParaRPr lang="en-US" sz="552" dirty="0"/>
          </a:p>
        </p:txBody>
      </p:sp>
      <p:sp>
        <p:nvSpPr>
          <p:cNvPr id="119" name="Text 116"/>
          <p:cNvSpPr/>
          <p:nvPr/>
        </p:nvSpPr>
        <p:spPr>
          <a:xfrm>
            <a:off x="10008542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10,4 %</a:t>
            </a:r>
            <a:endParaRPr lang="en-US" sz="552" dirty="0"/>
          </a:p>
        </p:txBody>
      </p:sp>
      <p:sp>
        <p:nvSpPr>
          <p:cNvPr id="120" name="Text 117"/>
          <p:cNvSpPr/>
          <p:nvPr/>
        </p:nvSpPr>
        <p:spPr>
          <a:xfrm>
            <a:off x="10967650" y="37250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10,0 %</a:t>
            </a:r>
            <a:endParaRPr lang="en-US" sz="552" dirty="0"/>
          </a:p>
        </p:txBody>
      </p:sp>
      <p:sp>
        <p:nvSpPr>
          <p:cNvPr id="121" name="Text 118"/>
          <p:cNvSpPr/>
          <p:nvPr/>
        </p:nvSpPr>
        <p:spPr>
          <a:xfrm>
            <a:off x="8077397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18,5 %</a:t>
            </a:r>
            <a:endParaRPr lang="en-US" sz="552" dirty="0"/>
          </a:p>
        </p:txBody>
      </p:sp>
      <p:sp>
        <p:nvSpPr>
          <p:cNvPr id="122" name="Text 119"/>
          <p:cNvSpPr/>
          <p:nvPr/>
        </p:nvSpPr>
        <p:spPr>
          <a:xfrm>
            <a:off x="8560183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20,9 %</a:t>
            </a:r>
            <a:endParaRPr lang="en-US" sz="552" dirty="0"/>
          </a:p>
        </p:txBody>
      </p:sp>
      <p:sp>
        <p:nvSpPr>
          <p:cNvPr id="123" name="Text 120"/>
          <p:cNvSpPr/>
          <p:nvPr/>
        </p:nvSpPr>
        <p:spPr>
          <a:xfrm>
            <a:off x="9042970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21,5 %</a:t>
            </a:r>
            <a:endParaRPr lang="en-US" sz="552" dirty="0"/>
          </a:p>
        </p:txBody>
      </p:sp>
      <p:sp>
        <p:nvSpPr>
          <p:cNvPr id="124" name="Text 121"/>
          <p:cNvSpPr/>
          <p:nvPr/>
        </p:nvSpPr>
        <p:spPr>
          <a:xfrm>
            <a:off x="9525756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24,4 %</a:t>
            </a:r>
            <a:endParaRPr lang="en-US" sz="552" dirty="0"/>
          </a:p>
        </p:txBody>
      </p:sp>
      <p:sp>
        <p:nvSpPr>
          <p:cNvPr id="125" name="Text 122"/>
          <p:cNvSpPr/>
          <p:nvPr/>
        </p:nvSpPr>
        <p:spPr>
          <a:xfrm>
            <a:off x="10008542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17,7 %</a:t>
            </a:r>
            <a:endParaRPr lang="en-US" sz="552" dirty="0"/>
          </a:p>
        </p:txBody>
      </p:sp>
      <p:sp>
        <p:nvSpPr>
          <p:cNvPr id="126" name="Text 123"/>
          <p:cNvSpPr/>
          <p:nvPr/>
        </p:nvSpPr>
        <p:spPr>
          <a:xfrm>
            <a:off x="10491329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22,1 %</a:t>
            </a:r>
            <a:endParaRPr lang="en-US" sz="552" dirty="0"/>
          </a:p>
        </p:txBody>
      </p:sp>
      <p:sp>
        <p:nvSpPr>
          <p:cNvPr id="127" name="Text 124"/>
          <p:cNvSpPr/>
          <p:nvPr/>
        </p:nvSpPr>
        <p:spPr>
          <a:xfrm>
            <a:off x="10967650" y="45251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21,0 %</a:t>
            </a:r>
            <a:endParaRPr lang="en-US" sz="552" dirty="0"/>
          </a:p>
        </p:txBody>
      </p:sp>
      <p:sp>
        <p:nvSpPr>
          <p:cNvPr id="128" name="Text 125"/>
          <p:cNvSpPr/>
          <p:nvPr/>
        </p:nvSpPr>
        <p:spPr>
          <a:xfrm>
            <a:off x="8077397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12,1 %</a:t>
            </a:r>
            <a:endParaRPr lang="en-US" sz="552" dirty="0"/>
          </a:p>
        </p:txBody>
      </p:sp>
      <p:sp>
        <p:nvSpPr>
          <p:cNvPr id="129" name="Text 126"/>
          <p:cNvSpPr/>
          <p:nvPr/>
        </p:nvSpPr>
        <p:spPr>
          <a:xfrm>
            <a:off x="8560183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13,7 %</a:t>
            </a:r>
            <a:endParaRPr lang="en-US" sz="552" dirty="0"/>
          </a:p>
        </p:txBody>
      </p:sp>
      <p:sp>
        <p:nvSpPr>
          <p:cNvPr id="130" name="Text 127"/>
          <p:cNvSpPr/>
          <p:nvPr/>
        </p:nvSpPr>
        <p:spPr>
          <a:xfrm>
            <a:off x="9042970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14,1 %</a:t>
            </a:r>
            <a:endParaRPr lang="en-US" sz="552" dirty="0"/>
          </a:p>
        </p:txBody>
      </p:sp>
      <p:sp>
        <p:nvSpPr>
          <p:cNvPr id="131" name="Text 128"/>
          <p:cNvSpPr/>
          <p:nvPr/>
        </p:nvSpPr>
        <p:spPr>
          <a:xfrm>
            <a:off x="9525756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16,0 %</a:t>
            </a:r>
            <a:endParaRPr lang="en-US" sz="552" dirty="0"/>
          </a:p>
        </p:txBody>
      </p:sp>
      <p:sp>
        <p:nvSpPr>
          <p:cNvPr id="132" name="Text 129"/>
          <p:cNvSpPr/>
          <p:nvPr/>
        </p:nvSpPr>
        <p:spPr>
          <a:xfrm>
            <a:off x="10008542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11,6 %</a:t>
            </a:r>
            <a:endParaRPr lang="en-US" sz="552" dirty="0"/>
          </a:p>
        </p:txBody>
      </p:sp>
      <p:sp>
        <p:nvSpPr>
          <p:cNvPr id="133" name="Text 130"/>
          <p:cNvSpPr/>
          <p:nvPr/>
        </p:nvSpPr>
        <p:spPr>
          <a:xfrm>
            <a:off x="10491329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14,5 %</a:t>
            </a:r>
            <a:endParaRPr lang="en-US" sz="552" dirty="0"/>
          </a:p>
        </p:txBody>
      </p:sp>
      <p:sp>
        <p:nvSpPr>
          <p:cNvPr id="134" name="Text 131"/>
          <p:cNvSpPr/>
          <p:nvPr/>
        </p:nvSpPr>
        <p:spPr>
          <a:xfrm>
            <a:off x="10967650" y="46584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13,8 %</a:t>
            </a:r>
            <a:endParaRPr lang="en-US" sz="552" dirty="0"/>
          </a:p>
        </p:txBody>
      </p:sp>
      <p:sp>
        <p:nvSpPr>
          <p:cNvPr id="135" name="Text 132"/>
          <p:cNvSpPr/>
          <p:nvPr/>
        </p:nvSpPr>
        <p:spPr>
          <a:xfrm>
            <a:off x="8216595" y="952500"/>
            <a:ext cx="562697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20,1 %</a:t>
            </a:r>
            <a:endParaRPr lang="en-US" sz="1380" dirty="0"/>
          </a:p>
        </p:txBody>
      </p:sp>
      <p:sp>
        <p:nvSpPr>
          <p:cNvPr id="136" name="Text 133"/>
          <p:cNvSpPr/>
          <p:nvPr/>
        </p:nvSpPr>
        <p:spPr>
          <a:xfrm>
            <a:off x="495288" y="18866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37" name="Text 134"/>
          <p:cNvSpPr/>
          <p:nvPr/>
        </p:nvSpPr>
        <p:spPr>
          <a:xfrm>
            <a:off x="2951194" y="1886694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8.485</a:t>
            </a:r>
            <a:endParaRPr lang="en-US" sz="636" dirty="0"/>
          </a:p>
        </p:txBody>
      </p:sp>
      <p:sp>
        <p:nvSpPr>
          <p:cNvPr id="138" name="Text 135"/>
          <p:cNvSpPr/>
          <p:nvPr/>
        </p:nvSpPr>
        <p:spPr>
          <a:xfrm>
            <a:off x="495288" y="21724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39" name="Text 136"/>
          <p:cNvSpPr/>
          <p:nvPr/>
        </p:nvSpPr>
        <p:spPr>
          <a:xfrm>
            <a:off x="495288" y="231531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40" name="Text 137"/>
          <p:cNvSpPr/>
          <p:nvPr/>
        </p:nvSpPr>
        <p:spPr>
          <a:xfrm>
            <a:off x="495288" y="26010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41" name="Text 138"/>
          <p:cNvSpPr/>
          <p:nvPr/>
        </p:nvSpPr>
        <p:spPr>
          <a:xfrm>
            <a:off x="495288" y="27439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42" name="Text 139"/>
          <p:cNvSpPr/>
          <p:nvPr/>
        </p:nvSpPr>
        <p:spPr>
          <a:xfrm>
            <a:off x="5205169" y="3153519"/>
            <a:ext cx="71923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43" name="Text 140"/>
          <p:cNvSpPr/>
          <p:nvPr/>
        </p:nvSpPr>
        <p:spPr>
          <a:xfrm>
            <a:off x="2314916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4.318</a:t>
            </a:r>
            <a:endParaRPr lang="en-US" sz="576" dirty="0"/>
          </a:p>
        </p:txBody>
      </p:sp>
      <p:sp>
        <p:nvSpPr>
          <p:cNvPr id="144" name="Text 141"/>
          <p:cNvSpPr/>
          <p:nvPr/>
        </p:nvSpPr>
        <p:spPr>
          <a:xfrm>
            <a:off x="2797702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5.666</a:t>
            </a:r>
            <a:endParaRPr lang="en-US" sz="576" dirty="0"/>
          </a:p>
        </p:txBody>
      </p:sp>
      <p:sp>
        <p:nvSpPr>
          <p:cNvPr id="145" name="Text 142"/>
          <p:cNvSpPr/>
          <p:nvPr/>
        </p:nvSpPr>
        <p:spPr>
          <a:xfrm>
            <a:off x="3280489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6.863</a:t>
            </a:r>
            <a:endParaRPr lang="en-US" sz="576" dirty="0"/>
          </a:p>
        </p:txBody>
      </p:sp>
      <p:sp>
        <p:nvSpPr>
          <p:cNvPr id="146" name="Text 143"/>
          <p:cNvSpPr/>
          <p:nvPr/>
        </p:nvSpPr>
        <p:spPr>
          <a:xfrm>
            <a:off x="3763275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5.492</a:t>
            </a:r>
            <a:endParaRPr lang="en-US" sz="576" dirty="0"/>
          </a:p>
        </p:txBody>
      </p:sp>
      <p:sp>
        <p:nvSpPr>
          <p:cNvPr id="147" name="Text 144"/>
          <p:cNvSpPr/>
          <p:nvPr/>
        </p:nvSpPr>
        <p:spPr>
          <a:xfrm>
            <a:off x="4246061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6.700</a:t>
            </a:r>
            <a:endParaRPr lang="en-US" sz="576" dirty="0"/>
          </a:p>
        </p:txBody>
      </p:sp>
      <p:sp>
        <p:nvSpPr>
          <p:cNvPr id="148" name="Text 145"/>
          <p:cNvSpPr/>
          <p:nvPr/>
        </p:nvSpPr>
        <p:spPr>
          <a:xfrm>
            <a:off x="4728848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6.719</a:t>
            </a:r>
            <a:endParaRPr lang="en-US" sz="576" dirty="0"/>
          </a:p>
        </p:txBody>
      </p:sp>
      <p:sp>
        <p:nvSpPr>
          <p:cNvPr id="149" name="Text 146"/>
          <p:cNvSpPr/>
          <p:nvPr/>
        </p:nvSpPr>
        <p:spPr>
          <a:xfrm>
            <a:off x="2314916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1.541</a:t>
            </a:r>
            <a:endParaRPr lang="en-US" sz="576" dirty="0"/>
          </a:p>
        </p:txBody>
      </p:sp>
      <p:sp>
        <p:nvSpPr>
          <p:cNvPr id="150" name="Text 147"/>
          <p:cNvSpPr/>
          <p:nvPr/>
        </p:nvSpPr>
        <p:spPr>
          <a:xfrm>
            <a:off x="2797702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2.022</a:t>
            </a:r>
            <a:endParaRPr lang="en-US" sz="576" dirty="0"/>
          </a:p>
        </p:txBody>
      </p:sp>
      <p:sp>
        <p:nvSpPr>
          <p:cNvPr id="151" name="Text 148"/>
          <p:cNvSpPr/>
          <p:nvPr/>
        </p:nvSpPr>
        <p:spPr>
          <a:xfrm>
            <a:off x="3280489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2.448</a:t>
            </a:r>
            <a:endParaRPr lang="en-US" sz="576" dirty="0"/>
          </a:p>
        </p:txBody>
      </p:sp>
      <p:sp>
        <p:nvSpPr>
          <p:cNvPr id="152" name="Text 149"/>
          <p:cNvSpPr/>
          <p:nvPr/>
        </p:nvSpPr>
        <p:spPr>
          <a:xfrm>
            <a:off x="3763275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1.960</a:t>
            </a:r>
            <a:endParaRPr lang="en-US" sz="576" dirty="0"/>
          </a:p>
        </p:txBody>
      </p:sp>
      <p:sp>
        <p:nvSpPr>
          <p:cNvPr id="153" name="Text 150"/>
          <p:cNvSpPr/>
          <p:nvPr/>
        </p:nvSpPr>
        <p:spPr>
          <a:xfrm>
            <a:off x="4246061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2.391</a:t>
            </a:r>
            <a:endParaRPr lang="en-US" sz="576" dirty="0"/>
          </a:p>
        </p:txBody>
      </p:sp>
      <p:sp>
        <p:nvSpPr>
          <p:cNvPr id="154" name="Text 151"/>
          <p:cNvSpPr/>
          <p:nvPr/>
        </p:nvSpPr>
        <p:spPr>
          <a:xfrm>
            <a:off x="4728848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2.398</a:t>
            </a:r>
            <a:endParaRPr lang="en-US" sz="576" dirty="0"/>
          </a:p>
        </p:txBody>
      </p:sp>
      <p:sp>
        <p:nvSpPr>
          <p:cNvPr id="155" name="Text 152"/>
          <p:cNvSpPr/>
          <p:nvPr/>
        </p:nvSpPr>
        <p:spPr>
          <a:xfrm>
            <a:off x="2797702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1.113</a:t>
            </a:r>
            <a:endParaRPr lang="en-US" sz="576" dirty="0"/>
          </a:p>
        </p:txBody>
      </p:sp>
      <p:sp>
        <p:nvSpPr>
          <p:cNvPr id="156" name="Text 153"/>
          <p:cNvSpPr/>
          <p:nvPr/>
        </p:nvSpPr>
        <p:spPr>
          <a:xfrm>
            <a:off x="3280489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1.349</a:t>
            </a:r>
            <a:endParaRPr lang="en-US" sz="576" dirty="0"/>
          </a:p>
        </p:txBody>
      </p:sp>
      <p:sp>
        <p:nvSpPr>
          <p:cNvPr id="157" name="Text 154"/>
          <p:cNvSpPr/>
          <p:nvPr/>
        </p:nvSpPr>
        <p:spPr>
          <a:xfrm>
            <a:off x="3763275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1.079</a:t>
            </a:r>
            <a:endParaRPr lang="en-US" sz="576" dirty="0"/>
          </a:p>
        </p:txBody>
      </p:sp>
      <p:sp>
        <p:nvSpPr>
          <p:cNvPr id="158" name="Text 155"/>
          <p:cNvSpPr/>
          <p:nvPr/>
        </p:nvSpPr>
        <p:spPr>
          <a:xfrm>
            <a:off x="4246061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1.317</a:t>
            </a:r>
            <a:endParaRPr lang="en-US" sz="576" dirty="0"/>
          </a:p>
        </p:txBody>
      </p:sp>
      <p:sp>
        <p:nvSpPr>
          <p:cNvPr id="159" name="Text 156"/>
          <p:cNvSpPr/>
          <p:nvPr/>
        </p:nvSpPr>
        <p:spPr>
          <a:xfrm>
            <a:off x="4728848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1.320</a:t>
            </a:r>
            <a:endParaRPr lang="en-US" sz="576" dirty="0"/>
          </a:p>
        </p:txBody>
      </p:sp>
      <p:sp>
        <p:nvSpPr>
          <p:cNvPr id="160" name="Text 157"/>
          <p:cNvSpPr/>
          <p:nvPr/>
        </p:nvSpPr>
        <p:spPr>
          <a:xfrm>
            <a:off x="5205169" y="35916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7.027</a:t>
            </a:r>
            <a:endParaRPr lang="en-US" sz="576" dirty="0"/>
          </a:p>
        </p:txBody>
      </p:sp>
      <p:sp>
        <p:nvSpPr>
          <p:cNvPr id="161" name="Text 158"/>
          <p:cNvSpPr/>
          <p:nvPr/>
        </p:nvSpPr>
        <p:spPr>
          <a:xfrm>
            <a:off x="3280489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1.135</a:t>
            </a:r>
            <a:endParaRPr lang="en-US" sz="576" dirty="0"/>
          </a:p>
        </p:txBody>
      </p:sp>
      <p:sp>
        <p:nvSpPr>
          <p:cNvPr id="162" name="Text 159"/>
          <p:cNvSpPr/>
          <p:nvPr/>
        </p:nvSpPr>
        <p:spPr>
          <a:xfrm>
            <a:off x="4246061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1.109</a:t>
            </a:r>
            <a:endParaRPr lang="en-US" sz="576" dirty="0"/>
          </a:p>
        </p:txBody>
      </p:sp>
      <p:sp>
        <p:nvSpPr>
          <p:cNvPr id="163" name="Text 160"/>
          <p:cNvSpPr/>
          <p:nvPr/>
        </p:nvSpPr>
        <p:spPr>
          <a:xfrm>
            <a:off x="4728848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1.112</a:t>
            </a:r>
            <a:endParaRPr lang="en-US" sz="576" dirty="0"/>
          </a:p>
        </p:txBody>
      </p:sp>
      <p:sp>
        <p:nvSpPr>
          <p:cNvPr id="164" name="Text 161"/>
          <p:cNvSpPr/>
          <p:nvPr/>
        </p:nvSpPr>
        <p:spPr>
          <a:xfrm>
            <a:off x="5205169" y="37250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5.916</a:t>
            </a:r>
            <a:endParaRPr lang="en-US" sz="576" dirty="0"/>
          </a:p>
        </p:txBody>
      </p:sp>
      <p:sp>
        <p:nvSpPr>
          <p:cNvPr id="165" name="Text 162"/>
          <p:cNvSpPr/>
          <p:nvPr/>
        </p:nvSpPr>
        <p:spPr>
          <a:xfrm>
            <a:off x="5205169" y="38583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4.624</a:t>
            </a:r>
            <a:endParaRPr lang="en-US" sz="576" dirty="0"/>
          </a:p>
        </p:txBody>
      </p:sp>
      <p:sp>
        <p:nvSpPr>
          <p:cNvPr id="166" name="Text 163"/>
          <p:cNvSpPr/>
          <p:nvPr/>
        </p:nvSpPr>
        <p:spPr>
          <a:xfrm>
            <a:off x="5205169" y="39917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1.912</a:t>
            </a:r>
            <a:endParaRPr lang="en-US" sz="576" dirty="0"/>
          </a:p>
        </p:txBody>
      </p:sp>
      <p:sp>
        <p:nvSpPr>
          <p:cNvPr id="167" name="Text 164"/>
          <p:cNvSpPr/>
          <p:nvPr/>
        </p:nvSpPr>
        <p:spPr>
          <a:xfrm>
            <a:off x="5205169" y="41250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1.070</a:t>
            </a:r>
            <a:endParaRPr lang="en-US" sz="576" dirty="0"/>
          </a:p>
        </p:txBody>
      </p:sp>
      <p:sp>
        <p:nvSpPr>
          <p:cNvPr id="168" name="Text 165"/>
          <p:cNvSpPr/>
          <p:nvPr/>
        </p:nvSpPr>
        <p:spPr>
          <a:xfrm>
            <a:off x="504812" y="45251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576" dirty="0"/>
          </a:p>
        </p:txBody>
      </p:sp>
      <p:sp>
        <p:nvSpPr>
          <p:cNvPr id="169" name="Text 166"/>
          <p:cNvSpPr/>
          <p:nvPr/>
        </p:nvSpPr>
        <p:spPr>
          <a:xfrm>
            <a:off x="2314916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8.485</a:t>
            </a:r>
            <a:endParaRPr lang="en-US" sz="576" dirty="0"/>
          </a:p>
        </p:txBody>
      </p:sp>
      <p:sp>
        <p:nvSpPr>
          <p:cNvPr id="170" name="Text 167"/>
          <p:cNvSpPr/>
          <p:nvPr/>
        </p:nvSpPr>
        <p:spPr>
          <a:xfrm>
            <a:off x="7316013" y="1715244"/>
            <a:ext cx="100818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171" name="Text 168"/>
          <p:cNvSpPr/>
          <p:nvPr/>
        </p:nvSpPr>
        <p:spPr>
          <a:xfrm>
            <a:off x="6257769" y="18866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72" name="Text 169"/>
          <p:cNvSpPr/>
          <p:nvPr/>
        </p:nvSpPr>
        <p:spPr>
          <a:xfrm>
            <a:off x="7316013" y="18866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6.287</a:t>
            </a:r>
            <a:endParaRPr lang="en-US" sz="636" dirty="0"/>
          </a:p>
        </p:txBody>
      </p:sp>
      <p:sp>
        <p:nvSpPr>
          <p:cNvPr id="173" name="Text 170"/>
          <p:cNvSpPr/>
          <p:nvPr/>
        </p:nvSpPr>
        <p:spPr>
          <a:xfrm>
            <a:off x="9273649" y="18866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1.251</a:t>
            </a:r>
            <a:endParaRPr lang="en-US" sz="636" dirty="0"/>
          </a:p>
        </p:txBody>
      </p:sp>
      <p:sp>
        <p:nvSpPr>
          <p:cNvPr id="174" name="Text 171"/>
          <p:cNvSpPr/>
          <p:nvPr/>
        </p:nvSpPr>
        <p:spPr>
          <a:xfrm>
            <a:off x="7316013" y="20295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8.439</a:t>
            </a:r>
            <a:endParaRPr lang="en-US" sz="636" dirty="0"/>
          </a:p>
        </p:txBody>
      </p:sp>
      <p:sp>
        <p:nvSpPr>
          <p:cNvPr id="175" name="Text 172"/>
          <p:cNvSpPr/>
          <p:nvPr/>
        </p:nvSpPr>
        <p:spPr>
          <a:xfrm>
            <a:off x="9273649" y="20295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1.480</a:t>
            </a:r>
            <a:endParaRPr lang="en-US" sz="636" dirty="0"/>
          </a:p>
        </p:txBody>
      </p:sp>
      <p:sp>
        <p:nvSpPr>
          <p:cNvPr id="176" name="Text 173"/>
          <p:cNvSpPr/>
          <p:nvPr/>
        </p:nvSpPr>
        <p:spPr>
          <a:xfrm>
            <a:off x="6257769" y="21724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77" name="Text 174"/>
          <p:cNvSpPr/>
          <p:nvPr/>
        </p:nvSpPr>
        <p:spPr>
          <a:xfrm>
            <a:off x="7316013" y="21724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7.933</a:t>
            </a:r>
            <a:endParaRPr lang="en-US" sz="636" dirty="0"/>
          </a:p>
        </p:txBody>
      </p:sp>
      <p:sp>
        <p:nvSpPr>
          <p:cNvPr id="178" name="Text 175"/>
          <p:cNvSpPr/>
          <p:nvPr/>
        </p:nvSpPr>
        <p:spPr>
          <a:xfrm>
            <a:off x="9273649" y="21724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1.265</a:t>
            </a:r>
            <a:endParaRPr lang="en-US" sz="636" dirty="0"/>
          </a:p>
        </p:txBody>
      </p:sp>
      <p:sp>
        <p:nvSpPr>
          <p:cNvPr id="179" name="Text 176"/>
          <p:cNvSpPr/>
          <p:nvPr/>
        </p:nvSpPr>
        <p:spPr>
          <a:xfrm>
            <a:off x="6257769" y="231531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80" name="Text 177"/>
          <p:cNvSpPr/>
          <p:nvPr/>
        </p:nvSpPr>
        <p:spPr>
          <a:xfrm>
            <a:off x="7316013" y="231531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8.304</a:t>
            </a:r>
            <a:endParaRPr lang="en-US" sz="636" dirty="0"/>
          </a:p>
        </p:txBody>
      </p:sp>
      <p:sp>
        <p:nvSpPr>
          <p:cNvPr id="181" name="Text 178"/>
          <p:cNvSpPr/>
          <p:nvPr/>
        </p:nvSpPr>
        <p:spPr>
          <a:xfrm>
            <a:off x="9273649" y="231531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1.180</a:t>
            </a:r>
            <a:endParaRPr lang="en-US" sz="636" dirty="0"/>
          </a:p>
        </p:txBody>
      </p:sp>
      <p:sp>
        <p:nvSpPr>
          <p:cNvPr id="182" name="Text 179"/>
          <p:cNvSpPr/>
          <p:nvPr/>
        </p:nvSpPr>
        <p:spPr>
          <a:xfrm>
            <a:off x="7316013" y="24581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6.901</a:t>
            </a:r>
            <a:endParaRPr lang="en-US" sz="636" dirty="0"/>
          </a:p>
        </p:txBody>
      </p:sp>
      <p:sp>
        <p:nvSpPr>
          <p:cNvPr id="183" name="Text 180"/>
          <p:cNvSpPr/>
          <p:nvPr/>
        </p:nvSpPr>
        <p:spPr>
          <a:xfrm>
            <a:off x="9273649" y="24581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1.286</a:t>
            </a:r>
            <a:endParaRPr lang="en-US" sz="636" dirty="0"/>
          </a:p>
        </p:txBody>
      </p:sp>
      <p:sp>
        <p:nvSpPr>
          <p:cNvPr id="184" name="Text 181"/>
          <p:cNvSpPr/>
          <p:nvPr/>
        </p:nvSpPr>
        <p:spPr>
          <a:xfrm>
            <a:off x="6257769" y="26010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85" name="Text 182"/>
          <p:cNvSpPr/>
          <p:nvPr/>
        </p:nvSpPr>
        <p:spPr>
          <a:xfrm>
            <a:off x="7316013" y="26010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6.564</a:t>
            </a:r>
            <a:endParaRPr lang="en-US" sz="636" dirty="0"/>
          </a:p>
        </p:txBody>
      </p:sp>
      <p:sp>
        <p:nvSpPr>
          <p:cNvPr id="186" name="Text 183"/>
          <p:cNvSpPr/>
          <p:nvPr/>
        </p:nvSpPr>
        <p:spPr>
          <a:xfrm>
            <a:off x="9273649" y="26010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1.253</a:t>
            </a:r>
            <a:endParaRPr lang="en-US" sz="636" dirty="0"/>
          </a:p>
        </p:txBody>
      </p:sp>
      <p:sp>
        <p:nvSpPr>
          <p:cNvPr id="187" name="Text 184"/>
          <p:cNvSpPr/>
          <p:nvPr/>
        </p:nvSpPr>
        <p:spPr>
          <a:xfrm>
            <a:off x="6257769" y="27439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88" name="Text 185"/>
          <p:cNvSpPr/>
          <p:nvPr/>
        </p:nvSpPr>
        <p:spPr>
          <a:xfrm>
            <a:off x="9273649" y="27439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7.715</a:t>
            </a:r>
            <a:endParaRPr lang="en-US" sz="636" dirty="0"/>
          </a:p>
        </p:txBody>
      </p:sp>
      <p:sp>
        <p:nvSpPr>
          <p:cNvPr id="189" name="Text 186"/>
          <p:cNvSpPr/>
          <p:nvPr/>
        </p:nvSpPr>
        <p:spPr>
          <a:xfrm>
            <a:off x="10967650" y="3153519"/>
            <a:ext cx="71923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90" name="Text 187"/>
          <p:cNvSpPr/>
          <p:nvPr/>
        </p:nvSpPr>
        <p:spPr>
          <a:xfrm>
            <a:off x="9042970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9,9 %</a:t>
            </a:r>
            <a:endParaRPr lang="en-US" sz="552" dirty="0"/>
          </a:p>
        </p:txBody>
      </p:sp>
      <p:sp>
        <p:nvSpPr>
          <p:cNvPr id="191" name="Text 188"/>
          <p:cNvSpPr/>
          <p:nvPr/>
        </p:nvSpPr>
        <p:spPr>
          <a:xfrm>
            <a:off x="9525756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9,5 %</a:t>
            </a:r>
            <a:endParaRPr lang="en-US" sz="552" dirty="0"/>
          </a:p>
        </p:txBody>
      </p:sp>
      <p:sp>
        <p:nvSpPr>
          <p:cNvPr id="192" name="Text 189"/>
          <p:cNvSpPr/>
          <p:nvPr/>
        </p:nvSpPr>
        <p:spPr>
          <a:xfrm>
            <a:off x="10491329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9,8 %</a:t>
            </a:r>
            <a:endParaRPr lang="en-US" sz="552" dirty="0"/>
          </a:p>
        </p:txBody>
      </p:sp>
      <p:sp>
        <p:nvSpPr>
          <p:cNvPr id="193" name="Text 190"/>
          <p:cNvSpPr/>
          <p:nvPr/>
        </p:nvSpPr>
        <p:spPr>
          <a:xfrm>
            <a:off x="8077397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6,3 %</a:t>
            </a:r>
            <a:endParaRPr lang="en-US" sz="552" dirty="0"/>
          </a:p>
        </p:txBody>
      </p:sp>
      <p:sp>
        <p:nvSpPr>
          <p:cNvPr id="194" name="Text 191"/>
          <p:cNvSpPr/>
          <p:nvPr/>
        </p:nvSpPr>
        <p:spPr>
          <a:xfrm>
            <a:off x="8560183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6,1 %</a:t>
            </a:r>
            <a:endParaRPr lang="en-US" sz="552" dirty="0"/>
          </a:p>
        </p:txBody>
      </p:sp>
      <p:sp>
        <p:nvSpPr>
          <p:cNvPr id="195" name="Text 192"/>
          <p:cNvSpPr/>
          <p:nvPr/>
        </p:nvSpPr>
        <p:spPr>
          <a:xfrm>
            <a:off x="9042970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6,0 %</a:t>
            </a:r>
            <a:endParaRPr lang="en-US" sz="552" dirty="0"/>
          </a:p>
        </p:txBody>
      </p:sp>
      <p:sp>
        <p:nvSpPr>
          <p:cNvPr id="196" name="Text 193"/>
          <p:cNvSpPr/>
          <p:nvPr/>
        </p:nvSpPr>
        <p:spPr>
          <a:xfrm>
            <a:off x="9525756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5,8 %</a:t>
            </a:r>
            <a:endParaRPr lang="en-US" sz="552" dirty="0"/>
          </a:p>
        </p:txBody>
      </p:sp>
      <p:sp>
        <p:nvSpPr>
          <p:cNvPr id="197" name="Text 194"/>
          <p:cNvSpPr/>
          <p:nvPr/>
        </p:nvSpPr>
        <p:spPr>
          <a:xfrm>
            <a:off x="10008542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6,3 %</a:t>
            </a:r>
            <a:endParaRPr lang="en-US" sz="552" dirty="0"/>
          </a:p>
        </p:txBody>
      </p:sp>
      <p:sp>
        <p:nvSpPr>
          <p:cNvPr id="198" name="Text 195"/>
          <p:cNvSpPr/>
          <p:nvPr/>
        </p:nvSpPr>
        <p:spPr>
          <a:xfrm>
            <a:off x="10491329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6,0 %</a:t>
            </a:r>
            <a:endParaRPr lang="en-US" sz="552" dirty="0"/>
          </a:p>
        </p:txBody>
      </p:sp>
      <p:sp>
        <p:nvSpPr>
          <p:cNvPr id="199" name="Text 196"/>
          <p:cNvSpPr/>
          <p:nvPr/>
        </p:nvSpPr>
        <p:spPr>
          <a:xfrm>
            <a:off x="10967650" y="38583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6,1 %</a:t>
            </a:r>
            <a:endParaRPr lang="en-US" sz="552" dirty="0"/>
          </a:p>
        </p:txBody>
      </p:sp>
      <p:sp>
        <p:nvSpPr>
          <p:cNvPr id="200" name="Text 197"/>
          <p:cNvSpPr/>
          <p:nvPr/>
        </p:nvSpPr>
        <p:spPr>
          <a:xfrm>
            <a:off x="8077397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5,3 %</a:t>
            </a:r>
            <a:endParaRPr lang="en-US" sz="552" dirty="0"/>
          </a:p>
        </p:txBody>
      </p:sp>
      <p:sp>
        <p:nvSpPr>
          <p:cNvPr id="201" name="Text 198"/>
          <p:cNvSpPr/>
          <p:nvPr/>
        </p:nvSpPr>
        <p:spPr>
          <a:xfrm>
            <a:off x="8560183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5,2 %</a:t>
            </a:r>
            <a:endParaRPr lang="en-US" sz="552" dirty="0"/>
          </a:p>
        </p:txBody>
      </p:sp>
      <p:sp>
        <p:nvSpPr>
          <p:cNvPr id="202" name="Text 199"/>
          <p:cNvSpPr/>
          <p:nvPr/>
        </p:nvSpPr>
        <p:spPr>
          <a:xfrm>
            <a:off x="9042970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5,1 %</a:t>
            </a:r>
            <a:endParaRPr lang="en-US" sz="552" dirty="0"/>
          </a:p>
        </p:txBody>
      </p:sp>
      <p:sp>
        <p:nvSpPr>
          <p:cNvPr id="203" name="Text 200"/>
          <p:cNvSpPr/>
          <p:nvPr/>
        </p:nvSpPr>
        <p:spPr>
          <a:xfrm>
            <a:off x="9525756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5,0 %</a:t>
            </a:r>
            <a:endParaRPr lang="en-US" sz="552" dirty="0"/>
          </a:p>
        </p:txBody>
      </p:sp>
      <p:sp>
        <p:nvSpPr>
          <p:cNvPr id="204" name="Text 201"/>
          <p:cNvSpPr/>
          <p:nvPr/>
        </p:nvSpPr>
        <p:spPr>
          <a:xfrm>
            <a:off x="10008542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5,4 %</a:t>
            </a:r>
            <a:endParaRPr lang="en-US" sz="552" dirty="0"/>
          </a:p>
        </p:txBody>
      </p:sp>
      <p:sp>
        <p:nvSpPr>
          <p:cNvPr id="205" name="Text 202"/>
          <p:cNvSpPr/>
          <p:nvPr/>
        </p:nvSpPr>
        <p:spPr>
          <a:xfrm>
            <a:off x="10491329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5,1 %</a:t>
            </a:r>
            <a:endParaRPr lang="en-US" sz="552" dirty="0"/>
          </a:p>
        </p:txBody>
      </p:sp>
      <p:sp>
        <p:nvSpPr>
          <p:cNvPr id="206" name="Text 203"/>
          <p:cNvSpPr/>
          <p:nvPr/>
        </p:nvSpPr>
        <p:spPr>
          <a:xfrm>
            <a:off x="10967650" y="39917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5,2 %</a:t>
            </a:r>
            <a:endParaRPr lang="en-US" sz="552" dirty="0"/>
          </a:p>
        </p:txBody>
      </p:sp>
      <p:sp>
        <p:nvSpPr>
          <p:cNvPr id="207" name="Text 204"/>
          <p:cNvSpPr/>
          <p:nvPr/>
        </p:nvSpPr>
        <p:spPr>
          <a:xfrm>
            <a:off x="8077397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3,9 %</a:t>
            </a:r>
            <a:endParaRPr lang="en-US" sz="552" dirty="0"/>
          </a:p>
        </p:txBody>
      </p:sp>
      <p:sp>
        <p:nvSpPr>
          <p:cNvPr id="208" name="Text 205"/>
          <p:cNvSpPr/>
          <p:nvPr/>
        </p:nvSpPr>
        <p:spPr>
          <a:xfrm>
            <a:off x="8560183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3,8 %</a:t>
            </a:r>
            <a:endParaRPr lang="en-US" sz="552" dirty="0"/>
          </a:p>
        </p:txBody>
      </p:sp>
      <p:sp>
        <p:nvSpPr>
          <p:cNvPr id="209" name="Text 206"/>
          <p:cNvSpPr/>
          <p:nvPr/>
        </p:nvSpPr>
        <p:spPr>
          <a:xfrm>
            <a:off x="9042970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3,8 %</a:t>
            </a:r>
            <a:endParaRPr lang="en-US" sz="552" dirty="0"/>
          </a:p>
        </p:txBody>
      </p:sp>
      <p:sp>
        <p:nvSpPr>
          <p:cNvPr id="210" name="Text 207"/>
          <p:cNvSpPr/>
          <p:nvPr/>
        </p:nvSpPr>
        <p:spPr>
          <a:xfrm>
            <a:off x="9525756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3,7 %</a:t>
            </a:r>
            <a:endParaRPr lang="en-US" sz="552" dirty="0"/>
          </a:p>
        </p:txBody>
      </p:sp>
      <p:sp>
        <p:nvSpPr>
          <p:cNvPr id="211" name="Text 208"/>
          <p:cNvSpPr/>
          <p:nvPr/>
        </p:nvSpPr>
        <p:spPr>
          <a:xfrm>
            <a:off x="10008542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4,0 %</a:t>
            </a:r>
            <a:endParaRPr lang="en-US" sz="552" dirty="0"/>
          </a:p>
        </p:txBody>
      </p:sp>
      <p:sp>
        <p:nvSpPr>
          <p:cNvPr id="212" name="Text 209"/>
          <p:cNvSpPr/>
          <p:nvPr/>
        </p:nvSpPr>
        <p:spPr>
          <a:xfrm>
            <a:off x="10491329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3,8 %</a:t>
            </a:r>
            <a:endParaRPr lang="en-US" sz="552" dirty="0"/>
          </a:p>
        </p:txBody>
      </p:sp>
      <p:sp>
        <p:nvSpPr>
          <p:cNvPr id="213" name="Text 210"/>
          <p:cNvSpPr/>
          <p:nvPr/>
        </p:nvSpPr>
        <p:spPr>
          <a:xfrm>
            <a:off x="10967650" y="41250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3,8 %</a:t>
            </a:r>
            <a:endParaRPr lang="en-US" sz="552" dirty="0"/>
          </a:p>
        </p:txBody>
      </p:sp>
      <p:sp>
        <p:nvSpPr>
          <p:cNvPr id="214" name="Text 211"/>
          <p:cNvSpPr/>
          <p:nvPr/>
        </p:nvSpPr>
        <p:spPr>
          <a:xfrm>
            <a:off x="8077397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2,6 %</a:t>
            </a:r>
            <a:endParaRPr lang="en-US" sz="552" dirty="0"/>
          </a:p>
        </p:txBody>
      </p:sp>
      <p:sp>
        <p:nvSpPr>
          <p:cNvPr id="215" name="Text 212"/>
          <p:cNvSpPr/>
          <p:nvPr/>
        </p:nvSpPr>
        <p:spPr>
          <a:xfrm>
            <a:off x="8560183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16" name="Text 213"/>
          <p:cNvSpPr/>
          <p:nvPr/>
        </p:nvSpPr>
        <p:spPr>
          <a:xfrm>
            <a:off x="9042970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17" name="Text 214"/>
          <p:cNvSpPr/>
          <p:nvPr/>
        </p:nvSpPr>
        <p:spPr>
          <a:xfrm>
            <a:off x="9525756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2,4 %</a:t>
            </a:r>
            <a:endParaRPr lang="en-US" sz="552" dirty="0"/>
          </a:p>
        </p:txBody>
      </p:sp>
      <p:sp>
        <p:nvSpPr>
          <p:cNvPr id="218" name="Text 215"/>
          <p:cNvSpPr/>
          <p:nvPr/>
        </p:nvSpPr>
        <p:spPr>
          <a:xfrm>
            <a:off x="10008542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2,6 %</a:t>
            </a:r>
            <a:endParaRPr lang="en-US" sz="552" dirty="0"/>
          </a:p>
        </p:txBody>
      </p:sp>
      <p:sp>
        <p:nvSpPr>
          <p:cNvPr id="219" name="Text 216"/>
          <p:cNvSpPr/>
          <p:nvPr/>
        </p:nvSpPr>
        <p:spPr>
          <a:xfrm>
            <a:off x="10491329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20" name="Text 217"/>
          <p:cNvSpPr/>
          <p:nvPr/>
        </p:nvSpPr>
        <p:spPr>
          <a:xfrm>
            <a:off x="10967650" y="42584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21" name="Text 218"/>
          <p:cNvSpPr/>
          <p:nvPr/>
        </p:nvSpPr>
        <p:spPr>
          <a:xfrm>
            <a:off x="8077397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5,1 %</a:t>
            </a:r>
            <a:endParaRPr lang="en-US" sz="552" dirty="0"/>
          </a:p>
        </p:txBody>
      </p:sp>
      <p:sp>
        <p:nvSpPr>
          <p:cNvPr id="222" name="Text 219"/>
          <p:cNvSpPr/>
          <p:nvPr/>
        </p:nvSpPr>
        <p:spPr>
          <a:xfrm>
            <a:off x="8560183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5,0 %</a:t>
            </a:r>
            <a:endParaRPr lang="en-US" sz="552" dirty="0"/>
          </a:p>
        </p:txBody>
      </p:sp>
      <p:sp>
        <p:nvSpPr>
          <p:cNvPr id="223" name="Text 220"/>
          <p:cNvSpPr/>
          <p:nvPr/>
        </p:nvSpPr>
        <p:spPr>
          <a:xfrm>
            <a:off x="9042970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4,9 %</a:t>
            </a:r>
            <a:endParaRPr lang="en-US" sz="552" dirty="0"/>
          </a:p>
        </p:txBody>
      </p:sp>
      <p:sp>
        <p:nvSpPr>
          <p:cNvPr id="224" name="Text 221"/>
          <p:cNvSpPr/>
          <p:nvPr/>
        </p:nvSpPr>
        <p:spPr>
          <a:xfrm>
            <a:off x="9525756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4,8 %</a:t>
            </a:r>
            <a:endParaRPr lang="en-US" sz="552" dirty="0"/>
          </a:p>
        </p:txBody>
      </p:sp>
      <p:sp>
        <p:nvSpPr>
          <p:cNvPr id="225" name="Text 222"/>
          <p:cNvSpPr/>
          <p:nvPr/>
        </p:nvSpPr>
        <p:spPr>
          <a:xfrm>
            <a:off x="10008542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5,2 %</a:t>
            </a:r>
            <a:endParaRPr lang="en-US" sz="552" dirty="0"/>
          </a:p>
        </p:txBody>
      </p:sp>
      <p:sp>
        <p:nvSpPr>
          <p:cNvPr id="226" name="Text 223"/>
          <p:cNvSpPr/>
          <p:nvPr/>
        </p:nvSpPr>
        <p:spPr>
          <a:xfrm>
            <a:off x="10491329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4,9 %</a:t>
            </a:r>
            <a:endParaRPr lang="en-US" sz="552" dirty="0"/>
          </a:p>
        </p:txBody>
      </p:sp>
      <p:sp>
        <p:nvSpPr>
          <p:cNvPr id="227" name="Text 224"/>
          <p:cNvSpPr/>
          <p:nvPr/>
        </p:nvSpPr>
        <p:spPr>
          <a:xfrm>
            <a:off x="10967650" y="43917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5,0 %</a:t>
            </a:r>
            <a:endParaRPr lang="en-US" sz="552" dirty="0"/>
          </a:p>
        </p:txBody>
      </p:sp>
      <p:sp>
        <p:nvSpPr>
          <p:cNvPr id="228" name="Text 225"/>
          <p:cNvSpPr/>
          <p:nvPr/>
        </p:nvSpPr>
        <p:spPr>
          <a:xfrm>
            <a:off x="8077397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4,4 %</a:t>
            </a:r>
            <a:endParaRPr lang="en-US" sz="552" dirty="0"/>
          </a:p>
        </p:txBody>
      </p:sp>
      <p:sp>
        <p:nvSpPr>
          <p:cNvPr id="229" name="Text 226"/>
          <p:cNvSpPr/>
          <p:nvPr/>
        </p:nvSpPr>
        <p:spPr>
          <a:xfrm>
            <a:off x="8560183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5,0 %</a:t>
            </a:r>
            <a:endParaRPr lang="en-US" sz="552" dirty="0"/>
          </a:p>
        </p:txBody>
      </p:sp>
      <p:sp>
        <p:nvSpPr>
          <p:cNvPr id="230" name="Text 227"/>
          <p:cNvSpPr/>
          <p:nvPr/>
        </p:nvSpPr>
        <p:spPr>
          <a:xfrm>
            <a:off x="9042970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5,1 %</a:t>
            </a:r>
            <a:endParaRPr lang="en-US" sz="552" dirty="0"/>
          </a:p>
        </p:txBody>
      </p:sp>
      <p:sp>
        <p:nvSpPr>
          <p:cNvPr id="231" name="Text 228"/>
          <p:cNvSpPr/>
          <p:nvPr/>
        </p:nvSpPr>
        <p:spPr>
          <a:xfrm>
            <a:off x="9525756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5,8 %</a:t>
            </a:r>
            <a:endParaRPr lang="en-US" sz="552" dirty="0"/>
          </a:p>
        </p:txBody>
      </p:sp>
      <p:sp>
        <p:nvSpPr>
          <p:cNvPr id="232" name="Text 229"/>
          <p:cNvSpPr/>
          <p:nvPr/>
        </p:nvSpPr>
        <p:spPr>
          <a:xfrm>
            <a:off x="10008542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4,2 %</a:t>
            </a:r>
            <a:endParaRPr lang="en-US" sz="552" dirty="0"/>
          </a:p>
        </p:txBody>
      </p:sp>
      <p:sp>
        <p:nvSpPr>
          <p:cNvPr id="233" name="Text 230"/>
          <p:cNvSpPr/>
          <p:nvPr/>
        </p:nvSpPr>
        <p:spPr>
          <a:xfrm>
            <a:off x="10491329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5,3 %</a:t>
            </a:r>
            <a:endParaRPr lang="en-US" sz="552" dirty="0"/>
          </a:p>
        </p:txBody>
      </p:sp>
      <p:sp>
        <p:nvSpPr>
          <p:cNvPr id="234" name="Text 231"/>
          <p:cNvSpPr/>
          <p:nvPr/>
        </p:nvSpPr>
        <p:spPr>
          <a:xfrm>
            <a:off x="10967650" y="47918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5,0 %</a:t>
            </a:r>
            <a:endParaRPr lang="en-US" sz="552" dirty="0"/>
          </a:p>
        </p:txBody>
      </p:sp>
      <p:sp>
        <p:nvSpPr>
          <p:cNvPr id="235" name="Text 232"/>
          <p:cNvSpPr/>
          <p:nvPr/>
        </p:nvSpPr>
        <p:spPr>
          <a:xfrm>
            <a:off x="8077397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1,9 %</a:t>
            </a:r>
            <a:endParaRPr lang="en-US" sz="552" dirty="0"/>
          </a:p>
        </p:txBody>
      </p:sp>
      <p:sp>
        <p:nvSpPr>
          <p:cNvPr id="236" name="Text 233"/>
          <p:cNvSpPr/>
          <p:nvPr/>
        </p:nvSpPr>
        <p:spPr>
          <a:xfrm>
            <a:off x="8560183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2,1 %</a:t>
            </a:r>
            <a:endParaRPr lang="en-US" sz="552" dirty="0"/>
          </a:p>
        </p:txBody>
      </p:sp>
      <p:sp>
        <p:nvSpPr>
          <p:cNvPr id="237" name="Text 234"/>
          <p:cNvSpPr/>
          <p:nvPr/>
        </p:nvSpPr>
        <p:spPr>
          <a:xfrm>
            <a:off x="9042970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2,2 %</a:t>
            </a:r>
            <a:endParaRPr lang="en-US" sz="552" dirty="0"/>
          </a:p>
        </p:txBody>
      </p:sp>
      <p:sp>
        <p:nvSpPr>
          <p:cNvPr id="238" name="Text 235"/>
          <p:cNvSpPr/>
          <p:nvPr/>
        </p:nvSpPr>
        <p:spPr>
          <a:xfrm>
            <a:off x="9525756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39" name="Text 236"/>
          <p:cNvSpPr/>
          <p:nvPr/>
        </p:nvSpPr>
        <p:spPr>
          <a:xfrm>
            <a:off x="10008542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1,8 %</a:t>
            </a:r>
            <a:endParaRPr lang="en-US" sz="552" dirty="0"/>
          </a:p>
        </p:txBody>
      </p:sp>
      <p:sp>
        <p:nvSpPr>
          <p:cNvPr id="240" name="Text 237"/>
          <p:cNvSpPr/>
          <p:nvPr/>
        </p:nvSpPr>
        <p:spPr>
          <a:xfrm>
            <a:off x="10491329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2,2 %</a:t>
            </a:r>
            <a:endParaRPr lang="en-US" sz="552" dirty="0"/>
          </a:p>
        </p:txBody>
      </p:sp>
      <p:sp>
        <p:nvSpPr>
          <p:cNvPr id="241" name="Text 238"/>
          <p:cNvSpPr/>
          <p:nvPr/>
        </p:nvSpPr>
        <p:spPr>
          <a:xfrm>
            <a:off x="10967650" y="49251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2,1 %</a:t>
            </a:r>
            <a:endParaRPr lang="en-US" sz="552" dirty="0"/>
          </a:p>
        </p:txBody>
      </p:sp>
      <p:sp>
        <p:nvSpPr>
          <p:cNvPr id="242" name="Text 239"/>
          <p:cNvSpPr/>
          <p:nvPr/>
        </p:nvSpPr>
        <p:spPr>
          <a:xfrm>
            <a:off x="8077397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243" name="Text 240"/>
          <p:cNvSpPr/>
          <p:nvPr/>
        </p:nvSpPr>
        <p:spPr>
          <a:xfrm>
            <a:off x="8560183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244" name="Text 241"/>
          <p:cNvSpPr/>
          <p:nvPr/>
        </p:nvSpPr>
        <p:spPr>
          <a:xfrm>
            <a:off x="9042970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245" name="Text 242"/>
          <p:cNvSpPr/>
          <p:nvPr/>
        </p:nvSpPr>
        <p:spPr>
          <a:xfrm>
            <a:off x="9525756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246" name="Text 243"/>
          <p:cNvSpPr/>
          <p:nvPr/>
        </p:nvSpPr>
        <p:spPr>
          <a:xfrm>
            <a:off x="10008542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247" name="Text 244"/>
          <p:cNvSpPr/>
          <p:nvPr/>
        </p:nvSpPr>
        <p:spPr>
          <a:xfrm>
            <a:off x="10491329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248" name="Text 245"/>
          <p:cNvSpPr/>
          <p:nvPr/>
        </p:nvSpPr>
        <p:spPr>
          <a:xfrm>
            <a:off x="10967650" y="50585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249" name="Text 246"/>
          <p:cNvSpPr/>
          <p:nvPr/>
        </p:nvSpPr>
        <p:spPr>
          <a:xfrm>
            <a:off x="8077397" y="51918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50" name="Text 247"/>
          <p:cNvSpPr/>
          <p:nvPr/>
        </p:nvSpPr>
        <p:spPr>
          <a:xfrm>
            <a:off x="8560183" y="51918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51" name="Text 248"/>
          <p:cNvSpPr/>
          <p:nvPr/>
        </p:nvSpPr>
        <p:spPr>
          <a:xfrm>
            <a:off x="9042970" y="51918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52" name="Text 249"/>
          <p:cNvSpPr/>
          <p:nvPr/>
        </p:nvSpPr>
        <p:spPr>
          <a:xfrm>
            <a:off x="9525756" y="51918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53" name="Text 250"/>
          <p:cNvSpPr/>
          <p:nvPr/>
        </p:nvSpPr>
        <p:spPr>
          <a:xfrm>
            <a:off x="10008542" y="51918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54" name="Text 251"/>
          <p:cNvSpPr/>
          <p:nvPr/>
        </p:nvSpPr>
        <p:spPr>
          <a:xfrm>
            <a:off x="10491329" y="51918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55" name="Text 252"/>
          <p:cNvSpPr/>
          <p:nvPr/>
        </p:nvSpPr>
        <p:spPr>
          <a:xfrm>
            <a:off x="10967650" y="51918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56" name="Text 253"/>
          <p:cNvSpPr/>
          <p:nvPr/>
        </p:nvSpPr>
        <p:spPr>
          <a:xfrm>
            <a:off x="4374991" y="952500"/>
            <a:ext cx="449272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7.715</a:t>
            </a:r>
            <a:endParaRPr lang="en-US" sz="1380" dirty="0"/>
          </a:p>
        </p:txBody>
      </p:sp>
      <p:sp>
        <p:nvSpPr>
          <p:cNvPr id="257" name="Text 254"/>
          <p:cNvSpPr/>
          <p:nvPr/>
        </p:nvSpPr>
        <p:spPr>
          <a:xfrm>
            <a:off x="495288" y="24581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258" name="Text 255"/>
          <p:cNvSpPr/>
          <p:nvPr/>
        </p:nvSpPr>
        <p:spPr>
          <a:xfrm>
            <a:off x="6257769" y="24581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259" name="Text 256"/>
          <p:cNvSpPr/>
          <p:nvPr/>
        </p:nvSpPr>
        <p:spPr>
          <a:xfrm>
            <a:off x="533387" y="952500"/>
            <a:ext cx="422611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79 %</a:t>
            </a:r>
            <a:endParaRPr lang="en-US" sz="1380" dirty="0"/>
          </a:p>
        </p:txBody>
      </p:sp>
      <p:sp>
        <p:nvSpPr>
          <p:cNvPr id="260" name="Text 257"/>
          <p:cNvSpPr/>
          <p:nvPr/>
        </p:nvSpPr>
        <p:spPr>
          <a:xfrm>
            <a:off x="495288" y="1715244"/>
            <a:ext cx="112023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61" name="Text 258"/>
          <p:cNvSpPr/>
          <p:nvPr/>
        </p:nvSpPr>
        <p:spPr>
          <a:xfrm>
            <a:off x="2314916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262" name="Text 259"/>
          <p:cNvSpPr/>
          <p:nvPr/>
        </p:nvSpPr>
        <p:spPr>
          <a:xfrm>
            <a:off x="2797702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263" name="Text 260"/>
          <p:cNvSpPr/>
          <p:nvPr/>
        </p:nvSpPr>
        <p:spPr>
          <a:xfrm>
            <a:off x="3280489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264" name="Text 261"/>
          <p:cNvSpPr/>
          <p:nvPr/>
        </p:nvSpPr>
        <p:spPr>
          <a:xfrm>
            <a:off x="3763275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265" name="Text 262"/>
          <p:cNvSpPr/>
          <p:nvPr/>
        </p:nvSpPr>
        <p:spPr>
          <a:xfrm>
            <a:off x="4246061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266" name="Text 263"/>
          <p:cNvSpPr/>
          <p:nvPr/>
        </p:nvSpPr>
        <p:spPr>
          <a:xfrm>
            <a:off x="4728848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267" name="Text 264"/>
          <p:cNvSpPr/>
          <p:nvPr/>
        </p:nvSpPr>
        <p:spPr>
          <a:xfrm>
            <a:off x="2314916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849</a:t>
            </a:r>
            <a:endParaRPr lang="en-US" sz="576" dirty="0"/>
          </a:p>
        </p:txBody>
      </p:sp>
      <p:sp>
        <p:nvSpPr>
          <p:cNvPr id="268" name="Text 265"/>
          <p:cNvSpPr/>
          <p:nvPr/>
        </p:nvSpPr>
        <p:spPr>
          <a:xfrm>
            <a:off x="2314916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714</a:t>
            </a:r>
            <a:endParaRPr lang="en-US" sz="576" dirty="0"/>
          </a:p>
        </p:txBody>
      </p:sp>
      <p:sp>
        <p:nvSpPr>
          <p:cNvPr id="269" name="Text 266"/>
          <p:cNvSpPr/>
          <p:nvPr/>
        </p:nvSpPr>
        <p:spPr>
          <a:xfrm>
            <a:off x="2797702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937</a:t>
            </a:r>
            <a:endParaRPr lang="en-US" sz="576" dirty="0"/>
          </a:p>
        </p:txBody>
      </p:sp>
      <p:sp>
        <p:nvSpPr>
          <p:cNvPr id="270" name="Text 267"/>
          <p:cNvSpPr/>
          <p:nvPr/>
        </p:nvSpPr>
        <p:spPr>
          <a:xfrm>
            <a:off x="3763275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909</a:t>
            </a:r>
            <a:endParaRPr lang="en-US" sz="576" dirty="0"/>
          </a:p>
        </p:txBody>
      </p:sp>
      <p:sp>
        <p:nvSpPr>
          <p:cNvPr id="271" name="Text 268"/>
          <p:cNvSpPr/>
          <p:nvPr/>
        </p:nvSpPr>
        <p:spPr>
          <a:xfrm>
            <a:off x="2314916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558</a:t>
            </a:r>
            <a:endParaRPr lang="en-US" sz="576" dirty="0"/>
          </a:p>
        </p:txBody>
      </p:sp>
      <p:sp>
        <p:nvSpPr>
          <p:cNvPr id="272" name="Text 269"/>
          <p:cNvSpPr/>
          <p:nvPr/>
        </p:nvSpPr>
        <p:spPr>
          <a:xfrm>
            <a:off x="2797702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733</a:t>
            </a:r>
            <a:endParaRPr lang="en-US" sz="576" dirty="0"/>
          </a:p>
        </p:txBody>
      </p:sp>
      <p:sp>
        <p:nvSpPr>
          <p:cNvPr id="273" name="Text 270"/>
          <p:cNvSpPr/>
          <p:nvPr/>
        </p:nvSpPr>
        <p:spPr>
          <a:xfrm>
            <a:off x="3280489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888</a:t>
            </a:r>
            <a:endParaRPr lang="en-US" sz="576" dirty="0"/>
          </a:p>
        </p:txBody>
      </p:sp>
      <p:sp>
        <p:nvSpPr>
          <p:cNvPr id="274" name="Text 271"/>
          <p:cNvSpPr/>
          <p:nvPr/>
        </p:nvSpPr>
        <p:spPr>
          <a:xfrm>
            <a:off x="3763275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710</a:t>
            </a:r>
            <a:endParaRPr lang="en-US" sz="576" dirty="0"/>
          </a:p>
        </p:txBody>
      </p:sp>
      <p:sp>
        <p:nvSpPr>
          <p:cNvPr id="275" name="Text 272"/>
          <p:cNvSpPr/>
          <p:nvPr/>
        </p:nvSpPr>
        <p:spPr>
          <a:xfrm>
            <a:off x="4246061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866</a:t>
            </a:r>
            <a:endParaRPr lang="en-US" sz="576" dirty="0"/>
          </a:p>
        </p:txBody>
      </p:sp>
      <p:sp>
        <p:nvSpPr>
          <p:cNvPr id="276" name="Text 273"/>
          <p:cNvSpPr/>
          <p:nvPr/>
        </p:nvSpPr>
        <p:spPr>
          <a:xfrm>
            <a:off x="4728848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869</a:t>
            </a:r>
            <a:endParaRPr lang="en-US" sz="576" dirty="0"/>
          </a:p>
        </p:txBody>
      </p:sp>
      <p:sp>
        <p:nvSpPr>
          <p:cNvPr id="277" name="Text 274"/>
          <p:cNvSpPr/>
          <p:nvPr/>
        </p:nvSpPr>
        <p:spPr>
          <a:xfrm>
            <a:off x="2314916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231</a:t>
            </a:r>
            <a:endParaRPr lang="en-US" sz="576" dirty="0"/>
          </a:p>
        </p:txBody>
      </p:sp>
      <p:sp>
        <p:nvSpPr>
          <p:cNvPr id="278" name="Text 275"/>
          <p:cNvSpPr/>
          <p:nvPr/>
        </p:nvSpPr>
        <p:spPr>
          <a:xfrm>
            <a:off x="2797702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303</a:t>
            </a:r>
            <a:endParaRPr lang="en-US" sz="576" dirty="0"/>
          </a:p>
        </p:txBody>
      </p:sp>
      <p:sp>
        <p:nvSpPr>
          <p:cNvPr id="279" name="Text 276"/>
          <p:cNvSpPr/>
          <p:nvPr/>
        </p:nvSpPr>
        <p:spPr>
          <a:xfrm>
            <a:off x="3280489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367</a:t>
            </a:r>
            <a:endParaRPr lang="en-US" sz="576" dirty="0"/>
          </a:p>
        </p:txBody>
      </p:sp>
      <p:sp>
        <p:nvSpPr>
          <p:cNvPr id="280" name="Text 277"/>
          <p:cNvSpPr/>
          <p:nvPr/>
        </p:nvSpPr>
        <p:spPr>
          <a:xfrm>
            <a:off x="3763275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294</a:t>
            </a:r>
            <a:endParaRPr lang="en-US" sz="576" dirty="0"/>
          </a:p>
        </p:txBody>
      </p:sp>
      <p:sp>
        <p:nvSpPr>
          <p:cNvPr id="281" name="Text 278"/>
          <p:cNvSpPr/>
          <p:nvPr/>
        </p:nvSpPr>
        <p:spPr>
          <a:xfrm>
            <a:off x="4246061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358</a:t>
            </a:r>
            <a:endParaRPr lang="en-US" sz="576" dirty="0"/>
          </a:p>
        </p:txBody>
      </p:sp>
      <p:sp>
        <p:nvSpPr>
          <p:cNvPr id="282" name="Text 279"/>
          <p:cNvSpPr/>
          <p:nvPr/>
        </p:nvSpPr>
        <p:spPr>
          <a:xfrm>
            <a:off x="4728848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359</a:t>
            </a:r>
            <a:endParaRPr lang="en-US" sz="576" dirty="0"/>
          </a:p>
        </p:txBody>
      </p:sp>
      <p:sp>
        <p:nvSpPr>
          <p:cNvPr id="283" name="Text 280"/>
          <p:cNvSpPr/>
          <p:nvPr/>
        </p:nvSpPr>
        <p:spPr>
          <a:xfrm>
            <a:off x="2314916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129</a:t>
            </a:r>
            <a:endParaRPr lang="en-US" sz="576" dirty="0"/>
          </a:p>
        </p:txBody>
      </p:sp>
      <p:sp>
        <p:nvSpPr>
          <p:cNvPr id="284" name="Text 281"/>
          <p:cNvSpPr/>
          <p:nvPr/>
        </p:nvSpPr>
        <p:spPr>
          <a:xfrm>
            <a:off x="2797702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170</a:t>
            </a:r>
            <a:endParaRPr lang="en-US" sz="576" dirty="0"/>
          </a:p>
        </p:txBody>
      </p:sp>
      <p:sp>
        <p:nvSpPr>
          <p:cNvPr id="285" name="Text 282"/>
          <p:cNvSpPr/>
          <p:nvPr/>
        </p:nvSpPr>
        <p:spPr>
          <a:xfrm>
            <a:off x="3280489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206</a:t>
            </a:r>
            <a:endParaRPr lang="en-US" sz="576" dirty="0"/>
          </a:p>
        </p:txBody>
      </p:sp>
      <p:sp>
        <p:nvSpPr>
          <p:cNvPr id="286" name="Text 283"/>
          <p:cNvSpPr/>
          <p:nvPr/>
        </p:nvSpPr>
        <p:spPr>
          <a:xfrm>
            <a:off x="3763275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164</a:t>
            </a:r>
            <a:endParaRPr lang="en-US" sz="576" dirty="0"/>
          </a:p>
        </p:txBody>
      </p:sp>
      <p:sp>
        <p:nvSpPr>
          <p:cNvPr id="287" name="Text 284"/>
          <p:cNvSpPr/>
          <p:nvPr/>
        </p:nvSpPr>
        <p:spPr>
          <a:xfrm>
            <a:off x="4246061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200</a:t>
            </a:r>
            <a:endParaRPr lang="en-US" sz="576" dirty="0"/>
          </a:p>
        </p:txBody>
      </p:sp>
      <p:sp>
        <p:nvSpPr>
          <p:cNvPr id="288" name="Text 285"/>
          <p:cNvSpPr/>
          <p:nvPr/>
        </p:nvSpPr>
        <p:spPr>
          <a:xfrm>
            <a:off x="4728848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201</a:t>
            </a:r>
            <a:endParaRPr lang="en-US" sz="576" dirty="0"/>
          </a:p>
        </p:txBody>
      </p:sp>
      <p:sp>
        <p:nvSpPr>
          <p:cNvPr id="289" name="Text 286"/>
          <p:cNvSpPr/>
          <p:nvPr/>
        </p:nvSpPr>
        <p:spPr>
          <a:xfrm>
            <a:off x="5205169" y="42584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420</a:t>
            </a:r>
            <a:endParaRPr lang="en-US" sz="576" dirty="0"/>
          </a:p>
        </p:txBody>
      </p:sp>
      <p:sp>
        <p:nvSpPr>
          <p:cNvPr id="290" name="Text 287"/>
          <p:cNvSpPr/>
          <p:nvPr/>
        </p:nvSpPr>
        <p:spPr>
          <a:xfrm>
            <a:off x="2797702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123</a:t>
            </a:r>
            <a:endParaRPr lang="en-US" sz="576" dirty="0"/>
          </a:p>
        </p:txBody>
      </p:sp>
      <p:sp>
        <p:nvSpPr>
          <p:cNvPr id="291" name="Text 288"/>
          <p:cNvSpPr/>
          <p:nvPr/>
        </p:nvSpPr>
        <p:spPr>
          <a:xfrm>
            <a:off x="3280489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150</a:t>
            </a:r>
            <a:endParaRPr lang="en-US" sz="576" dirty="0"/>
          </a:p>
        </p:txBody>
      </p:sp>
      <p:sp>
        <p:nvSpPr>
          <p:cNvPr id="292" name="Text 289"/>
          <p:cNvSpPr/>
          <p:nvPr/>
        </p:nvSpPr>
        <p:spPr>
          <a:xfrm>
            <a:off x="3763275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120</a:t>
            </a:r>
            <a:endParaRPr lang="en-US" sz="576" dirty="0"/>
          </a:p>
        </p:txBody>
      </p:sp>
      <p:sp>
        <p:nvSpPr>
          <p:cNvPr id="293" name="Text 290"/>
          <p:cNvSpPr/>
          <p:nvPr/>
        </p:nvSpPr>
        <p:spPr>
          <a:xfrm>
            <a:off x="4246061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576" dirty="0"/>
          </a:p>
        </p:txBody>
      </p:sp>
      <p:sp>
        <p:nvSpPr>
          <p:cNvPr id="294" name="Text 291"/>
          <p:cNvSpPr/>
          <p:nvPr/>
        </p:nvSpPr>
        <p:spPr>
          <a:xfrm>
            <a:off x="4728848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576" dirty="0"/>
          </a:p>
        </p:txBody>
      </p:sp>
      <p:sp>
        <p:nvSpPr>
          <p:cNvPr id="295" name="Text 292"/>
          <p:cNvSpPr/>
          <p:nvPr/>
        </p:nvSpPr>
        <p:spPr>
          <a:xfrm>
            <a:off x="5205169" y="43917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779</a:t>
            </a:r>
            <a:endParaRPr lang="en-US" sz="576" dirty="0"/>
          </a:p>
        </p:txBody>
      </p:sp>
      <p:sp>
        <p:nvSpPr>
          <p:cNvPr id="296" name="Text 293"/>
          <p:cNvSpPr/>
          <p:nvPr/>
        </p:nvSpPr>
        <p:spPr>
          <a:xfrm>
            <a:off x="6257769" y="1715244"/>
            <a:ext cx="112023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97" name="Text 294"/>
          <p:cNvSpPr/>
          <p:nvPr/>
        </p:nvSpPr>
        <p:spPr>
          <a:xfrm>
            <a:off x="8077397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298" name="Text 295"/>
          <p:cNvSpPr/>
          <p:nvPr/>
        </p:nvSpPr>
        <p:spPr>
          <a:xfrm>
            <a:off x="8560183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299" name="Text 296"/>
          <p:cNvSpPr/>
          <p:nvPr/>
        </p:nvSpPr>
        <p:spPr>
          <a:xfrm>
            <a:off x="9042970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300" name="Text 297"/>
          <p:cNvSpPr/>
          <p:nvPr/>
        </p:nvSpPr>
        <p:spPr>
          <a:xfrm>
            <a:off x="9525756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301" name="Text 298"/>
          <p:cNvSpPr/>
          <p:nvPr/>
        </p:nvSpPr>
        <p:spPr>
          <a:xfrm>
            <a:off x="10008542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302" name="Text 299"/>
          <p:cNvSpPr/>
          <p:nvPr/>
        </p:nvSpPr>
        <p:spPr>
          <a:xfrm>
            <a:off x="10491329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303" name="Text 300"/>
          <p:cNvSpPr/>
          <p:nvPr/>
        </p:nvSpPr>
        <p:spPr>
          <a:xfrm>
            <a:off x="2314916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</a:t>
            </a:r>
            <a:endParaRPr lang="en-US" sz="576" dirty="0"/>
          </a:p>
        </p:txBody>
      </p:sp>
      <p:sp>
        <p:nvSpPr>
          <p:cNvPr id="304" name="Text 301"/>
          <p:cNvSpPr/>
          <p:nvPr/>
        </p:nvSpPr>
        <p:spPr>
          <a:xfrm>
            <a:off x="2797702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</a:t>
            </a:r>
            <a:endParaRPr lang="en-US" sz="576" dirty="0"/>
          </a:p>
        </p:txBody>
      </p:sp>
      <p:sp>
        <p:nvSpPr>
          <p:cNvPr id="305" name="Text 302"/>
          <p:cNvSpPr/>
          <p:nvPr/>
        </p:nvSpPr>
        <p:spPr>
          <a:xfrm>
            <a:off x="3280489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576" dirty="0"/>
          </a:p>
        </p:txBody>
      </p:sp>
      <p:sp>
        <p:nvSpPr>
          <p:cNvPr id="306" name="Text 303"/>
          <p:cNvSpPr/>
          <p:nvPr/>
        </p:nvSpPr>
        <p:spPr>
          <a:xfrm>
            <a:off x="3763275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</a:t>
            </a:r>
            <a:endParaRPr lang="en-US" sz="576" dirty="0"/>
          </a:p>
        </p:txBody>
      </p:sp>
      <p:sp>
        <p:nvSpPr>
          <p:cNvPr id="307" name="Text 304"/>
          <p:cNvSpPr/>
          <p:nvPr/>
        </p:nvSpPr>
        <p:spPr>
          <a:xfrm>
            <a:off x="4246061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576" dirty="0"/>
          </a:p>
        </p:txBody>
      </p:sp>
      <p:sp>
        <p:nvSpPr>
          <p:cNvPr id="308" name="Text 305"/>
          <p:cNvSpPr/>
          <p:nvPr/>
        </p:nvSpPr>
        <p:spPr>
          <a:xfrm>
            <a:off x="4728848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576" dirty="0"/>
          </a:p>
        </p:txBody>
      </p:sp>
      <p:sp>
        <p:nvSpPr>
          <p:cNvPr id="309" name="Text 306"/>
          <p:cNvSpPr/>
          <p:nvPr/>
        </p:nvSpPr>
        <p:spPr>
          <a:xfrm>
            <a:off x="2314916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94</a:t>
            </a:r>
            <a:endParaRPr lang="en-US" sz="576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7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783" y="6393656"/>
            <a:ext cx="762297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descarte estructural de Registro Enviado Anteriormente (36,8 %) y Cuota Activa (32,7 %) suma el 69,5 % del rechazo, confirmando el agotamiento de la base.</a:t>
            </a:r>
            <a:endParaRPr lang="en-US" sz="744" dirty="0"/>
          </a:p>
        </p:txBody>
      </p:sp>
      <p:sp>
        <p:nvSpPr>
          <p:cNvPr id="4" name="Text 1"/>
          <p:cNvSpPr/>
          <p:nvPr/>
        </p:nvSpPr>
        <p:spPr>
          <a:xfrm>
            <a:off x="685783" y="6540103"/>
            <a:ext cx="61137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no contacto es muy alto (48,3 %), impulsado por contestadores automáticos (38,6 %), lo que exige depuración telefónica en 2S.</a:t>
            </a:r>
            <a:endParaRPr lang="en-US" sz="744" dirty="0"/>
          </a:p>
        </p:txBody>
      </p:sp>
      <p:sp>
        <p:nvSpPr>
          <p:cNvPr id="5" name="Text 2"/>
          <p:cNvSpPr/>
          <p:nvPr/>
        </p:nvSpPr>
        <p:spPr>
          <a:xfrm>
            <a:off x="685783" y="6247209"/>
            <a:ext cx="404006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CP Stock es la base de mayor volumen (420.641 registros recibidos) en el semestre.</a:t>
            </a:r>
            <a:endParaRPr lang="en-US" sz="744" dirty="0"/>
          </a:p>
        </p:txBody>
      </p:sp>
      <p:sp>
        <p:nvSpPr>
          <p:cNvPr id="6" name="Text 3"/>
          <p:cNvSpPr/>
          <p:nvPr/>
        </p:nvSpPr>
        <p:spPr>
          <a:xfrm>
            <a:off x="8216595" y="1200894"/>
            <a:ext cx="17614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Sobre contacto (4,6 % sobre contacto apto)</a:t>
            </a:r>
            <a:endParaRPr lang="en-US" sz="648" dirty="0"/>
          </a:p>
        </p:txBody>
      </p:sp>
      <p:sp>
        <p:nvSpPr>
          <p:cNvPr id="7" name="Text 4"/>
          <p:cNvSpPr/>
          <p:nvPr/>
        </p:nvSpPr>
        <p:spPr>
          <a:xfrm>
            <a:off x="6372066" y="2915394"/>
            <a:ext cx="20375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Tipificación de Leads Aptos por Mes</a:t>
            </a:r>
            <a:endParaRPr lang="en-US" sz="816" dirty="0"/>
          </a:p>
        </p:txBody>
      </p:sp>
      <p:sp>
        <p:nvSpPr>
          <p:cNvPr id="8" name="Text 5"/>
          <p:cNvSpPr/>
          <p:nvPr/>
        </p:nvSpPr>
        <p:spPr>
          <a:xfrm>
            <a:off x="609585" y="1486644"/>
            <a:ext cx="205678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Calidad de Base y Descarte Mensual</a:t>
            </a:r>
            <a:endParaRPr lang="en-US" sz="816" dirty="0"/>
          </a:p>
        </p:txBody>
      </p:sp>
      <p:sp>
        <p:nvSpPr>
          <p:cNvPr id="9" name="Text 6"/>
          <p:cNvSpPr/>
          <p:nvPr/>
        </p:nvSpPr>
        <p:spPr>
          <a:xfrm>
            <a:off x="6267293" y="49251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apagado / fuera de servicio</a:t>
            </a:r>
            <a:endParaRPr lang="en-US" sz="552" dirty="0"/>
          </a:p>
        </p:txBody>
      </p:sp>
      <p:sp>
        <p:nvSpPr>
          <p:cNvPr id="10" name="Text 7"/>
          <p:cNvSpPr/>
          <p:nvPr/>
        </p:nvSpPr>
        <p:spPr>
          <a:xfrm>
            <a:off x="571486" y="209550"/>
            <a:ext cx="3348630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Operativo · Campaña CP Stock</a:t>
            </a:r>
            <a:endParaRPr lang="en-US" sz="1260" dirty="0"/>
          </a:p>
        </p:txBody>
      </p:sp>
      <p:sp>
        <p:nvSpPr>
          <p:cNvPr id="11" name="Text 8"/>
          <p:cNvSpPr/>
          <p:nvPr/>
        </p:nvSpPr>
        <p:spPr>
          <a:xfrm>
            <a:off x="4374991" y="1200894"/>
            <a:ext cx="150401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Segundo mayor aportante de ventas</a:t>
            </a:r>
            <a:endParaRPr lang="en-US" sz="648" dirty="0"/>
          </a:p>
        </p:txBody>
      </p:sp>
      <p:sp>
        <p:nvSpPr>
          <p:cNvPr id="12" name="Text 9"/>
          <p:cNvSpPr/>
          <p:nvPr/>
        </p:nvSpPr>
        <p:spPr>
          <a:xfrm>
            <a:off x="6372066" y="1486644"/>
            <a:ext cx="18149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Insumo Apto, Contacto y Ventas</a:t>
            </a:r>
            <a:endParaRPr lang="en-US" sz="816" dirty="0"/>
          </a:p>
        </p:txBody>
      </p:sp>
      <p:sp>
        <p:nvSpPr>
          <p:cNvPr id="13" name="Text 10"/>
          <p:cNvSpPr/>
          <p:nvPr/>
        </p:nvSpPr>
        <p:spPr>
          <a:xfrm>
            <a:off x="504812" y="42584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Excede límite de edad (&gt;80 años)</a:t>
            </a:r>
            <a:endParaRPr lang="en-US" sz="576" dirty="0"/>
          </a:p>
        </p:txBody>
      </p:sp>
      <p:sp>
        <p:nvSpPr>
          <p:cNvPr id="14" name="Text 11"/>
          <p:cNvSpPr/>
          <p:nvPr/>
        </p:nvSpPr>
        <p:spPr>
          <a:xfrm>
            <a:off x="504812" y="35916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Recibido Anteriormente</a:t>
            </a:r>
            <a:endParaRPr lang="en-US" sz="576" dirty="0"/>
          </a:p>
        </p:txBody>
      </p:sp>
      <p:sp>
        <p:nvSpPr>
          <p:cNvPr id="15" name="Text 12"/>
          <p:cNvSpPr/>
          <p:nvPr/>
        </p:nvSpPr>
        <p:spPr>
          <a:xfrm>
            <a:off x="714357" y="6091238"/>
            <a:ext cx="156869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Observaciones Clave de la Base:</a:t>
            </a:r>
            <a:endParaRPr lang="en-US" sz="744" dirty="0"/>
          </a:p>
        </p:txBody>
      </p:sp>
      <p:sp>
        <p:nvSpPr>
          <p:cNvPr id="16" name="Text 13"/>
          <p:cNvSpPr/>
          <p:nvPr/>
        </p:nvSpPr>
        <p:spPr>
          <a:xfrm>
            <a:off x="504812" y="33249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7" name="Text 14"/>
          <p:cNvSpPr/>
          <p:nvPr/>
        </p:nvSpPr>
        <p:spPr>
          <a:xfrm>
            <a:off x="533387" y="1200894"/>
            <a:ext cx="140604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de mayor dimensionamiento</a:t>
            </a:r>
            <a:endParaRPr lang="en-US" sz="648" dirty="0"/>
          </a:p>
        </p:txBody>
      </p:sp>
      <p:sp>
        <p:nvSpPr>
          <p:cNvPr id="18" name="Text 15"/>
          <p:cNvSpPr/>
          <p:nvPr/>
        </p:nvSpPr>
        <p:spPr>
          <a:xfrm>
            <a:off x="495288" y="2915394"/>
            <a:ext cx="164662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Motivos de Descarte por Mes</a:t>
            </a:r>
            <a:endParaRPr lang="en-US" sz="816" dirty="0"/>
          </a:p>
        </p:txBody>
      </p:sp>
      <p:sp>
        <p:nvSpPr>
          <p:cNvPr id="19" name="Text 16"/>
          <p:cNvSpPr/>
          <p:nvPr/>
        </p:nvSpPr>
        <p:spPr>
          <a:xfrm>
            <a:off x="6267293" y="35916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producto</a:t>
            </a:r>
            <a:endParaRPr lang="en-US" sz="552" dirty="0"/>
          </a:p>
        </p:txBody>
      </p:sp>
      <p:sp>
        <p:nvSpPr>
          <p:cNvPr id="20" name="Text 17"/>
          <p:cNvSpPr/>
          <p:nvPr/>
        </p:nvSpPr>
        <p:spPr>
          <a:xfrm>
            <a:off x="6267293" y="42584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Agendado / llamada posterior</a:t>
            </a:r>
            <a:endParaRPr lang="en-US" sz="552" dirty="0"/>
          </a:p>
        </p:txBody>
      </p:sp>
      <p:sp>
        <p:nvSpPr>
          <p:cNvPr id="21" name="Text 18"/>
          <p:cNvSpPr/>
          <p:nvPr/>
        </p:nvSpPr>
        <p:spPr>
          <a:xfrm>
            <a:off x="6267293" y="39917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Datos errados / experiencia</a:t>
            </a:r>
            <a:endParaRPr lang="en-US" sz="552" dirty="0"/>
          </a:p>
        </p:txBody>
      </p:sp>
      <p:sp>
        <p:nvSpPr>
          <p:cNvPr id="22" name="Text 19"/>
          <p:cNvSpPr/>
          <p:nvPr/>
        </p:nvSpPr>
        <p:spPr>
          <a:xfrm>
            <a:off x="6267293" y="41250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precio</a:t>
            </a:r>
            <a:endParaRPr lang="en-US" sz="552" dirty="0"/>
          </a:p>
        </p:txBody>
      </p:sp>
      <p:sp>
        <p:nvSpPr>
          <p:cNvPr id="23" name="Text 20"/>
          <p:cNvSpPr/>
          <p:nvPr/>
        </p:nvSpPr>
        <p:spPr>
          <a:xfrm>
            <a:off x="6267293" y="38583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es responsable del pago</a:t>
            </a:r>
            <a:endParaRPr lang="en-US" sz="552" dirty="0"/>
          </a:p>
        </p:txBody>
      </p:sp>
      <p:sp>
        <p:nvSpPr>
          <p:cNvPr id="24" name="Text 21"/>
          <p:cNvSpPr/>
          <p:nvPr/>
        </p:nvSpPr>
        <p:spPr>
          <a:xfrm>
            <a:off x="504812" y="34583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Activa</a:t>
            </a:r>
            <a:endParaRPr lang="en-US" sz="576" dirty="0"/>
          </a:p>
        </p:txBody>
      </p:sp>
      <p:sp>
        <p:nvSpPr>
          <p:cNvPr id="25" name="Text 22"/>
          <p:cNvSpPr/>
          <p:nvPr/>
        </p:nvSpPr>
        <p:spPr>
          <a:xfrm>
            <a:off x="6267293" y="46584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automático</a:t>
            </a:r>
            <a:endParaRPr lang="en-US" sz="552" dirty="0"/>
          </a:p>
        </p:txBody>
      </p:sp>
      <p:sp>
        <p:nvSpPr>
          <p:cNvPr id="26" name="Text 23"/>
          <p:cNvSpPr/>
          <p:nvPr/>
        </p:nvSpPr>
        <p:spPr>
          <a:xfrm>
            <a:off x="504812" y="43917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76" dirty="0"/>
          </a:p>
        </p:txBody>
      </p:sp>
      <p:sp>
        <p:nvSpPr>
          <p:cNvPr id="27" name="Text 24"/>
          <p:cNvSpPr/>
          <p:nvPr/>
        </p:nvSpPr>
        <p:spPr>
          <a:xfrm>
            <a:off x="6267293" y="43917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52" dirty="0"/>
          </a:p>
        </p:txBody>
      </p:sp>
      <p:sp>
        <p:nvSpPr>
          <p:cNvPr id="28" name="Text 25"/>
          <p:cNvSpPr/>
          <p:nvPr/>
        </p:nvSpPr>
        <p:spPr>
          <a:xfrm>
            <a:off x="533387" y="809625"/>
            <a:ext cx="123599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VOLUMEN DE REGISTROS</a:t>
            </a:r>
            <a:endParaRPr lang="en-US" sz="672" dirty="0"/>
          </a:p>
        </p:txBody>
      </p:sp>
      <p:sp>
        <p:nvSpPr>
          <p:cNvPr id="29" name="Text 26"/>
          <p:cNvSpPr/>
          <p:nvPr/>
        </p:nvSpPr>
        <p:spPr>
          <a:xfrm>
            <a:off x="4374991" y="809625"/>
            <a:ext cx="119497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CONSOLIDADAS</a:t>
            </a:r>
            <a:endParaRPr lang="en-US" sz="672" dirty="0"/>
          </a:p>
        </p:txBody>
      </p:sp>
      <p:sp>
        <p:nvSpPr>
          <p:cNvPr id="30" name="Text 27"/>
          <p:cNvSpPr/>
          <p:nvPr/>
        </p:nvSpPr>
        <p:spPr>
          <a:xfrm>
            <a:off x="8216595" y="809625"/>
            <a:ext cx="120996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 PROMEDIO</a:t>
            </a:r>
            <a:endParaRPr lang="en-US" sz="672" dirty="0"/>
          </a:p>
        </p:txBody>
      </p:sp>
      <p:sp>
        <p:nvSpPr>
          <p:cNvPr id="31" name="Text 28"/>
          <p:cNvSpPr/>
          <p:nvPr/>
        </p:nvSpPr>
        <p:spPr>
          <a:xfrm>
            <a:off x="504812" y="37250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Dirección Repetida</a:t>
            </a:r>
            <a:endParaRPr lang="en-US" sz="576" dirty="0"/>
          </a:p>
        </p:txBody>
      </p:sp>
      <p:sp>
        <p:nvSpPr>
          <p:cNvPr id="32" name="Text 29"/>
          <p:cNvSpPr/>
          <p:nvPr/>
        </p:nvSpPr>
        <p:spPr>
          <a:xfrm>
            <a:off x="504812" y="38583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Microseguro Activo</a:t>
            </a:r>
            <a:endParaRPr lang="en-US" sz="576" dirty="0"/>
          </a:p>
        </p:txBody>
      </p:sp>
      <p:sp>
        <p:nvSpPr>
          <p:cNvPr id="33" name="Text 30"/>
          <p:cNvSpPr/>
          <p:nvPr/>
        </p:nvSpPr>
        <p:spPr>
          <a:xfrm>
            <a:off x="504812" y="39917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Repetido</a:t>
            </a:r>
            <a:endParaRPr lang="en-US" sz="576" dirty="0"/>
          </a:p>
        </p:txBody>
      </p:sp>
      <p:sp>
        <p:nvSpPr>
          <p:cNvPr id="34" name="Text 31"/>
          <p:cNvSpPr/>
          <p:nvPr/>
        </p:nvSpPr>
        <p:spPr>
          <a:xfrm>
            <a:off x="6267293" y="33249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552" dirty="0"/>
          </a:p>
        </p:txBody>
      </p:sp>
      <p:sp>
        <p:nvSpPr>
          <p:cNvPr id="35" name="Text 32"/>
          <p:cNvSpPr/>
          <p:nvPr/>
        </p:nvSpPr>
        <p:spPr>
          <a:xfrm>
            <a:off x="6267293" y="37250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Cuelga la llamada</a:t>
            </a:r>
            <a:endParaRPr lang="en-US" sz="552" dirty="0"/>
          </a:p>
        </p:txBody>
      </p:sp>
      <p:sp>
        <p:nvSpPr>
          <p:cNvPr id="36" name="Text 33"/>
          <p:cNvSpPr/>
          <p:nvPr/>
        </p:nvSpPr>
        <p:spPr>
          <a:xfrm>
            <a:off x="6267293" y="50585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no contacto</a:t>
            </a:r>
            <a:endParaRPr lang="en-US" sz="552" dirty="0"/>
          </a:p>
        </p:txBody>
      </p:sp>
      <p:sp>
        <p:nvSpPr>
          <p:cNvPr id="37" name="Text 34"/>
          <p:cNvSpPr/>
          <p:nvPr/>
        </p:nvSpPr>
        <p:spPr>
          <a:xfrm>
            <a:off x="6267293" y="51918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gestionado</a:t>
            </a:r>
            <a:endParaRPr lang="en-US" sz="552" dirty="0"/>
          </a:p>
        </p:txBody>
      </p:sp>
      <p:sp>
        <p:nvSpPr>
          <p:cNvPr id="38" name="Text 35"/>
          <p:cNvSpPr/>
          <p:nvPr/>
        </p:nvSpPr>
        <p:spPr>
          <a:xfrm>
            <a:off x="504812" y="41250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Cédula Repetida</a:t>
            </a:r>
            <a:endParaRPr lang="en-US" sz="576" dirty="0"/>
          </a:p>
        </p:txBody>
      </p:sp>
      <p:sp>
        <p:nvSpPr>
          <p:cNvPr id="39" name="Text 36"/>
          <p:cNvSpPr/>
          <p:nvPr/>
        </p:nvSpPr>
        <p:spPr>
          <a:xfrm>
            <a:off x="10239394" y="1715244"/>
            <a:ext cx="145701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 / Ctto.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6267293" y="34583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</a:t>
            </a:r>
            <a:endParaRPr lang="en-US" sz="552" dirty="0"/>
          </a:p>
        </p:txBody>
      </p:sp>
      <p:sp>
        <p:nvSpPr>
          <p:cNvPr id="41" name="Text 38"/>
          <p:cNvSpPr/>
          <p:nvPr/>
        </p:nvSpPr>
        <p:spPr>
          <a:xfrm>
            <a:off x="6267293" y="3153519"/>
            <a:ext cx="1879325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6267293" y="45251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CONTACTO</a:t>
            </a:r>
            <a:endParaRPr lang="en-US" sz="552" dirty="0"/>
          </a:p>
        </p:txBody>
      </p:sp>
      <p:sp>
        <p:nvSpPr>
          <p:cNvPr id="43" name="Text 40"/>
          <p:cNvSpPr/>
          <p:nvPr/>
        </p:nvSpPr>
        <p:spPr>
          <a:xfrm>
            <a:off x="6267293" y="47918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contesta</a:t>
            </a:r>
            <a:endParaRPr lang="en-US" sz="552" dirty="0"/>
          </a:p>
        </p:txBody>
      </p:sp>
      <p:sp>
        <p:nvSpPr>
          <p:cNvPr id="44" name="Text 41"/>
          <p:cNvSpPr/>
          <p:nvPr/>
        </p:nvSpPr>
        <p:spPr>
          <a:xfrm>
            <a:off x="2951194" y="1715244"/>
            <a:ext cx="1568454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8294831" y="1715244"/>
            <a:ext cx="100818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1540477" y="1715244"/>
            <a:ext cx="145640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4477220" y="1715244"/>
            <a:ext cx="145670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48" name="Text 45"/>
          <p:cNvSpPr/>
          <p:nvPr/>
        </p:nvSpPr>
        <p:spPr>
          <a:xfrm>
            <a:off x="495288" y="20295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9" name="Text 46"/>
          <p:cNvSpPr/>
          <p:nvPr/>
        </p:nvSpPr>
        <p:spPr>
          <a:xfrm>
            <a:off x="1540477" y="2601069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114.104</a:t>
            </a:r>
            <a:endParaRPr lang="en-US" sz="636" dirty="0"/>
          </a:p>
        </p:txBody>
      </p:sp>
      <p:sp>
        <p:nvSpPr>
          <p:cNvPr id="50" name="Text 47"/>
          <p:cNvSpPr/>
          <p:nvPr/>
        </p:nvSpPr>
        <p:spPr>
          <a:xfrm>
            <a:off x="1540477" y="2743944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420.641</a:t>
            </a:r>
            <a:endParaRPr lang="en-US" sz="636" dirty="0"/>
          </a:p>
        </p:txBody>
      </p:sp>
      <p:sp>
        <p:nvSpPr>
          <p:cNvPr id="51" name="Text 48"/>
          <p:cNvSpPr/>
          <p:nvPr/>
        </p:nvSpPr>
        <p:spPr>
          <a:xfrm>
            <a:off x="2951194" y="2743944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261.700</a:t>
            </a:r>
            <a:endParaRPr lang="en-US" sz="636" dirty="0"/>
          </a:p>
        </p:txBody>
      </p:sp>
      <p:sp>
        <p:nvSpPr>
          <p:cNvPr id="52" name="Text 49"/>
          <p:cNvSpPr/>
          <p:nvPr/>
        </p:nvSpPr>
        <p:spPr>
          <a:xfrm>
            <a:off x="5205169" y="45251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261.700</a:t>
            </a:r>
            <a:endParaRPr lang="en-US" sz="576" dirty="0"/>
          </a:p>
        </p:txBody>
      </p:sp>
      <p:sp>
        <p:nvSpPr>
          <p:cNvPr id="53" name="Text 50"/>
          <p:cNvSpPr/>
          <p:nvPr/>
        </p:nvSpPr>
        <p:spPr>
          <a:xfrm>
            <a:off x="6257769" y="20295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54" name="Text 51"/>
          <p:cNvSpPr/>
          <p:nvPr/>
        </p:nvSpPr>
        <p:spPr>
          <a:xfrm>
            <a:off x="7316013" y="27439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158.941</a:t>
            </a:r>
            <a:endParaRPr lang="en-US" sz="636" dirty="0"/>
          </a:p>
        </p:txBody>
      </p:sp>
      <p:sp>
        <p:nvSpPr>
          <p:cNvPr id="55" name="Text 52"/>
          <p:cNvSpPr/>
          <p:nvPr/>
        </p:nvSpPr>
        <p:spPr>
          <a:xfrm>
            <a:off x="533387" y="952500"/>
            <a:ext cx="695683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420.641</a:t>
            </a:r>
            <a:endParaRPr lang="en-US" sz="1380" dirty="0"/>
          </a:p>
        </p:txBody>
      </p:sp>
      <p:sp>
        <p:nvSpPr>
          <p:cNvPr id="56" name="Text 53"/>
          <p:cNvSpPr/>
          <p:nvPr/>
        </p:nvSpPr>
        <p:spPr>
          <a:xfrm>
            <a:off x="1540477" y="1886694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20.864</a:t>
            </a:r>
            <a:endParaRPr lang="en-US" sz="636" dirty="0"/>
          </a:p>
        </p:txBody>
      </p:sp>
      <p:sp>
        <p:nvSpPr>
          <p:cNvPr id="57" name="Text 54"/>
          <p:cNvSpPr/>
          <p:nvPr/>
        </p:nvSpPr>
        <p:spPr>
          <a:xfrm>
            <a:off x="2951194" y="1886694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12.781</a:t>
            </a:r>
            <a:endParaRPr lang="en-US" sz="636" dirty="0"/>
          </a:p>
        </p:txBody>
      </p:sp>
      <p:sp>
        <p:nvSpPr>
          <p:cNvPr id="58" name="Text 55"/>
          <p:cNvSpPr/>
          <p:nvPr/>
        </p:nvSpPr>
        <p:spPr>
          <a:xfrm>
            <a:off x="4477220" y="1886694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61,3 %</a:t>
            </a:r>
            <a:endParaRPr lang="en-US" sz="636" dirty="0"/>
          </a:p>
        </p:txBody>
      </p:sp>
      <p:sp>
        <p:nvSpPr>
          <p:cNvPr id="59" name="Text 56"/>
          <p:cNvSpPr/>
          <p:nvPr/>
        </p:nvSpPr>
        <p:spPr>
          <a:xfrm>
            <a:off x="1540477" y="2029569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50.266</a:t>
            </a:r>
            <a:endParaRPr lang="en-US" sz="636" dirty="0"/>
          </a:p>
        </p:txBody>
      </p:sp>
      <p:sp>
        <p:nvSpPr>
          <p:cNvPr id="60" name="Text 57"/>
          <p:cNvSpPr/>
          <p:nvPr/>
        </p:nvSpPr>
        <p:spPr>
          <a:xfrm>
            <a:off x="2951194" y="2029569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25.419</a:t>
            </a:r>
            <a:endParaRPr lang="en-US" sz="636" dirty="0"/>
          </a:p>
        </p:txBody>
      </p:sp>
      <p:sp>
        <p:nvSpPr>
          <p:cNvPr id="61" name="Text 58"/>
          <p:cNvSpPr/>
          <p:nvPr/>
        </p:nvSpPr>
        <p:spPr>
          <a:xfrm>
            <a:off x="4477220" y="2029569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50,6 %</a:t>
            </a:r>
            <a:endParaRPr lang="en-US" sz="636" dirty="0"/>
          </a:p>
        </p:txBody>
      </p:sp>
      <p:sp>
        <p:nvSpPr>
          <p:cNvPr id="62" name="Text 59"/>
          <p:cNvSpPr/>
          <p:nvPr/>
        </p:nvSpPr>
        <p:spPr>
          <a:xfrm>
            <a:off x="1540477" y="2172444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69.741</a:t>
            </a:r>
            <a:endParaRPr lang="en-US" sz="636" dirty="0"/>
          </a:p>
        </p:txBody>
      </p:sp>
      <p:sp>
        <p:nvSpPr>
          <p:cNvPr id="63" name="Text 60"/>
          <p:cNvSpPr/>
          <p:nvPr/>
        </p:nvSpPr>
        <p:spPr>
          <a:xfrm>
            <a:off x="2951194" y="2172444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41.761</a:t>
            </a:r>
            <a:endParaRPr lang="en-US" sz="636" dirty="0"/>
          </a:p>
        </p:txBody>
      </p:sp>
      <p:sp>
        <p:nvSpPr>
          <p:cNvPr id="64" name="Text 61"/>
          <p:cNvSpPr/>
          <p:nvPr/>
        </p:nvSpPr>
        <p:spPr>
          <a:xfrm>
            <a:off x="4477220" y="2172444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59,9 %</a:t>
            </a:r>
            <a:endParaRPr lang="en-US" sz="636" dirty="0"/>
          </a:p>
        </p:txBody>
      </p:sp>
      <p:sp>
        <p:nvSpPr>
          <p:cNvPr id="65" name="Text 62"/>
          <p:cNvSpPr/>
          <p:nvPr/>
        </p:nvSpPr>
        <p:spPr>
          <a:xfrm>
            <a:off x="1540477" y="2315319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82.833</a:t>
            </a:r>
            <a:endParaRPr lang="en-US" sz="636" dirty="0"/>
          </a:p>
        </p:txBody>
      </p:sp>
      <p:sp>
        <p:nvSpPr>
          <p:cNvPr id="66" name="Text 63"/>
          <p:cNvSpPr/>
          <p:nvPr/>
        </p:nvSpPr>
        <p:spPr>
          <a:xfrm>
            <a:off x="2951194" y="2315319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53.460</a:t>
            </a:r>
            <a:endParaRPr lang="en-US" sz="636" dirty="0"/>
          </a:p>
        </p:txBody>
      </p:sp>
      <p:sp>
        <p:nvSpPr>
          <p:cNvPr id="67" name="Text 64"/>
          <p:cNvSpPr/>
          <p:nvPr/>
        </p:nvSpPr>
        <p:spPr>
          <a:xfrm>
            <a:off x="4477220" y="2315319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64,5 %</a:t>
            </a:r>
            <a:endParaRPr lang="en-US" sz="636" dirty="0"/>
          </a:p>
        </p:txBody>
      </p:sp>
      <p:sp>
        <p:nvSpPr>
          <p:cNvPr id="68" name="Text 65"/>
          <p:cNvSpPr/>
          <p:nvPr/>
        </p:nvSpPr>
        <p:spPr>
          <a:xfrm>
            <a:off x="1540477" y="2458194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82.833</a:t>
            </a:r>
            <a:endParaRPr lang="en-US" sz="636" dirty="0"/>
          </a:p>
        </p:txBody>
      </p:sp>
      <p:sp>
        <p:nvSpPr>
          <p:cNvPr id="69" name="Text 66"/>
          <p:cNvSpPr/>
          <p:nvPr/>
        </p:nvSpPr>
        <p:spPr>
          <a:xfrm>
            <a:off x="2951194" y="2458194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53.460</a:t>
            </a:r>
            <a:endParaRPr lang="en-US" sz="636" dirty="0"/>
          </a:p>
        </p:txBody>
      </p:sp>
      <p:sp>
        <p:nvSpPr>
          <p:cNvPr id="70" name="Text 67"/>
          <p:cNvSpPr/>
          <p:nvPr/>
        </p:nvSpPr>
        <p:spPr>
          <a:xfrm>
            <a:off x="4477220" y="2458194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64,5 %</a:t>
            </a:r>
            <a:endParaRPr lang="en-US" sz="636" dirty="0"/>
          </a:p>
        </p:txBody>
      </p:sp>
      <p:sp>
        <p:nvSpPr>
          <p:cNvPr id="71" name="Text 68"/>
          <p:cNvSpPr/>
          <p:nvPr/>
        </p:nvSpPr>
        <p:spPr>
          <a:xfrm>
            <a:off x="2951194" y="2601069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74.819</a:t>
            </a:r>
            <a:endParaRPr lang="en-US" sz="636" dirty="0"/>
          </a:p>
        </p:txBody>
      </p:sp>
      <p:sp>
        <p:nvSpPr>
          <p:cNvPr id="72" name="Text 69"/>
          <p:cNvSpPr/>
          <p:nvPr/>
        </p:nvSpPr>
        <p:spPr>
          <a:xfrm>
            <a:off x="4477220" y="2601069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65,6 %</a:t>
            </a:r>
            <a:endParaRPr lang="en-US" sz="636" dirty="0"/>
          </a:p>
        </p:txBody>
      </p:sp>
      <p:sp>
        <p:nvSpPr>
          <p:cNvPr id="73" name="Text 70"/>
          <p:cNvSpPr/>
          <p:nvPr/>
        </p:nvSpPr>
        <p:spPr>
          <a:xfrm>
            <a:off x="4477220" y="2743944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62,2 %</a:t>
            </a:r>
            <a:endParaRPr lang="en-US" sz="636" dirty="0"/>
          </a:p>
        </p:txBody>
      </p:sp>
      <p:sp>
        <p:nvSpPr>
          <p:cNvPr id="74" name="Text 71"/>
          <p:cNvSpPr/>
          <p:nvPr/>
        </p:nvSpPr>
        <p:spPr>
          <a:xfrm>
            <a:off x="504812" y="3153519"/>
            <a:ext cx="1879325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Motivo</a:t>
            </a:r>
            <a:endParaRPr lang="en-US" sz="888" dirty="0"/>
          </a:p>
        </p:txBody>
      </p:sp>
      <p:sp>
        <p:nvSpPr>
          <p:cNvPr id="75" name="Text 72"/>
          <p:cNvSpPr/>
          <p:nvPr/>
        </p:nvSpPr>
        <p:spPr>
          <a:xfrm>
            <a:off x="3280489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15.354</a:t>
            </a:r>
            <a:endParaRPr lang="en-US" sz="576" dirty="0"/>
          </a:p>
        </p:txBody>
      </p:sp>
      <p:sp>
        <p:nvSpPr>
          <p:cNvPr id="76" name="Text 73"/>
          <p:cNvSpPr/>
          <p:nvPr/>
        </p:nvSpPr>
        <p:spPr>
          <a:xfrm>
            <a:off x="3763275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19.655</a:t>
            </a:r>
            <a:endParaRPr lang="en-US" sz="576" dirty="0"/>
          </a:p>
        </p:txBody>
      </p:sp>
      <p:sp>
        <p:nvSpPr>
          <p:cNvPr id="77" name="Text 74"/>
          <p:cNvSpPr/>
          <p:nvPr/>
        </p:nvSpPr>
        <p:spPr>
          <a:xfrm>
            <a:off x="4246061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19.655</a:t>
            </a:r>
            <a:endParaRPr lang="en-US" sz="576" dirty="0"/>
          </a:p>
        </p:txBody>
      </p:sp>
      <p:sp>
        <p:nvSpPr>
          <p:cNvPr id="78" name="Text 75"/>
          <p:cNvSpPr/>
          <p:nvPr/>
        </p:nvSpPr>
        <p:spPr>
          <a:xfrm>
            <a:off x="4728848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27.509</a:t>
            </a:r>
            <a:endParaRPr lang="en-US" sz="576" dirty="0"/>
          </a:p>
        </p:txBody>
      </p:sp>
      <p:sp>
        <p:nvSpPr>
          <p:cNvPr id="79" name="Text 76"/>
          <p:cNvSpPr/>
          <p:nvPr/>
        </p:nvSpPr>
        <p:spPr>
          <a:xfrm>
            <a:off x="5205169" y="33249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96.218</a:t>
            </a:r>
            <a:endParaRPr lang="en-US" sz="576" dirty="0"/>
          </a:p>
        </p:txBody>
      </p:sp>
      <p:sp>
        <p:nvSpPr>
          <p:cNvPr id="80" name="Text 77"/>
          <p:cNvSpPr/>
          <p:nvPr/>
        </p:nvSpPr>
        <p:spPr>
          <a:xfrm>
            <a:off x="3280489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13.637</a:t>
            </a:r>
            <a:endParaRPr lang="en-US" sz="576" dirty="0"/>
          </a:p>
        </p:txBody>
      </p:sp>
      <p:sp>
        <p:nvSpPr>
          <p:cNvPr id="81" name="Text 78"/>
          <p:cNvSpPr/>
          <p:nvPr/>
        </p:nvSpPr>
        <p:spPr>
          <a:xfrm>
            <a:off x="3763275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17.457</a:t>
            </a:r>
            <a:endParaRPr lang="en-US" sz="576" dirty="0"/>
          </a:p>
        </p:txBody>
      </p:sp>
      <p:sp>
        <p:nvSpPr>
          <p:cNvPr id="82" name="Text 79"/>
          <p:cNvSpPr/>
          <p:nvPr/>
        </p:nvSpPr>
        <p:spPr>
          <a:xfrm>
            <a:off x="4246061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17.457</a:t>
            </a:r>
            <a:endParaRPr lang="en-US" sz="576" dirty="0"/>
          </a:p>
        </p:txBody>
      </p:sp>
      <p:sp>
        <p:nvSpPr>
          <p:cNvPr id="83" name="Text 80"/>
          <p:cNvSpPr/>
          <p:nvPr/>
        </p:nvSpPr>
        <p:spPr>
          <a:xfrm>
            <a:off x="4728848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24.431</a:t>
            </a:r>
            <a:endParaRPr lang="en-US" sz="576" dirty="0"/>
          </a:p>
        </p:txBody>
      </p:sp>
      <p:sp>
        <p:nvSpPr>
          <p:cNvPr id="84" name="Text 81"/>
          <p:cNvSpPr/>
          <p:nvPr/>
        </p:nvSpPr>
        <p:spPr>
          <a:xfrm>
            <a:off x="5205169" y="34583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85.455</a:t>
            </a:r>
            <a:endParaRPr lang="en-US" sz="576" dirty="0"/>
          </a:p>
        </p:txBody>
      </p:sp>
      <p:sp>
        <p:nvSpPr>
          <p:cNvPr id="85" name="Text 82"/>
          <p:cNvSpPr/>
          <p:nvPr/>
        </p:nvSpPr>
        <p:spPr>
          <a:xfrm>
            <a:off x="5205169" y="35916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21.047</a:t>
            </a:r>
            <a:endParaRPr lang="en-US" sz="576" dirty="0"/>
          </a:p>
        </p:txBody>
      </p:sp>
      <p:sp>
        <p:nvSpPr>
          <p:cNvPr id="86" name="Text 83"/>
          <p:cNvSpPr/>
          <p:nvPr/>
        </p:nvSpPr>
        <p:spPr>
          <a:xfrm>
            <a:off x="5205169" y="37250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19.533</a:t>
            </a:r>
            <a:endParaRPr lang="en-US" sz="576" dirty="0"/>
          </a:p>
        </p:txBody>
      </p:sp>
      <p:sp>
        <p:nvSpPr>
          <p:cNvPr id="87" name="Text 84"/>
          <p:cNvSpPr/>
          <p:nvPr/>
        </p:nvSpPr>
        <p:spPr>
          <a:xfrm>
            <a:off x="5205169" y="38583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13.637</a:t>
            </a:r>
            <a:endParaRPr lang="en-US" sz="576" dirty="0"/>
          </a:p>
        </p:txBody>
      </p:sp>
      <p:sp>
        <p:nvSpPr>
          <p:cNvPr id="88" name="Text 85"/>
          <p:cNvSpPr/>
          <p:nvPr/>
        </p:nvSpPr>
        <p:spPr>
          <a:xfrm>
            <a:off x="2314916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12.781</a:t>
            </a:r>
            <a:endParaRPr lang="en-US" sz="576" dirty="0"/>
          </a:p>
        </p:txBody>
      </p:sp>
      <p:sp>
        <p:nvSpPr>
          <p:cNvPr id="89" name="Text 86"/>
          <p:cNvSpPr/>
          <p:nvPr/>
        </p:nvSpPr>
        <p:spPr>
          <a:xfrm>
            <a:off x="2797702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25.419</a:t>
            </a:r>
            <a:endParaRPr lang="en-US" sz="576" dirty="0"/>
          </a:p>
        </p:txBody>
      </p:sp>
      <p:sp>
        <p:nvSpPr>
          <p:cNvPr id="90" name="Text 87"/>
          <p:cNvSpPr/>
          <p:nvPr/>
        </p:nvSpPr>
        <p:spPr>
          <a:xfrm>
            <a:off x="3280489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41.761</a:t>
            </a:r>
            <a:endParaRPr lang="en-US" sz="576" dirty="0"/>
          </a:p>
        </p:txBody>
      </p:sp>
      <p:sp>
        <p:nvSpPr>
          <p:cNvPr id="91" name="Text 88"/>
          <p:cNvSpPr/>
          <p:nvPr/>
        </p:nvSpPr>
        <p:spPr>
          <a:xfrm>
            <a:off x="3763275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53.460</a:t>
            </a:r>
            <a:endParaRPr lang="en-US" sz="576" dirty="0"/>
          </a:p>
        </p:txBody>
      </p:sp>
      <p:sp>
        <p:nvSpPr>
          <p:cNvPr id="92" name="Text 89"/>
          <p:cNvSpPr/>
          <p:nvPr/>
        </p:nvSpPr>
        <p:spPr>
          <a:xfrm>
            <a:off x="4246061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53.460</a:t>
            </a:r>
            <a:endParaRPr lang="en-US" sz="576" dirty="0"/>
          </a:p>
        </p:txBody>
      </p:sp>
      <p:sp>
        <p:nvSpPr>
          <p:cNvPr id="93" name="Text 90"/>
          <p:cNvSpPr/>
          <p:nvPr/>
        </p:nvSpPr>
        <p:spPr>
          <a:xfrm>
            <a:off x="4728848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74.819</a:t>
            </a:r>
            <a:endParaRPr lang="en-US" sz="576" dirty="0"/>
          </a:p>
        </p:txBody>
      </p:sp>
      <p:sp>
        <p:nvSpPr>
          <p:cNvPr id="94" name="Text 91"/>
          <p:cNvSpPr/>
          <p:nvPr/>
        </p:nvSpPr>
        <p:spPr>
          <a:xfrm>
            <a:off x="9273649" y="1715244"/>
            <a:ext cx="100818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95" name="Text 92"/>
          <p:cNvSpPr/>
          <p:nvPr/>
        </p:nvSpPr>
        <p:spPr>
          <a:xfrm>
            <a:off x="8294831" y="18866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51,1 %</a:t>
            </a:r>
            <a:endParaRPr lang="en-US" sz="636" dirty="0"/>
          </a:p>
        </p:txBody>
      </p:sp>
      <p:sp>
        <p:nvSpPr>
          <p:cNvPr id="96" name="Text 93"/>
          <p:cNvSpPr/>
          <p:nvPr/>
        </p:nvSpPr>
        <p:spPr>
          <a:xfrm>
            <a:off x="7316013" y="20295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24.847</a:t>
            </a:r>
            <a:endParaRPr lang="en-US" sz="636" dirty="0"/>
          </a:p>
        </p:txBody>
      </p:sp>
      <p:sp>
        <p:nvSpPr>
          <p:cNvPr id="97" name="Text 94"/>
          <p:cNvSpPr/>
          <p:nvPr/>
        </p:nvSpPr>
        <p:spPr>
          <a:xfrm>
            <a:off x="8294831" y="20295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36,8 %</a:t>
            </a:r>
            <a:endParaRPr lang="en-US" sz="636" dirty="0"/>
          </a:p>
        </p:txBody>
      </p:sp>
      <p:sp>
        <p:nvSpPr>
          <p:cNvPr id="98" name="Text 95"/>
          <p:cNvSpPr/>
          <p:nvPr/>
        </p:nvSpPr>
        <p:spPr>
          <a:xfrm>
            <a:off x="7316013" y="21724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27.980</a:t>
            </a:r>
            <a:endParaRPr lang="en-US" sz="636" dirty="0"/>
          </a:p>
        </p:txBody>
      </p:sp>
      <p:sp>
        <p:nvSpPr>
          <p:cNvPr id="99" name="Text 96"/>
          <p:cNvSpPr/>
          <p:nvPr/>
        </p:nvSpPr>
        <p:spPr>
          <a:xfrm>
            <a:off x="8294831" y="21724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59,2 %</a:t>
            </a:r>
            <a:endParaRPr lang="en-US" sz="636" dirty="0"/>
          </a:p>
        </p:txBody>
      </p:sp>
      <p:sp>
        <p:nvSpPr>
          <p:cNvPr id="100" name="Text 97"/>
          <p:cNvSpPr/>
          <p:nvPr/>
        </p:nvSpPr>
        <p:spPr>
          <a:xfrm>
            <a:off x="7316013" y="231531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29.373</a:t>
            </a:r>
            <a:endParaRPr lang="en-US" sz="636" dirty="0"/>
          </a:p>
        </p:txBody>
      </p:sp>
      <p:sp>
        <p:nvSpPr>
          <p:cNvPr id="101" name="Text 98"/>
          <p:cNvSpPr/>
          <p:nvPr/>
        </p:nvSpPr>
        <p:spPr>
          <a:xfrm>
            <a:off x="8294831" y="231531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56,4 %</a:t>
            </a:r>
            <a:endParaRPr lang="en-US" sz="636" dirty="0"/>
          </a:p>
        </p:txBody>
      </p:sp>
      <p:sp>
        <p:nvSpPr>
          <p:cNvPr id="102" name="Text 99"/>
          <p:cNvSpPr/>
          <p:nvPr/>
        </p:nvSpPr>
        <p:spPr>
          <a:xfrm>
            <a:off x="7316013" y="24581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29.373</a:t>
            </a:r>
            <a:endParaRPr lang="en-US" sz="636" dirty="0"/>
          </a:p>
        </p:txBody>
      </p:sp>
      <p:sp>
        <p:nvSpPr>
          <p:cNvPr id="103" name="Text 100"/>
          <p:cNvSpPr/>
          <p:nvPr/>
        </p:nvSpPr>
        <p:spPr>
          <a:xfrm>
            <a:off x="8294831" y="24581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59,3 %</a:t>
            </a:r>
            <a:endParaRPr lang="en-US" sz="636" dirty="0"/>
          </a:p>
        </p:txBody>
      </p:sp>
      <p:sp>
        <p:nvSpPr>
          <p:cNvPr id="104" name="Text 101"/>
          <p:cNvSpPr/>
          <p:nvPr/>
        </p:nvSpPr>
        <p:spPr>
          <a:xfrm>
            <a:off x="7316013" y="26010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39.285</a:t>
            </a:r>
            <a:endParaRPr lang="en-US" sz="636" dirty="0"/>
          </a:p>
        </p:txBody>
      </p:sp>
      <p:sp>
        <p:nvSpPr>
          <p:cNvPr id="105" name="Text 102"/>
          <p:cNvSpPr/>
          <p:nvPr/>
        </p:nvSpPr>
        <p:spPr>
          <a:xfrm>
            <a:off x="8294831" y="26010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46,2 %</a:t>
            </a:r>
            <a:endParaRPr lang="en-US" sz="636" dirty="0"/>
          </a:p>
        </p:txBody>
      </p:sp>
      <p:sp>
        <p:nvSpPr>
          <p:cNvPr id="106" name="Text 103"/>
          <p:cNvSpPr/>
          <p:nvPr/>
        </p:nvSpPr>
        <p:spPr>
          <a:xfrm>
            <a:off x="8294831" y="27439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51,6 %</a:t>
            </a:r>
            <a:endParaRPr lang="en-US" sz="636" dirty="0"/>
          </a:p>
        </p:txBody>
      </p:sp>
      <p:sp>
        <p:nvSpPr>
          <p:cNvPr id="107" name="Text 104"/>
          <p:cNvSpPr/>
          <p:nvPr/>
        </p:nvSpPr>
        <p:spPr>
          <a:xfrm>
            <a:off x="8077397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51,1 %</a:t>
            </a:r>
            <a:endParaRPr lang="en-US" sz="552" dirty="0"/>
          </a:p>
        </p:txBody>
      </p:sp>
      <p:sp>
        <p:nvSpPr>
          <p:cNvPr id="108" name="Text 105"/>
          <p:cNvSpPr/>
          <p:nvPr/>
        </p:nvSpPr>
        <p:spPr>
          <a:xfrm>
            <a:off x="8560183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36,8 %</a:t>
            </a:r>
            <a:endParaRPr lang="en-US" sz="552" dirty="0"/>
          </a:p>
        </p:txBody>
      </p:sp>
      <p:sp>
        <p:nvSpPr>
          <p:cNvPr id="109" name="Text 106"/>
          <p:cNvSpPr/>
          <p:nvPr/>
        </p:nvSpPr>
        <p:spPr>
          <a:xfrm>
            <a:off x="9042970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59,2 %</a:t>
            </a:r>
            <a:endParaRPr lang="en-US" sz="552" dirty="0"/>
          </a:p>
        </p:txBody>
      </p:sp>
      <p:sp>
        <p:nvSpPr>
          <p:cNvPr id="110" name="Text 107"/>
          <p:cNvSpPr/>
          <p:nvPr/>
        </p:nvSpPr>
        <p:spPr>
          <a:xfrm>
            <a:off x="9525756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56,4 %</a:t>
            </a:r>
            <a:endParaRPr lang="en-US" sz="552" dirty="0"/>
          </a:p>
        </p:txBody>
      </p:sp>
      <p:sp>
        <p:nvSpPr>
          <p:cNvPr id="111" name="Text 108"/>
          <p:cNvSpPr/>
          <p:nvPr/>
        </p:nvSpPr>
        <p:spPr>
          <a:xfrm>
            <a:off x="10008542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59,3 %</a:t>
            </a:r>
            <a:endParaRPr lang="en-US" sz="552" dirty="0"/>
          </a:p>
        </p:txBody>
      </p:sp>
      <p:sp>
        <p:nvSpPr>
          <p:cNvPr id="112" name="Text 109"/>
          <p:cNvSpPr/>
          <p:nvPr/>
        </p:nvSpPr>
        <p:spPr>
          <a:xfrm>
            <a:off x="10491329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46,2 %</a:t>
            </a:r>
            <a:endParaRPr lang="en-US" sz="552" dirty="0"/>
          </a:p>
        </p:txBody>
      </p:sp>
      <p:sp>
        <p:nvSpPr>
          <p:cNvPr id="113" name="Text 110"/>
          <p:cNvSpPr/>
          <p:nvPr/>
        </p:nvSpPr>
        <p:spPr>
          <a:xfrm>
            <a:off x="10967650" y="33249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51,7 %</a:t>
            </a:r>
            <a:endParaRPr lang="en-US" sz="552" dirty="0"/>
          </a:p>
        </p:txBody>
      </p:sp>
      <p:sp>
        <p:nvSpPr>
          <p:cNvPr id="114" name="Text 111"/>
          <p:cNvSpPr/>
          <p:nvPr/>
        </p:nvSpPr>
        <p:spPr>
          <a:xfrm>
            <a:off x="8077397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19,1 %</a:t>
            </a:r>
            <a:endParaRPr lang="en-US" sz="552" dirty="0"/>
          </a:p>
        </p:txBody>
      </p:sp>
      <p:sp>
        <p:nvSpPr>
          <p:cNvPr id="115" name="Text 112"/>
          <p:cNvSpPr/>
          <p:nvPr/>
        </p:nvSpPr>
        <p:spPr>
          <a:xfrm>
            <a:off x="8560183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13,8 %</a:t>
            </a:r>
            <a:endParaRPr lang="en-US" sz="552" dirty="0"/>
          </a:p>
        </p:txBody>
      </p:sp>
      <p:sp>
        <p:nvSpPr>
          <p:cNvPr id="116" name="Text 113"/>
          <p:cNvSpPr/>
          <p:nvPr/>
        </p:nvSpPr>
        <p:spPr>
          <a:xfrm>
            <a:off x="9042970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22,2 %</a:t>
            </a:r>
            <a:endParaRPr lang="en-US" sz="552" dirty="0"/>
          </a:p>
        </p:txBody>
      </p:sp>
      <p:sp>
        <p:nvSpPr>
          <p:cNvPr id="117" name="Text 114"/>
          <p:cNvSpPr/>
          <p:nvPr/>
        </p:nvSpPr>
        <p:spPr>
          <a:xfrm>
            <a:off x="9525756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21,1 %</a:t>
            </a:r>
            <a:endParaRPr lang="en-US" sz="552" dirty="0"/>
          </a:p>
        </p:txBody>
      </p:sp>
      <p:sp>
        <p:nvSpPr>
          <p:cNvPr id="118" name="Text 115"/>
          <p:cNvSpPr/>
          <p:nvPr/>
        </p:nvSpPr>
        <p:spPr>
          <a:xfrm>
            <a:off x="10008542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22,2 %</a:t>
            </a:r>
            <a:endParaRPr lang="en-US" sz="552" dirty="0"/>
          </a:p>
        </p:txBody>
      </p:sp>
      <p:sp>
        <p:nvSpPr>
          <p:cNvPr id="119" name="Text 116"/>
          <p:cNvSpPr/>
          <p:nvPr/>
        </p:nvSpPr>
        <p:spPr>
          <a:xfrm>
            <a:off x="10491329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17,3 %</a:t>
            </a:r>
            <a:endParaRPr lang="en-US" sz="552" dirty="0"/>
          </a:p>
        </p:txBody>
      </p:sp>
      <p:sp>
        <p:nvSpPr>
          <p:cNvPr id="120" name="Text 117"/>
          <p:cNvSpPr/>
          <p:nvPr/>
        </p:nvSpPr>
        <p:spPr>
          <a:xfrm>
            <a:off x="10967650" y="35916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19,4 %</a:t>
            </a:r>
            <a:endParaRPr lang="en-US" sz="552" dirty="0"/>
          </a:p>
        </p:txBody>
      </p:sp>
      <p:sp>
        <p:nvSpPr>
          <p:cNvPr id="121" name="Text 118"/>
          <p:cNvSpPr/>
          <p:nvPr/>
        </p:nvSpPr>
        <p:spPr>
          <a:xfrm>
            <a:off x="8077397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11,0 %</a:t>
            </a:r>
            <a:endParaRPr lang="en-US" sz="552" dirty="0"/>
          </a:p>
        </p:txBody>
      </p:sp>
      <p:sp>
        <p:nvSpPr>
          <p:cNvPr id="122" name="Text 119"/>
          <p:cNvSpPr/>
          <p:nvPr/>
        </p:nvSpPr>
        <p:spPr>
          <a:xfrm>
            <a:off x="9042970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12,7 %</a:t>
            </a:r>
            <a:endParaRPr lang="en-US" sz="552" dirty="0"/>
          </a:p>
        </p:txBody>
      </p:sp>
      <p:sp>
        <p:nvSpPr>
          <p:cNvPr id="123" name="Text 120"/>
          <p:cNvSpPr/>
          <p:nvPr/>
        </p:nvSpPr>
        <p:spPr>
          <a:xfrm>
            <a:off x="9525756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12,1 %</a:t>
            </a:r>
            <a:endParaRPr lang="en-US" sz="552" dirty="0"/>
          </a:p>
        </p:txBody>
      </p:sp>
      <p:sp>
        <p:nvSpPr>
          <p:cNvPr id="124" name="Text 121"/>
          <p:cNvSpPr/>
          <p:nvPr/>
        </p:nvSpPr>
        <p:spPr>
          <a:xfrm>
            <a:off x="10008542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12,7 %</a:t>
            </a:r>
            <a:endParaRPr lang="en-US" sz="552" dirty="0"/>
          </a:p>
        </p:txBody>
      </p:sp>
      <p:sp>
        <p:nvSpPr>
          <p:cNvPr id="125" name="Text 122"/>
          <p:cNvSpPr/>
          <p:nvPr/>
        </p:nvSpPr>
        <p:spPr>
          <a:xfrm>
            <a:off x="10967650" y="37250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11,1 %</a:t>
            </a:r>
            <a:endParaRPr lang="en-US" sz="552" dirty="0"/>
          </a:p>
        </p:txBody>
      </p:sp>
      <p:sp>
        <p:nvSpPr>
          <p:cNvPr id="126" name="Text 123"/>
          <p:cNvSpPr/>
          <p:nvPr/>
        </p:nvSpPr>
        <p:spPr>
          <a:xfrm>
            <a:off x="8077397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48,9 %</a:t>
            </a:r>
            <a:endParaRPr lang="en-US" sz="552" dirty="0"/>
          </a:p>
        </p:txBody>
      </p:sp>
      <p:sp>
        <p:nvSpPr>
          <p:cNvPr id="127" name="Text 124"/>
          <p:cNvSpPr/>
          <p:nvPr/>
        </p:nvSpPr>
        <p:spPr>
          <a:xfrm>
            <a:off x="8560183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63,2 %</a:t>
            </a:r>
            <a:endParaRPr lang="en-US" sz="552" dirty="0"/>
          </a:p>
        </p:txBody>
      </p:sp>
      <p:sp>
        <p:nvSpPr>
          <p:cNvPr id="128" name="Text 125"/>
          <p:cNvSpPr/>
          <p:nvPr/>
        </p:nvSpPr>
        <p:spPr>
          <a:xfrm>
            <a:off x="9042970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40,8 %</a:t>
            </a:r>
            <a:endParaRPr lang="en-US" sz="552" dirty="0"/>
          </a:p>
        </p:txBody>
      </p:sp>
      <p:sp>
        <p:nvSpPr>
          <p:cNvPr id="129" name="Text 126"/>
          <p:cNvSpPr/>
          <p:nvPr/>
        </p:nvSpPr>
        <p:spPr>
          <a:xfrm>
            <a:off x="9525756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43,6 %</a:t>
            </a:r>
            <a:endParaRPr lang="en-US" sz="552" dirty="0"/>
          </a:p>
        </p:txBody>
      </p:sp>
      <p:sp>
        <p:nvSpPr>
          <p:cNvPr id="130" name="Text 127"/>
          <p:cNvSpPr/>
          <p:nvPr/>
        </p:nvSpPr>
        <p:spPr>
          <a:xfrm>
            <a:off x="10008542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40,7 %</a:t>
            </a:r>
            <a:endParaRPr lang="en-US" sz="552" dirty="0"/>
          </a:p>
        </p:txBody>
      </p:sp>
      <p:sp>
        <p:nvSpPr>
          <p:cNvPr id="131" name="Text 128"/>
          <p:cNvSpPr/>
          <p:nvPr/>
        </p:nvSpPr>
        <p:spPr>
          <a:xfrm>
            <a:off x="10491329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53,8 %</a:t>
            </a:r>
            <a:endParaRPr lang="en-US" sz="552" dirty="0"/>
          </a:p>
        </p:txBody>
      </p:sp>
      <p:sp>
        <p:nvSpPr>
          <p:cNvPr id="132" name="Text 129"/>
          <p:cNvSpPr/>
          <p:nvPr/>
        </p:nvSpPr>
        <p:spPr>
          <a:xfrm>
            <a:off x="10967650" y="45251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48,3 %</a:t>
            </a:r>
            <a:endParaRPr lang="en-US" sz="552" dirty="0"/>
          </a:p>
        </p:txBody>
      </p:sp>
      <p:sp>
        <p:nvSpPr>
          <p:cNvPr id="133" name="Text 130"/>
          <p:cNvSpPr/>
          <p:nvPr/>
        </p:nvSpPr>
        <p:spPr>
          <a:xfrm>
            <a:off x="8077397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39,1 %</a:t>
            </a:r>
            <a:endParaRPr lang="en-US" sz="552" dirty="0"/>
          </a:p>
        </p:txBody>
      </p:sp>
      <p:sp>
        <p:nvSpPr>
          <p:cNvPr id="134" name="Text 131"/>
          <p:cNvSpPr/>
          <p:nvPr/>
        </p:nvSpPr>
        <p:spPr>
          <a:xfrm>
            <a:off x="8560183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50,5 %</a:t>
            </a:r>
            <a:endParaRPr lang="en-US" sz="552" dirty="0"/>
          </a:p>
        </p:txBody>
      </p:sp>
      <p:sp>
        <p:nvSpPr>
          <p:cNvPr id="135" name="Text 132"/>
          <p:cNvSpPr/>
          <p:nvPr/>
        </p:nvSpPr>
        <p:spPr>
          <a:xfrm>
            <a:off x="9042970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32,6 %</a:t>
            </a:r>
            <a:endParaRPr lang="en-US" sz="552" dirty="0"/>
          </a:p>
        </p:txBody>
      </p:sp>
      <p:sp>
        <p:nvSpPr>
          <p:cNvPr id="136" name="Text 133"/>
          <p:cNvSpPr/>
          <p:nvPr/>
        </p:nvSpPr>
        <p:spPr>
          <a:xfrm>
            <a:off x="9525756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34,9 %</a:t>
            </a:r>
            <a:endParaRPr lang="en-US" sz="552" dirty="0"/>
          </a:p>
        </p:txBody>
      </p:sp>
      <p:sp>
        <p:nvSpPr>
          <p:cNvPr id="137" name="Text 134"/>
          <p:cNvSpPr/>
          <p:nvPr/>
        </p:nvSpPr>
        <p:spPr>
          <a:xfrm>
            <a:off x="10008542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32,5 %</a:t>
            </a:r>
            <a:endParaRPr lang="en-US" sz="552" dirty="0"/>
          </a:p>
        </p:txBody>
      </p:sp>
      <p:sp>
        <p:nvSpPr>
          <p:cNvPr id="138" name="Text 135"/>
          <p:cNvSpPr/>
          <p:nvPr/>
        </p:nvSpPr>
        <p:spPr>
          <a:xfrm>
            <a:off x="10491329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43,0 %</a:t>
            </a:r>
            <a:endParaRPr lang="en-US" sz="552" dirty="0"/>
          </a:p>
        </p:txBody>
      </p:sp>
      <p:sp>
        <p:nvSpPr>
          <p:cNvPr id="139" name="Text 136"/>
          <p:cNvSpPr/>
          <p:nvPr/>
        </p:nvSpPr>
        <p:spPr>
          <a:xfrm>
            <a:off x="10967650" y="46584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38,6 %</a:t>
            </a:r>
            <a:endParaRPr lang="en-US" sz="552" dirty="0"/>
          </a:p>
        </p:txBody>
      </p:sp>
      <p:sp>
        <p:nvSpPr>
          <p:cNvPr id="140" name="Text 137"/>
          <p:cNvSpPr/>
          <p:nvPr/>
        </p:nvSpPr>
        <p:spPr>
          <a:xfrm>
            <a:off x="495288" y="18866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41" name="Text 138"/>
          <p:cNvSpPr/>
          <p:nvPr/>
        </p:nvSpPr>
        <p:spPr>
          <a:xfrm>
            <a:off x="495288" y="21724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42" name="Text 139"/>
          <p:cNvSpPr/>
          <p:nvPr/>
        </p:nvSpPr>
        <p:spPr>
          <a:xfrm>
            <a:off x="495288" y="231531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43" name="Text 140"/>
          <p:cNvSpPr/>
          <p:nvPr/>
        </p:nvSpPr>
        <p:spPr>
          <a:xfrm>
            <a:off x="495288" y="26010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44" name="Text 141"/>
          <p:cNvSpPr/>
          <p:nvPr/>
        </p:nvSpPr>
        <p:spPr>
          <a:xfrm>
            <a:off x="495288" y="27439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45" name="Text 142"/>
          <p:cNvSpPr/>
          <p:nvPr/>
        </p:nvSpPr>
        <p:spPr>
          <a:xfrm>
            <a:off x="5205169" y="3153519"/>
            <a:ext cx="71923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46" name="Text 143"/>
          <p:cNvSpPr/>
          <p:nvPr/>
        </p:nvSpPr>
        <p:spPr>
          <a:xfrm>
            <a:off x="2314916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4.699</a:t>
            </a:r>
            <a:endParaRPr lang="en-US" sz="576" dirty="0"/>
          </a:p>
        </p:txBody>
      </p:sp>
      <p:sp>
        <p:nvSpPr>
          <p:cNvPr id="147" name="Text 144"/>
          <p:cNvSpPr/>
          <p:nvPr/>
        </p:nvSpPr>
        <p:spPr>
          <a:xfrm>
            <a:off x="2797702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9.346</a:t>
            </a:r>
            <a:endParaRPr lang="en-US" sz="576" dirty="0"/>
          </a:p>
        </p:txBody>
      </p:sp>
      <p:sp>
        <p:nvSpPr>
          <p:cNvPr id="148" name="Text 145"/>
          <p:cNvSpPr/>
          <p:nvPr/>
        </p:nvSpPr>
        <p:spPr>
          <a:xfrm>
            <a:off x="2314916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4.173</a:t>
            </a:r>
            <a:endParaRPr lang="en-US" sz="576" dirty="0"/>
          </a:p>
        </p:txBody>
      </p:sp>
      <p:sp>
        <p:nvSpPr>
          <p:cNvPr id="149" name="Text 146"/>
          <p:cNvSpPr/>
          <p:nvPr/>
        </p:nvSpPr>
        <p:spPr>
          <a:xfrm>
            <a:off x="2797702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8.300</a:t>
            </a:r>
            <a:endParaRPr lang="en-US" sz="576" dirty="0"/>
          </a:p>
        </p:txBody>
      </p:sp>
      <p:sp>
        <p:nvSpPr>
          <p:cNvPr id="150" name="Text 147"/>
          <p:cNvSpPr/>
          <p:nvPr/>
        </p:nvSpPr>
        <p:spPr>
          <a:xfrm>
            <a:off x="2314916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1.028</a:t>
            </a:r>
            <a:endParaRPr lang="en-US" sz="576" dirty="0"/>
          </a:p>
        </p:txBody>
      </p:sp>
      <p:sp>
        <p:nvSpPr>
          <p:cNvPr id="151" name="Text 148"/>
          <p:cNvSpPr/>
          <p:nvPr/>
        </p:nvSpPr>
        <p:spPr>
          <a:xfrm>
            <a:off x="2797702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2.044</a:t>
            </a:r>
            <a:endParaRPr lang="en-US" sz="576" dirty="0"/>
          </a:p>
        </p:txBody>
      </p:sp>
      <p:sp>
        <p:nvSpPr>
          <p:cNvPr id="152" name="Text 149"/>
          <p:cNvSpPr/>
          <p:nvPr/>
        </p:nvSpPr>
        <p:spPr>
          <a:xfrm>
            <a:off x="3280489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3.359</a:t>
            </a:r>
            <a:endParaRPr lang="en-US" sz="576" dirty="0"/>
          </a:p>
        </p:txBody>
      </p:sp>
      <p:sp>
        <p:nvSpPr>
          <p:cNvPr id="153" name="Text 150"/>
          <p:cNvSpPr/>
          <p:nvPr/>
        </p:nvSpPr>
        <p:spPr>
          <a:xfrm>
            <a:off x="3763275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4.299</a:t>
            </a:r>
            <a:endParaRPr lang="en-US" sz="576" dirty="0"/>
          </a:p>
        </p:txBody>
      </p:sp>
      <p:sp>
        <p:nvSpPr>
          <p:cNvPr id="154" name="Text 151"/>
          <p:cNvSpPr/>
          <p:nvPr/>
        </p:nvSpPr>
        <p:spPr>
          <a:xfrm>
            <a:off x="4246061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4.299</a:t>
            </a:r>
            <a:endParaRPr lang="en-US" sz="576" dirty="0"/>
          </a:p>
        </p:txBody>
      </p:sp>
      <p:sp>
        <p:nvSpPr>
          <p:cNvPr id="155" name="Text 152"/>
          <p:cNvSpPr/>
          <p:nvPr/>
        </p:nvSpPr>
        <p:spPr>
          <a:xfrm>
            <a:off x="4728848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6.018</a:t>
            </a:r>
            <a:endParaRPr lang="en-US" sz="576" dirty="0"/>
          </a:p>
        </p:txBody>
      </p:sp>
      <p:sp>
        <p:nvSpPr>
          <p:cNvPr id="156" name="Text 153"/>
          <p:cNvSpPr/>
          <p:nvPr/>
        </p:nvSpPr>
        <p:spPr>
          <a:xfrm>
            <a:off x="2797702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1.897</a:t>
            </a:r>
            <a:endParaRPr lang="en-US" sz="576" dirty="0"/>
          </a:p>
        </p:txBody>
      </p:sp>
      <p:sp>
        <p:nvSpPr>
          <p:cNvPr id="157" name="Text 154"/>
          <p:cNvSpPr/>
          <p:nvPr/>
        </p:nvSpPr>
        <p:spPr>
          <a:xfrm>
            <a:off x="3280489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3.117</a:t>
            </a:r>
            <a:endParaRPr lang="en-US" sz="576" dirty="0"/>
          </a:p>
        </p:txBody>
      </p:sp>
      <p:sp>
        <p:nvSpPr>
          <p:cNvPr id="158" name="Text 155"/>
          <p:cNvSpPr/>
          <p:nvPr/>
        </p:nvSpPr>
        <p:spPr>
          <a:xfrm>
            <a:off x="3763275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3.990</a:t>
            </a:r>
            <a:endParaRPr lang="en-US" sz="576" dirty="0"/>
          </a:p>
        </p:txBody>
      </p:sp>
      <p:sp>
        <p:nvSpPr>
          <p:cNvPr id="159" name="Text 156"/>
          <p:cNvSpPr/>
          <p:nvPr/>
        </p:nvSpPr>
        <p:spPr>
          <a:xfrm>
            <a:off x="4246061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3.990</a:t>
            </a:r>
            <a:endParaRPr lang="en-US" sz="576" dirty="0"/>
          </a:p>
        </p:txBody>
      </p:sp>
      <p:sp>
        <p:nvSpPr>
          <p:cNvPr id="160" name="Text 157"/>
          <p:cNvSpPr/>
          <p:nvPr/>
        </p:nvSpPr>
        <p:spPr>
          <a:xfrm>
            <a:off x="4728848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5.585</a:t>
            </a:r>
            <a:endParaRPr lang="en-US" sz="576" dirty="0"/>
          </a:p>
        </p:txBody>
      </p:sp>
      <p:sp>
        <p:nvSpPr>
          <p:cNvPr id="161" name="Text 158"/>
          <p:cNvSpPr/>
          <p:nvPr/>
        </p:nvSpPr>
        <p:spPr>
          <a:xfrm>
            <a:off x="2797702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1.325</a:t>
            </a:r>
            <a:endParaRPr lang="en-US" sz="576" dirty="0"/>
          </a:p>
        </p:txBody>
      </p:sp>
      <p:sp>
        <p:nvSpPr>
          <p:cNvPr id="162" name="Text 159"/>
          <p:cNvSpPr/>
          <p:nvPr/>
        </p:nvSpPr>
        <p:spPr>
          <a:xfrm>
            <a:off x="3280489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2.176</a:t>
            </a:r>
            <a:endParaRPr lang="en-US" sz="576" dirty="0"/>
          </a:p>
        </p:txBody>
      </p:sp>
      <p:sp>
        <p:nvSpPr>
          <p:cNvPr id="163" name="Text 160"/>
          <p:cNvSpPr/>
          <p:nvPr/>
        </p:nvSpPr>
        <p:spPr>
          <a:xfrm>
            <a:off x="3763275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2.786</a:t>
            </a:r>
            <a:endParaRPr lang="en-US" sz="576" dirty="0"/>
          </a:p>
        </p:txBody>
      </p:sp>
      <p:sp>
        <p:nvSpPr>
          <p:cNvPr id="164" name="Text 161"/>
          <p:cNvSpPr/>
          <p:nvPr/>
        </p:nvSpPr>
        <p:spPr>
          <a:xfrm>
            <a:off x="4246061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2.786</a:t>
            </a:r>
            <a:endParaRPr lang="en-US" sz="576" dirty="0"/>
          </a:p>
        </p:txBody>
      </p:sp>
      <p:sp>
        <p:nvSpPr>
          <p:cNvPr id="165" name="Text 162"/>
          <p:cNvSpPr/>
          <p:nvPr/>
        </p:nvSpPr>
        <p:spPr>
          <a:xfrm>
            <a:off x="4728848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3.898</a:t>
            </a:r>
            <a:endParaRPr lang="en-US" sz="576" dirty="0"/>
          </a:p>
        </p:txBody>
      </p:sp>
      <p:sp>
        <p:nvSpPr>
          <p:cNvPr id="166" name="Text 163"/>
          <p:cNvSpPr/>
          <p:nvPr/>
        </p:nvSpPr>
        <p:spPr>
          <a:xfrm>
            <a:off x="3280489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1.126</a:t>
            </a:r>
            <a:endParaRPr lang="en-US" sz="576" dirty="0"/>
          </a:p>
        </p:txBody>
      </p:sp>
      <p:sp>
        <p:nvSpPr>
          <p:cNvPr id="167" name="Text 164"/>
          <p:cNvSpPr/>
          <p:nvPr/>
        </p:nvSpPr>
        <p:spPr>
          <a:xfrm>
            <a:off x="3763275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1.442</a:t>
            </a:r>
            <a:endParaRPr lang="en-US" sz="576" dirty="0"/>
          </a:p>
        </p:txBody>
      </p:sp>
      <p:sp>
        <p:nvSpPr>
          <p:cNvPr id="168" name="Text 165"/>
          <p:cNvSpPr/>
          <p:nvPr/>
        </p:nvSpPr>
        <p:spPr>
          <a:xfrm>
            <a:off x="4246061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1.442</a:t>
            </a:r>
            <a:endParaRPr lang="en-US" sz="576" dirty="0"/>
          </a:p>
        </p:txBody>
      </p:sp>
      <p:sp>
        <p:nvSpPr>
          <p:cNvPr id="169" name="Text 166"/>
          <p:cNvSpPr/>
          <p:nvPr/>
        </p:nvSpPr>
        <p:spPr>
          <a:xfrm>
            <a:off x="4728848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2.018</a:t>
            </a:r>
            <a:endParaRPr lang="en-US" sz="576" dirty="0"/>
          </a:p>
        </p:txBody>
      </p:sp>
      <p:sp>
        <p:nvSpPr>
          <p:cNvPr id="170" name="Text 167"/>
          <p:cNvSpPr/>
          <p:nvPr/>
        </p:nvSpPr>
        <p:spPr>
          <a:xfrm>
            <a:off x="5205169" y="39917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7.059</a:t>
            </a:r>
            <a:endParaRPr lang="en-US" sz="576" dirty="0"/>
          </a:p>
        </p:txBody>
      </p:sp>
      <p:sp>
        <p:nvSpPr>
          <p:cNvPr id="171" name="Text 168"/>
          <p:cNvSpPr/>
          <p:nvPr/>
        </p:nvSpPr>
        <p:spPr>
          <a:xfrm>
            <a:off x="3763275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1.032</a:t>
            </a:r>
            <a:endParaRPr lang="en-US" sz="576" dirty="0"/>
          </a:p>
        </p:txBody>
      </p:sp>
      <p:sp>
        <p:nvSpPr>
          <p:cNvPr id="172" name="Text 169"/>
          <p:cNvSpPr/>
          <p:nvPr/>
        </p:nvSpPr>
        <p:spPr>
          <a:xfrm>
            <a:off x="4246061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1.032</a:t>
            </a:r>
            <a:endParaRPr lang="en-US" sz="576" dirty="0"/>
          </a:p>
        </p:txBody>
      </p:sp>
      <p:sp>
        <p:nvSpPr>
          <p:cNvPr id="173" name="Text 170"/>
          <p:cNvSpPr/>
          <p:nvPr/>
        </p:nvSpPr>
        <p:spPr>
          <a:xfrm>
            <a:off x="4728848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1.445</a:t>
            </a:r>
            <a:endParaRPr lang="en-US" sz="576" dirty="0"/>
          </a:p>
        </p:txBody>
      </p:sp>
      <p:sp>
        <p:nvSpPr>
          <p:cNvPr id="174" name="Text 171"/>
          <p:cNvSpPr/>
          <p:nvPr/>
        </p:nvSpPr>
        <p:spPr>
          <a:xfrm>
            <a:off x="5205169" y="41250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5.053</a:t>
            </a:r>
            <a:endParaRPr lang="en-US" sz="576" dirty="0"/>
          </a:p>
        </p:txBody>
      </p:sp>
      <p:sp>
        <p:nvSpPr>
          <p:cNvPr id="175" name="Text 172"/>
          <p:cNvSpPr/>
          <p:nvPr/>
        </p:nvSpPr>
        <p:spPr>
          <a:xfrm>
            <a:off x="4728848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1.300</a:t>
            </a:r>
            <a:endParaRPr lang="en-US" sz="576" dirty="0"/>
          </a:p>
        </p:txBody>
      </p:sp>
      <p:sp>
        <p:nvSpPr>
          <p:cNvPr id="176" name="Text 173"/>
          <p:cNvSpPr/>
          <p:nvPr/>
        </p:nvSpPr>
        <p:spPr>
          <a:xfrm>
            <a:off x="5205169" y="42584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4.544</a:t>
            </a:r>
            <a:endParaRPr lang="en-US" sz="576" dirty="0"/>
          </a:p>
        </p:txBody>
      </p:sp>
      <p:sp>
        <p:nvSpPr>
          <p:cNvPr id="177" name="Text 174"/>
          <p:cNvSpPr/>
          <p:nvPr/>
        </p:nvSpPr>
        <p:spPr>
          <a:xfrm>
            <a:off x="3280489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1.461</a:t>
            </a:r>
            <a:endParaRPr lang="en-US" sz="576" dirty="0"/>
          </a:p>
        </p:txBody>
      </p:sp>
      <p:sp>
        <p:nvSpPr>
          <p:cNvPr id="178" name="Text 175"/>
          <p:cNvSpPr/>
          <p:nvPr/>
        </p:nvSpPr>
        <p:spPr>
          <a:xfrm>
            <a:off x="3763275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1.870</a:t>
            </a:r>
            <a:endParaRPr lang="en-US" sz="576" dirty="0"/>
          </a:p>
        </p:txBody>
      </p:sp>
      <p:sp>
        <p:nvSpPr>
          <p:cNvPr id="179" name="Text 176"/>
          <p:cNvSpPr/>
          <p:nvPr/>
        </p:nvSpPr>
        <p:spPr>
          <a:xfrm>
            <a:off x="4246061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1.870</a:t>
            </a:r>
            <a:endParaRPr lang="en-US" sz="576" dirty="0"/>
          </a:p>
        </p:txBody>
      </p:sp>
      <p:sp>
        <p:nvSpPr>
          <p:cNvPr id="180" name="Text 177"/>
          <p:cNvSpPr/>
          <p:nvPr/>
        </p:nvSpPr>
        <p:spPr>
          <a:xfrm>
            <a:off x="4728848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2.617</a:t>
            </a:r>
            <a:endParaRPr lang="en-US" sz="576" dirty="0"/>
          </a:p>
        </p:txBody>
      </p:sp>
      <p:sp>
        <p:nvSpPr>
          <p:cNvPr id="181" name="Text 178"/>
          <p:cNvSpPr/>
          <p:nvPr/>
        </p:nvSpPr>
        <p:spPr>
          <a:xfrm>
            <a:off x="5205169" y="43917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9.154</a:t>
            </a:r>
            <a:endParaRPr lang="en-US" sz="576" dirty="0"/>
          </a:p>
        </p:txBody>
      </p:sp>
      <p:sp>
        <p:nvSpPr>
          <p:cNvPr id="182" name="Text 179"/>
          <p:cNvSpPr/>
          <p:nvPr/>
        </p:nvSpPr>
        <p:spPr>
          <a:xfrm>
            <a:off x="504812" y="45251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576" dirty="0"/>
          </a:p>
        </p:txBody>
      </p:sp>
      <p:sp>
        <p:nvSpPr>
          <p:cNvPr id="183" name="Text 180"/>
          <p:cNvSpPr/>
          <p:nvPr/>
        </p:nvSpPr>
        <p:spPr>
          <a:xfrm>
            <a:off x="7316013" y="1715244"/>
            <a:ext cx="100818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184" name="Text 181"/>
          <p:cNvSpPr/>
          <p:nvPr/>
        </p:nvSpPr>
        <p:spPr>
          <a:xfrm>
            <a:off x="6257769" y="18866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85" name="Text 182"/>
          <p:cNvSpPr/>
          <p:nvPr/>
        </p:nvSpPr>
        <p:spPr>
          <a:xfrm>
            <a:off x="7316013" y="18866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8.083</a:t>
            </a:r>
            <a:endParaRPr lang="en-US" sz="636" dirty="0"/>
          </a:p>
        </p:txBody>
      </p:sp>
      <p:sp>
        <p:nvSpPr>
          <p:cNvPr id="186" name="Text 183"/>
          <p:cNvSpPr/>
          <p:nvPr/>
        </p:nvSpPr>
        <p:spPr>
          <a:xfrm>
            <a:off x="10239394" y="188669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7,8 %</a:t>
            </a:r>
            <a:endParaRPr lang="en-US" sz="636" dirty="0"/>
          </a:p>
        </p:txBody>
      </p:sp>
      <p:sp>
        <p:nvSpPr>
          <p:cNvPr id="187" name="Text 184"/>
          <p:cNvSpPr/>
          <p:nvPr/>
        </p:nvSpPr>
        <p:spPr>
          <a:xfrm>
            <a:off x="10239394" y="2029569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4,8 %</a:t>
            </a:r>
            <a:endParaRPr lang="en-US" sz="636" dirty="0"/>
          </a:p>
        </p:txBody>
      </p:sp>
      <p:sp>
        <p:nvSpPr>
          <p:cNvPr id="188" name="Text 185"/>
          <p:cNvSpPr/>
          <p:nvPr/>
        </p:nvSpPr>
        <p:spPr>
          <a:xfrm>
            <a:off x="6257769" y="21724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89" name="Text 186"/>
          <p:cNvSpPr/>
          <p:nvPr/>
        </p:nvSpPr>
        <p:spPr>
          <a:xfrm>
            <a:off x="10239394" y="217244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3,8 %</a:t>
            </a:r>
            <a:endParaRPr lang="en-US" sz="636" dirty="0"/>
          </a:p>
        </p:txBody>
      </p:sp>
      <p:sp>
        <p:nvSpPr>
          <p:cNvPr id="190" name="Text 187"/>
          <p:cNvSpPr/>
          <p:nvPr/>
        </p:nvSpPr>
        <p:spPr>
          <a:xfrm>
            <a:off x="6257769" y="231531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91" name="Text 188"/>
          <p:cNvSpPr/>
          <p:nvPr/>
        </p:nvSpPr>
        <p:spPr>
          <a:xfrm>
            <a:off x="10239394" y="2315319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0,5 %</a:t>
            </a:r>
            <a:endParaRPr lang="en-US" sz="636" dirty="0"/>
          </a:p>
        </p:txBody>
      </p:sp>
      <p:sp>
        <p:nvSpPr>
          <p:cNvPr id="192" name="Text 189"/>
          <p:cNvSpPr/>
          <p:nvPr/>
        </p:nvSpPr>
        <p:spPr>
          <a:xfrm>
            <a:off x="10239394" y="245819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4,3 %</a:t>
            </a:r>
            <a:endParaRPr lang="en-US" sz="636" dirty="0"/>
          </a:p>
        </p:txBody>
      </p:sp>
      <p:sp>
        <p:nvSpPr>
          <p:cNvPr id="193" name="Text 190"/>
          <p:cNvSpPr/>
          <p:nvPr/>
        </p:nvSpPr>
        <p:spPr>
          <a:xfrm>
            <a:off x="6257769" y="26010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94" name="Text 191"/>
          <p:cNvSpPr/>
          <p:nvPr/>
        </p:nvSpPr>
        <p:spPr>
          <a:xfrm>
            <a:off x="10239394" y="2601069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3,9 %</a:t>
            </a:r>
            <a:endParaRPr lang="en-US" sz="636" dirty="0"/>
          </a:p>
        </p:txBody>
      </p:sp>
      <p:sp>
        <p:nvSpPr>
          <p:cNvPr id="195" name="Text 192"/>
          <p:cNvSpPr/>
          <p:nvPr/>
        </p:nvSpPr>
        <p:spPr>
          <a:xfrm>
            <a:off x="6257769" y="27439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96" name="Text 193"/>
          <p:cNvSpPr/>
          <p:nvPr/>
        </p:nvSpPr>
        <p:spPr>
          <a:xfrm>
            <a:off x="9273649" y="27439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2.845</a:t>
            </a:r>
            <a:endParaRPr lang="en-US" sz="636" dirty="0"/>
          </a:p>
        </p:txBody>
      </p:sp>
      <p:sp>
        <p:nvSpPr>
          <p:cNvPr id="197" name="Text 194"/>
          <p:cNvSpPr/>
          <p:nvPr/>
        </p:nvSpPr>
        <p:spPr>
          <a:xfrm>
            <a:off x="10239394" y="274394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3,5 %</a:t>
            </a:r>
            <a:endParaRPr lang="en-US" sz="636" dirty="0"/>
          </a:p>
        </p:txBody>
      </p:sp>
      <p:sp>
        <p:nvSpPr>
          <p:cNvPr id="198" name="Text 195"/>
          <p:cNvSpPr/>
          <p:nvPr/>
        </p:nvSpPr>
        <p:spPr>
          <a:xfrm>
            <a:off x="10967650" y="3153519"/>
            <a:ext cx="71923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99" name="Text 196"/>
          <p:cNvSpPr/>
          <p:nvPr/>
        </p:nvSpPr>
        <p:spPr>
          <a:xfrm>
            <a:off x="8077397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4,0 %</a:t>
            </a:r>
            <a:endParaRPr lang="en-US" sz="552" dirty="0"/>
          </a:p>
        </p:txBody>
      </p:sp>
      <p:sp>
        <p:nvSpPr>
          <p:cNvPr id="200" name="Text 197"/>
          <p:cNvSpPr/>
          <p:nvPr/>
        </p:nvSpPr>
        <p:spPr>
          <a:xfrm>
            <a:off x="8560183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1,8 %</a:t>
            </a:r>
            <a:endParaRPr lang="en-US" sz="552" dirty="0"/>
          </a:p>
        </p:txBody>
      </p:sp>
      <p:sp>
        <p:nvSpPr>
          <p:cNvPr id="201" name="Text 198"/>
          <p:cNvSpPr/>
          <p:nvPr/>
        </p:nvSpPr>
        <p:spPr>
          <a:xfrm>
            <a:off x="9042970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2,2 %</a:t>
            </a:r>
            <a:endParaRPr lang="en-US" sz="552" dirty="0"/>
          </a:p>
        </p:txBody>
      </p:sp>
      <p:sp>
        <p:nvSpPr>
          <p:cNvPr id="202" name="Text 199"/>
          <p:cNvSpPr/>
          <p:nvPr/>
        </p:nvSpPr>
        <p:spPr>
          <a:xfrm>
            <a:off x="9525756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552" dirty="0"/>
          </a:p>
        </p:txBody>
      </p:sp>
      <p:sp>
        <p:nvSpPr>
          <p:cNvPr id="203" name="Text 200"/>
          <p:cNvSpPr/>
          <p:nvPr/>
        </p:nvSpPr>
        <p:spPr>
          <a:xfrm>
            <a:off x="10008542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2,6 %</a:t>
            </a:r>
            <a:endParaRPr lang="en-US" sz="552" dirty="0"/>
          </a:p>
        </p:txBody>
      </p:sp>
      <p:sp>
        <p:nvSpPr>
          <p:cNvPr id="204" name="Text 201"/>
          <p:cNvSpPr/>
          <p:nvPr/>
        </p:nvSpPr>
        <p:spPr>
          <a:xfrm>
            <a:off x="10491329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1,6 %</a:t>
            </a:r>
            <a:endParaRPr lang="en-US" sz="552" dirty="0"/>
          </a:p>
        </p:txBody>
      </p:sp>
      <p:sp>
        <p:nvSpPr>
          <p:cNvPr id="205" name="Text 202"/>
          <p:cNvSpPr/>
          <p:nvPr/>
        </p:nvSpPr>
        <p:spPr>
          <a:xfrm>
            <a:off x="10967650" y="34583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1,8 %</a:t>
            </a:r>
            <a:endParaRPr lang="en-US" sz="552" dirty="0"/>
          </a:p>
        </p:txBody>
      </p:sp>
      <p:sp>
        <p:nvSpPr>
          <p:cNvPr id="206" name="Text 203"/>
          <p:cNvSpPr/>
          <p:nvPr/>
        </p:nvSpPr>
        <p:spPr>
          <a:xfrm>
            <a:off x="8560183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7,9 %</a:t>
            </a:r>
            <a:endParaRPr lang="en-US" sz="552" dirty="0"/>
          </a:p>
        </p:txBody>
      </p:sp>
      <p:sp>
        <p:nvSpPr>
          <p:cNvPr id="207" name="Text 204"/>
          <p:cNvSpPr/>
          <p:nvPr/>
        </p:nvSpPr>
        <p:spPr>
          <a:xfrm>
            <a:off x="10491329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9,9 %</a:t>
            </a:r>
            <a:endParaRPr lang="en-US" sz="552" dirty="0"/>
          </a:p>
        </p:txBody>
      </p:sp>
      <p:sp>
        <p:nvSpPr>
          <p:cNvPr id="208" name="Text 205"/>
          <p:cNvSpPr/>
          <p:nvPr/>
        </p:nvSpPr>
        <p:spPr>
          <a:xfrm>
            <a:off x="8077397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4,5 %</a:t>
            </a:r>
            <a:endParaRPr lang="en-US" sz="552" dirty="0"/>
          </a:p>
        </p:txBody>
      </p:sp>
      <p:sp>
        <p:nvSpPr>
          <p:cNvPr id="209" name="Text 206"/>
          <p:cNvSpPr/>
          <p:nvPr/>
        </p:nvSpPr>
        <p:spPr>
          <a:xfrm>
            <a:off x="8560183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3,2 %</a:t>
            </a:r>
            <a:endParaRPr lang="en-US" sz="552" dirty="0"/>
          </a:p>
        </p:txBody>
      </p:sp>
      <p:sp>
        <p:nvSpPr>
          <p:cNvPr id="210" name="Text 207"/>
          <p:cNvSpPr/>
          <p:nvPr/>
        </p:nvSpPr>
        <p:spPr>
          <a:xfrm>
            <a:off x="9042970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5,2 %</a:t>
            </a:r>
            <a:endParaRPr lang="en-US" sz="552" dirty="0"/>
          </a:p>
        </p:txBody>
      </p:sp>
      <p:sp>
        <p:nvSpPr>
          <p:cNvPr id="211" name="Text 208"/>
          <p:cNvSpPr/>
          <p:nvPr/>
        </p:nvSpPr>
        <p:spPr>
          <a:xfrm>
            <a:off x="9525756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4,9 %</a:t>
            </a:r>
            <a:endParaRPr lang="en-US" sz="552" dirty="0"/>
          </a:p>
        </p:txBody>
      </p:sp>
      <p:sp>
        <p:nvSpPr>
          <p:cNvPr id="212" name="Text 209"/>
          <p:cNvSpPr/>
          <p:nvPr/>
        </p:nvSpPr>
        <p:spPr>
          <a:xfrm>
            <a:off x="10008542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5,2 %</a:t>
            </a:r>
            <a:endParaRPr lang="en-US" sz="552" dirty="0"/>
          </a:p>
        </p:txBody>
      </p:sp>
      <p:sp>
        <p:nvSpPr>
          <p:cNvPr id="213" name="Text 210"/>
          <p:cNvSpPr/>
          <p:nvPr/>
        </p:nvSpPr>
        <p:spPr>
          <a:xfrm>
            <a:off x="10491329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4,0 %</a:t>
            </a:r>
            <a:endParaRPr lang="en-US" sz="552" dirty="0"/>
          </a:p>
        </p:txBody>
      </p:sp>
      <p:sp>
        <p:nvSpPr>
          <p:cNvPr id="214" name="Text 211"/>
          <p:cNvSpPr/>
          <p:nvPr/>
        </p:nvSpPr>
        <p:spPr>
          <a:xfrm>
            <a:off x="10967650" y="38583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4,5 %</a:t>
            </a:r>
            <a:endParaRPr lang="en-US" sz="552" dirty="0"/>
          </a:p>
        </p:txBody>
      </p:sp>
      <p:sp>
        <p:nvSpPr>
          <p:cNvPr id="215" name="Text 212"/>
          <p:cNvSpPr/>
          <p:nvPr/>
        </p:nvSpPr>
        <p:spPr>
          <a:xfrm>
            <a:off x="8077397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5,3 %</a:t>
            </a:r>
            <a:endParaRPr lang="en-US" sz="552" dirty="0"/>
          </a:p>
        </p:txBody>
      </p:sp>
      <p:sp>
        <p:nvSpPr>
          <p:cNvPr id="216" name="Text 213"/>
          <p:cNvSpPr/>
          <p:nvPr/>
        </p:nvSpPr>
        <p:spPr>
          <a:xfrm>
            <a:off x="8560183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3,8 %</a:t>
            </a:r>
            <a:endParaRPr lang="en-US" sz="552" dirty="0"/>
          </a:p>
        </p:txBody>
      </p:sp>
      <p:sp>
        <p:nvSpPr>
          <p:cNvPr id="217" name="Text 214"/>
          <p:cNvSpPr/>
          <p:nvPr/>
        </p:nvSpPr>
        <p:spPr>
          <a:xfrm>
            <a:off x="9042970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6,1 %</a:t>
            </a:r>
            <a:endParaRPr lang="en-US" sz="552" dirty="0"/>
          </a:p>
        </p:txBody>
      </p:sp>
      <p:sp>
        <p:nvSpPr>
          <p:cNvPr id="218" name="Text 215"/>
          <p:cNvSpPr/>
          <p:nvPr/>
        </p:nvSpPr>
        <p:spPr>
          <a:xfrm>
            <a:off x="9525756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5,8 %</a:t>
            </a:r>
            <a:endParaRPr lang="en-US" sz="552" dirty="0"/>
          </a:p>
        </p:txBody>
      </p:sp>
      <p:sp>
        <p:nvSpPr>
          <p:cNvPr id="219" name="Text 216"/>
          <p:cNvSpPr/>
          <p:nvPr/>
        </p:nvSpPr>
        <p:spPr>
          <a:xfrm>
            <a:off x="10008542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6,1 %</a:t>
            </a:r>
            <a:endParaRPr lang="en-US" sz="552" dirty="0"/>
          </a:p>
        </p:txBody>
      </p:sp>
      <p:sp>
        <p:nvSpPr>
          <p:cNvPr id="220" name="Text 217"/>
          <p:cNvSpPr/>
          <p:nvPr/>
        </p:nvSpPr>
        <p:spPr>
          <a:xfrm>
            <a:off x="10491329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4,8 %</a:t>
            </a:r>
            <a:endParaRPr lang="en-US" sz="552" dirty="0"/>
          </a:p>
        </p:txBody>
      </p:sp>
      <p:sp>
        <p:nvSpPr>
          <p:cNvPr id="221" name="Text 218"/>
          <p:cNvSpPr/>
          <p:nvPr/>
        </p:nvSpPr>
        <p:spPr>
          <a:xfrm>
            <a:off x="10967650" y="39917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5,4 %</a:t>
            </a:r>
            <a:endParaRPr lang="en-US" sz="552" dirty="0"/>
          </a:p>
        </p:txBody>
      </p:sp>
      <p:sp>
        <p:nvSpPr>
          <p:cNvPr id="222" name="Text 219"/>
          <p:cNvSpPr/>
          <p:nvPr/>
        </p:nvSpPr>
        <p:spPr>
          <a:xfrm>
            <a:off x="8077397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2,7 %</a:t>
            </a:r>
            <a:endParaRPr lang="en-US" sz="552" dirty="0"/>
          </a:p>
        </p:txBody>
      </p:sp>
      <p:sp>
        <p:nvSpPr>
          <p:cNvPr id="223" name="Text 220"/>
          <p:cNvSpPr/>
          <p:nvPr/>
        </p:nvSpPr>
        <p:spPr>
          <a:xfrm>
            <a:off x="8560183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1,9 %</a:t>
            </a:r>
            <a:endParaRPr lang="en-US" sz="552" dirty="0"/>
          </a:p>
        </p:txBody>
      </p:sp>
      <p:sp>
        <p:nvSpPr>
          <p:cNvPr id="224" name="Text 221"/>
          <p:cNvSpPr/>
          <p:nvPr/>
        </p:nvSpPr>
        <p:spPr>
          <a:xfrm>
            <a:off x="9042970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3,1 %</a:t>
            </a:r>
            <a:endParaRPr lang="en-US" sz="552" dirty="0"/>
          </a:p>
        </p:txBody>
      </p:sp>
      <p:sp>
        <p:nvSpPr>
          <p:cNvPr id="225" name="Text 222"/>
          <p:cNvSpPr/>
          <p:nvPr/>
        </p:nvSpPr>
        <p:spPr>
          <a:xfrm>
            <a:off x="9525756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2,9 %</a:t>
            </a:r>
            <a:endParaRPr lang="en-US" sz="552" dirty="0"/>
          </a:p>
        </p:txBody>
      </p:sp>
      <p:sp>
        <p:nvSpPr>
          <p:cNvPr id="226" name="Text 223"/>
          <p:cNvSpPr/>
          <p:nvPr/>
        </p:nvSpPr>
        <p:spPr>
          <a:xfrm>
            <a:off x="10008542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3,1 %</a:t>
            </a:r>
            <a:endParaRPr lang="en-US" sz="552" dirty="0"/>
          </a:p>
        </p:txBody>
      </p:sp>
      <p:sp>
        <p:nvSpPr>
          <p:cNvPr id="227" name="Text 224"/>
          <p:cNvSpPr/>
          <p:nvPr/>
        </p:nvSpPr>
        <p:spPr>
          <a:xfrm>
            <a:off x="10491329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2,4 %</a:t>
            </a:r>
            <a:endParaRPr lang="en-US" sz="552" dirty="0"/>
          </a:p>
        </p:txBody>
      </p:sp>
      <p:sp>
        <p:nvSpPr>
          <p:cNvPr id="228" name="Text 225"/>
          <p:cNvSpPr/>
          <p:nvPr/>
        </p:nvSpPr>
        <p:spPr>
          <a:xfrm>
            <a:off x="10967650" y="41250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2,7 %</a:t>
            </a:r>
            <a:endParaRPr lang="en-US" sz="552" dirty="0"/>
          </a:p>
        </p:txBody>
      </p:sp>
      <p:sp>
        <p:nvSpPr>
          <p:cNvPr id="229" name="Text 226"/>
          <p:cNvSpPr/>
          <p:nvPr/>
        </p:nvSpPr>
        <p:spPr>
          <a:xfrm>
            <a:off x="8077397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2,1 %</a:t>
            </a:r>
            <a:endParaRPr lang="en-US" sz="552" dirty="0"/>
          </a:p>
        </p:txBody>
      </p:sp>
      <p:sp>
        <p:nvSpPr>
          <p:cNvPr id="230" name="Text 227"/>
          <p:cNvSpPr/>
          <p:nvPr/>
        </p:nvSpPr>
        <p:spPr>
          <a:xfrm>
            <a:off x="8560183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1,5 %</a:t>
            </a:r>
            <a:endParaRPr lang="en-US" sz="552" dirty="0"/>
          </a:p>
        </p:txBody>
      </p:sp>
      <p:sp>
        <p:nvSpPr>
          <p:cNvPr id="231" name="Text 228"/>
          <p:cNvSpPr/>
          <p:nvPr/>
        </p:nvSpPr>
        <p:spPr>
          <a:xfrm>
            <a:off x="9042970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32" name="Text 229"/>
          <p:cNvSpPr/>
          <p:nvPr/>
        </p:nvSpPr>
        <p:spPr>
          <a:xfrm>
            <a:off x="9525756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2,4 %</a:t>
            </a:r>
            <a:endParaRPr lang="en-US" sz="552" dirty="0"/>
          </a:p>
        </p:txBody>
      </p:sp>
      <p:sp>
        <p:nvSpPr>
          <p:cNvPr id="233" name="Text 230"/>
          <p:cNvSpPr/>
          <p:nvPr/>
        </p:nvSpPr>
        <p:spPr>
          <a:xfrm>
            <a:off x="10008542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34" name="Text 231"/>
          <p:cNvSpPr/>
          <p:nvPr/>
        </p:nvSpPr>
        <p:spPr>
          <a:xfrm>
            <a:off x="10491329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1,9 %</a:t>
            </a:r>
            <a:endParaRPr lang="en-US" sz="552" dirty="0"/>
          </a:p>
        </p:txBody>
      </p:sp>
      <p:sp>
        <p:nvSpPr>
          <p:cNvPr id="235" name="Text 232"/>
          <p:cNvSpPr/>
          <p:nvPr/>
        </p:nvSpPr>
        <p:spPr>
          <a:xfrm>
            <a:off x="10967650" y="42584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2,2 %</a:t>
            </a:r>
            <a:endParaRPr lang="en-US" sz="552" dirty="0"/>
          </a:p>
        </p:txBody>
      </p:sp>
      <p:sp>
        <p:nvSpPr>
          <p:cNvPr id="236" name="Text 233"/>
          <p:cNvSpPr/>
          <p:nvPr/>
        </p:nvSpPr>
        <p:spPr>
          <a:xfrm>
            <a:off x="8077397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4,6 %</a:t>
            </a:r>
            <a:endParaRPr lang="en-US" sz="552" dirty="0"/>
          </a:p>
        </p:txBody>
      </p:sp>
      <p:sp>
        <p:nvSpPr>
          <p:cNvPr id="237" name="Text 234"/>
          <p:cNvSpPr/>
          <p:nvPr/>
        </p:nvSpPr>
        <p:spPr>
          <a:xfrm>
            <a:off x="8560183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3,3 %</a:t>
            </a:r>
            <a:endParaRPr lang="en-US" sz="552" dirty="0"/>
          </a:p>
        </p:txBody>
      </p:sp>
      <p:sp>
        <p:nvSpPr>
          <p:cNvPr id="238" name="Text 235"/>
          <p:cNvSpPr/>
          <p:nvPr/>
        </p:nvSpPr>
        <p:spPr>
          <a:xfrm>
            <a:off x="9042970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5,3 %</a:t>
            </a:r>
            <a:endParaRPr lang="en-US" sz="552" dirty="0"/>
          </a:p>
        </p:txBody>
      </p:sp>
      <p:sp>
        <p:nvSpPr>
          <p:cNvPr id="239" name="Text 236"/>
          <p:cNvSpPr/>
          <p:nvPr/>
        </p:nvSpPr>
        <p:spPr>
          <a:xfrm>
            <a:off x="9525756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5,1 %</a:t>
            </a:r>
            <a:endParaRPr lang="en-US" sz="552" dirty="0"/>
          </a:p>
        </p:txBody>
      </p:sp>
      <p:sp>
        <p:nvSpPr>
          <p:cNvPr id="240" name="Text 237"/>
          <p:cNvSpPr/>
          <p:nvPr/>
        </p:nvSpPr>
        <p:spPr>
          <a:xfrm>
            <a:off x="10008542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5,3 %</a:t>
            </a:r>
            <a:endParaRPr lang="en-US" sz="552" dirty="0"/>
          </a:p>
        </p:txBody>
      </p:sp>
      <p:sp>
        <p:nvSpPr>
          <p:cNvPr id="241" name="Text 238"/>
          <p:cNvSpPr/>
          <p:nvPr/>
        </p:nvSpPr>
        <p:spPr>
          <a:xfrm>
            <a:off x="10491329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4,1 %</a:t>
            </a:r>
            <a:endParaRPr lang="en-US" sz="552" dirty="0"/>
          </a:p>
        </p:txBody>
      </p:sp>
      <p:sp>
        <p:nvSpPr>
          <p:cNvPr id="242" name="Text 239"/>
          <p:cNvSpPr/>
          <p:nvPr/>
        </p:nvSpPr>
        <p:spPr>
          <a:xfrm>
            <a:off x="10967650" y="43917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4,6 %</a:t>
            </a:r>
            <a:endParaRPr lang="en-US" sz="552" dirty="0"/>
          </a:p>
        </p:txBody>
      </p:sp>
      <p:sp>
        <p:nvSpPr>
          <p:cNvPr id="243" name="Text 240"/>
          <p:cNvSpPr/>
          <p:nvPr/>
        </p:nvSpPr>
        <p:spPr>
          <a:xfrm>
            <a:off x="8077397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6,8 %</a:t>
            </a:r>
            <a:endParaRPr lang="en-US" sz="552" dirty="0"/>
          </a:p>
        </p:txBody>
      </p:sp>
      <p:sp>
        <p:nvSpPr>
          <p:cNvPr id="244" name="Text 241"/>
          <p:cNvSpPr/>
          <p:nvPr/>
        </p:nvSpPr>
        <p:spPr>
          <a:xfrm>
            <a:off x="8560183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8,7 %</a:t>
            </a:r>
            <a:endParaRPr lang="en-US" sz="552" dirty="0"/>
          </a:p>
        </p:txBody>
      </p:sp>
      <p:sp>
        <p:nvSpPr>
          <p:cNvPr id="245" name="Text 242"/>
          <p:cNvSpPr/>
          <p:nvPr/>
        </p:nvSpPr>
        <p:spPr>
          <a:xfrm>
            <a:off x="9042970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5,6 %</a:t>
            </a:r>
            <a:endParaRPr lang="en-US" sz="552" dirty="0"/>
          </a:p>
        </p:txBody>
      </p:sp>
      <p:sp>
        <p:nvSpPr>
          <p:cNvPr id="246" name="Text 243"/>
          <p:cNvSpPr/>
          <p:nvPr/>
        </p:nvSpPr>
        <p:spPr>
          <a:xfrm>
            <a:off x="9525756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6,0 %</a:t>
            </a:r>
            <a:endParaRPr lang="en-US" sz="552" dirty="0"/>
          </a:p>
        </p:txBody>
      </p:sp>
      <p:sp>
        <p:nvSpPr>
          <p:cNvPr id="247" name="Text 244"/>
          <p:cNvSpPr/>
          <p:nvPr/>
        </p:nvSpPr>
        <p:spPr>
          <a:xfrm>
            <a:off x="10008542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5,6 %</a:t>
            </a:r>
            <a:endParaRPr lang="en-US" sz="552" dirty="0"/>
          </a:p>
        </p:txBody>
      </p:sp>
      <p:sp>
        <p:nvSpPr>
          <p:cNvPr id="248" name="Text 245"/>
          <p:cNvSpPr/>
          <p:nvPr/>
        </p:nvSpPr>
        <p:spPr>
          <a:xfrm>
            <a:off x="10491329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7,4 %</a:t>
            </a:r>
            <a:endParaRPr lang="en-US" sz="552" dirty="0"/>
          </a:p>
        </p:txBody>
      </p:sp>
      <p:sp>
        <p:nvSpPr>
          <p:cNvPr id="249" name="Text 246"/>
          <p:cNvSpPr/>
          <p:nvPr/>
        </p:nvSpPr>
        <p:spPr>
          <a:xfrm>
            <a:off x="10967650" y="47918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6,7 %</a:t>
            </a:r>
            <a:endParaRPr lang="en-US" sz="552" dirty="0"/>
          </a:p>
        </p:txBody>
      </p:sp>
      <p:sp>
        <p:nvSpPr>
          <p:cNvPr id="250" name="Text 247"/>
          <p:cNvSpPr/>
          <p:nvPr/>
        </p:nvSpPr>
        <p:spPr>
          <a:xfrm>
            <a:off x="8077397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2,8 %</a:t>
            </a:r>
            <a:endParaRPr lang="en-US" sz="552" dirty="0"/>
          </a:p>
        </p:txBody>
      </p:sp>
      <p:sp>
        <p:nvSpPr>
          <p:cNvPr id="251" name="Text 248"/>
          <p:cNvSpPr/>
          <p:nvPr/>
        </p:nvSpPr>
        <p:spPr>
          <a:xfrm>
            <a:off x="8560183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3,6 %</a:t>
            </a:r>
            <a:endParaRPr lang="en-US" sz="552" dirty="0"/>
          </a:p>
        </p:txBody>
      </p:sp>
      <p:sp>
        <p:nvSpPr>
          <p:cNvPr id="252" name="Text 249"/>
          <p:cNvSpPr/>
          <p:nvPr/>
        </p:nvSpPr>
        <p:spPr>
          <a:xfrm>
            <a:off x="9042970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2,3 %</a:t>
            </a:r>
            <a:endParaRPr lang="en-US" sz="552" dirty="0"/>
          </a:p>
        </p:txBody>
      </p:sp>
      <p:sp>
        <p:nvSpPr>
          <p:cNvPr id="253" name="Text 250"/>
          <p:cNvSpPr/>
          <p:nvPr/>
        </p:nvSpPr>
        <p:spPr>
          <a:xfrm>
            <a:off x="9525756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2,5 %</a:t>
            </a:r>
            <a:endParaRPr lang="en-US" sz="552" dirty="0"/>
          </a:p>
        </p:txBody>
      </p:sp>
      <p:sp>
        <p:nvSpPr>
          <p:cNvPr id="254" name="Text 251"/>
          <p:cNvSpPr/>
          <p:nvPr/>
        </p:nvSpPr>
        <p:spPr>
          <a:xfrm>
            <a:off x="10008542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2,3 %</a:t>
            </a:r>
            <a:endParaRPr lang="en-US" sz="552" dirty="0"/>
          </a:p>
        </p:txBody>
      </p:sp>
      <p:sp>
        <p:nvSpPr>
          <p:cNvPr id="255" name="Text 252"/>
          <p:cNvSpPr/>
          <p:nvPr/>
        </p:nvSpPr>
        <p:spPr>
          <a:xfrm>
            <a:off x="10491329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3,1 %</a:t>
            </a:r>
            <a:endParaRPr lang="en-US" sz="552" dirty="0"/>
          </a:p>
        </p:txBody>
      </p:sp>
      <p:sp>
        <p:nvSpPr>
          <p:cNvPr id="256" name="Text 253"/>
          <p:cNvSpPr/>
          <p:nvPr/>
        </p:nvSpPr>
        <p:spPr>
          <a:xfrm>
            <a:off x="10967650" y="49251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2,8 %</a:t>
            </a:r>
            <a:endParaRPr lang="en-US" sz="552" dirty="0"/>
          </a:p>
        </p:txBody>
      </p:sp>
      <p:sp>
        <p:nvSpPr>
          <p:cNvPr id="257" name="Text 254"/>
          <p:cNvSpPr/>
          <p:nvPr/>
        </p:nvSpPr>
        <p:spPr>
          <a:xfrm>
            <a:off x="8077397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552" dirty="0"/>
          </a:p>
        </p:txBody>
      </p:sp>
      <p:sp>
        <p:nvSpPr>
          <p:cNvPr id="258" name="Text 255"/>
          <p:cNvSpPr/>
          <p:nvPr/>
        </p:nvSpPr>
        <p:spPr>
          <a:xfrm>
            <a:off x="8560183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552" dirty="0"/>
          </a:p>
        </p:txBody>
      </p:sp>
      <p:sp>
        <p:nvSpPr>
          <p:cNvPr id="259" name="Text 256"/>
          <p:cNvSpPr/>
          <p:nvPr/>
        </p:nvSpPr>
        <p:spPr>
          <a:xfrm>
            <a:off x="9042970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60" name="Text 257"/>
          <p:cNvSpPr/>
          <p:nvPr/>
        </p:nvSpPr>
        <p:spPr>
          <a:xfrm>
            <a:off x="9525756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61" name="Text 258"/>
          <p:cNvSpPr/>
          <p:nvPr/>
        </p:nvSpPr>
        <p:spPr>
          <a:xfrm>
            <a:off x="10008542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62" name="Text 259"/>
          <p:cNvSpPr/>
          <p:nvPr/>
        </p:nvSpPr>
        <p:spPr>
          <a:xfrm>
            <a:off x="10491329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552" dirty="0"/>
          </a:p>
        </p:txBody>
      </p:sp>
      <p:sp>
        <p:nvSpPr>
          <p:cNvPr id="263" name="Text 260"/>
          <p:cNvSpPr/>
          <p:nvPr/>
        </p:nvSpPr>
        <p:spPr>
          <a:xfrm>
            <a:off x="10967650" y="50585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64" name="Text 261"/>
          <p:cNvSpPr/>
          <p:nvPr/>
        </p:nvSpPr>
        <p:spPr>
          <a:xfrm>
            <a:off x="8077397" y="51918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65" name="Text 262"/>
          <p:cNvSpPr/>
          <p:nvPr/>
        </p:nvSpPr>
        <p:spPr>
          <a:xfrm>
            <a:off x="8560183" y="51918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66" name="Text 263"/>
          <p:cNvSpPr/>
          <p:nvPr/>
        </p:nvSpPr>
        <p:spPr>
          <a:xfrm>
            <a:off x="9042970" y="51918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67" name="Text 264"/>
          <p:cNvSpPr/>
          <p:nvPr/>
        </p:nvSpPr>
        <p:spPr>
          <a:xfrm>
            <a:off x="9525756" y="51918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68" name="Text 265"/>
          <p:cNvSpPr/>
          <p:nvPr/>
        </p:nvSpPr>
        <p:spPr>
          <a:xfrm>
            <a:off x="10008542" y="51918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69" name="Text 266"/>
          <p:cNvSpPr/>
          <p:nvPr/>
        </p:nvSpPr>
        <p:spPr>
          <a:xfrm>
            <a:off x="10491329" y="51918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70" name="Text 267"/>
          <p:cNvSpPr/>
          <p:nvPr/>
        </p:nvSpPr>
        <p:spPr>
          <a:xfrm>
            <a:off x="10967650" y="51918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71" name="Text 268"/>
          <p:cNvSpPr/>
          <p:nvPr/>
        </p:nvSpPr>
        <p:spPr>
          <a:xfrm>
            <a:off x="4374991" y="952500"/>
            <a:ext cx="486186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2.845</a:t>
            </a:r>
            <a:endParaRPr lang="en-US" sz="1380" dirty="0"/>
          </a:p>
        </p:txBody>
      </p:sp>
      <p:sp>
        <p:nvSpPr>
          <p:cNvPr id="272" name="Text 269"/>
          <p:cNvSpPr/>
          <p:nvPr/>
        </p:nvSpPr>
        <p:spPr>
          <a:xfrm>
            <a:off x="8216595" y="952500"/>
            <a:ext cx="468518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3,6 %</a:t>
            </a:r>
            <a:endParaRPr lang="en-US" sz="1380" dirty="0"/>
          </a:p>
        </p:txBody>
      </p:sp>
      <p:sp>
        <p:nvSpPr>
          <p:cNvPr id="273" name="Text 270"/>
          <p:cNvSpPr/>
          <p:nvPr/>
        </p:nvSpPr>
        <p:spPr>
          <a:xfrm>
            <a:off x="495288" y="24581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274" name="Text 271"/>
          <p:cNvSpPr/>
          <p:nvPr/>
        </p:nvSpPr>
        <p:spPr>
          <a:xfrm>
            <a:off x="6257769" y="24581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275" name="Text 272"/>
          <p:cNvSpPr/>
          <p:nvPr/>
        </p:nvSpPr>
        <p:spPr>
          <a:xfrm>
            <a:off x="495288" y="1715244"/>
            <a:ext cx="112023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76" name="Text 273"/>
          <p:cNvSpPr/>
          <p:nvPr/>
        </p:nvSpPr>
        <p:spPr>
          <a:xfrm>
            <a:off x="2314916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277" name="Text 274"/>
          <p:cNvSpPr/>
          <p:nvPr/>
        </p:nvSpPr>
        <p:spPr>
          <a:xfrm>
            <a:off x="2797702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278" name="Text 275"/>
          <p:cNvSpPr/>
          <p:nvPr/>
        </p:nvSpPr>
        <p:spPr>
          <a:xfrm>
            <a:off x="3280489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279" name="Text 276"/>
          <p:cNvSpPr/>
          <p:nvPr/>
        </p:nvSpPr>
        <p:spPr>
          <a:xfrm>
            <a:off x="3763275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280" name="Text 277"/>
          <p:cNvSpPr/>
          <p:nvPr/>
        </p:nvSpPr>
        <p:spPr>
          <a:xfrm>
            <a:off x="4246061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281" name="Text 278"/>
          <p:cNvSpPr/>
          <p:nvPr/>
        </p:nvSpPr>
        <p:spPr>
          <a:xfrm>
            <a:off x="4728848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282" name="Text 279"/>
          <p:cNvSpPr/>
          <p:nvPr/>
        </p:nvSpPr>
        <p:spPr>
          <a:xfrm>
            <a:off x="2314916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954</a:t>
            </a:r>
            <a:endParaRPr lang="en-US" sz="576" dirty="0"/>
          </a:p>
        </p:txBody>
      </p:sp>
      <p:sp>
        <p:nvSpPr>
          <p:cNvPr id="283" name="Text 280"/>
          <p:cNvSpPr/>
          <p:nvPr/>
        </p:nvSpPr>
        <p:spPr>
          <a:xfrm>
            <a:off x="2314916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666</a:t>
            </a:r>
            <a:endParaRPr lang="en-US" sz="576" dirty="0"/>
          </a:p>
        </p:txBody>
      </p:sp>
      <p:sp>
        <p:nvSpPr>
          <p:cNvPr id="284" name="Text 281"/>
          <p:cNvSpPr/>
          <p:nvPr/>
        </p:nvSpPr>
        <p:spPr>
          <a:xfrm>
            <a:off x="2314916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345</a:t>
            </a:r>
            <a:endParaRPr lang="en-US" sz="576" dirty="0"/>
          </a:p>
        </p:txBody>
      </p:sp>
      <p:sp>
        <p:nvSpPr>
          <p:cNvPr id="285" name="Text 282"/>
          <p:cNvSpPr/>
          <p:nvPr/>
        </p:nvSpPr>
        <p:spPr>
          <a:xfrm>
            <a:off x="2797702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686</a:t>
            </a:r>
            <a:endParaRPr lang="en-US" sz="576" dirty="0"/>
          </a:p>
        </p:txBody>
      </p:sp>
      <p:sp>
        <p:nvSpPr>
          <p:cNvPr id="286" name="Text 283"/>
          <p:cNvSpPr/>
          <p:nvPr/>
        </p:nvSpPr>
        <p:spPr>
          <a:xfrm>
            <a:off x="2314916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247</a:t>
            </a:r>
            <a:endParaRPr lang="en-US" sz="576" dirty="0"/>
          </a:p>
        </p:txBody>
      </p:sp>
      <p:sp>
        <p:nvSpPr>
          <p:cNvPr id="287" name="Text 284"/>
          <p:cNvSpPr/>
          <p:nvPr/>
        </p:nvSpPr>
        <p:spPr>
          <a:xfrm>
            <a:off x="2797702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491</a:t>
            </a:r>
            <a:endParaRPr lang="en-US" sz="576" dirty="0"/>
          </a:p>
        </p:txBody>
      </p:sp>
      <p:sp>
        <p:nvSpPr>
          <p:cNvPr id="288" name="Text 285"/>
          <p:cNvSpPr/>
          <p:nvPr/>
        </p:nvSpPr>
        <p:spPr>
          <a:xfrm>
            <a:off x="3280489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806</a:t>
            </a:r>
            <a:endParaRPr lang="en-US" sz="576" dirty="0"/>
          </a:p>
        </p:txBody>
      </p:sp>
      <p:sp>
        <p:nvSpPr>
          <p:cNvPr id="289" name="Text 286"/>
          <p:cNvSpPr/>
          <p:nvPr/>
        </p:nvSpPr>
        <p:spPr>
          <a:xfrm>
            <a:off x="2314916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222</a:t>
            </a:r>
            <a:endParaRPr lang="en-US" sz="576" dirty="0"/>
          </a:p>
        </p:txBody>
      </p:sp>
      <p:sp>
        <p:nvSpPr>
          <p:cNvPr id="290" name="Text 287"/>
          <p:cNvSpPr/>
          <p:nvPr/>
        </p:nvSpPr>
        <p:spPr>
          <a:xfrm>
            <a:off x="2797702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441</a:t>
            </a:r>
            <a:endParaRPr lang="en-US" sz="576" dirty="0"/>
          </a:p>
        </p:txBody>
      </p:sp>
      <p:sp>
        <p:nvSpPr>
          <p:cNvPr id="291" name="Text 288"/>
          <p:cNvSpPr/>
          <p:nvPr/>
        </p:nvSpPr>
        <p:spPr>
          <a:xfrm>
            <a:off x="3280489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725</a:t>
            </a:r>
            <a:endParaRPr lang="en-US" sz="576" dirty="0"/>
          </a:p>
        </p:txBody>
      </p:sp>
      <p:sp>
        <p:nvSpPr>
          <p:cNvPr id="292" name="Text 289"/>
          <p:cNvSpPr/>
          <p:nvPr/>
        </p:nvSpPr>
        <p:spPr>
          <a:xfrm>
            <a:off x="3763275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928</a:t>
            </a:r>
            <a:endParaRPr lang="en-US" sz="576" dirty="0"/>
          </a:p>
        </p:txBody>
      </p:sp>
      <p:sp>
        <p:nvSpPr>
          <p:cNvPr id="293" name="Text 290"/>
          <p:cNvSpPr/>
          <p:nvPr/>
        </p:nvSpPr>
        <p:spPr>
          <a:xfrm>
            <a:off x="4246061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928</a:t>
            </a:r>
            <a:endParaRPr lang="en-US" sz="576" dirty="0"/>
          </a:p>
        </p:txBody>
      </p:sp>
      <p:sp>
        <p:nvSpPr>
          <p:cNvPr id="294" name="Text 291"/>
          <p:cNvSpPr/>
          <p:nvPr/>
        </p:nvSpPr>
        <p:spPr>
          <a:xfrm>
            <a:off x="2314916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447</a:t>
            </a:r>
            <a:endParaRPr lang="en-US" sz="576" dirty="0"/>
          </a:p>
        </p:txBody>
      </p:sp>
      <p:sp>
        <p:nvSpPr>
          <p:cNvPr id="295" name="Text 292"/>
          <p:cNvSpPr/>
          <p:nvPr/>
        </p:nvSpPr>
        <p:spPr>
          <a:xfrm>
            <a:off x="2797702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889</a:t>
            </a:r>
            <a:endParaRPr lang="en-US" sz="576" dirty="0"/>
          </a:p>
        </p:txBody>
      </p:sp>
      <p:sp>
        <p:nvSpPr>
          <p:cNvPr id="296" name="Text 293"/>
          <p:cNvSpPr/>
          <p:nvPr/>
        </p:nvSpPr>
        <p:spPr>
          <a:xfrm>
            <a:off x="6257769" y="1715244"/>
            <a:ext cx="112023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97" name="Text 294"/>
          <p:cNvSpPr/>
          <p:nvPr/>
        </p:nvSpPr>
        <p:spPr>
          <a:xfrm>
            <a:off x="9273649" y="18866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322</a:t>
            </a:r>
            <a:endParaRPr lang="en-US" sz="636" dirty="0"/>
          </a:p>
        </p:txBody>
      </p:sp>
      <p:sp>
        <p:nvSpPr>
          <p:cNvPr id="298" name="Text 295"/>
          <p:cNvSpPr/>
          <p:nvPr/>
        </p:nvSpPr>
        <p:spPr>
          <a:xfrm>
            <a:off x="9273649" y="20295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441</a:t>
            </a:r>
            <a:endParaRPr lang="en-US" sz="636" dirty="0"/>
          </a:p>
        </p:txBody>
      </p:sp>
      <p:sp>
        <p:nvSpPr>
          <p:cNvPr id="299" name="Text 296"/>
          <p:cNvSpPr/>
          <p:nvPr/>
        </p:nvSpPr>
        <p:spPr>
          <a:xfrm>
            <a:off x="9273649" y="21724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626</a:t>
            </a:r>
            <a:endParaRPr lang="en-US" sz="636" dirty="0"/>
          </a:p>
        </p:txBody>
      </p:sp>
      <p:sp>
        <p:nvSpPr>
          <p:cNvPr id="300" name="Text 297"/>
          <p:cNvSpPr/>
          <p:nvPr/>
        </p:nvSpPr>
        <p:spPr>
          <a:xfrm>
            <a:off x="9273649" y="24581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750</a:t>
            </a:r>
            <a:endParaRPr lang="en-US" sz="636" dirty="0"/>
          </a:p>
        </p:txBody>
      </p:sp>
      <p:sp>
        <p:nvSpPr>
          <p:cNvPr id="301" name="Text 298"/>
          <p:cNvSpPr/>
          <p:nvPr/>
        </p:nvSpPr>
        <p:spPr>
          <a:xfrm>
            <a:off x="9273649" y="26010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629</a:t>
            </a:r>
            <a:endParaRPr lang="en-US" sz="636" dirty="0"/>
          </a:p>
        </p:txBody>
      </p:sp>
      <p:sp>
        <p:nvSpPr>
          <p:cNvPr id="302" name="Text 299"/>
          <p:cNvSpPr/>
          <p:nvPr/>
        </p:nvSpPr>
        <p:spPr>
          <a:xfrm>
            <a:off x="8077397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303" name="Text 300"/>
          <p:cNvSpPr/>
          <p:nvPr/>
        </p:nvSpPr>
        <p:spPr>
          <a:xfrm>
            <a:off x="8560183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304" name="Text 301"/>
          <p:cNvSpPr/>
          <p:nvPr/>
        </p:nvSpPr>
        <p:spPr>
          <a:xfrm>
            <a:off x="9042970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305" name="Text 302"/>
          <p:cNvSpPr/>
          <p:nvPr/>
        </p:nvSpPr>
        <p:spPr>
          <a:xfrm>
            <a:off x="9525756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306" name="Text 303"/>
          <p:cNvSpPr/>
          <p:nvPr/>
        </p:nvSpPr>
        <p:spPr>
          <a:xfrm>
            <a:off x="10008542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307" name="Text 304"/>
          <p:cNvSpPr/>
          <p:nvPr/>
        </p:nvSpPr>
        <p:spPr>
          <a:xfrm>
            <a:off x="10491329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308" name="Text 305"/>
          <p:cNvSpPr/>
          <p:nvPr/>
        </p:nvSpPr>
        <p:spPr>
          <a:xfrm>
            <a:off x="9273649" y="231531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</a:t>
            </a:r>
            <a:endParaRPr lang="en-US" sz="636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8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783" y="6540103"/>
            <a:ext cx="994810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Junio: A corte, la base presenta un saludable porcentaje de conversión cercano al 5 %, impulsado principalmente por la calidad de los registros y la integridad de la información suministrada en la base de datos.</a:t>
            </a:r>
            <a:endParaRPr lang="en-US" sz="744" dirty="0"/>
          </a:p>
        </p:txBody>
      </p:sp>
      <p:sp>
        <p:nvSpPr>
          <p:cNvPr id="4" name="Text 1"/>
          <p:cNvSpPr/>
          <p:nvPr/>
        </p:nvSpPr>
        <p:spPr>
          <a:xfrm>
            <a:off x="685783" y="6393656"/>
            <a:ext cx="322621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Febrero: Cabinas exclusivas, actualmente no se encuentran activas.</a:t>
            </a:r>
            <a:endParaRPr lang="en-US" sz="744" dirty="0"/>
          </a:p>
        </p:txBody>
      </p:sp>
      <p:sp>
        <p:nvSpPr>
          <p:cNvPr id="5" name="Text 2"/>
          <p:cNvSpPr/>
          <p:nvPr/>
        </p:nvSpPr>
        <p:spPr>
          <a:xfrm>
            <a:off x="571486" y="209550"/>
            <a:ext cx="4216592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Operativo · Campaña Masiva Voluntarios</a:t>
            </a:r>
            <a:endParaRPr lang="en-US" sz="1260" dirty="0"/>
          </a:p>
        </p:txBody>
      </p:sp>
      <p:sp>
        <p:nvSpPr>
          <p:cNvPr id="6" name="Text 3"/>
          <p:cNvSpPr/>
          <p:nvPr/>
        </p:nvSpPr>
        <p:spPr>
          <a:xfrm>
            <a:off x="4374991" y="1200894"/>
            <a:ext cx="189666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Importante repunte tras actualización de base</a:t>
            </a:r>
            <a:endParaRPr lang="en-US" sz="648" dirty="0"/>
          </a:p>
        </p:txBody>
      </p:sp>
      <p:sp>
        <p:nvSpPr>
          <p:cNvPr id="7" name="Text 4"/>
          <p:cNvSpPr/>
          <p:nvPr/>
        </p:nvSpPr>
        <p:spPr>
          <a:xfrm>
            <a:off x="504812" y="35916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Supera edad para Microseguro (69 años)</a:t>
            </a:r>
            <a:endParaRPr lang="en-US" sz="576" dirty="0"/>
          </a:p>
        </p:txBody>
      </p:sp>
      <p:sp>
        <p:nvSpPr>
          <p:cNvPr id="8" name="Text 5"/>
          <p:cNvSpPr/>
          <p:nvPr/>
        </p:nvSpPr>
        <p:spPr>
          <a:xfrm>
            <a:off x="6372066" y="2915394"/>
            <a:ext cx="20375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Tipificación de Leads Aptos por Mes</a:t>
            </a:r>
            <a:endParaRPr lang="en-US" sz="816" dirty="0"/>
          </a:p>
        </p:txBody>
      </p:sp>
      <p:sp>
        <p:nvSpPr>
          <p:cNvPr id="9" name="Text 6"/>
          <p:cNvSpPr/>
          <p:nvPr/>
        </p:nvSpPr>
        <p:spPr>
          <a:xfrm>
            <a:off x="533387" y="1200894"/>
            <a:ext cx="162485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masiva para gestión del marcador</a:t>
            </a:r>
            <a:endParaRPr lang="en-US" sz="648" dirty="0"/>
          </a:p>
        </p:txBody>
      </p:sp>
      <p:sp>
        <p:nvSpPr>
          <p:cNvPr id="10" name="Text 7"/>
          <p:cNvSpPr/>
          <p:nvPr/>
        </p:nvSpPr>
        <p:spPr>
          <a:xfrm>
            <a:off x="609585" y="1486644"/>
            <a:ext cx="205678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Calidad de Base y Descarte Mensual</a:t>
            </a:r>
            <a:endParaRPr lang="en-US" sz="816" dirty="0"/>
          </a:p>
        </p:txBody>
      </p:sp>
      <p:sp>
        <p:nvSpPr>
          <p:cNvPr id="11" name="Text 8"/>
          <p:cNvSpPr/>
          <p:nvPr/>
        </p:nvSpPr>
        <p:spPr>
          <a:xfrm>
            <a:off x="6267293" y="47918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apagado / fuera de servicio</a:t>
            </a:r>
            <a:endParaRPr lang="en-US" sz="552" dirty="0"/>
          </a:p>
        </p:txBody>
      </p:sp>
      <p:sp>
        <p:nvSpPr>
          <p:cNvPr id="12" name="Text 9"/>
          <p:cNvSpPr/>
          <p:nvPr/>
        </p:nvSpPr>
        <p:spPr>
          <a:xfrm>
            <a:off x="6267293" y="39917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precio / datos</a:t>
            </a:r>
            <a:endParaRPr lang="en-US" sz="552" dirty="0"/>
          </a:p>
        </p:txBody>
      </p:sp>
      <p:sp>
        <p:nvSpPr>
          <p:cNvPr id="13" name="Text 10"/>
          <p:cNvSpPr/>
          <p:nvPr/>
        </p:nvSpPr>
        <p:spPr>
          <a:xfrm>
            <a:off x="6372066" y="1486644"/>
            <a:ext cx="18149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Insumo Apto, Contacto y Ventas</a:t>
            </a:r>
            <a:endParaRPr lang="en-US" sz="816" dirty="0"/>
          </a:p>
        </p:txBody>
      </p:sp>
      <p:sp>
        <p:nvSpPr>
          <p:cNvPr id="14" name="Text 11"/>
          <p:cNvSpPr/>
          <p:nvPr/>
        </p:nvSpPr>
        <p:spPr>
          <a:xfrm>
            <a:off x="504812" y="37250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Excede límite de edad (&gt;69 años)</a:t>
            </a:r>
            <a:endParaRPr lang="en-US" sz="576" dirty="0"/>
          </a:p>
        </p:txBody>
      </p:sp>
      <p:sp>
        <p:nvSpPr>
          <p:cNvPr id="15" name="Text 12"/>
          <p:cNvSpPr/>
          <p:nvPr/>
        </p:nvSpPr>
        <p:spPr>
          <a:xfrm>
            <a:off x="685783" y="6100763"/>
            <a:ext cx="164299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Menor oportunidad de conversión.</a:t>
            </a:r>
            <a:endParaRPr lang="en-US" sz="744" dirty="0"/>
          </a:p>
        </p:txBody>
      </p:sp>
      <p:sp>
        <p:nvSpPr>
          <p:cNvPr id="16" name="Text 13"/>
          <p:cNvSpPr/>
          <p:nvPr/>
        </p:nvSpPr>
        <p:spPr>
          <a:xfrm>
            <a:off x="504812" y="34583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Recibido Anteriormente</a:t>
            </a:r>
            <a:endParaRPr lang="en-US" sz="576" dirty="0"/>
          </a:p>
        </p:txBody>
      </p:sp>
      <p:sp>
        <p:nvSpPr>
          <p:cNvPr id="17" name="Text 14"/>
          <p:cNvSpPr/>
          <p:nvPr/>
        </p:nvSpPr>
        <p:spPr>
          <a:xfrm>
            <a:off x="714357" y="5944791"/>
            <a:ext cx="156869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Observaciones Clave de la Base:</a:t>
            </a:r>
            <a:endParaRPr lang="en-US" sz="744" dirty="0"/>
          </a:p>
        </p:txBody>
      </p:sp>
      <p:sp>
        <p:nvSpPr>
          <p:cNvPr id="18" name="Text 15"/>
          <p:cNvSpPr/>
          <p:nvPr/>
        </p:nvSpPr>
        <p:spPr>
          <a:xfrm>
            <a:off x="504812" y="33249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9" name="Text 16"/>
          <p:cNvSpPr/>
          <p:nvPr/>
        </p:nvSpPr>
        <p:spPr>
          <a:xfrm>
            <a:off x="495288" y="2915394"/>
            <a:ext cx="164662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Motivos de Descarte por Mes</a:t>
            </a:r>
            <a:endParaRPr lang="en-US" sz="816" dirty="0"/>
          </a:p>
        </p:txBody>
      </p:sp>
      <p:sp>
        <p:nvSpPr>
          <p:cNvPr id="20" name="Text 17"/>
          <p:cNvSpPr/>
          <p:nvPr/>
        </p:nvSpPr>
        <p:spPr>
          <a:xfrm>
            <a:off x="6267293" y="35916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producto</a:t>
            </a:r>
            <a:endParaRPr lang="en-US" sz="552" dirty="0"/>
          </a:p>
        </p:txBody>
      </p:sp>
      <p:sp>
        <p:nvSpPr>
          <p:cNvPr id="21" name="Text 18"/>
          <p:cNvSpPr/>
          <p:nvPr/>
        </p:nvSpPr>
        <p:spPr>
          <a:xfrm>
            <a:off x="685783" y="6247209"/>
            <a:ext cx="14041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Densa y baja contactabilidad.</a:t>
            </a:r>
            <a:endParaRPr lang="en-US" sz="744" dirty="0"/>
          </a:p>
        </p:txBody>
      </p:sp>
      <p:sp>
        <p:nvSpPr>
          <p:cNvPr id="22" name="Text 19"/>
          <p:cNvSpPr/>
          <p:nvPr/>
        </p:nvSpPr>
        <p:spPr>
          <a:xfrm>
            <a:off x="6267293" y="41250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Agendado / llamada posterior</a:t>
            </a:r>
            <a:endParaRPr lang="en-US" sz="552" dirty="0"/>
          </a:p>
        </p:txBody>
      </p:sp>
      <p:sp>
        <p:nvSpPr>
          <p:cNvPr id="23" name="Text 20"/>
          <p:cNvSpPr/>
          <p:nvPr/>
        </p:nvSpPr>
        <p:spPr>
          <a:xfrm>
            <a:off x="8216595" y="1200894"/>
            <a:ext cx="123393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Aporte incremental constante</a:t>
            </a:r>
            <a:endParaRPr lang="en-US" sz="648" dirty="0"/>
          </a:p>
        </p:txBody>
      </p:sp>
      <p:sp>
        <p:nvSpPr>
          <p:cNvPr id="24" name="Text 21"/>
          <p:cNvSpPr/>
          <p:nvPr/>
        </p:nvSpPr>
        <p:spPr>
          <a:xfrm>
            <a:off x="6267293" y="38583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es responsable del pago</a:t>
            </a:r>
            <a:endParaRPr lang="en-US" sz="552" dirty="0"/>
          </a:p>
        </p:txBody>
      </p:sp>
      <p:sp>
        <p:nvSpPr>
          <p:cNvPr id="25" name="Text 22"/>
          <p:cNvSpPr/>
          <p:nvPr/>
        </p:nvSpPr>
        <p:spPr>
          <a:xfrm>
            <a:off x="504812" y="38583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Seguro Voluntario Activo</a:t>
            </a:r>
            <a:endParaRPr lang="en-US" sz="576" dirty="0"/>
          </a:p>
        </p:txBody>
      </p:sp>
      <p:sp>
        <p:nvSpPr>
          <p:cNvPr id="26" name="Text 23"/>
          <p:cNvSpPr/>
          <p:nvPr/>
        </p:nvSpPr>
        <p:spPr>
          <a:xfrm>
            <a:off x="6267293" y="45251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automático</a:t>
            </a:r>
            <a:endParaRPr lang="en-US" sz="552" dirty="0"/>
          </a:p>
        </p:txBody>
      </p:sp>
      <p:sp>
        <p:nvSpPr>
          <p:cNvPr id="27" name="Text 24"/>
          <p:cNvSpPr/>
          <p:nvPr/>
        </p:nvSpPr>
        <p:spPr>
          <a:xfrm>
            <a:off x="504812" y="42584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76" dirty="0"/>
          </a:p>
        </p:txBody>
      </p:sp>
      <p:sp>
        <p:nvSpPr>
          <p:cNvPr id="28" name="Text 25"/>
          <p:cNvSpPr/>
          <p:nvPr/>
        </p:nvSpPr>
        <p:spPr>
          <a:xfrm>
            <a:off x="6267293" y="42584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52" dirty="0"/>
          </a:p>
        </p:txBody>
      </p:sp>
      <p:sp>
        <p:nvSpPr>
          <p:cNvPr id="29" name="Text 26"/>
          <p:cNvSpPr/>
          <p:nvPr/>
        </p:nvSpPr>
        <p:spPr>
          <a:xfrm>
            <a:off x="4374991" y="809625"/>
            <a:ext cx="11440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EFECTIVIDAD EN JUNIO</a:t>
            </a:r>
            <a:endParaRPr lang="en-US" sz="672" dirty="0"/>
          </a:p>
        </p:txBody>
      </p:sp>
      <p:sp>
        <p:nvSpPr>
          <p:cNvPr id="30" name="Text 27"/>
          <p:cNvSpPr/>
          <p:nvPr/>
        </p:nvSpPr>
        <p:spPr>
          <a:xfrm>
            <a:off x="504812" y="41250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Microseguro Activo</a:t>
            </a:r>
            <a:endParaRPr lang="en-US" sz="576" dirty="0"/>
          </a:p>
        </p:txBody>
      </p:sp>
      <p:sp>
        <p:nvSpPr>
          <p:cNvPr id="31" name="Text 28"/>
          <p:cNvSpPr/>
          <p:nvPr/>
        </p:nvSpPr>
        <p:spPr>
          <a:xfrm>
            <a:off x="8216595" y="809625"/>
            <a:ext cx="11315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CONSEGUIDAS</a:t>
            </a:r>
            <a:endParaRPr lang="en-US" sz="672" dirty="0"/>
          </a:p>
        </p:txBody>
      </p:sp>
      <p:sp>
        <p:nvSpPr>
          <p:cNvPr id="32" name="Text 29"/>
          <p:cNvSpPr/>
          <p:nvPr/>
        </p:nvSpPr>
        <p:spPr>
          <a:xfrm>
            <a:off x="6267293" y="33249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552" dirty="0"/>
          </a:p>
        </p:txBody>
      </p:sp>
      <p:sp>
        <p:nvSpPr>
          <p:cNvPr id="33" name="Text 30"/>
          <p:cNvSpPr/>
          <p:nvPr/>
        </p:nvSpPr>
        <p:spPr>
          <a:xfrm>
            <a:off x="6267293" y="37250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Cuelga la llamada</a:t>
            </a:r>
            <a:endParaRPr lang="en-US" sz="552" dirty="0"/>
          </a:p>
        </p:txBody>
      </p:sp>
      <p:sp>
        <p:nvSpPr>
          <p:cNvPr id="34" name="Text 31"/>
          <p:cNvSpPr/>
          <p:nvPr/>
        </p:nvSpPr>
        <p:spPr>
          <a:xfrm>
            <a:off x="6267293" y="49251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no contacto</a:t>
            </a:r>
            <a:endParaRPr lang="en-US" sz="552" dirty="0"/>
          </a:p>
        </p:txBody>
      </p:sp>
      <p:sp>
        <p:nvSpPr>
          <p:cNvPr id="35" name="Text 32"/>
          <p:cNvSpPr/>
          <p:nvPr/>
        </p:nvSpPr>
        <p:spPr>
          <a:xfrm>
            <a:off x="533387" y="809625"/>
            <a:ext cx="10372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INSUMO APTO TOTAL</a:t>
            </a:r>
            <a:endParaRPr lang="en-US" sz="672" dirty="0"/>
          </a:p>
        </p:txBody>
      </p:sp>
      <p:sp>
        <p:nvSpPr>
          <p:cNvPr id="36" name="Text 33"/>
          <p:cNvSpPr/>
          <p:nvPr/>
        </p:nvSpPr>
        <p:spPr>
          <a:xfrm>
            <a:off x="6267293" y="50585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gestionado</a:t>
            </a:r>
            <a:endParaRPr lang="en-US" sz="552" dirty="0"/>
          </a:p>
        </p:txBody>
      </p:sp>
      <p:sp>
        <p:nvSpPr>
          <p:cNvPr id="37" name="Text 34"/>
          <p:cNvSpPr/>
          <p:nvPr/>
        </p:nvSpPr>
        <p:spPr>
          <a:xfrm>
            <a:off x="504812" y="39917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Vacío</a:t>
            </a:r>
            <a:endParaRPr lang="en-US" sz="576" dirty="0"/>
          </a:p>
        </p:txBody>
      </p:sp>
      <p:sp>
        <p:nvSpPr>
          <p:cNvPr id="38" name="Text 35"/>
          <p:cNvSpPr/>
          <p:nvPr/>
        </p:nvSpPr>
        <p:spPr>
          <a:xfrm>
            <a:off x="10239394" y="1715244"/>
            <a:ext cx="145701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 / Ctto.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6267293" y="34583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</a:t>
            </a:r>
            <a:endParaRPr lang="en-US" sz="552" dirty="0"/>
          </a:p>
        </p:txBody>
      </p:sp>
      <p:sp>
        <p:nvSpPr>
          <p:cNvPr id="40" name="Text 37"/>
          <p:cNvSpPr/>
          <p:nvPr/>
        </p:nvSpPr>
        <p:spPr>
          <a:xfrm>
            <a:off x="6267293" y="3153519"/>
            <a:ext cx="1879325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6267293" y="43917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CONTACTO</a:t>
            </a:r>
            <a:endParaRPr lang="en-US" sz="552" dirty="0"/>
          </a:p>
        </p:txBody>
      </p:sp>
      <p:sp>
        <p:nvSpPr>
          <p:cNvPr id="42" name="Text 39"/>
          <p:cNvSpPr/>
          <p:nvPr/>
        </p:nvSpPr>
        <p:spPr>
          <a:xfrm>
            <a:off x="6267293" y="46584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contesta</a:t>
            </a:r>
            <a:endParaRPr lang="en-US" sz="552" dirty="0"/>
          </a:p>
        </p:txBody>
      </p:sp>
      <p:sp>
        <p:nvSpPr>
          <p:cNvPr id="43" name="Text 40"/>
          <p:cNvSpPr/>
          <p:nvPr/>
        </p:nvSpPr>
        <p:spPr>
          <a:xfrm>
            <a:off x="2951194" y="1715244"/>
            <a:ext cx="1568454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44" name="Text 41"/>
          <p:cNvSpPr/>
          <p:nvPr/>
        </p:nvSpPr>
        <p:spPr>
          <a:xfrm>
            <a:off x="8294831" y="1715244"/>
            <a:ext cx="100818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1540477" y="1715244"/>
            <a:ext cx="145640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4477220" y="1715244"/>
            <a:ext cx="145670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495288" y="20295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8" name="Text 45"/>
          <p:cNvSpPr/>
          <p:nvPr/>
        </p:nvSpPr>
        <p:spPr>
          <a:xfrm>
            <a:off x="1540477" y="2743944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255.141</a:t>
            </a:r>
            <a:endParaRPr lang="en-US" sz="636" dirty="0"/>
          </a:p>
        </p:txBody>
      </p:sp>
      <p:sp>
        <p:nvSpPr>
          <p:cNvPr id="49" name="Text 46"/>
          <p:cNvSpPr/>
          <p:nvPr/>
        </p:nvSpPr>
        <p:spPr>
          <a:xfrm>
            <a:off x="2951194" y="2743944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135.313</a:t>
            </a:r>
            <a:endParaRPr lang="en-US" sz="636" dirty="0"/>
          </a:p>
        </p:txBody>
      </p:sp>
      <p:sp>
        <p:nvSpPr>
          <p:cNvPr id="50" name="Text 47"/>
          <p:cNvSpPr/>
          <p:nvPr/>
        </p:nvSpPr>
        <p:spPr>
          <a:xfrm>
            <a:off x="5205169" y="33249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103.678</a:t>
            </a:r>
            <a:endParaRPr lang="en-US" sz="576" dirty="0"/>
          </a:p>
        </p:txBody>
      </p:sp>
      <p:sp>
        <p:nvSpPr>
          <p:cNvPr id="51" name="Text 48"/>
          <p:cNvSpPr/>
          <p:nvPr/>
        </p:nvSpPr>
        <p:spPr>
          <a:xfrm>
            <a:off x="5205169" y="43917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135.313</a:t>
            </a:r>
            <a:endParaRPr lang="en-US" sz="576" dirty="0"/>
          </a:p>
        </p:txBody>
      </p:sp>
      <p:sp>
        <p:nvSpPr>
          <p:cNvPr id="52" name="Text 49"/>
          <p:cNvSpPr/>
          <p:nvPr/>
        </p:nvSpPr>
        <p:spPr>
          <a:xfrm>
            <a:off x="6257769" y="20295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53" name="Text 50"/>
          <p:cNvSpPr/>
          <p:nvPr/>
        </p:nvSpPr>
        <p:spPr>
          <a:xfrm>
            <a:off x="7316013" y="27439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119.828</a:t>
            </a:r>
            <a:endParaRPr lang="en-US" sz="636" dirty="0"/>
          </a:p>
        </p:txBody>
      </p:sp>
      <p:sp>
        <p:nvSpPr>
          <p:cNvPr id="54" name="Text 51"/>
          <p:cNvSpPr/>
          <p:nvPr/>
        </p:nvSpPr>
        <p:spPr>
          <a:xfrm>
            <a:off x="533387" y="952500"/>
            <a:ext cx="682274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119.828</a:t>
            </a:r>
            <a:endParaRPr lang="en-US" sz="1380" dirty="0"/>
          </a:p>
        </p:txBody>
      </p:sp>
      <p:sp>
        <p:nvSpPr>
          <p:cNvPr id="55" name="Text 52"/>
          <p:cNvSpPr/>
          <p:nvPr/>
        </p:nvSpPr>
        <p:spPr>
          <a:xfrm>
            <a:off x="1540477" y="1886694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55.557</a:t>
            </a:r>
            <a:endParaRPr lang="en-US" sz="636" dirty="0"/>
          </a:p>
        </p:txBody>
      </p:sp>
      <p:sp>
        <p:nvSpPr>
          <p:cNvPr id="56" name="Text 53"/>
          <p:cNvSpPr/>
          <p:nvPr/>
        </p:nvSpPr>
        <p:spPr>
          <a:xfrm>
            <a:off x="1540477" y="2029569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24.673</a:t>
            </a:r>
            <a:endParaRPr lang="en-US" sz="636" dirty="0"/>
          </a:p>
        </p:txBody>
      </p:sp>
      <p:sp>
        <p:nvSpPr>
          <p:cNvPr id="57" name="Text 54"/>
          <p:cNvSpPr/>
          <p:nvPr/>
        </p:nvSpPr>
        <p:spPr>
          <a:xfrm>
            <a:off x="2951194" y="2029569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11.397</a:t>
            </a:r>
            <a:endParaRPr lang="en-US" sz="636" dirty="0"/>
          </a:p>
        </p:txBody>
      </p:sp>
      <p:sp>
        <p:nvSpPr>
          <p:cNvPr id="58" name="Text 55"/>
          <p:cNvSpPr/>
          <p:nvPr/>
        </p:nvSpPr>
        <p:spPr>
          <a:xfrm>
            <a:off x="4477220" y="2029569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46,2 %</a:t>
            </a:r>
            <a:endParaRPr lang="en-US" sz="636" dirty="0"/>
          </a:p>
        </p:txBody>
      </p:sp>
      <p:sp>
        <p:nvSpPr>
          <p:cNvPr id="59" name="Text 56"/>
          <p:cNvSpPr/>
          <p:nvPr/>
        </p:nvSpPr>
        <p:spPr>
          <a:xfrm>
            <a:off x="1540477" y="2172444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41.873</a:t>
            </a:r>
            <a:endParaRPr lang="en-US" sz="636" dirty="0"/>
          </a:p>
        </p:txBody>
      </p:sp>
      <p:sp>
        <p:nvSpPr>
          <p:cNvPr id="60" name="Text 57"/>
          <p:cNvSpPr/>
          <p:nvPr/>
        </p:nvSpPr>
        <p:spPr>
          <a:xfrm>
            <a:off x="4477220" y="2172444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10,9 %</a:t>
            </a:r>
            <a:endParaRPr lang="en-US" sz="636" dirty="0"/>
          </a:p>
        </p:txBody>
      </p:sp>
      <p:sp>
        <p:nvSpPr>
          <p:cNvPr id="61" name="Text 58"/>
          <p:cNvSpPr/>
          <p:nvPr/>
        </p:nvSpPr>
        <p:spPr>
          <a:xfrm>
            <a:off x="1540477" y="2315319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49.232</a:t>
            </a:r>
            <a:endParaRPr lang="en-US" sz="636" dirty="0"/>
          </a:p>
        </p:txBody>
      </p:sp>
      <p:sp>
        <p:nvSpPr>
          <p:cNvPr id="62" name="Text 59"/>
          <p:cNvSpPr/>
          <p:nvPr/>
        </p:nvSpPr>
        <p:spPr>
          <a:xfrm>
            <a:off x="2951194" y="2315319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48.734</a:t>
            </a:r>
            <a:endParaRPr lang="en-US" sz="636" dirty="0"/>
          </a:p>
        </p:txBody>
      </p:sp>
      <p:sp>
        <p:nvSpPr>
          <p:cNvPr id="63" name="Text 60"/>
          <p:cNvSpPr/>
          <p:nvPr/>
        </p:nvSpPr>
        <p:spPr>
          <a:xfrm>
            <a:off x="4477220" y="2315319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99,0 %</a:t>
            </a:r>
            <a:endParaRPr lang="en-US" sz="636" dirty="0"/>
          </a:p>
        </p:txBody>
      </p:sp>
      <p:sp>
        <p:nvSpPr>
          <p:cNvPr id="64" name="Text 61"/>
          <p:cNvSpPr/>
          <p:nvPr/>
        </p:nvSpPr>
        <p:spPr>
          <a:xfrm>
            <a:off x="1540477" y="2458194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49.232</a:t>
            </a:r>
            <a:endParaRPr lang="en-US" sz="636" dirty="0"/>
          </a:p>
        </p:txBody>
      </p:sp>
      <p:sp>
        <p:nvSpPr>
          <p:cNvPr id="65" name="Text 62"/>
          <p:cNvSpPr/>
          <p:nvPr/>
        </p:nvSpPr>
        <p:spPr>
          <a:xfrm>
            <a:off x="2951194" y="2458194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48.734</a:t>
            </a:r>
            <a:endParaRPr lang="en-US" sz="636" dirty="0"/>
          </a:p>
        </p:txBody>
      </p:sp>
      <p:sp>
        <p:nvSpPr>
          <p:cNvPr id="66" name="Text 63"/>
          <p:cNvSpPr/>
          <p:nvPr/>
        </p:nvSpPr>
        <p:spPr>
          <a:xfrm>
            <a:off x="4477220" y="2458194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99,0 %</a:t>
            </a:r>
            <a:endParaRPr lang="en-US" sz="636" dirty="0"/>
          </a:p>
        </p:txBody>
      </p:sp>
      <p:sp>
        <p:nvSpPr>
          <p:cNvPr id="67" name="Text 64"/>
          <p:cNvSpPr/>
          <p:nvPr/>
        </p:nvSpPr>
        <p:spPr>
          <a:xfrm>
            <a:off x="1540477" y="2601069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34.574</a:t>
            </a:r>
            <a:endParaRPr lang="en-US" sz="636" dirty="0"/>
          </a:p>
        </p:txBody>
      </p:sp>
      <p:sp>
        <p:nvSpPr>
          <p:cNvPr id="68" name="Text 65"/>
          <p:cNvSpPr/>
          <p:nvPr/>
        </p:nvSpPr>
        <p:spPr>
          <a:xfrm>
            <a:off x="2951194" y="2601069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17.661</a:t>
            </a:r>
            <a:endParaRPr lang="en-US" sz="636" dirty="0"/>
          </a:p>
        </p:txBody>
      </p:sp>
      <p:sp>
        <p:nvSpPr>
          <p:cNvPr id="69" name="Text 66"/>
          <p:cNvSpPr/>
          <p:nvPr/>
        </p:nvSpPr>
        <p:spPr>
          <a:xfrm>
            <a:off x="4477220" y="2601069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51,1 %</a:t>
            </a:r>
            <a:endParaRPr lang="en-US" sz="636" dirty="0"/>
          </a:p>
        </p:txBody>
      </p:sp>
      <p:sp>
        <p:nvSpPr>
          <p:cNvPr id="70" name="Text 67"/>
          <p:cNvSpPr/>
          <p:nvPr/>
        </p:nvSpPr>
        <p:spPr>
          <a:xfrm>
            <a:off x="4477220" y="2743944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53,0 %</a:t>
            </a:r>
            <a:endParaRPr lang="en-US" sz="636" dirty="0"/>
          </a:p>
        </p:txBody>
      </p:sp>
      <p:sp>
        <p:nvSpPr>
          <p:cNvPr id="71" name="Text 68"/>
          <p:cNvSpPr/>
          <p:nvPr/>
        </p:nvSpPr>
        <p:spPr>
          <a:xfrm>
            <a:off x="504812" y="3153519"/>
            <a:ext cx="1879325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Motivo</a:t>
            </a:r>
            <a:endParaRPr lang="en-US" sz="888" dirty="0"/>
          </a:p>
        </p:txBody>
      </p:sp>
      <p:sp>
        <p:nvSpPr>
          <p:cNvPr id="72" name="Text 69"/>
          <p:cNvSpPr/>
          <p:nvPr/>
        </p:nvSpPr>
        <p:spPr>
          <a:xfrm>
            <a:off x="3763275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37.342</a:t>
            </a:r>
            <a:endParaRPr lang="en-US" sz="576" dirty="0"/>
          </a:p>
        </p:txBody>
      </p:sp>
      <p:sp>
        <p:nvSpPr>
          <p:cNvPr id="73" name="Text 70"/>
          <p:cNvSpPr/>
          <p:nvPr/>
        </p:nvSpPr>
        <p:spPr>
          <a:xfrm>
            <a:off x="4246061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37.340</a:t>
            </a:r>
            <a:endParaRPr lang="en-US" sz="576" dirty="0"/>
          </a:p>
        </p:txBody>
      </p:sp>
      <p:sp>
        <p:nvSpPr>
          <p:cNvPr id="74" name="Text 71"/>
          <p:cNvSpPr/>
          <p:nvPr/>
        </p:nvSpPr>
        <p:spPr>
          <a:xfrm>
            <a:off x="4728848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13.532</a:t>
            </a:r>
            <a:endParaRPr lang="en-US" sz="576" dirty="0"/>
          </a:p>
        </p:txBody>
      </p:sp>
      <p:sp>
        <p:nvSpPr>
          <p:cNvPr id="75" name="Text 72"/>
          <p:cNvSpPr/>
          <p:nvPr/>
        </p:nvSpPr>
        <p:spPr>
          <a:xfrm>
            <a:off x="5205169" y="34583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11.261</a:t>
            </a:r>
            <a:endParaRPr lang="en-US" sz="576" dirty="0"/>
          </a:p>
        </p:txBody>
      </p:sp>
      <p:sp>
        <p:nvSpPr>
          <p:cNvPr id="76" name="Text 73"/>
          <p:cNvSpPr/>
          <p:nvPr/>
        </p:nvSpPr>
        <p:spPr>
          <a:xfrm>
            <a:off x="2797702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11.397</a:t>
            </a:r>
            <a:endParaRPr lang="en-US" sz="576" dirty="0"/>
          </a:p>
        </p:txBody>
      </p:sp>
      <p:sp>
        <p:nvSpPr>
          <p:cNvPr id="77" name="Text 74"/>
          <p:cNvSpPr/>
          <p:nvPr/>
        </p:nvSpPr>
        <p:spPr>
          <a:xfrm>
            <a:off x="3763275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48.734</a:t>
            </a:r>
            <a:endParaRPr lang="en-US" sz="576" dirty="0"/>
          </a:p>
        </p:txBody>
      </p:sp>
      <p:sp>
        <p:nvSpPr>
          <p:cNvPr id="78" name="Text 75"/>
          <p:cNvSpPr/>
          <p:nvPr/>
        </p:nvSpPr>
        <p:spPr>
          <a:xfrm>
            <a:off x="4246061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48.734</a:t>
            </a:r>
            <a:endParaRPr lang="en-US" sz="576" dirty="0"/>
          </a:p>
        </p:txBody>
      </p:sp>
      <p:sp>
        <p:nvSpPr>
          <p:cNvPr id="79" name="Text 76"/>
          <p:cNvSpPr/>
          <p:nvPr/>
        </p:nvSpPr>
        <p:spPr>
          <a:xfrm>
            <a:off x="4728848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17.661</a:t>
            </a:r>
            <a:endParaRPr lang="en-US" sz="576" dirty="0"/>
          </a:p>
        </p:txBody>
      </p:sp>
      <p:sp>
        <p:nvSpPr>
          <p:cNvPr id="80" name="Text 77"/>
          <p:cNvSpPr/>
          <p:nvPr/>
        </p:nvSpPr>
        <p:spPr>
          <a:xfrm>
            <a:off x="9273649" y="1715244"/>
            <a:ext cx="100818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7316013" y="18866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51.332</a:t>
            </a:r>
            <a:endParaRPr lang="en-US" sz="636" dirty="0"/>
          </a:p>
        </p:txBody>
      </p:sp>
      <p:sp>
        <p:nvSpPr>
          <p:cNvPr id="82" name="Text 79"/>
          <p:cNvSpPr/>
          <p:nvPr/>
        </p:nvSpPr>
        <p:spPr>
          <a:xfrm>
            <a:off x="7316013" y="20295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13.276</a:t>
            </a:r>
            <a:endParaRPr lang="en-US" sz="636" dirty="0"/>
          </a:p>
        </p:txBody>
      </p:sp>
      <p:sp>
        <p:nvSpPr>
          <p:cNvPr id="83" name="Text 80"/>
          <p:cNvSpPr/>
          <p:nvPr/>
        </p:nvSpPr>
        <p:spPr>
          <a:xfrm>
            <a:off x="8294831" y="20295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30,0 %</a:t>
            </a:r>
            <a:endParaRPr lang="en-US" sz="636" dirty="0"/>
          </a:p>
        </p:txBody>
      </p:sp>
      <p:sp>
        <p:nvSpPr>
          <p:cNvPr id="84" name="Text 81"/>
          <p:cNvSpPr/>
          <p:nvPr/>
        </p:nvSpPr>
        <p:spPr>
          <a:xfrm>
            <a:off x="7316013" y="21724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37.311</a:t>
            </a:r>
            <a:endParaRPr lang="en-US" sz="636" dirty="0"/>
          </a:p>
        </p:txBody>
      </p:sp>
      <p:sp>
        <p:nvSpPr>
          <p:cNvPr id="85" name="Text 82"/>
          <p:cNvSpPr/>
          <p:nvPr/>
        </p:nvSpPr>
        <p:spPr>
          <a:xfrm>
            <a:off x="8294831" y="21724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24,5 %</a:t>
            </a:r>
            <a:endParaRPr lang="en-US" sz="636" dirty="0"/>
          </a:p>
        </p:txBody>
      </p:sp>
      <p:sp>
        <p:nvSpPr>
          <p:cNvPr id="86" name="Text 83"/>
          <p:cNvSpPr/>
          <p:nvPr/>
        </p:nvSpPr>
        <p:spPr>
          <a:xfrm>
            <a:off x="8294831" y="231531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42,6 %</a:t>
            </a:r>
            <a:endParaRPr lang="en-US" sz="636" dirty="0"/>
          </a:p>
        </p:txBody>
      </p:sp>
      <p:sp>
        <p:nvSpPr>
          <p:cNvPr id="87" name="Text 84"/>
          <p:cNvSpPr/>
          <p:nvPr/>
        </p:nvSpPr>
        <p:spPr>
          <a:xfrm>
            <a:off x="8294831" y="24581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43,2 %</a:t>
            </a:r>
            <a:endParaRPr lang="en-US" sz="636" dirty="0"/>
          </a:p>
        </p:txBody>
      </p:sp>
      <p:sp>
        <p:nvSpPr>
          <p:cNvPr id="88" name="Text 85"/>
          <p:cNvSpPr/>
          <p:nvPr/>
        </p:nvSpPr>
        <p:spPr>
          <a:xfrm>
            <a:off x="7316013" y="26010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16.913</a:t>
            </a:r>
            <a:endParaRPr lang="en-US" sz="636" dirty="0"/>
          </a:p>
        </p:txBody>
      </p:sp>
      <p:sp>
        <p:nvSpPr>
          <p:cNvPr id="89" name="Text 86"/>
          <p:cNvSpPr/>
          <p:nvPr/>
        </p:nvSpPr>
        <p:spPr>
          <a:xfrm>
            <a:off x="8294831" y="26010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27,7 %</a:t>
            </a:r>
            <a:endParaRPr lang="en-US" sz="636" dirty="0"/>
          </a:p>
        </p:txBody>
      </p:sp>
      <p:sp>
        <p:nvSpPr>
          <p:cNvPr id="90" name="Text 87"/>
          <p:cNvSpPr/>
          <p:nvPr/>
        </p:nvSpPr>
        <p:spPr>
          <a:xfrm>
            <a:off x="8294831" y="27439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19,2 %</a:t>
            </a:r>
            <a:endParaRPr lang="en-US" sz="636" dirty="0"/>
          </a:p>
        </p:txBody>
      </p:sp>
      <p:sp>
        <p:nvSpPr>
          <p:cNvPr id="91" name="Text 88"/>
          <p:cNvSpPr/>
          <p:nvPr/>
        </p:nvSpPr>
        <p:spPr>
          <a:xfrm>
            <a:off x="8560183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30,0 %</a:t>
            </a:r>
            <a:endParaRPr lang="en-US" sz="552" dirty="0"/>
          </a:p>
        </p:txBody>
      </p:sp>
      <p:sp>
        <p:nvSpPr>
          <p:cNvPr id="92" name="Text 89"/>
          <p:cNvSpPr/>
          <p:nvPr/>
        </p:nvSpPr>
        <p:spPr>
          <a:xfrm>
            <a:off x="9042970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24,5 %</a:t>
            </a:r>
            <a:endParaRPr lang="en-US" sz="552" dirty="0"/>
          </a:p>
        </p:txBody>
      </p:sp>
      <p:sp>
        <p:nvSpPr>
          <p:cNvPr id="93" name="Text 90"/>
          <p:cNvSpPr/>
          <p:nvPr/>
        </p:nvSpPr>
        <p:spPr>
          <a:xfrm>
            <a:off x="9525756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42,6 %</a:t>
            </a:r>
            <a:endParaRPr lang="en-US" sz="552" dirty="0"/>
          </a:p>
        </p:txBody>
      </p:sp>
      <p:sp>
        <p:nvSpPr>
          <p:cNvPr id="94" name="Text 91"/>
          <p:cNvSpPr/>
          <p:nvPr/>
        </p:nvSpPr>
        <p:spPr>
          <a:xfrm>
            <a:off x="10008542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43,2 %</a:t>
            </a:r>
            <a:endParaRPr lang="en-US" sz="552" dirty="0"/>
          </a:p>
        </p:txBody>
      </p:sp>
      <p:sp>
        <p:nvSpPr>
          <p:cNvPr id="95" name="Text 92"/>
          <p:cNvSpPr/>
          <p:nvPr/>
        </p:nvSpPr>
        <p:spPr>
          <a:xfrm>
            <a:off x="10491329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27,7 %</a:t>
            </a:r>
            <a:endParaRPr lang="en-US" sz="552" dirty="0"/>
          </a:p>
        </p:txBody>
      </p:sp>
      <p:sp>
        <p:nvSpPr>
          <p:cNvPr id="96" name="Text 93"/>
          <p:cNvSpPr/>
          <p:nvPr/>
        </p:nvSpPr>
        <p:spPr>
          <a:xfrm>
            <a:off x="10967650" y="33249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18,9 %</a:t>
            </a:r>
            <a:endParaRPr lang="en-US" sz="552" dirty="0"/>
          </a:p>
        </p:txBody>
      </p:sp>
      <p:sp>
        <p:nvSpPr>
          <p:cNvPr id="97" name="Text 94"/>
          <p:cNvSpPr/>
          <p:nvPr/>
        </p:nvSpPr>
        <p:spPr>
          <a:xfrm>
            <a:off x="8560183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11,1 %</a:t>
            </a:r>
            <a:endParaRPr lang="en-US" sz="552" dirty="0"/>
          </a:p>
        </p:txBody>
      </p:sp>
      <p:sp>
        <p:nvSpPr>
          <p:cNvPr id="98" name="Text 95"/>
          <p:cNvSpPr/>
          <p:nvPr/>
        </p:nvSpPr>
        <p:spPr>
          <a:xfrm>
            <a:off x="9525756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15,7 %</a:t>
            </a:r>
            <a:endParaRPr lang="en-US" sz="552" dirty="0"/>
          </a:p>
        </p:txBody>
      </p:sp>
      <p:sp>
        <p:nvSpPr>
          <p:cNvPr id="99" name="Text 96"/>
          <p:cNvSpPr/>
          <p:nvPr/>
        </p:nvSpPr>
        <p:spPr>
          <a:xfrm>
            <a:off x="10008542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16,0 %</a:t>
            </a:r>
            <a:endParaRPr lang="en-US" sz="552" dirty="0"/>
          </a:p>
        </p:txBody>
      </p:sp>
      <p:sp>
        <p:nvSpPr>
          <p:cNvPr id="100" name="Text 97"/>
          <p:cNvSpPr/>
          <p:nvPr/>
        </p:nvSpPr>
        <p:spPr>
          <a:xfrm>
            <a:off x="10491329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10,2 %</a:t>
            </a:r>
            <a:endParaRPr lang="en-US" sz="552" dirty="0"/>
          </a:p>
        </p:txBody>
      </p:sp>
      <p:sp>
        <p:nvSpPr>
          <p:cNvPr id="101" name="Text 98"/>
          <p:cNvSpPr/>
          <p:nvPr/>
        </p:nvSpPr>
        <p:spPr>
          <a:xfrm>
            <a:off x="10008542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10,0 %</a:t>
            </a:r>
            <a:endParaRPr lang="en-US" sz="552" dirty="0"/>
          </a:p>
        </p:txBody>
      </p:sp>
      <p:sp>
        <p:nvSpPr>
          <p:cNvPr id="102" name="Text 99"/>
          <p:cNvSpPr/>
          <p:nvPr/>
        </p:nvSpPr>
        <p:spPr>
          <a:xfrm>
            <a:off x="8077397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90,8 %</a:t>
            </a:r>
            <a:endParaRPr lang="en-US" sz="552" dirty="0"/>
          </a:p>
        </p:txBody>
      </p:sp>
      <p:sp>
        <p:nvSpPr>
          <p:cNvPr id="103" name="Text 100"/>
          <p:cNvSpPr/>
          <p:nvPr/>
        </p:nvSpPr>
        <p:spPr>
          <a:xfrm>
            <a:off x="8560183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70,0 %</a:t>
            </a:r>
            <a:endParaRPr lang="en-US" sz="552" dirty="0"/>
          </a:p>
        </p:txBody>
      </p:sp>
      <p:sp>
        <p:nvSpPr>
          <p:cNvPr id="104" name="Text 101"/>
          <p:cNvSpPr/>
          <p:nvPr/>
        </p:nvSpPr>
        <p:spPr>
          <a:xfrm>
            <a:off x="9042970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75,5 %</a:t>
            </a:r>
            <a:endParaRPr lang="en-US" sz="552" dirty="0"/>
          </a:p>
        </p:txBody>
      </p:sp>
      <p:sp>
        <p:nvSpPr>
          <p:cNvPr id="105" name="Text 102"/>
          <p:cNvSpPr/>
          <p:nvPr/>
        </p:nvSpPr>
        <p:spPr>
          <a:xfrm>
            <a:off x="9525756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57,4 %</a:t>
            </a:r>
            <a:endParaRPr lang="en-US" sz="552" dirty="0"/>
          </a:p>
        </p:txBody>
      </p:sp>
      <p:sp>
        <p:nvSpPr>
          <p:cNvPr id="106" name="Text 103"/>
          <p:cNvSpPr/>
          <p:nvPr/>
        </p:nvSpPr>
        <p:spPr>
          <a:xfrm>
            <a:off x="10008542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56,8 %</a:t>
            </a:r>
            <a:endParaRPr lang="en-US" sz="552" dirty="0"/>
          </a:p>
        </p:txBody>
      </p:sp>
      <p:sp>
        <p:nvSpPr>
          <p:cNvPr id="107" name="Text 104"/>
          <p:cNvSpPr/>
          <p:nvPr/>
        </p:nvSpPr>
        <p:spPr>
          <a:xfrm>
            <a:off x="10491329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72,3 %</a:t>
            </a:r>
            <a:endParaRPr lang="en-US" sz="552" dirty="0"/>
          </a:p>
        </p:txBody>
      </p:sp>
      <p:sp>
        <p:nvSpPr>
          <p:cNvPr id="108" name="Text 105"/>
          <p:cNvSpPr/>
          <p:nvPr/>
        </p:nvSpPr>
        <p:spPr>
          <a:xfrm>
            <a:off x="10967650" y="43917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81,1 %</a:t>
            </a:r>
            <a:endParaRPr lang="en-US" sz="552" dirty="0"/>
          </a:p>
        </p:txBody>
      </p:sp>
      <p:sp>
        <p:nvSpPr>
          <p:cNvPr id="109" name="Text 106"/>
          <p:cNvSpPr/>
          <p:nvPr/>
        </p:nvSpPr>
        <p:spPr>
          <a:xfrm>
            <a:off x="8077397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88,1 %</a:t>
            </a:r>
            <a:endParaRPr lang="en-US" sz="552" dirty="0"/>
          </a:p>
        </p:txBody>
      </p:sp>
      <p:sp>
        <p:nvSpPr>
          <p:cNvPr id="110" name="Text 107"/>
          <p:cNvSpPr/>
          <p:nvPr/>
        </p:nvSpPr>
        <p:spPr>
          <a:xfrm>
            <a:off x="8560183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67,9 %</a:t>
            </a:r>
            <a:endParaRPr lang="en-US" sz="552" dirty="0"/>
          </a:p>
        </p:txBody>
      </p:sp>
      <p:sp>
        <p:nvSpPr>
          <p:cNvPr id="111" name="Text 108"/>
          <p:cNvSpPr/>
          <p:nvPr/>
        </p:nvSpPr>
        <p:spPr>
          <a:xfrm>
            <a:off x="9042970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73,2 %</a:t>
            </a:r>
            <a:endParaRPr lang="en-US" sz="552" dirty="0"/>
          </a:p>
        </p:txBody>
      </p:sp>
      <p:sp>
        <p:nvSpPr>
          <p:cNvPr id="112" name="Text 109"/>
          <p:cNvSpPr/>
          <p:nvPr/>
        </p:nvSpPr>
        <p:spPr>
          <a:xfrm>
            <a:off x="9525756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55,7 %</a:t>
            </a:r>
            <a:endParaRPr lang="en-US" sz="552" dirty="0"/>
          </a:p>
        </p:txBody>
      </p:sp>
      <p:sp>
        <p:nvSpPr>
          <p:cNvPr id="113" name="Text 110"/>
          <p:cNvSpPr/>
          <p:nvPr/>
        </p:nvSpPr>
        <p:spPr>
          <a:xfrm>
            <a:off x="10008542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55,1 %</a:t>
            </a:r>
            <a:endParaRPr lang="en-US" sz="552" dirty="0"/>
          </a:p>
        </p:txBody>
      </p:sp>
      <p:sp>
        <p:nvSpPr>
          <p:cNvPr id="114" name="Text 111"/>
          <p:cNvSpPr/>
          <p:nvPr/>
        </p:nvSpPr>
        <p:spPr>
          <a:xfrm>
            <a:off x="10491329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70,1 %</a:t>
            </a:r>
            <a:endParaRPr lang="en-US" sz="552" dirty="0"/>
          </a:p>
        </p:txBody>
      </p:sp>
      <p:sp>
        <p:nvSpPr>
          <p:cNvPr id="115" name="Text 112"/>
          <p:cNvSpPr/>
          <p:nvPr/>
        </p:nvSpPr>
        <p:spPr>
          <a:xfrm>
            <a:off x="10967650" y="45251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78,6 %</a:t>
            </a:r>
            <a:endParaRPr lang="en-US" sz="552" dirty="0"/>
          </a:p>
        </p:txBody>
      </p:sp>
      <p:sp>
        <p:nvSpPr>
          <p:cNvPr id="116" name="Text 113"/>
          <p:cNvSpPr/>
          <p:nvPr/>
        </p:nvSpPr>
        <p:spPr>
          <a:xfrm>
            <a:off x="495288" y="18866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17" name="Text 114"/>
          <p:cNvSpPr/>
          <p:nvPr/>
        </p:nvSpPr>
        <p:spPr>
          <a:xfrm>
            <a:off x="2951194" y="1886694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4.225</a:t>
            </a:r>
            <a:endParaRPr lang="en-US" sz="636" dirty="0"/>
          </a:p>
        </p:txBody>
      </p:sp>
      <p:sp>
        <p:nvSpPr>
          <p:cNvPr id="118" name="Text 115"/>
          <p:cNvSpPr/>
          <p:nvPr/>
        </p:nvSpPr>
        <p:spPr>
          <a:xfrm>
            <a:off x="4477220" y="1886694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7,6 %</a:t>
            </a:r>
            <a:endParaRPr lang="en-US" sz="636" dirty="0"/>
          </a:p>
        </p:txBody>
      </p:sp>
      <p:sp>
        <p:nvSpPr>
          <p:cNvPr id="119" name="Text 116"/>
          <p:cNvSpPr/>
          <p:nvPr/>
        </p:nvSpPr>
        <p:spPr>
          <a:xfrm>
            <a:off x="495288" y="21724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20" name="Text 117"/>
          <p:cNvSpPr/>
          <p:nvPr/>
        </p:nvSpPr>
        <p:spPr>
          <a:xfrm>
            <a:off x="2951194" y="2172444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4.562</a:t>
            </a:r>
            <a:endParaRPr lang="en-US" sz="636" dirty="0"/>
          </a:p>
        </p:txBody>
      </p:sp>
      <p:sp>
        <p:nvSpPr>
          <p:cNvPr id="121" name="Text 118"/>
          <p:cNvSpPr/>
          <p:nvPr/>
        </p:nvSpPr>
        <p:spPr>
          <a:xfrm>
            <a:off x="495288" y="231531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22" name="Text 119"/>
          <p:cNvSpPr/>
          <p:nvPr/>
        </p:nvSpPr>
        <p:spPr>
          <a:xfrm>
            <a:off x="495288" y="26010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23" name="Text 120"/>
          <p:cNvSpPr/>
          <p:nvPr/>
        </p:nvSpPr>
        <p:spPr>
          <a:xfrm>
            <a:off x="495288" y="27439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24" name="Text 121"/>
          <p:cNvSpPr/>
          <p:nvPr/>
        </p:nvSpPr>
        <p:spPr>
          <a:xfrm>
            <a:off x="5205169" y="3153519"/>
            <a:ext cx="71923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25" name="Text 122"/>
          <p:cNvSpPr/>
          <p:nvPr/>
        </p:nvSpPr>
        <p:spPr>
          <a:xfrm>
            <a:off x="2314916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3.237</a:t>
            </a:r>
            <a:endParaRPr lang="en-US" sz="576" dirty="0"/>
          </a:p>
        </p:txBody>
      </p:sp>
      <p:sp>
        <p:nvSpPr>
          <p:cNvPr id="126" name="Text 123"/>
          <p:cNvSpPr/>
          <p:nvPr/>
        </p:nvSpPr>
        <p:spPr>
          <a:xfrm>
            <a:off x="2797702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8.732</a:t>
            </a:r>
            <a:endParaRPr lang="en-US" sz="576" dirty="0"/>
          </a:p>
        </p:txBody>
      </p:sp>
      <p:sp>
        <p:nvSpPr>
          <p:cNvPr id="127" name="Text 124"/>
          <p:cNvSpPr/>
          <p:nvPr/>
        </p:nvSpPr>
        <p:spPr>
          <a:xfrm>
            <a:off x="3280489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3.495</a:t>
            </a:r>
            <a:endParaRPr lang="en-US" sz="576" dirty="0"/>
          </a:p>
        </p:txBody>
      </p:sp>
      <p:sp>
        <p:nvSpPr>
          <p:cNvPr id="128" name="Text 125"/>
          <p:cNvSpPr/>
          <p:nvPr/>
        </p:nvSpPr>
        <p:spPr>
          <a:xfrm>
            <a:off x="3763275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4.055</a:t>
            </a:r>
            <a:endParaRPr lang="en-US" sz="576" dirty="0"/>
          </a:p>
        </p:txBody>
      </p:sp>
      <p:sp>
        <p:nvSpPr>
          <p:cNvPr id="129" name="Text 126"/>
          <p:cNvSpPr/>
          <p:nvPr/>
        </p:nvSpPr>
        <p:spPr>
          <a:xfrm>
            <a:off x="4246061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4.056</a:t>
            </a:r>
            <a:endParaRPr lang="en-US" sz="576" dirty="0"/>
          </a:p>
        </p:txBody>
      </p:sp>
      <p:sp>
        <p:nvSpPr>
          <p:cNvPr id="130" name="Text 127"/>
          <p:cNvSpPr/>
          <p:nvPr/>
        </p:nvSpPr>
        <p:spPr>
          <a:xfrm>
            <a:off x="4728848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1.470</a:t>
            </a:r>
            <a:endParaRPr lang="en-US" sz="576" dirty="0"/>
          </a:p>
        </p:txBody>
      </p:sp>
      <p:sp>
        <p:nvSpPr>
          <p:cNvPr id="131" name="Text 128"/>
          <p:cNvSpPr/>
          <p:nvPr/>
        </p:nvSpPr>
        <p:spPr>
          <a:xfrm>
            <a:off x="3763275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2.142</a:t>
            </a:r>
            <a:endParaRPr lang="en-US" sz="576" dirty="0"/>
          </a:p>
        </p:txBody>
      </p:sp>
      <p:sp>
        <p:nvSpPr>
          <p:cNvPr id="132" name="Text 129"/>
          <p:cNvSpPr/>
          <p:nvPr/>
        </p:nvSpPr>
        <p:spPr>
          <a:xfrm>
            <a:off x="4246061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2.142</a:t>
            </a:r>
            <a:endParaRPr lang="en-US" sz="576" dirty="0"/>
          </a:p>
        </p:txBody>
      </p:sp>
      <p:sp>
        <p:nvSpPr>
          <p:cNvPr id="133" name="Text 130"/>
          <p:cNvSpPr/>
          <p:nvPr/>
        </p:nvSpPr>
        <p:spPr>
          <a:xfrm>
            <a:off x="5205169" y="35916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5.948</a:t>
            </a:r>
            <a:endParaRPr lang="en-US" sz="576" dirty="0"/>
          </a:p>
        </p:txBody>
      </p:sp>
      <p:sp>
        <p:nvSpPr>
          <p:cNvPr id="134" name="Text 131"/>
          <p:cNvSpPr/>
          <p:nvPr/>
        </p:nvSpPr>
        <p:spPr>
          <a:xfrm>
            <a:off x="3763275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1.618</a:t>
            </a:r>
            <a:endParaRPr lang="en-US" sz="576" dirty="0"/>
          </a:p>
        </p:txBody>
      </p:sp>
      <p:sp>
        <p:nvSpPr>
          <p:cNvPr id="135" name="Text 132"/>
          <p:cNvSpPr/>
          <p:nvPr/>
        </p:nvSpPr>
        <p:spPr>
          <a:xfrm>
            <a:off x="4246061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1.619</a:t>
            </a:r>
            <a:endParaRPr lang="en-US" sz="576" dirty="0"/>
          </a:p>
        </p:txBody>
      </p:sp>
      <p:sp>
        <p:nvSpPr>
          <p:cNvPr id="136" name="Text 133"/>
          <p:cNvSpPr/>
          <p:nvPr/>
        </p:nvSpPr>
        <p:spPr>
          <a:xfrm>
            <a:off x="5205169" y="37250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4.495</a:t>
            </a:r>
            <a:endParaRPr lang="en-US" sz="576" dirty="0"/>
          </a:p>
        </p:txBody>
      </p:sp>
      <p:sp>
        <p:nvSpPr>
          <p:cNvPr id="137" name="Text 134"/>
          <p:cNvSpPr/>
          <p:nvPr/>
        </p:nvSpPr>
        <p:spPr>
          <a:xfrm>
            <a:off x="5205169" y="38583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2.330</a:t>
            </a:r>
            <a:endParaRPr lang="en-US" sz="576" dirty="0"/>
          </a:p>
        </p:txBody>
      </p:sp>
      <p:sp>
        <p:nvSpPr>
          <p:cNvPr id="138" name="Text 135"/>
          <p:cNvSpPr/>
          <p:nvPr/>
        </p:nvSpPr>
        <p:spPr>
          <a:xfrm>
            <a:off x="5205169" y="39917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2.145</a:t>
            </a:r>
            <a:endParaRPr lang="en-US" sz="576" dirty="0"/>
          </a:p>
        </p:txBody>
      </p:sp>
      <p:sp>
        <p:nvSpPr>
          <p:cNvPr id="139" name="Text 136"/>
          <p:cNvSpPr/>
          <p:nvPr/>
        </p:nvSpPr>
        <p:spPr>
          <a:xfrm>
            <a:off x="3763275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1.632</a:t>
            </a:r>
            <a:endParaRPr lang="en-US" sz="576" dirty="0"/>
          </a:p>
        </p:txBody>
      </p:sp>
      <p:sp>
        <p:nvSpPr>
          <p:cNvPr id="140" name="Text 137"/>
          <p:cNvSpPr/>
          <p:nvPr/>
        </p:nvSpPr>
        <p:spPr>
          <a:xfrm>
            <a:off x="4246061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1.633</a:t>
            </a:r>
            <a:endParaRPr lang="en-US" sz="576" dirty="0"/>
          </a:p>
        </p:txBody>
      </p:sp>
      <p:sp>
        <p:nvSpPr>
          <p:cNvPr id="141" name="Text 138"/>
          <p:cNvSpPr/>
          <p:nvPr/>
        </p:nvSpPr>
        <p:spPr>
          <a:xfrm>
            <a:off x="5205169" y="42584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4.534</a:t>
            </a:r>
            <a:endParaRPr lang="en-US" sz="576" dirty="0"/>
          </a:p>
        </p:txBody>
      </p:sp>
      <p:sp>
        <p:nvSpPr>
          <p:cNvPr id="142" name="Text 139"/>
          <p:cNvSpPr/>
          <p:nvPr/>
        </p:nvSpPr>
        <p:spPr>
          <a:xfrm>
            <a:off x="504812" y="43917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576" dirty="0"/>
          </a:p>
        </p:txBody>
      </p:sp>
      <p:sp>
        <p:nvSpPr>
          <p:cNvPr id="143" name="Text 140"/>
          <p:cNvSpPr/>
          <p:nvPr/>
        </p:nvSpPr>
        <p:spPr>
          <a:xfrm>
            <a:off x="2314916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4.225</a:t>
            </a:r>
            <a:endParaRPr lang="en-US" sz="576" dirty="0"/>
          </a:p>
        </p:txBody>
      </p:sp>
      <p:sp>
        <p:nvSpPr>
          <p:cNvPr id="144" name="Text 141"/>
          <p:cNvSpPr/>
          <p:nvPr/>
        </p:nvSpPr>
        <p:spPr>
          <a:xfrm>
            <a:off x="3280489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4.562</a:t>
            </a:r>
            <a:endParaRPr lang="en-US" sz="576" dirty="0"/>
          </a:p>
        </p:txBody>
      </p:sp>
      <p:sp>
        <p:nvSpPr>
          <p:cNvPr id="145" name="Text 142"/>
          <p:cNvSpPr/>
          <p:nvPr/>
        </p:nvSpPr>
        <p:spPr>
          <a:xfrm>
            <a:off x="7316013" y="1715244"/>
            <a:ext cx="100818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146" name="Text 143"/>
          <p:cNvSpPr/>
          <p:nvPr/>
        </p:nvSpPr>
        <p:spPr>
          <a:xfrm>
            <a:off x="6257769" y="18866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47" name="Text 144"/>
          <p:cNvSpPr/>
          <p:nvPr/>
        </p:nvSpPr>
        <p:spPr>
          <a:xfrm>
            <a:off x="8294831" y="18866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9,2 %</a:t>
            </a:r>
            <a:endParaRPr lang="en-US" sz="636" dirty="0"/>
          </a:p>
        </p:txBody>
      </p:sp>
      <p:sp>
        <p:nvSpPr>
          <p:cNvPr id="148" name="Text 145"/>
          <p:cNvSpPr/>
          <p:nvPr/>
        </p:nvSpPr>
        <p:spPr>
          <a:xfrm>
            <a:off x="10239394" y="188669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0,7 %</a:t>
            </a:r>
            <a:endParaRPr lang="en-US" sz="636" dirty="0"/>
          </a:p>
        </p:txBody>
      </p:sp>
      <p:sp>
        <p:nvSpPr>
          <p:cNvPr id="149" name="Text 146"/>
          <p:cNvSpPr/>
          <p:nvPr/>
        </p:nvSpPr>
        <p:spPr>
          <a:xfrm>
            <a:off x="10239394" y="2029569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3,2 %</a:t>
            </a:r>
            <a:endParaRPr lang="en-US" sz="636" dirty="0"/>
          </a:p>
        </p:txBody>
      </p:sp>
      <p:sp>
        <p:nvSpPr>
          <p:cNvPr id="150" name="Text 147"/>
          <p:cNvSpPr/>
          <p:nvPr/>
        </p:nvSpPr>
        <p:spPr>
          <a:xfrm>
            <a:off x="6257769" y="21724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51" name="Text 148"/>
          <p:cNvSpPr/>
          <p:nvPr/>
        </p:nvSpPr>
        <p:spPr>
          <a:xfrm>
            <a:off x="10239394" y="217244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636" dirty="0"/>
          </a:p>
        </p:txBody>
      </p:sp>
      <p:sp>
        <p:nvSpPr>
          <p:cNvPr id="152" name="Text 149"/>
          <p:cNvSpPr/>
          <p:nvPr/>
        </p:nvSpPr>
        <p:spPr>
          <a:xfrm>
            <a:off x="6257769" y="231531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53" name="Text 150"/>
          <p:cNvSpPr/>
          <p:nvPr/>
        </p:nvSpPr>
        <p:spPr>
          <a:xfrm>
            <a:off x="10239394" y="2315319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0,0 %</a:t>
            </a:r>
            <a:endParaRPr lang="en-US" sz="636" dirty="0"/>
          </a:p>
        </p:txBody>
      </p:sp>
      <p:sp>
        <p:nvSpPr>
          <p:cNvPr id="154" name="Text 151"/>
          <p:cNvSpPr/>
          <p:nvPr/>
        </p:nvSpPr>
        <p:spPr>
          <a:xfrm>
            <a:off x="10239394" y="245819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2,3 %</a:t>
            </a:r>
            <a:endParaRPr lang="en-US" sz="636" dirty="0"/>
          </a:p>
        </p:txBody>
      </p:sp>
      <p:sp>
        <p:nvSpPr>
          <p:cNvPr id="155" name="Text 152"/>
          <p:cNvSpPr/>
          <p:nvPr/>
        </p:nvSpPr>
        <p:spPr>
          <a:xfrm>
            <a:off x="6257769" y="26010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56" name="Text 153"/>
          <p:cNvSpPr/>
          <p:nvPr/>
        </p:nvSpPr>
        <p:spPr>
          <a:xfrm>
            <a:off x="10239394" y="2601069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3,1 %</a:t>
            </a:r>
            <a:endParaRPr lang="en-US" sz="636" dirty="0"/>
          </a:p>
        </p:txBody>
      </p:sp>
      <p:sp>
        <p:nvSpPr>
          <p:cNvPr id="157" name="Text 154"/>
          <p:cNvSpPr/>
          <p:nvPr/>
        </p:nvSpPr>
        <p:spPr>
          <a:xfrm>
            <a:off x="6257769" y="27439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58" name="Text 155"/>
          <p:cNvSpPr/>
          <p:nvPr/>
        </p:nvSpPr>
        <p:spPr>
          <a:xfrm>
            <a:off x="10239394" y="274394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1,4 %</a:t>
            </a:r>
            <a:endParaRPr lang="en-US" sz="636" dirty="0"/>
          </a:p>
        </p:txBody>
      </p:sp>
      <p:sp>
        <p:nvSpPr>
          <p:cNvPr id="159" name="Text 156"/>
          <p:cNvSpPr/>
          <p:nvPr/>
        </p:nvSpPr>
        <p:spPr>
          <a:xfrm>
            <a:off x="10967650" y="3153519"/>
            <a:ext cx="71923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60" name="Text 157"/>
          <p:cNvSpPr/>
          <p:nvPr/>
        </p:nvSpPr>
        <p:spPr>
          <a:xfrm>
            <a:off x="8077397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9,2 %</a:t>
            </a:r>
            <a:endParaRPr lang="en-US" sz="552" dirty="0"/>
          </a:p>
        </p:txBody>
      </p:sp>
      <p:sp>
        <p:nvSpPr>
          <p:cNvPr id="161" name="Text 158"/>
          <p:cNvSpPr/>
          <p:nvPr/>
        </p:nvSpPr>
        <p:spPr>
          <a:xfrm>
            <a:off x="8077397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162" name="Text 159"/>
          <p:cNvSpPr/>
          <p:nvPr/>
        </p:nvSpPr>
        <p:spPr>
          <a:xfrm>
            <a:off x="8560183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0,9 %</a:t>
            </a:r>
            <a:endParaRPr lang="en-US" sz="552" dirty="0"/>
          </a:p>
        </p:txBody>
      </p:sp>
      <p:sp>
        <p:nvSpPr>
          <p:cNvPr id="163" name="Text 160"/>
          <p:cNvSpPr/>
          <p:nvPr/>
        </p:nvSpPr>
        <p:spPr>
          <a:xfrm>
            <a:off x="9042970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164" name="Text 161"/>
          <p:cNvSpPr/>
          <p:nvPr/>
        </p:nvSpPr>
        <p:spPr>
          <a:xfrm>
            <a:off x="9525756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0,0 %</a:t>
            </a:r>
            <a:endParaRPr lang="en-US" sz="552" dirty="0"/>
          </a:p>
        </p:txBody>
      </p:sp>
      <p:sp>
        <p:nvSpPr>
          <p:cNvPr id="165" name="Text 162"/>
          <p:cNvSpPr/>
          <p:nvPr/>
        </p:nvSpPr>
        <p:spPr>
          <a:xfrm>
            <a:off x="10008542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1,0 %</a:t>
            </a:r>
            <a:endParaRPr lang="en-US" sz="552" dirty="0"/>
          </a:p>
        </p:txBody>
      </p:sp>
      <p:sp>
        <p:nvSpPr>
          <p:cNvPr id="166" name="Text 163"/>
          <p:cNvSpPr/>
          <p:nvPr/>
        </p:nvSpPr>
        <p:spPr>
          <a:xfrm>
            <a:off x="10491329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0,8 %</a:t>
            </a:r>
            <a:endParaRPr lang="en-US" sz="552" dirty="0"/>
          </a:p>
        </p:txBody>
      </p:sp>
      <p:sp>
        <p:nvSpPr>
          <p:cNvPr id="167" name="Text 164"/>
          <p:cNvSpPr/>
          <p:nvPr/>
        </p:nvSpPr>
        <p:spPr>
          <a:xfrm>
            <a:off x="10967650" y="34583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552" dirty="0"/>
          </a:p>
        </p:txBody>
      </p:sp>
      <p:sp>
        <p:nvSpPr>
          <p:cNvPr id="168" name="Text 165"/>
          <p:cNvSpPr/>
          <p:nvPr/>
        </p:nvSpPr>
        <p:spPr>
          <a:xfrm>
            <a:off x="8077397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3,4 %</a:t>
            </a:r>
            <a:endParaRPr lang="en-US" sz="552" dirty="0"/>
          </a:p>
        </p:txBody>
      </p:sp>
      <p:sp>
        <p:nvSpPr>
          <p:cNvPr id="169" name="Text 166"/>
          <p:cNvSpPr/>
          <p:nvPr/>
        </p:nvSpPr>
        <p:spPr>
          <a:xfrm>
            <a:off x="9042970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9,1 %</a:t>
            </a:r>
            <a:endParaRPr lang="en-US" sz="552" dirty="0"/>
          </a:p>
        </p:txBody>
      </p:sp>
      <p:sp>
        <p:nvSpPr>
          <p:cNvPr id="170" name="Text 167"/>
          <p:cNvSpPr/>
          <p:nvPr/>
        </p:nvSpPr>
        <p:spPr>
          <a:xfrm>
            <a:off x="10967650" y="35916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7,0 %</a:t>
            </a:r>
            <a:endParaRPr lang="en-US" sz="552" dirty="0"/>
          </a:p>
        </p:txBody>
      </p:sp>
      <p:sp>
        <p:nvSpPr>
          <p:cNvPr id="171" name="Text 168"/>
          <p:cNvSpPr/>
          <p:nvPr/>
        </p:nvSpPr>
        <p:spPr>
          <a:xfrm>
            <a:off x="8077397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2,1 %</a:t>
            </a:r>
            <a:endParaRPr lang="en-US" sz="552" dirty="0"/>
          </a:p>
        </p:txBody>
      </p:sp>
      <p:sp>
        <p:nvSpPr>
          <p:cNvPr id="172" name="Text 169"/>
          <p:cNvSpPr/>
          <p:nvPr/>
        </p:nvSpPr>
        <p:spPr>
          <a:xfrm>
            <a:off x="8560183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6,9 %</a:t>
            </a:r>
            <a:endParaRPr lang="en-US" sz="552" dirty="0"/>
          </a:p>
        </p:txBody>
      </p:sp>
      <p:sp>
        <p:nvSpPr>
          <p:cNvPr id="173" name="Text 170"/>
          <p:cNvSpPr/>
          <p:nvPr/>
        </p:nvSpPr>
        <p:spPr>
          <a:xfrm>
            <a:off x="9042970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5,7 %</a:t>
            </a:r>
            <a:endParaRPr lang="en-US" sz="552" dirty="0"/>
          </a:p>
        </p:txBody>
      </p:sp>
      <p:sp>
        <p:nvSpPr>
          <p:cNvPr id="174" name="Text 171"/>
          <p:cNvSpPr/>
          <p:nvPr/>
        </p:nvSpPr>
        <p:spPr>
          <a:xfrm>
            <a:off x="9525756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9,9 %</a:t>
            </a:r>
            <a:endParaRPr lang="en-US" sz="552" dirty="0"/>
          </a:p>
        </p:txBody>
      </p:sp>
      <p:sp>
        <p:nvSpPr>
          <p:cNvPr id="175" name="Text 172"/>
          <p:cNvSpPr/>
          <p:nvPr/>
        </p:nvSpPr>
        <p:spPr>
          <a:xfrm>
            <a:off x="10491329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6,4 %</a:t>
            </a:r>
            <a:endParaRPr lang="en-US" sz="552" dirty="0"/>
          </a:p>
        </p:txBody>
      </p:sp>
      <p:sp>
        <p:nvSpPr>
          <p:cNvPr id="176" name="Text 173"/>
          <p:cNvSpPr/>
          <p:nvPr/>
        </p:nvSpPr>
        <p:spPr>
          <a:xfrm>
            <a:off x="10967650" y="37250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4,4 %</a:t>
            </a:r>
            <a:endParaRPr lang="en-US" sz="552" dirty="0"/>
          </a:p>
        </p:txBody>
      </p:sp>
      <p:sp>
        <p:nvSpPr>
          <p:cNvPr id="177" name="Text 174"/>
          <p:cNvSpPr/>
          <p:nvPr/>
        </p:nvSpPr>
        <p:spPr>
          <a:xfrm>
            <a:off x="8077397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0,9 %</a:t>
            </a:r>
            <a:endParaRPr lang="en-US" sz="552" dirty="0"/>
          </a:p>
        </p:txBody>
      </p:sp>
      <p:sp>
        <p:nvSpPr>
          <p:cNvPr id="178" name="Text 175"/>
          <p:cNvSpPr/>
          <p:nvPr/>
        </p:nvSpPr>
        <p:spPr>
          <a:xfrm>
            <a:off x="8560183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3,0 %</a:t>
            </a:r>
            <a:endParaRPr lang="en-US" sz="552" dirty="0"/>
          </a:p>
        </p:txBody>
      </p:sp>
      <p:sp>
        <p:nvSpPr>
          <p:cNvPr id="179" name="Text 176"/>
          <p:cNvSpPr/>
          <p:nvPr/>
        </p:nvSpPr>
        <p:spPr>
          <a:xfrm>
            <a:off x="9042970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2,4 %</a:t>
            </a:r>
            <a:endParaRPr lang="en-US" sz="552" dirty="0"/>
          </a:p>
        </p:txBody>
      </p:sp>
      <p:sp>
        <p:nvSpPr>
          <p:cNvPr id="180" name="Text 177"/>
          <p:cNvSpPr/>
          <p:nvPr/>
        </p:nvSpPr>
        <p:spPr>
          <a:xfrm>
            <a:off x="9525756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4,3 %</a:t>
            </a:r>
            <a:endParaRPr lang="en-US" sz="552" dirty="0"/>
          </a:p>
        </p:txBody>
      </p:sp>
      <p:sp>
        <p:nvSpPr>
          <p:cNvPr id="181" name="Text 178"/>
          <p:cNvSpPr/>
          <p:nvPr/>
        </p:nvSpPr>
        <p:spPr>
          <a:xfrm>
            <a:off x="10008542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4,3 %</a:t>
            </a:r>
            <a:endParaRPr lang="en-US" sz="552" dirty="0"/>
          </a:p>
        </p:txBody>
      </p:sp>
      <p:sp>
        <p:nvSpPr>
          <p:cNvPr id="182" name="Text 179"/>
          <p:cNvSpPr/>
          <p:nvPr/>
        </p:nvSpPr>
        <p:spPr>
          <a:xfrm>
            <a:off x="10491329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2,8 %</a:t>
            </a:r>
            <a:endParaRPr lang="en-US" sz="552" dirty="0"/>
          </a:p>
        </p:txBody>
      </p:sp>
      <p:sp>
        <p:nvSpPr>
          <p:cNvPr id="183" name="Text 180"/>
          <p:cNvSpPr/>
          <p:nvPr/>
        </p:nvSpPr>
        <p:spPr>
          <a:xfrm>
            <a:off x="10967650" y="38583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1,9 %</a:t>
            </a:r>
            <a:endParaRPr lang="en-US" sz="552" dirty="0"/>
          </a:p>
        </p:txBody>
      </p:sp>
      <p:sp>
        <p:nvSpPr>
          <p:cNvPr id="184" name="Text 181"/>
          <p:cNvSpPr/>
          <p:nvPr/>
        </p:nvSpPr>
        <p:spPr>
          <a:xfrm>
            <a:off x="8077397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1,5 %</a:t>
            </a:r>
            <a:endParaRPr lang="en-US" sz="552" dirty="0"/>
          </a:p>
        </p:txBody>
      </p:sp>
      <p:sp>
        <p:nvSpPr>
          <p:cNvPr id="185" name="Text 182"/>
          <p:cNvSpPr/>
          <p:nvPr/>
        </p:nvSpPr>
        <p:spPr>
          <a:xfrm>
            <a:off x="8560183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4,7 %</a:t>
            </a:r>
            <a:endParaRPr lang="en-US" sz="552" dirty="0"/>
          </a:p>
        </p:txBody>
      </p:sp>
      <p:sp>
        <p:nvSpPr>
          <p:cNvPr id="186" name="Text 183"/>
          <p:cNvSpPr/>
          <p:nvPr/>
        </p:nvSpPr>
        <p:spPr>
          <a:xfrm>
            <a:off x="9042970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3,9 %</a:t>
            </a:r>
            <a:endParaRPr lang="en-US" sz="552" dirty="0"/>
          </a:p>
        </p:txBody>
      </p:sp>
      <p:sp>
        <p:nvSpPr>
          <p:cNvPr id="187" name="Text 184"/>
          <p:cNvSpPr/>
          <p:nvPr/>
        </p:nvSpPr>
        <p:spPr>
          <a:xfrm>
            <a:off x="9525756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6,7 %</a:t>
            </a:r>
            <a:endParaRPr lang="en-US" sz="552" dirty="0"/>
          </a:p>
        </p:txBody>
      </p:sp>
      <p:sp>
        <p:nvSpPr>
          <p:cNvPr id="188" name="Text 185"/>
          <p:cNvSpPr/>
          <p:nvPr/>
        </p:nvSpPr>
        <p:spPr>
          <a:xfrm>
            <a:off x="10008542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6,8 %</a:t>
            </a:r>
            <a:endParaRPr lang="en-US" sz="552" dirty="0"/>
          </a:p>
        </p:txBody>
      </p:sp>
      <p:sp>
        <p:nvSpPr>
          <p:cNvPr id="189" name="Text 186"/>
          <p:cNvSpPr/>
          <p:nvPr/>
        </p:nvSpPr>
        <p:spPr>
          <a:xfrm>
            <a:off x="10491329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4,4 %</a:t>
            </a:r>
            <a:endParaRPr lang="en-US" sz="552" dirty="0"/>
          </a:p>
        </p:txBody>
      </p:sp>
      <p:sp>
        <p:nvSpPr>
          <p:cNvPr id="190" name="Text 187"/>
          <p:cNvSpPr/>
          <p:nvPr/>
        </p:nvSpPr>
        <p:spPr>
          <a:xfrm>
            <a:off x="10967650" y="39917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3,0 %</a:t>
            </a:r>
            <a:endParaRPr lang="en-US" sz="552" dirty="0"/>
          </a:p>
        </p:txBody>
      </p:sp>
      <p:sp>
        <p:nvSpPr>
          <p:cNvPr id="191" name="Text 188"/>
          <p:cNvSpPr/>
          <p:nvPr/>
        </p:nvSpPr>
        <p:spPr>
          <a:xfrm>
            <a:off x="8077397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552" dirty="0"/>
          </a:p>
        </p:txBody>
      </p:sp>
      <p:sp>
        <p:nvSpPr>
          <p:cNvPr id="192" name="Text 189"/>
          <p:cNvSpPr/>
          <p:nvPr/>
        </p:nvSpPr>
        <p:spPr>
          <a:xfrm>
            <a:off x="8560183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1,0 %</a:t>
            </a:r>
            <a:endParaRPr lang="en-US" sz="552" dirty="0"/>
          </a:p>
        </p:txBody>
      </p:sp>
      <p:sp>
        <p:nvSpPr>
          <p:cNvPr id="193" name="Text 190"/>
          <p:cNvSpPr/>
          <p:nvPr/>
        </p:nvSpPr>
        <p:spPr>
          <a:xfrm>
            <a:off x="9042970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0,8 %</a:t>
            </a:r>
            <a:endParaRPr lang="en-US" sz="552" dirty="0"/>
          </a:p>
        </p:txBody>
      </p:sp>
      <p:sp>
        <p:nvSpPr>
          <p:cNvPr id="194" name="Text 191"/>
          <p:cNvSpPr/>
          <p:nvPr/>
        </p:nvSpPr>
        <p:spPr>
          <a:xfrm>
            <a:off x="9525756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1,4 %</a:t>
            </a:r>
            <a:endParaRPr lang="en-US" sz="552" dirty="0"/>
          </a:p>
        </p:txBody>
      </p:sp>
      <p:sp>
        <p:nvSpPr>
          <p:cNvPr id="195" name="Text 192"/>
          <p:cNvSpPr/>
          <p:nvPr/>
        </p:nvSpPr>
        <p:spPr>
          <a:xfrm>
            <a:off x="10008542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1,4 %</a:t>
            </a:r>
            <a:endParaRPr lang="en-US" sz="552" dirty="0"/>
          </a:p>
        </p:txBody>
      </p:sp>
      <p:sp>
        <p:nvSpPr>
          <p:cNvPr id="196" name="Text 193"/>
          <p:cNvSpPr/>
          <p:nvPr/>
        </p:nvSpPr>
        <p:spPr>
          <a:xfrm>
            <a:off x="10491329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0,9 %</a:t>
            </a:r>
            <a:endParaRPr lang="en-US" sz="552" dirty="0"/>
          </a:p>
        </p:txBody>
      </p:sp>
      <p:sp>
        <p:nvSpPr>
          <p:cNvPr id="197" name="Text 194"/>
          <p:cNvSpPr/>
          <p:nvPr/>
        </p:nvSpPr>
        <p:spPr>
          <a:xfrm>
            <a:off x="10967650" y="41250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0,6 %</a:t>
            </a:r>
            <a:endParaRPr lang="en-US" sz="552" dirty="0"/>
          </a:p>
        </p:txBody>
      </p:sp>
      <p:sp>
        <p:nvSpPr>
          <p:cNvPr id="198" name="Text 195"/>
          <p:cNvSpPr/>
          <p:nvPr/>
        </p:nvSpPr>
        <p:spPr>
          <a:xfrm>
            <a:off x="8077397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0,9 %</a:t>
            </a:r>
            <a:endParaRPr lang="en-US" sz="552" dirty="0"/>
          </a:p>
        </p:txBody>
      </p:sp>
      <p:sp>
        <p:nvSpPr>
          <p:cNvPr id="199" name="Text 196"/>
          <p:cNvSpPr/>
          <p:nvPr/>
        </p:nvSpPr>
        <p:spPr>
          <a:xfrm>
            <a:off x="8560183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2,8 %</a:t>
            </a:r>
            <a:endParaRPr lang="en-US" sz="552" dirty="0"/>
          </a:p>
        </p:txBody>
      </p:sp>
      <p:sp>
        <p:nvSpPr>
          <p:cNvPr id="200" name="Text 197"/>
          <p:cNvSpPr/>
          <p:nvPr/>
        </p:nvSpPr>
        <p:spPr>
          <a:xfrm>
            <a:off x="9042970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2,3 %</a:t>
            </a:r>
            <a:endParaRPr lang="en-US" sz="552" dirty="0"/>
          </a:p>
        </p:txBody>
      </p:sp>
      <p:sp>
        <p:nvSpPr>
          <p:cNvPr id="201" name="Text 198"/>
          <p:cNvSpPr/>
          <p:nvPr/>
        </p:nvSpPr>
        <p:spPr>
          <a:xfrm>
            <a:off x="9525756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4,0 %</a:t>
            </a:r>
            <a:endParaRPr lang="en-US" sz="552" dirty="0"/>
          </a:p>
        </p:txBody>
      </p:sp>
      <p:sp>
        <p:nvSpPr>
          <p:cNvPr id="202" name="Text 199"/>
          <p:cNvSpPr/>
          <p:nvPr/>
        </p:nvSpPr>
        <p:spPr>
          <a:xfrm>
            <a:off x="10008542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4,0 %</a:t>
            </a:r>
            <a:endParaRPr lang="en-US" sz="552" dirty="0"/>
          </a:p>
        </p:txBody>
      </p:sp>
      <p:sp>
        <p:nvSpPr>
          <p:cNvPr id="203" name="Text 200"/>
          <p:cNvSpPr/>
          <p:nvPr/>
        </p:nvSpPr>
        <p:spPr>
          <a:xfrm>
            <a:off x="10491329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2,6 %</a:t>
            </a:r>
            <a:endParaRPr lang="en-US" sz="552" dirty="0"/>
          </a:p>
        </p:txBody>
      </p:sp>
      <p:sp>
        <p:nvSpPr>
          <p:cNvPr id="204" name="Text 201"/>
          <p:cNvSpPr/>
          <p:nvPr/>
        </p:nvSpPr>
        <p:spPr>
          <a:xfrm>
            <a:off x="10967650" y="42584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1,8 %</a:t>
            </a:r>
            <a:endParaRPr lang="en-US" sz="552" dirty="0"/>
          </a:p>
        </p:txBody>
      </p:sp>
      <p:sp>
        <p:nvSpPr>
          <p:cNvPr id="205" name="Text 202"/>
          <p:cNvSpPr/>
          <p:nvPr/>
        </p:nvSpPr>
        <p:spPr>
          <a:xfrm>
            <a:off x="8077397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1,9 %</a:t>
            </a:r>
            <a:endParaRPr lang="en-US" sz="552" dirty="0"/>
          </a:p>
        </p:txBody>
      </p:sp>
      <p:sp>
        <p:nvSpPr>
          <p:cNvPr id="206" name="Text 203"/>
          <p:cNvSpPr/>
          <p:nvPr/>
        </p:nvSpPr>
        <p:spPr>
          <a:xfrm>
            <a:off x="8560183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1,4 %</a:t>
            </a:r>
            <a:endParaRPr lang="en-US" sz="552" dirty="0"/>
          </a:p>
        </p:txBody>
      </p:sp>
      <p:sp>
        <p:nvSpPr>
          <p:cNvPr id="207" name="Text 204"/>
          <p:cNvSpPr/>
          <p:nvPr/>
        </p:nvSpPr>
        <p:spPr>
          <a:xfrm>
            <a:off x="9042970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1,6 %</a:t>
            </a:r>
            <a:endParaRPr lang="en-US" sz="552" dirty="0"/>
          </a:p>
        </p:txBody>
      </p:sp>
      <p:sp>
        <p:nvSpPr>
          <p:cNvPr id="208" name="Text 205"/>
          <p:cNvSpPr/>
          <p:nvPr/>
        </p:nvSpPr>
        <p:spPr>
          <a:xfrm>
            <a:off x="9525756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1,2 %</a:t>
            </a:r>
            <a:endParaRPr lang="en-US" sz="552" dirty="0"/>
          </a:p>
        </p:txBody>
      </p:sp>
      <p:sp>
        <p:nvSpPr>
          <p:cNvPr id="209" name="Text 206"/>
          <p:cNvSpPr/>
          <p:nvPr/>
        </p:nvSpPr>
        <p:spPr>
          <a:xfrm>
            <a:off x="10008542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1,2 %</a:t>
            </a:r>
            <a:endParaRPr lang="en-US" sz="552" dirty="0"/>
          </a:p>
        </p:txBody>
      </p:sp>
      <p:sp>
        <p:nvSpPr>
          <p:cNvPr id="210" name="Text 207"/>
          <p:cNvSpPr/>
          <p:nvPr/>
        </p:nvSpPr>
        <p:spPr>
          <a:xfrm>
            <a:off x="10491329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1,5 %</a:t>
            </a:r>
            <a:endParaRPr lang="en-US" sz="552" dirty="0"/>
          </a:p>
        </p:txBody>
      </p:sp>
      <p:sp>
        <p:nvSpPr>
          <p:cNvPr id="211" name="Text 208"/>
          <p:cNvSpPr/>
          <p:nvPr/>
        </p:nvSpPr>
        <p:spPr>
          <a:xfrm>
            <a:off x="10967650" y="46584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1,7 %</a:t>
            </a:r>
            <a:endParaRPr lang="en-US" sz="552" dirty="0"/>
          </a:p>
        </p:txBody>
      </p:sp>
      <p:sp>
        <p:nvSpPr>
          <p:cNvPr id="212" name="Text 209"/>
          <p:cNvSpPr/>
          <p:nvPr/>
        </p:nvSpPr>
        <p:spPr>
          <a:xfrm>
            <a:off x="8077397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0,6 %</a:t>
            </a:r>
            <a:endParaRPr lang="en-US" sz="552" dirty="0"/>
          </a:p>
        </p:txBody>
      </p:sp>
      <p:sp>
        <p:nvSpPr>
          <p:cNvPr id="213" name="Text 210"/>
          <p:cNvSpPr/>
          <p:nvPr/>
        </p:nvSpPr>
        <p:spPr>
          <a:xfrm>
            <a:off x="8560183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0,5 %</a:t>
            </a:r>
            <a:endParaRPr lang="en-US" sz="552" dirty="0"/>
          </a:p>
        </p:txBody>
      </p:sp>
      <p:sp>
        <p:nvSpPr>
          <p:cNvPr id="214" name="Text 211"/>
          <p:cNvSpPr/>
          <p:nvPr/>
        </p:nvSpPr>
        <p:spPr>
          <a:xfrm>
            <a:off x="9042970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0,5 %</a:t>
            </a:r>
            <a:endParaRPr lang="en-US" sz="552" dirty="0"/>
          </a:p>
        </p:txBody>
      </p:sp>
      <p:sp>
        <p:nvSpPr>
          <p:cNvPr id="215" name="Text 212"/>
          <p:cNvSpPr/>
          <p:nvPr/>
        </p:nvSpPr>
        <p:spPr>
          <a:xfrm>
            <a:off x="9525756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0,4 %</a:t>
            </a:r>
            <a:endParaRPr lang="en-US" sz="552" dirty="0"/>
          </a:p>
        </p:txBody>
      </p:sp>
      <p:sp>
        <p:nvSpPr>
          <p:cNvPr id="216" name="Text 213"/>
          <p:cNvSpPr/>
          <p:nvPr/>
        </p:nvSpPr>
        <p:spPr>
          <a:xfrm>
            <a:off x="10008542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0,4 %</a:t>
            </a:r>
            <a:endParaRPr lang="en-US" sz="552" dirty="0"/>
          </a:p>
        </p:txBody>
      </p:sp>
      <p:sp>
        <p:nvSpPr>
          <p:cNvPr id="217" name="Text 214"/>
          <p:cNvSpPr/>
          <p:nvPr/>
        </p:nvSpPr>
        <p:spPr>
          <a:xfrm>
            <a:off x="10491329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0,5 %</a:t>
            </a:r>
            <a:endParaRPr lang="en-US" sz="552" dirty="0"/>
          </a:p>
        </p:txBody>
      </p:sp>
      <p:sp>
        <p:nvSpPr>
          <p:cNvPr id="218" name="Text 215"/>
          <p:cNvSpPr/>
          <p:nvPr/>
        </p:nvSpPr>
        <p:spPr>
          <a:xfrm>
            <a:off x="10967650" y="47918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0,6 %</a:t>
            </a:r>
            <a:endParaRPr lang="en-US" sz="552" dirty="0"/>
          </a:p>
        </p:txBody>
      </p:sp>
      <p:sp>
        <p:nvSpPr>
          <p:cNvPr id="219" name="Text 216"/>
          <p:cNvSpPr/>
          <p:nvPr/>
        </p:nvSpPr>
        <p:spPr>
          <a:xfrm>
            <a:off x="8077397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20" name="Text 217"/>
          <p:cNvSpPr/>
          <p:nvPr/>
        </p:nvSpPr>
        <p:spPr>
          <a:xfrm>
            <a:off x="8560183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21" name="Text 218"/>
          <p:cNvSpPr/>
          <p:nvPr/>
        </p:nvSpPr>
        <p:spPr>
          <a:xfrm>
            <a:off x="9042970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22" name="Text 219"/>
          <p:cNvSpPr/>
          <p:nvPr/>
        </p:nvSpPr>
        <p:spPr>
          <a:xfrm>
            <a:off x="9525756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23" name="Text 220"/>
          <p:cNvSpPr/>
          <p:nvPr/>
        </p:nvSpPr>
        <p:spPr>
          <a:xfrm>
            <a:off x="10008542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24" name="Text 221"/>
          <p:cNvSpPr/>
          <p:nvPr/>
        </p:nvSpPr>
        <p:spPr>
          <a:xfrm>
            <a:off x="10491329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25" name="Text 222"/>
          <p:cNvSpPr/>
          <p:nvPr/>
        </p:nvSpPr>
        <p:spPr>
          <a:xfrm>
            <a:off x="10967650" y="49251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226" name="Text 223"/>
          <p:cNvSpPr/>
          <p:nvPr/>
        </p:nvSpPr>
        <p:spPr>
          <a:xfrm>
            <a:off x="8077397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27" name="Text 224"/>
          <p:cNvSpPr/>
          <p:nvPr/>
        </p:nvSpPr>
        <p:spPr>
          <a:xfrm>
            <a:off x="8560183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28" name="Text 225"/>
          <p:cNvSpPr/>
          <p:nvPr/>
        </p:nvSpPr>
        <p:spPr>
          <a:xfrm>
            <a:off x="9042970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29" name="Text 226"/>
          <p:cNvSpPr/>
          <p:nvPr/>
        </p:nvSpPr>
        <p:spPr>
          <a:xfrm>
            <a:off x="9525756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30" name="Text 227"/>
          <p:cNvSpPr/>
          <p:nvPr/>
        </p:nvSpPr>
        <p:spPr>
          <a:xfrm>
            <a:off x="10008542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31" name="Text 228"/>
          <p:cNvSpPr/>
          <p:nvPr/>
        </p:nvSpPr>
        <p:spPr>
          <a:xfrm>
            <a:off x="10491329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32" name="Text 229"/>
          <p:cNvSpPr/>
          <p:nvPr/>
        </p:nvSpPr>
        <p:spPr>
          <a:xfrm>
            <a:off x="10967650" y="50585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233" name="Text 230"/>
          <p:cNvSpPr/>
          <p:nvPr/>
        </p:nvSpPr>
        <p:spPr>
          <a:xfrm>
            <a:off x="4374991" y="952500"/>
            <a:ext cx="447536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3,1 %</a:t>
            </a:r>
            <a:endParaRPr lang="en-US" sz="1380" dirty="0"/>
          </a:p>
        </p:txBody>
      </p:sp>
      <p:sp>
        <p:nvSpPr>
          <p:cNvPr id="234" name="Text 231"/>
          <p:cNvSpPr/>
          <p:nvPr/>
        </p:nvSpPr>
        <p:spPr>
          <a:xfrm>
            <a:off x="495288" y="24581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235" name="Text 232"/>
          <p:cNvSpPr/>
          <p:nvPr/>
        </p:nvSpPr>
        <p:spPr>
          <a:xfrm>
            <a:off x="6257769" y="24581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236" name="Text 233"/>
          <p:cNvSpPr/>
          <p:nvPr/>
        </p:nvSpPr>
        <p:spPr>
          <a:xfrm>
            <a:off x="495288" y="1715244"/>
            <a:ext cx="112023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37" name="Text 234"/>
          <p:cNvSpPr/>
          <p:nvPr/>
        </p:nvSpPr>
        <p:spPr>
          <a:xfrm>
            <a:off x="2314916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238" name="Text 235"/>
          <p:cNvSpPr/>
          <p:nvPr/>
        </p:nvSpPr>
        <p:spPr>
          <a:xfrm>
            <a:off x="2797702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239" name="Text 236"/>
          <p:cNvSpPr/>
          <p:nvPr/>
        </p:nvSpPr>
        <p:spPr>
          <a:xfrm>
            <a:off x="3280489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240" name="Text 237"/>
          <p:cNvSpPr/>
          <p:nvPr/>
        </p:nvSpPr>
        <p:spPr>
          <a:xfrm>
            <a:off x="3763275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241" name="Text 238"/>
          <p:cNvSpPr/>
          <p:nvPr/>
        </p:nvSpPr>
        <p:spPr>
          <a:xfrm>
            <a:off x="4246061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242" name="Text 239"/>
          <p:cNvSpPr/>
          <p:nvPr/>
        </p:nvSpPr>
        <p:spPr>
          <a:xfrm>
            <a:off x="4728848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243" name="Text 240"/>
          <p:cNvSpPr/>
          <p:nvPr/>
        </p:nvSpPr>
        <p:spPr>
          <a:xfrm>
            <a:off x="2314916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352</a:t>
            </a:r>
            <a:endParaRPr lang="en-US" sz="576" dirty="0"/>
          </a:p>
        </p:txBody>
      </p:sp>
      <p:sp>
        <p:nvSpPr>
          <p:cNvPr id="244" name="Text 241"/>
          <p:cNvSpPr/>
          <p:nvPr/>
        </p:nvSpPr>
        <p:spPr>
          <a:xfrm>
            <a:off x="2797702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948</a:t>
            </a:r>
            <a:endParaRPr lang="en-US" sz="576" dirty="0"/>
          </a:p>
        </p:txBody>
      </p:sp>
      <p:sp>
        <p:nvSpPr>
          <p:cNvPr id="245" name="Text 242"/>
          <p:cNvSpPr/>
          <p:nvPr/>
        </p:nvSpPr>
        <p:spPr>
          <a:xfrm>
            <a:off x="3280489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380</a:t>
            </a:r>
            <a:endParaRPr lang="en-US" sz="576" dirty="0"/>
          </a:p>
        </p:txBody>
      </p:sp>
      <p:sp>
        <p:nvSpPr>
          <p:cNvPr id="246" name="Text 243"/>
          <p:cNvSpPr/>
          <p:nvPr/>
        </p:nvSpPr>
        <p:spPr>
          <a:xfrm>
            <a:off x="2314916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186</a:t>
            </a:r>
            <a:endParaRPr lang="en-US" sz="576" dirty="0"/>
          </a:p>
        </p:txBody>
      </p:sp>
      <p:sp>
        <p:nvSpPr>
          <p:cNvPr id="247" name="Text 244"/>
          <p:cNvSpPr/>
          <p:nvPr/>
        </p:nvSpPr>
        <p:spPr>
          <a:xfrm>
            <a:off x="2797702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501</a:t>
            </a:r>
            <a:endParaRPr lang="en-US" sz="576" dirty="0"/>
          </a:p>
        </p:txBody>
      </p:sp>
      <p:sp>
        <p:nvSpPr>
          <p:cNvPr id="248" name="Text 245"/>
          <p:cNvSpPr/>
          <p:nvPr/>
        </p:nvSpPr>
        <p:spPr>
          <a:xfrm>
            <a:off x="3280489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201</a:t>
            </a:r>
            <a:endParaRPr lang="en-US" sz="576" dirty="0"/>
          </a:p>
        </p:txBody>
      </p:sp>
      <p:sp>
        <p:nvSpPr>
          <p:cNvPr id="249" name="Text 246"/>
          <p:cNvSpPr/>
          <p:nvPr/>
        </p:nvSpPr>
        <p:spPr>
          <a:xfrm>
            <a:off x="4728848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776</a:t>
            </a:r>
            <a:endParaRPr lang="en-US" sz="576" dirty="0"/>
          </a:p>
        </p:txBody>
      </p:sp>
      <p:sp>
        <p:nvSpPr>
          <p:cNvPr id="250" name="Text 247"/>
          <p:cNvSpPr/>
          <p:nvPr/>
        </p:nvSpPr>
        <p:spPr>
          <a:xfrm>
            <a:off x="2314916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576" dirty="0"/>
          </a:p>
        </p:txBody>
      </p:sp>
      <p:sp>
        <p:nvSpPr>
          <p:cNvPr id="251" name="Text 248"/>
          <p:cNvSpPr/>
          <p:nvPr/>
        </p:nvSpPr>
        <p:spPr>
          <a:xfrm>
            <a:off x="2797702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379</a:t>
            </a:r>
            <a:endParaRPr lang="en-US" sz="576" dirty="0"/>
          </a:p>
        </p:txBody>
      </p:sp>
      <p:sp>
        <p:nvSpPr>
          <p:cNvPr id="252" name="Text 249"/>
          <p:cNvSpPr/>
          <p:nvPr/>
        </p:nvSpPr>
        <p:spPr>
          <a:xfrm>
            <a:off x="3280489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152</a:t>
            </a:r>
            <a:endParaRPr lang="en-US" sz="576" dirty="0"/>
          </a:p>
        </p:txBody>
      </p:sp>
      <p:sp>
        <p:nvSpPr>
          <p:cNvPr id="253" name="Text 250"/>
          <p:cNvSpPr/>
          <p:nvPr/>
        </p:nvSpPr>
        <p:spPr>
          <a:xfrm>
            <a:off x="4728848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587</a:t>
            </a:r>
            <a:endParaRPr lang="en-US" sz="576" dirty="0"/>
          </a:p>
        </p:txBody>
      </p:sp>
      <p:sp>
        <p:nvSpPr>
          <p:cNvPr id="254" name="Text 251"/>
          <p:cNvSpPr/>
          <p:nvPr/>
        </p:nvSpPr>
        <p:spPr>
          <a:xfrm>
            <a:off x="2797702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196</a:t>
            </a:r>
            <a:endParaRPr lang="en-US" sz="576" dirty="0"/>
          </a:p>
        </p:txBody>
      </p:sp>
      <p:sp>
        <p:nvSpPr>
          <p:cNvPr id="255" name="Text 252"/>
          <p:cNvSpPr/>
          <p:nvPr/>
        </p:nvSpPr>
        <p:spPr>
          <a:xfrm>
            <a:off x="3763275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839</a:t>
            </a:r>
            <a:endParaRPr lang="en-US" sz="576" dirty="0"/>
          </a:p>
        </p:txBody>
      </p:sp>
      <p:sp>
        <p:nvSpPr>
          <p:cNvPr id="256" name="Text 253"/>
          <p:cNvSpPr/>
          <p:nvPr/>
        </p:nvSpPr>
        <p:spPr>
          <a:xfrm>
            <a:off x="4246061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839</a:t>
            </a:r>
            <a:endParaRPr lang="en-US" sz="576" dirty="0"/>
          </a:p>
        </p:txBody>
      </p:sp>
      <p:sp>
        <p:nvSpPr>
          <p:cNvPr id="257" name="Text 254"/>
          <p:cNvSpPr/>
          <p:nvPr/>
        </p:nvSpPr>
        <p:spPr>
          <a:xfrm>
            <a:off x="4728848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304</a:t>
            </a:r>
            <a:endParaRPr lang="en-US" sz="576" dirty="0"/>
          </a:p>
        </p:txBody>
      </p:sp>
      <p:sp>
        <p:nvSpPr>
          <p:cNvPr id="258" name="Text 255"/>
          <p:cNvSpPr/>
          <p:nvPr/>
        </p:nvSpPr>
        <p:spPr>
          <a:xfrm>
            <a:off x="2797702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181</a:t>
            </a:r>
            <a:endParaRPr lang="en-US" sz="576" dirty="0"/>
          </a:p>
        </p:txBody>
      </p:sp>
      <p:sp>
        <p:nvSpPr>
          <p:cNvPr id="259" name="Text 256"/>
          <p:cNvSpPr/>
          <p:nvPr/>
        </p:nvSpPr>
        <p:spPr>
          <a:xfrm>
            <a:off x="3763275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772</a:t>
            </a:r>
            <a:endParaRPr lang="en-US" sz="576" dirty="0"/>
          </a:p>
        </p:txBody>
      </p:sp>
      <p:sp>
        <p:nvSpPr>
          <p:cNvPr id="260" name="Text 257"/>
          <p:cNvSpPr/>
          <p:nvPr/>
        </p:nvSpPr>
        <p:spPr>
          <a:xfrm>
            <a:off x="4246061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773</a:t>
            </a:r>
            <a:endParaRPr lang="en-US" sz="576" dirty="0"/>
          </a:p>
        </p:txBody>
      </p:sp>
      <p:sp>
        <p:nvSpPr>
          <p:cNvPr id="261" name="Text 258"/>
          <p:cNvSpPr/>
          <p:nvPr/>
        </p:nvSpPr>
        <p:spPr>
          <a:xfrm>
            <a:off x="4728848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280</a:t>
            </a:r>
            <a:endParaRPr lang="en-US" sz="576" dirty="0"/>
          </a:p>
        </p:txBody>
      </p:sp>
      <p:sp>
        <p:nvSpPr>
          <p:cNvPr id="262" name="Text 259"/>
          <p:cNvSpPr/>
          <p:nvPr/>
        </p:nvSpPr>
        <p:spPr>
          <a:xfrm>
            <a:off x="3763275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332</a:t>
            </a:r>
            <a:endParaRPr lang="en-US" sz="576" dirty="0"/>
          </a:p>
        </p:txBody>
      </p:sp>
      <p:sp>
        <p:nvSpPr>
          <p:cNvPr id="263" name="Text 260"/>
          <p:cNvSpPr/>
          <p:nvPr/>
        </p:nvSpPr>
        <p:spPr>
          <a:xfrm>
            <a:off x="4246061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332</a:t>
            </a:r>
            <a:endParaRPr lang="en-US" sz="576" dirty="0"/>
          </a:p>
        </p:txBody>
      </p:sp>
      <p:sp>
        <p:nvSpPr>
          <p:cNvPr id="264" name="Text 261"/>
          <p:cNvSpPr/>
          <p:nvPr/>
        </p:nvSpPr>
        <p:spPr>
          <a:xfrm>
            <a:off x="4728848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120</a:t>
            </a:r>
            <a:endParaRPr lang="en-US" sz="576" dirty="0"/>
          </a:p>
        </p:txBody>
      </p:sp>
      <p:sp>
        <p:nvSpPr>
          <p:cNvPr id="265" name="Text 262"/>
          <p:cNvSpPr/>
          <p:nvPr/>
        </p:nvSpPr>
        <p:spPr>
          <a:xfrm>
            <a:off x="5205169" y="41250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922</a:t>
            </a:r>
            <a:endParaRPr lang="en-US" sz="576" dirty="0"/>
          </a:p>
        </p:txBody>
      </p:sp>
      <p:sp>
        <p:nvSpPr>
          <p:cNvPr id="266" name="Text 263"/>
          <p:cNvSpPr/>
          <p:nvPr/>
        </p:nvSpPr>
        <p:spPr>
          <a:xfrm>
            <a:off x="2314916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142</a:t>
            </a:r>
            <a:endParaRPr lang="en-US" sz="576" dirty="0"/>
          </a:p>
        </p:txBody>
      </p:sp>
      <p:sp>
        <p:nvSpPr>
          <p:cNvPr id="267" name="Text 264"/>
          <p:cNvSpPr/>
          <p:nvPr/>
        </p:nvSpPr>
        <p:spPr>
          <a:xfrm>
            <a:off x="2797702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382</a:t>
            </a:r>
            <a:endParaRPr lang="en-US" sz="576" dirty="0"/>
          </a:p>
        </p:txBody>
      </p:sp>
      <p:sp>
        <p:nvSpPr>
          <p:cNvPr id="268" name="Text 265"/>
          <p:cNvSpPr/>
          <p:nvPr/>
        </p:nvSpPr>
        <p:spPr>
          <a:xfrm>
            <a:off x="3280489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153</a:t>
            </a:r>
            <a:endParaRPr lang="en-US" sz="576" dirty="0"/>
          </a:p>
        </p:txBody>
      </p:sp>
      <p:sp>
        <p:nvSpPr>
          <p:cNvPr id="269" name="Text 266"/>
          <p:cNvSpPr/>
          <p:nvPr/>
        </p:nvSpPr>
        <p:spPr>
          <a:xfrm>
            <a:off x="4728848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592</a:t>
            </a:r>
            <a:endParaRPr lang="en-US" sz="576" dirty="0"/>
          </a:p>
        </p:txBody>
      </p:sp>
      <p:sp>
        <p:nvSpPr>
          <p:cNvPr id="270" name="Text 267"/>
          <p:cNvSpPr/>
          <p:nvPr/>
        </p:nvSpPr>
        <p:spPr>
          <a:xfrm>
            <a:off x="6257769" y="1715244"/>
            <a:ext cx="112023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71" name="Text 268"/>
          <p:cNvSpPr/>
          <p:nvPr/>
        </p:nvSpPr>
        <p:spPr>
          <a:xfrm>
            <a:off x="9273649" y="20295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123</a:t>
            </a:r>
            <a:endParaRPr lang="en-US" sz="636" dirty="0"/>
          </a:p>
        </p:txBody>
      </p:sp>
      <p:sp>
        <p:nvSpPr>
          <p:cNvPr id="272" name="Text 269"/>
          <p:cNvSpPr/>
          <p:nvPr/>
        </p:nvSpPr>
        <p:spPr>
          <a:xfrm>
            <a:off x="7316013" y="231531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498</a:t>
            </a:r>
            <a:endParaRPr lang="en-US" sz="636" dirty="0"/>
          </a:p>
        </p:txBody>
      </p:sp>
      <p:sp>
        <p:nvSpPr>
          <p:cNvPr id="273" name="Text 270"/>
          <p:cNvSpPr/>
          <p:nvPr/>
        </p:nvSpPr>
        <p:spPr>
          <a:xfrm>
            <a:off x="7316013" y="24581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498</a:t>
            </a:r>
            <a:endParaRPr lang="en-US" sz="636" dirty="0"/>
          </a:p>
        </p:txBody>
      </p:sp>
      <p:sp>
        <p:nvSpPr>
          <p:cNvPr id="274" name="Text 271"/>
          <p:cNvSpPr/>
          <p:nvPr/>
        </p:nvSpPr>
        <p:spPr>
          <a:xfrm>
            <a:off x="9273649" y="26010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143</a:t>
            </a:r>
            <a:endParaRPr lang="en-US" sz="636" dirty="0"/>
          </a:p>
        </p:txBody>
      </p:sp>
      <p:sp>
        <p:nvSpPr>
          <p:cNvPr id="275" name="Text 272"/>
          <p:cNvSpPr/>
          <p:nvPr/>
        </p:nvSpPr>
        <p:spPr>
          <a:xfrm>
            <a:off x="9273649" y="27439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324</a:t>
            </a:r>
            <a:endParaRPr lang="en-US" sz="636" dirty="0"/>
          </a:p>
        </p:txBody>
      </p:sp>
      <p:sp>
        <p:nvSpPr>
          <p:cNvPr id="276" name="Text 273"/>
          <p:cNvSpPr/>
          <p:nvPr/>
        </p:nvSpPr>
        <p:spPr>
          <a:xfrm>
            <a:off x="8077397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277" name="Text 274"/>
          <p:cNvSpPr/>
          <p:nvPr/>
        </p:nvSpPr>
        <p:spPr>
          <a:xfrm>
            <a:off x="8560183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278" name="Text 275"/>
          <p:cNvSpPr/>
          <p:nvPr/>
        </p:nvSpPr>
        <p:spPr>
          <a:xfrm>
            <a:off x="9042970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279" name="Text 276"/>
          <p:cNvSpPr/>
          <p:nvPr/>
        </p:nvSpPr>
        <p:spPr>
          <a:xfrm>
            <a:off x="9525756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280" name="Text 277"/>
          <p:cNvSpPr/>
          <p:nvPr/>
        </p:nvSpPr>
        <p:spPr>
          <a:xfrm>
            <a:off x="10008542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281" name="Text 278"/>
          <p:cNvSpPr/>
          <p:nvPr/>
        </p:nvSpPr>
        <p:spPr>
          <a:xfrm>
            <a:off x="10491329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282" name="Text 279"/>
          <p:cNvSpPr/>
          <p:nvPr/>
        </p:nvSpPr>
        <p:spPr>
          <a:xfrm>
            <a:off x="8216595" y="952500"/>
            <a:ext cx="332849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324</a:t>
            </a:r>
            <a:endParaRPr lang="en-US" sz="1380" dirty="0"/>
          </a:p>
        </p:txBody>
      </p:sp>
      <p:sp>
        <p:nvSpPr>
          <p:cNvPr id="283" name="Text 280"/>
          <p:cNvSpPr/>
          <p:nvPr/>
        </p:nvSpPr>
        <p:spPr>
          <a:xfrm>
            <a:off x="2314916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</a:t>
            </a:r>
            <a:endParaRPr lang="en-US" sz="576" dirty="0"/>
          </a:p>
        </p:txBody>
      </p:sp>
      <p:sp>
        <p:nvSpPr>
          <p:cNvPr id="284" name="Text 281"/>
          <p:cNvSpPr/>
          <p:nvPr/>
        </p:nvSpPr>
        <p:spPr>
          <a:xfrm>
            <a:off x="3280489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576" dirty="0"/>
          </a:p>
        </p:txBody>
      </p:sp>
      <p:sp>
        <p:nvSpPr>
          <p:cNvPr id="285" name="Text 282"/>
          <p:cNvSpPr/>
          <p:nvPr/>
        </p:nvSpPr>
        <p:spPr>
          <a:xfrm>
            <a:off x="2314916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</a:t>
            </a:r>
            <a:endParaRPr lang="en-US" sz="576" dirty="0"/>
          </a:p>
        </p:txBody>
      </p:sp>
      <p:sp>
        <p:nvSpPr>
          <p:cNvPr id="286" name="Text 283"/>
          <p:cNvSpPr/>
          <p:nvPr/>
        </p:nvSpPr>
        <p:spPr>
          <a:xfrm>
            <a:off x="3280489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</a:t>
            </a:r>
            <a:endParaRPr lang="en-US" sz="576" dirty="0"/>
          </a:p>
        </p:txBody>
      </p:sp>
      <p:sp>
        <p:nvSpPr>
          <p:cNvPr id="287" name="Text 284"/>
          <p:cNvSpPr/>
          <p:nvPr/>
        </p:nvSpPr>
        <p:spPr>
          <a:xfrm>
            <a:off x="2314916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</a:t>
            </a:r>
            <a:endParaRPr lang="en-US" sz="576" dirty="0"/>
          </a:p>
        </p:txBody>
      </p:sp>
      <p:sp>
        <p:nvSpPr>
          <p:cNvPr id="288" name="Text 285"/>
          <p:cNvSpPr/>
          <p:nvPr/>
        </p:nvSpPr>
        <p:spPr>
          <a:xfrm>
            <a:off x="2797702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</a:t>
            </a:r>
            <a:endParaRPr lang="en-US" sz="576" dirty="0"/>
          </a:p>
        </p:txBody>
      </p:sp>
      <p:sp>
        <p:nvSpPr>
          <p:cNvPr id="289" name="Text 286"/>
          <p:cNvSpPr/>
          <p:nvPr/>
        </p:nvSpPr>
        <p:spPr>
          <a:xfrm>
            <a:off x="3280489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576" dirty="0"/>
          </a:p>
        </p:txBody>
      </p:sp>
      <p:sp>
        <p:nvSpPr>
          <p:cNvPr id="290" name="Text 287"/>
          <p:cNvSpPr/>
          <p:nvPr/>
        </p:nvSpPr>
        <p:spPr>
          <a:xfrm>
            <a:off x="9273649" y="18866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636" dirty="0"/>
          </a:p>
        </p:txBody>
      </p:sp>
      <p:sp>
        <p:nvSpPr>
          <p:cNvPr id="291" name="Text 288"/>
          <p:cNvSpPr/>
          <p:nvPr/>
        </p:nvSpPr>
        <p:spPr>
          <a:xfrm>
            <a:off x="9273649" y="21724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</a:t>
            </a:r>
            <a:endParaRPr lang="en-US" sz="636" dirty="0"/>
          </a:p>
        </p:txBody>
      </p:sp>
      <p:sp>
        <p:nvSpPr>
          <p:cNvPr id="292" name="Text 289"/>
          <p:cNvSpPr/>
          <p:nvPr/>
        </p:nvSpPr>
        <p:spPr>
          <a:xfrm>
            <a:off x="9273649" y="231531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</a:t>
            </a:r>
            <a:endParaRPr lang="en-US" sz="636" dirty="0"/>
          </a:p>
        </p:txBody>
      </p:sp>
      <p:sp>
        <p:nvSpPr>
          <p:cNvPr id="293" name="Text 290"/>
          <p:cNvSpPr/>
          <p:nvPr/>
        </p:nvSpPr>
        <p:spPr>
          <a:xfrm>
            <a:off x="9273649" y="24581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636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9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783" y="6393656"/>
            <a:ext cx="686180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Mostró un descarte muy alto (67,58 %) y una bajísima efectividad sobre contacto (1,21 %), lo que justifica que se haya pausado a partir de febrero.</a:t>
            </a:r>
            <a:endParaRPr lang="en-US" sz="744" dirty="0"/>
          </a:p>
        </p:txBody>
      </p:sp>
      <p:sp>
        <p:nvSpPr>
          <p:cNvPr id="4" name="Text 1"/>
          <p:cNvSpPr/>
          <p:nvPr/>
        </p:nvSpPr>
        <p:spPr>
          <a:xfrm>
            <a:off x="685783" y="6247209"/>
            <a:ext cx="523221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 base sólo estuvo activa en enero de 2026 (campaña táctica sobre base histórica de clientes satisfechos).</a:t>
            </a:r>
            <a:endParaRPr lang="en-US" sz="744" dirty="0"/>
          </a:p>
        </p:txBody>
      </p:sp>
      <p:sp>
        <p:nvSpPr>
          <p:cNvPr id="5" name="Text 2"/>
          <p:cNvSpPr/>
          <p:nvPr/>
        </p:nvSpPr>
        <p:spPr>
          <a:xfrm>
            <a:off x="685783" y="6540103"/>
            <a:ext cx="513566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contestador fue el gran bloqueador en enero, consumiendo el 62,7 % de los registros aptos gestionados.</a:t>
            </a:r>
            <a:endParaRPr lang="en-US" sz="744" dirty="0"/>
          </a:p>
        </p:txBody>
      </p:sp>
      <p:sp>
        <p:nvSpPr>
          <p:cNvPr id="6" name="Text 3"/>
          <p:cNvSpPr/>
          <p:nvPr/>
        </p:nvSpPr>
        <p:spPr>
          <a:xfrm>
            <a:off x="571486" y="209550"/>
            <a:ext cx="4637479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Operativo · Campaña CP Clientes Satisfechos</a:t>
            </a:r>
            <a:endParaRPr lang="en-US" sz="1260" dirty="0"/>
          </a:p>
        </p:txBody>
      </p:sp>
      <p:sp>
        <p:nvSpPr>
          <p:cNvPr id="7" name="Text 4"/>
          <p:cNvSpPr/>
          <p:nvPr/>
        </p:nvSpPr>
        <p:spPr>
          <a:xfrm>
            <a:off x="8216595" y="1200894"/>
            <a:ext cx="187268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focalizada y depurada de forma express</a:t>
            </a:r>
            <a:endParaRPr lang="en-US" sz="648" dirty="0"/>
          </a:p>
        </p:txBody>
      </p:sp>
      <p:sp>
        <p:nvSpPr>
          <p:cNvPr id="8" name="Text 5"/>
          <p:cNvSpPr/>
          <p:nvPr/>
        </p:nvSpPr>
        <p:spPr>
          <a:xfrm>
            <a:off x="504812" y="34583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Activa / Producto Activo</a:t>
            </a:r>
            <a:endParaRPr lang="en-US" sz="576" dirty="0"/>
          </a:p>
        </p:txBody>
      </p:sp>
      <p:sp>
        <p:nvSpPr>
          <p:cNvPr id="9" name="Text 6"/>
          <p:cNvSpPr/>
          <p:nvPr/>
        </p:nvSpPr>
        <p:spPr>
          <a:xfrm>
            <a:off x="533387" y="1200894"/>
            <a:ext cx="156979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Interacción ágil con clientes históricos</a:t>
            </a:r>
            <a:endParaRPr lang="en-US" sz="648" dirty="0"/>
          </a:p>
        </p:txBody>
      </p:sp>
      <p:sp>
        <p:nvSpPr>
          <p:cNvPr id="10" name="Text 7"/>
          <p:cNvSpPr/>
          <p:nvPr/>
        </p:nvSpPr>
        <p:spPr>
          <a:xfrm>
            <a:off x="4374991" y="1200894"/>
            <a:ext cx="156096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Aporte táctico masivo al inicio del año</a:t>
            </a:r>
            <a:endParaRPr lang="en-US" sz="648" dirty="0"/>
          </a:p>
        </p:txBody>
      </p:sp>
      <p:sp>
        <p:nvSpPr>
          <p:cNvPr id="11" name="Text 8"/>
          <p:cNvSpPr/>
          <p:nvPr/>
        </p:nvSpPr>
        <p:spPr>
          <a:xfrm>
            <a:off x="6372066" y="2915394"/>
            <a:ext cx="20375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Tipificación de Leads Aptos por Mes</a:t>
            </a:r>
            <a:endParaRPr lang="en-US" sz="816" dirty="0"/>
          </a:p>
        </p:txBody>
      </p:sp>
      <p:sp>
        <p:nvSpPr>
          <p:cNvPr id="12" name="Text 9"/>
          <p:cNvSpPr/>
          <p:nvPr/>
        </p:nvSpPr>
        <p:spPr>
          <a:xfrm>
            <a:off x="609585" y="1486644"/>
            <a:ext cx="205678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Calidad de Base y Descarte Mensual</a:t>
            </a:r>
            <a:endParaRPr lang="en-US" sz="816" dirty="0"/>
          </a:p>
        </p:txBody>
      </p:sp>
      <p:sp>
        <p:nvSpPr>
          <p:cNvPr id="13" name="Text 10"/>
          <p:cNvSpPr/>
          <p:nvPr/>
        </p:nvSpPr>
        <p:spPr>
          <a:xfrm>
            <a:off x="6372066" y="1486644"/>
            <a:ext cx="18149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Insumo Apto, Contacto y Ventas</a:t>
            </a:r>
            <a:endParaRPr lang="en-US" sz="816" dirty="0"/>
          </a:p>
        </p:txBody>
      </p:sp>
      <p:sp>
        <p:nvSpPr>
          <p:cNvPr id="14" name="Text 11"/>
          <p:cNvSpPr/>
          <p:nvPr/>
        </p:nvSpPr>
        <p:spPr>
          <a:xfrm>
            <a:off x="6267293" y="37250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Cuelga la llamada / experiencia</a:t>
            </a:r>
            <a:endParaRPr lang="en-US" sz="552" dirty="0"/>
          </a:p>
        </p:txBody>
      </p:sp>
      <p:sp>
        <p:nvSpPr>
          <p:cNvPr id="15" name="Text 12"/>
          <p:cNvSpPr/>
          <p:nvPr/>
        </p:nvSpPr>
        <p:spPr>
          <a:xfrm>
            <a:off x="714357" y="6091238"/>
            <a:ext cx="156869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Observaciones Clave de la Base:</a:t>
            </a:r>
            <a:endParaRPr lang="en-US" sz="744" dirty="0"/>
          </a:p>
        </p:txBody>
      </p:sp>
      <p:sp>
        <p:nvSpPr>
          <p:cNvPr id="16" name="Text 13"/>
          <p:cNvSpPr/>
          <p:nvPr/>
        </p:nvSpPr>
        <p:spPr>
          <a:xfrm>
            <a:off x="504812" y="33249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7" name="Text 14"/>
          <p:cNvSpPr/>
          <p:nvPr/>
        </p:nvSpPr>
        <p:spPr>
          <a:xfrm>
            <a:off x="504812" y="35916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Errado / Sin Teléfono</a:t>
            </a:r>
            <a:endParaRPr lang="en-US" sz="576" dirty="0"/>
          </a:p>
        </p:txBody>
      </p:sp>
      <p:sp>
        <p:nvSpPr>
          <p:cNvPr id="18" name="Text 15"/>
          <p:cNvSpPr/>
          <p:nvPr/>
        </p:nvSpPr>
        <p:spPr>
          <a:xfrm>
            <a:off x="495288" y="2915394"/>
            <a:ext cx="164662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Motivos de Descarte por Mes</a:t>
            </a:r>
            <a:endParaRPr lang="en-US" sz="816" dirty="0"/>
          </a:p>
        </p:txBody>
      </p:sp>
      <p:sp>
        <p:nvSpPr>
          <p:cNvPr id="19" name="Text 16"/>
          <p:cNvSpPr/>
          <p:nvPr/>
        </p:nvSpPr>
        <p:spPr>
          <a:xfrm>
            <a:off x="6267293" y="35916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producto</a:t>
            </a:r>
            <a:endParaRPr lang="en-US" sz="552" dirty="0"/>
          </a:p>
        </p:txBody>
      </p:sp>
      <p:sp>
        <p:nvSpPr>
          <p:cNvPr id="20" name="Text 17"/>
          <p:cNvSpPr/>
          <p:nvPr/>
        </p:nvSpPr>
        <p:spPr>
          <a:xfrm>
            <a:off x="533387" y="809625"/>
            <a:ext cx="15767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 EN ENERO</a:t>
            </a:r>
            <a:endParaRPr lang="en-US" sz="672" dirty="0"/>
          </a:p>
        </p:txBody>
      </p:sp>
      <p:sp>
        <p:nvSpPr>
          <p:cNvPr id="21" name="Text 18"/>
          <p:cNvSpPr/>
          <p:nvPr/>
        </p:nvSpPr>
        <p:spPr>
          <a:xfrm>
            <a:off x="504812" y="37250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NIT de empresa / No apto</a:t>
            </a:r>
            <a:endParaRPr lang="en-US" sz="576" dirty="0"/>
          </a:p>
        </p:txBody>
      </p:sp>
      <p:sp>
        <p:nvSpPr>
          <p:cNvPr id="22" name="Text 19"/>
          <p:cNvSpPr/>
          <p:nvPr/>
        </p:nvSpPr>
        <p:spPr>
          <a:xfrm>
            <a:off x="6267293" y="41250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automático</a:t>
            </a:r>
            <a:endParaRPr lang="en-US" sz="552" dirty="0"/>
          </a:p>
        </p:txBody>
      </p:sp>
      <p:sp>
        <p:nvSpPr>
          <p:cNvPr id="23" name="Text 20"/>
          <p:cNvSpPr/>
          <p:nvPr/>
        </p:nvSpPr>
        <p:spPr>
          <a:xfrm>
            <a:off x="504812" y="38583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76" dirty="0"/>
          </a:p>
        </p:txBody>
      </p:sp>
      <p:sp>
        <p:nvSpPr>
          <p:cNvPr id="24" name="Text 21"/>
          <p:cNvSpPr/>
          <p:nvPr/>
        </p:nvSpPr>
        <p:spPr>
          <a:xfrm>
            <a:off x="6267293" y="38583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52" dirty="0"/>
          </a:p>
        </p:txBody>
      </p:sp>
      <p:sp>
        <p:nvSpPr>
          <p:cNvPr id="25" name="Text 22"/>
          <p:cNvSpPr/>
          <p:nvPr/>
        </p:nvSpPr>
        <p:spPr>
          <a:xfrm>
            <a:off x="6267293" y="42584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contesta / apagado</a:t>
            </a:r>
            <a:endParaRPr lang="en-US" sz="552" dirty="0"/>
          </a:p>
        </p:txBody>
      </p:sp>
      <p:sp>
        <p:nvSpPr>
          <p:cNvPr id="26" name="Text 23"/>
          <p:cNvSpPr/>
          <p:nvPr/>
        </p:nvSpPr>
        <p:spPr>
          <a:xfrm>
            <a:off x="8216595" y="809625"/>
            <a:ext cx="130950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LEADS APTOS GENERADOS</a:t>
            </a:r>
            <a:endParaRPr lang="en-US" sz="672" dirty="0"/>
          </a:p>
        </p:txBody>
      </p:sp>
      <p:sp>
        <p:nvSpPr>
          <p:cNvPr id="27" name="Text 24"/>
          <p:cNvSpPr/>
          <p:nvPr/>
        </p:nvSpPr>
        <p:spPr>
          <a:xfrm>
            <a:off x="4374991" y="809625"/>
            <a:ext cx="124592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INCREMENTALES</a:t>
            </a:r>
            <a:endParaRPr lang="en-US" sz="672" dirty="0"/>
          </a:p>
        </p:txBody>
      </p:sp>
      <p:sp>
        <p:nvSpPr>
          <p:cNvPr id="28" name="Text 25"/>
          <p:cNvSpPr/>
          <p:nvPr/>
        </p:nvSpPr>
        <p:spPr>
          <a:xfrm>
            <a:off x="6267293" y="33249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552" dirty="0"/>
          </a:p>
        </p:txBody>
      </p:sp>
      <p:sp>
        <p:nvSpPr>
          <p:cNvPr id="29" name="Text 26"/>
          <p:cNvSpPr/>
          <p:nvPr/>
        </p:nvSpPr>
        <p:spPr>
          <a:xfrm>
            <a:off x="6267293" y="43917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gestionado</a:t>
            </a:r>
            <a:endParaRPr lang="en-US" sz="552" dirty="0"/>
          </a:p>
        </p:txBody>
      </p:sp>
      <p:sp>
        <p:nvSpPr>
          <p:cNvPr id="30" name="Text 27"/>
          <p:cNvSpPr/>
          <p:nvPr/>
        </p:nvSpPr>
        <p:spPr>
          <a:xfrm>
            <a:off x="10239394" y="1715244"/>
            <a:ext cx="145701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 / Ctto.</a:t>
            </a:r>
            <a:endParaRPr lang="en-US" sz="888" dirty="0"/>
          </a:p>
        </p:txBody>
      </p:sp>
      <p:sp>
        <p:nvSpPr>
          <p:cNvPr id="31" name="Text 28"/>
          <p:cNvSpPr/>
          <p:nvPr/>
        </p:nvSpPr>
        <p:spPr>
          <a:xfrm>
            <a:off x="6267293" y="34583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</a:t>
            </a:r>
            <a:endParaRPr lang="en-US" sz="552" dirty="0"/>
          </a:p>
        </p:txBody>
      </p:sp>
      <p:sp>
        <p:nvSpPr>
          <p:cNvPr id="32" name="Text 29"/>
          <p:cNvSpPr/>
          <p:nvPr/>
        </p:nvSpPr>
        <p:spPr>
          <a:xfrm>
            <a:off x="6267293" y="3153519"/>
            <a:ext cx="1879325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6267293" y="39917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CONTACTO</a:t>
            </a:r>
            <a:endParaRPr lang="en-US" sz="552" dirty="0"/>
          </a:p>
        </p:txBody>
      </p:sp>
      <p:sp>
        <p:nvSpPr>
          <p:cNvPr id="34" name="Text 31"/>
          <p:cNvSpPr/>
          <p:nvPr/>
        </p:nvSpPr>
        <p:spPr>
          <a:xfrm>
            <a:off x="2951194" y="1715244"/>
            <a:ext cx="1568454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35" name="Text 32"/>
          <p:cNvSpPr/>
          <p:nvPr/>
        </p:nvSpPr>
        <p:spPr>
          <a:xfrm>
            <a:off x="8294831" y="1715244"/>
            <a:ext cx="100818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1540477" y="1715244"/>
            <a:ext cx="145640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4477220" y="1715244"/>
            <a:ext cx="145670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38" name="Text 35"/>
          <p:cNvSpPr/>
          <p:nvPr/>
        </p:nvSpPr>
        <p:spPr>
          <a:xfrm>
            <a:off x="1540477" y="1886694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108.659</a:t>
            </a:r>
            <a:endParaRPr lang="en-US" sz="636" dirty="0"/>
          </a:p>
        </p:txBody>
      </p:sp>
      <p:sp>
        <p:nvSpPr>
          <p:cNvPr id="39" name="Text 36"/>
          <p:cNvSpPr/>
          <p:nvPr/>
        </p:nvSpPr>
        <p:spPr>
          <a:xfrm>
            <a:off x="495288" y="20295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0" name="Text 37"/>
          <p:cNvSpPr/>
          <p:nvPr/>
        </p:nvSpPr>
        <p:spPr>
          <a:xfrm>
            <a:off x="1540477" y="2743944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108.659</a:t>
            </a:r>
            <a:endParaRPr lang="en-US" sz="636" dirty="0"/>
          </a:p>
        </p:txBody>
      </p:sp>
      <p:sp>
        <p:nvSpPr>
          <p:cNvPr id="41" name="Text 38"/>
          <p:cNvSpPr/>
          <p:nvPr/>
        </p:nvSpPr>
        <p:spPr>
          <a:xfrm>
            <a:off x="6257769" y="20295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2" name="Text 39"/>
          <p:cNvSpPr/>
          <p:nvPr/>
        </p:nvSpPr>
        <p:spPr>
          <a:xfrm>
            <a:off x="2951194" y="1886694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73.431</a:t>
            </a:r>
            <a:endParaRPr lang="en-US" sz="636" dirty="0"/>
          </a:p>
        </p:txBody>
      </p:sp>
      <p:sp>
        <p:nvSpPr>
          <p:cNvPr id="43" name="Text 40"/>
          <p:cNvSpPr/>
          <p:nvPr/>
        </p:nvSpPr>
        <p:spPr>
          <a:xfrm>
            <a:off x="4477220" y="1886694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67,6 %</a:t>
            </a:r>
            <a:endParaRPr lang="en-US" sz="636" dirty="0"/>
          </a:p>
        </p:txBody>
      </p:sp>
      <p:sp>
        <p:nvSpPr>
          <p:cNvPr id="44" name="Text 41"/>
          <p:cNvSpPr/>
          <p:nvPr/>
        </p:nvSpPr>
        <p:spPr>
          <a:xfrm>
            <a:off x="2951194" y="2743944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73.431</a:t>
            </a:r>
            <a:endParaRPr lang="en-US" sz="636" dirty="0"/>
          </a:p>
        </p:txBody>
      </p:sp>
      <p:sp>
        <p:nvSpPr>
          <p:cNvPr id="45" name="Text 42"/>
          <p:cNvSpPr/>
          <p:nvPr/>
        </p:nvSpPr>
        <p:spPr>
          <a:xfrm>
            <a:off x="4477220" y="2743944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67,6 %</a:t>
            </a:r>
            <a:endParaRPr lang="en-US" sz="636" dirty="0"/>
          </a:p>
        </p:txBody>
      </p:sp>
      <p:sp>
        <p:nvSpPr>
          <p:cNvPr id="46" name="Text 43"/>
          <p:cNvSpPr/>
          <p:nvPr/>
        </p:nvSpPr>
        <p:spPr>
          <a:xfrm>
            <a:off x="504812" y="3153519"/>
            <a:ext cx="1879325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Motivo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2314916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43.210</a:t>
            </a:r>
            <a:endParaRPr lang="en-US" sz="576" dirty="0"/>
          </a:p>
        </p:txBody>
      </p:sp>
      <p:sp>
        <p:nvSpPr>
          <p:cNvPr id="48" name="Text 45"/>
          <p:cNvSpPr/>
          <p:nvPr/>
        </p:nvSpPr>
        <p:spPr>
          <a:xfrm>
            <a:off x="5205169" y="33249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43.210</a:t>
            </a:r>
            <a:endParaRPr lang="en-US" sz="576" dirty="0"/>
          </a:p>
        </p:txBody>
      </p:sp>
      <p:sp>
        <p:nvSpPr>
          <p:cNvPr id="49" name="Text 46"/>
          <p:cNvSpPr/>
          <p:nvPr/>
        </p:nvSpPr>
        <p:spPr>
          <a:xfrm>
            <a:off x="2314916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22.105</a:t>
            </a:r>
            <a:endParaRPr lang="en-US" sz="576" dirty="0"/>
          </a:p>
        </p:txBody>
      </p:sp>
      <p:sp>
        <p:nvSpPr>
          <p:cNvPr id="50" name="Text 47"/>
          <p:cNvSpPr/>
          <p:nvPr/>
        </p:nvSpPr>
        <p:spPr>
          <a:xfrm>
            <a:off x="5205169" y="34583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22.105</a:t>
            </a:r>
            <a:endParaRPr lang="en-US" sz="576" dirty="0"/>
          </a:p>
        </p:txBody>
      </p:sp>
      <p:sp>
        <p:nvSpPr>
          <p:cNvPr id="51" name="Text 48"/>
          <p:cNvSpPr/>
          <p:nvPr/>
        </p:nvSpPr>
        <p:spPr>
          <a:xfrm>
            <a:off x="2314916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73.431</a:t>
            </a:r>
            <a:endParaRPr lang="en-US" sz="576" dirty="0"/>
          </a:p>
        </p:txBody>
      </p:sp>
      <p:sp>
        <p:nvSpPr>
          <p:cNvPr id="52" name="Text 49"/>
          <p:cNvSpPr/>
          <p:nvPr/>
        </p:nvSpPr>
        <p:spPr>
          <a:xfrm>
            <a:off x="5205169" y="39917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73.431</a:t>
            </a:r>
            <a:endParaRPr lang="en-US" sz="576" dirty="0"/>
          </a:p>
        </p:txBody>
      </p:sp>
      <p:sp>
        <p:nvSpPr>
          <p:cNvPr id="53" name="Text 50"/>
          <p:cNvSpPr/>
          <p:nvPr/>
        </p:nvSpPr>
        <p:spPr>
          <a:xfrm>
            <a:off x="9273649" y="1715244"/>
            <a:ext cx="100818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54" name="Text 51"/>
          <p:cNvSpPr/>
          <p:nvPr/>
        </p:nvSpPr>
        <p:spPr>
          <a:xfrm>
            <a:off x="7316013" y="18866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35.228</a:t>
            </a:r>
            <a:endParaRPr lang="en-US" sz="636" dirty="0"/>
          </a:p>
        </p:txBody>
      </p:sp>
      <p:sp>
        <p:nvSpPr>
          <p:cNvPr id="55" name="Text 52"/>
          <p:cNvSpPr/>
          <p:nvPr/>
        </p:nvSpPr>
        <p:spPr>
          <a:xfrm>
            <a:off x="8294831" y="18866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18,6 %</a:t>
            </a:r>
            <a:endParaRPr lang="en-US" sz="636" dirty="0"/>
          </a:p>
        </p:txBody>
      </p:sp>
      <p:sp>
        <p:nvSpPr>
          <p:cNvPr id="56" name="Text 53"/>
          <p:cNvSpPr/>
          <p:nvPr/>
        </p:nvSpPr>
        <p:spPr>
          <a:xfrm>
            <a:off x="7316013" y="27439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35.228</a:t>
            </a:r>
            <a:endParaRPr lang="en-US" sz="636" dirty="0"/>
          </a:p>
        </p:txBody>
      </p:sp>
      <p:sp>
        <p:nvSpPr>
          <p:cNvPr id="57" name="Text 54"/>
          <p:cNvSpPr/>
          <p:nvPr/>
        </p:nvSpPr>
        <p:spPr>
          <a:xfrm>
            <a:off x="8294831" y="27439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18,6 %</a:t>
            </a:r>
            <a:endParaRPr lang="en-US" sz="636" dirty="0"/>
          </a:p>
        </p:txBody>
      </p:sp>
      <p:sp>
        <p:nvSpPr>
          <p:cNvPr id="58" name="Text 55"/>
          <p:cNvSpPr/>
          <p:nvPr/>
        </p:nvSpPr>
        <p:spPr>
          <a:xfrm>
            <a:off x="8077397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18,6 %</a:t>
            </a:r>
            <a:endParaRPr lang="en-US" sz="552" dirty="0"/>
          </a:p>
        </p:txBody>
      </p:sp>
      <p:sp>
        <p:nvSpPr>
          <p:cNvPr id="59" name="Text 56"/>
          <p:cNvSpPr/>
          <p:nvPr/>
        </p:nvSpPr>
        <p:spPr>
          <a:xfrm>
            <a:off x="10967650" y="33249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18,6 %</a:t>
            </a:r>
            <a:endParaRPr lang="en-US" sz="552" dirty="0"/>
          </a:p>
        </p:txBody>
      </p:sp>
      <p:sp>
        <p:nvSpPr>
          <p:cNvPr id="60" name="Text 57"/>
          <p:cNvSpPr/>
          <p:nvPr/>
        </p:nvSpPr>
        <p:spPr>
          <a:xfrm>
            <a:off x="8077397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81,4 %</a:t>
            </a:r>
            <a:endParaRPr lang="en-US" sz="552" dirty="0"/>
          </a:p>
        </p:txBody>
      </p:sp>
      <p:sp>
        <p:nvSpPr>
          <p:cNvPr id="61" name="Text 58"/>
          <p:cNvSpPr/>
          <p:nvPr/>
        </p:nvSpPr>
        <p:spPr>
          <a:xfrm>
            <a:off x="10967650" y="39917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81,4 %</a:t>
            </a:r>
            <a:endParaRPr lang="en-US" sz="552" dirty="0"/>
          </a:p>
        </p:txBody>
      </p:sp>
      <p:sp>
        <p:nvSpPr>
          <p:cNvPr id="62" name="Text 59"/>
          <p:cNvSpPr/>
          <p:nvPr/>
        </p:nvSpPr>
        <p:spPr>
          <a:xfrm>
            <a:off x="8077397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62,7 %</a:t>
            </a:r>
            <a:endParaRPr lang="en-US" sz="552" dirty="0"/>
          </a:p>
        </p:txBody>
      </p:sp>
      <p:sp>
        <p:nvSpPr>
          <p:cNvPr id="63" name="Text 60"/>
          <p:cNvSpPr/>
          <p:nvPr/>
        </p:nvSpPr>
        <p:spPr>
          <a:xfrm>
            <a:off x="10967650" y="41250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62,7 %</a:t>
            </a:r>
            <a:endParaRPr lang="en-US" sz="552" dirty="0"/>
          </a:p>
        </p:txBody>
      </p:sp>
      <p:sp>
        <p:nvSpPr>
          <p:cNvPr id="64" name="Text 61"/>
          <p:cNvSpPr/>
          <p:nvPr/>
        </p:nvSpPr>
        <p:spPr>
          <a:xfrm>
            <a:off x="8077397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18,7 %</a:t>
            </a:r>
            <a:endParaRPr lang="en-US" sz="552" dirty="0"/>
          </a:p>
        </p:txBody>
      </p:sp>
      <p:sp>
        <p:nvSpPr>
          <p:cNvPr id="65" name="Text 62"/>
          <p:cNvSpPr/>
          <p:nvPr/>
        </p:nvSpPr>
        <p:spPr>
          <a:xfrm>
            <a:off x="10967650" y="42584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18,7 %</a:t>
            </a:r>
            <a:endParaRPr lang="en-US" sz="552" dirty="0"/>
          </a:p>
        </p:txBody>
      </p:sp>
      <p:sp>
        <p:nvSpPr>
          <p:cNvPr id="66" name="Text 63"/>
          <p:cNvSpPr/>
          <p:nvPr/>
        </p:nvSpPr>
        <p:spPr>
          <a:xfrm>
            <a:off x="533387" y="952500"/>
            <a:ext cx="568849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18,6 %</a:t>
            </a:r>
            <a:endParaRPr lang="en-US" sz="1380" dirty="0"/>
          </a:p>
        </p:txBody>
      </p:sp>
      <p:sp>
        <p:nvSpPr>
          <p:cNvPr id="67" name="Text 64"/>
          <p:cNvSpPr/>
          <p:nvPr/>
        </p:nvSpPr>
        <p:spPr>
          <a:xfrm>
            <a:off x="8216595" y="952500"/>
            <a:ext cx="588568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35.228</a:t>
            </a:r>
            <a:endParaRPr lang="en-US" sz="1380" dirty="0"/>
          </a:p>
        </p:txBody>
      </p:sp>
      <p:sp>
        <p:nvSpPr>
          <p:cNvPr id="68" name="Text 65"/>
          <p:cNvSpPr/>
          <p:nvPr/>
        </p:nvSpPr>
        <p:spPr>
          <a:xfrm>
            <a:off x="495288" y="18866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69" name="Text 66"/>
          <p:cNvSpPr/>
          <p:nvPr/>
        </p:nvSpPr>
        <p:spPr>
          <a:xfrm>
            <a:off x="495288" y="21724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70" name="Text 67"/>
          <p:cNvSpPr/>
          <p:nvPr/>
        </p:nvSpPr>
        <p:spPr>
          <a:xfrm>
            <a:off x="495288" y="231531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71" name="Text 68"/>
          <p:cNvSpPr/>
          <p:nvPr/>
        </p:nvSpPr>
        <p:spPr>
          <a:xfrm>
            <a:off x="495288" y="26010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72" name="Text 69"/>
          <p:cNvSpPr/>
          <p:nvPr/>
        </p:nvSpPr>
        <p:spPr>
          <a:xfrm>
            <a:off x="495288" y="27439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73" name="Text 70"/>
          <p:cNvSpPr/>
          <p:nvPr/>
        </p:nvSpPr>
        <p:spPr>
          <a:xfrm>
            <a:off x="5205169" y="3153519"/>
            <a:ext cx="71923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74" name="Text 71"/>
          <p:cNvSpPr/>
          <p:nvPr/>
        </p:nvSpPr>
        <p:spPr>
          <a:xfrm>
            <a:off x="2314916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4.120</a:t>
            </a:r>
            <a:endParaRPr lang="en-US" sz="576" dirty="0"/>
          </a:p>
        </p:txBody>
      </p:sp>
      <p:sp>
        <p:nvSpPr>
          <p:cNvPr id="75" name="Text 72"/>
          <p:cNvSpPr/>
          <p:nvPr/>
        </p:nvSpPr>
        <p:spPr>
          <a:xfrm>
            <a:off x="5205169" y="35916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4.120</a:t>
            </a:r>
            <a:endParaRPr lang="en-US" sz="576" dirty="0"/>
          </a:p>
        </p:txBody>
      </p:sp>
      <p:sp>
        <p:nvSpPr>
          <p:cNvPr id="76" name="Text 73"/>
          <p:cNvSpPr/>
          <p:nvPr/>
        </p:nvSpPr>
        <p:spPr>
          <a:xfrm>
            <a:off x="2314916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2.980</a:t>
            </a:r>
            <a:endParaRPr lang="en-US" sz="576" dirty="0"/>
          </a:p>
        </p:txBody>
      </p:sp>
      <p:sp>
        <p:nvSpPr>
          <p:cNvPr id="77" name="Text 74"/>
          <p:cNvSpPr/>
          <p:nvPr/>
        </p:nvSpPr>
        <p:spPr>
          <a:xfrm>
            <a:off x="5205169" y="37250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2.980</a:t>
            </a:r>
            <a:endParaRPr lang="en-US" sz="576" dirty="0"/>
          </a:p>
        </p:txBody>
      </p:sp>
      <p:sp>
        <p:nvSpPr>
          <p:cNvPr id="78" name="Text 75"/>
          <p:cNvSpPr/>
          <p:nvPr/>
        </p:nvSpPr>
        <p:spPr>
          <a:xfrm>
            <a:off x="2314916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1.016</a:t>
            </a:r>
            <a:endParaRPr lang="en-US" sz="576" dirty="0"/>
          </a:p>
        </p:txBody>
      </p:sp>
      <p:sp>
        <p:nvSpPr>
          <p:cNvPr id="79" name="Text 76"/>
          <p:cNvSpPr/>
          <p:nvPr/>
        </p:nvSpPr>
        <p:spPr>
          <a:xfrm>
            <a:off x="5205169" y="38583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1.016</a:t>
            </a:r>
            <a:endParaRPr lang="en-US" sz="576" dirty="0"/>
          </a:p>
        </p:txBody>
      </p:sp>
      <p:sp>
        <p:nvSpPr>
          <p:cNvPr id="80" name="Text 77"/>
          <p:cNvSpPr/>
          <p:nvPr/>
        </p:nvSpPr>
        <p:spPr>
          <a:xfrm>
            <a:off x="504812" y="39917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576" dirty="0"/>
          </a:p>
        </p:txBody>
      </p:sp>
      <p:sp>
        <p:nvSpPr>
          <p:cNvPr id="81" name="Text 78"/>
          <p:cNvSpPr/>
          <p:nvPr/>
        </p:nvSpPr>
        <p:spPr>
          <a:xfrm>
            <a:off x="7316013" y="1715244"/>
            <a:ext cx="100818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82" name="Text 79"/>
          <p:cNvSpPr/>
          <p:nvPr/>
        </p:nvSpPr>
        <p:spPr>
          <a:xfrm>
            <a:off x="6257769" y="18866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83" name="Text 80"/>
          <p:cNvSpPr/>
          <p:nvPr/>
        </p:nvSpPr>
        <p:spPr>
          <a:xfrm>
            <a:off x="10239394" y="188669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1,2 %</a:t>
            </a:r>
            <a:endParaRPr lang="en-US" sz="636" dirty="0"/>
          </a:p>
        </p:txBody>
      </p:sp>
      <p:sp>
        <p:nvSpPr>
          <p:cNvPr id="84" name="Text 81"/>
          <p:cNvSpPr/>
          <p:nvPr/>
        </p:nvSpPr>
        <p:spPr>
          <a:xfrm>
            <a:off x="6257769" y="21724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85" name="Text 82"/>
          <p:cNvSpPr/>
          <p:nvPr/>
        </p:nvSpPr>
        <p:spPr>
          <a:xfrm>
            <a:off x="6257769" y="231531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86" name="Text 83"/>
          <p:cNvSpPr/>
          <p:nvPr/>
        </p:nvSpPr>
        <p:spPr>
          <a:xfrm>
            <a:off x="6257769" y="26010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87" name="Text 84"/>
          <p:cNvSpPr/>
          <p:nvPr/>
        </p:nvSpPr>
        <p:spPr>
          <a:xfrm>
            <a:off x="6257769" y="27439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88" name="Text 85"/>
          <p:cNvSpPr/>
          <p:nvPr/>
        </p:nvSpPr>
        <p:spPr>
          <a:xfrm>
            <a:off x="10239394" y="274394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1,2 %</a:t>
            </a:r>
            <a:endParaRPr lang="en-US" sz="636" dirty="0"/>
          </a:p>
        </p:txBody>
      </p:sp>
      <p:sp>
        <p:nvSpPr>
          <p:cNvPr id="89" name="Text 86"/>
          <p:cNvSpPr/>
          <p:nvPr/>
        </p:nvSpPr>
        <p:spPr>
          <a:xfrm>
            <a:off x="10967650" y="3153519"/>
            <a:ext cx="71923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90" name="Text 87"/>
          <p:cNvSpPr/>
          <p:nvPr/>
        </p:nvSpPr>
        <p:spPr>
          <a:xfrm>
            <a:off x="8077397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91" name="Text 88"/>
          <p:cNvSpPr/>
          <p:nvPr/>
        </p:nvSpPr>
        <p:spPr>
          <a:xfrm>
            <a:off x="10967650" y="34583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92" name="Text 89"/>
          <p:cNvSpPr/>
          <p:nvPr/>
        </p:nvSpPr>
        <p:spPr>
          <a:xfrm>
            <a:off x="8077397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9,1 %</a:t>
            </a:r>
            <a:endParaRPr lang="en-US" sz="552" dirty="0"/>
          </a:p>
        </p:txBody>
      </p:sp>
      <p:sp>
        <p:nvSpPr>
          <p:cNvPr id="93" name="Text 90"/>
          <p:cNvSpPr/>
          <p:nvPr/>
        </p:nvSpPr>
        <p:spPr>
          <a:xfrm>
            <a:off x="10967650" y="35916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9,1 %</a:t>
            </a:r>
            <a:endParaRPr lang="en-US" sz="552" dirty="0"/>
          </a:p>
        </p:txBody>
      </p:sp>
      <p:sp>
        <p:nvSpPr>
          <p:cNvPr id="94" name="Text 91"/>
          <p:cNvSpPr/>
          <p:nvPr/>
        </p:nvSpPr>
        <p:spPr>
          <a:xfrm>
            <a:off x="8077397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5,3 %</a:t>
            </a:r>
            <a:endParaRPr lang="en-US" sz="552" dirty="0"/>
          </a:p>
        </p:txBody>
      </p:sp>
      <p:sp>
        <p:nvSpPr>
          <p:cNvPr id="95" name="Text 92"/>
          <p:cNvSpPr/>
          <p:nvPr/>
        </p:nvSpPr>
        <p:spPr>
          <a:xfrm>
            <a:off x="10967650" y="37250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5,2 %</a:t>
            </a:r>
            <a:endParaRPr lang="en-US" sz="552" dirty="0"/>
          </a:p>
        </p:txBody>
      </p:sp>
      <p:sp>
        <p:nvSpPr>
          <p:cNvPr id="96" name="Text 93"/>
          <p:cNvSpPr/>
          <p:nvPr/>
        </p:nvSpPr>
        <p:spPr>
          <a:xfrm>
            <a:off x="8077397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4,0 %</a:t>
            </a:r>
            <a:endParaRPr lang="en-US" sz="552" dirty="0"/>
          </a:p>
        </p:txBody>
      </p:sp>
      <p:sp>
        <p:nvSpPr>
          <p:cNvPr id="97" name="Text 94"/>
          <p:cNvSpPr/>
          <p:nvPr/>
        </p:nvSpPr>
        <p:spPr>
          <a:xfrm>
            <a:off x="10967650" y="38583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4,0 %</a:t>
            </a:r>
            <a:endParaRPr lang="en-US" sz="552" dirty="0"/>
          </a:p>
        </p:txBody>
      </p:sp>
      <p:sp>
        <p:nvSpPr>
          <p:cNvPr id="98" name="Text 95"/>
          <p:cNvSpPr/>
          <p:nvPr/>
        </p:nvSpPr>
        <p:spPr>
          <a:xfrm>
            <a:off x="8077397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99" name="Text 96"/>
          <p:cNvSpPr/>
          <p:nvPr/>
        </p:nvSpPr>
        <p:spPr>
          <a:xfrm>
            <a:off x="10967650" y="43917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00" name="Text 97"/>
          <p:cNvSpPr/>
          <p:nvPr/>
        </p:nvSpPr>
        <p:spPr>
          <a:xfrm>
            <a:off x="495288" y="24581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101" name="Text 98"/>
          <p:cNvSpPr/>
          <p:nvPr/>
        </p:nvSpPr>
        <p:spPr>
          <a:xfrm>
            <a:off x="6257769" y="24581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102" name="Text 99"/>
          <p:cNvSpPr/>
          <p:nvPr/>
        </p:nvSpPr>
        <p:spPr>
          <a:xfrm>
            <a:off x="495288" y="1715244"/>
            <a:ext cx="112023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03" name="Text 100"/>
          <p:cNvSpPr/>
          <p:nvPr/>
        </p:nvSpPr>
        <p:spPr>
          <a:xfrm>
            <a:off x="2314916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104" name="Text 101"/>
          <p:cNvSpPr/>
          <p:nvPr/>
        </p:nvSpPr>
        <p:spPr>
          <a:xfrm>
            <a:off x="2797702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105" name="Text 102"/>
          <p:cNvSpPr/>
          <p:nvPr/>
        </p:nvSpPr>
        <p:spPr>
          <a:xfrm>
            <a:off x="3280489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106" name="Text 103"/>
          <p:cNvSpPr/>
          <p:nvPr/>
        </p:nvSpPr>
        <p:spPr>
          <a:xfrm>
            <a:off x="3763275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107" name="Text 104"/>
          <p:cNvSpPr/>
          <p:nvPr/>
        </p:nvSpPr>
        <p:spPr>
          <a:xfrm>
            <a:off x="4246061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108" name="Text 105"/>
          <p:cNvSpPr/>
          <p:nvPr/>
        </p:nvSpPr>
        <p:spPr>
          <a:xfrm>
            <a:off x="4728848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109" name="Text 106"/>
          <p:cNvSpPr/>
          <p:nvPr/>
        </p:nvSpPr>
        <p:spPr>
          <a:xfrm>
            <a:off x="6257769" y="1715244"/>
            <a:ext cx="112023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10" name="Text 107"/>
          <p:cNvSpPr/>
          <p:nvPr/>
        </p:nvSpPr>
        <p:spPr>
          <a:xfrm>
            <a:off x="8077397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111" name="Text 108"/>
          <p:cNvSpPr/>
          <p:nvPr/>
        </p:nvSpPr>
        <p:spPr>
          <a:xfrm>
            <a:off x="8560183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112" name="Text 109"/>
          <p:cNvSpPr/>
          <p:nvPr/>
        </p:nvSpPr>
        <p:spPr>
          <a:xfrm>
            <a:off x="9042970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113" name="Text 110"/>
          <p:cNvSpPr/>
          <p:nvPr/>
        </p:nvSpPr>
        <p:spPr>
          <a:xfrm>
            <a:off x="9525756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114" name="Text 111"/>
          <p:cNvSpPr/>
          <p:nvPr/>
        </p:nvSpPr>
        <p:spPr>
          <a:xfrm>
            <a:off x="10008542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115" name="Text 112"/>
          <p:cNvSpPr/>
          <p:nvPr/>
        </p:nvSpPr>
        <p:spPr>
          <a:xfrm>
            <a:off x="10491329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116" name="Text 113"/>
          <p:cNvSpPr/>
          <p:nvPr/>
        </p:nvSpPr>
        <p:spPr>
          <a:xfrm>
            <a:off x="9273649" y="18866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636" dirty="0"/>
          </a:p>
        </p:txBody>
      </p:sp>
      <p:sp>
        <p:nvSpPr>
          <p:cNvPr id="117" name="Text 114"/>
          <p:cNvSpPr/>
          <p:nvPr/>
        </p:nvSpPr>
        <p:spPr>
          <a:xfrm>
            <a:off x="9273649" y="27439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636" dirty="0"/>
          </a:p>
        </p:txBody>
      </p:sp>
      <p:sp>
        <p:nvSpPr>
          <p:cNvPr id="118" name="Text 115"/>
          <p:cNvSpPr/>
          <p:nvPr/>
        </p:nvSpPr>
        <p:spPr>
          <a:xfrm>
            <a:off x="4374991" y="952500"/>
            <a:ext cx="274320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13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0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95328" y="3020169"/>
            <a:ext cx="5060575" cy="244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sin descarte: el insumo se fabrica directamente desde Xuma con registros ya validados, por lo que el 100 % de la base recibida es apta para gestión — no existe rechazo en esta campaña.</a:t>
            </a:r>
            <a:endParaRPr lang="en-US" sz="744" dirty="0"/>
          </a:p>
        </p:txBody>
      </p:sp>
      <p:sp>
        <p:nvSpPr>
          <p:cNvPr id="4" name="Text 1"/>
          <p:cNvSpPr/>
          <p:nvPr/>
        </p:nvSpPr>
        <p:spPr>
          <a:xfrm>
            <a:off x="685783" y="6393656"/>
            <a:ext cx="267833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Alto porcentaje de contactabilidad = mayor efectividad.</a:t>
            </a:r>
            <a:endParaRPr lang="en-US" sz="744" dirty="0"/>
          </a:p>
        </p:txBody>
      </p:sp>
      <p:sp>
        <p:nvSpPr>
          <p:cNvPr id="5" name="Text 2"/>
          <p:cNvSpPr/>
          <p:nvPr/>
        </p:nvSpPr>
        <p:spPr>
          <a:xfrm>
            <a:off x="4374991" y="1200894"/>
            <a:ext cx="194619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Alta tasa de efectividad comercial en portafolio</a:t>
            </a:r>
            <a:endParaRPr lang="en-US" sz="648" dirty="0"/>
          </a:p>
        </p:txBody>
      </p:sp>
      <p:sp>
        <p:nvSpPr>
          <p:cNvPr id="6" name="Text 3"/>
          <p:cNvSpPr/>
          <p:nvPr/>
        </p:nvSpPr>
        <p:spPr>
          <a:xfrm>
            <a:off x="685783" y="6540103"/>
            <a:ext cx="221422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soporte efectiva para Masiva Voluntarios.</a:t>
            </a:r>
            <a:endParaRPr lang="en-US" sz="744" dirty="0"/>
          </a:p>
        </p:txBody>
      </p:sp>
      <p:sp>
        <p:nvSpPr>
          <p:cNvPr id="7" name="Text 4"/>
          <p:cNvSpPr/>
          <p:nvPr/>
        </p:nvSpPr>
        <p:spPr>
          <a:xfrm>
            <a:off x="533387" y="1200894"/>
            <a:ext cx="177030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Excelente respuesta de llamada y atención</a:t>
            </a:r>
            <a:endParaRPr lang="en-US" sz="648" dirty="0"/>
          </a:p>
        </p:txBody>
      </p:sp>
      <p:sp>
        <p:nvSpPr>
          <p:cNvPr id="8" name="Text 5"/>
          <p:cNvSpPr/>
          <p:nvPr/>
        </p:nvSpPr>
        <p:spPr>
          <a:xfrm>
            <a:off x="571486" y="209550"/>
            <a:ext cx="3669659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Operativo · Campaña Microseguro</a:t>
            </a:r>
            <a:endParaRPr lang="en-US" sz="1260" dirty="0"/>
          </a:p>
        </p:txBody>
      </p:sp>
      <p:sp>
        <p:nvSpPr>
          <p:cNvPr id="9" name="Text 6"/>
          <p:cNvSpPr/>
          <p:nvPr/>
        </p:nvSpPr>
        <p:spPr>
          <a:xfrm>
            <a:off x="6267293" y="38583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cumple requisito de edad (&gt;69 años)</a:t>
            </a:r>
            <a:endParaRPr lang="en-US" sz="552" dirty="0"/>
          </a:p>
        </p:txBody>
      </p:sp>
      <p:sp>
        <p:nvSpPr>
          <p:cNvPr id="10" name="Text 7"/>
          <p:cNvSpPr/>
          <p:nvPr/>
        </p:nvSpPr>
        <p:spPr>
          <a:xfrm>
            <a:off x="6372066" y="2915394"/>
            <a:ext cx="20375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Tipificación de Leads Aptos por Mes</a:t>
            </a:r>
            <a:endParaRPr lang="en-US" sz="816" dirty="0"/>
          </a:p>
        </p:txBody>
      </p:sp>
      <p:sp>
        <p:nvSpPr>
          <p:cNvPr id="11" name="Text 8"/>
          <p:cNvSpPr/>
          <p:nvPr/>
        </p:nvSpPr>
        <p:spPr>
          <a:xfrm>
            <a:off x="6267293" y="47918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apagado / fuera de servicio</a:t>
            </a:r>
            <a:endParaRPr lang="en-US" sz="552" dirty="0"/>
          </a:p>
        </p:txBody>
      </p:sp>
      <p:sp>
        <p:nvSpPr>
          <p:cNvPr id="12" name="Text 9"/>
          <p:cNvSpPr/>
          <p:nvPr/>
        </p:nvSpPr>
        <p:spPr>
          <a:xfrm>
            <a:off x="8216595" y="1200894"/>
            <a:ext cx="160466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Campaña estable y altamente rentable</a:t>
            </a:r>
            <a:endParaRPr lang="en-US" sz="648" dirty="0"/>
          </a:p>
        </p:txBody>
      </p:sp>
      <p:sp>
        <p:nvSpPr>
          <p:cNvPr id="13" name="Text 10"/>
          <p:cNvSpPr/>
          <p:nvPr/>
        </p:nvSpPr>
        <p:spPr>
          <a:xfrm>
            <a:off x="6372066" y="1486644"/>
            <a:ext cx="18149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Insumo Apto, Contacto y Ventas</a:t>
            </a:r>
            <a:endParaRPr lang="en-US" sz="816" dirty="0"/>
          </a:p>
        </p:txBody>
      </p:sp>
      <p:sp>
        <p:nvSpPr>
          <p:cNvPr id="14" name="Text 11"/>
          <p:cNvSpPr/>
          <p:nvPr/>
        </p:nvSpPr>
        <p:spPr>
          <a:xfrm>
            <a:off x="714357" y="5944791"/>
            <a:ext cx="156869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Observaciones Clave de la Base:</a:t>
            </a:r>
            <a:endParaRPr lang="en-US" sz="744" dirty="0"/>
          </a:p>
        </p:txBody>
      </p:sp>
      <p:sp>
        <p:nvSpPr>
          <p:cNvPr id="15" name="Text 12"/>
          <p:cNvSpPr/>
          <p:nvPr/>
        </p:nvSpPr>
        <p:spPr>
          <a:xfrm>
            <a:off x="6267293" y="35916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producto</a:t>
            </a:r>
            <a:endParaRPr lang="en-US" sz="552" dirty="0"/>
          </a:p>
        </p:txBody>
      </p:sp>
      <p:sp>
        <p:nvSpPr>
          <p:cNvPr id="16" name="Text 13"/>
          <p:cNvSpPr/>
          <p:nvPr/>
        </p:nvSpPr>
        <p:spPr>
          <a:xfrm>
            <a:off x="6267293" y="39917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Agendado / llamada posterior</a:t>
            </a:r>
            <a:endParaRPr lang="en-US" sz="552" dirty="0"/>
          </a:p>
        </p:txBody>
      </p:sp>
      <p:sp>
        <p:nvSpPr>
          <p:cNvPr id="17" name="Text 14"/>
          <p:cNvSpPr/>
          <p:nvPr/>
        </p:nvSpPr>
        <p:spPr>
          <a:xfrm>
            <a:off x="685783" y="6247209"/>
            <a:ext cx="13760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Mayor oportunidad de venta.</a:t>
            </a:r>
            <a:endParaRPr lang="en-US" sz="744" dirty="0"/>
          </a:p>
        </p:txBody>
      </p:sp>
      <p:sp>
        <p:nvSpPr>
          <p:cNvPr id="18" name="Text 15"/>
          <p:cNvSpPr/>
          <p:nvPr/>
        </p:nvSpPr>
        <p:spPr>
          <a:xfrm>
            <a:off x="6267293" y="41250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es responsable del pago</a:t>
            </a:r>
            <a:endParaRPr lang="en-US" sz="552" dirty="0"/>
          </a:p>
        </p:txBody>
      </p:sp>
      <p:sp>
        <p:nvSpPr>
          <p:cNvPr id="19" name="Text 16"/>
          <p:cNvSpPr/>
          <p:nvPr/>
        </p:nvSpPr>
        <p:spPr>
          <a:xfrm>
            <a:off x="609585" y="1486644"/>
            <a:ext cx="147025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Insumo Recibido por Mes</a:t>
            </a:r>
            <a:endParaRPr lang="en-US" sz="816" dirty="0"/>
          </a:p>
        </p:txBody>
      </p:sp>
      <p:sp>
        <p:nvSpPr>
          <p:cNvPr id="20" name="Text 17"/>
          <p:cNvSpPr/>
          <p:nvPr/>
        </p:nvSpPr>
        <p:spPr>
          <a:xfrm>
            <a:off x="533387" y="809625"/>
            <a:ext cx="147656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PROMEDIO</a:t>
            </a:r>
            <a:endParaRPr lang="en-US" sz="672" dirty="0"/>
          </a:p>
        </p:txBody>
      </p:sp>
      <p:sp>
        <p:nvSpPr>
          <p:cNvPr id="21" name="Text 18"/>
          <p:cNvSpPr/>
          <p:nvPr/>
        </p:nvSpPr>
        <p:spPr>
          <a:xfrm>
            <a:off x="685783" y="6100763"/>
            <a:ext cx="120317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Fabricación desde Xuma.</a:t>
            </a:r>
            <a:endParaRPr lang="en-US" sz="744" dirty="0"/>
          </a:p>
        </p:txBody>
      </p:sp>
      <p:sp>
        <p:nvSpPr>
          <p:cNvPr id="22" name="Text 19"/>
          <p:cNvSpPr/>
          <p:nvPr/>
        </p:nvSpPr>
        <p:spPr>
          <a:xfrm>
            <a:off x="6267293" y="45251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automático</a:t>
            </a:r>
            <a:endParaRPr lang="en-US" sz="552" dirty="0"/>
          </a:p>
        </p:txBody>
      </p:sp>
      <p:sp>
        <p:nvSpPr>
          <p:cNvPr id="23" name="Text 20"/>
          <p:cNvSpPr/>
          <p:nvPr/>
        </p:nvSpPr>
        <p:spPr>
          <a:xfrm>
            <a:off x="6267293" y="42584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52" dirty="0"/>
          </a:p>
        </p:txBody>
      </p:sp>
      <p:sp>
        <p:nvSpPr>
          <p:cNvPr id="24" name="Text 21"/>
          <p:cNvSpPr/>
          <p:nvPr/>
        </p:nvSpPr>
        <p:spPr>
          <a:xfrm>
            <a:off x="2572756" y="1715244"/>
            <a:ext cx="3361171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recibidos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4374991" y="809625"/>
            <a:ext cx="120996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 PROMEDIO</a:t>
            </a:r>
            <a:endParaRPr lang="en-US" sz="672" dirty="0"/>
          </a:p>
        </p:txBody>
      </p:sp>
      <p:sp>
        <p:nvSpPr>
          <p:cNvPr id="26" name="Text 23"/>
          <p:cNvSpPr/>
          <p:nvPr/>
        </p:nvSpPr>
        <p:spPr>
          <a:xfrm>
            <a:off x="8216595" y="809625"/>
            <a:ext cx="119497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CONSOLIDADAS</a:t>
            </a:r>
            <a:endParaRPr lang="en-US" sz="672" dirty="0"/>
          </a:p>
        </p:txBody>
      </p:sp>
      <p:sp>
        <p:nvSpPr>
          <p:cNvPr id="27" name="Text 24"/>
          <p:cNvSpPr/>
          <p:nvPr/>
        </p:nvSpPr>
        <p:spPr>
          <a:xfrm>
            <a:off x="6267293" y="33249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552" dirty="0"/>
          </a:p>
        </p:txBody>
      </p:sp>
      <p:sp>
        <p:nvSpPr>
          <p:cNvPr id="28" name="Text 25"/>
          <p:cNvSpPr/>
          <p:nvPr/>
        </p:nvSpPr>
        <p:spPr>
          <a:xfrm>
            <a:off x="6267293" y="37250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Cuelga la llamada</a:t>
            </a:r>
            <a:endParaRPr lang="en-US" sz="552" dirty="0"/>
          </a:p>
        </p:txBody>
      </p:sp>
      <p:sp>
        <p:nvSpPr>
          <p:cNvPr id="29" name="Text 26"/>
          <p:cNvSpPr/>
          <p:nvPr/>
        </p:nvSpPr>
        <p:spPr>
          <a:xfrm>
            <a:off x="6267293" y="49251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no contacto</a:t>
            </a:r>
            <a:endParaRPr lang="en-US" sz="552" dirty="0"/>
          </a:p>
        </p:txBody>
      </p:sp>
      <p:sp>
        <p:nvSpPr>
          <p:cNvPr id="30" name="Text 27"/>
          <p:cNvSpPr/>
          <p:nvPr/>
        </p:nvSpPr>
        <p:spPr>
          <a:xfrm>
            <a:off x="6267293" y="50585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gestionado</a:t>
            </a:r>
            <a:endParaRPr lang="en-US" sz="552" dirty="0"/>
          </a:p>
        </p:txBody>
      </p:sp>
      <p:sp>
        <p:nvSpPr>
          <p:cNvPr id="31" name="Text 28"/>
          <p:cNvSpPr/>
          <p:nvPr/>
        </p:nvSpPr>
        <p:spPr>
          <a:xfrm>
            <a:off x="10239394" y="1715244"/>
            <a:ext cx="145701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 / Ctto.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6267293" y="34583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</a:t>
            </a:r>
            <a:endParaRPr lang="en-US" sz="552" dirty="0"/>
          </a:p>
        </p:txBody>
      </p:sp>
      <p:sp>
        <p:nvSpPr>
          <p:cNvPr id="33" name="Text 30"/>
          <p:cNvSpPr/>
          <p:nvPr/>
        </p:nvSpPr>
        <p:spPr>
          <a:xfrm>
            <a:off x="6267293" y="3153519"/>
            <a:ext cx="1879325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</a:t>
            </a:r>
            <a:endParaRPr lang="en-US" sz="888" dirty="0"/>
          </a:p>
        </p:txBody>
      </p:sp>
      <p:sp>
        <p:nvSpPr>
          <p:cNvPr id="34" name="Text 31"/>
          <p:cNvSpPr/>
          <p:nvPr/>
        </p:nvSpPr>
        <p:spPr>
          <a:xfrm>
            <a:off x="6267293" y="43917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CONTACTO</a:t>
            </a:r>
            <a:endParaRPr lang="en-US" sz="552" dirty="0"/>
          </a:p>
        </p:txBody>
      </p:sp>
      <p:sp>
        <p:nvSpPr>
          <p:cNvPr id="35" name="Text 32"/>
          <p:cNvSpPr/>
          <p:nvPr/>
        </p:nvSpPr>
        <p:spPr>
          <a:xfrm>
            <a:off x="6267293" y="46584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contesta</a:t>
            </a:r>
            <a:endParaRPr lang="en-US" sz="552" dirty="0"/>
          </a:p>
        </p:txBody>
      </p:sp>
      <p:sp>
        <p:nvSpPr>
          <p:cNvPr id="36" name="Text 33"/>
          <p:cNvSpPr/>
          <p:nvPr/>
        </p:nvSpPr>
        <p:spPr>
          <a:xfrm>
            <a:off x="8294831" y="1715244"/>
            <a:ext cx="100818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495288" y="2029569"/>
            <a:ext cx="224062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38" name="Text 35"/>
          <p:cNvSpPr/>
          <p:nvPr/>
        </p:nvSpPr>
        <p:spPr>
          <a:xfrm>
            <a:off x="6257769" y="20295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39" name="Text 36"/>
          <p:cNvSpPr/>
          <p:nvPr/>
        </p:nvSpPr>
        <p:spPr>
          <a:xfrm>
            <a:off x="9273649" y="1715244"/>
            <a:ext cx="100818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8294831" y="18866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87,9 %</a:t>
            </a:r>
            <a:endParaRPr lang="en-US" sz="636" dirty="0"/>
          </a:p>
        </p:txBody>
      </p:sp>
      <p:sp>
        <p:nvSpPr>
          <p:cNvPr id="41" name="Text 38"/>
          <p:cNvSpPr/>
          <p:nvPr/>
        </p:nvSpPr>
        <p:spPr>
          <a:xfrm>
            <a:off x="10239394" y="188669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22,0 %</a:t>
            </a:r>
            <a:endParaRPr lang="en-US" sz="636" dirty="0"/>
          </a:p>
        </p:txBody>
      </p:sp>
      <p:sp>
        <p:nvSpPr>
          <p:cNvPr id="42" name="Text 39"/>
          <p:cNvSpPr/>
          <p:nvPr/>
        </p:nvSpPr>
        <p:spPr>
          <a:xfrm>
            <a:off x="8294831" y="20295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85,2 %</a:t>
            </a:r>
            <a:endParaRPr lang="en-US" sz="636" dirty="0"/>
          </a:p>
        </p:txBody>
      </p:sp>
      <p:sp>
        <p:nvSpPr>
          <p:cNvPr id="43" name="Text 40"/>
          <p:cNvSpPr/>
          <p:nvPr/>
        </p:nvSpPr>
        <p:spPr>
          <a:xfrm>
            <a:off x="10239394" y="2029569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19,0 %</a:t>
            </a:r>
            <a:endParaRPr lang="en-US" sz="636" dirty="0"/>
          </a:p>
        </p:txBody>
      </p:sp>
      <p:sp>
        <p:nvSpPr>
          <p:cNvPr id="44" name="Text 41"/>
          <p:cNvSpPr/>
          <p:nvPr/>
        </p:nvSpPr>
        <p:spPr>
          <a:xfrm>
            <a:off x="8294831" y="21724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78,9 %</a:t>
            </a:r>
            <a:endParaRPr lang="en-US" sz="636" dirty="0"/>
          </a:p>
        </p:txBody>
      </p:sp>
      <p:sp>
        <p:nvSpPr>
          <p:cNvPr id="45" name="Text 42"/>
          <p:cNvSpPr/>
          <p:nvPr/>
        </p:nvSpPr>
        <p:spPr>
          <a:xfrm>
            <a:off x="10239394" y="217244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17,5 %</a:t>
            </a:r>
            <a:endParaRPr lang="en-US" sz="636" dirty="0"/>
          </a:p>
        </p:txBody>
      </p:sp>
      <p:sp>
        <p:nvSpPr>
          <p:cNvPr id="46" name="Text 43"/>
          <p:cNvSpPr/>
          <p:nvPr/>
        </p:nvSpPr>
        <p:spPr>
          <a:xfrm>
            <a:off x="8294831" y="231531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50,0 %</a:t>
            </a:r>
            <a:endParaRPr lang="en-US" sz="636" dirty="0"/>
          </a:p>
        </p:txBody>
      </p:sp>
      <p:sp>
        <p:nvSpPr>
          <p:cNvPr id="47" name="Text 44"/>
          <p:cNvSpPr/>
          <p:nvPr/>
        </p:nvSpPr>
        <p:spPr>
          <a:xfrm>
            <a:off x="10239394" y="2315319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15,6 %</a:t>
            </a:r>
            <a:endParaRPr lang="en-US" sz="636" dirty="0"/>
          </a:p>
        </p:txBody>
      </p:sp>
      <p:sp>
        <p:nvSpPr>
          <p:cNvPr id="48" name="Text 45"/>
          <p:cNvSpPr/>
          <p:nvPr/>
        </p:nvSpPr>
        <p:spPr>
          <a:xfrm>
            <a:off x="8294831" y="24581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86,8 %</a:t>
            </a:r>
            <a:endParaRPr lang="en-US" sz="636" dirty="0"/>
          </a:p>
        </p:txBody>
      </p:sp>
      <p:sp>
        <p:nvSpPr>
          <p:cNvPr id="49" name="Text 46"/>
          <p:cNvSpPr/>
          <p:nvPr/>
        </p:nvSpPr>
        <p:spPr>
          <a:xfrm>
            <a:off x="10239394" y="245819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17,8 %</a:t>
            </a:r>
            <a:endParaRPr lang="en-US" sz="636" dirty="0"/>
          </a:p>
        </p:txBody>
      </p:sp>
      <p:sp>
        <p:nvSpPr>
          <p:cNvPr id="50" name="Text 47"/>
          <p:cNvSpPr/>
          <p:nvPr/>
        </p:nvSpPr>
        <p:spPr>
          <a:xfrm>
            <a:off x="8294831" y="26010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86,7 %</a:t>
            </a:r>
            <a:endParaRPr lang="en-US" sz="636" dirty="0"/>
          </a:p>
        </p:txBody>
      </p:sp>
      <p:sp>
        <p:nvSpPr>
          <p:cNvPr id="51" name="Text 48"/>
          <p:cNvSpPr/>
          <p:nvPr/>
        </p:nvSpPr>
        <p:spPr>
          <a:xfrm>
            <a:off x="10239394" y="2601069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14,3 %</a:t>
            </a:r>
            <a:endParaRPr lang="en-US" sz="636" dirty="0"/>
          </a:p>
        </p:txBody>
      </p:sp>
      <p:sp>
        <p:nvSpPr>
          <p:cNvPr id="52" name="Text 49"/>
          <p:cNvSpPr/>
          <p:nvPr/>
        </p:nvSpPr>
        <p:spPr>
          <a:xfrm>
            <a:off x="8294831" y="27439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78,9 %</a:t>
            </a:r>
            <a:endParaRPr lang="en-US" sz="636" dirty="0"/>
          </a:p>
        </p:txBody>
      </p:sp>
      <p:sp>
        <p:nvSpPr>
          <p:cNvPr id="53" name="Text 50"/>
          <p:cNvSpPr/>
          <p:nvPr/>
        </p:nvSpPr>
        <p:spPr>
          <a:xfrm>
            <a:off x="10239394" y="274394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17,7 %</a:t>
            </a:r>
            <a:endParaRPr lang="en-US" sz="636" dirty="0"/>
          </a:p>
        </p:txBody>
      </p:sp>
      <p:sp>
        <p:nvSpPr>
          <p:cNvPr id="54" name="Text 51"/>
          <p:cNvSpPr/>
          <p:nvPr/>
        </p:nvSpPr>
        <p:spPr>
          <a:xfrm>
            <a:off x="8077397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87,9 %</a:t>
            </a:r>
            <a:endParaRPr lang="en-US" sz="552" dirty="0"/>
          </a:p>
        </p:txBody>
      </p:sp>
      <p:sp>
        <p:nvSpPr>
          <p:cNvPr id="55" name="Text 52"/>
          <p:cNvSpPr/>
          <p:nvPr/>
        </p:nvSpPr>
        <p:spPr>
          <a:xfrm>
            <a:off x="8560183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85,2 %</a:t>
            </a:r>
            <a:endParaRPr lang="en-US" sz="552" dirty="0"/>
          </a:p>
        </p:txBody>
      </p:sp>
      <p:sp>
        <p:nvSpPr>
          <p:cNvPr id="56" name="Text 53"/>
          <p:cNvSpPr/>
          <p:nvPr/>
        </p:nvSpPr>
        <p:spPr>
          <a:xfrm>
            <a:off x="9042970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78,9 %</a:t>
            </a:r>
            <a:endParaRPr lang="en-US" sz="552" dirty="0"/>
          </a:p>
        </p:txBody>
      </p:sp>
      <p:sp>
        <p:nvSpPr>
          <p:cNvPr id="57" name="Text 54"/>
          <p:cNvSpPr/>
          <p:nvPr/>
        </p:nvSpPr>
        <p:spPr>
          <a:xfrm>
            <a:off x="9525756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50,0 %</a:t>
            </a:r>
            <a:endParaRPr lang="en-US" sz="552" dirty="0"/>
          </a:p>
        </p:txBody>
      </p:sp>
      <p:sp>
        <p:nvSpPr>
          <p:cNvPr id="58" name="Text 55"/>
          <p:cNvSpPr/>
          <p:nvPr/>
        </p:nvSpPr>
        <p:spPr>
          <a:xfrm>
            <a:off x="10008542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86,8 %</a:t>
            </a:r>
            <a:endParaRPr lang="en-US" sz="552" dirty="0"/>
          </a:p>
        </p:txBody>
      </p:sp>
      <p:sp>
        <p:nvSpPr>
          <p:cNvPr id="59" name="Text 56"/>
          <p:cNvSpPr/>
          <p:nvPr/>
        </p:nvSpPr>
        <p:spPr>
          <a:xfrm>
            <a:off x="10491329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86,7 %</a:t>
            </a:r>
            <a:endParaRPr lang="en-US" sz="552" dirty="0"/>
          </a:p>
        </p:txBody>
      </p:sp>
      <p:sp>
        <p:nvSpPr>
          <p:cNvPr id="60" name="Text 57"/>
          <p:cNvSpPr/>
          <p:nvPr/>
        </p:nvSpPr>
        <p:spPr>
          <a:xfrm>
            <a:off x="10967650" y="33249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78,9 %</a:t>
            </a:r>
            <a:endParaRPr lang="en-US" sz="552" dirty="0"/>
          </a:p>
        </p:txBody>
      </p:sp>
      <p:sp>
        <p:nvSpPr>
          <p:cNvPr id="61" name="Text 58"/>
          <p:cNvSpPr/>
          <p:nvPr/>
        </p:nvSpPr>
        <p:spPr>
          <a:xfrm>
            <a:off x="8077397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19,3 %</a:t>
            </a:r>
            <a:endParaRPr lang="en-US" sz="552" dirty="0"/>
          </a:p>
        </p:txBody>
      </p:sp>
      <p:sp>
        <p:nvSpPr>
          <p:cNvPr id="62" name="Text 59"/>
          <p:cNvSpPr/>
          <p:nvPr/>
        </p:nvSpPr>
        <p:spPr>
          <a:xfrm>
            <a:off x="8560183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16,1 %</a:t>
            </a:r>
            <a:endParaRPr lang="en-US" sz="552" dirty="0"/>
          </a:p>
        </p:txBody>
      </p:sp>
      <p:sp>
        <p:nvSpPr>
          <p:cNvPr id="63" name="Text 60"/>
          <p:cNvSpPr/>
          <p:nvPr/>
        </p:nvSpPr>
        <p:spPr>
          <a:xfrm>
            <a:off x="9042970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13,8 %</a:t>
            </a:r>
            <a:endParaRPr lang="en-US" sz="552" dirty="0"/>
          </a:p>
        </p:txBody>
      </p:sp>
      <p:sp>
        <p:nvSpPr>
          <p:cNvPr id="64" name="Text 61"/>
          <p:cNvSpPr/>
          <p:nvPr/>
        </p:nvSpPr>
        <p:spPr>
          <a:xfrm>
            <a:off x="10008542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15,4 %</a:t>
            </a:r>
            <a:endParaRPr lang="en-US" sz="552" dirty="0"/>
          </a:p>
        </p:txBody>
      </p:sp>
      <p:sp>
        <p:nvSpPr>
          <p:cNvPr id="65" name="Text 62"/>
          <p:cNvSpPr/>
          <p:nvPr/>
        </p:nvSpPr>
        <p:spPr>
          <a:xfrm>
            <a:off x="10491329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12,4 %</a:t>
            </a:r>
            <a:endParaRPr lang="en-US" sz="552" dirty="0"/>
          </a:p>
        </p:txBody>
      </p:sp>
      <p:sp>
        <p:nvSpPr>
          <p:cNvPr id="66" name="Text 63"/>
          <p:cNvSpPr/>
          <p:nvPr/>
        </p:nvSpPr>
        <p:spPr>
          <a:xfrm>
            <a:off x="10967650" y="34583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14,0 %</a:t>
            </a:r>
            <a:endParaRPr lang="en-US" sz="552" dirty="0"/>
          </a:p>
        </p:txBody>
      </p:sp>
      <p:sp>
        <p:nvSpPr>
          <p:cNvPr id="67" name="Text 64"/>
          <p:cNvSpPr/>
          <p:nvPr/>
        </p:nvSpPr>
        <p:spPr>
          <a:xfrm>
            <a:off x="8077397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29,5 %</a:t>
            </a:r>
            <a:endParaRPr lang="en-US" sz="552" dirty="0"/>
          </a:p>
        </p:txBody>
      </p:sp>
      <p:sp>
        <p:nvSpPr>
          <p:cNvPr id="68" name="Text 65"/>
          <p:cNvSpPr/>
          <p:nvPr/>
        </p:nvSpPr>
        <p:spPr>
          <a:xfrm>
            <a:off x="8560183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28,6 %</a:t>
            </a:r>
            <a:endParaRPr lang="en-US" sz="552" dirty="0"/>
          </a:p>
        </p:txBody>
      </p:sp>
      <p:sp>
        <p:nvSpPr>
          <p:cNvPr id="69" name="Text 66"/>
          <p:cNvSpPr/>
          <p:nvPr/>
        </p:nvSpPr>
        <p:spPr>
          <a:xfrm>
            <a:off x="9042970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26,4 %</a:t>
            </a:r>
            <a:endParaRPr lang="en-US" sz="552" dirty="0"/>
          </a:p>
        </p:txBody>
      </p:sp>
      <p:sp>
        <p:nvSpPr>
          <p:cNvPr id="70" name="Text 67"/>
          <p:cNvSpPr/>
          <p:nvPr/>
        </p:nvSpPr>
        <p:spPr>
          <a:xfrm>
            <a:off x="9525756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16,8 %</a:t>
            </a:r>
            <a:endParaRPr lang="en-US" sz="552" dirty="0"/>
          </a:p>
        </p:txBody>
      </p:sp>
      <p:sp>
        <p:nvSpPr>
          <p:cNvPr id="71" name="Text 68"/>
          <p:cNvSpPr/>
          <p:nvPr/>
        </p:nvSpPr>
        <p:spPr>
          <a:xfrm>
            <a:off x="10008542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29,1 %</a:t>
            </a:r>
            <a:endParaRPr lang="en-US" sz="552" dirty="0"/>
          </a:p>
        </p:txBody>
      </p:sp>
      <p:sp>
        <p:nvSpPr>
          <p:cNvPr id="72" name="Text 69"/>
          <p:cNvSpPr/>
          <p:nvPr/>
        </p:nvSpPr>
        <p:spPr>
          <a:xfrm>
            <a:off x="10491329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29,1 %</a:t>
            </a:r>
            <a:endParaRPr lang="en-US" sz="552" dirty="0"/>
          </a:p>
        </p:txBody>
      </p:sp>
      <p:sp>
        <p:nvSpPr>
          <p:cNvPr id="73" name="Text 70"/>
          <p:cNvSpPr/>
          <p:nvPr/>
        </p:nvSpPr>
        <p:spPr>
          <a:xfrm>
            <a:off x="10967650" y="35916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26,4 %</a:t>
            </a:r>
            <a:endParaRPr lang="en-US" sz="552" dirty="0"/>
          </a:p>
        </p:txBody>
      </p:sp>
      <p:sp>
        <p:nvSpPr>
          <p:cNvPr id="74" name="Text 71"/>
          <p:cNvSpPr/>
          <p:nvPr/>
        </p:nvSpPr>
        <p:spPr>
          <a:xfrm>
            <a:off x="8077397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11,2 %</a:t>
            </a:r>
            <a:endParaRPr lang="en-US" sz="552" dirty="0"/>
          </a:p>
        </p:txBody>
      </p:sp>
      <p:sp>
        <p:nvSpPr>
          <p:cNvPr id="75" name="Text 72"/>
          <p:cNvSpPr/>
          <p:nvPr/>
        </p:nvSpPr>
        <p:spPr>
          <a:xfrm>
            <a:off x="8560183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10,8 %</a:t>
            </a:r>
            <a:endParaRPr lang="en-US" sz="552" dirty="0"/>
          </a:p>
        </p:txBody>
      </p:sp>
      <p:sp>
        <p:nvSpPr>
          <p:cNvPr id="76" name="Text 73"/>
          <p:cNvSpPr/>
          <p:nvPr/>
        </p:nvSpPr>
        <p:spPr>
          <a:xfrm>
            <a:off x="9042970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10,0 %</a:t>
            </a:r>
            <a:endParaRPr lang="en-US" sz="552" dirty="0"/>
          </a:p>
        </p:txBody>
      </p:sp>
      <p:sp>
        <p:nvSpPr>
          <p:cNvPr id="77" name="Text 74"/>
          <p:cNvSpPr/>
          <p:nvPr/>
        </p:nvSpPr>
        <p:spPr>
          <a:xfrm>
            <a:off x="10008542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11,0 %</a:t>
            </a:r>
            <a:endParaRPr lang="en-US" sz="552" dirty="0"/>
          </a:p>
        </p:txBody>
      </p:sp>
      <p:sp>
        <p:nvSpPr>
          <p:cNvPr id="78" name="Text 75"/>
          <p:cNvSpPr/>
          <p:nvPr/>
        </p:nvSpPr>
        <p:spPr>
          <a:xfrm>
            <a:off x="10491329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11,0 %</a:t>
            </a:r>
            <a:endParaRPr lang="en-US" sz="552" dirty="0"/>
          </a:p>
        </p:txBody>
      </p:sp>
      <p:sp>
        <p:nvSpPr>
          <p:cNvPr id="79" name="Text 76"/>
          <p:cNvSpPr/>
          <p:nvPr/>
        </p:nvSpPr>
        <p:spPr>
          <a:xfrm>
            <a:off x="10967650" y="37250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10,0 %</a:t>
            </a:r>
            <a:endParaRPr lang="en-US" sz="552" dirty="0"/>
          </a:p>
        </p:txBody>
      </p:sp>
      <p:sp>
        <p:nvSpPr>
          <p:cNvPr id="80" name="Text 77"/>
          <p:cNvSpPr/>
          <p:nvPr/>
        </p:nvSpPr>
        <p:spPr>
          <a:xfrm>
            <a:off x="8077397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12,3 %</a:t>
            </a:r>
            <a:endParaRPr lang="en-US" sz="552" dirty="0"/>
          </a:p>
        </p:txBody>
      </p:sp>
      <p:sp>
        <p:nvSpPr>
          <p:cNvPr id="81" name="Text 78"/>
          <p:cNvSpPr/>
          <p:nvPr/>
        </p:nvSpPr>
        <p:spPr>
          <a:xfrm>
            <a:off x="8560183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11,9 %</a:t>
            </a:r>
            <a:endParaRPr lang="en-US" sz="552" dirty="0"/>
          </a:p>
        </p:txBody>
      </p:sp>
      <p:sp>
        <p:nvSpPr>
          <p:cNvPr id="82" name="Text 79"/>
          <p:cNvSpPr/>
          <p:nvPr/>
        </p:nvSpPr>
        <p:spPr>
          <a:xfrm>
            <a:off x="9042970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11,0 %</a:t>
            </a:r>
            <a:endParaRPr lang="en-US" sz="552" dirty="0"/>
          </a:p>
        </p:txBody>
      </p:sp>
      <p:sp>
        <p:nvSpPr>
          <p:cNvPr id="83" name="Text 80"/>
          <p:cNvSpPr/>
          <p:nvPr/>
        </p:nvSpPr>
        <p:spPr>
          <a:xfrm>
            <a:off x="10008542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12,1 %</a:t>
            </a:r>
            <a:endParaRPr lang="en-US" sz="552" dirty="0"/>
          </a:p>
        </p:txBody>
      </p:sp>
      <p:sp>
        <p:nvSpPr>
          <p:cNvPr id="84" name="Text 81"/>
          <p:cNvSpPr/>
          <p:nvPr/>
        </p:nvSpPr>
        <p:spPr>
          <a:xfrm>
            <a:off x="10491329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12,1 %</a:t>
            </a:r>
            <a:endParaRPr lang="en-US" sz="552" dirty="0"/>
          </a:p>
        </p:txBody>
      </p:sp>
      <p:sp>
        <p:nvSpPr>
          <p:cNvPr id="85" name="Text 82"/>
          <p:cNvSpPr/>
          <p:nvPr/>
        </p:nvSpPr>
        <p:spPr>
          <a:xfrm>
            <a:off x="10967650" y="42584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11,0 %</a:t>
            </a:r>
            <a:endParaRPr lang="en-US" sz="552" dirty="0"/>
          </a:p>
        </p:txBody>
      </p:sp>
      <p:sp>
        <p:nvSpPr>
          <p:cNvPr id="86" name="Text 83"/>
          <p:cNvSpPr/>
          <p:nvPr/>
        </p:nvSpPr>
        <p:spPr>
          <a:xfrm>
            <a:off x="8077397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12,1 %</a:t>
            </a:r>
            <a:endParaRPr lang="en-US" sz="552" dirty="0"/>
          </a:p>
        </p:txBody>
      </p:sp>
      <p:sp>
        <p:nvSpPr>
          <p:cNvPr id="87" name="Text 84"/>
          <p:cNvSpPr/>
          <p:nvPr/>
        </p:nvSpPr>
        <p:spPr>
          <a:xfrm>
            <a:off x="8560183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14,8 %</a:t>
            </a:r>
            <a:endParaRPr lang="en-US" sz="552" dirty="0"/>
          </a:p>
        </p:txBody>
      </p:sp>
      <p:sp>
        <p:nvSpPr>
          <p:cNvPr id="88" name="Text 85"/>
          <p:cNvSpPr/>
          <p:nvPr/>
        </p:nvSpPr>
        <p:spPr>
          <a:xfrm>
            <a:off x="9042970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21,1 %</a:t>
            </a:r>
            <a:endParaRPr lang="en-US" sz="552" dirty="0"/>
          </a:p>
        </p:txBody>
      </p:sp>
      <p:sp>
        <p:nvSpPr>
          <p:cNvPr id="89" name="Text 86"/>
          <p:cNvSpPr/>
          <p:nvPr/>
        </p:nvSpPr>
        <p:spPr>
          <a:xfrm>
            <a:off x="9525756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50,0 %</a:t>
            </a:r>
            <a:endParaRPr lang="en-US" sz="552" dirty="0"/>
          </a:p>
        </p:txBody>
      </p:sp>
      <p:sp>
        <p:nvSpPr>
          <p:cNvPr id="90" name="Text 87"/>
          <p:cNvSpPr/>
          <p:nvPr/>
        </p:nvSpPr>
        <p:spPr>
          <a:xfrm>
            <a:off x="10008542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13,2 %</a:t>
            </a:r>
            <a:endParaRPr lang="en-US" sz="552" dirty="0"/>
          </a:p>
        </p:txBody>
      </p:sp>
      <p:sp>
        <p:nvSpPr>
          <p:cNvPr id="91" name="Text 88"/>
          <p:cNvSpPr/>
          <p:nvPr/>
        </p:nvSpPr>
        <p:spPr>
          <a:xfrm>
            <a:off x="10491329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13,3 %</a:t>
            </a:r>
            <a:endParaRPr lang="en-US" sz="552" dirty="0"/>
          </a:p>
        </p:txBody>
      </p:sp>
      <p:sp>
        <p:nvSpPr>
          <p:cNvPr id="92" name="Text 89"/>
          <p:cNvSpPr/>
          <p:nvPr/>
        </p:nvSpPr>
        <p:spPr>
          <a:xfrm>
            <a:off x="10967650" y="43917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21,1 %</a:t>
            </a:r>
            <a:endParaRPr lang="en-US" sz="552" dirty="0"/>
          </a:p>
        </p:txBody>
      </p:sp>
      <p:sp>
        <p:nvSpPr>
          <p:cNvPr id="93" name="Text 90"/>
          <p:cNvSpPr/>
          <p:nvPr/>
        </p:nvSpPr>
        <p:spPr>
          <a:xfrm>
            <a:off x="9042970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13,3 %</a:t>
            </a:r>
            <a:endParaRPr lang="en-US" sz="552" dirty="0"/>
          </a:p>
        </p:txBody>
      </p:sp>
      <p:sp>
        <p:nvSpPr>
          <p:cNvPr id="94" name="Text 91"/>
          <p:cNvSpPr/>
          <p:nvPr/>
        </p:nvSpPr>
        <p:spPr>
          <a:xfrm>
            <a:off x="9525756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31,5 %</a:t>
            </a:r>
            <a:endParaRPr lang="en-US" sz="552" dirty="0"/>
          </a:p>
        </p:txBody>
      </p:sp>
      <p:sp>
        <p:nvSpPr>
          <p:cNvPr id="95" name="Text 92"/>
          <p:cNvSpPr/>
          <p:nvPr/>
        </p:nvSpPr>
        <p:spPr>
          <a:xfrm>
            <a:off x="10967650" y="45251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13,3 %</a:t>
            </a:r>
            <a:endParaRPr lang="en-US" sz="552" dirty="0"/>
          </a:p>
        </p:txBody>
      </p:sp>
      <p:sp>
        <p:nvSpPr>
          <p:cNvPr id="96" name="Text 93"/>
          <p:cNvSpPr/>
          <p:nvPr/>
        </p:nvSpPr>
        <p:spPr>
          <a:xfrm>
            <a:off x="9525756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14,0 %</a:t>
            </a:r>
            <a:endParaRPr lang="en-US" sz="552" dirty="0"/>
          </a:p>
        </p:txBody>
      </p:sp>
      <p:sp>
        <p:nvSpPr>
          <p:cNvPr id="97" name="Text 94"/>
          <p:cNvSpPr/>
          <p:nvPr/>
        </p:nvSpPr>
        <p:spPr>
          <a:xfrm>
            <a:off x="533387" y="952500"/>
            <a:ext cx="577841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78,9 %</a:t>
            </a:r>
            <a:endParaRPr lang="en-US" sz="1380" dirty="0"/>
          </a:p>
        </p:txBody>
      </p:sp>
      <p:sp>
        <p:nvSpPr>
          <p:cNvPr id="98" name="Text 95"/>
          <p:cNvSpPr/>
          <p:nvPr/>
        </p:nvSpPr>
        <p:spPr>
          <a:xfrm>
            <a:off x="4374991" y="952500"/>
            <a:ext cx="538245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17,7 %</a:t>
            </a:r>
            <a:endParaRPr lang="en-US" sz="1380" dirty="0"/>
          </a:p>
        </p:txBody>
      </p:sp>
      <p:sp>
        <p:nvSpPr>
          <p:cNvPr id="99" name="Text 96"/>
          <p:cNvSpPr/>
          <p:nvPr/>
        </p:nvSpPr>
        <p:spPr>
          <a:xfrm>
            <a:off x="495288" y="1886694"/>
            <a:ext cx="224062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00" name="Text 97"/>
          <p:cNvSpPr/>
          <p:nvPr/>
        </p:nvSpPr>
        <p:spPr>
          <a:xfrm>
            <a:off x="2572756" y="1886694"/>
            <a:ext cx="3361171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1.368</a:t>
            </a:r>
            <a:endParaRPr lang="en-US" sz="636" dirty="0"/>
          </a:p>
        </p:txBody>
      </p:sp>
      <p:sp>
        <p:nvSpPr>
          <p:cNvPr id="101" name="Text 98"/>
          <p:cNvSpPr/>
          <p:nvPr/>
        </p:nvSpPr>
        <p:spPr>
          <a:xfrm>
            <a:off x="2572756" y="2029569"/>
            <a:ext cx="3361171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1.575</a:t>
            </a:r>
            <a:endParaRPr lang="en-US" sz="636" dirty="0"/>
          </a:p>
        </p:txBody>
      </p:sp>
      <p:sp>
        <p:nvSpPr>
          <p:cNvPr id="102" name="Text 99"/>
          <p:cNvSpPr/>
          <p:nvPr/>
        </p:nvSpPr>
        <p:spPr>
          <a:xfrm>
            <a:off x="495288" y="2172444"/>
            <a:ext cx="224062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03" name="Text 100"/>
          <p:cNvSpPr/>
          <p:nvPr/>
        </p:nvSpPr>
        <p:spPr>
          <a:xfrm>
            <a:off x="2572756" y="2172444"/>
            <a:ext cx="3361171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1.147</a:t>
            </a:r>
            <a:endParaRPr lang="en-US" sz="636" dirty="0"/>
          </a:p>
        </p:txBody>
      </p:sp>
      <p:sp>
        <p:nvSpPr>
          <p:cNvPr id="104" name="Text 101"/>
          <p:cNvSpPr/>
          <p:nvPr/>
        </p:nvSpPr>
        <p:spPr>
          <a:xfrm>
            <a:off x="495288" y="2315319"/>
            <a:ext cx="224062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05" name="Text 102"/>
          <p:cNvSpPr/>
          <p:nvPr/>
        </p:nvSpPr>
        <p:spPr>
          <a:xfrm>
            <a:off x="2572756" y="2315319"/>
            <a:ext cx="3361171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1.737</a:t>
            </a:r>
            <a:endParaRPr lang="en-US" sz="636" dirty="0"/>
          </a:p>
        </p:txBody>
      </p:sp>
      <p:sp>
        <p:nvSpPr>
          <p:cNvPr id="106" name="Text 103"/>
          <p:cNvSpPr/>
          <p:nvPr/>
        </p:nvSpPr>
        <p:spPr>
          <a:xfrm>
            <a:off x="2572756" y="2458194"/>
            <a:ext cx="3361171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1.865</a:t>
            </a:r>
            <a:endParaRPr lang="en-US" sz="636" dirty="0"/>
          </a:p>
        </p:txBody>
      </p:sp>
      <p:sp>
        <p:nvSpPr>
          <p:cNvPr id="107" name="Text 104"/>
          <p:cNvSpPr/>
          <p:nvPr/>
        </p:nvSpPr>
        <p:spPr>
          <a:xfrm>
            <a:off x="495288" y="2601069"/>
            <a:ext cx="224062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08" name="Text 105"/>
          <p:cNvSpPr/>
          <p:nvPr/>
        </p:nvSpPr>
        <p:spPr>
          <a:xfrm>
            <a:off x="2572756" y="2601069"/>
            <a:ext cx="3361171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1.705</a:t>
            </a:r>
            <a:endParaRPr lang="en-US" sz="636" dirty="0"/>
          </a:p>
        </p:txBody>
      </p:sp>
      <p:sp>
        <p:nvSpPr>
          <p:cNvPr id="109" name="Text 106"/>
          <p:cNvSpPr/>
          <p:nvPr/>
        </p:nvSpPr>
        <p:spPr>
          <a:xfrm>
            <a:off x="495288" y="2743944"/>
            <a:ext cx="224062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10" name="Text 107"/>
          <p:cNvSpPr/>
          <p:nvPr/>
        </p:nvSpPr>
        <p:spPr>
          <a:xfrm>
            <a:off x="2572756" y="2743944"/>
            <a:ext cx="3361171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9.397</a:t>
            </a:r>
            <a:endParaRPr lang="en-US" sz="636" dirty="0"/>
          </a:p>
        </p:txBody>
      </p:sp>
      <p:sp>
        <p:nvSpPr>
          <p:cNvPr id="111" name="Text 108"/>
          <p:cNvSpPr/>
          <p:nvPr/>
        </p:nvSpPr>
        <p:spPr>
          <a:xfrm>
            <a:off x="7316013" y="1715244"/>
            <a:ext cx="100818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112" name="Text 109"/>
          <p:cNvSpPr/>
          <p:nvPr/>
        </p:nvSpPr>
        <p:spPr>
          <a:xfrm>
            <a:off x="6257769" y="18866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13" name="Text 110"/>
          <p:cNvSpPr/>
          <p:nvPr/>
        </p:nvSpPr>
        <p:spPr>
          <a:xfrm>
            <a:off x="7316013" y="18866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1.368</a:t>
            </a:r>
            <a:endParaRPr lang="en-US" sz="636" dirty="0"/>
          </a:p>
        </p:txBody>
      </p:sp>
      <p:sp>
        <p:nvSpPr>
          <p:cNvPr id="114" name="Text 111"/>
          <p:cNvSpPr/>
          <p:nvPr/>
        </p:nvSpPr>
        <p:spPr>
          <a:xfrm>
            <a:off x="7316013" y="20295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1.575</a:t>
            </a:r>
            <a:endParaRPr lang="en-US" sz="636" dirty="0"/>
          </a:p>
        </p:txBody>
      </p:sp>
      <p:sp>
        <p:nvSpPr>
          <p:cNvPr id="115" name="Text 112"/>
          <p:cNvSpPr/>
          <p:nvPr/>
        </p:nvSpPr>
        <p:spPr>
          <a:xfrm>
            <a:off x="6257769" y="21724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16" name="Text 113"/>
          <p:cNvSpPr/>
          <p:nvPr/>
        </p:nvSpPr>
        <p:spPr>
          <a:xfrm>
            <a:off x="7316013" y="21724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1.147</a:t>
            </a:r>
            <a:endParaRPr lang="en-US" sz="636" dirty="0"/>
          </a:p>
        </p:txBody>
      </p:sp>
      <p:sp>
        <p:nvSpPr>
          <p:cNvPr id="117" name="Text 114"/>
          <p:cNvSpPr/>
          <p:nvPr/>
        </p:nvSpPr>
        <p:spPr>
          <a:xfrm>
            <a:off x="6257769" y="231531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18" name="Text 115"/>
          <p:cNvSpPr/>
          <p:nvPr/>
        </p:nvSpPr>
        <p:spPr>
          <a:xfrm>
            <a:off x="7316013" y="231531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1.737</a:t>
            </a:r>
            <a:endParaRPr lang="en-US" sz="636" dirty="0"/>
          </a:p>
        </p:txBody>
      </p:sp>
      <p:sp>
        <p:nvSpPr>
          <p:cNvPr id="119" name="Text 116"/>
          <p:cNvSpPr/>
          <p:nvPr/>
        </p:nvSpPr>
        <p:spPr>
          <a:xfrm>
            <a:off x="7316013" y="24581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1.865</a:t>
            </a:r>
            <a:endParaRPr lang="en-US" sz="636" dirty="0"/>
          </a:p>
        </p:txBody>
      </p:sp>
      <p:sp>
        <p:nvSpPr>
          <p:cNvPr id="120" name="Text 117"/>
          <p:cNvSpPr/>
          <p:nvPr/>
        </p:nvSpPr>
        <p:spPr>
          <a:xfrm>
            <a:off x="6257769" y="26010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21" name="Text 118"/>
          <p:cNvSpPr/>
          <p:nvPr/>
        </p:nvSpPr>
        <p:spPr>
          <a:xfrm>
            <a:off x="7316013" y="26010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1.705</a:t>
            </a:r>
            <a:endParaRPr lang="en-US" sz="636" dirty="0"/>
          </a:p>
        </p:txBody>
      </p:sp>
      <p:sp>
        <p:nvSpPr>
          <p:cNvPr id="122" name="Text 119"/>
          <p:cNvSpPr/>
          <p:nvPr/>
        </p:nvSpPr>
        <p:spPr>
          <a:xfrm>
            <a:off x="6257769" y="27439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23" name="Text 120"/>
          <p:cNvSpPr/>
          <p:nvPr/>
        </p:nvSpPr>
        <p:spPr>
          <a:xfrm>
            <a:off x="7316013" y="27439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9.397</a:t>
            </a:r>
            <a:endParaRPr lang="en-US" sz="636" dirty="0"/>
          </a:p>
        </p:txBody>
      </p:sp>
      <p:sp>
        <p:nvSpPr>
          <p:cNvPr id="124" name="Text 121"/>
          <p:cNvSpPr/>
          <p:nvPr/>
        </p:nvSpPr>
        <p:spPr>
          <a:xfrm>
            <a:off x="9273649" y="27439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1.309</a:t>
            </a:r>
            <a:endParaRPr lang="en-US" sz="636" dirty="0"/>
          </a:p>
        </p:txBody>
      </p:sp>
      <p:sp>
        <p:nvSpPr>
          <p:cNvPr id="125" name="Text 122"/>
          <p:cNvSpPr/>
          <p:nvPr/>
        </p:nvSpPr>
        <p:spPr>
          <a:xfrm>
            <a:off x="10967650" y="3153519"/>
            <a:ext cx="71923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26" name="Text 123"/>
          <p:cNvSpPr/>
          <p:nvPr/>
        </p:nvSpPr>
        <p:spPr>
          <a:xfrm>
            <a:off x="9525756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7,8 %</a:t>
            </a:r>
            <a:endParaRPr lang="en-US" sz="552" dirty="0"/>
          </a:p>
        </p:txBody>
      </p:sp>
      <p:sp>
        <p:nvSpPr>
          <p:cNvPr id="127" name="Text 124"/>
          <p:cNvSpPr/>
          <p:nvPr/>
        </p:nvSpPr>
        <p:spPr>
          <a:xfrm>
            <a:off x="9525756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6,3 %</a:t>
            </a:r>
            <a:endParaRPr lang="en-US" sz="552" dirty="0"/>
          </a:p>
        </p:txBody>
      </p:sp>
      <p:sp>
        <p:nvSpPr>
          <p:cNvPr id="128" name="Text 125"/>
          <p:cNvSpPr/>
          <p:nvPr/>
        </p:nvSpPr>
        <p:spPr>
          <a:xfrm>
            <a:off x="8077397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8,9 %</a:t>
            </a:r>
            <a:endParaRPr lang="en-US" sz="552" dirty="0"/>
          </a:p>
        </p:txBody>
      </p:sp>
      <p:sp>
        <p:nvSpPr>
          <p:cNvPr id="129" name="Text 126"/>
          <p:cNvSpPr/>
          <p:nvPr/>
        </p:nvSpPr>
        <p:spPr>
          <a:xfrm>
            <a:off x="8560183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8,6 %</a:t>
            </a:r>
            <a:endParaRPr lang="en-US" sz="552" dirty="0"/>
          </a:p>
        </p:txBody>
      </p:sp>
      <p:sp>
        <p:nvSpPr>
          <p:cNvPr id="130" name="Text 127"/>
          <p:cNvSpPr/>
          <p:nvPr/>
        </p:nvSpPr>
        <p:spPr>
          <a:xfrm>
            <a:off x="9042970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8,0 %</a:t>
            </a:r>
            <a:endParaRPr lang="en-US" sz="552" dirty="0"/>
          </a:p>
        </p:txBody>
      </p:sp>
      <p:sp>
        <p:nvSpPr>
          <p:cNvPr id="131" name="Text 128"/>
          <p:cNvSpPr/>
          <p:nvPr/>
        </p:nvSpPr>
        <p:spPr>
          <a:xfrm>
            <a:off x="9525756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5,0 %</a:t>
            </a:r>
            <a:endParaRPr lang="en-US" sz="552" dirty="0"/>
          </a:p>
        </p:txBody>
      </p:sp>
      <p:sp>
        <p:nvSpPr>
          <p:cNvPr id="132" name="Text 129"/>
          <p:cNvSpPr/>
          <p:nvPr/>
        </p:nvSpPr>
        <p:spPr>
          <a:xfrm>
            <a:off x="10008542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8,8 %</a:t>
            </a:r>
            <a:endParaRPr lang="en-US" sz="552" dirty="0"/>
          </a:p>
        </p:txBody>
      </p:sp>
      <p:sp>
        <p:nvSpPr>
          <p:cNvPr id="133" name="Text 130"/>
          <p:cNvSpPr/>
          <p:nvPr/>
        </p:nvSpPr>
        <p:spPr>
          <a:xfrm>
            <a:off x="10491329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8,7 %</a:t>
            </a:r>
            <a:endParaRPr lang="en-US" sz="552" dirty="0"/>
          </a:p>
        </p:txBody>
      </p:sp>
      <p:sp>
        <p:nvSpPr>
          <p:cNvPr id="134" name="Text 131"/>
          <p:cNvSpPr/>
          <p:nvPr/>
        </p:nvSpPr>
        <p:spPr>
          <a:xfrm>
            <a:off x="10967650" y="38583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8,0 %</a:t>
            </a:r>
            <a:endParaRPr lang="en-US" sz="552" dirty="0"/>
          </a:p>
        </p:txBody>
      </p:sp>
      <p:sp>
        <p:nvSpPr>
          <p:cNvPr id="135" name="Text 132"/>
          <p:cNvSpPr/>
          <p:nvPr/>
        </p:nvSpPr>
        <p:spPr>
          <a:xfrm>
            <a:off x="8077397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6,0 %</a:t>
            </a:r>
            <a:endParaRPr lang="en-US" sz="552" dirty="0"/>
          </a:p>
        </p:txBody>
      </p:sp>
      <p:sp>
        <p:nvSpPr>
          <p:cNvPr id="136" name="Text 133"/>
          <p:cNvSpPr/>
          <p:nvPr/>
        </p:nvSpPr>
        <p:spPr>
          <a:xfrm>
            <a:off x="8560183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5,8 %</a:t>
            </a:r>
            <a:endParaRPr lang="en-US" sz="552" dirty="0"/>
          </a:p>
        </p:txBody>
      </p:sp>
      <p:sp>
        <p:nvSpPr>
          <p:cNvPr id="137" name="Text 134"/>
          <p:cNvSpPr/>
          <p:nvPr/>
        </p:nvSpPr>
        <p:spPr>
          <a:xfrm>
            <a:off x="9042970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5,4 %</a:t>
            </a:r>
            <a:endParaRPr lang="en-US" sz="552" dirty="0"/>
          </a:p>
        </p:txBody>
      </p:sp>
      <p:sp>
        <p:nvSpPr>
          <p:cNvPr id="138" name="Text 135"/>
          <p:cNvSpPr/>
          <p:nvPr/>
        </p:nvSpPr>
        <p:spPr>
          <a:xfrm>
            <a:off x="9525756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3,4 %</a:t>
            </a:r>
            <a:endParaRPr lang="en-US" sz="552" dirty="0"/>
          </a:p>
        </p:txBody>
      </p:sp>
      <p:sp>
        <p:nvSpPr>
          <p:cNvPr id="139" name="Text 136"/>
          <p:cNvSpPr/>
          <p:nvPr/>
        </p:nvSpPr>
        <p:spPr>
          <a:xfrm>
            <a:off x="10008542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5,9 %</a:t>
            </a:r>
            <a:endParaRPr lang="en-US" sz="552" dirty="0"/>
          </a:p>
        </p:txBody>
      </p:sp>
      <p:sp>
        <p:nvSpPr>
          <p:cNvPr id="140" name="Text 137"/>
          <p:cNvSpPr/>
          <p:nvPr/>
        </p:nvSpPr>
        <p:spPr>
          <a:xfrm>
            <a:off x="10491329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5,9 %</a:t>
            </a:r>
            <a:endParaRPr lang="en-US" sz="552" dirty="0"/>
          </a:p>
        </p:txBody>
      </p:sp>
      <p:sp>
        <p:nvSpPr>
          <p:cNvPr id="141" name="Text 138"/>
          <p:cNvSpPr/>
          <p:nvPr/>
        </p:nvSpPr>
        <p:spPr>
          <a:xfrm>
            <a:off x="10967650" y="39917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5,4 %</a:t>
            </a:r>
            <a:endParaRPr lang="en-US" sz="552" dirty="0"/>
          </a:p>
        </p:txBody>
      </p:sp>
      <p:sp>
        <p:nvSpPr>
          <p:cNvPr id="142" name="Text 139"/>
          <p:cNvSpPr/>
          <p:nvPr/>
        </p:nvSpPr>
        <p:spPr>
          <a:xfrm>
            <a:off x="8077397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4,6 %</a:t>
            </a:r>
            <a:endParaRPr lang="en-US" sz="552" dirty="0"/>
          </a:p>
        </p:txBody>
      </p:sp>
      <p:sp>
        <p:nvSpPr>
          <p:cNvPr id="143" name="Text 140"/>
          <p:cNvSpPr/>
          <p:nvPr/>
        </p:nvSpPr>
        <p:spPr>
          <a:xfrm>
            <a:off x="8560183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4,4 %</a:t>
            </a:r>
            <a:endParaRPr lang="en-US" sz="552" dirty="0"/>
          </a:p>
        </p:txBody>
      </p:sp>
      <p:sp>
        <p:nvSpPr>
          <p:cNvPr id="144" name="Text 141"/>
          <p:cNvSpPr/>
          <p:nvPr/>
        </p:nvSpPr>
        <p:spPr>
          <a:xfrm>
            <a:off x="9042970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4,1 %</a:t>
            </a:r>
            <a:endParaRPr lang="en-US" sz="552" dirty="0"/>
          </a:p>
        </p:txBody>
      </p:sp>
      <p:sp>
        <p:nvSpPr>
          <p:cNvPr id="145" name="Text 142"/>
          <p:cNvSpPr/>
          <p:nvPr/>
        </p:nvSpPr>
        <p:spPr>
          <a:xfrm>
            <a:off x="9525756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2,6 %</a:t>
            </a:r>
            <a:endParaRPr lang="en-US" sz="552" dirty="0"/>
          </a:p>
        </p:txBody>
      </p:sp>
      <p:sp>
        <p:nvSpPr>
          <p:cNvPr id="146" name="Text 143"/>
          <p:cNvSpPr/>
          <p:nvPr/>
        </p:nvSpPr>
        <p:spPr>
          <a:xfrm>
            <a:off x="10008542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4,5 %</a:t>
            </a:r>
            <a:endParaRPr lang="en-US" sz="552" dirty="0"/>
          </a:p>
        </p:txBody>
      </p:sp>
      <p:sp>
        <p:nvSpPr>
          <p:cNvPr id="147" name="Text 144"/>
          <p:cNvSpPr/>
          <p:nvPr/>
        </p:nvSpPr>
        <p:spPr>
          <a:xfrm>
            <a:off x="10491329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4,5 %</a:t>
            </a:r>
            <a:endParaRPr lang="en-US" sz="552" dirty="0"/>
          </a:p>
        </p:txBody>
      </p:sp>
      <p:sp>
        <p:nvSpPr>
          <p:cNvPr id="148" name="Text 145"/>
          <p:cNvSpPr/>
          <p:nvPr/>
        </p:nvSpPr>
        <p:spPr>
          <a:xfrm>
            <a:off x="10967650" y="41250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4,1 %</a:t>
            </a:r>
            <a:endParaRPr lang="en-US" sz="552" dirty="0"/>
          </a:p>
        </p:txBody>
      </p:sp>
      <p:sp>
        <p:nvSpPr>
          <p:cNvPr id="149" name="Text 146"/>
          <p:cNvSpPr/>
          <p:nvPr/>
        </p:nvSpPr>
        <p:spPr>
          <a:xfrm>
            <a:off x="9525756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7,0 %</a:t>
            </a:r>
            <a:endParaRPr lang="en-US" sz="552" dirty="0"/>
          </a:p>
        </p:txBody>
      </p:sp>
      <p:sp>
        <p:nvSpPr>
          <p:cNvPr id="150" name="Text 147"/>
          <p:cNvSpPr/>
          <p:nvPr/>
        </p:nvSpPr>
        <p:spPr>
          <a:xfrm>
            <a:off x="8077397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7,6 %</a:t>
            </a:r>
            <a:endParaRPr lang="en-US" sz="552" dirty="0"/>
          </a:p>
        </p:txBody>
      </p:sp>
      <p:sp>
        <p:nvSpPr>
          <p:cNvPr id="151" name="Text 148"/>
          <p:cNvSpPr/>
          <p:nvPr/>
        </p:nvSpPr>
        <p:spPr>
          <a:xfrm>
            <a:off x="8560183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9,3 %</a:t>
            </a:r>
            <a:endParaRPr lang="en-US" sz="552" dirty="0"/>
          </a:p>
        </p:txBody>
      </p:sp>
      <p:sp>
        <p:nvSpPr>
          <p:cNvPr id="152" name="Text 149"/>
          <p:cNvSpPr/>
          <p:nvPr/>
        </p:nvSpPr>
        <p:spPr>
          <a:xfrm>
            <a:off x="10008542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8,3 %</a:t>
            </a:r>
            <a:endParaRPr lang="en-US" sz="552" dirty="0"/>
          </a:p>
        </p:txBody>
      </p:sp>
      <p:sp>
        <p:nvSpPr>
          <p:cNvPr id="153" name="Text 150"/>
          <p:cNvSpPr/>
          <p:nvPr/>
        </p:nvSpPr>
        <p:spPr>
          <a:xfrm>
            <a:off x="10491329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8,4 %</a:t>
            </a:r>
            <a:endParaRPr lang="en-US" sz="552" dirty="0"/>
          </a:p>
        </p:txBody>
      </p:sp>
      <p:sp>
        <p:nvSpPr>
          <p:cNvPr id="154" name="Text 151"/>
          <p:cNvSpPr/>
          <p:nvPr/>
        </p:nvSpPr>
        <p:spPr>
          <a:xfrm>
            <a:off x="8077397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3,4 %</a:t>
            </a:r>
            <a:endParaRPr lang="en-US" sz="552" dirty="0"/>
          </a:p>
        </p:txBody>
      </p:sp>
      <p:sp>
        <p:nvSpPr>
          <p:cNvPr id="155" name="Text 152"/>
          <p:cNvSpPr/>
          <p:nvPr/>
        </p:nvSpPr>
        <p:spPr>
          <a:xfrm>
            <a:off x="8560183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4,2 %</a:t>
            </a:r>
            <a:endParaRPr lang="en-US" sz="552" dirty="0"/>
          </a:p>
        </p:txBody>
      </p:sp>
      <p:sp>
        <p:nvSpPr>
          <p:cNvPr id="156" name="Text 153"/>
          <p:cNvSpPr/>
          <p:nvPr/>
        </p:nvSpPr>
        <p:spPr>
          <a:xfrm>
            <a:off x="9042970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5,9 %</a:t>
            </a:r>
            <a:endParaRPr lang="en-US" sz="552" dirty="0"/>
          </a:p>
        </p:txBody>
      </p:sp>
      <p:sp>
        <p:nvSpPr>
          <p:cNvPr id="157" name="Text 154"/>
          <p:cNvSpPr/>
          <p:nvPr/>
        </p:nvSpPr>
        <p:spPr>
          <a:xfrm>
            <a:off x="10008542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3,7 %</a:t>
            </a:r>
            <a:endParaRPr lang="en-US" sz="552" dirty="0"/>
          </a:p>
        </p:txBody>
      </p:sp>
      <p:sp>
        <p:nvSpPr>
          <p:cNvPr id="158" name="Text 155"/>
          <p:cNvSpPr/>
          <p:nvPr/>
        </p:nvSpPr>
        <p:spPr>
          <a:xfrm>
            <a:off x="10491329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3,7 %</a:t>
            </a:r>
            <a:endParaRPr lang="en-US" sz="552" dirty="0"/>
          </a:p>
        </p:txBody>
      </p:sp>
      <p:sp>
        <p:nvSpPr>
          <p:cNvPr id="159" name="Text 156"/>
          <p:cNvSpPr/>
          <p:nvPr/>
        </p:nvSpPr>
        <p:spPr>
          <a:xfrm>
            <a:off x="10967650" y="46584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5,9 %</a:t>
            </a:r>
            <a:endParaRPr lang="en-US" sz="552" dirty="0"/>
          </a:p>
        </p:txBody>
      </p:sp>
      <p:sp>
        <p:nvSpPr>
          <p:cNvPr id="160" name="Text 157"/>
          <p:cNvSpPr/>
          <p:nvPr/>
        </p:nvSpPr>
        <p:spPr>
          <a:xfrm>
            <a:off x="8077397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1,0 %</a:t>
            </a:r>
            <a:endParaRPr lang="en-US" sz="552" dirty="0"/>
          </a:p>
        </p:txBody>
      </p:sp>
      <p:sp>
        <p:nvSpPr>
          <p:cNvPr id="161" name="Text 158"/>
          <p:cNvSpPr/>
          <p:nvPr/>
        </p:nvSpPr>
        <p:spPr>
          <a:xfrm>
            <a:off x="8560183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1,2 %</a:t>
            </a:r>
            <a:endParaRPr lang="en-US" sz="552" dirty="0"/>
          </a:p>
        </p:txBody>
      </p:sp>
      <p:sp>
        <p:nvSpPr>
          <p:cNvPr id="162" name="Text 159"/>
          <p:cNvSpPr/>
          <p:nvPr/>
        </p:nvSpPr>
        <p:spPr>
          <a:xfrm>
            <a:off x="9042970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1,7 %</a:t>
            </a:r>
            <a:endParaRPr lang="en-US" sz="552" dirty="0"/>
          </a:p>
        </p:txBody>
      </p:sp>
      <p:sp>
        <p:nvSpPr>
          <p:cNvPr id="163" name="Text 160"/>
          <p:cNvSpPr/>
          <p:nvPr/>
        </p:nvSpPr>
        <p:spPr>
          <a:xfrm>
            <a:off x="9525756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4,1 %</a:t>
            </a:r>
            <a:endParaRPr lang="en-US" sz="552" dirty="0"/>
          </a:p>
        </p:txBody>
      </p:sp>
      <p:sp>
        <p:nvSpPr>
          <p:cNvPr id="164" name="Text 161"/>
          <p:cNvSpPr/>
          <p:nvPr/>
        </p:nvSpPr>
        <p:spPr>
          <a:xfrm>
            <a:off x="10008542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1,1 %</a:t>
            </a:r>
            <a:endParaRPr lang="en-US" sz="552" dirty="0"/>
          </a:p>
        </p:txBody>
      </p:sp>
      <p:sp>
        <p:nvSpPr>
          <p:cNvPr id="165" name="Text 162"/>
          <p:cNvSpPr/>
          <p:nvPr/>
        </p:nvSpPr>
        <p:spPr>
          <a:xfrm>
            <a:off x="10491329" y="47918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1,1 %</a:t>
            </a:r>
            <a:endParaRPr lang="en-US" sz="552" dirty="0"/>
          </a:p>
        </p:txBody>
      </p:sp>
      <p:sp>
        <p:nvSpPr>
          <p:cNvPr id="166" name="Text 163"/>
          <p:cNvSpPr/>
          <p:nvPr/>
        </p:nvSpPr>
        <p:spPr>
          <a:xfrm>
            <a:off x="10967650" y="47918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1,7 %</a:t>
            </a:r>
            <a:endParaRPr lang="en-US" sz="552" dirty="0"/>
          </a:p>
        </p:txBody>
      </p:sp>
      <p:sp>
        <p:nvSpPr>
          <p:cNvPr id="167" name="Text 164"/>
          <p:cNvSpPr/>
          <p:nvPr/>
        </p:nvSpPr>
        <p:spPr>
          <a:xfrm>
            <a:off x="8077397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168" name="Text 165"/>
          <p:cNvSpPr/>
          <p:nvPr/>
        </p:nvSpPr>
        <p:spPr>
          <a:xfrm>
            <a:off x="8560183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169" name="Text 166"/>
          <p:cNvSpPr/>
          <p:nvPr/>
        </p:nvSpPr>
        <p:spPr>
          <a:xfrm>
            <a:off x="9042970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170" name="Text 167"/>
          <p:cNvSpPr/>
          <p:nvPr/>
        </p:nvSpPr>
        <p:spPr>
          <a:xfrm>
            <a:off x="9525756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0,4 %</a:t>
            </a:r>
            <a:endParaRPr lang="en-US" sz="552" dirty="0"/>
          </a:p>
        </p:txBody>
      </p:sp>
      <p:sp>
        <p:nvSpPr>
          <p:cNvPr id="171" name="Text 168"/>
          <p:cNvSpPr/>
          <p:nvPr/>
        </p:nvSpPr>
        <p:spPr>
          <a:xfrm>
            <a:off x="10008542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172" name="Text 169"/>
          <p:cNvSpPr/>
          <p:nvPr/>
        </p:nvSpPr>
        <p:spPr>
          <a:xfrm>
            <a:off x="10491329" y="49251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552" dirty="0"/>
          </a:p>
        </p:txBody>
      </p:sp>
      <p:sp>
        <p:nvSpPr>
          <p:cNvPr id="173" name="Text 170"/>
          <p:cNvSpPr/>
          <p:nvPr/>
        </p:nvSpPr>
        <p:spPr>
          <a:xfrm>
            <a:off x="10967650" y="49251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552" dirty="0"/>
          </a:p>
        </p:txBody>
      </p:sp>
      <p:sp>
        <p:nvSpPr>
          <p:cNvPr id="174" name="Text 171"/>
          <p:cNvSpPr/>
          <p:nvPr/>
        </p:nvSpPr>
        <p:spPr>
          <a:xfrm>
            <a:off x="8077397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75" name="Text 172"/>
          <p:cNvSpPr/>
          <p:nvPr/>
        </p:nvSpPr>
        <p:spPr>
          <a:xfrm>
            <a:off x="8560183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76" name="Text 173"/>
          <p:cNvSpPr/>
          <p:nvPr/>
        </p:nvSpPr>
        <p:spPr>
          <a:xfrm>
            <a:off x="9042970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77" name="Text 174"/>
          <p:cNvSpPr/>
          <p:nvPr/>
        </p:nvSpPr>
        <p:spPr>
          <a:xfrm>
            <a:off x="9525756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78" name="Text 175"/>
          <p:cNvSpPr/>
          <p:nvPr/>
        </p:nvSpPr>
        <p:spPr>
          <a:xfrm>
            <a:off x="10008542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79" name="Text 176"/>
          <p:cNvSpPr/>
          <p:nvPr/>
        </p:nvSpPr>
        <p:spPr>
          <a:xfrm>
            <a:off x="10491329" y="50585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80" name="Text 177"/>
          <p:cNvSpPr/>
          <p:nvPr/>
        </p:nvSpPr>
        <p:spPr>
          <a:xfrm>
            <a:off x="10967650" y="50585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181" name="Text 178"/>
          <p:cNvSpPr/>
          <p:nvPr/>
        </p:nvSpPr>
        <p:spPr>
          <a:xfrm>
            <a:off x="8216595" y="952500"/>
            <a:ext cx="479087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1.309</a:t>
            </a:r>
            <a:endParaRPr lang="en-US" sz="1380" dirty="0"/>
          </a:p>
        </p:txBody>
      </p:sp>
      <p:sp>
        <p:nvSpPr>
          <p:cNvPr id="182" name="Text 179"/>
          <p:cNvSpPr/>
          <p:nvPr/>
        </p:nvSpPr>
        <p:spPr>
          <a:xfrm>
            <a:off x="495288" y="2458194"/>
            <a:ext cx="224062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183" name="Text 180"/>
          <p:cNvSpPr/>
          <p:nvPr/>
        </p:nvSpPr>
        <p:spPr>
          <a:xfrm>
            <a:off x="6257769" y="24581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184" name="Text 181"/>
          <p:cNvSpPr/>
          <p:nvPr/>
        </p:nvSpPr>
        <p:spPr>
          <a:xfrm>
            <a:off x="495288" y="1715244"/>
            <a:ext cx="224062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85" name="Text 182"/>
          <p:cNvSpPr/>
          <p:nvPr/>
        </p:nvSpPr>
        <p:spPr>
          <a:xfrm>
            <a:off x="6257769" y="1715244"/>
            <a:ext cx="112023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86" name="Text 183"/>
          <p:cNvSpPr/>
          <p:nvPr/>
        </p:nvSpPr>
        <p:spPr>
          <a:xfrm>
            <a:off x="9273649" y="18866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264</a:t>
            </a:r>
            <a:endParaRPr lang="en-US" sz="636" dirty="0"/>
          </a:p>
        </p:txBody>
      </p:sp>
      <p:sp>
        <p:nvSpPr>
          <p:cNvPr id="187" name="Text 184"/>
          <p:cNvSpPr/>
          <p:nvPr/>
        </p:nvSpPr>
        <p:spPr>
          <a:xfrm>
            <a:off x="9273649" y="20295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254</a:t>
            </a:r>
            <a:endParaRPr lang="en-US" sz="636" dirty="0"/>
          </a:p>
        </p:txBody>
      </p:sp>
      <p:sp>
        <p:nvSpPr>
          <p:cNvPr id="188" name="Text 185"/>
          <p:cNvSpPr/>
          <p:nvPr/>
        </p:nvSpPr>
        <p:spPr>
          <a:xfrm>
            <a:off x="9273649" y="21724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158</a:t>
            </a:r>
            <a:endParaRPr lang="en-US" sz="636" dirty="0"/>
          </a:p>
        </p:txBody>
      </p:sp>
      <p:sp>
        <p:nvSpPr>
          <p:cNvPr id="189" name="Text 186"/>
          <p:cNvSpPr/>
          <p:nvPr/>
        </p:nvSpPr>
        <p:spPr>
          <a:xfrm>
            <a:off x="9273649" y="231531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636" dirty="0"/>
          </a:p>
        </p:txBody>
      </p:sp>
      <p:sp>
        <p:nvSpPr>
          <p:cNvPr id="190" name="Text 187"/>
          <p:cNvSpPr/>
          <p:nvPr/>
        </p:nvSpPr>
        <p:spPr>
          <a:xfrm>
            <a:off x="9273649" y="24581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287</a:t>
            </a:r>
            <a:endParaRPr lang="en-US" sz="636" dirty="0"/>
          </a:p>
        </p:txBody>
      </p:sp>
      <p:sp>
        <p:nvSpPr>
          <p:cNvPr id="191" name="Text 188"/>
          <p:cNvSpPr/>
          <p:nvPr/>
        </p:nvSpPr>
        <p:spPr>
          <a:xfrm>
            <a:off x="9273649" y="2601069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211</a:t>
            </a:r>
            <a:endParaRPr lang="en-US" sz="636" dirty="0"/>
          </a:p>
        </p:txBody>
      </p:sp>
      <p:sp>
        <p:nvSpPr>
          <p:cNvPr id="192" name="Text 189"/>
          <p:cNvSpPr/>
          <p:nvPr/>
        </p:nvSpPr>
        <p:spPr>
          <a:xfrm>
            <a:off x="8077397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193" name="Text 190"/>
          <p:cNvSpPr/>
          <p:nvPr/>
        </p:nvSpPr>
        <p:spPr>
          <a:xfrm>
            <a:off x="8560183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194" name="Text 191"/>
          <p:cNvSpPr/>
          <p:nvPr/>
        </p:nvSpPr>
        <p:spPr>
          <a:xfrm>
            <a:off x="9042970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195" name="Text 192"/>
          <p:cNvSpPr/>
          <p:nvPr/>
        </p:nvSpPr>
        <p:spPr>
          <a:xfrm>
            <a:off x="9525756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196" name="Text 193"/>
          <p:cNvSpPr/>
          <p:nvPr/>
        </p:nvSpPr>
        <p:spPr>
          <a:xfrm>
            <a:off x="10008542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197" name="Text 194"/>
          <p:cNvSpPr/>
          <p:nvPr/>
        </p:nvSpPr>
        <p:spPr>
          <a:xfrm>
            <a:off x="10491329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1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783" y="6393656"/>
            <a:ext cx="583625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Mostró una efectividad extremadamente baja (4 ventas totales, 0,38 % del apto), lo que sustentó su suspensión inmediata.</a:t>
            </a:r>
            <a:endParaRPr lang="en-US" sz="744" dirty="0"/>
          </a:p>
        </p:txBody>
      </p:sp>
      <p:sp>
        <p:nvSpPr>
          <p:cNvPr id="4" name="Text 1"/>
          <p:cNvSpPr/>
          <p:nvPr/>
        </p:nvSpPr>
        <p:spPr>
          <a:xfrm>
            <a:off x="685783" y="6247209"/>
            <a:ext cx="520618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 base sólo estuvo activa en enero de 2026 (campaña táctica sobre solicitudes de cancelaciones previas).</a:t>
            </a:r>
            <a:endParaRPr lang="en-US" sz="744" dirty="0"/>
          </a:p>
        </p:txBody>
      </p:sp>
      <p:sp>
        <p:nvSpPr>
          <p:cNvPr id="5" name="Text 2"/>
          <p:cNvSpPr/>
          <p:nvPr/>
        </p:nvSpPr>
        <p:spPr>
          <a:xfrm>
            <a:off x="685783" y="6540103"/>
            <a:ext cx="443634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descarte principal se concentró en Microseguro Activo (33,8 %) y NIT de Empresa (33,3 %).</a:t>
            </a:r>
            <a:endParaRPr lang="en-US" sz="744" dirty="0"/>
          </a:p>
        </p:txBody>
      </p:sp>
      <p:sp>
        <p:nvSpPr>
          <p:cNvPr id="6" name="Text 3"/>
          <p:cNvSpPr/>
          <p:nvPr/>
        </p:nvSpPr>
        <p:spPr>
          <a:xfrm>
            <a:off x="571486" y="209550"/>
            <a:ext cx="4898562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Operativo · Campaña Voluntarios Cancelaciones</a:t>
            </a:r>
            <a:endParaRPr lang="en-US" sz="1260" dirty="0"/>
          </a:p>
        </p:txBody>
      </p:sp>
      <p:sp>
        <p:nvSpPr>
          <p:cNvPr id="7" name="Text 4"/>
          <p:cNvSpPr/>
          <p:nvPr/>
        </p:nvSpPr>
        <p:spPr>
          <a:xfrm>
            <a:off x="533387" y="1200894"/>
            <a:ext cx="181589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Buen nivel de interacción telefónica express</a:t>
            </a:r>
            <a:endParaRPr lang="en-US" sz="648" dirty="0"/>
          </a:p>
        </p:txBody>
      </p:sp>
      <p:sp>
        <p:nvSpPr>
          <p:cNvPr id="8" name="Text 5"/>
          <p:cNvSpPr/>
          <p:nvPr/>
        </p:nvSpPr>
        <p:spPr>
          <a:xfrm>
            <a:off x="4374991" y="1200894"/>
            <a:ext cx="170830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focalizada en cancelaciones previas</a:t>
            </a:r>
            <a:endParaRPr lang="en-US" sz="648" dirty="0"/>
          </a:p>
        </p:txBody>
      </p:sp>
      <p:sp>
        <p:nvSpPr>
          <p:cNvPr id="9" name="Text 6"/>
          <p:cNvSpPr/>
          <p:nvPr/>
        </p:nvSpPr>
        <p:spPr>
          <a:xfrm>
            <a:off x="6372066" y="2915394"/>
            <a:ext cx="20375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Tipificación de Leads Aptos por Mes</a:t>
            </a:r>
            <a:endParaRPr lang="en-US" sz="816" dirty="0"/>
          </a:p>
        </p:txBody>
      </p:sp>
      <p:sp>
        <p:nvSpPr>
          <p:cNvPr id="10" name="Text 7"/>
          <p:cNvSpPr/>
          <p:nvPr/>
        </p:nvSpPr>
        <p:spPr>
          <a:xfrm>
            <a:off x="609585" y="1486644"/>
            <a:ext cx="205678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Calidad de Base y Descarte Mensual</a:t>
            </a:r>
            <a:endParaRPr lang="en-US" sz="816" dirty="0"/>
          </a:p>
        </p:txBody>
      </p:sp>
      <p:sp>
        <p:nvSpPr>
          <p:cNvPr id="11" name="Text 8"/>
          <p:cNvSpPr/>
          <p:nvPr/>
        </p:nvSpPr>
        <p:spPr>
          <a:xfrm>
            <a:off x="6372066" y="1486644"/>
            <a:ext cx="18149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Insumo Apto, Contacto y Ventas</a:t>
            </a:r>
            <a:endParaRPr lang="en-US" sz="816" dirty="0"/>
          </a:p>
        </p:txBody>
      </p:sp>
      <p:sp>
        <p:nvSpPr>
          <p:cNvPr id="12" name="Text 9"/>
          <p:cNvSpPr/>
          <p:nvPr/>
        </p:nvSpPr>
        <p:spPr>
          <a:xfrm>
            <a:off x="8216595" y="1200894"/>
            <a:ext cx="142119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Aporte de campaña piloto express</a:t>
            </a:r>
            <a:endParaRPr lang="en-US" sz="648" dirty="0"/>
          </a:p>
        </p:txBody>
      </p:sp>
      <p:sp>
        <p:nvSpPr>
          <p:cNvPr id="13" name="Text 10"/>
          <p:cNvSpPr/>
          <p:nvPr/>
        </p:nvSpPr>
        <p:spPr>
          <a:xfrm>
            <a:off x="714357" y="6091238"/>
            <a:ext cx="156869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Observaciones Clave de la Base:</a:t>
            </a:r>
            <a:endParaRPr lang="en-US" sz="744" dirty="0"/>
          </a:p>
        </p:txBody>
      </p:sp>
      <p:sp>
        <p:nvSpPr>
          <p:cNvPr id="14" name="Text 11"/>
          <p:cNvSpPr/>
          <p:nvPr/>
        </p:nvSpPr>
        <p:spPr>
          <a:xfrm>
            <a:off x="504812" y="35916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5" name="Text 12"/>
          <p:cNvSpPr/>
          <p:nvPr/>
        </p:nvSpPr>
        <p:spPr>
          <a:xfrm>
            <a:off x="495288" y="2915394"/>
            <a:ext cx="164662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Motivos de Descarte por Mes</a:t>
            </a:r>
            <a:endParaRPr lang="en-US" sz="816" dirty="0"/>
          </a:p>
        </p:txBody>
      </p:sp>
      <p:sp>
        <p:nvSpPr>
          <p:cNvPr id="16" name="Text 13"/>
          <p:cNvSpPr/>
          <p:nvPr/>
        </p:nvSpPr>
        <p:spPr>
          <a:xfrm>
            <a:off x="6267293" y="35916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producto</a:t>
            </a:r>
            <a:endParaRPr lang="en-US" sz="552" dirty="0"/>
          </a:p>
        </p:txBody>
      </p:sp>
      <p:sp>
        <p:nvSpPr>
          <p:cNvPr id="17" name="Text 14"/>
          <p:cNvSpPr/>
          <p:nvPr/>
        </p:nvSpPr>
        <p:spPr>
          <a:xfrm>
            <a:off x="6267293" y="37250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Datos errados / experiencia</a:t>
            </a:r>
            <a:endParaRPr lang="en-US" sz="552" dirty="0"/>
          </a:p>
        </p:txBody>
      </p:sp>
      <p:sp>
        <p:nvSpPr>
          <p:cNvPr id="18" name="Text 15"/>
          <p:cNvSpPr/>
          <p:nvPr/>
        </p:nvSpPr>
        <p:spPr>
          <a:xfrm>
            <a:off x="6267293" y="39917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es responsable del pago</a:t>
            </a:r>
            <a:endParaRPr lang="en-US" sz="552" dirty="0"/>
          </a:p>
        </p:txBody>
      </p:sp>
      <p:sp>
        <p:nvSpPr>
          <p:cNvPr id="19" name="Text 16"/>
          <p:cNvSpPr/>
          <p:nvPr/>
        </p:nvSpPr>
        <p:spPr>
          <a:xfrm>
            <a:off x="533387" y="809625"/>
            <a:ext cx="13153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INICIAL</a:t>
            </a:r>
            <a:endParaRPr lang="en-US" sz="672" dirty="0"/>
          </a:p>
        </p:txBody>
      </p:sp>
      <p:sp>
        <p:nvSpPr>
          <p:cNvPr id="20" name="Text 17"/>
          <p:cNvSpPr/>
          <p:nvPr/>
        </p:nvSpPr>
        <p:spPr>
          <a:xfrm>
            <a:off x="4374991" y="809625"/>
            <a:ext cx="140967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LEADS APTOS GESTIONADOS</a:t>
            </a:r>
            <a:endParaRPr lang="en-US" sz="672" dirty="0"/>
          </a:p>
        </p:txBody>
      </p:sp>
      <p:sp>
        <p:nvSpPr>
          <p:cNvPr id="21" name="Text 18"/>
          <p:cNvSpPr/>
          <p:nvPr/>
        </p:nvSpPr>
        <p:spPr>
          <a:xfrm>
            <a:off x="6267293" y="43917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automático</a:t>
            </a:r>
            <a:endParaRPr lang="en-US" sz="552" dirty="0"/>
          </a:p>
        </p:txBody>
      </p:sp>
      <p:sp>
        <p:nvSpPr>
          <p:cNvPr id="22" name="Text 19"/>
          <p:cNvSpPr/>
          <p:nvPr/>
        </p:nvSpPr>
        <p:spPr>
          <a:xfrm>
            <a:off x="6267293" y="41250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52" dirty="0"/>
          </a:p>
        </p:txBody>
      </p:sp>
      <p:sp>
        <p:nvSpPr>
          <p:cNvPr id="23" name="Text 20"/>
          <p:cNvSpPr/>
          <p:nvPr/>
        </p:nvSpPr>
        <p:spPr>
          <a:xfrm>
            <a:off x="6267293" y="45251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contesta / apagado</a:t>
            </a:r>
            <a:endParaRPr lang="en-US" sz="552" dirty="0"/>
          </a:p>
        </p:txBody>
      </p:sp>
      <p:sp>
        <p:nvSpPr>
          <p:cNvPr id="24" name="Text 21"/>
          <p:cNvSpPr/>
          <p:nvPr/>
        </p:nvSpPr>
        <p:spPr>
          <a:xfrm>
            <a:off x="504812" y="33249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Microseguro Activo</a:t>
            </a:r>
            <a:endParaRPr lang="en-US" sz="576" dirty="0"/>
          </a:p>
        </p:txBody>
      </p:sp>
      <p:sp>
        <p:nvSpPr>
          <p:cNvPr id="25" name="Text 22"/>
          <p:cNvSpPr/>
          <p:nvPr/>
        </p:nvSpPr>
        <p:spPr>
          <a:xfrm>
            <a:off x="6267293" y="33249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552" dirty="0"/>
          </a:p>
        </p:txBody>
      </p:sp>
      <p:sp>
        <p:nvSpPr>
          <p:cNvPr id="26" name="Text 23"/>
          <p:cNvSpPr/>
          <p:nvPr/>
        </p:nvSpPr>
        <p:spPr>
          <a:xfrm>
            <a:off x="6267293" y="38583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Cuelga la llamada</a:t>
            </a:r>
            <a:endParaRPr lang="en-US" sz="552" dirty="0"/>
          </a:p>
        </p:txBody>
      </p:sp>
      <p:sp>
        <p:nvSpPr>
          <p:cNvPr id="27" name="Text 24"/>
          <p:cNvSpPr/>
          <p:nvPr/>
        </p:nvSpPr>
        <p:spPr>
          <a:xfrm>
            <a:off x="6267293" y="46584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gestionado</a:t>
            </a:r>
            <a:endParaRPr lang="en-US" sz="552" dirty="0"/>
          </a:p>
        </p:txBody>
      </p:sp>
      <p:sp>
        <p:nvSpPr>
          <p:cNvPr id="28" name="Text 25"/>
          <p:cNvSpPr/>
          <p:nvPr/>
        </p:nvSpPr>
        <p:spPr>
          <a:xfrm>
            <a:off x="8216595" y="809625"/>
            <a:ext cx="102034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GENERADAS</a:t>
            </a:r>
            <a:endParaRPr lang="en-US" sz="672" dirty="0"/>
          </a:p>
        </p:txBody>
      </p:sp>
      <p:sp>
        <p:nvSpPr>
          <p:cNvPr id="29" name="Text 26"/>
          <p:cNvSpPr/>
          <p:nvPr/>
        </p:nvSpPr>
        <p:spPr>
          <a:xfrm>
            <a:off x="504812" y="34583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NIT de empresa</a:t>
            </a:r>
            <a:endParaRPr lang="en-US" sz="576" dirty="0"/>
          </a:p>
        </p:txBody>
      </p:sp>
      <p:sp>
        <p:nvSpPr>
          <p:cNvPr id="30" name="Text 27"/>
          <p:cNvSpPr/>
          <p:nvPr/>
        </p:nvSpPr>
        <p:spPr>
          <a:xfrm>
            <a:off x="504812" y="37250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Cédula Errada</a:t>
            </a:r>
            <a:endParaRPr lang="en-US" sz="576" dirty="0"/>
          </a:p>
        </p:txBody>
      </p:sp>
      <p:sp>
        <p:nvSpPr>
          <p:cNvPr id="31" name="Text 28"/>
          <p:cNvSpPr/>
          <p:nvPr/>
        </p:nvSpPr>
        <p:spPr>
          <a:xfrm>
            <a:off x="10239394" y="1715244"/>
            <a:ext cx="145701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 / Ctto.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6267293" y="34583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</a:t>
            </a:r>
            <a:endParaRPr lang="en-US" sz="552" dirty="0"/>
          </a:p>
        </p:txBody>
      </p:sp>
      <p:sp>
        <p:nvSpPr>
          <p:cNvPr id="33" name="Text 30"/>
          <p:cNvSpPr/>
          <p:nvPr/>
        </p:nvSpPr>
        <p:spPr>
          <a:xfrm>
            <a:off x="504812" y="385836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Nombre Vacío</a:t>
            </a:r>
            <a:endParaRPr lang="en-US" sz="576" dirty="0"/>
          </a:p>
        </p:txBody>
      </p:sp>
      <p:sp>
        <p:nvSpPr>
          <p:cNvPr id="34" name="Text 31"/>
          <p:cNvSpPr/>
          <p:nvPr/>
        </p:nvSpPr>
        <p:spPr>
          <a:xfrm>
            <a:off x="6267293" y="3153519"/>
            <a:ext cx="1879325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</a:t>
            </a:r>
            <a:endParaRPr lang="en-US" sz="888" dirty="0"/>
          </a:p>
        </p:txBody>
      </p:sp>
      <p:sp>
        <p:nvSpPr>
          <p:cNvPr id="35" name="Text 32"/>
          <p:cNvSpPr/>
          <p:nvPr/>
        </p:nvSpPr>
        <p:spPr>
          <a:xfrm>
            <a:off x="6267293" y="42584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CONTACTO</a:t>
            </a:r>
            <a:endParaRPr lang="en-US" sz="552" dirty="0"/>
          </a:p>
        </p:txBody>
      </p:sp>
      <p:sp>
        <p:nvSpPr>
          <p:cNvPr id="36" name="Text 33"/>
          <p:cNvSpPr/>
          <p:nvPr/>
        </p:nvSpPr>
        <p:spPr>
          <a:xfrm>
            <a:off x="2951194" y="1715244"/>
            <a:ext cx="1568454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8294831" y="1715244"/>
            <a:ext cx="100818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38" name="Text 35"/>
          <p:cNvSpPr/>
          <p:nvPr/>
        </p:nvSpPr>
        <p:spPr>
          <a:xfrm>
            <a:off x="1540477" y="1715244"/>
            <a:ext cx="145640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4477220" y="1715244"/>
            <a:ext cx="145670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495288" y="20295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1" name="Text 38"/>
          <p:cNvSpPr/>
          <p:nvPr/>
        </p:nvSpPr>
        <p:spPr>
          <a:xfrm>
            <a:off x="6257769" y="20295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2" name="Text 39"/>
          <p:cNvSpPr/>
          <p:nvPr/>
        </p:nvSpPr>
        <p:spPr>
          <a:xfrm>
            <a:off x="4477220" y="1886694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15,7 %</a:t>
            </a:r>
            <a:endParaRPr lang="en-US" sz="636" dirty="0"/>
          </a:p>
        </p:txBody>
      </p:sp>
      <p:sp>
        <p:nvSpPr>
          <p:cNvPr id="43" name="Text 40"/>
          <p:cNvSpPr/>
          <p:nvPr/>
        </p:nvSpPr>
        <p:spPr>
          <a:xfrm>
            <a:off x="4477220" y="2743944"/>
            <a:ext cx="145670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15,7 %</a:t>
            </a:r>
            <a:endParaRPr lang="en-US" sz="636" dirty="0"/>
          </a:p>
        </p:txBody>
      </p:sp>
      <p:sp>
        <p:nvSpPr>
          <p:cNvPr id="44" name="Text 41"/>
          <p:cNvSpPr/>
          <p:nvPr/>
        </p:nvSpPr>
        <p:spPr>
          <a:xfrm>
            <a:off x="504812" y="3153519"/>
            <a:ext cx="1879325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Motivo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9273649" y="1715244"/>
            <a:ext cx="100818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8294831" y="18866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53,0 %</a:t>
            </a:r>
            <a:endParaRPr lang="en-US" sz="636" dirty="0"/>
          </a:p>
        </p:txBody>
      </p:sp>
      <p:sp>
        <p:nvSpPr>
          <p:cNvPr id="47" name="Text 44"/>
          <p:cNvSpPr/>
          <p:nvPr/>
        </p:nvSpPr>
        <p:spPr>
          <a:xfrm>
            <a:off x="8294831" y="27439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53,0 %</a:t>
            </a:r>
            <a:endParaRPr lang="en-US" sz="636" dirty="0"/>
          </a:p>
        </p:txBody>
      </p:sp>
      <p:sp>
        <p:nvSpPr>
          <p:cNvPr id="48" name="Text 45"/>
          <p:cNvSpPr/>
          <p:nvPr/>
        </p:nvSpPr>
        <p:spPr>
          <a:xfrm>
            <a:off x="8077397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53,0 %</a:t>
            </a:r>
            <a:endParaRPr lang="en-US" sz="552" dirty="0"/>
          </a:p>
        </p:txBody>
      </p:sp>
      <p:sp>
        <p:nvSpPr>
          <p:cNvPr id="49" name="Text 46"/>
          <p:cNvSpPr/>
          <p:nvPr/>
        </p:nvSpPr>
        <p:spPr>
          <a:xfrm>
            <a:off x="10967650" y="33249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53,0 %</a:t>
            </a:r>
            <a:endParaRPr lang="en-US" sz="552" dirty="0"/>
          </a:p>
        </p:txBody>
      </p:sp>
      <p:sp>
        <p:nvSpPr>
          <p:cNvPr id="50" name="Text 47"/>
          <p:cNvSpPr/>
          <p:nvPr/>
        </p:nvSpPr>
        <p:spPr>
          <a:xfrm>
            <a:off x="8077397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13,4 %</a:t>
            </a:r>
            <a:endParaRPr lang="en-US" sz="552" dirty="0"/>
          </a:p>
        </p:txBody>
      </p:sp>
      <p:sp>
        <p:nvSpPr>
          <p:cNvPr id="51" name="Text 48"/>
          <p:cNvSpPr/>
          <p:nvPr/>
        </p:nvSpPr>
        <p:spPr>
          <a:xfrm>
            <a:off x="10967650" y="35916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13,4 %</a:t>
            </a:r>
            <a:endParaRPr lang="en-US" sz="552" dirty="0"/>
          </a:p>
        </p:txBody>
      </p:sp>
      <p:sp>
        <p:nvSpPr>
          <p:cNvPr id="52" name="Text 49"/>
          <p:cNvSpPr/>
          <p:nvPr/>
        </p:nvSpPr>
        <p:spPr>
          <a:xfrm>
            <a:off x="8077397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17,7 %</a:t>
            </a:r>
            <a:endParaRPr lang="en-US" sz="552" dirty="0"/>
          </a:p>
        </p:txBody>
      </p:sp>
      <p:sp>
        <p:nvSpPr>
          <p:cNvPr id="53" name="Text 50"/>
          <p:cNvSpPr/>
          <p:nvPr/>
        </p:nvSpPr>
        <p:spPr>
          <a:xfrm>
            <a:off x="10967650" y="37250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17,7 %</a:t>
            </a:r>
            <a:endParaRPr lang="en-US" sz="552" dirty="0"/>
          </a:p>
        </p:txBody>
      </p:sp>
      <p:sp>
        <p:nvSpPr>
          <p:cNvPr id="54" name="Text 51"/>
          <p:cNvSpPr/>
          <p:nvPr/>
        </p:nvSpPr>
        <p:spPr>
          <a:xfrm>
            <a:off x="8077397" y="42584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47,0 %</a:t>
            </a:r>
            <a:endParaRPr lang="en-US" sz="552" dirty="0"/>
          </a:p>
        </p:txBody>
      </p:sp>
      <p:sp>
        <p:nvSpPr>
          <p:cNvPr id="55" name="Text 52"/>
          <p:cNvSpPr/>
          <p:nvPr/>
        </p:nvSpPr>
        <p:spPr>
          <a:xfrm>
            <a:off x="10967650" y="42584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47,0 %</a:t>
            </a:r>
            <a:endParaRPr lang="en-US" sz="552" dirty="0"/>
          </a:p>
        </p:txBody>
      </p:sp>
      <p:sp>
        <p:nvSpPr>
          <p:cNvPr id="56" name="Text 53"/>
          <p:cNvSpPr/>
          <p:nvPr/>
        </p:nvSpPr>
        <p:spPr>
          <a:xfrm>
            <a:off x="8077397" y="43917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42,7 %</a:t>
            </a:r>
            <a:endParaRPr lang="en-US" sz="552" dirty="0"/>
          </a:p>
        </p:txBody>
      </p:sp>
      <p:sp>
        <p:nvSpPr>
          <p:cNvPr id="57" name="Text 54"/>
          <p:cNvSpPr/>
          <p:nvPr/>
        </p:nvSpPr>
        <p:spPr>
          <a:xfrm>
            <a:off x="10967650" y="43917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42,7 %</a:t>
            </a:r>
            <a:endParaRPr lang="en-US" sz="552" dirty="0"/>
          </a:p>
        </p:txBody>
      </p:sp>
      <p:sp>
        <p:nvSpPr>
          <p:cNvPr id="58" name="Text 55"/>
          <p:cNvSpPr/>
          <p:nvPr/>
        </p:nvSpPr>
        <p:spPr>
          <a:xfrm>
            <a:off x="533387" y="952500"/>
            <a:ext cx="572635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53,0 %</a:t>
            </a:r>
            <a:endParaRPr lang="en-US" sz="1380" dirty="0"/>
          </a:p>
        </p:txBody>
      </p:sp>
      <p:sp>
        <p:nvSpPr>
          <p:cNvPr id="59" name="Text 56"/>
          <p:cNvSpPr/>
          <p:nvPr/>
        </p:nvSpPr>
        <p:spPr>
          <a:xfrm>
            <a:off x="495288" y="18866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60" name="Text 57"/>
          <p:cNvSpPr/>
          <p:nvPr/>
        </p:nvSpPr>
        <p:spPr>
          <a:xfrm>
            <a:off x="1540477" y="1886694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1.263</a:t>
            </a:r>
            <a:endParaRPr lang="en-US" sz="636" dirty="0"/>
          </a:p>
        </p:txBody>
      </p:sp>
      <p:sp>
        <p:nvSpPr>
          <p:cNvPr id="61" name="Text 58"/>
          <p:cNvSpPr/>
          <p:nvPr/>
        </p:nvSpPr>
        <p:spPr>
          <a:xfrm>
            <a:off x="495288" y="21724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62" name="Text 59"/>
          <p:cNvSpPr/>
          <p:nvPr/>
        </p:nvSpPr>
        <p:spPr>
          <a:xfrm>
            <a:off x="495288" y="231531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63" name="Text 60"/>
          <p:cNvSpPr/>
          <p:nvPr/>
        </p:nvSpPr>
        <p:spPr>
          <a:xfrm>
            <a:off x="495288" y="26010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64" name="Text 61"/>
          <p:cNvSpPr/>
          <p:nvPr/>
        </p:nvSpPr>
        <p:spPr>
          <a:xfrm>
            <a:off x="495288" y="27439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65" name="Text 62"/>
          <p:cNvSpPr/>
          <p:nvPr/>
        </p:nvSpPr>
        <p:spPr>
          <a:xfrm>
            <a:off x="1540477" y="2743944"/>
            <a:ext cx="1456400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1.263</a:t>
            </a:r>
            <a:endParaRPr lang="en-US" sz="636" dirty="0"/>
          </a:p>
        </p:txBody>
      </p:sp>
      <p:sp>
        <p:nvSpPr>
          <p:cNvPr id="66" name="Text 63"/>
          <p:cNvSpPr/>
          <p:nvPr/>
        </p:nvSpPr>
        <p:spPr>
          <a:xfrm>
            <a:off x="5205169" y="3153519"/>
            <a:ext cx="71923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67" name="Text 64"/>
          <p:cNvSpPr/>
          <p:nvPr/>
        </p:nvSpPr>
        <p:spPr>
          <a:xfrm>
            <a:off x="504812" y="3991719"/>
            <a:ext cx="1879325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576" dirty="0"/>
          </a:p>
        </p:txBody>
      </p:sp>
      <p:sp>
        <p:nvSpPr>
          <p:cNvPr id="68" name="Text 65"/>
          <p:cNvSpPr/>
          <p:nvPr/>
        </p:nvSpPr>
        <p:spPr>
          <a:xfrm>
            <a:off x="7316013" y="1715244"/>
            <a:ext cx="100818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69" name="Text 66"/>
          <p:cNvSpPr/>
          <p:nvPr/>
        </p:nvSpPr>
        <p:spPr>
          <a:xfrm>
            <a:off x="6257769" y="18866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70" name="Text 67"/>
          <p:cNvSpPr/>
          <p:nvPr/>
        </p:nvSpPr>
        <p:spPr>
          <a:xfrm>
            <a:off x="7316013" y="18866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1.065</a:t>
            </a:r>
            <a:endParaRPr lang="en-US" sz="636" dirty="0"/>
          </a:p>
        </p:txBody>
      </p:sp>
      <p:sp>
        <p:nvSpPr>
          <p:cNvPr id="71" name="Text 68"/>
          <p:cNvSpPr/>
          <p:nvPr/>
        </p:nvSpPr>
        <p:spPr>
          <a:xfrm>
            <a:off x="10239394" y="188669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0,7 %</a:t>
            </a:r>
            <a:endParaRPr lang="en-US" sz="636" dirty="0"/>
          </a:p>
        </p:txBody>
      </p:sp>
      <p:sp>
        <p:nvSpPr>
          <p:cNvPr id="72" name="Text 69"/>
          <p:cNvSpPr/>
          <p:nvPr/>
        </p:nvSpPr>
        <p:spPr>
          <a:xfrm>
            <a:off x="6257769" y="21724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73" name="Text 70"/>
          <p:cNvSpPr/>
          <p:nvPr/>
        </p:nvSpPr>
        <p:spPr>
          <a:xfrm>
            <a:off x="6257769" y="231531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74" name="Text 71"/>
          <p:cNvSpPr/>
          <p:nvPr/>
        </p:nvSpPr>
        <p:spPr>
          <a:xfrm>
            <a:off x="6257769" y="2601069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75" name="Text 72"/>
          <p:cNvSpPr/>
          <p:nvPr/>
        </p:nvSpPr>
        <p:spPr>
          <a:xfrm>
            <a:off x="6257769" y="274394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76" name="Text 73"/>
          <p:cNvSpPr/>
          <p:nvPr/>
        </p:nvSpPr>
        <p:spPr>
          <a:xfrm>
            <a:off x="7316013" y="27439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1.065</a:t>
            </a:r>
            <a:endParaRPr lang="en-US" sz="636" dirty="0"/>
          </a:p>
        </p:txBody>
      </p:sp>
      <p:sp>
        <p:nvSpPr>
          <p:cNvPr id="77" name="Text 74"/>
          <p:cNvSpPr/>
          <p:nvPr/>
        </p:nvSpPr>
        <p:spPr>
          <a:xfrm>
            <a:off x="10239394" y="2743944"/>
            <a:ext cx="145701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0,7 %</a:t>
            </a:r>
            <a:endParaRPr lang="en-US" sz="636" dirty="0"/>
          </a:p>
        </p:txBody>
      </p:sp>
      <p:sp>
        <p:nvSpPr>
          <p:cNvPr id="78" name="Text 75"/>
          <p:cNvSpPr/>
          <p:nvPr/>
        </p:nvSpPr>
        <p:spPr>
          <a:xfrm>
            <a:off x="10967650" y="3153519"/>
            <a:ext cx="719233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79" name="Text 76"/>
          <p:cNvSpPr/>
          <p:nvPr/>
        </p:nvSpPr>
        <p:spPr>
          <a:xfrm>
            <a:off x="8077397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0,4 %</a:t>
            </a:r>
            <a:endParaRPr lang="en-US" sz="552" dirty="0"/>
          </a:p>
        </p:txBody>
      </p:sp>
      <p:sp>
        <p:nvSpPr>
          <p:cNvPr id="80" name="Text 77"/>
          <p:cNvSpPr/>
          <p:nvPr/>
        </p:nvSpPr>
        <p:spPr>
          <a:xfrm>
            <a:off x="10967650" y="34583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0,4 %</a:t>
            </a:r>
            <a:endParaRPr lang="en-US" sz="552" dirty="0"/>
          </a:p>
        </p:txBody>
      </p:sp>
      <p:sp>
        <p:nvSpPr>
          <p:cNvPr id="81" name="Text 78"/>
          <p:cNvSpPr/>
          <p:nvPr/>
        </p:nvSpPr>
        <p:spPr>
          <a:xfrm>
            <a:off x="8077397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8,5 %</a:t>
            </a:r>
            <a:endParaRPr lang="en-US" sz="552" dirty="0"/>
          </a:p>
        </p:txBody>
      </p:sp>
      <p:sp>
        <p:nvSpPr>
          <p:cNvPr id="82" name="Text 79"/>
          <p:cNvSpPr/>
          <p:nvPr/>
        </p:nvSpPr>
        <p:spPr>
          <a:xfrm>
            <a:off x="10967650" y="38583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8,5 %</a:t>
            </a:r>
            <a:endParaRPr lang="en-US" sz="552" dirty="0"/>
          </a:p>
        </p:txBody>
      </p:sp>
      <p:sp>
        <p:nvSpPr>
          <p:cNvPr id="83" name="Text 80"/>
          <p:cNvSpPr/>
          <p:nvPr/>
        </p:nvSpPr>
        <p:spPr>
          <a:xfrm>
            <a:off x="8077397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6,4 %</a:t>
            </a:r>
            <a:endParaRPr lang="en-US" sz="552" dirty="0"/>
          </a:p>
        </p:txBody>
      </p:sp>
      <p:sp>
        <p:nvSpPr>
          <p:cNvPr id="84" name="Text 81"/>
          <p:cNvSpPr/>
          <p:nvPr/>
        </p:nvSpPr>
        <p:spPr>
          <a:xfrm>
            <a:off x="10967650" y="39917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6,4 %</a:t>
            </a:r>
            <a:endParaRPr lang="en-US" sz="552" dirty="0"/>
          </a:p>
        </p:txBody>
      </p:sp>
      <p:sp>
        <p:nvSpPr>
          <p:cNvPr id="85" name="Text 82"/>
          <p:cNvSpPr/>
          <p:nvPr/>
        </p:nvSpPr>
        <p:spPr>
          <a:xfrm>
            <a:off x="8077397" y="41250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6,7 %</a:t>
            </a:r>
            <a:endParaRPr lang="en-US" sz="552" dirty="0"/>
          </a:p>
        </p:txBody>
      </p:sp>
      <p:sp>
        <p:nvSpPr>
          <p:cNvPr id="86" name="Text 83"/>
          <p:cNvSpPr/>
          <p:nvPr/>
        </p:nvSpPr>
        <p:spPr>
          <a:xfrm>
            <a:off x="10967650" y="41250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6,7 %</a:t>
            </a:r>
            <a:endParaRPr lang="en-US" sz="552" dirty="0"/>
          </a:p>
        </p:txBody>
      </p:sp>
      <p:sp>
        <p:nvSpPr>
          <p:cNvPr id="87" name="Text 84"/>
          <p:cNvSpPr/>
          <p:nvPr/>
        </p:nvSpPr>
        <p:spPr>
          <a:xfrm>
            <a:off x="8077397" y="45251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4,3 %</a:t>
            </a:r>
            <a:endParaRPr lang="en-US" sz="552" dirty="0"/>
          </a:p>
        </p:txBody>
      </p:sp>
      <p:sp>
        <p:nvSpPr>
          <p:cNvPr id="88" name="Text 85"/>
          <p:cNvSpPr/>
          <p:nvPr/>
        </p:nvSpPr>
        <p:spPr>
          <a:xfrm>
            <a:off x="10967650" y="45251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4,3 %</a:t>
            </a:r>
            <a:endParaRPr lang="en-US" sz="552" dirty="0"/>
          </a:p>
        </p:txBody>
      </p:sp>
      <p:sp>
        <p:nvSpPr>
          <p:cNvPr id="89" name="Text 86"/>
          <p:cNvSpPr/>
          <p:nvPr/>
        </p:nvSpPr>
        <p:spPr>
          <a:xfrm>
            <a:off x="8077397" y="46584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90" name="Text 87"/>
          <p:cNvSpPr/>
          <p:nvPr/>
        </p:nvSpPr>
        <p:spPr>
          <a:xfrm>
            <a:off x="10967650" y="46584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</a:t>
            </a:r>
            <a:endParaRPr lang="en-US" sz="552" dirty="0"/>
          </a:p>
        </p:txBody>
      </p:sp>
      <p:sp>
        <p:nvSpPr>
          <p:cNvPr id="91" name="Text 88"/>
          <p:cNvSpPr/>
          <p:nvPr/>
        </p:nvSpPr>
        <p:spPr>
          <a:xfrm>
            <a:off x="4374991" y="952500"/>
            <a:ext cx="481611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1.065</a:t>
            </a:r>
            <a:endParaRPr lang="en-US" sz="1380" dirty="0"/>
          </a:p>
        </p:txBody>
      </p:sp>
      <p:sp>
        <p:nvSpPr>
          <p:cNvPr id="92" name="Text 89"/>
          <p:cNvSpPr/>
          <p:nvPr/>
        </p:nvSpPr>
        <p:spPr>
          <a:xfrm>
            <a:off x="495288" y="24581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93" name="Text 90"/>
          <p:cNvSpPr/>
          <p:nvPr/>
        </p:nvSpPr>
        <p:spPr>
          <a:xfrm>
            <a:off x="6257769" y="2458194"/>
            <a:ext cx="1120237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94" name="Text 91"/>
          <p:cNvSpPr/>
          <p:nvPr/>
        </p:nvSpPr>
        <p:spPr>
          <a:xfrm>
            <a:off x="495288" y="1715244"/>
            <a:ext cx="112023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95" name="Text 92"/>
          <p:cNvSpPr/>
          <p:nvPr/>
        </p:nvSpPr>
        <p:spPr>
          <a:xfrm>
            <a:off x="2951194" y="1886694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198</a:t>
            </a:r>
            <a:endParaRPr lang="en-US" sz="636" dirty="0"/>
          </a:p>
        </p:txBody>
      </p:sp>
      <p:sp>
        <p:nvSpPr>
          <p:cNvPr id="96" name="Text 93"/>
          <p:cNvSpPr/>
          <p:nvPr/>
        </p:nvSpPr>
        <p:spPr>
          <a:xfrm>
            <a:off x="2951194" y="2743944"/>
            <a:ext cx="1568454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198</a:t>
            </a:r>
            <a:endParaRPr lang="en-US" sz="636" dirty="0"/>
          </a:p>
        </p:txBody>
      </p:sp>
      <p:sp>
        <p:nvSpPr>
          <p:cNvPr id="97" name="Text 94"/>
          <p:cNvSpPr/>
          <p:nvPr/>
        </p:nvSpPr>
        <p:spPr>
          <a:xfrm>
            <a:off x="2314916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98" name="Text 95"/>
          <p:cNvSpPr/>
          <p:nvPr/>
        </p:nvSpPr>
        <p:spPr>
          <a:xfrm>
            <a:off x="2797702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99" name="Text 96"/>
          <p:cNvSpPr/>
          <p:nvPr/>
        </p:nvSpPr>
        <p:spPr>
          <a:xfrm>
            <a:off x="3280489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100" name="Text 97"/>
          <p:cNvSpPr/>
          <p:nvPr/>
        </p:nvSpPr>
        <p:spPr>
          <a:xfrm>
            <a:off x="3763275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101" name="Text 98"/>
          <p:cNvSpPr/>
          <p:nvPr/>
        </p:nvSpPr>
        <p:spPr>
          <a:xfrm>
            <a:off x="4246061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102" name="Text 99"/>
          <p:cNvSpPr/>
          <p:nvPr/>
        </p:nvSpPr>
        <p:spPr>
          <a:xfrm>
            <a:off x="4728848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103" name="Text 100"/>
          <p:cNvSpPr/>
          <p:nvPr/>
        </p:nvSpPr>
        <p:spPr>
          <a:xfrm>
            <a:off x="2314916" y="39917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198</a:t>
            </a:r>
            <a:endParaRPr lang="en-US" sz="576" dirty="0"/>
          </a:p>
        </p:txBody>
      </p:sp>
      <p:sp>
        <p:nvSpPr>
          <p:cNvPr id="104" name="Text 101"/>
          <p:cNvSpPr/>
          <p:nvPr/>
        </p:nvSpPr>
        <p:spPr>
          <a:xfrm>
            <a:off x="5205169" y="39917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198</a:t>
            </a:r>
            <a:endParaRPr lang="en-US" sz="576" dirty="0"/>
          </a:p>
        </p:txBody>
      </p:sp>
      <p:sp>
        <p:nvSpPr>
          <p:cNvPr id="105" name="Text 102"/>
          <p:cNvSpPr/>
          <p:nvPr/>
        </p:nvSpPr>
        <p:spPr>
          <a:xfrm>
            <a:off x="6257769" y="1715244"/>
            <a:ext cx="1120237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06" name="Text 103"/>
          <p:cNvSpPr/>
          <p:nvPr/>
        </p:nvSpPr>
        <p:spPr>
          <a:xfrm>
            <a:off x="8077397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107" name="Text 104"/>
          <p:cNvSpPr/>
          <p:nvPr/>
        </p:nvSpPr>
        <p:spPr>
          <a:xfrm>
            <a:off x="8560183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108" name="Text 105"/>
          <p:cNvSpPr/>
          <p:nvPr/>
        </p:nvSpPr>
        <p:spPr>
          <a:xfrm>
            <a:off x="9042970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109" name="Text 106"/>
          <p:cNvSpPr/>
          <p:nvPr/>
        </p:nvSpPr>
        <p:spPr>
          <a:xfrm>
            <a:off x="9525756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110" name="Text 107"/>
          <p:cNvSpPr/>
          <p:nvPr/>
        </p:nvSpPr>
        <p:spPr>
          <a:xfrm>
            <a:off x="10008542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111" name="Text 108"/>
          <p:cNvSpPr/>
          <p:nvPr/>
        </p:nvSpPr>
        <p:spPr>
          <a:xfrm>
            <a:off x="10491329" y="3153519"/>
            <a:ext cx="497270" cy="1333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112" name="Text 109"/>
          <p:cNvSpPr/>
          <p:nvPr/>
        </p:nvSpPr>
        <p:spPr>
          <a:xfrm>
            <a:off x="2314916" y="33249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</a:t>
            </a:r>
            <a:endParaRPr lang="en-US" sz="576" dirty="0"/>
          </a:p>
        </p:txBody>
      </p:sp>
      <p:sp>
        <p:nvSpPr>
          <p:cNvPr id="113" name="Text 110"/>
          <p:cNvSpPr/>
          <p:nvPr/>
        </p:nvSpPr>
        <p:spPr>
          <a:xfrm>
            <a:off x="5205169" y="33249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</a:t>
            </a:r>
            <a:endParaRPr lang="en-US" sz="576" dirty="0"/>
          </a:p>
        </p:txBody>
      </p:sp>
      <p:sp>
        <p:nvSpPr>
          <p:cNvPr id="114" name="Text 111"/>
          <p:cNvSpPr/>
          <p:nvPr/>
        </p:nvSpPr>
        <p:spPr>
          <a:xfrm>
            <a:off x="2314916" y="34583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66</a:t>
            </a:r>
            <a:endParaRPr lang="en-US" sz="576" dirty="0"/>
          </a:p>
        </p:txBody>
      </p:sp>
      <p:sp>
        <p:nvSpPr>
          <p:cNvPr id="115" name="Text 112"/>
          <p:cNvSpPr/>
          <p:nvPr/>
        </p:nvSpPr>
        <p:spPr>
          <a:xfrm>
            <a:off x="5205169" y="34583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66</a:t>
            </a:r>
            <a:endParaRPr lang="en-US" sz="576" dirty="0"/>
          </a:p>
        </p:txBody>
      </p:sp>
      <p:sp>
        <p:nvSpPr>
          <p:cNvPr id="116" name="Text 113"/>
          <p:cNvSpPr/>
          <p:nvPr/>
        </p:nvSpPr>
        <p:spPr>
          <a:xfrm>
            <a:off x="2314916" y="35916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</a:t>
            </a:r>
            <a:endParaRPr lang="en-US" sz="576" dirty="0"/>
          </a:p>
        </p:txBody>
      </p:sp>
      <p:sp>
        <p:nvSpPr>
          <p:cNvPr id="117" name="Text 114"/>
          <p:cNvSpPr/>
          <p:nvPr/>
        </p:nvSpPr>
        <p:spPr>
          <a:xfrm>
            <a:off x="5205169" y="35916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</a:t>
            </a:r>
            <a:endParaRPr lang="en-US" sz="576" dirty="0"/>
          </a:p>
        </p:txBody>
      </p:sp>
      <p:sp>
        <p:nvSpPr>
          <p:cNvPr id="118" name="Text 115"/>
          <p:cNvSpPr/>
          <p:nvPr/>
        </p:nvSpPr>
        <p:spPr>
          <a:xfrm>
            <a:off x="2314916" y="372501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576" dirty="0"/>
          </a:p>
        </p:txBody>
      </p:sp>
      <p:sp>
        <p:nvSpPr>
          <p:cNvPr id="119" name="Text 116"/>
          <p:cNvSpPr/>
          <p:nvPr/>
        </p:nvSpPr>
        <p:spPr>
          <a:xfrm>
            <a:off x="5205169" y="372501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576" dirty="0"/>
          </a:p>
        </p:txBody>
      </p:sp>
      <p:sp>
        <p:nvSpPr>
          <p:cNvPr id="120" name="Text 117"/>
          <p:cNvSpPr/>
          <p:nvPr/>
        </p:nvSpPr>
        <p:spPr>
          <a:xfrm>
            <a:off x="2314916" y="3858369"/>
            <a:ext cx="497270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576" dirty="0"/>
          </a:p>
        </p:txBody>
      </p:sp>
      <p:sp>
        <p:nvSpPr>
          <p:cNvPr id="121" name="Text 118"/>
          <p:cNvSpPr/>
          <p:nvPr/>
        </p:nvSpPr>
        <p:spPr>
          <a:xfrm>
            <a:off x="5205169" y="3858369"/>
            <a:ext cx="719233" cy="85725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576" dirty="0"/>
          </a:p>
        </p:txBody>
      </p:sp>
      <p:sp>
        <p:nvSpPr>
          <p:cNvPr id="122" name="Text 119"/>
          <p:cNvSpPr/>
          <p:nvPr/>
        </p:nvSpPr>
        <p:spPr>
          <a:xfrm>
            <a:off x="9273649" y="188669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636" dirty="0"/>
          </a:p>
        </p:txBody>
      </p:sp>
      <p:sp>
        <p:nvSpPr>
          <p:cNvPr id="123" name="Text 120"/>
          <p:cNvSpPr/>
          <p:nvPr/>
        </p:nvSpPr>
        <p:spPr>
          <a:xfrm>
            <a:off x="9273649" y="2743944"/>
            <a:ext cx="1008183" cy="95250"/>
          </a:xfrm>
          <a:prstGeom prst="rect">
            <a:avLst/>
          </a:prstGeom>
          <a:noFill/>
          <a:ln/>
        </p:spPr>
        <p:txBody>
          <a:bodyPr wrap="square" lIns="0" tIns="38100" rIns="3810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636" dirty="0"/>
          </a:p>
        </p:txBody>
      </p:sp>
      <p:sp>
        <p:nvSpPr>
          <p:cNvPr id="124" name="Text 121"/>
          <p:cNvSpPr/>
          <p:nvPr/>
        </p:nvSpPr>
        <p:spPr>
          <a:xfrm>
            <a:off x="8216595" y="952500"/>
            <a:ext cx="274320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3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2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11871" y="6051203"/>
            <a:ext cx="6140242" cy="466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 equipo que rinde: el equipo creció de 15 a 21 asesores (+40 %), pero la productividad media bajó de 150 a 110 pólizas/asesor. El top 5 concentra el 37 % de las ventas (4.279 pólizas): el reto del 2S no es sumar gente, es nivelar al resto hacia ese estándar.</a:t>
            </a:r>
            <a:endParaRPr lang="en-US" sz="840" dirty="0"/>
          </a:p>
        </p:txBody>
      </p:sp>
      <p:sp>
        <p:nvSpPr>
          <p:cNvPr id="4" name="Text 1"/>
          <p:cNvSpPr/>
          <p:nvPr/>
        </p:nvSpPr>
        <p:spPr>
          <a:xfrm>
            <a:off x="857229" y="1028700"/>
            <a:ext cx="298453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Equipo activo a junio (21 asesores) · histórico ene–jun</a:t>
            </a:r>
            <a:endParaRPr lang="en-US" sz="864" dirty="0"/>
          </a:p>
        </p:txBody>
      </p:sp>
      <p:sp>
        <p:nvSpPr>
          <p:cNvPr id="5" name="Text 2"/>
          <p:cNvSpPr/>
          <p:nvPr/>
        </p:nvSpPr>
        <p:spPr>
          <a:xfrm>
            <a:off x="809605" y="6534150"/>
            <a:ext cx="222731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top 5 aporta </a:t>
            </a:r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4.279 pólizas (37 %)</a:t>
            </a:r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del semestre.</a:t>
            </a:r>
            <a:endParaRPr lang="en-US" sz="720" dirty="0"/>
          </a:p>
        </p:txBody>
      </p:sp>
      <p:sp>
        <p:nvSpPr>
          <p:cNvPr id="6" name="Text 3"/>
          <p:cNvSpPr/>
          <p:nvPr/>
        </p:nvSpPr>
        <p:spPr>
          <a:xfrm>
            <a:off x="857229" y="5943600"/>
            <a:ext cx="21831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Lectura del equipo </a:t>
            </a:r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· asesores activos por mes</a:t>
            </a:r>
            <a:endParaRPr lang="en-US" sz="816" dirty="0"/>
          </a:p>
        </p:txBody>
      </p:sp>
      <p:sp>
        <p:nvSpPr>
          <p:cNvPr id="7" name="Text 4"/>
          <p:cNvSpPr/>
          <p:nvPr/>
        </p:nvSpPr>
        <p:spPr>
          <a:xfrm>
            <a:off x="571486" y="209550"/>
            <a:ext cx="3325913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Desempeño del Equipo · Top Asesores</a:t>
            </a:r>
            <a:endParaRPr lang="en-US" sz="1260" dirty="0"/>
          </a:p>
        </p:txBody>
      </p:sp>
      <p:sp>
        <p:nvSpPr>
          <p:cNvPr id="8" name="Text 5"/>
          <p:cNvSpPr/>
          <p:nvPr/>
        </p:nvSpPr>
        <p:spPr>
          <a:xfrm>
            <a:off x="1240749" y="3139083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Julithza Milagros Padilla MejíA</a:t>
            </a:r>
            <a:endParaRPr lang="en-US" sz="660" dirty="0"/>
          </a:p>
        </p:txBody>
      </p:sp>
      <p:sp>
        <p:nvSpPr>
          <p:cNvPr id="9" name="Text 6"/>
          <p:cNvSpPr/>
          <p:nvPr/>
        </p:nvSpPr>
        <p:spPr>
          <a:xfrm>
            <a:off x="1240749" y="4812060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Karina Yisell Marquez Hernandez</a:t>
            </a:r>
            <a:endParaRPr lang="en-US" sz="660" dirty="0"/>
          </a:p>
        </p:txBody>
      </p:sp>
      <p:sp>
        <p:nvSpPr>
          <p:cNvPr id="10" name="Text 7"/>
          <p:cNvSpPr/>
          <p:nvPr/>
        </p:nvSpPr>
        <p:spPr>
          <a:xfrm>
            <a:off x="1240749" y="2040136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⭐ Dayana D. Guerrero HernáNdez</a:t>
            </a:r>
            <a:endParaRPr lang="en-US" sz="660" dirty="0"/>
          </a:p>
        </p:txBody>
      </p:sp>
      <p:sp>
        <p:nvSpPr>
          <p:cNvPr id="11" name="Text 8"/>
          <p:cNvSpPr/>
          <p:nvPr/>
        </p:nvSpPr>
        <p:spPr>
          <a:xfrm>
            <a:off x="1240749" y="2226022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⭐ Anderson Monterrosa Castilla</a:t>
            </a:r>
            <a:endParaRPr lang="en-US" sz="660" dirty="0"/>
          </a:p>
        </p:txBody>
      </p:sp>
      <p:sp>
        <p:nvSpPr>
          <p:cNvPr id="12" name="Text 9"/>
          <p:cNvSpPr/>
          <p:nvPr/>
        </p:nvSpPr>
        <p:spPr>
          <a:xfrm>
            <a:off x="1240749" y="1668363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⭐ Melissa Paola Orozco Jinete</a:t>
            </a:r>
            <a:endParaRPr lang="en-US" sz="660" dirty="0"/>
          </a:p>
        </p:txBody>
      </p:sp>
      <p:sp>
        <p:nvSpPr>
          <p:cNvPr id="13" name="Text 10"/>
          <p:cNvSpPr/>
          <p:nvPr/>
        </p:nvSpPr>
        <p:spPr>
          <a:xfrm>
            <a:off x="1240749" y="3510855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Isabella SofíA Rueda Caserta</a:t>
            </a:r>
            <a:endParaRPr lang="en-US" sz="660" dirty="0"/>
          </a:p>
        </p:txBody>
      </p:sp>
      <p:sp>
        <p:nvSpPr>
          <p:cNvPr id="14" name="Text 11"/>
          <p:cNvSpPr/>
          <p:nvPr/>
        </p:nvSpPr>
        <p:spPr>
          <a:xfrm>
            <a:off x="1240749" y="1483072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⭐ JesúS David CortéS Ortega</a:t>
            </a:r>
            <a:endParaRPr lang="en-US" sz="660" dirty="0"/>
          </a:p>
        </p:txBody>
      </p:sp>
      <p:sp>
        <p:nvSpPr>
          <p:cNvPr id="15" name="Text 12"/>
          <p:cNvSpPr/>
          <p:nvPr/>
        </p:nvSpPr>
        <p:spPr>
          <a:xfrm>
            <a:off x="1240749" y="2953196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Santiago Elí CháVez Carmona</a:t>
            </a:r>
            <a:endParaRPr lang="en-US" sz="660" dirty="0"/>
          </a:p>
        </p:txBody>
      </p:sp>
      <p:sp>
        <p:nvSpPr>
          <p:cNvPr id="16" name="Text 13"/>
          <p:cNvSpPr/>
          <p:nvPr/>
        </p:nvSpPr>
        <p:spPr>
          <a:xfrm>
            <a:off x="1240749" y="3324969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Nohelia H. Salas Monterrosa</a:t>
            </a:r>
            <a:endParaRPr lang="en-US" sz="660" dirty="0"/>
          </a:p>
        </p:txBody>
      </p:sp>
      <p:sp>
        <p:nvSpPr>
          <p:cNvPr id="17" name="Text 14"/>
          <p:cNvSpPr/>
          <p:nvPr/>
        </p:nvSpPr>
        <p:spPr>
          <a:xfrm>
            <a:off x="1240749" y="2767310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Alan José HernáNdez Loaiza</a:t>
            </a:r>
            <a:endParaRPr lang="en-US" sz="660" dirty="0"/>
          </a:p>
        </p:txBody>
      </p:sp>
      <p:sp>
        <p:nvSpPr>
          <p:cNvPr id="18" name="Text 15"/>
          <p:cNvSpPr/>
          <p:nvPr/>
        </p:nvSpPr>
        <p:spPr>
          <a:xfrm>
            <a:off x="1240749" y="4068514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Rhoymar HernáNdez AlbarráN</a:t>
            </a:r>
            <a:endParaRPr lang="en-US" sz="660" dirty="0"/>
          </a:p>
        </p:txBody>
      </p:sp>
      <p:sp>
        <p:nvSpPr>
          <p:cNvPr id="19" name="Text 16"/>
          <p:cNvSpPr/>
          <p:nvPr/>
        </p:nvSpPr>
        <p:spPr>
          <a:xfrm>
            <a:off x="1240749" y="3696742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Laura L. Herrera Palomino</a:t>
            </a:r>
            <a:endParaRPr lang="en-US" sz="660" dirty="0"/>
          </a:p>
        </p:txBody>
      </p:sp>
      <p:sp>
        <p:nvSpPr>
          <p:cNvPr id="20" name="Text 17"/>
          <p:cNvSpPr/>
          <p:nvPr/>
        </p:nvSpPr>
        <p:spPr>
          <a:xfrm>
            <a:off x="1240749" y="1854250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⭐ Luisa L. Percy Jaraba</a:t>
            </a:r>
            <a:endParaRPr lang="en-US" sz="660" dirty="0"/>
          </a:p>
        </p:txBody>
      </p:sp>
      <p:sp>
        <p:nvSpPr>
          <p:cNvPr id="21" name="Text 18"/>
          <p:cNvSpPr/>
          <p:nvPr/>
        </p:nvSpPr>
        <p:spPr>
          <a:xfrm>
            <a:off x="1240749" y="5183832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Rosalinda Rivera Senior</a:t>
            </a:r>
            <a:endParaRPr lang="en-US" sz="660" dirty="0"/>
          </a:p>
        </p:txBody>
      </p:sp>
      <p:sp>
        <p:nvSpPr>
          <p:cNvPr id="22" name="Text 19"/>
          <p:cNvSpPr/>
          <p:nvPr/>
        </p:nvSpPr>
        <p:spPr>
          <a:xfrm>
            <a:off x="1240749" y="4254401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CéSar Barrera PáJaro</a:t>
            </a:r>
            <a:endParaRPr lang="en-US" sz="660" dirty="0"/>
          </a:p>
        </p:txBody>
      </p:sp>
      <p:sp>
        <p:nvSpPr>
          <p:cNvPr id="23" name="Text 20"/>
          <p:cNvSpPr/>
          <p:nvPr/>
        </p:nvSpPr>
        <p:spPr>
          <a:xfrm>
            <a:off x="1240749" y="4626173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Yannecce MejíA GóMez</a:t>
            </a:r>
            <a:endParaRPr lang="en-US" sz="660" dirty="0"/>
          </a:p>
        </p:txBody>
      </p:sp>
      <p:sp>
        <p:nvSpPr>
          <p:cNvPr id="24" name="Text 21"/>
          <p:cNvSpPr/>
          <p:nvPr/>
        </p:nvSpPr>
        <p:spPr>
          <a:xfrm>
            <a:off x="1240749" y="2401342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Joelis J. Barros B.</a:t>
            </a:r>
            <a:endParaRPr lang="en-US" sz="660" dirty="0"/>
          </a:p>
        </p:txBody>
      </p:sp>
      <p:sp>
        <p:nvSpPr>
          <p:cNvPr id="25" name="Text 22"/>
          <p:cNvSpPr/>
          <p:nvPr/>
        </p:nvSpPr>
        <p:spPr>
          <a:xfrm>
            <a:off x="1240749" y="4997946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Ruddy Olmos Simanca</a:t>
            </a:r>
            <a:endParaRPr lang="en-US" sz="660" dirty="0"/>
          </a:p>
        </p:txBody>
      </p:sp>
      <p:sp>
        <p:nvSpPr>
          <p:cNvPr id="26" name="Text 23"/>
          <p:cNvSpPr/>
          <p:nvPr/>
        </p:nvSpPr>
        <p:spPr>
          <a:xfrm>
            <a:off x="1240749" y="3882628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Valentina Orozco</a:t>
            </a:r>
            <a:endParaRPr lang="en-US" sz="660" dirty="0"/>
          </a:p>
        </p:txBody>
      </p:sp>
      <p:sp>
        <p:nvSpPr>
          <p:cNvPr id="27" name="Text 24"/>
          <p:cNvSpPr/>
          <p:nvPr/>
        </p:nvSpPr>
        <p:spPr>
          <a:xfrm>
            <a:off x="1240749" y="2581424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Yulieth Pacheco</a:t>
            </a:r>
            <a:endParaRPr lang="en-US" sz="660" dirty="0"/>
          </a:p>
        </p:txBody>
      </p:sp>
      <p:sp>
        <p:nvSpPr>
          <p:cNvPr id="28" name="Text 25"/>
          <p:cNvSpPr/>
          <p:nvPr/>
        </p:nvSpPr>
        <p:spPr>
          <a:xfrm>
            <a:off x="1240749" y="4440287"/>
            <a:ext cx="396390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Jean J. GuzmáN</a:t>
            </a:r>
            <a:endParaRPr lang="en-US" sz="660" dirty="0"/>
          </a:p>
        </p:txBody>
      </p:sp>
      <p:sp>
        <p:nvSpPr>
          <p:cNvPr id="29" name="Text 26"/>
          <p:cNvSpPr/>
          <p:nvPr/>
        </p:nvSpPr>
        <p:spPr>
          <a:xfrm>
            <a:off x="1240749" y="1276350"/>
            <a:ext cx="3963904" cy="1333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10377663" y="5364956"/>
            <a:ext cx="1109200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13.499</a:t>
            </a:r>
            <a:endParaRPr lang="en-US" sz="696" dirty="0"/>
          </a:p>
        </p:txBody>
      </p:sp>
      <p:sp>
        <p:nvSpPr>
          <p:cNvPr id="31" name="Text 28"/>
          <p:cNvSpPr/>
          <p:nvPr/>
        </p:nvSpPr>
        <p:spPr>
          <a:xfrm>
            <a:off x="10377663" y="1276350"/>
            <a:ext cx="1109200" cy="1333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10377663" y="1478310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1.276</a:t>
            </a:r>
            <a:endParaRPr lang="en-US" sz="660" dirty="0"/>
          </a:p>
        </p:txBody>
      </p:sp>
      <p:sp>
        <p:nvSpPr>
          <p:cNvPr id="33" name="Text 30"/>
          <p:cNvSpPr/>
          <p:nvPr/>
        </p:nvSpPr>
        <p:spPr>
          <a:xfrm>
            <a:off x="10377663" y="1663601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1.021</a:t>
            </a:r>
            <a:endParaRPr lang="en-US" sz="660" dirty="0"/>
          </a:p>
        </p:txBody>
      </p:sp>
      <p:sp>
        <p:nvSpPr>
          <p:cNvPr id="34" name="Text 31"/>
          <p:cNvSpPr/>
          <p:nvPr/>
        </p:nvSpPr>
        <p:spPr>
          <a:xfrm>
            <a:off x="1240749" y="5364956"/>
            <a:ext cx="3963904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96" dirty="0"/>
          </a:p>
        </p:txBody>
      </p:sp>
      <p:sp>
        <p:nvSpPr>
          <p:cNvPr id="35" name="Text 32"/>
          <p:cNvSpPr/>
          <p:nvPr/>
        </p:nvSpPr>
        <p:spPr>
          <a:xfrm>
            <a:off x="5062670" y="5364956"/>
            <a:ext cx="910844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2.109</a:t>
            </a:r>
            <a:endParaRPr lang="en-US" sz="696" dirty="0"/>
          </a:p>
        </p:txBody>
      </p:sp>
      <p:sp>
        <p:nvSpPr>
          <p:cNvPr id="36" name="Text 33"/>
          <p:cNvSpPr/>
          <p:nvPr/>
        </p:nvSpPr>
        <p:spPr>
          <a:xfrm>
            <a:off x="5946958" y="5364956"/>
            <a:ext cx="911764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2.344</a:t>
            </a:r>
            <a:endParaRPr lang="en-US" sz="696" dirty="0"/>
          </a:p>
        </p:txBody>
      </p:sp>
      <p:sp>
        <p:nvSpPr>
          <p:cNvPr id="37" name="Text 34"/>
          <p:cNvSpPr/>
          <p:nvPr/>
        </p:nvSpPr>
        <p:spPr>
          <a:xfrm>
            <a:off x="6832375" y="5364956"/>
            <a:ext cx="904559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2.313</a:t>
            </a:r>
            <a:endParaRPr lang="en-US" sz="696" dirty="0"/>
          </a:p>
        </p:txBody>
      </p:sp>
      <p:sp>
        <p:nvSpPr>
          <p:cNvPr id="38" name="Text 35"/>
          <p:cNvSpPr/>
          <p:nvPr/>
        </p:nvSpPr>
        <p:spPr>
          <a:xfrm>
            <a:off x="7710494" y="5364956"/>
            <a:ext cx="907778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2.235</a:t>
            </a:r>
            <a:endParaRPr lang="en-US" sz="696" dirty="0"/>
          </a:p>
        </p:txBody>
      </p:sp>
      <p:sp>
        <p:nvSpPr>
          <p:cNvPr id="39" name="Text 36"/>
          <p:cNvSpPr/>
          <p:nvPr/>
        </p:nvSpPr>
        <p:spPr>
          <a:xfrm>
            <a:off x="8590667" y="5364956"/>
            <a:ext cx="947787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2.184</a:t>
            </a:r>
            <a:endParaRPr lang="en-US" sz="696" dirty="0"/>
          </a:p>
        </p:txBody>
      </p:sp>
      <p:sp>
        <p:nvSpPr>
          <p:cNvPr id="40" name="Text 37"/>
          <p:cNvSpPr/>
          <p:nvPr/>
        </p:nvSpPr>
        <p:spPr>
          <a:xfrm>
            <a:off x="9512308" y="5364956"/>
            <a:ext cx="897661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2.314</a:t>
            </a:r>
            <a:endParaRPr lang="en-US" sz="696" dirty="0"/>
          </a:p>
        </p:txBody>
      </p:sp>
      <p:sp>
        <p:nvSpPr>
          <p:cNvPr id="41" name="Text 38"/>
          <p:cNvSpPr/>
          <p:nvPr/>
        </p:nvSpPr>
        <p:spPr>
          <a:xfrm>
            <a:off x="809605" y="554355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Top 5</a:t>
            </a:r>
            <a:endParaRPr lang="en-US" sz="648" dirty="0"/>
          </a:p>
        </p:txBody>
      </p:sp>
      <p:sp>
        <p:nvSpPr>
          <p:cNvPr id="42" name="Text 39"/>
          <p:cNvSpPr/>
          <p:nvPr/>
        </p:nvSpPr>
        <p:spPr>
          <a:xfrm>
            <a:off x="5062670" y="1276350"/>
            <a:ext cx="910844" cy="1333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5946958" y="1276350"/>
            <a:ext cx="911764" cy="1333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44" name="Text 41"/>
          <p:cNvSpPr/>
          <p:nvPr/>
        </p:nvSpPr>
        <p:spPr>
          <a:xfrm>
            <a:off x="6832375" y="1276350"/>
            <a:ext cx="904559" cy="1333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7710494" y="1276350"/>
            <a:ext cx="907778" cy="1333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8590667" y="1276350"/>
            <a:ext cx="947787" cy="1333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9512308" y="1276350"/>
            <a:ext cx="897661" cy="1333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48" name="Text 45"/>
          <p:cNvSpPr/>
          <p:nvPr/>
        </p:nvSpPr>
        <p:spPr>
          <a:xfrm>
            <a:off x="5062670" y="1478310"/>
            <a:ext cx="91084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205</a:t>
            </a:r>
            <a:endParaRPr lang="en-US" sz="660" dirty="0"/>
          </a:p>
        </p:txBody>
      </p:sp>
      <p:sp>
        <p:nvSpPr>
          <p:cNvPr id="49" name="Text 46"/>
          <p:cNvSpPr/>
          <p:nvPr/>
        </p:nvSpPr>
        <p:spPr>
          <a:xfrm>
            <a:off x="5946958" y="1478310"/>
            <a:ext cx="91176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234</a:t>
            </a:r>
            <a:endParaRPr lang="en-US" sz="660" dirty="0"/>
          </a:p>
        </p:txBody>
      </p:sp>
      <p:sp>
        <p:nvSpPr>
          <p:cNvPr id="50" name="Text 47"/>
          <p:cNvSpPr/>
          <p:nvPr/>
        </p:nvSpPr>
        <p:spPr>
          <a:xfrm>
            <a:off x="6832375" y="1478310"/>
            <a:ext cx="904559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208</a:t>
            </a:r>
            <a:endParaRPr lang="en-US" sz="660" dirty="0"/>
          </a:p>
        </p:txBody>
      </p:sp>
      <p:sp>
        <p:nvSpPr>
          <p:cNvPr id="51" name="Text 48"/>
          <p:cNvSpPr/>
          <p:nvPr/>
        </p:nvSpPr>
        <p:spPr>
          <a:xfrm>
            <a:off x="7710494" y="1478310"/>
            <a:ext cx="907778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197</a:t>
            </a:r>
            <a:endParaRPr lang="en-US" sz="660" dirty="0"/>
          </a:p>
        </p:txBody>
      </p:sp>
      <p:sp>
        <p:nvSpPr>
          <p:cNvPr id="52" name="Text 49"/>
          <p:cNvSpPr/>
          <p:nvPr/>
        </p:nvSpPr>
        <p:spPr>
          <a:xfrm>
            <a:off x="8590667" y="1478310"/>
            <a:ext cx="947787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210</a:t>
            </a:r>
            <a:endParaRPr lang="en-US" sz="660" dirty="0"/>
          </a:p>
        </p:txBody>
      </p:sp>
      <p:sp>
        <p:nvSpPr>
          <p:cNvPr id="53" name="Text 50"/>
          <p:cNvSpPr/>
          <p:nvPr/>
        </p:nvSpPr>
        <p:spPr>
          <a:xfrm>
            <a:off x="9512308" y="1478310"/>
            <a:ext cx="897661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222</a:t>
            </a:r>
            <a:endParaRPr lang="en-US" sz="660" dirty="0"/>
          </a:p>
        </p:txBody>
      </p:sp>
      <p:sp>
        <p:nvSpPr>
          <p:cNvPr id="54" name="Text 51"/>
          <p:cNvSpPr/>
          <p:nvPr/>
        </p:nvSpPr>
        <p:spPr>
          <a:xfrm>
            <a:off x="5062670" y="1663601"/>
            <a:ext cx="91084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144</a:t>
            </a:r>
            <a:endParaRPr lang="en-US" sz="660" dirty="0"/>
          </a:p>
        </p:txBody>
      </p:sp>
      <p:sp>
        <p:nvSpPr>
          <p:cNvPr id="55" name="Text 52"/>
          <p:cNvSpPr/>
          <p:nvPr/>
        </p:nvSpPr>
        <p:spPr>
          <a:xfrm>
            <a:off x="5946958" y="1663601"/>
            <a:ext cx="91176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195</a:t>
            </a:r>
            <a:endParaRPr lang="en-US" sz="660" dirty="0"/>
          </a:p>
        </p:txBody>
      </p:sp>
      <p:sp>
        <p:nvSpPr>
          <p:cNvPr id="56" name="Text 53"/>
          <p:cNvSpPr/>
          <p:nvPr/>
        </p:nvSpPr>
        <p:spPr>
          <a:xfrm>
            <a:off x="6832375" y="1663601"/>
            <a:ext cx="904559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189</a:t>
            </a:r>
            <a:endParaRPr lang="en-US" sz="660" dirty="0"/>
          </a:p>
        </p:txBody>
      </p:sp>
      <p:sp>
        <p:nvSpPr>
          <p:cNvPr id="57" name="Text 54"/>
          <p:cNvSpPr/>
          <p:nvPr/>
        </p:nvSpPr>
        <p:spPr>
          <a:xfrm>
            <a:off x="7710494" y="1663601"/>
            <a:ext cx="907778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157</a:t>
            </a:r>
            <a:endParaRPr lang="en-US" sz="660" dirty="0"/>
          </a:p>
        </p:txBody>
      </p:sp>
      <p:sp>
        <p:nvSpPr>
          <p:cNvPr id="58" name="Text 55"/>
          <p:cNvSpPr/>
          <p:nvPr/>
        </p:nvSpPr>
        <p:spPr>
          <a:xfrm>
            <a:off x="8590667" y="1663601"/>
            <a:ext cx="947787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161</a:t>
            </a:r>
            <a:endParaRPr lang="en-US" sz="660" dirty="0"/>
          </a:p>
        </p:txBody>
      </p:sp>
      <p:sp>
        <p:nvSpPr>
          <p:cNvPr id="59" name="Text 56"/>
          <p:cNvSpPr/>
          <p:nvPr/>
        </p:nvSpPr>
        <p:spPr>
          <a:xfrm>
            <a:off x="9512308" y="1663601"/>
            <a:ext cx="897661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175</a:t>
            </a:r>
            <a:endParaRPr lang="en-US" sz="660" dirty="0"/>
          </a:p>
        </p:txBody>
      </p:sp>
      <p:sp>
        <p:nvSpPr>
          <p:cNvPr id="60" name="Text 57"/>
          <p:cNvSpPr/>
          <p:nvPr/>
        </p:nvSpPr>
        <p:spPr>
          <a:xfrm>
            <a:off x="5062670" y="1849487"/>
            <a:ext cx="91084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155</a:t>
            </a:r>
            <a:endParaRPr lang="en-US" sz="660" dirty="0"/>
          </a:p>
        </p:txBody>
      </p:sp>
      <p:sp>
        <p:nvSpPr>
          <p:cNvPr id="61" name="Text 58"/>
          <p:cNvSpPr/>
          <p:nvPr/>
        </p:nvSpPr>
        <p:spPr>
          <a:xfrm>
            <a:off x="5946958" y="1849487"/>
            <a:ext cx="91176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175</a:t>
            </a:r>
            <a:endParaRPr lang="en-US" sz="660" dirty="0"/>
          </a:p>
        </p:txBody>
      </p:sp>
      <p:sp>
        <p:nvSpPr>
          <p:cNvPr id="62" name="Text 59"/>
          <p:cNvSpPr/>
          <p:nvPr/>
        </p:nvSpPr>
        <p:spPr>
          <a:xfrm>
            <a:off x="6832375" y="1849487"/>
            <a:ext cx="904559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178</a:t>
            </a:r>
            <a:endParaRPr lang="en-US" sz="660" dirty="0"/>
          </a:p>
        </p:txBody>
      </p:sp>
      <p:sp>
        <p:nvSpPr>
          <p:cNvPr id="63" name="Text 60"/>
          <p:cNvSpPr/>
          <p:nvPr/>
        </p:nvSpPr>
        <p:spPr>
          <a:xfrm>
            <a:off x="7710494" y="1849487"/>
            <a:ext cx="907778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147</a:t>
            </a:r>
            <a:endParaRPr lang="en-US" sz="660" dirty="0"/>
          </a:p>
        </p:txBody>
      </p:sp>
      <p:sp>
        <p:nvSpPr>
          <p:cNvPr id="64" name="Text 61"/>
          <p:cNvSpPr/>
          <p:nvPr/>
        </p:nvSpPr>
        <p:spPr>
          <a:xfrm>
            <a:off x="8590667" y="1849487"/>
            <a:ext cx="947787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144</a:t>
            </a:r>
            <a:endParaRPr lang="en-US" sz="660" dirty="0"/>
          </a:p>
        </p:txBody>
      </p:sp>
      <p:sp>
        <p:nvSpPr>
          <p:cNvPr id="65" name="Text 62"/>
          <p:cNvSpPr/>
          <p:nvPr/>
        </p:nvSpPr>
        <p:spPr>
          <a:xfrm>
            <a:off x="9512308" y="1849487"/>
            <a:ext cx="897661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153</a:t>
            </a:r>
            <a:endParaRPr lang="en-US" sz="660" dirty="0"/>
          </a:p>
        </p:txBody>
      </p:sp>
      <p:sp>
        <p:nvSpPr>
          <p:cNvPr id="66" name="Text 63"/>
          <p:cNvSpPr/>
          <p:nvPr/>
        </p:nvSpPr>
        <p:spPr>
          <a:xfrm>
            <a:off x="10377663" y="1849487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952</a:t>
            </a:r>
            <a:endParaRPr lang="en-US" sz="660" dirty="0"/>
          </a:p>
        </p:txBody>
      </p:sp>
      <p:sp>
        <p:nvSpPr>
          <p:cNvPr id="67" name="Text 64"/>
          <p:cNvSpPr/>
          <p:nvPr/>
        </p:nvSpPr>
        <p:spPr>
          <a:xfrm>
            <a:off x="5062670" y="2035373"/>
            <a:ext cx="91084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151</a:t>
            </a:r>
            <a:endParaRPr lang="en-US" sz="660" dirty="0"/>
          </a:p>
        </p:txBody>
      </p:sp>
      <p:sp>
        <p:nvSpPr>
          <p:cNvPr id="68" name="Text 65"/>
          <p:cNvSpPr/>
          <p:nvPr/>
        </p:nvSpPr>
        <p:spPr>
          <a:xfrm>
            <a:off x="5946958" y="2035373"/>
            <a:ext cx="91176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188</a:t>
            </a:r>
            <a:endParaRPr lang="en-US" sz="660" dirty="0"/>
          </a:p>
        </p:txBody>
      </p:sp>
      <p:sp>
        <p:nvSpPr>
          <p:cNvPr id="69" name="Text 66"/>
          <p:cNvSpPr/>
          <p:nvPr/>
        </p:nvSpPr>
        <p:spPr>
          <a:xfrm>
            <a:off x="6832375" y="2035373"/>
            <a:ext cx="904559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169</a:t>
            </a:r>
            <a:endParaRPr lang="en-US" sz="660" dirty="0"/>
          </a:p>
        </p:txBody>
      </p:sp>
      <p:sp>
        <p:nvSpPr>
          <p:cNvPr id="70" name="Text 67"/>
          <p:cNvSpPr/>
          <p:nvPr/>
        </p:nvSpPr>
        <p:spPr>
          <a:xfrm>
            <a:off x="7710494" y="2035373"/>
            <a:ext cx="907778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148</a:t>
            </a:r>
            <a:endParaRPr lang="en-US" sz="660" dirty="0"/>
          </a:p>
        </p:txBody>
      </p:sp>
      <p:sp>
        <p:nvSpPr>
          <p:cNvPr id="71" name="Text 68"/>
          <p:cNvSpPr/>
          <p:nvPr/>
        </p:nvSpPr>
        <p:spPr>
          <a:xfrm>
            <a:off x="8590667" y="2035373"/>
            <a:ext cx="947787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144</a:t>
            </a:r>
            <a:endParaRPr lang="en-US" sz="660" dirty="0"/>
          </a:p>
        </p:txBody>
      </p:sp>
      <p:sp>
        <p:nvSpPr>
          <p:cNvPr id="72" name="Text 69"/>
          <p:cNvSpPr/>
          <p:nvPr/>
        </p:nvSpPr>
        <p:spPr>
          <a:xfrm>
            <a:off x="9512308" y="2035373"/>
            <a:ext cx="897661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660" dirty="0"/>
          </a:p>
        </p:txBody>
      </p:sp>
      <p:sp>
        <p:nvSpPr>
          <p:cNvPr id="73" name="Text 70"/>
          <p:cNvSpPr/>
          <p:nvPr/>
        </p:nvSpPr>
        <p:spPr>
          <a:xfrm>
            <a:off x="10377663" y="2035373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935</a:t>
            </a:r>
            <a:endParaRPr lang="en-US" sz="660" dirty="0"/>
          </a:p>
        </p:txBody>
      </p:sp>
      <p:sp>
        <p:nvSpPr>
          <p:cNvPr id="74" name="Text 71"/>
          <p:cNvSpPr/>
          <p:nvPr/>
        </p:nvSpPr>
        <p:spPr>
          <a:xfrm>
            <a:off x="5062670" y="2221260"/>
            <a:ext cx="91084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167</a:t>
            </a:r>
            <a:endParaRPr lang="en-US" sz="660" dirty="0"/>
          </a:p>
        </p:txBody>
      </p:sp>
      <p:sp>
        <p:nvSpPr>
          <p:cNvPr id="75" name="Text 72"/>
          <p:cNvSpPr/>
          <p:nvPr/>
        </p:nvSpPr>
        <p:spPr>
          <a:xfrm>
            <a:off x="5946958" y="2221260"/>
            <a:ext cx="91176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149</a:t>
            </a:r>
            <a:endParaRPr lang="en-US" sz="660" dirty="0"/>
          </a:p>
        </p:txBody>
      </p:sp>
      <p:sp>
        <p:nvSpPr>
          <p:cNvPr id="76" name="Text 73"/>
          <p:cNvSpPr/>
          <p:nvPr/>
        </p:nvSpPr>
        <p:spPr>
          <a:xfrm>
            <a:off x="6832375" y="2221260"/>
            <a:ext cx="904559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169</a:t>
            </a:r>
            <a:endParaRPr lang="en-US" sz="660" dirty="0"/>
          </a:p>
        </p:txBody>
      </p:sp>
      <p:sp>
        <p:nvSpPr>
          <p:cNvPr id="77" name="Text 74"/>
          <p:cNvSpPr/>
          <p:nvPr/>
        </p:nvSpPr>
        <p:spPr>
          <a:xfrm>
            <a:off x="7710494" y="2221260"/>
            <a:ext cx="907778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660" dirty="0"/>
          </a:p>
        </p:txBody>
      </p:sp>
      <p:sp>
        <p:nvSpPr>
          <p:cNvPr id="78" name="Text 75"/>
          <p:cNvSpPr/>
          <p:nvPr/>
        </p:nvSpPr>
        <p:spPr>
          <a:xfrm>
            <a:off x="8590667" y="2221260"/>
            <a:ext cx="947787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149</a:t>
            </a:r>
            <a:endParaRPr lang="en-US" sz="660" dirty="0"/>
          </a:p>
        </p:txBody>
      </p:sp>
      <p:sp>
        <p:nvSpPr>
          <p:cNvPr id="79" name="Text 76"/>
          <p:cNvSpPr/>
          <p:nvPr/>
        </p:nvSpPr>
        <p:spPr>
          <a:xfrm>
            <a:off x="9512308" y="2221260"/>
            <a:ext cx="897661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145</a:t>
            </a:r>
            <a:endParaRPr lang="en-US" sz="660" dirty="0"/>
          </a:p>
        </p:txBody>
      </p:sp>
      <p:sp>
        <p:nvSpPr>
          <p:cNvPr id="80" name="Text 77"/>
          <p:cNvSpPr/>
          <p:nvPr/>
        </p:nvSpPr>
        <p:spPr>
          <a:xfrm>
            <a:off x="10377663" y="2221260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925</a:t>
            </a:r>
            <a:endParaRPr lang="en-US" sz="660" dirty="0"/>
          </a:p>
        </p:txBody>
      </p:sp>
      <p:sp>
        <p:nvSpPr>
          <p:cNvPr id="81" name="Text 78"/>
          <p:cNvSpPr/>
          <p:nvPr/>
        </p:nvSpPr>
        <p:spPr>
          <a:xfrm>
            <a:off x="5062670" y="2401342"/>
            <a:ext cx="91084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154</a:t>
            </a:r>
            <a:endParaRPr lang="en-US" sz="660" dirty="0"/>
          </a:p>
        </p:txBody>
      </p:sp>
      <p:sp>
        <p:nvSpPr>
          <p:cNvPr id="82" name="Text 79"/>
          <p:cNvSpPr/>
          <p:nvPr/>
        </p:nvSpPr>
        <p:spPr>
          <a:xfrm>
            <a:off x="5946958" y="2401342"/>
            <a:ext cx="91176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180</a:t>
            </a:r>
            <a:endParaRPr lang="en-US" sz="660" dirty="0"/>
          </a:p>
        </p:txBody>
      </p:sp>
      <p:sp>
        <p:nvSpPr>
          <p:cNvPr id="83" name="Text 80"/>
          <p:cNvSpPr/>
          <p:nvPr/>
        </p:nvSpPr>
        <p:spPr>
          <a:xfrm>
            <a:off x="6832375" y="2401342"/>
            <a:ext cx="904559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168</a:t>
            </a:r>
            <a:endParaRPr lang="en-US" sz="660" dirty="0"/>
          </a:p>
        </p:txBody>
      </p:sp>
      <p:sp>
        <p:nvSpPr>
          <p:cNvPr id="84" name="Text 81"/>
          <p:cNvSpPr/>
          <p:nvPr/>
        </p:nvSpPr>
        <p:spPr>
          <a:xfrm>
            <a:off x="7710494" y="2401342"/>
            <a:ext cx="907778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136</a:t>
            </a:r>
            <a:endParaRPr lang="en-US" sz="660" dirty="0"/>
          </a:p>
        </p:txBody>
      </p:sp>
      <p:sp>
        <p:nvSpPr>
          <p:cNvPr id="85" name="Text 82"/>
          <p:cNvSpPr/>
          <p:nvPr/>
        </p:nvSpPr>
        <p:spPr>
          <a:xfrm>
            <a:off x="9512308" y="2401342"/>
            <a:ext cx="897661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167</a:t>
            </a:r>
            <a:endParaRPr lang="en-US" sz="660" dirty="0"/>
          </a:p>
        </p:txBody>
      </p:sp>
      <p:sp>
        <p:nvSpPr>
          <p:cNvPr id="86" name="Text 83"/>
          <p:cNvSpPr/>
          <p:nvPr/>
        </p:nvSpPr>
        <p:spPr>
          <a:xfrm>
            <a:off x="10377663" y="2401342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886</a:t>
            </a:r>
            <a:endParaRPr lang="en-US" sz="660" dirty="0"/>
          </a:p>
        </p:txBody>
      </p:sp>
      <p:sp>
        <p:nvSpPr>
          <p:cNvPr id="87" name="Text 84"/>
          <p:cNvSpPr/>
          <p:nvPr/>
        </p:nvSpPr>
        <p:spPr>
          <a:xfrm>
            <a:off x="5062670" y="2581424"/>
            <a:ext cx="91084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163</a:t>
            </a:r>
            <a:endParaRPr lang="en-US" sz="660" dirty="0"/>
          </a:p>
        </p:txBody>
      </p:sp>
      <p:sp>
        <p:nvSpPr>
          <p:cNvPr id="88" name="Text 85"/>
          <p:cNvSpPr/>
          <p:nvPr/>
        </p:nvSpPr>
        <p:spPr>
          <a:xfrm>
            <a:off x="5946958" y="2581424"/>
            <a:ext cx="91176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176</a:t>
            </a:r>
            <a:endParaRPr lang="en-US" sz="660" dirty="0"/>
          </a:p>
        </p:txBody>
      </p:sp>
      <p:sp>
        <p:nvSpPr>
          <p:cNvPr id="89" name="Text 86"/>
          <p:cNvSpPr/>
          <p:nvPr/>
        </p:nvSpPr>
        <p:spPr>
          <a:xfrm>
            <a:off x="6832375" y="2581424"/>
            <a:ext cx="904559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149</a:t>
            </a:r>
            <a:endParaRPr lang="en-US" sz="660" dirty="0"/>
          </a:p>
        </p:txBody>
      </p:sp>
      <p:sp>
        <p:nvSpPr>
          <p:cNvPr id="90" name="Text 87"/>
          <p:cNvSpPr/>
          <p:nvPr/>
        </p:nvSpPr>
        <p:spPr>
          <a:xfrm>
            <a:off x="7710494" y="2581424"/>
            <a:ext cx="907778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145</a:t>
            </a:r>
            <a:endParaRPr lang="en-US" sz="660" dirty="0"/>
          </a:p>
        </p:txBody>
      </p:sp>
      <p:sp>
        <p:nvSpPr>
          <p:cNvPr id="91" name="Text 88"/>
          <p:cNvSpPr/>
          <p:nvPr/>
        </p:nvSpPr>
        <p:spPr>
          <a:xfrm>
            <a:off x="8590667" y="2576661"/>
            <a:ext cx="947787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123</a:t>
            </a:r>
            <a:endParaRPr lang="en-US" sz="696" dirty="0"/>
          </a:p>
        </p:txBody>
      </p:sp>
      <p:sp>
        <p:nvSpPr>
          <p:cNvPr id="92" name="Text 89"/>
          <p:cNvSpPr/>
          <p:nvPr/>
        </p:nvSpPr>
        <p:spPr>
          <a:xfrm>
            <a:off x="9512308" y="2576661"/>
            <a:ext cx="897661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129</a:t>
            </a:r>
            <a:endParaRPr lang="en-US" sz="696" dirty="0"/>
          </a:p>
        </p:txBody>
      </p:sp>
      <p:sp>
        <p:nvSpPr>
          <p:cNvPr id="93" name="Text 90"/>
          <p:cNvSpPr/>
          <p:nvPr/>
        </p:nvSpPr>
        <p:spPr>
          <a:xfrm>
            <a:off x="10377663" y="2581424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885</a:t>
            </a:r>
            <a:endParaRPr lang="en-US" sz="660" dirty="0"/>
          </a:p>
        </p:txBody>
      </p:sp>
      <p:sp>
        <p:nvSpPr>
          <p:cNvPr id="94" name="Text 91"/>
          <p:cNvSpPr/>
          <p:nvPr/>
        </p:nvSpPr>
        <p:spPr>
          <a:xfrm>
            <a:off x="5062670" y="2767310"/>
            <a:ext cx="91084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163</a:t>
            </a:r>
            <a:endParaRPr lang="en-US" sz="660" dirty="0"/>
          </a:p>
        </p:txBody>
      </p:sp>
      <p:sp>
        <p:nvSpPr>
          <p:cNvPr id="95" name="Text 92"/>
          <p:cNvSpPr/>
          <p:nvPr/>
        </p:nvSpPr>
        <p:spPr>
          <a:xfrm>
            <a:off x="5946958" y="2767310"/>
            <a:ext cx="91176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137</a:t>
            </a:r>
            <a:endParaRPr lang="en-US" sz="660" dirty="0"/>
          </a:p>
        </p:txBody>
      </p:sp>
      <p:sp>
        <p:nvSpPr>
          <p:cNvPr id="96" name="Text 93"/>
          <p:cNvSpPr/>
          <p:nvPr/>
        </p:nvSpPr>
        <p:spPr>
          <a:xfrm>
            <a:off x="6832375" y="2767310"/>
            <a:ext cx="904559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152</a:t>
            </a:r>
            <a:endParaRPr lang="en-US" sz="660" dirty="0"/>
          </a:p>
        </p:txBody>
      </p:sp>
      <p:sp>
        <p:nvSpPr>
          <p:cNvPr id="97" name="Text 94"/>
          <p:cNvSpPr/>
          <p:nvPr/>
        </p:nvSpPr>
        <p:spPr>
          <a:xfrm>
            <a:off x="7710494" y="2767310"/>
            <a:ext cx="907778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141</a:t>
            </a:r>
            <a:endParaRPr lang="en-US" sz="660" dirty="0"/>
          </a:p>
        </p:txBody>
      </p:sp>
      <p:sp>
        <p:nvSpPr>
          <p:cNvPr id="98" name="Text 95"/>
          <p:cNvSpPr/>
          <p:nvPr/>
        </p:nvSpPr>
        <p:spPr>
          <a:xfrm>
            <a:off x="8590667" y="2767310"/>
            <a:ext cx="947787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660" dirty="0"/>
          </a:p>
        </p:txBody>
      </p:sp>
      <p:sp>
        <p:nvSpPr>
          <p:cNvPr id="99" name="Text 96"/>
          <p:cNvSpPr/>
          <p:nvPr/>
        </p:nvSpPr>
        <p:spPr>
          <a:xfrm>
            <a:off x="9512308" y="2762548"/>
            <a:ext cx="897661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132</a:t>
            </a:r>
            <a:endParaRPr lang="en-US" sz="696" dirty="0"/>
          </a:p>
        </p:txBody>
      </p:sp>
      <p:sp>
        <p:nvSpPr>
          <p:cNvPr id="100" name="Text 97"/>
          <p:cNvSpPr/>
          <p:nvPr/>
        </p:nvSpPr>
        <p:spPr>
          <a:xfrm>
            <a:off x="10377663" y="2767310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865</a:t>
            </a:r>
            <a:endParaRPr lang="en-US" sz="660" dirty="0"/>
          </a:p>
        </p:txBody>
      </p:sp>
      <p:sp>
        <p:nvSpPr>
          <p:cNvPr id="101" name="Text 98"/>
          <p:cNvSpPr/>
          <p:nvPr/>
        </p:nvSpPr>
        <p:spPr>
          <a:xfrm>
            <a:off x="5062670" y="2953196"/>
            <a:ext cx="91084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136</a:t>
            </a:r>
            <a:endParaRPr lang="en-US" sz="660" dirty="0"/>
          </a:p>
        </p:txBody>
      </p:sp>
      <p:sp>
        <p:nvSpPr>
          <p:cNvPr id="102" name="Text 99"/>
          <p:cNvSpPr/>
          <p:nvPr/>
        </p:nvSpPr>
        <p:spPr>
          <a:xfrm>
            <a:off x="5946958" y="2953196"/>
            <a:ext cx="91176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136</a:t>
            </a:r>
            <a:endParaRPr lang="en-US" sz="660" dirty="0"/>
          </a:p>
        </p:txBody>
      </p:sp>
      <p:sp>
        <p:nvSpPr>
          <p:cNvPr id="103" name="Text 100"/>
          <p:cNvSpPr/>
          <p:nvPr/>
        </p:nvSpPr>
        <p:spPr>
          <a:xfrm>
            <a:off x="6832375" y="2953196"/>
            <a:ext cx="904559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156</a:t>
            </a:r>
            <a:endParaRPr lang="en-US" sz="660" dirty="0"/>
          </a:p>
        </p:txBody>
      </p:sp>
      <p:sp>
        <p:nvSpPr>
          <p:cNvPr id="104" name="Text 101"/>
          <p:cNvSpPr/>
          <p:nvPr/>
        </p:nvSpPr>
        <p:spPr>
          <a:xfrm>
            <a:off x="7710494" y="2948434"/>
            <a:ext cx="907778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138</a:t>
            </a:r>
            <a:endParaRPr lang="en-US" sz="696" dirty="0"/>
          </a:p>
        </p:txBody>
      </p:sp>
      <p:sp>
        <p:nvSpPr>
          <p:cNvPr id="105" name="Text 102"/>
          <p:cNvSpPr/>
          <p:nvPr/>
        </p:nvSpPr>
        <p:spPr>
          <a:xfrm>
            <a:off x="8590667" y="2953196"/>
            <a:ext cx="947787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660" dirty="0"/>
          </a:p>
        </p:txBody>
      </p:sp>
      <p:sp>
        <p:nvSpPr>
          <p:cNvPr id="106" name="Text 103"/>
          <p:cNvSpPr/>
          <p:nvPr/>
        </p:nvSpPr>
        <p:spPr>
          <a:xfrm>
            <a:off x="9512308" y="2948434"/>
            <a:ext cx="897661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123</a:t>
            </a:r>
            <a:endParaRPr lang="en-US" sz="696" dirty="0"/>
          </a:p>
        </p:txBody>
      </p:sp>
      <p:sp>
        <p:nvSpPr>
          <p:cNvPr id="107" name="Text 104"/>
          <p:cNvSpPr/>
          <p:nvPr/>
        </p:nvSpPr>
        <p:spPr>
          <a:xfrm>
            <a:off x="10377663" y="2953196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829</a:t>
            </a:r>
            <a:endParaRPr lang="en-US" sz="660" dirty="0"/>
          </a:p>
        </p:txBody>
      </p:sp>
      <p:sp>
        <p:nvSpPr>
          <p:cNvPr id="108" name="Text 105"/>
          <p:cNvSpPr/>
          <p:nvPr/>
        </p:nvSpPr>
        <p:spPr>
          <a:xfrm>
            <a:off x="5062670" y="3139083"/>
            <a:ext cx="91084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138</a:t>
            </a:r>
            <a:endParaRPr lang="en-US" sz="660" dirty="0"/>
          </a:p>
        </p:txBody>
      </p:sp>
      <p:sp>
        <p:nvSpPr>
          <p:cNvPr id="109" name="Text 106"/>
          <p:cNvSpPr/>
          <p:nvPr/>
        </p:nvSpPr>
        <p:spPr>
          <a:xfrm>
            <a:off x="5946958" y="3139083"/>
            <a:ext cx="91176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660" dirty="0"/>
          </a:p>
        </p:txBody>
      </p:sp>
      <p:sp>
        <p:nvSpPr>
          <p:cNvPr id="110" name="Text 107"/>
          <p:cNvSpPr/>
          <p:nvPr/>
        </p:nvSpPr>
        <p:spPr>
          <a:xfrm>
            <a:off x="6832375" y="3139083"/>
            <a:ext cx="904559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148</a:t>
            </a:r>
            <a:endParaRPr lang="en-US" sz="660" dirty="0"/>
          </a:p>
        </p:txBody>
      </p:sp>
      <p:sp>
        <p:nvSpPr>
          <p:cNvPr id="111" name="Text 108"/>
          <p:cNvSpPr/>
          <p:nvPr/>
        </p:nvSpPr>
        <p:spPr>
          <a:xfrm>
            <a:off x="7710494" y="3139083"/>
            <a:ext cx="907778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143</a:t>
            </a:r>
            <a:endParaRPr lang="en-US" sz="660" dirty="0"/>
          </a:p>
        </p:txBody>
      </p:sp>
      <p:sp>
        <p:nvSpPr>
          <p:cNvPr id="112" name="Text 109"/>
          <p:cNvSpPr/>
          <p:nvPr/>
        </p:nvSpPr>
        <p:spPr>
          <a:xfrm>
            <a:off x="8590667" y="3134320"/>
            <a:ext cx="947787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119</a:t>
            </a:r>
            <a:endParaRPr lang="en-US" sz="696" dirty="0"/>
          </a:p>
        </p:txBody>
      </p:sp>
      <p:sp>
        <p:nvSpPr>
          <p:cNvPr id="113" name="Text 110"/>
          <p:cNvSpPr/>
          <p:nvPr/>
        </p:nvSpPr>
        <p:spPr>
          <a:xfrm>
            <a:off x="10377663" y="3139083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769</a:t>
            </a:r>
            <a:endParaRPr lang="en-US" sz="660" dirty="0"/>
          </a:p>
        </p:txBody>
      </p:sp>
      <p:sp>
        <p:nvSpPr>
          <p:cNvPr id="114" name="Text 111"/>
          <p:cNvSpPr/>
          <p:nvPr/>
        </p:nvSpPr>
        <p:spPr>
          <a:xfrm>
            <a:off x="5062670" y="3320207"/>
            <a:ext cx="910844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131</a:t>
            </a:r>
            <a:endParaRPr lang="en-US" sz="696" dirty="0"/>
          </a:p>
        </p:txBody>
      </p:sp>
      <p:sp>
        <p:nvSpPr>
          <p:cNvPr id="115" name="Text 112"/>
          <p:cNvSpPr/>
          <p:nvPr/>
        </p:nvSpPr>
        <p:spPr>
          <a:xfrm>
            <a:off x="5946958" y="3324969"/>
            <a:ext cx="91176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142</a:t>
            </a:r>
            <a:endParaRPr lang="en-US" sz="660" dirty="0"/>
          </a:p>
        </p:txBody>
      </p:sp>
      <p:sp>
        <p:nvSpPr>
          <p:cNvPr id="116" name="Text 113"/>
          <p:cNvSpPr/>
          <p:nvPr/>
        </p:nvSpPr>
        <p:spPr>
          <a:xfrm>
            <a:off x="6832375" y="3324969"/>
            <a:ext cx="904559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142</a:t>
            </a:r>
            <a:endParaRPr lang="en-US" sz="660" dirty="0"/>
          </a:p>
        </p:txBody>
      </p:sp>
      <p:sp>
        <p:nvSpPr>
          <p:cNvPr id="117" name="Text 114"/>
          <p:cNvSpPr/>
          <p:nvPr/>
        </p:nvSpPr>
        <p:spPr>
          <a:xfrm>
            <a:off x="7710494" y="3324969"/>
            <a:ext cx="907778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141</a:t>
            </a:r>
            <a:endParaRPr lang="en-US" sz="660" dirty="0"/>
          </a:p>
        </p:txBody>
      </p:sp>
      <p:sp>
        <p:nvSpPr>
          <p:cNvPr id="118" name="Text 115"/>
          <p:cNvSpPr/>
          <p:nvPr/>
        </p:nvSpPr>
        <p:spPr>
          <a:xfrm>
            <a:off x="8590667" y="3320207"/>
            <a:ext cx="947787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</a:t>
            </a:r>
            <a:endParaRPr lang="en-US" sz="696" dirty="0"/>
          </a:p>
        </p:txBody>
      </p:sp>
      <p:sp>
        <p:nvSpPr>
          <p:cNvPr id="119" name="Text 116"/>
          <p:cNvSpPr/>
          <p:nvPr/>
        </p:nvSpPr>
        <p:spPr>
          <a:xfrm>
            <a:off x="10377663" y="3324969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732</a:t>
            </a:r>
            <a:endParaRPr lang="en-US" sz="660" dirty="0"/>
          </a:p>
        </p:txBody>
      </p:sp>
      <p:sp>
        <p:nvSpPr>
          <p:cNvPr id="120" name="Text 117"/>
          <p:cNvSpPr/>
          <p:nvPr/>
        </p:nvSpPr>
        <p:spPr>
          <a:xfrm>
            <a:off x="5062670" y="3510855"/>
            <a:ext cx="91084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660" dirty="0"/>
          </a:p>
        </p:txBody>
      </p:sp>
      <p:sp>
        <p:nvSpPr>
          <p:cNvPr id="121" name="Text 118"/>
          <p:cNvSpPr/>
          <p:nvPr/>
        </p:nvSpPr>
        <p:spPr>
          <a:xfrm>
            <a:off x="5946958" y="3506093"/>
            <a:ext cx="911764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129</a:t>
            </a:r>
            <a:endParaRPr lang="en-US" sz="696" dirty="0"/>
          </a:p>
        </p:txBody>
      </p:sp>
      <p:sp>
        <p:nvSpPr>
          <p:cNvPr id="122" name="Text 119"/>
          <p:cNvSpPr/>
          <p:nvPr/>
        </p:nvSpPr>
        <p:spPr>
          <a:xfrm>
            <a:off x="7710494" y="3506093"/>
            <a:ext cx="907778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696" dirty="0"/>
          </a:p>
        </p:txBody>
      </p:sp>
      <p:sp>
        <p:nvSpPr>
          <p:cNvPr id="123" name="Text 120"/>
          <p:cNvSpPr/>
          <p:nvPr/>
        </p:nvSpPr>
        <p:spPr>
          <a:xfrm>
            <a:off x="9512308" y="3506093"/>
            <a:ext cx="897661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122</a:t>
            </a:r>
            <a:endParaRPr lang="en-US" sz="696" dirty="0"/>
          </a:p>
        </p:txBody>
      </p:sp>
      <p:sp>
        <p:nvSpPr>
          <p:cNvPr id="124" name="Text 121"/>
          <p:cNvSpPr/>
          <p:nvPr/>
        </p:nvSpPr>
        <p:spPr>
          <a:xfrm>
            <a:off x="10377663" y="3510855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647</a:t>
            </a:r>
            <a:endParaRPr lang="en-US" sz="660" dirty="0"/>
          </a:p>
        </p:txBody>
      </p:sp>
      <p:sp>
        <p:nvSpPr>
          <p:cNvPr id="125" name="Text 122"/>
          <p:cNvSpPr/>
          <p:nvPr/>
        </p:nvSpPr>
        <p:spPr>
          <a:xfrm>
            <a:off x="5062670" y="3696742"/>
            <a:ext cx="91084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660" dirty="0"/>
          </a:p>
        </p:txBody>
      </p:sp>
      <p:sp>
        <p:nvSpPr>
          <p:cNvPr id="126" name="Text 123"/>
          <p:cNvSpPr/>
          <p:nvPr/>
        </p:nvSpPr>
        <p:spPr>
          <a:xfrm>
            <a:off x="5946958" y="3696742"/>
            <a:ext cx="91176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149</a:t>
            </a:r>
            <a:endParaRPr lang="en-US" sz="660" dirty="0"/>
          </a:p>
        </p:txBody>
      </p:sp>
      <p:sp>
        <p:nvSpPr>
          <p:cNvPr id="127" name="Text 124"/>
          <p:cNvSpPr/>
          <p:nvPr/>
        </p:nvSpPr>
        <p:spPr>
          <a:xfrm>
            <a:off x="6832375" y="3696742"/>
            <a:ext cx="904559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147</a:t>
            </a:r>
            <a:endParaRPr lang="en-US" sz="660" dirty="0"/>
          </a:p>
        </p:txBody>
      </p:sp>
      <p:sp>
        <p:nvSpPr>
          <p:cNvPr id="128" name="Text 125"/>
          <p:cNvSpPr/>
          <p:nvPr/>
        </p:nvSpPr>
        <p:spPr>
          <a:xfrm>
            <a:off x="10377663" y="3696742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633</a:t>
            </a:r>
            <a:endParaRPr lang="en-US" sz="660" dirty="0"/>
          </a:p>
        </p:txBody>
      </p:sp>
      <p:sp>
        <p:nvSpPr>
          <p:cNvPr id="129" name="Text 126"/>
          <p:cNvSpPr/>
          <p:nvPr/>
        </p:nvSpPr>
        <p:spPr>
          <a:xfrm>
            <a:off x="5062670" y="3877866"/>
            <a:ext cx="910844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127</a:t>
            </a:r>
            <a:endParaRPr lang="en-US" sz="696" dirty="0"/>
          </a:p>
        </p:txBody>
      </p:sp>
      <p:sp>
        <p:nvSpPr>
          <p:cNvPr id="130" name="Text 127"/>
          <p:cNvSpPr/>
          <p:nvPr/>
        </p:nvSpPr>
        <p:spPr>
          <a:xfrm>
            <a:off x="5946958" y="3882628"/>
            <a:ext cx="91176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142</a:t>
            </a:r>
            <a:endParaRPr lang="en-US" sz="660" dirty="0"/>
          </a:p>
        </p:txBody>
      </p:sp>
      <p:sp>
        <p:nvSpPr>
          <p:cNvPr id="131" name="Text 128"/>
          <p:cNvSpPr/>
          <p:nvPr/>
        </p:nvSpPr>
        <p:spPr>
          <a:xfrm>
            <a:off x="7710494" y="3877866"/>
            <a:ext cx="907778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139</a:t>
            </a:r>
            <a:endParaRPr lang="en-US" sz="696" dirty="0"/>
          </a:p>
        </p:txBody>
      </p:sp>
      <p:sp>
        <p:nvSpPr>
          <p:cNvPr id="132" name="Text 129"/>
          <p:cNvSpPr/>
          <p:nvPr/>
        </p:nvSpPr>
        <p:spPr>
          <a:xfrm>
            <a:off x="10377663" y="3882628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622</a:t>
            </a:r>
            <a:endParaRPr lang="en-US" sz="660" dirty="0"/>
          </a:p>
        </p:txBody>
      </p:sp>
      <p:sp>
        <p:nvSpPr>
          <p:cNvPr id="133" name="Text 130"/>
          <p:cNvSpPr/>
          <p:nvPr/>
        </p:nvSpPr>
        <p:spPr>
          <a:xfrm>
            <a:off x="6832375" y="4068514"/>
            <a:ext cx="904559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157</a:t>
            </a:r>
            <a:endParaRPr lang="en-US" sz="660" dirty="0"/>
          </a:p>
        </p:txBody>
      </p:sp>
      <p:sp>
        <p:nvSpPr>
          <p:cNvPr id="134" name="Text 131"/>
          <p:cNvSpPr/>
          <p:nvPr/>
        </p:nvSpPr>
        <p:spPr>
          <a:xfrm>
            <a:off x="7710494" y="4068514"/>
            <a:ext cx="907778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660" dirty="0"/>
          </a:p>
        </p:txBody>
      </p:sp>
      <p:sp>
        <p:nvSpPr>
          <p:cNvPr id="135" name="Text 132"/>
          <p:cNvSpPr/>
          <p:nvPr/>
        </p:nvSpPr>
        <p:spPr>
          <a:xfrm>
            <a:off x="8590667" y="4063752"/>
            <a:ext cx="947787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129</a:t>
            </a:r>
            <a:endParaRPr lang="en-US" sz="696" dirty="0"/>
          </a:p>
        </p:txBody>
      </p:sp>
      <p:sp>
        <p:nvSpPr>
          <p:cNvPr id="136" name="Text 133"/>
          <p:cNvSpPr/>
          <p:nvPr/>
        </p:nvSpPr>
        <p:spPr>
          <a:xfrm>
            <a:off x="9512308" y="4063752"/>
            <a:ext cx="897661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137</a:t>
            </a:r>
            <a:endParaRPr lang="en-US" sz="696" dirty="0"/>
          </a:p>
        </p:txBody>
      </p:sp>
      <p:sp>
        <p:nvSpPr>
          <p:cNvPr id="137" name="Text 134"/>
          <p:cNvSpPr/>
          <p:nvPr/>
        </p:nvSpPr>
        <p:spPr>
          <a:xfrm>
            <a:off x="10377663" y="4068514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602</a:t>
            </a:r>
            <a:endParaRPr lang="en-US" sz="660" dirty="0"/>
          </a:p>
        </p:txBody>
      </p:sp>
      <p:sp>
        <p:nvSpPr>
          <p:cNvPr id="138" name="Text 135"/>
          <p:cNvSpPr/>
          <p:nvPr/>
        </p:nvSpPr>
        <p:spPr>
          <a:xfrm>
            <a:off x="6832375" y="4249638"/>
            <a:ext cx="904559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134</a:t>
            </a:r>
            <a:endParaRPr lang="en-US" sz="696" dirty="0"/>
          </a:p>
        </p:txBody>
      </p:sp>
      <p:sp>
        <p:nvSpPr>
          <p:cNvPr id="139" name="Text 136"/>
          <p:cNvSpPr/>
          <p:nvPr/>
        </p:nvSpPr>
        <p:spPr>
          <a:xfrm>
            <a:off x="8590667" y="4249638"/>
            <a:ext cx="947787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104</a:t>
            </a:r>
            <a:endParaRPr lang="en-US" sz="696" dirty="0"/>
          </a:p>
        </p:txBody>
      </p:sp>
      <p:sp>
        <p:nvSpPr>
          <p:cNvPr id="140" name="Text 137"/>
          <p:cNvSpPr/>
          <p:nvPr/>
        </p:nvSpPr>
        <p:spPr>
          <a:xfrm>
            <a:off x="9512308" y="4249638"/>
            <a:ext cx="897661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105</a:t>
            </a:r>
            <a:endParaRPr lang="en-US" sz="696" dirty="0"/>
          </a:p>
        </p:txBody>
      </p:sp>
      <p:sp>
        <p:nvSpPr>
          <p:cNvPr id="141" name="Text 138"/>
          <p:cNvSpPr/>
          <p:nvPr/>
        </p:nvSpPr>
        <p:spPr>
          <a:xfrm>
            <a:off x="10377663" y="4254401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451</a:t>
            </a:r>
            <a:endParaRPr lang="en-US" sz="660" dirty="0"/>
          </a:p>
        </p:txBody>
      </p:sp>
      <p:sp>
        <p:nvSpPr>
          <p:cNvPr id="142" name="Text 139"/>
          <p:cNvSpPr/>
          <p:nvPr/>
        </p:nvSpPr>
        <p:spPr>
          <a:xfrm>
            <a:off x="8590667" y="4435525"/>
            <a:ext cx="947787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101</a:t>
            </a:r>
            <a:endParaRPr lang="en-US" sz="696" dirty="0"/>
          </a:p>
        </p:txBody>
      </p:sp>
      <p:sp>
        <p:nvSpPr>
          <p:cNvPr id="143" name="Text 140"/>
          <p:cNvSpPr/>
          <p:nvPr/>
        </p:nvSpPr>
        <p:spPr>
          <a:xfrm>
            <a:off x="9512308" y="4435525"/>
            <a:ext cx="897661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119</a:t>
            </a:r>
            <a:endParaRPr lang="en-US" sz="696" dirty="0"/>
          </a:p>
        </p:txBody>
      </p:sp>
      <p:sp>
        <p:nvSpPr>
          <p:cNvPr id="144" name="Text 141"/>
          <p:cNvSpPr/>
          <p:nvPr/>
        </p:nvSpPr>
        <p:spPr>
          <a:xfrm>
            <a:off x="10377663" y="4440287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220</a:t>
            </a:r>
            <a:endParaRPr lang="en-US" sz="660" dirty="0"/>
          </a:p>
        </p:txBody>
      </p:sp>
      <p:sp>
        <p:nvSpPr>
          <p:cNvPr id="145" name="Text 142"/>
          <p:cNvSpPr/>
          <p:nvPr/>
        </p:nvSpPr>
        <p:spPr>
          <a:xfrm>
            <a:off x="10377663" y="4626173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660" dirty="0"/>
          </a:p>
        </p:txBody>
      </p:sp>
      <p:sp>
        <p:nvSpPr>
          <p:cNvPr id="146" name="Text 143"/>
          <p:cNvSpPr/>
          <p:nvPr/>
        </p:nvSpPr>
        <p:spPr>
          <a:xfrm>
            <a:off x="734737" y="63912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624" dirty="0"/>
          </a:p>
        </p:txBody>
      </p:sp>
      <p:sp>
        <p:nvSpPr>
          <p:cNvPr id="147" name="Text 144"/>
          <p:cNvSpPr/>
          <p:nvPr/>
        </p:nvSpPr>
        <p:spPr>
          <a:xfrm>
            <a:off x="1040323" y="63912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624" dirty="0"/>
          </a:p>
        </p:txBody>
      </p:sp>
      <p:sp>
        <p:nvSpPr>
          <p:cNvPr id="148" name="Text 145"/>
          <p:cNvSpPr/>
          <p:nvPr/>
        </p:nvSpPr>
        <p:spPr>
          <a:xfrm>
            <a:off x="1343848" y="63912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624" dirty="0"/>
          </a:p>
        </p:txBody>
      </p:sp>
      <p:sp>
        <p:nvSpPr>
          <p:cNvPr id="149" name="Text 146"/>
          <p:cNvSpPr/>
          <p:nvPr/>
        </p:nvSpPr>
        <p:spPr>
          <a:xfrm>
            <a:off x="1653851" y="63912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624" dirty="0"/>
          </a:p>
        </p:txBody>
      </p:sp>
      <p:sp>
        <p:nvSpPr>
          <p:cNvPr id="150" name="Text 147"/>
          <p:cNvSpPr/>
          <p:nvPr/>
        </p:nvSpPr>
        <p:spPr>
          <a:xfrm>
            <a:off x="1946965" y="63912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624" dirty="0"/>
          </a:p>
        </p:txBody>
      </p:sp>
      <p:sp>
        <p:nvSpPr>
          <p:cNvPr id="151" name="Text 148"/>
          <p:cNvSpPr/>
          <p:nvPr/>
        </p:nvSpPr>
        <p:spPr>
          <a:xfrm>
            <a:off x="2262963" y="63912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624" dirty="0"/>
          </a:p>
        </p:txBody>
      </p:sp>
      <p:sp>
        <p:nvSpPr>
          <p:cNvPr id="152" name="Text 149"/>
          <p:cNvSpPr/>
          <p:nvPr/>
        </p:nvSpPr>
        <p:spPr>
          <a:xfrm>
            <a:off x="8590667" y="2401342"/>
            <a:ext cx="947787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</a:t>
            </a:r>
            <a:endParaRPr lang="en-US" sz="660" dirty="0"/>
          </a:p>
        </p:txBody>
      </p:sp>
      <p:sp>
        <p:nvSpPr>
          <p:cNvPr id="153" name="Text 150"/>
          <p:cNvSpPr/>
          <p:nvPr/>
        </p:nvSpPr>
        <p:spPr>
          <a:xfrm>
            <a:off x="688755" y="3139083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</a:t>
            </a:r>
            <a:endParaRPr lang="en-US" sz="624" dirty="0"/>
          </a:p>
        </p:txBody>
      </p:sp>
      <p:sp>
        <p:nvSpPr>
          <p:cNvPr id="154" name="Text 151"/>
          <p:cNvSpPr/>
          <p:nvPr/>
        </p:nvSpPr>
        <p:spPr>
          <a:xfrm>
            <a:off x="9512308" y="3134320"/>
            <a:ext cx="897661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</a:t>
            </a:r>
            <a:endParaRPr lang="en-US" sz="696" dirty="0"/>
          </a:p>
        </p:txBody>
      </p:sp>
      <p:sp>
        <p:nvSpPr>
          <p:cNvPr id="155" name="Text 152"/>
          <p:cNvSpPr/>
          <p:nvPr/>
        </p:nvSpPr>
        <p:spPr>
          <a:xfrm>
            <a:off x="688755" y="3324969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</a:t>
            </a:r>
            <a:endParaRPr lang="en-US" sz="624" dirty="0"/>
          </a:p>
        </p:txBody>
      </p:sp>
      <p:sp>
        <p:nvSpPr>
          <p:cNvPr id="156" name="Text 153"/>
          <p:cNvSpPr/>
          <p:nvPr/>
        </p:nvSpPr>
        <p:spPr>
          <a:xfrm>
            <a:off x="9512308" y="3324969"/>
            <a:ext cx="897661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660" dirty="0"/>
          </a:p>
        </p:txBody>
      </p:sp>
      <p:sp>
        <p:nvSpPr>
          <p:cNvPr id="157" name="Text 154"/>
          <p:cNvSpPr/>
          <p:nvPr/>
        </p:nvSpPr>
        <p:spPr>
          <a:xfrm>
            <a:off x="688755" y="3510855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</a:t>
            </a:r>
            <a:endParaRPr lang="en-US" sz="624" dirty="0"/>
          </a:p>
        </p:txBody>
      </p:sp>
      <p:sp>
        <p:nvSpPr>
          <p:cNvPr id="158" name="Text 155"/>
          <p:cNvSpPr/>
          <p:nvPr/>
        </p:nvSpPr>
        <p:spPr>
          <a:xfrm>
            <a:off x="6832375" y="3506093"/>
            <a:ext cx="904559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</a:t>
            </a:r>
            <a:endParaRPr lang="en-US" sz="696" dirty="0"/>
          </a:p>
        </p:txBody>
      </p:sp>
      <p:sp>
        <p:nvSpPr>
          <p:cNvPr id="159" name="Text 156"/>
          <p:cNvSpPr/>
          <p:nvPr/>
        </p:nvSpPr>
        <p:spPr>
          <a:xfrm>
            <a:off x="8590667" y="3506093"/>
            <a:ext cx="947787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</a:t>
            </a:r>
            <a:endParaRPr lang="en-US" sz="696" dirty="0"/>
          </a:p>
        </p:txBody>
      </p:sp>
      <p:sp>
        <p:nvSpPr>
          <p:cNvPr id="160" name="Text 157"/>
          <p:cNvSpPr/>
          <p:nvPr/>
        </p:nvSpPr>
        <p:spPr>
          <a:xfrm>
            <a:off x="688755" y="3696742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</a:t>
            </a:r>
            <a:endParaRPr lang="en-US" sz="624" dirty="0"/>
          </a:p>
        </p:txBody>
      </p:sp>
      <p:sp>
        <p:nvSpPr>
          <p:cNvPr id="161" name="Text 158"/>
          <p:cNvSpPr/>
          <p:nvPr/>
        </p:nvSpPr>
        <p:spPr>
          <a:xfrm>
            <a:off x="7710494" y="3691979"/>
            <a:ext cx="907778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</a:t>
            </a:r>
            <a:endParaRPr lang="en-US" sz="696" dirty="0"/>
          </a:p>
        </p:txBody>
      </p:sp>
      <p:sp>
        <p:nvSpPr>
          <p:cNvPr id="162" name="Text 159"/>
          <p:cNvSpPr/>
          <p:nvPr/>
        </p:nvSpPr>
        <p:spPr>
          <a:xfrm>
            <a:off x="8590667" y="3691979"/>
            <a:ext cx="947787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</a:t>
            </a:r>
            <a:endParaRPr lang="en-US" sz="696" dirty="0"/>
          </a:p>
        </p:txBody>
      </p:sp>
      <p:sp>
        <p:nvSpPr>
          <p:cNvPr id="163" name="Text 160"/>
          <p:cNvSpPr/>
          <p:nvPr/>
        </p:nvSpPr>
        <p:spPr>
          <a:xfrm>
            <a:off x="9512308" y="3691979"/>
            <a:ext cx="897661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</a:t>
            </a:r>
            <a:endParaRPr lang="en-US" sz="696" dirty="0"/>
          </a:p>
        </p:txBody>
      </p:sp>
      <p:sp>
        <p:nvSpPr>
          <p:cNvPr id="164" name="Text 161"/>
          <p:cNvSpPr/>
          <p:nvPr/>
        </p:nvSpPr>
        <p:spPr>
          <a:xfrm>
            <a:off x="688755" y="3882628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624" dirty="0"/>
          </a:p>
        </p:txBody>
      </p:sp>
      <p:sp>
        <p:nvSpPr>
          <p:cNvPr id="165" name="Text 162"/>
          <p:cNvSpPr/>
          <p:nvPr/>
        </p:nvSpPr>
        <p:spPr>
          <a:xfrm>
            <a:off x="6832375" y="3877866"/>
            <a:ext cx="904559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696" dirty="0"/>
          </a:p>
        </p:txBody>
      </p:sp>
      <p:sp>
        <p:nvSpPr>
          <p:cNvPr id="166" name="Text 163"/>
          <p:cNvSpPr/>
          <p:nvPr/>
        </p:nvSpPr>
        <p:spPr>
          <a:xfrm>
            <a:off x="8590667" y="3877866"/>
            <a:ext cx="947787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</a:t>
            </a:r>
            <a:endParaRPr lang="en-US" sz="696" dirty="0"/>
          </a:p>
        </p:txBody>
      </p:sp>
      <p:sp>
        <p:nvSpPr>
          <p:cNvPr id="167" name="Text 164"/>
          <p:cNvSpPr/>
          <p:nvPr/>
        </p:nvSpPr>
        <p:spPr>
          <a:xfrm>
            <a:off x="9512308" y="3877866"/>
            <a:ext cx="897661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</a:t>
            </a:r>
            <a:endParaRPr lang="en-US" sz="696" dirty="0"/>
          </a:p>
        </p:txBody>
      </p:sp>
      <p:sp>
        <p:nvSpPr>
          <p:cNvPr id="168" name="Text 165"/>
          <p:cNvSpPr/>
          <p:nvPr/>
        </p:nvSpPr>
        <p:spPr>
          <a:xfrm>
            <a:off x="688755" y="4068514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624" dirty="0"/>
          </a:p>
        </p:txBody>
      </p:sp>
      <p:sp>
        <p:nvSpPr>
          <p:cNvPr id="169" name="Text 166"/>
          <p:cNvSpPr/>
          <p:nvPr/>
        </p:nvSpPr>
        <p:spPr>
          <a:xfrm>
            <a:off x="5946958" y="4063752"/>
            <a:ext cx="911764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</a:t>
            </a:r>
            <a:endParaRPr lang="en-US" sz="696" dirty="0"/>
          </a:p>
        </p:txBody>
      </p:sp>
      <p:sp>
        <p:nvSpPr>
          <p:cNvPr id="170" name="Text 167"/>
          <p:cNvSpPr/>
          <p:nvPr/>
        </p:nvSpPr>
        <p:spPr>
          <a:xfrm>
            <a:off x="688755" y="4254401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</a:t>
            </a:r>
            <a:endParaRPr lang="en-US" sz="624" dirty="0"/>
          </a:p>
        </p:txBody>
      </p:sp>
      <p:sp>
        <p:nvSpPr>
          <p:cNvPr id="171" name="Text 168"/>
          <p:cNvSpPr/>
          <p:nvPr/>
        </p:nvSpPr>
        <p:spPr>
          <a:xfrm>
            <a:off x="5946958" y="4249638"/>
            <a:ext cx="911764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</a:t>
            </a:r>
            <a:endParaRPr lang="en-US" sz="696" dirty="0"/>
          </a:p>
        </p:txBody>
      </p:sp>
      <p:sp>
        <p:nvSpPr>
          <p:cNvPr id="172" name="Text 169"/>
          <p:cNvSpPr/>
          <p:nvPr/>
        </p:nvSpPr>
        <p:spPr>
          <a:xfrm>
            <a:off x="7710494" y="4249638"/>
            <a:ext cx="907778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</a:t>
            </a:r>
            <a:endParaRPr lang="en-US" sz="696" dirty="0"/>
          </a:p>
        </p:txBody>
      </p:sp>
      <p:sp>
        <p:nvSpPr>
          <p:cNvPr id="173" name="Text 170"/>
          <p:cNvSpPr/>
          <p:nvPr/>
        </p:nvSpPr>
        <p:spPr>
          <a:xfrm>
            <a:off x="688755" y="4440287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</a:t>
            </a:r>
            <a:endParaRPr lang="en-US" sz="624" dirty="0"/>
          </a:p>
        </p:txBody>
      </p:sp>
      <p:sp>
        <p:nvSpPr>
          <p:cNvPr id="174" name="Text 171"/>
          <p:cNvSpPr/>
          <p:nvPr/>
        </p:nvSpPr>
        <p:spPr>
          <a:xfrm>
            <a:off x="688755" y="4626173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624" dirty="0"/>
          </a:p>
        </p:txBody>
      </p:sp>
      <p:sp>
        <p:nvSpPr>
          <p:cNvPr id="175" name="Text 172"/>
          <p:cNvSpPr/>
          <p:nvPr/>
        </p:nvSpPr>
        <p:spPr>
          <a:xfrm>
            <a:off x="7710494" y="4621411"/>
            <a:ext cx="907778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696" dirty="0"/>
          </a:p>
        </p:txBody>
      </p:sp>
      <p:sp>
        <p:nvSpPr>
          <p:cNvPr id="176" name="Text 173"/>
          <p:cNvSpPr/>
          <p:nvPr/>
        </p:nvSpPr>
        <p:spPr>
          <a:xfrm>
            <a:off x="8590667" y="4621411"/>
            <a:ext cx="947787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696" dirty="0"/>
          </a:p>
        </p:txBody>
      </p:sp>
      <p:sp>
        <p:nvSpPr>
          <p:cNvPr id="177" name="Text 174"/>
          <p:cNvSpPr/>
          <p:nvPr/>
        </p:nvSpPr>
        <p:spPr>
          <a:xfrm>
            <a:off x="9512308" y="4621411"/>
            <a:ext cx="897661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696" dirty="0"/>
          </a:p>
        </p:txBody>
      </p:sp>
      <p:sp>
        <p:nvSpPr>
          <p:cNvPr id="178" name="Text 175"/>
          <p:cNvSpPr/>
          <p:nvPr/>
        </p:nvSpPr>
        <p:spPr>
          <a:xfrm>
            <a:off x="688755" y="4812060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624" dirty="0"/>
          </a:p>
        </p:txBody>
      </p:sp>
      <p:sp>
        <p:nvSpPr>
          <p:cNvPr id="179" name="Text 176"/>
          <p:cNvSpPr/>
          <p:nvPr/>
        </p:nvSpPr>
        <p:spPr>
          <a:xfrm>
            <a:off x="9512308" y="4807297"/>
            <a:ext cx="897661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</a:t>
            </a:r>
            <a:endParaRPr lang="en-US" sz="696" dirty="0"/>
          </a:p>
        </p:txBody>
      </p:sp>
      <p:sp>
        <p:nvSpPr>
          <p:cNvPr id="180" name="Text 177"/>
          <p:cNvSpPr/>
          <p:nvPr/>
        </p:nvSpPr>
        <p:spPr>
          <a:xfrm>
            <a:off x="10377663" y="4812060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</a:t>
            </a:r>
            <a:endParaRPr lang="en-US" sz="660" dirty="0"/>
          </a:p>
        </p:txBody>
      </p:sp>
      <p:sp>
        <p:nvSpPr>
          <p:cNvPr id="181" name="Text 178"/>
          <p:cNvSpPr/>
          <p:nvPr/>
        </p:nvSpPr>
        <p:spPr>
          <a:xfrm>
            <a:off x="688755" y="4997946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624" dirty="0"/>
          </a:p>
        </p:txBody>
      </p:sp>
      <p:sp>
        <p:nvSpPr>
          <p:cNvPr id="182" name="Text 179"/>
          <p:cNvSpPr/>
          <p:nvPr/>
        </p:nvSpPr>
        <p:spPr>
          <a:xfrm>
            <a:off x="8590667" y="4993184"/>
            <a:ext cx="947787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696" dirty="0"/>
          </a:p>
        </p:txBody>
      </p:sp>
      <p:sp>
        <p:nvSpPr>
          <p:cNvPr id="183" name="Text 180"/>
          <p:cNvSpPr/>
          <p:nvPr/>
        </p:nvSpPr>
        <p:spPr>
          <a:xfrm>
            <a:off x="9512308" y="4993184"/>
            <a:ext cx="897661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</a:t>
            </a:r>
            <a:endParaRPr lang="en-US" sz="696" dirty="0"/>
          </a:p>
        </p:txBody>
      </p:sp>
      <p:sp>
        <p:nvSpPr>
          <p:cNvPr id="184" name="Text 181"/>
          <p:cNvSpPr/>
          <p:nvPr/>
        </p:nvSpPr>
        <p:spPr>
          <a:xfrm>
            <a:off x="10377663" y="4997946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</a:t>
            </a:r>
            <a:endParaRPr lang="en-US" sz="660" dirty="0"/>
          </a:p>
        </p:txBody>
      </p:sp>
      <p:sp>
        <p:nvSpPr>
          <p:cNvPr id="185" name="Text 182"/>
          <p:cNvSpPr/>
          <p:nvPr/>
        </p:nvSpPr>
        <p:spPr>
          <a:xfrm>
            <a:off x="688755" y="5183832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624" dirty="0"/>
          </a:p>
        </p:txBody>
      </p:sp>
      <p:sp>
        <p:nvSpPr>
          <p:cNvPr id="186" name="Text 183"/>
          <p:cNvSpPr/>
          <p:nvPr/>
        </p:nvSpPr>
        <p:spPr>
          <a:xfrm>
            <a:off x="9512308" y="5179070"/>
            <a:ext cx="897661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696" dirty="0"/>
          </a:p>
        </p:txBody>
      </p:sp>
      <p:sp>
        <p:nvSpPr>
          <p:cNvPr id="187" name="Text 184"/>
          <p:cNvSpPr/>
          <p:nvPr/>
        </p:nvSpPr>
        <p:spPr>
          <a:xfrm>
            <a:off x="10377663" y="5183832"/>
            <a:ext cx="1109200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660" dirty="0"/>
          </a:p>
        </p:txBody>
      </p:sp>
      <p:sp>
        <p:nvSpPr>
          <p:cNvPr id="188" name="Text 185"/>
          <p:cNvSpPr/>
          <p:nvPr/>
        </p:nvSpPr>
        <p:spPr>
          <a:xfrm>
            <a:off x="754298" y="62007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768" dirty="0"/>
          </a:p>
        </p:txBody>
      </p:sp>
      <p:sp>
        <p:nvSpPr>
          <p:cNvPr id="189" name="Text 186"/>
          <p:cNvSpPr/>
          <p:nvPr/>
        </p:nvSpPr>
        <p:spPr>
          <a:xfrm>
            <a:off x="1058149" y="62007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</a:t>
            </a:r>
            <a:endParaRPr lang="en-US" sz="768" dirty="0"/>
          </a:p>
        </p:txBody>
      </p:sp>
      <p:sp>
        <p:nvSpPr>
          <p:cNvPr id="190" name="Text 187"/>
          <p:cNvSpPr/>
          <p:nvPr/>
        </p:nvSpPr>
        <p:spPr>
          <a:xfrm>
            <a:off x="1361359" y="62007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768" dirty="0"/>
          </a:p>
        </p:txBody>
      </p:sp>
      <p:sp>
        <p:nvSpPr>
          <p:cNvPr id="191" name="Text 188"/>
          <p:cNvSpPr/>
          <p:nvPr/>
        </p:nvSpPr>
        <p:spPr>
          <a:xfrm>
            <a:off x="1662528" y="62007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768" dirty="0"/>
          </a:p>
        </p:txBody>
      </p:sp>
      <p:sp>
        <p:nvSpPr>
          <p:cNvPr id="192" name="Text 189"/>
          <p:cNvSpPr/>
          <p:nvPr/>
        </p:nvSpPr>
        <p:spPr>
          <a:xfrm>
            <a:off x="1967320" y="62007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768" dirty="0"/>
          </a:p>
        </p:txBody>
      </p:sp>
      <p:sp>
        <p:nvSpPr>
          <p:cNvPr id="193" name="Text 190"/>
          <p:cNvSpPr/>
          <p:nvPr/>
        </p:nvSpPr>
        <p:spPr>
          <a:xfrm>
            <a:off x="2277156" y="62007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768" dirty="0"/>
          </a:p>
        </p:txBody>
      </p:sp>
      <p:sp>
        <p:nvSpPr>
          <p:cNvPr id="194" name="Text 191"/>
          <p:cNvSpPr/>
          <p:nvPr/>
        </p:nvSpPr>
        <p:spPr>
          <a:xfrm>
            <a:off x="688755" y="1276350"/>
            <a:ext cx="551994" cy="1333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</a:t>
            </a:r>
            <a:endParaRPr lang="en-US" sz="888" dirty="0"/>
          </a:p>
        </p:txBody>
      </p:sp>
      <p:sp>
        <p:nvSpPr>
          <p:cNvPr id="195" name="Text 192"/>
          <p:cNvSpPr/>
          <p:nvPr/>
        </p:nvSpPr>
        <p:spPr>
          <a:xfrm>
            <a:off x="688755" y="1478310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624" dirty="0"/>
          </a:p>
        </p:txBody>
      </p:sp>
      <p:sp>
        <p:nvSpPr>
          <p:cNvPr id="196" name="Text 193"/>
          <p:cNvSpPr/>
          <p:nvPr/>
        </p:nvSpPr>
        <p:spPr>
          <a:xfrm>
            <a:off x="688755" y="1663601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624" dirty="0"/>
          </a:p>
        </p:txBody>
      </p:sp>
      <p:sp>
        <p:nvSpPr>
          <p:cNvPr id="197" name="Text 194"/>
          <p:cNvSpPr/>
          <p:nvPr/>
        </p:nvSpPr>
        <p:spPr>
          <a:xfrm>
            <a:off x="688755" y="1849487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624" dirty="0"/>
          </a:p>
        </p:txBody>
      </p:sp>
      <p:sp>
        <p:nvSpPr>
          <p:cNvPr id="198" name="Text 195"/>
          <p:cNvSpPr/>
          <p:nvPr/>
        </p:nvSpPr>
        <p:spPr>
          <a:xfrm>
            <a:off x="688755" y="2035373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624" dirty="0"/>
          </a:p>
        </p:txBody>
      </p:sp>
      <p:sp>
        <p:nvSpPr>
          <p:cNvPr id="199" name="Text 196"/>
          <p:cNvSpPr/>
          <p:nvPr/>
        </p:nvSpPr>
        <p:spPr>
          <a:xfrm>
            <a:off x="688755" y="2221260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624" dirty="0"/>
          </a:p>
        </p:txBody>
      </p:sp>
      <p:sp>
        <p:nvSpPr>
          <p:cNvPr id="200" name="Text 197"/>
          <p:cNvSpPr/>
          <p:nvPr/>
        </p:nvSpPr>
        <p:spPr>
          <a:xfrm>
            <a:off x="688755" y="2401342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624" dirty="0"/>
          </a:p>
        </p:txBody>
      </p:sp>
      <p:sp>
        <p:nvSpPr>
          <p:cNvPr id="201" name="Text 198"/>
          <p:cNvSpPr/>
          <p:nvPr/>
        </p:nvSpPr>
        <p:spPr>
          <a:xfrm>
            <a:off x="688755" y="2581424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624" dirty="0"/>
          </a:p>
        </p:txBody>
      </p:sp>
      <p:sp>
        <p:nvSpPr>
          <p:cNvPr id="202" name="Text 199"/>
          <p:cNvSpPr/>
          <p:nvPr/>
        </p:nvSpPr>
        <p:spPr>
          <a:xfrm>
            <a:off x="688755" y="2767310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</a:t>
            </a:r>
            <a:endParaRPr lang="en-US" sz="624" dirty="0"/>
          </a:p>
        </p:txBody>
      </p:sp>
      <p:sp>
        <p:nvSpPr>
          <p:cNvPr id="203" name="Text 200"/>
          <p:cNvSpPr/>
          <p:nvPr/>
        </p:nvSpPr>
        <p:spPr>
          <a:xfrm>
            <a:off x="688755" y="2953196"/>
            <a:ext cx="551994" cy="95250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624" dirty="0"/>
          </a:p>
        </p:txBody>
      </p:sp>
      <p:sp>
        <p:nvSpPr>
          <p:cNvPr id="204" name="Text 201"/>
          <p:cNvSpPr/>
          <p:nvPr/>
        </p:nvSpPr>
        <p:spPr>
          <a:xfrm>
            <a:off x="7710494" y="4993184"/>
            <a:ext cx="907778" cy="104775"/>
          </a:xfrm>
          <a:prstGeom prst="rect">
            <a:avLst/>
          </a:prstGeom>
          <a:noFill/>
          <a:ln/>
        </p:spPr>
        <p:txBody>
          <a:bodyPr wrap="square" lIns="0" tIns="57150" rIns="5715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696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3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75025" y="1133475"/>
            <a:ext cx="238806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10.509 ventas</a:t>
            </a:r>
            <a:pPr algn="l" indent="0" marL="0">
              <a:buNone/>
            </a:pPr>
            <a:r>
              <a:rPr lang="en-US" sz="81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en 8 iniciativas · </a:t>
            </a:r>
            <a:pPr algn="l" indent="0" marL="0">
              <a:buNone/>
            </a:pPr>
            <a:r>
              <a:rPr lang="en-US" sz="816" b="1" dirty="0">
                <a:solidFill>
                  <a:srgbClr val="C9890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Vanti</a:t>
            </a:r>
            <a:pPr algn="l" indent="0" marL="0">
              <a:buNone/>
            </a:pPr>
            <a:r>
              <a:rPr lang="en-US" sz="81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· </a:t>
            </a:r>
            <a:pPr algn="l" indent="0" marL="0">
              <a:buNone/>
            </a:pPr>
            <a:r>
              <a:rPr lang="en-US" sz="816" b="1" dirty="0">
                <a:solidFill>
                  <a:srgbClr val="009A7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 Xuma</a:t>
            </a:r>
            <a:endParaRPr lang="en-US" sz="816" dirty="0"/>
          </a:p>
        </p:txBody>
      </p:sp>
      <p:sp>
        <p:nvSpPr>
          <p:cNvPr id="4" name="Text 1"/>
          <p:cNvSpPr/>
          <p:nvPr/>
        </p:nvSpPr>
        <p:spPr>
          <a:xfrm>
            <a:off x="571486" y="209550"/>
            <a:ext cx="2856280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Iniciativas Comerciales · 1S 2026</a:t>
            </a:r>
            <a:endParaRPr lang="en-US" sz="1260" dirty="0"/>
          </a:p>
        </p:txBody>
      </p:sp>
      <p:sp>
        <p:nvSpPr>
          <p:cNvPr id="5" name="Text 2"/>
          <p:cNvSpPr/>
          <p:nvPr/>
        </p:nvSpPr>
        <p:spPr>
          <a:xfrm>
            <a:off x="933427" y="1104900"/>
            <a:ext cx="1451009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 ejecutado en el 1S</a:t>
            </a:r>
            <a:endParaRPr lang="en-US" sz="1020" dirty="0"/>
          </a:p>
        </p:txBody>
      </p:sp>
      <p:sp>
        <p:nvSpPr>
          <p:cNvPr id="6" name="Text 3"/>
          <p:cNvSpPr/>
          <p:nvPr/>
        </p:nvSpPr>
        <p:spPr>
          <a:xfrm>
            <a:off x="3571498" y="3448050"/>
            <a:ext cx="10094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4.798 </a:t>
            </a:r>
            <a:pPr algn="ct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/ 4.200 </a:t>
            </a:r>
            <a:pPr algn="ct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114 %</a:t>
            </a:r>
            <a:endParaRPr lang="en-US" sz="792" dirty="0"/>
          </a:p>
        </p:txBody>
      </p:sp>
      <p:sp>
        <p:nvSpPr>
          <p:cNvPr id="7" name="Text 4"/>
          <p:cNvSpPr/>
          <p:nvPr/>
        </p:nvSpPr>
        <p:spPr>
          <a:xfrm>
            <a:off x="10182924" y="4697760"/>
            <a:ext cx="99715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1.520 </a:t>
            </a:r>
            <a:pPr algn="ct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/ 1.200 </a:t>
            </a:r>
            <a:pPr algn="ct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127 %</a:t>
            </a:r>
            <a:endParaRPr lang="en-US" sz="792" dirty="0"/>
          </a:p>
        </p:txBody>
      </p:sp>
      <p:sp>
        <p:nvSpPr>
          <p:cNvPr id="8" name="Text 5"/>
          <p:cNvSpPr/>
          <p:nvPr/>
        </p:nvSpPr>
        <p:spPr>
          <a:xfrm>
            <a:off x="869264" y="3284190"/>
            <a:ext cx="120507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Semanas Ganadoras</a:t>
            </a:r>
            <a:endParaRPr lang="en-US" sz="888" dirty="0"/>
          </a:p>
        </p:txBody>
      </p:sp>
      <p:sp>
        <p:nvSpPr>
          <p:cNvPr id="9" name="Text 6"/>
          <p:cNvSpPr/>
          <p:nvPr/>
        </p:nvSpPr>
        <p:spPr>
          <a:xfrm>
            <a:off x="961780" y="3448050"/>
            <a:ext cx="9439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1.292 </a:t>
            </a:r>
            <a:pPr algn="ct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/ 950 </a:t>
            </a:r>
            <a:pPr algn="ct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136 %</a:t>
            </a:r>
            <a:endParaRPr lang="en-US" sz="792" dirty="0"/>
          </a:p>
        </p:txBody>
      </p:sp>
      <p:sp>
        <p:nvSpPr>
          <p:cNvPr id="10" name="Text 7"/>
          <p:cNvSpPr/>
          <p:nvPr/>
        </p:nvSpPr>
        <p:spPr>
          <a:xfrm>
            <a:off x="10212816" y="4533900"/>
            <a:ext cx="1013715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Feria Mundialista</a:t>
            </a:r>
            <a:endParaRPr lang="en-US" sz="888" dirty="0"/>
          </a:p>
        </p:txBody>
      </p:sp>
      <p:sp>
        <p:nvSpPr>
          <p:cNvPr id="11" name="Text 8"/>
          <p:cNvSpPr/>
          <p:nvPr/>
        </p:nvSpPr>
        <p:spPr>
          <a:xfrm>
            <a:off x="2319011" y="4697760"/>
            <a:ext cx="8720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659 </a:t>
            </a:r>
            <a:pPr algn="ct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/ 600 </a:t>
            </a:r>
            <a:pPr algn="ct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110 %</a:t>
            </a:r>
            <a:endParaRPr lang="en-US" sz="792" dirty="0"/>
          </a:p>
        </p:txBody>
      </p:sp>
      <p:sp>
        <p:nvSpPr>
          <p:cNvPr id="12" name="Text 9"/>
          <p:cNvSpPr/>
          <p:nvPr/>
        </p:nvSpPr>
        <p:spPr>
          <a:xfrm>
            <a:off x="3667493" y="3179415"/>
            <a:ext cx="8936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C9890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Mar–Abr · Vanti</a:t>
            </a:r>
            <a:endParaRPr lang="en-US" sz="672" dirty="0"/>
          </a:p>
        </p:txBody>
      </p:sp>
      <p:sp>
        <p:nvSpPr>
          <p:cNvPr id="13" name="Text 10"/>
          <p:cNvSpPr/>
          <p:nvPr/>
        </p:nvSpPr>
        <p:spPr>
          <a:xfrm>
            <a:off x="4959802" y="4697760"/>
            <a:ext cx="87552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607 </a:t>
            </a:r>
            <a:pPr algn="ct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/ 600 </a:t>
            </a:r>
            <a:pPr algn="ct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101 %</a:t>
            </a:r>
            <a:endParaRPr lang="en-US" sz="792" dirty="0"/>
          </a:p>
        </p:txBody>
      </p:sp>
      <p:sp>
        <p:nvSpPr>
          <p:cNvPr id="14" name="Text 11"/>
          <p:cNvSpPr/>
          <p:nvPr/>
        </p:nvSpPr>
        <p:spPr>
          <a:xfrm>
            <a:off x="6288384" y="3448050"/>
            <a:ext cx="85880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517 </a:t>
            </a:r>
            <a:pPr algn="ct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/ 500 </a:t>
            </a:r>
            <a:pPr algn="ct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103 %</a:t>
            </a:r>
            <a:endParaRPr lang="en-US" sz="792" dirty="0"/>
          </a:p>
        </p:txBody>
      </p:sp>
      <p:sp>
        <p:nvSpPr>
          <p:cNvPr id="15" name="Text 12"/>
          <p:cNvSpPr/>
          <p:nvPr/>
        </p:nvSpPr>
        <p:spPr>
          <a:xfrm>
            <a:off x="7578966" y="4533900"/>
            <a:ext cx="996362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Acelerador Mayo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8935328" y="3448050"/>
            <a:ext cx="84996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556 </a:t>
            </a:r>
            <a:pPr algn="ct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/ 500 </a:t>
            </a:r>
            <a:pPr algn="ct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111 %</a:t>
            </a:r>
            <a:endParaRPr lang="en-US" sz="792" dirty="0"/>
          </a:p>
        </p:txBody>
      </p:sp>
      <p:sp>
        <p:nvSpPr>
          <p:cNvPr id="17" name="Text 14"/>
          <p:cNvSpPr/>
          <p:nvPr/>
        </p:nvSpPr>
        <p:spPr>
          <a:xfrm>
            <a:off x="2363894" y="4429125"/>
            <a:ext cx="85848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009A7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 · Xuma</a:t>
            </a:r>
            <a:endParaRPr lang="en-US" sz="672" dirty="0"/>
          </a:p>
        </p:txBody>
      </p:sp>
      <p:sp>
        <p:nvSpPr>
          <p:cNvPr id="18" name="Text 15"/>
          <p:cNvSpPr/>
          <p:nvPr/>
        </p:nvSpPr>
        <p:spPr>
          <a:xfrm>
            <a:off x="3655977" y="3284190"/>
            <a:ext cx="91669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Gran Jugada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7626212" y="4697760"/>
            <a:ext cx="825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560 </a:t>
            </a:r>
            <a:pPr algn="ct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/ 650 </a:t>
            </a:r>
            <a:pPr algn="ct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86 %</a:t>
            </a:r>
            <a:endParaRPr lang="en-US" sz="792" dirty="0"/>
          </a:p>
        </p:txBody>
      </p:sp>
      <p:sp>
        <p:nvSpPr>
          <p:cNvPr id="20" name="Text 17"/>
          <p:cNvSpPr/>
          <p:nvPr/>
        </p:nvSpPr>
        <p:spPr>
          <a:xfrm>
            <a:off x="1098165" y="3179415"/>
            <a:ext cx="74726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C9890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 · Vanti</a:t>
            </a:r>
            <a:endParaRPr lang="en-US" sz="672" dirty="0"/>
          </a:p>
        </p:txBody>
      </p:sp>
      <p:sp>
        <p:nvSpPr>
          <p:cNvPr id="21" name="Text 18"/>
          <p:cNvSpPr/>
          <p:nvPr/>
        </p:nvSpPr>
        <p:spPr>
          <a:xfrm>
            <a:off x="2334398" y="4533900"/>
            <a:ext cx="91732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Semana Burger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4976924" y="4533900"/>
            <a:ext cx="91732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Semana Burger</a:t>
            </a:r>
            <a:endParaRPr lang="en-US" sz="888" dirty="0"/>
          </a:p>
        </p:txBody>
      </p:sp>
      <p:sp>
        <p:nvSpPr>
          <p:cNvPr id="23" name="Text 20"/>
          <p:cNvSpPr/>
          <p:nvPr/>
        </p:nvSpPr>
        <p:spPr>
          <a:xfrm>
            <a:off x="5088925" y="4429125"/>
            <a:ext cx="69347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009A7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 · Xuma</a:t>
            </a:r>
            <a:endParaRPr lang="en-US" sz="672" dirty="0"/>
          </a:p>
        </p:txBody>
      </p:sp>
      <p:sp>
        <p:nvSpPr>
          <p:cNvPr id="24" name="Text 21"/>
          <p:cNvSpPr/>
          <p:nvPr/>
        </p:nvSpPr>
        <p:spPr>
          <a:xfrm>
            <a:off x="6409147" y="3179415"/>
            <a:ext cx="69347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009A7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 · Xuma</a:t>
            </a:r>
            <a:endParaRPr lang="en-US" sz="672" dirty="0"/>
          </a:p>
        </p:txBody>
      </p:sp>
      <p:sp>
        <p:nvSpPr>
          <p:cNvPr id="25" name="Text 22"/>
          <p:cNvSpPr/>
          <p:nvPr/>
        </p:nvSpPr>
        <p:spPr>
          <a:xfrm>
            <a:off x="7731834" y="4429125"/>
            <a:ext cx="69047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C9890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 · Vanti</a:t>
            </a:r>
            <a:endParaRPr lang="en-US" sz="672" dirty="0"/>
          </a:p>
        </p:txBody>
      </p:sp>
      <p:sp>
        <p:nvSpPr>
          <p:cNvPr id="26" name="Text 23"/>
          <p:cNvSpPr/>
          <p:nvPr/>
        </p:nvSpPr>
        <p:spPr>
          <a:xfrm>
            <a:off x="10364737" y="4429125"/>
            <a:ext cx="70972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009A7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 · Xuma</a:t>
            </a:r>
            <a:endParaRPr lang="en-US" sz="672" dirty="0"/>
          </a:p>
        </p:txBody>
      </p:sp>
      <p:sp>
        <p:nvSpPr>
          <p:cNvPr id="27" name="Text 24"/>
          <p:cNvSpPr/>
          <p:nvPr/>
        </p:nvSpPr>
        <p:spPr>
          <a:xfrm>
            <a:off x="6442910" y="3284190"/>
            <a:ext cx="62579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Feria Vanti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9057356" y="3179415"/>
            <a:ext cx="68195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2" b="1" dirty="0">
                <a:solidFill>
                  <a:srgbClr val="009A7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 · Xuma</a:t>
            </a:r>
            <a:endParaRPr lang="en-US" sz="672" dirty="0"/>
          </a:p>
        </p:txBody>
      </p:sp>
      <p:sp>
        <p:nvSpPr>
          <p:cNvPr id="29" name="Text 26"/>
          <p:cNvSpPr/>
          <p:nvPr/>
        </p:nvSpPr>
        <p:spPr>
          <a:xfrm>
            <a:off x="9085436" y="3284190"/>
            <a:ext cx="62579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Feria Vanti</a:t>
            </a:r>
            <a:endParaRPr lang="en-US" sz="888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4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04832" y="6629400"/>
            <a:ext cx="282946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xuma_televentas</a:t>
            </a:r>
            <a:pPr algn="l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Parte de La Gran Jugada · 114% meta </a:t>
            </a:r>
            <a:pPr algn="l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#FeriaVanti</a:t>
            </a:r>
            <a:endParaRPr lang="en-US" sz="672" dirty="0"/>
          </a:p>
        </p:txBody>
      </p:sp>
      <p:sp>
        <p:nvSpPr>
          <p:cNvPr id="4" name="Text 1"/>
          <p:cNvSpPr/>
          <p:nvPr/>
        </p:nvSpPr>
        <p:spPr>
          <a:xfrm>
            <a:off x="6238719" y="6629400"/>
            <a:ext cx="280706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xuma_televentas</a:t>
            </a:r>
            <a:pPr algn="l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1.520 ventas en dos semanas </a:t>
            </a:r>
            <a:pPr algn="l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#FeriaMundialista</a:t>
            </a:r>
            <a:endParaRPr lang="en-US" sz="672" dirty="0"/>
          </a:p>
        </p:txBody>
      </p:sp>
      <p:sp>
        <p:nvSpPr>
          <p:cNvPr id="5" name="Text 2"/>
          <p:cNvSpPr/>
          <p:nvPr/>
        </p:nvSpPr>
        <p:spPr>
          <a:xfrm>
            <a:off x="704832" y="3648075"/>
            <a:ext cx="263337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xuma_televentas</a:t>
            </a:r>
            <a:pPr algn="l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1.292 ventas logradas </a:t>
            </a:r>
            <a:pPr algn="l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#SemanasGanadoras</a:t>
            </a:r>
            <a:endParaRPr lang="en-US" sz="672" dirty="0"/>
          </a:p>
        </p:txBody>
      </p:sp>
      <p:sp>
        <p:nvSpPr>
          <p:cNvPr id="6" name="Text 3"/>
          <p:cNvSpPr/>
          <p:nvPr/>
        </p:nvSpPr>
        <p:spPr>
          <a:xfrm>
            <a:off x="6238719" y="3648075"/>
            <a:ext cx="242766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xuma_televentas</a:t>
            </a:r>
            <a:pPr algn="l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1.266 ventas logradas </a:t>
            </a:r>
            <a:pPr algn="l" indent="0" marL="0">
              <a:buNone/>
            </a:pPr>
            <a:r>
              <a:rPr lang="en-US" sz="67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#SemanaBurger</a:t>
            </a:r>
            <a:endParaRPr lang="en-US" sz="672" dirty="0"/>
          </a:p>
        </p:txBody>
      </p:sp>
      <p:sp>
        <p:nvSpPr>
          <p:cNvPr id="7" name="Text 4"/>
          <p:cNvSpPr/>
          <p:nvPr/>
        </p:nvSpPr>
        <p:spPr>
          <a:xfrm>
            <a:off x="571486" y="209550"/>
            <a:ext cx="3717774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Evidencias · Iniciativas Ejecutadas 1S 2026</a:t>
            </a:r>
            <a:endParaRPr lang="en-US" sz="1260" dirty="0"/>
          </a:p>
        </p:txBody>
      </p:sp>
      <p:sp>
        <p:nvSpPr>
          <p:cNvPr id="8" name="Text 5"/>
          <p:cNvSpPr/>
          <p:nvPr/>
        </p:nvSpPr>
        <p:spPr>
          <a:xfrm>
            <a:off x="6514937" y="1058317"/>
            <a:ext cx="150559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Semana Burger &amp; Feria Vanti · Abril 2026</a:t>
            </a:r>
            <a:endParaRPr lang="en-US" sz="600" dirty="0"/>
          </a:p>
        </p:txBody>
      </p:sp>
      <p:sp>
        <p:nvSpPr>
          <p:cNvPr id="9" name="Text 6"/>
          <p:cNvSpPr/>
          <p:nvPr/>
        </p:nvSpPr>
        <p:spPr>
          <a:xfrm>
            <a:off x="981050" y="1058317"/>
            <a:ext cx="126391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Semanas Ganadoras · Enero 2026</a:t>
            </a:r>
            <a:endParaRPr lang="en-US" sz="600" dirty="0"/>
          </a:p>
        </p:txBody>
      </p:sp>
      <p:sp>
        <p:nvSpPr>
          <p:cNvPr id="10" name="Text 7"/>
          <p:cNvSpPr/>
          <p:nvPr/>
        </p:nvSpPr>
        <p:spPr>
          <a:xfrm>
            <a:off x="6514937" y="4039642"/>
            <a:ext cx="110505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Feria Mundialista · Junio 2026</a:t>
            </a:r>
            <a:endParaRPr lang="en-US" sz="600" dirty="0"/>
          </a:p>
        </p:txBody>
      </p:sp>
      <p:sp>
        <p:nvSpPr>
          <p:cNvPr id="11" name="Text 8"/>
          <p:cNvSpPr/>
          <p:nvPr/>
        </p:nvSpPr>
        <p:spPr>
          <a:xfrm>
            <a:off x="981050" y="4039642"/>
            <a:ext cx="86747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Feria Vanti · Mayo 2026</a:t>
            </a:r>
            <a:endParaRPr lang="en-US" sz="600" dirty="0"/>
          </a:p>
        </p:txBody>
      </p:sp>
      <p:sp>
        <p:nvSpPr>
          <p:cNvPr id="12" name="Text 9"/>
          <p:cNvSpPr/>
          <p:nvPr/>
        </p:nvSpPr>
        <p:spPr>
          <a:xfrm>
            <a:off x="981050" y="959197"/>
            <a:ext cx="85059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26262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xuma_televentas</a:t>
            </a:r>
            <a:endParaRPr lang="en-US" sz="744" dirty="0"/>
          </a:p>
        </p:txBody>
      </p:sp>
      <p:sp>
        <p:nvSpPr>
          <p:cNvPr id="13" name="Text 10"/>
          <p:cNvSpPr/>
          <p:nvPr/>
        </p:nvSpPr>
        <p:spPr>
          <a:xfrm>
            <a:off x="6514937" y="959197"/>
            <a:ext cx="85059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26262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xuma_televentas</a:t>
            </a:r>
            <a:endParaRPr lang="en-US" sz="744" dirty="0"/>
          </a:p>
        </p:txBody>
      </p:sp>
      <p:sp>
        <p:nvSpPr>
          <p:cNvPr id="14" name="Text 11"/>
          <p:cNvSpPr/>
          <p:nvPr/>
        </p:nvSpPr>
        <p:spPr>
          <a:xfrm>
            <a:off x="981050" y="3940522"/>
            <a:ext cx="85059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26262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xuma_televentas</a:t>
            </a:r>
            <a:endParaRPr lang="en-US" sz="744" dirty="0"/>
          </a:p>
        </p:txBody>
      </p:sp>
      <p:sp>
        <p:nvSpPr>
          <p:cNvPr id="15" name="Text 12"/>
          <p:cNvSpPr/>
          <p:nvPr/>
        </p:nvSpPr>
        <p:spPr>
          <a:xfrm>
            <a:off x="6514937" y="3940522"/>
            <a:ext cx="85059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26262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xuma_televentas</a:t>
            </a:r>
            <a:endParaRPr lang="en-US" sz="744" dirty="0"/>
          </a:p>
        </p:txBody>
      </p:sp>
      <p:sp>
        <p:nvSpPr>
          <p:cNvPr id="16" name="Text 13"/>
          <p:cNvSpPr/>
          <p:nvPr/>
        </p:nvSpPr>
        <p:spPr>
          <a:xfrm>
            <a:off x="704832" y="3514725"/>
            <a:ext cx="6388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❤️ 💬 ✈️</a:t>
            </a:r>
            <a:endParaRPr lang="en-US" sz="816" dirty="0"/>
          </a:p>
        </p:txBody>
      </p:sp>
      <p:sp>
        <p:nvSpPr>
          <p:cNvPr id="17" name="Text 14"/>
          <p:cNvSpPr/>
          <p:nvPr/>
        </p:nvSpPr>
        <p:spPr>
          <a:xfrm>
            <a:off x="6238719" y="3514725"/>
            <a:ext cx="6388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❤️ 💬 ✈️</a:t>
            </a:r>
            <a:endParaRPr lang="en-US" sz="816" dirty="0"/>
          </a:p>
        </p:txBody>
      </p:sp>
      <p:sp>
        <p:nvSpPr>
          <p:cNvPr id="18" name="Text 15"/>
          <p:cNvSpPr/>
          <p:nvPr/>
        </p:nvSpPr>
        <p:spPr>
          <a:xfrm>
            <a:off x="704832" y="6496050"/>
            <a:ext cx="6388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❤️ 💬 ✈️</a:t>
            </a:r>
            <a:endParaRPr lang="en-US" sz="816" dirty="0"/>
          </a:p>
        </p:txBody>
      </p:sp>
      <p:sp>
        <p:nvSpPr>
          <p:cNvPr id="19" name="Text 16"/>
          <p:cNvSpPr/>
          <p:nvPr/>
        </p:nvSpPr>
        <p:spPr>
          <a:xfrm>
            <a:off x="6238719" y="6496050"/>
            <a:ext cx="6388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❤️ 💬 ✈️</a:t>
            </a:r>
            <a:endParaRPr lang="en-US" sz="816" dirty="0"/>
          </a:p>
        </p:txBody>
      </p:sp>
      <p:sp>
        <p:nvSpPr>
          <p:cNvPr id="20" name="Text 17"/>
          <p:cNvSpPr/>
          <p:nvPr/>
        </p:nvSpPr>
        <p:spPr>
          <a:xfrm>
            <a:off x="5815165" y="99536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•••</a:t>
            </a:r>
            <a:endParaRPr lang="en-US" sz="816" dirty="0"/>
          </a:p>
        </p:txBody>
      </p:sp>
      <p:sp>
        <p:nvSpPr>
          <p:cNvPr id="21" name="Text 18"/>
          <p:cNvSpPr/>
          <p:nvPr/>
        </p:nvSpPr>
        <p:spPr>
          <a:xfrm>
            <a:off x="11349051" y="99536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•••</a:t>
            </a:r>
            <a:endParaRPr lang="en-US" sz="816" dirty="0"/>
          </a:p>
        </p:txBody>
      </p:sp>
      <p:sp>
        <p:nvSpPr>
          <p:cNvPr id="22" name="Text 19"/>
          <p:cNvSpPr/>
          <p:nvPr/>
        </p:nvSpPr>
        <p:spPr>
          <a:xfrm>
            <a:off x="5815165" y="397668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•••</a:t>
            </a:r>
            <a:endParaRPr lang="en-US" sz="816" dirty="0"/>
          </a:p>
        </p:txBody>
      </p:sp>
      <p:sp>
        <p:nvSpPr>
          <p:cNvPr id="23" name="Text 20"/>
          <p:cNvSpPr/>
          <p:nvPr/>
        </p:nvSpPr>
        <p:spPr>
          <a:xfrm>
            <a:off x="11349051" y="397668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•••</a:t>
            </a:r>
            <a:endParaRPr lang="en-US" sz="816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5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772106" y="6399609"/>
            <a:ext cx="423268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Fortalecimiento del Cumplimiento de Lineamientos Operativos y de Calidad</a:t>
            </a:r>
            <a:endParaRPr lang="en-US" sz="864" dirty="0"/>
          </a:p>
        </p:txBody>
      </p:sp>
      <p:sp>
        <p:nvSpPr>
          <p:cNvPr id="4" name="Text 1"/>
          <p:cNvSpPr/>
          <p:nvPr/>
        </p:nvSpPr>
        <p:spPr>
          <a:xfrm>
            <a:off x="1019150" y="5701754"/>
            <a:ext cx="391906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Lineamientos para la Aplicación del Guion y Control de Modificaciones</a:t>
            </a:r>
            <a:endParaRPr lang="en-US" sz="864" dirty="0"/>
          </a:p>
        </p:txBody>
      </p:sp>
      <p:sp>
        <p:nvSpPr>
          <p:cNvPr id="5" name="Text 2"/>
          <p:cNvSpPr/>
          <p:nvPr/>
        </p:nvSpPr>
        <p:spPr>
          <a:xfrm>
            <a:off x="6772106" y="4432399"/>
            <a:ext cx="390818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Implementación de Herramientas de Apoyo para la Gestión Comercial</a:t>
            </a:r>
            <a:endParaRPr lang="en-US" sz="864" dirty="0"/>
          </a:p>
        </p:txBody>
      </p:sp>
      <p:sp>
        <p:nvSpPr>
          <p:cNvPr id="6" name="Text 3"/>
          <p:cNvSpPr/>
          <p:nvPr/>
        </p:nvSpPr>
        <p:spPr>
          <a:xfrm>
            <a:off x="4567007" y="1012180"/>
            <a:ext cx="33434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 capacitaciones ejecutadas por Xuma — al menos una por mes.</a:t>
            </a:r>
            <a:endParaRPr lang="en-US" sz="792" dirty="0"/>
          </a:p>
        </p:txBody>
      </p:sp>
      <p:sp>
        <p:nvSpPr>
          <p:cNvPr id="7" name="Text 4"/>
          <p:cNvSpPr/>
          <p:nvPr/>
        </p:nvSpPr>
        <p:spPr>
          <a:xfrm>
            <a:off x="1019150" y="1767185"/>
            <a:ext cx="349755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Socialización y Alineación de Estándares de Calidad Comercial</a:t>
            </a:r>
            <a:endParaRPr lang="en-US" sz="864" dirty="0"/>
          </a:p>
        </p:txBody>
      </p:sp>
      <p:sp>
        <p:nvSpPr>
          <p:cNvPr id="8" name="Text 5"/>
          <p:cNvSpPr/>
          <p:nvPr/>
        </p:nvSpPr>
        <p:spPr>
          <a:xfrm>
            <a:off x="6772106" y="2808089"/>
            <a:ext cx="361996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Fortalecimiento de Conocimientos del Producto Cuota Protegida</a:t>
            </a:r>
            <a:endParaRPr lang="en-US" sz="864" dirty="0"/>
          </a:p>
        </p:txBody>
      </p:sp>
      <p:sp>
        <p:nvSpPr>
          <p:cNvPr id="9" name="Text 6"/>
          <p:cNvSpPr/>
          <p:nvPr/>
        </p:nvSpPr>
        <p:spPr>
          <a:xfrm>
            <a:off x="1019150" y="3620244"/>
            <a:ext cx="341346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Aplicación Correcta de la Cláusula de Cobro y Autorizaciones</a:t>
            </a:r>
            <a:endParaRPr lang="en-US" sz="864" dirty="0"/>
          </a:p>
        </p:txBody>
      </p:sp>
      <p:sp>
        <p:nvSpPr>
          <p:cNvPr id="10" name="Text 7"/>
          <p:cNvSpPr/>
          <p:nvPr/>
        </p:nvSpPr>
        <p:spPr>
          <a:xfrm>
            <a:off x="1019150" y="5473154"/>
            <a:ext cx="343713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Técnicas Efectivas para el Manejo de Objeciones Comerciales</a:t>
            </a:r>
            <a:endParaRPr lang="en-US" sz="864" dirty="0"/>
          </a:p>
        </p:txBody>
      </p:sp>
      <p:sp>
        <p:nvSpPr>
          <p:cNvPr id="11" name="Text 8"/>
          <p:cNvSpPr/>
          <p:nvPr/>
        </p:nvSpPr>
        <p:spPr>
          <a:xfrm>
            <a:off x="1019150" y="5244554"/>
            <a:ext cx="3093069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Actualización Comercial del Producto Plan Combo Vida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6772106" y="2579489"/>
            <a:ext cx="2818735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Estandarización del Protocolo de Cierre Comercial</a:t>
            </a:r>
            <a:endParaRPr lang="en-US" sz="864" dirty="0"/>
          </a:p>
        </p:txBody>
      </p:sp>
      <p:sp>
        <p:nvSpPr>
          <p:cNvPr id="13" name="Text 10"/>
          <p:cNvSpPr/>
          <p:nvPr/>
        </p:nvSpPr>
        <p:spPr>
          <a:xfrm>
            <a:off x="571486" y="209550"/>
            <a:ext cx="4161062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Capacitaciones del Semestre · Línea de Tiempo</a:t>
            </a:r>
            <a:endParaRPr lang="en-US" sz="1260" dirty="0"/>
          </a:p>
        </p:txBody>
      </p:sp>
      <p:sp>
        <p:nvSpPr>
          <p:cNvPr id="14" name="Text 11"/>
          <p:cNvSpPr/>
          <p:nvPr/>
        </p:nvSpPr>
        <p:spPr>
          <a:xfrm>
            <a:off x="6772106" y="4660999"/>
            <a:ext cx="263716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Estandarización del Guion Comercial Aprobado</a:t>
            </a:r>
            <a:endParaRPr lang="en-US" sz="864" dirty="0"/>
          </a:p>
        </p:txBody>
      </p:sp>
      <p:sp>
        <p:nvSpPr>
          <p:cNvPr id="15" name="Text 12"/>
          <p:cNvSpPr/>
          <p:nvPr/>
        </p:nvSpPr>
        <p:spPr>
          <a:xfrm>
            <a:off x="6543511" y="2422178"/>
            <a:ext cx="73512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F5A62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 </a:t>
            </a:r>
            <a:pPr algn="l" indent="0" marL="0">
              <a:buNone/>
            </a:pPr>
            <a:r>
              <a:rPr lang="en-US" sz="624" dirty="0">
                <a:solidFill>
                  <a:srgbClr val="F5A62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· </a:t>
            </a:r>
            <a:pPr algn="l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sesiónes</a:t>
            </a:r>
            <a:endParaRPr lang="en-US" sz="720" dirty="0"/>
          </a:p>
        </p:txBody>
      </p:sp>
      <p:sp>
        <p:nvSpPr>
          <p:cNvPr id="16" name="Text 13"/>
          <p:cNvSpPr/>
          <p:nvPr/>
        </p:nvSpPr>
        <p:spPr>
          <a:xfrm>
            <a:off x="6543511" y="4275088"/>
            <a:ext cx="75184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 </a:t>
            </a:r>
            <a:pPr algn="l" indent="0" marL="0">
              <a:buNone/>
            </a:pPr>
            <a:r>
              <a:rPr lang="en-US" sz="624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· </a:t>
            </a:r>
            <a:pPr algn="l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sesiónes</a:t>
            </a:r>
            <a:endParaRPr lang="en-US" sz="720" dirty="0"/>
          </a:p>
        </p:txBody>
      </p:sp>
      <p:sp>
        <p:nvSpPr>
          <p:cNvPr id="17" name="Text 14"/>
          <p:cNvSpPr/>
          <p:nvPr/>
        </p:nvSpPr>
        <p:spPr>
          <a:xfrm>
            <a:off x="790555" y="5087243"/>
            <a:ext cx="76209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 </a:t>
            </a:r>
            <a:pPr algn="l" indent="0" marL="0">
              <a:buNone/>
            </a:pPr>
            <a:r>
              <a:rPr lang="en-US" sz="624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· </a:t>
            </a:r>
            <a:pPr algn="l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sesiónes</a:t>
            </a:r>
            <a:endParaRPr lang="en-US" sz="720" dirty="0"/>
          </a:p>
        </p:txBody>
      </p:sp>
      <p:sp>
        <p:nvSpPr>
          <p:cNvPr id="18" name="Text 15"/>
          <p:cNvSpPr/>
          <p:nvPr/>
        </p:nvSpPr>
        <p:spPr>
          <a:xfrm>
            <a:off x="790555" y="1609874"/>
            <a:ext cx="64741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 </a:t>
            </a:r>
            <a:pPr algn="l" indent="0" marL="0">
              <a:buNone/>
            </a:pPr>
            <a:r>
              <a:rPr lang="en-US" sz="624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· </a:t>
            </a:r>
            <a:pPr algn="l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sesión</a:t>
            </a:r>
            <a:endParaRPr lang="en-US" sz="720" dirty="0"/>
          </a:p>
        </p:txBody>
      </p:sp>
      <p:sp>
        <p:nvSpPr>
          <p:cNvPr id="19" name="Text 16"/>
          <p:cNvSpPr/>
          <p:nvPr/>
        </p:nvSpPr>
        <p:spPr>
          <a:xfrm>
            <a:off x="790555" y="3462933"/>
            <a:ext cx="67107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F7C94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 </a:t>
            </a:r>
            <a:pPr algn="l" indent="0" marL="0">
              <a:buNone/>
            </a:pPr>
            <a:r>
              <a:rPr lang="en-US" sz="624" dirty="0">
                <a:solidFill>
                  <a:srgbClr val="F7C94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· </a:t>
            </a:r>
            <a:pPr algn="l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sesión</a:t>
            </a:r>
            <a:endParaRPr lang="en-US" sz="720" dirty="0"/>
          </a:p>
        </p:txBody>
      </p:sp>
      <p:sp>
        <p:nvSpPr>
          <p:cNvPr id="20" name="Text 17"/>
          <p:cNvSpPr/>
          <p:nvPr/>
        </p:nvSpPr>
        <p:spPr>
          <a:xfrm>
            <a:off x="6543511" y="6242298"/>
            <a:ext cx="6516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5B8DE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 </a:t>
            </a:r>
            <a:pPr algn="l" indent="0" marL="0">
              <a:buNone/>
            </a:pPr>
            <a:r>
              <a:rPr lang="en-US" sz="624" dirty="0">
                <a:solidFill>
                  <a:srgbClr val="5B8DE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· </a:t>
            </a:r>
            <a:pPr algn="l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sesión</a:t>
            </a:r>
            <a:endParaRPr lang="en-US" sz="7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6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743531" y="6051500"/>
            <a:ext cx="4711308" cy="229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0A3D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Cargues priorizados según mayor presencia de ventas por localidad o edad, y barrido de contactos sin respuesta más cambio de DID si el número marca como spam.</a:t>
            </a:r>
            <a:endParaRPr lang="en-US" sz="672" dirty="0"/>
          </a:p>
        </p:txBody>
      </p:sp>
      <p:sp>
        <p:nvSpPr>
          <p:cNvPr id="4" name="Text 1"/>
          <p:cNvSpPr/>
          <p:nvPr/>
        </p:nvSpPr>
        <p:spPr>
          <a:xfrm>
            <a:off x="6743531" y="1922413"/>
            <a:ext cx="4586682" cy="229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0A3D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ajustaron las exclusiones dando más beneficios y menor tiempo de carencia, con el guion actualizado para incorporar la nueva asistencia.</a:t>
            </a:r>
            <a:endParaRPr lang="en-US" sz="672" dirty="0"/>
          </a:p>
        </p:txBody>
      </p:sp>
      <p:sp>
        <p:nvSpPr>
          <p:cNvPr id="5" name="Text 2"/>
          <p:cNvSpPr/>
          <p:nvPr/>
        </p:nvSpPr>
        <p:spPr>
          <a:xfrm>
            <a:off x="6743531" y="4675138"/>
            <a:ext cx="4796337" cy="229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0A3D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Cuando el usuario cree que es solo información, el asesor debe aclarar que se está ofreciendo un seguro, para una venta más transparente.</a:t>
            </a:r>
            <a:endParaRPr lang="en-US" sz="672" dirty="0"/>
          </a:p>
        </p:txBody>
      </p:sp>
      <p:sp>
        <p:nvSpPr>
          <p:cNvPr id="6" name="Text 3"/>
          <p:cNvSpPr/>
          <p:nvPr/>
        </p:nvSpPr>
        <p:spPr>
          <a:xfrm>
            <a:off x="6743531" y="3298775"/>
            <a:ext cx="4870481" cy="229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0A3D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Bienvenida exclusiva para clientes que obtuvieron el crédito por autogestión, conociendo cómo perciben esta nueva forma de crédito.</a:t>
            </a:r>
            <a:endParaRPr lang="en-US" sz="672" dirty="0"/>
          </a:p>
        </p:txBody>
      </p:sp>
      <p:sp>
        <p:nvSpPr>
          <p:cNvPr id="7" name="Text 4"/>
          <p:cNvSpPr/>
          <p:nvPr/>
        </p:nvSpPr>
        <p:spPr>
          <a:xfrm>
            <a:off x="1200120" y="3298775"/>
            <a:ext cx="4701843" cy="229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2A2A5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Auditorías puntuales en algunos meses para verificar que la tipificación registrada coincida con lo que pasó en la llamada.</a:t>
            </a:r>
            <a:endParaRPr lang="en-US" sz="672" dirty="0"/>
          </a:p>
        </p:txBody>
      </p:sp>
      <p:sp>
        <p:nvSpPr>
          <p:cNvPr id="8" name="Text 5"/>
          <p:cNvSpPr/>
          <p:nvPr/>
        </p:nvSpPr>
        <p:spPr>
          <a:xfrm>
            <a:off x="1200120" y="4675138"/>
            <a:ext cx="4716987" cy="229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2A2A5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revisan las llamadas tipificadas "no interesado" para nutrir un manual de objeciones que guía al asesor hacia el cierre.</a:t>
            </a:r>
            <a:endParaRPr lang="en-US" sz="672" dirty="0"/>
          </a:p>
        </p:txBody>
      </p:sp>
      <p:sp>
        <p:nvSpPr>
          <p:cNvPr id="9" name="Text 6"/>
          <p:cNvSpPr/>
          <p:nvPr/>
        </p:nvSpPr>
        <p:spPr>
          <a:xfrm>
            <a:off x="1200120" y="1986260"/>
            <a:ext cx="462691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2A2A5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revisa en vivo cómo el asesor debate objeciones, si tipifica correctamente y se corrigen errores al momento.</a:t>
            </a:r>
            <a:endParaRPr lang="en-US" sz="672" dirty="0"/>
          </a:p>
        </p:txBody>
      </p:sp>
      <p:sp>
        <p:nvSpPr>
          <p:cNvPr id="10" name="Text 7"/>
          <p:cNvSpPr/>
          <p:nvPr/>
        </p:nvSpPr>
        <p:spPr>
          <a:xfrm>
            <a:off x="1200120" y="6115348"/>
            <a:ext cx="390692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2A2A5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Seguimiento individual: cómo va cada asesor, a qué % se proyecta y qué le falta para su meta.</a:t>
            </a:r>
            <a:endParaRPr lang="en-US" sz="672" dirty="0"/>
          </a:p>
        </p:txBody>
      </p:sp>
      <p:sp>
        <p:nvSpPr>
          <p:cNvPr id="11" name="Text 8"/>
          <p:cNvSpPr/>
          <p:nvPr/>
        </p:nvSpPr>
        <p:spPr>
          <a:xfrm>
            <a:off x="1200120" y="1852910"/>
            <a:ext cx="20025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4A4A8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Objeciones, tipificación y corrección inmediata</a:t>
            </a:r>
            <a:endParaRPr lang="en-US" sz="672" dirty="0"/>
          </a:p>
        </p:txBody>
      </p:sp>
      <p:sp>
        <p:nvSpPr>
          <p:cNvPr id="12" name="Text 9"/>
          <p:cNvSpPr/>
          <p:nvPr/>
        </p:nvSpPr>
        <p:spPr>
          <a:xfrm>
            <a:off x="6743531" y="3165425"/>
            <a:ext cx="191969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1A7A6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Trato preferencial y medición de experiencia</a:t>
            </a:r>
            <a:endParaRPr lang="en-US" sz="672" dirty="0"/>
          </a:p>
        </p:txBody>
      </p:sp>
      <p:sp>
        <p:nvSpPr>
          <p:cNvPr id="13" name="Text 10"/>
          <p:cNvSpPr/>
          <p:nvPr/>
        </p:nvSpPr>
        <p:spPr>
          <a:xfrm>
            <a:off x="1200120" y="3165425"/>
            <a:ext cx="176777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4A4A8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Contrastan tipificación vs. la llamada real</a:t>
            </a:r>
            <a:endParaRPr lang="en-US" sz="672" dirty="0"/>
          </a:p>
        </p:txBody>
      </p:sp>
      <p:sp>
        <p:nvSpPr>
          <p:cNvPr id="14" name="Text 11"/>
          <p:cNvSpPr/>
          <p:nvPr/>
        </p:nvSpPr>
        <p:spPr>
          <a:xfrm>
            <a:off x="1200120" y="4541788"/>
            <a:ext cx="1915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4A4A8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Manual de objeciones desde "no interesado"</a:t>
            </a:r>
            <a:endParaRPr lang="en-US" sz="672" dirty="0"/>
          </a:p>
        </p:txBody>
      </p:sp>
      <p:sp>
        <p:nvSpPr>
          <p:cNvPr id="15" name="Text 12"/>
          <p:cNvSpPr/>
          <p:nvPr/>
        </p:nvSpPr>
        <p:spPr>
          <a:xfrm>
            <a:off x="6743531" y="4541788"/>
            <a:ext cx="17542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1A7A6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asesor deja explícito que es un seguro</a:t>
            </a:r>
            <a:endParaRPr lang="en-US" sz="672" dirty="0"/>
          </a:p>
        </p:txBody>
      </p:sp>
      <p:sp>
        <p:nvSpPr>
          <p:cNvPr id="16" name="Text 13"/>
          <p:cNvSpPr/>
          <p:nvPr/>
        </p:nvSpPr>
        <p:spPr>
          <a:xfrm>
            <a:off x="571486" y="209550"/>
            <a:ext cx="3686854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Monitoreo y Cambios de Proceso · 1S 2026</a:t>
            </a:r>
            <a:endParaRPr lang="en-US" sz="1260" dirty="0"/>
          </a:p>
        </p:txBody>
      </p:sp>
      <p:sp>
        <p:nvSpPr>
          <p:cNvPr id="17" name="Text 14"/>
          <p:cNvSpPr/>
          <p:nvPr/>
        </p:nvSpPr>
        <p:spPr>
          <a:xfrm>
            <a:off x="6743531" y="5918150"/>
            <a:ext cx="184917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1A7A6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Por localidad/edad + control de spam/DID</a:t>
            </a:r>
            <a:endParaRPr lang="en-US" sz="672" dirty="0"/>
          </a:p>
        </p:txBody>
      </p:sp>
      <p:sp>
        <p:nvSpPr>
          <p:cNvPr id="18" name="Text 15"/>
          <p:cNvSpPr/>
          <p:nvPr/>
        </p:nvSpPr>
        <p:spPr>
          <a:xfrm>
            <a:off x="6743531" y="1789063"/>
            <a:ext cx="173796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1A7A6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Menor carencia + coberturas adicionales</a:t>
            </a:r>
            <a:endParaRPr lang="en-US" sz="672" dirty="0"/>
          </a:p>
        </p:txBody>
      </p:sp>
      <p:sp>
        <p:nvSpPr>
          <p:cNvPr id="19" name="Text 16"/>
          <p:cNvSpPr/>
          <p:nvPr/>
        </p:nvSpPr>
        <p:spPr>
          <a:xfrm>
            <a:off x="1200120" y="5981998"/>
            <a:ext cx="1437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4A4A8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Avance, proyección y KPI faltante</a:t>
            </a:r>
            <a:endParaRPr lang="en-US" sz="672" dirty="0"/>
          </a:p>
        </p:txBody>
      </p:sp>
      <p:sp>
        <p:nvSpPr>
          <p:cNvPr id="20" name="Text 17"/>
          <p:cNvSpPr/>
          <p:nvPr/>
        </p:nvSpPr>
        <p:spPr>
          <a:xfrm>
            <a:off x="6743531" y="4398913"/>
            <a:ext cx="173906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005F4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Frase de aclaración obligatoria</a:t>
            </a:r>
            <a:endParaRPr lang="en-US" sz="864" dirty="0"/>
          </a:p>
        </p:txBody>
      </p:sp>
      <p:sp>
        <p:nvSpPr>
          <p:cNvPr id="21" name="Text 18"/>
          <p:cNvSpPr/>
          <p:nvPr/>
        </p:nvSpPr>
        <p:spPr>
          <a:xfrm>
            <a:off x="6743531" y="5775275"/>
            <a:ext cx="182267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005F4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Segmentación y contactabilidad</a:t>
            </a:r>
            <a:endParaRPr lang="en-US" sz="864" dirty="0"/>
          </a:p>
        </p:txBody>
      </p:sp>
      <p:sp>
        <p:nvSpPr>
          <p:cNvPr id="22" name="Text 19"/>
          <p:cNvSpPr/>
          <p:nvPr/>
        </p:nvSpPr>
        <p:spPr>
          <a:xfrm>
            <a:off x="1200120" y="5839123"/>
            <a:ext cx="1593145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Revisión semanal por asesor</a:t>
            </a:r>
            <a:endParaRPr lang="en-US" sz="864" dirty="0"/>
          </a:p>
        </p:txBody>
      </p:sp>
      <p:sp>
        <p:nvSpPr>
          <p:cNvPr id="23" name="Text 20"/>
          <p:cNvSpPr/>
          <p:nvPr/>
        </p:nvSpPr>
        <p:spPr>
          <a:xfrm>
            <a:off x="895328" y="1019175"/>
            <a:ext cx="1849653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Monitoreo y acompañamiento</a:t>
            </a:r>
            <a:endParaRPr lang="en-US" sz="936" dirty="0"/>
          </a:p>
        </p:txBody>
      </p:sp>
      <p:sp>
        <p:nvSpPr>
          <p:cNvPr id="24" name="Text 21"/>
          <p:cNvSpPr/>
          <p:nvPr/>
        </p:nvSpPr>
        <p:spPr>
          <a:xfrm>
            <a:off x="1200120" y="1710035"/>
            <a:ext cx="150653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Monitoreo semanal en vivo</a:t>
            </a:r>
            <a:endParaRPr lang="en-US" sz="864" dirty="0"/>
          </a:p>
        </p:txBody>
      </p:sp>
      <p:sp>
        <p:nvSpPr>
          <p:cNvPr id="25" name="Text 22"/>
          <p:cNvSpPr/>
          <p:nvPr/>
        </p:nvSpPr>
        <p:spPr>
          <a:xfrm>
            <a:off x="6438739" y="1019175"/>
            <a:ext cx="1737332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Cambios de proceso (Xuma)</a:t>
            </a:r>
            <a:endParaRPr lang="en-US" sz="936" dirty="0"/>
          </a:p>
        </p:txBody>
      </p:sp>
      <p:sp>
        <p:nvSpPr>
          <p:cNvPr id="26" name="Text 23"/>
          <p:cNvSpPr/>
          <p:nvPr/>
        </p:nvSpPr>
        <p:spPr>
          <a:xfrm>
            <a:off x="1200120" y="3022550"/>
            <a:ext cx="1333955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Monitoreos ocasionales</a:t>
            </a:r>
            <a:endParaRPr lang="en-US" sz="864" dirty="0"/>
          </a:p>
        </p:txBody>
      </p:sp>
      <p:sp>
        <p:nvSpPr>
          <p:cNvPr id="27" name="Text 24"/>
          <p:cNvSpPr/>
          <p:nvPr/>
        </p:nvSpPr>
        <p:spPr>
          <a:xfrm>
            <a:off x="6743531" y="1646188"/>
            <a:ext cx="129830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005F4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Exclusiones del seguro</a:t>
            </a:r>
            <a:endParaRPr lang="en-US" sz="864" dirty="0"/>
          </a:p>
        </p:txBody>
      </p:sp>
      <p:sp>
        <p:nvSpPr>
          <p:cNvPr id="28" name="Text 25"/>
          <p:cNvSpPr/>
          <p:nvPr/>
        </p:nvSpPr>
        <p:spPr>
          <a:xfrm>
            <a:off x="6743531" y="3022550"/>
            <a:ext cx="133553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005F4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Bienvenida autogestión</a:t>
            </a:r>
            <a:endParaRPr lang="en-US" sz="864" dirty="0"/>
          </a:p>
        </p:txBody>
      </p:sp>
      <p:sp>
        <p:nvSpPr>
          <p:cNvPr id="29" name="Text 26"/>
          <p:cNvSpPr/>
          <p:nvPr/>
        </p:nvSpPr>
        <p:spPr>
          <a:xfrm>
            <a:off x="1200120" y="4398913"/>
            <a:ext cx="103879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Kit de emergencia</a:t>
            </a:r>
            <a:endParaRPr lang="en-US" sz="864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7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52476" y="4398764"/>
            <a:ext cx="5858967" cy="4598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Contactabilidad, conversión, motivos de rechazo y proyección del volumen necesario para lograr 3.000 ventas/mes en el segundo semestre.</a:t>
            </a:r>
            <a:endParaRPr lang="en-US" sz="1260" dirty="0"/>
          </a:p>
        </p:txBody>
      </p:sp>
      <p:sp>
        <p:nvSpPr>
          <p:cNvPr id="4" name="Text 1"/>
          <p:cNvSpPr/>
          <p:nvPr/>
        </p:nvSpPr>
        <p:spPr>
          <a:xfrm>
            <a:off x="952476" y="3118842"/>
            <a:ext cx="5889887" cy="1090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Análisis de Basese Indicadores Operativos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952476" y="2852142"/>
            <a:ext cx="995258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Capítulo 2</a:t>
            </a:r>
            <a:endParaRPr lang="en-US" sz="936" dirty="0"/>
          </a:p>
        </p:txBody>
      </p:sp>
      <p:sp>
        <p:nvSpPr>
          <p:cNvPr id="6" name="Text 3"/>
          <p:cNvSpPr/>
          <p:nvPr/>
        </p:nvSpPr>
        <p:spPr>
          <a:xfrm>
            <a:off x="952476" y="1880592"/>
            <a:ext cx="1389958" cy="1285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02</a:t>
            </a:r>
            <a:endParaRPr lang="en-US" sz="4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8_M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90575" y="4461570"/>
            <a:ext cx="11033767" cy="523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 importante: entre enero (22 %) y mayo (65 %) triplicamos la contactabilidad sin cambiar quién llamamos, solo cómo y cuándo. Eso sostuvo el nivel de ventas pese a que la base apta cayó un 62 %. Lectura: el calendario, horarios y estrategia de llamadas son tan poderosos como la base misma. Febrero y junio bajan porque cambia el mix de campañas (vimos esto arriba). En el 2S, Isaac propone seguir con análisis por franja horaria para identificar ventanas óptimas.</a:t>
            </a:r>
            <a:endParaRPr lang="en-US" sz="960" dirty="0"/>
          </a:p>
        </p:txBody>
      </p:sp>
      <p:sp>
        <p:nvSpPr>
          <p:cNvPr id="4" name="Text 1"/>
          <p:cNvSpPr/>
          <p:nvPr/>
        </p:nvSpPr>
        <p:spPr>
          <a:xfrm>
            <a:off x="571486" y="209550"/>
            <a:ext cx="3401477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y Conversión · 1S 2026</a:t>
            </a:r>
            <a:endParaRPr lang="en-US" sz="1260" dirty="0"/>
          </a:p>
        </p:txBody>
      </p:sp>
      <p:sp>
        <p:nvSpPr>
          <p:cNvPr id="5" name="Text 2"/>
          <p:cNvSpPr/>
          <p:nvPr/>
        </p:nvSpPr>
        <p:spPr>
          <a:xfrm>
            <a:off x="3552736" y="1489770"/>
            <a:ext cx="213897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Jun: 46,5 % (+56 % volumen gestionado)</a:t>
            </a:r>
            <a:endParaRPr lang="en-US" sz="864" dirty="0"/>
          </a:p>
        </p:txBody>
      </p:sp>
      <p:sp>
        <p:nvSpPr>
          <p:cNvPr id="6" name="Text 3"/>
          <p:cNvSpPr/>
          <p:nvPr/>
        </p:nvSpPr>
        <p:spPr>
          <a:xfrm>
            <a:off x="761981" y="1489770"/>
            <a:ext cx="182520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154.838 contactos en el semestre</a:t>
            </a:r>
            <a:endParaRPr lang="en-US" sz="864" dirty="0"/>
          </a:p>
        </p:txBody>
      </p:sp>
      <p:sp>
        <p:nvSpPr>
          <p:cNvPr id="7" name="Text 4"/>
          <p:cNvSpPr/>
          <p:nvPr/>
        </p:nvSpPr>
        <p:spPr>
          <a:xfrm>
            <a:off x="9134247" y="1489770"/>
            <a:ext cx="168527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Principal causa de no contacto</a:t>
            </a:r>
            <a:endParaRPr lang="en-US" sz="864" dirty="0"/>
          </a:p>
        </p:txBody>
      </p:sp>
      <p:sp>
        <p:nvSpPr>
          <p:cNvPr id="8" name="Text 5"/>
          <p:cNvSpPr/>
          <p:nvPr/>
        </p:nvSpPr>
        <p:spPr>
          <a:xfrm>
            <a:off x="761981" y="990600"/>
            <a:ext cx="215143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promedio (1S)</a:t>
            </a:r>
            <a:endParaRPr lang="en-US" sz="864" dirty="0"/>
          </a:p>
        </p:txBody>
      </p:sp>
      <p:sp>
        <p:nvSpPr>
          <p:cNvPr id="9" name="Text 6"/>
          <p:cNvSpPr/>
          <p:nvPr/>
        </p:nvSpPr>
        <p:spPr>
          <a:xfrm>
            <a:off x="6343491" y="1489770"/>
            <a:ext cx="1628639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Promedio ene–jun (7,5–11,2 %)</a:t>
            </a:r>
            <a:endParaRPr lang="en-US" sz="864" dirty="0"/>
          </a:p>
        </p:txBody>
      </p:sp>
      <p:sp>
        <p:nvSpPr>
          <p:cNvPr id="10" name="Text 7"/>
          <p:cNvSpPr/>
          <p:nvPr/>
        </p:nvSpPr>
        <p:spPr>
          <a:xfrm>
            <a:off x="6448264" y="2213670"/>
            <a:ext cx="2057572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Efectividad sobre contactados</a:t>
            </a:r>
            <a:endParaRPr lang="en-US" sz="1020" dirty="0"/>
          </a:p>
        </p:txBody>
      </p:sp>
      <p:sp>
        <p:nvSpPr>
          <p:cNvPr id="11" name="Text 8"/>
          <p:cNvSpPr/>
          <p:nvPr/>
        </p:nvSpPr>
        <p:spPr>
          <a:xfrm>
            <a:off x="6343491" y="990600"/>
            <a:ext cx="203753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Efectividad prom./contacto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876278" y="2213670"/>
            <a:ext cx="1672337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por mes</a:t>
            </a:r>
            <a:endParaRPr lang="en-US" sz="1020" dirty="0"/>
          </a:p>
        </p:txBody>
      </p:sp>
      <p:sp>
        <p:nvSpPr>
          <p:cNvPr id="13" name="Text 10"/>
          <p:cNvSpPr/>
          <p:nvPr/>
        </p:nvSpPr>
        <p:spPr>
          <a:xfrm>
            <a:off x="9134247" y="990600"/>
            <a:ext cx="172976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(semestre)</a:t>
            </a:r>
            <a:endParaRPr lang="en-US" sz="864" dirty="0"/>
          </a:p>
        </p:txBody>
      </p:sp>
      <p:sp>
        <p:nvSpPr>
          <p:cNvPr id="14" name="Text 11"/>
          <p:cNvSpPr/>
          <p:nvPr/>
        </p:nvSpPr>
        <p:spPr>
          <a:xfrm>
            <a:off x="847704" y="1842195"/>
            <a:ext cx="177692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Por mes </a:t>
            </a:r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Por campaña</a:t>
            </a:r>
            <a:endParaRPr lang="en-US" sz="864" dirty="0"/>
          </a:p>
        </p:txBody>
      </p:sp>
      <p:sp>
        <p:nvSpPr>
          <p:cNvPr id="15" name="Text 12"/>
          <p:cNvSpPr/>
          <p:nvPr/>
        </p:nvSpPr>
        <p:spPr>
          <a:xfrm>
            <a:off x="7111047" y="2537520"/>
            <a:ext cx="188821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Contactados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3552736" y="990600"/>
            <a:ext cx="74222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Pico: mayo</a:t>
            </a:r>
            <a:endParaRPr lang="en-US" sz="864" dirty="0"/>
          </a:p>
        </p:txBody>
      </p:sp>
      <p:sp>
        <p:nvSpPr>
          <p:cNvPr id="17" name="Text 14"/>
          <p:cNvSpPr/>
          <p:nvPr/>
        </p:nvSpPr>
        <p:spPr>
          <a:xfrm>
            <a:off x="8963916" y="2537520"/>
            <a:ext cx="121359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18" name="Text 15"/>
          <p:cNvSpPr/>
          <p:nvPr/>
        </p:nvSpPr>
        <p:spPr>
          <a:xfrm>
            <a:off x="10138796" y="2537520"/>
            <a:ext cx="132901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Efect.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7111047" y="2770882"/>
            <a:ext cx="188821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22.402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10138796" y="2775645"/>
            <a:ext cx="13290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10,0 %</a:t>
            </a:r>
            <a:endParaRPr lang="en-US" sz="816" dirty="0"/>
          </a:p>
        </p:txBody>
      </p:sp>
      <p:sp>
        <p:nvSpPr>
          <p:cNvPr id="21" name="Text 18"/>
          <p:cNvSpPr/>
          <p:nvPr/>
        </p:nvSpPr>
        <p:spPr>
          <a:xfrm>
            <a:off x="7111047" y="3018532"/>
            <a:ext cx="188821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21.171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10138796" y="3023295"/>
            <a:ext cx="13290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11,2 %</a:t>
            </a:r>
            <a:endParaRPr lang="en-US" sz="816" dirty="0"/>
          </a:p>
        </p:txBody>
      </p:sp>
      <p:sp>
        <p:nvSpPr>
          <p:cNvPr id="23" name="Text 20"/>
          <p:cNvSpPr/>
          <p:nvPr/>
        </p:nvSpPr>
        <p:spPr>
          <a:xfrm>
            <a:off x="7111047" y="3266182"/>
            <a:ext cx="188821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32.546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7111047" y="3513832"/>
            <a:ext cx="188821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24.520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7111047" y="3761482"/>
            <a:ext cx="188821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25.647</a:t>
            </a:r>
            <a:endParaRPr lang="en-US" sz="888" dirty="0"/>
          </a:p>
        </p:txBody>
      </p:sp>
      <p:sp>
        <p:nvSpPr>
          <p:cNvPr id="26" name="Text 23"/>
          <p:cNvSpPr/>
          <p:nvPr/>
        </p:nvSpPr>
        <p:spPr>
          <a:xfrm>
            <a:off x="7111047" y="4009132"/>
            <a:ext cx="188821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28.552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761981" y="1133475"/>
            <a:ext cx="947774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42,4 %</a:t>
            </a:r>
            <a:endParaRPr lang="en-US" sz="2280" dirty="0"/>
          </a:p>
        </p:txBody>
      </p:sp>
      <p:sp>
        <p:nvSpPr>
          <p:cNvPr id="28" name="Text 25"/>
          <p:cNvSpPr/>
          <p:nvPr/>
        </p:nvSpPr>
        <p:spPr>
          <a:xfrm>
            <a:off x="3552736" y="1133475"/>
            <a:ext cx="959763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64,9 %</a:t>
            </a:r>
            <a:endParaRPr lang="en-US" sz="2280" dirty="0"/>
          </a:p>
        </p:txBody>
      </p:sp>
      <p:sp>
        <p:nvSpPr>
          <p:cNvPr id="29" name="Text 26"/>
          <p:cNvSpPr/>
          <p:nvPr/>
        </p:nvSpPr>
        <p:spPr>
          <a:xfrm>
            <a:off x="5575283" y="2508945"/>
            <a:ext cx="3205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6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21,6 %</a:t>
            </a:r>
            <a:endParaRPr lang="en-US" sz="768" dirty="0"/>
          </a:p>
        </p:txBody>
      </p:sp>
      <p:sp>
        <p:nvSpPr>
          <p:cNvPr id="30" name="Text 27"/>
          <p:cNvSpPr/>
          <p:nvPr/>
        </p:nvSpPr>
        <p:spPr>
          <a:xfrm>
            <a:off x="5578281" y="2689920"/>
            <a:ext cx="3175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6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44,1 %</a:t>
            </a:r>
            <a:endParaRPr lang="en-US" sz="768" dirty="0"/>
          </a:p>
        </p:txBody>
      </p:sp>
      <p:sp>
        <p:nvSpPr>
          <p:cNvPr id="31" name="Text 28"/>
          <p:cNvSpPr/>
          <p:nvPr/>
        </p:nvSpPr>
        <p:spPr>
          <a:xfrm>
            <a:off x="5573390" y="2870895"/>
            <a:ext cx="32243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6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45,3 %</a:t>
            </a:r>
            <a:endParaRPr lang="en-US" sz="768" dirty="0"/>
          </a:p>
        </p:txBody>
      </p:sp>
      <p:sp>
        <p:nvSpPr>
          <p:cNvPr id="32" name="Text 29"/>
          <p:cNvSpPr/>
          <p:nvPr/>
        </p:nvSpPr>
        <p:spPr>
          <a:xfrm>
            <a:off x="5563452" y="3051870"/>
            <a:ext cx="332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6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60,3 %</a:t>
            </a:r>
            <a:endParaRPr lang="en-US" sz="768" dirty="0"/>
          </a:p>
        </p:txBody>
      </p:sp>
      <p:sp>
        <p:nvSpPr>
          <p:cNvPr id="33" name="Text 30"/>
          <p:cNvSpPr/>
          <p:nvPr/>
        </p:nvSpPr>
        <p:spPr>
          <a:xfrm>
            <a:off x="5564714" y="3232845"/>
            <a:ext cx="33111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6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64,9 %</a:t>
            </a:r>
            <a:endParaRPr lang="en-US" sz="768" dirty="0"/>
          </a:p>
        </p:txBody>
      </p:sp>
      <p:sp>
        <p:nvSpPr>
          <p:cNvPr id="34" name="Text 31"/>
          <p:cNvSpPr/>
          <p:nvPr/>
        </p:nvSpPr>
        <p:spPr>
          <a:xfrm>
            <a:off x="5568342" y="3413820"/>
            <a:ext cx="32748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6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46,5 %</a:t>
            </a:r>
            <a:endParaRPr lang="en-US" sz="768" dirty="0"/>
          </a:p>
        </p:txBody>
      </p:sp>
      <p:sp>
        <p:nvSpPr>
          <p:cNvPr id="35" name="Text 32"/>
          <p:cNvSpPr/>
          <p:nvPr/>
        </p:nvSpPr>
        <p:spPr>
          <a:xfrm>
            <a:off x="8963916" y="2770882"/>
            <a:ext cx="121359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2.245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8963916" y="3018532"/>
            <a:ext cx="121359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2.374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8963916" y="3266182"/>
            <a:ext cx="121359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2.431</a:t>
            </a:r>
            <a:endParaRPr lang="en-US" sz="888" dirty="0"/>
          </a:p>
        </p:txBody>
      </p:sp>
      <p:sp>
        <p:nvSpPr>
          <p:cNvPr id="38" name="Text 35"/>
          <p:cNvSpPr/>
          <p:nvPr/>
        </p:nvSpPr>
        <p:spPr>
          <a:xfrm>
            <a:off x="10138796" y="3270945"/>
            <a:ext cx="13290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7,5 %</a:t>
            </a:r>
            <a:endParaRPr lang="en-US" sz="816" dirty="0"/>
          </a:p>
        </p:txBody>
      </p:sp>
      <p:sp>
        <p:nvSpPr>
          <p:cNvPr id="39" name="Text 36"/>
          <p:cNvSpPr/>
          <p:nvPr/>
        </p:nvSpPr>
        <p:spPr>
          <a:xfrm>
            <a:off x="8963916" y="3513832"/>
            <a:ext cx="121359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2.367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10138796" y="3518595"/>
            <a:ext cx="13290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9,7 %</a:t>
            </a:r>
            <a:endParaRPr lang="en-US" sz="816" dirty="0"/>
          </a:p>
        </p:txBody>
      </p:sp>
      <p:sp>
        <p:nvSpPr>
          <p:cNvPr id="41" name="Text 38"/>
          <p:cNvSpPr/>
          <p:nvPr/>
        </p:nvSpPr>
        <p:spPr>
          <a:xfrm>
            <a:off x="8963916" y="3761482"/>
            <a:ext cx="121359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2.186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10138796" y="3766245"/>
            <a:ext cx="13290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8,5 %</a:t>
            </a:r>
            <a:endParaRPr lang="en-US" sz="816" dirty="0"/>
          </a:p>
        </p:txBody>
      </p:sp>
      <p:sp>
        <p:nvSpPr>
          <p:cNvPr id="43" name="Text 40"/>
          <p:cNvSpPr/>
          <p:nvPr/>
        </p:nvSpPr>
        <p:spPr>
          <a:xfrm>
            <a:off x="8963916" y="4009132"/>
            <a:ext cx="121359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2.314</a:t>
            </a:r>
            <a:endParaRPr lang="en-US" sz="888" dirty="0"/>
          </a:p>
        </p:txBody>
      </p:sp>
      <p:sp>
        <p:nvSpPr>
          <p:cNvPr id="44" name="Text 41"/>
          <p:cNvSpPr/>
          <p:nvPr/>
        </p:nvSpPr>
        <p:spPr>
          <a:xfrm>
            <a:off x="10138796" y="4013895"/>
            <a:ext cx="13290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8,1 %</a:t>
            </a:r>
            <a:endParaRPr lang="en-US" sz="816" dirty="0"/>
          </a:p>
        </p:txBody>
      </p:sp>
      <p:sp>
        <p:nvSpPr>
          <p:cNvPr id="45" name="Text 42"/>
          <p:cNvSpPr/>
          <p:nvPr/>
        </p:nvSpPr>
        <p:spPr>
          <a:xfrm>
            <a:off x="6343491" y="1133475"/>
            <a:ext cx="784183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9,0 %</a:t>
            </a:r>
            <a:endParaRPr lang="en-US" sz="2280" dirty="0"/>
          </a:p>
        </p:txBody>
      </p:sp>
      <p:sp>
        <p:nvSpPr>
          <p:cNvPr id="46" name="Text 43"/>
          <p:cNvSpPr/>
          <p:nvPr/>
        </p:nvSpPr>
        <p:spPr>
          <a:xfrm>
            <a:off x="9134247" y="1133475"/>
            <a:ext cx="850755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~51 %</a:t>
            </a:r>
            <a:endParaRPr lang="en-US" sz="2280" dirty="0"/>
          </a:p>
        </p:txBody>
      </p:sp>
      <p:sp>
        <p:nvSpPr>
          <p:cNvPr id="47" name="Text 44"/>
          <p:cNvSpPr/>
          <p:nvPr/>
        </p:nvSpPr>
        <p:spPr>
          <a:xfrm>
            <a:off x="6295868" y="2537520"/>
            <a:ext cx="8962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48" name="Text 45"/>
          <p:cNvSpPr/>
          <p:nvPr/>
        </p:nvSpPr>
        <p:spPr>
          <a:xfrm>
            <a:off x="6295868" y="2770882"/>
            <a:ext cx="8962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49" name="Text 46"/>
          <p:cNvSpPr/>
          <p:nvPr/>
        </p:nvSpPr>
        <p:spPr>
          <a:xfrm>
            <a:off x="6295868" y="3018532"/>
            <a:ext cx="8962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50" name="Text 47"/>
          <p:cNvSpPr/>
          <p:nvPr/>
        </p:nvSpPr>
        <p:spPr>
          <a:xfrm>
            <a:off x="6295868" y="3266182"/>
            <a:ext cx="8962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51" name="Text 48"/>
          <p:cNvSpPr/>
          <p:nvPr/>
        </p:nvSpPr>
        <p:spPr>
          <a:xfrm>
            <a:off x="6295868" y="3513832"/>
            <a:ext cx="8962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52" name="Text 49"/>
          <p:cNvSpPr/>
          <p:nvPr/>
        </p:nvSpPr>
        <p:spPr>
          <a:xfrm>
            <a:off x="6295868" y="3761482"/>
            <a:ext cx="8962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53" name="Text 50"/>
          <p:cNvSpPr/>
          <p:nvPr/>
        </p:nvSpPr>
        <p:spPr>
          <a:xfrm>
            <a:off x="6295868" y="4009132"/>
            <a:ext cx="8962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54" name="Text 51"/>
          <p:cNvSpPr/>
          <p:nvPr/>
        </p:nvSpPr>
        <p:spPr>
          <a:xfrm>
            <a:off x="1213549" y="250418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16" dirty="0"/>
          </a:p>
        </p:txBody>
      </p:sp>
      <p:sp>
        <p:nvSpPr>
          <p:cNvPr id="55" name="Text 52"/>
          <p:cNvSpPr/>
          <p:nvPr/>
        </p:nvSpPr>
        <p:spPr>
          <a:xfrm>
            <a:off x="1215916" y="268515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16" dirty="0"/>
          </a:p>
        </p:txBody>
      </p:sp>
      <p:sp>
        <p:nvSpPr>
          <p:cNvPr id="56" name="Text 53"/>
          <p:cNvSpPr/>
          <p:nvPr/>
        </p:nvSpPr>
        <p:spPr>
          <a:xfrm>
            <a:off x="1212287" y="286613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16" dirty="0"/>
          </a:p>
        </p:txBody>
      </p:sp>
      <p:sp>
        <p:nvSpPr>
          <p:cNvPr id="57" name="Text 54"/>
          <p:cNvSpPr/>
          <p:nvPr/>
        </p:nvSpPr>
        <p:spPr>
          <a:xfrm>
            <a:off x="1226170" y="304710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16" dirty="0"/>
          </a:p>
        </p:txBody>
      </p:sp>
      <p:sp>
        <p:nvSpPr>
          <p:cNvPr id="58" name="Text 55"/>
          <p:cNvSpPr/>
          <p:nvPr/>
        </p:nvSpPr>
        <p:spPr>
          <a:xfrm>
            <a:off x="1195408" y="322808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16" dirty="0"/>
          </a:p>
        </p:txBody>
      </p:sp>
      <p:sp>
        <p:nvSpPr>
          <p:cNvPr id="59" name="Text 56"/>
          <p:cNvSpPr/>
          <p:nvPr/>
        </p:nvSpPr>
        <p:spPr>
          <a:xfrm>
            <a:off x="1225065" y="3409057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16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8_Campa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81070" y="4153536"/>
            <a:ext cx="10650268" cy="523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Clave: Los números en el calendario cambian según qué tipo de cliente estamos llamando. Cuando trabajamos con gente que ya nos conoce (CP y Autogestión) los contactamos unas 4 veces mejor (73-79 %) que números nuevos en Masiva Voluntarios (19 %). Implicación: mejorar contactabilidad no es solo cuestión de horarios — es el tipo de base. Mejor calidad de números = mejores resultados.</a:t>
            </a:r>
            <a:endParaRPr lang="en-US" sz="960" dirty="0"/>
          </a:p>
        </p:txBody>
      </p:sp>
      <p:sp>
        <p:nvSpPr>
          <p:cNvPr id="4" name="Text 1"/>
          <p:cNvSpPr/>
          <p:nvPr/>
        </p:nvSpPr>
        <p:spPr>
          <a:xfrm>
            <a:off x="723882" y="3806171"/>
            <a:ext cx="675532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Las ventas en base (operativo) no incluyen campañas fuera de base como Microseguro Activo (</a:t>
            </a:r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1.462 pólizas</a:t>
            </a:r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). La liquidación consolida ambos orígenes.</a:t>
            </a:r>
            <a:endParaRPr lang="en-US" sz="720" dirty="0"/>
          </a:p>
        </p:txBody>
      </p:sp>
      <p:sp>
        <p:nvSpPr>
          <p:cNvPr id="5" name="Text 2"/>
          <p:cNvSpPr/>
          <p:nvPr/>
        </p:nvSpPr>
        <p:spPr>
          <a:xfrm>
            <a:off x="876278" y="2253596"/>
            <a:ext cx="3968918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Cruce con campañas: el mix explica gran parte de la mejora</a:t>
            </a:r>
            <a:endParaRPr lang="en-US" sz="1020" dirty="0"/>
          </a:p>
        </p:txBody>
      </p:sp>
      <p:sp>
        <p:nvSpPr>
          <p:cNvPr id="6" name="Text 3"/>
          <p:cNvSpPr/>
          <p:nvPr/>
        </p:nvSpPr>
        <p:spPr>
          <a:xfrm>
            <a:off x="571486" y="209550"/>
            <a:ext cx="3401477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y Conversión · 1S 2026</a:t>
            </a:r>
            <a:endParaRPr lang="en-US" sz="1260" dirty="0"/>
          </a:p>
        </p:txBody>
      </p:sp>
      <p:sp>
        <p:nvSpPr>
          <p:cNvPr id="7" name="Text 4"/>
          <p:cNvSpPr/>
          <p:nvPr/>
        </p:nvSpPr>
        <p:spPr>
          <a:xfrm>
            <a:off x="3552736" y="1489770"/>
            <a:ext cx="213897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Jun: 46,5 % (+56 % volumen gestionado)</a:t>
            </a:r>
            <a:endParaRPr lang="en-US" sz="864" dirty="0"/>
          </a:p>
        </p:txBody>
      </p:sp>
      <p:sp>
        <p:nvSpPr>
          <p:cNvPr id="8" name="Text 5"/>
          <p:cNvSpPr/>
          <p:nvPr/>
        </p:nvSpPr>
        <p:spPr>
          <a:xfrm>
            <a:off x="761981" y="1489770"/>
            <a:ext cx="182520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154.838 contactos en el semestre</a:t>
            </a:r>
            <a:endParaRPr lang="en-US" sz="864" dirty="0"/>
          </a:p>
        </p:txBody>
      </p:sp>
      <p:sp>
        <p:nvSpPr>
          <p:cNvPr id="9" name="Text 6"/>
          <p:cNvSpPr/>
          <p:nvPr/>
        </p:nvSpPr>
        <p:spPr>
          <a:xfrm>
            <a:off x="9134247" y="1489770"/>
            <a:ext cx="168527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Principal causa de no contacto</a:t>
            </a:r>
            <a:endParaRPr lang="en-US" sz="864" dirty="0"/>
          </a:p>
        </p:txBody>
      </p:sp>
      <p:sp>
        <p:nvSpPr>
          <p:cNvPr id="10" name="Text 7"/>
          <p:cNvSpPr/>
          <p:nvPr/>
        </p:nvSpPr>
        <p:spPr>
          <a:xfrm>
            <a:off x="761981" y="990600"/>
            <a:ext cx="215143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promedio (1S)</a:t>
            </a:r>
            <a:endParaRPr lang="en-US" sz="864" dirty="0"/>
          </a:p>
        </p:txBody>
      </p:sp>
      <p:sp>
        <p:nvSpPr>
          <p:cNvPr id="11" name="Text 8"/>
          <p:cNvSpPr/>
          <p:nvPr/>
        </p:nvSpPr>
        <p:spPr>
          <a:xfrm>
            <a:off x="6343491" y="1489770"/>
            <a:ext cx="1628639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Promedio ene–jun (7,5–11,2 %)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723882" y="2839384"/>
            <a:ext cx="395072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Bienvenidas Cuota Protegida</a:t>
            </a:r>
            <a:endParaRPr lang="en-US" sz="888" dirty="0"/>
          </a:p>
        </p:txBody>
      </p:sp>
      <p:sp>
        <p:nvSpPr>
          <p:cNvPr id="13" name="Text 10"/>
          <p:cNvSpPr/>
          <p:nvPr/>
        </p:nvSpPr>
        <p:spPr>
          <a:xfrm>
            <a:off x="6343491" y="990600"/>
            <a:ext cx="203753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Efectividad prom./contacto</a:t>
            </a:r>
            <a:endParaRPr lang="en-US" sz="864" dirty="0"/>
          </a:p>
        </p:txBody>
      </p:sp>
      <p:sp>
        <p:nvSpPr>
          <p:cNvPr id="14" name="Text 11"/>
          <p:cNvSpPr/>
          <p:nvPr/>
        </p:nvSpPr>
        <p:spPr>
          <a:xfrm>
            <a:off x="9134247" y="990600"/>
            <a:ext cx="172976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(semestre)</a:t>
            </a:r>
            <a:endParaRPr lang="en-US" sz="864" dirty="0"/>
          </a:p>
        </p:txBody>
      </p:sp>
      <p:sp>
        <p:nvSpPr>
          <p:cNvPr id="15" name="Text 12"/>
          <p:cNvSpPr/>
          <p:nvPr/>
        </p:nvSpPr>
        <p:spPr>
          <a:xfrm>
            <a:off x="723882" y="3334684"/>
            <a:ext cx="395072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Stock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847704" y="1842195"/>
            <a:ext cx="177692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Por mes </a:t>
            </a:r>
            <a:pPr algn="l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Por campaña</a:t>
            </a:r>
            <a:endParaRPr lang="en-US" sz="864" dirty="0"/>
          </a:p>
        </p:txBody>
      </p:sp>
      <p:sp>
        <p:nvSpPr>
          <p:cNvPr id="17" name="Text 14"/>
          <p:cNvSpPr/>
          <p:nvPr/>
        </p:nvSpPr>
        <p:spPr>
          <a:xfrm>
            <a:off x="723882" y="3582334"/>
            <a:ext cx="395072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Masiva Voluntarios</a:t>
            </a:r>
            <a:endParaRPr lang="en-US" sz="888" dirty="0"/>
          </a:p>
        </p:txBody>
      </p:sp>
      <p:sp>
        <p:nvSpPr>
          <p:cNvPr id="18" name="Text 15"/>
          <p:cNvSpPr/>
          <p:nvPr/>
        </p:nvSpPr>
        <p:spPr>
          <a:xfrm>
            <a:off x="4483660" y="2606021"/>
            <a:ext cx="260499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7014483" y="2606021"/>
            <a:ext cx="254659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Conv./contacto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723882" y="3087034"/>
            <a:ext cx="395072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Autogestión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3552736" y="990600"/>
            <a:ext cx="74222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Pico: mayo</a:t>
            </a:r>
            <a:endParaRPr lang="en-US" sz="864" dirty="0"/>
          </a:p>
        </p:txBody>
      </p:sp>
      <p:sp>
        <p:nvSpPr>
          <p:cNvPr id="22" name="Text 19"/>
          <p:cNvSpPr/>
          <p:nvPr/>
        </p:nvSpPr>
        <p:spPr>
          <a:xfrm>
            <a:off x="9503873" y="2844146"/>
            <a:ext cx="196394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Excelente</a:t>
            </a:r>
            <a:endParaRPr lang="en-US" sz="816" dirty="0"/>
          </a:p>
        </p:txBody>
      </p:sp>
      <p:sp>
        <p:nvSpPr>
          <p:cNvPr id="23" name="Text 20"/>
          <p:cNvSpPr/>
          <p:nvPr/>
        </p:nvSpPr>
        <p:spPr>
          <a:xfrm>
            <a:off x="9503873" y="3091796"/>
            <a:ext cx="196394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Excelente</a:t>
            </a:r>
            <a:endParaRPr lang="en-US" sz="816" dirty="0"/>
          </a:p>
        </p:txBody>
      </p:sp>
      <p:sp>
        <p:nvSpPr>
          <p:cNvPr id="24" name="Text 21"/>
          <p:cNvSpPr/>
          <p:nvPr/>
        </p:nvSpPr>
        <p:spPr>
          <a:xfrm>
            <a:off x="9503873" y="3339446"/>
            <a:ext cx="196394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Moderado</a:t>
            </a:r>
            <a:endParaRPr lang="en-US" sz="816" dirty="0"/>
          </a:p>
        </p:txBody>
      </p:sp>
      <p:sp>
        <p:nvSpPr>
          <p:cNvPr id="25" name="Text 22"/>
          <p:cNvSpPr/>
          <p:nvPr/>
        </p:nvSpPr>
        <p:spPr>
          <a:xfrm>
            <a:off x="723882" y="2606021"/>
            <a:ext cx="395072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Campaña</a:t>
            </a:r>
            <a:endParaRPr lang="en-US" sz="888" dirty="0"/>
          </a:p>
        </p:txBody>
      </p:sp>
      <p:sp>
        <p:nvSpPr>
          <p:cNvPr id="26" name="Text 23"/>
          <p:cNvSpPr/>
          <p:nvPr/>
        </p:nvSpPr>
        <p:spPr>
          <a:xfrm>
            <a:off x="9503873" y="2606021"/>
            <a:ext cx="196394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Perfil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7014483" y="2839384"/>
            <a:ext cx="254659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19,6 %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7014483" y="3087034"/>
            <a:ext cx="254659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26,3 %</a:t>
            </a:r>
            <a:endParaRPr lang="en-US" sz="888" dirty="0"/>
          </a:p>
        </p:txBody>
      </p:sp>
      <p:sp>
        <p:nvSpPr>
          <p:cNvPr id="29" name="Text 26"/>
          <p:cNvSpPr/>
          <p:nvPr/>
        </p:nvSpPr>
        <p:spPr>
          <a:xfrm>
            <a:off x="761981" y="1133475"/>
            <a:ext cx="947774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42,4 %</a:t>
            </a:r>
            <a:endParaRPr lang="en-US" sz="2280" dirty="0"/>
          </a:p>
        </p:txBody>
      </p:sp>
      <p:sp>
        <p:nvSpPr>
          <p:cNvPr id="30" name="Text 27"/>
          <p:cNvSpPr/>
          <p:nvPr/>
        </p:nvSpPr>
        <p:spPr>
          <a:xfrm>
            <a:off x="3552736" y="1133475"/>
            <a:ext cx="959763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64,9 %</a:t>
            </a:r>
            <a:endParaRPr lang="en-US" sz="2280" dirty="0"/>
          </a:p>
        </p:txBody>
      </p:sp>
      <p:sp>
        <p:nvSpPr>
          <p:cNvPr id="31" name="Text 28"/>
          <p:cNvSpPr/>
          <p:nvPr/>
        </p:nvSpPr>
        <p:spPr>
          <a:xfrm>
            <a:off x="7014483" y="3334684"/>
            <a:ext cx="254659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3,6 %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7014483" y="3582334"/>
            <a:ext cx="254659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1,5 %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6343491" y="1133475"/>
            <a:ext cx="784183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9,0 %</a:t>
            </a:r>
            <a:endParaRPr lang="en-US" sz="2280" dirty="0"/>
          </a:p>
        </p:txBody>
      </p:sp>
      <p:sp>
        <p:nvSpPr>
          <p:cNvPr id="34" name="Text 31"/>
          <p:cNvSpPr/>
          <p:nvPr/>
        </p:nvSpPr>
        <p:spPr>
          <a:xfrm>
            <a:off x="9134247" y="1133475"/>
            <a:ext cx="850755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~51 %</a:t>
            </a:r>
            <a:endParaRPr lang="en-US" sz="2280" dirty="0"/>
          </a:p>
        </p:txBody>
      </p:sp>
      <p:sp>
        <p:nvSpPr>
          <p:cNvPr id="35" name="Text 32"/>
          <p:cNvSpPr/>
          <p:nvPr/>
        </p:nvSpPr>
        <p:spPr>
          <a:xfrm>
            <a:off x="4483660" y="2844146"/>
            <a:ext cx="260499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79 %</a:t>
            </a:r>
            <a:endParaRPr lang="en-US" sz="816" dirty="0"/>
          </a:p>
        </p:txBody>
      </p:sp>
      <p:sp>
        <p:nvSpPr>
          <p:cNvPr id="36" name="Text 33"/>
          <p:cNvSpPr/>
          <p:nvPr/>
        </p:nvSpPr>
        <p:spPr>
          <a:xfrm>
            <a:off x="4483660" y="3091796"/>
            <a:ext cx="260499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73 %</a:t>
            </a:r>
            <a:endParaRPr lang="en-US" sz="816" dirty="0"/>
          </a:p>
        </p:txBody>
      </p:sp>
      <p:sp>
        <p:nvSpPr>
          <p:cNvPr id="37" name="Text 34"/>
          <p:cNvSpPr/>
          <p:nvPr/>
        </p:nvSpPr>
        <p:spPr>
          <a:xfrm>
            <a:off x="4483660" y="3339446"/>
            <a:ext cx="260499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52 %</a:t>
            </a:r>
            <a:endParaRPr lang="en-US" sz="816" dirty="0"/>
          </a:p>
        </p:txBody>
      </p:sp>
      <p:sp>
        <p:nvSpPr>
          <p:cNvPr id="38" name="Text 35"/>
          <p:cNvSpPr/>
          <p:nvPr/>
        </p:nvSpPr>
        <p:spPr>
          <a:xfrm>
            <a:off x="4483660" y="3587096"/>
            <a:ext cx="260499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19 %</a:t>
            </a:r>
            <a:endParaRPr lang="en-US" sz="816" dirty="0"/>
          </a:p>
        </p:txBody>
      </p:sp>
      <p:sp>
        <p:nvSpPr>
          <p:cNvPr id="39" name="Text 36"/>
          <p:cNvSpPr/>
          <p:nvPr/>
        </p:nvSpPr>
        <p:spPr>
          <a:xfrm>
            <a:off x="9503873" y="3587096"/>
            <a:ext cx="196394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Bajo</a:t>
            </a:r>
            <a:endParaRPr lang="en-US" sz="816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9_Resum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734007" y="4280595"/>
            <a:ext cx="4867957" cy="476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Del 57,6 % de "no contacto", al menos 69.740 llamadas (11,1 %) nunca se cursaron por fallas de red. Hipótesis a validar con Isaac: parte de ese insumo termina descartándose luego como "re-enviado" — cruce pendiente de confirmar registro por registro.</a:t>
            </a:r>
            <a:endParaRPr lang="en-US" sz="864" dirty="0"/>
          </a:p>
        </p:txBody>
      </p:sp>
      <p:sp>
        <p:nvSpPr>
          <p:cNvPr id="4" name="Text 1"/>
          <p:cNvSpPr/>
          <p:nvPr/>
        </p:nvSpPr>
        <p:spPr>
          <a:xfrm>
            <a:off x="1142971" y="5061645"/>
            <a:ext cx="4822682" cy="523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7A301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backup (Movistar) carga el 71 % del tráfico con la red menos estable de las dos: pierde 17 de cada 100 llamadas por congestión o rechazo de troncal, frente a 0,86 % en Tigo.</a:t>
            </a:r>
            <a:endParaRPr lang="en-US" sz="960" dirty="0"/>
          </a:p>
        </p:txBody>
      </p:sp>
      <p:sp>
        <p:nvSpPr>
          <p:cNvPr id="5" name="Text 2"/>
          <p:cNvSpPr/>
          <p:nvPr/>
        </p:nvSpPr>
        <p:spPr>
          <a:xfrm>
            <a:off x="6965358" y="3994845"/>
            <a:ext cx="385186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Estimación con la efectividad del semestre; validar con Isaac el período de la muestra.</a:t>
            </a:r>
            <a:endParaRPr lang="en-US" sz="720" dirty="0"/>
          </a:p>
        </p:txBody>
      </p:sp>
      <p:sp>
        <p:nvSpPr>
          <p:cNvPr id="6" name="Text 3"/>
          <p:cNvSpPr/>
          <p:nvPr/>
        </p:nvSpPr>
        <p:spPr>
          <a:xfrm>
            <a:off x="6505412" y="5154960"/>
            <a:ext cx="459378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Rebalancear troncales hacia Tigo en zonas periféricas (San Cristóbal, Ciudad Bolívar)</a:t>
            </a:r>
            <a:endParaRPr lang="en-US" sz="864" dirty="0"/>
          </a:p>
        </p:txBody>
      </p:sp>
      <p:sp>
        <p:nvSpPr>
          <p:cNvPr id="7" name="Text 4"/>
          <p:cNvSpPr/>
          <p:nvPr/>
        </p:nvSpPr>
        <p:spPr>
          <a:xfrm>
            <a:off x="6505412" y="5568107"/>
            <a:ext cx="409464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Enrutamiento dinámico: salida obligada por Tigo donde Movistar falla &gt;17 %</a:t>
            </a:r>
            <a:endParaRPr lang="en-US" sz="864" dirty="0"/>
          </a:p>
        </p:txBody>
      </p:sp>
      <p:sp>
        <p:nvSpPr>
          <p:cNvPr id="8" name="Text 5"/>
          <p:cNvSpPr/>
          <p:nvPr/>
        </p:nvSpPr>
        <p:spPr>
          <a:xfrm>
            <a:off x="6505412" y="5361533"/>
            <a:ext cx="357327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Auditoría formal a Movistar: códigos 34 (congestión) y 21 (rechazo)</a:t>
            </a:r>
            <a:endParaRPr lang="en-US" sz="864" dirty="0"/>
          </a:p>
        </p:txBody>
      </p:sp>
      <p:sp>
        <p:nvSpPr>
          <p:cNvPr id="9" name="Text 6"/>
          <p:cNvSpPr/>
          <p:nvPr/>
        </p:nvSpPr>
        <p:spPr>
          <a:xfrm>
            <a:off x="6467313" y="2804220"/>
            <a:ext cx="391260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Potencial de recuperación (si las caídas se cursan por Tigo)</a:t>
            </a:r>
            <a:endParaRPr lang="en-US" sz="1020" dirty="0"/>
          </a:p>
        </p:txBody>
      </p:sp>
      <p:sp>
        <p:nvSpPr>
          <p:cNvPr id="10" name="Text 7"/>
          <p:cNvSpPr/>
          <p:nvPr/>
        </p:nvSpPr>
        <p:spPr>
          <a:xfrm>
            <a:off x="6343491" y="1508820"/>
            <a:ext cx="2011508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11,1 % de las llamadas se pierden por infraestructura</a:t>
            </a:r>
            <a:endParaRPr lang="en-US" sz="864" dirty="0"/>
          </a:p>
        </p:txBody>
      </p:sp>
      <p:sp>
        <p:nvSpPr>
          <p:cNvPr id="11" name="Text 8"/>
          <p:cNvSpPr/>
          <p:nvPr/>
        </p:nvSpPr>
        <p:spPr>
          <a:xfrm>
            <a:off x="9134247" y="1508820"/>
            <a:ext cx="2486505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Congestión 9,96 % + rechazo 7,13 % (Tigo: 0,86 %)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571486" y="209550"/>
            <a:ext cx="3892408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Infraestructura Telefónica · Tigo vs. Movistar</a:t>
            </a:r>
            <a:endParaRPr lang="en-US" sz="1260" dirty="0"/>
          </a:p>
        </p:txBody>
      </p:sp>
      <p:sp>
        <p:nvSpPr>
          <p:cNvPr id="13" name="Text 10"/>
          <p:cNvSpPr/>
          <p:nvPr/>
        </p:nvSpPr>
        <p:spPr>
          <a:xfrm>
            <a:off x="876278" y="2804220"/>
            <a:ext cx="3013087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Tigo vs. Movistar · volumen, contacto y caídas</a:t>
            </a:r>
            <a:endParaRPr lang="en-US" sz="1020" dirty="0"/>
          </a:p>
        </p:txBody>
      </p:sp>
      <p:sp>
        <p:nvSpPr>
          <p:cNvPr id="14" name="Text 11"/>
          <p:cNvSpPr/>
          <p:nvPr/>
        </p:nvSpPr>
        <p:spPr>
          <a:xfrm>
            <a:off x="847704" y="2223195"/>
            <a:ext cx="285770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Tigo vs. Movistar </a:t>
            </a:r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Zonas críticas por barrio</a:t>
            </a:r>
            <a:endParaRPr lang="en-US" sz="864" dirty="0"/>
          </a:p>
        </p:txBody>
      </p:sp>
      <p:sp>
        <p:nvSpPr>
          <p:cNvPr id="15" name="Text 12"/>
          <p:cNvSpPr/>
          <p:nvPr/>
        </p:nvSpPr>
        <p:spPr>
          <a:xfrm>
            <a:off x="6448264" y="4964460"/>
            <a:ext cx="28666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ACCIONES PROPUESTAS (frente tecnológico 2S)</a:t>
            </a:r>
            <a:endParaRPr lang="en-US" sz="816" dirty="0"/>
          </a:p>
        </p:txBody>
      </p:sp>
      <p:sp>
        <p:nvSpPr>
          <p:cNvPr id="16" name="Text 13"/>
          <p:cNvSpPr/>
          <p:nvPr/>
        </p:nvSpPr>
        <p:spPr>
          <a:xfrm>
            <a:off x="3552736" y="1508820"/>
            <a:ext cx="228032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Consistente con el 42,4 % operativo del 1S</a:t>
            </a:r>
            <a:endParaRPr lang="en-US" sz="864" dirty="0"/>
          </a:p>
        </p:txBody>
      </p:sp>
      <p:sp>
        <p:nvSpPr>
          <p:cNvPr id="17" name="Text 14"/>
          <p:cNvSpPr/>
          <p:nvPr/>
        </p:nvSpPr>
        <p:spPr>
          <a:xfrm>
            <a:off x="10201864" y="3574405"/>
            <a:ext cx="1037851" cy="234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ventas, a la efectividad histórica (9,0 %)</a:t>
            </a:r>
            <a:endParaRPr lang="en-US" sz="720" dirty="0"/>
          </a:p>
        </p:txBody>
      </p:sp>
      <p:sp>
        <p:nvSpPr>
          <p:cNvPr id="18" name="Text 15"/>
          <p:cNvSpPr/>
          <p:nvPr/>
        </p:nvSpPr>
        <p:spPr>
          <a:xfrm>
            <a:off x="761981" y="1508820"/>
            <a:ext cx="216074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13.516 teléfonos · 972 barrios de Bogotá</a:t>
            </a:r>
            <a:endParaRPr lang="en-US" sz="864" dirty="0"/>
          </a:p>
        </p:txBody>
      </p:sp>
      <p:sp>
        <p:nvSpPr>
          <p:cNvPr id="19" name="Text 16"/>
          <p:cNvSpPr/>
          <p:nvPr/>
        </p:nvSpPr>
        <p:spPr>
          <a:xfrm>
            <a:off x="6478968" y="3574405"/>
            <a:ext cx="1165947" cy="234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caídas de troncal (backup Movistar)</a:t>
            </a:r>
            <a:endParaRPr lang="en-US" sz="720" dirty="0"/>
          </a:p>
        </p:txBody>
      </p:sp>
      <p:sp>
        <p:nvSpPr>
          <p:cNvPr id="20" name="Text 17"/>
          <p:cNvSpPr/>
          <p:nvPr/>
        </p:nvSpPr>
        <p:spPr>
          <a:xfrm>
            <a:off x="8202307" y="3574405"/>
            <a:ext cx="1377969" cy="234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contactos, a la tasa de Tigo (71 %)</a:t>
            </a:r>
            <a:endParaRPr lang="en-US" sz="720" dirty="0"/>
          </a:p>
        </p:txBody>
      </p:sp>
      <p:sp>
        <p:nvSpPr>
          <p:cNvPr id="21" name="Text 18"/>
          <p:cNvSpPr/>
          <p:nvPr/>
        </p:nvSpPr>
        <p:spPr>
          <a:xfrm>
            <a:off x="723882" y="4032945"/>
            <a:ext cx="5480358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Movistar </a:t>
            </a:r>
            <a:pPr algn="l" indent="0" marL="0">
              <a:buNone/>
            </a:pPr>
            <a:r>
              <a:rPr lang="en-US" sz="79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(backup) </a:t>
            </a:r>
            <a:pPr algn="l" indent="0" marL="0">
              <a:buNone/>
            </a:pPr>
            <a:r>
              <a:rPr lang="en-US" sz="81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448.057 llamadas</a:t>
            </a:r>
            <a:endParaRPr lang="en-US" sz="1032" dirty="0"/>
          </a:p>
        </p:txBody>
      </p:sp>
      <p:sp>
        <p:nvSpPr>
          <p:cNvPr id="22" name="Text 19"/>
          <p:cNvSpPr/>
          <p:nvPr/>
        </p:nvSpPr>
        <p:spPr>
          <a:xfrm>
            <a:off x="723882" y="3080445"/>
            <a:ext cx="5480358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Tigo </a:t>
            </a:r>
            <a:pPr algn="l" indent="0" marL="0">
              <a:buNone/>
            </a:pPr>
            <a:r>
              <a:rPr lang="en-US" sz="79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(principal) </a:t>
            </a:r>
            <a:pPr algn="l" indent="0" marL="0">
              <a:buNone/>
            </a:pPr>
            <a:r>
              <a:rPr lang="en-US" sz="81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173.548 llamadas</a:t>
            </a:r>
            <a:endParaRPr lang="en-US" sz="1032" dirty="0"/>
          </a:p>
        </p:txBody>
      </p:sp>
      <p:sp>
        <p:nvSpPr>
          <p:cNvPr id="23" name="Text 20"/>
          <p:cNvSpPr/>
          <p:nvPr/>
        </p:nvSpPr>
        <p:spPr>
          <a:xfrm>
            <a:off x="3552736" y="1009650"/>
            <a:ext cx="200425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telefónica</a:t>
            </a:r>
            <a:endParaRPr lang="en-US" sz="864" dirty="0"/>
          </a:p>
        </p:txBody>
      </p:sp>
      <p:sp>
        <p:nvSpPr>
          <p:cNvPr id="24" name="Text 21"/>
          <p:cNvSpPr/>
          <p:nvPr/>
        </p:nvSpPr>
        <p:spPr>
          <a:xfrm>
            <a:off x="9134247" y="1009650"/>
            <a:ext cx="1652145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Fallas de red Movistar</a:t>
            </a:r>
            <a:endParaRPr lang="en-US" sz="864" dirty="0"/>
          </a:p>
        </p:txBody>
      </p:sp>
      <p:sp>
        <p:nvSpPr>
          <p:cNvPr id="25" name="Text 22"/>
          <p:cNvSpPr/>
          <p:nvPr/>
        </p:nvSpPr>
        <p:spPr>
          <a:xfrm>
            <a:off x="761981" y="1009650"/>
            <a:ext cx="1524995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Llamadas analizadas</a:t>
            </a:r>
            <a:endParaRPr lang="en-US" sz="864" dirty="0"/>
          </a:p>
        </p:txBody>
      </p:sp>
      <p:sp>
        <p:nvSpPr>
          <p:cNvPr id="26" name="Text 23"/>
          <p:cNvSpPr/>
          <p:nvPr/>
        </p:nvSpPr>
        <p:spPr>
          <a:xfrm>
            <a:off x="6343491" y="1009650"/>
            <a:ext cx="131139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Caídas de troncal</a:t>
            </a:r>
            <a:endParaRPr lang="en-US" sz="864" dirty="0"/>
          </a:p>
        </p:txBody>
      </p:sp>
      <p:sp>
        <p:nvSpPr>
          <p:cNvPr id="27" name="Text 24"/>
          <p:cNvSpPr/>
          <p:nvPr/>
        </p:nvSpPr>
        <p:spPr>
          <a:xfrm>
            <a:off x="8510395" y="3235375"/>
            <a:ext cx="7619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Recuperable</a:t>
            </a:r>
            <a:endParaRPr lang="en-US" sz="720" dirty="0"/>
          </a:p>
        </p:txBody>
      </p:sp>
      <p:sp>
        <p:nvSpPr>
          <p:cNvPr id="28" name="Text 25"/>
          <p:cNvSpPr/>
          <p:nvPr/>
        </p:nvSpPr>
        <p:spPr>
          <a:xfrm>
            <a:off x="839595" y="3661470"/>
            <a:ext cx="62721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Caídas red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839595" y="4613970"/>
            <a:ext cx="62721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Caídas red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0418780" y="3235375"/>
            <a:ext cx="6038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Potencial</a:t>
            </a:r>
            <a:endParaRPr lang="en-US" sz="720" dirty="0"/>
          </a:p>
        </p:txBody>
      </p:sp>
      <p:sp>
        <p:nvSpPr>
          <p:cNvPr id="31" name="Text 28"/>
          <p:cNvSpPr/>
          <p:nvPr/>
        </p:nvSpPr>
        <p:spPr>
          <a:xfrm>
            <a:off x="923836" y="3347145"/>
            <a:ext cx="54297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923836" y="4299645"/>
            <a:ext cx="54297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8519230" y="3349675"/>
            <a:ext cx="744271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≈ 49.500</a:t>
            </a:r>
            <a:endParaRPr lang="en-US" sz="1320" dirty="0"/>
          </a:p>
        </p:txBody>
      </p:sp>
      <p:sp>
        <p:nvSpPr>
          <p:cNvPr id="34" name="Text 31"/>
          <p:cNvSpPr/>
          <p:nvPr/>
        </p:nvSpPr>
        <p:spPr>
          <a:xfrm>
            <a:off x="761981" y="1152525"/>
            <a:ext cx="1195132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628.406</a:t>
            </a:r>
            <a:endParaRPr lang="en-US" sz="2280" dirty="0"/>
          </a:p>
        </p:txBody>
      </p:sp>
      <p:sp>
        <p:nvSpPr>
          <p:cNvPr id="35" name="Text 32"/>
          <p:cNvSpPr/>
          <p:nvPr/>
        </p:nvSpPr>
        <p:spPr>
          <a:xfrm>
            <a:off x="10404108" y="3349675"/>
            <a:ext cx="633213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≈ 4.450</a:t>
            </a:r>
            <a:endParaRPr lang="en-US" sz="1320" dirty="0"/>
          </a:p>
        </p:txBody>
      </p:sp>
      <p:sp>
        <p:nvSpPr>
          <p:cNvPr id="36" name="Text 33"/>
          <p:cNvSpPr/>
          <p:nvPr/>
        </p:nvSpPr>
        <p:spPr>
          <a:xfrm>
            <a:off x="3552736" y="1152525"/>
            <a:ext cx="956608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38,9 %</a:t>
            </a:r>
            <a:endParaRPr lang="en-US" sz="2280" dirty="0"/>
          </a:p>
        </p:txBody>
      </p:sp>
      <p:sp>
        <p:nvSpPr>
          <p:cNvPr id="37" name="Text 34"/>
          <p:cNvSpPr/>
          <p:nvPr/>
        </p:nvSpPr>
        <p:spPr>
          <a:xfrm>
            <a:off x="6343491" y="1152525"/>
            <a:ext cx="985635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69.740</a:t>
            </a:r>
            <a:endParaRPr lang="en-US" sz="2280" dirty="0"/>
          </a:p>
        </p:txBody>
      </p:sp>
      <p:sp>
        <p:nvSpPr>
          <p:cNvPr id="38" name="Text 35"/>
          <p:cNvSpPr/>
          <p:nvPr/>
        </p:nvSpPr>
        <p:spPr>
          <a:xfrm>
            <a:off x="9134247" y="1152525"/>
            <a:ext cx="893980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17,1 %</a:t>
            </a:r>
            <a:endParaRPr lang="en-US" sz="2280" dirty="0"/>
          </a:p>
        </p:txBody>
      </p:sp>
      <p:sp>
        <p:nvSpPr>
          <p:cNvPr id="39" name="Text 36"/>
          <p:cNvSpPr/>
          <p:nvPr/>
        </p:nvSpPr>
        <p:spPr>
          <a:xfrm>
            <a:off x="5517899" y="3347145"/>
            <a:ext cx="358879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71,0 %</a:t>
            </a:r>
            <a:endParaRPr lang="en-US" sz="864" dirty="0"/>
          </a:p>
        </p:txBody>
      </p:sp>
      <p:sp>
        <p:nvSpPr>
          <p:cNvPr id="40" name="Text 37"/>
          <p:cNvSpPr/>
          <p:nvPr/>
        </p:nvSpPr>
        <p:spPr>
          <a:xfrm>
            <a:off x="5511432" y="4299645"/>
            <a:ext cx="36534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25,6 %</a:t>
            </a:r>
            <a:endParaRPr lang="en-US" sz="864" dirty="0"/>
          </a:p>
        </p:txBody>
      </p:sp>
      <p:sp>
        <p:nvSpPr>
          <p:cNvPr id="41" name="Text 38"/>
          <p:cNvSpPr/>
          <p:nvPr/>
        </p:nvSpPr>
        <p:spPr>
          <a:xfrm>
            <a:off x="5532728" y="4613970"/>
            <a:ext cx="34405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15,1 %</a:t>
            </a:r>
            <a:endParaRPr lang="en-US" sz="864" dirty="0"/>
          </a:p>
        </p:txBody>
      </p:sp>
      <p:sp>
        <p:nvSpPr>
          <p:cNvPr id="42" name="Text 39"/>
          <p:cNvSpPr/>
          <p:nvPr/>
        </p:nvSpPr>
        <p:spPr>
          <a:xfrm>
            <a:off x="6772705" y="3349675"/>
            <a:ext cx="578472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69.740</a:t>
            </a:r>
            <a:endParaRPr lang="en-US" sz="1320" dirty="0"/>
          </a:p>
        </p:txBody>
      </p:sp>
      <p:sp>
        <p:nvSpPr>
          <p:cNvPr id="43" name="Text 40"/>
          <p:cNvSpPr/>
          <p:nvPr/>
        </p:nvSpPr>
        <p:spPr>
          <a:xfrm>
            <a:off x="5589677" y="3661470"/>
            <a:ext cx="28710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1,3 %</a:t>
            </a:r>
            <a:endParaRPr lang="en-US" sz="864" dirty="0"/>
          </a:p>
        </p:txBody>
      </p:sp>
      <p:sp>
        <p:nvSpPr>
          <p:cNvPr id="44" name="Text 41"/>
          <p:cNvSpPr/>
          <p:nvPr/>
        </p:nvSpPr>
        <p:spPr>
          <a:xfrm>
            <a:off x="6942606" y="3235375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Hoy</a:t>
            </a:r>
            <a:endParaRPr lang="en-US" sz="720" dirty="0"/>
          </a:p>
        </p:txBody>
      </p:sp>
      <p:sp>
        <p:nvSpPr>
          <p:cNvPr id="45" name="Text 42"/>
          <p:cNvSpPr/>
          <p:nvPr/>
        </p:nvSpPr>
        <p:spPr>
          <a:xfrm>
            <a:off x="7885163" y="3428107"/>
            <a:ext cx="274320" cy="215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4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→</a:t>
            </a:r>
            <a:endParaRPr lang="en-US" sz="1440" dirty="0"/>
          </a:p>
        </p:txBody>
      </p:sp>
      <p:sp>
        <p:nvSpPr>
          <p:cNvPr id="46" name="Text 43"/>
          <p:cNvSpPr/>
          <p:nvPr/>
        </p:nvSpPr>
        <p:spPr>
          <a:xfrm>
            <a:off x="9714662" y="3428107"/>
            <a:ext cx="274320" cy="215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4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→</a:t>
            </a:r>
            <a:endParaRPr lang="en-US" sz="144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9_Zon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172046" y="3264761"/>
            <a:ext cx="4571065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Ciudad Bolívar — 28.819 llamadas (Tigo 72,4 % contacto · Movistar 25,7 % contacto)</a:t>
            </a:r>
            <a:endParaRPr lang="en-US" sz="864" dirty="0"/>
          </a:p>
        </p:txBody>
      </p:sp>
      <p:sp>
        <p:nvSpPr>
          <p:cNvPr id="4" name="Text 1"/>
          <p:cNvSpPr/>
          <p:nvPr/>
        </p:nvSpPr>
        <p:spPr>
          <a:xfrm>
            <a:off x="781030" y="3264761"/>
            <a:ext cx="4476412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San Cristóbal — 32.619 llamadas (Tigo 71,9 % contacto · Movistar 24,1 % contacto)</a:t>
            </a:r>
            <a:endParaRPr lang="en-US" sz="864" dirty="0"/>
          </a:p>
        </p:txBody>
      </p:sp>
      <p:sp>
        <p:nvSpPr>
          <p:cNvPr id="5" name="Text 2"/>
          <p:cNvSpPr/>
          <p:nvPr/>
        </p:nvSpPr>
        <p:spPr>
          <a:xfrm>
            <a:off x="6343491" y="1508820"/>
            <a:ext cx="2011508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11,1 % de las llamadas se pierden por infraestructura</a:t>
            </a:r>
            <a:endParaRPr lang="en-US" sz="864" dirty="0"/>
          </a:p>
        </p:txBody>
      </p:sp>
      <p:sp>
        <p:nvSpPr>
          <p:cNvPr id="6" name="Text 3"/>
          <p:cNvSpPr/>
          <p:nvPr/>
        </p:nvSpPr>
        <p:spPr>
          <a:xfrm>
            <a:off x="933427" y="2883761"/>
            <a:ext cx="3268964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Zonas críticas de Bogotá · fallas de red por barrio</a:t>
            </a:r>
            <a:endParaRPr lang="en-US" sz="1020" dirty="0"/>
          </a:p>
        </p:txBody>
      </p:sp>
      <p:sp>
        <p:nvSpPr>
          <p:cNvPr id="7" name="Text 4"/>
          <p:cNvSpPr/>
          <p:nvPr/>
        </p:nvSpPr>
        <p:spPr>
          <a:xfrm>
            <a:off x="9134247" y="1508820"/>
            <a:ext cx="2486505" cy="274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Congestión 9,96 % + rechazo 7,13 % (Tigo: 0,86 %)</a:t>
            </a:r>
            <a:endParaRPr lang="en-US" sz="864" dirty="0"/>
          </a:p>
        </p:txBody>
      </p:sp>
      <p:sp>
        <p:nvSpPr>
          <p:cNvPr id="8" name="Text 5"/>
          <p:cNvSpPr/>
          <p:nvPr/>
        </p:nvSpPr>
        <p:spPr>
          <a:xfrm>
            <a:off x="571486" y="209550"/>
            <a:ext cx="3892408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Infraestructura Telefónica · Tigo vs. Movistar</a:t>
            </a:r>
            <a:endParaRPr lang="en-US" sz="1260" dirty="0"/>
          </a:p>
        </p:txBody>
      </p:sp>
      <p:sp>
        <p:nvSpPr>
          <p:cNvPr id="9" name="Text 6"/>
          <p:cNvSpPr/>
          <p:nvPr/>
        </p:nvSpPr>
        <p:spPr>
          <a:xfrm>
            <a:off x="847704" y="2223195"/>
            <a:ext cx="285770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Tigo vs. Movistar </a:t>
            </a:r>
            <a:pPr algn="l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Zonas críticas por barrio</a:t>
            </a:r>
            <a:endParaRPr lang="en-US" sz="864" dirty="0"/>
          </a:p>
        </p:txBody>
      </p:sp>
      <p:sp>
        <p:nvSpPr>
          <p:cNvPr id="10" name="Text 7"/>
          <p:cNvSpPr/>
          <p:nvPr/>
        </p:nvSpPr>
        <p:spPr>
          <a:xfrm>
            <a:off x="3552736" y="1508820"/>
            <a:ext cx="228032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Consistente con el 42,4 % operativo del 1S</a:t>
            </a:r>
            <a:endParaRPr lang="en-US" sz="864" dirty="0"/>
          </a:p>
        </p:txBody>
      </p:sp>
      <p:sp>
        <p:nvSpPr>
          <p:cNvPr id="11" name="Text 8"/>
          <p:cNvSpPr/>
          <p:nvPr/>
        </p:nvSpPr>
        <p:spPr>
          <a:xfrm>
            <a:off x="761981" y="1508820"/>
            <a:ext cx="216074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13.516 teléfonos · 972 barrios de Bogotá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3552736" y="1009650"/>
            <a:ext cx="200425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telefónica</a:t>
            </a:r>
            <a:endParaRPr lang="en-US" sz="864" dirty="0"/>
          </a:p>
        </p:txBody>
      </p:sp>
      <p:sp>
        <p:nvSpPr>
          <p:cNvPr id="13" name="Text 10"/>
          <p:cNvSpPr/>
          <p:nvPr/>
        </p:nvSpPr>
        <p:spPr>
          <a:xfrm>
            <a:off x="9134247" y="1009650"/>
            <a:ext cx="1652145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Fallas de red Movistar</a:t>
            </a:r>
            <a:endParaRPr lang="en-US" sz="864" dirty="0"/>
          </a:p>
        </p:txBody>
      </p:sp>
      <p:sp>
        <p:nvSpPr>
          <p:cNvPr id="14" name="Text 11"/>
          <p:cNvSpPr/>
          <p:nvPr/>
        </p:nvSpPr>
        <p:spPr>
          <a:xfrm>
            <a:off x="781030" y="3879124"/>
            <a:ext cx="1776774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Gloria Occidental</a:t>
            </a:r>
            <a:endParaRPr lang="en-US" sz="840" dirty="0"/>
          </a:p>
        </p:txBody>
      </p:sp>
      <p:sp>
        <p:nvSpPr>
          <p:cNvPr id="15" name="Text 12"/>
          <p:cNvSpPr/>
          <p:nvPr/>
        </p:nvSpPr>
        <p:spPr>
          <a:xfrm>
            <a:off x="761981" y="1009650"/>
            <a:ext cx="1524995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Llamadas analizadas</a:t>
            </a:r>
            <a:endParaRPr lang="en-US" sz="864" dirty="0"/>
          </a:p>
        </p:txBody>
      </p:sp>
      <p:sp>
        <p:nvSpPr>
          <p:cNvPr id="16" name="Text 13"/>
          <p:cNvSpPr/>
          <p:nvPr/>
        </p:nvSpPr>
        <p:spPr>
          <a:xfrm>
            <a:off x="6172046" y="3879124"/>
            <a:ext cx="1639427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Arborizadora Alta</a:t>
            </a:r>
            <a:endParaRPr lang="en-US" sz="840" dirty="0"/>
          </a:p>
        </p:txBody>
      </p:sp>
      <p:sp>
        <p:nvSpPr>
          <p:cNvPr id="17" name="Text 14"/>
          <p:cNvSpPr/>
          <p:nvPr/>
        </p:nvSpPr>
        <p:spPr>
          <a:xfrm>
            <a:off x="6343491" y="1009650"/>
            <a:ext cx="131139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Caídas de troncal</a:t>
            </a:r>
            <a:endParaRPr lang="en-US" sz="864" dirty="0"/>
          </a:p>
        </p:txBody>
      </p:sp>
      <p:sp>
        <p:nvSpPr>
          <p:cNvPr id="18" name="Text 15"/>
          <p:cNvSpPr/>
          <p:nvPr/>
        </p:nvSpPr>
        <p:spPr>
          <a:xfrm>
            <a:off x="781030" y="4222024"/>
            <a:ext cx="1776774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Bello Horizonte</a:t>
            </a:r>
            <a:endParaRPr lang="en-US" sz="840" dirty="0"/>
          </a:p>
        </p:txBody>
      </p:sp>
      <p:sp>
        <p:nvSpPr>
          <p:cNvPr id="19" name="Text 16"/>
          <p:cNvSpPr/>
          <p:nvPr/>
        </p:nvSpPr>
        <p:spPr>
          <a:xfrm>
            <a:off x="4453035" y="3550511"/>
            <a:ext cx="1566615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Movistar caída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9784727" y="3550511"/>
            <a:ext cx="1625938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Movistar caída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6172046" y="4222024"/>
            <a:ext cx="1639427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Mochuelo</a:t>
            </a:r>
            <a:endParaRPr lang="en-US" sz="840" dirty="0"/>
          </a:p>
        </p:txBody>
      </p:sp>
      <p:sp>
        <p:nvSpPr>
          <p:cNvPr id="22" name="Text 19"/>
          <p:cNvSpPr/>
          <p:nvPr/>
        </p:nvSpPr>
        <p:spPr>
          <a:xfrm>
            <a:off x="3269745" y="3550511"/>
            <a:ext cx="1228919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Tigo caída</a:t>
            </a:r>
            <a:endParaRPr lang="en-US" sz="888" dirty="0"/>
          </a:p>
        </p:txBody>
      </p:sp>
      <p:sp>
        <p:nvSpPr>
          <p:cNvPr id="23" name="Text 20"/>
          <p:cNvSpPr/>
          <p:nvPr/>
        </p:nvSpPr>
        <p:spPr>
          <a:xfrm>
            <a:off x="8556412" y="3550511"/>
            <a:ext cx="1275672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Tigo caída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781030" y="4564924"/>
            <a:ext cx="1776774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Calvo Sur</a:t>
            </a:r>
            <a:endParaRPr lang="en-US" sz="840" dirty="0"/>
          </a:p>
        </p:txBody>
      </p:sp>
      <p:sp>
        <p:nvSpPr>
          <p:cNvPr id="25" name="Text 22"/>
          <p:cNvSpPr/>
          <p:nvPr/>
        </p:nvSpPr>
        <p:spPr>
          <a:xfrm>
            <a:off x="6172046" y="4564924"/>
            <a:ext cx="1639427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Tesoro</a:t>
            </a:r>
            <a:endParaRPr lang="en-US" sz="840" dirty="0"/>
          </a:p>
        </p:txBody>
      </p:sp>
      <p:sp>
        <p:nvSpPr>
          <p:cNvPr id="26" name="Text 23"/>
          <p:cNvSpPr/>
          <p:nvPr/>
        </p:nvSpPr>
        <p:spPr>
          <a:xfrm>
            <a:off x="761981" y="1152525"/>
            <a:ext cx="1195132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628.406</a:t>
            </a:r>
            <a:endParaRPr lang="en-US" sz="2280" dirty="0"/>
          </a:p>
        </p:txBody>
      </p:sp>
      <p:sp>
        <p:nvSpPr>
          <p:cNvPr id="27" name="Text 24"/>
          <p:cNvSpPr/>
          <p:nvPr/>
        </p:nvSpPr>
        <p:spPr>
          <a:xfrm>
            <a:off x="781030" y="3550511"/>
            <a:ext cx="1776774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Barrio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4453035" y="3883886"/>
            <a:ext cx="1566615" cy="123825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15,6 %</a:t>
            </a:r>
            <a:endParaRPr lang="en-US" sz="816" dirty="0"/>
          </a:p>
        </p:txBody>
      </p:sp>
      <p:sp>
        <p:nvSpPr>
          <p:cNvPr id="29" name="Text 26"/>
          <p:cNvSpPr/>
          <p:nvPr/>
        </p:nvSpPr>
        <p:spPr>
          <a:xfrm>
            <a:off x="4453035" y="4226786"/>
            <a:ext cx="1566615" cy="123825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17,6 %</a:t>
            </a:r>
            <a:endParaRPr lang="en-US" sz="816" dirty="0"/>
          </a:p>
        </p:txBody>
      </p:sp>
      <p:sp>
        <p:nvSpPr>
          <p:cNvPr id="30" name="Text 27"/>
          <p:cNvSpPr/>
          <p:nvPr/>
        </p:nvSpPr>
        <p:spPr>
          <a:xfrm>
            <a:off x="4453035" y="4569686"/>
            <a:ext cx="1566615" cy="123825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19,0 %</a:t>
            </a:r>
            <a:endParaRPr lang="en-US" sz="816" dirty="0"/>
          </a:p>
        </p:txBody>
      </p:sp>
      <p:sp>
        <p:nvSpPr>
          <p:cNvPr id="31" name="Text 28"/>
          <p:cNvSpPr/>
          <p:nvPr/>
        </p:nvSpPr>
        <p:spPr>
          <a:xfrm>
            <a:off x="6172046" y="3550511"/>
            <a:ext cx="1639427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Barrio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9784727" y="3883886"/>
            <a:ext cx="1625938" cy="123825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15,0 %</a:t>
            </a:r>
            <a:endParaRPr lang="en-US" sz="816" dirty="0"/>
          </a:p>
        </p:txBody>
      </p:sp>
      <p:sp>
        <p:nvSpPr>
          <p:cNvPr id="33" name="Text 30"/>
          <p:cNvSpPr/>
          <p:nvPr/>
        </p:nvSpPr>
        <p:spPr>
          <a:xfrm>
            <a:off x="9784727" y="4226786"/>
            <a:ext cx="1625938" cy="123825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20,9 %</a:t>
            </a:r>
            <a:endParaRPr lang="en-US" sz="816" dirty="0"/>
          </a:p>
        </p:txBody>
      </p:sp>
      <p:sp>
        <p:nvSpPr>
          <p:cNvPr id="34" name="Text 31"/>
          <p:cNvSpPr/>
          <p:nvPr/>
        </p:nvSpPr>
        <p:spPr>
          <a:xfrm>
            <a:off x="9784727" y="4569686"/>
            <a:ext cx="1625938" cy="123825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19,4 %</a:t>
            </a:r>
            <a:endParaRPr lang="en-US" sz="816" dirty="0"/>
          </a:p>
        </p:txBody>
      </p:sp>
      <p:sp>
        <p:nvSpPr>
          <p:cNvPr id="35" name="Text 32"/>
          <p:cNvSpPr/>
          <p:nvPr/>
        </p:nvSpPr>
        <p:spPr>
          <a:xfrm>
            <a:off x="3552736" y="1152525"/>
            <a:ext cx="956608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38,9 %</a:t>
            </a:r>
            <a:endParaRPr lang="en-US" sz="2280" dirty="0"/>
          </a:p>
        </p:txBody>
      </p:sp>
      <p:sp>
        <p:nvSpPr>
          <p:cNvPr id="36" name="Text 33"/>
          <p:cNvSpPr/>
          <p:nvPr/>
        </p:nvSpPr>
        <p:spPr>
          <a:xfrm>
            <a:off x="6343491" y="1152525"/>
            <a:ext cx="985635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69.740</a:t>
            </a:r>
            <a:endParaRPr lang="en-US" sz="2280" dirty="0"/>
          </a:p>
        </p:txBody>
      </p:sp>
      <p:sp>
        <p:nvSpPr>
          <p:cNvPr id="37" name="Text 34"/>
          <p:cNvSpPr/>
          <p:nvPr/>
        </p:nvSpPr>
        <p:spPr>
          <a:xfrm>
            <a:off x="9134247" y="1152525"/>
            <a:ext cx="893980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17,1 %</a:t>
            </a:r>
            <a:endParaRPr lang="en-US" sz="2280" dirty="0"/>
          </a:p>
        </p:txBody>
      </p:sp>
      <p:sp>
        <p:nvSpPr>
          <p:cNvPr id="38" name="Text 35"/>
          <p:cNvSpPr/>
          <p:nvPr/>
        </p:nvSpPr>
        <p:spPr>
          <a:xfrm>
            <a:off x="2482070" y="3550511"/>
            <a:ext cx="823469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Llam.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2482070" y="3879124"/>
            <a:ext cx="823469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3.346</a:t>
            </a:r>
            <a:endParaRPr lang="en-US" sz="840" dirty="0"/>
          </a:p>
        </p:txBody>
      </p:sp>
      <p:sp>
        <p:nvSpPr>
          <p:cNvPr id="40" name="Text 37"/>
          <p:cNvSpPr/>
          <p:nvPr/>
        </p:nvSpPr>
        <p:spPr>
          <a:xfrm>
            <a:off x="3269745" y="3879124"/>
            <a:ext cx="1228919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4,1 %</a:t>
            </a:r>
            <a:endParaRPr lang="en-US" sz="840" dirty="0"/>
          </a:p>
        </p:txBody>
      </p:sp>
      <p:sp>
        <p:nvSpPr>
          <p:cNvPr id="41" name="Text 38"/>
          <p:cNvSpPr/>
          <p:nvPr/>
        </p:nvSpPr>
        <p:spPr>
          <a:xfrm>
            <a:off x="2482070" y="4222024"/>
            <a:ext cx="823469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2.384</a:t>
            </a:r>
            <a:endParaRPr lang="en-US" sz="840" dirty="0"/>
          </a:p>
        </p:txBody>
      </p:sp>
      <p:sp>
        <p:nvSpPr>
          <p:cNvPr id="42" name="Text 39"/>
          <p:cNvSpPr/>
          <p:nvPr/>
        </p:nvSpPr>
        <p:spPr>
          <a:xfrm>
            <a:off x="3269745" y="4222024"/>
            <a:ext cx="1228919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840" dirty="0"/>
          </a:p>
        </p:txBody>
      </p:sp>
      <p:sp>
        <p:nvSpPr>
          <p:cNvPr id="43" name="Text 40"/>
          <p:cNvSpPr/>
          <p:nvPr/>
        </p:nvSpPr>
        <p:spPr>
          <a:xfrm>
            <a:off x="2482070" y="4564924"/>
            <a:ext cx="823469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1.021</a:t>
            </a:r>
            <a:endParaRPr lang="en-US" sz="840" dirty="0"/>
          </a:p>
        </p:txBody>
      </p:sp>
      <p:sp>
        <p:nvSpPr>
          <p:cNvPr id="44" name="Text 41"/>
          <p:cNvSpPr/>
          <p:nvPr/>
        </p:nvSpPr>
        <p:spPr>
          <a:xfrm>
            <a:off x="3269745" y="4564924"/>
            <a:ext cx="1228919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1,3 %</a:t>
            </a:r>
            <a:endParaRPr lang="en-US" sz="840" dirty="0"/>
          </a:p>
        </p:txBody>
      </p:sp>
      <p:sp>
        <p:nvSpPr>
          <p:cNvPr id="45" name="Text 42"/>
          <p:cNvSpPr/>
          <p:nvPr/>
        </p:nvSpPr>
        <p:spPr>
          <a:xfrm>
            <a:off x="7738827" y="3550511"/>
            <a:ext cx="854740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Llam.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7738827" y="3879124"/>
            <a:ext cx="854740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4.546</a:t>
            </a:r>
            <a:endParaRPr lang="en-US" sz="840" dirty="0"/>
          </a:p>
        </p:txBody>
      </p:sp>
      <p:sp>
        <p:nvSpPr>
          <p:cNvPr id="47" name="Text 44"/>
          <p:cNvSpPr/>
          <p:nvPr/>
        </p:nvSpPr>
        <p:spPr>
          <a:xfrm>
            <a:off x="8556412" y="3879124"/>
            <a:ext cx="1275672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1,4 %</a:t>
            </a:r>
            <a:endParaRPr lang="en-US" sz="840" dirty="0"/>
          </a:p>
        </p:txBody>
      </p:sp>
      <p:sp>
        <p:nvSpPr>
          <p:cNvPr id="48" name="Text 45"/>
          <p:cNvSpPr/>
          <p:nvPr/>
        </p:nvSpPr>
        <p:spPr>
          <a:xfrm>
            <a:off x="8556412" y="4222024"/>
            <a:ext cx="1275672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1,4 %</a:t>
            </a:r>
            <a:endParaRPr lang="en-US" sz="840" dirty="0"/>
          </a:p>
        </p:txBody>
      </p:sp>
      <p:sp>
        <p:nvSpPr>
          <p:cNvPr id="49" name="Text 46"/>
          <p:cNvSpPr/>
          <p:nvPr/>
        </p:nvSpPr>
        <p:spPr>
          <a:xfrm>
            <a:off x="8556412" y="4564924"/>
            <a:ext cx="1275672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0,0 %</a:t>
            </a:r>
            <a:endParaRPr lang="en-US" sz="840" dirty="0"/>
          </a:p>
        </p:txBody>
      </p:sp>
      <p:sp>
        <p:nvSpPr>
          <p:cNvPr id="50" name="Text 47"/>
          <p:cNvSpPr/>
          <p:nvPr/>
        </p:nvSpPr>
        <p:spPr>
          <a:xfrm>
            <a:off x="7738827" y="4222024"/>
            <a:ext cx="854740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531</a:t>
            </a:r>
            <a:endParaRPr lang="en-US" sz="840" dirty="0"/>
          </a:p>
        </p:txBody>
      </p:sp>
      <p:sp>
        <p:nvSpPr>
          <p:cNvPr id="51" name="Text 48"/>
          <p:cNvSpPr/>
          <p:nvPr/>
        </p:nvSpPr>
        <p:spPr>
          <a:xfrm>
            <a:off x="7738827" y="4564924"/>
            <a:ext cx="854740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566</a:t>
            </a:r>
            <a:endParaRPr lang="en-US" sz="84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20_Calcu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0080" y="5490270"/>
            <a:ext cx="51566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 </a:t>
            </a:r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E1 </a:t>
            </a:r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pol. con bonificación base</a:t>
            </a:r>
            <a:pPr algn="l" indent="0" marL="0">
              <a:buNone/>
            </a:pPr>
            <a:r>
              <a:rPr lang="en-US" sz="816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+ Volante 120 pól. </a:t>
            </a:r>
            <a:pPr algn="l" indent="0" marL="0">
              <a:buNone/>
            </a:pPr>
            <a:r>
              <a:rPr lang="en-US" sz="76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← Meta Volante: +Bono por 120 pólizas extra</a:t>
            </a:r>
            <a:endParaRPr lang="en-US" sz="816" dirty="0"/>
          </a:p>
        </p:txBody>
      </p:sp>
      <p:sp>
        <p:nvSpPr>
          <p:cNvPr id="4" name="Text 1"/>
          <p:cNvSpPr/>
          <p:nvPr/>
        </p:nvSpPr>
        <p:spPr>
          <a:xfrm>
            <a:off x="800080" y="5671245"/>
            <a:ext cx="461507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 </a:t>
            </a:r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E1 </a:t>
            </a:r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pol. con bonificación base </a:t>
            </a:r>
            <a:pPr algn="l" indent="0" marL="0">
              <a:buNone/>
            </a:pPr>
            <a:r>
              <a:rPr lang="en-US" sz="76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← Metas diferenciadas: top performers a 150 pólizas</a:t>
            </a:r>
            <a:endParaRPr lang="en-US" sz="816" dirty="0"/>
          </a:p>
        </p:txBody>
      </p:sp>
      <p:sp>
        <p:nvSpPr>
          <p:cNvPr id="5" name="Text 2"/>
          <p:cNvSpPr/>
          <p:nvPr/>
        </p:nvSpPr>
        <p:spPr>
          <a:xfrm>
            <a:off x="800080" y="5309295"/>
            <a:ext cx="443981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 </a:t>
            </a:r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E1 </a:t>
            </a:r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pol. con bonificación base </a:t>
            </a:r>
            <a:pPr algn="l" indent="0" marL="0">
              <a:buNone/>
            </a:pPr>
            <a:r>
              <a:rPr lang="en-US" sz="76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← Meta sube 3,7 % — equipo llega a 20 asesores</a:t>
            </a:r>
            <a:endParaRPr lang="en-US" sz="816" dirty="0"/>
          </a:p>
        </p:txBody>
      </p:sp>
      <p:sp>
        <p:nvSpPr>
          <p:cNvPr id="6" name="Text 3"/>
          <p:cNvSpPr/>
          <p:nvPr/>
        </p:nvSpPr>
        <p:spPr>
          <a:xfrm>
            <a:off x="800080" y="4766370"/>
            <a:ext cx="332118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 </a:t>
            </a:r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E1 </a:t>
            </a:r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pol. con bonificación base </a:t>
            </a:r>
            <a:pPr algn="l" indent="0" marL="0">
              <a:buNone/>
            </a:pPr>
            <a:r>
              <a:rPr lang="en-US" sz="76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← Meta inicial del equipo</a:t>
            </a:r>
            <a:endParaRPr lang="en-US" sz="816" dirty="0"/>
          </a:p>
        </p:txBody>
      </p:sp>
      <p:sp>
        <p:nvSpPr>
          <p:cNvPr id="7" name="Text 4"/>
          <p:cNvSpPr/>
          <p:nvPr/>
        </p:nvSpPr>
        <p:spPr>
          <a:xfrm>
            <a:off x="895328" y="2613720"/>
            <a:ext cx="3606557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Cálculo con indicadores históricos (semestre ene–jun)</a:t>
            </a:r>
            <a:endParaRPr lang="en-US" sz="1020" dirty="0"/>
          </a:p>
        </p:txBody>
      </p:sp>
      <p:sp>
        <p:nvSpPr>
          <p:cNvPr id="8" name="Text 5"/>
          <p:cNvSpPr/>
          <p:nvPr/>
        </p:nvSpPr>
        <p:spPr>
          <a:xfrm>
            <a:off x="571486" y="209550"/>
            <a:ext cx="4767941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Proyección · ¿Qué se necesita para 3.000 ventas/mes?</a:t>
            </a:r>
            <a:endParaRPr lang="en-US" sz="1260" dirty="0"/>
          </a:p>
        </p:txBody>
      </p:sp>
      <p:sp>
        <p:nvSpPr>
          <p:cNvPr id="9" name="Text 6"/>
          <p:cNvSpPr/>
          <p:nvPr/>
        </p:nvSpPr>
        <p:spPr>
          <a:xfrm>
            <a:off x="847704" y="2032695"/>
            <a:ext cx="289382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Cálculo histórico </a:t>
            </a:r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Escenario recomendado</a:t>
            </a:r>
            <a:endParaRPr lang="en-US" sz="864" dirty="0"/>
          </a:p>
        </p:txBody>
      </p:sp>
      <p:sp>
        <p:nvSpPr>
          <p:cNvPr id="10" name="Text 7"/>
          <p:cNvSpPr/>
          <p:nvPr/>
        </p:nvSpPr>
        <p:spPr>
          <a:xfrm>
            <a:off x="6343491" y="1489770"/>
            <a:ext cx="2124302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Reducir rechazo del 60 % del semestre</a:t>
            </a:r>
            <a:endParaRPr lang="en-US" sz="864" dirty="0"/>
          </a:p>
        </p:txBody>
      </p:sp>
      <p:sp>
        <p:nvSpPr>
          <p:cNvPr id="11" name="Text 8"/>
          <p:cNvSpPr/>
          <p:nvPr/>
        </p:nvSpPr>
        <p:spPr>
          <a:xfrm>
            <a:off x="9134247" y="1489770"/>
            <a:ext cx="197838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 asesores activos · E1 diferenciada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800080" y="4947345"/>
            <a:ext cx="2040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 </a:t>
            </a:r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E1 </a:t>
            </a:r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pol. con bonificación base</a:t>
            </a:r>
            <a:endParaRPr lang="en-US" sz="816" dirty="0"/>
          </a:p>
        </p:txBody>
      </p:sp>
      <p:sp>
        <p:nvSpPr>
          <p:cNvPr id="13" name="Text 10"/>
          <p:cNvSpPr/>
          <p:nvPr/>
        </p:nvSpPr>
        <p:spPr>
          <a:xfrm>
            <a:off x="800080" y="5128320"/>
            <a:ext cx="2040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 </a:t>
            </a:r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E1 </a:t>
            </a:r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pol. con bonificación base</a:t>
            </a:r>
            <a:endParaRPr lang="en-US" sz="816" dirty="0"/>
          </a:p>
        </p:txBody>
      </p:sp>
      <p:sp>
        <p:nvSpPr>
          <p:cNvPr id="14" name="Text 11"/>
          <p:cNvSpPr/>
          <p:nvPr/>
        </p:nvSpPr>
        <p:spPr>
          <a:xfrm>
            <a:off x="3552736" y="1489770"/>
            <a:ext cx="191859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 indicadores históricos ene–jun</a:t>
            </a:r>
            <a:endParaRPr lang="en-US" sz="864" dirty="0"/>
          </a:p>
        </p:txBody>
      </p:sp>
      <p:sp>
        <p:nvSpPr>
          <p:cNvPr id="15" name="Text 12"/>
          <p:cNvSpPr/>
          <p:nvPr/>
        </p:nvSpPr>
        <p:spPr>
          <a:xfrm>
            <a:off x="742931" y="4566345"/>
            <a:ext cx="249202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ESQUEMA COMISIONES 1S — EVOLUCIÓN</a:t>
            </a:r>
            <a:endParaRPr lang="en-US" sz="840" dirty="0"/>
          </a:p>
        </p:txBody>
      </p:sp>
      <p:sp>
        <p:nvSpPr>
          <p:cNvPr id="16" name="Text 13"/>
          <p:cNvSpPr/>
          <p:nvPr/>
        </p:nvSpPr>
        <p:spPr>
          <a:xfrm>
            <a:off x="742931" y="4299645"/>
            <a:ext cx="663971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mínimos requeridos/mes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3552736" y="990600"/>
            <a:ext cx="2332695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requeridos (estimado)</a:t>
            </a:r>
            <a:endParaRPr lang="en-US" sz="864" dirty="0"/>
          </a:p>
        </p:txBody>
      </p:sp>
      <p:sp>
        <p:nvSpPr>
          <p:cNvPr id="18" name="Text 15"/>
          <p:cNvSpPr/>
          <p:nvPr/>
        </p:nvSpPr>
        <p:spPr>
          <a:xfrm>
            <a:off x="7061475" y="3623370"/>
            <a:ext cx="43872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÷ 42,4 % = </a:t>
            </a:r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78.700</a:t>
            </a:r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gestionados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7061475" y="4061520"/>
            <a:ext cx="43872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÷ 40,5 % = </a:t>
            </a:r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~198.600</a:t>
            </a:r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recibidos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7061475" y="3404295"/>
            <a:ext cx="43872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÷ 8,99 % = </a:t>
            </a:r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33.370</a:t>
            </a:r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contactos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742931" y="3404295"/>
            <a:ext cx="395685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Efectividad / contactados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9134247" y="990600"/>
            <a:ext cx="186558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 agregada equipo Jun</a:t>
            </a:r>
            <a:endParaRPr lang="en-US" sz="864" dirty="0"/>
          </a:p>
        </p:txBody>
      </p:sp>
      <p:sp>
        <p:nvSpPr>
          <p:cNvPr id="23" name="Text 20"/>
          <p:cNvSpPr/>
          <p:nvPr/>
        </p:nvSpPr>
        <p:spPr>
          <a:xfrm>
            <a:off x="7061475" y="3842445"/>
            <a:ext cx="43872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÷ 97,9 % = </a:t>
            </a:r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80.400</a:t>
            </a:r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aptos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742931" y="3842445"/>
            <a:ext cx="395685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Gestión sobre aptos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761981" y="990600"/>
            <a:ext cx="165056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 mensual objetivo</a:t>
            </a:r>
            <a:endParaRPr lang="en-US" sz="864" dirty="0"/>
          </a:p>
        </p:txBody>
      </p:sp>
      <p:sp>
        <p:nvSpPr>
          <p:cNvPr id="26" name="Text 23"/>
          <p:cNvSpPr/>
          <p:nvPr/>
        </p:nvSpPr>
        <p:spPr>
          <a:xfrm>
            <a:off x="742931" y="4061520"/>
            <a:ext cx="395685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Aptos (1–rechazo)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7061475" y="2966145"/>
            <a:ext cx="43872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Insumo para 3.000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6343491" y="990600"/>
            <a:ext cx="129404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Palanca principal</a:t>
            </a:r>
            <a:endParaRPr lang="en-US" sz="864" dirty="0"/>
          </a:p>
        </p:txBody>
      </p:sp>
      <p:sp>
        <p:nvSpPr>
          <p:cNvPr id="29" name="Text 26"/>
          <p:cNvSpPr/>
          <p:nvPr/>
        </p:nvSpPr>
        <p:spPr>
          <a:xfrm>
            <a:off x="4506394" y="2966145"/>
            <a:ext cx="268286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Valor histórico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742931" y="3185220"/>
            <a:ext cx="395685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 ventas/mes</a:t>
            </a:r>
            <a:endParaRPr lang="en-US" sz="888" dirty="0"/>
          </a:p>
        </p:txBody>
      </p:sp>
      <p:sp>
        <p:nvSpPr>
          <p:cNvPr id="31" name="Text 28"/>
          <p:cNvSpPr/>
          <p:nvPr/>
        </p:nvSpPr>
        <p:spPr>
          <a:xfrm>
            <a:off x="742931" y="3623370"/>
            <a:ext cx="395685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7061475" y="4290120"/>
            <a:ext cx="43872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190.000–210.000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761981" y="1489770"/>
            <a:ext cx="76336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/ mes</a:t>
            </a:r>
            <a:endParaRPr lang="en-US" sz="864" dirty="0"/>
          </a:p>
        </p:txBody>
      </p:sp>
      <p:sp>
        <p:nvSpPr>
          <p:cNvPr id="34" name="Text 31"/>
          <p:cNvSpPr/>
          <p:nvPr/>
        </p:nvSpPr>
        <p:spPr>
          <a:xfrm>
            <a:off x="6343491" y="1133475"/>
            <a:ext cx="1749479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limpia</a:t>
            </a:r>
            <a:endParaRPr lang="en-US" sz="2280" dirty="0"/>
          </a:p>
        </p:txBody>
      </p:sp>
      <p:sp>
        <p:nvSpPr>
          <p:cNvPr id="35" name="Text 32"/>
          <p:cNvSpPr/>
          <p:nvPr/>
        </p:nvSpPr>
        <p:spPr>
          <a:xfrm>
            <a:off x="742931" y="2966145"/>
            <a:ext cx="395685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Parámetro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4506394" y="3404295"/>
            <a:ext cx="268286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8,99 %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4506394" y="3623370"/>
            <a:ext cx="268286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42,4 %</a:t>
            </a:r>
            <a:endParaRPr lang="en-US" sz="888" dirty="0"/>
          </a:p>
        </p:txBody>
      </p:sp>
      <p:sp>
        <p:nvSpPr>
          <p:cNvPr id="38" name="Text 35"/>
          <p:cNvSpPr/>
          <p:nvPr/>
        </p:nvSpPr>
        <p:spPr>
          <a:xfrm>
            <a:off x="4506394" y="3842445"/>
            <a:ext cx="268286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97,9 %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4506394" y="4061520"/>
            <a:ext cx="268286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40,5 %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7061475" y="3185220"/>
            <a:ext cx="43872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3.000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761981" y="1133475"/>
            <a:ext cx="831667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3.000</a:t>
            </a:r>
            <a:endParaRPr lang="en-US" sz="2280" dirty="0"/>
          </a:p>
        </p:txBody>
      </p:sp>
      <p:sp>
        <p:nvSpPr>
          <p:cNvPr id="42" name="Text 39"/>
          <p:cNvSpPr/>
          <p:nvPr/>
        </p:nvSpPr>
        <p:spPr>
          <a:xfrm>
            <a:off x="3552736" y="1133475"/>
            <a:ext cx="961814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~200K</a:t>
            </a:r>
            <a:endParaRPr lang="en-US" sz="2280" dirty="0"/>
          </a:p>
        </p:txBody>
      </p:sp>
      <p:sp>
        <p:nvSpPr>
          <p:cNvPr id="43" name="Text 40"/>
          <p:cNvSpPr/>
          <p:nvPr/>
        </p:nvSpPr>
        <p:spPr>
          <a:xfrm>
            <a:off x="9134247" y="1133475"/>
            <a:ext cx="812421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2.407</a:t>
            </a:r>
            <a:endParaRPr lang="en-US" sz="228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20_Escenar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377" y="3512415"/>
            <a:ext cx="946758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Validado por Isaac:</a:t>
            </a:r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la deduplicación en origen es viable (registro del distribuidor + validación de fuentes). Su meta de corto plazo: rechazo </a:t>
            </a:r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≤ 50 %</a:t>
            </a:r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como escalón intermedio hacia el 35 %.</a:t>
            </a:r>
            <a:endParaRPr lang="en-US" sz="816" dirty="0"/>
          </a:p>
        </p:txBody>
      </p:sp>
      <p:sp>
        <p:nvSpPr>
          <p:cNvPr id="4" name="Text 1"/>
          <p:cNvSpPr/>
          <p:nvPr/>
        </p:nvSpPr>
        <p:spPr>
          <a:xfrm>
            <a:off x="1142971" y="5544068"/>
            <a:ext cx="1008235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camino a 3.000 pasa más por calidad y depuración de base que por aumentar el volumen bruto de registros. Cálculo con el semestre completo (ene–jun), liquidación de junio ya incluida.</a:t>
            </a:r>
            <a:endParaRPr lang="en-US" sz="840" dirty="0"/>
          </a:p>
        </p:txBody>
      </p:sp>
      <p:sp>
        <p:nvSpPr>
          <p:cNvPr id="5" name="Text 2"/>
          <p:cNvSpPr/>
          <p:nvPr/>
        </p:nvSpPr>
        <p:spPr>
          <a:xfrm>
            <a:off x="914377" y="3831800"/>
            <a:ext cx="695551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Capacidad del equipo: meta agregada jun = </a:t>
            </a:r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2.407 pólizas</a:t>
            </a:r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(18 asesores, 134 pol/asesor). Para 3.000 → </a:t>
            </a:r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~150 pol/asesor con 20 asesores</a:t>
            </a:r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.</a:t>
            </a:r>
            <a:endParaRPr lang="en-US" sz="816" dirty="0"/>
          </a:p>
        </p:txBody>
      </p:sp>
      <p:sp>
        <p:nvSpPr>
          <p:cNvPr id="6" name="Text 3"/>
          <p:cNvSpPr/>
          <p:nvPr/>
        </p:nvSpPr>
        <p:spPr>
          <a:xfrm>
            <a:off x="914377" y="3672108"/>
            <a:ext cx="596450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Priorizar </a:t>
            </a:r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Bienvenidas CP</a:t>
            </a:r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y </a:t>
            </a:r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Autogestión</a:t>
            </a:r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(conversión 17–33 % sobre contacto) reduce el volumen necesario a la mitad.</a:t>
            </a:r>
            <a:endParaRPr lang="en-US" sz="816" dirty="0"/>
          </a:p>
        </p:txBody>
      </p:sp>
      <p:sp>
        <p:nvSpPr>
          <p:cNvPr id="7" name="Text 4"/>
          <p:cNvSpPr/>
          <p:nvPr/>
        </p:nvSpPr>
        <p:spPr>
          <a:xfrm>
            <a:off x="4075342" y="3379065"/>
            <a:ext cx="40410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Premisas del cálculo: 97,8 % gestión · 45 % contactabilidad · 9,0 % conversión (históricos 1S)</a:t>
            </a:r>
            <a:endParaRPr lang="en-US" sz="720" dirty="0"/>
          </a:p>
        </p:txBody>
      </p:sp>
      <p:sp>
        <p:nvSpPr>
          <p:cNvPr id="8" name="Text 5"/>
          <p:cNvSpPr/>
          <p:nvPr/>
        </p:nvSpPr>
        <p:spPr>
          <a:xfrm>
            <a:off x="571486" y="209550"/>
            <a:ext cx="4767941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Proyección · ¿Qué se necesita para 3.000 ventas/mes?</a:t>
            </a:r>
            <a:endParaRPr lang="en-US" sz="1260" dirty="0"/>
          </a:p>
        </p:txBody>
      </p:sp>
      <p:sp>
        <p:nvSpPr>
          <p:cNvPr id="9" name="Text 6"/>
          <p:cNvSpPr/>
          <p:nvPr/>
        </p:nvSpPr>
        <p:spPr>
          <a:xfrm>
            <a:off x="1283528" y="3146149"/>
            <a:ext cx="224845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 rechazo, excluyendo re-envíos y producto activo</a:t>
            </a:r>
            <a:endParaRPr lang="en-US" sz="696" dirty="0"/>
          </a:p>
        </p:txBody>
      </p:sp>
      <p:sp>
        <p:nvSpPr>
          <p:cNvPr id="10" name="Text 7"/>
          <p:cNvSpPr/>
          <p:nvPr/>
        </p:nvSpPr>
        <p:spPr>
          <a:xfrm>
            <a:off x="4949934" y="3146149"/>
            <a:ext cx="229167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aptos/mes con los mismos ~170K recibidos</a:t>
            </a:r>
            <a:endParaRPr lang="en-US" sz="696" dirty="0"/>
          </a:p>
        </p:txBody>
      </p:sp>
      <p:sp>
        <p:nvSpPr>
          <p:cNvPr id="11" name="Text 8"/>
          <p:cNvSpPr/>
          <p:nvPr/>
        </p:nvSpPr>
        <p:spPr>
          <a:xfrm>
            <a:off x="8660190" y="3146149"/>
            <a:ext cx="22473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ventas/mes potenciales — supera la meta de 3.000</a:t>
            </a:r>
            <a:endParaRPr lang="en-US" sz="696" dirty="0"/>
          </a:p>
        </p:txBody>
      </p:sp>
      <p:sp>
        <p:nvSpPr>
          <p:cNvPr id="12" name="Text 9"/>
          <p:cNvSpPr/>
          <p:nvPr/>
        </p:nvSpPr>
        <p:spPr>
          <a:xfrm>
            <a:off x="876278" y="2540865"/>
            <a:ext cx="3034384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Escenario con base depurada (recomendado)</a:t>
            </a:r>
            <a:endParaRPr lang="en-US" sz="1020" dirty="0"/>
          </a:p>
        </p:txBody>
      </p:sp>
      <p:sp>
        <p:nvSpPr>
          <p:cNvPr id="13" name="Text 10"/>
          <p:cNvSpPr/>
          <p:nvPr/>
        </p:nvSpPr>
        <p:spPr>
          <a:xfrm>
            <a:off x="847704" y="2032695"/>
            <a:ext cx="289382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Cálculo histórico </a:t>
            </a:r>
            <a:pPr algn="l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Escenario recomendado</a:t>
            </a:r>
            <a:endParaRPr lang="en-US" sz="864" dirty="0"/>
          </a:p>
        </p:txBody>
      </p:sp>
      <p:sp>
        <p:nvSpPr>
          <p:cNvPr id="14" name="Text 11"/>
          <p:cNvSpPr/>
          <p:nvPr/>
        </p:nvSpPr>
        <p:spPr>
          <a:xfrm>
            <a:off x="857229" y="4020068"/>
            <a:ext cx="252089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6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KPIs PROPUESTOS PARA EL SEGUIMIENTO 2S</a:t>
            </a:r>
            <a:endParaRPr lang="en-US" sz="768" dirty="0"/>
          </a:p>
        </p:txBody>
      </p:sp>
      <p:sp>
        <p:nvSpPr>
          <p:cNvPr id="15" name="Text 12"/>
          <p:cNvSpPr/>
          <p:nvPr/>
        </p:nvSpPr>
        <p:spPr>
          <a:xfrm>
            <a:off x="6343491" y="1489770"/>
            <a:ext cx="2124302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Reducir rechazo del 60 % del semestre</a:t>
            </a:r>
            <a:endParaRPr lang="en-US" sz="864" dirty="0"/>
          </a:p>
        </p:txBody>
      </p:sp>
      <p:sp>
        <p:nvSpPr>
          <p:cNvPr id="16" name="Text 13"/>
          <p:cNvSpPr/>
          <p:nvPr/>
        </p:nvSpPr>
        <p:spPr>
          <a:xfrm>
            <a:off x="9134247" y="1489770"/>
            <a:ext cx="197838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 asesores activos · E1 diferenciada</a:t>
            </a:r>
            <a:endParaRPr lang="en-US" sz="864" dirty="0"/>
          </a:p>
        </p:txBody>
      </p:sp>
      <p:sp>
        <p:nvSpPr>
          <p:cNvPr id="17" name="Text 14"/>
          <p:cNvSpPr/>
          <p:nvPr/>
        </p:nvSpPr>
        <p:spPr>
          <a:xfrm>
            <a:off x="3552736" y="1489770"/>
            <a:ext cx="191859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 indicadores históricos ene–jun</a:t>
            </a:r>
            <a:endParaRPr lang="en-US" sz="864" dirty="0"/>
          </a:p>
        </p:txBody>
      </p:sp>
      <p:sp>
        <p:nvSpPr>
          <p:cNvPr id="18" name="Text 15"/>
          <p:cNvSpPr/>
          <p:nvPr/>
        </p:nvSpPr>
        <p:spPr>
          <a:xfrm>
            <a:off x="3552736" y="990600"/>
            <a:ext cx="2332695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requeridos (estimado)</a:t>
            </a:r>
            <a:endParaRPr lang="en-US" sz="864" dirty="0"/>
          </a:p>
        </p:txBody>
      </p:sp>
      <p:sp>
        <p:nvSpPr>
          <p:cNvPr id="19" name="Text 16"/>
          <p:cNvSpPr/>
          <p:nvPr/>
        </p:nvSpPr>
        <p:spPr>
          <a:xfrm>
            <a:off x="4377968" y="4429643"/>
            <a:ext cx="480070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ventas (liquidación)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4377968" y="5305943"/>
            <a:ext cx="480070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Contactados / gestionados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9134247" y="990600"/>
            <a:ext cx="186558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 agregada equipo Jun</a:t>
            </a:r>
            <a:endParaRPr lang="en-US" sz="864" dirty="0"/>
          </a:p>
        </p:txBody>
      </p:sp>
      <p:sp>
        <p:nvSpPr>
          <p:cNvPr id="22" name="Text 19"/>
          <p:cNvSpPr/>
          <p:nvPr/>
        </p:nvSpPr>
        <p:spPr>
          <a:xfrm>
            <a:off x="4377968" y="4648718"/>
            <a:ext cx="480070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Asesores ≥ meta / total</a:t>
            </a:r>
            <a:endParaRPr lang="en-US" sz="888" dirty="0"/>
          </a:p>
        </p:txBody>
      </p:sp>
      <p:sp>
        <p:nvSpPr>
          <p:cNvPr id="23" name="Text 20"/>
          <p:cNvSpPr/>
          <p:nvPr/>
        </p:nvSpPr>
        <p:spPr>
          <a:xfrm>
            <a:off x="4377968" y="4867793"/>
            <a:ext cx="480070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/ asesor activo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4377968" y="5086868"/>
            <a:ext cx="480070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 / recibidos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761981" y="990600"/>
            <a:ext cx="165056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 mensual objetivo</a:t>
            </a:r>
            <a:endParaRPr lang="en-US" sz="864" dirty="0"/>
          </a:p>
        </p:txBody>
      </p:sp>
      <p:sp>
        <p:nvSpPr>
          <p:cNvPr id="26" name="Text 23"/>
          <p:cNvSpPr/>
          <p:nvPr/>
        </p:nvSpPr>
        <p:spPr>
          <a:xfrm>
            <a:off x="723882" y="4429643"/>
            <a:ext cx="376370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equipo/mes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6343491" y="990600"/>
            <a:ext cx="129404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Palanca principal</a:t>
            </a:r>
            <a:endParaRPr lang="en-US" sz="864" dirty="0"/>
          </a:p>
        </p:txBody>
      </p:sp>
      <p:sp>
        <p:nvSpPr>
          <p:cNvPr id="28" name="Text 25"/>
          <p:cNvSpPr/>
          <p:nvPr/>
        </p:nvSpPr>
        <p:spPr>
          <a:xfrm>
            <a:off x="1950823" y="2853851"/>
            <a:ext cx="91401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Paso 1 · Depurar</a:t>
            </a:r>
            <a:endParaRPr lang="en-US" sz="696" dirty="0"/>
          </a:p>
        </p:txBody>
      </p:sp>
      <p:sp>
        <p:nvSpPr>
          <p:cNvPr id="29" name="Text 26"/>
          <p:cNvSpPr/>
          <p:nvPr/>
        </p:nvSpPr>
        <p:spPr>
          <a:xfrm>
            <a:off x="723882" y="4648718"/>
            <a:ext cx="376370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Cumplimiento E1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723882" y="5305943"/>
            <a:ext cx="376370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</a:t>
            </a:r>
            <a:endParaRPr lang="en-US" sz="888" dirty="0"/>
          </a:p>
        </p:txBody>
      </p:sp>
      <p:sp>
        <p:nvSpPr>
          <p:cNvPr id="31" name="Text 28"/>
          <p:cNvSpPr/>
          <p:nvPr/>
        </p:nvSpPr>
        <p:spPr>
          <a:xfrm>
            <a:off x="9367401" y="2853851"/>
            <a:ext cx="83292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Paso 3 · Ventas</a:t>
            </a:r>
            <a:endParaRPr lang="en-US" sz="696" dirty="0"/>
          </a:p>
        </p:txBody>
      </p:sp>
      <p:sp>
        <p:nvSpPr>
          <p:cNvPr id="32" name="Text 29"/>
          <p:cNvSpPr/>
          <p:nvPr/>
        </p:nvSpPr>
        <p:spPr>
          <a:xfrm>
            <a:off x="723882" y="5086868"/>
            <a:ext cx="376370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 base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5708730" y="2853851"/>
            <a:ext cx="77408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Paso 2 · Aptos</a:t>
            </a:r>
            <a:endParaRPr lang="en-US" sz="696" dirty="0"/>
          </a:p>
        </p:txBody>
      </p:sp>
      <p:sp>
        <p:nvSpPr>
          <p:cNvPr id="34" name="Text 31"/>
          <p:cNvSpPr/>
          <p:nvPr/>
        </p:nvSpPr>
        <p:spPr>
          <a:xfrm>
            <a:off x="8965981" y="4429643"/>
            <a:ext cx="25018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≥ 3.000 (dic)</a:t>
            </a:r>
            <a:endParaRPr lang="en-US" sz="888" dirty="0"/>
          </a:p>
        </p:txBody>
      </p:sp>
      <p:sp>
        <p:nvSpPr>
          <p:cNvPr id="35" name="Text 32"/>
          <p:cNvSpPr/>
          <p:nvPr/>
        </p:nvSpPr>
        <p:spPr>
          <a:xfrm>
            <a:off x="723882" y="4867793"/>
            <a:ext cx="376370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Productividad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761981" y="1489770"/>
            <a:ext cx="76336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/ mes</a:t>
            </a:r>
            <a:endParaRPr lang="en-US" sz="864" dirty="0"/>
          </a:p>
        </p:txBody>
      </p:sp>
      <p:sp>
        <p:nvSpPr>
          <p:cNvPr id="37" name="Text 34"/>
          <p:cNvSpPr/>
          <p:nvPr/>
        </p:nvSpPr>
        <p:spPr>
          <a:xfrm>
            <a:off x="6343491" y="1133475"/>
            <a:ext cx="1749479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limpia</a:t>
            </a:r>
            <a:endParaRPr lang="en-US" sz="2280" dirty="0"/>
          </a:p>
        </p:txBody>
      </p:sp>
      <p:sp>
        <p:nvSpPr>
          <p:cNvPr id="38" name="Text 35"/>
          <p:cNvSpPr/>
          <p:nvPr/>
        </p:nvSpPr>
        <p:spPr>
          <a:xfrm>
            <a:off x="1930630" y="2958626"/>
            <a:ext cx="954399" cy="186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60 % → 35 %</a:t>
            </a:r>
            <a:endParaRPr lang="en-US" sz="1176" dirty="0"/>
          </a:p>
        </p:txBody>
      </p:sp>
      <p:sp>
        <p:nvSpPr>
          <p:cNvPr id="39" name="Text 36"/>
          <p:cNvSpPr/>
          <p:nvPr/>
        </p:nvSpPr>
        <p:spPr>
          <a:xfrm>
            <a:off x="5639471" y="2958626"/>
            <a:ext cx="912752" cy="186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62K → 110K</a:t>
            </a:r>
            <a:endParaRPr lang="en-US" sz="1176" dirty="0"/>
          </a:p>
        </p:txBody>
      </p:sp>
      <p:sp>
        <p:nvSpPr>
          <p:cNvPr id="40" name="Text 37"/>
          <p:cNvSpPr/>
          <p:nvPr/>
        </p:nvSpPr>
        <p:spPr>
          <a:xfrm>
            <a:off x="4377968" y="4210568"/>
            <a:ext cx="480070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Fórmula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8965981" y="4210568"/>
            <a:ext cx="25018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 2S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9497552" y="2958626"/>
            <a:ext cx="572477" cy="186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≈ 4.380</a:t>
            </a:r>
            <a:endParaRPr lang="en-US" sz="1176" dirty="0"/>
          </a:p>
        </p:txBody>
      </p:sp>
      <p:sp>
        <p:nvSpPr>
          <p:cNvPr id="43" name="Text 40"/>
          <p:cNvSpPr/>
          <p:nvPr/>
        </p:nvSpPr>
        <p:spPr>
          <a:xfrm>
            <a:off x="8965981" y="4648718"/>
            <a:ext cx="25018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≥ 90 %</a:t>
            </a:r>
            <a:endParaRPr lang="en-US" sz="888" dirty="0"/>
          </a:p>
        </p:txBody>
      </p:sp>
      <p:sp>
        <p:nvSpPr>
          <p:cNvPr id="44" name="Text 41"/>
          <p:cNvSpPr/>
          <p:nvPr/>
        </p:nvSpPr>
        <p:spPr>
          <a:xfrm>
            <a:off x="8965981" y="5086868"/>
            <a:ext cx="25018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&lt; 40 %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8965981" y="5305943"/>
            <a:ext cx="25018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≥ 55 %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8965981" y="4867793"/>
            <a:ext cx="25018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≥ 140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761981" y="1133475"/>
            <a:ext cx="831667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3.000</a:t>
            </a:r>
            <a:endParaRPr lang="en-US" sz="2280" dirty="0"/>
          </a:p>
        </p:txBody>
      </p:sp>
      <p:sp>
        <p:nvSpPr>
          <p:cNvPr id="48" name="Text 45"/>
          <p:cNvSpPr/>
          <p:nvPr/>
        </p:nvSpPr>
        <p:spPr>
          <a:xfrm>
            <a:off x="3552736" y="1133475"/>
            <a:ext cx="961814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~200K</a:t>
            </a:r>
            <a:endParaRPr lang="en-US" sz="2280" dirty="0"/>
          </a:p>
        </p:txBody>
      </p:sp>
      <p:sp>
        <p:nvSpPr>
          <p:cNvPr id="49" name="Text 46"/>
          <p:cNvSpPr/>
          <p:nvPr/>
        </p:nvSpPr>
        <p:spPr>
          <a:xfrm>
            <a:off x="9134247" y="1133475"/>
            <a:ext cx="812421" cy="353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2.407</a:t>
            </a:r>
            <a:endParaRPr lang="en-US" sz="2280" dirty="0"/>
          </a:p>
        </p:txBody>
      </p:sp>
      <p:sp>
        <p:nvSpPr>
          <p:cNvPr id="50" name="Text 47"/>
          <p:cNvSpPr/>
          <p:nvPr/>
        </p:nvSpPr>
        <p:spPr>
          <a:xfrm>
            <a:off x="723882" y="4210568"/>
            <a:ext cx="376370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KPI</a:t>
            </a:r>
            <a:endParaRPr lang="en-US" sz="888" dirty="0"/>
          </a:p>
        </p:txBody>
      </p:sp>
      <p:sp>
        <p:nvSpPr>
          <p:cNvPr id="51" name="Text 48"/>
          <p:cNvSpPr/>
          <p:nvPr/>
        </p:nvSpPr>
        <p:spPr>
          <a:xfrm>
            <a:off x="4167976" y="2959965"/>
            <a:ext cx="274320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→</a:t>
            </a:r>
            <a:endParaRPr lang="en-US" sz="1320" dirty="0"/>
          </a:p>
        </p:txBody>
      </p:sp>
      <p:sp>
        <p:nvSpPr>
          <p:cNvPr id="52" name="Text 49"/>
          <p:cNvSpPr/>
          <p:nvPr/>
        </p:nvSpPr>
        <p:spPr>
          <a:xfrm>
            <a:off x="7855994" y="2959965"/>
            <a:ext cx="274320" cy="206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→</a:t>
            </a:r>
            <a:endParaRPr lang="en-US" sz="13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21_Iniciativ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28674" y="3893493"/>
            <a:ext cx="764048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asesores nuevos en julio (→23 en operación)  CRM con validaciones automáticas  Bases limpias contra producto ya activo (Vanti)</a:t>
            </a:r>
            <a:endParaRPr lang="en-US" sz="816" dirty="0"/>
          </a:p>
        </p:txBody>
      </p:sp>
      <p:sp>
        <p:nvSpPr>
          <p:cNvPr id="4" name="Text 1"/>
          <p:cNvSpPr/>
          <p:nvPr/>
        </p:nvSpPr>
        <p:spPr>
          <a:xfrm>
            <a:off x="1304892" y="2009775"/>
            <a:ext cx="618741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Diagnóstico individual de dificultades, talleres guiados en la Universidad ILAO y seguimiento cercano por asesor.</a:t>
            </a:r>
            <a:endParaRPr lang="en-US" sz="888" dirty="0"/>
          </a:p>
        </p:txBody>
      </p:sp>
      <p:sp>
        <p:nvSpPr>
          <p:cNvPr id="5" name="Text 2"/>
          <p:cNvSpPr/>
          <p:nvPr/>
        </p:nvSpPr>
        <p:spPr>
          <a:xfrm>
            <a:off x="571486" y="209550"/>
            <a:ext cx="4674867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Estrategia Segundo Semestre 2026 · Meta 3.000/mes</a:t>
            </a:r>
            <a:endParaRPr lang="en-US" sz="1260" dirty="0"/>
          </a:p>
        </p:txBody>
      </p:sp>
      <p:sp>
        <p:nvSpPr>
          <p:cNvPr id="6" name="Text 3"/>
          <p:cNvSpPr/>
          <p:nvPr/>
        </p:nvSpPr>
        <p:spPr>
          <a:xfrm>
            <a:off x="1304892" y="1743075"/>
            <a:ext cx="2686695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Acompañamiento 1-a-1 para baja conversión en CP.</a:t>
            </a:r>
            <a:endParaRPr lang="en-US" sz="840" dirty="0"/>
          </a:p>
        </p:txBody>
      </p:sp>
      <p:sp>
        <p:nvSpPr>
          <p:cNvPr id="7" name="Text 4"/>
          <p:cNvSpPr/>
          <p:nvPr/>
        </p:nvSpPr>
        <p:spPr>
          <a:xfrm>
            <a:off x="1304892" y="2607618"/>
            <a:ext cx="242214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Replicar las técnicas de Jesús, Melissa y Luisa.</a:t>
            </a:r>
            <a:endParaRPr lang="en-US" sz="840" dirty="0"/>
          </a:p>
        </p:txBody>
      </p:sp>
      <p:sp>
        <p:nvSpPr>
          <p:cNvPr id="8" name="Text 5"/>
          <p:cNvSpPr/>
          <p:nvPr/>
        </p:nvSpPr>
        <p:spPr>
          <a:xfrm>
            <a:off x="1304892" y="3179118"/>
            <a:ext cx="2220690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Resiliencia y manejo del estrés del equipo.</a:t>
            </a:r>
            <a:endParaRPr lang="en-US" sz="840" dirty="0"/>
          </a:p>
        </p:txBody>
      </p:sp>
      <p:sp>
        <p:nvSpPr>
          <p:cNvPr id="9" name="Text 6"/>
          <p:cNvSpPr/>
          <p:nvPr/>
        </p:nvSpPr>
        <p:spPr>
          <a:xfrm>
            <a:off x="1304892" y="3026718"/>
            <a:ext cx="2579107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Desarrollo Emocional (Gestión Humana)</a:t>
            </a:r>
            <a:endParaRPr lang="en-US" sz="984" dirty="0"/>
          </a:p>
        </p:txBody>
      </p:sp>
      <p:sp>
        <p:nvSpPr>
          <p:cNvPr id="10" name="Text 7"/>
          <p:cNvSpPr/>
          <p:nvPr/>
        </p:nvSpPr>
        <p:spPr>
          <a:xfrm>
            <a:off x="8829157" y="1171575"/>
            <a:ext cx="260324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Iniciativas </a:t>
            </a:r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Cronograma  KPIs</a:t>
            </a:r>
            <a:endParaRPr lang="en-US" sz="864" dirty="0"/>
          </a:p>
        </p:txBody>
      </p:sp>
      <p:sp>
        <p:nvSpPr>
          <p:cNvPr id="11" name="Text 8"/>
          <p:cNvSpPr/>
          <p:nvPr/>
        </p:nvSpPr>
        <p:spPr>
          <a:xfrm>
            <a:off x="933427" y="1162050"/>
            <a:ext cx="1973174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Estrategia Comercial 2S 2026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1304892" y="2455218"/>
            <a:ext cx="1880099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Modelado de Top Performers</a:t>
            </a:r>
            <a:endParaRPr lang="en-US" sz="984" dirty="0"/>
          </a:p>
        </p:txBody>
      </p:sp>
      <p:sp>
        <p:nvSpPr>
          <p:cNvPr id="13" name="Text 10"/>
          <p:cNvSpPr/>
          <p:nvPr/>
        </p:nvSpPr>
        <p:spPr>
          <a:xfrm>
            <a:off x="914377" y="3645843"/>
            <a:ext cx="187741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Recursos clave requeridos</a:t>
            </a:r>
            <a:endParaRPr lang="en-US" sz="816" dirty="0"/>
          </a:p>
        </p:txBody>
      </p:sp>
      <p:sp>
        <p:nvSpPr>
          <p:cNvPr id="14" name="Text 11"/>
          <p:cNvSpPr/>
          <p:nvPr/>
        </p:nvSpPr>
        <p:spPr>
          <a:xfrm>
            <a:off x="1304892" y="1590675"/>
            <a:ext cx="1620436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School Master Comercial</a:t>
            </a:r>
            <a:endParaRPr lang="en-US" sz="984" dirty="0"/>
          </a:p>
        </p:txBody>
      </p:sp>
      <p:sp>
        <p:nvSpPr>
          <p:cNvPr id="15" name="Text 12"/>
          <p:cNvSpPr/>
          <p:nvPr/>
        </p:nvSpPr>
        <p:spPr>
          <a:xfrm>
            <a:off x="11163021" y="1657350"/>
            <a:ext cx="274320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▴</a:t>
            </a:r>
            <a:endParaRPr lang="en-US" sz="960" dirty="0"/>
          </a:p>
        </p:txBody>
      </p:sp>
      <p:sp>
        <p:nvSpPr>
          <p:cNvPr id="16" name="Text 13"/>
          <p:cNvSpPr/>
          <p:nvPr/>
        </p:nvSpPr>
        <p:spPr>
          <a:xfrm>
            <a:off x="11163021" y="2521893"/>
            <a:ext cx="274320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▾</a:t>
            </a:r>
            <a:endParaRPr lang="en-US" sz="960" dirty="0"/>
          </a:p>
        </p:txBody>
      </p:sp>
      <p:sp>
        <p:nvSpPr>
          <p:cNvPr id="17" name="Text 14"/>
          <p:cNvSpPr/>
          <p:nvPr/>
        </p:nvSpPr>
        <p:spPr>
          <a:xfrm>
            <a:off x="11163021" y="3093393"/>
            <a:ext cx="274320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▾</a:t>
            </a:r>
            <a:endParaRPr lang="en-US" sz="96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21_Cronogra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486" y="209550"/>
            <a:ext cx="4674867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Estrategia Segundo Semestre 2026 · Meta 3.000/mes</a:t>
            </a:r>
            <a:endParaRPr lang="en-US" sz="1260" dirty="0"/>
          </a:p>
        </p:txBody>
      </p:sp>
      <p:sp>
        <p:nvSpPr>
          <p:cNvPr id="4" name="Text 1"/>
          <p:cNvSpPr/>
          <p:nvPr/>
        </p:nvSpPr>
        <p:spPr>
          <a:xfrm>
            <a:off x="8829157" y="1171575"/>
            <a:ext cx="260324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Iniciativas </a:t>
            </a:r>
            <a:pPr algn="l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Cronograma </a:t>
            </a:r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KPIs</a:t>
            </a:r>
            <a:endParaRPr lang="en-US" sz="864" dirty="0"/>
          </a:p>
        </p:txBody>
      </p:sp>
      <p:sp>
        <p:nvSpPr>
          <p:cNvPr id="5" name="Text 2"/>
          <p:cNvSpPr/>
          <p:nvPr/>
        </p:nvSpPr>
        <p:spPr>
          <a:xfrm>
            <a:off x="781030" y="2241719"/>
            <a:ext cx="3531628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 de desarrollo emocional</a:t>
            </a:r>
            <a:endParaRPr lang="en-US" sz="888" dirty="0"/>
          </a:p>
        </p:txBody>
      </p:sp>
      <p:sp>
        <p:nvSpPr>
          <p:cNvPr id="6" name="Text 3"/>
          <p:cNvSpPr/>
          <p:nvPr/>
        </p:nvSpPr>
        <p:spPr>
          <a:xfrm>
            <a:off x="781030" y="2575094"/>
            <a:ext cx="3531628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Bases limpias y actualizadas</a:t>
            </a:r>
            <a:endParaRPr lang="en-US" sz="888" dirty="0"/>
          </a:p>
        </p:txBody>
      </p:sp>
      <p:sp>
        <p:nvSpPr>
          <p:cNvPr id="7" name="Text 4"/>
          <p:cNvSpPr/>
          <p:nvPr/>
        </p:nvSpPr>
        <p:spPr>
          <a:xfrm>
            <a:off x="933427" y="1162050"/>
            <a:ext cx="1973174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Estrategia Comercial 2S 2026</a:t>
            </a:r>
            <a:endParaRPr lang="en-US" sz="1020" dirty="0"/>
          </a:p>
        </p:txBody>
      </p:sp>
      <p:sp>
        <p:nvSpPr>
          <p:cNvPr id="8" name="Text 5"/>
          <p:cNvSpPr/>
          <p:nvPr/>
        </p:nvSpPr>
        <p:spPr>
          <a:xfrm>
            <a:off x="781030" y="2908469"/>
            <a:ext cx="3531628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Optimización de equipos PC</a:t>
            </a:r>
            <a:endParaRPr lang="en-US" sz="888" dirty="0"/>
          </a:p>
        </p:txBody>
      </p:sp>
      <p:sp>
        <p:nvSpPr>
          <p:cNvPr id="9" name="Text 6"/>
          <p:cNvSpPr/>
          <p:nvPr/>
        </p:nvSpPr>
        <p:spPr>
          <a:xfrm>
            <a:off x="781030" y="1908344"/>
            <a:ext cx="3531628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Control de tiempos</a:t>
            </a:r>
            <a:endParaRPr lang="en-US" sz="888" dirty="0"/>
          </a:p>
        </p:txBody>
      </p:sp>
      <p:sp>
        <p:nvSpPr>
          <p:cNvPr id="10" name="Text 7"/>
          <p:cNvSpPr/>
          <p:nvPr/>
        </p:nvSpPr>
        <p:spPr>
          <a:xfrm>
            <a:off x="781030" y="1584494"/>
            <a:ext cx="3531628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Frente / Acción</a:t>
            </a:r>
            <a:endParaRPr lang="en-US" sz="888" dirty="0"/>
          </a:p>
        </p:txBody>
      </p:sp>
      <p:sp>
        <p:nvSpPr>
          <p:cNvPr id="11" name="Text 8"/>
          <p:cNvSpPr/>
          <p:nvPr/>
        </p:nvSpPr>
        <p:spPr>
          <a:xfrm>
            <a:off x="4209796" y="2241719"/>
            <a:ext cx="1959955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GH / Líderes</a:t>
            </a:r>
            <a:endParaRPr lang="en-US" sz="888" dirty="0"/>
          </a:p>
        </p:txBody>
      </p:sp>
      <p:sp>
        <p:nvSpPr>
          <p:cNvPr id="12" name="Text 9"/>
          <p:cNvSpPr/>
          <p:nvPr/>
        </p:nvSpPr>
        <p:spPr>
          <a:xfrm>
            <a:off x="4209796" y="1584494"/>
            <a:ext cx="1959955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Responsable</a:t>
            </a:r>
            <a:endParaRPr lang="en-US" sz="888" dirty="0"/>
          </a:p>
        </p:txBody>
      </p:sp>
      <p:sp>
        <p:nvSpPr>
          <p:cNvPr id="13" name="Text 10"/>
          <p:cNvSpPr/>
          <p:nvPr/>
        </p:nvSpPr>
        <p:spPr>
          <a:xfrm>
            <a:off x="4209796" y="2908469"/>
            <a:ext cx="1959955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Tecnología</a:t>
            </a:r>
            <a:endParaRPr lang="en-US" sz="888" dirty="0"/>
          </a:p>
        </p:txBody>
      </p:sp>
      <p:sp>
        <p:nvSpPr>
          <p:cNvPr id="14" name="Text 11"/>
          <p:cNvSpPr/>
          <p:nvPr/>
        </p:nvSpPr>
        <p:spPr>
          <a:xfrm>
            <a:off x="4209796" y="1908344"/>
            <a:ext cx="1959955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Isaac</a:t>
            </a:r>
            <a:endParaRPr lang="en-US" sz="888" dirty="0"/>
          </a:p>
        </p:txBody>
      </p:sp>
      <p:sp>
        <p:nvSpPr>
          <p:cNvPr id="15" name="Text 12"/>
          <p:cNvSpPr/>
          <p:nvPr/>
        </p:nvSpPr>
        <p:spPr>
          <a:xfrm>
            <a:off x="4209796" y="2575094"/>
            <a:ext cx="1959955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Vanti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6088037" y="1584494"/>
            <a:ext cx="845543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6905952" y="1584494"/>
            <a:ext cx="948553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</a:t>
            </a:r>
            <a:endParaRPr lang="en-US" sz="888" dirty="0"/>
          </a:p>
        </p:txBody>
      </p:sp>
      <p:sp>
        <p:nvSpPr>
          <p:cNvPr id="18" name="Text 15"/>
          <p:cNvSpPr/>
          <p:nvPr/>
        </p:nvSpPr>
        <p:spPr>
          <a:xfrm>
            <a:off x="7827199" y="1584494"/>
            <a:ext cx="937516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Sep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8738302" y="1584494"/>
            <a:ext cx="906859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Oct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9617564" y="1584494"/>
            <a:ext cx="947480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Nov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10539676" y="1584494"/>
            <a:ext cx="870989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Dic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6088037" y="1917869"/>
            <a:ext cx="845543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888" dirty="0"/>
          </a:p>
        </p:txBody>
      </p:sp>
      <p:sp>
        <p:nvSpPr>
          <p:cNvPr id="23" name="Text 20"/>
          <p:cNvSpPr/>
          <p:nvPr/>
        </p:nvSpPr>
        <p:spPr>
          <a:xfrm>
            <a:off x="6905952" y="1917869"/>
            <a:ext cx="948553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6088037" y="2251244"/>
            <a:ext cx="845543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6905952" y="2251244"/>
            <a:ext cx="948553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888" dirty="0"/>
          </a:p>
        </p:txBody>
      </p:sp>
      <p:sp>
        <p:nvSpPr>
          <p:cNvPr id="26" name="Text 23"/>
          <p:cNvSpPr/>
          <p:nvPr/>
        </p:nvSpPr>
        <p:spPr>
          <a:xfrm>
            <a:off x="6088037" y="2584619"/>
            <a:ext cx="845543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6905952" y="2584619"/>
            <a:ext cx="948553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7827199" y="2584619"/>
            <a:ext cx="937516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888" dirty="0"/>
          </a:p>
        </p:txBody>
      </p:sp>
      <p:sp>
        <p:nvSpPr>
          <p:cNvPr id="29" name="Text 26"/>
          <p:cNvSpPr/>
          <p:nvPr/>
        </p:nvSpPr>
        <p:spPr>
          <a:xfrm>
            <a:off x="6088037" y="2917994"/>
            <a:ext cx="845543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6905952" y="2917994"/>
            <a:ext cx="948553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888" dirty="0"/>
          </a:p>
        </p:txBody>
      </p:sp>
      <p:sp>
        <p:nvSpPr>
          <p:cNvPr id="31" name="Text 28"/>
          <p:cNvSpPr/>
          <p:nvPr/>
        </p:nvSpPr>
        <p:spPr>
          <a:xfrm>
            <a:off x="7827199" y="2917994"/>
            <a:ext cx="937516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888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21_KP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486" y="209550"/>
            <a:ext cx="4674867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Estrategia Segundo Semestre 2026 · Meta 3.000/mes</a:t>
            </a:r>
            <a:endParaRPr lang="en-US" sz="1260" dirty="0"/>
          </a:p>
        </p:txBody>
      </p:sp>
      <p:sp>
        <p:nvSpPr>
          <p:cNvPr id="4" name="Text 1"/>
          <p:cNvSpPr/>
          <p:nvPr/>
        </p:nvSpPr>
        <p:spPr>
          <a:xfrm>
            <a:off x="4681569" y="2254481"/>
            <a:ext cx="5049651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91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/ contactos en Autogestión</a:t>
            </a:r>
            <a:endParaRPr lang="en-US" sz="912" dirty="0"/>
          </a:p>
        </p:txBody>
      </p:sp>
      <p:sp>
        <p:nvSpPr>
          <p:cNvPr id="5" name="Text 2"/>
          <p:cNvSpPr/>
          <p:nvPr/>
        </p:nvSpPr>
        <p:spPr>
          <a:xfrm>
            <a:off x="4681569" y="2597381"/>
            <a:ext cx="5049651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91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/ contactos en Bienvenida</a:t>
            </a:r>
            <a:endParaRPr lang="en-US" sz="912" dirty="0"/>
          </a:p>
        </p:txBody>
      </p:sp>
      <p:sp>
        <p:nvSpPr>
          <p:cNvPr id="6" name="Text 3"/>
          <p:cNvSpPr/>
          <p:nvPr/>
        </p:nvSpPr>
        <p:spPr>
          <a:xfrm>
            <a:off x="4681569" y="2940281"/>
            <a:ext cx="5049651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91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Sesiones individuales / asesor</a:t>
            </a:r>
            <a:endParaRPr lang="en-US" sz="912" dirty="0"/>
          </a:p>
        </p:txBody>
      </p:sp>
      <p:sp>
        <p:nvSpPr>
          <p:cNvPr id="7" name="Text 4"/>
          <p:cNvSpPr/>
          <p:nvPr/>
        </p:nvSpPr>
        <p:spPr>
          <a:xfrm>
            <a:off x="4681569" y="1911581"/>
            <a:ext cx="5049651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91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liquidadas totales/mes</a:t>
            </a:r>
            <a:endParaRPr lang="en-US" sz="912" dirty="0"/>
          </a:p>
        </p:txBody>
      </p:sp>
      <p:sp>
        <p:nvSpPr>
          <p:cNvPr id="8" name="Text 5"/>
          <p:cNvSpPr/>
          <p:nvPr/>
        </p:nvSpPr>
        <p:spPr>
          <a:xfrm>
            <a:off x="8829157" y="1171575"/>
            <a:ext cx="2603243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Iniciativas  Cronograma </a:t>
            </a:r>
            <a:pPr algn="l" indent="0" marL="0">
              <a:buNone/>
            </a:pPr>
            <a:r>
              <a:rPr lang="en-US" sz="86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KPIs</a:t>
            </a:r>
            <a:endParaRPr lang="en-US" sz="864" dirty="0"/>
          </a:p>
        </p:txBody>
      </p:sp>
      <p:sp>
        <p:nvSpPr>
          <p:cNvPr id="9" name="Text 6"/>
          <p:cNvSpPr/>
          <p:nvPr/>
        </p:nvSpPr>
        <p:spPr>
          <a:xfrm>
            <a:off x="933427" y="1162050"/>
            <a:ext cx="1973174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Estrategia Comercial 2S 2026</a:t>
            </a:r>
            <a:endParaRPr lang="en-US" sz="1020" dirty="0"/>
          </a:p>
        </p:txBody>
      </p:sp>
      <p:sp>
        <p:nvSpPr>
          <p:cNvPr id="10" name="Text 7"/>
          <p:cNvSpPr/>
          <p:nvPr/>
        </p:nvSpPr>
        <p:spPr>
          <a:xfrm>
            <a:off x="781030" y="2597381"/>
            <a:ext cx="4017555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91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 Bienvenida CP</a:t>
            </a:r>
            <a:endParaRPr lang="en-US" sz="912" dirty="0"/>
          </a:p>
        </p:txBody>
      </p:sp>
      <p:sp>
        <p:nvSpPr>
          <p:cNvPr id="11" name="Text 8"/>
          <p:cNvSpPr/>
          <p:nvPr/>
        </p:nvSpPr>
        <p:spPr>
          <a:xfrm>
            <a:off x="781030" y="2254481"/>
            <a:ext cx="4017555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91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 Autogestión</a:t>
            </a:r>
            <a:endParaRPr lang="en-US" sz="912" dirty="0"/>
          </a:p>
        </p:txBody>
      </p:sp>
      <p:sp>
        <p:nvSpPr>
          <p:cNvPr id="12" name="Text 9"/>
          <p:cNvSpPr/>
          <p:nvPr/>
        </p:nvSpPr>
        <p:spPr>
          <a:xfrm>
            <a:off x="781030" y="1911581"/>
            <a:ext cx="4017555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91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Volumen de ventas</a:t>
            </a:r>
            <a:endParaRPr lang="en-US" sz="912" dirty="0"/>
          </a:p>
        </p:txBody>
      </p:sp>
      <p:sp>
        <p:nvSpPr>
          <p:cNvPr id="13" name="Text 10"/>
          <p:cNvSpPr/>
          <p:nvPr/>
        </p:nvSpPr>
        <p:spPr>
          <a:xfrm>
            <a:off x="781030" y="2940281"/>
            <a:ext cx="4017555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91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Escuela de ventas</a:t>
            </a:r>
            <a:endParaRPr lang="en-US" sz="912" dirty="0"/>
          </a:p>
        </p:txBody>
      </p:sp>
      <p:sp>
        <p:nvSpPr>
          <p:cNvPr id="14" name="Text 11"/>
          <p:cNvSpPr/>
          <p:nvPr/>
        </p:nvSpPr>
        <p:spPr>
          <a:xfrm>
            <a:off x="4681569" y="1582968"/>
            <a:ext cx="5049651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Definición</a:t>
            </a:r>
            <a:endParaRPr lang="en-US" sz="888" dirty="0"/>
          </a:p>
        </p:txBody>
      </p:sp>
      <p:sp>
        <p:nvSpPr>
          <p:cNvPr id="15" name="Text 12"/>
          <p:cNvSpPr/>
          <p:nvPr/>
        </p:nvSpPr>
        <p:spPr>
          <a:xfrm>
            <a:off x="781030" y="1582968"/>
            <a:ext cx="4017555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Métrica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9529347" y="1582968"/>
            <a:ext cx="1881318" cy="133350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 2S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9529347" y="1916343"/>
            <a:ext cx="1881318" cy="123825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≥ 3.000</a:t>
            </a:r>
            <a:endParaRPr lang="en-US" sz="816" dirty="0"/>
          </a:p>
        </p:txBody>
      </p:sp>
      <p:sp>
        <p:nvSpPr>
          <p:cNvPr id="18" name="Text 15"/>
          <p:cNvSpPr/>
          <p:nvPr/>
        </p:nvSpPr>
        <p:spPr>
          <a:xfrm>
            <a:off x="9529347" y="2945043"/>
            <a:ext cx="1881318" cy="123825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/ mes</a:t>
            </a:r>
            <a:endParaRPr lang="en-US" sz="816" dirty="0"/>
          </a:p>
        </p:txBody>
      </p:sp>
      <p:sp>
        <p:nvSpPr>
          <p:cNvPr id="19" name="Text 16"/>
          <p:cNvSpPr/>
          <p:nvPr/>
        </p:nvSpPr>
        <p:spPr>
          <a:xfrm>
            <a:off x="9529347" y="2259243"/>
            <a:ext cx="1881318" cy="123825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≥ 40 %</a:t>
            </a:r>
            <a:endParaRPr lang="en-US" sz="816" dirty="0"/>
          </a:p>
        </p:txBody>
      </p:sp>
      <p:sp>
        <p:nvSpPr>
          <p:cNvPr id="20" name="Text 17"/>
          <p:cNvSpPr/>
          <p:nvPr/>
        </p:nvSpPr>
        <p:spPr>
          <a:xfrm>
            <a:off x="9529347" y="2602143"/>
            <a:ext cx="1881318" cy="123825"/>
          </a:xfrm>
          <a:prstGeom prst="rect">
            <a:avLst/>
          </a:prstGeom>
          <a:noFill/>
          <a:ln/>
        </p:spPr>
        <p:txBody>
          <a:bodyPr wrap="square" lIns="0" tIns="133350" rIns="13335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≥ 30 %</a:t>
            </a:r>
            <a:endParaRPr lang="en-US" sz="816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22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1546" y="5016698"/>
            <a:ext cx="7611139" cy="559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Cifras Oficiales y Consolidación:</a:t>
            </a:r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Se ratifica el uso de las cifras de Liquidación (Martha) como el número oficial de resultados del canal y el Tablero OCM (Isaac) como el indicador diario intra-mes. A pesar de los retos de bases repetidas, el esfuerzo del equipo ha sostenido la meta.</a:t>
            </a:r>
            <a:endParaRPr lang="en-US" sz="984" dirty="0"/>
          </a:p>
        </p:txBody>
      </p:sp>
      <p:sp>
        <p:nvSpPr>
          <p:cNvPr id="4" name="Text 1"/>
          <p:cNvSpPr/>
          <p:nvPr/>
        </p:nvSpPr>
        <p:spPr>
          <a:xfrm>
            <a:off x="1190595" y="3035498"/>
            <a:ext cx="3403528" cy="294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🎮 </a:t>
            </a:r>
            <a:pPr algn="l" indent="0" marL="0">
              <a:buNone/>
            </a:pPr>
            <a:r>
              <a:rPr lang="en-US" sz="98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Gran Jugada (Mar-Abr) </a:t>
            </a:r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· Vanti</a:t>
            </a:r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: 4.798 ventas (114% meta).</a:t>
            </a:r>
            <a:endParaRPr lang="en-US" sz="984" dirty="0"/>
          </a:p>
        </p:txBody>
      </p:sp>
      <p:sp>
        <p:nvSpPr>
          <p:cNvPr id="5" name="Text 2"/>
          <p:cNvSpPr/>
          <p:nvPr/>
        </p:nvSpPr>
        <p:spPr>
          <a:xfrm>
            <a:off x="1190595" y="3654623"/>
            <a:ext cx="3346106" cy="294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⚽ </a:t>
            </a:r>
            <a:pPr algn="l" indent="0" marL="0">
              <a:buNone/>
            </a:pPr>
            <a:r>
              <a:rPr lang="en-US" sz="98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Feria Mundialista (Jun) </a:t>
            </a:r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· Xuma</a:t>
            </a:r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: 1.520 ventas en dos semanas.</a:t>
            </a:r>
            <a:endParaRPr lang="en-US" sz="984" dirty="0"/>
          </a:p>
        </p:txBody>
      </p:sp>
      <p:sp>
        <p:nvSpPr>
          <p:cNvPr id="6" name="Text 3"/>
          <p:cNvSpPr/>
          <p:nvPr/>
        </p:nvSpPr>
        <p:spPr>
          <a:xfrm>
            <a:off x="5190995" y="2778323"/>
            <a:ext cx="3204758" cy="294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School Master Comercial:</a:t>
            </a:r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Refuerzo 1-a-1 de baja conversión.</a:t>
            </a:r>
            <a:endParaRPr lang="en-US" sz="984" dirty="0"/>
          </a:p>
        </p:txBody>
      </p:sp>
      <p:sp>
        <p:nvSpPr>
          <p:cNvPr id="7" name="Text 4"/>
          <p:cNvSpPr/>
          <p:nvPr/>
        </p:nvSpPr>
        <p:spPr>
          <a:xfrm>
            <a:off x="5190995" y="3578423"/>
            <a:ext cx="3094804" cy="294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Roster en Julio:</a:t>
            </a:r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Meta de 23 asesores activos en operación.</a:t>
            </a:r>
            <a:endParaRPr lang="en-US" sz="984" dirty="0"/>
          </a:p>
        </p:txBody>
      </p:sp>
      <p:sp>
        <p:nvSpPr>
          <p:cNvPr id="8" name="Text 5"/>
          <p:cNvSpPr/>
          <p:nvPr/>
        </p:nvSpPr>
        <p:spPr>
          <a:xfrm>
            <a:off x="1190595" y="4016573"/>
            <a:ext cx="3288052" cy="294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 capacitaciones</a:t>
            </a:r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ejecutadas por Xuma (al menos 1/mes).</a:t>
            </a:r>
            <a:endParaRPr lang="en-US" sz="984" dirty="0"/>
          </a:p>
        </p:txBody>
      </p:sp>
      <p:sp>
        <p:nvSpPr>
          <p:cNvPr id="9" name="Text 6"/>
          <p:cNvSpPr/>
          <p:nvPr/>
        </p:nvSpPr>
        <p:spPr>
          <a:xfrm>
            <a:off x="5190995" y="3140273"/>
            <a:ext cx="3531782" cy="372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Modelado Top:</a:t>
            </a:r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Replicar técnicas de mejores vendedores.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356339" y="2559248"/>
            <a:ext cx="3343266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 ventas CP+RS</a:t>
            </a:r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liquidadas en el primer semestre.</a:t>
            </a:r>
            <a:endParaRPr lang="en-US" sz="984" dirty="0"/>
          </a:p>
        </p:txBody>
      </p:sp>
      <p:sp>
        <p:nvSpPr>
          <p:cNvPr id="11" name="Text 8"/>
          <p:cNvSpPr/>
          <p:nvPr/>
        </p:nvSpPr>
        <p:spPr>
          <a:xfrm>
            <a:off x="1190595" y="2797373"/>
            <a:ext cx="3213435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🍔 </a:t>
            </a:r>
            <a:pPr algn="l" indent="0" marL="0">
              <a:buNone/>
            </a:pPr>
            <a:r>
              <a:rPr lang="en-US" sz="98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Semana Burger (Feb &amp; Abr) </a:t>
            </a:r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· Xuma</a:t>
            </a:r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: 1.266 ventas.</a:t>
            </a:r>
            <a:endParaRPr lang="en-US" sz="984" dirty="0"/>
          </a:p>
        </p:txBody>
      </p:sp>
      <p:sp>
        <p:nvSpPr>
          <p:cNvPr id="12" name="Text 9"/>
          <p:cNvSpPr/>
          <p:nvPr/>
        </p:nvSpPr>
        <p:spPr>
          <a:xfrm>
            <a:off x="1190595" y="3416498"/>
            <a:ext cx="2876946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🎡 </a:t>
            </a:r>
            <a:pPr algn="l" indent="0" marL="0">
              <a:buNone/>
            </a:pPr>
            <a:r>
              <a:rPr lang="en-US" sz="98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Ferias Vanti (Abr-May) </a:t>
            </a:r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· Xuma</a:t>
            </a:r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: 1.073 ventas.</a:t>
            </a:r>
            <a:endParaRPr lang="en-US" sz="984" dirty="0"/>
          </a:p>
        </p:txBody>
      </p:sp>
      <p:sp>
        <p:nvSpPr>
          <p:cNvPr id="13" name="Text 10"/>
          <p:cNvSpPr/>
          <p:nvPr/>
        </p:nvSpPr>
        <p:spPr>
          <a:xfrm>
            <a:off x="1355939" y="2559248"/>
            <a:ext cx="2875526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Semanas Ganadoras (Ene) </a:t>
            </a:r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· Vanti</a:t>
            </a:r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: 1.292 ventas.</a:t>
            </a:r>
            <a:endParaRPr lang="en-US" sz="984" dirty="0"/>
          </a:p>
        </p:txBody>
      </p:sp>
      <p:sp>
        <p:nvSpPr>
          <p:cNvPr id="14" name="Text 11"/>
          <p:cNvSpPr/>
          <p:nvPr/>
        </p:nvSpPr>
        <p:spPr>
          <a:xfrm>
            <a:off x="952476" y="764977"/>
            <a:ext cx="6450702" cy="1090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Hitos Consolidados del 1S y Plan 2S</a:t>
            </a:r>
            <a:endParaRPr lang="en-US" sz="3600" dirty="0"/>
          </a:p>
        </p:txBody>
      </p:sp>
      <p:sp>
        <p:nvSpPr>
          <p:cNvPr id="15" name="Text 12"/>
          <p:cNvSpPr/>
          <p:nvPr/>
        </p:nvSpPr>
        <p:spPr>
          <a:xfrm>
            <a:off x="1190595" y="2311598"/>
            <a:ext cx="2036907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Iniciativas 1S Ejecutadas</a:t>
            </a:r>
            <a:endParaRPr lang="en-US" sz="864" dirty="0"/>
          </a:p>
        </p:txBody>
      </p:sp>
      <p:sp>
        <p:nvSpPr>
          <p:cNvPr id="16" name="Text 13"/>
          <p:cNvSpPr/>
          <p:nvPr/>
        </p:nvSpPr>
        <p:spPr>
          <a:xfrm>
            <a:off x="5190995" y="2311598"/>
            <a:ext cx="209716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Hitos y Plan Comercial 2S</a:t>
            </a:r>
            <a:endParaRPr lang="en-US" sz="864" dirty="0"/>
          </a:p>
        </p:txBody>
      </p:sp>
      <p:sp>
        <p:nvSpPr>
          <p:cNvPr id="17" name="Text 14"/>
          <p:cNvSpPr/>
          <p:nvPr/>
        </p:nvSpPr>
        <p:spPr>
          <a:xfrm>
            <a:off x="952476" y="498277"/>
            <a:ext cx="1776613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Cierre del Informe</a:t>
            </a:r>
            <a:endParaRPr lang="en-US" sz="93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2026-07-19T18:02:08Z</dcterms:created>
  <dcterms:modified xsi:type="dcterms:W3CDTF">2026-07-19T18:02:08Z</dcterms:modified>
</cp:coreProperties>
</file>