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25" y="2887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Televentas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925" y="22784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Canal 2026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52476" y="4959400"/>
            <a:ext cx="4824292" cy="3592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Coordinadora Comercial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Martha Carvajal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Contribuyentes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Isaac Álvarez · Data Marshall, Gestión Integral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52476" y="5737771"/>
            <a:ext cx="1345224" cy="314325"/>
          </a:xfrm>
          <a:prstGeom prst="roundRect">
            <a:avLst>
              <a:gd name="adj" fmla="val 290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52476" y="5737771"/>
            <a:ext cx="1345224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– Jun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11997" y="5737771"/>
            <a:ext cx="1425440" cy="314325"/>
          </a:xfrm>
          <a:prstGeom prst="roundRect">
            <a:avLst>
              <a:gd name="adj" fmla="val 290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411997" y="5737771"/>
            <a:ext cx="142544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 ventas 1S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51734" y="5737771"/>
            <a:ext cx="1859561" cy="314325"/>
          </a:xfrm>
          <a:prstGeom prst="roundRect">
            <a:avLst>
              <a:gd name="adj" fmla="val 290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951734" y="5737771"/>
            <a:ext cx="1859561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15–21 asesores activos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25592" y="5737771"/>
            <a:ext cx="1174373" cy="314325"/>
          </a:xfrm>
          <a:prstGeom prst="roundRect">
            <a:avLst>
              <a:gd name="adj" fmla="val 2909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25592" y="5737771"/>
            <a:ext cx="1174373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 · Xuma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52476" y="4168527"/>
            <a:ext cx="4678146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primer semestre · Análisis de bases operativas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Estrategia para alcanzar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952476" y="1872704"/>
            <a:ext cx="3229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Informe Ejecutivo · Canal Televentas</a:t>
            </a:r>
            <a:endParaRPr lang="en-US" sz="936" dirty="0"/>
          </a:p>
        </p:txBody>
      </p:sp>
      <p:sp>
        <p:nvSpPr>
          <p:cNvPr id="15" name="Text 13"/>
          <p:cNvSpPr/>
          <p:nvPr/>
        </p:nvSpPr>
        <p:spPr>
          <a:xfrm>
            <a:off x="4022872" y="5149900"/>
            <a:ext cx="17538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Data Marshall, Gestión Integral</a:t>
            </a:r>
            <a:endParaRPr lang="en-US" sz="936" dirty="0"/>
          </a:p>
        </p:txBody>
      </p:sp>
      <p:sp>
        <p:nvSpPr>
          <p:cNvPr id="16" name="Text 14"/>
          <p:cNvSpPr/>
          <p:nvPr/>
        </p:nvSpPr>
        <p:spPr>
          <a:xfrm>
            <a:off x="952476" y="4959400"/>
            <a:ext cx="16791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Coordinadora Comercial</a:t>
            </a:r>
            <a:endParaRPr lang="en-US" sz="768" dirty="0"/>
          </a:p>
        </p:txBody>
      </p:sp>
      <p:sp>
        <p:nvSpPr>
          <p:cNvPr id="17" name="Text 15"/>
          <p:cNvSpPr/>
          <p:nvPr/>
        </p:nvSpPr>
        <p:spPr>
          <a:xfrm>
            <a:off x="952476" y="5121325"/>
            <a:ext cx="1679186" cy="19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Martha Carvajal</a:t>
            </a:r>
            <a:endParaRPr lang="en-US" sz="1032" dirty="0"/>
          </a:p>
        </p:txBody>
      </p:sp>
      <p:sp>
        <p:nvSpPr>
          <p:cNvPr id="18" name="Text 16"/>
          <p:cNvSpPr/>
          <p:nvPr/>
        </p:nvSpPr>
        <p:spPr>
          <a:xfrm>
            <a:off x="3174573" y="4959400"/>
            <a:ext cx="26021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Contribuyentes</a:t>
            </a:r>
            <a:endParaRPr lang="en-US" sz="768" dirty="0"/>
          </a:p>
        </p:txBody>
      </p:sp>
      <p:sp>
        <p:nvSpPr>
          <p:cNvPr id="19" name="Text 17"/>
          <p:cNvSpPr/>
          <p:nvPr/>
        </p:nvSpPr>
        <p:spPr>
          <a:xfrm>
            <a:off x="3174573" y="5121325"/>
            <a:ext cx="2602195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</a:t>
            </a:r>
            <a:endParaRPr lang="en-US" sz="1032" dirty="0"/>
          </a:p>
        </p:txBody>
      </p:sp>
      <p:sp>
        <p:nvSpPr>
          <p:cNvPr id="20" name="Text 18"/>
          <p:cNvSpPr/>
          <p:nvPr/>
        </p:nvSpPr>
        <p:spPr>
          <a:xfrm>
            <a:off x="952476" y="2771329"/>
            <a:ext cx="290415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Televentas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2476" y="2187029"/>
            <a:ext cx="2904159" cy="181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Canal2026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CanalPrimer Semestre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2476" y="4370189"/>
            <a:ext cx="5524362" cy="51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ventas, desempeño por asesor, eficiencia por campaña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e iniciativas ejecutadas durante el primer semestre.</a:t>
            </a:r>
            <a:endParaRPr lang="en-US" sz="1260" dirty="0"/>
          </a:p>
        </p:txBody>
      </p:sp>
      <p:sp>
        <p:nvSpPr>
          <p:cNvPr id="5" name="Text 3"/>
          <p:cNvSpPr/>
          <p:nvPr/>
        </p:nvSpPr>
        <p:spPr>
          <a:xfrm>
            <a:off x="952476" y="3128367"/>
            <a:ext cx="4897662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CanalPrimer Semestre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52476" y="2852142"/>
            <a:ext cx="9133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1</a:t>
            </a:r>
            <a:endParaRPr lang="en-US" sz="936" dirty="0"/>
          </a:p>
        </p:txBody>
      </p:sp>
      <p:sp>
        <p:nvSpPr>
          <p:cNvPr id="7" name="Text 5"/>
          <p:cNvSpPr/>
          <p:nvPr/>
        </p:nvSpPr>
        <p:spPr>
          <a:xfrm>
            <a:off x="952476" y="1975842"/>
            <a:ext cx="123866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Ventas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1851720"/>
            <a:ext cx="11048724" cy="3985171"/>
          </a:xfrm>
          <a:prstGeom prst="roundRect">
            <a:avLst>
              <a:gd name="adj" fmla="val 34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3882" y="4486382"/>
            <a:ext cx="5314817" cy="923925"/>
          </a:xfrm>
          <a:prstGeom prst="roundRect">
            <a:avLst>
              <a:gd name="adj" fmla="val 148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52996" y="4545918"/>
            <a:ext cx="5314817" cy="923925"/>
          </a:xfrm>
          <a:prstGeom prst="roundRect">
            <a:avLst>
              <a:gd name="adj" fmla="val 148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1486" y="933450"/>
            <a:ext cx="38099" cy="746820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5" y="933450"/>
            <a:ext cx="3568512" cy="746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292393" y="933450"/>
            <a:ext cx="38099" cy="746820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0493" y="933450"/>
            <a:ext cx="3568660" cy="746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013450" y="933450"/>
            <a:ext cx="38099" cy="7468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Shape 12"/>
          <p:cNvSpPr/>
          <p:nvPr/>
        </p:nvSpPr>
        <p:spPr>
          <a:xfrm>
            <a:off x="8051549" y="933450"/>
            <a:ext cx="3568512" cy="746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23882" y="5395020"/>
            <a:ext cx="10743931" cy="384721"/>
          </a:xfrm>
          <a:prstGeom prst="rect">
            <a:avLst/>
          </a:prstGeom>
          <a:solidFill>
            <a:srgbClr val="120180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177387"/>
          <a:ext cx="4572000" cy="2181225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(CP)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Combo Vida (VOL)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General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1.689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1.695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1.391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1.901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1.568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1.568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127,0 %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1.452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1.741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10.534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7.250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3.383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2.194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9.444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1142971" y="5452170"/>
            <a:ext cx="8614849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el semestre —  de la meta general, cumpliendo los 6 meses. Cuota Protegida aportó 10.534 (145 %) y Combo Vida 3.383 (154 %).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8203945" y="1489770"/>
            <a:ext cx="3263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necesario sobre junio (2.314) · mejor mes: 2.431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1213514" y="219075"/>
            <a:ext cx="37316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761981" y="990600"/>
            <a:ext cx="3263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(1S completo)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857229" y="4543532"/>
            <a:ext cx="50481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Cuota Protegida</a:t>
            </a:r>
            <a:endParaRPr lang="en-US" sz="936" dirty="0"/>
          </a:p>
        </p:txBody>
      </p:sp>
      <p:sp>
        <p:nvSpPr>
          <p:cNvPr id="22" name="Text 19"/>
          <p:cNvSpPr/>
          <p:nvPr/>
        </p:nvSpPr>
        <p:spPr>
          <a:xfrm>
            <a:off x="4482889" y="1489770"/>
            <a:ext cx="32638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· Pico (abr–may) · Jun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8203945" y="990600"/>
            <a:ext cx="3263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Brecha vs. meta 3.000/mes</a:t>
            </a:r>
            <a:endParaRPr lang="en-US" sz="864" dirty="0"/>
          </a:p>
        </p:txBody>
      </p:sp>
      <p:sp>
        <p:nvSpPr>
          <p:cNvPr id="24" name="Text 21"/>
          <p:cNvSpPr/>
          <p:nvPr/>
        </p:nvSpPr>
        <p:spPr>
          <a:xfrm>
            <a:off x="6286343" y="4603068"/>
            <a:ext cx="50481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Combo Vida</a:t>
            </a:r>
            <a:endParaRPr lang="en-US" sz="936" dirty="0"/>
          </a:p>
        </p:txBody>
      </p:sp>
      <p:sp>
        <p:nvSpPr>
          <p:cNvPr id="25" name="Text 22"/>
          <p:cNvSpPr/>
          <p:nvPr/>
        </p:nvSpPr>
        <p:spPr>
          <a:xfrm>
            <a:off x="761981" y="1489770"/>
            <a:ext cx="3263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ene–jun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4482889" y="990600"/>
            <a:ext cx="32638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en equipo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10362941" y="209550"/>
            <a:ext cx="12572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Ventas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4482889" y="1162050"/>
            <a:ext cx="3263868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 → 21 → 21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61981" y="1162050"/>
            <a:ext cx="3263719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203945" y="1162050"/>
            <a:ext cx="3263719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+30 %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378419" y="1908870"/>
            <a:ext cx="49990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1920802" y="492072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1.689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2466645" y="479499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1.819</a:t>
            </a:r>
            <a:endParaRPr lang="en-US" sz="675" dirty="0"/>
          </a:p>
        </p:txBody>
      </p:sp>
      <p:sp>
        <p:nvSpPr>
          <p:cNvPr id="34" name="Text 31"/>
          <p:cNvSpPr/>
          <p:nvPr/>
        </p:nvSpPr>
        <p:spPr>
          <a:xfrm>
            <a:off x="3007205" y="471498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1.901</a:t>
            </a:r>
            <a:endParaRPr lang="en-US" sz="675" dirty="0"/>
          </a:p>
        </p:txBody>
      </p:sp>
      <p:sp>
        <p:nvSpPr>
          <p:cNvPr id="35" name="Text 32"/>
          <p:cNvSpPr/>
          <p:nvPr/>
        </p:nvSpPr>
        <p:spPr>
          <a:xfrm>
            <a:off x="3547840" y="479784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1.816</a:t>
            </a:r>
            <a:endParaRPr lang="en-US" sz="675" dirty="0"/>
          </a:p>
        </p:txBody>
      </p:sp>
      <p:sp>
        <p:nvSpPr>
          <p:cNvPr id="36" name="Text 33"/>
          <p:cNvSpPr/>
          <p:nvPr/>
        </p:nvSpPr>
        <p:spPr>
          <a:xfrm>
            <a:off x="4086316" y="503883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4635806" y="487023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1.741</a:t>
            </a:r>
            <a:endParaRPr lang="en-US" sz="675" dirty="0"/>
          </a:p>
        </p:txBody>
      </p:sp>
      <p:sp>
        <p:nvSpPr>
          <p:cNvPr id="38" name="Text 35"/>
          <p:cNvSpPr/>
          <p:nvPr/>
        </p:nvSpPr>
        <p:spPr>
          <a:xfrm>
            <a:off x="10935468" y="1908870"/>
            <a:ext cx="5323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1961134" y="520075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2502661" y="520075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3043370" y="520075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3579614" y="520075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4118760" y="520075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4661255" y="520075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00" dirty="0"/>
          </a:p>
        </p:txBody>
      </p:sp>
      <p:sp>
        <p:nvSpPr>
          <p:cNvPr id="45" name="Text 42"/>
          <p:cNvSpPr/>
          <p:nvPr/>
        </p:nvSpPr>
        <p:spPr>
          <a:xfrm>
            <a:off x="7384369" y="500311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675" dirty="0"/>
          </a:p>
        </p:txBody>
      </p:sp>
      <p:sp>
        <p:nvSpPr>
          <p:cNvPr id="46" name="Text 43"/>
          <p:cNvSpPr/>
          <p:nvPr/>
        </p:nvSpPr>
        <p:spPr>
          <a:xfrm>
            <a:off x="7390248" y="526029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7927608" y="500597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675" dirty="0"/>
          </a:p>
        </p:txBody>
      </p:sp>
      <p:sp>
        <p:nvSpPr>
          <p:cNvPr id="48" name="Text 45"/>
          <p:cNvSpPr/>
          <p:nvPr/>
        </p:nvSpPr>
        <p:spPr>
          <a:xfrm>
            <a:off x="7931775" y="526029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00" dirty="0"/>
          </a:p>
        </p:txBody>
      </p:sp>
      <p:sp>
        <p:nvSpPr>
          <p:cNvPr id="49" name="Text 46"/>
          <p:cNvSpPr/>
          <p:nvPr/>
        </p:nvSpPr>
        <p:spPr>
          <a:xfrm>
            <a:off x="8465861" y="509836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530</a:t>
            </a:r>
            <a:endParaRPr lang="en-US" sz="675" dirty="0"/>
          </a:p>
        </p:txBody>
      </p:sp>
      <p:sp>
        <p:nvSpPr>
          <p:cNvPr id="50" name="Text 47"/>
          <p:cNvSpPr/>
          <p:nvPr/>
        </p:nvSpPr>
        <p:spPr>
          <a:xfrm>
            <a:off x="8472484" y="526029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9012226" y="502121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551</a:t>
            </a:r>
            <a:endParaRPr lang="en-US" sz="675" dirty="0"/>
          </a:p>
        </p:txBody>
      </p:sp>
      <p:sp>
        <p:nvSpPr>
          <p:cNvPr id="52" name="Text 49"/>
          <p:cNvSpPr/>
          <p:nvPr/>
        </p:nvSpPr>
        <p:spPr>
          <a:xfrm>
            <a:off x="9008728" y="526029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00" dirty="0"/>
          </a:p>
        </p:txBody>
      </p:sp>
      <p:sp>
        <p:nvSpPr>
          <p:cNvPr id="53" name="Text 50"/>
          <p:cNvSpPr/>
          <p:nvPr/>
        </p:nvSpPr>
        <p:spPr>
          <a:xfrm>
            <a:off x="9548767" y="477451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618</a:t>
            </a:r>
            <a:endParaRPr lang="en-US" sz="675" dirty="0"/>
          </a:p>
        </p:txBody>
      </p:sp>
      <p:sp>
        <p:nvSpPr>
          <p:cNvPr id="54" name="Text 51"/>
          <p:cNvSpPr/>
          <p:nvPr/>
        </p:nvSpPr>
        <p:spPr>
          <a:xfrm>
            <a:off x="9547874" y="526029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00" dirty="0"/>
          </a:p>
        </p:txBody>
      </p:sp>
      <p:sp>
        <p:nvSpPr>
          <p:cNvPr id="55" name="Text 52"/>
          <p:cNvSpPr/>
          <p:nvPr/>
        </p:nvSpPr>
        <p:spPr>
          <a:xfrm>
            <a:off x="10091188" y="494025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573</a:t>
            </a:r>
            <a:endParaRPr lang="en-US" sz="675" dirty="0"/>
          </a:p>
        </p:txBody>
      </p:sp>
      <p:sp>
        <p:nvSpPr>
          <p:cNvPr id="56" name="Text 53"/>
          <p:cNvSpPr/>
          <p:nvPr/>
        </p:nvSpPr>
        <p:spPr>
          <a:xfrm>
            <a:off x="10090369" y="526029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Ventas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1851720"/>
            <a:ext cx="11048724" cy="3985171"/>
          </a:xfrm>
          <a:prstGeom prst="roundRect">
            <a:avLst>
              <a:gd name="adj" fmla="val 34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3882" y="4486445"/>
            <a:ext cx="5314817" cy="923925"/>
          </a:xfrm>
          <a:prstGeom prst="roundRect">
            <a:avLst>
              <a:gd name="adj" fmla="val 148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52996" y="4545963"/>
            <a:ext cx="5314817" cy="923925"/>
          </a:xfrm>
          <a:prstGeom prst="roundRect">
            <a:avLst>
              <a:gd name="adj" fmla="val 148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1486" y="933450"/>
            <a:ext cx="38099" cy="746820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5" y="933450"/>
            <a:ext cx="3568512" cy="746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292393" y="933450"/>
            <a:ext cx="38099" cy="746820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0493" y="933450"/>
            <a:ext cx="3568660" cy="746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013450" y="933450"/>
            <a:ext cx="38099" cy="7468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Shape 12"/>
          <p:cNvSpPr/>
          <p:nvPr/>
        </p:nvSpPr>
        <p:spPr>
          <a:xfrm>
            <a:off x="8051549" y="933450"/>
            <a:ext cx="3568512" cy="746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23882" y="5395020"/>
            <a:ext cx="10743931" cy="384721"/>
          </a:xfrm>
          <a:prstGeom prst="rect">
            <a:avLst/>
          </a:prstGeom>
          <a:solidFill>
            <a:srgbClr val="120180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177394"/>
          <a:ext cx="4572000" cy="2181225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(CP)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Combo Vida (VOL)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General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1.689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1.703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2.132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1.901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1.568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1.741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2.000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87,0 %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10.534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11.643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3.383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2.929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14.572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1142971" y="5452170"/>
            <a:ext cx="8916368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el semestre —  de la meta general, con 3 de 6 meses sobre la meta. Cuota Protegida aportó 10.534 (90 %) y Combo Vida 3.383 (116 %).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8203945" y="1489770"/>
            <a:ext cx="3263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necesario sobre junio (2.314) · mejor mes: 2.431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1213514" y="219075"/>
            <a:ext cx="37316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761981" y="990600"/>
            <a:ext cx="3263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(1S completo)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857229" y="4543595"/>
            <a:ext cx="50481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Cuota Protegida</a:t>
            </a:r>
            <a:endParaRPr lang="en-US" sz="936" dirty="0"/>
          </a:p>
        </p:txBody>
      </p:sp>
      <p:sp>
        <p:nvSpPr>
          <p:cNvPr id="22" name="Text 19"/>
          <p:cNvSpPr/>
          <p:nvPr/>
        </p:nvSpPr>
        <p:spPr>
          <a:xfrm>
            <a:off x="4482889" y="1489770"/>
            <a:ext cx="32638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· Pico (abr–may) · Jun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8203945" y="990600"/>
            <a:ext cx="3263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Brecha vs. meta 3.000/mes</a:t>
            </a:r>
            <a:endParaRPr lang="en-US" sz="864" dirty="0"/>
          </a:p>
        </p:txBody>
      </p:sp>
      <p:sp>
        <p:nvSpPr>
          <p:cNvPr id="24" name="Text 21"/>
          <p:cNvSpPr/>
          <p:nvPr/>
        </p:nvSpPr>
        <p:spPr>
          <a:xfrm>
            <a:off x="6286343" y="4603113"/>
            <a:ext cx="50481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Combo Vida</a:t>
            </a:r>
            <a:endParaRPr lang="en-US" sz="936" dirty="0"/>
          </a:p>
        </p:txBody>
      </p:sp>
      <p:sp>
        <p:nvSpPr>
          <p:cNvPr id="25" name="Text 22"/>
          <p:cNvSpPr/>
          <p:nvPr/>
        </p:nvSpPr>
        <p:spPr>
          <a:xfrm>
            <a:off x="761981" y="1489770"/>
            <a:ext cx="3263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ene–jun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4482889" y="990600"/>
            <a:ext cx="32638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en equipo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10362941" y="209550"/>
            <a:ext cx="12572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Ventas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4482889" y="1162050"/>
            <a:ext cx="3263868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 → 21 → 21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61981" y="1162050"/>
            <a:ext cx="3263719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203945" y="1162050"/>
            <a:ext cx="3263719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+30 %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378419" y="1908870"/>
            <a:ext cx="49990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1920802" y="492078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1.689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2466645" y="479505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1.819</a:t>
            </a:r>
            <a:endParaRPr lang="en-US" sz="675" dirty="0"/>
          </a:p>
        </p:txBody>
      </p:sp>
      <p:sp>
        <p:nvSpPr>
          <p:cNvPr id="34" name="Text 31"/>
          <p:cNvSpPr/>
          <p:nvPr/>
        </p:nvSpPr>
        <p:spPr>
          <a:xfrm>
            <a:off x="3007205" y="47150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1.901</a:t>
            </a:r>
            <a:endParaRPr lang="en-US" sz="675" dirty="0"/>
          </a:p>
        </p:txBody>
      </p:sp>
      <p:sp>
        <p:nvSpPr>
          <p:cNvPr id="35" name="Text 32"/>
          <p:cNvSpPr/>
          <p:nvPr/>
        </p:nvSpPr>
        <p:spPr>
          <a:xfrm>
            <a:off x="3547840" y="479791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1.816</a:t>
            </a:r>
            <a:endParaRPr lang="en-US" sz="675" dirty="0"/>
          </a:p>
        </p:txBody>
      </p:sp>
      <p:sp>
        <p:nvSpPr>
          <p:cNvPr id="36" name="Text 33"/>
          <p:cNvSpPr/>
          <p:nvPr/>
        </p:nvSpPr>
        <p:spPr>
          <a:xfrm>
            <a:off x="4086316" y="503889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4635806" y="487030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1.741</a:t>
            </a:r>
            <a:endParaRPr lang="en-US" sz="675" dirty="0"/>
          </a:p>
        </p:txBody>
      </p:sp>
      <p:sp>
        <p:nvSpPr>
          <p:cNvPr id="38" name="Text 35"/>
          <p:cNvSpPr/>
          <p:nvPr/>
        </p:nvSpPr>
        <p:spPr>
          <a:xfrm>
            <a:off x="10935468" y="1908870"/>
            <a:ext cx="5323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1961134" y="520082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2502661" y="520082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3043370" y="520082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3579614" y="520082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4118760" y="520082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4661255" y="520082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00" dirty="0"/>
          </a:p>
        </p:txBody>
      </p:sp>
      <p:sp>
        <p:nvSpPr>
          <p:cNvPr id="45" name="Text 42"/>
          <p:cNvSpPr/>
          <p:nvPr/>
        </p:nvSpPr>
        <p:spPr>
          <a:xfrm>
            <a:off x="7384369" y="500316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675" dirty="0"/>
          </a:p>
        </p:txBody>
      </p:sp>
      <p:sp>
        <p:nvSpPr>
          <p:cNvPr id="46" name="Text 43"/>
          <p:cNvSpPr/>
          <p:nvPr/>
        </p:nvSpPr>
        <p:spPr>
          <a:xfrm>
            <a:off x="7390248" y="526033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7927608" y="500602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675" dirty="0"/>
          </a:p>
        </p:txBody>
      </p:sp>
      <p:sp>
        <p:nvSpPr>
          <p:cNvPr id="48" name="Text 45"/>
          <p:cNvSpPr/>
          <p:nvPr/>
        </p:nvSpPr>
        <p:spPr>
          <a:xfrm>
            <a:off x="7931775" y="526033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00" dirty="0"/>
          </a:p>
        </p:txBody>
      </p:sp>
      <p:sp>
        <p:nvSpPr>
          <p:cNvPr id="49" name="Text 46"/>
          <p:cNvSpPr/>
          <p:nvPr/>
        </p:nvSpPr>
        <p:spPr>
          <a:xfrm>
            <a:off x="8465861" y="509841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530</a:t>
            </a:r>
            <a:endParaRPr lang="en-US" sz="675" dirty="0"/>
          </a:p>
        </p:txBody>
      </p:sp>
      <p:sp>
        <p:nvSpPr>
          <p:cNvPr id="50" name="Text 47"/>
          <p:cNvSpPr/>
          <p:nvPr/>
        </p:nvSpPr>
        <p:spPr>
          <a:xfrm>
            <a:off x="8472484" y="526033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9012226" y="502126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551</a:t>
            </a:r>
            <a:endParaRPr lang="en-US" sz="675" dirty="0"/>
          </a:p>
        </p:txBody>
      </p:sp>
      <p:sp>
        <p:nvSpPr>
          <p:cNvPr id="52" name="Text 49"/>
          <p:cNvSpPr/>
          <p:nvPr/>
        </p:nvSpPr>
        <p:spPr>
          <a:xfrm>
            <a:off x="9008728" y="526033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00" dirty="0"/>
          </a:p>
        </p:txBody>
      </p:sp>
      <p:sp>
        <p:nvSpPr>
          <p:cNvPr id="53" name="Text 50"/>
          <p:cNvSpPr/>
          <p:nvPr/>
        </p:nvSpPr>
        <p:spPr>
          <a:xfrm>
            <a:off x="9548767" y="477456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618</a:t>
            </a:r>
            <a:endParaRPr lang="en-US" sz="675" dirty="0"/>
          </a:p>
        </p:txBody>
      </p:sp>
      <p:sp>
        <p:nvSpPr>
          <p:cNvPr id="54" name="Text 51"/>
          <p:cNvSpPr/>
          <p:nvPr/>
        </p:nvSpPr>
        <p:spPr>
          <a:xfrm>
            <a:off x="9547874" y="526033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00" dirty="0"/>
          </a:p>
        </p:txBody>
      </p:sp>
      <p:sp>
        <p:nvSpPr>
          <p:cNvPr id="55" name="Text 52"/>
          <p:cNvSpPr/>
          <p:nvPr/>
        </p:nvSpPr>
        <p:spPr>
          <a:xfrm>
            <a:off x="10091188" y="494029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573</a:t>
            </a:r>
            <a:endParaRPr lang="en-US" sz="675" dirty="0"/>
          </a:p>
        </p:txBody>
      </p:sp>
      <p:sp>
        <p:nvSpPr>
          <p:cNvPr id="56" name="Text 53"/>
          <p:cNvSpPr/>
          <p:nvPr/>
        </p:nvSpPr>
        <p:spPr>
          <a:xfrm>
            <a:off x="10090369" y="526033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Bases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Consolidado de las Bases · 1S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1908870"/>
            <a:ext cx="5457689" cy="3219450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62521" y="1908870"/>
            <a:ext cx="5457689" cy="3219450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486" y="933450"/>
            <a:ext cx="38099" cy="784920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5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362241" y="933450"/>
            <a:ext cx="38099" cy="784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Shape 9"/>
          <p:cNvSpPr/>
          <p:nvPr/>
        </p:nvSpPr>
        <p:spPr>
          <a:xfrm>
            <a:off x="3400340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152996" y="933450"/>
            <a:ext cx="38099" cy="784920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1095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943751" y="933450"/>
            <a:ext cx="38099" cy="784920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5" name="Shape 13"/>
          <p:cNvSpPr/>
          <p:nvPr/>
        </p:nvSpPr>
        <p:spPr>
          <a:xfrm>
            <a:off x="8981850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71486" y="5395020"/>
            <a:ext cx="11048724" cy="384721"/>
          </a:xfrm>
          <a:prstGeom prst="rect">
            <a:avLst/>
          </a:prstGeom>
          <a:solidFill>
            <a:srgbClr val="120180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232720"/>
          <a:ext cx="4572000" cy="1924050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201.409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99.241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102.168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94.918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48.185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46.733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134.897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60.998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73.899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153.111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114.123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38.988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154.335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116.691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37.644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173.413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109.130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64.283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912.083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548.368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363.715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990575" y="5452170"/>
            <a:ext cx="104645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78 % del descarte son registros re-enviados (49 %) y clientes con el producto activo (29 %) — depurar la base en origen podría liberar  al semestre.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6314917" y="4956870"/>
            <a:ext cx="5152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Ancho del embudo en escala visual (no lineal) — los valores y porcentajes son los reales.</a:t>
            </a:r>
            <a:endParaRPr lang="en-US" sz="648" dirty="0"/>
          </a:p>
        </p:txBody>
      </p:sp>
      <p:sp>
        <p:nvSpPr>
          <p:cNvPr id="20" name="Text 17"/>
          <p:cNvSpPr/>
          <p:nvPr/>
        </p:nvSpPr>
        <p:spPr>
          <a:xfrm>
            <a:off x="6314917" y="3544342"/>
            <a:ext cx="1528724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efectivamente marcados por el equipo</a:t>
            </a:r>
            <a:endParaRPr lang="en-US" sz="672" dirty="0"/>
          </a:p>
        </p:txBody>
      </p:sp>
      <p:sp>
        <p:nvSpPr>
          <p:cNvPr id="21" name="Text 18"/>
          <p:cNvSpPr/>
          <p:nvPr/>
        </p:nvSpPr>
        <p:spPr>
          <a:xfrm>
            <a:off x="9134247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venta por cada 66 registros recibidos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6314917" y="2528590"/>
            <a:ext cx="15287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Bases enviadas por Vanti (Power BI)</a:t>
            </a:r>
            <a:endParaRPr lang="en-US" sz="672" dirty="0"/>
          </a:p>
        </p:txBody>
      </p:sp>
      <p:sp>
        <p:nvSpPr>
          <p:cNvPr id="23" name="Text 20"/>
          <p:cNvSpPr/>
          <p:nvPr/>
        </p:nvSpPr>
        <p:spPr>
          <a:xfrm>
            <a:off x="1213514" y="219075"/>
            <a:ext cx="28766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Consolidado de las Bases · 1S 2026</a:t>
            </a:r>
            <a:endParaRPr lang="en-US" sz="1260" dirty="0"/>
          </a:p>
        </p:txBody>
      </p:sp>
      <p:sp>
        <p:nvSpPr>
          <p:cNvPr id="24" name="Text 21"/>
          <p:cNvSpPr/>
          <p:nvPr/>
        </p:nvSpPr>
        <p:spPr>
          <a:xfrm>
            <a:off x="6314917" y="4128790"/>
            <a:ext cx="15287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Clientes con contacto efectivo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761981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 (ene–jun)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761981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Fuente: dashboards Power BI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3552736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Solo 40 % apto para gestión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6314917" y="3061990"/>
            <a:ext cx="15287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Tras depuración y descarte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3552736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 de base</a:t>
            </a:r>
            <a:endParaRPr lang="en-US" sz="864" dirty="0"/>
          </a:p>
        </p:txBody>
      </p:sp>
      <p:sp>
        <p:nvSpPr>
          <p:cNvPr id="30" name="Text 27"/>
          <p:cNvSpPr/>
          <p:nvPr/>
        </p:nvSpPr>
        <p:spPr>
          <a:xfrm>
            <a:off x="9939089" y="2466082"/>
            <a:ext cx="15287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 · punto de partida</a:t>
            </a:r>
            <a:endParaRPr lang="en-US" sz="744" dirty="0"/>
          </a:p>
        </p:txBody>
      </p:sp>
      <p:sp>
        <p:nvSpPr>
          <p:cNvPr id="31" name="Text 28"/>
          <p:cNvSpPr/>
          <p:nvPr/>
        </p:nvSpPr>
        <p:spPr>
          <a:xfrm>
            <a:off x="9134247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1S (liquidación)</a:t>
            </a:r>
            <a:endParaRPr lang="en-US" sz="864" dirty="0"/>
          </a:p>
        </p:txBody>
      </p:sp>
      <p:sp>
        <p:nvSpPr>
          <p:cNvPr id="32" name="Text 29"/>
          <p:cNvSpPr/>
          <p:nvPr/>
        </p:nvSpPr>
        <p:spPr>
          <a:xfrm>
            <a:off x="6343491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(gestionables)</a:t>
            </a:r>
            <a:endParaRPr lang="en-US" sz="864" dirty="0"/>
          </a:p>
        </p:txBody>
      </p:sp>
      <p:sp>
        <p:nvSpPr>
          <p:cNvPr id="33" name="Text 30"/>
          <p:cNvSpPr/>
          <p:nvPr/>
        </p:nvSpPr>
        <p:spPr>
          <a:xfrm>
            <a:off x="6343491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912.083 recibidos</a:t>
            </a:r>
            <a:endParaRPr lang="en-US" sz="864" dirty="0"/>
          </a:p>
        </p:txBody>
      </p:sp>
      <p:sp>
        <p:nvSpPr>
          <p:cNvPr id="34" name="Text 31"/>
          <p:cNvSpPr/>
          <p:nvPr/>
        </p:nvSpPr>
        <p:spPr>
          <a:xfrm>
            <a:off x="6314917" y="2405955"/>
            <a:ext cx="15287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6314917" y="2939355"/>
            <a:ext cx="15287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para gestión</a:t>
            </a:r>
            <a:endParaRPr lang="en-US" sz="840" dirty="0"/>
          </a:p>
        </p:txBody>
      </p:sp>
      <p:sp>
        <p:nvSpPr>
          <p:cNvPr id="36" name="Text 33"/>
          <p:cNvSpPr/>
          <p:nvPr/>
        </p:nvSpPr>
        <p:spPr>
          <a:xfrm>
            <a:off x="9939089" y="2999482"/>
            <a:ext cx="15287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37" name="Text 34"/>
          <p:cNvSpPr/>
          <p:nvPr/>
        </p:nvSpPr>
        <p:spPr>
          <a:xfrm>
            <a:off x="9939089" y="3532882"/>
            <a:ext cx="15287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38" name="Text 35"/>
          <p:cNvSpPr/>
          <p:nvPr/>
        </p:nvSpPr>
        <p:spPr>
          <a:xfrm>
            <a:off x="9939089" y="4066282"/>
            <a:ext cx="15287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39" name="Text 36"/>
          <p:cNvSpPr/>
          <p:nvPr/>
        </p:nvSpPr>
        <p:spPr>
          <a:xfrm>
            <a:off x="9939089" y="4599682"/>
            <a:ext cx="15287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40" name="Text 37"/>
          <p:cNvSpPr/>
          <p:nvPr/>
        </p:nvSpPr>
        <p:spPr>
          <a:xfrm>
            <a:off x="10451640" y="209550"/>
            <a:ext cx="11685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Bases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6314917" y="4662190"/>
            <a:ext cx="15287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</a:t>
            </a:r>
            <a:endParaRPr lang="en-US" sz="672" dirty="0"/>
          </a:p>
        </p:txBody>
      </p:sp>
      <p:sp>
        <p:nvSpPr>
          <p:cNvPr id="42" name="Text 39"/>
          <p:cNvSpPr/>
          <p:nvPr/>
        </p:nvSpPr>
        <p:spPr>
          <a:xfrm>
            <a:off x="6314917" y="3421707"/>
            <a:ext cx="15287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Gestionados</a:t>
            </a:r>
            <a:endParaRPr lang="en-US" sz="840" dirty="0"/>
          </a:p>
        </p:txBody>
      </p:sp>
      <p:sp>
        <p:nvSpPr>
          <p:cNvPr id="43" name="Text 40"/>
          <p:cNvSpPr/>
          <p:nvPr/>
        </p:nvSpPr>
        <p:spPr>
          <a:xfrm>
            <a:off x="6314917" y="4006155"/>
            <a:ext cx="15287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</a:t>
            </a:r>
            <a:endParaRPr lang="en-US" sz="840" dirty="0"/>
          </a:p>
        </p:txBody>
      </p:sp>
      <p:sp>
        <p:nvSpPr>
          <p:cNvPr id="44" name="Text 41"/>
          <p:cNvSpPr/>
          <p:nvPr/>
        </p:nvSpPr>
        <p:spPr>
          <a:xfrm>
            <a:off x="761981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912.083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6343491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363.715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7938889" y="2251770"/>
            <a:ext cx="19049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912.083</a:t>
            </a:r>
            <a:endParaRPr lang="en-US" sz="912" dirty="0"/>
          </a:p>
        </p:txBody>
      </p:sp>
      <p:sp>
        <p:nvSpPr>
          <p:cNvPr id="47" name="Text 44"/>
          <p:cNvSpPr/>
          <p:nvPr/>
        </p:nvSpPr>
        <p:spPr>
          <a:xfrm>
            <a:off x="7938889" y="2785170"/>
            <a:ext cx="19049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363.715</a:t>
            </a:r>
            <a:endParaRPr lang="en-US" sz="912" dirty="0"/>
          </a:p>
        </p:txBody>
      </p:sp>
      <p:sp>
        <p:nvSpPr>
          <p:cNvPr id="48" name="Text 45"/>
          <p:cNvSpPr/>
          <p:nvPr/>
        </p:nvSpPr>
        <p:spPr>
          <a:xfrm>
            <a:off x="7938889" y="3318570"/>
            <a:ext cx="19049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321.087</a:t>
            </a:r>
            <a:endParaRPr lang="en-US" sz="912" dirty="0"/>
          </a:p>
        </p:txBody>
      </p:sp>
      <p:sp>
        <p:nvSpPr>
          <p:cNvPr id="49" name="Text 46"/>
          <p:cNvSpPr/>
          <p:nvPr/>
        </p:nvSpPr>
        <p:spPr>
          <a:xfrm>
            <a:off x="7938889" y="3851970"/>
            <a:ext cx="19049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</a:t>
            </a:r>
            <a:endParaRPr lang="en-US" sz="912" dirty="0"/>
          </a:p>
        </p:txBody>
      </p:sp>
      <p:sp>
        <p:nvSpPr>
          <p:cNvPr id="50" name="Text 47"/>
          <p:cNvSpPr/>
          <p:nvPr/>
        </p:nvSpPr>
        <p:spPr>
          <a:xfrm>
            <a:off x="9134247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7938889" y="4385370"/>
            <a:ext cx="19049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912" dirty="0"/>
          </a:p>
        </p:txBody>
      </p:sp>
      <p:sp>
        <p:nvSpPr>
          <p:cNvPr id="52" name="Text 49"/>
          <p:cNvSpPr/>
          <p:nvPr/>
        </p:nvSpPr>
        <p:spPr>
          <a:xfrm>
            <a:off x="6314917" y="4539555"/>
            <a:ext cx="15287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40" dirty="0"/>
          </a:p>
        </p:txBody>
      </p:sp>
      <p:sp>
        <p:nvSpPr>
          <p:cNvPr id="53" name="Text 50"/>
          <p:cNvSpPr/>
          <p:nvPr/>
        </p:nvSpPr>
        <p:spPr>
          <a:xfrm>
            <a:off x="3552736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Campañas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por Campaña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1682055"/>
            <a:ext cx="5467213" cy="4257675"/>
          </a:xfrm>
          <a:prstGeom prst="roundRect">
            <a:avLst>
              <a:gd name="adj" fmla="val 32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52996" y="1682055"/>
            <a:ext cx="5467213" cy="4257675"/>
          </a:xfrm>
          <a:prstGeom prst="roundRect">
            <a:avLst>
              <a:gd name="adj" fmla="val 32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486" y="933450"/>
            <a:ext cx="38099" cy="481905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5" y="933450"/>
            <a:ext cx="2666933" cy="4819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352716" y="933450"/>
            <a:ext cx="38099" cy="481905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1" name="Shape 9"/>
          <p:cNvSpPr/>
          <p:nvPr/>
        </p:nvSpPr>
        <p:spPr>
          <a:xfrm>
            <a:off x="3390815" y="933450"/>
            <a:ext cx="2666933" cy="4819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133947" y="933450"/>
            <a:ext cx="38099" cy="481905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046" y="933450"/>
            <a:ext cx="2666933" cy="4819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915177" y="933450"/>
            <a:ext cx="38099" cy="481905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953276" y="933450"/>
            <a:ext cx="2666933" cy="4819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286343" y="4796730"/>
            <a:ext cx="5200520" cy="777329"/>
          </a:xfrm>
          <a:prstGeom prst="rect">
            <a:avLst/>
          </a:prstGeom>
          <a:solidFill>
            <a:srgbClr val="120180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832" y="2044005"/>
          <a:ext cx="4572000" cy="1647825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Campaña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Conv./contacto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Bienvenidas CP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114.696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6.881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19,5 %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Autogestión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11.686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791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26,6 %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CP Stock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420.641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3.073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4,6 %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Masiva Voluntarios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255.138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318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1,9 %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CP Clientes Satisf.*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108.659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1,2 %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910.820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11.142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40 %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8,6 %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832" y="4110930"/>
          <a:ext cx="4572000" cy="162877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Gestión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Gest.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Conv.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102.168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102.168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21.204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46.733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46.426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19.832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73.899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60.402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27.138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38.988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31.039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16.200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52%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37.644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37.642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24.031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64.283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43.410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21.291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363.715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321.087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88%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129.696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40%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11%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6343" y="2015430"/>
          <a:ext cx="4572000" cy="1628775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201.409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99.241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49,3 %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94.918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48.185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50,8 %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134.897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60.998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45,2 %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153.111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114.123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74,5 %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154.335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116.691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75,6 %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173.413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109.130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62,9 %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912.083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548.368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60,1 %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20" name="Text 15"/>
          <p:cNvSpPr/>
          <p:nvPr/>
        </p:nvSpPr>
        <p:spPr>
          <a:xfrm>
            <a:off x="6667333" y="4853880"/>
            <a:ext cx="4724282" cy="66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78 % del descarte corresponde a bases repetidas y clientes con producto activo. Depurar estos registros en origen podría recuperar hasta  por semestre, equivalentes a ~ adicionales aplicando la conversión actual del canal. Una coordinación con Vanti para limpiar la base antes del cargue liberaría capacidad operativa sin aumentar el equipo.</a:t>
            </a:r>
            <a:endParaRPr lang="en-US" sz="696" dirty="0"/>
          </a:p>
        </p:txBody>
      </p:sp>
      <p:sp>
        <p:nvSpPr>
          <p:cNvPr id="21" name="Text 16"/>
          <p:cNvSpPr/>
          <p:nvPr/>
        </p:nvSpPr>
        <p:spPr>
          <a:xfrm>
            <a:off x="704832" y="3720405"/>
            <a:ext cx="520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CP Clientes Satisfechos: campaña puntual solo en enero (no recurrente).</a:t>
            </a:r>
            <a:endParaRPr lang="en-US" sz="600" dirty="0"/>
          </a:p>
        </p:txBody>
      </p:sp>
      <p:sp>
        <p:nvSpPr>
          <p:cNvPr id="22" name="Text 17"/>
          <p:cNvSpPr/>
          <p:nvPr/>
        </p:nvSpPr>
        <p:spPr>
          <a:xfrm>
            <a:off x="9067573" y="1282005"/>
            <a:ext cx="24383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con mayor volumen de registros (255.138) en el semestre</a:t>
            </a:r>
            <a:endParaRPr lang="en-US" sz="600" dirty="0"/>
          </a:p>
        </p:txBody>
      </p:sp>
      <p:sp>
        <p:nvSpPr>
          <p:cNvPr id="23" name="Text 18"/>
          <p:cNvSpPr/>
          <p:nvPr/>
        </p:nvSpPr>
        <p:spPr>
          <a:xfrm>
            <a:off x="3505112" y="1282005"/>
            <a:ext cx="24383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más alta del portafolio · 3× el promedio del canal</a:t>
            </a:r>
            <a:endParaRPr lang="en-US" sz="600" dirty="0"/>
          </a:p>
        </p:txBody>
      </p:sp>
      <p:sp>
        <p:nvSpPr>
          <p:cNvPr id="24" name="Text 19"/>
          <p:cNvSpPr/>
          <p:nvPr/>
        </p:nvSpPr>
        <p:spPr>
          <a:xfrm>
            <a:off x="6286343" y="1282005"/>
            <a:ext cx="24383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 de conversión · en el objetivo de la campaña (5 %)</a:t>
            </a:r>
            <a:endParaRPr lang="en-US" sz="600" dirty="0"/>
          </a:p>
        </p:txBody>
      </p:sp>
      <p:sp>
        <p:nvSpPr>
          <p:cNvPr id="25" name="Text 20"/>
          <p:cNvSpPr/>
          <p:nvPr/>
        </p:nvSpPr>
        <p:spPr>
          <a:xfrm>
            <a:off x="6286343" y="4653855"/>
            <a:ext cx="520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 registros descartados (60 % de la base total)</a:t>
            </a:r>
            <a:endParaRPr lang="en-US" sz="576" dirty="0"/>
          </a:p>
        </p:txBody>
      </p:sp>
      <p:sp>
        <p:nvSpPr>
          <p:cNvPr id="26" name="Text 21"/>
          <p:cNvSpPr/>
          <p:nvPr/>
        </p:nvSpPr>
        <p:spPr>
          <a:xfrm>
            <a:off x="723882" y="1282005"/>
            <a:ext cx="24383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62 % del total del semestre · 19,5 % de conversión</a:t>
            </a:r>
            <a:endParaRPr lang="en-US" sz="600" dirty="0"/>
          </a:p>
        </p:txBody>
      </p:sp>
      <p:sp>
        <p:nvSpPr>
          <p:cNvPr id="27" name="Text 22"/>
          <p:cNvSpPr/>
          <p:nvPr/>
        </p:nvSpPr>
        <p:spPr>
          <a:xfrm>
            <a:off x="704832" y="5758755"/>
            <a:ext cx="520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Cada mes: aptos → gestión → contacto → ventas</a:t>
            </a:r>
            <a:endParaRPr lang="en-US" sz="576" dirty="0"/>
          </a:p>
        </p:txBody>
      </p:sp>
      <p:sp>
        <p:nvSpPr>
          <p:cNvPr id="28" name="Text 23"/>
          <p:cNvSpPr/>
          <p:nvPr/>
        </p:nvSpPr>
        <p:spPr>
          <a:xfrm>
            <a:off x="6286343" y="3720405"/>
            <a:ext cx="52005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 de rechazo (semestre)</a:t>
            </a:r>
            <a:endParaRPr lang="en-US" sz="840" dirty="0"/>
          </a:p>
        </p:txBody>
      </p:sp>
      <p:sp>
        <p:nvSpPr>
          <p:cNvPr id="29" name="Text 24"/>
          <p:cNvSpPr/>
          <p:nvPr/>
        </p:nvSpPr>
        <p:spPr>
          <a:xfrm>
            <a:off x="6286343" y="3920430"/>
            <a:ext cx="114297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30" name="Text 25"/>
          <p:cNvSpPr/>
          <p:nvPr/>
        </p:nvSpPr>
        <p:spPr>
          <a:xfrm>
            <a:off x="6286343" y="4025205"/>
            <a:ext cx="114297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Producto ya activo (CP / MS)</a:t>
            </a:r>
            <a:endParaRPr lang="en-US" sz="576" dirty="0"/>
          </a:p>
        </p:txBody>
      </p:sp>
      <p:sp>
        <p:nvSpPr>
          <p:cNvPr id="31" name="Text 26"/>
          <p:cNvSpPr/>
          <p:nvPr/>
        </p:nvSpPr>
        <p:spPr>
          <a:xfrm>
            <a:off x="6286343" y="4129980"/>
            <a:ext cx="114297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Dirección repetida/errónea</a:t>
            </a:r>
            <a:endParaRPr lang="en-US" sz="576" dirty="0"/>
          </a:p>
        </p:txBody>
      </p:sp>
      <p:sp>
        <p:nvSpPr>
          <p:cNvPr id="32" name="Text 27"/>
          <p:cNvSpPr/>
          <p:nvPr/>
        </p:nvSpPr>
        <p:spPr>
          <a:xfrm>
            <a:off x="6286343" y="4234755"/>
            <a:ext cx="114297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/ cédula repetida</a:t>
            </a:r>
            <a:endParaRPr lang="en-US" sz="576" dirty="0"/>
          </a:p>
        </p:txBody>
      </p:sp>
      <p:sp>
        <p:nvSpPr>
          <p:cNvPr id="33" name="Text 28"/>
          <p:cNvSpPr/>
          <p:nvPr/>
        </p:nvSpPr>
        <p:spPr>
          <a:xfrm>
            <a:off x="1213514" y="219075"/>
            <a:ext cx="21246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por Campaña</a:t>
            </a:r>
            <a:endParaRPr lang="en-US" sz="1260" dirty="0"/>
          </a:p>
        </p:txBody>
      </p:sp>
      <p:sp>
        <p:nvSpPr>
          <p:cNvPr id="34" name="Text 29"/>
          <p:cNvSpPr/>
          <p:nvPr/>
        </p:nvSpPr>
        <p:spPr>
          <a:xfrm>
            <a:off x="9067573" y="971550"/>
            <a:ext cx="24383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720" dirty="0"/>
          </a:p>
        </p:txBody>
      </p:sp>
      <p:sp>
        <p:nvSpPr>
          <p:cNvPr id="35" name="Text 30"/>
          <p:cNvSpPr/>
          <p:nvPr/>
        </p:nvSpPr>
        <p:spPr>
          <a:xfrm>
            <a:off x="10153843" y="209550"/>
            <a:ext cx="14663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Campañas</a:t>
            </a:r>
            <a:endParaRPr lang="en-US" sz="840" dirty="0"/>
          </a:p>
        </p:txBody>
      </p:sp>
      <p:sp>
        <p:nvSpPr>
          <p:cNvPr id="36" name="Text 31"/>
          <p:cNvSpPr/>
          <p:nvPr/>
        </p:nvSpPr>
        <p:spPr>
          <a:xfrm>
            <a:off x="6286343" y="4444305"/>
            <a:ext cx="114297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errado</a:t>
            </a:r>
            <a:endParaRPr lang="en-US" sz="576" dirty="0"/>
          </a:p>
        </p:txBody>
      </p:sp>
      <p:sp>
        <p:nvSpPr>
          <p:cNvPr id="37" name="Text 32"/>
          <p:cNvSpPr/>
          <p:nvPr/>
        </p:nvSpPr>
        <p:spPr>
          <a:xfrm>
            <a:off x="723882" y="971550"/>
            <a:ext cx="24383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endParaRPr lang="en-US" sz="720" dirty="0"/>
          </a:p>
        </p:txBody>
      </p:sp>
      <p:sp>
        <p:nvSpPr>
          <p:cNvPr id="38" name="Text 33"/>
          <p:cNvSpPr/>
          <p:nvPr/>
        </p:nvSpPr>
        <p:spPr>
          <a:xfrm>
            <a:off x="3505112" y="971550"/>
            <a:ext cx="24383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720" dirty="0"/>
          </a:p>
        </p:txBody>
      </p:sp>
      <p:sp>
        <p:nvSpPr>
          <p:cNvPr id="39" name="Text 34"/>
          <p:cNvSpPr/>
          <p:nvPr/>
        </p:nvSpPr>
        <p:spPr>
          <a:xfrm>
            <a:off x="6286343" y="4339530"/>
            <a:ext cx="114297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 edad</a:t>
            </a:r>
            <a:endParaRPr lang="en-US" sz="576" dirty="0"/>
          </a:p>
        </p:txBody>
      </p:sp>
      <p:sp>
        <p:nvSpPr>
          <p:cNvPr id="40" name="Text 35"/>
          <p:cNvSpPr/>
          <p:nvPr/>
        </p:nvSpPr>
        <p:spPr>
          <a:xfrm>
            <a:off x="6286343" y="971550"/>
            <a:ext cx="24383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Stock</a:t>
            </a:r>
            <a:endParaRPr lang="en-US" sz="720" dirty="0"/>
          </a:p>
        </p:txBody>
      </p:sp>
      <p:sp>
        <p:nvSpPr>
          <p:cNvPr id="41" name="Text 36"/>
          <p:cNvSpPr/>
          <p:nvPr/>
        </p:nvSpPr>
        <p:spPr>
          <a:xfrm>
            <a:off x="1088204" y="114300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600" dirty="0"/>
          </a:p>
        </p:txBody>
      </p:sp>
      <p:sp>
        <p:nvSpPr>
          <p:cNvPr id="42" name="Text 37"/>
          <p:cNvSpPr/>
          <p:nvPr/>
        </p:nvSpPr>
        <p:spPr>
          <a:xfrm>
            <a:off x="3505112" y="1114425"/>
            <a:ext cx="2438339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26,6 %</a:t>
            </a:r>
            <a:endParaRPr lang="en-US" sz="1020" dirty="0"/>
          </a:p>
        </p:txBody>
      </p:sp>
      <p:sp>
        <p:nvSpPr>
          <p:cNvPr id="43" name="Text 38"/>
          <p:cNvSpPr/>
          <p:nvPr/>
        </p:nvSpPr>
        <p:spPr>
          <a:xfrm>
            <a:off x="6649177" y="114300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600" dirty="0"/>
          </a:p>
        </p:txBody>
      </p:sp>
      <p:sp>
        <p:nvSpPr>
          <p:cNvPr id="44" name="Text 39"/>
          <p:cNvSpPr/>
          <p:nvPr/>
        </p:nvSpPr>
        <p:spPr>
          <a:xfrm>
            <a:off x="9317301" y="114300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600" dirty="0"/>
          </a:p>
        </p:txBody>
      </p:sp>
      <p:sp>
        <p:nvSpPr>
          <p:cNvPr id="45" name="Text 40"/>
          <p:cNvSpPr/>
          <p:nvPr/>
        </p:nvSpPr>
        <p:spPr>
          <a:xfrm>
            <a:off x="723882" y="1114425"/>
            <a:ext cx="2438339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6.881</a:t>
            </a:r>
            <a:endParaRPr lang="en-US" sz="1020" dirty="0"/>
          </a:p>
        </p:txBody>
      </p:sp>
      <p:sp>
        <p:nvSpPr>
          <p:cNvPr id="46" name="Text 41"/>
          <p:cNvSpPr/>
          <p:nvPr/>
        </p:nvSpPr>
        <p:spPr>
          <a:xfrm>
            <a:off x="6286343" y="1114425"/>
            <a:ext cx="2438339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3.073</a:t>
            </a:r>
            <a:endParaRPr lang="en-US" sz="1020" dirty="0"/>
          </a:p>
        </p:txBody>
      </p:sp>
      <p:sp>
        <p:nvSpPr>
          <p:cNvPr id="47" name="Text 42"/>
          <p:cNvSpPr/>
          <p:nvPr/>
        </p:nvSpPr>
        <p:spPr>
          <a:xfrm>
            <a:off x="6286343" y="4549080"/>
            <a:ext cx="114297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</a:t>
            </a:r>
            <a:endParaRPr lang="en-US" sz="576" dirty="0"/>
          </a:p>
        </p:txBody>
      </p:sp>
      <p:sp>
        <p:nvSpPr>
          <p:cNvPr id="48" name="Text 43"/>
          <p:cNvSpPr/>
          <p:nvPr/>
        </p:nvSpPr>
        <p:spPr>
          <a:xfrm>
            <a:off x="9067573" y="1114425"/>
            <a:ext cx="2438339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318</a:t>
            </a:r>
            <a:endParaRPr lang="en-US" sz="1020" dirty="0"/>
          </a:p>
        </p:txBody>
      </p:sp>
      <p:sp>
        <p:nvSpPr>
          <p:cNvPr id="49" name="Text 44"/>
          <p:cNvSpPr/>
          <p:nvPr/>
        </p:nvSpPr>
        <p:spPr>
          <a:xfrm>
            <a:off x="11220169" y="392043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49%</a:t>
            </a:r>
            <a:endParaRPr lang="en-US" sz="576" dirty="0"/>
          </a:p>
        </p:txBody>
      </p:sp>
      <p:sp>
        <p:nvSpPr>
          <p:cNvPr id="50" name="Text 45"/>
          <p:cNvSpPr/>
          <p:nvPr/>
        </p:nvSpPr>
        <p:spPr>
          <a:xfrm>
            <a:off x="11220169" y="402520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29%</a:t>
            </a:r>
            <a:endParaRPr lang="en-US" sz="576" dirty="0"/>
          </a:p>
        </p:txBody>
      </p:sp>
      <p:sp>
        <p:nvSpPr>
          <p:cNvPr id="51" name="Text 46"/>
          <p:cNvSpPr/>
          <p:nvPr/>
        </p:nvSpPr>
        <p:spPr>
          <a:xfrm>
            <a:off x="11220169" y="412998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576" dirty="0"/>
          </a:p>
        </p:txBody>
      </p:sp>
      <p:sp>
        <p:nvSpPr>
          <p:cNvPr id="52" name="Text 47"/>
          <p:cNvSpPr/>
          <p:nvPr/>
        </p:nvSpPr>
        <p:spPr>
          <a:xfrm>
            <a:off x="11220169" y="423475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576" dirty="0"/>
          </a:p>
        </p:txBody>
      </p:sp>
      <p:sp>
        <p:nvSpPr>
          <p:cNvPr id="53" name="Text 48"/>
          <p:cNvSpPr/>
          <p:nvPr/>
        </p:nvSpPr>
        <p:spPr>
          <a:xfrm>
            <a:off x="11220169" y="433953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576" dirty="0"/>
          </a:p>
        </p:txBody>
      </p:sp>
      <p:sp>
        <p:nvSpPr>
          <p:cNvPr id="54" name="Text 49"/>
          <p:cNvSpPr/>
          <p:nvPr/>
        </p:nvSpPr>
        <p:spPr>
          <a:xfrm>
            <a:off x="11220169" y="444430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576" dirty="0"/>
          </a:p>
        </p:txBody>
      </p:sp>
      <p:sp>
        <p:nvSpPr>
          <p:cNvPr id="55" name="Text 50"/>
          <p:cNvSpPr/>
          <p:nvPr/>
        </p:nvSpPr>
        <p:spPr>
          <a:xfrm>
            <a:off x="11220169" y="454908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8%</a:t>
            </a:r>
            <a:endParaRPr lang="en-US" sz="57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Autogestión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Autogestión · Histórico y Análisis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2080320"/>
            <a:ext cx="5457689" cy="4059436"/>
          </a:xfrm>
          <a:prstGeom prst="roundRect">
            <a:avLst>
              <a:gd name="adj" fmla="val 33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62521" y="2080320"/>
            <a:ext cx="5457689" cy="4059436"/>
          </a:xfrm>
          <a:prstGeom prst="roundRect">
            <a:avLst>
              <a:gd name="adj" fmla="val 33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486" y="933450"/>
            <a:ext cx="38099" cy="956370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5" y="933450"/>
            <a:ext cx="2638359" cy="9563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362241" y="933450"/>
            <a:ext cx="38099" cy="956370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1" name="Shape 9"/>
          <p:cNvSpPr/>
          <p:nvPr/>
        </p:nvSpPr>
        <p:spPr>
          <a:xfrm>
            <a:off x="3400340" y="933450"/>
            <a:ext cx="2638359" cy="9563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152996" y="933450"/>
            <a:ext cx="38099" cy="956370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1095" y="933450"/>
            <a:ext cx="2638359" cy="9563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943751" y="933450"/>
            <a:ext cx="38099" cy="956370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5" name="Shape 13"/>
          <p:cNvSpPr/>
          <p:nvPr/>
        </p:nvSpPr>
        <p:spPr>
          <a:xfrm>
            <a:off x="8981850" y="933450"/>
            <a:ext cx="2638359" cy="9563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314917" y="5339209"/>
            <a:ext cx="5152896" cy="454968"/>
          </a:xfrm>
          <a:prstGeom prst="rect">
            <a:avLst/>
          </a:prstGeom>
          <a:solidFill>
            <a:srgbClr val="12018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470845"/>
          <a:ext cx="4572000" cy="1952625"/>
        </p:xfrm>
        <a:graphic>
          <a:graphicData uri="http://schemas.openxmlformats.org/drawingml/2006/table">
            <a:tbl>
              <a:tblPr/>
              <a:tblGrid>
                <a:gridCol w="653143"/>
                <a:gridCol w="653143"/>
                <a:gridCol w="653143"/>
                <a:gridCol w="653143"/>
                <a:gridCol w="653143"/>
                <a:gridCol w="653143"/>
                <a:gridCol w="653143"/>
              </a:tblGrid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Conversión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41,2 %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30,7 %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406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32,4 %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1.865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1.189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63,8 %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74,8 %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17,2 %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1.950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1.137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71,0 %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20,7 %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2.203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1.331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60,4 %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75,8 %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33,0 %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4.968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3.447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69,4 %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29,2 %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11.686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7.460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63,8 %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4737795"/>
          <a:ext cx="4572000" cy="1287661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Jesús D. Cortés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101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97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255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Melissa P. Orozco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165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Luisa L. Percy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Joelis J. Barros 4ª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-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47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 4 asesores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266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605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6648284" y="5367784"/>
            <a:ext cx="4724282" cy="39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con intención de compra validada ·  en el semestre · Crecimiento de  · El equipo focalizado pasó de 14 a 266 ventas/mes () · 26,6% de conversión,  · La autogestión es la campaña de mayor efectividad del portafolio.</a:t>
            </a:r>
            <a:endParaRPr lang="en-US" sz="696" dirty="0"/>
          </a:p>
        </p:txBody>
      </p:sp>
      <p:sp>
        <p:nvSpPr>
          <p:cNvPr id="20" name="Text 16"/>
          <p:cNvSpPr/>
          <p:nvPr/>
        </p:nvSpPr>
        <p:spPr>
          <a:xfrm>
            <a:off x="6314917" y="3575745"/>
            <a:ext cx="51528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se descartaron? (tipificación rechazos — autogestión)</a:t>
            </a:r>
            <a:endParaRPr lang="en-US" sz="744" dirty="0"/>
          </a:p>
        </p:txBody>
      </p:sp>
      <p:sp>
        <p:nvSpPr>
          <p:cNvPr id="21" name="Text 17"/>
          <p:cNvSpPr/>
          <p:nvPr/>
        </p:nvSpPr>
        <p:spPr>
          <a:xfrm>
            <a:off x="6314917" y="4537770"/>
            <a:ext cx="5152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 de la base total · 7.460 registros descartados en 1S</a:t>
            </a:r>
            <a:endParaRPr lang="en-US" sz="576" dirty="0"/>
          </a:p>
        </p:txBody>
      </p:sp>
      <p:sp>
        <p:nvSpPr>
          <p:cNvPr id="22" name="Text 18"/>
          <p:cNvSpPr/>
          <p:nvPr/>
        </p:nvSpPr>
        <p:spPr>
          <a:xfrm>
            <a:off x="9134247" y="1527870"/>
            <a:ext cx="23335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Convierte 3.0 veces mejor que el resto de la base</a:t>
            </a:r>
            <a:endParaRPr lang="en-US" sz="864" dirty="0"/>
          </a:p>
        </p:txBody>
      </p:sp>
      <p:sp>
        <p:nvSpPr>
          <p:cNvPr id="23" name="Text 19"/>
          <p:cNvSpPr/>
          <p:nvPr/>
        </p:nvSpPr>
        <p:spPr>
          <a:xfrm>
            <a:off x="1213514" y="219075"/>
            <a:ext cx="35025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Autogestión · Histórico y Análisis</a:t>
            </a:r>
            <a:endParaRPr lang="en-US" sz="1260" dirty="0"/>
          </a:p>
        </p:txBody>
      </p:sp>
      <p:sp>
        <p:nvSpPr>
          <p:cNvPr id="24" name="Text 20"/>
          <p:cNvSpPr/>
          <p:nvPr/>
        </p:nvSpPr>
        <p:spPr>
          <a:xfrm>
            <a:off x="761981" y="152787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Solicitudes de financiación autogestionada</a:t>
            </a:r>
            <a:endParaRPr lang="en-US" sz="864" dirty="0"/>
          </a:p>
        </p:txBody>
      </p:sp>
      <p:sp>
        <p:nvSpPr>
          <p:cNvPr id="25" name="Text 21"/>
          <p:cNvSpPr/>
          <p:nvPr/>
        </p:nvSpPr>
        <p:spPr>
          <a:xfrm>
            <a:off x="6343491" y="152787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7.460 registros descartados en el semestre</a:t>
            </a:r>
            <a:endParaRPr lang="en-US" sz="864" dirty="0"/>
          </a:p>
        </p:txBody>
      </p:sp>
      <p:sp>
        <p:nvSpPr>
          <p:cNvPr id="26" name="Text 22"/>
          <p:cNvSpPr/>
          <p:nvPr/>
        </p:nvSpPr>
        <p:spPr>
          <a:xfrm>
            <a:off x="6314917" y="3851970"/>
            <a:ext cx="12191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9134247" y="102870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Vs. promedio general del canal</a:t>
            </a:r>
            <a:endParaRPr lang="en-US" sz="864" dirty="0"/>
          </a:p>
        </p:txBody>
      </p:sp>
      <p:sp>
        <p:nvSpPr>
          <p:cNvPr id="28" name="Text 24"/>
          <p:cNvSpPr/>
          <p:nvPr/>
        </p:nvSpPr>
        <p:spPr>
          <a:xfrm>
            <a:off x="6314917" y="4080570"/>
            <a:ext cx="12191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3552736" y="152787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26,6 % sobre contactados</a:t>
            </a:r>
            <a:endParaRPr lang="en-US" sz="864" dirty="0"/>
          </a:p>
        </p:txBody>
      </p:sp>
      <p:sp>
        <p:nvSpPr>
          <p:cNvPr id="30" name="Text 26"/>
          <p:cNvSpPr/>
          <p:nvPr/>
        </p:nvSpPr>
        <p:spPr>
          <a:xfrm>
            <a:off x="6314917" y="3737670"/>
            <a:ext cx="12191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600" dirty="0"/>
          </a:p>
        </p:txBody>
      </p:sp>
      <p:sp>
        <p:nvSpPr>
          <p:cNvPr id="31" name="Text 27"/>
          <p:cNvSpPr/>
          <p:nvPr/>
        </p:nvSpPr>
        <p:spPr>
          <a:xfrm>
            <a:off x="9936261" y="209550"/>
            <a:ext cx="16839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Autogestión</a:t>
            </a:r>
            <a:endParaRPr lang="en-US" sz="840" dirty="0"/>
          </a:p>
        </p:txBody>
      </p:sp>
      <p:sp>
        <p:nvSpPr>
          <p:cNvPr id="32" name="Text 28"/>
          <p:cNvSpPr/>
          <p:nvPr/>
        </p:nvSpPr>
        <p:spPr>
          <a:xfrm>
            <a:off x="6314917" y="4309170"/>
            <a:ext cx="12191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600" dirty="0"/>
          </a:p>
        </p:txBody>
      </p:sp>
      <p:sp>
        <p:nvSpPr>
          <p:cNvPr id="33" name="Text 29"/>
          <p:cNvSpPr/>
          <p:nvPr/>
        </p:nvSpPr>
        <p:spPr>
          <a:xfrm>
            <a:off x="8988548" y="5099745"/>
            <a:ext cx="11280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Sobremarcación OCM</a:t>
            </a:r>
            <a:endParaRPr lang="en-US" sz="624" dirty="0"/>
          </a:p>
        </p:txBody>
      </p:sp>
      <p:sp>
        <p:nvSpPr>
          <p:cNvPr id="34" name="Text 30"/>
          <p:cNvSpPr/>
          <p:nvPr/>
        </p:nvSpPr>
        <p:spPr>
          <a:xfrm>
            <a:off x="6314917" y="3966270"/>
            <a:ext cx="12191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Repetido</a:t>
            </a:r>
            <a:endParaRPr lang="en-US" sz="600" dirty="0"/>
          </a:p>
        </p:txBody>
      </p:sp>
      <p:sp>
        <p:nvSpPr>
          <p:cNvPr id="35" name="Text 31"/>
          <p:cNvSpPr/>
          <p:nvPr/>
        </p:nvSpPr>
        <p:spPr>
          <a:xfrm>
            <a:off x="6314917" y="4194870"/>
            <a:ext cx="12191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Localidad Errónea</a:t>
            </a:r>
            <a:endParaRPr lang="en-US" sz="600" dirty="0"/>
          </a:p>
        </p:txBody>
      </p:sp>
      <p:sp>
        <p:nvSpPr>
          <p:cNvPr id="36" name="Text 32"/>
          <p:cNvSpPr/>
          <p:nvPr/>
        </p:nvSpPr>
        <p:spPr>
          <a:xfrm>
            <a:off x="6343491" y="102870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</a:t>
            </a:r>
            <a:endParaRPr lang="en-US" sz="864" dirty="0"/>
          </a:p>
        </p:txBody>
      </p:sp>
      <p:sp>
        <p:nvSpPr>
          <p:cNvPr id="37" name="Text 33"/>
          <p:cNvSpPr/>
          <p:nvPr/>
        </p:nvSpPr>
        <p:spPr>
          <a:xfrm>
            <a:off x="7665945" y="5099745"/>
            <a:ext cx="1128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Foco: 3 asesores</a:t>
            </a:r>
            <a:endParaRPr lang="en-US" sz="624" dirty="0"/>
          </a:p>
        </p:txBody>
      </p:sp>
      <p:sp>
        <p:nvSpPr>
          <p:cNvPr id="38" name="Text 34"/>
          <p:cNvSpPr/>
          <p:nvPr/>
        </p:nvSpPr>
        <p:spPr>
          <a:xfrm>
            <a:off x="6314917" y="4423470"/>
            <a:ext cx="12191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(&lt;1% c/u)</a:t>
            </a:r>
            <a:endParaRPr lang="en-US" sz="600" dirty="0"/>
          </a:p>
        </p:txBody>
      </p:sp>
      <p:sp>
        <p:nvSpPr>
          <p:cNvPr id="39" name="Text 35"/>
          <p:cNvSpPr/>
          <p:nvPr/>
        </p:nvSpPr>
        <p:spPr>
          <a:xfrm>
            <a:off x="761981" y="102870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(1S)</a:t>
            </a:r>
            <a:endParaRPr lang="en-US" sz="864" dirty="0"/>
          </a:p>
        </p:txBody>
      </p:sp>
      <p:sp>
        <p:nvSpPr>
          <p:cNvPr id="40" name="Text 36"/>
          <p:cNvSpPr/>
          <p:nvPr/>
        </p:nvSpPr>
        <p:spPr>
          <a:xfrm>
            <a:off x="6343491" y="5099745"/>
            <a:ext cx="11280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 focalizar</a:t>
            </a:r>
            <a:endParaRPr lang="en-US" sz="624" dirty="0"/>
          </a:p>
        </p:txBody>
      </p:sp>
      <p:sp>
        <p:nvSpPr>
          <p:cNvPr id="41" name="Text 37"/>
          <p:cNvSpPr/>
          <p:nvPr/>
        </p:nvSpPr>
        <p:spPr>
          <a:xfrm>
            <a:off x="10311001" y="5099745"/>
            <a:ext cx="1128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 asesor (4)</a:t>
            </a:r>
            <a:endParaRPr lang="en-US" sz="624" dirty="0"/>
          </a:p>
        </p:txBody>
      </p:sp>
      <p:sp>
        <p:nvSpPr>
          <p:cNvPr id="42" name="Text 38"/>
          <p:cNvSpPr/>
          <p:nvPr/>
        </p:nvSpPr>
        <p:spPr>
          <a:xfrm>
            <a:off x="3552736" y="102870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(1S)</a:t>
            </a:r>
            <a:endParaRPr lang="en-US" sz="864" dirty="0"/>
          </a:p>
        </p:txBody>
      </p:sp>
      <p:sp>
        <p:nvSpPr>
          <p:cNvPr id="43" name="Text 39"/>
          <p:cNvSpPr/>
          <p:nvPr/>
        </p:nvSpPr>
        <p:spPr>
          <a:xfrm>
            <a:off x="761981" y="120015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11.686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6343491" y="120015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11182070" y="3737670"/>
            <a:ext cx="2857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62.3%</a:t>
            </a:r>
            <a:endParaRPr lang="en-US" sz="600" dirty="0"/>
          </a:p>
        </p:txBody>
      </p:sp>
      <p:sp>
        <p:nvSpPr>
          <p:cNvPr id="46" name="Text 42"/>
          <p:cNvSpPr/>
          <p:nvPr/>
        </p:nvSpPr>
        <p:spPr>
          <a:xfrm>
            <a:off x="11182070" y="3851970"/>
            <a:ext cx="2857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14.2%</a:t>
            </a:r>
            <a:endParaRPr lang="en-US" sz="600" dirty="0"/>
          </a:p>
        </p:txBody>
      </p:sp>
      <p:sp>
        <p:nvSpPr>
          <p:cNvPr id="47" name="Text 43"/>
          <p:cNvSpPr/>
          <p:nvPr/>
        </p:nvSpPr>
        <p:spPr>
          <a:xfrm>
            <a:off x="9134247" y="120015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3.0×</a:t>
            </a:r>
            <a:endParaRPr lang="en-US" sz="1400" dirty="0"/>
          </a:p>
        </p:txBody>
      </p:sp>
      <p:sp>
        <p:nvSpPr>
          <p:cNvPr id="48" name="Text 44"/>
          <p:cNvSpPr/>
          <p:nvPr/>
        </p:nvSpPr>
        <p:spPr>
          <a:xfrm>
            <a:off x="8392059" y="294620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+93%</a:t>
            </a:r>
            <a:endParaRPr lang="en-US" sz="504" dirty="0"/>
          </a:p>
        </p:txBody>
      </p:sp>
      <p:sp>
        <p:nvSpPr>
          <p:cNvPr id="49" name="Text 45"/>
          <p:cNvSpPr/>
          <p:nvPr/>
        </p:nvSpPr>
        <p:spPr>
          <a:xfrm>
            <a:off x="9240656" y="283100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+34%</a:t>
            </a:r>
            <a:endParaRPr lang="en-US" sz="504" dirty="0"/>
          </a:p>
        </p:txBody>
      </p:sp>
      <p:sp>
        <p:nvSpPr>
          <p:cNvPr id="50" name="Text 46"/>
          <p:cNvSpPr/>
          <p:nvPr/>
        </p:nvSpPr>
        <p:spPr>
          <a:xfrm>
            <a:off x="10085532" y="253365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+86%</a:t>
            </a:r>
            <a:endParaRPr lang="en-US" sz="504" dirty="0"/>
          </a:p>
        </p:txBody>
      </p:sp>
      <p:sp>
        <p:nvSpPr>
          <p:cNvPr id="51" name="Text 47"/>
          <p:cNvSpPr/>
          <p:nvPr/>
        </p:nvSpPr>
        <p:spPr>
          <a:xfrm>
            <a:off x="10935320" y="253365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+29%</a:t>
            </a:r>
            <a:endParaRPr lang="en-US" sz="504" dirty="0"/>
          </a:p>
        </p:txBody>
      </p:sp>
      <p:sp>
        <p:nvSpPr>
          <p:cNvPr id="52" name="Text 48"/>
          <p:cNvSpPr/>
          <p:nvPr/>
        </p:nvSpPr>
        <p:spPr>
          <a:xfrm>
            <a:off x="11182070" y="3966270"/>
            <a:ext cx="2857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8.2%</a:t>
            </a:r>
            <a:endParaRPr lang="en-US" sz="600" dirty="0"/>
          </a:p>
        </p:txBody>
      </p:sp>
      <p:sp>
        <p:nvSpPr>
          <p:cNvPr id="53" name="Text 49"/>
          <p:cNvSpPr/>
          <p:nvPr/>
        </p:nvSpPr>
        <p:spPr>
          <a:xfrm>
            <a:off x="11182070" y="4080570"/>
            <a:ext cx="2857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6.2%</a:t>
            </a:r>
            <a:endParaRPr lang="en-US" sz="600" dirty="0"/>
          </a:p>
        </p:txBody>
      </p:sp>
      <p:sp>
        <p:nvSpPr>
          <p:cNvPr id="54" name="Text 50"/>
          <p:cNvSpPr/>
          <p:nvPr/>
        </p:nvSpPr>
        <p:spPr>
          <a:xfrm>
            <a:off x="11182070" y="4194870"/>
            <a:ext cx="2857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4.6%</a:t>
            </a:r>
            <a:endParaRPr lang="en-US" sz="600" dirty="0"/>
          </a:p>
        </p:txBody>
      </p:sp>
      <p:sp>
        <p:nvSpPr>
          <p:cNvPr id="55" name="Text 51"/>
          <p:cNvSpPr/>
          <p:nvPr/>
        </p:nvSpPr>
        <p:spPr>
          <a:xfrm>
            <a:off x="11182070" y="4309170"/>
            <a:ext cx="2857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1.1%</a:t>
            </a:r>
            <a:endParaRPr lang="en-US" sz="600" dirty="0"/>
          </a:p>
        </p:txBody>
      </p:sp>
      <p:sp>
        <p:nvSpPr>
          <p:cNvPr id="56" name="Text 52"/>
          <p:cNvSpPr/>
          <p:nvPr/>
        </p:nvSpPr>
        <p:spPr>
          <a:xfrm>
            <a:off x="11182070" y="4423470"/>
            <a:ext cx="2857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3.4%</a:t>
            </a:r>
            <a:endParaRPr lang="en-US" sz="600" dirty="0"/>
          </a:p>
        </p:txBody>
      </p:sp>
      <p:sp>
        <p:nvSpPr>
          <p:cNvPr id="57" name="Text 53"/>
          <p:cNvSpPr/>
          <p:nvPr/>
        </p:nvSpPr>
        <p:spPr>
          <a:xfrm>
            <a:off x="3552736" y="120015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791</a:t>
            </a:r>
            <a:endParaRPr lang="en-US" sz="1400" dirty="0"/>
          </a:p>
        </p:txBody>
      </p:sp>
      <p:sp>
        <p:nvSpPr>
          <p:cNvPr id="58" name="Text 54"/>
          <p:cNvSpPr/>
          <p:nvPr/>
        </p:nvSpPr>
        <p:spPr>
          <a:xfrm>
            <a:off x="6703349" y="3385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00" dirty="0"/>
          </a:p>
        </p:txBody>
      </p:sp>
      <p:sp>
        <p:nvSpPr>
          <p:cNvPr id="59" name="Text 55"/>
          <p:cNvSpPr/>
          <p:nvPr/>
        </p:nvSpPr>
        <p:spPr>
          <a:xfrm>
            <a:off x="7563405" y="310336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+5%</a:t>
            </a:r>
            <a:endParaRPr lang="en-US" sz="504" dirty="0"/>
          </a:p>
        </p:txBody>
      </p:sp>
      <p:sp>
        <p:nvSpPr>
          <p:cNvPr id="60" name="Text 56"/>
          <p:cNvSpPr/>
          <p:nvPr/>
        </p:nvSpPr>
        <p:spPr>
          <a:xfrm>
            <a:off x="7552094" y="3385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00" dirty="0"/>
          </a:p>
        </p:txBody>
      </p:sp>
      <p:sp>
        <p:nvSpPr>
          <p:cNvPr id="61" name="Text 57"/>
          <p:cNvSpPr/>
          <p:nvPr/>
        </p:nvSpPr>
        <p:spPr>
          <a:xfrm>
            <a:off x="8398161" y="3385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00" dirty="0"/>
          </a:p>
        </p:txBody>
      </p:sp>
      <p:sp>
        <p:nvSpPr>
          <p:cNvPr id="62" name="Text 58"/>
          <p:cNvSpPr/>
          <p:nvPr/>
        </p:nvSpPr>
        <p:spPr>
          <a:xfrm>
            <a:off x="9241400" y="273010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117</a:t>
            </a:r>
            <a:endParaRPr lang="en-US" sz="720" dirty="0"/>
          </a:p>
        </p:txBody>
      </p:sp>
      <p:sp>
        <p:nvSpPr>
          <p:cNvPr id="63" name="Text 59"/>
          <p:cNvSpPr/>
          <p:nvPr/>
        </p:nvSpPr>
        <p:spPr>
          <a:xfrm>
            <a:off x="9250627" y="3385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00" dirty="0"/>
          </a:p>
        </p:txBody>
      </p:sp>
      <p:sp>
        <p:nvSpPr>
          <p:cNvPr id="64" name="Text 60"/>
          <p:cNvSpPr/>
          <p:nvPr/>
        </p:nvSpPr>
        <p:spPr>
          <a:xfrm>
            <a:off x="10084937" y="24327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218</a:t>
            </a:r>
            <a:endParaRPr lang="en-US" sz="720" dirty="0"/>
          </a:p>
        </p:txBody>
      </p:sp>
      <p:sp>
        <p:nvSpPr>
          <p:cNvPr id="65" name="Text 61"/>
          <p:cNvSpPr/>
          <p:nvPr/>
        </p:nvSpPr>
        <p:spPr>
          <a:xfrm>
            <a:off x="10088062" y="3385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00" dirty="0"/>
          </a:p>
        </p:txBody>
      </p:sp>
      <p:sp>
        <p:nvSpPr>
          <p:cNvPr id="66" name="Text 62"/>
          <p:cNvSpPr/>
          <p:nvPr/>
        </p:nvSpPr>
        <p:spPr>
          <a:xfrm>
            <a:off x="10932641" y="24327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281</a:t>
            </a:r>
            <a:endParaRPr lang="en-US" sz="720" dirty="0"/>
          </a:p>
        </p:txBody>
      </p:sp>
      <p:sp>
        <p:nvSpPr>
          <p:cNvPr id="67" name="Text 63"/>
          <p:cNvSpPr/>
          <p:nvPr/>
        </p:nvSpPr>
        <p:spPr>
          <a:xfrm>
            <a:off x="10945588" y="3385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00" dirty="0"/>
          </a:p>
        </p:txBody>
      </p:sp>
      <p:sp>
        <p:nvSpPr>
          <p:cNvPr id="68" name="Text 64"/>
          <p:cNvSpPr/>
          <p:nvPr/>
        </p:nvSpPr>
        <p:spPr>
          <a:xfrm>
            <a:off x="6719571" y="301287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720" dirty="0"/>
          </a:p>
        </p:txBody>
      </p:sp>
      <p:sp>
        <p:nvSpPr>
          <p:cNvPr id="69" name="Text 65"/>
          <p:cNvSpPr/>
          <p:nvPr/>
        </p:nvSpPr>
        <p:spPr>
          <a:xfrm>
            <a:off x="7567870" y="300245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20" dirty="0"/>
          </a:p>
        </p:txBody>
      </p:sp>
      <p:sp>
        <p:nvSpPr>
          <p:cNvPr id="70" name="Text 66"/>
          <p:cNvSpPr/>
          <p:nvPr/>
        </p:nvSpPr>
        <p:spPr>
          <a:xfrm>
            <a:off x="8413341" y="284529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Bienvenida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Bienvenidas CP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0990" y="1543794"/>
            <a:ext cx="5667233" cy="3800475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43471" y="1543794"/>
            <a:ext cx="5667233" cy="3800475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0990" y="771525"/>
            <a:ext cx="38099" cy="600819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9" name="Shape 7"/>
          <p:cNvSpPr/>
          <p:nvPr/>
        </p:nvSpPr>
        <p:spPr>
          <a:xfrm>
            <a:off x="419090" y="771525"/>
            <a:ext cx="3708258" cy="60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222595" y="771525"/>
            <a:ext cx="38099" cy="600819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1" name="Shape 9"/>
          <p:cNvSpPr/>
          <p:nvPr/>
        </p:nvSpPr>
        <p:spPr>
          <a:xfrm>
            <a:off x="4260694" y="771525"/>
            <a:ext cx="3708258" cy="60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064199" y="771525"/>
            <a:ext cx="38099" cy="600819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3" name="Shape 11"/>
          <p:cNvSpPr/>
          <p:nvPr/>
        </p:nvSpPr>
        <p:spPr>
          <a:xfrm>
            <a:off x="8102298" y="771525"/>
            <a:ext cx="3708407" cy="60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0990" y="5496669"/>
            <a:ext cx="11429714" cy="700088"/>
          </a:xfrm>
          <a:prstGeom prst="rect">
            <a:avLst/>
          </a:prstGeom>
          <a:solidFill>
            <a:srgbClr val="120180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14.772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8.485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19.573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11.134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21.421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13.486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19.096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10.792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20.067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13.166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19.767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13.203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114.696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70.266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14954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Activa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4.318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5.666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6.863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5.492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6.700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6.719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35.758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Contrato Repetido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1.541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2.022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2.448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1.960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2.391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2.398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12.760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849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1.113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1.349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1.317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7.027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1.135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1.109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1.112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5.916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Recibido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4.624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con Localidad Errónea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1.912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Cédula/Teléfono Repetido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Excede límite de edad (&gt;80 años)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8.485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11.134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13.486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10.792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13.166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13.203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70.266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6.287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1.208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8.439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1.435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7.935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1.119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8.304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1.086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6.901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83,1 %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1.068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6.564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965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44.430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6.881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20288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5.413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7.265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7.149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5.941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5.651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38.250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 (CP + Autogestión)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1.434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1.133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7.672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2.831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2.663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2.786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14.908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4.822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Agendado / llamada posterior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476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Datos errados / experiencia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precio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1.126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2.403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1.609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10.362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967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1.299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1.221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1.278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1.062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2.442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apagado / fuera de servicio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1.033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685783" y="5856238"/>
            <a:ext cx="7086720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es , lo que indica que el 1S se depuró correctamente contra clientes vigentes antes de lanzar el marcador.</a:t>
            </a:r>
            <a:endParaRPr lang="en-US" sz="744" dirty="0"/>
          </a:p>
        </p:txBody>
      </p:sp>
      <p:sp>
        <p:nvSpPr>
          <p:cNvPr id="20" name="Text 14"/>
          <p:cNvSpPr/>
          <p:nvPr/>
        </p:nvSpPr>
        <p:spPr>
          <a:xfrm>
            <a:off x="685783" y="6002685"/>
            <a:ext cx="7086720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representa el , convirtiéndose en el motor de ventas del canal.</a:t>
            </a:r>
            <a:endParaRPr lang="en-US" sz="744" dirty="0"/>
          </a:p>
        </p:txBody>
      </p:sp>
      <p:sp>
        <p:nvSpPr>
          <p:cNvPr id="21" name="Text 15"/>
          <p:cNvSpPr/>
          <p:nvPr/>
        </p:nvSpPr>
        <p:spPr>
          <a:xfrm>
            <a:off x="1493602" y="5719316"/>
            <a:ext cx="235752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mayor contactabilidad del canal (78,7 % Semestre)</a:t>
            </a:r>
            <a:endParaRPr lang="en-US" sz="744" dirty="0"/>
          </a:p>
        </p:txBody>
      </p:sp>
      <p:sp>
        <p:nvSpPr>
          <p:cNvPr id="22" name="Text 16"/>
          <p:cNvSpPr/>
          <p:nvPr/>
        </p:nvSpPr>
        <p:spPr>
          <a:xfrm>
            <a:off x="1213514" y="219075"/>
            <a:ext cx="36844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Bienvenidas CP</a:t>
            </a:r>
            <a:endParaRPr lang="en-US" sz="1260" dirty="0"/>
          </a:p>
        </p:txBody>
      </p:sp>
      <p:sp>
        <p:nvSpPr>
          <p:cNvPr id="23" name="Text 17"/>
          <p:cNvSpPr/>
          <p:nvPr/>
        </p:nvSpPr>
        <p:spPr>
          <a:xfrm>
            <a:off x="8216595" y="1219944"/>
            <a:ext cx="34798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efectividad comercial sobre contacto</a:t>
            </a:r>
            <a:endParaRPr lang="en-US" sz="648" dirty="0"/>
          </a:p>
        </p:txBody>
      </p:sp>
      <p:sp>
        <p:nvSpPr>
          <p:cNvPr id="24" name="Text 18"/>
          <p:cNvSpPr/>
          <p:nvPr/>
        </p:nvSpPr>
        <p:spPr>
          <a:xfrm>
            <a:off x="533387" y="1219944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Líder en contactabilidad del canal</a:t>
            </a:r>
            <a:endParaRPr lang="en-US" sz="648" dirty="0"/>
          </a:p>
        </p:txBody>
      </p:sp>
      <p:sp>
        <p:nvSpPr>
          <p:cNvPr id="25" name="Text 19"/>
          <p:cNvSpPr/>
          <p:nvPr/>
        </p:nvSpPr>
        <p:spPr>
          <a:xfrm>
            <a:off x="4374991" y="1219944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Aporta el 62% de las ventas de CP</a:t>
            </a:r>
            <a:endParaRPr lang="en-US" sz="648" dirty="0"/>
          </a:p>
        </p:txBody>
      </p:sp>
      <p:sp>
        <p:nvSpPr>
          <p:cNvPr id="26" name="Text 20"/>
          <p:cNvSpPr/>
          <p:nvPr/>
        </p:nvSpPr>
        <p:spPr>
          <a:xfrm>
            <a:off x="495288" y="3029694"/>
            <a:ext cx="54386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27" name="Text 21"/>
          <p:cNvSpPr/>
          <p:nvPr/>
        </p:nvSpPr>
        <p:spPr>
          <a:xfrm>
            <a:off x="9445141" y="209550"/>
            <a:ext cx="217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Bienvenida</a:t>
            </a:r>
            <a:endParaRPr lang="en-US" sz="840" dirty="0"/>
          </a:p>
        </p:txBody>
      </p:sp>
      <p:sp>
        <p:nvSpPr>
          <p:cNvPr id="28" name="Text 22"/>
          <p:cNvSpPr/>
          <p:nvPr/>
        </p:nvSpPr>
        <p:spPr>
          <a:xfrm>
            <a:off x="533387" y="828675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29" name="Text 23"/>
          <p:cNvSpPr/>
          <p:nvPr/>
        </p:nvSpPr>
        <p:spPr>
          <a:xfrm>
            <a:off x="8216595" y="828675"/>
            <a:ext cx="34798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30" name="Text 24"/>
          <p:cNvSpPr/>
          <p:nvPr/>
        </p:nvSpPr>
        <p:spPr>
          <a:xfrm>
            <a:off x="4374991" y="828675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TOTALES</a:t>
            </a:r>
            <a:endParaRPr lang="en-US" sz="672" dirty="0"/>
          </a:p>
        </p:txBody>
      </p:sp>
      <p:sp>
        <p:nvSpPr>
          <p:cNvPr id="31" name="Text 25"/>
          <p:cNvSpPr/>
          <p:nvPr/>
        </p:nvSpPr>
        <p:spPr>
          <a:xfrm>
            <a:off x="8216595" y="971550"/>
            <a:ext cx="3479812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19,5 %</a:t>
            </a:r>
            <a:endParaRPr lang="en-US" sz="1380" dirty="0"/>
          </a:p>
        </p:txBody>
      </p:sp>
      <p:sp>
        <p:nvSpPr>
          <p:cNvPr id="32" name="Text 26"/>
          <p:cNvSpPr/>
          <p:nvPr/>
        </p:nvSpPr>
        <p:spPr>
          <a:xfrm>
            <a:off x="4374991" y="971550"/>
            <a:ext cx="347966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6.881</a:t>
            </a:r>
            <a:endParaRPr lang="en-US" sz="1380" dirty="0"/>
          </a:p>
        </p:txBody>
      </p:sp>
      <p:sp>
        <p:nvSpPr>
          <p:cNvPr id="33" name="Text 27"/>
          <p:cNvSpPr/>
          <p:nvPr/>
        </p:nvSpPr>
        <p:spPr>
          <a:xfrm>
            <a:off x="533387" y="971550"/>
            <a:ext cx="347966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13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CP Stock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Stock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0990" y="1543794"/>
            <a:ext cx="5667233" cy="3800475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43471" y="1543794"/>
            <a:ext cx="5667233" cy="3800475"/>
          </a:xfrm>
          <a:prstGeom prst="roundRect">
            <a:avLst>
              <a:gd name="adj" fmla="val 36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0990" y="771525"/>
            <a:ext cx="38099" cy="600819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9" name="Shape 7"/>
          <p:cNvSpPr/>
          <p:nvPr/>
        </p:nvSpPr>
        <p:spPr>
          <a:xfrm>
            <a:off x="419090" y="771525"/>
            <a:ext cx="3708258" cy="60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222595" y="771525"/>
            <a:ext cx="38099" cy="600819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1" name="Shape 9"/>
          <p:cNvSpPr/>
          <p:nvPr/>
        </p:nvSpPr>
        <p:spPr>
          <a:xfrm>
            <a:off x="4260694" y="771525"/>
            <a:ext cx="3708258" cy="60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064199" y="771525"/>
            <a:ext cx="38099" cy="600819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3" name="Shape 11"/>
          <p:cNvSpPr/>
          <p:nvPr/>
        </p:nvSpPr>
        <p:spPr>
          <a:xfrm>
            <a:off x="8102298" y="771525"/>
            <a:ext cx="3708407" cy="60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0990" y="5496669"/>
            <a:ext cx="11429714" cy="700088"/>
          </a:xfrm>
          <a:prstGeom prst="rect">
            <a:avLst/>
          </a:prstGeom>
          <a:solidFill>
            <a:srgbClr val="120180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20.864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12.781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50.266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25.419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69.741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41.761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82.833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53.460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82.833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53.460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114.104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74.819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420.641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261.700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14954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4.699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9.346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15.354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19.655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19.655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27.509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96.218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Activa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4.173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8.300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13.637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17.457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17.457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24.431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85.455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Recibido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1.028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2.044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3.359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4.299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4.299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6.018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21.047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Dirección Repetida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1.897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3.117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3.990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3.990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5.585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19.533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1.325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2.176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2.786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2.786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3.898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13.637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Repetido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1.126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2.018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7.059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Cédula Repetida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1.445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5.053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Excede límite de edad (&gt;80 años)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4.544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1.461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2.617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9.154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12.781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25.419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41.761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53.460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53.460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74.819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261.700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8.083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24.847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27.980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29.373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29.373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39.285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158.941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20288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3.429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10.540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11.869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12.460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12.460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16.662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67.420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3.908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4.400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4.619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4.619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6.179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24.996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2.527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2.653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2.653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3.549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14.356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1.035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1.454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5.881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Datos errados / experiencia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1.098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1.298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1.298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7.026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precio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3.063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Agendado / llamada posterior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1.094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6.214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3.506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10.777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12.136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17.041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68.940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2.885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8.867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9.986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10.483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10.483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14.019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56.723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1.343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1.513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8.594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apagado / fuera de servicio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523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685783" y="6002685"/>
            <a:ext cx="7174229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no contacto es muy alto (), impulsado por contestadores automáticos (), lo que exige depuración telefónica en 2S.</a:t>
            </a:r>
            <a:endParaRPr lang="en-US" sz="744" dirty="0"/>
          </a:p>
        </p:txBody>
      </p:sp>
      <p:sp>
        <p:nvSpPr>
          <p:cNvPr id="20" name="Text 14"/>
          <p:cNvSpPr/>
          <p:nvPr/>
        </p:nvSpPr>
        <p:spPr>
          <a:xfrm>
            <a:off x="685783" y="5856238"/>
            <a:ext cx="7174229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estructural de  y  suma el , confirmando el agotamiento de la base.</a:t>
            </a:r>
            <a:endParaRPr lang="en-US" sz="744" dirty="0"/>
          </a:p>
        </p:txBody>
      </p:sp>
      <p:sp>
        <p:nvSpPr>
          <p:cNvPr id="21" name="Text 15"/>
          <p:cNvSpPr/>
          <p:nvPr/>
        </p:nvSpPr>
        <p:spPr>
          <a:xfrm>
            <a:off x="1336741" y="5719316"/>
            <a:ext cx="24402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volumen (420.641 registros recibidos)</a:t>
            </a:r>
            <a:endParaRPr lang="en-US" sz="744" dirty="0"/>
          </a:p>
        </p:txBody>
      </p:sp>
      <p:sp>
        <p:nvSpPr>
          <p:cNvPr id="22" name="Text 16"/>
          <p:cNvSpPr/>
          <p:nvPr/>
        </p:nvSpPr>
        <p:spPr>
          <a:xfrm>
            <a:off x="8216595" y="1219944"/>
            <a:ext cx="34798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 de objetivos sobre contacto</a:t>
            </a:r>
            <a:endParaRPr lang="en-US" sz="648" dirty="0"/>
          </a:p>
        </p:txBody>
      </p:sp>
      <p:sp>
        <p:nvSpPr>
          <p:cNvPr id="23" name="Text 17"/>
          <p:cNvSpPr/>
          <p:nvPr/>
        </p:nvSpPr>
        <p:spPr>
          <a:xfrm>
            <a:off x="1213514" y="219075"/>
            <a:ext cx="31418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Stock</a:t>
            </a:r>
            <a:endParaRPr lang="en-US" sz="1260" dirty="0"/>
          </a:p>
        </p:txBody>
      </p:sp>
      <p:sp>
        <p:nvSpPr>
          <p:cNvPr id="24" name="Text 18"/>
          <p:cNvSpPr/>
          <p:nvPr/>
        </p:nvSpPr>
        <p:spPr>
          <a:xfrm>
            <a:off x="4374991" y="1219944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Segundo mayor aportante de ventas</a:t>
            </a:r>
            <a:endParaRPr lang="en-US" sz="648" dirty="0"/>
          </a:p>
        </p:txBody>
      </p:sp>
      <p:sp>
        <p:nvSpPr>
          <p:cNvPr id="25" name="Text 19"/>
          <p:cNvSpPr/>
          <p:nvPr/>
        </p:nvSpPr>
        <p:spPr>
          <a:xfrm>
            <a:off x="533387" y="1219944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dimensionamiento</a:t>
            </a:r>
            <a:endParaRPr lang="en-US" sz="648" dirty="0"/>
          </a:p>
        </p:txBody>
      </p:sp>
      <p:sp>
        <p:nvSpPr>
          <p:cNvPr id="26" name="Text 20"/>
          <p:cNvSpPr/>
          <p:nvPr/>
        </p:nvSpPr>
        <p:spPr>
          <a:xfrm>
            <a:off x="495288" y="3029694"/>
            <a:ext cx="54386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27" name="Text 21"/>
          <p:cNvSpPr/>
          <p:nvPr/>
        </p:nvSpPr>
        <p:spPr>
          <a:xfrm>
            <a:off x="9601853" y="209550"/>
            <a:ext cx="20183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CP Stock</a:t>
            </a:r>
            <a:endParaRPr lang="en-US" sz="840" dirty="0"/>
          </a:p>
        </p:txBody>
      </p:sp>
      <p:sp>
        <p:nvSpPr>
          <p:cNvPr id="28" name="Text 22"/>
          <p:cNvSpPr/>
          <p:nvPr/>
        </p:nvSpPr>
        <p:spPr>
          <a:xfrm>
            <a:off x="533387" y="828675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DE REGISTROS</a:t>
            </a:r>
            <a:endParaRPr lang="en-US" sz="672" dirty="0"/>
          </a:p>
        </p:txBody>
      </p:sp>
      <p:sp>
        <p:nvSpPr>
          <p:cNvPr id="29" name="Text 23"/>
          <p:cNvSpPr/>
          <p:nvPr/>
        </p:nvSpPr>
        <p:spPr>
          <a:xfrm>
            <a:off x="4374991" y="828675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30" name="Text 24"/>
          <p:cNvSpPr/>
          <p:nvPr/>
        </p:nvSpPr>
        <p:spPr>
          <a:xfrm>
            <a:off x="8216595" y="828675"/>
            <a:ext cx="34798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31" name="Text 25"/>
          <p:cNvSpPr/>
          <p:nvPr/>
        </p:nvSpPr>
        <p:spPr>
          <a:xfrm>
            <a:off x="533387" y="971550"/>
            <a:ext cx="347966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1380" dirty="0"/>
          </a:p>
        </p:txBody>
      </p:sp>
      <p:sp>
        <p:nvSpPr>
          <p:cNvPr id="32" name="Text 26"/>
          <p:cNvSpPr/>
          <p:nvPr/>
        </p:nvSpPr>
        <p:spPr>
          <a:xfrm>
            <a:off x="4374991" y="971550"/>
            <a:ext cx="347966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3.073</a:t>
            </a:r>
            <a:endParaRPr lang="en-US" sz="1380" dirty="0"/>
          </a:p>
        </p:txBody>
      </p:sp>
      <p:sp>
        <p:nvSpPr>
          <p:cNvPr id="33" name="Text 27"/>
          <p:cNvSpPr/>
          <p:nvPr/>
        </p:nvSpPr>
        <p:spPr>
          <a:xfrm>
            <a:off x="8216595" y="971550"/>
            <a:ext cx="3479812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13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Masiva Voluntarios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Masiva Voluntarios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0990" y="1543794"/>
            <a:ext cx="5667233" cy="3667125"/>
          </a:xfrm>
          <a:prstGeom prst="roundRect">
            <a:avLst>
              <a:gd name="adj" fmla="val 37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43471" y="1543794"/>
            <a:ext cx="5667233" cy="3667125"/>
          </a:xfrm>
          <a:prstGeom prst="roundRect">
            <a:avLst>
              <a:gd name="adj" fmla="val 37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0990" y="771525"/>
            <a:ext cx="38099" cy="600819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9" name="Shape 7"/>
          <p:cNvSpPr/>
          <p:nvPr/>
        </p:nvSpPr>
        <p:spPr>
          <a:xfrm>
            <a:off x="419090" y="771525"/>
            <a:ext cx="3708258" cy="60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222595" y="771525"/>
            <a:ext cx="38099" cy="600819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1" name="Shape 9"/>
          <p:cNvSpPr/>
          <p:nvPr/>
        </p:nvSpPr>
        <p:spPr>
          <a:xfrm>
            <a:off x="4260694" y="771525"/>
            <a:ext cx="3708258" cy="60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064199" y="771525"/>
            <a:ext cx="38099" cy="600819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3" name="Shape 11"/>
          <p:cNvSpPr/>
          <p:nvPr/>
        </p:nvSpPr>
        <p:spPr>
          <a:xfrm>
            <a:off x="8102298" y="771525"/>
            <a:ext cx="3708407" cy="60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0990" y="5363319"/>
            <a:ext cx="11429714" cy="700088"/>
          </a:xfrm>
          <a:prstGeom prst="rect">
            <a:avLst/>
          </a:prstGeom>
          <a:solidFill>
            <a:srgbClr val="120180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55.557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4.225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24.673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11.397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41.870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4.562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49.232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48.734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49.232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48.734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34.574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17.661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255.138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135.313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136207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3.237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8.732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3.495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37.342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37.340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13.532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103.678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Recibido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948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4.055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4.056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11.261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Supera edad para Microseguro (69 años)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5.948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Excede límite de edad (&gt;69 años)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4.495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Seguro Voluntario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839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839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2.330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Vacío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2.145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1.633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4.534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4.225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11.397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4.562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48.734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48.734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17.661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135.313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51.332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13.276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37.308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16.913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119.825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189547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7.252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1.875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5.270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2.389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16.926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1.880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6.037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1.728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4.035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precio / datos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1.106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2.583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Agendado / llamada posterior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1.595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35.511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9.184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25.810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11.700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82.895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34.600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8.949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25.148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11.400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80.769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apagado / fuera de servicio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685783" y="5722888"/>
            <a:ext cx="7384518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no contacto es el más alto del portafolio (), impulsado masivamente por , lo que indica bases quemadas o números desactualizados.</a:t>
            </a:r>
            <a:endParaRPr lang="en-US" sz="744" dirty="0"/>
          </a:p>
        </p:txBody>
      </p:sp>
      <p:sp>
        <p:nvSpPr>
          <p:cNvPr id="20" name="Text 14"/>
          <p:cNvSpPr/>
          <p:nvPr/>
        </p:nvSpPr>
        <p:spPr>
          <a:xfrm>
            <a:off x="685783" y="5869335"/>
            <a:ext cx="7384518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abril y mayo el rechazo llegó al  porque se enviaron registros duplicados.  al actualizarse la base.</a:t>
            </a:r>
            <a:endParaRPr lang="en-US" sz="744" dirty="0"/>
          </a:p>
        </p:txBody>
      </p:sp>
      <p:sp>
        <p:nvSpPr>
          <p:cNvPr id="21" name="Text 15"/>
          <p:cNvSpPr/>
          <p:nvPr/>
        </p:nvSpPr>
        <p:spPr>
          <a:xfrm>
            <a:off x="1213514" y="219075"/>
            <a:ext cx="39606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Masiva Voluntarios</a:t>
            </a:r>
            <a:endParaRPr lang="en-US" sz="1260" dirty="0"/>
          </a:p>
        </p:txBody>
      </p:sp>
      <p:sp>
        <p:nvSpPr>
          <p:cNvPr id="22" name="Text 16"/>
          <p:cNvSpPr/>
          <p:nvPr/>
        </p:nvSpPr>
        <p:spPr>
          <a:xfrm>
            <a:off x="4374991" y="1219944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Importante repunte tras actualización de base</a:t>
            </a:r>
            <a:endParaRPr lang="en-US" sz="648" dirty="0"/>
          </a:p>
        </p:txBody>
      </p:sp>
      <p:sp>
        <p:nvSpPr>
          <p:cNvPr id="23" name="Text 17"/>
          <p:cNvSpPr/>
          <p:nvPr/>
        </p:nvSpPr>
        <p:spPr>
          <a:xfrm>
            <a:off x="1579176" y="5585966"/>
            <a:ext cx="18859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crítica muy baja (17,0 %)</a:t>
            </a:r>
            <a:endParaRPr lang="en-US" sz="744" dirty="0"/>
          </a:p>
        </p:txBody>
      </p:sp>
      <p:sp>
        <p:nvSpPr>
          <p:cNvPr id="24" name="Text 18"/>
          <p:cNvSpPr/>
          <p:nvPr/>
        </p:nvSpPr>
        <p:spPr>
          <a:xfrm>
            <a:off x="533387" y="1219944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masiva para gestión del marcador</a:t>
            </a:r>
            <a:endParaRPr lang="en-US" sz="648" dirty="0"/>
          </a:p>
        </p:txBody>
      </p:sp>
      <p:sp>
        <p:nvSpPr>
          <p:cNvPr id="25" name="Text 19"/>
          <p:cNvSpPr/>
          <p:nvPr/>
        </p:nvSpPr>
        <p:spPr>
          <a:xfrm>
            <a:off x="8794481" y="209550"/>
            <a:ext cx="28257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Masiva Voluntarios</a:t>
            </a:r>
            <a:endParaRPr lang="en-US" sz="840" dirty="0"/>
          </a:p>
        </p:txBody>
      </p:sp>
      <p:sp>
        <p:nvSpPr>
          <p:cNvPr id="26" name="Text 20"/>
          <p:cNvSpPr/>
          <p:nvPr/>
        </p:nvSpPr>
        <p:spPr>
          <a:xfrm>
            <a:off x="495288" y="3029694"/>
            <a:ext cx="54386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27" name="Text 21"/>
          <p:cNvSpPr/>
          <p:nvPr/>
        </p:nvSpPr>
        <p:spPr>
          <a:xfrm>
            <a:off x="8216595" y="1219944"/>
            <a:ext cx="34798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incremental constante</a:t>
            </a:r>
            <a:endParaRPr lang="en-US" sz="648" dirty="0"/>
          </a:p>
        </p:txBody>
      </p:sp>
      <p:sp>
        <p:nvSpPr>
          <p:cNvPr id="28" name="Text 22"/>
          <p:cNvSpPr/>
          <p:nvPr/>
        </p:nvSpPr>
        <p:spPr>
          <a:xfrm>
            <a:off x="4374991" y="828675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EN JUNIO</a:t>
            </a:r>
            <a:endParaRPr lang="en-US" sz="672" dirty="0"/>
          </a:p>
        </p:txBody>
      </p:sp>
      <p:sp>
        <p:nvSpPr>
          <p:cNvPr id="29" name="Text 23"/>
          <p:cNvSpPr/>
          <p:nvPr/>
        </p:nvSpPr>
        <p:spPr>
          <a:xfrm>
            <a:off x="8216595" y="828675"/>
            <a:ext cx="34798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CONSEGUIDAS</a:t>
            </a:r>
            <a:endParaRPr lang="en-US" sz="672" dirty="0"/>
          </a:p>
        </p:txBody>
      </p:sp>
      <p:sp>
        <p:nvSpPr>
          <p:cNvPr id="30" name="Text 24"/>
          <p:cNvSpPr/>
          <p:nvPr/>
        </p:nvSpPr>
        <p:spPr>
          <a:xfrm>
            <a:off x="533387" y="828675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INSUMO APTO TOTAL</a:t>
            </a:r>
            <a:endParaRPr lang="en-US" sz="672" dirty="0"/>
          </a:p>
        </p:txBody>
      </p:sp>
      <p:sp>
        <p:nvSpPr>
          <p:cNvPr id="31" name="Text 25"/>
          <p:cNvSpPr/>
          <p:nvPr/>
        </p:nvSpPr>
        <p:spPr>
          <a:xfrm>
            <a:off x="533387" y="971550"/>
            <a:ext cx="347966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119.828</a:t>
            </a:r>
            <a:endParaRPr lang="en-US" sz="1380" dirty="0"/>
          </a:p>
        </p:txBody>
      </p:sp>
      <p:sp>
        <p:nvSpPr>
          <p:cNvPr id="32" name="Text 26"/>
          <p:cNvSpPr/>
          <p:nvPr/>
        </p:nvSpPr>
        <p:spPr>
          <a:xfrm>
            <a:off x="4837984" y="5585966"/>
            <a:ext cx="3473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53,04 %</a:t>
            </a:r>
            <a:endParaRPr lang="en-US" sz="744" dirty="0"/>
          </a:p>
        </p:txBody>
      </p:sp>
      <p:sp>
        <p:nvSpPr>
          <p:cNvPr id="33" name="Text 27"/>
          <p:cNvSpPr/>
          <p:nvPr/>
        </p:nvSpPr>
        <p:spPr>
          <a:xfrm>
            <a:off x="4374991" y="971550"/>
            <a:ext cx="347966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1380" dirty="0"/>
          </a:p>
        </p:txBody>
      </p:sp>
      <p:sp>
        <p:nvSpPr>
          <p:cNvPr id="34" name="Text 28"/>
          <p:cNvSpPr/>
          <p:nvPr/>
        </p:nvSpPr>
        <p:spPr>
          <a:xfrm>
            <a:off x="8216595" y="971550"/>
            <a:ext cx="3479812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318</a:t>
            </a:r>
            <a:endParaRPr lang="en-US" sz="13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Clientes Satisfechos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Clientes Satisfechos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0990" y="1543794"/>
            <a:ext cx="5667233" cy="3000375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43471" y="1543794"/>
            <a:ext cx="5667233" cy="3000375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0990" y="771525"/>
            <a:ext cx="38099" cy="600819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9" name="Shape 7"/>
          <p:cNvSpPr/>
          <p:nvPr/>
        </p:nvSpPr>
        <p:spPr>
          <a:xfrm>
            <a:off x="419090" y="771525"/>
            <a:ext cx="3708258" cy="60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222595" y="771525"/>
            <a:ext cx="38099" cy="600819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1" name="Shape 9"/>
          <p:cNvSpPr/>
          <p:nvPr/>
        </p:nvSpPr>
        <p:spPr>
          <a:xfrm>
            <a:off x="4260694" y="771525"/>
            <a:ext cx="3708258" cy="60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064199" y="771525"/>
            <a:ext cx="38099" cy="600819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3" name="Shape 11"/>
          <p:cNvSpPr/>
          <p:nvPr/>
        </p:nvSpPr>
        <p:spPr>
          <a:xfrm>
            <a:off x="8102298" y="771525"/>
            <a:ext cx="3708407" cy="60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0990" y="4696569"/>
            <a:ext cx="11429714" cy="700088"/>
          </a:xfrm>
          <a:prstGeom prst="rect">
            <a:avLst/>
          </a:prstGeom>
          <a:solidFill>
            <a:srgbClr val="120180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108.659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73.431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108.659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73.431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9620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43.210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43.210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Activa / Producto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22.105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22.105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Errado / Sin Teléfono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4.120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4.120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NIT de empresa / No apto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2.980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2.980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1.016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1.016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73.431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73.431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35.228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35.228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12287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3.210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3.210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 / experiencia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28.692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28.692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22.104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22.104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 / apagado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685783" y="5056138"/>
            <a:ext cx="6456151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 descarte muy alto () y una bajísima efectividad sobre contacto (), lo que justifica que se haya pausado a partir de febrero.</a:t>
            </a:r>
            <a:endParaRPr lang="en-US" sz="744" dirty="0"/>
          </a:p>
        </p:txBody>
      </p:sp>
      <p:sp>
        <p:nvSpPr>
          <p:cNvPr id="20" name="Text 14"/>
          <p:cNvSpPr/>
          <p:nvPr/>
        </p:nvSpPr>
        <p:spPr>
          <a:xfrm>
            <a:off x="685783" y="5202585"/>
            <a:ext cx="6456151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contestador fue el gran bloqueador en enero, consumiendo el .</a:t>
            </a:r>
            <a:endParaRPr lang="en-US" sz="744" dirty="0"/>
          </a:p>
        </p:txBody>
      </p:sp>
      <p:sp>
        <p:nvSpPr>
          <p:cNvPr id="21" name="Text 15"/>
          <p:cNvSpPr/>
          <p:nvPr/>
        </p:nvSpPr>
        <p:spPr>
          <a:xfrm>
            <a:off x="1213514" y="219075"/>
            <a:ext cx="43577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Clientes Satisfechos</a:t>
            </a:r>
            <a:endParaRPr lang="en-US" sz="1260" dirty="0"/>
          </a:p>
        </p:txBody>
      </p:sp>
      <p:sp>
        <p:nvSpPr>
          <p:cNvPr id="22" name="Text 16"/>
          <p:cNvSpPr/>
          <p:nvPr/>
        </p:nvSpPr>
        <p:spPr>
          <a:xfrm>
            <a:off x="8216595" y="1219944"/>
            <a:ext cx="34798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y depurada de forma express</a:t>
            </a:r>
            <a:endParaRPr lang="en-US" sz="648" dirty="0"/>
          </a:p>
        </p:txBody>
      </p:sp>
      <p:sp>
        <p:nvSpPr>
          <p:cNvPr id="23" name="Text 17"/>
          <p:cNvSpPr/>
          <p:nvPr/>
        </p:nvSpPr>
        <p:spPr>
          <a:xfrm>
            <a:off x="533387" y="1219944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Interacción ágil con clientes históricos</a:t>
            </a:r>
            <a:endParaRPr lang="en-US" sz="648" dirty="0"/>
          </a:p>
        </p:txBody>
      </p:sp>
      <p:sp>
        <p:nvSpPr>
          <p:cNvPr id="24" name="Text 18"/>
          <p:cNvSpPr/>
          <p:nvPr/>
        </p:nvSpPr>
        <p:spPr>
          <a:xfrm>
            <a:off x="4374991" y="1219944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táctico masivo al inicio del año</a:t>
            </a:r>
            <a:endParaRPr lang="en-US" sz="648" dirty="0"/>
          </a:p>
        </p:txBody>
      </p:sp>
      <p:sp>
        <p:nvSpPr>
          <p:cNvPr id="25" name="Text 19"/>
          <p:cNvSpPr/>
          <p:nvPr/>
        </p:nvSpPr>
        <p:spPr>
          <a:xfrm>
            <a:off x="8681672" y="209550"/>
            <a:ext cx="29385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Clientes Satisfechos</a:t>
            </a:r>
            <a:endParaRPr lang="en-US" sz="840" dirty="0"/>
          </a:p>
        </p:txBody>
      </p:sp>
      <p:sp>
        <p:nvSpPr>
          <p:cNvPr id="26" name="Text 20"/>
          <p:cNvSpPr/>
          <p:nvPr/>
        </p:nvSpPr>
        <p:spPr>
          <a:xfrm>
            <a:off x="1138953" y="4919216"/>
            <a:ext cx="16611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sólo estuvo activa en enero de 2026</a:t>
            </a:r>
            <a:endParaRPr lang="en-US" sz="744" dirty="0"/>
          </a:p>
        </p:txBody>
      </p:sp>
      <p:sp>
        <p:nvSpPr>
          <p:cNvPr id="27" name="Text 21"/>
          <p:cNvSpPr/>
          <p:nvPr/>
        </p:nvSpPr>
        <p:spPr>
          <a:xfrm>
            <a:off x="495288" y="3029694"/>
            <a:ext cx="54386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28" name="Text 22"/>
          <p:cNvSpPr/>
          <p:nvPr/>
        </p:nvSpPr>
        <p:spPr>
          <a:xfrm>
            <a:off x="533387" y="828675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 EN ENERO</a:t>
            </a:r>
            <a:endParaRPr lang="en-US" sz="672" dirty="0"/>
          </a:p>
        </p:txBody>
      </p:sp>
      <p:sp>
        <p:nvSpPr>
          <p:cNvPr id="29" name="Text 23"/>
          <p:cNvSpPr/>
          <p:nvPr/>
        </p:nvSpPr>
        <p:spPr>
          <a:xfrm>
            <a:off x="8216595" y="828675"/>
            <a:ext cx="34798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GENERADOS</a:t>
            </a:r>
            <a:endParaRPr lang="en-US" sz="672" dirty="0"/>
          </a:p>
        </p:txBody>
      </p:sp>
      <p:sp>
        <p:nvSpPr>
          <p:cNvPr id="30" name="Text 24"/>
          <p:cNvSpPr/>
          <p:nvPr/>
        </p:nvSpPr>
        <p:spPr>
          <a:xfrm>
            <a:off x="4374991" y="828675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INCREMENTALES</a:t>
            </a:r>
            <a:endParaRPr lang="en-US" sz="672" dirty="0"/>
          </a:p>
        </p:txBody>
      </p:sp>
      <p:sp>
        <p:nvSpPr>
          <p:cNvPr id="31" name="Text 25"/>
          <p:cNvSpPr/>
          <p:nvPr/>
        </p:nvSpPr>
        <p:spPr>
          <a:xfrm>
            <a:off x="533387" y="971550"/>
            <a:ext cx="347966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1380" dirty="0"/>
          </a:p>
        </p:txBody>
      </p:sp>
      <p:sp>
        <p:nvSpPr>
          <p:cNvPr id="32" name="Text 26"/>
          <p:cNvSpPr/>
          <p:nvPr/>
        </p:nvSpPr>
        <p:spPr>
          <a:xfrm>
            <a:off x="8216595" y="971550"/>
            <a:ext cx="3479812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1380" dirty="0"/>
          </a:p>
        </p:txBody>
      </p:sp>
      <p:sp>
        <p:nvSpPr>
          <p:cNvPr id="33" name="Text 27"/>
          <p:cNvSpPr/>
          <p:nvPr/>
        </p:nvSpPr>
        <p:spPr>
          <a:xfrm>
            <a:off x="4374991" y="971550"/>
            <a:ext cx="347966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13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Microseguro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Microseguro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0990" y="1543794"/>
            <a:ext cx="5667233" cy="3667125"/>
          </a:xfrm>
          <a:prstGeom prst="roundRect">
            <a:avLst>
              <a:gd name="adj" fmla="val 37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43471" y="1543794"/>
            <a:ext cx="5667233" cy="3667125"/>
          </a:xfrm>
          <a:prstGeom prst="roundRect">
            <a:avLst>
              <a:gd name="adj" fmla="val 37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0990" y="771525"/>
            <a:ext cx="38099" cy="600819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9" name="Shape 7"/>
          <p:cNvSpPr/>
          <p:nvPr/>
        </p:nvSpPr>
        <p:spPr>
          <a:xfrm>
            <a:off x="419090" y="771525"/>
            <a:ext cx="3708258" cy="60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222595" y="771525"/>
            <a:ext cx="38099" cy="600819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1" name="Shape 9"/>
          <p:cNvSpPr/>
          <p:nvPr/>
        </p:nvSpPr>
        <p:spPr>
          <a:xfrm>
            <a:off x="4260694" y="771525"/>
            <a:ext cx="3708258" cy="60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064199" y="771525"/>
            <a:ext cx="38099" cy="600819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3" name="Shape 11"/>
          <p:cNvSpPr/>
          <p:nvPr/>
        </p:nvSpPr>
        <p:spPr>
          <a:xfrm>
            <a:off x="8102298" y="771525"/>
            <a:ext cx="3708407" cy="60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0990" y="5363319"/>
            <a:ext cx="11429714" cy="700088"/>
          </a:xfrm>
          <a:prstGeom prst="rect">
            <a:avLst/>
          </a:prstGeom>
          <a:solidFill>
            <a:srgbClr val="120180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1.368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1.575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1.147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1.737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1.865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1.705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9.397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6953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 / Ya Posee el Producto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1.363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87,9 %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1.571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1.143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1.735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1.862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1.704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9.378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1.309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189547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1.076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7.400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1.309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cumple requisito de edad (&gt;69 años)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Agendado / llamada posterior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1.978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1.244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apagado / fuera de servicio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685783" y="5722888"/>
            <a:ext cx="6315810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Muestra una contactabilidad excelente () y una conversión sobre contacto muy alta ().</a:t>
            </a:r>
            <a:endParaRPr lang="en-US" sz="744" dirty="0"/>
          </a:p>
        </p:txBody>
      </p:sp>
      <p:sp>
        <p:nvSpPr>
          <p:cNvPr id="20" name="Text 14"/>
          <p:cNvSpPr/>
          <p:nvPr/>
        </p:nvSpPr>
        <p:spPr>
          <a:xfrm>
            <a:off x="685783" y="5869335"/>
            <a:ext cx="6315810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 el , consolidándose como un canal de gran eficiencia a menor escala.</a:t>
            </a:r>
            <a:endParaRPr lang="en-US" sz="744" dirty="0"/>
          </a:p>
        </p:txBody>
      </p:sp>
      <p:sp>
        <p:nvSpPr>
          <p:cNvPr id="21" name="Text 15"/>
          <p:cNvSpPr/>
          <p:nvPr/>
        </p:nvSpPr>
        <p:spPr>
          <a:xfrm>
            <a:off x="4374991" y="1219944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tasa de efectividad comercial en portafolio</a:t>
            </a:r>
            <a:endParaRPr lang="en-US" sz="648" dirty="0"/>
          </a:p>
        </p:txBody>
      </p:sp>
      <p:sp>
        <p:nvSpPr>
          <p:cNvPr id="22" name="Text 16"/>
          <p:cNvSpPr/>
          <p:nvPr/>
        </p:nvSpPr>
        <p:spPr>
          <a:xfrm>
            <a:off x="533387" y="1219944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 respuesta de llamada y atención</a:t>
            </a:r>
            <a:endParaRPr lang="en-US" sz="648" dirty="0"/>
          </a:p>
        </p:txBody>
      </p:sp>
      <p:sp>
        <p:nvSpPr>
          <p:cNvPr id="23" name="Text 17"/>
          <p:cNvSpPr/>
          <p:nvPr/>
        </p:nvSpPr>
        <p:spPr>
          <a:xfrm>
            <a:off x="1213514" y="219075"/>
            <a:ext cx="34446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Microseguro</a:t>
            </a:r>
            <a:endParaRPr lang="en-US" sz="1260" dirty="0"/>
          </a:p>
        </p:txBody>
      </p:sp>
      <p:sp>
        <p:nvSpPr>
          <p:cNvPr id="24" name="Text 18"/>
          <p:cNvSpPr/>
          <p:nvPr/>
        </p:nvSpPr>
        <p:spPr>
          <a:xfrm>
            <a:off x="8216595" y="1219944"/>
            <a:ext cx="34798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estable y altamente rentable</a:t>
            </a:r>
            <a:endParaRPr lang="en-US" sz="648" dirty="0"/>
          </a:p>
        </p:txBody>
      </p:sp>
      <p:sp>
        <p:nvSpPr>
          <p:cNvPr id="25" name="Text 19"/>
          <p:cNvSpPr/>
          <p:nvPr/>
        </p:nvSpPr>
        <p:spPr>
          <a:xfrm>
            <a:off x="2227455" y="5585966"/>
            <a:ext cx="14866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nivel de rechazo casi nulo (&lt;1 %)</a:t>
            </a:r>
            <a:endParaRPr lang="en-US" sz="744" dirty="0"/>
          </a:p>
        </p:txBody>
      </p:sp>
      <p:sp>
        <p:nvSpPr>
          <p:cNvPr id="26" name="Text 20"/>
          <p:cNvSpPr/>
          <p:nvPr/>
        </p:nvSpPr>
        <p:spPr>
          <a:xfrm>
            <a:off x="495288" y="3029694"/>
            <a:ext cx="54386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27" name="Text 21"/>
          <p:cNvSpPr/>
          <p:nvPr/>
        </p:nvSpPr>
        <p:spPr>
          <a:xfrm>
            <a:off x="9287536" y="209550"/>
            <a:ext cx="23326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Microseguro</a:t>
            </a:r>
            <a:endParaRPr lang="en-US" sz="840" dirty="0"/>
          </a:p>
        </p:txBody>
      </p:sp>
      <p:sp>
        <p:nvSpPr>
          <p:cNvPr id="28" name="Text 22"/>
          <p:cNvSpPr/>
          <p:nvPr/>
        </p:nvSpPr>
        <p:spPr>
          <a:xfrm>
            <a:off x="533387" y="828675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29" name="Text 23"/>
          <p:cNvSpPr/>
          <p:nvPr/>
        </p:nvSpPr>
        <p:spPr>
          <a:xfrm>
            <a:off x="4374991" y="828675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30" name="Text 24"/>
          <p:cNvSpPr/>
          <p:nvPr/>
        </p:nvSpPr>
        <p:spPr>
          <a:xfrm>
            <a:off x="8216595" y="828675"/>
            <a:ext cx="34798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31" name="Text 25"/>
          <p:cNvSpPr/>
          <p:nvPr/>
        </p:nvSpPr>
        <p:spPr>
          <a:xfrm>
            <a:off x="533387" y="971550"/>
            <a:ext cx="347966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1380" dirty="0"/>
          </a:p>
        </p:txBody>
      </p:sp>
      <p:sp>
        <p:nvSpPr>
          <p:cNvPr id="32" name="Text 26"/>
          <p:cNvSpPr/>
          <p:nvPr/>
        </p:nvSpPr>
        <p:spPr>
          <a:xfrm>
            <a:off x="4374991" y="971550"/>
            <a:ext cx="347966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1380" dirty="0"/>
          </a:p>
        </p:txBody>
      </p:sp>
      <p:sp>
        <p:nvSpPr>
          <p:cNvPr id="33" name="Text 27"/>
          <p:cNvSpPr/>
          <p:nvPr/>
        </p:nvSpPr>
        <p:spPr>
          <a:xfrm>
            <a:off x="8216595" y="971550"/>
            <a:ext cx="3479812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1.309</a:t>
            </a:r>
            <a:endParaRPr lang="en-US" sz="13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Cancelaciones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Voluntarios Cancelaciones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0990" y="1543794"/>
            <a:ext cx="5667233" cy="3267075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43471" y="1543794"/>
            <a:ext cx="5667233" cy="3267075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0990" y="771525"/>
            <a:ext cx="38099" cy="600819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9" name="Shape 7"/>
          <p:cNvSpPr/>
          <p:nvPr/>
        </p:nvSpPr>
        <p:spPr>
          <a:xfrm>
            <a:off x="419090" y="771525"/>
            <a:ext cx="3708258" cy="60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222595" y="771525"/>
            <a:ext cx="38099" cy="600819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1" name="Shape 9"/>
          <p:cNvSpPr/>
          <p:nvPr/>
        </p:nvSpPr>
        <p:spPr>
          <a:xfrm>
            <a:off x="4260694" y="771525"/>
            <a:ext cx="3708258" cy="60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064199" y="771525"/>
            <a:ext cx="38099" cy="600819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3" name="Shape 11"/>
          <p:cNvSpPr/>
          <p:nvPr/>
        </p:nvSpPr>
        <p:spPr>
          <a:xfrm>
            <a:off x="8102298" y="771525"/>
            <a:ext cx="3708407" cy="6008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0990" y="4963269"/>
            <a:ext cx="11429714" cy="700088"/>
          </a:xfrm>
          <a:prstGeom prst="rect">
            <a:avLst/>
          </a:prstGeom>
          <a:solidFill>
            <a:srgbClr val="120180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1.263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1.263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9620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NIT de empresa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Cédula Errada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Nombre Vacío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1.065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1.065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14954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Datos errados / experiencia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 / apagado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685783" y="5322838"/>
            <a:ext cx="5488644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una efectividad extremadamente baja (), lo que sustentó su suspensión inmediata.</a:t>
            </a:r>
            <a:endParaRPr lang="en-US" sz="744" dirty="0"/>
          </a:p>
        </p:txBody>
      </p:sp>
      <p:sp>
        <p:nvSpPr>
          <p:cNvPr id="20" name="Text 14"/>
          <p:cNvSpPr/>
          <p:nvPr/>
        </p:nvSpPr>
        <p:spPr>
          <a:xfrm>
            <a:off x="1213514" y="219075"/>
            <a:ext cx="46040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Voluntarios Cancelaciones</a:t>
            </a:r>
            <a:endParaRPr lang="en-US" sz="1260" dirty="0"/>
          </a:p>
        </p:txBody>
      </p:sp>
      <p:sp>
        <p:nvSpPr>
          <p:cNvPr id="21" name="Text 15"/>
          <p:cNvSpPr/>
          <p:nvPr/>
        </p:nvSpPr>
        <p:spPr>
          <a:xfrm>
            <a:off x="533387" y="1219944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Buen nivel de interacción telefónica express</a:t>
            </a:r>
            <a:endParaRPr lang="en-US" sz="648" dirty="0"/>
          </a:p>
        </p:txBody>
      </p:sp>
      <p:sp>
        <p:nvSpPr>
          <p:cNvPr id="22" name="Text 16"/>
          <p:cNvSpPr/>
          <p:nvPr/>
        </p:nvSpPr>
        <p:spPr>
          <a:xfrm>
            <a:off x="685783" y="5469285"/>
            <a:ext cx="5488644" cy="1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se concentró en  y .</a:t>
            </a:r>
            <a:endParaRPr lang="en-US" sz="744" dirty="0"/>
          </a:p>
        </p:txBody>
      </p:sp>
      <p:sp>
        <p:nvSpPr>
          <p:cNvPr id="23" name="Text 17"/>
          <p:cNvSpPr/>
          <p:nvPr/>
        </p:nvSpPr>
        <p:spPr>
          <a:xfrm>
            <a:off x="4374991" y="1219944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en cancelaciones previas</a:t>
            </a:r>
            <a:endParaRPr lang="en-US" sz="648" dirty="0"/>
          </a:p>
        </p:txBody>
      </p:sp>
      <p:sp>
        <p:nvSpPr>
          <p:cNvPr id="24" name="Text 18"/>
          <p:cNvSpPr/>
          <p:nvPr/>
        </p:nvSpPr>
        <p:spPr>
          <a:xfrm>
            <a:off x="1138953" y="5185916"/>
            <a:ext cx="16611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sólo estuvo activa en enero de 2026</a:t>
            </a:r>
            <a:endParaRPr lang="en-US" sz="744" dirty="0"/>
          </a:p>
        </p:txBody>
      </p:sp>
      <p:sp>
        <p:nvSpPr>
          <p:cNvPr id="25" name="Text 19"/>
          <p:cNvSpPr/>
          <p:nvPr/>
        </p:nvSpPr>
        <p:spPr>
          <a:xfrm>
            <a:off x="8216595" y="1219944"/>
            <a:ext cx="34798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de campaña piloto express</a:t>
            </a:r>
            <a:endParaRPr lang="en-US" sz="648" dirty="0"/>
          </a:p>
        </p:txBody>
      </p:sp>
      <p:sp>
        <p:nvSpPr>
          <p:cNvPr id="26" name="Text 20"/>
          <p:cNvSpPr/>
          <p:nvPr/>
        </p:nvSpPr>
        <p:spPr>
          <a:xfrm>
            <a:off x="9150320" y="209550"/>
            <a:ext cx="24698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Cancelaciones</a:t>
            </a:r>
            <a:endParaRPr lang="en-US" sz="840" dirty="0"/>
          </a:p>
        </p:txBody>
      </p:sp>
      <p:sp>
        <p:nvSpPr>
          <p:cNvPr id="27" name="Text 21"/>
          <p:cNvSpPr/>
          <p:nvPr/>
        </p:nvSpPr>
        <p:spPr>
          <a:xfrm>
            <a:off x="495288" y="3029694"/>
            <a:ext cx="54386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28" name="Text 22"/>
          <p:cNvSpPr/>
          <p:nvPr/>
        </p:nvSpPr>
        <p:spPr>
          <a:xfrm>
            <a:off x="533387" y="828675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INICIAL</a:t>
            </a:r>
            <a:endParaRPr lang="en-US" sz="672" dirty="0"/>
          </a:p>
        </p:txBody>
      </p:sp>
      <p:sp>
        <p:nvSpPr>
          <p:cNvPr id="29" name="Text 23"/>
          <p:cNvSpPr/>
          <p:nvPr/>
        </p:nvSpPr>
        <p:spPr>
          <a:xfrm>
            <a:off x="4374991" y="828675"/>
            <a:ext cx="3479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GESTIONADOS</a:t>
            </a:r>
            <a:endParaRPr lang="en-US" sz="672" dirty="0"/>
          </a:p>
        </p:txBody>
      </p:sp>
      <p:sp>
        <p:nvSpPr>
          <p:cNvPr id="30" name="Text 24"/>
          <p:cNvSpPr/>
          <p:nvPr/>
        </p:nvSpPr>
        <p:spPr>
          <a:xfrm>
            <a:off x="8216595" y="828675"/>
            <a:ext cx="34798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GENERADAS</a:t>
            </a:r>
            <a:endParaRPr lang="en-US" sz="672" dirty="0"/>
          </a:p>
        </p:txBody>
      </p:sp>
      <p:sp>
        <p:nvSpPr>
          <p:cNvPr id="31" name="Text 25"/>
          <p:cNvSpPr/>
          <p:nvPr/>
        </p:nvSpPr>
        <p:spPr>
          <a:xfrm>
            <a:off x="533387" y="971550"/>
            <a:ext cx="347966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1380" dirty="0"/>
          </a:p>
        </p:txBody>
      </p:sp>
      <p:sp>
        <p:nvSpPr>
          <p:cNvPr id="32" name="Text 26"/>
          <p:cNvSpPr/>
          <p:nvPr/>
        </p:nvSpPr>
        <p:spPr>
          <a:xfrm>
            <a:off x="4374991" y="971550"/>
            <a:ext cx="3479663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13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Asesores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933450"/>
            <a:ext cx="6514937" cy="4695825"/>
          </a:xfrm>
          <a:prstGeom prst="roundRect">
            <a:avLst>
              <a:gd name="adj" fmla="val 29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76918" y="933450"/>
            <a:ext cx="4343291" cy="4695825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48364" y="1343025"/>
            <a:ext cx="4000400" cy="422821"/>
          </a:xfrm>
          <a:prstGeom prst="rect">
            <a:avLst/>
          </a:prstGeom>
          <a:solidFill>
            <a:srgbClr val="120180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832" y="1266825"/>
          <a:ext cx="5486400" cy="41243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#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JesúS David CortéS Ortega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Melissa Paola Orozco Jinete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1.021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Luisa L. Percy Jaraba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Dayana D. Guerrero HernáNdez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Anderson Monterrosa Castilla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Joelis J. Barros B.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Yulieth Pacheco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Alan José HernáNdez Loaiza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Santiago Elí CháVez Carmona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Julithza Milagros Padilla MejíA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Nohelia H. Salas Monterrosa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Isabella SofíA Rueda Caserta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Laura L. Herrera Palomino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Valentina Orozco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Rhoymar HernáNdez AlbarráN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CéSar Barrera PáJaro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Jean J. GuzmáN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Josué Zabaleta Bethel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Yannecce MejíA GóMez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Silvana Otero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Nayerlis Polo Marrugo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Karina Yisell Marquez Hernandez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Ruddy Olmos Simanca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Rosalinda Rivera Senior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Michelle Paola Robles Becerra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48364" y="2042071"/>
          <a:ext cx="3657600" cy="1304925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Eventos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Detalle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Semanas Ganadoras: 1.292/950 ventas (136 %) · Bono $100K/semana × trío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 Gran Jugada: 4.798/4.200 ventas (114 %) · $7.000.000 al equipo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Acelerador Mayo: 560/650 ventas (86 %) · Bono $300.000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 eventos de incentivo Vanti en el semestre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629334" y="4898827"/>
            <a:ext cx="3695608" cy="511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 y un top 5 que concentra el 37 % de las ventas con disciplina y compromiso, cada campaña de incentivos fue un paso firme hacia la meta de 3.000 ventas mensuales. Este semestre demuestra que la apuesta por el talento y la constancia en la formación están dando resultados sólidos y sostenibles.</a:t>
            </a:r>
            <a:endParaRPr lang="en-US" sz="672" dirty="0"/>
          </a:p>
        </p:txBody>
      </p:sp>
      <p:sp>
        <p:nvSpPr>
          <p:cNvPr id="12" name="Text 8"/>
          <p:cNvSpPr/>
          <p:nvPr/>
        </p:nvSpPr>
        <p:spPr>
          <a:xfrm>
            <a:off x="1213514" y="219075"/>
            <a:ext cx="31204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260" dirty="0"/>
          </a:p>
        </p:txBody>
      </p:sp>
      <p:sp>
        <p:nvSpPr>
          <p:cNvPr id="13" name="Text 9"/>
          <p:cNvSpPr/>
          <p:nvPr/>
        </p:nvSpPr>
        <p:spPr>
          <a:xfrm>
            <a:off x="7867453" y="1419225"/>
            <a:ext cx="283361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top 5 aporta  del semestre.</a:t>
            </a:r>
            <a:endParaRPr lang="en-US" sz="960" dirty="0"/>
          </a:p>
        </p:txBody>
      </p:sp>
      <p:sp>
        <p:nvSpPr>
          <p:cNvPr id="14" name="Text 10"/>
          <p:cNvSpPr/>
          <p:nvPr/>
        </p:nvSpPr>
        <p:spPr>
          <a:xfrm>
            <a:off x="10196555" y="209550"/>
            <a:ext cx="14236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Asesores</a:t>
            </a:r>
            <a:endParaRPr lang="en-US" sz="840" dirty="0"/>
          </a:p>
        </p:txBody>
      </p:sp>
      <p:sp>
        <p:nvSpPr>
          <p:cNvPr id="15" name="Text 11"/>
          <p:cNvSpPr/>
          <p:nvPr/>
        </p:nvSpPr>
        <p:spPr>
          <a:xfrm>
            <a:off x="1687222" y="5429250"/>
            <a:ext cx="4503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 = sin dato</a:t>
            </a:r>
            <a:endParaRPr lang="en-US" sz="648" dirty="0"/>
          </a:p>
        </p:txBody>
      </p:sp>
      <p:sp>
        <p:nvSpPr>
          <p:cNvPr id="16" name="Text 12"/>
          <p:cNvSpPr/>
          <p:nvPr/>
        </p:nvSpPr>
        <p:spPr>
          <a:xfrm>
            <a:off x="1149073" y="5429250"/>
            <a:ext cx="4238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rojo &lt; meta</a:t>
            </a:r>
            <a:endParaRPr lang="en-US" sz="648" dirty="0"/>
          </a:p>
        </p:txBody>
      </p:sp>
      <p:sp>
        <p:nvSpPr>
          <p:cNvPr id="17" name="Text 13"/>
          <p:cNvSpPr/>
          <p:nvPr/>
        </p:nvSpPr>
        <p:spPr>
          <a:xfrm>
            <a:off x="10517867" y="1066800"/>
            <a:ext cx="4320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18" name="Text 14"/>
          <p:cNvSpPr/>
          <p:nvPr/>
        </p:nvSpPr>
        <p:spPr>
          <a:xfrm>
            <a:off x="10988003" y="1066800"/>
            <a:ext cx="4607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Asesores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933450"/>
            <a:ext cx="6514937" cy="4695825"/>
          </a:xfrm>
          <a:prstGeom prst="roundRect">
            <a:avLst>
              <a:gd name="adj" fmla="val 29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76918" y="933450"/>
            <a:ext cx="4343291" cy="4695825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48364" y="2009775"/>
            <a:ext cx="4000400" cy="422821"/>
          </a:xfrm>
          <a:prstGeom prst="rect">
            <a:avLst/>
          </a:prstGeom>
          <a:solidFill>
            <a:srgbClr val="120180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832" y="1266825"/>
          <a:ext cx="5486400" cy="41243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#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JesúS David CortéS Ortega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Melissa Paola Orozco Jinete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1.021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Luisa L. Percy Jaraba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Dayana D. Guerrero HernáNdez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Anderson Monterrosa Castilla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Joelis J. Barros B.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Yulieth Pacheco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Alan José HernáNdez Loaiza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Santiago Elí CháVez Carmona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Julithza Milagros Padilla MejíA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Nohelia H. Salas Monterrosa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Isabella SofíA Rueda Caserta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Laura L. Herrera Palomino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Valentina Orozco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Rhoymar HernáNdez AlbarráN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CéSar Barrera PáJaro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Jean J. GuzmáN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Josué Zabaleta Bethel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Yannecce MejíA GóMez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Silvana Otero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Nayerlis Polo Marrugo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Karina Yisell Marquez Hernandez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Ruddy Olmos Simanca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Rosalinda Rivera Senior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Michelle Paola Robles Becerra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48364" y="2710646"/>
          <a:ext cx="3657600" cy="175260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Eventos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Detalle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 destacado en torneo + varios incentivos menores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Incentivos de rendimiento destacado + varios menores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Incentivos de rendimiento medio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Patrón similar a marzo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 destacado + Meta Volante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Incentivos de rendimiento por cumplimiento de metas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 eventos de incentivo en el semestre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629334" y="4898827"/>
            <a:ext cx="3695608" cy="511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 y un top 5 que concentra el 37 % de las ventas con disciplina y compromiso, cada campaña de incentivos fue un paso firme hacia la meta de 3.000 ventas mensuales. Este semestre demuestra que la apuesta por el talento y la constancia en la formación están dando resultados sólidos y sostenibles.</a:t>
            </a:r>
            <a:endParaRPr lang="en-US" sz="672" dirty="0"/>
          </a:p>
        </p:txBody>
      </p:sp>
      <p:sp>
        <p:nvSpPr>
          <p:cNvPr id="12" name="Text 8"/>
          <p:cNvSpPr/>
          <p:nvPr/>
        </p:nvSpPr>
        <p:spPr>
          <a:xfrm>
            <a:off x="1213514" y="219075"/>
            <a:ext cx="31204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260" dirty="0"/>
          </a:p>
        </p:txBody>
      </p:sp>
      <p:sp>
        <p:nvSpPr>
          <p:cNvPr id="13" name="Text 9"/>
          <p:cNvSpPr/>
          <p:nvPr/>
        </p:nvSpPr>
        <p:spPr>
          <a:xfrm>
            <a:off x="7867453" y="2085975"/>
            <a:ext cx="283361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top 5 aporta  del semestre.</a:t>
            </a:r>
            <a:endParaRPr lang="en-US" sz="960" dirty="0"/>
          </a:p>
        </p:txBody>
      </p:sp>
      <p:sp>
        <p:nvSpPr>
          <p:cNvPr id="14" name="Text 10"/>
          <p:cNvSpPr/>
          <p:nvPr/>
        </p:nvSpPr>
        <p:spPr>
          <a:xfrm>
            <a:off x="10196555" y="209550"/>
            <a:ext cx="14236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Asesores</a:t>
            </a:r>
            <a:endParaRPr lang="en-US" sz="840" dirty="0"/>
          </a:p>
        </p:txBody>
      </p:sp>
      <p:sp>
        <p:nvSpPr>
          <p:cNvPr id="15" name="Text 11"/>
          <p:cNvSpPr/>
          <p:nvPr/>
        </p:nvSpPr>
        <p:spPr>
          <a:xfrm>
            <a:off x="1687222" y="5429250"/>
            <a:ext cx="4503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 = sin dato</a:t>
            </a:r>
            <a:endParaRPr lang="en-US" sz="648" dirty="0"/>
          </a:p>
        </p:txBody>
      </p:sp>
      <p:sp>
        <p:nvSpPr>
          <p:cNvPr id="16" name="Text 12"/>
          <p:cNvSpPr/>
          <p:nvPr/>
        </p:nvSpPr>
        <p:spPr>
          <a:xfrm>
            <a:off x="1149073" y="5429250"/>
            <a:ext cx="4238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rojo &lt; meta</a:t>
            </a:r>
            <a:endParaRPr lang="en-US" sz="648" dirty="0"/>
          </a:p>
        </p:txBody>
      </p:sp>
      <p:sp>
        <p:nvSpPr>
          <p:cNvPr id="17" name="Text 13"/>
          <p:cNvSpPr/>
          <p:nvPr/>
        </p:nvSpPr>
        <p:spPr>
          <a:xfrm>
            <a:off x="10517867" y="1066800"/>
            <a:ext cx="4320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18" name="Text 14"/>
          <p:cNvSpPr/>
          <p:nvPr/>
        </p:nvSpPr>
        <p:spPr>
          <a:xfrm>
            <a:off x="10988003" y="1066800"/>
            <a:ext cx="4607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19" name="Text 15"/>
          <p:cNvSpPr/>
          <p:nvPr/>
        </p:nvSpPr>
        <p:spPr>
          <a:xfrm>
            <a:off x="7448364" y="181157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96" dirty="0"/>
          </a:p>
        </p:txBody>
      </p:sp>
      <p:sp>
        <p:nvSpPr>
          <p:cNvPr id="20" name="Text 16"/>
          <p:cNvSpPr/>
          <p:nvPr/>
        </p:nvSpPr>
        <p:spPr>
          <a:xfrm>
            <a:off x="7791255" y="181157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96" dirty="0"/>
          </a:p>
        </p:txBody>
      </p:sp>
      <p:sp>
        <p:nvSpPr>
          <p:cNvPr id="21" name="Text 17"/>
          <p:cNvSpPr/>
          <p:nvPr/>
        </p:nvSpPr>
        <p:spPr>
          <a:xfrm>
            <a:off x="8134147" y="181157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96" dirty="0"/>
          </a:p>
        </p:txBody>
      </p:sp>
      <p:sp>
        <p:nvSpPr>
          <p:cNvPr id="22" name="Text 18"/>
          <p:cNvSpPr/>
          <p:nvPr/>
        </p:nvSpPr>
        <p:spPr>
          <a:xfrm>
            <a:off x="8477038" y="181157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96" dirty="0"/>
          </a:p>
        </p:txBody>
      </p:sp>
      <p:sp>
        <p:nvSpPr>
          <p:cNvPr id="23" name="Text 19"/>
          <p:cNvSpPr/>
          <p:nvPr/>
        </p:nvSpPr>
        <p:spPr>
          <a:xfrm>
            <a:off x="8819929" y="181157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96" dirty="0"/>
          </a:p>
        </p:txBody>
      </p:sp>
      <p:sp>
        <p:nvSpPr>
          <p:cNvPr id="24" name="Text 20"/>
          <p:cNvSpPr/>
          <p:nvPr/>
        </p:nvSpPr>
        <p:spPr>
          <a:xfrm>
            <a:off x="9162821" y="181157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96" dirty="0"/>
          </a:p>
        </p:txBody>
      </p:sp>
      <p:sp>
        <p:nvSpPr>
          <p:cNvPr id="25" name="Text 21"/>
          <p:cNvSpPr/>
          <p:nvPr/>
        </p:nvSpPr>
        <p:spPr>
          <a:xfrm>
            <a:off x="7448364" y="1525826"/>
            <a:ext cx="2743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888" dirty="0"/>
          </a:p>
        </p:txBody>
      </p:sp>
      <p:sp>
        <p:nvSpPr>
          <p:cNvPr id="26" name="Text 22"/>
          <p:cNvSpPr/>
          <p:nvPr/>
        </p:nvSpPr>
        <p:spPr>
          <a:xfrm>
            <a:off x="7791255" y="1525826"/>
            <a:ext cx="2743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888" dirty="0"/>
          </a:p>
        </p:txBody>
      </p:sp>
      <p:sp>
        <p:nvSpPr>
          <p:cNvPr id="27" name="Text 23"/>
          <p:cNvSpPr/>
          <p:nvPr/>
        </p:nvSpPr>
        <p:spPr>
          <a:xfrm>
            <a:off x="8134147" y="1525826"/>
            <a:ext cx="2743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888" dirty="0"/>
          </a:p>
        </p:txBody>
      </p:sp>
      <p:sp>
        <p:nvSpPr>
          <p:cNvPr id="28" name="Text 24"/>
          <p:cNvSpPr/>
          <p:nvPr/>
        </p:nvSpPr>
        <p:spPr>
          <a:xfrm>
            <a:off x="8477038" y="1525826"/>
            <a:ext cx="2743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88" dirty="0"/>
          </a:p>
        </p:txBody>
      </p:sp>
      <p:sp>
        <p:nvSpPr>
          <p:cNvPr id="29" name="Text 25"/>
          <p:cNvSpPr/>
          <p:nvPr/>
        </p:nvSpPr>
        <p:spPr>
          <a:xfrm>
            <a:off x="8819929" y="1525826"/>
            <a:ext cx="2743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88" dirty="0"/>
          </a:p>
        </p:txBody>
      </p:sp>
      <p:sp>
        <p:nvSpPr>
          <p:cNvPr id="30" name="Text 26"/>
          <p:cNvSpPr/>
          <p:nvPr/>
        </p:nvSpPr>
        <p:spPr>
          <a:xfrm>
            <a:off x="9162821" y="1525826"/>
            <a:ext cx="2743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8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Iniciativas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Comerciales · 1S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933450"/>
            <a:ext cx="11048724" cy="4695527"/>
          </a:xfrm>
          <a:prstGeom prst="roundRect">
            <a:avLst>
              <a:gd name="adj" fmla="val 29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1030" y="1466850"/>
            <a:ext cx="38099" cy="1013520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8" name="Shape 6"/>
          <p:cNvSpPr/>
          <p:nvPr/>
        </p:nvSpPr>
        <p:spPr>
          <a:xfrm>
            <a:off x="819130" y="1466850"/>
            <a:ext cx="3403465" cy="1013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374991" y="1466850"/>
            <a:ext cx="38099" cy="1013520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10" name="Shape 8"/>
          <p:cNvSpPr/>
          <p:nvPr/>
        </p:nvSpPr>
        <p:spPr>
          <a:xfrm>
            <a:off x="4413090" y="1466850"/>
            <a:ext cx="3403465" cy="1013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968952" y="1466850"/>
            <a:ext cx="38099" cy="1013520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2" name="Shape 10"/>
          <p:cNvSpPr/>
          <p:nvPr/>
        </p:nvSpPr>
        <p:spPr>
          <a:xfrm>
            <a:off x="8007051" y="1466850"/>
            <a:ext cx="3403614" cy="1013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16595" y="2156520"/>
            <a:ext cx="29845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×2 · Feria Vanti ×2 · Mundialista</a:t>
            </a:r>
            <a:endParaRPr lang="en-US" sz="864" dirty="0"/>
          </a:p>
        </p:txBody>
      </p:sp>
      <p:sp>
        <p:nvSpPr>
          <p:cNvPr id="14" name="Text 12"/>
          <p:cNvSpPr/>
          <p:nvPr/>
        </p:nvSpPr>
        <p:spPr>
          <a:xfrm>
            <a:off x="1028674" y="2156520"/>
            <a:ext cx="2984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 iniciativas comerciales ejecutadas</a:t>
            </a:r>
            <a:endParaRPr lang="en-US" sz="864" dirty="0"/>
          </a:p>
        </p:txBody>
      </p:sp>
      <p:sp>
        <p:nvSpPr>
          <p:cNvPr id="15" name="Text 13"/>
          <p:cNvSpPr/>
          <p:nvPr/>
        </p:nvSpPr>
        <p:spPr>
          <a:xfrm>
            <a:off x="4622635" y="2156520"/>
            <a:ext cx="2984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· La Gran Jugada</a:t>
            </a:r>
            <a:endParaRPr lang="en-US" sz="864" dirty="0"/>
          </a:p>
        </p:txBody>
      </p:sp>
      <p:sp>
        <p:nvSpPr>
          <p:cNvPr id="16" name="Text 14"/>
          <p:cNvSpPr/>
          <p:nvPr/>
        </p:nvSpPr>
        <p:spPr>
          <a:xfrm>
            <a:off x="1213514" y="219075"/>
            <a:ext cx="26773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Comerciales · 1S 2026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1028674" y="1657350"/>
            <a:ext cx="2984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en campañas del 1S</a:t>
            </a:r>
            <a:endParaRPr lang="en-US" sz="864" dirty="0"/>
          </a:p>
        </p:txBody>
      </p:sp>
      <p:sp>
        <p:nvSpPr>
          <p:cNvPr id="18" name="Text 16"/>
          <p:cNvSpPr/>
          <p:nvPr/>
        </p:nvSpPr>
        <p:spPr>
          <a:xfrm>
            <a:off x="10082705" y="209550"/>
            <a:ext cx="15375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Iniciativas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4622635" y="1657350"/>
            <a:ext cx="2984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Impulsadas por Vanti</a:t>
            </a:r>
            <a:endParaRPr lang="en-US" sz="864" dirty="0"/>
          </a:p>
        </p:txBody>
      </p:sp>
      <p:sp>
        <p:nvSpPr>
          <p:cNvPr id="20" name="Text 18"/>
          <p:cNvSpPr/>
          <p:nvPr/>
        </p:nvSpPr>
        <p:spPr>
          <a:xfrm>
            <a:off x="8216595" y="1657350"/>
            <a:ext cx="29845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Impulsadas por Xuma</a:t>
            </a:r>
            <a:endParaRPr lang="en-US" sz="864" dirty="0"/>
          </a:p>
        </p:txBody>
      </p:sp>
      <p:sp>
        <p:nvSpPr>
          <p:cNvPr id="21" name="Text 19"/>
          <p:cNvSpPr/>
          <p:nvPr/>
        </p:nvSpPr>
        <p:spPr>
          <a:xfrm>
            <a:off x="895328" y="2880420"/>
            <a:ext cx="3257469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</a:t>
            </a:r>
            <a:endParaRPr lang="en-US" sz="912" dirty="0"/>
          </a:p>
        </p:txBody>
      </p:sp>
      <p:sp>
        <p:nvSpPr>
          <p:cNvPr id="22" name="Text 20"/>
          <p:cNvSpPr/>
          <p:nvPr/>
        </p:nvSpPr>
        <p:spPr>
          <a:xfrm>
            <a:off x="895328" y="4827091"/>
            <a:ext cx="3257469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</a:t>
            </a:r>
            <a:endParaRPr lang="en-US" sz="912" dirty="0"/>
          </a:p>
        </p:txBody>
      </p:sp>
      <p:sp>
        <p:nvSpPr>
          <p:cNvPr id="23" name="Text 21"/>
          <p:cNvSpPr/>
          <p:nvPr/>
        </p:nvSpPr>
        <p:spPr>
          <a:xfrm>
            <a:off x="4457589" y="4827091"/>
            <a:ext cx="3257469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Acelerador Mayo</a:t>
            </a:r>
            <a:endParaRPr lang="en-US" sz="912" dirty="0"/>
          </a:p>
        </p:txBody>
      </p:sp>
      <p:sp>
        <p:nvSpPr>
          <p:cNvPr id="24" name="Text 22"/>
          <p:cNvSpPr/>
          <p:nvPr/>
        </p:nvSpPr>
        <p:spPr>
          <a:xfrm>
            <a:off x="8019849" y="2880420"/>
            <a:ext cx="3257469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Gran Jugada</a:t>
            </a:r>
            <a:endParaRPr lang="en-US" sz="912" dirty="0"/>
          </a:p>
        </p:txBody>
      </p:sp>
      <p:sp>
        <p:nvSpPr>
          <p:cNvPr id="25" name="Text 23"/>
          <p:cNvSpPr/>
          <p:nvPr/>
        </p:nvSpPr>
        <p:spPr>
          <a:xfrm>
            <a:off x="895328" y="3282255"/>
            <a:ext cx="32574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4457589" y="2880420"/>
            <a:ext cx="3257469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912" dirty="0"/>
          </a:p>
        </p:txBody>
      </p:sp>
      <p:sp>
        <p:nvSpPr>
          <p:cNvPr id="27" name="Text 25"/>
          <p:cNvSpPr/>
          <p:nvPr/>
        </p:nvSpPr>
        <p:spPr>
          <a:xfrm>
            <a:off x="4457589" y="3282255"/>
            <a:ext cx="32574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8019849" y="3282255"/>
            <a:ext cx="32574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895328" y="3853755"/>
            <a:ext cx="3257469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912" dirty="0"/>
          </a:p>
        </p:txBody>
      </p:sp>
      <p:sp>
        <p:nvSpPr>
          <p:cNvPr id="30" name="Text 28"/>
          <p:cNvSpPr/>
          <p:nvPr/>
        </p:nvSpPr>
        <p:spPr>
          <a:xfrm>
            <a:off x="895328" y="4255591"/>
            <a:ext cx="32574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4457589" y="4255591"/>
            <a:ext cx="32574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8019849" y="4255591"/>
            <a:ext cx="32574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895328" y="5228927"/>
            <a:ext cx="32574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4457589" y="5228927"/>
            <a:ext cx="32574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457589" y="3853755"/>
            <a:ext cx="3257469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912" dirty="0"/>
          </a:p>
        </p:txBody>
      </p:sp>
      <p:sp>
        <p:nvSpPr>
          <p:cNvPr id="36" name="Text 34"/>
          <p:cNvSpPr/>
          <p:nvPr/>
        </p:nvSpPr>
        <p:spPr>
          <a:xfrm>
            <a:off x="8019849" y="3853755"/>
            <a:ext cx="3257469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912" dirty="0"/>
          </a:p>
        </p:txBody>
      </p:sp>
      <p:sp>
        <p:nvSpPr>
          <p:cNvPr id="37" name="Text 35"/>
          <p:cNvSpPr/>
          <p:nvPr/>
        </p:nvSpPr>
        <p:spPr>
          <a:xfrm>
            <a:off x="7373654" y="2708970"/>
            <a:ext cx="3414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744" dirty="0"/>
          </a:p>
        </p:txBody>
      </p:sp>
      <p:sp>
        <p:nvSpPr>
          <p:cNvPr id="38" name="Text 36"/>
          <p:cNvSpPr/>
          <p:nvPr/>
        </p:nvSpPr>
        <p:spPr>
          <a:xfrm>
            <a:off x="10904811" y="2708970"/>
            <a:ext cx="3725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Mar–Abr</a:t>
            </a:r>
            <a:endParaRPr lang="en-US" sz="744" dirty="0"/>
          </a:p>
        </p:txBody>
      </p:sp>
      <p:sp>
        <p:nvSpPr>
          <p:cNvPr id="39" name="Text 37"/>
          <p:cNvSpPr/>
          <p:nvPr/>
        </p:nvSpPr>
        <p:spPr>
          <a:xfrm>
            <a:off x="8377772" y="3082230"/>
            <a:ext cx="405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4.200</a:t>
            </a:r>
            <a:endParaRPr lang="en-US" sz="936" dirty="0"/>
          </a:p>
        </p:txBody>
      </p:sp>
      <p:sp>
        <p:nvSpPr>
          <p:cNvPr id="40" name="Text 38"/>
          <p:cNvSpPr/>
          <p:nvPr/>
        </p:nvSpPr>
        <p:spPr>
          <a:xfrm>
            <a:off x="1243874" y="5028902"/>
            <a:ext cx="3924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1.200</a:t>
            </a:r>
            <a:endParaRPr lang="en-US" sz="936" dirty="0"/>
          </a:p>
        </p:txBody>
      </p:sp>
      <p:sp>
        <p:nvSpPr>
          <p:cNvPr id="41" name="Text 39"/>
          <p:cNvSpPr/>
          <p:nvPr/>
        </p:nvSpPr>
        <p:spPr>
          <a:xfrm>
            <a:off x="1028674" y="1828800"/>
            <a:ext cx="2984376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10.509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95328" y="2689920"/>
            <a:ext cx="3748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3897265" y="270897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744" dirty="0"/>
          </a:p>
        </p:txBody>
      </p:sp>
      <p:sp>
        <p:nvSpPr>
          <p:cNvPr id="44" name="Text 42"/>
          <p:cNvSpPr/>
          <p:nvPr/>
        </p:nvSpPr>
        <p:spPr>
          <a:xfrm>
            <a:off x="895328" y="3082230"/>
            <a:ext cx="2896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1.292</a:t>
            </a:r>
            <a:endParaRPr lang="en-US" sz="936" dirty="0"/>
          </a:p>
        </p:txBody>
      </p:sp>
      <p:sp>
        <p:nvSpPr>
          <p:cNvPr id="45" name="Text 43"/>
          <p:cNvSpPr/>
          <p:nvPr/>
        </p:nvSpPr>
        <p:spPr>
          <a:xfrm>
            <a:off x="1242088" y="3082230"/>
            <a:ext cx="3135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950</a:t>
            </a:r>
            <a:endParaRPr lang="en-US" sz="936" dirty="0"/>
          </a:p>
        </p:txBody>
      </p:sp>
      <p:sp>
        <p:nvSpPr>
          <p:cNvPr id="46" name="Text 44"/>
          <p:cNvSpPr/>
          <p:nvPr/>
        </p:nvSpPr>
        <p:spPr>
          <a:xfrm>
            <a:off x="1612810" y="3072705"/>
            <a:ext cx="4306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136 %</a:t>
            </a:r>
            <a:endParaRPr lang="en-US" sz="816" dirty="0"/>
          </a:p>
        </p:txBody>
      </p:sp>
      <p:sp>
        <p:nvSpPr>
          <p:cNvPr id="47" name="Text 45"/>
          <p:cNvSpPr/>
          <p:nvPr/>
        </p:nvSpPr>
        <p:spPr>
          <a:xfrm>
            <a:off x="4722794" y="3082230"/>
            <a:ext cx="3233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</a:t>
            </a:r>
            <a:endParaRPr lang="en-US" sz="936" dirty="0"/>
          </a:p>
        </p:txBody>
      </p:sp>
      <p:sp>
        <p:nvSpPr>
          <p:cNvPr id="48" name="Text 46"/>
          <p:cNvSpPr/>
          <p:nvPr/>
        </p:nvSpPr>
        <p:spPr>
          <a:xfrm>
            <a:off x="5103338" y="3072705"/>
            <a:ext cx="4247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110 %</a:t>
            </a:r>
            <a:endParaRPr lang="en-US" sz="816" dirty="0"/>
          </a:p>
        </p:txBody>
      </p:sp>
      <p:sp>
        <p:nvSpPr>
          <p:cNvPr id="49" name="Text 47"/>
          <p:cNvSpPr/>
          <p:nvPr/>
        </p:nvSpPr>
        <p:spPr>
          <a:xfrm>
            <a:off x="8019849" y="2689920"/>
            <a:ext cx="3748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8019849" y="3082230"/>
            <a:ext cx="3007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4.798</a:t>
            </a:r>
            <a:endParaRPr lang="en-US" sz="936" dirty="0"/>
          </a:p>
        </p:txBody>
      </p:sp>
      <p:sp>
        <p:nvSpPr>
          <p:cNvPr id="51" name="Text 49"/>
          <p:cNvSpPr/>
          <p:nvPr/>
        </p:nvSpPr>
        <p:spPr>
          <a:xfrm>
            <a:off x="8840170" y="3072705"/>
            <a:ext cx="4202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114 %</a:t>
            </a:r>
            <a:endParaRPr lang="en-US" sz="816" dirty="0"/>
          </a:p>
        </p:txBody>
      </p:sp>
      <p:sp>
        <p:nvSpPr>
          <p:cNvPr id="52" name="Text 50"/>
          <p:cNvSpPr/>
          <p:nvPr/>
        </p:nvSpPr>
        <p:spPr>
          <a:xfrm>
            <a:off x="3951139" y="368230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744" dirty="0"/>
          </a:p>
        </p:txBody>
      </p:sp>
      <p:sp>
        <p:nvSpPr>
          <p:cNvPr id="53" name="Text 51"/>
          <p:cNvSpPr/>
          <p:nvPr/>
        </p:nvSpPr>
        <p:spPr>
          <a:xfrm>
            <a:off x="1164402" y="4055566"/>
            <a:ext cx="3233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</a:t>
            </a:r>
            <a:endParaRPr lang="en-US" sz="936" dirty="0"/>
          </a:p>
        </p:txBody>
      </p:sp>
      <p:sp>
        <p:nvSpPr>
          <p:cNvPr id="54" name="Text 52"/>
          <p:cNvSpPr/>
          <p:nvPr/>
        </p:nvSpPr>
        <p:spPr>
          <a:xfrm>
            <a:off x="1544946" y="4046041"/>
            <a:ext cx="4247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101 %</a:t>
            </a:r>
            <a:endParaRPr lang="en-US" sz="816" dirty="0"/>
          </a:p>
        </p:txBody>
      </p:sp>
      <p:sp>
        <p:nvSpPr>
          <p:cNvPr id="55" name="Text 53"/>
          <p:cNvSpPr/>
          <p:nvPr/>
        </p:nvSpPr>
        <p:spPr>
          <a:xfrm>
            <a:off x="7513400" y="368230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744" dirty="0"/>
          </a:p>
        </p:txBody>
      </p:sp>
      <p:sp>
        <p:nvSpPr>
          <p:cNvPr id="56" name="Text 54"/>
          <p:cNvSpPr/>
          <p:nvPr/>
        </p:nvSpPr>
        <p:spPr>
          <a:xfrm>
            <a:off x="4706125" y="4055566"/>
            <a:ext cx="316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</a:t>
            </a:r>
            <a:endParaRPr lang="en-US" sz="936" dirty="0"/>
          </a:p>
        </p:txBody>
      </p:sp>
      <p:sp>
        <p:nvSpPr>
          <p:cNvPr id="57" name="Text 55"/>
          <p:cNvSpPr/>
          <p:nvPr/>
        </p:nvSpPr>
        <p:spPr>
          <a:xfrm>
            <a:off x="5079823" y="4046041"/>
            <a:ext cx="4314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103 %</a:t>
            </a:r>
            <a:endParaRPr lang="en-US" sz="816" dirty="0"/>
          </a:p>
        </p:txBody>
      </p:sp>
      <p:sp>
        <p:nvSpPr>
          <p:cNvPr id="58" name="Text 56"/>
          <p:cNvSpPr/>
          <p:nvPr/>
        </p:nvSpPr>
        <p:spPr>
          <a:xfrm>
            <a:off x="8280888" y="4055566"/>
            <a:ext cx="316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</a:t>
            </a:r>
            <a:endParaRPr lang="en-US" sz="936" dirty="0"/>
          </a:p>
        </p:txBody>
      </p:sp>
      <p:sp>
        <p:nvSpPr>
          <p:cNvPr id="59" name="Text 57"/>
          <p:cNvSpPr/>
          <p:nvPr/>
        </p:nvSpPr>
        <p:spPr>
          <a:xfrm>
            <a:off x="8654586" y="4046041"/>
            <a:ext cx="4123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111 %</a:t>
            </a:r>
            <a:endParaRPr lang="en-US" sz="816" dirty="0"/>
          </a:p>
        </p:txBody>
      </p:sp>
      <p:sp>
        <p:nvSpPr>
          <p:cNvPr id="60" name="Text 58"/>
          <p:cNvSpPr/>
          <p:nvPr/>
        </p:nvSpPr>
        <p:spPr>
          <a:xfrm>
            <a:off x="3919737" y="465564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744" dirty="0"/>
          </a:p>
        </p:txBody>
      </p:sp>
      <p:sp>
        <p:nvSpPr>
          <p:cNvPr id="61" name="Text 59"/>
          <p:cNvSpPr/>
          <p:nvPr/>
        </p:nvSpPr>
        <p:spPr>
          <a:xfrm>
            <a:off x="895328" y="5028902"/>
            <a:ext cx="2913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</a:t>
            </a:r>
            <a:endParaRPr lang="en-US" sz="936" dirty="0"/>
          </a:p>
        </p:txBody>
      </p:sp>
      <p:sp>
        <p:nvSpPr>
          <p:cNvPr id="62" name="Text 60"/>
          <p:cNvSpPr/>
          <p:nvPr/>
        </p:nvSpPr>
        <p:spPr>
          <a:xfrm>
            <a:off x="1693473" y="5019377"/>
            <a:ext cx="4265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127 %</a:t>
            </a:r>
            <a:endParaRPr lang="en-US" sz="816" dirty="0"/>
          </a:p>
        </p:txBody>
      </p:sp>
      <p:sp>
        <p:nvSpPr>
          <p:cNvPr id="63" name="Text 61"/>
          <p:cNvSpPr/>
          <p:nvPr/>
        </p:nvSpPr>
        <p:spPr>
          <a:xfrm>
            <a:off x="4457589" y="4636591"/>
            <a:ext cx="3748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4725770" y="5028902"/>
            <a:ext cx="3155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650</a:t>
            </a:r>
            <a:endParaRPr lang="en-US" sz="936" dirty="0"/>
          </a:p>
        </p:txBody>
      </p:sp>
      <p:sp>
        <p:nvSpPr>
          <p:cNvPr id="65" name="Text 63"/>
          <p:cNvSpPr/>
          <p:nvPr/>
        </p:nvSpPr>
        <p:spPr>
          <a:xfrm>
            <a:off x="4457589" y="2689920"/>
            <a:ext cx="4036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895328" y="3663255"/>
            <a:ext cx="4036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4457589" y="3663255"/>
            <a:ext cx="4036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8019849" y="3663255"/>
            <a:ext cx="4036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11039199" y="368230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744" dirty="0"/>
          </a:p>
        </p:txBody>
      </p:sp>
      <p:sp>
        <p:nvSpPr>
          <p:cNvPr id="70" name="Text 68"/>
          <p:cNvSpPr/>
          <p:nvPr/>
        </p:nvSpPr>
        <p:spPr>
          <a:xfrm>
            <a:off x="895328" y="4636591"/>
            <a:ext cx="4036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71" name="Text 69"/>
          <p:cNvSpPr/>
          <p:nvPr/>
        </p:nvSpPr>
        <p:spPr>
          <a:xfrm>
            <a:off x="7476938" y="465564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744" dirty="0"/>
          </a:p>
        </p:txBody>
      </p:sp>
      <p:sp>
        <p:nvSpPr>
          <p:cNvPr id="72" name="Text 70"/>
          <p:cNvSpPr/>
          <p:nvPr/>
        </p:nvSpPr>
        <p:spPr>
          <a:xfrm>
            <a:off x="5098426" y="5019377"/>
            <a:ext cx="3842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86 %</a:t>
            </a:r>
            <a:endParaRPr lang="en-US" sz="816" dirty="0"/>
          </a:p>
        </p:txBody>
      </p:sp>
      <p:sp>
        <p:nvSpPr>
          <p:cNvPr id="73" name="Text 71"/>
          <p:cNvSpPr/>
          <p:nvPr/>
        </p:nvSpPr>
        <p:spPr>
          <a:xfrm>
            <a:off x="4457589" y="3082230"/>
            <a:ext cx="2743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659</a:t>
            </a:r>
            <a:endParaRPr lang="en-US" sz="936" dirty="0"/>
          </a:p>
        </p:txBody>
      </p:sp>
      <p:sp>
        <p:nvSpPr>
          <p:cNvPr id="74" name="Text 72"/>
          <p:cNvSpPr/>
          <p:nvPr/>
        </p:nvSpPr>
        <p:spPr>
          <a:xfrm>
            <a:off x="895328" y="4055566"/>
            <a:ext cx="2743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607</a:t>
            </a:r>
            <a:endParaRPr lang="en-US" sz="936" dirty="0"/>
          </a:p>
        </p:txBody>
      </p:sp>
      <p:sp>
        <p:nvSpPr>
          <p:cNvPr id="75" name="Text 73"/>
          <p:cNvSpPr/>
          <p:nvPr/>
        </p:nvSpPr>
        <p:spPr>
          <a:xfrm>
            <a:off x="4457589" y="4055566"/>
            <a:ext cx="2743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517</a:t>
            </a:r>
            <a:endParaRPr lang="en-US" sz="936" dirty="0"/>
          </a:p>
        </p:txBody>
      </p:sp>
      <p:sp>
        <p:nvSpPr>
          <p:cNvPr id="76" name="Text 74"/>
          <p:cNvSpPr/>
          <p:nvPr/>
        </p:nvSpPr>
        <p:spPr>
          <a:xfrm>
            <a:off x="8019849" y="4055566"/>
            <a:ext cx="2743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936" dirty="0"/>
          </a:p>
        </p:txBody>
      </p:sp>
      <p:sp>
        <p:nvSpPr>
          <p:cNvPr id="77" name="Text 75"/>
          <p:cNvSpPr/>
          <p:nvPr/>
        </p:nvSpPr>
        <p:spPr>
          <a:xfrm>
            <a:off x="4457589" y="5028902"/>
            <a:ext cx="2743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560</a:t>
            </a:r>
            <a:endParaRPr lang="en-US" sz="936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Evidencias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Evidencias · Iniciativas Ejecutadas 1S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13514" y="219075"/>
            <a:ext cx="34900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Evidencias · Iniciativas Ejecutadas 1S 2026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6514937" y="1086892"/>
            <a:ext cx="47674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&amp; Feria Vanti · Abril 2026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609585" y="6886575"/>
            <a:ext cx="54386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Parte de La Gran Jugada · 114% meta</a:t>
            </a:r>
            <a:endParaRPr lang="en-US" sz="672" dirty="0"/>
          </a:p>
        </p:txBody>
      </p:sp>
      <p:sp>
        <p:nvSpPr>
          <p:cNvPr id="9" name="Text 7"/>
          <p:cNvSpPr/>
          <p:nvPr/>
        </p:nvSpPr>
        <p:spPr>
          <a:xfrm>
            <a:off x="981050" y="1086892"/>
            <a:ext cx="47674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· Enero 2026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514937" y="4192042"/>
            <a:ext cx="47674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 · Junio 2026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6143471" y="6886575"/>
            <a:ext cx="54386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 ventas en dos semanas</a:t>
            </a:r>
            <a:endParaRPr lang="en-US" sz="672" dirty="0"/>
          </a:p>
        </p:txBody>
      </p:sp>
      <p:sp>
        <p:nvSpPr>
          <p:cNvPr id="12" name="Text 10"/>
          <p:cNvSpPr/>
          <p:nvPr/>
        </p:nvSpPr>
        <p:spPr>
          <a:xfrm>
            <a:off x="981050" y="4192042"/>
            <a:ext cx="47674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 · Mayo 2026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609585" y="3781425"/>
            <a:ext cx="54386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1.292 ventas logradas</a:t>
            </a:r>
            <a:endParaRPr lang="en-US" sz="672" dirty="0"/>
          </a:p>
        </p:txBody>
      </p:sp>
      <p:sp>
        <p:nvSpPr>
          <p:cNvPr id="14" name="Text 12"/>
          <p:cNvSpPr/>
          <p:nvPr/>
        </p:nvSpPr>
        <p:spPr>
          <a:xfrm>
            <a:off x="6143471" y="3781425"/>
            <a:ext cx="54386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1.266 ventas logradas</a:t>
            </a:r>
            <a:endParaRPr lang="en-US" sz="672" dirty="0"/>
          </a:p>
        </p:txBody>
      </p:sp>
      <p:sp>
        <p:nvSpPr>
          <p:cNvPr id="15" name="Text 13"/>
          <p:cNvSpPr/>
          <p:nvPr/>
        </p:nvSpPr>
        <p:spPr>
          <a:xfrm>
            <a:off x="10079579" y="209550"/>
            <a:ext cx="15406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Evidencias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981050" y="978247"/>
            <a:ext cx="47674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7" name="Text 15"/>
          <p:cNvSpPr/>
          <p:nvPr/>
        </p:nvSpPr>
        <p:spPr>
          <a:xfrm>
            <a:off x="6514937" y="978247"/>
            <a:ext cx="47674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8" name="Text 16"/>
          <p:cNvSpPr/>
          <p:nvPr/>
        </p:nvSpPr>
        <p:spPr>
          <a:xfrm>
            <a:off x="981050" y="4083397"/>
            <a:ext cx="47674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9" name="Text 17"/>
          <p:cNvSpPr/>
          <p:nvPr/>
        </p:nvSpPr>
        <p:spPr>
          <a:xfrm>
            <a:off x="6514937" y="4083397"/>
            <a:ext cx="47674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20" name="Text 18"/>
          <p:cNvSpPr/>
          <p:nvPr/>
        </p:nvSpPr>
        <p:spPr>
          <a:xfrm>
            <a:off x="609585" y="3600450"/>
            <a:ext cx="54386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21" name="Text 19"/>
          <p:cNvSpPr/>
          <p:nvPr/>
        </p:nvSpPr>
        <p:spPr>
          <a:xfrm>
            <a:off x="6143471" y="3600450"/>
            <a:ext cx="54386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22" name="Text 20"/>
          <p:cNvSpPr/>
          <p:nvPr/>
        </p:nvSpPr>
        <p:spPr>
          <a:xfrm>
            <a:off x="609585" y="6705600"/>
            <a:ext cx="54386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23" name="Text 21"/>
          <p:cNvSpPr/>
          <p:nvPr/>
        </p:nvSpPr>
        <p:spPr>
          <a:xfrm>
            <a:off x="6143471" y="6705600"/>
            <a:ext cx="54386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24" name="Text 22"/>
          <p:cNvSpPr/>
          <p:nvPr/>
        </p:nvSpPr>
        <p:spPr>
          <a:xfrm>
            <a:off x="5815165" y="101441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5" name="Text 23"/>
          <p:cNvSpPr/>
          <p:nvPr/>
        </p:nvSpPr>
        <p:spPr>
          <a:xfrm>
            <a:off x="11349051" y="101441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6" name="Text 24"/>
          <p:cNvSpPr/>
          <p:nvPr/>
        </p:nvSpPr>
        <p:spPr>
          <a:xfrm>
            <a:off x="5815165" y="411956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7" name="Text 25"/>
          <p:cNvSpPr/>
          <p:nvPr/>
        </p:nvSpPr>
        <p:spPr>
          <a:xfrm>
            <a:off x="11349051" y="411956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Capacitaciones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Capacitaciones del Semestre · Línea de Tiempo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6733" y="933450"/>
            <a:ext cx="10858229" cy="327571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7" name="Text 5"/>
          <p:cNvSpPr/>
          <p:nvPr/>
        </p:nvSpPr>
        <p:spPr>
          <a:xfrm>
            <a:off x="4154880" y="1037779"/>
            <a:ext cx="416767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ejecutadas por Xuma — al menos una por mes, con análisis de impacto operativo por sesión.</a:t>
            </a:r>
            <a:endParaRPr lang="en-US" sz="624" dirty="0"/>
          </a:p>
        </p:txBody>
      </p:sp>
      <p:sp>
        <p:nvSpPr>
          <p:cNvPr id="8" name="Text 6"/>
          <p:cNvSpPr/>
          <p:nvPr/>
        </p:nvSpPr>
        <p:spPr>
          <a:xfrm>
            <a:off x="1213514" y="219075"/>
            <a:ext cx="39082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Capacitaciones del Semestre · Línea de Tiempo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9743831" y="209550"/>
            <a:ext cx="18763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Capacitaciones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6739067" y="1984921"/>
            <a:ext cx="292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480" dirty="0"/>
          </a:p>
        </p:txBody>
      </p:sp>
      <p:sp>
        <p:nvSpPr>
          <p:cNvPr id="11" name="Text 9"/>
          <p:cNvSpPr/>
          <p:nvPr/>
        </p:nvSpPr>
        <p:spPr>
          <a:xfrm>
            <a:off x="6750675" y="3516362"/>
            <a:ext cx="292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480" dirty="0"/>
          </a:p>
        </p:txBody>
      </p:sp>
      <p:sp>
        <p:nvSpPr>
          <p:cNvPr id="12" name="Text 10"/>
          <p:cNvSpPr/>
          <p:nvPr/>
        </p:nvSpPr>
        <p:spPr>
          <a:xfrm>
            <a:off x="1003969" y="4438204"/>
            <a:ext cx="29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sesiónes</a:t>
            </a:r>
            <a:endParaRPr lang="en-US" sz="480" dirty="0"/>
          </a:p>
        </p:txBody>
      </p:sp>
      <p:sp>
        <p:nvSpPr>
          <p:cNvPr id="13" name="Text 11"/>
          <p:cNvSpPr/>
          <p:nvPr/>
        </p:nvSpPr>
        <p:spPr>
          <a:xfrm>
            <a:off x="993105" y="137532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480" dirty="0"/>
          </a:p>
        </p:txBody>
      </p:sp>
      <p:sp>
        <p:nvSpPr>
          <p:cNvPr id="14" name="Text 12"/>
          <p:cNvSpPr/>
          <p:nvPr/>
        </p:nvSpPr>
        <p:spPr>
          <a:xfrm>
            <a:off x="1009476" y="290676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480" dirty="0"/>
          </a:p>
        </p:txBody>
      </p:sp>
      <p:sp>
        <p:nvSpPr>
          <p:cNvPr id="15" name="Text 13"/>
          <p:cNvSpPr/>
          <p:nvPr/>
        </p:nvSpPr>
        <p:spPr>
          <a:xfrm>
            <a:off x="6749038" y="572571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480" dirty="0"/>
          </a:p>
        </p:txBody>
      </p:sp>
      <p:sp>
        <p:nvSpPr>
          <p:cNvPr id="16" name="Text 14"/>
          <p:cNvSpPr/>
          <p:nvPr/>
        </p:nvSpPr>
        <p:spPr>
          <a:xfrm>
            <a:off x="742931" y="136579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528" dirty="0"/>
          </a:p>
        </p:txBody>
      </p:sp>
      <p:sp>
        <p:nvSpPr>
          <p:cNvPr id="17" name="Text 15"/>
          <p:cNvSpPr/>
          <p:nvPr/>
        </p:nvSpPr>
        <p:spPr>
          <a:xfrm>
            <a:off x="6495888" y="197539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F5A62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528" dirty="0"/>
          </a:p>
        </p:txBody>
      </p:sp>
      <p:sp>
        <p:nvSpPr>
          <p:cNvPr id="18" name="Text 16"/>
          <p:cNvSpPr/>
          <p:nvPr/>
        </p:nvSpPr>
        <p:spPr>
          <a:xfrm>
            <a:off x="742931" y="289723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F7C94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528" dirty="0"/>
          </a:p>
        </p:txBody>
      </p:sp>
      <p:sp>
        <p:nvSpPr>
          <p:cNvPr id="19" name="Text 17"/>
          <p:cNvSpPr/>
          <p:nvPr/>
        </p:nvSpPr>
        <p:spPr>
          <a:xfrm>
            <a:off x="6495888" y="350683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528" dirty="0"/>
          </a:p>
        </p:txBody>
      </p:sp>
      <p:sp>
        <p:nvSpPr>
          <p:cNvPr id="20" name="Text 18"/>
          <p:cNvSpPr/>
          <p:nvPr/>
        </p:nvSpPr>
        <p:spPr>
          <a:xfrm>
            <a:off x="742931" y="442867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528" dirty="0"/>
          </a:p>
        </p:txBody>
      </p:sp>
      <p:sp>
        <p:nvSpPr>
          <p:cNvPr id="21" name="Text 19"/>
          <p:cNvSpPr/>
          <p:nvPr/>
        </p:nvSpPr>
        <p:spPr>
          <a:xfrm>
            <a:off x="6495888" y="571619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5B8DE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528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Monitoreo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y Cambios de Proceso · 1S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43531" y="3815060"/>
            <a:ext cx="4590935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Cargues priorizados según mayor presencia de ventas por localidad o edad, y barrido de contactos sin respuesta más cambio de DID si el número marca como spam.</a:t>
            </a:r>
            <a:endParaRPr lang="en-US" sz="672" dirty="0"/>
          </a:p>
        </p:txBody>
      </p:sp>
      <p:sp>
        <p:nvSpPr>
          <p:cNvPr id="7" name="Text 5"/>
          <p:cNvSpPr/>
          <p:nvPr/>
        </p:nvSpPr>
        <p:spPr>
          <a:xfrm>
            <a:off x="6743531" y="1619250"/>
            <a:ext cx="4590935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ajustaron las exclusiones dando más beneficios y menor tiempo de carencia, con el guion actualizado para incorporar la nueva asistencia.</a:t>
            </a:r>
            <a:endParaRPr lang="en-US" sz="672" dirty="0"/>
          </a:p>
        </p:txBody>
      </p:sp>
      <p:sp>
        <p:nvSpPr>
          <p:cNvPr id="8" name="Text 6"/>
          <p:cNvSpPr/>
          <p:nvPr/>
        </p:nvSpPr>
        <p:spPr>
          <a:xfrm>
            <a:off x="6743531" y="3083123"/>
            <a:ext cx="4590935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Cuando el usuario cree que es solo información, el asesor debe aclarar que se está ofreciendo un seguro, para una venta más transparente.</a:t>
            </a:r>
            <a:endParaRPr lang="en-US" sz="672" dirty="0"/>
          </a:p>
        </p:txBody>
      </p:sp>
      <p:sp>
        <p:nvSpPr>
          <p:cNvPr id="9" name="Text 7"/>
          <p:cNvSpPr/>
          <p:nvPr/>
        </p:nvSpPr>
        <p:spPr>
          <a:xfrm>
            <a:off x="6743531" y="2351187"/>
            <a:ext cx="4590935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exclusiva para clientes que obtuvieron el crédito por autogestión, conociendo cómo perciben esta nueva forma de crédito.</a:t>
            </a:r>
            <a:endParaRPr lang="en-US" sz="672" dirty="0"/>
          </a:p>
        </p:txBody>
      </p:sp>
      <p:sp>
        <p:nvSpPr>
          <p:cNvPr id="10" name="Text 8"/>
          <p:cNvSpPr/>
          <p:nvPr/>
        </p:nvSpPr>
        <p:spPr>
          <a:xfrm>
            <a:off x="1200120" y="2223343"/>
            <a:ext cx="4590935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Auditorías puntuales en algunos meses para verificar que la tipificación registrada coincida con lo que pasó en la llamada.</a:t>
            </a:r>
            <a:endParaRPr lang="en-US" sz="672" dirty="0"/>
          </a:p>
        </p:txBody>
      </p:sp>
      <p:sp>
        <p:nvSpPr>
          <p:cNvPr id="11" name="Text 9"/>
          <p:cNvSpPr/>
          <p:nvPr/>
        </p:nvSpPr>
        <p:spPr>
          <a:xfrm>
            <a:off x="1200120" y="2955280"/>
            <a:ext cx="4590935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revisan las llamadas tipificadas "no interesado" para nutrir un manual de objeciones que guía al asesor hacia el cierre.</a:t>
            </a:r>
            <a:endParaRPr lang="en-US" sz="672" dirty="0"/>
          </a:p>
        </p:txBody>
      </p:sp>
      <p:sp>
        <p:nvSpPr>
          <p:cNvPr id="12" name="Text 10"/>
          <p:cNvSpPr/>
          <p:nvPr/>
        </p:nvSpPr>
        <p:spPr>
          <a:xfrm>
            <a:off x="1200120" y="1619250"/>
            <a:ext cx="43477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 en vivo cómo el asesor debate objeciones, si tipifica correctamente y se corrigen errores al momento.</a:t>
            </a:r>
            <a:endParaRPr lang="en-US" sz="672" dirty="0"/>
          </a:p>
        </p:txBody>
      </p:sp>
      <p:sp>
        <p:nvSpPr>
          <p:cNvPr id="13" name="Text 11"/>
          <p:cNvSpPr/>
          <p:nvPr/>
        </p:nvSpPr>
        <p:spPr>
          <a:xfrm>
            <a:off x="1200120" y="3687217"/>
            <a:ext cx="366852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Seguimiento individual: cómo va cada asesor, a qué % se proyecta y qué le falta para su meta.</a:t>
            </a:r>
            <a:endParaRPr lang="en-US" sz="672" dirty="0"/>
          </a:p>
        </p:txBody>
      </p:sp>
      <p:sp>
        <p:nvSpPr>
          <p:cNvPr id="14" name="Text 12"/>
          <p:cNvSpPr/>
          <p:nvPr/>
        </p:nvSpPr>
        <p:spPr>
          <a:xfrm>
            <a:off x="1200120" y="1495425"/>
            <a:ext cx="43477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Objeciones, tipificación y corrección inmediata</a:t>
            </a:r>
            <a:endParaRPr lang="en-US" sz="672" dirty="0"/>
          </a:p>
        </p:txBody>
      </p:sp>
      <p:sp>
        <p:nvSpPr>
          <p:cNvPr id="15" name="Text 13"/>
          <p:cNvSpPr/>
          <p:nvPr/>
        </p:nvSpPr>
        <p:spPr>
          <a:xfrm>
            <a:off x="6743531" y="2227362"/>
            <a:ext cx="459093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Trato preferencial y medición de experiencia</a:t>
            </a:r>
            <a:endParaRPr lang="en-US" sz="672" dirty="0"/>
          </a:p>
        </p:txBody>
      </p:sp>
      <p:sp>
        <p:nvSpPr>
          <p:cNvPr id="16" name="Text 14"/>
          <p:cNvSpPr/>
          <p:nvPr/>
        </p:nvSpPr>
        <p:spPr>
          <a:xfrm>
            <a:off x="1200120" y="2099518"/>
            <a:ext cx="459093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Contrastan tipificación vs. la llamada real</a:t>
            </a:r>
            <a:endParaRPr lang="en-US" sz="672" dirty="0"/>
          </a:p>
        </p:txBody>
      </p:sp>
      <p:sp>
        <p:nvSpPr>
          <p:cNvPr id="17" name="Text 15"/>
          <p:cNvSpPr/>
          <p:nvPr/>
        </p:nvSpPr>
        <p:spPr>
          <a:xfrm>
            <a:off x="1200120" y="2831455"/>
            <a:ext cx="459093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de objeciones desde "no interesado"</a:t>
            </a:r>
            <a:endParaRPr lang="en-US" sz="672" dirty="0"/>
          </a:p>
        </p:txBody>
      </p:sp>
      <p:sp>
        <p:nvSpPr>
          <p:cNvPr id="18" name="Text 16"/>
          <p:cNvSpPr/>
          <p:nvPr/>
        </p:nvSpPr>
        <p:spPr>
          <a:xfrm>
            <a:off x="6743531" y="2959298"/>
            <a:ext cx="459093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asesor deja explícito que es un seguro</a:t>
            </a:r>
            <a:endParaRPr lang="en-US" sz="672" dirty="0"/>
          </a:p>
        </p:txBody>
      </p:sp>
      <p:sp>
        <p:nvSpPr>
          <p:cNvPr id="19" name="Text 17"/>
          <p:cNvSpPr/>
          <p:nvPr/>
        </p:nvSpPr>
        <p:spPr>
          <a:xfrm>
            <a:off x="1213514" y="219075"/>
            <a:ext cx="34609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y Cambios de Proceso · 1S 2026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6743531" y="3691235"/>
            <a:ext cx="459093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localidad/edad + control de spam/DID</a:t>
            </a:r>
            <a:endParaRPr lang="en-US" sz="672" dirty="0"/>
          </a:p>
        </p:txBody>
      </p:sp>
      <p:sp>
        <p:nvSpPr>
          <p:cNvPr id="21" name="Text 19"/>
          <p:cNvSpPr/>
          <p:nvPr/>
        </p:nvSpPr>
        <p:spPr>
          <a:xfrm>
            <a:off x="6743531" y="1495425"/>
            <a:ext cx="459093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Menor carencia + coberturas adicionales</a:t>
            </a:r>
            <a:endParaRPr lang="en-US" sz="672" dirty="0"/>
          </a:p>
        </p:txBody>
      </p:sp>
      <p:sp>
        <p:nvSpPr>
          <p:cNvPr id="22" name="Text 20"/>
          <p:cNvSpPr/>
          <p:nvPr/>
        </p:nvSpPr>
        <p:spPr>
          <a:xfrm>
            <a:off x="1200120" y="3563392"/>
            <a:ext cx="366852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Avance, proyección y KPI faltante</a:t>
            </a:r>
            <a:endParaRPr lang="en-US" sz="672" dirty="0"/>
          </a:p>
        </p:txBody>
      </p:sp>
      <p:sp>
        <p:nvSpPr>
          <p:cNvPr id="23" name="Text 21"/>
          <p:cNvSpPr/>
          <p:nvPr/>
        </p:nvSpPr>
        <p:spPr>
          <a:xfrm>
            <a:off x="6743531" y="2816423"/>
            <a:ext cx="45909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Frase de aclaración obligatoria</a:t>
            </a:r>
            <a:endParaRPr lang="en-US" sz="864" dirty="0"/>
          </a:p>
        </p:txBody>
      </p:sp>
      <p:sp>
        <p:nvSpPr>
          <p:cNvPr id="24" name="Text 22"/>
          <p:cNvSpPr/>
          <p:nvPr/>
        </p:nvSpPr>
        <p:spPr>
          <a:xfrm>
            <a:off x="6743531" y="3548360"/>
            <a:ext cx="45909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Segmentación y contactabilidad</a:t>
            </a:r>
            <a:endParaRPr lang="en-US" sz="864" dirty="0"/>
          </a:p>
        </p:txBody>
      </p:sp>
      <p:sp>
        <p:nvSpPr>
          <p:cNvPr id="25" name="Text 23"/>
          <p:cNvSpPr/>
          <p:nvPr/>
        </p:nvSpPr>
        <p:spPr>
          <a:xfrm>
            <a:off x="1200120" y="3420517"/>
            <a:ext cx="36685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Revisión semanal por asesor</a:t>
            </a:r>
            <a:endParaRPr lang="en-US" sz="864" dirty="0"/>
          </a:p>
        </p:txBody>
      </p:sp>
      <p:sp>
        <p:nvSpPr>
          <p:cNvPr id="26" name="Text 24"/>
          <p:cNvSpPr/>
          <p:nvPr/>
        </p:nvSpPr>
        <p:spPr>
          <a:xfrm>
            <a:off x="1200120" y="1352550"/>
            <a:ext cx="43477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semanal en vivo</a:t>
            </a:r>
            <a:endParaRPr lang="en-US" sz="864" dirty="0"/>
          </a:p>
        </p:txBody>
      </p:sp>
      <p:sp>
        <p:nvSpPr>
          <p:cNvPr id="27" name="Text 25"/>
          <p:cNvSpPr/>
          <p:nvPr/>
        </p:nvSpPr>
        <p:spPr>
          <a:xfrm>
            <a:off x="1200120" y="1956643"/>
            <a:ext cx="45909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Monitoreos ocasionales</a:t>
            </a:r>
            <a:endParaRPr lang="en-US" sz="864" dirty="0"/>
          </a:p>
        </p:txBody>
      </p:sp>
      <p:sp>
        <p:nvSpPr>
          <p:cNvPr id="28" name="Text 26"/>
          <p:cNvSpPr/>
          <p:nvPr/>
        </p:nvSpPr>
        <p:spPr>
          <a:xfrm>
            <a:off x="6743531" y="1352550"/>
            <a:ext cx="45909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Exclusiones del seguro</a:t>
            </a:r>
            <a:endParaRPr lang="en-US" sz="864" dirty="0"/>
          </a:p>
        </p:txBody>
      </p:sp>
      <p:sp>
        <p:nvSpPr>
          <p:cNvPr id="29" name="Text 27"/>
          <p:cNvSpPr/>
          <p:nvPr/>
        </p:nvSpPr>
        <p:spPr>
          <a:xfrm>
            <a:off x="6743531" y="2084487"/>
            <a:ext cx="45909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autogestión</a:t>
            </a:r>
            <a:endParaRPr lang="en-US" sz="864" dirty="0"/>
          </a:p>
        </p:txBody>
      </p:sp>
      <p:sp>
        <p:nvSpPr>
          <p:cNvPr id="30" name="Text 28"/>
          <p:cNvSpPr/>
          <p:nvPr/>
        </p:nvSpPr>
        <p:spPr>
          <a:xfrm>
            <a:off x="10079877" y="209550"/>
            <a:ext cx="15403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Monitoreo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1200120" y="2688580"/>
            <a:ext cx="45909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Kit de emergencia</a:t>
            </a:r>
            <a:endParaRPr lang="en-US" sz="86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Basese Indicadores Operativos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2476" y="4370189"/>
            <a:ext cx="5524362" cy="51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Contactabilidad, conversión, motivos de rechazo y proyección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del volumen necesario para lograr 3.000 ventas/mes en el segundo semestre.</a:t>
            </a:r>
            <a:endParaRPr lang="en-US" sz="1260" dirty="0"/>
          </a:p>
        </p:txBody>
      </p:sp>
      <p:sp>
        <p:nvSpPr>
          <p:cNvPr id="5" name="Text 3"/>
          <p:cNvSpPr/>
          <p:nvPr/>
        </p:nvSpPr>
        <p:spPr>
          <a:xfrm>
            <a:off x="952476" y="3128367"/>
            <a:ext cx="5539244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Basese Indicadores Operativos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52476" y="2852142"/>
            <a:ext cx="9216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2</a:t>
            </a:r>
            <a:endParaRPr lang="en-US" sz="936" dirty="0"/>
          </a:p>
        </p:txBody>
      </p:sp>
      <p:sp>
        <p:nvSpPr>
          <p:cNvPr id="7" name="Text 5"/>
          <p:cNvSpPr/>
          <p:nvPr/>
        </p:nvSpPr>
        <p:spPr>
          <a:xfrm>
            <a:off x="952476" y="1975842"/>
            <a:ext cx="129402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2156520"/>
            <a:ext cx="5476738" cy="213360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43471" y="2156520"/>
            <a:ext cx="5476738" cy="213360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486" y="933450"/>
            <a:ext cx="38099" cy="784920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5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362241" y="933450"/>
            <a:ext cx="38099" cy="784920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1" name="Shape 9"/>
          <p:cNvSpPr/>
          <p:nvPr/>
        </p:nvSpPr>
        <p:spPr>
          <a:xfrm>
            <a:off x="3400340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152996" y="933450"/>
            <a:ext cx="38099" cy="784920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1095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943751" y="933450"/>
            <a:ext cx="38099" cy="784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Shape 13"/>
          <p:cNvSpPr/>
          <p:nvPr/>
        </p:nvSpPr>
        <p:spPr>
          <a:xfrm>
            <a:off x="8981850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71486" y="4385370"/>
            <a:ext cx="11048724" cy="700683"/>
          </a:xfrm>
          <a:prstGeom prst="rect">
            <a:avLst/>
          </a:prstGeom>
          <a:solidFill>
            <a:srgbClr val="120180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5868" y="2508945"/>
          <a:ext cx="4572000" cy="1704975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Efect.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21.204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19.832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12,0 %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27.138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9,0 %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16.200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24.031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9,1 %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21.291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990575" y="4461570"/>
            <a:ext cx="10496288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entre enero (20 %) y mayo (64 %) triplicamos la contactabilidad sin cambiar quién llamamos, solo . Eso nos trajo 21 % más ventas.  el calendario, horarios y estrategia de llamadas son tan poderosos como la base misma. Febrero y junio bajan porque cambia el mix de campañas (vimos esto arriba). En el 2S, Isaac propone seguir con análisis por franja horaria para identificar ventanas óptimas.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1213514" y="219075"/>
            <a:ext cx="319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761981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 contactos en el semestre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9134247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761981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6343491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(6,7–10,3 %)</a:t>
            </a:r>
            <a:endParaRPr lang="en-US" sz="864" dirty="0"/>
          </a:p>
        </p:txBody>
      </p:sp>
      <p:sp>
        <p:nvSpPr>
          <p:cNvPr id="24" name="Text 21"/>
          <p:cNvSpPr/>
          <p:nvPr/>
        </p:nvSpPr>
        <p:spPr>
          <a:xfrm>
            <a:off x="3552736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49,1 % (+15 % volumen)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6343491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9637273" y="209550"/>
            <a:ext cx="19829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9134247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3552736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864" dirty="0"/>
          </a:p>
        </p:txBody>
      </p:sp>
      <p:sp>
        <p:nvSpPr>
          <p:cNvPr id="29" name="Text 26"/>
          <p:cNvSpPr/>
          <p:nvPr/>
        </p:nvSpPr>
        <p:spPr>
          <a:xfrm>
            <a:off x="761981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40,4 %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3552736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438639" y="2527995"/>
            <a:ext cx="4571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20,8 %</a:t>
            </a:r>
            <a:endParaRPr lang="en-US" sz="768" dirty="0"/>
          </a:p>
        </p:txBody>
      </p:sp>
      <p:sp>
        <p:nvSpPr>
          <p:cNvPr id="32" name="Text 29"/>
          <p:cNvSpPr/>
          <p:nvPr/>
        </p:nvSpPr>
        <p:spPr>
          <a:xfrm>
            <a:off x="5438639" y="2708970"/>
            <a:ext cx="4571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42,7 %</a:t>
            </a:r>
            <a:endParaRPr lang="en-US" sz="768" dirty="0"/>
          </a:p>
        </p:txBody>
      </p:sp>
      <p:sp>
        <p:nvSpPr>
          <p:cNvPr id="33" name="Text 30"/>
          <p:cNvSpPr/>
          <p:nvPr/>
        </p:nvSpPr>
        <p:spPr>
          <a:xfrm>
            <a:off x="5438639" y="2889945"/>
            <a:ext cx="4571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44,9 %</a:t>
            </a:r>
            <a:endParaRPr lang="en-US" sz="768" dirty="0"/>
          </a:p>
        </p:txBody>
      </p:sp>
      <p:sp>
        <p:nvSpPr>
          <p:cNvPr id="34" name="Text 31"/>
          <p:cNvSpPr/>
          <p:nvPr/>
        </p:nvSpPr>
        <p:spPr>
          <a:xfrm>
            <a:off x="5438639" y="3070920"/>
            <a:ext cx="4571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52,2 %</a:t>
            </a:r>
            <a:endParaRPr lang="en-US" sz="768" dirty="0"/>
          </a:p>
        </p:txBody>
      </p:sp>
      <p:sp>
        <p:nvSpPr>
          <p:cNvPr id="35" name="Text 32"/>
          <p:cNvSpPr/>
          <p:nvPr/>
        </p:nvSpPr>
        <p:spPr>
          <a:xfrm>
            <a:off x="5438639" y="3251895"/>
            <a:ext cx="4571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768" dirty="0"/>
          </a:p>
        </p:txBody>
      </p:sp>
      <p:sp>
        <p:nvSpPr>
          <p:cNvPr id="36" name="Text 33"/>
          <p:cNvSpPr/>
          <p:nvPr/>
        </p:nvSpPr>
        <p:spPr>
          <a:xfrm>
            <a:off x="5438639" y="3432870"/>
            <a:ext cx="4571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49,0 %</a:t>
            </a:r>
            <a:endParaRPr lang="en-US" sz="768" dirty="0"/>
          </a:p>
        </p:txBody>
      </p:sp>
      <p:sp>
        <p:nvSpPr>
          <p:cNvPr id="37" name="Text 34"/>
          <p:cNvSpPr/>
          <p:nvPr/>
        </p:nvSpPr>
        <p:spPr>
          <a:xfrm>
            <a:off x="6343491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9134247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~54 %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23882" y="2523232"/>
            <a:ext cx="704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40" name="Text 37"/>
          <p:cNvSpPr/>
          <p:nvPr/>
        </p:nvSpPr>
        <p:spPr>
          <a:xfrm>
            <a:off x="723882" y="2704207"/>
            <a:ext cx="704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723882" y="2885182"/>
            <a:ext cx="704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723882" y="3066157"/>
            <a:ext cx="704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43" name="Text 40"/>
          <p:cNvSpPr/>
          <p:nvPr/>
        </p:nvSpPr>
        <p:spPr>
          <a:xfrm>
            <a:off x="723882" y="3247132"/>
            <a:ext cx="704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44" name="Text 41"/>
          <p:cNvSpPr/>
          <p:nvPr/>
        </p:nvSpPr>
        <p:spPr>
          <a:xfrm>
            <a:off x="723882" y="3428107"/>
            <a:ext cx="704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2158336"/>
            <a:ext cx="11048724" cy="2615208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486" y="933450"/>
            <a:ext cx="38099" cy="784920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5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362241" y="933450"/>
            <a:ext cx="38099" cy="784920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0" name="Shape 8"/>
          <p:cNvSpPr/>
          <p:nvPr/>
        </p:nvSpPr>
        <p:spPr>
          <a:xfrm>
            <a:off x="3400340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152996" y="933450"/>
            <a:ext cx="38099" cy="784920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12" name="Shape 10"/>
          <p:cNvSpPr/>
          <p:nvPr/>
        </p:nvSpPr>
        <p:spPr>
          <a:xfrm>
            <a:off x="6191095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943751" y="933450"/>
            <a:ext cx="38099" cy="784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Shape 12"/>
          <p:cNvSpPr/>
          <p:nvPr/>
        </p:nvSpPr>
        <p:spPr>
          <a:xfrm>
            <a:off x="8981850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23882" y="3882361"/>
            <a:ext cx="10743931" cy="776883"/>
          </a:xfrm>
          <a:prstGeom prst="rect">
            <a:avLst/>
          </a:prstGeom>
          <a:solidFill>
            <a:srgbClr val="120180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577436"/>
          <a:ext cx="10058400" cy="1209675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  <a:gridCol w="2514600"/>
                <a:gridCol w="2514600"/>
              </a:tblGrid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Campaña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Contactabilidad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Conv./contacto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Perfil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Bienvenidas Cuota Protegida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19,5 %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Excelente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Autogestión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Excelente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Stock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Moderado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Masiva Voluntarios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Bajo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1181070" y="3996661"/>
            <a:ext cx="10115297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Los números en el calendario cambian según qué tipo de cliente estamos llamando. Cuando trabajamos con gente que ya nos conoce (CP y Autogestión) los contactamos 4-5 veces mejor (71-79 %) que números nuevos en Masiva Voluntarios (17 %).  mejorar contactabilidad no es solo cuestión de horarios — es el tipo de base. Mejor calidad de números = mejores resultados.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1213514" y="219075"/>
            <a:ext cx="319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260" dirty="0"/>
          </a:p>
        </p:txBody>
      </p:sp>
      <p:sp>
        <p:nvSpPr>
          <p:cNvPr id="19" name="Text 16"/>
          <p:cNvSpPr/>
          <p:nvPr/>
        </p:nvSpPr>
        <p:spPr>
          <a:xfrm>
            <a:off x="761981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 contactos en el semestre</a:t>
            </a:r>
            <a:endParaRPr lang="en-US" sz="864" dirty="0"/>
          </a:p>
        </p:txBody>
      </p:sp>
      <p:sp>
        <p:nvSpPr>
          <p:cNvPr id="20" name="Text 17"/>
          <p:cNvSpPr/>
          <p:nvPr/>
        </p:nvSpPr>
        <p:spPr>
          <a:xfrm>
            <a:off x="9134247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761981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6343491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(6,7–10,3 %)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3552736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49,1 % (+15 % volumen)</a:t>
            </a:r>
            <a:endParaRPr lang="en-US" sz="864" dirty="0"/>
          </a:p>
        </p:txBody>
      </p:sp>
      <p:sp>
        <p:nvSpPr>
          <p:cNvPr id="24" name="Text 21"/>
          <p:cNvSpPr/>
          <p:nvPr/>
        </p:nvSpPr>
        <p:spPr>
          <a:xfrm>
            <a:off x="6343491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9637273" y="209550"/>
            <a:ext cx="19829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9134247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3552736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761981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40,4 %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552736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343491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134247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~54 %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 técnica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2708970"/>
            <a:ext cx="5457689" cy="3141911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62521" y="2708970"/>
            <a:ext cx="5457689" cy="3141911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486" y="933450"/>
            <a:ext cx="38099" cy="956370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5" y="933450"/>
            <a:ext cx="2638359" cy="9563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362241" y="933450"/>
            <a:ext cx="38099" cy="956370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1" name="Shape 9"/>
          <p:cNvSpPr/>
          <p:nvPr/>
        </p:nvSpPr>
        <p:spPr>
          <a:xfrm>
            <a:off x="3400340" y="933450"/>
            <a:ext cx="2638359" cy="9563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152996" y="933450"/>
            <a:ext cx="38099" cy="95637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1095" y="933450"/>
            <a:ext cx="2638359" cy="9563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943751" y="933450"/>
            <a:ext cx="38099" cy="95637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Shape 13"/>
          <p:cNvSpPr/>
          <p:nvPr/>
        </p:nvSpPr>
        <p:spPr>
          <a:xfrm>
            <a:off x="8981850" y="933450"/>
            <a:ext cx="2638359" cy="9563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23882" y="4985445"/>
            <a:ext cx="5152896" cy="70068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Shape 15"/>
          <p:cNvSpPr/>
          <p:nvPr/>
        </p:nvSpPr>
        <p:spPr>
          <a:xfrm>
            <a:off x="6314917" y="4213920"/>
            <a:ext cx="5152896" cy="645765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18" name="Text 16"/>
          <p:cNvSpPr/>
          <p:nvPr/>
        </p:nvSpPr>
        <p:spPr>
          <a:xfrm>
            <a:off x="6734007" y="4290120"/>
            <a:ext cx="4600460" cy="49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59,6 % de "no contacto", al menos  nunca se cursaron por fallas de red.  parte de ese insumo termina descartándose luego como "re-enviado" — cruce pendiente de confirmar registro por registro.</a:t>
            </a:r>
            <a:endParaRPr lang="en-US" sz="864" dirty="0"/>
          </a:p>
        </p:txBody>
      </p:sp>
      <p:sp>
        <p:nvSpPr>
          <p:cNvPr id="19" name="Text 17"/>
          <p:cNvSpPr/>
          <p:nvPr/>
        </p:nvSpPr>
        <p:spPr>
          <a:xfrm>
            <a:off x="1142971" y="5061645"/>
            <a:ext cx="460046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7A301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 con la red menos estable de las dos: pierde 17 de cada 100 llamadas por congestión o rechazo de troncal, frente a 0,86 % en Tigo.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6314917" y="4013895"/>
            <a:ext cx="5152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Estimación con la efectividad del semestre; validar con Isaac el período de la muestra.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314917" y="5164485"/>
            <a:ext cx="5152896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Rebalancear troncales hacia Tigo en zonas periféricas (San Cristóbal, Ciudad Bolívar)</a:t>
            </a:r>
            <a:endParaRPr lang="en-US" sz="864" dirty="0"/>
          </a:p>
        </p:txBody>
      </p:sp>
      <p:sp>
        <p:nvSpPr>
          <p:cNvPr id="22" name="Text 20"/>
          <p:cNvSpPr/>
          <p:nvPr/>
        </p:nvSpPr>
        <p:spPr>
          <a:xfrm>
            <a:off x="6314917" y="5577632"/>
            <a:ext cx="5152896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Enrutamiento dinámico: salida obligada por Tigo donde Movistar falla &gt;17 %</a:t>
            </a:r>
            <a:endParaRPr lang="en-US" sz="864" dirty="0"/>
          </a:p>
        </p:txBody>
      </p:sp>
      <p:sp>
        <p:nvSpPr>
          <p:cNvPr id="23" name="Text 21"/>
          <p:cNvSpPr/>
          <p:nvPr/>
        </p:nvSpPr>
        <p:spPr>
          <a:xfrm>
            <a:off x="6314917" y="5371058"/>
            <a:ext cx="5152896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 formal a Movistar: códigos 34 (congestión) y 21 (rechazo)</a:t>
            </a:r>
            <a:endParaRPr lang="en-US" sz="864" dirty="0"/>
          </a:p>
        </p:txBody>
      </p:sp>
      <p:sp>
        <p:nvSpPr>
          <p:cNvPr id="24" name="Text 22"/>
          <p:cNvSpPr/>
          <p:nvPr/>
        </p:nvSpPr>
        <p:spPr>
          <a:xfrm>
            <a:off x="6343491" y="1527870"/>
            <a:ext cx="23335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864" dirty="0"/>
          </a:p>
        </p:txBody>
      </p:sp>
      <p:sp>
        <p:nvSpPr>
          <p:cNvPr id="25" name="Text 23"/>
          <p:cNvSpPr/>
          <p:nvPr/>
        </p:nvSpPr>
        <p:spPr>
          <a:xfrm>
            <a:off x="9134247" y="1527870"/>
            <a:ext cx="23335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864" dirty="0"/>
          </a:p>
        </p:txBody>
      </p:sp>
      <p:sp>
        <p:nvSpPr>
          <p:cNvPr id="26" name="Text 24"/>
          <p:cNvSpPr/>
          <p:nvPr/>
        </p:nvSpPr>
        <p:spPr>
          <a:xfrm>
            <a:off x="1213514" y="219075"/>
            <a:ext cx="36548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3552736" y="152787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40,4 % operativo del 1S</a:t>
            </a:r>
            <a:endParaRPr lang="en-US" sz="864" dirty="0"/>
          </a:p>
        </p:txBody>
      </p:sp>
      <p:sp>
        <p:nvSpPr>
          <p:cNvPr id="28" name="Text 26"/>
          <p:cNvSpPr/>
          <p:nvPr/>
        </p:nvSpPr>
        <p:spPr>
          <a:xfrm>
            <a:off x="10059488" y="3593455"/>
            <a:ext cx="1322602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ventas, a la efectividad histórica (8,6 %)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761981" y="152787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864" dirty="0"/>
          </a:p>
        </p:txBody>
      </p:sp>
      <p:sp>
        <p:nvSpPr>
          <p:cNvPr id="30" name="Text 28"/>
          <p:cNvSpPr/>
          <p:nvPr/>
        </p:nvSpPr>
        <p:spPr>
          <a:xfrm>
            <a:off x="6400640" y="3593455"/>
            <a:ext cx="1322602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 (backup Movistar)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8229990" y="3593455"/>
            <a:ext cx="1322751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contactos, a la tasa de Tigo (71 %)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9029177" y="209550"/>
            <a:ext cx="25910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 técnica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3552736" y="102870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864" dirty="0"/>
          </a:p>
        </p:txBody>
      </p:sp>
      <p:sp>
        <p:nvSpPr>
          <p:cNvPr id="34" name="Text 32"/>
          <p:cNvSpPr/>
          <p:nvPr/>
        </p:nvSpPr>
        <p:spPr>
          <a:xfrm>
            <a:off x="9134247" y="102870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864" dirty="0"/>
          </a:p>
        </p:txBody>
      </p:sp>
      <p:sp>
        <p:nvSpPr>
          <p:cNvPr id="35" name="Text 33"/>
          <p:cNvSpPr/>
          <p:nvPr/>
        </p:nvSpPr>
        <p:spPr>
          <a:xfrm>
            <a:off x="761981" y="102870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864" dirty="0"/>
          </a:p>
        </p:txBody>
      </p:sp>
      <p:sp>
        <p:nvSpPr>
          <p:cNvPr id="36" name="Text 34"/>
          <p:cNvSpPr/>
          <p:nvPr/>
        </p:nvSpPr>
        <p:spPr>
          <a:xfrm>
            <a:off x="6343491" y="102870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864" dirty="0"/>
          </a:p>
        </p:txBody>
      </p:sp>
      <p:sp>
        <p:nvSpPr>
          <p:cNvPr id="37" name="Text 35"/>
          <p:cNvSpPr/>
          <p:nvPr/>
        </p:nvSpPr>
        <p:spPr>
          <a:xfrm>
            <a:off x="5065983" y="3128070"/>
            <a:ext cx="8107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173.548 llamadas</a:t>
            </a:r>
            <a:endParaRPr lang="en-US" sz="816" dirty="0"/>
          </a:p>
        </p:txBody>
      </p:sp>
      <p:sp>
        <p:nvSpPr>
          <p:cNvPr id="38" name="Text 36"/>
          <p:cNvSpPr/>
          <p:nvPr/>
        </p:nvSpPr>
        <p:spPr>
          <a:xfrm>
            <a:off x="5045445" y="4080570"/>
            <a:ext cx="83133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448.057 llamadas</a:t>
            </a:r>
            <a:endParaRPr lang="en-US" sz="816" dirty="0"/>
          </a:p>
        </p:txBody>
      </p:sp>
      <p:sp>
        <p:nvSpPr>
          <p:cNvPr id="39" name="Text 37"/>
          <p:cNvSpPr/>
          <p:nvPr/>
        </p:nvSpPr>
        <p:spPr>
          <a:xfrm>
            <a:off x="1035074" y="3128070"/>
            <a:ext cx="5737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(principal)</a:t>
            </a:r>
            <a:endParaRPr lang="en-US" sz="792" dirty="0"/>
          </a:p>
        </p:txBody>
      </p:sp>
      <p:sp>
        <p:nvSpPr>
          <p:cNvPr id="40" name="Text 38"/>
          <p:cNvSpPr/>
          <p:nvPr/>
        </p:nvSpPr>
        <p:spPr>
          <a:xfrm>
            <a:off x="8229990" y="3254425"/>
            <a:ext cx="132275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Recuperable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723882" y="3680520"/>
            <a:ext cx="7429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3882" y="4633020"/>
            <a:ext cx="7429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059488" y="3254425"/>
            <a:ext cx="13226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Potencial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723882" y="3366195"/>
            <a:ext cx="7429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3882" y="4051995"/>
            <a:ext cx="10361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</a:t>
            </a:r>
            <a:endParaRPr lang="en-US" sz="1032" dirty="0"/>
          </a:p>
        </p:txBody>
      </p:sp>
      <p:sp>
        <p:nvSpPr>
          <p:cNvPr id="46" name="Text 44"/>
          <p:cNvSpPr/>
          <p:nvPr/>
        </p:nvSpPr>
        <p:spPr>
          <a:xfrm>
            <a:off x="723882" y="4318695"/>
            <a:ext cx="7429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29990" y="3387775"/>
            <a:ext cx="1322751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49.500</a:t>
            </a:r>
            <a:endParaRPr lang="en-US" sz="1320" dirty="0"/>
          </a:p>
        </p:txBody>
      </p:sp>
      <p:sp>
        <p:nvSpPr>
          <p:cNvPr id="48" name="Text 46"/>
          <p:cNvSpPr/>
          <p:nvPr/>
        </p:nvSpPr>
        <p:spPr>
          <a:xfrm>
            <a:off x="761981" y="120015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0059488" y="3387775"/>
            <a:ext cx="1322602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4.200</a:t>
            </a:r>
            <a:endParaRPr lang="en-US" sz="1320" dirty="0"/>
          </a:p>
        </p:txBody>
      </p:sp>
      <p:sp>
        <p:nvSpPr>
          <p:cNvPr id="50" name="Text 48"/>
          <p:cNvSpPr/>
          <p:nvPr/>
        </p:nvSpPr>
        <p:spPr>
          <a:xfrm>
            <a:off x="3552736" y="120015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343491" y="120015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9134247" y="120015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419590" y="3366195"/>
            <a:ext cx="4571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71,0 %</a:t>
            </a:r>
            <a:endParaRPr lang="en-US" sz="864" dirty="0"/>
          </a:p>
        </p:txBody>
      </p:sp>
      <p:sp>
        <p:nvSpPr>
          <p:cNvPr id="54" name="Text 52"/>
          <p:cNvSpPr/>
          <p:nvPr/>
        </p:nvSpPr>
        <p:spPr>
          <a:xfrm>
            <a:off x="5419590" y="4318695"/>
            <a:ext cx="4571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25,6 %</a:t>
            </a:r>
            <a:endParaRPr lang="en-US" sz="864" dirty="0"/>
          </a:p>
        </p:txBody>
      </p:sp>
      <p:sp>
        <p:nvSpPr>
          <p:cNvPr id="55" name="Text 53"/>
          <p:cNvSpPr/>
          <p:nvPr/>
        </p:nvSpPr>
        <p:spPr>
          <a:xfrm>
            <a:off x="5419590" y="4633020"/>
            <a:ext cx="4571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15,1 %</a:t>
            </a:r>
            <a:endParaRPr lang="en-US" sz="864" dirty="0"/>
          </a:p>
        </p:txBody>
      </p:sp>
      <p:sp>
        <p:nvSpPr>
          <p:cNvPr id="56" name="Text 54"/>
          <p:cNvSpPr/>
          <p:nvPr/>
        </p:nvSpPr>
        <p:spPr>
          <a:xfrm>
            <a:off x="6400640" y="3387775"/>
            <a:ext cx="1322602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320" dirty="0"/>
          </a:p>
        </p:txBody>
      </p:sp>
      <p:sp>
        <p:nvSpPr>
          <p:cNvPr id="57" name="Text 55"/>
          <p:cNvSpPr/>
          <p:nvPr/>
        </p:nvSpPr>
        <p:spPr>
          <a:xfrm>
            <a:off x="5419590" y="3680520"/>
            <a:ext cx="4571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864" dirty="0"/>
          </a:p>
        </p:txBody>
      </p:sp>
      <p:sp>
        <p:nvSpPr>
          <p:cNvPr id="58" name="Text 56"/>
          <p:cNvSpPr/>
          <p:nvPr/>
        </p:nvSpPr>
        <p:spPr>
          <a:xfrm>
            <a:off x="723882" y="3099495"/>
            <a:ext cx="8849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</a:t>
            </a:r>
            <a:endParaRPr lang="en-US" sz="1032" dirty="0"/>
          </a:p>
        </p:txBody>
      </p:sp>
      <p:sp>
        <p:nvSpPr>
          <p:cNvPr id="59" name="Text 57"/>
          <p:cNvSpPr/>
          <p:nvPr/>
        </p:nvSpPr>
        <p:spPr>
          <a:xfrm>
            <a:off x="6400640" y="3254425"/>
            <a:ext cx="13226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Hoy</a:t>
            </a:r>
            <a:endParaRPr lang="en-US" sz="7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 técnica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2709756"/>
            <a:ext cx="11048724" cy="2295525"/>
          </a:xfrm>
          <a:prstGeom prst="roundRect">
            <a:avLst>
              <a:gd name="adj" fmla="val 59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486" y="933450"/>
            <a:ext cx="38099" cy="956370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5" y="933450"/>
            <a:ext cx="2638359" cy="9563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362241" y="933450"/>
            <a:ext cx="38099" cy="956370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0" name="Shape 8"/>
          <p:cNvSpPr/>
          <p:nvPr/>
        </p:nvSpPr>
        <p:spPr>
          <a:xfrm>
            <a:off x="3400340" y="933450"/>
            <a:ext cx="2638359" cy="9563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152996" y="933450"/>
            <a:ext cx="38099" cy="95637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Shape 10"/>
          <p:cNvSpPr/>
          <p:nvPr/>
        </p:nvSpPr>
        <p:spPr>
          <a:xfrm>
            <a:off x="6191095" y="933450"/>
            <a:ext cx="2638359" cy="9563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943751" y="933450"/>
            <a:ext cx="38099" cy="95637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Shape 12"/>
          <p:cNvSpPr/>
          <p:nvPr/>
        </p:nvSpPr>
        <p:spPr>
          <a:xfrm>
            <a:off x="8981850" y="933450"/>
            <a:ext cx="2638359" cy="956370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030" y="3471756"/>
          <a:ext cx="4572000" cy="1343025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Barrio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Llam.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Tigo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Movistar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 Gloria Occidental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3.346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4,1 %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15,6 %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Bello Horizonte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2.384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0,3 %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17,6 %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Calvo Sur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1.021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1,3 %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046" y="3471756"/>
          <a:ext cx="4572000" cy="1343025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Barrio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Llam.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Tigo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Movistar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Arborizadora Alta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4.546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1,4 %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El Mochuelo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1,4 %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20,9 %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El Tesoro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19,4 %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6343491" y="1527870"/>
            <a:ext cx="23335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864" dirty="0"/>
          </a:p>
        </p:txBody>
      </p:sp>
      <p:sp>
        <p:nvSpPr>
          <p:cNvPr id="18" name="Text 14"/>
          <p:cNvSpPr/>
          <p:nvPr/>
        </p:nvSpPr>
        <p:spPr>
          <a:xfrm>
            <a:off x="9134247" y="1527870"/>
            <a:ext cx="23335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864" dirty="0"/>
          </a:p>
        </p:txBody>
      </p:sp>
      <p:sp>
        <p:nvSpPr>
          <p:cNvPr id="19" name="Text 15"/>
          <p:cNvSpPr/>
          <p:nvPr/>
        </p:nvSpPr>
        <p:spPr>
          <a:xfrm>
            <a:off x="2528080" y="3281256"/>
            <a:ext cx="24587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(Tigo 71,9 % contacto · Movistar 24,1 % contacto)</a:t>
            </a:r>
            <a:endParaRPr lang="en-US" sz="864" dirty="0"/>
          </a:p>
        </p:txBody>
      </p:sp>
      <p:sp>
        <p:nvSpPr>
          <p:cNvPr id="20" name="Text 16"/>
          <p:cNvSpPr/>
          <p:nvPr/>
        </p:nvSpPr>
        <p:spPr>
          <a:xfrm>
            <a:off x="7997972" y="3281256"/>
            <a:ext cx="24691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(Tigo 72,4 % contacto · Movistar 25,7 % contacto)</a:t>
            </a:r>
            <a:endParaRPr lang="en-US" sz="864" dirty="0"/>
          </a:p>
        </p:txBody>
      </p:sp>
      <p:sp>
        <p:nvSpPr>
          <p:cNvPr id="21" name="Text 17"/>
          <p:cNvSpPr/>
          <p:nvPr/>
        </p:nvSpPr>
        <p:spPr>
          <a:xfrm>
            <a:off x="1213514" y="219075"/>
            <a:ext cx="36548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260" dirty="0"/>
          </a:p>
        </p:txBody>
      </p:sp>
      <p:sp>
        <p:nvSpPr>
          <p:cNvPr id="22" name="Text 18"/>
          <p:cNvSpPr/>
          <p:nvPr/>
        </p:nvSpPr>
        <p:spPr>
          <a:xfrm>
            <a:off x="3552736" y="152787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40,4 % operativo del 1S</a:t>
            </a:r>
            <a:endParaRPr lang="en-US" sz="864" dirty="0"/>
          </a:p>
        </p:txBody>
      </p:sp>
      <p:sp>
        <p:nvSpPr>
          <p:cNvPr id="23" name="Text 19"/>
          <p:cNvSpPr/>
          <p:nvPr/>
        </p:nvSpPr>
        <p:spPr>
          <a:xfrm>
            <a:off x="761981" y="152787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864" dirty="0"/>
          </a:p>
        </p:txBody>
      </p:sp>
      <p:sp>
        <p:nvSpPr>
          <p:cNvPr id="24" name="Text 20"/>
          <p:cNvSpPr/>
          <p:nvPr/>
        </p:nvSpPr>
        <p:spPr>
          <a:xfrm>
            <a:off x="9029177" y="209550"/>
            <a:ext cx="25910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 técnica</a:t>
            </a:r>
            <a:endParaRPr lang="en-US" sz="840" dirty="0"/>
          </a:p>
        </p:txBody>
      </p:sp>
      <p:sp>
        <p:nvSpPr>
          <p:cNvPr id="25" name="Text 21"/>
          <p:cNvSpPr/>
          <p:nvPr/>
        </p:nvSpPr>
        <p:spPr>
          <a:xfrm>
            <a:off x="6172046" y="3281256"/>
            <a:ext cx="52386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Ciudad Bolívar — 28.819 llamadas</a:t>
            </a:r>
            <a:endParaRPr lang="en-US" sz="864" dirty="0"/>
          </a:p>
        </p:txBody>
      </p:sp>
      <p:sp>
        <p:nvSpPr>
          <p:cNvPr id="26" name="Text 22"/>
          <p:cNvSpPr/>
          <p:nvPr/>
        </p:nvSpPr>
        <p:spPr>
          <a:xfrm>
            <a:off x="781030" y="3281256"/>
            <a:ext cx="52386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 Cristóbal — 32.619 llamadas</a:t>
            </a:r>
            <a:endParaRPr lang="en-US" sz="864" dirty="0"/>
          </a:p>
        </p:txBody>
      </p:sp>
      <p:sp>
        <p:nvSpPr>
          <p:cNvPr id="27" name="Text 23"/>
          <p:cNvSpPr/>
          <p:nvPr/>
        </p:nvSpPr>
        <p:spPr>
          <a:xfrm>
            <a:off x="3552736" y="102870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864" dirty="0"/>
          </a:p>
        </p:txBody>
      </p:sp>
      <p:sp>
        <p:nvSpPr>
          <p:cNvPr id="28" name="Text 24"/>
          <p:cNvSpPr/>
          <p:nvPr/>
        </p:nvSpPr>
        <p:spPr>
          <a:xfrm>
            <a:off x="9134247" y="102870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864" dirty="0"/>
          </a:p>
        </p:txBody>
      </p:sp>
      <p:sp>
        <p:nvSpPr>
          <p:cNvPr id="29" name="Text 25"/>
          <p:cNvSpPr/>
          <p:nvPr/>
        </p:nvSpPr>
        <p:spPr>
          <a:xfrm>
            <a:off x="761981" y="102870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864" dirty="0"/>
          </a:p>
        </p:txBody>
      </p:sp>
      <p:sp>
        <p:nvSpPr>
          <p:cNvPr id="30" name="Text 26"/>
          <p:cNvSpPr/>
          <p:nvPr/>
        </p:nvSpPr>
        <p:spPr>
          <a:xfrm>
            <a:off x="6343491" y="102870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864" dirty="0"/>
          </a:p>
        </p:txBody>
      </p:sp>
      <p:sp>
        <p:nvSpPr>
          <p:cNvPr id="31" name="Text 27"/>
          <p:cNvSpPr/>
          <p:nvPr/>
        </p:nvSpPr>
        <p:spPr>
          <a:xfrm>
            <a:off x="761981" y="120015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3552736" y="120015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6343491" y="120015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9134247" y="120015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Proyección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2499420"/>
            <a:ext cx="11048724" cy="346710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486" y="933450"/>
            <a:ext cx="38099" cy="784920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5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362241" y="933450"/>
            <a:ext cx="38099" cy="784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3400340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152996" y="933450"/>
            <a:ext cx="38099" cy="784920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191095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943751" y="933450"/>
            <a:ext cx="38099" cy="784920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981850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2931" y="2937570"/>
          <a:ext cx="10058400" cy="1552575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Parámetro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Valor histórico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Insumo para 3.000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 ventas/mes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Efectividad / contactados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8,59 %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8,59 % = 34.908 contactos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Contactabilidad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40,4 %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40,4 % = 86.427 gestionados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Gestión sobre 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88,3 % = 97.902 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Aptos (1–rechazo)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39,9 % = ~245.500 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Registros mínimos requeridos/mes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235.000–260.000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1213514" y="219075"/>
            <a:ext cx="44808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2791946" y="5690295"/>
            <a:ext cx="2344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Metas diferenciadas: top performers a 150 pólizas</a:t>
            </a:r>
            <a:endParaRPr lang="en-US" sz="768" dirty="0"/>
          </a:p>
        </p:txBody>
      </p:sp>
      <p:sp>
        <p:nvSpPr>
          <p:cNvPr id="18" name="Text 15"/>
          <p:cNvSpPr/>
          <p:nvPr/>
        </p:nvSpPr>
        <p:spPr>
          <a:xfrm>
            <a:off x="2791946" y="5328345"/>
            <a:ext cx="21793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sube 3,7 % — equipo llega a 20 asesores</a:t>
            </a:r>
            <a:endParaRPr lang="en-US" sz="768" dirty="0"/>
          </a:p>
        </p:txBody>
      </p:sp>
      <p:sp>
        <p:nvSpPr>
          <p:cNvPr id="19" name="Text 16"/>
          <p:cNvSpPr/>
          <p:nvPr/>
        </p:nvSpPr>
        <p:spPr>
          <a:xfrm>
            <a:off x="3671200" y="5509320"/>
            <a:ext cx="19763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Volante: +Bono por 120 pólizas extra</a:t>
            </a:r>
            <a:endParaRPr lang="en-US" sz="768" dirty="0"/>
          </a:p>
        </p:txBody>
      </p:sp>
      <p:sp>
        <p:nvSpPr>
          <p:cNvPr id="20" name="Text 17"/>
          <p:cNvSpPr/>
          <p:nvPr/>
        </p:nvSpPr>
        <p:spPr>
          <a:xfrm>
            <a:off x="6343491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9134247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3552736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742931" y="4585395"/>
            <a:ext cx="107058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ESQUEMA COMISIONES 1S — EVOLUCIÓN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3552736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1142971" y="4785420"/>
            <a:ext cx="15651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1142971" y="4966395"/>
            <a:ext cx="15651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27" name="Text 24"/>
          <p:cNvSpPr/>
          <p:nvPr/>
        </p:nvSpPr>
        <p:spPr>
          <a:xfrm>
            <a:off x="1142971" y="5147370"/>
            <a:ext cx="15651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28" name="Text 25"/>
          <p:cNvSpPr/>
          <p:nvPr/>
        </p:nvSpPr>
        <p:spPr>
          <a:xfrm>
            <a:off x="1142971" y="5328345"/>
            <a:ext cx="1572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29" name="Text 26"/>
          <p:cNvSpPr/>
          <p:nvPr/>
        </p:nvSpPr>
        <p:spPr>
          <a:xfrm>
            <a:off x="1142971" y="5509320"/>
            <a:ext cx="24520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30" name="Text 27"/>
          <p:cNvSpPr/>
          <p:nvPr/>
        </p:nvSpPr>
        <p:spPr>
          <a:xfrm>
            <a:off x="1142971" y="5690295"/>
            <a:ext cx="1572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2784356" y="4785420"/>
            <a:ext cx="11316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inicial del equipo</a:t>
            </a:r>
            <a:endParaRPr lang="en-US" sz="768" dirty="0"/>
          </a:p>
        </p:txBody>
      </p:sp>
      <p:sp>
        <p:nvSpPr>
          <p:cNvPr id="32" name="Text 29"/>
          <p:cNvSpPr/>
          <p:nvPr/>
        </p:nvSpPr>
        <p:spPr>
          <a:xfrm>
            <a:off x="9134247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864" dirty="0"/>
          </a:p>
        </p:txBody>
      </p:sp>
      <p:sp>
        <p:nvSpPr>
          <p:cNvPr id="33" name="Text 30"/>
          <p:cNvSpPr/>
          <p:nvPr/>
        </p:nvSpPr>
        <p:spPr>
          <a:xfrm>
            <a:off x="761981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864" dirty="0"/>
          </a:p>
        </p:txBody>
      </p:sp>
      <p:sp>
        <p:nvSpPr>
          <p:cNvPr id="34" name="Text 31"/>
          <p:cNvSpPr/>
          <p:nvPr/>
        </p:nvSpPr>
        <p:spPr>
          <a:xfrm>
            <a:off x="10016775" y="209550"/>
            <a:ext cx="16034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Proyección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6343491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864" dirty="0"/>
          </a:p>
        </p:txBody>
      </p:sp>
      <p:sp>
        <p:nvSpPr>
          <p:cNvPr id="36" name="Text 33"/>
          <p:cNvSpPr/>
          <p:nvPr/>
        </p:nvSpPr>
        <p:spPr>
          <a:xfrm>
            <a:off x="761981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864" dirty="0"/>
          </a:p>
        </p:txBody>
      </p:sp>
      <p:sp>
        <p:nvSpPr>
          <p:cNvPr id="37" name="Text 34"/>
          <p:cNvSpPr/>
          <p:nvPr/>
        </p:nvSpPr>
        <p:spPr>
          <a:xfrm>
            <a:off x="6343491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761981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3552736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~245K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9134247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800080" y="478542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800080" y="496639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43" name="Text 40"/>
          <p:cNvSpPr/>
          <p:nvPr/>
        </p:nvSpPr>
        <p:spPr>
          <a:xfrm>
            <a:off x="800080" y="514737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44" name="Text 41"/>
          <p:cNvSpPr/>
          <p:nvPr/>
        </p:nvSpPr>
        <p:spPr>
          <a:xfrm>
            <a:off x="800080" y="53283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800080" y="550932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46" name="Text 43"/>
          <p:cNvSpPr/>
          <p:nvPr/>
        </p:nvSpPr>
        <p:spPr>
          <a:xfrm>
            <a:off x="800080" y="569029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Proyección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2504844"/>
            <a:ext cx="11048724" cy="3416498"/>
          </a:xfrm>
          <a:prstGeom prst="roundRect">
            <a:avLst>
              <a:gd name="adj" fmla="val 40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486" y="933450"/>
            <a:ext cx="38099" cy="784920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5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362241" y="933450"/>
            <a:ext cx="38099" cy="784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3400340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152996" y="933450"/>
            <a:ext cx="38099" cy="784920"/>
          </a:xfrm>
          <a:prstGeom prst="rect">
            <a:avLst/>
          </a:prstGeom>
          <a:solidFill>
            <a:srgbClr val="00CD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191095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943751" y="933450"/>
            <a:ext cx="38099" cy="784920"/>
          </a:xfrm>
          <a:prstGeom prst="rect">
            <a:avLst/>
          </a:prstGeom>
          <a:solidFill>
            <a:srgbClr val="1201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981850" y="933450"/>
            <a:ext cx="2638359" cy="784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23882" y="5517572"/>
            <a:ext cx="10743931" cy="346621"/>
          </a:xfrm>
          <a:prstGeom prst="rect">
            <a:avLst/>
          </a:prstGeom>
          <a:solidFill>
            <a:srgbClr val="120180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4184072"/>
          <a:ext cx="10058400" cy="131445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KPI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Fórmula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 2S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Pólizas equipo/mes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 ventas (liquidación)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3.000 (dic)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 E1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Asesores ≥ meta / 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90 %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Productividad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Pólizas / asesor activo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140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 base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 / 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&lt; 40 %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Contactabilidad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Contactados / gestionados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55 %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723882" y="3524019"/>
            <a:ext cx="10743931" cy="15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deduplicación en origen es viable (registro del distribuidor + validación de fuentes). Su meta de corto plazo: rechazo  como escalón intermedio hacia el 35 %.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1142971" y="5555672"/>
            <a:ext cx="94944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camino a 3.000 pasa más por  que por aumentar el volumen bruto de registros. Cálculo con el semestre completo (ene–jun), liquidación de junio ya incluida.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723882" y="3400194"/>
            <a:ext cx="107439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Premisas del cálculo: 88 % gestión · 45 % contactabilidad · 8,6 % conversión (históricos 1S)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723882" y="3683712"/>
            <a:ext cx="10743931" cy="15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Priorizar  y  (conversión 17–33 % sobre contacto) reduce el volumen necesario a la mitad.</a:t>
            </a:r>
            <a:endParaRPr lang="en-US" sz="816" dirty="0"/>
          </a:p>
        </p:txBody>
      </p:sp>
      <p:sp>
        <p:nvSpPr>
          <p:cNvPr id="21" name="Text 18"/>
          <p:cNvSpPr/>
          <p:nvPr/>
        </p:nvSpPr>
        <p:spPr>
          <a:xfrm>
            <a:off x="723882" y="3843404"/>
            <a:ext cx="10743931" cy="15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Capacidad del equipo: meta agregada jun =  (18 asesores, 134 pol/asesor). Para 3.000 → .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1213514" y="219075"/>
            <a:ext cx="44808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828654" y="3167278"/>
            <a:ext cx="3158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rechazo, excluyendo re-envíos y producto activo</a:t>
            </a:r>
            <a:endParaRPr lang="en-US" sz="696" dirty="0"/>
          </a:p>
        </p:txBody>
      </p:sp>
      <p:sp>
        <p:nvSpPr>
          <p:cNvPr id="24" name="Text 21"/>
          <p:cNvSpPr/>
          <p:nvPr/>
        </p:nvSpPr>
        <p:spPr>
          <a:xfrm>
            <a:off x="4516672" y="3167278"/>
            <a:ext cx="3158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aptos/mes con los mismos ~170K recibidos</a:t>
            </a:r>
            <a:endParaRPr lang="en-US" sz="696" dirty="0"/>
          </a:p>
        </p:txBody>
      </p:sp>
      <p:sp>
        <p:nvSpPr>
          <p:cNvPr id="25" name="Text 22"/>
          <p:cNvSpPr/>
          <p:nvPr/>
        </p:nvSpPr>
        <p:spPr>
          <a:xfrm>
            <a:off x="8204689" y="3167278"/>
            <a:ext cx="3158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ventas/mes potenciales — supera la meta de 3.000</a:t>
            </a:r>
            <a:endParaRPr lang="en-US" sz="696" dirty="0"/>
          </a:p>
        </p:txBody>
      </p:sp>
      <p:sp>
        <p:nvSpPr>
          <p:cNvPr id="26" name="Text 23"/>
          <p:cNvSpPr/>
          <p:nvPr/>
        </p:nvSpPr>
        <p:spPr>
          <a:xfrm>
            <a:off x="6343491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9134247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3552736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864" dirty="0"/>
          </a:p>
        </p:txBody>
      </p:sp>
      <p:sp>
        <p:nvSpPr>
          <p:cNvPr id="29" name="Text 26"/>
          <p:cNvSpPr/>
          <p:nvPr/>
        </p:nvSpPr>
        <p:spPr>
          <a:xfrm>
            <a:off x="3552736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864" dirty="0"/>
          </a:p>
        </p:txBody>
      </p:sp>
      <p:sp>
        <p:nvSpPr>
          <p:cNvPr id="30" name="Text 27"/>
          <p:cNvSpPr/>
          <p:nvPr/>
        </p:nvSpPr>
        <p:spPr>
          <a:xfrm>
            <a:off x="9134247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864" dirty="0"/>
          </a:p>
        </p:txBody>
      </p:sp>
      <p:sp>
        <p:nvSpPr>
          <p:cNvPr id="31" name="Text 28"/>
          <p:cNvSpPr/>
          <p:nvPr/>
        </p:nvSpPr>
        <p:spPr>
          <a:xfrm>
            <a:off x="761981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864" dirty="0"/>
          </a:p>
        </p:txBody>
      </p:sp>
      <p:sp>
        <p:nvSpPr>
          <p:cNvPr id="32" name="Text 29"/>
          <p:cNvSpPr/>
          <p:nvPr/>
        </p:nvSpPr>
        <p:spPr>
          <a:xfrm>
            <a:off x="10016775" y="209550"/>
            <a:ext cx="16034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Proyección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6343491" y="100965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864" dirty="0"/>
          </a:p>
        </p:txBody>
      </p:sp>
      <p:sp>
        <p:nvSpPr>
          <p:cNvPr id="34" name="Text 31"/>
          <p:cNvSpPr/>
          <p:nvPr/>
        </p:nvSpPr>
        <p:spPr>
          <a:xfrm>
            <a:off x="828654" y="2874980"/>
            <a:ext cx="3158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1 · Depurar</a:t>
            </a:r>
            <a:endParaRPr lang="en-US" sz="696" dirty="0"/>
          </a:p>
        </p:txBody>
      </p:sp>
      <p:sp>
        <p:nvSpPr>
          <p:cNvPr id="35" name="Text 32"/>
          <p:cNvSpPr/>
          <p:nvPr/>
        </p:nvSpPr>
        <p:spPr>
          <a:xfrm>
            <a:off x="8204689" y="2874980"/>
            <a:ext cx="3158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3 · Ventas</a:t>
            </a:r>
            <a:endParaRPr lang="en-US" sz="696" dirty="0"/>
          </a:p>
        </p:txBody>
      </p:sp>
      <p:sp>
        <p:nvSpPr>
          <p:cNvPr id="36" name="Text 33"/>
          <p:cNvSpPr/>
          <p:nvPr/>
        </p:nvSpPr>
        <p:spPr>
          <a:xfrm>
            <a:off x="4516672" y="2874980"/>
            <a:ext cx="3158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2 · Aptos</a:t>
            </a:r>
            <a:endParaRPr lang="en-US" sz="696" dirty="0"/>
          </a:p>
        </p:txBody>
      </p:sp>
      <p:sp>
        <p:nvSpPr>
          <p:cNvPr id="37" name="Text 34"/>
          <p:cNvSpPr/>
          <p:nvPr/>
        </p:nvSpPr>
        <p:spPr>
          <a:xfrm>
            <a:off x="761981" y="1508820"/>
            <a:ext cx="2333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864" dirty="0"/>
          </a:p>
        </p:txBody>
      </p:sp>
      <p:sp>
        <p:nvSpPr>
          <p:cNvPr id="38" name="Text 35"/>
          <p:cNvSpPr/>
          <p:nvPr/>
        </p:nvSpPr>
        <p:spPr>
          <a:xfrm>
            <a:off x="6343491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28654" y="2998805"/>
            <a:ext cx="3158352" cy="149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 → 35 %</a:t>
            </a:r>
            <a:endParaRPr lang="en-US" sz="1176" dirty="0"/>
          </a:p>
        </p:txBody>
      </p:sp>
      <p:sp>
        <p:nvSpPr>
          <p:cNvPr id="40" name="Text 37"/>
          <p:cNvSpPr/>
          <p:nvPr/>
        </p:nvSpPr>
        <p:spPr>
          <a:xfrm>
            <a:off x="4516672" y="2998805"/>
            <a:ext cx="3158352" cy="149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64K → 110K</a:t>
            </a:r>
            <a:endParaRPr lang="en-US" sz="1176" dirty="0"/>
          </a:p>
        </p:txBody>
      </p:sp>
      <p:sp>
        <p:nvSpPr>
          <p:cNvPr id="41" name="Text 38"/>
          <p:cNvSpPr/>
          <p:nvPr/>
        </p:nvSpPr>
        <p:spPr>
          <a:xfrm>
            <a:off x="8204689" y="2998805"/>
            <a:ext cx="3158352" cy="149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3.760</a:t>
            </a:r>
            <a:endParaRPr lang="en-US" sz="1176" dirty="0"/>
          </a:p>
        </p:txBody>
      </p:sp>
      <p:sp>
        <p:nvSpPr>
          <p:cNvPr id="42" name="Text 39"/>
          <p:cNvSpPr/>
          <p:nvPr/>
        </p:nvSpPr>
        <p:spPr>
          <a:xfrm>
            <a:off x="761981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3552736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~245K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9134247" y="1181100"/>
            <a:ext cx="2333567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933450"/>
            <a:ext cx="11048724" cy="3350568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23902" y="1933575"/>
            <a:ext cx="10343891" cy="254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Diagnóstico individual de dificultades, talleres guiados en la Universidad ILAO y seguimiento cercano por asesor.</a:t>
            </a:r>
            <a:endParaRPr lang="en-US" sz="888" dirty="0"/>
          </a:p>
        </p:txBody>
      </p:sp>
      <p:sp>
        <p:nvSpPr>
          <p:cNvPr id="8" name="Text 6"/>
          <p:cNvSpPr/>
          <p:nvPr/>
        </p:nvSpPr>
        <p:spPr>
          <a:xfrm>
            <a:off x="1213514" y="219075"/>
            <a:ext cx="43929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1304892" y="1762125"/>
            <a:ext cx="97628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Acompañamiento 1-a-1 para baja conversión en CP.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1304892" y="2626668"/>
            <a:ext cx="97628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Replicar las técnicas de Jesús, Melissa y Luisa.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1304892" y="3198168"/>
            <a:ext cx="97628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Resiliencia y manejo del estrés del equipo.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1304892" y="3045768"/>
            <a:ext cx="97628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Desarrollo Emocional (Gestión Humana)</a:t>
            </a:r>
            <a:endParaRPr lang="en-US" sz="984" dirty="0"/>
          </a:p>
        </p:txBody>
      </p:sp>
      <p:sp>
        <p:nvSpPr>
          <p:cNvPr id="13" name="Text 11"/>
          <p:cNvSpPr/>
          <p:nvPr/>
        </p:nvSpPr>
        <p:spPr>
          <a:xfrm>
            <a:off x="1304892" y="2474268"/>
            <a:ext cx="97628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de Top Performers</a:t>
            </a:r>
            <a:endParaRPr lang="en-US" sz="984" dirty="0"/>
          </a:p>
        </p:txBody>
      </p:sp>
      <p:sp>
        <p:nvSpPr>
          <p:cNvPr id="14" name="Text 12"/>
          <p:cNvSpPr/>
          <p:nvPr/>
        </p:nvSpPr>
        <p:spPr>
          <a:xfrm>
            <a:off x="1304892" y="1609725"/>
            <a:ext cx="97628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School Master Comercial</a:t>
            </a:r>
            <a:endParaRPr lang="en-US" sz="984" dirty="0"/>
          </a:p>
        </p:txBody>
      </p:sp>
      <p:sp>
        <p:nvSpPr>
          <p:cNvPr id="15" name="Text 13"/>
          <p:cNvSpPr/>
          <p:nvPr/>
        </p:nvSpPr>
        <p:spPr>
          <a:xfrm>
            <a:off x="9872713" y="209550"/>
            <a:ext cx="17474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8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933450"/>
            <a:ext cx="11048724" cy="2409825"/>
          </a:xfrm>
          <a:prstGeom prst="roundRect">
            <a:avLst>
              <a:gd name="adj" fmla="val 5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030" y="1506770"/>
          <a:ext cx="10058400" cy="1647825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1257300"/>
                <a:gridCol w="1257300"/>
                <a:gridCol w="1257300"/>
                <a:gridCol w="1257300"/>
                <a:gridCol w="1257300"/>
                <a:gridCol w="1257300"/>
              </a:tblGrid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Frente / Acción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Responsable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Sep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Oct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Nov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Dic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Control de tiempos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Isaac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Plan de desarrollo emocional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GH / Líderes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Bases limpias y actualizadas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Vanti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Optimización de equipos PC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Tecnología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213514" y="219075"/>
            <a:ext cx="43929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9872713" y="209550"/>
            <a:ext cx="17474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8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8650"/>
          </a:xfrm>
          <a:prstGeom prst="rect">
            <a:avLst/>
          </a:prstGeom>
          <a:solidFill>
            <a:srgbClr val="120180"/>
          </a:solidFill>
          <a:ln w="12700">
            <a:solidFill>
              <a:srgbClr val="120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1990" y="76200"/>
            <a:ext cx="1809705" cy="476250"/>
          </a:xfrm>
          <a:prstGeom prst="roundRect">
            <a:avLst>
              <a:gd name="adj" fmla="val 23040"/>
            </a:avLst>
          </a:prstGeom>
          <a:solidFill>
            <a:srgbClr val="5AE28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381990" y="76200"/>
            <a:ext cx="1809705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0" y="0"/>
            <a:ext cx="7315017" cy="6286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1486" y="933450"/>
            <a:ext cx="11048724" cy="2447925"/>
          </a:xfrm>
          <a:prstGeom prst="roundRect">
            <a:avLst>
              <a:gd name="adj" fmla="val 56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030" y="1506767"/>
          <a:ext cx="10058400" cy="1685925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Métrica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Definición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 2S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Volumen de ventas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 liquidadas totales/mes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3.000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Conversión Autogestión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 / contactos en Autogestión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40 %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Conversión Bienvenida CP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 / contactos en Bienvenida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30 %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Escuela de ventas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Sesiones individuales / asesor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 / mes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213514" y="219075"/>
            <a:ext cx="43929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9872713" y="209550"/>
            <a:ext cx="17474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8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Consolidados del 1S y Plan 2S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2476" y="774502"/>
            <a:ext cx="6667333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Consolidados del 1S y Plan 2S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90595" y="3635573"/>
            <a:ext cx="33336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⚽  : 1.520 ventas en dos semanas.</a:t>
            </a:r>
            <a:endParaRPr lang="en-US" sz="984" dirty="0"/>
          </a:p>
        </p:txBody>
      </p:sp>
      <p:sp>
        <p:nvSpPr>
          <p:cNvPr id="6" name="Text 4"/>
          <p:cNvSpPr/>
          <p:nvPr/>
        </p:nvSpPr>
        <p:spPr>
          <a:xfrm>
            <a:off x="1190595" y="3016448"/>
            <a:ext cx="33336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🎮  : 4.798 ventas (114% meta).</a:t>
            </a:r>
            <a:endParaRPr lang="en-US" sz="984" dirty="0"/>
          </a:p>
        </p:txBody>
      </p:sp>
      <p:sp>
        <p:nvSpPr>
          <p:cNvPr id="7" name="Text 5"/>
          <p:cNvSpPr/>
          <p:nvPr/>
        </p:nvSpPr>
        <p:spPr>
          <a:xfrm>
            <a:off x="1190595" y="2311598"/>
            <a:ext cx="33336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1S Ejecutadas</a:t>
            </a:r>
            <a:endParaRPr lang="en-US" sz="864" dirty="0"/>
          </a:p>
        </p:txBody>
      </p:sp>
      <p:sp>
        <p:nvSpPr>
          <p:cNvPr id="8" name="Text 6"/>
          <p:cNvSpPr/>
          <p:nvPr/>
        </p:nvSpPr>
        <p:spPr>
          <a:xfrm>
            <a:off x="1394187" y="2797373"/>
            <a:ext cx="16102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(Feb &amp; Abr)</a:t>
            </a:r>
            <a:endParaRPr lang="en-US" sz="984" dirty="0"/>
          </a:p>
        </p:txBody>
      </p:sp>
      <p:sp>
        <p:nvSpPr>
          <p:cNvPr id="9" name="Text 7"/>
          <p:cNvSpPr/>
          <p:nvPr/>
        </p:nvSpPr>
        <p:spPr>
          <a:xfrm>
            <a:off x="5190995" y="2311598"/>
            <a:ext cx="33336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y Plan Comercial 2S</a:t>
            </a:r>
            <a:endParaRPr lang="en-US" sz="864" dirty="0"/>
          </a:p>
        </p:txBody>
      </p:sp>
      <p:sp>
        <p:nvSpPr>
          <p:cNvPr id="10" name="Text 8"/>
          <p:cNvSpPr/>
          <p:nvPr/>
        </p:nvSpPr>
        <p:spPr>
          <a:xfrm>
            <a:off x="1394187" y="3416498"/>
            <a:ext cx="12995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Ferias Vanti (Abr-May)</a:t>
            </a:r>
            <a:endParaRPr lang="en-US" sz="984" dirty="0"/>
          </a:p>
        </p:txBody>
      </p:sp>
      <p:sp>
        <p:nvSpPr>
          <p:cNvPr id="11" name="Text 9"/>
          <p:cNvSpPr/>
          <p:nvPr/>
        </p:nvSpPr>
        <p:spPr>
          <a:xfrm>
            <a:off x="1190595" y="2778323"/>
            <a:ext cx="33336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🍔  : 1.266 ventas.</a:t>
            </a:r>
            <a:endParaRPr lang="en-US" sz="984" dirty="0"/>
          </a:p>
        </p:txBody>
      </p:sp>
      <p:sp>
        <p:nvSpPr>
          <p:cNvPr id="12" name="Text 10"/>
          <p:cNvSpPr/>
          <p:nvPr/>
        </p:nvSpPr>
        <p:spPr>
          <a:xfrm>
            <a:off x="1190595" y="3397448"/>
            <a:ext cx="33336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🎡  : 1.073 ventas.</a:t>
            </a:r>
            <a:endParaRPr lang="en-US" sz="984" dirty="0"/>
          </a:p>
        </p:txBody>
      </p:sp>
      <p:sp>
        <p:nvSpPr>
          <p:cNvPr id="13" name="Text 11"/>
          <p:cNvSpPr/>
          <p:nvPr/>
        </p:nvSpPr>
        <p:spPr>
          <a:xfrm>
            <a:off x="952476" y="498277"/>
            <a:ext cx="16587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Cierre del Informe</a:t>
            </a:r>
            <a:endParaRPr lang="en-US" sz="936" dirty="0"/>
          </a:p>
        </p:txBody>
      </p:sp>
      <p:sp>
        <p:nvSpPr>
          <p:cNvPr id="14" name="Text 12"/>
          <p:cNvSpPr/>
          <p:nvPr/>
        </p:nvSpPr>
        <p:spPr>
          <a:xfrm>
            <a:off x="5363334" y="3140273"/>
            <a:ext cx="1076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Top: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44044" y="2559248"/>
            <a:ext cx="3390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Vanti</a:t>
            </a:r>
            <a:endParaRPr lang="en-US" sz="9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2026-07-15T22:01:34Z</dcterms:created>
  <dcterms:modified xsi:type="dcterms:W3CDTF">2026-07-15T22:01:34Z</dcterms:modified>
</cp:coreProperties>
</file>