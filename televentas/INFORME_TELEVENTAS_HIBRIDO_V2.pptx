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168527"/>
            <a:ext cx="4818491" cy="559519"/>
          </a:xfrm>
          <a:prstGeom prst="rect">
            <a:avLst/>
          </a:prstGeom>
          <a:noFill/>
          <a:ln/>
        </p:spPr>
        <p:txBody>
          <a:bodyPr wrap="square" lIns="0" tIns="0" rIns="0" bIns="0" rtlCol="0" anchor="t"/>
          <a:lstStyle/>
          <a:p>
            <a:pPr algn="l" indent="0" marL="0">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algn="l" indent="0" marL="0">
              <a:buNone/>
            </a:pPr>
            <a:r>
              <a:rPr lang="en-US" sz="1380" dirty="0">
                <a:solidFill>
                  <a:srgbClr val="555555"/>
                </a:solidFill>
                <a:latin typeface="Raleway" pitchFamily="34" charset="0"/>
                <a:ea typeface="Raleway" pitchFamily="34" charset="-122"/>
                <a:cs typeface="Raleway" pitchFamily="34" charset="-120"/>
              </a:rPr>
              <a:t>      Estrategia para alcanzar</a:t>
            </a:r>
            <a:endParaRPr lang="en-US" sz="1380" dirty="0"/>
          </a:p>
        </p:txBody>
      </p:sp>
      <p:sp>
        <p:nvSpPr>
          <p:cNvPr id="4" name="Text 1"/>
          <p:cNvSpPr/>
          <p:nvPr/>
        </p:nvSpPr>
        <p:spPr>
          <a:xfrm>
            <a:off x="952476" y="1872704"/>
            <a:ext cx="3326834" cy="147161"/>
          </a:xfrm>
          <a:prstGeom prst="rect">
            <a:avLst/>
          </a:prstGeom>
          <a:noFill/>
          <a:ln/>
        </p:spPr>
        <p:txBody>
          <a:bodyPr wrap="squar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Informe Ejecutivo · Canal Televentas</a:t>
            </a:r>
            <a:endParaRPr lang="en-US" sz="936" dirty="0"/>
          </a:p>
        </p:txBody>
      </p:sp>
      <p:sp>
        <p:nvSpPr>
          <p:cNvPr id="5" name="Text 2"/>
          <p:cNvSpPr/>
          <p:nvPr/>
        </p:nvSpPr>
        <p:spPr>
          <a:xfrm>
            <a:off x="4022872" y="5149900"/>
            <a:ext cx="1806512"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Data Marshall, Gestión Integral</a:t>
            </a:r>
            <a:endParaRPr lang="en-US" sz="936" dirty="0"/>
          </a:p>
        </p:txBody>
      </p:sp>
      <p:sp>
        <p:nvSpPr>
          <p:cNvPr id="6" name="Text 3"/>
          <p:cNvSpPr/>
          <p:nvPr/>
        </p:nvSpPr>
        <p:spPr>
          <a:xfrm>
            <a:off x="952476" y="4959400"/>
            <a:ext cx="1729561" cy="128016"/>
          </a:xfrm>
          <a:prstGeom prst="rect">
            <a:avLst/>
          </a:prstGeom>
          <a:noFill/>
          <a:ln/>
        </p:spPr>
        <p:txBody>
          <a:bodyPr wrap="squar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Coordinadora Comercial</a:t>
            </a:r>
            <a:endParaRPr lang="en-US" sz="768" dirty="0"/>
          </a:p>
        </p:txBody>
      </p:sp>
      <p:sp>
        <p:nvSpPr>
          <p:cNvPr id="7" name="Text 4"/>
          <p:cNvSpPr/>
          <p:nvPr/>
        </p:nvSpPr>
        <p:spPr>
          <a:xfrm>
            <a:off x="3951734" y="5737771"/>
            <a:ext cx="1915348"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15–21 asesores activos</a:t>
            </a:r>
            <a:endParaRPr lang="en-US" sz="936" dirty="0"/>
          </a:p>
        </p:txBody>
      </p:sp>
      <p:sp>
        <p:nvSpPr>
          <p:cNvPr id="8" name="Text 5"/>
          <p:cNvSpPr/>
          <p:nvPr/>
        </p:nvSpPr>
        <p:spPr>
          <a:xfrm>
            <a:off x="2411997" y="5737771"/>
            <a:ext cx="1468203"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13.917 ventas 1S</a:t>
            </a:r>
            <a:endParaRPr lang="en-US" sz="936" dirty="0"/>
          </a:p>
        </p:txBody>
      </p:sp>
      <p:sp>
        <p:nvSpPr>
          <p:cNvPr id="9" name="Text 6"/>
          <p:cNvSpPr/>
          <p:nvPr/>
        </p:nvSpPr>
        <p:spPr>
          <a:xfrm>
            <a:off x="952476" y="5121325"/>
            <a:ext cx="1729561" cy="202500"/>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Martha Carvajal</a:t>
            </a:r>
            <a:endParaRPr lang="en-US" sz="1032" dirty="0"/>
          </a:p>
        </p:txBody>
      </p:sp>
      <p:sp>
        <p:nvSpPr>
          <p:cNvPr id="10" name="Text 7"/>
          <p:cNvSpPr/>
          <p:nvPr/>
        </p:nvSpPr>
        <p:spPr>
          <a:xfrm>
            <a:off x="3174573" y="4959400"/>
            <a:ext cx="2680261" cy="128016"/>
          </a:xfrm>
          <a:prstGeom prst="rect">
            <a:avLst/>
          </a:prstGeom>
          <a:noFill/>
          <a:ln/>
        </p:spPr>
        <p:txBody>
          <a:bodyPr wrap="squar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Contribuyentes</a:t>
            </a:r>
            <a:endParaRPr lang="en-US" sz="768" dirty="0"/>
          </a:p>
        </p:txBody>
      </p:sp>
      <p:sp>
        <p:nvSpPr>
          <p:cNvPr id="11" name="Text 8"/>
          <p:cNvSpPr/>
          <p:nvPr/>
        </p:nvSpPr>
        <p:spPr>
          <a:xfrm>
            <a:off x="952476" y="5737771"/>
            <a:ext cx="1385581"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Ene – Jun 2026</a:t>
            </a:r>
            <a:endParaRPr lang="en-US" sz="936" dirty="0"/>
          </a:p>
        </p:txBody>
      </p:sp>
      <p:sp>
        <p:nvSpPr>
          <p:cNvPr id="12" name="Text 9"/>
          <p:cNvSpPr/>
          <p:nvPr/>
        </p:nvSpPr>
        <p:spPr>
          <a:xfrm>
            <a:off x="3174573" y="5121325"/>
            <a:ext cx="2680261" cy="203266"/>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Isaac Álvarez</a:t>
            </a:r>
            <a:endParaRPr lang="en-US" sz="1032" dirty="0"/>
          </a:p>
        </p:txBody>
      </p:sp>
      <p:sp>
        <p:nvSpPr>
          <p:cNvPr id="13" name="Text 10"/>
          <p:cNvSpPr/>
          <p:nvPr/>
        </p:nvSpPr>
        <p:spPr>
          <a:xfrm>
            <a:off x="5925592" y="5737771"/>
            <a:ext cx="1209605"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Vanti · Xuma</a:t>
            </a:r>
            <a:endParaRPr lang="en-US" sz="936" dirty="0"/>
          </a:p>
        </p:txBody>
      </p:sp>
      <p:sp>
        <p:nvSpPr>
          <p:cNvPr id="14" name="Text 11"/>
          <p:cNvSpPr/>
          <p:nvPr/>
        </p:nvSpPr>
        <p:spPr>
          <a:xfrm>
            <a:off x="952476" y="2771329"/>
            <a:ext cx="2991284" cy="657320"/>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Televentas</a:t>
            </a:r>
            <a:endParaRPr lang="en-US" sz="1400" dirty="0"/>
          </a:p>
        </p:txBody>
      </p:sp>
      <p:sp>
        <p:nvSpPr>
          <p:cNvPr id="15" name="Text 12"/>
          <p:cNvSpPr/>
          <p:nvPr/>
        </p:nvSpPr>
        <p:spPr>
          <a:xfrm>
            <a:off x="952476" y="2187029"/>
            <a:ext cx="2991284" cy="1864349"/>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Canal2026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algn="l" indent="0" marL="0">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por campaña</a:t>
            </a:r>
            <a:endParaRPr lang="en-US" sz="1260" dirty="0"/>
          </a:p>
          <a:p>
            <a:pPr algn="l" indent="0" marL="0">
              <a:buNone/>
            </a:pPr>
            <a:r>
              <a:rPr lang="en-US" sz="1260" dirty="0">
                <a:solidFill>
                  <a:srgbClr val="555555"/>
                </a:solidFill>
                <a:latin typeface="Raleway" pitchFamily="34" charset="0"/>
                <a:ea typeface="Raleway" pitchFamily="34" charset="-122"/>
                <a:cs typeface="Raleway" pitchFamily="34" charset="-120"/>
              </a:rPr>
              <a:t>      e iniciativas ejecutadas durante el primer semestre.</a:t>
            </a:r>
            <a:endParaRPr lang="en-US" sz="1260" dirty="0"/>
          </a:p>
        </p:txBody>
      </p:sp>
      <p:sp>
        <p:nvSpPr>
          <p:cNvPr id="4" name="Text 1"/>
          <p:cNvSpPr/>
          <p:nvPr/>
        </p:nvSpPr>
        <p:spPr>
          <a:xfrm>
            <a:off x="952476" y="3128367"/>
            <a:ext cx="5044592" cy="1082862"/>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Gestión del CanalPrimer Semestre 2026</a:t>
            </a:r>
            <a:endParaRPr lang="en-US" sz="1400" dirty="0"/>
          </a:p>
        </p:txBody>
      </p:sp>
      <p:sp>
        <p:nvSpPr>
          <p:cNvPr id="5" name="Text 2"/>
          <p:cNvSpPr/>
          <p:nvPr/>
        </p:nvSpPr>
        <p:spPr>
          <a:xfrm>
            <a:off x="952476" y="2852142"/>
            <a:ext cx="940735" cy="147161"/>
          </a:xfrm>
          <a:prstGeom prst="rect">
            <a:avLst/>
          </a:prstGeom>
          <a:noFill/>
          <a:ln/>
        </p:spPr>
        <p:txBody>
          <a:bodyPr wrap="squar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Capítulo 1</a:t>
            </a:r>
            <a:endParaRPr lang="en-US" sz="936" dirty="0"/>
          </a:p>
        </p:txBody>
      </p:sp>
      <p:sp>
        <p:nvSpPr>
          <p:cNvPr id="6" name="Text 3"/>
          <p:cNvSpPr/>
          <p:nvPr/>
        </p:nvSpPr>
        <p:spPr>
          <a:xfrm>
            <a:off x="952476" y="1975842"/>
            <a:ext cx="1275825" cy="1098804"/>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01_Repositorios\13_Presentaciones\dash\televentas\ppt_slides\sk_0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8873295" cy="169389"/>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cumpliendo los 6 meses. Cuota Protegida aportó 10.534 (145 %) y Combo Vida 3.383 (154 %).</a:t>
            </a:r>
            <a:endParaRPr lang="en-US" sz="864" dirty="0"/>
          </a:p>
        </p:txBody>
      </p:sp>
      <p:sp>
        <p:nvSpPr>
          <p:cNvPr id="4" name="Text 1"/>
          <p:cNvSpPr/>
          <p:nvPr/>
        </p:nvSpPr>
        <p:spPr>
          <a:xfrm>
            <a:off x="8203945"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43540"/>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6286343" y="4603074"/>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1" name="Text 8"/>
          <p:cNvSpPr/>
          <p:nvPr/>
        </p:nvSpPr>
        <p:spPr>
          <a:xfrm>
            <a:off x="761981"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2" name="Text 9"/>
          <p:cNvSpPr/>
          <p:nvPr/>
        </p:nvSpPr>
        <p:spPr>
          <a:xfrm>
            <a:off x="2458579" y="2163124"/>
            <a:ext cx="309751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3" name="Text 10"/>
          <p:cNvSpPr/>
          <p:nvPr/>
        </p:nvSpPr>
        <p:spPr>
          <a:xfrm>
            <a:off x="4482889" y="990600"/>
            <a:ext cx="336178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4" name="Text 11"/>
          <p:cNvSpPr/>
          <p:nvPr/>
        </p:nvSpPr>
        <p:spPr>
          <a:xfrm>
            <a:off x="5465874" y="2163124"/>
            <a:ext cx="309751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5" name="Text 12"/>
          <p:cNvSpPr/>
          <p:nvPr/>
        </p:nvSpPr>
        <p:spPr>
          <a:xfrm>
            <a:off x="10362941" y="209550"/>
            <a:ext cx="1294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6" name="Text 13"/>
          <p:cNvSpPr/>
          <p:nvPr/>
        </p:nvSpPr>
        <p:spPr>
          <a:xfrm>
            <a:off x="3980904" y="2391724"/>
            <a:ext cx="152951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7" name="Text 14"/>
          <p:cNvSpPr/>
          <p:nvPr/>
        </p:nvSpPr>
        <p:spPr>
          <a:xfrm>
            <a:off x="6988199" y="2391724"/>
            <a:ext cx="152951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9995493" y="2391724"/>
            <a:ext cx="151648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4482889" y="1162050"/>
            <a:ext cx="336178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0" name="Text 17"/>
          <p:cNvSpPr/>
          <p:nvPr/>
        </p:nvSpPr>
        <p:spPr>
          <a:xfrm>
            <a:off x="1391657" y="2163124"/>
            <a:ext cx="1098930" cy="4572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1" name="Text 18"/>
          <p:cNvSpPr/>
          <p:nvPr/>
        </p:nvSpPr>
        <p:spPr>
          <a:xfrm>
            <a:off x="8473169" y="2163124"/>
            <a:ext cx="308448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2" name="Text 19"/>
          <p:cNvSpPr/>
          <p:nvPr/>
        </p:nvSpPr>
        <p:spPr>
          <a:xfrm>
            <a:off x="3980904" y="2620324"/>
            <a:ext cx="152951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23" name="Text 20"/>
          <p:cNvSpPr/>
          <p:nvPr/>
        </p:nvSpPr>
        <p:spPr>
          <a:xfrm>
            <a:off x="6988199" y="2620324"/>
            <a:ext cx="152951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24" name="Text 21"/>
          <p:cNvSpPr/>
          <p:nvPr/>
        </p:nvSpPr>
        <p:spPr>
          <a:xfrm>
            <a:off x="9995493" y="2620324"/>
            <a:ext cx="151648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132,0 %</a:t>
            </a:r>
            <a:endParaRPr lang="en-US" sz="816" dirty="0"/>
          </a:p>
        </p:txBody>
      </p:sp>
      <p:sp>
        <p:nvSpPr>
          <p:cNvPr id="25" name="Text 22"/>
          <p:cNvSpPr/>
          <p:nvPr/>
        </p:nvSpPr>
        <p:spPr>
          <a:xfrm>
            <a:off x="3980904" y="28632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26" name="Text 23"/>
          <p:cNvSpPr/>
          <p:nvPr/>
        </p:nvSpPr>
        <p:spPr>
          <a:xfrm>
            <a:off x="6988199" y="28632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286,0 %</a:t>
            </a:r>
            <a:endParaRPr lang="en-US" sz="816" dirty="0"/>
          </a:p>
        </p:txBody>
      </p:sp>
      <p:sp>
        <p:nvSpPr>
          <p:cNvPr id="27" name="Text 24"/>
          <p:cNvSpPr/>
          <p:nvPr/>
        </p:nvSpPr>
        <p:spPr>
          <a:xfrm>
            <a:off x="9995493" y="2863211"/>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171,0 %</a:t>
            </a:r>
            <a:endParaRPr lang="en-US" sz="816" dirty="0"/>
          </a:p>
        </p:txBody>
      </p:sp>
      <p:sp>
        <p:nvSpPr>
          <p:cNvPr id="28" name="Text 25"/>
          <p:cNvSpPr/>
          <p:nvPr/>
        </p:nvSpPr>
        <p:spPr>
          <a:xfrm>
            <a:off x="3980904" y="311086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159,0 %</a:t>
            </a:r>
            <a:endParaRPr lang="en-US" sz="816" dirty="0"/>
          </a:p>
        </p:txBody>
      </p:sp>
      <p:sp>
        <p:nvSpPr>
          <p:cNvPr id="29" name="Text 26"/>
          <p:cNvSpPr/>
          <p:nvPr/>
        </p:nvSpPr>
        <p:spPr>
          <a:xfrm>
            <a:off x="6988199" y="311086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143,0 %</a:t>
            </a:r>
            <a:endParaRPr lang="en-US" sz="816" dirty="0"/>
          </a:p>
        </p:txBody>
      </p:sp>
      <p:sp>
        <p:nvSpPr>
          <p:cNvPr id="30" name="Text 27"/>
          <p:cNvSpPr/>
          <p:nvPr/>
        </p:nvSpPr>
        <p:spPr>
          <a:xfrm>
            <a:off x="9995493" y="3110861"/>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155,0 %</a:t>
            </a:r>
            <a:endParaRPr lang="en-US" sz="816" dirty="0"/>
          </a:p>
        </p:txBody>
      </p:sp>
      <p:sp>
        <p:nvSpPr>
          <p:cNvPr id="31" name="Text 28"/>
          <p:cNvSpPr/>
          <p:nvPr/>
        </p:nvSpPr>
        <p:spPr>
          <a:xfrm>
            <a:off x="3980904" y="33585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32" name="Text 29"/>
          <p:cNvSpPr/>
          <p:nvPr/>
        </p:nvSpPr>
        <p:spPr>
          <a:xfrm>
            <a:off x="9995493" y="3358511"/>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33" name="Text 30"/>
          <p:cNvSpPr/>
          <p:nvPr/>
        </p:nvSpPr>
        <p:spPr>
          <a:xfrm>
            <a:off x="3980904" y="360616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127,0 %</a:t>
            </a:r>
            <a:endParaRPr lang="en-US" sz="816" dirty="0"/>
          </a:p>
        </p:txBody>
      </p:sp>
      <p:sp>
        <p:nvSpPr>
          <p:cNvPr id="34" name="Text 31"/>
          <p:cNvSpPr/>
          <p:nvPr/>
        </p:nvSpPr>
        <p:spPr>
          <a:xfrm>
            <a:off x="6988199" y="360616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280,0 %</a:t>
            </a:r>
            <a:endParaRPr lang="en-US" sz="816" dirty="0"/>
          </a:p>
        </p:txBody>
      </p:sp>
      <p:sp>
        <p:nvSpPr>
          <p:cNvPr id="35" name="Text 32"/>
          <p:cNvSpPr/>
          <p:nvPr/>
        </p:nvSpPr>
        <p:spPr>
          <a:xfrm>
            <a:off x="9995493" y="3606161"/>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151,0 %</a:t>
            </a:r>
            <a:endParaRPr lang="en-US" sz="816" dirty="0"/>
          </a:p>
        </p:txBody>
      </p:sp>
      <p:sp>
        <p:nvSpPr>
          <p:cNvPr id="36" name="Text 33"/>
          <p:cNvSpPr/>
          <p:nvPr/>
        </p:nvSpPr>
        <p:spPr>
          <a:xfrm>
            <a:off x="3980904" y="38538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37" name="Text 34"/>
          <p:cNvSpPr/>
          <p:nvPr/>
        </p:nvSpPr>
        <p:spPr>
          <a:xfrm>
            <a:off x="6988199" y="38538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198,0 %</a:t>
            </a:r>
            <a:endParaRPr lang="en-US" sz="816" dirty="0"/>
          </a:p>
        </p:txBody>
      </p:sp>
      <p:sp>
        <p:nvSpPr>
          <p:cNvPr id="38" name="Text 35"/>
          <p:cNvSpPr/>
          <p:nvPr/>
        </p:nvSpPr>
        <p:spPr>
          <a:xfrm>
            <a:off x="9995493" y="3853811"/>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39" name="Text 36"/>
          <p:cNvSpPr/>
          <p:nvPr/>
        </p:nvSpPr>
        <p:spPr>
          <a:xfrm>
            <a:off x="3980904" y="4101461"/>
            <a:ext cx="152951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145,0 %</a:t>
            </a:r>
            <a:endParaRPr lang="en-US" sz="816" dirty="0"/>
          </a:p>
        </p:txBody>
      </p:sp>
      <p:sp>
        <p:nvSpPr>
          <p:cNvPr id="40" name="Text 37"/>
          <p:cNvSpPr/>
          <p:nvPr/>
        </p:nvSpPr>
        <p:spPr>
          <a:xfrm>
            <a:off x="6988199" y="4101461"/>
            <a:ext cx="152951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154,0 %</a:t>
            </a:r>
            <a:endParaRPr lang="en-US" sz="816" dirty="0"/>
          </a:p>
        </p:txBody>
      </p:sp>
      <p:sp>
        <p:nvSpPr>
          <p:cNvPr id="41" name="Text 38"/>
          <p:cNvSpPr/>
          <p:nvPr/>
        </p:nvSpPr>
        <p:spPr>
          <a:xfrm>
            <a:off x="9995493" y="4101461"/>
            <a:ext cx="151648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147,0 %</a:t>
            </a:r>
            <a:endParaRPr lang="en-US" sz="816" dirty="0"/>
          </a:p>
        </p:txBody>
      </p:sp>
      <p:sp>
        <p:nvSpPr>
          <p:cNvPr id="42" name="Text 39"/>
          <p:cNvSpPr/>
          <p:nvPr/>
        </p:nvSpPr>
        <p:spPr>
          <a:xfrm>
            <a:off x="6988199" y="3358511"/>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89,0 %</a:t>
            </a:r>
            <a:endParaRPr lang="en-US" sz="816" dirty="0"/>
          </a:p>
        </p:txBody>
      </p:sp>
      <p:sp>
        <p:nvSpPr>
          <p:cNvPr id="43" name="Text 40"/>
          <p:cNvSpPr/>
          <p:nvPr/>
        </p:nvSpPr>
        <p:spPr>
          <a:xfrm>
            <a:off x="2458579" y="4101461"/>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4" name="Text 41"/>
          <p:cNvSpPr/>
          <p:nvPr/>
        </p:nvSpPr>
        <p:spPr>
          <a:xfrm>
            <a:off x="8473169" y="4101461"/>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5" name="Text 42"/>
          <p:cNvSpPr/>
          <p:nvPr/>
        </p:nvSpPr>
        <p:spPr>
          <a:xfrm>
            <a:off x="761981" y="1162050"/>
            <a:ext cx="3361631"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6" name="Text 43"/>
          <p:cNvSpPr/>
          <p:nvPr/>
        </p:nvSpPr>
        <p:spPr>
          <a:xfrm>
            <a:off x="2458579" y="2391724"/>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7" name="Text 44"/>
          <p:cNvSpPr/>
          <p:nvPr/>
        </p:nvSpPr>
        <p:spPr>
          <a:xfrm>
            <a:off x="5465874" y="2391724"/>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8" name="Text 45"/>
          <p:cNvSpPr/>
          <p:nvPr/>
        </p:nvSpPr>
        <p:spPr>
          <a:xfrm>
            <a:off x="8473169" y="2391724"/>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9" name="Text 46"/>
          <p:cNvSpPr/>
          <p:nvPr/>
        </p:nvSpPr>
        <p:spPr>
          <a:xfrm>
            <a:off x="2458579" y="2620324"/>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0" name="Text 47"/>
          <p:cNvSpPr/>
          <p:nvPr/>
        </p:nvSpPr>
        <p:spPr>
          <a:xfrm>
            <a:off x="3258213" y="2620324"/>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1" name="Text 48"/>
          <p:cNvSpPr/>
          <p:nvPr/>
        </p:nvSpPr>
        <p:spPr>
          <a:xfrm>
            <a:off x="8473169" y="2620324"/>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2" name="Text 49"/>
          <p:cNvSpPr/>
          <p:nvPr/>
        </p:nvSpPr>
        <p:spPr>
          <a:xfrm>
            <a:off x="9272802" y="2620324"/>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1.695</a:t>
            </a:r>
            <a:endParaRPr lang="en-US" sz="816" dirty="0"/>
          </a:p>
        </p:txBody>
      </p:sp>
      <p:sp>
        <p:nvSpPr>
          <p:cNvPr id="53" name="Text 50"/>
          <p:cNvSpPr/>
          <p:nvPr/>
        </p:nvSpPr>
        <p:spPr>
          <a:xfrm>
            <a:off x="2458579" y="28632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4" name="Text 51"/>
          <p:cNvSpPr/>
          <p:nvPr/>
        </p:nvSpPr>
        <p:spPr>
          <a:xfrm>
            <a:off x="3258213" y="28632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5" name="Text 52"/>
          <p:cNvSpPr/>
          <p:nvPr/>
        </p:nvSpPr>
        <p:spPr>
          <a:xfrm>
            <a:off x="8473169" y="28632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6" name="Text 53"/>
          <p:cNvSpPr/>
          <p:nvPr/>
        </p:nvSpPr>
        <p:spPr>
          <a:xfrm>
            <a:off x="9272802" y="28632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1.391</a:t>
            </a:r>
            <a:endParaRPr lang="en-US" sz="816" dirty="0"/>
          </a:p>
        </p:txBody>
      </p:sp>
      <p:sp>
        <p:nvSpPr>
          <p:cNvPr id="57" name="Text 54"/>
          <p:cNvSpPr/>
          <p:nvPr/>
        </p:nvSpPr>
        <p:spPr>
          <a:xfrm>
            <a:off x="2458579" y="31108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58" name="Text 55"/>
          <p:cNvSpPr/>
          <p:nvPr/>
        </p:nvSpPr>
        <p:spPr>
          <a:xfrm>
            <a:off x="3258213" y="31108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9" name="Text 56"/>
          <p:cNvSpPr/>
          <p:nvPr/>
        </p:nvSpPr>
        <p:spPr>
          <a:xfrm>
            <a:off x="8473169" y="31108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0" name="Text 57"/>
          <p:cNvSpPr/>
          <p:nvPr/>
        </p:nvSpPr>
        <p:spPr>
          <a:xfrm>
            <a:off x="9272802" y="31108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1" name="Text 58"/>
          <p:cNvSpPr/>
          <p:nvPr/>
        </p:nvSpPr>
        <p:spPr>
          <a:xfrm>
            <a:off x="2458579" y="33585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2" name="Text 59"/>
          <p:cNvSpPr/>
          <p:nvPr/>
        </p:nvSpPr>
        <p:spPr>
          <a:xfrm>
            <a:off x="3258213" y="33585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3" name="Text 60"/>
          <p:cNvSpPr/>
          <p:nvPr/>
        </p:nvSpPr>
        <p:spPr>
          <a:xfrm>
            <a:off x="8473169" y="33585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4" name="Text 61"/>
          <p:cNvSpPr/>
          <p:nvPr/>
        </p:nvSpPr>
        <p:spPr>
          <a:xfrm>
            <a:off x="9272802" y="33585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1.818</a:t>
            </a:r>
            <a:endParaRPr lang="en-US" sz="816" dirty="0"/>
          </a:p>
        </p:txBody>
      </p:sp>
      <p:sp>
        <p:nvSpPr>
          <p:cNvPr id="65" name="Text 62"/>
          <p:cNvSpPr/>
          <p:nvPr/>
        </p:nvSpPr>
        <p:spPr>
          <a:xfrm>
            <a:off x="2458579" y="36061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6" name="Text 63"/>
          <p:cNvSpPr/>
          <p:nvPr/>
        </p:nvSpPr>
        <p:spPr>
          <a:xfrm>
            <a:off x="3258213" y="36061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67" name="Text 64"/>
          <p:cNvSpPr/>
          <p:nvPr/>
        </p:nvSpPr>
        <p:spPr>
          <a:xfrm>
            <a:off x="8473169" y="36061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68" name="Text 65"/>
          <p:cNvSpPr/>
          <p:nvPr/>
        </p:nvSpPr>
        <p:spPr>
          <a:xfrm>
            <a:off x="9272802" y="36061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1.452</a:t>
            </a:r>
            <a:endParaRPr lang="en-US" sz="816" dirty="0"/>
          </a:p>
        </p:txBody>
      </p:sp>
      <p:sp>
        <p:nvSpPr>
          <p:cNvPr id="69" name="Text 66"/>
          <p:cNvSpPr/>
          <p:nvPr/>
        </p:nvSpPr>
        <p:spPr>
          <a:xfrm>
            <a:off x="2458579" y="38538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0" name="Text 67"/>
          <p:cNvSpPr/>
          <p:nvPr/>
        </p:nvSpPr>
        <p:spPr>
          <a:xfrm>
            <a:off x="3258213" y="38538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71" name="Text 68"/>
          <p:cNvSpPr/>
          <p:nvPr/>
        </p:nvSpPr>
        <p:spPr>
          <a:xfrm>
            <a:off x="8473169" y="38538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2" name="Text 69"/>
          <p:cNvSpPr/>
          <p:nvPr/>
        </p:nvSpPr>
        <p:spPr>
          <a:xfrm>
            <a:off x="9272802" y="38538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a:t>
            </a:r>
            <a:endParaRPr lang="en-US" sz="816" dirty="0"/>
          </a:p>
        </p:txBody>
      </p:sp>
      <p:sp>
        <p:nvSpPr>
          <p:cNvPr id="73" name="Text 70"/>
          <p:cNvSpPr/>
          <p:nvPr/>
        </p:nvSpPr>
        <p:spPr>
          <a:xfrm>
            <a:off x="723882" y="4101461"/>
            <a:ext cx="687808" cy="242888"/>
          </a:xfrm>
          <a:prstGeom prst="rect">
            <a:avLst/>
          </a:prstGeom>
          <a:noFill/>
          <a:ln/>
        </p:spPr>
        <p:txBody>
          <a:bodyPr wrap="square" lIns="38100" tIns="114300" rIns="114300" bIns="38100" rtlCol="0" anchor="ctr"/>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4" name="Text 71"/>
          <p:cNvSpPr/>
          <p:nvPr/>
        </p:nvSpPr>
        <p:spPr>
          <a:xfrm>
            <a:off x="3258213" y="4101461"/>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7.250</a:t>
            </a:r>
            <a:endParaRPr lang="en-US" sz="816" dirty="0"/>
          </a:p>
        </p:txBody>
      </p:sp>
      <p:sp>
        <p:nvSpPr>
          <p:cNvPr id="75" name="Text 72"/>
          <p:cNvSpPr/>
          <p:nvPr/>
        </p:nvSpPr>
        <p:spPr>
          <a:xfrm>
            <a:off x="5465874" y="4101461"/>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6" name="Text 73"/>
          <p:cNvSpPr/>
          <p:nvPr/>
        </p:nvSpPr>
        <p:spPr>
          <a:xfrm>
            <a:off x="6265507" y="4101461"/>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2.194</a:t>
            </a:r>
            <a:endParaRPr lang="en-US" sz="816" dirty="0"/>
          </a:p>
        </p:txBody>
      </p:sp>
      <p:sp>
        <p:nvSpPr>
          <p:cNvPr id="77" name="Text 74"/>
          <p:cNvSpPr/>
          <p:nvPr/>
        </p:nvSpPr>
        <p:spPr>
          <a:xfrm>
            <a:off x="9272802" y="4101461"/>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9.444</a:t>
            </a:r>
            <a:endParaRPr lang="en-US" sz="816" dirty="0"/>
          </a:p>
        </p:txBody>
      </p:sp>
      <p:sp>
        <p:nvSpPr>
          <p:cNvPr id="78" name="Text 75"/>
          <p:cNvSpPr/>
          <p:nvPr/>
        </p:nvSpPr>
        <p:spPr>
          <a:xfrm>
            <a:off x="8203945" y="1162050"/>
            <a:ext cx="3361631"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79" name="Text 76"/>
          <p:cNvSpPr/>
          <p:nvPr/>
        </p:nvSpPr>
        <p:spPr>
          <a:xfrm>
            <a:off x="10378419" y="1908870"/>
            <a:ext cx="514898" cy="245269"/>
          </a:xfrm>
          <a:prstGeom prst="rect">
            <a:avLst/>
          </a:prstGeom>
          <a:noFill/>
          <a:ln/>
        </p:spPr>
        <p:txBody>
          <a:bodyPr wrap="square" lIns="47625" tIns="114300" rIns="114300" bIns="47625"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Vanti</a:t>
            </a:r>
            <a:endParaRPr lang="en-US" sz="816" dirty="0"/>
          </a:p>
        </p:txBody>
      </p:sp>
      <p:sp>
        <p:nvSpPr>
          <p:cNvPr id="80" name="Text 77"/>
          <p:cNvSpPr/>
          <p:nvPr/>
        </p:nvSpPr>
        <p:spPr>
          <a:xfrm>
            <a:off x="1920802" y="492073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1.689</a:t>
            </a:r>
            <a:endParaRPr lang="en-US" sz="675" dirty="0"/>
          </a:p>
        </p:txBody>
      </p:sp>
      <p:sp>
        <p:nvSpPr>
          <p:cNvPr id="81" name="Text 78"/>
          <p:cNvSpPr/>
          <p:nvPr/>
        </p:nvSpPr>
        <p:spPr>
          <a:xfrm>
            <a:off x="2466645" y="479500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1.819</a:t>
            </a:r>
            <a:endParaRPr lang="en-US" sz="675" dirty="0"/>
          </a:p>
        </p:txBody>
      </p:sp>
      <p:sp>
        <p:nvSpPr>
          <p:cNvPr id="82" name="Text 79"/>
          <p:cNvSpPr/>
          <p:nvPr/>
        </p:nvSpPr>
        <p:spPr>
          <a:xfrm>
            <a:off x="3007205" y="471499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1.901</a:t>
            </a:r>
            <a:endParaRPr lang="en-US" sz="675" dirty="0"/>
          </a:p>
        </p:txBody>
      </p:sp>
      <p:sp>
        <p:nvSpPr>
          <p:cNvPr id="83" name="Text 80"/>
          <p:cNvSpPr/>
          <p:nvPr/>
        </p:nvSpPr>
        <p:spPr>
          <a:xfrm>
            <a:off x="3547840" y="479785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1.816</a:t>
            </a:r>
            <a:endParaRPr lang="en-US" sz="675" dirty="0"/>
          </a:p>
        </p:txBody>
      </p:sp>
      <p:sp>
        <p:nvSpPr>
          <p:cNvPr id="84" name="Text 81"/>
          <p:cNvSpPr/>
          <p:nvPr/>
        </p:nvSpPr>
        <p:spPr>
          <a:xfrm>
            <a:off x="4086316" y="503884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1.568</a:t>
            </a:r>
            <a:endParaRPr lang="en-US" sz="675" dirty="0"/>
          </a:p>
        </p:txBody>
      </p:sp>
      <p:sp>
        <p:nvSpPr>
          <p:cNvPr id="85" name="Text 82"/>
          <p:cNvSpPr/>
          <p:nvPr/>
        </p:nvSpPr>
        <p:spPr>
          <a:xfrm>
            <a:off x="4635806" y="487024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1.741</a:t>
            </a:r>
            <a:endParaRPr lang="en-US" sz="675" dirty="0"/>
          </a:p>
        </p:txBody>
      </p:sp>
      <p:sp>
        <p:nvSpPr>
          <p:cNvPr id="86" name="Text 83"/>
          <p:cNvSpPr/>
          <p:nvPr/>
        </p:nvSpPr>
        <p:spPr>
          <a:xfrm>
            <a:off x="3258213" y="2391724"/>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7" name="Text 84"/>
          <p:cNvSpPr/>
          <p:nvPr/>
        </p:nvSpPr>
        <p:spPr>
          <a:xfrm>
            <a:off x="6265507" y="2391724"/>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9272802" y="2391724"/>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10935468" y="1908870"/>
            <a:ext cx="548315" cy="245269"/>
          </a:xfrm>
          <a:prstGeom prst="rect">
            <a:avLst/>
          </a:prstGeom>
          <a:noFill/>
          <a:ln/>
        </p:spPr>
        <p:txBody>
          <a:bodyPr wrap="square" lIns="47625" tIns="114300" rIns="114300" bIns="47625"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Xuma</a:t>
            </a:r>
            <a:endParaRPr lang="en-US" sz="816" dirty="0"/>
          </a:p>
        </p:txBody>
      </p:sp>
      <p:sp>
        <p:nvSpPr>
          <p:cNvPr id="90" name="Text 87"/>
          <p:cNvSpPr/>
          <p:nvPr/>
        </p:nvSpPr>
        <p:spPr>
          <a:xfrm>
            <a:off x="723882" y="2163124"/>
            <a:ext cx="687808" cy="4572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1" name="Text 88"/>
          <p:cNvSpPr/>
          <p:nvPr/>
        </p:nvSpPr>
        <p:spPr>
          <a:xfrm>
            <a:off x="723882" y="2620324"/>
            <a:ext cx="687808" cy="242888"/>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2" name="Text 89"/>
          <p:cNvSpPr/>
          <p:nvPr/>
        </p:nvSpPr>
        <p:spPr>
          <a:xfrm>
            <a:off x="5465874" y="2620324"/>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3" name="Text 90"/>
          <p:cNvSpPr/>
          <p:nvPr/>
        </p:nvSpPr>
        <p:spPr>
          <a:xfrm>
            <a:off x="6265507" y="2620324"/>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498</a:t>
            </a:r>
            <a:endParaRPr lang="en-US" sz="816" dirty="0"/>
          </a:p>
        </p:txBody>
      </p:sp>
      <p:sp>
        <p:nvSpPr>
          <p:cNvPr id="94" name="Text 91"/>
          <p:cNvSpPr/>
          <p:nvPr/>
        </p:nvSpPr>
        <p:spPr>
          <a:xfrm>
            <a:off x="723882" y="2863211"/>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5" name="Text 92"/>
          <p:cNvSpPr/>
          <p:nvPr/>
        </p:nvSpPr>
        <p:spPr>
          <a:xfrm>
            <a:off x="5465874" y="28632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6" name="Text 93"/>
          <p:cNvSpPr/>
          <p:nvPr/>
        </p:nvSpPr>
        <p:spPr>
          <a:xfrm>
            <a:off x="6265507" y="28632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194</a:t>
            </a:r>
            <a:endParaRPr lang="en-US" sz="816" dirty="0"/>
          </a:p>
        </p:txBody>
      </p:sp>
      <p:sp>
        <p:nvSpPr>
          <p:cNvPr id="97" name="Text 94"/>
          <p:cNvSpPr/>
          <p:nvPr/>
        </p:nvSpPr>
        <p:spPr>
          <a:xfrm>
            <a:off x="723882" y="3110861"/>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8" name="Text 95"/>
          <p:cNvSpPr/>
          <p:nvPr/>
        </p:nvSpPr>
        <p:spPr>
          <a:xfrm>
            <a:off x="5465874" y="31108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99" name="Text 96"/>
          <p:cNvSpPr/>
          <p:nvPr/>
        </p:nvSpPr>
        <p:spPr>
          <a:xfrm>
            <a:off x="6265507" y="31108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371</a:t>
            </a:r>
            <a:endParaRPr lang="en-US" sz="816" dirty="0"/>
          </a:p>
        </p:txBody>
      </p:sp>
      <p:sp>
        <p:nvSpPr>
          <p:cNvPr id="100" name="Text 97"/>
          <p:cNvSpPr/>
          <p:nvPr/>
        </p:nvSpPr>
        <p:spPr>
          <a:xfrm>
            <a:off x="723882" y="3358511"/>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1" name="Text 98"/>
          <p:cNvSpPr/>
          <p:nvPr/>
        </p:nvSpPr>
        <p:spPr>
          <a:xfrm>
            <a:off x="5465874" y="33585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2" name="Text 99"/>
          <p:cNvSpPr/>
          <p:nvPr/>
        </p:nvSpPr>
        <p:spPr>
          <a:xfrm>
            <a:off x="6265507" y="33585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621</a:t>
            </a:r>
            <a:endParaRPr lang="en-US" sz="816" dirty="0"/>
          </a:p>
        </p:txBody>
      </p:sp>
      <p:sp>
        <p:nvSpPr>
          <p:cNvPr id="103" name="Text 100"/>
          <p:cNvSpPr/>
          <p:nvPr/>
        </p:nvSpPr>
        <p:spPr>
          <a:xfrm>
            <a:off x="723882" y="3606161"/>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4" name="Text 101"/>
          <p:cNvSpPr/>
          <p:nvPr/>
        </p:nvSpPr>
        <p:spPr>
          <a:xfrm>
            <a:off x="5465874" y="360616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5" name="Text 102"/>
          <p:cNvSpPr/>
          <p:nvPr/>
        </p:nvSpPr>
        <p:spPr>
          <a:xfrm>
            <a:off x="6265507" y="360616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221</a:t>
            </a:r>
            <a:endParaRPr lang="en-US" sz="816" dirty="0"/>
          </a:p>
        </p:txBody>
      </p:sp>
      <p:sp>
        <p:nvSpPr>
          <p:cNvPr id="106" name="Text 103"/>
          <p:cNvSpPr/>
          <p:nvPr/>
        </p:nvSpPr>
        <p:spPr>
          <a:xfrm>
            <a:off x="723882" y="3853811"/>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7" name="Text 104"/>
          <p:cNvSpPr/>
          <p:nvPr/>
        </p:nvSpPr>
        <p:spPr>
          <a:xfrm>
            <a:off x="5465874" y="3853811"/>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8" name="Text 105"/>
          <p:cNvSpPr/>
          <p:nvPr/>
        </p:nvSpPr>
        <p:spPr>
          <a:xfrm>
            <a:off x="6265507" y="3853811"/>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289</a:t>
            </a:r>
            <a:endParaRPr lang="en-US" sz="816" dirty="0"/>
          </a:p>
        </p:txBody>
      </p:sp>
      <p:sp>
        <p:nvSpPr>
          <p:cNvPr id="109" name="Text 106"/>
          <p:cNvSpPr/>
          <p:nvPr/>
        </p:nvSpPr>
        <p:spPr>
          <a:xfrm>
            <a:off x="1961134"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0" name="Text 107"/>
          <p:cNvSpPr/>
          <p:nvPr/>
        </p:nvSpPr>
        <p:spPr>
          <a:xfrm>
            <a:off x="2502661"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1" name="Text 108"/>
          <p:cNvSpPr/>
          <p:nvPr/>
        </p:nvSpPr>
        <p:spPr>
          <a:xfrm>
            <a:off x="3043370"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12" name="Text 109"/>
          <p:cNvSpPr/>
          <p:nvPr/>
        </p:nvSpPr>
        <p:spPr>
          <a:xfrm>
            <a:off x="3579614"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13" name="Text 110"/>
          <p:cNvSpPr/>
          <p:nvPr/>
        </p:nvSpPr>
        <p:spPr>
          <a:xfrm>
            <a:off x="4118760"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14" name="Text 111"/>
          <p:cNvSpPr/>
          <p:nvPr/>
        </p:nvSpPr>
        <p:spPr>
          <a:xfrm>
            <a:off x="4661255" y="520076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15" name="Text 112"/>
          <p:cNvSpPr/>
          <p:nvPr/>
        </p:nvSpPr>
        <p:spPr>
          <a:xfrm>
            <a:off x="7384369" y="500312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556</a:t>
            </a:r>
            <a:endParaRPr lang="en-US" sz="675" dirty="0"/>
          </a:p>
        </p:txBody>
      </p:sp>
      <p:sp>
        <p:nvSpPr>
          <p:cNvPr id="116" name="Text 113"/>
          <p:cNvSpPr/>
          <p:nvPr/>
        </p:nvSpPr>
        <p:spPr>
          <a:xfrm>
            <a:off x="7390248"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7" name="Text 114"/>
          <p:cNvSpPr/>
          <p:nvPr/>
        </p:nvSpPr>
        <p:spPr>
          <a:xfrm>
            <a:off x="7927608" y="500598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555</a:t>
            </a:r>
            <a:endParaRPr lang="en-US" sz="675" dirty="0"/>
          </a:p>
        </p:txBody>
      </p:sp>
      <p:sp>
        <p:nvSpPr>
          <p:cNvPr id="118" name="Text 115"/>
          <p:cNvSpPr/>
          <p:nvPr/>
        </p:nvSpPr>
        <p:spPr>
          <a:xfrm>
            <a:off x="7931775"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9" name="Text 116"/>
          <p:cNvSpPr/>
          <p:nvPr/>
        </p:nvSpPr>
        <p:spPr>
          <a:xfrm>
            <a:off x="8465861" y="509837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530</a:t>
            </a:r>
            <a:endParaRPr lang="en-US" sz="675" dirty="0"/>
          </a:p>
        </p:txBody>
      </p:sp>
      <p:sp>
        <p:nvSpPr>
          <p:cNvPr id="120" name="Text 117"/>
          <p:cNvSpPr/>
          <p:nvPr/>
        </p:nvSpPr>
        <p:spPr>
          <a:xfrm>
            <a:off x="8472484"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21" name="Text 118"/>
          <p:cNvSpPr/>
          <p:nvPr/>
        </p:nvSpPr>
        <p:spPr>
          <a:xfrm>
            <a:off x="9012226" y="502122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551</a:t>
            </a:r>
            <a:endParaRPr lang="en-US" sz="675" dirty="0"/>
          </a:p>
        </p:txBody>
      </p:sp>
      <p:sp>
        <p:nvSpPr>
          <p:cNvPr id="122" name="Text 119"/>
          <p:cNvSpPr/>
          <p:nvPr/>
        </p:nvSpPr>
        <p:spPr>
          <a:xfrm>
            <a:off x="9008728"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23" name="Text 120"/>
          <p:cNvSpPr/>
          <p:nvPr/>
        </p:nvSpPr>
        <p:spPr>
          <a:xfrm>
            <a:off x="9548767" y="477452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618</a:t>
            </a:r>
            <a:endParaRPr lang="en-US" sz="675" dirty="0"/>
          </a:p>
        </p:txBody>
      </p:sp>
      <p:sp>
        <p:nvSpPr>
          <p:cNvPr id="124" name="Text 121"/>
          <p:cNvSpPr/>
          <p:nvPr/>
        </p:nvSpPr>
        <p:spPr>
          <a:xfrm>
            <a:off x="9547874"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25" name="Text 122"/>
          <p:cNvSpPr/>
          <p:nvPr/>
        </p:nvSpPr>
        <p:spPr>
          <a:xfrm>
            <a:off x="10091188" y="4940259"/>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573</a:t>
            </a:r>
            <a:endParaRPr lang="en-US" sz="675" dirty="0"/>
          </a:p>
        </p:txBody>
      </p:sp>
      <p:sp>
        <p:nvSpPr>
          <p:cNvPr id="126" name="Text 123"/>
          <p:cNvSpPr/>
          <p:nvPr/>
        </p:nvSpPr>
        <p:spPr>
          <a:xfrm>
            <a:off x="10090369" y="5260299"/>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27" name="Text 124"/>
          <p:cNvSpPr/>
          <p:nvPr/>
        </p:nvSpPr>
        <p:spPr>
          <a:xfrm>
            <a:off x="1391657" y="2620324"/>
            <a:ext cx="1098930"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8" name="Text 125"/>
          <p:cNvSpPr/>
          <p:nvPr/>
        </p:nvSpPr>
        <p:spPr>
          <a:xfrm>
            <a:off x="1391657" y="2863211"/>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29" name="Text 126"/>
          <p:cNvSpPr/>
          <p:nvPr/>
        </p:nvSpPr>
        <p:spPr>
          <a:xfrm>
            <a:off x="1391657" y="3110861"/>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0" name="Text 127"/>
          <p:cNvSpPr/>
          <p:nvPr/>
        </p:nvSpPr>
        <p:spPr>
          <a:xfrm>
            <a:off x="1391657" y="3358511"/>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1" name="Text 128"/>
          <p:cNvSpPr/>
          <p:nvPr/>
        </p:nvSpPr>
        <p:spPr>
          <a:xfrm>
            <a:off x="1391657" y="3606161"/>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391657" y="3853811"/>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3" name="Text 130"/>
          <p:cNvSpPr/>
          <p:nvPr/>
        </p:nvSpPr>
        <p:spPr>
          <a:xfrm>
            <a:off x="1391657" y="4101461"/>
            <a:ext cx="1098930"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9183859" cy="169389"/>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con 3 de 6 meses sobre la meta. Cuota Protegida aportó 10.534 (90 %) y Combo Vida 3.383 (116 %).</a:t>
            </a:r>
            <a:endParaRPr lang="en-US" sz="864" dirty="0"/>
          </a:p>
        </p:txBody>
      </p:sp>
      <p:sp>
        <p:nvSpPr>
          <p:cNvPr id="4" name="Text 1"/>
          <p:cNvSpPr/>
          <p:nvPr/>
        </p:nvSpPr>
        <p:spPr>
          <a:xfrm>
            <a:off x="8203945"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43576"/>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6286343" y="4603100"/>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1" name="Text 8"/>
          <p:cNvSpPr/>
          <p:nvPr/>
        </p:nvSpPr>
        <p:spPr>
          <a:xfrm>
            <a:off x="761981"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2" name="Text 9"/>
          <p:cNvSpPr/>
          <p:nvPr/>
        </p:nvSpPr>
        <p:spPr>
          <a:xfrm>
            <a:off x="2449352" y="2163127"/>
            <a:ext cx="3109010"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3" name="Text 10"/>
          <p:cNvSpPr/>
          <p:nvPr/>
        </p:nvSpPr>
        <p:spPr>
          <a:xfrm>
            <a:off x="4482889" y="990600"/>
            <a:ext cx="336178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4" name="Text 11"/>
          <p:cNvSpPr/>
          <p:nvPr/>
        </p:nvSpPr>
        <p:spPr>
          <a:xfrm>
            <a:off x="5467809" y="2163127"/>
            <a:ext cx="3080805"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5" name="Text 12"/>
          <p:cNvSpPr/>
          <p:nvPr/>
        </p:nvSpPr>
        <p:spPr>
          <a:xfrm>
            <a:off x="10362941" y="209550"/>
            <a:ext cx="1294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6" name="Text 13"/>
          <p:cNvSpPr/>
          <p:nvPr/>
        </p:nvSpPr>
        <p:spPr>
          <a:xfrm>
            <a:off x="3990875" y="2391727"/>
            <a:ext cx="15212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7" name="Text 14"/>
          <p:cNvSpPr/>
          <p:nvPr/>
        </p:nvSpPr>
        <p:spPr>
          <a:xfrm>
            <a:off x="6981948" y="2391727"/>
            <a:ext cx="15212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10003232" y="2391727"/>
            <a:ext cx="1508518"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4482889" y="1162050"/>
            <a:ext cx="336178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0" name="Text 17"/>
          <p:cNvSpPr/>
          <p:nvPr/>
        </p:nvSpPr>
        <p:spPr>
          <a:xfrm>
            <a:off x="1388085" y="2163127"/>
            <a:ext cx="1093105" cy="4572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1" name="Text 18"/>
          <p:cNvSpPr/>
          <p:nvPr/>
        </p:nvSpPr>
        <p:spPr>
          <a:xfrm>
            <a:off x="8458881" y="2163127"/>
            <a:ext cx="3099200"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2" name="Text 19"/>
          <p:cNvSpPr/>
          <p:nvPr/>
        </p:nvSpPr>
        <p:spPr>
          <a:xfrm>
            <a:off x="6981948" y="2620327"/>
            <a:ext cx="1521241"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23" name="Text 20"/>
          <p:cNvSpPr/>
          <p:nvPr/>
        </p:nvSpPr>
        <p:spPr>
          <a:xfrm>
            <a:off x="10003232" y="2620327"/>
            <a:ext cx="1508518"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105,0 %</a:t>
            </a:r>
            <a:endParaRPr lang="en-US" sz="816" dirty="0"/>
          </a:p>
        </p:txBody>
      </p:sp>
      <p:sp>
        <p:nvSpPr>
          <p:cNvPr id="24" name="Text 21"/>
          <p:cNvSpPr/>
          <p:nvPr/>
        </p:nvSpPr>
        <p:spPr>
          <a:xfrm>
            <a:off x="3990875" y="28632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5" name="Text 22"/>
          <p:cNvSpPr/>
          <p:nvPr/>
        </p:nvSpPr>
        <p:spPr>
          <a:xfrm>
            <a:off x="6981948" y="28632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111,0 %</a:t>
            </a:r>
            <a:endParaRPr lang="en-US" sz="816" dirty="0"/>
          </a:p>
        </p:txBody>
      </p:sp>
      <p:sp>
        <p:nvSpPr>
          <p:cNvPr id="26" name="Text 23"/>
          <p:cNvSpPr/>
          <p:nvPr/>
        </p:nvSpPr>
        <p:spPr>
          <a:xfrm>
            <a:off x="10003232" y="2863215"/>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7" name="Text 24"/>
          <p:cNvSpPr/>
          <p:nvPr/>
        </p:nvSpPr>
        <p:spPr>
          <a:xfrm>
            <a:off x="3990875" y="311086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114,0 %</a:t>
            </a:r>
            <a:endParaRPr lang="en-US" sz="816" dirty="0"/>
          </a:p>
        </p:txBody>
      </p:sp>
      <p:sp>
        <p:nvSpPr>
          <p:cNvPr id="28" name="Text 25"/>
          <p:cNvSpPr/>
          <p:nvPr/>
        </p:nvSpPr>
        <p:spPr>
          <a:xfrm>
            <a:off x="6981948" y="311086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106,0 %</a:t>
            </a:r>
            <a:endParaRPr lang="en-US" sz="816" dirty="0"/>
          </a:p>
        </p:txBody>
      </p:sp>
      <p:sp>
        <p:nvSpPr>
          <p:cNvPr id="29" name="Text 26"/>
          <p:cNvSpPr/>
          <p:nvPr/>
        </p:nvSpPr>
        <p:spPr>
          <a:xfrm>
            <a:off x="10003232" y="3110865"/>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30" name="Text 27"/>
          <p:cNvSpPr/>
          <p:nvPr/>
        </p:nvSpPr>
        <p:spPr>
          <a:xfrm>
            <a:off x="6981948" y="33585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110,0 %</a:t>
            </a:r>
            <a:endParaRPr lang="en-US" sz="816" dirty="0"/>
          </a:p>
        </p:txBody>
      </p:sp>
      <p:sp>
        <p:nvSpPr>
          <p:cNvPr id="31" name="Text 28"/>
          <p:cNvSpPr/>
          <p:nvPr/>
        </p:nvSpPr>
        <p:spPr>
          <a:xfrm>
            <a:off x="6981948" y="360616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124,0 %</a:t>
            </a:r>
            <a:endParaRPr lang="en-US" sz="816" dirty="0"/>
          </a:p>
        </p:txBody>
      </p:sp>
      <p:sp>
        <p:nvSpPr>
          <p:cNvPr id="32" name="Text 29"/>
          <p:cNvSpPr/>
          <p:nvPr/>
        </p:nvSpPr>
        <p:spPr>
          <a:xfrm>
            <a:off x="6981948" y="38538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115,0 %</a:t>
            </a:r>
            <a:endParaRPr lang="en-US" sz="816" dirty="0"/>
          </a:p>
        </p:txBody>
      </p:sp>
      <p:sp>
        <p:nvSpPr>
          <p:cNvPr id="33" name="Text 30"/>
          <p:cNvSpPr/>
          <p:nvPr/>
        </p:nvSpPr>
        <p:spPr>
          <a:xfrm>
            <a:off x="6981948" y="4101465"/>
            <a:ext cx="1521241"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116,0 %</a:t>
            </a:r>
            <a:endParaRPr lang="en-US" sz="816" dirty="0"/>
          </a:p>
        </p:txBody>
      </p:sp>
      <p:sp>
        <p:nvSpPr>
          <p:cNvPr id="34" name="Text 31"/>
          <p:cNvSpPr/>
          <p:nvPr/>
        </p:nvSpPr>
        <p:spPr>
          <a:xfrm>
            <a:off x="3990875" y="2620327"/>
            <a:ext cx="1521241"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99,0 %</a:t>
            </a:r>
            <a:endParaRPr lang="en-US" sz="816" dirty="0"/>
          </a:p>
        </p:txBody>
      </p:sp>
      <p:sp>
        <p:nvSpPr>
          <p:cNvPr id="35" name="Text 32"/>
          <p:cNvSpPr/>
          <p:nvPr/>
        </p:nvSpPr>
        <p:spPr>
          <a:xfrm>
            <a:off x="3990875" y="33585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73,0 %</a:t>
            </a:r>
            <a:endParaRPr lang="en-US" sz="816" dirty="0"/>
          </a:p>
        </p:txBody>
      </p:sp>
      <p:sp>
        <p:nvSpPr>
          <p:cNvPr id="36" name="Text 33"/>
          <p:cNvSpPr/>
          <p:nvPr/>
        </p:nvSpPr>
        <p:spPr>
          <a:xfrm>
            <a:off x="10003232" y="3358515"/>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79,0 %</a:t>
            </a:r>
            <a:endParaRPr lang="en-US" sz="816" dirty="0"/>
          </a:p>
        </p:txBody>
      </p:sp>
      <p:sp>
        <p:nvSpPr>
          <p:cNvPr id="37" name="Text 34"/>
          <p:cNvSpPr/>
          <p:nvPr/>
        </p:nvSpPr>
        <p:spPr>
          <a:xfrm>
            <a:off x="3990875" y="360616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75,0 %</a:t>
            </a:r>
            <a:endParaRPr lang="en-US" sz="816" dirty="0"/>
          </a:p>
        </p:txBody>
      </p:sp>
      <p:sp>
        <p:nvSpPr>
          <p:cNvPr id="38" name="Text 35"/>
          <p:cNvSpPr/>
          <p:nvPr/>
        </p:nvSpPr>
        <p:spPr>
          <a:xfrm>
            <a:off x="10003232" y="3606165"/>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84,0 %</a:t>
            </a:r>
            <a:endParaRPr lang="en-US" sz="816" dirty="0"/>
          </a:p>
        </p:txBody>
      </p:sp>
      <p:sp>
        <p:nvSpPr>
          <p:cNvPr id="39" name="Text 36"/>
          <p:cNvSpPr/>
          <p:nvPr/>
        </p:nvSpPr>
        <p:spPr>
          <a:xfrm>
            <a:off x="3990875" y="3853815"/>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87,0 %</a:t>
            </a:r>
            <a:endParaRPr lang="en-US" sz="816" dirty="0"/>
          </a:p>
        </p:txBody>
      </p:sp>
      <p:sp>
        <p:nvSpPr>
          <p:cNvPr id="40" name="Text 37"/>
          <p:cNvSpPr/>
          <p:nvPr/>
        </p:nvSpPr>
        <p:spPr>
          <a:xfrm>
            <a:off x="10003232" y="3853815"/>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93,0 %</a:t>
            </a:r>
            <a:endParaRPr lang="en-US" sz="816" dirty="0"/>
          </a:p>
        </p:txBody>
      </p:sp>
      <p:sp>
        <p:nvSpPr>
          <p:cNvPr id="41" name="Text 38"/>
          <p:cNvSpPr/>
          <p:nvPr/>
        </p:nvSpPr>
        <p:spPr>
          <a:xfrm>
            <a:off x="2449352" y="4101465"/>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2" name="Text 39"/>
          <p:cNvSpPr/>
          <p:nvPr/>
        </p:nvSpPr>
        <p:spPr>
          <a:xfrm>
            <a:off x="3244670" y="4101465"/>
            <a:ext cx="76859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11.643</a:t>
            </a:r>
            <a:endParaRPr lang="en-US" sz="816" dirty="0"/>
          </a:p>
        </p:txBody>
      </p:sp>
      <p:sp>
        <p:nvSpPr>
          <p:cNvPr id="43" name="Text 40"/>
          <p:cNvSpPr/>
          <p:nvPr/>
        </p:nvSpPr>
        <p:spPr>
          <a:xfrm>
            <a:off x="3990875" y="4101465"/>
            <a:ext cx="1521241"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90,0 %</a:t>
            </a:r>
            <a:endParaRPr lang="en-US" sz="816" dirty="0"/>
          </a:p>
        </p:txBody>
      </p:sp>
      <p:sp>
        <p:nvSpPr>
          <p:cNvPr id="44" name="Text 41"/>
          <p:cNvSpPr/>
          <p:nvPr/>
        </p:nvSpPr>
        <p:spPr>
          <a:xfrm>
            <a:off x="8458881" y="4101465"/>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5" name="Text 42"/>
          <p:cNvSpPr/>
          <p:nvPr/>
        </p:nvSpPr>
        <p:spPr>
          <a:xfrm>
            <a:off x="9254199" y="4101465"/>
            <a:ext cx="771504"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14.572</a:t>
            </a:r>
            <a:endParaRPr lang="en-US" sz="816" dirty="0"/>
          </a:p>
        </p:txBody>
      </p:sp>
      <p:sp>
        <p:nvSpPr>
          <p:cNvPr id="46" name="Text 43"/>
          <p:cNvSpPr/>
          <p:nvPr/>
        </p:nvSpPr>
        <p:spPr>
          <a:xfrm>
            <a:off x="10003232" y="4101465"/>
            <a:ext cx="1508518"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96,0 %</a:t>
            </a:r>
            <a:endParaRPr lang="en-US" sz="816" dirty="0"/>
          </a:p>
        </p:txBody>
      </p:sp>
      <p:sp>
        <p:nvSpPr>
          <p:cNvPr id="47" name="Text 44"/>
          <p:cNvSpPr/>
          <p:nvPr/>
        </p:nvSpPr>
        <p:spPr>
          <a:xfrm>
            <a:off x="761981" y="1162050"/>
            <a:ext cx="3361631"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8" name="Text 45"/>
          <p:cNvSpPr/>
          <p:nvPr/>
        </p:nvSpPr>
        <p:spPr>
          <a:xfrm>
            <a:off x="2449352" y="2391727"/>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9" name="Text 46"/>
          <p:cNvSpPr/>
          <p:nvPr/>
        </p:nvSpPr>
        <p:spPr>
          <a:xfrm>
            <a:off x="5467809" y="2391727"/>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8458881" y="2391727"/>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1" name="Text 48"/>
          <p:cNvSpPr/>
          <p:nvPr/>
        </p:nvSpPr>
        <p:spPr>
          <a:xfrm>
            <a:off x="2449352" y="2620327"/>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2" name="Text 49"/>
          <p:cNvSpPr/>
          <p:nvPr/>
        </p:nvSpPr>
        <p:spPr>
          <a:xfrm>
            <a:off x="3244670" y="2620327"/>
            <a:ext cx="76859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1.703</a:t>
            </a:r>
            <a:endParaRPr lang="en-US" sz="816" dirty="0"/>
          </a:p>
        </p:txBody>
      </p:sp>
      <p:sp>
        <p:nvSpPr>
          <p:cNvPr id="53" name="Text 50"/>
          <p:cNvSpPr/>
          <p:nvPr/>
        </p:nvSpPr>
        <p:spPr>
          <a:xfrm>
            <a:off x="8458881" y="2620327"/>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4" name="Text 51"/>
          <p:cNvSpPr/>
          <p:nvPr/>
        </p:nvSpPr>
        <p:spPr>
          <a:xfrm>
            <a:off x="9254199" y="2620327"/>
            <a:ext cx="771504"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2.132</a:t>
            </a:r>
            <a:endParaRPr lang="en-US" sz="816" dirty="0"/>
          </a:p>
        </p:txBody>
      </p:sp>
      <p:sp>
        <p:nvSpPr>
          <p:cNvPr id="55" name="Text 52"/>
          <p:cNvSpPr/>
          <p:nvPr/>
        </p:nvSpPr>
        <p:spPr>
          <a:xfrm>
            <a:off x="2449352" y="28632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6" name="Text 53"/>
          <p:cNvSpPr/>
          <p:nvPr/>
        </p:nvSpPr>
        <p:spPr>
          <a:xfrm>
            <a:off x="3244670" y="2863215"/>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57" name="Text 54"/>
          <p:cNvSpPr/>
          <p:nvPr/>
        </p:nvSpPr>
        <p:spPr>
          <a:xfrm>
            <a:off x="8458881" y="28632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8" name="Text 55"/>
          <p:cNvSpPr/>
          <p:nvPr/>
        </p:nvSpPr>
        <p:spPr>
          <a:xfrm>
            <a:off x="9254199" y="2863215"/>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59" name="Text 56"/>
          <p:cNvSpPr/>
          <p:nvPr/>
        </p:nvSpPr>
        <p:spPr>
          <a:xfrm>
            <a:off x="2449352" y="31108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0" name="Text 57"/>
          <p:cNvSpPr/>
          <p:nvPr/>
        </p:nvSpPr>
        <p:spPr>
          <a:xfrm>
            <a:off x="3244670" y="3110865"/>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1" name="Text 58"/>
          <p:cNvSpPr/>
          <p:nvPr/>
        </p:nvSpPr>
        <p:spPr>
          <a:xfrm>
            <a:off x="8458881" y="31108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2" name="Text 59"/>
          <p:cNvSpPr/>
          <p:nvPr/>
        </p:nvSpPr>
        <p:spPr>
          <a:xfrm>
            <a:off x="9254199" y="3110865"/>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3" name="Text 60"/>
          <p:cNvSpPr/>
          <p:nvPr/>
        </p:nvSpPr>
        <p:spPr>
          <a:xfrm>
            <a:off x="2449352" y="33585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4" name="Text 61"/>
          <p:cNvSpPr/>
          <p:nvPr/>
        </p:nvSpPr>
        <p:spPr>
          <a:xfrm>
            <a:off x="3244670" y="3358515"/>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65" name="Text 62"/>
          <p:cNvSpPr/>
          <p:nvPr/>
        </p:nvSpPr>
        <p:spPr>
          <a:xfrm>
            <a:off x="8458881" y="33585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6" name="Text 63"/>
          <p:cNvSpPr/>
          <p:nvPr/>
        </p:nvSpPr>
        <p:spPr>
          <a:xfrm>
            <a:off x="9254199" y="3358515"/>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3.000</a:t>
            </a:r>
            <a:endParaRPr lang="en-US" sz="816" dirty="0"/>
          </a:p>
        </p:txBody>
      </p:sp>
      <p:sp>
        <p:nvSpPr>
          <p:cNvPr id="67" name="Text 64"/>
          <p:cNvSpPr/>
          <p:nvPr/>
        </p:nvSpPr>
        <p:spPr>
          <a:xfrm>
            <a:off x="2449352" y="36061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8" name="Text 65"/>
          <p:cNvSpPr/>
          <p:nvPr/>
        </p:nvSpPr>
        <p:spPr>
          <a:xfrm>
            <a:off x="3244670" y="3606165"/>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2.100</a:t>
            </a:r>
            <a:endParaRPr lang="en-US" sz="816" dirty="0"/>
          </a:p>
        </p:txBody>
      </p:sp>
      <p:sp>
        <p:nvSpPr>
          <p:cNvPr id="69" name="Text 66"/>
          <p:cNvSpPr/>
          <p:nvPr/>
        </p:nvSpPr>
        <p:spPr>
          <a:xfrm>
            <a:off x="8458881" y="36061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0" name="Text 67"/>
          <p:cNvSpPr/>
          <p:nvPr/>
        </p:nvSpPr>
        <p:spPr>
          <a:xfrm>
            <a:off x="9254199" y="3606165"/>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2.600</a:t>
            </a:r>
            <a:endParaRPr lang="en-US" sz="816" dirty="0"/>
          </a:p>
        </p:txBody>
      </p:sp>
      <p:sp>
        <p:nvSpPr>
          <p:cNvPr id="71" name="Text 68"/>
          <p:cNvSpPr/>
          <p:nvPr/>
        </p:nvSpPr>
        <p:spPr>
          <a:xfrm>
            <a:off x="2449352" y="38538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2" name="Text 69"/>
          <p:cNvSpPr/>
          <p:nvPr/>
        </p:nvSpPr>
        <p:spPr>
          <a:xfrm>
            <a:off x="3244670" y="3853815"/>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2.000</a:t>
            </a:r>
            <a:endParaRPr lang="en-US" sz="816" dirty="0"/>
          </a:p>
        </p:txBody>
      </p:sp>
      <p:sp>
        <p:nvSpPr>
          <p:cNvPr id="73" name="Text 70"/>
          <p:cNvSpPr/>
          <p:nvPr/>
        </p:nvSpPr>
        <p:spPr>
          <a:xfrm>
            <a:off x="8458881" y="38538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4" name="Text 71"/>
          <p:cNvSpPr/>
          <p:nvPr/>
        </p:nvSpPr>
        <p:spPr>
          <a:xfrm>
            <a:off x="9254199" y="3853815"/>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75" name="Text 72"/>
          <p:cNvSpPr/>
          <p:nvPr/>
        </p:nvSpPr>
        <p:spPr>
          <a:xfrm>
            <a:off x="723882" y="4101465"/>
            <a:ext cx="684129" cy="242888"/>
          </a:xfrm>
          <a:prstGeom prst="rect">
            <a:avLst/>
          </a:prstGeom>
          <a:noFill/>
          <a:ln/>
        </p:spPr>
        <p:txBody>
          <a:bodyPr wrap="square" lIns="38100" tIns="114300" rIns="114300" bIns="38100" rtlCol="0" anchor="ctr"/>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6" name="Text 73"/>
          <p:cNvSpPr/>
          <p:nvPr/>
        </p:nvSpPr>
        <p:spPr>
          <a:xfrm>
            <a:off x="5467809" y="4101465"/>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7" name="Text 74"/>
          <p:cNvSpPr/>
          <p:nvPr/>
        </p:nvSpPr>
        <p:spPr>
          <a:xfrm>
            <a:off x="6263126" y="4101465"/>
            <a:ext cx="74038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2.929</a:t>
            </a:r>
            <a:endParaRPr lang="en-US" sz="816" dirty="0"/>
          </a:p>
        </p:txBody>
      </p:sp>
      <p:sp>
        <p:nvSpPr>
          <p:cNvPr id="78" name="Text 75"/>
          <p:cNvSpPr/>
          <p:nvPr/>
        </p:nvSpPr>
        <p:spPr>
          <a:xfrm>
            <a:off x="8203945" y="1162050"/>
            <a:ext cx="3361631"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79" name="Text 76"/>
          <p:cNvSpPr/>
          <p:nvPr/>
        </p:nvSpPr>
        <p:spPr>
          <a:xfrm>
            <a:off x="10378419" y="1908870"/>
            <a:ext cx="514898" cy="245269"/>
          </a:xfrm>
          <a:prstGeom prst="rect">
            <a:avLst/>
          </a:prstGeom>
          <a:noFill/>
          <a:ln/>
        </p:spPr>
        <p:txBody>
          <a:bodyPr wrap="square" lIns="47625" tIns="114300" rIns="114300" bIns="47625"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Vanti</a:t>
            </a:r>
            <a:endParaRPr lang="en-US" sz="816" dirty="0"/>
          </a:p>
        </p:txBody>
      </p:sp>
      <p:sp>
        <p:nvSpPr>
          <p:cNvPr id="80" name="Text 77"/>
          <p:cNvSpPr/>
          <p:nvPr/>
        </p:nvSpPr>
        <p:spPr>
          <a:xfrm>
            <a:off x="1920802" y="492076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1.689</a:t>
            </a:r>
            <a:endParaRPr lang="en-US" sz="675" dirty="0"/>
          </a:p>
        </p:txBody>
      </p:sp>
      <p:sp>
        <p:nvSpPr>
          <p:cNvPr id="81" name="Text 78"/>
          <p:cNvSpPr/>
          <p:nvPr/>
        </p:nvSpPr>
        <p:spPr>
          <a:xfrm>
            <a:off x="2466645" y="4795036"/>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1.819</a:t>
            </a:r>
            <a:endParaRPr lang="en-US" sz="675" dirty="0"/>
          </a:p>
        </p:txBody>
      </p:sp>
      <p:sp>
        <p:nvSpPr>
          <p:cNvPr id="82" name="Text 79"/>
          <p:cNvSpPr/>
          <p:nvPr/>
        </p:nvSpPr>
        <p:spPr>
          <a:xfrm>
            <a:off x="3007205" y="4715026"/>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1.901</a:t>
            </a:r>
            <a:endParaRPr lang="en-US" sz="675" dirty="0"/>
          </a:p>
        </p:txBody>
      </p:sp>
      <p:sp>
        <p:nvSpPr>
          <p:cNvPr id="83" name="Text 80"/>
          <p:cNvSpPr/>
          <p:nvPr/>
        </p:nvSpPr>
        <p:spPr>
          <a:xfrm>
            <a:off x="3547840" y="479789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1.816</a:t>
            </a:r>
            <a:endParaRPr lang="en-US" sz="675" dirty="0"/>
          </a:p>
        </p:txBody>
      </p:sp>
      <p:sp>
        <p:nvSpPr>
          <p:cNvPr id="84" name="Text 81"/>
          <p:cNvSpPr/>
          <p:nvPr/>
        </p:nvSpPr>
        <p:spPr>
          <a:xfrm>
            <a:off x="4086316" y="5038876"/>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1.568</a:t>
            </a:r>
            <a:endParaRPr lang="en-US" sz="675" dirty="0"/>
          </a:p>
        </p:txBody>
      </p:sp>
      <p:sp>
        <p:nvSpPr>
          <p:cNvPr id="85" name="Text 82"/>
          <p:cNvSpPr/>
          <p:nvPr/>
        </p:nvSpPr>
        <p:spPr>
          <a:xfrm>
            <a:off x="4635806" y="487028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1.741</a:t>
            </a:r>
            <a:endParaRPr lang="en-US" sz="675" dirty="0"/>
          </a:p>
        </p:txBody>
      </p:sp>
      <p:sp>
        <p:nvSpPr>
          <p:cNvPr id="86" name="Text 83"/>
          <p:cNvSpPr/>
          <p:nvPr/>
        </p:nvSpPr>
        <p:spPr>
          <a:xfrm>
            <a:off x="3244670" y="2391727"/>
            <a:ext cx="76859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7" name="Text 84"/>
          <p:cNvSpPr/>
          <p:nvPr/>
        </p:nvSpPr>
        <p:spPr>
          <a:xfrm>
            <a:off x="6263126" y="2391727"/>
            <a:ext cx="74038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9254199" y="2391727"/>
            <a:ext cx="77150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10935468" y="1908870"/>
            <a:ext cx="548315" cy="245269"/>
          </a:xfrm>
          <a:prstGeom prst="rect">
            <a:avLst/>
          </a:prstGeom>
          <a:noFill/>
          <a:ln/>
        </p:spPr>
        <p:txBody>
          <a:bodyPr wrap="square" lIns="47625" tIns="114300" rIns="114300" bIns="47625"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Xuma</a:t>
            </a:r>
            <a:endParaRPr lang="en-US" sz="816" dirty="0"/>
          </a:p>
        </p:txBody>
      </p:sp>
      <p:sp>
        <p:nvSpPr>
          <p:cNvPr id="90" name="Text 87"/>
          <p:cNvSpPr/>
          <p:nvPr/>
        </p:nvSpPr>
        <p:spPr>
          <a:xfrm>
            <a:off x="723882" y="2163127"/>
            <a:ext cx="684129" cy="4572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1" name="Text 88"/>
          <p:cNvSpPr/>
          <p:nvPr/>
        </p:nvSpPr>
        <p:spPr>
          <a:xfrm>
            <a:off x="723882" y="2620327"/>
            <a:ext cx="684129" cy="242888"/>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2" name="Text 89"/>
          <p:cNvSpPr/>
          <p:nvPr/>
        </p:nvSpPr>
        <p:spPr>
          <a:xfrm>
            <a:off x="5467809" y="2620327"/>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3" name="Text 90"/>
          <p:cNvSpPr/>
          <p:nvPr/>
        </p:nvSpPr>
        <p:spPr>
          <a:xfrm>
            <a:off x="6263126" y="2620327"/>
            <a:ext cx="74038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429</a:t>
            </a:r>
            <a:endParaRPr lang="en-US" sz="816" dirty="0"/>
          </a:p>
        </p:txBody>
      </p:sp>
      <p:sp>
        <p:nvSpPr>
          <p:cNvPr id="94" name="Text 91"/>
          <p:cNvSpPr/>
          <p:nvPr/>
        </p:nvSpPr>
        <p:spPr>
          <a:xfrm>
            <a:off x="723882" y="2863215"/>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5" name="Text 92"/>
          <p:cNvSpPr/>
          <p:nvPr/>
        </p:nvSpPr>
        <p:spPr>
          <a:xfrm>
            <a:off x="5467809" y="28632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6" name="Text 93"/>
          <p:cNvSpPr/>
          <p:nvPr/>
        </p:nvSpPr>
        <p:spPr>
          <a:xfrm>
            <a:off x="6263126" y="2863215"/>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7" name="Text 94"/>
          <p:cNvSpPr/>
          <p:nvPr/>
        </p:nvSpPr>
        <p:spPr>
          <a:xfrm>
            <a:off x="723882" y="3110865"/>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8" name="Text 95"/>
          <p:cNvSpPr/>
          <p:nvPr/>
        </p:nvSpPr>
        <p:spPr>
          <a:xfrm>
            <a:off x="5467809" y="31108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99" name="Text 96"/>
          <p:cNvSpPr/>
          <p:nvPr/>
        </p:nvSpPr>
        <p:spPr>
          <a:xfrm>
            <a:off x="6263126" y="3110865"/>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0" name="Text 97"/>
          <p:cNvSpPr/>
          <p:nvPr/>
        </p:nvSpPr>
        <p:spPr>
          <a:xfrm>
            <a:off x="723882" y="3358515"/>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1" name="Text 98"/>
          <p:cNvSpPr/>
          <p:nvPr/>
        </p:nvSpPr>
        <p:spPr>
          <a:xfrm>
            <a:off x="5467809" y="33585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2" name="Text 99"/>
          <p:cNvSpPr/>
          <p:nvPr/>
        </p:nvSpPr>
        <p:spPr>
          <a:xfrm>
            <a:off x="6263126" y="3358515"/>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3" name="Text 100"/>
          <p:cNvSpPr/>
          <p:nvPr/>
        </p:nvSpPr>
        <p:spPr>
          <a:xfrm>
            <a:off x="723882" y="3606165"/>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4" name="Text 101"/>
          <p:cNvSpPr/>
          <p:nvPr/>
        </p:nvSpPr>
        <p:spPr>
          <a:xfrm>
            <a:off x="5467809" y="360616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5" name="Text 102"/>
          <p:cNvSpPr/>
          <p:nvPr/>
        </p:nvSpPr>
        <p:spPr>
          <a:xfrm>
            <a:off x="6263126" y="3606165"/>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6" name="Text 103"/>
          <p:cNvSpPr/>
          <p:nvPr/>
        </p:nvSpPr>
        <p:spPr>
          <a:xfrm>
            <a:off x="723882" y="3853815"/>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7" name="Text 104"/>
          <p:cNvSpPr/>
          <p:nvPr/>
        </p:nvSpPr>
        <p:spPr>
          <a:xfrm>
            <a:off x="5467809" y="3853815"/>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8" name="Text 105"/>
          <p:cNvSpPr/>
          <p:nvPr/>
        </p:nvSpPr>
        <p:spPr>
          <a:xfrm>
            <a:off x="6263126" y="3853815"/>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9" name="Text 106"/>
          <p:cNvSpPr/>
          <p:nvPr/>
        </p:nvSpPr>
        <p:spPr>
          <a:xfrm>
            <a:off x="1961134"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0" name="Text 107"/>
          <p:cNvSpPr/>
          <p:nvPr/>
        </p:nvSpPr>
        <p:spPr>
          <a:xfrm>
            <a:off x="2502661"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1" name="Text 108"/>
          <p:cNvSpPr/>
          <p:nvPr/>
        </p:nvSpPr>
        <p:spPr>
          <a:xfrm>
            <a:off x="3043370"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12" name="Text 109"/>
          <p:cNvSpPr/>
          <p:nvPr/>
        </p:nvSpPr>
        <p:spPr>
          <a:xfrm>
            <a:off x="3579614"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13" name="Text 110"/>
          <p:cNvSpPr/>
          <p:nvPr/>
        </p:nvSpPr>
        <p:spPr>
          <a:xfrm>
            <a:off x="4118760"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14" name="Text 111"/>
          <p:cNvSpPr/>
          <p:nvPr/>
        </p:nvSpPr>
        <p:spPr>
          <a:xfrm>
            <a:off x="4661255" y="5200801"/>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15" name="Text 112"/>
          <p:cNvSpPr/>
          <p:nvPr/>
        </p:nvSpPr>
        <p:spPr>
          <a:xfrm>
            <a:off x="7384369" y="500315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556</a:t>
            </a:r>
            <a:endParaRPr lang="en-US" sz="675" dirty="0"/>
          </a:p>
        </p:txBody>
      </p:sp>
      <p:sp>
        <p:nvSpPr>
          <p:cNvPr id="116" name="Text 113"/>
          <p:cNvSpPr/>
          <p:nvPr/>
        </p:nvSpPr>
        <p:spPr>
          <a:xfrm>
            <a:off x="7390248"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7" name="Text 114"/>
          <p:cNvSpPr/>
          <p:nvPr/>
        </p:nvSpPr>
        <p:spPr>
          <a:xfrm>
            <a:off x="7927608" y="500600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555</a:t>
            </a:r>
            <a:endParaRPr lang="en-US" sz="675" dirty="0"/>
          </a:p>
        </p:txBody>
      </p:sp>
      <p:sp>
        <p:nvSpPr>
          <p:cNvPr id="118" name="Text 115"/>
          <p:cNvSpPr/>
          <p:nvPr/>
        </p:nvSpPr>
        <p:spPr>
          <a:xfrm>
            <a:off x="7931775"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9" name="Text 116"/>
          <p:cNvSpPr/>
          <p:nvPr/>
        </p:nvSpPr>
        <p:spPr>
          <a:xfrm>
            <a:off x="8465861" y="509840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530</a:t>
            </a:r>
            <a:endParaRPr lang="en-US" sz="675" dirty="0"/>
          </a:p>
        </p:txBody>
      </p:sp>
      <p:sp>
        <p:nvSpPr>
          <p:cNvPr id="120" name="Text 117"/>
          <p:cNvSpPr/>
          <p:nvPr/>
        </p:nvSpPr>
        <p:spPr>
          <a:xfrm>
            <a:off x="8472484"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21" name="Text 118"/>
          <p:cNvSpPr/>
          <p:nvPr/>
        </p:nvSpPr>
        <p:spPr>
          <a:xfrm>
            <a:off x="9012226" y="502124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551</a:t>
            </a:r>
            <a:endParaRPr lang="en-US" sz="675" dirty="0"/>
          </a:p>
        </p:txBody>
      </p:sp>
      <p:sp>
        <p:nvSpPr>
          <p:cNvPr id="122" name="Text 119"/>
          <p:cNvSpPr/>
          <p:nvPr/>
        </p:nvSpPr>
        <p:spPr>
          <a:xfrm>
            <a:off x="9008728"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23" name="Text 120"/>
          <p:cNvSpPr/>
          <p:nvPr/>
        </p:nvSpPr>
        <p:spPr>
          <a:xfrm>
            <a:off x="9548767" y="477455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618</a:t>
            </a:r>
            <a:endParaRPr lang="en-US" sz="675" dirty="0"/>
          </a:p>
        </p:txBody>
      </p:sp>
      <p:sp>
        <p:nvSpPr>
          <p:cNvPr id="124" name="Text 121"/>
          <p:cNvSpPr/>
          <p:nvPr/>
        </p:nvSpPr>
        <p:spPr>
          <a:xfrm>
            <a:off x="9547874"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25" name="Text 122"/>
          <p:cNvSpPr/>
          <p:nvPr/>
        </p:nvSpPr>
        <p:spPr>
          <a:xfrm>
            <a:off x="10091188" y="4940284"/>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573</a:t>
            </a:r>
            <a:endParaRPr lang="en-US" sz="675" dirty="0"/>
          </a:p>
        </p:txBody>
      </p:sp>
      <p:sp>
        <p:nvSpPr>
          <p:cNvPr id="126" name="Text 123"/>
          <p:cNvSpPr/>
          <p:nvPr/>
        </p:nvSpPr>
        <p:spPr>
          <a:xfrm>
            <a:off x="10090369" y="5260325"/>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27" name="Text 124"/>
          <p:cNvSpPr/>
          <p:nvPr/>
        </p:nvSpPr>
        <p:spPr>
          <a:xfrm>
            <a:off x="1388085" y="2620327"/>
            <a:ext cx="1093105"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8" name="Text 125"/>
          <p:cNvSpPr/>
          <p:nvPr/>
        </p:nvSpPr>
        <p:spPr>
          <a:xfrm>
            <a:off x="1388085" y="2863215"/>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29" name="Text 126"/>
          <p:cNvSpPr/>
          <p:nvPr/>
        </p:nvSpPr>
        <p:spPr>
          <a:xfrm>
            <a:off x="1388085" y="3110865"/>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0" name="Text 127"/>
          <p:cNvSpPr/>
          <p:nvPr/>
        </p:nvSpPr>
        <p:spPr>
          <a:xfrm>
            <a:off x="1388085" y="3358515"/>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1" name="Text 128"/>
          <p:cNvSpPr/>
          <p:nvPr/>
        </p:nvSpPr>
        <p:spPr>
          <a:xfrm>
            <a:off x="1388085" y="3606165"/>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388085" y="3853815"/>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3" name="Text 130"/>
          <p:cNvSpPr/>
          <p:nvPr/>
        </p:nvSpPr>
        <p:spPr>
          <a:xfrm>
            <a:off x="1388085" y="4101465"/>
            <a:ext cx="1093105"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5452170"/>
            <a:ext cx="10778526" cy="16479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78 % del descarte son registros re-enviados (49 %) y clientes con el producto activo (29 %) — depurar la base en origen podría liberar  al semestre.</a:t>
            </a:r>
            <a:endParaRPr lang="en-US" sz="840" dirty="0"/>
          </a:p>
        </p:txBody>
      </p:sp>
      <p:sp>
        <p:nvSpPr>
          <p:cNvPr id="4" name="Text 1"/>
          <p:cNvSpPr/>
          <p:nvPr/>
        </p:nvSpPr>
        <p:spPr>
          <a:xfrm>
            <a:off x="6314917" y="4956870"/>
            <a:ext cx="5307483" cy="128016"/>
          </a:xfrm>
          <a:prstGeom prst="rect">
            <a:avLst/>
          </a:prstGeom>
          <a:noFill/>
          <a:ln/>
        </p:spPr>
        <p:txBody>
          <a:bodyPr wrap="square" lIns="0" tIns="0" rIns="0" bIns="0" rtlCol="0" anchor="t"/>
          <a:lstStyle/>
          <a:p>
            <a:pPr algn="ctr" indent="0" marL="0">
              <a:buNone/>
            </a:pPr>
            <a:r>
              <a:rPr lang="en-US" sz="648"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48" dirty="0"/>
          </a:p>
        </p:txBody>
      </p:sp>
      <p:sp>
        <p:nvSpPr>
          <p:cNvPr id="5" name="Text 2"/>
          <p:cNvSpPr/>
          <p:nvPr/>
        </p:nvSpPr>
        <p:spPr>
          <a:xfrm>
            <a:off x="6314917" y="3544342"/>
            <a:ext cx="1574586" cy="210625"/>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Registros efectivamente marcados por el equipo</a:t>
            </a:r>
            <a:endParaRPr lang="en-US" sz="672" dirty="0"/>
          </a:p>
        </p:txBody>
      </p:sp>
      <p:sp>
        <p:nvSpPr>
          <p:cNvPr id="6" name="Text 3"/>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 venta por cada 66 registros recibidos</a:t>
            </a:r>
            <a:endParaRPr lang="en-US" sz="864" dirty="0"/>
          </a:p>
        </p:txBody>
      </p:sp>
      <p:sp>
        <p:nvSpPr>
          <p:cNvPr id="7" name="Text 4"/>
          <p:cNvSpPr/>
          <p:nvPr/>
        </p:nvSpPr>
        <p:spPr>
          <a:xfrm>
            <a:off x="6314917" y="25285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Bases enviadas por Vanti (Power BI)</a:t>
            </a:r>
            <a:endParaRPr lang="en-US" sz="672" dirty="0"/>
          </a:p>
        </p:txBody>
      </p:sp>
      <p:sp>
        <p:nvSpPr>
          <p:cNvPr id="8" name="Text 5"/>
          <p:cNvSpPr/>
          <p:nvPr/>
        </p:nvSpPr>
        <p:spPr>
          <a:xfrm>
            <a:off x="1213514" y="219075"/>
            <a:ext cx="296292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9" name="Text 6"/>
          <p:cNvSpPr/>
          <p:nvPr/>
        </p:nvSpPr>
        <p:spPr>
          <a:xfrm>
            <a:off x="6314917" y="41287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Clientes con contacto efectivo</a:t>
            </a:r>
            <a:endParaRPr lang="en-US" sz="672" dirty="0"/>
          </a:p>
        </p:txBody>
      </p:sp>
      <p:sp>
        <p:nvSpPr>
          <p:cNvPr id="10" name="Text 7"/>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recibidos (ene–jun)</a:t>
            </a:r>
            <a:endParaRPr lang="en-US" sz="864" dirty="0"/>
          </a:p>
        </p:txBody>
      </p:sp>
      <p:sp>
        <p:nvSpPr>
          <p:cNvPr id="11" name="Text 8"/>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Fuente: dashboards Power BI</a:t>
            </a:r>
            <a:endParaRPr lang="en-US" sz="864" dirty="0"/>
          </a:p>
        </p:txBody>
      </p:sp>
      <p:sp>
        <p:nvSpPr>
          <p:cNvPr id="12" name="Text 9"/>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Solo 40 % apto para gestión</a:t>
            </a:r>
            <a:endParaRPr lang="en-US" sz="864" dirty="0"/>
          </a:p>
        </p:txBody>
      </p:sp>
      <p:sp>
        <p:nvSpPr>
          <p:cNvPr id="13" name="Text 10"/>
          <p:cNvSpPr/>
          <p:nvPr/>
        </p:nvSpPr>
        <p:spPr>
          <a:xfrm>
            <a:off x="6314917" y="30619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Tras depuración y descarte</a:t>
            </a:r>
            <a:endParaRPr lang="en-US" sz="672" dirty="0"/>
          </a:p>
        </p:txBody>
      </p:sp>
      <p:sp>
        <p:nvSpPr>
          <p:cNvPr id="14" name="Text 11"/>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 de base</a:t>
            </a:r>
            <a:endParaRPr lang="en-US" sz="864" dirty="0"/>
          </a:p>
        </p:txBody>
      </p:sp>
      <p:sp>
        <p:nvSpPr>
          <p:cNvPr id="15" name="Text 12"/>
          <p:cNvSpPr/>
          <p:nvPr/>
        </p:nvSpPr>
        <p:spPr>
          <a:xfrm>
            <a:off x="9939089" y="24660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100 % · punto de partida</a:t>
            </a:r>
            <a:endParaRPr lang="en-US" sz="744" dirty="0"/>
          </a:p>
        </p:txBody>
      </p:sp>
      <p:sp>
        <p:nvSpPr>
          <p:cNvPr id="16" name="Text 13"/>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 (liquidación)</a:t>
            </a:r>
            <a:endParaRPr lang="en-US" sz="864" dirty="0"/>
          </a:p>
        </p:txBody>
      </p:sp>
      <p:sp>
        <p:nvSpPr>
          <p:cNvPr id="17" name="Text 14"/>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Aptos (gestionables)</a:t>
            </a:r>
            <a:endParaRPr lang="en-US" sz="864" dirty="0"/>
          </a:p>
        </p:txBody>
      </p:sp>
      <p:sp>
        <p:nvSpPr>
          <p:cNvPr id="18" name="Text 15"/>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De 912.083 recibidos</a:t>
            </a:r>
            <a:endParaRPr lang="en-US" sz="864" dirty="0"/>
          </a:p>
        </p:txBody>
      </p:sp>
      <p:sp>
        <p:nvSpPr>
          <p:cNvPr id="19" name="Text 16"/>
          <p:cNvSpPr/>
          <p:nvPr/>
        </p:nvSpPr>
        <p:spPr>
          <a:xfrm>
            <a:off x="6314917" y="24059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20" name="Text 17"/>
          <p:cNvSpPr/>
          <p:nvPr/>
        </p:nvSpPr>
        <p:spPr>
          <a:xfrm>
            <a:off x="6314917" y="29393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21" name="Text 18"/>
          <p:cNvSpPr/>
          <p:nvPr/>
        </p:nvSpPr>
        <p:spPr>
          <a:xfrm>
            <a:off x="9939089" y="29994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2" name="Text 19"/>
          <p:cNvSpPr/>
          <p:nvPr/>
        </p:nvSpPr>
        <p:spPr>
          <a:xfrm>
            <a:off x="9939089" y="35328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3" name="Text 20"/>
          <p:cNvSpPr/>
          <p:nvPr/>
        </p:nvSpPr>
        <p:spPr>
          <a:xfrm>
            <a:off x="9939089" y="40662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4" name="Text 21"/>
          <p:cNvSpPr/>
          <p:nvPr/>
        </p:nvSpPr>
        <p:spPr>
          <a:xfrm>
            <a:off x="9939089" y="45996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5" name="Text 22"/>
          <p:cNvSpPr/>
          <p:nvPr/>
        </p:nvSpPr>
        <p:spPr>
          <a:xfrm>
            <a:off x="10451640" y="209550"/>
            <a:ext cx="1203626"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Bases</a:t>
            </a:r>
            <a:endParaRPr lang="en-US" sz="840" dirty="0"/>
          </a:p>
        </p:txBody>
      </p:sp>
      <p:sp>
        <p:nvSpPr>
          <p:cNvPr id="26" name="Text 23"/>
          <p:cNvSpPr/>
          <p:nvPr/>
        </p:nvSpPr>
        <p:spPr>
          <a:xfrm>
            <a:off x="6314917" y="46621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Cifra oficial</a:t>
            </a:r>
            <a:endParaRPr lang="en-US" sz="672" dirty="0"/>
          </a:p>
        </p:txBody>
      </p:sp>
      <p:sp>
        <p:nvSpPr>
          <p:cNvPr id="27" name="Text 24"/>
          <p:cNvSpPr/>
          <p:nvPr/>
        </p:nvSpPr>
        <p:spPr>
          <a:xfrm>
            <a:off x="6314917" y="3421707"/>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28" name="Text 25"/>
          <p:cNvSpPr/>
          <p:nvPr/>
        </p:nvSpPr>
        <p:spPr>
          <a:xfrm>
            <a:off x="6314917" y="40061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29" name="Text 26"/>
          <p:cNvSpPr/>
          <p:nvPr/>
        </p:nvSpPr>
        <p:spPr>
          <a:xfrm>
            <a:off x="2267786" y="2218455"/>
            <a:ext cx="114890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0" name="Text 27"/>
          <p:cNvSpPr/>
          <p:nvPr/>
        </p:nvSpPr>
        <p:spPr>
          <a:xfrm>
            <a:off x="1306529" y="2218455"/>
            <a:ext cx="99009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1" name="Text 28"/>
          <p:cNvSpPr/>
          <p:nvPr/>
        </p:nvSpPr>
        <p:spPr>
          <a:xfrm>
            <a:off x="3383225" y="2218455"/>
            <a:ext cx="104604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2" name="Text 29"/>
          <p:cNvSpPr/>
          <p:nvPr/>
        </p:nvSpPr>
        <p:spPr>
          <a:xfrm>
            <a:off x="1306529" y="2447055"/>
            <a:ext cx="990095"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33" name="Text 30"/>
          <p:cNvSpPr/>
          <p:nvPr/>
        </p:nvSpPr>
        <p:spPr>
          <a:xfrm>
            <a:off x="4398803" y="2447055"/>
            <a:ext cx="750810"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34" name="Text 31"/>
          <p:cNvSpPr/>
          <p:nvPr/>
        </p:nvSpPr>
        <p:spPr>
          <a:xfrm>
            <a:off x="1306529" y="293759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5" name="Text 32"/>
          <p:cNvSpPr/>
          <p:nvPr/>
        </p:nvSpPr>
        <p:spPr>
          <a:xfrm>
            <a:off x="1306529" y="31852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36" name="Text 33"/>
          <p:cNvSpPr/>
          <p:nvPr/>
        </p:nvSpPr>
        <p:spPr>
          <a:xfrm>
            <a:off x="2267786" y="31852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37" name="Text 34"/>
          <p:cNvSpPr/>
          <p:nvPr/>
        </p:nvSpPr>
        <p:spPr>
          <a:xfrm>
            <a:off x="1306529" y="343289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38" name="Text 35"/>
          <p:cNvSpPr/>
          <p:nvPr/>
        </p:nvSpPr>
        <p:spPr>
          <a:xfrm>
            <a:off x="2267786" y="343289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39" name="Text 36"/>
          <p:cNvSpPr/>
          <p:nvPr/>
        </p:nvSpPr>
        <p:spPr>
          <a:xfrm>
            <a:off x="1306529" y="36805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0" name="Text 37"/>
          <p:cNvSpPr/>
          <p:nvPr/>
        </p:nvSpPr>
        <p:spPr>
          <a:xfrm>
            <a:off x="2267786" y="36805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41" name="Text 38"/>
          <p:cNvSpPr/>
          <p:nvPr/>
        </p:nvSpPr>
        <p:spPr>
          <a:xfrm>
            <a:off x="1306529" y="3928192"/>
            <a:ext cx="990095"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2" name="Text 39"/>
          <p:cNvSpPr/>
          <p:nvPr/>
        </p:nvSpPr>
        <p:spPr>
          <a:xfrm>
            <a:off x="2267786" y="3928192"/>
            <a:ext cx="1148902"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43" name="Text 40"/>
          <p:cNvSpPr/>
          <p:nvPr/>
        </p:nvSpPr>
        <p:spPr>
          <a:xfrm>
            <a:off x="4398803" y="3928192"/>
            <a:ext cx="750810"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44" name="Text 41"/>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912.083</a:t>
            </a:r>
            <a:endParaRPr lang="en-US" sz="1400" dirty="0"/>
          </a:p>
        </p:txBody>
      </p:sp>
      <p:sp>
        <p:nvSpPr>
          <p:cNvPr id="45" name="Text 42"/>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363.715</a:t>
            </a:r>
            <a:endParaRPr lang="en-US" sz="1400" dirty="0"/>
          </a:p>
        </p:txBody>
      </p:sp>
      <p:sp>
        <p:nvSpPr>
          <p:cNvPr id="46" name="Text 43"/>
          <p:cNvSpPr/>
          <p:nvPr/>
        </p:nvSpPr>
        <p:spPr>
          <a:xfrm>
            <a:off x="7938889" y="2251770"/>
            <a:ext cx="1962101" cy="549402"/>
          </a:xfrm>
          <a:prstGeom prst="rect">
            <a:avLst/>
          </a:prstGeom>
          <a:noFill/>
          <a:ln/>
        </p:spPr>
        <p:txBody>
          <a:bodyPr wrap="square" lIns="0" tIns="0" rIns="0" bIns="0" rtlCol="0" anchor="t"/>
          <a:lstStyle/>
          <a:p>
            <a:pPr algn="ctr" indent="0" marL="0">
              <a:buNone/>
            </a:pPr>
            <a:r>
              <a:rPr lang="en-US" sz="912" b="1" dirty="0">
                <a:solidFill>
                  <a:srgbClr val="FFFFFF"/>
                </a:solidFill>
                <a:latin typeface="Raleway" pitchFamily="34" charset="0"/>
                <a:ea typeface="Raleway" pitchFamily="34" charset="-122"/>
                <a:cs typeface="Raleway" pitchFamily="34" charset="-120"/>
              </a:rPr>
              <a:t>912.083</a:t>
            </a:r>
            <a:endParaRPr lang="en-US" sz="912" dirty="0"/>
          </a:p>
        </p:txBody>
      </p:sp>
      <p:sp>
        <p:nvSpPr>
          <p:cNvPr id="47" name="Text 44"/>
          <p:cNvSpPr/>
          <p:nvPr/>
        </p:nvSpPr>
        <p:spPr>
          <a:xfrm>
            <a:off x="7938889" y="2785170"/>
            <a:ext cx="1962101" cy="549402"/>
          </a:xfrm>
          <a:prstGeom prst="rect">
            <a:avLst/>
          </a:prstGeom>
          <a:noFill/>
          <a:ln/>
        </p:spPr>
        <p:txBody>
          <a:bodyPr wrap="square" lIns="0" tIns="0" rIns="0" bIns="0" rtlCol="0" anchor="t"/>
          <a:lstStyle/>
          <a:p>
            <a:pPr algn="ctr" indent="0" marL="0">
              <a:buNone/>
            </a:pPr>
            <a:r>
              <a:rPr lang="en-US" sz="912" b="1" dirty="0">
                <a:solidFill>
                  <a:srgbClr val="FFFFFF"/>
                </a:solidFill>
                <a:latin typeface="Raleway" pitchFamily="34" charset="0"/>
                <a:ea typeface="Raleway" pitchFamily="34" charset="-122"/>
                <a:cs typeface="Raleway" pitchFamily="34" charset="-120"/>
              </a:rPr>
              <a:t>363.715</a:t>
            </a:r>
            <a:endParaRPr lang="en-US" sz="912" dirty="0"/>
          </a:p>
        </p:txBody>
      </p:sp>
      <p:sp>
        <p:nvSpPr>
          <p:cNvPr id="48" name="Text 45"/>
          <p:cNvSpPr/>
          <p:nvPr/>
        </p:nvSpPr>
        <p:spPr>
          <a:xfrm>
            <a:off x="7938889" y="33185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321.087</a:t>
            </a:r>
            <a:endParaRPr lang="en-US" sz="912" dirty="0"/>
          </a:p>
        </p:txBody>
      </p:sp>
      <p:sp>
        <p:nvSpPr>
          <p:cNvPr id="49" name="Text 46"/>
          <p:cNvSpPr/>
          <p:nvPr/>
        </p:nvSpPr>
        <p:spPr>
          <a:xfrm>
            <a:off x="7938889" y="38519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129.696</a:t>
            </a:r>
            <a:endParaRPr lang="en-US" sz="912" dirty="0"/>
          </a:p>
        </p:txBody>
      </p:sp>
      <p:sp>
        <p:nvSpPr>
          <p:cNvPr id="50" name="Text 47"/>
          <p:cNvSpPr/>
          <p:nvPr/>
        </p:nvSpPr>
        <p:spPr>
          <a:xfrm>
            <a:off x="5127745" y="2218455"/>
            <a:ext cx="77150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1" name="Text 48"/>
          <p:cNvSpPr/>
          <p:nvPr/>
        </p:nvSpPr>
        <p:spPr>
          <a:xfrm>
            <a:off x="2267786" y="2447055"/>
            <a:ext cx="1148902"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52" name="Text 49"/>
          <p:cNvSpPr/>
          <p:nvPr/>
        </p:nvSpPr>
        <p:spPr>
          <a:xfrm>
            <a:off x="1306529" y="26899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53" name="Text 50"/>
          <p:cNvSpPr/>
          <p:nvPr/>
        </p:nvSpPr>
        <p:spPr>
          <a:xfrm>
            <a:off x="2267786" y="26899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54" name="Text 51"/>
          <p:cNvSpPr/>
          <p:nvPr/>
        </p:nvSpPr>
        <p:spPr>
          <a:xfrm>
            <a:off x="4398803" y="26899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5" name="Text 52"/>
          <p:cNvSpPr/>
          <p:nvPr/>
        </p:nvSpPr>
        <p:spPr>
          <a:xfrm>
            <a:off x="2267786" y="293759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56" name="Text 53"/>
          <p:cNvSpPr/>
          <p:nvPr/>
        </p:nvSpPr>
        <p:spPr>
          <a:xfrm>
            <a:off x="4398803" y="293759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57" name="Text 54"/>
          <p:cNvSpPr/>
          <p:nvPr/>
        </p:nvSpPr>
        <p:spPr>
          <a:xfrm>
            <a:off x="4398803" y="31852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58" name="Text 55"/>
          <p:cNvSpPr/>
          <p:nvPr/>
        </p:nvSpPr>
        <p:spPr>
          <a:xfrm>
            <a:off x="4398803" y="343289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59" name="Text 56"/>
          <p:cNvSpPr/>
          <p:nvPr/>
        </p:nvSpPr>
        <p:spPr>
          <a:xfrm>
            <a:off x="4398803" y="36805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60" name="Text 57"/>
          <p:cNvSpPr/>
          <p:nvPr/>
        </p:nvSpPr>
        <p:spPr>
          <a:xfrm>
            <a:off x="5127745" y="3928192"/>
            <a:ext cx="771504"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61" name="Text 58"/>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13.917</a:t>
            </a:r>
            <a:endParaRPr lang="en-US" sz="1400" dirty="0"/>
          </a:p>
        </p:txBody>
      </p:sp>
      <p:sp>
        <p:nvSpPr>
          <p:cNvPr id="62" name="Text 59"/>
          <p:cNvSpPr/>
          <p:nvPr/>
        </p:nvSpPr>
        <p:spPr>
          <a:xfrm>
            <a:off x="7938889" y="43853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13.917</a:t>
            </a:r>
            <a:endParaRPr lang="en-US" sz="912" dirty="0"/>
          </a:p>
        </p:txBody>
      </p:sp>
      <p:sp>
        <p:nvSpPr>
          <p:cNvPr id="63" name="Text 60"/>
          <p:cNvSpPr/>
          <p:nvPr/>
        </p:nvSpPr>
        <p:spPr>
          <a:xfrm>
            <a:off x="4398803" y="2218455"/>
            <a:ext cx="75081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4" name="Text 61"/>
          <p:cNvSpPr/>
          <p:nvPr/>
        </p:nvSpPr>
        <p:spPr>
          <a:xfrm>
            <a:off x="5127745" y="2447055"/>
            <a:ext cx="771504" cy="242888"/>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65" name="Text 62"/>
          <p:cNvSpPr/>
          <p:nvPr/>
        </p:nvSpPr>
        <p:spPr>
          <a:xfrm>
            <a:off x="5127745" y="26899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66" name="Text 63"/>
          <p:cNvSpPr/>
          <p:nvPr/>
        </p:nvSpPr>
        <p:spPr>
          <a:xfrm>
            <a:off x="5127745" y="293759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67" name="Text 64"/>
          <p:cNvSpPr/>
          <p:nvPr/>
        </p:nvSpPr>
        <p:spPr>
          <a:xfrm>
            <a:off x="5127745" y="31852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68" name="Text 65"/>
          <p:cNvSpPr/>
          <p:nvPr/>
        </p:nvSpPr>
        <p:spPr>
          <a:xfrm>
            <a:off x="5127745" y="343289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69" name="Text 66"/>
          <p:cNvSpPr/>
          <p:nvPr/>
        </p:nvSpPr>
        <p:spPr>
          <a:xfrm>
            <a:off x="5127745" y="36805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70" name="Text 67"/>
          <p:cNvSpPr/>
          <p:nvPr/>
        </p:nvSpPr>
        <p:spPr>
          <a:xfrm>
            <a:off x="723882" y="3928192"/>
            <a:ext cx="600127" cy="214313"/>
          </a:xfrm>
          <a:prstGeom prst="rect">
            <a:avLst/>
          </a:prstGeom>
          <a:noFill/>
          <a:ln/>
        </p:spPr>
        <p:txBody>
          <a:bodyPr wrap="square" lIns="38100" tIns="114300" rIns="114300" bIns="38100" rtlCol="0" anchor="ctr"/>
          <a:lstStyle/>
          <a:p>
            <a:pPr algn="l" indent="0" marL="0">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1" name="Text 68"/>
          <p:cNvSpPr/>
          <p:nvPr/>
        </p:nvSpPr>
        <p:spPr>
          <a:xfrm>
            <a:off x="6314917" y="45395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72" name="Text 69"/>
          <p:cNvSpPr/>
          <p:nvPr/>
        </p:nvSpPr>
        <p:spPr>
          <a:xfrm>
            <a:off x="3383225" y="2447055"/>
            <a:ext cx="1046045"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49 %</a:t>
            </a:r>
            <a:endParaRPr lang="en-US" sz="840" dirty="0"/>
          </a:p>
        </p:txBody>
      </p:sp>
      <p:sp>
        <p:nvSpPr>
          <p:cNvPr id="73" name="Text 70"/>
          <p:cNvSpPr/>
          <p:nvPr/>
        </p:nvSpPr>
        <p:spPr>
          <a:xfrm>
            <a:off x="3383225" y="26899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51 %</a:t>
            </a:r>
            <a:endParaRPr lang="en-US" sz="840" dirty="0"/>
          </a:p>
        </p:txBody>
      </p:sp>
      <p:sp>
        <p:nvSpPr>
          <p:cNvPr id="74" name="Text 71"/>
          <p:cNvSpPr/>
          <p:nvPr/>
        </p:nvSpPr>
        <p:spPr>
          <a:xfrm>
            <a:off x="3383225" y="293759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45 %</a:t>
            </a:r>
            <a:endParaRPr lang="en-US" sz="840" dirty="0"/>
          </a:p>
        </p:txBody>
      </p:sp>
      <p:sp>
        <p:nvSpPr>
          <p:cNvPr id="75" name="Text 72"/>
          <p:cNvSpPr/>
          <p:nvPr/>
        </p:nvSpPr>
        <p:spPr>
          <a:xfrm>
            <a:off x="3383225" y="31852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75 %</a:t>
            </a:r>
            <a:endParaRPr lang="en-US" sz="840" dirty="0"/>
          </a:p>
        </p:txBody>
      </p:sp>
      <p:sp>
        <p:nvSpPr>
          <p:cNvPr id="76" name="Text 73"/>
          <p:cNvSpPr/>
          <p:nvPr/>
        </p:nvSpPr>
        <p:spPr>
          <a:xfrm>
            <a:off x="3383225" y="343289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76 %</a:t>
            </a:r>
            <a:endParaRPr lang="en-US" sz="840" dirty="0"/>
          </a:p>
        </p:txBody>
      </p:sp>
      <p:sp>
        <p:nvSpPr>
          <p:cNvPr id="77" name="Text 74"/>
          <p:cNvSpPr/>
          <p:nvPr/>
        </p:nvSpPr>
        <p:spPr>
          <a:xfrm>
            <a:off x="3383225" y="36805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63 %</a:t>
            </a:r>
            <a:endParaRPr lang="en-US" sz="840" dirty="0"/>
          </a:p>
        </p:txBody>
      </p:sp>
      <p:sp>
        <p:nvSpPr>
          <p:cNvPr id="78" name="Text 75"/>
          <p:cNvSpPr/>
          <p:nvPr/>
        </p:nvSpPr>
        <p:spPr>
          <a:xfrm>
            <a:off x="3383225" y="3928192"/>
            <a:ext cx="1046045"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79" name="Text 76"/>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60 %</a:t>
            </a:r>
            <a:endParaRPr lang="en-US" sz="1400" dirty="0"/>
          </a:p>
        </p:txBody>
      </p:sp>
      <p:sp>
        <p:nvSpPr>
          <p:cNvPr id="80" name="Text 77"/>
          <p:cNvSpPr/>
          <p:nvPr/>
        </p:nvSpPr>
        <p:spPr>
          <a:xfrm>
            <a:off x="723882" y="2218455"/>
            <a:ext cx="600127"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1" name="Text 78"/>
          <p:cNvSpPr/>
          <p:nvPr/>
        </p:nvSpPr>
        <p:spPr>
          <a:xfrm>
            <a:off x="723882" y="2447055"/>
            <a:ext cx="600127" cy="242888"/>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2" name="Text 79"/>
          <p:cNvSpPr/>
          <p:nvPr/>
        </p:nvSpPr>
        <p:spPr>
          <a:xfrm>
            <a:off x="723882" y="26899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3" name="Text 80"/>
          <p:cNvSpPr/>
          <p:nvPr/>
        </p:nvSpPr>
        <p:spPr>
          <a:xfrm>
            <a:off x="723882" y="293759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4" name="Text 81"/>
          <p:cNvSpPr/>
          <p:nvPr/>
        </p:nvSpPr>
        <p:spPr>
          <a:xfrm>
            <a:off x="723882" y="31852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
        <p:nvSpPr>
          <p:cNvPr id="85" name="Text 82"/>
          <p:cNvSpPr/>
          <p:nvPr/>
        </p:nvSpPr>
        <p:spPr>
          <a:xfrm>
            <a:off x="723882" y="343289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6" name="Text 83"/>
          <p:cNvSpPr/>
          <p:nvPr/>
        </p:nvSpPr>
        <p:spPr>
          <a:xfrm>
            <a:off x="723882" y="36805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67333" y="4853880"/>
            <a:ext cx="4866010" cy="682920"/>
          </a:xfrm>
          <a:prstGeom prst="rect">
            <a:avLst/>
          </a:prstGeom>
          <a:noFill/>
          <a:ln/>
        </p:spPr>
        <p:txBody>
          <a:bodyPr wrap="squar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el 78 % del descarte corresponde a bases repetidas y clientes con producto activo. Depurar estos registros en origen podría recuperar hasta  por semestre, equivalentes a ~ adicionales aplicando la conversión actual del canal. Una coordinación con Vanti para limpiar la base antes del cargue liberaría capacidad operativa sin aumentar el equipo.</a:t>
            </a:r>
            <a:endParaRPr lang="en-US" sz="696" dirty="0"/>
          </a:p>
        </p:txBody>
      </p:sp>
      <p:sp>
        <p:nvSpPr>
          <p:cNvPr id="4" name="Text 1"/>
          <p:cNvSpPr/>
          <p:nvPr/>
        </p:nvSpPr>
        <p:spPr>
          <a:xfrm>
            <a:off x="704832" y="3720405"/>
            <a:ext cx="5356536"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5" name="Text 2"/>
          <p:cNvSpPr/>
          <p:nvPr/>
        </p:nvSpPr>
        <p:spPr>
          <a:xfrm>
            <a:off x="9067573"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6" name="Text 3"/>
          <p:cNvSpPr/>
          <p:nvPr/>
        </p:nvSpPr>
        <p:spPr>
          <a:xfrm>
            <a:off x="3505112"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7" name="Text 4"/>
          <p:cNvSpPr/>
          <p:nvPr/>
        </p:nvSpPr>
        <p:spPr>
          <a:xfrm>
            <a:off x="6286343"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8" name="Text 5"/>
          <p:cNvSpPr/>
          <p:nvPr/>
        </p:nvSpPr>
        <p:spPr>
          <a:xfrm>
            <a:off x="6286343" y="4653855"/>
            <a:ext cx="5356536"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548.368 registros descartados (60 % de la base total)</a:t>
            </a:r>
            <a:endParaRPr lang="en-US" sz="576" dirty="0"/>
          </a:p>
        </p:txBody>
      </p:sp>
      <p:sp>
        <p:nvSpPr>
          <p:cNvPr id="9" name="Text 6"/>
          <p:cNvSpPr/>
          <p:nvPr/>
        </p:nvSpPr>
        <p:spPr>
          <a:xfrm>
            <a:off x="723882"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10" name="Text 7"/>
          <p:cNvSpPr/>
          <p:nvPr/>
        </p:nvSpPr>
        <p:spPr>
          <a:xfrm>
            <a:off x="704832" y="5758755"/>
            <a:ext cx="5356536"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Cada mes: aptos → gestión → contacto → ventas</a:t>
            </a:r>
            <a:endParaRPr lang="en-US" sz="576" dirty="0"/>
          </a:p>
        </p:txBody>
      </p:sp>
      <p:sp>
        <p:nvSpPr>
          <p:cNvPr id="11" name="Text 8"/>
          <p:cNvSpPr/>
          <p:nvPr/>
        </p:nvSpPr>
        <p:spPr>
          <a:xfrm>
            <a:off x="6286343" y="3720405"/>
            <a:ext cx="5356536" cy="176594"/>
          </a:xfrm>
          <a:prstGeom prst="rect">
            <a:avLst/>
          </a:prstGeom>
          <a:noFill/>
          <a:ln/>
        </p:spPr>
        <p:txBody>
          <a:bodyPr wrap="square" lIns="0" tIns="0" rIns="0" bIns="1905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12" name="Text 9"/>
          <p:cNvSpPr/>
          <p:nvPr/>
        </p:nvSpPr>
        <p:spPr>
          <a:xfrm>
            <a:off x="6286343" y="392043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Registro enviado anteriormente</a:t>
            </a:r>
            <a:endParaRPr lang="en-US" sz="576" dirty="0"/>
          </a:p>
        </p:txBody>
      </p:sp>
      <p:sp>
        <p:nvSpPr>
          <p:cNvPr id="13" name="Text 10"/>
          <p:cNvSpPr/>
          <p:nvPr/>
        </p:nvSpPr>
        <p:spPr>
          <a:xfrm>
            <a:off x="6286343" y="402520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Producto ya activo (CP / MS)</a:t>
            </a:r>
            <a:endParaRPr lang="en-US" sz="576" dirty="0"/>
          </a:p>
        </p:txBody>
      </p:sp>
      <p:sp>
        <p:nvSpPr>
          <p:cNvPr id="14" name="Text 11"/>
          <p:cNvSpPr/>
          <p:nvPr/>
        </p:nvSpPr>
        <p:spPr>
          <a:xfrm>
            <a:off x="6286343" y="412998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Dirección repetida/errónea</a:t>
            </a:r>
            <a:endParaRPr lang="en-US" sz="576" dirty="0"/>
          </a:p>
        </p:txBody>
      </p:sp>
      <p:sp>
        <p:nvSpPr>
          <p:cNvPr id="15" name="Text 12"/>
          <p:cNvSpPr/>
          <p:nvPr/>
        </p:nvSpPr>
        <p:spPr>
          <a:xfrm>
            <a:off x="6286343" y="423475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Contrato / cédula repetida</a:t>
            </a:r>
            <a:endParaRPr lang="en-US" sz="576" dirty="0"/>
          </a:p>
        </p:txBody>
      </p:sp>
      <p:sp>
        <p:nvSpPr>
          <p:cNvPr id="16" name="Text 13"/>
          <p:cNvSpPr/>
          <p:nvPr/>
        </p:nvSpPr>
        <p:spPr>
          <a:xfrm>
            <a:off x="1213514" y="219075"/>
            <a:ext cx="218835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17" name="Text 14"/>
          <p:cNvSpPr/>
          <p:nvPr/>
        </p:nvSpPr>
        <p:spPr>
          <a:xfrm>
            <a:off x="704832" y="324417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CP Clientes Satisf.*</a:t>
            </a:r>
            <a:endParaRPr lang="en-US" sz="792" dirty="0"/>
          </a:p>
        </p:txBody>
      </p:sp>
      <p:sp>
        <p:nvSpPr>
          <p:cNvPr id="18" name="Text 15"/>
          <p:cNvSpPr/>
          <p:nvPr/>
        </p:nvSpPr>
        <p:spPr>
          <a:xfrm>
            <a:off x="704832" y="299652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Masiva Voluntarios</a:t>
            </a:r>
            <a:endParaRPr lang="en-US" sz="792" dirty="0"/>
          </a:p>
        </p:txBody>
      </p:sp>
      <p:sp>
        <p:nvSpPr>
          <p:cNvPr id="19" name="Text 16"/>
          <p:cNvSpPr/>
          <p:nvPr/>
        </p:nvSpPr>
        <p:spPr>
          <a:xfrm>
            <a:off x="9067573"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20" name="Text 17"/>
          <p:cNvSpPr/>
          <p:nvPr/>
        </p:nvSpPr>
        <p:spPr>
          <a:xfrm>
            <a:off x="10153843" y="209550"/>
            <a:ext cx="1510358"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Campañas</a:t>
            </a:r>
            <a:endParaRPr lang="en-US" sz="840" dirty="0"/>
          </a:p>
        </p:txBody>
      </p:sp>
      <p:sp>
        <p:nvSpPr>
          <p:cNvPr id="21" name="Text 18"/>
          <p:cNvSpPr/>
          <p:nvPr/>
        </p:nvSpPr>
        <p:spPr>
          <a:xfrm>
            <a:off x="6286343" y="444430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Teléfono errado</a:t>
            </a:r>
            <a:endParaRPr lang="en-US" sz="576" dirty="0"/>
          </a:p>
        </p:txBody>
      </p:sp>
      <p:sp>
        <p:nvSpPr>
          <p:cNvPr id="22" name="Text 19"/>
          <p:cNvSpPr/>
          <p:nvPr/>
        </p:nvSpPr>
        <p:spPr>
          <a:xfrm>
            <a:off x="4552985" y="2029741"/>
            <a:ext cx="1392938"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23" name="Text 20"/>
          <p:cNvSpPr/>
          <p:nvPr/>
        </p:nvSpPr>
        <p:spPr>
          <a:xfrm>
            <a:off x="704832" y="2258341"/>
            <a:ext cx="1392632" cy="242888"/>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Bienvenidas CP</a:t>
            </a:r>
            <a:endParaRPr lang="en-US" sz="792" dirty="0"/>
          </a:p>
        </p:txBody>
      </p:sp>
      <p:sp>
        <p:nvSpPr>
          <p:cNvPr id="24" name="Text 21"/>
          <p:cNvSpPr/>
          <p:nvPr/>
        </p:nvSpPr>
        <p:spPr>
          <a:xfrm>
            <a:off x="723882"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25" name="Text 22"/>
          <p:cNvSpPr/>
          <p:nvPr/>
        </p:nvSpPr>
        <p:spPr>
          <a:xfrm>
            <a:off x="704832" y="250122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Autogestión</a:t>
            </a:r>
            <a:endParaRPr lang="en-US" sz="792" dirty="0"/>
          </a:p>
        </p:txBody>
      </p:sp>
      <p:sp>
        <p:nvSpPr>
          <p:cNvPr id="26" name="Text 23"/>
          <p:cNvSpPr/>
          <p:nvPr/>
        </p:nvSpPr>
        <p:spPr>
          <a:xfrm>
            <a:off x="3505112"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27" name="Text 24"/>
          <p:cNvSpPr/>
          <p:nvPr/>
        </p:nvSpPr>
        <p:spPr>
          <a:xfrm>
            <a:off x="6286343" y="433953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Supera edad</a:t>
            </a:r>
            <a:endParaRPr lang="en-US" sz="576" dirty="0"/>
          </a:p>
        </p:txBody>
      </p:sp>
      <p:sp>
        <p:nvSpPr>
          <p:cNvPr id="28" name="Text 25"/>
          <p:cNvSpPr/>
          <p:nvPr/>
        </p:nvSpPr>
        <p:spPr>
          <a:xfrm>
            <a:off x="3617028" y="2029741"/>
            <a:ext cx="96403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29" name="Text 26"/>
          <p:cNvSpPr/>
          <p:nvPr/>
        </p:nvSpPr>
        <p:spPr>
          <a:xfrm>
            <a:off x="8492962" y="2001166"/>
            <a:ext cx="1816936"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0" name="Text 27"/>
          <p:cNvSpPr/>
          <p:nvPr/>
        </p:nvSpPr>
        <p:spPr>
          <a:xfrm>
            <a:off x="2056902" y="2029741"/>
            <a:ext cx="85704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1" name="Text 28"/>
          <p:cNvSpPr/>
          <p:nvPr/>
        </p:nvSpPr>
        <p:spPr>
          <a:xfrm>
            <a:off x="7013201" y="2001166"/>
            <a:ext cx="1524154"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2" name="Text 29"/>
          <p:cNvSpPr/>
          <p:nvPr/>
        </p:nvSpPr>
        <p:spPr>
          <a:xfrm>
            <a:off x="704832" y="274887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CP Stock</a:t>
            </a:r>
            <a:endParaRPr lang="en-US" sz="792" dirty="0"/>
          </a:p>
        </p:txBody>
      </p:sp>
      <p:sp>
        <p:nvSpPr>
          <p:cNvPr id="33" name="Text 30"/>
          <p:cNvSpPr/>
          <p:nvPr/>
        </p:nvSpPr>
        <p:spPr>
          <a:xfrm>
            <a:off x="3075159" y="4096666"/>
            <a:ext cx="85412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Contacto</a:t>
            </a:r>
            <a:endParaRPr lang="en-US" sz="888" dirty="0"/>
          </a:p>
        </p:txBody>
      </p:sp>
      <p:sp>
        <p:nvSpPr>
          <p:cNvPr id="34" name="Text 31"/>
          <p:cNvSpPr/>
          <p:nvPr/>
        </p:nvSpPr>
        <p:spPr>
          <a:xfrm>
            <a:off x="6286343"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5" name="Text 32"/>
          <p:cNvSpPr/>
          <p:nvPr/>
        </p:nvSpPr>
        <p:spPr>
          <a:xfrm>
            <a:off x="704832" y="2029741"/>
            <a:ext cx="1392632"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36" name="Text 33"/>
          <p:cNvSpPr/>
          <p:nvPr/>
        </p:nvSpPr>
        <p:spPr>
          <a:xfrm>
            <a:off x="2056902" y="2258341"/>
            <a:ext cx="857040"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114.696</a:t>
            </a:r>
            <a:endParaRPr lang="en-US" sz="792" dirty="0"/>
          </a:p>
        </p:txBody>
      </p:sp>
      <p:sp>
        <p:nvSpPr>
          <p:cNvPr id="37" name="Text 34"/>
          <p:cNvSpPr/>
          <p:nvPr/>
        </p:nvSpPr>
        <p:spPr>
          <a:xfrm>
            <a:off x="2056902" y="274887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420.641</a:t>
            </a:r>
            <a:endParaRPr lang="en-US" sz="792" dirty="0"/>
          </a:p>
        </p:txBody>
      </p:sp>
      <p:sp>
        <p:nvSpPr>
          <p:cNvPr id="38" name="Text 35"/>
          <p:cNvSpPr/>
          <p:nvPr/>
        </p:nvSpPr>
        <p:spPr>
          <a:xfrm>
            <a:off x="2056902" y="299652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255.138</a:t>
            </a:r>
            <a:endParaRPr lang="en-US" sz="792" dirty="0"/>
          </a:p>
        </p:txBody>
      </p:sp>
      <p:sp>
        <p:nvSpPr>
          <p:cNvPr id="39" name="Text 36"/>
          <p:cNvSpPr/>
          <p:nvPr/>
        </p:nvSpPr>
        <p:spPr>
          <a:xfrm>
            <a:off x="2056902" y="324417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108.659</a:t>
            </a:r>
            <a:endParaRPr lang="en-US" sz="792" dirty="0"/>
          </a:p>
        </p:txBody>
      </p:sp>
      <p:sp>
        <p:nvSpPr>
          <p:cNvPr id="40" name="Text 37"/>
          <p:cNvSpPr/>
          <p:nvPr/>
        </p:nvSpPr>
        <p:spPr>
          <a:xfrm>
            <a:off x="2056902" y="3491828"/>
            <a:ext cx="857040"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41" name="Text 38"/>
          <p:cNvSpPr/>
          <p:nvPr/>
        </p:nvSpPr>
        <p:spPr>
          <a:xfrm>
            <a:off x="1686329" y="4096666"/>
            <a:ext cx="731956"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Gestión</a:t>
            </a:r>
            <a:endParaRPr lang="en-US" sz="888" dirty="0"/>
          </a:p>
        </p:txBody>
      </p:sp>
      <p:sp>
        <p:nvSpPr>
          <p:cNvPr id="42" name="Text 39"/>
          <p:cNvSpPr/>
          <p:nvPr/>
        </p:nvSpPr>
        <p:spPr>
          <a:xfrm>
            <a:off x="2396966" y="4096666"/>
            <a:ext cx="698539"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Gest.</a:t>
            </a:r>
            <a:endParaRPr lang="en-US" sz="888" dirty="0"/>
          </a:p>
        </p:txBody>
      </p:sp>
      <p:sp>
        <p:nvSpPr>
          <p:cNvPr id="43" name="Text 40"/>
          <p:cNvSpPr/>
          <p:nvPr/>
        </p:nvSpPr>
        <p:spPr>
          <a:xfrm>
            <a:off x="3904408" y="4096666"/>
            <a:ext cx="673859"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Ctto.</a:t>
            </a:r>
            <a:endParaRPr lang="en-US" sz="888" dirty="0"/>
          </a:p>
        </p:txBody>
      </p:sp>
      <p:sp>
        <p:nvSpPr>
          <p:cNvPr id="44" name="Text 41"/>
          <p:cNvSpPr/>
          <p:nvPr/>
        </p:nvSpPr>
        <p:spPr>
          <a:xfrm>
            <a:off x="5200520" y="4096666"/>
            <a:ext cx="72597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Conv.</a:t>
            </a:r>
            <a:endParaRPr lang="en-US" sz="888" dirty="0"/>
          </a:p>
        </p:txBody>
      </p:sp>
      <p:sp>
        <p:nvSpPr>
          <p:cNvPr id="45" name="Text 42"/>
          <p:cNvSpPr/>
          <p:nvPr/>
        </p:nvSpPr>
        <p:spPr>
          <a:xfrm>
            <a:off x="1125261" y="4268116"/>
            <a:ext cx="577900"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6" name="Text 43"/>
          <p:cNvSpPr/>
          <p:nvPr/>
        </p:nvSpPr>
        <p:spPr>
          <a:xfrm>
            <a:off x="1686329" y="4268116"/>
            <a:ext cx="731956"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7" name="Text 44"/>
          <p:cNvSpPr/>
          <p:nvPr/>
        </p:nvSpPr>
        <p:spPr>
          <a:xfrm>
            <a:off x="1125261" y="5520653"/>
            <a:ext cx="577900"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363.715</a:t>
            </a:r>
            <a:endParaRPr lang="en-US" sz="624" dirty="0"/>
          </a:p>
        </p:txBody>
      </p:sp>
      <p:sp>
        <p:nvSpPr>
          <p:cNvPr id="48" name="Text 45"/>
          <p:cNvSpPr/>
          <p:nvPr/>
        </p:nvSpPr>
        <p:spPr>
          <a:xfrm>
            <a:off x="1686329" y="5520653"/>
            <a:ext cx="731956"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321.087</a:t>
            </a:r>
            <a:endParaRPr lang="en-US" sz="624" dirty="0"/>
          </a:p>
        </p:txBody>
      </p:sp>
      <p:sp>
        <p:nvSpPr>
          <p:cNvPr id="49" name="Text 46"/>
          <p:cNvSpPr/>
          <p:nvPr/>
        </p:nvSpPr>
        <p:spPr>
          <a:xfrm>
            <a:off x="3075159" y="5520653"/>
            <a:ext cx="854127"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129.696</a:t>
            </a:r>
            <a:endParaRPr lang="en-US" sz="624" dirty="0"/>
          </a:p>
        </p:txBody>
      </p:sp>
      <p:sp>
        <p:nvSpPr>
          <p:cNvPr id="50" name="Text 47"/>
          <p:cNvSpPr/>
          <p:nvPr/>
        </p:nvSpPr>
        <p:spPr>
          <a:xfrm>
            <a:off x="10256978" y="2001166"/>
            <a:ext cx="1266781"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51" name="Text 48"/>
          <p:cNvSpPr/>
          <p:nvPr/>
        </p:nvSpPr>
        <p:spPr>
          <a:xfrm>
            <a:off x="7013201" y="2172616"/>
            <a:ext cx="1524154"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201.409</a:t>
            </a:r>
            <a:endParaRPr lang="en-US" sz="672" dirty="0"/>
          </a:p>
        </p:txBody>
      </p:sp>
      <p:sp>
        <p:nvSpPr>
          <p:cNvPr id="52" name="Text 49"/>
          <p:cNvSpPr/>
          <p:nvPr/>
        </p:nvSpPr>
        <p:spPr>
          <a:xfrm>
            <a:off x="7013201" y="258695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134.897</a:t>
            </a:r>
            <a:endParaRPr lang="en-US" sz="672" dirty="0"/>
          </a:p>
        </p:txBody>
      </p:sp>
      <p:sp>
        <p:nvSpPr>
          <p:cNvPr id="53" name="Text 50"/>
          <p:cNvSpPr/>
          <p:nvPr/>
        </p:nvSpPr>
        <p:spPr>
          <a:xfrm>
            <a:off x="7013201" y="27965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153.111</a:t>
            </a:r>
            <a:endParaRPr lang="en-US" sz="672" dirty="0"/>
          </a:p>
        </p:txBody>
      </p:sp>
      <p:sp>
        <p:nvSpPr>
          <p:cNvPr id="54" name="Text 51"/>
          <p:cNvSpPr/>
          <p:nvPr/>
        </p:nvSpPr>
        <p:spPr>
          <a:xfrm>
            <a:off x="8492962" y="27965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114.123</a:t>
            </a:r>
            <a:endParaRPr lang="en-US" sz="672" dirty="0"/>
          </a:p>
        </p:txBody>
      </p:sp>
      <p:sp>
        <p:nvSpPr>
          <p:cNvPr id="55" name="Text 52"/>
          <p:cNvSpPr/>
          <p:nvPr/>
        </p:nvSpPr>
        <p:spPr>
          <a:xfrm>
            <a:off x="7013201" y="300605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154.335</a:t>
            </a:r>
            <a:endParaRPr lang="en-US" sz="672" dirty="0"/>
          </a:p>
        </p:txBody>
      </p:sp>
      <p:sp>
        <p:nvSpPr>
          <p:cNvPr id="56" name="Text 53"/>
          <p:cNvSpPr/>
          <p:nvPr/>
        </p:nvSpPr>
        <p:spPr>
          <a:xfrm>
            <a:off x="8492962" y="300605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116.691</a:t>
            </a:r>
            <a:endParaRPr lang="en-US" sz="672" dirty="0"/>
          </a:p>
        </p:txBody>
      </p:sp>
      <p:sp>
        <p:nvSpPr>
          <p:cNvPr id="57" name="Text 54"/>
          <p:cNvSpPr/>
          <p:nvPr/>
        </p:nvSpPr>
        <p:spPr>
          <a:xfrm>
            <a:off x="7013201" y="32156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173.413</a:t>
            </a:r>
            <a:endParaRPr lang="en-US" sz="672" dirty="0"/>
          </a:p>
        </p:txBody>
      </p:sp>
      <p:sp>
        <p:nvSpPr>
          <p:cNvPr id="58" name="Text 55"/>
          <p:cNvSpPr/>
          <p:nvPr/>
        </p:nvSpPr>
        <p:spPr>
          <a:xfrm>
            <a:off x="8492962" y="32156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109.130</a:t>
            </a:r>
            <a:endParaRPr lang="en-US" sz="672" dirty="0"/>
          </a:p>
        </p:txBody>
      </p:sp>
      <p:sp>
        <p:nvSpPr>
          <p:cNvPr id="59" name="Text 56"/>
          <p:cNvSpPr/>
          <p:nvPr/>
        </p:nvSpPr>
        <p:spPr>
          <a:xfrm>
            <a:off x="7013201" y="3425153"/>
            <a:ext cx="1524154"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912.083</a:t>
            </a:r>
            <a:endParaRPr lang="en-US" sz="624" dirty="0"/>
          </a:p>
        </p:txBody>
      </p:sp>
      <p:sp>
        <p:nvSpPr>
          <p:cNvPr id="60" name="Text 57"/>
          <p:cNvSpPr/>
          <p:nvPr/>
        </p:nvSpPr>
        <p:spPr>
          <a:xfrm>
            <a:off x="8492962" y="3425153"/>
            <a:ext cx="1816936"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548.368</a:t>
            </a:r>
            <a:endParaRPr lang="en-US" sz="624" dirty="0"/>
          </a:p>
        </p:txBody>
      </p:sp>
      <p:sp>
        <p:nvSpPr>
          <p:cNvPr id="61" name="Text 58"/>
          <p:cNvSpPr/>
          <p:nvPr/>
        </p:nvSpPr>
        <p:spPr>
          <a:xfrm>
            <a:off x="2888979" y="2029741"/>
            <a:ext cx="74989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2" name="Text 59"/>
          <p:cNvSpPr/>
          <p:nvPr/>
        </p:nvSpPr>
        <p:spPr>
          <a:xfrm>
            <a:off x="4552985" y="2258341"/>
            <a:ext cx="1392938"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19,5 %</a:t>
            </a:r>
            <a:endParaRPr lang="en-US" sz="792" dirty="0"/>
          </a:p>
        </p:txBody>
      </p:sp>
      <p:sp>
        <p:nvSpPr>
          <p:cNvPr id="63" name="Text 60"/>
          <p:cNvSpPr/>
          <p:nvPr/>
        </p:nvSpPr>
        <p:spPr>
          <a:xfrm>
            <a:off x="2056902" y="250122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11.686</a:t>
            </a:r>
            <a:endParaRPr lang="en-US" sz="792" dirty="0"/>
          </a:p>
        </p:txBody>
      </p:sp>
      <p:sp>
        <p:nvSpPr>
          <p:cNvPr id="64" name="Text 61"/>
          <p:cNvSpPr/>
          <p:nvPr/>
        </p:nvSpPr>
        <p:spPr>
          <a:xfrm>
            <a:off x="4552985" y="250122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26,6 %</a:t>
            </a:r>
            <a:endParaRPr lang="en-US" sz="792" dirty="0"/>
          </a:p>
        </p:txBody>
      </p:sp>
      <p:sp>
        <p:nvSpPr>
          <p:cNvPr id="65" name="Text 62"/>
          <p:cNvSpPr/>
          <p:nvPr/>
        </p:nvSpPr>
        <p:spPr>
          <a:xfrm>
            <a:off x="2888979" y="3491828"/>
            <a:ext cx="749890"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66" name="Text 63"/>
          <p:cNvSpPr/>
          <p:nvPr/>
        </p:nvSpPr>
        <p:spPr>
          <a:xfrm>
            <a:off x="4558640" y="4096666"/>
            <a:ext cx="661136"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7" name="Text 64"/>
          <p:cNvSpPr/>
          <p:nvPr/>
        </p:nvSpPr>
        <p:spPr>
          <a:xfrm>
            <a:off x="3075159" y="4268116"/>
            <a:ext cx="854127"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68" name="Text 65"/>
          <p:cNvSpPr/>
          <p:nvPr/>
        </p:nvSpPr>
        <p:spPr>
          <a:xfrm>
            <a:off x="1125261" y="44729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69" name="Text 66"/>
          <p:cNvSpPr/>
          <p:nvPr/>
        </p:nvSpPr>
        <p:spPr>
          <a:xfrm>
            <a:off x="1686329" y="44729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70" name="Text 67"/>
          <p:cNvSpPr/>
          <p:nvPr/>
        </p:nvSpPr>
        <p:spPr>
          <a:xfrm>
            <a:off x="3075159" y="44729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71" name="Text 68"/>
          <p:cNvSpPr/>
          <p:nvPr/>
        </p:nvSpPr>
        <p:spPr>
          <a:xfrm>
            <a:off x="1125261" y="468245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72" name="Text 69"/>
          <p:cNvSpPr/>
          <p:nvPr/>
        </p:nvSpPr>
        <p:spPr>
          <a:xfrm>
            <a:off x="1686329" y="468245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73" name="Text 70"/>
          <p:cNvSpPr/>
          <p:nvPr/>
        </p:nvSpPr>
        <p:spPr>
          <a:xfrm>
            <a:off x="3075159" y="468245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74" name="Text 71"/>
          <p:cNvSpPr/>
          <p:nvPr/>
        </p:nvSpPr>
        <p:spPr>
          <a:xfrm>
            <a:off x="1125261" y="48920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75" name="Text 72"/>
          <p:cNvSpPr/>
          <p:nvPr/>
        </p:nvSpPr>
        <p:spPr>
          <a:xfrm>
            <a:off x="1686329" y="48920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76" name="Text 73"/>
          <p:cNvSpPr/>
          <p:nvPr/>
        </p:nvSpPr>
        <p:spPr>
          <a:xfrm>
            <a:off x="3075159" y="48920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77" name="Text 74"/>
          <p:cNvSpPr/>
          <p:nvPr/>
        </p:nvSpPr>
        <p:spPr>
          <a:xfrm>
            <a:off x="1125261" y="510155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78" name="Text 75"/>
          <p:cNvSpPr/>
          <p:nvPr/>
        </p:nvSpPr>
        <p:spPr>
          <a:xfrm>
            <a:off x="1686329" y="510155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79" name="Text 76"/>
          <p:cNvSpPr/>
          <p:nvPr/>
        </p:nvSpPr>
        <p:spPr>
          <a:xfrm>
            <a:off x="3075159" y="510155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80" name="Text 77"/>
          <p:cNvSpPr/>
          <p:nvPr/>
        </p:nvSpPr>
        <p:spPr>
          <a:xfrm>
            <a:off x="1125261" y="53111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81" name="Text 78"/>
          <p:cNvSpPr/>
          <p:nvPr/>
        </p:nvSpPr>
        <p:spPr>
          <a:xfrm>
            <a:off x="1686329" y="53111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82" name="Text 79"/>
          <p:cNvSpPr/>
          <p:nvPr/>
        </p:nvSpPr>
        <p:spPr>
          <a:xfrm>
            <a:off x="3075159" y="53111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83" name="Text 80"/>
          <p:cNvSpPr/>
          <p:nvPr/>
        </p:nvSpPr>
        <p:spPr>
          <a:xfrm>
            <a:off x="4558640" y="5520653"/>
            <a:ext cx="661136"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13.917</a:t>
            </a:r>
            <a:endParaRPr lang="en-US" sz="624" dirty="0"/>
          </a:p>
        </p:txBody>
      </p:sp>
      <p:sp>
        <p:nvSpPr>
          <p:cNvPr id="84" name="Text 81"/>
          <p:cNvSpPr/>
          <p:nvPr/>
        </p:nvSpPr>
        <p:spPr>
          <a:xfrm>
            <a:off x="8492962" y="2172616"/>
            <a:ext cx="1816936"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99.241</a:t>
            </a:r>
            <a:endParaRPr lang="en-US" sz="672" dirty="0"/>
          </a:p>
        </p:txBody>
      </p:sp>
      <p:sp>
        <p:nvSpPr>
          <p:cNvPr id="85" name="Text 82"/>
          <p:cNvSpPr/>
          <p:nvPr/>
        </p:nvSpPr>
        <p:spPr>
          <a:xfrm>
            <a:off x="10256978" y="2172616"/>
            <a:ext cx="1266781"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49,3 %</a:t>
            </a:r>
            <a:endParaRPr lang="en-US" sz="672" dirty="0"/>
          </a:p>
        </p:txBody>
      </p:sp>
      <p:sp>
        <p:nvSpPr>
          <p:cNvPr id="86" name="Text 83"/>
          <p:cNvSpPr/>
          <p:nvPr/>
        </p:nvSpPr>
        <p:spPr>
          <a:xfrm>
            <a:off x="7013201" y="23774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94.918</a:t>
            </a:r>
            <a:endParaRPr lang="en-US" sz="672" dirty="0"/>
          </a:p>
        </p:txBody>
      </p:sp>
      <p:sp>
        <p:nvSpPr>
          <p:cNvPr id="87" name="Text 84"/>
          <p:cNvSpPr/>
          <p:nvPr/>
        </p:nvSpPr>
        <p:spPr>
          <a:xfrm>
            <a:off x="8492962" y="23774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48.185</a:t>
            </a:r>
            <a:endParaRPr lang="en-US" sz="672" dirty="0"/>
          </a:p>
        </p:txBody>
      </p:sp>
      <p:sp>
        <p:nvSpPr>
          <p:cNvPr id="88" name="Text 85"/>
          <p:cNvSpPr/>
          <p:nvPr/>
        </p:nvSpPr>
        <p:spPr>
          <a:xfrm>
            <a:off x="10256978" y="23774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50,8 %</a:t>
            </a:r>
            <a:endParaRPr lang="en-US" sz="672" dirty="0"/>
          </a:p>
        </p:txBody>
      </p:sp>
      <p:sp>
        <p:nvSpPr>
          <p:cNvPr id="89" name="Text 86"/>
          <p:cNvSpPr/>
          <p:nvPr/>
        </p:nvSpPr>
        <p:spPr>
          <a:xfrm>
            <a:off x="8492962" y="258695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60.998</a:t>
            </a:r>
            <a:endParaRPr lang="en-US" sz="672" dirty="0"/>
          </a:p>
        </p:txBody>
      </p:sp>
      <p:sp>
        <p:nvSpPr>
          <p:cNvPr id="90" name="Text 87"/>
          <p:cNvSpPr/>
          <p:nvPr/>
        </p:nvSpPr>
        <p:spPr>
          <a:xfrm>
            <a:off x="10256978" y="258695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45,2 %</a:t>
            </a:r>
            <a:endParaRPr lang="en-US" sz="672" dirty="0"/>
          </a:p>
        </p:txBody>
      </p:sp>
      <p:sp>
        <p:nvSpPr>
          <p:cNvPr id="91" name="Text 88"/>
          <p:cNvSpPr/>
          <p:nvPr/>
        </p:nvSpPr>
        <p:spPr>
          <a:xfrm>
            <a:off x="10256978" y="27965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74,5 %</a:t>
            </a:r>
            <a:endParaRPr lang="en-US" sz="672" dirty="0"/>
          </a:p>
        </p:txBody>
      </p:sp>
      <p:sp>
        <p:nvSpPr>
          <p:cNvPr id="92" name="Text 89"/>
          <p:cNvSpPr/>
          <p:nvPr/>
        </p:nvSpPr>
        <p:spPr>
          <a:xfrm>
            <a:off x="10256978" y="300605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75,6 %</a:t>
            </a:r>
            <a:endParaRPr lang="en-US" sz="672" dirty="0"/>
          </a:p>
        </p:txBody>
      </p:sp>
      <p:sp>
        <p:nvSpPr>
          <p:cNvPr id="93" name="Text 90"/>
          <p:cNvSpPr/>
          <p:nvPr/>
        </p:nvSpPr>
        <p:spPr>
          <a:xfrm>
            <a:off x="10256978" y="32156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62,9 %</a:t>
            </a:r>
            <a:endParaRPr lang="en-US" sz="672" dirty="0"/>
          </a:p>
        </p:txBody>
      </p:sp>
      <p:sp>
        <p:nvSpPr>
          <p:cNvPr id="94" name="Text 91"/>
          <p:cNvSpPr/>
          <p:nvPr/>
        </p:nvSpPr>
        <p:spPr>
          <a:xfrm>
            <a:off x="10256978" y="3425153"/>
            <a:ext cx="1266781"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60,1 %</a:t>
            </a:r>
            <a:endParaRPr lang="en-US" sz="624" dirty="0"/>
          </a:p>
        </p:txBody>
      </p:sp>
      <p:sp>
        <p:nvSpPr>
          <p:cNvPr id="95" name="Text 92"/>
          <p:cNvSpPr/>
          <p:nvPr/>
        </p:nvSpPr>
        <p:spPr>
          <a:xfrm>
            <a:off x="1088204"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6" name="Text 93"/>
          <p:cNvSpPr/>
          <p:nvPr/>
        </p:nvSpPr>
        <p:spPr>
          <a:xfrm>
            <a:off x="3505112" y="1114425"/>
            <a:ext cx="2511489" cy="133365"/>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97" name="Text 94"/>
          <p:cNvSpPr/>
          <p:nvPr/>
        </p:nvSpPr>
        <p:spPr>
          <a:xfrm>
            <a:off x="6649177"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8" name="Text 95"/>
          <p:cNvSpPr/>
          <p:nvPr/>
        </p:nvSpPr>
        <p:spPr>
          <a:xfrm>
            <a:off x="9317301"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9" name="Text 96"/>
          <p:cNvSpPr/>
          <p:nvPr/>
        </p:nvSpPr>
        <p:spPr>
          <a:xfrm>
            <a:off x="2888979" y="2258341"/>
            <a:ext cx="749890" cy="242888"/>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6.881</a:t>
            </a:r>
            <a:endParaRPr lang="en-US" sz="792" dirty="0"/>
          </a:p>
        </p:txBody>
      </p:sp>
      <p:sp>
        <p:nvSpPr>
          <p:cNvPr id="100" name="Text 97"/>
          <p:cNvSpPr/>
          <p:nvPr/>
        </p:nvSpPr>
        <p:spPr>
          <a:xfrm>
            <a:off x="2888979" y="274887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3.073</a:t>
            </a:r>
            <a:endParaRPr lang="en-US" sz="792" dirty="0"/>
          </a:p>
        </p:txBody>
      </p:sp>
      <p:sp>
        <p:nvSpPr>
          <p:cNvPr id="101" name="Text 98"/>
          <p:cNvSpPr/>
          <p:nvPr/>
        </p:nvSpPr>
        <p:spPr>
          <a:xfrm>
            <a:off x="4552985" y="274887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4,6 %</a:t>
            </a:r>
            <a:endParaRPr lang="en-US" sz="792" dirty="0"/>
          </a:p>
        </p:txBody>
      </p:sp>
      <p:sp>
        <p:nvSpPr>
          <p:cNvPr id="102" name="Text 99"/>
          <p:cNvSpPr/>
          <p:nvPr/>
        </p:nvSpPr>
        <p:spPr>
          <a:xfrm>
            <a:off x="4552985" y="299652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03" name="Text 100"/>
          <p:cNvSpPr/>
          <p:nvPr/>
        </p:nvSpPr>
        <p:spPr>
          <a:xfrm>
            <a:off x="4552985" y="324417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1,2 %</a:t>
            </a:r>
            <a:endParaRPr lang="en-US" sz="792" dirty="0"/>
          </a:p>
        </p:txBody>
      </p:sp>
      <p:sp>
        <p:nvSpPr>
          <p:cNvPr id="104" name="Text 101"/>
          <p:cNvSpPr/>
          <p:nvPr/>
        </p:nvSpPr>
        <p:spPr>
          <a:xfrm>
            <a:off x="704832" y="3491828"/>
            <a:ext cx="1392632" cy="185738"/>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105" name="Text 102"/>
          <p:cNvSpPr/>
          <p:nvPr/>
        </p:nvSpPr>
        <p:spPr>
          <a:xfrm>
            <a:off x="4552985" y="3491828"/>
            <a:ext cx="1392938"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106" name="Text 103"/>
          <p:cNvSpPr/>
          <p:nvPr/>
        </p:nvSpPr>
        <p:spPr>
          <a:xfrm>
            <a:off x="1125261" y="4096666"/>
            <a:ext cx="5779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07" name="Text 104"/>
          <p:cNvSpPr/>
          <p:nvPr/>
        </p:nvSpPr>
        <p:spPr>
          <a:xfrm>
            <a:off x="4558640" y="4268116"/>
            <a:ext cx="661136" cy="204787"/>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108" name="Text 105"/>
          <p:cNvSpPr/>
          <p:nvPr/>
        </p:nvSpPr>
        <p:spPr>
          <a:xfrm>
            <a:off x="4558640" y="44729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109" name="Text 106"/>
          <p:cNvSpPr/>
          <p:nvPr/>
        </p:nvSpPr>
        <p:spPr>
          <a:xfrm>
            <a:off x="4558640" y="468245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110" name="Text 107"/>
          <p:cNvSpPr/>
          <p:nvPr/>
        </p:nvSpPr>
        <p:spPr>
          <a:xfrm>
            <a:off x="4558640" y="48920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111" name="Text 108"/>
          <p:cNvSpPr/>
          <p:nvPr/>
        </p:nvSpPr>
        <p:spPr>
          <a:xfrm>
            <a:off x="4558640" y="510155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112" name="Text 109"/>
          <p:cNvSpPr/>
          <p:nvPr/>
        </p:nvSpPr>
        <p:spPr>
          <a:xfrm>
            <a:off x="4558640" y="53111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113" name="Text 110"/>
          <p:cNvSpPr/>
          <p:nvPr/>
        </p:nvSpPr>
        <p:spPr>
          <a:xfrm>
            <a:off x="704832" y="5520653"/>
            <a:ext cx="433042" cy="204787"/>
          </a:xfrm>
          <a:prstGeom prst="rect">
            <a:avLst/>
          </a:prstGeom>
          <a:noFill/>
          <a:ln/>
        </p:spPr>
        <p:txBody>
          <a:bodyPr wrap="square" lIns="19050" tIns="38100" rIns="38100" bIns="19050" rtlCol="0" anchor="ctr"/>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4" name="Text 111"/>
          <p:cNvSpPr/>
          <p:nvPr/>
        </p:nvSpPr>
        <p:spPr>
          <a:xfrm>
            <a:off x="6286343" y="3425153"/>
            <a:ext cx="748664" cy="204787"/>
          </a:xfrm>
          <a:prstGeom prst="rect">
            <a:avLst/>
          </a:prstGeom>
          <a:noFill/>
          <a:ln/>
        </p:spPr>
        <p:txBody>
          <a:bodyPr wrap="square" lIns="19050" tIns="47625" rIns="47625" bIns="19050" rtlCol="0" anchor="ctr"/>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5" name="Text 112"/>
          <p:cNvSpPr/>
          <p:nvPr/>
        </p:nvSpPr>
        <p:spPr>
          <a:xfrm>
            <a:off x="723882" y="1114425"/>
            <a:ext cx="2511489" cy="133365"/>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116" name="Text 113"/>
          <p:cNvSpPr/>
          <p:nvPr/>
        </p:nvSpPr>
        <p:spPr>
          <a:xfrm>
            <a:off x="6286343" y="1114425"/>
            <a:ext cx="2511489" cy="13336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117" name="Text 114"/>
          <p:cNvSpPr/>
          <p:nvPr/>
        </p:nvSpPr>
        <p:spPr>
          <a:xfrm>
            <a:off x="6286343" y="454908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Otros</a:t>
            </a:r>
            <a:endParaRPr lang="en-US" sz="576" dirty="0"/>
          </a:p>
        </p:txBody>
      </p:sp>
      <p:sp>
        <p:nvSpPr>
          <p:cNvPr id="118" name="Text 115"/>
          <p:cNvSpPr/>
          <p:nvPr/>
        </p:nvSpPr>
        <p:spPr>
          <a:xfrm>
            <a:off x="3617028" y="2258341"/>
            <a:ext cx="964035"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79 %</a:t>
            </a:r>
            <a:endParaRPr lang="en-US" sz="792" dirty="0"/>
          </a:p>
        </p:txBody>
      </p:sp>
      <p:sp>
        <p:nvSpPr>
          <p:cNvPr id="119" name="Text 116"/>
          <p:cNvSpPr/>
          <p:nvPr/>
        </p:nvSpPr>
        <p:spPr>
          <a:xfrm>
            <a:off x="3617028" y="250122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71 %</a:t>
            </a:r>
            <a:endParaRPr lang="en-US" sz="792" dirty="0"/>
          </a:p>
        </p:txBody>
      </p:sp>
      <p:sp>
        <p:nvSpPr>
          <p:cNvPr id="120" name="Text 117"/>
          <p:cNvSpPr/>
          <p:nvPr/>
        </p:nvSpPr>
        <p:spPr>
          <a:xfrm>
            <a:off x="3617028" y="274887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49 %</a:t>
            </a:r>
            <a:endParaRPr lang="en-US" sz="792" dirty="0"/>
          </a:p>
        </p:txBody>
      </p:sp>
      <p:sp>
        <p:nvSpPr>
          <p:cNvPr id="121" name="Text 118"/>
          <p:cNvSpPr/>
          <p:nvPr/>
        </p:nvSpPr>
        <p:spPr>
          <a:xfrm>
            <a:off x="3617028" y="299652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17 %</a:t>
            </a:r>
            <a:endParaRPr lang="en-US" sz="792" dirty="0"/>
          </a:p>
        </p:txBody>
      </p:sp>
      <p:sp>
        <p:nvSpPr>
          <p:cNvPr id="122" name="Text 119"/>
          <p:cNvSpPr/>
          <p:nvPr/>
        </p:nvSpPr>
        <p:spPr>
          <a:xfrm>
            <a:off x="3617028" y="324417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23" name="Text 120"/>
          <p:cNvSpPr/>
          <p:nvPr/>
        </p:nvSpPr>
        <p:spPr>
          <a:xfrm>
            <a:off x="3617028" y="3491828"/>
            <a:ext cx="964035"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124" name="Text 121"/>
          <p:cNvSpPr/>
          <p:nvPr/>
        </p:nvSpPr>
        <p:spPr>
          <a:xfrm>
            <a:off x="2396966" y="4268116"/>
            <a:ext cx="698539"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5" name="Text 122"/>
          <p:cNvSpPr/>
          <p:nvPr/>
        </p:nvSpPr>
        <p:spPr>
          <a:xfrm>
            <a:off x="2396966" y="510155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6" name="Text 123"/>
          <p:cNvSpPr/>
          <p:nvPr/>
        </p:nvSpPr>
        <p:spPr>
          <a:xfrm>
            <a:off x="2888979" y="250122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791</a:t>
            </a:r>
            <a:endParaRPr lang="en-US" sz="792" dirty="0"/>
          </a:p>
        </p:txBody>
      </p:sp>
      <p:sp>
        <p:nvSpPr>
          <p:cNvPr id="127" name="Text 124"/>
          <p:cNvSpPr/>
          <p:nvPr/>
        </p:nvSpPr>
        <p:spPr>
          <a:xfrm>
            <a:off x="2888979" y="299652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318</a:t>
            </a:r>
            <a:endParaRPr lang="en-US" sz="792" dirty="0"/>
          </a:p>
        </p:txBody>
      </p:sp>
      <p:sp>
        <p:nvSpPr>
          <p:cNvPr id="128" name="Text 125"/>
          <p:cNvSpPr/>
          <p:nvPr/>
        </p:nvSpPr>
        <p:spPr>
          <a:xfrm>
            <a:off x="704832" y="4096666"/>
            <a:ext cx="433042"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29" name="Text 126"/>
          <p:cNvSpPr/>
          <p:nvPr/>
        </p:nvSpPr>
        <p:spPr>
          <a:xfrm>
            <a:off x="704832" y="4268116"/>
            <a:ext cx="433042" cy="204787"/>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30" name="Text 127"/>
          <p:cNvSpPr/>
          <p:nvPr/>
        </p:nvSpPr>
        <p:spPr>
          <a:xfrm>
            <a:off x="3904408" y="4268116"/>
            <a:ext cx="673859"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a:t>
            </a:r>
            <a:endParaRPr lang="en-US" sz="660" dirty="0"/>
          </a:p>
        </p:txBody>
      </p:sp>
      <p:sp>
        <p:nvSpPr>
          <p:cNvPr id="131" name="Text 128"/>
          <p:cNvSpPr/>
          <p:nvPr/>
        </p:nvSpPr>
        <p:spPr>
          <a:xfrm>
            <a:off x="5200520" y="4268116"/>
            <a:ext cx="725977"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32" name="Text 129"/>
          <p:cNvSpPr/>
          <p:nvPr/>
        </p:nvSpPr>
        <p:spPr>
          <a:xfrm>
            <a:off x="704832" y="44729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33" name="Text 130"/>
          <p:cNvSpPr/>
          <p:nvPr/>
        </p:nvSpPr>
        <p:spPr>
          <a:xfrm>
            <a:off x="2396966" y="44729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99%</a:t>
            </a:r>
            <a:endParaRPr lang="en-US" sz="660" dirty="0"/>
          </a:p>
        </p:txBody>
      </p:sp>
      <p:sp>
        <p:nvSpPr>
          <p:cNvPr id="134" name="Text 131"/>
          <p:cNvSpPr/>
          <p:nvPr/>
        </p:nvSpPr>
        <p:spPr>
          <a:xfrm>
            <a:off x="3904408" y="44729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43%</a:t>
            </a:r>
            <a:endParaRPr lang="en-US" sz="660" dirty="0"/>
          </a:p>
        </p:txBody>
      </p:sp>
      <p:sp>
        <p:nvSpPr>
          <p:cNvPr id="135" name="Text 132"/>
          <p:cNvSpPr/>
          <p:nvPr/>
        </p:nvSpPr>
        <p:spPr>
          <a:xfrm>
            <a:off x="5200520" y="44729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12%</a:t>
            </a:r>
            <a:endParaRPr lang="en-US" sz="660" dirty="0"/>
          </a:p>
        </p:txBody>
      </p:sp>
      <p:sp>
        <p:nvSpPr>
          <p:cNvPr id="136" name="Text 133"/>
          <p:cNvSpPr/>
          <p:nvPr/>
        </p:nvSpPr>
        <p:spPr>
          <a:xfrm>
            <a:off x="704832" y="468245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37" name="Text 134"/>
          <p:cNvSpPr/>
          <p:nvPr/>
        </p:nvSpPr>
        <p:spPr>
          <a:xfrm>
            <a:off x="2396966" y="468245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82%</a:t>
            </a:r>
            <a:endParaRPr lang="en-US" sz="660" dirty="0"/>
          </a:p>
        </p:txBody>
      </p:sp>
      <p:sp>
        <p:nvSpPr>
          <p:cNvPr id="138" name="Text 135"/>
          <p:cNvSpPr/>
          <p:nvPr/>
        </p:nvSpPr>
        <p:spPr>
          <a:xfrm>
            <a:off x="3904408" y="468245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45%</a:t>
            </a:r>
            <a:endParaRPr lang="en-US" sz="660" dirty="0"/>
          </a:p>
        </p:txBody>
      </p:sp>
      <p:sp>
        <p:nvSpPr>
          <p:cNvPr id="139" name="Text 136"/>
          <p:cNvSpPr/>
          <p:nvPr/>
        </p:nvSpPr>
        <p:spPr>
          <a:xfrm>
            <a:off x="704832" y="48920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40" name="Text 137"/>
          <p:cNvSpPr/>
          <p:nvPr/>
        </p:nvSpPr>
        <p:spPr>
          <a:xfrm>
            <a:off x="2396966" y="48920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80%</a:t>
            </a:r>
            <a:endParaRPr lang="en-US" sz="660" dirty="0"/>
          </a:p>
        </p:txBody>
      </p:sp>
      <p:sp>
        <p:nvSpPr>
          <p:cNvPr id="141" name="Text 138"/>
          <p:cNvSpPr/>
          <p:nvPr/>
        </p:nvSpPr>
        <p:spPr>
          <a:xfrm>
            <a:off x="3904408" y="48920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52%</a:t>
            </a:r>
            <a:endParaRPr lang="en-US" sz="660" dirty="0"/>
          </a:p>
        </p:txBody>
      </p:sp>
      <p:sp>
        <p:nvSpPr>
          <p:cNvPr id="142" name="Text 139"/>
          <p:cNvSpPr/>
          <p:nvPr/>
        </p:nvSpPr>
        <p:spPr>
          <a:xfrm>
            <a:off x="5200520" y="48920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a:t>
            </a:r>
            <a:endParaRPr lang="en-US" sz="660" dirty="0"/>
          </a:p>
        </p:txBody>
      </p:sp>
      <p:sp>
        <p:nvSpPr>
          <p:cNvPr id="143" name="Text 140"/>
          <p:cNvSpPr/>
          <p:nvPr/>
        </p:nvSpPr>
        <p:spPr>
          <a:xfrm>
            <a:off x="704832" y="510155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44" name="Text 141"/>
          <p:cNvSpPr/>
          <p:nvPr/>
        </p:nvSpPr>
        <p:spPr>
          <a:xfrm>
            <a:off x="3904408" y="510155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64%</a:t>
            </a:r>
            <a:endParaRPr lang="en-US" sz="660" dirty="0"/>
          </a:p>
        </p:txBody>
      </p:sp>
      <p:sp>
        <p:nvSpPr>
          <p:cNvPr id="145" name="Text 142"/>
          <p:cNvSpPr/>
          <p:nvPr/>
        </p:nvSpPr>
        <p:spPr>
          <a:xfrm>
            <a:off x="704832" y="53111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46" name="Text 143"/>
          <p:cNvSpPr/>
          <p:nvPr/>
        </p:nvSpPr>
        <p:spPr>
          <a:xfrm>
            <a:off x="2396966" y="53111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68%</a:t>
            </a:r>
            <a:endParaRPr lang="en-US" sz="660" dirty="0"/>
          </a:p>
        </p:txBody>
      </p:sp>
      <p:sp>
        <p:nvSpPr>
          <p:cNvPr id="147" name="Text 144"/>
          <p:cNvSpPr/>
          <p:nvPr/>
        </p:nvSpPr>
        <p:spPr>
          <a:xfrm>
            <a:off x="3904408" y="53111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49%</a:t>
            </a:r>
            <a:endParaRPr lang="en-US" sz="660" dirty="0"/>
          </a:p>
        </p:txBody>
      </p:sp>
      <p:sp>
        <p:nvSpPr>
          <p:cNvPr id="148" name="Text 145"/>
          <p:cNvSpPr/>
          <p:nvPr/>
        </p:nvSpPr>
        <p:spPr>
          <a:xfrm>
            <a:off x="5200520" y="53111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49" name="Text 146"/>
          <p:cNvSpPr/>
          <p:nvPr/>
        </p:nvSpPr>
        <p:spPr>
          <a:xfrm>
            <a:off x="2396966" y="5520653"/>
            <a:ext cx="698539"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88%</a:t>
            </a:r>
            <a:endParaRPr lang="en-US" sz="624" dirty="0"/>
          </a:p>
        </p:txBody>
      </p:sp>
      <p:sp>
        <p:nvSpPr>
          <p:cNvPr id="150" name="Text 147"/>
          <p:cNvSpPr/>
          <p:nvPr/>
        </p:nvSpPr>
        <p:spPr>
          <a:xfrm>
            <a:off x="3904408" y="5520653"/>
            <a:ext cx="673859"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40%</a:t>
            </a:r>
            <a:endParaRPr lang="en-US" sz="624" dirty="0"/>
          </a:p>
        </p:txBody>
      </p:sp>
      <p:sp>
        <p:nvSpPr>
          <p:cNvPr id="151" name="Text 148"/>
          <p:cNvSpPr/>
          <p:nvPr/>
        </p:nvSpPr>
        <p:spPr>
          <a:xfrm>
            <a:off x="5200520" y="5520653"/>
            <a:ext cx="725977"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11%</a:t>
            </a:r>
            <a:endParaRPr lang="en-US" sz="624" dirty="0"/>
          </a:p>
        </p:txBody>
      </p:sp>
      <p:sp>
        <p:nvSpPr>
          <p:cNvPr id="152" name="Text 149"/>
          <p:cNvSpPr/>
          <p:nvPr/>
        </p:nvSpPr>
        <p:spPr>
          <a:xfrm>
            <a:off x="6286343" y="2001166"/>
            <a:ext cx="748664" cy="171450"/>
          </a:xfrm>
          <a:prstGeom prst="rect">
            <a:avLst/>
          </a:prstGeom>
          <a:noFill/>
          <a:ln/>
        </p:spPr>
        <p:txBody>
          <a:bodyPr wrap="square" lIns="19050" tIns="47625" rIns="47625"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53" name="Text 150"/>
          <p:cNvSpPr/>
          <p:nvPr/>
        </p:nvSpPr>
        <p:spPr>
          <a:xfrm>
            <a:off x="6286343" y="2172616"/>
            <a:ext cx="748664" cy="204787"/>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Ene</a:t>
            </a:r>
            <a:endParaRPr lang="en-US" sz="672" dirty="0"/>
          </a:p>
        </p:txBody>
      </p:sp>
      <p:sp>
        <p:nvSpPr>
          <p:cNvPr id="154" name="Text 151"/>
          <p:cNvSpPr/>
          <p:nvPr/>
        </p:nvSpPr>
        <p:spPr>
          <a:xfrm>
            <a:off x="6286343" y="23774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Feb</a:t>
            </a:r>
            <a:endParaRPr lang="en-US" sz="672" dirty="0"/>
          </a:p>
        </p:txBody>
      </p:sp>
      <p:sp>
        <p:nvSpPr>
          <p:cNvPr id="155" name="Text 152"/>
          <p:cNvSpPr/>
          <p:nvPr/>
        </p:nvSpPr>
        <p:spPr>
          <a:xfrm>
            <a:off x="6286343" y="258695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Mar</a:t>
            </a:r>
            <a:endParaRPr lang="en-US" sz="672" dirty="0"/>
          </a:p>
        </p:txBody>
      </p:sp>
      <p:sp>
        <p:nvSpPr>
          <p:cNvPr id="156" name="Text 153"/>
          <p:cNvSpPr/>
          <p:nvPr/>
        </p:nvSpPr>
        <p:spPr>
          <a:xfrm>
            <a:off x="6286343" y="27965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Abr</a:t>
            </a:r>
            <a:endParaRPr lang="en-US" sz="672" dirty="0"/>
          </a:p>
        </p:txBody>
      </p:sp>
      <p:sp>
        <p:nvSpPr>
          <p:cNvPr id="157" name="Text 154"/>
          <p:cNvSpPr/>
          <p:nvPr/>
        </p:nvSpPr>
        <p:spPr>
          <a:xfrm>
            <a:off x="6286343" y="300605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May</a:t>
            </a:r>
            <a:endParaRPr lang="en-US" sz="672" dirty="0"/>
          </a:p>
        </p:txBody>
      </p:sp>
      <p:sp>
        <p:nvSpPr>
          <p:cNvPr id="158" name="Text 155"/>
          <p:cNvSpPr/>
          <p:nvPr/>
        </p:nvSpPr>
        <p:spPr>
          <a:xfrm>
            <a:off x="6286343" y="32156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Jun</a:t>
            </a:r>
            <a:endParaRPr lang="en-US" sz="672" dirty="0"/>
          </a:p>
        </p:txBody>
      </p:sp>
      <p:sp>
        <p:nvSpPr>
          <p:cNvPr id="159" name="Text 156"/>
          <p:cNvSpPr/>
          <p:nvPr/>
        </p:nvSpPr>
        <p:spPr>
          <a:xfrm>
            <a:off x="9067573" y="1114425"/>
            <a:ext cx="2511489" cy="13336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160" name="Text 157"/>
          <p:cNvSpPr/>
          <p:nvPr/>
        </p:nvSpPr>
        <p:spPr>
          <a:xfrm>
            <a:off x="11220169" y="392043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49%</a:t>
            </a:r>
            <a:endParaRPr lang="en-US" sz="576" dirty="0"/>
          </a:p>
        </p:txBody>
      </p:sp>
      <p:sp>
        <p:nvSpPr>
          <p:cNvPr id="161" name="Text 158"/>
          <p:cNvSpPr/>
          <p:nvPr/>
        </p:nvSpPr>
        <p:spPr>
          <a:xfrm>
            <a:off x="11220169" y="402520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29%</a:t>
            </a:r>
            <a:endParaRPr lang="en-US" sz="576" dirty="0"/>
          </a:p>
        </p:txBody>
      </p:sp>
      <p:sp>
        <p:nvSpPr>
          <p:cNvPr id="162" name="Text 159"/>
          <p:cNvSpPr/>
          <p:nvPr/>
        </p:nvSpPr>
        <p:spPr>
          <a:xfrm>
            <a:off x="2888979" y="324417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79</a:t>
            </a:r>
            <a:endParaRPr lang="en-US" sz="792" dirty="0"/>
          </a:p>
        </p:txBody>
      </p:sp>
      <p:sp>
        <p:nvSpPr>
          <p:cNvPr id="163" name="Text 160"/>
          <p:cNvSpPr/>
          <p:nvPr/>
        </p:nvSpPr>
        <p:spPr>
          <a:xfrm>
            <a:off x="5200520" y="468245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4" name="Text 161"/>
          <p:cNvSpPr/>
          <p:nvPr/>
        </p:nvSpPr>
        <p:spPr>
          <a:xfrm>
            <a:off x="5200520" y="510155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5" name="Text 162"/>
          <p:cNvSpPr/>
          <p:nvPr/>
        </p:nvSpPr>
        <p:spPr>
          <a:xfrm>
            <a:off x="11220169" y="412998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6" name="Text 163"/>
          <p:cNvSpPr/>
          <p:nvPr/>
        </p:nvSpPr>
        <p:spPr>
          <a:xfrm>
            <a:off x="11220169" y="423475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7" name="Text 164"/>
          <p:cNvSpPr/>
          <p:nvPr/>
        </p:nvSpPr>
        <p:spPr>
          <a:xfrm>
            <a:off x="11220169" y="433953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68" name="Text 165"/>
          <p:cNvSpPr/>
          <p:nvPr/>
        </p:nvSpPr>
        <p:spPr>
          <a:xfrm>
            <a:off x="11220169" y="444430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69" name="Text 166"/>
          <p:cNvSpPr/>
          <p:nvPr/>
        </p:nvSpPr>
        <p:spPr>
          <a:xfrm>
            <a:off x="11220169" y="454908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8%</a:t>
            </a:r>
            <a:endParaRPr lang="en-US" sz="57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48284" y="5367784"/>
            <a:ext cx="4866010" cy="409752"/>
          </a:xfrm>
          <a:prstGeom prst="rect">
            <a:avLst/>
          </a:prstGeom>
          <a:noFill/>
          <a:ln/>
        </p:spPr>
        <p:txBody>
          <a:bodyPr wrap="squar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Base con intención de compra validada ·  en el semestre · Crecimiento de  · El equipo focalizado pasó de 14 a 266 ventas/mes () · 26,6% de conversión,  · La autogestión es la campaña de mayor efectividad del portafolio.</a:t>
            </a:r>
            <a:endParaRPr lang="en-US" sz="696" dirty="0"/>
          </a:p>
        </p:txBody>
      </p:sp>
      <p:sp>
        <p:nvSpPr>
          <p:cNvPr id="4" name="Text 1"/>
          <p:cNvSpPr/>
          <p:nvPr/>
        </p:nvSpPr>
        <p:spPr>
          <a:xfrm>
            <a:off x="6314917" y="3575745"/>
            <a:ext cx="5307483" cy="147161"/>
          </a:xfrm>
          <a:prstGeom prst="rect">
            <a:avLst/>
          </a:prstGeom>
          <a:noFill/>
          <a:ln/>
        </p:spPr>
        <p:txBody>
          <a:bodyPr wrap="square" lIns="0" tIns="0" rIns="0" bIns="1905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4" dirty="0"/>
          </a:p>
        </p:txBody>
      </p:sp>
      <p:sp>
        <p:nvSpPr>
          <p:cNvPr id="5" name="Text 2"/>
          <p:cNvSpPr/>
          <p:nvPr/>
        </p:nvSpPr>
        <p:spPr>
          <a:xfrm>
            <a:off x="6314917" y="4537770"/>
            <a:ext cx="5307483"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63,8 % de la base total · 7.460 registros descartados en 1S</a:t>
            </a:r>
            <a:endParaRPr lang="en-US" sz="576" dirty="0"/>
          </a:p>
        </p:txBody>
      </p:sp>
      <p:sp>
        <p:nvSpPr>
          <p:cNvPr id="6" name="Text 3"/>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Convierte 3.0 veces mejor que el resto de la base</a:t>
            </a:r>
            <a:endParaRPr lang="en-US" sz="864" dirty="0"/>
          </a:p>
        </p:txBody>
      </p:sp>
      <p:sp>
        <p:nvSpPr>
          <p:cNvPr id="7" name="Text 4"/>
          <p:cNvSpPr/>
          <p:nvPr/>
        </p:nvSpPr>
        <p:spPr>
          <a:xfrm>
            <a:off x="1213514" y="219075"/>
            <a:ext cx="3607660"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8" name="Text 5"/>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Solicitudes de financiación autogestionada</a:t>
            </a:r>
            <a:endParaRPr lang="en-US" sz="864" dirty="0"/>
          </a:p>
        </p:txBody>
      </p:sp>
      <p:sp>
        <p:nvSpPr>
          <p:cNvPr id="9" name="Text 6"/>
          <p:cNvSpPr/>
          <p:nvPr/>
        </p:nvSpPr>
        <p:spPr>
          <a:xfrm>
            <a:off x="634349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7.460 registros descartados en el semestre</a:t>
            </a:r>
            <a:endParaRPr lang="en-US" sz="864" dirty="0"/>
          </a:p>
        </p:txBody>
      </p:sp>
      <p:sp>
        <p:nvSpPr>
          <p:cNvPr id="10" name="Text 7"/>
          <p:cNvSpPr/>
          <p:nvPr/>
        </p:nvSpPr>
        <p:spPr>
          <a:xfrm>
            <a:off x="6314917" y="38519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11" name="Text 8"/>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Vs. promedio general del canal</a:t>
            </a:r>
            <a:endParaRPr lang="en-US" sz="864" dirty="0"/>
          </a:p>
        </p:txBody>
      </p:sp>
      <p:sp>
        <p:nvSpPr>
          <p:cNvPr id="12" name="Text 9"/>
          <p:cNvSpPr/>
          <p:nvPr/>
        </p:nvSpPr>
        <p:spPr>
          <a:xfrm>
            <a:off x="6314917" y="40805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13" name="Text 10"/>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26,6 % sobre contactados</a:t>
            </a:r>
            <a:endParaRPr lang="en-US" sz="864" dirty="0"/>
          </a:p>
        </p:txBody>
      </p:sp>
      <p:sp>
        <p:nvSpPr>
          <p:cNvPr id="14" name="Text 11"/>
          <p:cNvSpPr/>
          <p:nvPr/>
        </p:nvSpPr>
        <p:spPr>
          <a:xfrm>
            <a:off x="6314917" y="37376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15" name="Text 12"/>
          <p:cNvSpPr/>
          <p:nvPr/>
        </p:nvSpPr>
        <p:spPr>
          <a:xfrm>
            <a:off x="9936261" y="209550"/>
            <a:ext cx="173446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Autogestión</a:t>
            </a:r>
            <a:endParaRPr lang="en-US" sz="840" dirty="0"/>
          </a:p>
        </p:txBody>
      </p:sp>
      <p:sp>
        <p:nvSpPr>
          <p:cNvPr id="16" name="Text 13"/>
          <p:cNvSpPr/>
          <p:nvPr/>
        </p:nvSpPr>
        <p:spPr>
          <a:xfrm>
            <a:off x="723882" y="5604592"/>
            <a:ext cx="1432334" cy="220861"/>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Joelis J. Barros 4ª</a:t>
            </a:r>
            <a:endParaRPr lang="en-US" sz="840" dirty="0"/>
          </a:p>
        </p:txBody>
      </p:sp>
      <p:sp>
        <p:nvSpPr>
          <p:cNvPr id="17" name="Text 14"/>
          <p:cNvSpPr/>
          <p:nvPr/>
        </p:nvSpPr>
        <p:spPr>
          <a:xfrm>
            <a:off x="6314917" y="43091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18" name="Text 15"/>
          <p:cNvSpPr/>
          <p:nvPr/>
        </p:nvSpPr>
        <p:spPr>
          <a:xfrm>
            <a:off x="8988548" y="5099745"/>
            <a:ext cx="1161932"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Sobremarcación OCM</a:t>
            </a:r>
            <a:endParaRPr lang="en-US" sz="624" dirty="0"/>
          </a:p>
        </p:txBody>
      </p:sp>
      <p:sp>
        <p:nvSpPr>
          <p:cNvPr id="19" name="Text 16"/>
          <p:cNvSpPr/>
          <p:nvPr/>
        </p:nvSpPr>
        <p:spPr>
          <a:xfrm>
            <a:off x="723882" y="5166442"/>
            <a:ext cx="1432334" cy="219075"/>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Melissa P. Orozco</a:t>
            </a:r>
            <a:endParaRPr lang="en-US" sz="840" dirty="0"/>
          </a:p>
        </p:txBody>
      </p:sp>
      <p:sp>
        <p:nvSpPr>
          <p:cNvPr id="20" name="Text 17"/>
          <p:cNvSpPr/>
          <p:nvPr/>
        </p:nvSpPr>
        <p:spPr>
          <a:xfrm>
            <a:off x="6314917" y="39662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21" name="Text 18"/>
          <p:cNvSpPr/>
          <p:nvPr/>
        </p:nvSpPr>
        <p:spPr>
          <a:xfrm>
            <a:off x="6314917" y="41948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22" name="Text 19"/>
          <p:cNvSpPr/>
          <p:nvPr/>
        </p:nvSpPr>
        <p:spPr>
          <a:xfrm>
            <a:off x="723882" y="5825453"/>
            <a:ext cx="1432334" cy="185738"/>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3" name="Text 20"/>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a:t>
            </a:r>
            <a:endParaRPr lang="en-US" sz="864" dirty="0"/>
          </a:p>
        </p:txBody>
      </p:sp>
      <p:sp>
        <p:nvSpPr>
          <p:cNvPr id="24" name="Text 21"/>
          <p:cNvSpPr/>
          <p:nvPr/>
        </p:nvSpPr>
        <p:spPr>
          <a:xfrm>
            <a:off x="7665945" y="5099745"/>
            <a:ext cx="1162085"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Foco: 3 asesores</a:t>
            </a:r>
            <a:endParaRPr lang="en-US" sz="624" dirty="0"/>
          </a:p>
        </p:txBody>
      </p:sp>
      <p:sp>
        <p:nvSpPr>
          <p:cNvPr id="25" name="Text 22"/>
          <p:cNvSpPr/>
          <p:nvPr/>
        </p:nvSpPr>
        <p:spPr>
          <a:xfrm>
            <a:off x="723882" y="4952130"/>
            <a:ext cx="1432334" cy="214313"/>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Jesús D. Cortés</a:t>
            </a:r>
            <a:endParaRPr lang="en-US" sz="840" dirty="0"/>
          </a:p>
        </p:txBody>
      </p:sp>
      <p:sp>
        <p:nvSpPr>
          <p:cNvPr id="26" name="Text 23"/>
          <p:cNvSpPr/>
          <p:nvPr/>
        </p:nvSpPr>
        <p:spPr>
          <a:xfrm>
            <a:off x="6314917" y="44234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27" name="Text 24"/>
          <p:cNvSpPr/>
          <p:nvPr/>
        </p:nvSpPr>
        <p:spPr>
          <a:xfrm>
            <a:off x="723882" y="5385517"/>
            <a:ext cx="1432334" cy="219075"/>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Luisa L. Percy</a:t>
            </a:r>
            <a:endParaRPr lang="en-US" sz="840" dirty="0"/>
          </a:p>
        </p:txBody>
      </p:sp>
      <p:sp>
        <p:nvSpPr>
          <p:cNvPr id="28" name="Text 25"/>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(1S)</a:t>
            </a:r>
            <a:endParaRPr lang="en-US" sz="864" dirty="0"/>
          </a:p>
        </p:txBody>
      </p:sp>
      <p:sp>
        <p:nvSpPr>
          <p:cNvPr id="29" name="Text 26"/>
          <p:cNvSpPr/>
          <p:nvPr/>
        </p:nvSpPr>
        <p:spPr>
          <a:xfrm>
            <a:off x="6343491" y="5099745"/>
            <a:ext cx="1161932"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Sin focalizar</a:t>
            </a:r>
            <a:endParaRPr lang="en-US" sz="624" dirty="0"/>
          </a:p>
        </p:txBody>
      </p:sp>
      <p:sp>
        <p:nvSpPr>
          <p:cNvPr id="30" name="Text 27"/>
          <p:cNvSpPr/>
          <p:nvPr/>
        </p:nvSpPr>
        <p:spPr>
          <a:xfrm>
            <a:off x="10311001" y="5099745"/>
            <a:ext cx="1162085"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+1 asesor (4)</a:t>
            </a:r>
            <a:endParaRPr lang="en-US" sz="624" dirty="0"/>
          </a:p>
        </p:txBody>
      </p:sp>
      <p:sp>
        <p:nvSpPr>
          <p:cNvPr id="31" name="Text 28"/>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a:t>
            </a:r>
            <a:endParaRPr lang="en-US" sz="864" dirty="0"/>
          </a:p>
        </p:txBody>
      </p:sp>
      <p:sp>
        <p:nvSpPr>
          <p:cNvPr id="32" name="Text 29"/>
          <p:cNvSpPr/>
          <p:nvPr/>
        </p:nvSpPr>
        <p:spPr>
          <a:xfrm>
            <a:off x="4091927" y="2456580"/>
            <a:ext cx="91115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3" name="Text 30"/>
          <p:cNvSpPr/>
          <p:nvPr/>
        </p:nvSpPr>
        <p:spPr>
          <a:xfrm>
            <a:off x="4976539" y="2456580"/>
            <a:ext cx="92724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Conversión</a:t>
            </a:r>
            <a:endParaRPr lang="en-US" sz="888" dirty="0"/>
          </a:p>
        </p:txBody>
      </p:sp>
      <p:sp>
        <p:nvSpPr>
          <p:cNvPr id="34" name="Text 31"/>
          <p:cNvSpPr/>
          <p:nvPr/>
        </p:nvSpPr>
        <p:spPr>
          <a:xfrm>
            <a:off x="1234945" y="2456580"/>
            <a:ext cx="81841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5" name="Text 32"/>
          <p:cNvSpPr/>
          <p:nvPr/>
        </p:nvSpPr>
        <p:spPr>
          <a:xfrm>
            <a:off x="2666636" y="2456580"/>
            <a:ext cx="75832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Rechazo</a:t>
            </a:r>
            <a:endParaRPr lang="en-US" sz="888" dirty="0"/>
          </a:p>
        </p:txBody>
      </p:sp>
      <p:sp>
        <p:nvSpPr>
          <p:cNvPr id="36" name="Text 33"/>
          <p:cNvSpPr/>
          <p:nvPr/>
        </p:nvSpPr>
        <p:spPr>
          <a:xfrm>
            <a:off x="3402870" y="2456580"/>
            <a:ext cx="70972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37" name="Text 34"/>
          <p:cNvSpPr/>
          <p:nvPr/>
        </p:nvSpPr>
        <p:spPr>
          <a:xfrm>
            <a:off x="6343491" y="5014020"/>
            <a:ext cx="1161932"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Ene–Feb</a:t>
            </a:r>
            <a:endParaRPr lang="en-US" sz="576" dirty="0"/>
          </a:p>
        </p:txBody>
      </p:sp>
      <p:sp>
        <p:nvSpPr>
          <p:cNvPr id="38" name="Text 35"/>
          <p:cNvSpPr/>
          <p:nvPr/>
        </p:nvSpPr>
        <p:spPr>
          <a:xfrm>
            <a:off x="8988548" y="5014020"/>
            <a:ext cx="1161932"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Abr–May</a:t>
            </a:r>
            <a:endParaRPr lang="en-US" sz="576" dirty="0"/>
          </a:p>
        </p:txBody>
      </p:sp>
      <p:sp>
        <p:nvSpPr>
          <p:cNvPr id="39" name="Text 36"/>
          <p:cNvSpPr/>
          <p:nvPr/>
        </p:nvSpPr>
        <p:spPr>
          <a:xfrm>
            <a:off x="2029518" y="2456580"/>
            <a:ext cx="65623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0" name="Text 37"/>
          <p:cNvSpPr/>
          <p:nvPr/>
        </p:nvSpPr>
        <p:spPr>
          <a:xfrm>
            <a:off x="3402870" y="2685180"/>
            <a:ext cx="7097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41,2 %</a:t>
            </a:r>
            <a:endParaRPr lang="en-US" sz="888" dirty="0"/>
          </a:p>
        </p:txBody>
      </p:sp>
      <p:sp>
        <p:nvSpPr>
          <p:cNvPr id="41" name="Text 38"/>
          <p:cNvSpPr/>
          <p:nvPr/>
        </p:nvSpPr>
        <p:spPr>
          <a:xfrm>
            <a:off x="4091927" y="2685180"/>
            <a:ext cx="91115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80,9 %</a:t>
            </a:r>
            <a:endParaRPr lang="en-US" sz="888" dirty="0"/>
          </a:p>
        </p:txBody>
      </p:sp>
      <p:sp>
        <p:nvSpPr>
          <p:cNvPr id="42" name="Text 39"/>
          <p:cNvSpPr/>
          <p:nvPr/>
        </p:nvSpPr>
        <p:spPr>
          <a:xfrm>
            <a:off x="4976539" y="2685180"/>
            <a:ext cx="92724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30,7 %</a:t>
            </a:r>
            <a:endParaRPr lang="en-US" sz="888" dirty="0"/>
          </a:p>
        </p:txBody>
      </p:sp>
      <p:sp>
        <p:nvSpPr>
          <p:cNvPr id="43" name="Text 40"/>
          <p:cNvSpPr/>
          <p:nvPr/>
        </p:nvSpPr>
        <p:spPr>
          <a:xfrm>
            <a:off x="3402870" y="29280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57,9 %</a:t>
            </a:r>
            <a:endParaRPr lang="en-US" sz="888" dirty="0"/>
          </a:p>
        </p:txBody>
      </p:sp>
      <p:sp>
        <p:nvSpPr>
          <p:cNvPr id="44" name="Text 41"/>
          <p:cNvSpPr/>
          <p:nvPr/>
        </p:nvSpPr>
        <p:spPr>
          <a:xfrm>
            <a:off x="4091927" y="29280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81,3 %</a:t>
            </a:r>
            <a:endParaRPr lang="en-US" sz="888" dirty="0"/>
          </a:p>
        </p:txBody>
      </p:sp>
      <p:sp>
        <p:nvSpPr>
          <p:cNvPr id="45" name="Text 42"/>
          <p:cNvSpPr/>
          <p:nvPr/>
        </p:nvSpPr>
        <p:spPr>
          <a:xfrm>
            <a:off x="4976539" y="29280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32,4 %</a:t>
            </a:r>
            <a:endParaRPr lang="en-US" sz="888" dirty="0"/>
          </a:p>
        </p:txBody>
      </p:sp>
      <p:sp>
        <p:nvSpPr>
          <p:cNvPr id="46" name="Text 43"/>
          <p:cNvSpPr/>
          <p:nvPr/>
        </p:nvSpPr>
        <p:spPr>
          <a:xfrm>
            <a:off x="3402870" y="317571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63,8 %</a:t>
            </a:r>
            <a:endParaRPr lang="en-US" sz="888" dirty="0"/>
          </a:p>
        </p:txBody>
      </p:sp>
      <p:sp>
        <p:nvSpPr>
          <p:cNvPr id="47" name="Text 44"/>
          <p:cNvSpPr/>
          <p:nvPr/>
        </p:nvSpPr>
        <p:spPr>
          <a:xfrm>
            <a:off x="4091927" y="317571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74,8 %</a:t>
            </a:r>
            <a:endParaRPr lang="en-US" sz="888" dirty="0"/>
          </a:p>
        </p:txBody>
      </p:sp>
      <p:sp>
        <p:nvSpPr>
          <p:cNvPr id="48" name="Text 45"/>
          <p:cNvSpPr/>
          <p:nvPr/>
        </p:nvSpPr>
        <p:spPr>
          <a:xfrm>
            <a:off x="4976539" y="317571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17,2 %</a:t>
            </a:r>
            <a:endParaRPr lang="en-US" sz="888" dirty="0"/>
          </a:p>
        </p:txBody>
      </p:sp>
      <p:sp>
        <p:nvSpPr>
          <p:cNvPr id="49" name="Text 46"/>
          <p:cNvSpPr/>
          <p:nvPr/>
        </p:nvSpPr>
        <p:spPr>
          <a:xfrm>
            <a:off x="3402870" y="34233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58,3 %</a:t>
            </a:r>
            <a:endParaRPr lang="en-US" sz="888" dirty="0"/>
          </a:p>
        </p:txBody>
      </p:sp>
      <p:sp>
        <p:nvSpPr>
          <p:cNvPr id="50" name="Text 47"/>
          <p:cNvSpPr/>
          <p:nvPr/>
        </p:nvSpPr>
        <p:spPr>
          <a:xfrm>
            <a:off x="4091927" y="34233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71,0 %</a:t>
            </a:r>
            <a:endParaRPr lang="en-US" sz="888" dirty="0"/>
          </a:p>
        </p:txBody>
      </p:sp>
      <p:sp>
        <p:nvSpPr>
          <p:cNvPr id="51" name="Text 48"/>
          <p:cNvSpPr/>
          <p:nvPr/>
        </p:nvSpPr>
        <p:spPr>
          <a:xfrm>
            <a:off x="4976539" y="34233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20,7 %</a:t>
            </a:r>
            <a:endParaRPr lang="en-US" sz="888" dirty="0"/>
          </a:p>
        </p:txBody>
      </p:sp>
      <p:sp>
        <p:nvSpPr>
          <p:cNvPr id="52" name="Text 49"/>
          <p:cNvSpPr/>
          <p:nvPr/>
        </p:nvSpPr>
        <p:spPr>
          <a:xfrm>
            <a:off x="3402870" y="367101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60,4 %</a:t>
            </a:r>
            <a:endParaRPr lang="en-US" sz="888" dirty="0"/>
          </a:p>
        </p:txBody>
      </p:sp>
      <p:sp>
        <p:nvSpPr>
          <p:cNvPr id="53" name="Text 50"/>
          <p:cNvSpPr/>
          <p:nvPr/>
        </p:nvSpPr>
        <p:spPr>
          <a:xfrm>
            <a:off x="4091927" y="367101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75,8 %</a:t>
            </a:r>
            <a:endParaRPr lang="en-US" sz="888" dirty="0"/>
          </a:p>
        </p:txBody>
      </p:sp>
      <p:sp>
        <p:nvSpPr>
          <p:cNvPr id="54" name="Text 51"/>
          <p:cNvSpPr/>
          <p:nvPr/>
        </p:nvSpPr>
        <p:spPr>
          <a:xfrm>
            <a:off x="4976539" y="367101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33,0 %</a:t>
            </a:r>
            <a:endParaRPr lang="en-US" sz="888" dirty="0"/>
          </a:p>
        </p:txBody>
      </p:sp>
      <p:sp>
        <p:nvSpPr>
          <p:cNvPr id="55" name="Text 52"/>
          <p:cNvSpPr/>
          <p:nvPr/>
        </p:nvSpPr>
        <p:spPr>
          <a:xfrm>
            <a:off x="3402870" y="39186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69,4 %</a:t>
            </a:r>
            <a:endParaRPr lang="en-US" sz="888" dirty="0"/>
          </a:p>
        </p:txBody>
      </p:sp>
      <p:sp>
        <p:nvSpPr>
          <p:cNvPr id="56" name="Text 53"/>
          <p:cNvSpPr/>
          <p:nvPr/>
        </p:nvSpPr>
        <p:spPr>
          <a:xfrm>
            <a:off x="4091927" y="39186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63,3 %</a:t>
            </a:r>
            <a:endParaRPr lang="en-US" sz="888" dirty="0"/>
          </a:p>
        </p:txBody>
      </p:sp>
      <p:sp>
        <p:nvSpPr>
          <p:cNvPr id="57" name="Text 54"/>
          <p:cNvSpPr/>
          <p:nvPr/>
        </p:nvSpPr>
        <p:spPr>
          <a:xfrm>
            <a:off x="4976539" y="39186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29,2 %</a:t>
            </a:r>
            <a:endParaRPr lang="en-US" sz="888" dirty="0"/>
          </a:p>
        </p:txBody>
      </p:sp>
      <p:sp>
        <p:nvSpPr>
          <p:cNvPr id="58" name="Text 55"/>
          <p:cNvSpPr/>
          <p:nvPr/>
        </p:nvSpPr>
        <p:spPr>
          <a:xfrm>
            <a:off x="1234945" y="4166317"/>
            <a:ext cx="81841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11.686</a:t>
            </a:r>
            <a:endParaRPr lang="en-US" sz="888" dirty="0"/>
          </a:p>
        </p:txBody>
      </p:sp>
      <p:sp>
        <p:nvSpPr>
          <p:cNvPr id="59" name="Text 56"/>
          <p:cNvSpPr/>
          <p:nvPr/>
        </p:nvSpPr>
        <p:spPr>
          <a:xfrm>
            <a:off x="3402870" y="4166317"/>
            <a:ext cx="709729"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63,8 %</a:t>
            </a:r>
            <a:endParaRPr lang="en-US" sz="888" dirty="0"/>
          </a:p>
        </p:txBody>
      </p:sp>
      <p:sp>
        <p:nvSpPr>
          <p:cNvPr id="60" name="Text 57"/>
          <p:cNvSpPr/>
          <p:nvPr/>
        </p:nvSpPr>
        <p:spPr>
          <a:xfrm>
            <a:off x="4091927" y="4166317"/>
            <a:ext cx="91115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70,3 %</a:t>
            </a:r>
            <a:endParaRPr lang="en-US" sz="888" dirty="0"/>
          </a:p>
        </p:txBody>
      </p:sp>
      <p:sp>
        <p:nvSpPr>
          <p:cNvPr id="61" name="Text 58"/>
          <p:cNvSpPr/>
          <p:nvPr/>
        </p:nvSpPr>
        <p:spPr>
          <a:xfrm>
            <a:off x="4976539" y="4166317"/>
            <a:ext cx="927246"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26,6 %</a:t>
            </a:r>
            <a:endParaRPr lang="en-US" sz="888" dirty="0"/>
          </a:p>
        </p:txBody>
      </p:sp>
      <p:sp>
        <p:nvSpPr>
          <p:cNvPr id="62" name="Text 59"/>
          <p:cNvSpPr/>
          <p:nvPr/>
        </p:nvSpPr>
        <p:spPr>
          <a:xfrm>
            <a:off x="723882" y="4723530"/>
            <a:ext cx="1432334"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63" name="Text 60"/>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11.686</a:t>
            </a:r>
            <a:endParaRPr lang="en-US" sz="1400" dirty="0"/>
          </a:p>
        </p:txBody>
      </p:sp>
      <p:sp>
        <p:nvSpPr>
          <p:cNvPr id="64" name="Text 61"/>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63,8 %</a:t>
            </a:r>
            <a:endParaRPr lang="en-US" sz="1400" dirty="0"/>
          </a:p>
        </p:txBody>
      </p:sp>
      <p:sp>
        <p:nvSpPr>
          <p:cNvPr id="65" name="Text 62"/>
          <p:cNvSpPr/>
          <p:nvPr/>
        </p:nvSpPr>
        <p:spPr>
          <a:xfrm>
            <a:off x="1234945" y="317571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1.865</a:t>
            </a:r>
            <a:endParaRPr lang="en-US" sz="888" dirty="0"/>
          </a:p>
        </p:txBody>
      </p:sp>
      <p:sp>
        <p:nvSpPr>
          <p:cNvPr id="66" name="Text 63"/>
          <p:cNvSpPr/>
          <p:nvPr/>
        </p:nvSpPr>
        <p:spPr>
          <a:xfrm>
            <a:off x="2666636" y="317571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1.189</a:t>
            </a:r>
            <a:endParaRPr lang="en-US" sz="888" dirty="0"/>
          </a:p>
        </p:txBody>
      </p:sp>
      <p:sp>
        <p:nvSpPr>
          <p:cNvPr id="67" name="Text 64"/>
          <p:cNvSpPr/>
          <p:nvPr/>
        </p:nvSpPr>
        <p:spPr>
          <a:xfrm>
            <a:off x="1234945" y="34233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1.950</a:t>
            </a:r>
            <a:endParaRPr lang="en-US" sz="888" dirty="0"/>
          </a:p>
        </p:txBody>
      </p:sp>
      <p:sp>
        <p:nvSpPr>
          <p:cNvPr id="68" name="Text 65"/>
          <p:cNvSpPr/>
          <p:nvPr/>
        </p:nvSpPr>
        <p:spPr>
          <a:xfrm>
            <a:off x="2666636" y="34233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1.137</a:t>
            </a:r>
            <a:endParaRPr lang="en-US" sz="888" dirty="0"/>
          </a:p>
        </p:txBody>
      </p:sp>
      <p:sp>
        <p:nvSpPr>
          <p:cNvPr id="69" name="Text 66"/>
          <p:cNvSpPr/>
          <p:nvPr/>
        </p:nvSpPr>
        <p:spPr>
          <a:xfrm>
            <a:off x="1234945" y="367101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2.203</a:t>
            </a:r>
            <a:endParaRPr lang="en-US" sz="888" dirty="0"/>
          </a:p>
        </p:txBody>
      </p:sp>
      <p:sp>
        <p:nvSpPr>
          <p:cNvPr id="70" name="Text 67"/>
          <p:cNvSpPr/>
          <p:nvPr/>
        </p:nvSpPr>
        <p:spPr>
          <a:xfrm>
            <a:off x="2666636" y="367101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1.331</a:t>
            </a:r>
            <a:endParaRPr lang="en-US" sz="888" dirty="0"/>
          </a:p>
        </p:txBody>
      </p:sp>
      <p:sp>
        <p:nvSpPr>
          <p:cNvPr id="71" name="Text 68"/>
          <p:cNvSpPr/>
          <p:nvPr/>
        </p:nvSpPr>
        <p:spPr>
          <a:xfrm>
            <a:off x="1234945" y="39186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4.968</a:t>
            </a:r>
            <a:endParaRPr lang="en-US" sz="888" dirty="0"/>
          </a:p>
        </p:txBody>
      </p:sp>
      <p:sp>
        <p:nvSpPr>
          <p:cNvPr id="72" name="Text 69"/>
          <p:cNvSpPr/>
          <p:nvPr/>
        </p:nvSpPr>
        <p:spPr>
          <a:xfrm>
            <a:off x="2666636" y="39186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3.447</a:t>
            </a:r>
            <a:endParaRPr lang="en-US" sz="888" dirty="0"/>
          </a:p>
        </p:txBody>
      </p:sp>
      <p:sp>
        <p:nvSpPr>
          <p:cNvPr id="73" name="Text 70"/>
          <p:cNvSpPr/>
          <p:nvPr/>
        </p:nvSpPr>
        <p:spPr>
          <a:xfrm>
            <a:off x="723882" y="4166317"/>
            <a:ext cx="526395" cy="242888"/>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74" name="Text 71"/>
          <p:cNvSpPr/>
          <p:nvPr/>
        </p:nvSpPr>
        <p:spPr>
          <a:xfrm>
            <a:off x="2666636" y="4166317"/>
            <a:ext cx="75832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7.460</a:t>
            </a:r>
            <a:endParaRPr lang="en-US" sz="888" dirty="0"/>
          </a:p>
        </p:txBody>
      </p:sp>
      <p:sp>
        <p:nvSpPr>
          <p:cNvPr id="75" name="Text 72"/>
          <p:cNvSpPr/>
          <p:nvPr/>
        </p:nvSpPr>
        <p:spPr>
          <a:xfrm>
            <a:off x="5267789" y="4723530"/>
            <a:ext cx="627259"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76" name="Text 73"/>
          <p:cNvSpPr/>
          <p:nvPr/>
        </p:nvSpPr>
        <p:spPr>
          <a:xfrm>
            <a:off x="11182070" y="37376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77" name="Text 74"/>
          <p:cNvSpPr/>
          <p:nvPr/>
        </p:nvSpPr>
        <p:spPr>
          <a:xfrm>
            <a:off x="11182070" y="38519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78" name="Text 75"/>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3.0×</a:t>
            </a:r>
            <a:endParaRPr lang="en-US" sz="1400" dirty="0"/>
          </a:p>
        </p:txBody>
      </p:sp>
      <p:sp>
        <p:nvSpPr>
          <p:cNvPr id="79" name="Text 76"/>
          <p:cNvSpPr/>
          <p:nvPr/>
        </p:nvSpPr>
        <p:spPr>
          <a:xfrm>
            <a:off x="8392059" y="2946202"/>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+93%</a:t>
            </a:r>
            <a:endParaRPr lang="en-US" sz="504" dirty="0"/>
          </a:p>
        </p:txBody>
      </p:sp>
      <p:sp>
        <p:nvSpPr>
          <p:cNvPr id="80" name="Text 77"/>
          <p:cNvSpPr/>
          <p:nvPr/>
        </p:nvSpPr>
        <p:spPr>
          <a:xfrm>
            <a:off x="9240656" y="2831009"/>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+34%</a:t>
            </a:r>
            <a:endParaRPr lang="en-US" sz="504" dirty="0"/>
          </a:p>
        </p:txBody>
      </p:sp>
      <p:sp>
        <p:nvSpPr>
          <p:cNvPr id="81" name="Text 78"/>
          <p:cNvSpPr/>
          <p:nvPr/>
        </p:nvSpPr>
        <p:spPr>
          <a:xfrm>
            <a:off x="10085532" y="2533650"/>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+86%</a:t>
            </a:r>
            <a:endParaRPr lang="en-US" sz="504" dirty="0"/>
          </a:p>
        </p:txBody>
      </p:sp>
      <p:sp>
        <p:nvSpPr>
          <p:cNvPr id="82" name="Text 79"/>
          <p:cNvSpPr/>
          <p:nvPr/>
        </p:nvSpPr>
        <p:spPr>
          <a:xfrm>
            <a:off x="10935320" y="2533650"/>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+29%</a:t>
            </a:r>
            <a:endParaRPr lang="en-US" sz="504" dirty="0"/>
          </a:p>
        </p:txBody>
      </p:sp>
      <p:sp>
        <p:nvSpPr>
          <p:cNvPr id="83" name="Text 80"/>
          <p:cNvSpPr/>
          <p:nvPr/>
        </p:nvSpPr>
        <p:spPr>
          <a:xfrm>
            <a:off x="11182070" y="39662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84" name="Text 81"/>
          <p:cNvSpPr/>
          <p:nvPr/>
        </p:nvSpPr>
        <p:spPr>
          <a:xfrm>
            <a:off x="11182070" y="40805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85" name="Text 82"/>
          <p:cNvSpPr/>
          <p:nvPr/>
        </p:nvSpPr>
        <p:spPr>
          <a:xfrm>
            <a:off x="11182070" y="41948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86" name="Text 83"/>
          <p:cNvSpPr/>
          <p:nvPr/>
        </p:nvSpPr>
        <p:spPr>
          <a:xfrm>
            <a:off x="11182070" y="43091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87" name="Text 84"/>
          <p:cNvSpPr/>
          <p:nvPr/>
        </p:nvSpPr>
        <p:spPr>
          <a:xfrm>
            <a:off x="11182070" y="44234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88" name="Text 85"/>
          <p:cNvSpPr/>
          <p:nvPr/>
        </p:nvSpPr>
        <p:spPr>
          <a:xfrm>
            <a:off x="723882" y="2456580"/>
            <a:ext cx="526395"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9" name="Text 86"/>
          <p:cNvSpPr/>
          <p:nvPr/>
        </p:nvSpPr>
        <p:spPr>
          <a:xfrm>
            <a:off x="723882" y="2685180"/>
            <a:ext cx="52639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90" name="Text 87"/>
          <p:cNvSpPr/>
          <p:nvPr/>
        </p:nvSpPr>
        <p:spPr>
          <a:xfrm>
            <a:off x="1234945" y="2685180"/>
            <a:ext cx="81841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294</a:t>
            </a:r>
            <a:endParaRPr lang="en-US" sz="888" dirty="0"/>
          </a:p>
        </p:txBody>
      </p:sp>
      <p:sp>
        <p:nvSpPr>
          <p:cNvPr id="91" name="Text 88"/>
          <p:cNvSpPr/>
          <p:nvPr/>
        </p:nvSpPr>
        <p:spPr>
          <a:xfrm>
            <a:off x="2666636" y="2685180"/>
            <a:ext cx="75832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121</a:t>
            </a:r>
            <a:endParaRPr lang="en-US" sz="888" dirty="0"/>
          </a:p>
        </p:txBody>
      </p:sp>
      <p:sp>
        <p:nvSpPr>
          <p:cNvPr id="92" name="Text 89"/>
          <p:cNvSpPr/>
          <p:nvPr/>
        </p:nvSpPr>
        <p:spPr>
          <a:xfrm>
            <a:off x="723882" y="29280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93" name="Text 90"/>
          <p:cNvSpPr/>
          <p:nvPr/>
        </p:nvSpPr>
        <p:spPr>
          <a:xfrm>
            <a:off x="1234945" y="29280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406</a:t>
            </a:r>
            <a:endParaRPr lang="en-US" sz="888" dirty="0"/>
          </a:p>
        </p:txBody>
      </p:sp>
      <p:sp>
        <p:nvSpPr>
          <p:cNvPr id="94" name="Text 91"/>
          <p:cNvSpPr/>
          <p:nvPr/>
        </p:nvSpPr>
        <p:spPr>
          <a:xfrm>
            <a:off x="2666636" y="29280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235</a:t>
            </a:r>
            <a:endParaRPr lang="en-US" sz="888" dirty="0"/>
          </a:p>
        </p:txBody>
      </p:sp>
      <p:sp>
        <p:nvSpPr>
          <p:cNvPr id="95" name="Text 92"/>
          <p:cNvSpPr/>
          <p:nvPr/>
        </p:nvSpPr>
        <p:spPr>
          <a:xfrm>
            <a:off x="723882" y="317571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96" name="Text 93"/>
          <p:cNvSpPr/>
          <p:nvPr/>
        </p:nvSpPr>
        <p:spPr>
          <a:xfrm>
            <a:off x="723882" y="34233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97" name="Text 94"/>
          <p:cNvSpPr/>
          <p:nvPr/>
        </p:nvSpPr>
        <p:spPr>
          <a:xfrm>
            <a:off x="2029518" y="34233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117</a:t>
            </a:r>
            <a:endParaRPr lang="en-US" sz="888" dirty="0"/>
          </a:p>
        </p:txBody>
      </p:sp>
      <p:sp>
        <p:nvSpPr>
          <p:cNvPr id="98" name="Text 95"/>
          <p:cNvSpPr/>
          <p:nvPr/>
        </p:nvSpPr>
        <p:spPr>
          <a:xfrm>
            <a:off x="723882" y="367101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99" name="Text 96"/>
          <p:cNvSpPr/>
          <p:nvPr/>
        </p:nvSpPr>
        <p:spPr>
          <a:xfrm>
            <a:off x="2029518" y="367101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218</a:t>
            </a:r>
            <a:endParaRPr lang="en-US" sz="888" dirty="0"/>
          </a:p>
        </p:txBody>
      </p:sp>
      <p:sp>
        <p:nvSpPr>
          <p:cNvPr id="100" name="Text 97"/>
          <p:cNvSpPr/>
          <p:nvPr/>
        </p:nvSpPr>
        <p:spPr>
          <a:xfrm>
            <a:off x="723882" y="39186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01" name="Text 98"/>
          <p:cNvSpPr/>
          <p:nvPr/>
        </p:nvSpPr>
        <p:spPr>
          <a:xfrm>
            <a:off x="2029518" y="39186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281</a:t>
            </a:r>
            <a:endParaRPr lang="en-US" sz="888" dirty="0"/>
          </a:p>
        </p:txBody>
      </p:sp>
      <p:sp>
        <p:nvSpPr>
          <p:cNvPr id="102" name="Text 99"/>
          <p:cNvSpPr/>
          <p:nvPr/>
        </p:nvSpPr>
        <p:spPr>
          <a:xfrm>
            <a:off x="2029518" y="4166317"/>
            <a:ext cx="656231" cy="242888"/>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791</a:t>
            </a:r>
            <a:endParaRPr lang="en-US" sz="888" dirty="0"/>
          </a:p>
        </p:txBody>
      </p:sp>
      <p:sp>
        <p:nvSpPr>
          <p:cNvPr id="103" name="Text 100"/>
          <p:cNvSpPr/>
          <p:nvPr/>
        </p:nvSpPr>
        <p:spPr>
          <a:xfrm>
            <a:off x="2114497" y="4723530"/>
            <a:ext cx="542184"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104" name="Text 101"/>
          <p:cNvSpPr/>
          <p:nvPr/>
        </p:nvSpPr>
        <p:spPr>
          <a:xfrm>
            <a:off x="2640889" y="4723530"/>
            <a:ext cx="539271"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105" name="Text 102"/>
          <p:cNvSpPr/>
          <p:nvPr/>
        </p:nvSpPr>
        <p:spPr>
          <a:xfrm>
            <a:off x="3164453" y="4723530"/>
            <a:ext cx="544636"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106" name="Text 103"/>
          <p:cNvSpPr/>
          <p:nvPr/>
        </p:nvSpPr>
        <p:spPr>
          <a:xfrm>
            <a:off x="3693226" y="4723530"/>
            <a:ext cx="529154"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107" name="Text 104"/>
          <p:cNvSpPr/>
          <p:nvPr/>
        </p:nvSpPr>
        <p:spPr>
          <a:xfrm>
            <a:off x="4206968" y="4723530"/>
            <a:ext cx="561958"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108" name="Text 105"/>
          <p:cNvSpPr/>
          <p:nvPr/>
        </p:nvSpPr>
        <p:spPr>
          <a:xfrm>
            <a:off x="4752559" y="4723530"/>
            <a:ext cx="530687"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109" name="Text 106"/>
          <p:cNvSpPr/>
          <p:nvPr/>
        </p:nvSpPr>
        <p:spPr>
          <a:xfrm>
            <a:off x="4206968" y="4952130"/>
            <a:ext cx="561958"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110" name="Text 107"/>
          <p:cNvSpPr/>
          <p:nvPr/>
        </p:nvSpPr>
        <p:spPr>
          <a:xfrm>
            <a:off x="5267789" y="4952130"/>
            <a:ext cx="627259" cy="214313"/>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255</a:t>
            </a:r>
            <a:endParaRPr lang="en-US" sz="744" dirty="0"/>
          </a:p>
        </p:txBody>
      </p:sp>
      <p:sp>
        <p:nvSpPr>
          <p:cNvPr id="111" name="Text 108"/>
          <p:cNvSpPr/>
          <p:nvPr/>
        </p:nvSpPr>
        <p:spPr>
          <a:xfrm>
            <a:off x="5267789" y="5166442"/>
            <a:ext cx="627259" cy="219075"/>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165</a:t>
            </a:r>
            <a:endParaRPr lang="en-US" sz="744" dirty="0"/>
          </a:p>
        </p:txBody>
      </p:sp>
      <p:sp>
        <p:nvSpPr>
          <p:cNvPr id="112" name="Text 109"/>
          <p:cNvSpPr/>
          <p:nvPr/>
        </p:nvSpPr>
        <p:spPr>
          <a:xfrm>
            <a:off x="5267789" y="5385517"/>
            <a:ext cx="627259" cy="219075"/>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138</a:t>
            </a:r>
            <a:endParaRPr lang="en-US" sz="744" dirty="0"/>
          </a:p>
        </p:txBody>
      </p:sp>
      <p:sp>
        <p:nvSpPr>
          <p:cNvPr id="113" name="Text 110"/>
          <p:cNvSpPr/>
          <p:nvPr/>
        </p:nvSpPr>
        <p:spPr>
          <a:xfrm>
            <a:off x="4206968" y="5825453"/>
            <a:ext cx="561958"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4" name="Text 111"/>
          <p:cNvSpPr/>
          <p:nvPr/>
        </p:nvSpPr>
        <p:spPr>
          <a:xfrm>
            <a:off x="4752559" y="5825453"/>
            <a:ext cx="530687"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15" name="Text 112"/>
          <p:cNvSpPr/>
          <p:nvPr/>
        </p:nvSpPr>
        <p:spPr>
          <a:xfrm>
            <a:off x="5267789" y="5825453"/>
            <a:ext cx="627259" cy="185738"/>
          </a:xfrm>
          <a:prstGeom prst="rect">
            <a:avLst/>
          </a:prstGeom>
          <a:noFill/>
          <a:ln/>
        </p:spPr>
        <p:txBody>
          <a:bodyPr wrap="square" lIns="38100" tIns="114300" rIns="114300" bIns="38100" rtlCol="0" anchor="ctr"/>
          <a:lstStyle/>
          <a:p>
            <a:pPr algn="r" indent="0" marL="0">
              <a:buNone/>
            </a:pPr>
            <a:r>
              <a:rPr lang="en-US" sz="744" b="1" dirty="0">
                <a:solidFill>
                  <a:srgbClr val="120180"/>
                </a:solidFill>
                <a:latin typeface="Raleway" pitchFamily="34" charset="0"/>
                <a:ea typeface="Raleway" pitchFamily="34" charset="-122"/>
                <a:cs typeface="Raleway" pitchFamily="34" charset="-120"/>
              </a:rPr>
              <a:t>605</a:t>
            </a:r>
            <a:endParaRPr lang="en-US" sz="744" dirty="0"/>
          </a:p>
        </p:txBody>
      </p:sp>
      <p:sp>
        <p:nvSpPr>
          <p:cNvPr id="116" name="Text 113"/>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791</a:t>
            </a:r>
            <a:endParaRPr lang="en-US" sz="1400" dirty="0"/>
          </a:p>
        </p:txBody>
      </p:sp>
      <p:sp>
        <p:nvSpPr>
          <p:cNvPr id="117" name="Text 114"/>
          <p:cNvSpPr/>
          <p:nvPr/>
        </p:nvSpPr>
        <p:spPr>
          <a:xfrm>
            <a:off x="6703349"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18" name="Text 115"/>
          <p:cNvSpPr/>
          <p:nvPr/>
        </p:nvSpPr>
        <p:spPr>
          <a:xfrm>
            <a:off x="7563405" y="3103364"/>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+5%</a:t>
            </a:r>
            <a:endParaRPr lang="en-US" sz="504" dirty="0"/>
          </a:p>
        </p:txBody>
      </p:sp>
      <p:sp>
        <p:nvSpPr>
          <p:cNvPr id="119" name="Text 116"/>
          <p:cNvSpPr/>
          <p:nvPr/>
        </p:nvSpPr>
        <p:spPr>
          <a:xfrm>
            <a:off x="7552094"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20" name="Text 117"/>
          <p:cNvSpPr/>
          <p:nvPr/>
        </p:nvSpPr>
        <p:spPr>
          <a:xfrm>
            <a:off x="8398161"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21" name="Text 118"/>
          <p:cNvSpPr/>
          <p:nvPr/>
        </p:nvSpPr>
        <p:spPr>
          <a:xfrm>
            <a:off x="9241400" y="2730103"/>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22" name="Text 119"/>
          <p:cNvSpPr/>
          <p:nvPr/>
        </p:nvSpPr>
        <p:spPr>
          <a:xfrm>
            <a:off x="9250627"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23" name="Text 120"/>
          <p:cNvSpPr/>
          <p:nvPr/>
        </p:nvSpPr>
        <p:spPr>
          <a:xfrm>
            <a:off x="10084937" y="2432745"/>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24" name="Text 121"/>
          <p:cNvSpPr/>
          <p:nvPr/>
        </p:nvSpPr>
        <p:spPr>
          <a:xfrm>
            <a:off x="10088062"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25" name="Text 122"/>
          <p:cNvSpPr/>
          <p:nvPr/>
        </p:nvSpPr>
        <p:spPr>
          <a:xfrm>
            <a:off x="10932641" y="2432745"/>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26" name="Text 123"/>
          <p:cNvSpPr/>
          <p:nvPr/>
        </p:nvSpPr>
        <p:spPr>
          <a:xfrm>
            <a:off x="10945588"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27" name="Text 124"/>
          <p:cNvSpPr/>
          <p:nvPr/>
        </p:nvSpPr>
        <p:spPr>
          <a:xfrm>
            <a:off x="7665945" y="5014020"/>
            <a:ext cx="1162085"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Mar</a:t>
            </a:r>
            <a:endParaRPr lang="en-US" sz="576" dirty="0"/>
          </a:p>
        </p:txBody>
      </p:sp>
      <p:sp>
        <p:nvSpPr>
          <p:cNvPr id="128" name="Text 125"/>
          <p:cNvSpPr/>
          <p:nvPr/>
        </p:nvSpPr>
        <p:spPr>
          <a:xfrm>
            <a:off x="10311001" y="5014020"/>
            <a:ext cx="1162085"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Jun</a:t>
            </a:r>
            <a:endParaRPr lang="en-US" sz="576" dirty="0"/>
          </a:p>
        </p:txBody>
      </p:sp>
      <p:sp>
        <p:nvSpPr>
          <p:cNvPr id="129" name="Text 126"/>
          <p:cNvSpPr/>
          <p:nvPr/>
        </p:nvSpPr>
        <p:spPr>
          <a:xfrm>
            <a:off x="2029518" y="2685180"/>
            <a:ext cx="656231" cy="242888"/>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43</a:t>
            </a:r>
            <a:endParaRPr lang="en-US" sz="888" dirty="0"/>
          </a:p>
        </p:txBody>
      </p:sp>
      <p:sp>
        <p:nvSpPr>
          <p:cNvPr id="130" name="Text 127"/>
          <p:cNvSpPr/>
          <p:nvPr/>
        </p:nvSpPr>
        <p:spPr>
          <a:xfrm>
            <a:off x="2029518" y="29280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45</a:t>
            </a:r>
            <a:endParaRPr lang="en-US" sz="888" dirty="0"/>
          </a:p>
        </p:txBody>
      </p:sp>
      <p:sp>
        <p:nvSpPr>
          <p:cNvPr id="131" name="Text 128"/>
          <p:cNvSpPr/>
          <p:nvPr/>
        </p:nvSpPr>
        <p:spPr>
          <a:xfrm>
            <a:off x="2029518" y="317571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87</a:t>
            </a:r>
            <a:endParaRPr lang="en-US" sz="888" dirty="0"/>
          </a:p>
        </p:txBody>
      </p:sp>
      <p:sp>
        <p:nvSpPr>
          <p:cNvPr id="132" name="Text 129"/>
          <p:cNvSpPr/>
          <p:nvPr/>
        </p:nvSpPr>
        <p:spPr>
          <a:xfrm>
            <a:off x="3164453" y="4952130"/>
            <a:ext cx="544636"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33" name="Text 130"/>
          <p:cNvSpPr/>
          <p:nvPr/>
        </p:nvSpPr>
        <p:spPr>
          <a:xfrm>
            <a:off x="3693226" y="4952130"/>
            <a:ext cx="529154"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34" name="Text 131"/>
          <p:cNvSpPr/>
          <p:nvPr/>
        </p:nvSpPr>
        <p:spPr>
          <a:xfrm>
            <a:off x="4752559" y="4952130"/>
            <a:ext cx="530687"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35" name="Text 132"/>
          <p:cNvSpPr/>
          <p:nvPr/>
        </p:nvSpPr>
        <p:spPr>
          <a:xfrm>
            <a:off x="3693226" y="5166442"/>
            <a:ext cx="529154"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36" name="Text 133"/>
          <p:cNvSpPr/>
          <p:nvPr/>
        </p:nvSpPr>
        <p:spPr>
          <a:xfrm>
            <a:off x="4206968" y="5166442"/>
            <a:ext cx="561958"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137" name="Text 134"/>
          <p:cNvSpPr/>
          <p:nvPr/>
        </p:nvSpPr>
        <p:spPr>
          <a:xfrm>
            <a:off x="4752559" y="5166442"/>
            <a:ext cx="530687"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38" name="Text 135"/>
          <p:cNvSpPr/>
          <p:nvPr/>
        </p:nvSpPr>
        <p:spPr>
          <a:xfrm>
            <a:off x="3693226" y="5385517"/>
            <a:ext cx="529154"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39" name="Text 136"/>
          <p:cNvSpPr/>
          <p:nvPr/>
        </p:nvSpPr>
        <p:spPr>
          <a:xfrm>
            <a:off x="4206968" y="5385517"/>
            <a:ext cx="561958"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140" name="Text 137"/>
          <p:cNvSpPr/>
          <p:nvPr/>
        </p:nvSpPr>
        <p:spPr>
          <a:xfrm>
            <a:off x="4752559" y="5385517"/>
            <a:ext cx="530687"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41" name="Text 138"/>
          <p:cNvSpPr/>
          <p:nvPr/>
        </p:nvSpPr>
        <p:spPr>
          <a:xfrm>
            <a:off x="4752559" y="5604592"/>
            <a:ext cx="530687" cy="220861"/>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42" name="Text 139"/>
          <p:cNvSpPr/>
          <p:nvPr/>
        </p:nvSpPr>
        <p:spPr>
          <a:xfrm>
            <a:off x="5267789" y="5604592"/>
            <a:ext cx="627259" cy="220861"/>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47</a:t>
            </a:r>
            <a:endParaRPr lang="en-US" sz="744" dirty="0"/>
          </a:p>
        </p:txBody>
      </p:sp>
      <p:sp>
        <p:nvSpPr>
          <p:cNvPr id="143" name="Text 140"/>
          <p:cNvSpPr/>
          <p:nvPr/>
        </p:nvSpPr>
        <p:spPr>
          <a:xfrm>
            <a:off x="2114497" y="5825453"/>
            <a:ext cx="542184"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44" name="Text 141"/>
          <p:cNvSpPr/>
          <p:nvPr/>
        </p:nvSpPr>
        <p:spPr>
          <a:xfrm>
            <a:off x="2640889" y="5825453"/>
            <a:ext cx="539271"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45" name="Text 142"/>
          <p:cNvSpPr/>
          <p:nvPr/>
        </p:nvSpPr>
        <p:spPr>
          <a:xfrm>
            <a:off x="3164453" y="5825453"/>
            <a:ext cx="544636"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46" name="Text 143"/>
          <p:cNvSpPr/>
          <p:nvPr/>
        </p:nvSpPr>
        <p:spPr>
          <a:xfrm>
            <a:off x="3693226" y="5825453"/>
            <a:ext cx="529154"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47" name="Text 144"/>
          <p:cNvSpPr/>
          <p:nvPr/>
        </p:nvSpPr>
        <p:spPr>
          <a:xfrm>
            <a:off x="6719571" y="3012877"/>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48" name="Text 145"/>
          <p:cNvSpPr/>
          <p:nvPr/>
        </p:nvSpPr>
        <p:spPr>
          <a:xfrm>
            <a:off x="7567870" y="3002459"/>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49" name="Text 146"/>
          <p:cNvSpPr/>
          <p:nvPr/>
        </p:nvSpPr>
        <p:spPr>
          <a:xfrm>
            <a:off x="8413341" y="2845296"/>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856238"/>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es , lo que indica que el 1S se depuró correctamente contra clientes vigentes antes de lanzar el marcador.</a:t>
            </a:r>
            <a:endParaRPr lang="en-US" sz="744" dirty="0"/>
          </a:p>
        </p:txBody>
      </p:sp>
      <p:sp>
        <p:nvSpPr>
          <p:cNvPr id="4" name="Text 1"/>
          <p:cNvSpPr/>
          <p:nvPr/>
        </p:nvSpPr>
        <p:spPr>
          <a:xfrm>
            <a:off x="685783" y="6002685"/>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representa el , convirtiéndose en el motor de ventas del canal.</a:t>
            </a:r>
            <a:endParaRPr lang="en-US" sz="744" dirty="0"/>
          </a:p>
        </p:txBody>
      </p:sp>
      <p:sp>
        <p:nvSpPr>
          <p:cNvPr id="5" name="Text 2"/>
          <p:cNvSpPr/>
          <p:nvPr/>
        </p:nvSpPr>
        <p:spPr>
          <a:xfrm>
            <a:off x="685783" y="5709791"/>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la  y una efectividad sobresaliente.</a:t>
            </a:r>
            <a:endParaRPr lang="en-US" sz="744" dirty="0"/>
          </a:p>
        </p:txBody>
      </p:sp>
      <p:sp>
        <p:nvSpPr>
          <p:cNvPr id="6" name="Text 3"/>
          <p:cNvSpPr/>
          <p:nvPr/>
        </p:nvSpPr>
        <p:spPr>
          <a:xfrm>
            <a:off x="1213514" y="219075"/>
            <a:ext cx="379497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efectividad comercial sobre contacto</a:t>
            </a:r>
            <a:endParaRPr lang="en-US" sz="648" dirty="0"/>
          </a:p>
        </p:txBody>
      </p:sp>
      <p:sp>
        <p:nvSpPr>
          <p:cNvPr id="8" name="Text 5"/>
          <p:cNvSpPr/>
          <p:nvPr/>
        </p:nvSpPr>
        <p:spPr>
          <a:xfrm>
            <a:off x="6267293" y="50013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Líder en contactabilidad del canal</a:t>
            </a:r>
            <a:endParaRPr lang="en-US" sz="648" dirty="0"/>
          </a:p>
        </p:txBody>
      </p:sp>
      <p:sp>
        <p:nvSpPr>
          <p:cNvPr id="10" name="Text 7"/>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Aporta el 62% de las ventas de CP</a:t>
            </a:r>
            <a:endParaRPr lang="en-US" sz="648" dirty="0"/>
          </a:p>
        </p:txBody>
      </p:sp>
      <p:sp>
        <p:nvSpPr>
          <p:cNvPr id="11" name="Text 8"/>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2" name="Text 9"/>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 (CP + Autogestión)</a:t>
            </a:r>
            <a:endParaRPr lang="en-US" sz="552" dirty="0"/>
          </a:p>
        </p:txBody>
      </p:sp>
      <p:sp>
        <p:nvSpPr>
          <p:cNvPr id="13" name="Text 10"/>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5" name="Text 12"/>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con Localidad Errónea</a:t>
            </a:r>
            <a:endParaRPr lang="en-US" sz="576" dirty="0"/>
          </a:p>
        </p:txBody>
      </p:sp>
      <p:sp>
        <p:nvSpPr>
          <p:cNvPr id="16" name="Text 13"/>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7" name="Text 14"/>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19" name="Text 16"/>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0" name="Text 17"/>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1" name="Text 18"/>
          <p:cNvSpPr/>
          <p:nvPr/>
        </p:nvSpPr>
        <p:spPr>
          <a:xfrm>
            <a:off x="9445141" y="209550"/>
            <a:ext cx="22403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Bienvenida</a:t>
            </a:r>
            <a:endParaRPr lang="en-US" sz="840" dirty="0"/>
          </a:p>
        </p:txBody>
      </p:sp>
      <p:sp>
        <p:nvSpPr>
          <p:cNvPr id="22" name="Text 19"/>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3" name="Text 20"/>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Cédula/Teléfono Repetido</a:t>
            </a:r>
            <a:endParaRPr lang="en-US" sz="576" dirty="0"/>
          </a:p>
        </p:txBody>
      </p:sp>
      <p:sp>
        <p:nvSpPr>
          <p:cNvPr id="24" name="Text 21"/>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5" name="Text 22"/>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6" name="Text 23"/>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7" name="Text 24"/>
          <p:cNvSpPr/>
          <p:nvPr/>
        </p:nvSpPr>
        <p:spPr>
          <a:xfrm>
            <a:off x="504812" y="44679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8" name="Text 25"/>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9" name="Text 26"/>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0" name="Text 27"/>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1" name="Text 28"/>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Contrato Repetido</a:t>
            </a:r>
            <a:endParaRPr lang="en-US" sz="576" dirty="0"/>
          </a:p>
        </p:txBody>
      </p:sp>
      <p:sp>
        <p:nvSpPr>
          <p:cNvPr id="32" name="Text 29"/>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3" name="Text 30"/>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4" name="Text 31"/>
          <p:cNvSpPr/>
          <p:nvPr/>
        </p:nvSpPr>
        <p:spPr>
          <a:xfrm>
            <a:off x="6267293" y="51347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5" name="Text 32"/>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TOTALES</a:t>
            </a:r>
            <a:endParaRPr lang="en-US" sz="672" dirty="0"/>
          </a:p>
        </p:txBody>
      </p:sp>
      <p:sp>
        <p:nvSpPr>
          <p:cNvPr id="36" name="Text 33"/>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7" name="Text 34"/>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8" name="Text 35"/>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9" name="Text 36"/>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0" name="Text 37"/>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1" name="Text 38"/>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2" name="Text 39"/>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3" name="Text 40"/>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4" name="Text 41"/>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5" name="Text 42"/>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114.696</a:t>
            </a:r>
            <a:endParaRPr lang="en-US" sz="636" dirty="0"/>
          </a:p>
        </p:txBody>
      </p:sp>
      <p:sp>
        <p:nvSpPr>
          <p:cNvPr id="46" name="Text 43"/>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7" name="Text 44"/>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14.772</a:t>
            </a:r>
            <a:endParaRPr lang="en-US" sz="636" dirty="0"/>
          </a:p>
        </p:txBody>
      </p:sp>
      <p:sp>
        <p:nvSpPr>
          <p:cNvPr id="48" name="Text 45"/>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57,4 %</a:t>
            </a:r>
            <a:endParaRPr lang="en-US" sz="636" dirty="0"/>
          </a:p>
        </p:txBody>
      </p:sp>
      <p:sp>
        <p:nvSpPr>
          <p:cNvPr id="49" name="Text 46"/>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19.573</a:t>
            </a:r>
            <a:endParaRPr lang="en-US" sz="636" dirty="0"/>
          </a:p>
        </p:txBody>
      </p:sp>
      <p:sp>
        <p:nvSpPr>
          <p:cNvPr id="50" name="Text 47"/>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11.134</a:t>
            </a:r>
            <a:endParaRPr lang="en-US" sz="636" dirty="0"/>
          </a:p>
        </p:txBody>
      </p:sp>
      <p:sp>
        <p:nvSpPr>
          <p:cNvPr id="51" name="Text 48"/>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56,9 %</a:t>
            </a:r>
            <a:endParaRPr lang="en-US" sz="636" dirty="0"/>
          </a:p>
        </p:txBody>
      </p:sp>
      <p:sp>
        <p:nvSpPr>
          <p:cNvPr id="52" name="Text 49"/>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21.421</a:t>
            </a:r>
            <a:endParaRPr lang="en-US" sz="636" dirty="0"/>
          </a:p>
        </p:txBody>
      </p:sp>
      <p:sp>
        <p:nvSpPr>
          <p:cNvPr id="53" name="Text 50"/>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13.486</a:t>
            </a:r>
            <a:endParaRPr lang="en-US" sz="636" dirty="0"/>
          </a:p>
        </p:txBody>
      </p:sp>
      <p:sp>
        <p:nvSpPr>
          <p:cNvPr id="54" name="Text 51"/>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63,0 %</a:t>
            </a:r>
            <a:endParaRPr lang="en-US" sz="636" dirty="0"/>
          </a:p>
        </p:txBody>
      </p:sp>
      <p:sp>
        <p:nvSpPr>
          <p:cNvPr id="55" name="Text 52"/>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19.096</a:t>
            </a:r>
            <a:endParaRPr lang="en-US" sz="636" dirty="0"/>
          </a:p>
        </p:txBody>
      </p:sp>
      <p:sp>
        <p:nvSpPr>
          <p:cNvPr id="56" name="Text 53"/>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10.792</a:t>
            </a:r>
            <a:endParaRPr lang="en-US" sz="636" dirty="0"/>
          </a:p>
        </p:txBody>
      </p:sp>
      <p:sp>
        <p:nvSpPr>
          <p:cNvPr id="57" name="Text 54"/>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56,5 %</a:t>
            </a:r>
            <a:endParaRPr lang="en-US" sz="636" dirty="0"/>
          </a:p>
        </p:txBody>
      </p:sp>
      <p:sp>
        <p:nvSpPr>
          <p:cNvPr id="58" name="Text 55"/>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20.067</a:t>
            </a:r>
            <a:endParaRPr lang="en-US" sz="636" dirty="0"/>
          </a:p>
        </p:txBody>
      </p:sp>
      <p:sp>
        <p:nvSpPr>
          <p:cNvPr id="59" name="Text 56"/>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13.166</a:t>
            </a:r>
            <a:endParaRPr lang="en-US" sz="636" dirty="0"/>
          </a:p>
        </p:txBody>
      </p:sp>
      <p:sp>
        <p:nvSpPr>
          <p:cNvPr id="60" name="Text 57"/>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61" name="Text 58"/>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19.767</a:t>
            </a:r>
            <a:endParaRPr lang="en-US" sz="636" dirty="0"/>
          </a:p>
        </p:txBody>
      </p:sp>
      <p:sp>
        <p:nvSpPr>
          <p:cNvPr id="62" name="Text 59"/>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13.203</a:t>
            </a:r>
            <a:endParaRPr lang="en-US" sz="636" dirty="0"/>
          </a:p>
        </p:txBody>
      </p:sp>
      <p:sp>
        <p:nvSpPr>
          <p:cNvPr id="63" name="Text 60"/>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66,8 %</a:t>
            </a:r>
            <a:endParaRPr lang="en-US" sz="636" dirty="0"/>
          </a:p>
        </p:txBody>
      </p:sp>
      <p:sp>
        <p:nvSpPr>
          <p:cNvPr id="64" name="Text 61"/>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70.266</a:t>
            </a:r>
            <a:endParaRPr lang="en-US" sz="636" dirty="0"/>
          </a:p>
        </p:txBody>
      </p:sp>
      <p:sp>
        <p:nvSpPr>
          <p:cNvPr id="65" name="Text 62"/>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61,3 %</a:t>
            </a:r>
            <a:endParaRPr lang="en-US" sz="636" dirty="0"/>
          </a:p>
        </p:txBody>
      </p:sp>
      <p:sp>
        <p:nvSpPr>
          <p:cNvPr id="66" name="Text 63"/>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67" name="Text 64"/>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35.758</a:t>
            </a:r>
            <a:endParaRPr lang="en-US" sz="576" dirty="0"/>
          </a:p>
        </p:txBody>
      </p:sp>
      <p:sp>
        <p:nvSpPr>
          <p:cNvPr id="68" name="Text 65"/>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12.760</a:t>
            </a:r>
            <a:endParaRPr lang="en-US" sz="576" dirty="0"/>
          </a:p>
        </p:txBody>
      </p:sp>
      <p:sp>
        <p:nvSpPr>
          <p:cNvPr id="69" name="Text 66"/>
          <p:cNvSpPr/>
          <p:nvPr/>
        </p:nvSpPr>
        <p:spPr>
          <a:xfrm>
            <a:off x="2812186"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11.134</a:t>
            </a:r>
            <a:endParaRPr lang="en-US" sz="576" dirty="0"/>
          </a:p>
        </p:txBody>
      </p:sp>
      <p:sp>
        <p:nvSpPr>
          <p:cNvPr id="70" name="Text 67"/>
          <p:cNvSpPr/>
          <p:nvPr/>
        </p:nvSpPr>
        <p:spPr>
          <a:xfrm>
            <a:off x="3294972"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13.486</a:t>
            </a:r>
            <a:endParaRPr lang="en-US" sz="576" dirty="0"/>
          </a:p>
        </p:txBody>
      </p:sp>
      <p:sp>
        <p:nvSpPr>
          <p:cNvPr id="71" name="Text 68"/>
          <p:cNvSpPr/>
          <p:nvPr/>
        </p:nvSpPr>
        <p:spPr>
          <a:xfrm>
            <a:off x="3777759"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10.792</a:t>
            </a:r>
            <a:endParaRPr lang="en-US" sz="576" dirty="0"/>
          </a:p>
        </p:txBody>
      </p:sp>
      <p:sp>
        <p:nvSpPr>
          <p:cNvPr id="72" name="Text 69"/>
          <p:cNvSpPr/>
          <p:nvPr/>
        </p:nvSpPr>
        <p:spPr>
          <a:xfrm>
            <a:off x="4260545"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13.166</a:t>
            </a:r>
            <a:endParaRPr lang="en-US" sz="576" dirty="0"/>
          </a:p>
        </p:txBody>
      </p:sp>
      <p:sp>
        <p:nvSpPr>
          <p:cNvPr id="73" name="Text 70"/>
          <p:cNvSpPr/>
          <p:nvPr/>
        </p:nvSpPr>
        <p:spPr>
          <a:xfrm>
            <a:off x="4743331"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13.203</a:t>
            </a:r>
            <a:endParaRPr lang="en-US" sz="576" dirty="0"/>
          </a:p>
        </p:txBody>
      </p:sp>
      <p:sp>
        <p:nvSpPr>
          <p:cNvPr id="74" name="Text 71"/>
          <p:cNvSpPr/>
          <p:nvPr/>
        </p:nvSpPr>
        <p:spPr>
          <a:xfrm>
            <a:off x="5226118" y="46013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70.266</a:t>
            </a:r>
            <a:endParaRPr lang="en-US" sz="576" dirty="0"/>
          </a:p>
        </p:txBody>
      </p:sp>
      <p:sp>
        <p:nvSpPr>
          <p:cNvPr id="75" name="Text 72"/>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6" name="Text 73"/>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81,5 %</a:t>
            </a:r>
            <a:endParaRPr lang="en-US" sz="636" dirty="0"/>
          </a:p>
        </p:txBody>
      </p:sp>
      <p:sp>
        <p:nvSpPr>
          <p:cNvPr id="77" name="Text 74"/>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23,6 %</a:t>
            </a:r>
            <a:endParaRPr lang="en-US" sz="636" dirty="0"/>
          </a:p>
        </p:txBody>
      </p:sp>
      <p:sp>
        <p:nvSpPr>
          <p:cNvPr id="78" name="Text 75"/>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79,0 %</a:t>
            </a:r>
            <a:endParaRPr lang="en-US" sz="636" dirty="0"/>
          </a:p>
        </p:txBody>
      </p:sp>
      <p:sp>
        <p:nvSpPr>
          <p:cNvPr id="79" name="Text 76"/>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21,5 %</a:t>
            </a:r>
            <a:endParaRPr lang="en-US" sz="636" dirty="0"/>
          </a:p>
        </p:txBody>
      </p:sp>
      <p:sp>
        <p:nvSpPr>
          <p:cNvPr id="80" name="Text 77"/>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78,2 %</a:t>
            </a:r>
            <a:endParaRPr lang="en-US" sz="636" dirty="0"/>
          </a:p>
        </p:txBody>
      </p:sp>
      <p:sp>
        <p:nvSpPr>
          <p:cNvPr id="81" name="Text 78"/>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18,0 %</a:t>
            </a:r>
            <a:endParaRPr lang="en-US" sz="636" dirty="0"/>
          </a:p>
        </p:txBody>
      </p:sp>
      <p:sp>
        <p:nvSpPr>
          <p:cNvPr id="82" name="Text 79"/>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76,1 %</a:t>
            </a:r>
            <a:endParaRPr lang="en-US" sz="636" dirty="0"/>
          </a:p>
        </p:txBody>
      </p:sp>
      <p:sp>
        <p:nvSpPr>
          <p:cNvPr id="83" name="Text 80"/>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17,2 %</a:t>
            </a:r>
            <a:endParaRPr lang="en-US" sz="636" dirty="0"/>
          </a:p>
        </p:txBody>
      </p:sp>
      <p:sp>
        <p:nvSpPr>
          <p:cNvPr id="84" name="Text 81"/>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83,1 %</a:t>
            </a:r>
            <a:endParaRPr lang="en-US" sz="636" dirty="0"/>
          </a:p>
        </p:txBody>
      </p:sp>
      <p:sp>
        <p:nvSpPr>
          <p:cNvPr id="85" name="Text 82"/>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86" name="Text 83"/>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79,9 %</a:t>
            </a:r>
            <a:endParaRPr lang="en-US" sz="636" dirty="0"/>
          </a:p>
        </p:txBody>
      </p:sp>
      <p:sp>
        <p:nvSpPr>
          <p:cNvPr id="87" name="Text 84"/>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18,4 %</a:t>
            </a:r>
            <a:endParaRPr lang="en-US" sz="636" dirty="0"/>
          </a:p>
        </p:txBody>
      </p:sp>
      <p:sp>
        <p:nvSpPr>
          <p:cNvPr id="88" name="Text 85"/>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44.430</a:t>
            </a:r>
            <a:endParaRPr lang="en-US" sz="636" dirty="0"/>
          </a:p>
        </p:txBody>
      </p:sp>
      <p:sp>
        <p:nvSpPr>
          <p:cNvPr id="89" name="Text 86"/>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79,4 %</a:t>
            </a:r>
            <a:endParaRPr lang="en-US" sz="636" dirty="0"/>
          </a:p>
        </p:txBody>
      </p:sp>
      <p:sp>
        <p:nvSpPr>
          <p:cNvPr id="90" name="Text 87"/>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19,5 %</a:t>
            </a:r>
            <a:endParaRPr lang="en-US" sz="636" dirty="0"/>
          </a:p>
        </p:txBody>
      </p:sp>
      <p:sp>
        <p:nvSpPr>
          <p:cNvPr id="91" name="Text 88"/>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38.250</a:t>
            </a:r>
            <a:endParaRPr lang="en-US" sz="552" dirty="0"/>
          </a:p>
        </p:txBody>
      </p:sp>
      <p:sp>
        <p:nvSpPr>
          <p:cNvPr id="92" name="Text 89"/>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14.908</a:t>
            </a:r>
            <a:endParaRPr lang="en-US" sz="552" dirty="0"/>
          </a:p>
        </p:txBody>
      </p:sp>
      <p:sp>
        <p:nvSpPr>
          <p:cNvPr id="93" name="Text 90"/>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10.362</a:t>
            </a:r>
            <a:endParaRPr lang="en-US" sz="552" dirty="0"/>
          </a:p>
        </p:txBody>
      </p:sp>
      <p:sp>
        <p:nvSpPr>
          <p:cNvPr id="94" name="Text 91"/>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95" name="Text 92"/>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96" name="Text 93"/>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8.485</a:t>
            </a:r>
            <a:endParaRPr lang="en-US" sz="636" dirty="0"/>
          </a:p>
        </p:txBody>
      </p:sp>
      <p:sp>
        <p:nvSpPr>
          <p:cNvPr id="97" name="Text 94"/>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98" name="Text 95"/>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99" name="Text 96"/>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0" name="Text 97"/>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1" name="Text 98"/>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2" name="Text 99"/>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4.318</a:t>
            </a:r>
            <a:endParaRPr lang="en-US" sz="576" dirty="0"/>
          </a:p>
        </p:txBody>
      </p:sp>
      <p:sp>
        <p:nvSpPr>
          <p:cNvPr id="103" name="Text 100"/>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5.666</a:t>
            </a:r>
            <a:endParaRPr lang="en-US" sz="576" dirty="0"/>
          </a:p>
        </p:txBody>
      </p:sp>
      <p:sp>
        <p:nvSpPr>
          <p:cNvPr id="104" name="Text 101"/>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6.863</a:t>
            </a:r>
            <a:endParaRPr lang="en-US" sz="576" dirty="0"/>
          </a:p>
        </p:txBody>
      </p:sp>
      <p:sp>
        <p:nvSpPr>
          <p:cNvPr id="105" name="Text 102"/>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5.492</a:t>
            </a:r>
            <a:endParaRPr lang="en-US" sz="576" dirty="0"/>
          </a:p>
        </p:txBody>
      </p:sp>
      <p:sp>
        <p:nvSpPr>
          <p:cNvPr id="106" name="Text 103"/>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6.700</a:t>
            </a:r>
            <a:endParaRPr lang="en-US" sz="576" dirty="0"/>
          </a:p>
        </p:txBody>
      </p:sp>
      <p:sp>
        <p:nvSpPr>
          <p:cNvPr id="107" name="Text 104"/>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6.719</a:t>
            </a:r>
            <a:endParaRPr lang="en-US" sz="576" dirty="0"/>
          </a:p>
        </p:txBody>
      </p:sp>
      <p:sp>
        <p:nvSpPr>
          <p:cNvPr id="108" name="Text 105"/>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1.541</a:t>
            </a:r>
            <a:endParaRPr lang="en-US" sz="576" dirty="0"/>
          </a:p>
        </p:txBody>
      </p:sp>
      <p:sp>
        <p:nvSpPr>
          <p:cNvPr id="109" name="Text 106"/>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2.022</a:t>
            </a:r>
            <a:endParaRPr lang="en-US" sz="576" dirty="0"/>
          </a:p>
        </p:txBody>
      </p:sp>
      <p:sp>
        <p:nvSpPr>
          <p:cNvPr id="110" name="Text 107"/>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2.448</a:t>
            </a:r>
            <a:endParaRPr lang="en-US" sz="576" dirty="0"/>
          </a:p>
        </p:txBody>
      </p:sp>
      <p:sp>
        <p:nvSpPr>
          <p:cNvPr id="111" name="Text 108"/>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1.960</a:t>
            </a:r>
            <a:endParaRPr lang="en-US" sz="576" dirty="0"/>
          </a:p>
        </p:txBody>
      </p:sp>
      <p:sp>
        <p:nvSpPr>
          <p:cNvPr id="112" name="Text 109"/>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2.391</a:t>
            </a:r>
            <a:endParaRPr lang="en-US" sz="576" dirty="0"/>
          </a:p>
        </p:txBody>
      </p:sp>
      <p:sp>
        <p:nvSpPr>
          <p:cNvPr id="113" name="Text 110"/>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2.398</a:t>
            </a:r>
            <a:endParaRPr lang="en-US" sz="576" dirty="0"/>
          </a:p>
        </p:txBody>
      </p:sp>
      <p:sp>
        <p:nvSpPr>
          <p:cNvPr id="114" name="Text 111"/>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1.113</a:t>
            </a:r>
            <a:endParaRPr lang="en-US" sz="576" dirty="0"/>
          </a:p>
        </p:txBody>
      </p:sp>
      <p:sp>
        <p:nvSpPr>
          <p:cNvPr id="115" name="Text 112"/>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1.349</a:t>
            </a:r>
            <a:endParaRPr lang="en-US" sz="576" dirty="0"/>
          </a:p>
        </p:txBody>
      </p:sp>
      <p:sp>
        <p:nvSpPr>
          <p:cNvPr id="116" name="Text 113"/>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1.079</a:t>
            </a:r>
            <a:endParaRPr lang="en-US" sz="576" dirty="0"/>
          </a:p>
        </p:txBody>
      </p:sp>
      <p:sp>
        <p:nvSpPr>
          <p:cNvPr id="117" name="Text 114"/>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1.317</a:t>
            </a:r>
            <a:endParaRPr lang="en-US" sz="576" dirty="0"/>
          </a:p>
        </p:txBody>
      </p:sp>
      <p:sp>
        <p:nvSpPr>
          <p:cNvPr id="118" name="Text 115"/>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1.320</a:t>
            </a:r>
            <a:endParaRPr lang="en-US" sz="576" dirty="0"/>
          </a:p>
        </p:txBody>
      </p:sp>
      <p:sp>
        <p:nvSpPr>
          <p:cNvPr id="119" name="Text 116"/>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7.027</a:t>
            </a:r>
            <a:endParaRPr lang="en-US" sz="576" dirty="0"/>
          </a:p>
        </p:txBody>
      </p:sp>
      <p:sp>
        <p:nvSpPr>
          <p:cNvPr id="120" name="Text 117"/>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1.135</a:t>
            </a:r>
            <a:endParaRPr lang="en-US" sz="576" dirty="0"/>
          </a:p>
        </p:txBody>
      </p:sp>
      <p:sp>
        <p:nvSpPr>
          <p:cNvPr id="121" name="Text 118"/>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1.109</a:t>
            </a:r>
            <a:endParaRPr lang="en-US" sz="576" dirty="0"/>
          </a:p>
        </p:txBody>
      </p:sp>
      <p:sp>
        <p:nvSpPr>
          <p:cNvPr id="122" name="Text 119"/>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1.112</a:t>
            </a:r>
            <a:endParaRPr lang="en-US" sz="576" dirty="0"/>
          </a:p>
        </p:txBody>
      </p:sp>
      <p:sp>
        <p:nvSpPr>
          <p:cNvPr id="123" name="Text 120"/>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5.916</a:t>
            </a:r>
            <a:endParaRPr lang="en-US" sz="576" dirty="0"/>
          </a:p>
        </p:txBody>
      </p:sp>
      <p:sp>
        <p:nvSpPr>
          <p:cNvPr id="124" name="Text 121"/>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4.624</a:t>
            </a:r>
            <a:endParaRPr lang="en-US" sz="576" dirty="0"/>
          </a:p>
        </p:txBody>
      </p:sp>
      <p:sp>
        <p:nvSpPr>
          <p:cNvPr id="125" name="Text 122"/>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1.912</a:t>
            </a:r>
            <a:endParaRPr lang="en-US" sz="576" dirty="0"/>
          </a:p>
        </p:txBody>
      </p:sp>
      <p:sp>
        <p:nvSpPr>
          <p:cNvPr id="126" name="Text 123"/>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1.070</a:t>
            </a:r>
            <a:endParaRPr lang="en-US" sz="576" dirty="0"/>
          </a:p>
        </p:txBody>
      </p:sp>
      <p:sp>
        <p:nvSpPr>
          <p:cNvPr id="127" name="Text 124"/>
          <p:cNvSpPr/>
          <p:nvPr/>
        </p:nvSpPr>
        <p:spPr>
          <a:xfrm>
            <a:off x="504812" y="46013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8" name="Text 125"/>
          <p:cNvSpPr/>
          <p:nvPr/>
        </p:nvSpPr>
        <p:spPr>
          <a:xfrm>
            <a:off x="2329400"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8.485</a:t>
            </a:r>
            <a:endParaRPr lang="en-US" sz="576" dirty="0"/>
          </a:p>
        </p:txBody>
      </p:sp>
      <p:sp>
        <p:nvSpPr>
          <p:cNvPr id="129" name="Text 126"/>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30" name="Text 127"/>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1" name="Text 128"/>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6.287</a:t>
            </a:r>
            <a:endParaRPr lang="en-US" sz="636" dirty="0"/>
          </a:p>
        </p:txBody>
      </p:sp>
      <p:sp>
        <p:nvSpPr>
          <p:cNvPr id="132" name="Text 129"/>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1.208</a:t>
            </a:r>
            <a:endParaRPr lang="en-US" sz="636" dirty="0"/>
          </a:p>
        </p:txBody>
      </p:sp>
      <p:sp>
        <p:nvSpPr>
          <p:cNvPr id="133" name="Text 130"/>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8.439</a:t>
            </a:r>
            <a:endParaRPr lang="en-US" sz="636" dirty="0"/>
          </a:p>
        </p:txBody>
      </p:sp>
      <p:sp>
        <p:nvSpPr>
          <p:cNvPr id="134" name="Text 131"/>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1.435</a:t>
            </a:r>
            <a:endParaRPr lang="en-US" sz="636" dirty="0"/>
          </a:p>
        </p:txBody>
      </p:sp>
      <p:sp>
        <p:nvSpPr>
          <p:cNvPr id="135" name="Text 132"/>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6" name="Text 133"/>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7.935</a:t>
            </a:r>
            <a:endParaRPr lang="en-US" sz="636" dirty="0"/>
          </a:p>
        </p:txBody>
      </p:sp>
      <p:sp>
        <p:nvSpPr>
          <p:cNvPr id="137" name="Text 134"/>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1.119</a:t>
            </a:r>
            <a:endParaRPr lang="en-US" sz="636" dirty="0"/>
          </a:p>
        </p:txBody>
      </p:sp>
      <p:sp>
        <p:nvSpPr>
          <p:cNvPr id="138" name="Text 135"/>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9" name="Text 136"/>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8.304</a:t>
            </a:r>
            <a:endParaRPr lang="en-US" sz="636" dirty="0"/>
          </a:p>
        </p:txBody>
      </p:sp>
      <p:sp>
        <p:nvSpPr>
          <p:cNvPr id="140" name="Text 137"/>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1.086</a:t>
            </a:r>
            <a:endParaRPr lang="en-US" sz="636" dirty="0"/>
          </a:p>
        </p:txBody>
      </p:sp>
      <p:sp>
        <p:nvSpPr>
          <p:cNvPr id="141" name="Text 138"/>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6.901</a:t>
            </a:r>
            <a:endParaRPr lang="en-US" sz="636" dirty="0"/>
          </a:p>
        </p:txBody>
      </p:sp>
      <p:sp>
        <p:nvSpPr>
          <p:cNvPr id="142" name="Text 139"/>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1.068</a:t>
            </a:r>
            <a:endParaRPr lang="en-US" sz="636" dirty="0"/>
          </a:p>
        </p:txBody>
      </p:sp>
      <p:sp>
        <p:nvSpPr>
          <p:cNvPr id="143" name="Text 140"/>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4" name="Text 141"/>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6.564</a:t>
            </a:r>
            <a:endParaRPr lang="en-US" sz="636" dirty="0"/>
          </a:p>
        </p:txBody>
      </p:sp>
      <p:sp>
        <p:nvSpPr>
          <p:cNvPr id="145" name="Text 142"/>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46" name="Text 143"/>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6.881</a:t>
            </a:r>
            <a:endParaRPr lang="en-US" sz="636" dirty="0"/>
          </a:p>
        </p:txBody>
      </p:sp>
      <p:sp>
        <p:nvSpPr>
          <p:cNvPr id="147" name="Text 144"/>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48" name="Text 145"/>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5.413</a:t>
            </a:r>
            <a:endParaRPr lang="en-US" sz="552" dirty="0"/>
          </a:p>
        </p:txBody>
      </p:sp>
      <p:sp>
        <p:nvSpPr>
          <p:cNvPr id="149" name="Text 146"/>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7.265</a:t>
            </a:r>
            <a:endParaRPr lang="en-US" sz="552" dirty="0"/>
          </a:p>
        </p:txBody>
      </p:sp>
      <p:sp>
        <p:nvSpPr>
          <p:cNvPr id="150" name="Text 147"/>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6.831</a:t>
            </a:r>
            <a:endParaRPr lang="en-US" sz="552" dirty="0"/>
          </a:p>
        </p:txBody>
      </p:sp>
      <p:sp>
        <p:nvSpPr>
          <p:cNvPr id="151" name="Text 148"/>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7.149</a:t>
            </a:r>
            <a:endParaRPr lang="en-US" sz="552" dirty="0"/>
          </a:p>
        </p:txBody>
      </p:sp>
      <p:sp>
        <p:nvSpPr>
          <p:cNvPr id="152" name="Text 149"/>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5.941</a:t>
            </a:r>
            <a:endParaRPr lang="en-US" sz="552" dirty="0"/>
          </a:p>
        </p:txBody>
      </p:sp>
      <p:sp>
        <p:nvSpPr>
          <p:cNvPr id="153" name="Text 150"/>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5.651</a:t>
            </a:r>
            <a:endParaRPr lang="en-US" sz="552" dirty="0"/>
          </a:p>
        </p:txBody>
      </p:sp>
      <p:sp>
        <p:nvSpPr>
          <p:cNvPr id="154" name="Text 151"/>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1.086</a:t>
            </a:r>
            <a:endParaRPr lang="en-US" sz="552" dirty="0"/>
          </a:p>
        </p:txBody>
      </p:sp>
      <p:sp>
        <p:nvSpPr>
          <p:cNvPr id="155" name="Text 152"/>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1.457</a:t>
            </a:r>
            <a:endParaRPr lang="en-US" sz="552" dirty="0"/>
          </a:p>
        </p:txBody>
      </p:sp>
      <p:sp>
        <p:nvSpPr>
          <p:cNvPr id="156" name="Text 153"/>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1.370</a:t>
            </a:r>
            <a:endParaRPr lang="en-US" sz="552" dirty="0"/>
          </a:p>
        </p:txBody>
      </p:sp>
      <p:sp>
        <p:nvSpPr>
          <p:cNvPr id="157" name="Text 154"/>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1.434</a:t>
            </a:r>
            <a:endParaRPr lang="en-US" sz="552" dirty="0"/>
          </a:p>
        </p:txBody>
      </p:sp>
      <p:sp>
        <p:nvSpPr>
          <p:cNvPr id="158" name="Text 155"/>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1.192</a:t>
            </a:r>
            <a:endParaRPr lang="en-US" sz="552" dirty="0"/>
          </a:p>
        </p:txBody>
      </p:sp>
      <p:sp>
        <p:nvSpPr>
          <p:cNvPr id="159" name="Text 156"/>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1.133</a:t>
            </a:r>
            <a:endParaRPr lang="en-US" sz="552" dirty="0"/>
          </a:p>
        </p:txBody>
      </p:sp>
      <p:sp>
        <p:nvSpPr>
          <p:cNvPr id="160" name="Text 157"/>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7.672</a:t>
            </a:r>
            <a:endParaRPr lang="en-US" sz="552" dirty="0"/>
          </a:p>
        </p:txBody>
      </p:sp>
      <p:sp>
        <p:nvSpPr>
          <p:cNvPr id="161" name="Text 158"/>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2.110</a:t>
            </a:r>
            <a:endParaRPr lang="en-US" sz="552" dirty="0"/>
          </a:p>
        </p:txBody>
      </p:sp>
      <p:sp>
        <p:nvSpPr>
          <p:cNvPr id="162" name="Text 159"/>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2.831</a:t>
            </a:r>
            <a:endParaRPr lang="en-US" sz="552" dirty="0"/>
          </a:p>
        </p:txBody>
      </p:sp>
      <p:sp>
        <p:nvSpPr>
          <p:cNvPr id="163" name="Text 160"/>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2.663</a:t>
            </a:r>
            <a:endParaRPr lang="en-US" sz="552" dirty="0"/>
          </a:p>
        </p:txBody>
      </p:sp>
      <p:sp>
        <p:nvSpPr>
          <p:cNvPr id="164" name="Text 161"/>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2.786</a:t>
            </a:r>
            <a:endParaRPr lang="en-US" sz="552" dirty="0"/>
          </a:p>
        </p:txBody>
      </p:sp>
      <p:sp>
        <p:nvSpPr>
          <p:cNvPr id="165" name="Text 162"/>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2.316</a:t>
            </a:r>
            <a:endParaRPr lang="en-US" sz="552" dirty="0"/>
          </a:p>
        </p:txBody>
      </p:sp>
      <p:sp>
        <p:nvSpPr>
          <p:cNvPr id="166" name="Text 163"/>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2.202</a:t>
            </a:r>
            <a:endParaRPr lang="en-US" sz="552" dirty="0"/>
          </a:p>
        </p:txBody>
      </p:sp>
      <p:sp>
        <p:nvSpPr>
          <p:cNvPr id="167" name="Text 164"/>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4.822</a:t>
            </a:r>
            <a:endParaRPr lang="en-US" sz="552" dirty="0"/>
          </a:p>
        </p:txBody>
      </p:sp>
      <p:sp>
        <p:nvSpPr>
          <p:cNvPr id="168" name="Text 165"/>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2.971</a:t>
            </a:r>
            <a:endParaRPr lang="en-US" sz="552" dirty="0"/>
          </a:p>
        </p:txBody>
      </p:sp>
      <p:sp>
        <p:nvSpPr>
          <p:cNvPr id="169" name="Text 166"/>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2.501</a:t>
            </a:r>
            <a:endParaRPr lang="en-US" sz="552" dirty="0"/>
          </a:p>
        </p:txBody>
      </p:sp>
      <p:sp>
        <p:nvSpPr>
          <p:cNvPr id="170" name="Text 167"/>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1.847</a:t>
            </a:r>
            <a:endParaRPr lang="en-US" sz="552" dirty="0"/>
          </a:p>
        </p:txBody>
      </p:sp>
      <p:sp>
        <p:nvSpPr>
          <p:cNvPr id="171" name="Text 168"/>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1.126</a:t>
            </a:r>
            <a:endParaRPr lang="en-US" sz="552" dirty="0"/>
          </a:p>
        </p:txBody>
      </p:sp>
      <p:sp>
        <p:nvSpPr>
          <p:cNvPr id="172" name="Text 169"/>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2.403</a:t>
            </a:r>
            <a:endParaRPr lang="en-US" sz="552" dirty="0"/>
          </a:p>
        </p:txBody>
      </p:sp>
      <p:sp>
        <p:nvSpPr>
          <p:cNvPr id="173" name="Text 170"/>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1.466</a:t>
            </a:r>
            <a:endParaRPr lang="en-US" sz="552" dirty="0"/>
          </a:p>
        </p:txBody>
      </p:sp>
      <p:sp>
        <p:nvSpPr>
          <p:cNvPr id="174" name="Text 171"/>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1.968</a:t>
            </a:r>
            <a:endParaRPr lang="en-US" sz="552" dirty="0"/>
          </a:p>
        </p:txBody>
      </p:sp>
      <p:sp>
        <p:nvSpPr>
          <p:cNvPr id="175" name="Text 172"/>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1.851</a:t>
            </a:r>
            <a:endParaRPr lang="en-US" sz="552" dirty="0"/>
          </a:p>
        </p:txBody>
      </p:sp>
      <p:sp>
        <p:nvSpPr>
          <p:cNvPr id="176" name="Text 173"/>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1.937</a:t>
            </a:r>
            <a:endParaRPr lang="en-US" sz="552" dirty="0"/>
          </a:p>
        </p:txBody>
      </p:sp>
      <p:sp>
        <p:nvSpPr>
          <p:cNvPr id="177" name="Text 174"/>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1.609</a:t>
            </a:r>
            <a:endParaRPr lang="en-US" sz="552" dirty="0"/>
          </a:p>
        </p:txBody>
      </p:sp>
      <p:sp>
        <p:nvSpPr>
          <p:cNvPr id="178" name="Text 175"/>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1.531</a:t>
            </a:r>
            <a:endParaRPr lang="en-US" sz="552" dirty="0"/>
          </a:p>
        </p:txBody>
      </p:sp>
      <p:sp>
        <p:nvSpPr>
          <p:cNvPr id="179" name="Text 176"/>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1.299</a:t>
            </a:r>
            <a:endParaRPr lang="en-US" sz="552" dirty="0"/>
          </a:p>
        </p:txBody>
      </p:sp>
      <p:sp>
        <p:nvSpPr>
          <p:cNvPr id="180" name="Text 177"/>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1.221</a:t>
            </a:r>
            <a:endParaRPr lang="en-US" sz="552" dirty="0"/>
          </a:p>
        </p:txBody>
      </p:sp>
      <p:sp>
        <p:nvSpPr>
          <p:cNvPr id="181" name="Text 178"/>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1.278</a:t>
            </a:r>
            <a:endParaRPr lang="en-US" sz="552" dirty="0"/>
          </a:p>
        </p:txBody>
      </p:sp>
      <p:sp>
        <p:nvSpPr>
          <p:cNvPr id="182" name="Text 179"/>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1.062</a:t>
            </a:r>
            <a:endParaRPr lang="en-US" sz="552" dirty="0"/>
          </a:p>
        </p:txBody>
      </p:sp>
      <p:sp>
        <p:nvSpPr>
          <p:cNvPr id="183" name="Text 180"/>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1.010</a:t>
            </a:r>
            <a:endParaRPr lang="en-US" sz="552" dirty="0"/>
          </a:p>
        </p:txBody>
      </p:sp>
      <p:sp>
        <p:nvSpPr>
          <p:cNvPr id="184" name="Text 181"/>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6.837</a:t>
            </a:r>
            <a:endParaRPr lang="en-US" sz="552" dirty="0"/>
          </a:p>
        </p:txBody>
      </p:sp>
      <p:sp>
        <p:nvSpPr>
          <p:cNvPr id="185" name="Text 182"/>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2.442</a:t>
            </a:r>
            <a:endParaRPr lang="en-US" sz="552" dirty="0"/>
          </a:p>
        </p:txBody>
      </p:sp>
      <p:sp>
        <p:nvSpPr>
          <p:cNvPr id="186" name="Text 183"/>
          <p:cNvSpPr/>
          <p:nvPr/>
        </p:nvSpPr>
        <p:spPr>
          <a:xfrm>
            <a:off x="10988599" y="50013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1.033</a:t>
            </a:r>
            <a:endParaRPr lang="en-US" sz="552" dirty="0"/>
          </a:p>
        </p:txBody>
      </p:sp>
      <p:sp>
        <p:nvSpPr>
          <p:cNvPr id="187" name="Text 184"/>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88" name="Text 185"/>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89" name="Text 186"/>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0" name="Text 187"/>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91" name="Text 188"/>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2" name="Text 189"/>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93" name="Text 190"/>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94" name="Text 191"/>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95" name="Text 192"/>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96" name="Text 193"/>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97" name="Text 194"/>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98" name="Text 195"/>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849</a:t>
            </a:r>
            <a:endParaRPr lang="en-US" sz="576" dirty="0"/>
          </a:p>
        </p:txBody>
      </p:sp>
      <p:sp>
        <p:nvSpPr>
          <p:cNvPr id="199" name="Text 196"/>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714</a:t>
            </a:r>
            <a:endParaRPr lang="en-US" sz="576" dirty="0"/>
          </a:p>
        </p:txBody>
      </p:sp>
      <p:sp>
        <p:nvSpPr>
          <p:cNvPr id="200" name="Text 197"/>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937</a:t>
            </a:r>
            <a:endParaRPr lang="en-US" sz="576" dirty="0"/>
          </a:p>
        </p:txBody>
      </p:sp>
      <p:sp>
        <p:nvSpPr>
          <p:cNvPr id="201" name="Text 198"/>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909</a:t>
            </a:r>
            <a:endParaRPr lang="en-US" sz="576" dirty="0"/>
          </a:p>
        </p:txBody>
      </p:sp>
      <p:sp>
        <p:nvSpPr>
          <p:cNvPr id="202" name="Text 199"/>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558</a:t>
            </a:r>
            <a:endParaRPr lang="en-US" sz="576" dirty="0"/>
          </a:p>
        </p:txBody>
      </p:sp>
      <p:sp>
        <p:nvSpPr>
          <p:cNvPr id="203" name="Text 200"/>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733</a:t>
            </a:r>
            <a:endParaRPr lang="en-US" sz="576" dirty="0"/>
          </a:p>
        </p:txBody>
      </p:sp>
      <p:sp>
        <p:nvSpPr>
          <p:cNvPr id="204" name="Text 201"/>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888</a:t>
            </a:r>
            <a:endParaRPr lang="en-US" sz="576" dirty="0"/>
          </a:p>
        </p:txBody>
      </p:sp>
      <p:sp>
        <p:nvSpPr>
          <p:cNvPr id="205" name="Text 202"/>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710</a:t>
            </a:r>
            <a:endParaRPr lang="en-US" sz="576" dirty="0"/>
          </a:p>
        </p:txBody>
      </p:sp>
      <p:sp>
        <p:nvSpPr>
          <p:cNvPr id="206" name="Text 203"/>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866</a:t>
            </a:r>
            <a:endParaRPr lang="en-US" sz="576" dirty="0"/>
          </a:p>
        </p:txBody>
      </p:sp>
      <p:sp>
        <p:nvSpPr>
          <p:cNvPr id="207" name="Text 204"/>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869</a:t>
            </a:r>
            <a:endParaRPr lang="en-US" sz="576" dirty="0"/>
          </a:p>
        </p:txBody>
      </p:sp>
      <p:sp>
        <p:nvSpPr>
          <p:cNvPr id="208" name="Text 205"/>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231</a:t>
            </a:r>
            <a:endParaRPr lang="en-US" sz="576" dirty="0"/>
          </a:p>
        </p:txBody>
      </p:sp>
      <p:sp>
        <p:nvSpPr>
          <p:cNvPr id="209" name="Text 206"/>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303</a:t>
            </a:r>
            <a:endParaRPr lang="en-US" sz="576" dirty="0"/>
          </a:p>
        </p:txBody>
      </p:sp>
      <p:sp>
        <p:nvSpPr>
          <p:cNvPr id="210" name="Text 207"/>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367</a:t>
            </a:r>
            <a:endParaRPr lang="en-US" sz="576" dirty="0"/>
          </a:p>
        </p:txBody>
      </p:sp>
      <p:sp>
        <p:nvSpPr>
          <p:cNvPr id="211" name="Text 208"/>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294</a:t>
            </a:r>
            <a:endParaRPr lang="en-US" sz="576" dirty="0"/>
          </a:p>
        </p:txBody>
      </p:sp>
      <p:sp>
        <p:nvSpPr>
          <p:cNvPr id="212" name="Text 209"/>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358</a:t>
            </a:r>
            <a:endParaRPr lang="en-US" sz="576" dirty="0"/>
          </a:p>
        </p:txBody>
      </p:sp>
      <p:sp>
        <p:nvSpPr>
          <p:cNvPr id="213" name="Text 210"/>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359</a:t>
            </a:r>
            <a:endParaRPr lang="en-US" sz="576" dirty="0"/>
          </a:p>
        </p:txBody>
      </p:sp>
      <p:sp>
        <p:nvSpPr>
          <p:cNvPr id="214" name="Text 211"/>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129</a:t>
            </a:r>
            <a:endParaRPr lang="en-US" sz="576" dirty="0"/>
          </a:p>
        </p:txBody>
      </p:sp>
      <p:sp>
        <p:nvSpPr>
          <p:cNvPr id="215" name="Text 212"/>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170</a:t>
            </a:r>
            <a:endParaRPr lang="en-US" sz="576" dirty="0"/>
          </a:p>
        </p:txBody>
      </p:sp>
      <p:sp>
        <p:nvSpPr>
          <p:cNvPr id="216" name="Text 213"/>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206</a:t>
            </a:r>
            <a:endParaRPr lang="en-US" sz="576" dirty="0"/>
          </a:p>
        </p:txBody>
      </p:sp>
      <p:sp>
        <p:nvSpPr>
          <p:cNvPr id="217" name="Text 214"/>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164</a:t>
            </a:r>
            <a:endParaRPr lang="en-US" sz="576" dirty="0"/>
          </a:p>
        </p:txBody>
      </p:sp>
      <p:sp>
        <p:nvSpPr>
          <p:cNvPr id="218" name="Text 215"/>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200</a:t>
            </a:r>
            <a:endParaRPr lang="en-US" sz="576" dirty="0"/>
          </a:p>
        </p:txBody>
      </p:sp>
      <p:sp>
        <p:nvSpPr>
          <p:cNvPr id="219" name="Text 216"/>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220" name="Text 217"/>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420</a:t>
            </a:r>
            <a:endParaRPr lang="en-US" sz="576" dirty="0"/>
          </a:p>
        </p:txBody>
      </p:sp>
      <p:sp>
        <p:nvSpPr>
          <p:cNvPr id="221" name="Text 218"/>
          <p:cNvSpPr/>
          <p:nvPr/>
        </p:nvSpPr>
        <p:spPr>
          <a:xfrm>
            <a:off x="2812186"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123</a:t>
            </a:r>
            <a:endParaRPr lang="en-US" sz="576" dirty="0"/>
          </a:p>
        </p:txBody>
      </p:sp>
      <p:sp>
        <p:nvSpPr>
          <p:cNvPr id="222" name="Text 219"/>
          <p:cNvSpPr/>
          <p:nvPr/>
        </p:nvSpPr>
        <p:spPr>
          <a:xfrm>
            <a:off x="3294972"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150</a:t>
            </a:r>
            <a:endParaRPr lang="en-US" sz="576" dirty="0"/>
          </a:p>
        </p:txBody>
      </p:sp>
      <p:sp>
        <p:nvSpPr>
          <p:cNvPr id="223" name="Text 220"/>
          <p:cNvSpPr/>
          <p:nvPr/>
        </p:nvSpPr>
        <p:spPr>
          <a:xfrm>
            <a:off x="3777759"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224" name="Text 221"/>
          <p:cNvSpPr/>
          <p:nvPr/>
        </p:nvSpPr>
        <p:spPr>
          <a:xfrm>
            <a:off x="4260545"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5" name="Text 222"/>
          <p:cNvSpPr/>
          <p:nvPr/>
        </p:nvSpPr>
        <p:spPr>
          <a:xfrm>
            <a:off x="4743331"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6" name="Text 223"/>
          <p:cNvSpPr/>
          <p:nvPr/>
        </p:nvSpPr>
        <p:spPr>
          <a:xfrm>
            <a:off x="5226118" y="44679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779</a:t>
            </a:r>
            <a:endParaRPr lang="en-US" sz="576" dirty="0"/>
          </a:p>
        </p:txBody>
      </p:sp>
      <p:sp>
        <p:nvSpPr>
          <p:cNvPr id="227" name="Text 224"/>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28" name="Text 225"/>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965</a:t>
            </a:r>
            <a:endParaRPr lang="en-US" sz="636" dirty="0"/>
          </a:p>
        </p:txBody>
      </p:sp>
      <p:sp>
        <p:nvSpPr>
          <p:cNvPr id="229" name="Text 226"/>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0" name="Text 227"/>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1" name="Text 228"/>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2" name="Text 229"/>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3" name="Text 230"/>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4" name="Text 231"/>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5" name="Text 232"/>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36" name="Text 233"/>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917</a:t>
            </a:r>
            <a:endParaRPr lang="en-US" sz="552" dirty="0"/>
          </a:p>
        </p:txBody>
      </p:sp>
      <p:sp>
        <p:nvSpPr>
          <p:cNvPr id="237" name="Text 234"/>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861</a:t>
            </a:r>
            <a:endParaRPr lang="en-US" sz="552" dirty="0"/>
          </a:p>
        </p:txBody>
      </p:sp>
      <p:sp>
        <p:nvSpPr>
          <p:cNvPr id="238" name="Text 235"/>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901</a:t>
            </a:r>
            <a:endParaRPr lang="en-US" sz="552" dirty="0"/>
          </a:p>
        </p:txBody>
      </p:sp>
      <p:sp>
        <p:nvSpPr>
          <p:cNvPr id="239" name="Text 236"/>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749</a:t>
            </a:r>
            <a:endParaRPr lang="en-US" sz="552" dirty="0"/>
          </a:p>
        </p:txBody>
      </p:sp>
      <p:sp>
        <p:nvSpPr>
          <p:cNvPr id="240" name="Text 237"/>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712</a:t>
            </a:r>
            <a:endParaRPr lang="en-US" sz="552" dirty="0"/>
          </a:p>
        </p:txBody>
      </p:sp>
      <p:sp>
        <p:nvSpPr>
          <p:cNvPr id="241" name="Text 238"/>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242" name="Text 239"/>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565</a:t>
            </a:r>
            <a:endParaRPr lang="en-US" sz="552" dirty="0"/>
          </a:p>
        </p:txBody>
      </p:sp>
      <p:sp>
        <p:nvSpPr>
          <p:cNvPr id="243" name="Text 240"/>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531</a:t>
            </a:r>
            <a:endParaRPr lang="en-US" sz="552" dirty="0"/>
          </a:p>
        </p:txBody>
      </p:sp>
      <p:sp>
        <p:nvSpPr>
          <p:cNvPr id="244" name="Text 241"/>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555</a:t>
            </a:r>
            <a:endParaRPr lang="en-US" sz="552" dirty="0"/>
          </a:p>
        </p:txBody>
      </p:sp>
      <p:sp>
        <p:nvSpPr>
          <p:cNvPr id="245" name="Text 242"/>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a:t>
            </a:r>
            <a:endParaRPr lang="en-US" sz="552" dirty="0"/>
          </a:p>
        </p:txBody>
      </p:sp>
      <p:sp>
        <p:nvSpPr>
          <p:cNvPr id="246" name="Text 243"/>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439</a:t>
            </a:r>
            <a:endParaRPr lang="en-US" sz="552" dirty="0"/>
          </a:p>
        </p:txBody>
      </p:sp>
      <p:sp>
        <p:nvSpPr>
          <p:cNvPr id="247" name="Text 244"/>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354</a:t>
            </a:r>
            <a:endParaRPr lang="en-US" sz="552" dirty="0"/>
          </a:p>
        </p:txBody>
      </p:sp>
      <p:sp>
        <p:nvSpPr>
          <p:cNvPr id="248" name="Text 245"/>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476</a:t>
            </a:r>
            <a:endParaRPr lang="en-US" sz="552" dirty="0"/>
          </a:p>
        </p:txBody>
      </p:sp>
      <p:sp>
        <p:nvSpPr>
          <p:cNvPr id="249" name="Text 246"/>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50" name="Text 247"/>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467</a:t>
            </a:r>
            <a:endParaRPr lang="en-US" sz="552" dirty="0"/>
          </a:p>
        </p:txBody>
      </p:sp>
      <p:sp>
        <p:nvSpPr>
          <p:cNvPr id="251" name="Text 248"/>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388</a:t>
            </a:r>
            <a:endParaRPr lang="en-US" sz="552" dirty="0"/>
          </a:p>
        </p:txBody>
      </p:sp>
      <p:sp>
        <p:nvSpPr>
          <p:cNvPr id="252" name="Text 249"/>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369</a:t>
            </a:r>
            <a:endParaRPr lang="en-US" sz="552" dirty="0"/>
          </a:p>
        </p:txBody>
      </p:sp>
      <p:sp>
        <p:nvSpPr>
          <p:cNvPr id="253" name="Text 250"/>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261</a:t>
            </a:r>
            <a:endParaRPr lang="en-US" sz="552" dirty="0"/>
          </a:p>
        </p:txBody>
      </p:sp>
      <p:sp>
        <p:nvSpPr>
          <p:cNvPr id="254" name="Text 251"/>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351</a:t>
            </a:r>
            <a:endParaRPr lang="en-US" sz="552" dirty="0"/>
          </a:p>
        </p:txBody>
      </p:sp>
      <p:sp>
        <p:nvSpPr>
          <p:cNvPr id="255" name="Text 252"/>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330</a:t>
            </a:r>
            <a:endParaRPr lang="en-US" sz="552" dirty="0"/>
          </a:p>
        </p:txBody>
      </p:sp>
      <p:sp>
        <p:nvSpPr>
          <p:cNvPr id="256" name="Text 253"/>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345</a:t>
            </a:r>
            <a:endParaRPr lang="en-US" sz="552" dirty="0"/>
          </a:p>
        </p:txBody>
      </p:sp>
      <p:sp>
        <p:nvSpPr>
          <p:cNvPr id="257" name="Text 254"/>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287</a:t>
            </a:r>
            <a:endParaRPr lang="en-US" sz="552" dirty="0"/>
          </a:p>
        </p:txBody>
      </p:sp>
      <p:sp>
        <p:nvSpPr>
          <p:cNvPr id="258" name="Text 255"/>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273</a:t>
            </a:r>
            <a:endParaRPr lang="en-US" sz="552" dirty="0"/>
          </a:p>
        </p:txBody>
      </p:sp>
      <p:sp>
        <p:nvSpPr>
          <p:cNvPr id="259" name="Text 256"/>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159</a:t>
            </a:r>
            <a:endParaRPr lang="en-US" sz="552" dirty="0"/>
          </a:p>
        </p:txBody>
      </p:sp>
      <p:sp>
        <p:nvSpPr>
          <p:cNvPr id="260" name="Text 257"/>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215</a:t>
            </a:r>
            <a:endParaRPr lang="en-US" sz="552" dirty="0"/>
          </a:p>
        </p:txBody>
      </p:sp>
      <p:sp>
        <p:nvSpPr>
          <p:cNvPr id="261" name="Text 258"/>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201</a:t>
            </a:r>
            <a:endParaRPr lang="en-US" sz="552" dirty="0"/>
          </a:p>
        </p:txBody>
      </p:sp>
      <p:sp>
        <p:nvSpPr>
          <p:cNvPr id="262" name="Text 259"/>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210</a:t>
            </a:r>
            <a:endParaRPr lang="en-US" sz="552" dirty="0"/>
          </a:p>
        </p:txBody>
      </p:sp>
      <p:sp>
        <p:nvSpPr>
          <p:cNvPr id="263" name="Text 260"/>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175</a:t>
            </a:r>
            <a:endParaRPr lang="en-US" sz="552" dirty="0"/>
          </a:p>
        </p:txBody>
      </p:sp>
      <p:sp>
        <p:nvSpPr>
          <p:cNvPr id="264" name="Text 261"/>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166</a:t>
            </a:r>
            <a:endParaRPr lang="en-US" sz="552" dirty="0"/>
          </a:p>
        </p:txBody>
      </p:sp>
      <p:sp>
        <p:nvSpPr>
          <p:cNvPr id="265" name="Text 262"/>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340</a:t>
            </a:r>
            <a:endParaRPr lang="en-US" sz="552" dirty="0"/>
          </a:p>
        </p:txBody>
      </p:sp>
      <p:sp>
        <p:nvSpPr>
          <p:cNvPr id="266" name="Text 263"/>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457</a:t>
            </a:r>
            <a:endParaRPr lang="en-US" sz="552" dirty="0"/>
          </a:p>
        </p:txBody>
      </p:sp>
      <p:sp>
        <p:nvSpPr>
          <p:cNvPr id="267" name="Text 264"/>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429</a:t>
            </a:r>
            <a:endParaRPr lang="en-US" sz="552" dirty="0"/>
          </a:p>
        </p:txBody>
      </p:sp>
      <p:sp>
        <p:nvSpPr>
          <p:cNvPr id="268" name="Text 265"/>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449</a:t>
            </a:r>
            <a:endParaRPr lang="en-US" sz="552" dirty="0"/>
          </a:p>
        </p:txBody>
      </p:sp>
      <p:sp>
        <p:nvSpPr>
          <p:cNvPr id="269" name="Text 266"/>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373</a:t>
            </a:r>
            <a:endParaRPr lang="en-US" sz="552" dirty="0"/>
          </a:p>
        </p:txBody>
      </p:sp>
      <p:sp>
        <p:nvSpPr>
          <p:cNvPr id="270" name="Text 267"/>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355</a:t>
            </a:r>
            <a:endParaRPr lang="en-US" sz="552" dirty="0"/>
          </a:p>
        </p:txBody>
      </p:sp>
      <p:sp>
        <p:nvSpPr>
          <p:cNvPr id="271" name="Text 268"/>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967</a:t>
            </a:r>
            <a:endParaRPr lang="en-US" sz="552" dirty="0"/>
          </a:p>
        </p:txBody>
      </p:sp>
      <p:sp>
        <p:nvSpPr>
          <p:cNvPr id="272" name="Text 269"/>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346</a:t>
            </a:r>
            <a:endParaRPr lang="en-US" sz="552" dirty="0"/>
          </a:p>
        </p:txBody>
      </p:sp>
      <p:sp>
        <p:nvSpPr>
          <p:cNvPr id="273" name="Text 270"/>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274" name="Text 271"/>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436</a:t>
            </a:r>
            <a:endParaRPr lang="en-US" sz="552" dirty="0"/>
          </a:p>
        </p:txBody>
      </p:sp>
      <p:sp>
        <p:nvSpPr>
          <p:cNvPr id="275" name="Text 272"/>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276" name="Text 273"/>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379</a:t>
            </a:r>
            <a:endParaRPr lang="en-US" sz="552" dirty="0"/>
          </a:p>
        </p:txBody>
      </p:sp>
      <p:sp>
        <p:nvSpPr>
          <p:cNvPr id="277" name="Text 274"/>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361</a:t>
            </a:r>
            <a:endParaRPr lang="en-US" sz="552" dirty="0"/>
          </a:p>
        </p:txBody>
      </p:sp>
      <p:sp>
        <p:nvSpPr>
          <p:cNvPr id="278" name="Text 275"/>
          <p:cNvSpPr/>
          <p:nvPr/>
        </p:nvSpPr>
        <p:spPr>
          <a:xfrm>
            <a:off x="8091881"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146</a:t>
            </a:r>
            <a:endParaRPr lang="en-US" sz="552" dirty="0"/>
          </a:p>
        </p:txBody>
      </p:sp>
      <p:sp>
        <p:nvSpPr>
          <p:cNvPr id="279" name="Text 276"/>
          <p:cNvSpPr/>
          <p:nvPr/>
        </p:nvSpPr>
        <p:spPr>
          <a:xfrm>
            <a:off x="8574667"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197</a:t>
            </a:r>
            <a:endParaRPr lang="en-US" sz="552" dirty="0"/>
          </a:p>
        </p:txBody>
      </p:sp>
      <p:sp>
        <p:nvSpPr>
          <p:cNvPr id="280" name="Text 277"/>
          <p:cNvSpPr/>
          <p:nvPr/>
        </p:nvSpPr>
        <p:spPr>
          <a:xfrm>
            <a:off x="9057453"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184</a:t>
            </a:r>
            <a:endParaRPr lang="en-US" sz="552" dirty="0"/>
          </a:p>
        </p:txBody>
      </p:sp>
      <p:sp>
        <p:nvSpPr>
          <p:cNvPr id="281" name="Text 278"/>
          <p:cNvSpPr/>
          <p:nvPr/>
        </p:nvSpPr>
        <p:spPr>
          <a:xfrm>
            <a:off x="9540240"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193</a:t>
            </a:r>
            <a:endParaRPr lang="en-US" sz="552" dirty="0"/>
          </a:p>
        </p:txBody>
      </p:sp>
      <p:sp>
        <p:nvSpPr>
          <p:cNvPr id="282" name="Text 279"/>
          <p:cNvSpPr/>
          <p:nvPr/>
        </p:nvSpPr>
        <p:spPr>
          <a:xfrm>
            <a:off x="10023026"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283" name="Text 280"/>
          <p:cNvSpPr/>
          <p:nvPr/>
        </p:nvSpPr>
        <p:spPr>
          <a:xfrm>
            <a:off x="10505812"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153</a:t>
            </a:r>
            <a:endParaRPr lang="en-US" sz="552" dirty="0"/>
          </a:p>
        </p:txBody>
      </p:sp>
      <p:sp>
        <p:nvSpPr>
          <p:cNvPr id="284" name="Text 281"/>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51</a:t>
            </a:r>
            <a:endParaRPr lang="en-US" sz="576" dirty="0"/>
          </a:p>
        </p:txBody>
      </p:sp>
      <p:sp>
        <p:nvSpPr>
          <p:cNvPr id="285" name="Text 282"/>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86" name="Text 283"/>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87" name="Text 284"/>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65</a:t>
            </a:r>
            <a:endParaRPr lang="en-US" sz="576" dirty="0"/>
          </a:p>
        </p:txBody>
      </p:sp>
      <p:sp>
        <p:nvSpPr>
          <p:cNvPr id="288" name="Text 285"/>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89" name="Text 286"/>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0" name="Text 287"/>
          <p:cNvSpPr/>
          <p:nvPr/>
        </p:nvSpPr>
        <p:spPr>
          <a:xfrm>
            <a:off x="2329400"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94</a:t>
            </a:r>
            <a:endParaRPr lang="en-US" sz="576" dirty="0"/>
          </a:p>
        </p:txBody>
      </p:sp>
      <p:sp>
        <p:nvSpPr>
          <p:cNvPr id="291" name="Text 288"/>
          <p:cNvSpPr/>
          <p:nvPr/>
        </p:nvSpPr>
        <p:spPr>
          <a:xfrm>
            <a:off x="8574667"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a:t>
            </a:r>
            <a:endParaRPr lang="en-US" sz="552" dirty="0"/>
          </a:p>
        </p:txBody>
      </p:sp>
      <p:sp>
        <p:nvSpPr>
          <p:cNvPr id="292" name="Text 289"/>
          <p:cNvSpPr/>
          <p:nvPr/>
        </p:nvSpPr>
        <p:spPr>
          <a:xfrm>
            <a:off x="10988599" y="51347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50</a:t>
            </a:r>
            <a:endParaRPr lang="en-US" sz="5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6002685"/>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muy alto (), impulsado por contestadores automáticos (), lo que exige depuración telefónica en 2S.</a:t>
            </a:r>
            <a:endParaRPr lang="en-US" sz="744" dirty="0"/>
          </a:p>
        </p:txBody>
      </p:sp>
      <p:sp>
        <p:nvSpPr>
          <p:cNvPr id="4" name="Text 1"/>
          <p:cNvSpPr/>
          <p:nvPr/>
        </p:nvSpPr>
        <p:spPr>
          <a:xfrm>
            <a:off x="685783" y="5856238"/>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estructural de  y  suma el , confirmando el agotamiento de la base.</a:t>
            </a:r>
            <a:endParaRPr lang="en-US" sz="744" dirty="0"/>
          </a:p>
        </p:txBody>
      </p:sp>
      <p:sp>
        <p:nvSpPr>
          <p:cNvPr id="5" name="Text 2"/>
          <p:cNvSpPr/>
          <p:nvPr/>
        </p:nvSpPr>
        <p:spPr>
          <a:xfrm>
            <a:off x="1336741" y="5719316"/>
            <a:ext cx="2513482" cy="128016"/>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base de mayor volumen (420.641 registros recibidos)</a:t>
            </a:r>
            <a:endParaRPr lang="en-US" sz="744" dirty="0"/>
          </a:p>
        </p:txBody>
      </p:sp>
      <p:sp>
        <p:nvSpPr>
          <p:cNvPr id="6" name="Text 3"/>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Cumplimiento de objetivos sobre contacto</a:t>
            </a:r>
            <a:endParaRPr lang="en-US" sz="648" dirty="0"/>
          </a:p>
        </p:txBody>
      </p:sp>
      <p:sp>
        <p:nvSpPr>
          <p:cNvPr id="7" name="Text 4"/>
          <p:cNvSpPr/>
          <p:nvPr/>
        </p:nvSpPr>
        <p:spPr>
          <a:xfrm>
            <a:off x="6267293" y="50013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8" name="Text 5"/>
          <p:cNvSpPr/>
          <p:nvPr/>
        </p:nvSpPr>
        <p:spPr>
          <a:xfrm>
            <a:off x="1213514" y="219075"/>
            <a:ext cx="3236087"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9" name="Text 6"/>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Segundo mayor aportante de ventas</a:t>
            </a:r>
            <a:endParaRPr lang="en-US" sz="648" dirty="0"/>
          </a:p>
        </p:txBody>
      </p:sp>
      <p:sp>
        <p:nvSpPr>
          <p:cNvPr id="10" name="Text 7"/>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1" name="Text 8"/>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2" name="Text 9"/>
          <p:cNvSpPr/>
          <p:nvPr/>
        </p:nvSpPr>
        <p:spPr>
          <a:xfrm>
            <a:off x="685783" y="5709791"/>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CP Stock es la  en el semestre.</a:t>
            </a:r>
            <a:endParaRPr lang="en-US" sz="744" dirty="0"/>
          </a:p>
        </p:txBody>
      </p:sp>
      <p:sp>
        <p:nvSpPr>
          <p:cNvPr id="13" name="Text 10"/>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de mayor dimensionamiento</a:t>
            </a:r>
            <a:endParaRPr lang="en-US" sz="648" dirty="0"/>
          </a:p>
        </p:txBody>
      </p:sp>
      <p:sp>
        <p:nvSpPr>
          <p:cNvPr id="15" name="Text 12"/>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6" name="Text 13"/>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7" name="Text 14"/>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18" name="Text 15"/>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9" name="Text 16"/>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0" name="Text 17"/>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1" name="Text 18"/>
          <p:cNvSpPr/>
          <p:nvPr/>
        </p:nvSpPr>
        <p:spPr>
          <a:xfrm>
            <a:off x="9601853" y="209550"/>
            <a:ext cx="207890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CP Stock</a:t>
            </a:r>
            <a:endParaRPr lang="en-US" sz="840" dirty="0"/>
          </a:p>
        </p:txBody>
      </p:sp>
      <p:sp>
        <p:nvSpPr>
          <p:cNvPr id="22" name="Text 19"/>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3" name="Text 20"/>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4" name="Text 21"/>
          <p:cNvSpPr/>
          <p:nvPr/>
        </p:nvSpPr>
        <p:spPr>
          <a:xfrm>
            <a:off x="504812" y="44679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5" name="Text 22"/>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6" name="Text 23"/>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VOLUMEN DE REGISTROS</a:t>
            </a:r>
            <a:endParaRPr lang="en-US" sz="672" dirty="0"/>
          </a:p>
        </p:txBody>
      </p:sp>
      <p:sp>
        <p:nvSpPr>
          <p:cNvPr id="27" name="Text 24"/>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9" name="Text 26"/>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Dirección Repetida</a:t>
            </a:r>
            <a:endParaRPr lang="en-US" sz="576" dirty="0"/>
          </a:p>
        </p:txBody>
      </p:sp>
      <p:sp>
        <p:nvSpPr>
          <p:cNvPr id="30" name="Text 27"/>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1" name="Text 28"/>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Repetido</a:t>
            </a:r>
            <a:endParaRPr lang="en-US" sz="576" dirty="0"/>
          </a:p>
        </p:txBody>
      </p:sp>
      <p:sp>
        <p:nvSpPr>
          <p:cNvPr id="32" name="Text 29"/>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3" name="Text 30"/>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4" name="Text 31"/>
          <p:cNvSpPr/>
          <p:nvPr/>
        </p:nvSpPr>
        <p:spPr>
          <a:xfrm>
            <a:off x="6267293" y="51347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5" name="Text 32"/>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 Repetida</a:t>
            </a:r>
            <a:endParaRPr lang="en-US" sz="576" dirty="0"/>
          </a:p>
        </p:txBody>
      </p:sp>
      <p:sp>
        <p:nvSpPr>
          <p:cNvPr id="36" name="Text 33"/>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7" name="Text 34"/>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8" name="Text 35"/>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9" name="Text 36"/>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0" name="Text 37"/>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1" name="Text 38"/>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2" name="Text 39"/>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3" name="Text 40"/>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4" name="Text 41"/>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5" name="Text 42"/>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6" name="Text 43"/>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114.104</a:t>
            </a:r>
            <a:endParaRPr lang="en-US" sz="636" dirty="0"/>
          </a:p>
        </p:txBody>
      </p:sp>
      <p:sp>
        <p:nvSpPr>
          <p:cNvPr id="47" name="Text 44"/>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420.641</a:t>
            </a:r>
            <a:endParaRPr lang="en-US" sz="636" dirty="0"/>
          </a:p>
        </p:txBody>
      </p:sp>
      <p:sp>
        <p:nvSpPr>
          <p:cNvPr id="48" name="Text 45"/>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261.700</a:t>
            </a:r>
            <a:endParaRPr lang="en-US" sz="636" dirty="0"/>
          </a:p>
        </p:txBody>
      </p:sp>
      <p:sp>
        <p:nvSpPr>
          <p:cNvPr id="49" name="Text 46"/>
          <p:cNvSpPr/>
          <p:nvPr/>
        </p:nvSpPr>
        <p:spPr>
          <a:xfrm>
            <a:off x="5226118" y="46013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261.700</a:t>
            </a:r>
            <a:endParaRPr lang="en-US" sz="576" dirty="0"/>
          </a:p>
        </p:txBody>
      </p:sp>
      <p:sp>
        <p:nvSpPr>
          <p:cNvPr id="50" name="Text 47"/>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158.941</a:t>
            </a:r>
            <a:endParaRPr lang="en-US" sz="636" dirty="0"/>
          </a:p>
        </p:txBody>
      </p:sp>
      <p:sp>
        <p:nvSpPr>
          <p:cNvPr id="52" name="Text 49"/>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53" name="Text 50"/>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20.864</a:t>
            </a:r>
            <a:endParaRPr lang="en-US" sz="636" dirty="0"/>
          </a:p>
        </p:txBody>
      </p:sp>
      <p:sp>
        <p:nvSpPr>
          <p:cNvPr id="54" name="Text 51"/>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12.781</a:t>
            </a:r>
            <a:endParaRPr lang="en-US" sz="636" dirty="0"/>
          </a:p>
        </p:txBody>
      </p:sp>
      <p:sp>
        <p:nvSpPr>
          <p:cNvPr id="55" name="Text 52"/>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61,3 %</a:t>
            </a:r>
            <a:endParaRPr lang="en-US" sz="636" dirty="0"/>
          </a:p>
        </p:txBody>
      </p:sp>
      <p:sp>
        <p:nvSpPr>
          <p:cNvPr id="56" name="Text 53"/>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50.266</a:t>
            </a:r>
            <a:endParaRPr lang="en-US" sz="636" dirty="0"/>
          </a:p>
        </p:txBody>
      </p:sp>
      <p:sp>
        <p:nvSpPr>
          <p:cNvPr id="57" name="Text 54"/>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25.419</a:t>
            </a:r>
            <a:endParaRPr lang="en-US" sz="636" dirty="0"/>
          </a:p>
        </p:txBody>
      </p:sp>
      <p:sp>
        <p:nvSpPr>
          <p:cNvPr id="58" name="Text 55"/>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50,6 %</a:t>
            </a:r>
            <a:endParaRPr lang="en-US" sz="636" dirty="0"/>
          </a:p>
        </p:txBody>
      </p:sp>
      <p:sp>
        <p:nvSpPr>
          <p:cNvPr id="59" name="Text 56"/>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69.741</a:t>
            </a:r>
            <a:endParaRPr lang="en-US" sz="636" dirty="0"/>
          </a:p>
        </p:txBody>
      </p:sp>
      <p:sp>
        <p:nvSpPr>
          <p:cNvPr id="60" name="Text 57"/>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41.761</a:t>
            </a:r>
            <a:endParaRPr lang="en-US" sz="636" dirty="0"/>
          </a:p>
        </p:txBody>
      </p:sp>
      <p:sp>
        <p:nvSpPr>
          <p:cNvPr id="61" name="Text 58"/>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59,9 %</a:t>
            </a:r>
            <a:endParaRPr lang="en-US" sz="636" dirty="0"/>
          </a:p>
        </p:txBody>
      </p:sp>
      <p:sp>
        <p:nvSpPr>
          <p:cNvPr id="62" name="Text 59"/>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3" name="Text 60"/>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4" name="Text 61"/>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5" name="Text 62"/>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6" name="Text 63"/>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7" name="Text 64"/>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8" name="Text 65"/>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74.819</a:t>
            </a:r>
            <a:endParaRPr lang="en-US" sz="636" dirty="0"/>
          </a:p>
        </p:txBody>
      </p:sp>
      <p:sp>
        <p:nvSpPr>
          <p:cNvPr id="69" name="Text 66"/>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70" name="Text 67"/>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62,2 %</a:t>
            </a:r>
            <a:endParaRPr lang="en-US" sz="636" dirty="0"/>
          </a:p>
        </p:txBody>
      </p:sp>
      <p:sp>
        <p:nvSpPr>
          <p:cNvPr id="71" name="Text 68"/>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2" name="Text 69"/>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15.354</a:t>
            </a:r>
            <a:endParaRPr lang="en-US" sz="576" dirty="0"/>
          </a:p>
        </p:txBody>
      </p:sp>
      <p:sp>
        <p:nvSpPr>
          <p:cNvPr id="73" name="Text 70"/>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4" name="Text 71"/>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5" name="Text 72"/>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27.509</a:t>
            </a:r>
            <a:endParaRPr lang="en-US" sz="576" dirty="0"/>
          </a:p>
        </p:txBody>
      </p:sp>
      <p:sp>
        <p:nvSpPr>
          <p:cNvPr id="76" name="Text 73"/>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96.218</a:t>
            </a:r>
            <a:endParaRPr lang="en-US" sz="576" dirty="0"/>
          </a:p>
        </p:txBody>
      </p:sp>
      <p:sp>
        <p:nvSpPr>
          <p:cNvPr id="77" name="Text 74"/>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13.637</a:t>
            </a:r>
            <a:endParaRPr lang="en-US" sz="576" dirty="0"/>
          </a:p>
        </p:txBody>
      </p:sp>
      <p:sp>
        <p:nvSpPr>
          <p:cNvPr id="78" name="Text 75"/>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79" name="Text 76"/>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0" name="Text 77"/>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24.431</a:t>
            </a:r>
            <a:endParaRPr lang="en-US" sz="576" dirty="0"/>
          </a:p>
        </p:txBody>
      </p:sp>
      <p:sp>
        <p:nvSpPr>
          <p:cNvPr id="81" name="Text 78"/>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85.455</a:t>
            </a:r>
            <a:endParaRPr lang="en-US" sz="576" dirty="0"/>
          </a:p>
        </p:txBody>
      </p:sp>
      <p:sp>
        <p:nvSpPr>
          <p:cNvPr id="82" name="Text 79"/>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21.047</a:t>
            </a:r>
            <a:endParaRPr lang="en-US" sz="576" dirty="0"/>
          </a:p>
        </p:txBody>
      </p:sp>
      <p:sp>
        <p:nvSpPr>
          <p:cNvPr id="83" name="Text 80"/>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19.533</a:t>
            </a:r>
            <a:endParaRPr lang="en-US" sz="576" dirty="0"/>
          </a:p>
        </p:txBody>
      </p:sp>
      <p:sp>
        <p:nvSpPr>
          <p:cNvPr id="84" name="Text 81"/>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13.637</a:t>
            </a:r>
            <a:endParaRPr lang="en-US" sz="576" dirty="0"/>
          </a:p>
        </p:txBody>
      </p:sp>
      <p:sp>
        <p:nvSpPr>
          <p:cNvPr id="85" name="Text 82"/>
          <p:cNvSpPr/>
          <p:nvPr/>
        </p:nvSpPr>
        <p:spPr>
          <a:xfrm>
            <a:off x="2329400"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12.781</a:t>
            </a:r>
            <a:endParaRPr lang="en-US" sz="576" dirty="0"/>
          </a:p>
        </p:txBody>
      </p:sp>
      <p:sp>
        <p:nvSpPr>
          <p:cNvPr id="86" name="Text 83"/>
          <p:cNvSpPr/>
          <p:nvPr/>
        </p:nvSpPr>
        <p:spPr>
          <a:xfrm>
            <a:off x="2812186"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25.419</a:t>
            </a:r>
            <a:endParaRPr lang="en-US" sz="576" dirty="0"/>
          </a:p>
        </p:txBody>
      </p:sp>
      <p:sp>
        <p:nvSpPr>
          <p:cNvPr id="87" name="Text 84"/>
          <p:cNvSpPr/>
          <p:nvPr/>
        </p:nvSpPr>
        <p:spPr>
          <a:xfrm>
            <a:off x="3294972"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41.761</a:t>
            </a:r>
            <a:endParaRPr lang="en-US" sz="576" dirty="0"/>
          </a:p>
        </p:txBody>
      </p:sp>
      <p:sp>
        <p:nvSpPr>
          <p:cNvPr id="88" name="Text 85"/>
          <p:cNvSpPr/>
          <p:nvPr/>
        </p:nvSpPr>
        <p:spPr>
          <a:xfrm>
            <a:off x="3777759"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89" name="Text 86"/>
          <p:cNvSpPr/>
          <p:nvPr/>
        </p:nvSpPr>
        <p:spPr>
          <a:xfrm>
            <a:off x="4260545"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0" name="Text 87"/>
          <p:cNvSpPr/>
          <p:nvPr/>
        </p:nvSpPr>
        <p:spPr>
          <a:xfrm>
            <a:off x="4743331"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74.819</a:t>
            </a:r>
            <a:endParaRPr lang="en-US" sz="576" dirty="0"/>
          </a:p>
        </p:txBody>
      </p:sp>
      <p:sp>
        <p:nvSpPr>
          <p:cNvPr id="91" name="Text 88"/>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92" name="Text 89"/>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93" name="Text 90"/>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24.847</a:t>
            </a:r>
            <a:endParaRPr lang="en-US" sz="636" dirty="0"/>
          </a:p>
        </p:txBody>
      </p:sp>
      <p:sp>
        <p:nvSpPr>
          <p:cNvPr id="94" name="Text 91"/>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36,8 %</a:t>
            </a:r>
            <a:endParaRPr lang="en-US" sz="636" dirty="0"/>
          </a:p>
        </p:txBody>
      </p:sp>
      <p:sp>
        <p:nvSpPr>
          <p:cNvPr id="95" name="Text 92"/>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27.980</a:t>
            </a:r>
            <a:endParaRPr lang="en-US" sz="636" dirty="0"/>
          </a:p>
        </p:txBody>
      </p:sp>
      <p:sp>
        <p:nvSpPr>
          <p:cNvPr id="96" name="Text 93"/>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54,4 %</a:t>
            </a:r>
            <a:endParaRPr lang="en-US" sz="636" dirty="0"/>
          </a:p>
        </p:txBody>
      </p:sp>
      <p:sp>
        <p:nvSpPr>
          <p:cNvPr id="97" name="Text 94"/>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98" name="Text 95"/>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42,9 %</a:t>
            </a:r>
            <a:endParaRPr lang="en-US" sz="636" dirty="0"/>
          </a:p>
        </p:txBody>
      </p:sp>
      <p:sp>
        <p:nvSpPr>
          <p:cNvPr id="99" name="Text 96"/>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0" name="Text 97"/>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59,3 %</a:t>
            </a:r>
            <a:endParaRPr lang="en-US" sz="636" dirty="0"/>
          </a:p>
        </p:txBody>
      </p:sp>
      <p:sp>
        <p:nvSpPr>
          <p:cNvPr id="101" name="Text 98"/>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39.285</a:t>
            </a:r>
            <a:endParaRPr lang="en-US" sz="636" dirty="0"/>
          </a:p>
        </p:txBody>
      </p:sp>
      <p:sp>
        <p:nvSpPr>
          <p:cNvPr id="102" name="Text 99"/>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50,1 %</a:t>
            </a:r>
            <a:endParaRPr lang="en-US" sz="636" dirty="0"/>
          </a:p>
        </p:txBody>
      </p:sp>
      <p:sp>
        <p:nvSpPr>
          <p:cNvPr id="103" name="Text 100"/>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49,2 %</a:t>
            </a:r>
            <a:endParaRPr lang="en-US" sz="636" dirty="0"/>
          </a:p>
        </p:txBody>
      </p:sp>
      <p:sp>
        <p:nvSpPr>
          <p:cNvPr id="104" name="Text 101"/>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10.540</a:t>
            </a:r>
            <a:endParaRPr lang="en-US" sz="552" dirty="0"/>
          </a:p>
        </p:txBody>
      </p:sp>
      <p:sp>
        <p:nvSpPr>
          <p:cNvPr id="105" name="Text 102"/>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11.869</a:t>
            </a:r>
            <a:endParaRPr lang="en-US" sz="552" dirty="0"/>
          </a:p>
        </p:txBody>
      </p:sp>
      <p:sp>
        <p:nvSpPr>
          <p:cNvPr id="106" name="Text 103"/>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07" name="Text 104"/>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08" name="Text 105"/>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16.662</a:t>
            </a:r>
            <a:endParaRPr lang="en-US" sz="552" dirty="0"/>
          </a:p>
        </p:txBody>
      </p:sp>
      <p:sp>
        <p:nvSpPr>
          <p:cNvPr id="109" name="Text 106"/>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67.420</a:t>
            </a:r>
            <a:endParaRPr lang="en-US" sz="552" dirty="0"/>
          </a:p>
        </p:txBody>
      </p:sp>
      <p:sp>
        <p:nvSpPr>
          <p:cNvPr id="110" name="Text 107"/>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24.996</a:t>
            </a:r>
            <a:endParaRPr lang="en-US" sz="552" dirty="0"/>
          </a:p>
        </p:txBody>
      </p:sp>
      <p:sp>
        <p:nvSpPr>
          <p:cNvPr id="111" name="Text 108"/>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14.356</a:t>
            </a:r>
            <a:endParaRPr lang="en-US" sz="552" dirty="0"/>
          </a:p>
        </p:txBody>
      </p:sp>
      <p:sp>
        <p:nvSpPr>
          <p:cNvPr id="112" name="Text 109"/>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10.777</a:t>
            </a:r>
            <a:endParaRPr lang="en-US" sz="552" dirty="0"/>
          </a:p>
        </p:txBody>
      </p:sp>
      <p:sp>
        <p:nvSpPr>
          <p:cNvPr id="113" name="Text 110"/>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12.136</a:t>
            </a:r>
            <a:endParaRPr lang="en-US" sz="552" dirty="0"/>
          </a:p>
        </p:txBody>
      </p:sp>
      <p:sp>
        <p:nvSpPr>
          <p:cNvPr id="114" name="Text 111"/>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5" name="Text 112"/>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6" name="Text 113"/>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17.041</a:t>
            </a:r>
            <a:endParaRPr lang="en-US" sz="552" dirty="0"/>
          </a:p>
        </p:txBody>
      </p:sp>
      <p:sp>
        <p:nvSpPr>
          <p:cNvPr id="117" name="Text 114"/>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68.940</a:t>
            </a:r>
            <a:endParaRPr lang="en-US" sz="552" dirty="0"/>
          </a:p>
        </p:txBody>
      </p:sp>
      <p:sp>
        <p:nvSpPr>
          <p:cNvPr id="118" name="Text 115"/>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19" name="Text 116"/>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0" name="Text 117"/>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14.019</a:t>
            </a:r>
            <a:endParaRPr lang="en-US" sz="552" dirty="0"/>
          </a:p>
        </p:txBody>
      </p:sp>
      <p:sp>
        <p:nvSpPr>
          <p:cNvPr id="121" name="Text 118"/>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56.723</a:t>
            </a:r>
            <a:endParaRPr lang="en-US" sz="552" dirty="0"/>
          </a:p>
        </p:txBody>
      </p:sp>
      <p:sp>
        <p:nvSpPr>
          <p:cNvPr id="122" name="Text 119"/>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3" name="Text 120"/>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24" name="Text 121"/>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25" name="Text 122"/>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26" name="Text 123"/>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27" name="Text 124"/>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28" name="Text 125"/>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4.699</a:t>
            </a:r>
            <a:endParaRPr lang="en-US" sz="576" dirty="0"/>
          </a:p>
        </p:txBody>
      </p:sp>
      <p:sp>
        <p:nvSpPr>
          <p:cNvPr id="129" name="Text 126"/>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9.346</a:t>
            </a:r>
            <a:endParaRPr lang="en-US" sz="576" dirty="0"/>
          </a:p>
        </p:txBody>
      </p:sp>
      <p:sp>
        <p:nvSpPr>
          <p:cNvPr id="130" name="Text 127"/>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4.173</a:t>
            </a:r>
            <a:endParaRPr lang="en-US" sz="576" dirty="0"/>
          </a:p>
        </p:txBody>
      </p:sp>
      <p:sp>
        <p:nvSpPr>
          <p:cNvPr id="131" name="Text 128"/>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8.300</a:t>
            </a:r>
            <a:endParaRPr lang="en-US" sz="576" dirty="0"/>
          </a:p>
        </p:txBody>
      </p:sp>
      <p:sp>
        <p:nvSpPr>
          <p:cNvPr id="132" name="Text 129"/>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1.028</a:t>
            </a:r>
            <a:endParaRPr lang="en-US" sz="576" dirty="0"/>
          </a:p>
        </p:txBody>
      </p:sp>
      <p:sp>
        <p:nvSpPr>
          <p:cNvPr id="133" name="Text 130"/>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2.044</a:t>
            </a:r>
            <a:endParaRPr lang="en-US" sz="576" dirty="0"/>
          </a:p>
        </p:txBody>
      </p:sp>
      <p:sp>
        <p:nvSpPr>
          <p:cNvPr id="134" name="Text 131"/>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3.359</a:t>
            </a:r>
            <a:endParaRPr lang="en-US" sz="576" dirty="0"/>
          </a:p>
        </p:txBody>
      </p:sp>
      <p:sp>
        <p:nvSpPr>
          <p:cNvPr id="135" name="Text 132"/>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36" name="Text 133"/>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37" name="Text 134"/>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6.018</a:t>
            </a:r>
            <a:endParaRPr lang="en-US" sz="576" dirty="0"/>
          </a:p>
        </p:txBody>
      </p:sp>
      <p:sp>
        <p:nvSpPr>
          <p:cNvPr id="138" name="Text 135"/>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1.897</a:t>
            </a:r>
            <a:endParaRPr lang="en-US" sz="576" dirty="0"/>
          </a:p>
        </p:txBody>
      </p:sp>
      <p:sp>
        <p:nvSpPr>
          <p:cNvPr id="139" name="Text 136"/>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3.117</a:t>
            </a:r>
            <a:endParaRPr lang="en-US" sz="576" dirty="0"/>
          </a:p>
        </p:txBody>
      </p:sp>
      <p:sp>
        <p:nvSpPr>
          <p:cNvPr id="140" name="Text 137"/>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1" name="Text 138"/>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2" name="Text 139"/>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5.585</a:t>
            </a:r>
            <a:endParaRPr lang="en-US" sz="576" dirty="0"/>
          </a:p>
        </p:txBody>
      </p:sp>
      <p:sp>
        <p:nvSpPr>
          <p:cNvPr id="143" name="Text 140"/>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1.325</a:t>
            </a:r>
            <a:endParaRPr lang="en-US" sz="576" dirty="0"/>
          </a:p>
        </p:txBody>
      </p:sp>
      <p:sp>
        <p:nvSpPr>
          <p:cNvPr id="144" name="Text 141"/>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2.176</a:t>
            </a:r>
            <a:endParaRPr lang="en-US" sz="576" dirty="0"/>
          </a:p>
        </p:txBody>
      </p:sp>
      <p:sp>
        <p:nvSpPr>
          <p:cNvPr id="145" name="Text 142"/>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46" name="Text 143"/>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47" name="Text 144"/>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3.898</a:t>
            </a:r>
            <a:endParaRPr lang="en-US" sz="576" dirty="0"/>
          </a:p>
        </p:txBody>
      </p:sp>
      <p:sp>
        <p:nvSpPr>
          <p:cNvPr id="148" name="Text 145"/>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1.126</a:t>
            </a:r>
            <a:endParaRPr lang="en-US" sz="576" dirty="0"/>
          </a:p>
        </p:txBody>
      </p:sp>
      <p:sp>
        <p:nvSpPr>
          <p:cNvPr id="149" name="Text 146"/>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0" name="Text 147"/>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1" name="Text 148"/>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2.018</a:t>
            </a:r>
            <a:endParaRPr lang="en-US" sz="576" dirty="0"/>
          </a:p>
        </p:txBody>
      </p:sp>
      <p:sp>
        <p:nvSpPr>
          <p:cNvPr id="152" name="Text 149"/>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7.059</a:t>
            </a:r>
            <a:endParaRPr lang="en-US" sz="576" dirty="0"/>
          </a:p>
        </p:txBody>
      </p:sp>
      <p:sp>
        <p:nvSpPr>
          <p:cNvPr id="153" name="Text 150"/>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4" name="Text 151"/>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5" name="Text 152"/>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1.445</a:t>
            </a:r>
            <a:endParaRPr lang="en-US" sz="576" dirty="0"/>
          </a:p>
        </p:txBody>
      </p:sp>
      <p:sp>
        <p:nvSpPr>
          <p:cNvPr id="156" name="Text 153"/>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5.053</a:t>
            </a:r>
            <a:endParaRPr lang="en-US" sz="576" dirty="0"/>
          </a:p>
        </p:txBody>
      </p:sp>
      <p:sp>
        <p:nvSpPr>
          <p:cNvPr id="157" name="Text 154"/>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1.300</a:t>
            </a:r>
            <a:endParaRPr lang="en-US" sz="576" dirty="0"/>
          </a:p>
        </p:txBody>
      </p:sp>
      <p:sp>
        <p:nvSpPr>
          <p:cNvPr id="158" name="Text 155"/>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4.544</a:t>
            </a:r>
            <a:endParaRPr lang="en-US" sz="576" dirty="0"/>
          </a:p>
        </p:txBody>
      </p:sp>
      <p:sp>
        <p:nvSpPr>
          <p:cNvPr id="159" name="Text 156"/>
          <p:cNvSpPr/>
          <p:nvPr/>
        </p:nvSpPr>
        <p:spPr>
          <a:xfrm>
            <a:off x="3294972"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1.461</a:t>
            </a:r>
            <a:endParaRPr lang="en-US" sz="576" dirty="0"/>
          </a:p>
        </p:txBody>
      </p:sp>
      <p:sp>
        <p:nvSpPr>
          <p:cNvPr id="160" name="Text 157"/>
          <p:cNvSpPr/>
          <p:nvPr/>
        </p:nvSpPr>
        <p:spPr>
          <a:xfrm>
            <a:off x="3777759"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1" name="Text 158"/>
          <p:cNvSpPr/>
          <p:nvPr/>
        </p:nvSpPr>
        <p:spPr>
          <a:xfrm>
            <a:off x="4260545"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2" name="Text 159"/>
          <p:cNvSpPr/>
          <p:nvPr/>
        </p:nvSpPr>
        <p:spPr>
          <a:xfrm>
            <a:off x="4743331"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2.617</a:t>
            </a:r>
            <a:endParaRPr lang="en-US" sz="576" dirty="0"/>
          </a:p>
        </p:txBody>
      </p:sp>
      <p:sp>
        <p:nvSpPr>
          <p:cNvPr id="163" name="Text 160"/>
          <p:cNvSpPr/>
          <p:nvPr/>
        </p:nvSpPr>
        <p:spPr>
          <a:xfrm>
            <a:off x="5226118" y="44679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9.154</a:t>
            </a:r>
            <a:endParaRPr lang="en-US" sz="576" dirty="0"/>
          </a:p>
        </p:txBody>
      </p:sp>
      <p:sp>
        <p:nvSpPr>
          <p:cNvPr id="164" name="Text 161"/>
          <p:cNvSpPr/>
          <p:nvPr/>
        </p:nvSpPr>
        <p:spPr>
          <a:xfrm>
            <a:off x="504812" y="46013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65" name="Text 162"/>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66" name="Text 163"/>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67" name="Text 164"/>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8.083</a:t>
            </a:r>
            <a:endParaRPr lang="en-US" sz="636" dirty="0"/>
          </a:p>
        </p:txBody>
      </p:sp>
      <p:sp>
        <p:nvSpPr>
          <p:cNvPr id="168" name="Text 165"/>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7,8 %</a:t>
            </a:r>
            <a:endParaRPr lang="en-US" sz="636" dirty="0"/>
          </a:p>
        </p:txBody>
      </p:sp>
      <p:sp>
        <p:nvSpPr>
          <p:cNvPr id="169" name="Text 166"/>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4,8 %</a:t>
            </a:r>
            <a:endParaRPr lang="en-US" sz="636" dirty="0"/>
          </a:p>
        </p:txBody>
      </p:sp>
      <p:sp>
        <p:nvSpPr>
          <p:cNvPr id="170" name="Text 167"/>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71" name="Text 168"/>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4,0 %</a:t>
            </a:r>
            <a:endParaRPr lang="en-US" sz="636" dirty="0"/>
          </a:p>
        </p:txBody>
      </p:sp>
      <p:sp>
        <p:nvSpPr>
          <p:cNvPr id="172" name="Text 169"/>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73" name="Text 170"/>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3,7 %</a:t>
            </a:r>
            <a:endParaRPr lang="en-US" sz="636" dirty="0"/>
          </a:p>
        </p:txBody>
      </p:sp>
      <p:sp>
        <p:nvSpPr>
          <p:cNvPr id="174" name="Text 171"/>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4,3 %</a:t>
            </a:r>
            <a:endParaRPr lang="en-US" sz="636" dirty="0"/>
          </a:p>
        </p:txBody>
      </p:sp>
      <p:sp>
        <p:nvSpPr>
          <p:cNvPr id="175" name="Text 172"/>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76" name="Text 173"/>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5,0 %</a:t>
            </a:r>
            <a:endParaRPr lang="en-US" sz="636" dirty="0"/>
          </a:p>
        </p:txBody>
      </p:sp>
      <p:sp>
        <p:nvSpPr>
          <p:cNvPr id="177" name="Text 174"/>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78" name="Text 175"/>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3.073</a:t>
            </a:r>
            <a:endParaRPr lang="en-US" sz="636" dirty="0"/>
          </a:p>
        </p:txBody>
      </p:sp>
      <p:sp>
        <p:nvSpPr>
          <p:cNvPr id="179" name="Text 176"/>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3,9 %</a:t>
            </a:r>
            <a:endParaRPr lang="en-US" sz="636" dirty="0"/>
          </a:p>
        </p:txBody>
      </p:sp>
      <p:sp>
        <p:nvSpPr>
          <p:cNvPr id="180" name="Text 177"/>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81" name="Text 178"/>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3.429</a:t>
            </a:r>
            <a:endParaRPr lang="en-US" sz="552" dirty="0"/>
          </a:p>
        </p:txBody>
      </p:sp>
      <p:sp>
        <p:nvSpPr>
          <p:cNvPr id="182" name="Text 179"/>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3.073</a:t>
            </a:r>
            <a:endParaRPr lang="en-US" sz="552" dirty="0"/>
          </a:p>
        </p:txBody>
      </p:sp>
      <p:sp>
        <p:nvSpPr>
          <p:cNvPr id="183" name="Text 180"/>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1.271</a:t>
            </a:r>
            <a:endParaRPr lang="en-US" sz="552" dirty="0"/>
          </a:p>
        </p:txBody>
      </p:sp>
      <p:sp>
        <p:nvSpPr>
          <p:cNvPr id="184" name="Text 181"/>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3.908</a:t>
            </a:r>
            <a:endParaRPr lang="en-US" sz="552" dirty="0"/>
          </a:p>
        </p:txBody>
      </p:sp>
      <p:sp>
        <p:nvSpPr>
          <p:cNvPr id="185" name="Text 182"/>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4.400</a:t>
            </a:r>
            <a:endParaRPr lang="en-US" sz="552" dirty="0"/>
          </a:p>
        </p:txBody>
      </p:sp>
      <p:sp>
        <p:nvSpPr>
          <p:cNvPr id="186" name="Text 183"/>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87" name="Text 184"/>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88" name="Text 185"/>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6.179</a:t>
            </a:r>
            <a:endParaRPr lang="en-US" sz="552" dirty="0"/>
          </a:p>
        </p:txBody>
      </p:sp>
      <p:sp>
        <p:nvSpPr>
          <p:cNvPr id="189" name="Text 186"/>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2.244</a:t>
            </a:r>
            <a:endParaRPr lang="en-US" sz="552" dirty="0"/>
          </a:p>
        </p:txBody>
      </p:sp>
      <p:sp>
        <p:nvSpPr>
          <p:cNvPr id="190" name="Text 187"/>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2.527</a:t>
            </a:r>
            <a:endParaRPr lang="en-US" sz="552" dirty="0"/>
          </a:p>
        </p:txBody>
      </p:sp>
      <p:sp>
        <p:nvSpPr>
          <p:cNvPr id="191" name="Text 188"/>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2" name="Text 189"/>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3" name="Text 190"/>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3.549</a:t>
            </a:r>
            <a:endParaRPr lang="en-US" sz="552" dirty="0"/>
          </a:p>
        </p:txBody>
      </p:sp>
      <p:sp>
        <p:nvSpPr>
          <p:cNvPr id="194" name="Text 191"/>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1.035</a:t>
            </a:r>
            <a:endParaRPr lang="en-US" sz="552" dirty="0"/>
          </a:p>
        </p:txBody>
      </p:sp>
      <p:sp>
        <p:nvSpPr>
          <p:cNvPr id="195" name="Text 192"/>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196" name="Text 193"/>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197" name="Text 194"/>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1.454</a:t>
            </a:r>
            <a:endParaRPr lang="en-US" sz="552" dirty="0"/>
          </a:p>
        </p:txBody>
      </p:sp>
      <p:sp>
        <p:nvSpPr>
          <p:cNvPr id="198" name="Text 195"/>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5.881</a:t>
            </a:r>
            <a:endParaRPr lang="en-US" sz="552" dirty="0"/>
          </a:p>
        </p:txBody>
      </p:sp>
      <p:sp>
        <p:nvSpPr>
          <p:cNvPr id="199" name="Text 196"/>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1.098</a:t>
            </a:r>
            <a:endParaRPr lang="en-US" sz="552" dirty="0"/>
          </a:p>
        </p:txBody>
      </p:sp>
      <p:sp>
        <p:nvSpPr>
          <p:cNvPr id="200" name="Text 197"/>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1.237</a:t>
            </a:r>
            <a:endParaRPr lang="en-US" sz="552" dirty="0"/>
          </a:p>
        </p:txBody>
      </p:sp>
      <p:sp>
        <p:nvSpPr>
          <p:cNvPr id="201" name="Text 198"/>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2" name="Text 199"/>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3" name="Text 200"/>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1.738</a:t>
            </a:r>
            <a:endParaRPr lang="en-US" sz="552" dirty="0"/>
          </a:p>
        </p:txBody>
      </p:sp>
      <p:sp>
        <p:nvSpPr>
          <p:cNvPr id="204" name="Text 201"/>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7.026</a:t>
            </a:r>
            <a:endParaRPr lang="en-US" sz="552" dirty="0"/>
          </a:p>
        </p:txBody>
      </p:sp>
      <p:sp>
        <p:nvSpPr>
          <p:cNvPr id="205" name="Text 202"/>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3.063</a:t>
            </a:r>
            <a:endParaRPr lang="en-US" sz="552" dirty="0"/>
          </a:p>
        </p:txBody>
      </p:sp>
      <p:sp>
        <p:nvSpPr>
          <p:cNvPr id="206" name="Text 203"/>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2.911</a:t>
            </a:r>
            <a:endParaRPr lang="en-US" sz="552" dirty="0"/>
          </a:p>
        </p:txBody>
      </p:sp>
      <p:sp>
        <p:nvSpPr>
          <p:cNvPr id="207" name="Text 204"/>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1.094</a:t>
            </a:r>
            <a:endParaRPr lang="en-US" sz="552" dirty="0"/>
          </a:p>
        </p:txBody>
      </p:sp>
      <p:sp>
        <p:nvSpPr>
          <p:cNvPr id="208" name="Text 205"/>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09" name="Text 206"/>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0" name="Text 207"/>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1.537</a:t>
            </a:r>
            <a:endParaRPr lang="en-US" sz="552" dirty="0"/>
          </a:p>
        </p:txBody>
      </p:sp>
      <p:sp>
        <p:nvSpPr>
          <p:cNvPr id="211" name="Text 208"/>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6.214</a:t>
            </a:r>
            <a:endParaRPr lang="en-US" sz="552" dirty="0"/>
          </a:p>
        </p:txBody>
      </p:sp>
      <p:sp>
        <p:nvSpPr>
          <p:cNvPr id="212" name="Text 209"/>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3.506</a:t>
            </a:r>
            <a:endParaRPr lang="en-US" sz="552" dirty="0"/>
          </a:p>
        </p:txBody>
      </p:sp>
      <p:sp>
        <p:nvSpPr>
          <p:cNvPr id="213" name="Text 210"/>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2.885</a:t>
            </a:r>
            <a:endParaRPr lang="en-US" sz="552" dirty="0"/>
          </a:p>
        </p:txBody>
      </p:sp>
      <p:sp>
        <p:nvSpPr>
          <p:cNvPr id="214" name="Text 211"/>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8.867</a:t>
            </a:r>
            <a:endParaRPr lang="en-US" sz="552" dirty="0"/>
          </a:p>
        </p:txBody>
      </p:sp>
      <p:sp>
        <p:nvSpPr>
          <p:cNvPr id="215" name="Text 212"/>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9.986</a:t>
            </a:r>
            <a:endParaRPr lang="en-US" sz="552" dirty="0"/>
          </a:p>
        </p:txBody>
      </p:sp>
      <p:sp>
        <p:nvSpPr>
          <p:cNvPr id="216" name="Text 213"/>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1.343</a:t>
            </a:r>
            <a:endParaRPr lang="en-US" sz="552" dirty="0"/>
          </a:p>
        </p:txBody>
      </p:sp>
      <p:sp>
        <p:nvSpPr>
          <p:cNvPr id="217" name="Text 214"/>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1.513</a:t>
            </a:r>
            <a:endParaRPr lang="en-US" sz="552" dirty="0"/>
          </a:p>
        </p:txBody>
      </p:sp>
      <p:sp>
        <p:nvSpPr>
          <p:cNvPr id="218" name="Text 215"/>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19" name="Text 216"/>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0" name="Text 217"/>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2.125</a:t>
            </a:r>
            <a:endParaRPr lang="en-US" sz="552" dirty="0"/>
          </a:p>
        </p:txBody>
      </p:sp>
      <p:sp>
        <p:nvSpPr>
          <p:cNvPr id="221" name="Text 218"/>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8.594</a:t>
            </a:r>
            <a:endParaRPr lang="en-US" sz="552" dirty="0"/>
          </a:p>
        </p:txBody>
      </p:sp>
      <p:sp>
        <p:nvSpPr>
          <p:cNvPr id="222" name="Text 219"/>
          <p:cNvSpPr/>
          <p:nvPr/>
        </p:nvSpPr>
        <p:spPr>
          <a:xfrm>
            <a:off x="10988599" y="50013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3.347</a:t>
            </a:r>
            <a:endParaRPr lang="en-US" sz="552" dirty="0"/>
          </a:p>
        </p:txBody>
      </p:sp>
      <p:sp>
        <p:nvSpPr>
          <p:cNvPr id="223" name="Text 220"/>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224" name="Text 221"/>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225" name="Text 222"/>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26" name="Text 223"/>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27" name="Text 224"/>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28" name="Text 225"/>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29" name="Text 226"/>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0" name="Text 227"/>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1" name="Text 228"/>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2" name="Text 229"/>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3" name="Text 230"/>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4" name="Text 231"/>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954</a:t>
            </a:r>
            <a:endParaRPr lang="en-US" sz="576" dirty="0"/>
          </a:p>
        </p:txBody>
      </p:sp>
      <p:sp>
        <p:nvSpPr>
          <p:cNvPr id="235" name="Text 232"/>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666</a:t>
            </a:r>
            <a:endParaRPr lang="en-US" sz="576" dirty="0"/>
          </a:p>
        </p:txBody>
      </p:sp>
      <p:sp>
        <p:nvSpPr>
          <p:cNvPr id="236" name="Text 233"/>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345</a:t>
            </a:r>
            <a:endParaRPr lang="en-US" sz="576" dirty="0"/>
          </a:p>
        </p:txBody>
      </p:sp>
      <p:sp>
        <p:nvSpPr>
          <p:cNvPr id="237" name="Text 234"/>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686</a:t>
            </a:r>
            <a:endParaRPr lang="en-US" sz="576" dirty="0"/>
          </a:p>
        </p:txBody>
      </p:sp>
      <p:sp>
        <p:nvSpPr>
          <p:cNvPr id="238" name="Text 235"/>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247</a:t>
            </a:r>
            <a:endParaRPr lang="en-US" sz="576" dirty="0"/>
          </a:p>
        </p:txBody>
      </p:sp>
      <p:sp>
        <p:nvSpPr>
          <p:cNvPr id="239" name="Text 236"/>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491</a:t>
            </a:r>
            <a:endParaRPr lang="en-US" sz="576" dirty="0"/>
          </a:p>
        </p:txBody>
      </p:sp>
      <p:sp>
        <p:nvSpPr>
          <p:cNvPr id="240" name="Text 237"/>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806</a:t>
            </a:r>
            <a:endParaRPr lang="en-US" sz="576" dirty="0"/>
          </a:p>
        </p:txBody>
      </p:sp>
      <p:sp>
        <p:nvSpPr>
          <p:cNvPr id="241" name="Text 238"/>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222</a:t>
            </a:r>
            <a:endParaRPr lang="en-US" sz="576" dirty="0"/>
          </a:p>
        </p:txBody>
      </p:sp>
      <p:sp>
        <p:nvSpPr>
          <p:cNvPr id="242" name="Text 239"/>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441</a:t>
            </a:r>
            <a:endParaRPr lang="en-US" sz="576" dirty="0"/>
          </a:p>
        </p:txBody>
      </p:sp>
      <p:sp>
        <p:nvSpPr>
          <p:cNvPr id="243" name="Text 240"/>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725</a:t>
            </a:r>
            <a:endParaRPr lang="en-US" sz="576" dirty="0"/>
          </a:p>
        </p:txBody>
      </p:sp>
      <p:sp>
        <p:nvSpPr>
          <p:cNvPr id="244" name="Text 241"/>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5" name="Text 242"/>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6" name="Text 243"/>
          <p:cNvSpPr/>
          <p:nvPr/>
        </p:nvSpPr>
        <p:spPr>
          <a:xfrm>
            <a:off x="2329400"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447</a:t>
            </a:r>
            <a:endParaRPr lang="en-US" sz="576" dirty="0"/>
          </a:p>
        </p:txBody>
      </p:sp>
      <p:sp>
        <p:nvSpPr>
          <p:cNvPr id="247" name="Text 244"/>
          <p:cNvSpPr/>
          <p:nvPr/>
        </p:nvSpPr>
        <p:spPr>
          <a:xfrm>
            <a:off x="2812186"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889</a:t>
            </a:r>
            <a:endParaRPr lang="en-US" sz="576" dirty="0"/>
          </a:p>
        </p:txBody>
      </p:sp>
      <p:sp>
        <p:nvSpPr>
          <p:cNvPr id="248" name="Text 245"/>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49" name="Text 246"/>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322</a:t>
            </a:r>
            <a:endParaRPr lang="en-US" sz="636" dirty="0"/>
          </a:p>
        </p:txBody>
      </p:sp>
      <p:sp>
        <p:nvSpPr>
          <p:cNvPr id="250" name="Text 247"/>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441</a:t>
            </a:r>
            <a:endParaRPr lang="en-US" sz="636" dirty="0"/>
          </a:p>
        </p:txBody>
      </p:sp>
      <p:sp>
        <p:nvSpPr>
          <p:cNvPr id="251" name="Text 248"/>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600</a:t>
            </a:r>
            <a:endParaRPr lang="en-US" sz="636" dirty="0"/>
          </a:p>
        </p:txBody>
      </p:sp>
      <p:sp>
        <p:nvSpPr>
          <p:cNvPr id="252" name="Text 249"/>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345</a:t>
            </a:r>
            <a:endParaRPr lang="en-US" sz="636" dirty="0"/>
          </a:p>
        </p:txBody>
      </p:sp>
      <p:sp>
        <p:nvSpPr>
          <p:cNvPr id="253" name="Text 250"/>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750</a:t>
            </a:r>
            <a:endParaRPr lang="en-US" sz="636" dirty="0"/>
          </a:p>
        </p:txBody>
      </p:sp>
      <p:sp>
        <p:nvSpPr>
          <p:cNvPr id="254" name="Text 251"/>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615</a:t>
            </a:r>
            <a:endParaRPr lang="en-US" sz="636" dirty="0"/>
          </a:p>
        </p:txBody>
      </p:sp>
      <p:sp>
        <p:nvSpPr>
          <p:cNvPr id="255" name="Text 252"/>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56" name="Text 253"/>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57" name="Text 254"/>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58" name="Text 255"/>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59" name="Text 256"/>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60" name="Text 257"/>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61" name="Text 258"/>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62" name="Text 259"/>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480</a:t>
            </a:r>
            <a:endParaRPr lang="en-US" sz="552" dirty="0"/>
          </a:p>
        </p:txBody>
      </p:sp>
      <p:sp>
        <p:nvSpPr>
          <p:cNvPr id="263" name="Text 260"/>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541</a:t>
            </a:r>
            <a:endParaRPr lang="en-US" sz="552" dirty="0"/>
          </a:p>
        </p:txBody>
      </p:sp>
      <p:sp>
        <p:nvSpPr>
          <p:cNvPr id="264" name="Text 261"/>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5" name="Text 262"/>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6" name="Text 263"/>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760</a:t>
            </a:r>
            <a:endParaRPr lang="en-US" sz="552" dirty="0"/>
          </a:p>
        </p:txBody>
      </p:sp>
      <p:sp>
        <p:nvSpPr>
          <p:cNvPr id="267" name="Text 264"/>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730</a:t>
            </a:r>
            <a:endParaRPr lang="en-US" sz="552" dirty="0"/>
          </a:p>
        </p:txBody>
      </p:sp>
      <p:sp>
        <p:nvSpPr>
          <p:cNvPr id="268" name="Text 265"/>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299</a:t>
            </a:r>
            <a:endParaRPr lang="en-US" sz="552" dirty="0"/>
          </a:p>
        </p:txBody>
      </p:sp>
      <p:sp>
        <p:nvSpPr>
          <p:cNvPr id="269" name="Text 266"/>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919</a:t>
            </a:r>
            <a:endParaRPr lang="en-US" sz="552" dirty="0"/>
          </a:p>
        </p:txBody>
      </p:sp>
      <p:sp>
        <p:nvSpPr>
          <p:cNvPr id="270" name="Text 267"/>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357</a:t>
            </a:r>
            <a:endParaRPr lang="en-US" sz="552" dirty="0"/>
          </a:p>
        </p:txBody>
      </p:sp>
      <p:sp>
        <p:nvSpPr>
          <p:cNvPr id="271" name="Text 268"/>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72" name="Text 269"/>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479</a:t>
            </a:r>
            <a:endParaRPr lang="en-US" sz="552" dirty="0"/>
          </a:p>
        </p:txBody>
      </p:sp>
      <p:sp>
        <p:nvSpPr>
          <p:cNvPr id="273" name="Text 270"/>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539</a:t>
            </a:r>
            <a:endParaRPr lang="en-US" sz="552" dirty="0"/>
          </a:p>
        </p:txBody>
      </p:sp>
      <p:sp>
        <p:nvSpPr>
          <p:cNvPr id="274" name="Text 271"/>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5" name="Text 272"/>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6" name="Text 273"/>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757</a:t>
            </a:r>
            <a:endParaRPr lang="en-US" sz="552" dirty="0"/>
          </a:p>
        </p:txBody>
      </p:sp>
      <p:sp>
        <p:nvSpPr>
          <p:cNvPr id="277" name="Text 274"/>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278" name="Text 275"/>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279" name="Text 276"/>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512</a:t>
            </a:r>
            <a:endParaRPr lang="en-US" sz="552" dirty="0"/>
          </a:p>
        </p:txBody>
      </p:sp>
      <p:sp>
        <p:nvSpPr>
          <p:cNvPr id="280" name="Text 277"/>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1" name="Text 278"/>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2" name="Text 279"/>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720</a:t>
            </a:r>
            <a:endParaRPr lang="en-US" sz="552" dirty="0"/>
          </a:p>
        </p:txBody>
      </p:sp>
      <p:sp>
        <p:nvSpPr>
          <p:cNvPr id="283" name="Text 280"/>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316</a:t>
            </a:r>
            <a:endParaRPr lang="en-US" sz="552" dirty="0"/>
          </a:p>
        </p:txBody>
      </p:sp>
      <p:sp>
        <p:nvSpPr>
          <p:cNvPr id="284" name="Text 281"/>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971</a:t>
            </a:r>
            <a:endParaRPr lang="en-US" sz="552" dirty="0"/>
          </a:p>
        </p:txBody>
      </p:sp>
      <p:sp>
        <p:nvSpPr>
          <p:cNvPr id="285" name="Text 282"/>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437</a:t>
            </a:r>
            <a:endParaRPr lang="en-US" sz="552" dirty="0"/>
          </a:p>
        </p:txBody>
      </p:sp>
      <p:sp>
        <p:nvSpPr>
          <p:cNvPr id="286" name="Text 283"/>
          <p:cNvSpPr/>
          <p:nvPr/>
        </p:nvSpPr>
        <p:spPr>
          <a:xfrm>
            <a:off x="8091881"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170</a:t>
            </a:r>
            <a:endParaRPr lang="en-US" sz="552" dirty="0"/>
          </a:p>
        </p:txBody>
      </p:sp>
      <p:sp>
        <p:nvSpPr>
          <p:cNvPr id="287" name="Text 284"/>
          <p:cNvSpPr/>
          <p:nvPr/>
        </p:nvSpPr>
        <p:spPr>
          <a:xfrm>
            <a:off x="8574667"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523</a:t>
            </a:r>
            <a:endParaRPr lang="en-US" sz="552" dirty="0"/>
          </a:p>
        </p:txBody>
      </p:sp>
      <p:sp>
        <p:nvSpPr>
          <p:cNvPr id="288" name="Text 285"/>
          <p:cNvSpPr/>
          <p:nvPr/>
        </p:nvSpPr>
        <p:spPr>
          <a:xfrm>
            <a:off x="9057453"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589</a:t>
            </a:r>
            <a:endParaRPr lang="en-US" sz="552" dirty="0"/>
          </a:p>
        </p:txBody>
      </p:sp>
      <p:sp>
        <p:nvSpPr>
          <p:cNvPr id="289" name="Text 286"/>
          <p:cNvSpPr/>
          <p:nvPr/>
        </p:nvSpPr>
        <p:spPr>
          <a:xfrm>
            <a:off x="9540240"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0" name="Text 287"/>
          <p:cNvSpPr/>
          <p:nvPr/>
        </p:nvSpPr>
        <p:spPr>
          <a:xfrm>
            <a:off x="10023026"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1" name="Text 288"/>
          <p:cNvSpPr/>
          <p:nvPr/>
        </p:nvSpPr>
        <p:spPr>
          <a:xfrm>
            <a:off x="10505812"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827</a:t>
            </a:r>
            <a:endParaRPr lang="en-US" sz="552" dirty="0"/>
          </a:p>
        </p:txBody>
      </p:sp>
      <p:sp>
        <p:nvSpPr>
          <p:cNvPr id="292" name="Text 289"/>
          <p:cNvSpPr/>
          <p:nvPr/>
        </p:nvSpPr>
        <p:spPr>
          <a:xfrm>
            <a:off x="10988599" y="51347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276</a:t>
            </a:r>
            <a:endParaRPr lang="en-US" sz="552" dirty="0"/>
          </a:p>
        </p:txBody>
      </p:sp>
      <p:sp>
        <p:nvSpPr>
          <p:cNvPr id="293" name="Text 290"/>
          <p:cNvSpPr/>
          <p:nvPr/>
        </p:nvSpPr>
        <p:spPr>
          <a:xfrm>
            <a:off x="8091881"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a:t>
            </a:r>
            <a:endParaRPr lang="en-US" sz="552" dirty="0"/>
          </a:p>
        </p:txBody>
      </p:sp>
      <p:sp>
        <p:nvSpPr>
          <p:cNvPr id="294" name="Text 291"/>
          <p:cNvSpPr/>
          <p:nvPr/>
        </p:nvSpPr>
        <p:spPr>
          <a:xfrm>
            <a:off x="8574667"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a:t>
            </a:r>
            <a:endParaRPr lang="en-US" sz="552" dirty="0"/>
          </a:p>
        </p:txBody>
      </p:sp>
      <p:sp>
        <p:nvSpPr>
          <p:cNvPr id="295" name="Text 292"/>
          <p:cNvSpPr/>
          <p:nvPr/>
        </p:nvSpPr>
        <p:spPr>
          <a:xfrm>
            <a:off x="9057453"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a:t>
            </a:r>
            <a:endParaRPr lang="en-US" sz="552" dirty="0"/>
          </a:p>
        </p:txBody>
      </p:sp>
      <p:sp>
        <p:nvSpPr>
          <p:cNvPr id="296" name="Text 293"/>
          <p:cNvSpPr/>
          <p:nvPr/>
        </p:nvSpPr>
        <p:spPr>
          <a:xfrm>
            <a:off x="9540240"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297" name="Text 294"/>
          <p:cNvSpPr/>
          <p:nvPr/>
        </p:nvSpPr>
        <p:spPr>
          <a:xfrm>
            <a:off x="10023026"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298" name="Text 295"/>
          <p:cNvSpPr/>
          <p:nvPr/>
        </p:nvSpPr>
        <p:spPr>
          <a:xfrm>
            <a:off x="10505812"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el más alto del portafolio (), impulsado masivamente por , lo que indica bases quemadas o números desactualizados.</a:t>
            </a:r>
            <a:endParaRPr lang="en-US" sz="744" dirty="0"/>
          </a:p>
        </p:txBody>
      </p:sp>
      <p:sp>
        <p:nvSpPr>
          <p:cNvPr id="4" name="Text 1"/>
          <p:cNvSpPr/>
          <p:nvPr/>
        </p:nvSpPr>
        <p:spPr>
          <a:xfrm>
            <a:off x="685783" y="5869335"/>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En abril y mayo el rechazo llegó al  porque se enviaron registros duplicados.  al actualizarse la base.</a:t>
            </a:r>
            <a:endParaRPr lang="en-US" sz="744" dirty="0"/>
          </a:p>
        </p:txBody>
      </p:sp>
      <p:sp>
        <p:nvSpPr>
          <p:cNvPr id="5" name="Text 2"/>
          <p:cNvSpPr/>
          <p:nvPr/>
        </p:nvSpPr>
        <p:spPr>
          <a:xfrm>
            <a:off x="685783" y="5576441"/>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una , con un rechazo promedio del .</a:t>
            </a:r>
            <a:endParaRPr lang="en-US" sz="744" dirty="0"/>
          </a:p>
        </p:txBody>
      </p:sp>
      <p:sp>
        <p:nvSpPr>
          <p:cNvPr id="6" name="Text 3"/>
          <p:cNvSpPr/>
          <p:nvPr/>
        </p:nvSpPr>
        <p:spPr>
          <a:xfrm>
            <a:off x="1213514" y="219075"/>
            <a:ext cx="4079484"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7" name="Text 4"/>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Importante repunte tras actualización de base</a:t>
            </a:r>
            <a:endParaRPr lang="en-US" sz="648" dirty="0"/>
          </a:p>
        </p:txBody>
      </p:sp>
      <p:sp>
        <p:nvSpPr>
          <p:cNvPr id="8" name="Text 5"/>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Supera edad para Microseguro (69 años)</a:t>
            </a:r>
            <a:endParaRPr lang="en-US" sz="576"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masiva para gestión del marcador</a:t>
            </a:r>
            <a:endParaRPr lang="en-US" sz="648" dirty="0"/>
          </a:p>
        </p:txBody>
      </p:sp>
      <p:sp>
        <p:nvSpPr>
          <p:cNvPr id="10" name="Text 7"/>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 / datos</a:t>
            </a:r>
            <a:endParaRPr lang="en-US" sz="552" dirty="0"/>
          </a:p>
        </p:txBody>
      </p:sp>
      <p:sp>
        <p:nvSpPr>
          <p:cNvPr id="12" name="Text 9"/>
          <p:cNvSpPr/>
          <p:nvPr/>
        </p:nvSpPr>
        <p:spPr>
          <a:xfrm>
            <a:off x="8794481" y="209550"/>
            <a:ext cx="291050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Masiva Voluntarios</a:t>
            </a:r>
            <a:endParaRPr lang="en-US" sz="840" dirty="0"/>
          </a:p>
        </p:txBody>
      </p:sp>
      <p:sp>
        <p:nvSpPr>
          <p:cNvPr id="13" name="Text 10"/>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(&gt;69 años)</a:t>
            </a:r>
            <a:endParaRPr lang="en-US" sz="576" dirty="0"/>
          </a:p>
        </p:txBody>
      </p:sp>
      <p:sp>
        <p:nvSpPr>
          <p:cNvPr id="14" name="Text 11"/>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5" name="Text 12"/>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6" name="Text 13"/>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7" name="Text 14"/>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19" name="Text 16"/>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incremental constante</a:t>
            </a:r>
            <a:endParaRPr lang="en-US" sz="648" dirty="0"/>
          </a:p>
        </p:txBody>
      </p:sp>
      <p:sp>
        <p:nvSpPr>
          <p:cNvPr id="20" name="Text 17"/>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1" name="Text 18"/>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Seguro Voluntario Activo</a:t>
            </a:r>
            <a:endParaRPr lang="en-US" sz="576" dirty="0"/>
          </a:p>
        </p:txBody>
      </p:sp>
      <p:sp>
        <p:nvSpPr>
          <p:cNvPr id="22" name="Text 19"/>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3" name="Text 20"/>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4" name="Text 21"/>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5" name="Text 22"/>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EFECTIVIDAD EN JUNIO</a:t>
            </a:r>
            <a:endParaRPr lang="en-US" sz="672" dirty="0"/>
          </a:p>
        </p:txBody>
      </p:sp>
      <p:sp>
        <p:nvSpPr>
          <p:cNvPr id="26" name="Text 23"/>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7" name="Text 24"/>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CONSEGUIDAS</a:t>
            </a:r>
            <a:endParaRPr lang="en-US" sz="672" dirty="0"/>
          </a:p>
        </p:txBody>
      </p:sp>
      <p:sp>
        <p:nvSpPr>
          <p:cNvPr id="28" name="Text 25"/>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9" name="Text 26"/>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0" name="Text 27"/>
          <p:cNvSpPr/>
          <p:nvPr/>
        </p:nvSpPr>
        <p:spPr>
          <a:xfrm>
            <a:off x="6267293" y="500139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1" name="Text 28"/>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INSUMO APTO TOTAL</a:t>
            </a:r>
            <a:endParaRPr lang="en-US" sz="672" dirty="0"/>
          </a:p>
        </p:txBody>
      </p:sp>
      <p:sp>
        <p:nvSpPr>
          <p:cNvPr id="32" name="Text 29"/>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Vacío</a:t>
            </a:r>
            <a:endParaRPr lang="en-US" sz="576" dirty="0"/>
          </a:p>
        </p:txBody>
      </p:sp>
      <p:sp>
        <p:nvSpPr>
          <p:cNvPr id="33" name="Text 30"/>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4" name="Text 31"/>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5" name="Text 32"/>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6" name="Text 33"/>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7" name="Text 34"/>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8" name="Text 35"/>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9" name="Text 36"/>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0" name="Text 37"/>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1" name="Text 38"/>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2" name="Text 39"/>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3" name="Text 40"/>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255.138</a:t>
            </a:r>
            <a:endParaRPr lang="en-US" sz="636" dirty="0"/>
          </a:p>
        </p:txBody>
      </p:sp>
      <p:sp>
        <p:nvSpPr>
          <p:cNvPr id="44" name="Text 41"/>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135.313</a:t>
            </a:r>
            <a:endParaRPr lang="en-US" sz="636" dirty="0"/>
          </a:p>
        </p:txBody>
      </p:sp>
      <p:sp>
        <p:nvSpPr>
          <p:cNvPr id="45" name="Text 42"/>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103.678</a:t>
            </a:r>
            <a:endParaRPr lang="en-US" sz="576" dirty="0"/>
          </a:p>
        </p:txBody>
      </p:sp>
      <p:sp>
        <p:nvSpPr>
          <p:cNvPr id="46" name="Text 43"/>
          <p:cNvSpPr/>
          <p:nvPr/>
        </p:nvSpPr>
        <p:spPr>
          <a:xfrm>
            <a:off x="5226118" y="446799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135.313</a:t>
            </a:r>
            <a:endParaRPr lang="en-US" sz="576" dirty="0"/>
          </a:p>
        </p:txBody>
      </p:sp>
      <p:sp>
        <p:nvSpPr>
          <p:cNvPr id="47" name="Text 44"/>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8" name="Text 45"/>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119.825</a:t>
            </a:r>
            <a:endParaRPr lang="en-US" sz="636" dirty="0"/>
          </a:p>
        </p:txBody>
      </p:sp>
      <p:sp>
        <p:nvSpPr>
          <p:cNvPr id="49" name="Text 46"/>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50" name="Text 47"/>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55.557</a:t>
            </a:r>
            <a:endParaRPr lang="en-US" sz="636" dirty="0"/>
          </a:p>
        </p:txBody>
      </p:sp>
      <p:sp>
        <p:nvSpPr>
          <p:cNvPr id="51" name="Text 48"/>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24.673</a:t>
            </a:r>
            <a:endParaRPr lang="en-US" sz="636" dirty="0"/>
          </a:p>
        </p:txBody>
      </p:sp>
      <p:sp>
        <p:nvSpPr>
          <p:cNvPr id="52" name="Text 49"/>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11.397</a:t>
            </a:r>
            <a:endParaRPr lang="en-US" sz="636" dirty="0"/>
          </a:p>
        </p:txBody>
      </p:sp>
      <p:sp>
        <p:nvSpPr>
          <p:cNvPr id="53" name="Text 50"/>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46,2 %</a:t>
            </a:r>
            <a:endParaRPr lang="en-US" sz="636" dirty="0"/>
          </a:p>
        </p:txBody>
      </p:sp>
      <p:sp>
        <p:nvSpPr>
          <p:cNvPr id="54" name="Text 51"/>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41.870</a:t>
            </a:r>
            <a:endParaRPr lang="en-US" sz="636" dirty="0"/>
          </a:p>
        </p:txBody>
      </p:sp>
      <p:sp>
        <p:nvSpPr>
          <p:cNvPr id="55" name="Text 52"/>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10,9 %</a:t>
            </a:r>
            <a:endParaRPr lang="en-US" sz="636" dirty="0"/>
          </a:p>
        </p:txBody>
      </p:sp>
      <p:sp>
        <p:nvSpPr>
          <p:cNvPr id="56" name="Text 53"/>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57" name="Text 54"/>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58" name="Text 55"/>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59" name="Text 56"/>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0" name="Text 57"/>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1" name="Text 58"/>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2" name="Text 59"/>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34.574</a:t>
            </a:r>
            <a:endParaRPr lang="en-US" sz="636" dirty="0"/>
          </a:p>
        </p:txBody>
      </p:sp>
      <p:sp>
        <p:nvSpPr>
          <p:cNvPr id="63" name="Text 60"/>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17.661</a:t>
            </a:r>
            <a:endParaRPr lang="en-US" sz="636" dirty="0"/>
          </a:p>
        </p:txBody>
      </p:sp>
      <p:sp>
        <p:nvSpPr>
          <p:cNvPr id="64" name="Text 61"/>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65" name="Text 62"/>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66" name="Text 63"/>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67" name="Text 64"/>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37.342</a:t>
            </a:r>
            <a:endParaRPr lang="en-US" sz="576" dirty="0"/>
          </a:p>
        </p:txBody>
      </p:sp>
      <p:sp>
        <p:nvSpPr>
          <p:cNvPr id="68" name="Text 65"/>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37.340</a:t>
            </a:r>
            <a:endParaRPr lang="en-US" sz="576" dirty="0"/>
          </a:p>
        </p:txBody>
      </p:sp>
      <p:sp>
        <p:nvSpPr>
          <p:cNvPr id="69" name="Text 66"/>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13.532</a:t>
            </a:r>
            <a:endParaRPr lang="en-US" sz="576" dirty="0"/>
          </a:p>
        </p:txBody>
      </p:sp>
      <p:sp>
        <p:nvSpPr>
          <p:cNvPr id="70" name="Text 67"/>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11.261</a:t>
            </a:r>
            <a:endParaRPr lang="en-US" sz="576" dirty="0"/>
          </a:p>
        </p:txBody>
      </p:sp>
      <p:sp>
        <p:nvSpPr>
          <p:cNvPr id="71" name="Text 68"/>
          <p:cNvSpPr/>
          <p:nvPr/>
        </p:nvSpPr>
        <p:spPr>
          <a:xfrm>
            <a:off x="2812186"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11.397</a:t>
            </a:r>
            <a:endParaRPr lang="en-US" sz="576" dirty="0"/>
          </a:p>
        </p:txBody>
      </p:sp>
      <p:sp>
        <p:nvSpPr>
          <p:cNvPr id="72" name="Text 69"/>
          <p:cNvSpPr/>
          <p:nvPr/>
        </p:nvSpPr>
        <p:spPr>
          <a:xfrm>
            <a:off x="3777759"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3" name="Text 70"/>
          <p:cNvSpPr/>
          <p:nvPr/>
        </p:nvSpPr>
        <p:spPr>
          <a:xfrm>
            <a:off x="4260545"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4" name="Text 71"/>
          <p:cNvSpPr/>
          <p:nvPr/>
        </p:nvSpPr>
        <p:spPr>
          <a:xfrm>
            <a:off x="4743331"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17.661</a:t>
            </a:r>
            <a:endParaRPr lang="en-US" sz="576" dirty="0"/>
          </a:p>
        </p:txBody>
      </p:sp>
      <p:sp>
        <p:nvSpPr>
          <p:cNvPr id="75" name="Text 72"/>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6" name="Text 73"/>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51.332</a:t>
            </a:r>
            <a:endParaRPr lang="en-US" sz="636" dirty="0"/>
          </a:p>
        </p:txBody>
      </p:sp>
      <p:sp>
        <p:nvSpPr>
          <p:cNvPr id="77" name="Text 74"/>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13.276</a:t>
            </a:r>
            <a:endParaRPr lang="en-US" sz="636" dirty="0"/>
          </a:p>
        </p:txBody>
      </p:sp>
      <p:sp>
        <p:nvSpPr>
          <p:cNvPr id="78" name="Text 75"/>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30,0 %</a:t>
            </a:r>
            <a:endParaRPr lang="en-US" sz="636" dirty="0"/>
          </a:p>
        </p:txBody>
      </p:sp>
      <p:sp>
        <p:nvSpPr>
          <p:cNvPr id="79" name="Text 76"/>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37.308</a:t>
            </a:r>
            <a:endParaRPr lang="en-US" sz="636" dirty="0"/>
          </a:p>
        </p:txBody>
      </p:sp>
      <p:sp>
        <p:nvSpPr>
          <p:cNvPr id="80" name="Text 77"/>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22,1 %</a:t>
            </a:r>
            <a:endParaRPr lang="en-US" sz="636" dirty="0"/>
          </a:p>
        </p:txBody>
      </p:sp>
      <p:sp>
        <p:nvSpPr>
          <p:cNvPr id="81" name="Text 78"/>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43,2 %</a:t>
            </a:r>
            <a:endParaRPr lang="en-US" sz="636" dirty="0"/>
          </a:p>
        </p:txBody>
      </p:sp>
      <p:sp>
        <p:nvSpPr>
          <p:cNvPr id="82" name="Text 79"/>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16.913</a:t>
            </a:r>
            <a:endParaRPr lang="en-US" sz="636" dirty="0"/>
          </a:p>
        </p:txBody>
      </p:sp>
      <p:sp>
        <p:nvSpPr>
          <p:cNvPr id="83" name="Text 80"/>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25,9 %</a:t>
            </a:r>
            <a:endParaRPr lang="en-US" sz="636" dirty="0"/>
          </a:p>
        </p:txBody>
      </p:sp>
      <p:sp>
        <p:nvSpPr>
          <p:cNvPr id="84" name="Text 81"/>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18,0 %</a:t>
            </a:r>
            <a:endParaRPr lang="en-US" sz="636" dirty="0"/>
          </a:p>
        </p:txBody>
      </p:sp>
      <p:sp>
        <p:nvSpPr>
          <p:cNvPr id="85" name="Text 82"/>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16.926</a:t>
            </a:r>
            <a:endParaRPr lang="en-US" sz="552" dirty="0"/>
          </a:p>
        </p:txBody>
      </p:sp>
      <p:sp>
        <p:nvSpPr>
          <p:cNvPr id="86" name="Text 83"/>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35.511</a:t>
            </a:r>
            <a:endParaRPr lang="en-US" sz="552" dirty="0"/>
          </a:p>
        </p:txBody>
      </p:sp>
      <p:sp>
        <p:nvSpPr>
          <p:cNvPr id="87" name="Text 84"/>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25.810</a:t>
            </a:r>
            <a:endParaRPr lang="en-US" sz="552" dirty="0"/>
          </a:p>
        </p:txBody>
      </p:sp>
      <p:sp>
        <p:nvSpPr>
          <p:cNvPr id="88" name="Text 85"/>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11.700</a:t>
            </a:r>
            <a:endParaRPr lang="en-US" sz="552" dirty="0"/>
          </a:p>
        </p:txBody>
      </p:sp>
      <p:sp>
        <p:nvSpPr>
          <p:cNvPr id="89" name="Text 86"/>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82.895</a:t>
            </a:r>
            <a:endParaRPr lang="en-US" sz="552" dirty="0"/>
          </a:p>
        </p:txBody>
      </p:sp>
      <p:sp>
        <p:nvSpPr>
          <p:cNvPr id="90" name="Text 87"/>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34.600</a:t>
            </a:r>
            <a:endParaRPr lang="en-US" sz="552" dirty="0"/>
          </a:p>
        </p:txBody>
      </p:sp>
      <p:sp>
        <p:nvSpPr>
          <p:cNvPr id="91" name="Text 88"/>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25.148</a:t>
            </a:r>
            <a:endParaRPr lang="en-US" sz="552" dirty="0"/>
          </a:p>
        </p:txBody>
      </p:sp>
      <p:sp>
        <p:nvSpPr>
          <p:cNvPr id="92" name="Text 89"/>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11.400</a:t>
            </a:r>
            <a:endParaRPr lang="en-US" sz="552" dirty="0"/>
          </a:p>
        </p:txBody>
      </p:sp>
      <p:sp>
        <p:nvSpPr>
          <p:cNvPr id="93" name="Text 90"/>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80.769</a:t>
            </a:r>
            <a:endParaRPr lang="en-US" sz="552" dirty="0"/>
          </a:p>
        </p:txBody>
      </p:sp>
      <p:sp>
        <p:nvSpPr>
          <p:cNvPr id="94" name="Text 91"/>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95" name="Text 92"/>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4.225</a:t>
            </a:r>
            <a:endParaRPr lang="en-US" sz="636" dirty="0"/>
          </a:p>
        </p:txBody>
      </p:sp>
      <p:sp>
        <p:nvSpPr>
          <p:cNvPr id="96" name="Text 93"/>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7,6 %</a:t>
            </a:r>
            <a:endParaRPr lang="en-US" sz="636" dirty="0"/>
          </a:p>
        </p:txBody>
      </p:sp>
      <p:sp>
        <p:nvSpPr>
          <p:cNvPr id="97" name="Text 94"/>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98" name="Text 95"/>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4.562</a:t>
            </a:r>
            <a:endParaRPr lang="en-US" sz="636" dirty="0"/>
          </a:p>
        </p:txBody>
      </p:sp>
      <p:sp>
        <p:nvSpPr>
          <p:cNvPr id="99" name="Text 96"/>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0" name="Text 97"/>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1" name="Text 98"/>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2" name="Text 99"/>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3" name="Text 100"/>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3.237</a:t>
            </a:r>
            <a:endParaRPr lang="en-US" sz="576" dirty="0"/>
          </a:p>
        </p:txBody>
      </p:sp>
      <p:sp>
        <p:nvSpPr>
          <p:cNvPr id="104" name="Text 101"/>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8.732</a:t>
            </a:r>
            <a:endParaRPr lang="en-US" sz="576" dirty="0"/>
          </a:p>
        </p:txBody>
      </p:sp>
      <p:sp>
        <p:nvSpPr>
          <p:cNvPr id="105" name="Text 102"/>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3.495</a:t>
            </a:r>
            <a:endParaRPr lang="en-US" sz="576" dirty="0"/>
          </a:p>
        </p:txBody>
      </p:sp>
      <p:sp>
        <p:nvSpPr>
          <p:cNvPr id="106" name="Text 103"/>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4.055</a:t>
            </a:r>
            <a:endParaRPr lang="en-US" sz="576" dirty="0"/>
          </a:p>
        </p:txBody>
      </p:sp>
      <p:sp>
        <p:nvSpPr>
          <p:cNvPr id="107" name="Text 104"/>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4.056</a:t>
            </a:r>
            <a:endParaRPr lang="en-US" sz="576" dirty="0"/>
          </a:p>
        </p:txBody>
      </p:sp>
      <p:sp>
        <p:nvSpPr>
          <p:cNvPr id="108" name="Text 105"/>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1.470</a:t>
            </a:r>
            <a:endParaRPr lang="en-US" sz="576" dirty="0"/>
          </a:p>
        </p:txBody>
      </p:sp>
      <p:sp>
        <p:nvSpPr>
          <p:cNvPr id="109" name="Text 106"/>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0" name="Text 107"/>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1" name="Text 108"/>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5.948</a:t>
            </a:r>
            <a:endParaRPr lang="en-US" sz="576" dirty="0"/>
          </a:p>
        </p:txBody>
      </p:sp>
      <p:sp>
        <p:nvSpPr>
          <p:cNvPr id="112" name="Text 109"/>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1.618</a:t>
            </a:r>
            <a:endParaRPr lang="en-US" sz="576" dirty="0"/>
          </a:p>
        </p:txBody>
      </p:sp>
      <p:sp>
        <p:nvSpPr>
          <p:cNvPr id="113" name="Text 110"/>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1.619</a:t>
            </a:r>
            <a:endParaRPr lang="en-US" sz="576" dirty="0"/>
          </a:p>
        </p:txBody>
      </p:sp>
      <p:sp>
        <p:nvSpPr>
          <p:cNvPr id="114" name="Text 111"/>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4.495</a:t>
            </a:r>
            <a:endParaRPr lang="en-US" sz="576" dirty="0"/>
          </a:p>
        </p:txBody>
      </p:sp>
      <p:sp>
        <p:nvSpPr>
          <p:cNvPr id="115" name="Text 112"/>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2.330</a:t>
            </a:r>
            <a:endParaRPr lang="en-US" sz="576" dirty="0"/>
          </a:p>
        </p:txBody>
      </p:sp>
      <p:sp>
        <p:nvSpPr>
          <p:cNvPr id="116" name="Text 113"/>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2.145</a:t>
            </a:r>
            <a:endParaRPr lang="en-US" sz="576" dirty="0"/>
          </a:p>
        </p:txBody>
      </p:sp>
      <p:sp>
        <p:nvSpPr>
          <p:cNvPr id="117" name="Text 114"/>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1.632</a:t>
            </a:r>
            <a:endParaRPr lang="en-US" sz="576" dirty="0"/>
          </a:p>
        </p:txBody>
      </p:sp>
      <p:sp>
        <p:nvSpPr>
          <p:cNvPr id="118" name="Text 115"/>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1.633</a:t>
            </a:r>
            <a:endParaRPr lang="en-US" sz="576" dirty="0"/>
          </a:p>
        </p:txBody>
      </p:sp>
      <p:sp>
        <p:nvSpPr>
          <p:cNvPr id="119" name="Text 116"/>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4.534</a:t>
            </a:r>
            <a:endParaRPr lang="en-US" sz="576" dirty="0"/>
          </a:p>
        </p:txBody>
      </p:sp>
      <p:sp>
        <p:nvSpPr>
          <p:cNvPr id="120" name="Text 117"/>
          <p:cNvSpPr/>
          <p:nvPr/>
        </p:nvSpPr>
        <p:spPr>
          <a:xfrm>
            <a:off x="504812" y="446799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1" name="Text 118"/>
          <p:cNvSpPr/>
          <p:nvPr/>
        </p:nvSpPr>
        <p:spPr>
          <a:xfrm>
            <a:off x="2329400"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4.225</a:t>
            </a:r>
            <a:endParaRPr lang="en-US" sz="576" dirty="0"/>
          </a:p>
        </p:txBody>
      </p:sp>
      <p:sp>
        <p:nvSpPr>
          <p:cNvPr id="122" name="Text 119"/>
          <p:cNvSpPr/>
          <p:nvPr/>
        </p:nvSpPr>
        <p:spPr>
          <a:xfrm>
            <a:off x="3294972"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4.562</a:t>
            </a:r>
            <a:endParaRPr lang="en-US" sz="576" dirty="0"/>
          </a:p>
        </p:txBody>
      </p:sp>
      <p:sp>
        <p:nvSpPr>
          <p:cNvPr id="123" name="Text 120"/>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24" name="Text 121"/>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5" name="Text 122"/>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9,2 %</a:t>
            </a:r>
            <a:endParaRPr lang="en-US" sz="636" dirty="0"/>
          </a:p>
        </p:txBody>
      </p:sp>
      <p:sp>
        <p:nvSpPr>
          <p:cNvPr id="126" name="Text 123"/>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127" name="Text 124"/>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3,2 %</a:t>
            </a:r>
            <a:endParaRPr lang="en-US" sz="636" dirty="0"/>
          </a:p>
        </p:txBody>
      </p:sp>
      <p:sp>
        <p:nvSpPr>
          <p:cNvPr id="128" name="Text 125"/>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29" name="Text 126"/>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130" name="Text 127"/>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1" name="Text 128"/>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6,0 %</a:t>
            </a:r>
            <a:endParaRPr lang="en-US" sz="636" dirty="0"/>
          </a:p>
        </p:txBody>
      </p:sp>
      <p:sp>
        <p:nvSpPr>
          <p:cNvPr id="132" name="Text 129"/>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0,0 %</a:t>
            </a:r>
            <a:endParaRPr lang="en-US" sz="636" dirty="0"/>
          </a:p>
        </p:txBody>
      </p:sp>
      <p:sp>
        <p:nvSpPr>
          <p:cNvPr id="133" name="Text 130"/>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2,3 %</a:t>
            </a:r>
            <a:endParaRPr lang="en-US" sz="636" dirty="0"/>
          </a:p>
        </p:txBody>
      </p:sp>
      <p:sp>
        <p:nvSpPr>
          <p:cNvPr id="134" name="Text 131"/>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5" name="Text 132"/>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4,9 %</a:t>
            </a:r>
            <a:endParaRPr lang="en-US" sz="636" dirty="0"/>
          </a:p>
        </p:txBody>
      </p:sp>
      <p:sp>
        <p:nvSpPr>
          <p:cNvPr id="136" name="Text 133"/>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37" name="Text 134"/>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1,5 %</a:t>
            </a:r>
            <a:endParaRPr lang="en-US" sz="636" dirty="0"/>
          </a:p>
        </p:txBody>
      </p:sp>
      <p:sp>
        <p:nvSpPr>
          <p:cNvPr id="138" name="Text 135"/>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39" name="Text 136"/>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7.252</a:t>
            </a:r>
            <a:endParaRPr lang="en-US" sz="552" dirty="0"/>
          </a:p>
        </p:txBody>
      </p:sp>
      <p:sp>
        <p:nvSpPr>
          <p:cNvPr id="140" name="Text 137"/>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1.875</a:t>
            </a:r>
            <a:endParaRPr lang="en-US" sz="552" dirty="0"/>
          </a:p>
        </p:txBody>
      </p:sp>
      <p:sp>
        <p:nvSpPr>
          <p:cNvPr id="141" name="Text 138"/>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5.270</a:t>
            </a:r>
            <a:endParaRPr lang="en-US" sz="552" dirty="0"/>
          </a:p>
        </p:txBody>
      </p:sp>
      <p:sp>
        <p:nvSpPr>
          <p:cNvPr id="142" name="Text 139"/>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2.389</a:t>
            </a:r>
            <a:endParaRPr lang="en-US" sz="552" dirty="0"/>
          </a:p>
        </p:txBody>
      </p:sp>
      <p:sp>
        <p:nvSpPr>
          <p:cNvPr id="143" name="Text 140"/>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2.586</a:t>
            </a:r>
            <a:endParaRPr lang="en-US" sz="552" dirty="0"/>
          </a:p>
        </p:txBody>
      </p:sp>
      <p:sp>
        <p:nvSpPr>
          <p:cNvPr id="144" name="Text 141"/>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1.880</a:t>
            </a:r>
            <a:endParaRPr lang="en-US" sz="552" dirty="0"/>
          </a:p>
        </p:txBody>
      </p:sp>
      <p:sp>
        <p:nvSpPr>
          <p:cNvPr id="145" name="Text 142"/>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6.037</a:t>
            </a:r>
            <a:endParaRPr lang="en-US" sz="552" dirty="0"/>
          </a:p>
        </p:txBody>
      </p:sp>
      <p:sp>
        <p:nvSpPr>
          <p:cNvPr id="146" name="Text 143"/>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1.728</a:t>
            </a:r>
            <a:endParaRPr lang="en-US" sz="552" dirty="0"/>
          </a:p>
        </p:txBody>
      </p:sp>
      <p:sp>
        <p:nvSpPr>
          <p:cNvPr id="147" name="Text 144"/>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1.256</a:t>
            </a:r>
            <a:endParaRPr lang="en-US" sz="552" dirty="0"/>
          </a:p>
        </p:txBody>
      </p:sp>
      <p:sp>
        <p:nvSpPr>
          <p:cNvPr id="148" name="Text 145"/>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4.035</a:t>
            </a:r>
            <a:endParaRPr lang="en-US" sz="552" dirty="0"/>
          </a:p>
        </p:txBody>
      </p:sp>
      <p:sp>
        <p:nvSpPr>
          <p:cNvPr id="149" name="Text 146"/>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1.701</a:t>
            </a:r>
            <a:endParaRPr lang="en-US" sz="552" dirty="0"/>
          </a:p>
        </p:txBody>
      </p:sp>
      <p:sp>
        <p:nvSpPr>
          <p:cNvPr id="150" name="Text 147"/>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1.106</a:t>
            </a:r>
            <a:endParaRPr lang="en-US" sz="552" dirty="0"/>
          </a:p>
        </p:txBody>
      </p:sp>
      <p:sp>
        <p:nvSpPr>
          <p:cNvPr id="151" name="Text 148"/>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2.583</a:t>
            </a:r>
            <a:endParaRPr lang="en-US" sz="552" dirty="0"/>
          </a:p>
        </p:txBody>
      </p:sp>
      <p:sp>
        <p:nvSpPr>
          <p:cNvPr id="152" name="Text 149"/>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1.595</a:t>
            </a:r>
            <a:endParaRPr lang="en-US" sz="552" dirty="0"/>
          </a:p>
        </p:txBody>
      </p:sp>
      <p:sp>
        <p:nvSpPr>
          <p:cNvPr id="153" name="Text 150"/>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9.184</a:t>
            </a:r>
            <a:endParaRPr lang="en-US" sz="552" dirty="0"/>
          </a:p>
        </p:txBody>
      </p:sp>
      <p:sp>
        <p:nvSpPr>
          <p:cNvPr id="154" name="Text 151"/>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8.949</a:t>
            </a:r>
            <a:endParaRPr lang="en-US" sz="552" dirty="0"/>
          </a:p>
        </p:txBody>
      </p:sp>
      <p:sp>
        <p:nvSpPr>
          <p:cNvPr id="155" name="Text 152"/>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1.640</a:t>
            </a:r>
            <a:endParaRPr lang="en-US" sz="552" dirty="0"/>
          </a:p>
        </p:txBody>
      </p:sp>
      <p:sp>
        <p:nvSpPr>
          <p:cNvPr id="156" name="Text 153"/>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157" name="Text 154"/>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58" name="Text 155"/>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59" name="Text 156"/>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0" name="Text 157"/>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61" name="Text 158"/>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62" name="Text 159"/>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63" name="Text 160"/>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64" name="Text 161"/>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65" name="Text 162"/>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66" name="Text 163"/>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352</a:t>
            </a:r>
            <a:endParaRPr lang="en-US" sz="576" dirty="0"/>
          </a:p>
        </p:txBody>
      </p:sp>
      <p:sp>
        <p:nvSpPr>
          <p:cNvPr id="167" name="Text 164"/>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948</a:t>
            </a:r>
            <a:endParaRPr lang="en-US" sz="576" dirty="0"/>
          </a:p>
        </p:txBody>
      </p:sp>
      <p:sp>
        <p:nvSpPr>
          <p:cNvPr id="168" name="Text 165"/>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380</a:t>
            </a:r>
            <a:endParaRPr lang="en-US" sz="576" dirty="0"/>
          </a:p>
        </p:txBody>
      </p:sp>
      <p:sp>
        <p:nvSpPr>
          <p:cNvPr id="169" name="Text 166"/>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186</a:t>
            </a:r>
            <a:endParaRPr lang="en-US" sz="576" dirty="0"/>
          </a:p>
        </p:txBody>
      </p:sp>
      <p:sp>
        <p:nvSpPr>
          <p:cNvPr id="170" name="Text 167"/>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501</a:t>
            </a:r>
            <a:endParaRPr lang="en-US" sz="576" dirty="0"/>
          </a:p>
        </p:txBody>
      </p:sp>
      <p:sp>
        <p:nvSpPr>
          <p:cNvPr id="171" name="Text 168"/>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172" name="Text 169"/>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776</a:t>
            </a:r>
            <a:endParaRPr lang="en-US" sz="576" dirty="0"/>
          </a:p>
        </p:txBody>
      </p:sp>
      <p:sp>
        <p:nvSpPr>
          <p:cNvPr id="173" name="Text 170"/>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140</a:t>
            </a:r>
            <a:endParaRPr lang="en-US" sz="576" dirty="0"/>
          </a:p>
        </p:txBody>
      </p:sp>
      <p:sp>
        <p:nvSpPr>
          <p:cNvPr id="174" name="Text 171"/>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379</a:t>
            </a:r>
            <a:endParaRPr lang="en-US" sz="576" dirty="0"/>
          </a:p>
        </p:txBody>
      </p:sp>
      <p:sp>
        <p:nvSpPr>
          <p:cNvPr id="175" name="Text 172"/>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152</a:t>
            </a:r>
            <a:endParaRPr lang="en-US" sz="576" dirty="0"/>
          </a:p>
        </p:txBody>
      </p:sp>
      <p:sp>
        <p:nvSpPr>
          <p:cNvPr id="176" name="Text 173"/>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587</a:t>
            </a:r>
            <a:endParaRPr lang="en-US" sz="576" dirty="0"/>
          </a:p>
        </p:txBody>
      </p:sp>
      <p:sp>
        <p:nvSpPr>
          <p:cNvPr id="177" name="Text 174"/>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a:t>
            </a:r>
            <a:endParaRPr lang="en-US" sz="576" dirty="0"/>
          </a:p>
        </p:txBody>
      </p:sp>
      <p:sp>
        <p:nvSpPr>
          <p:cNvPr id="178" name="Text 175"/>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79" name="Text 176"/>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0" name="Text 177"/>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304</a:t>
            </a:r>
            <a:endParaRPr lang="en-US" sz="576" dirty="0"/>
          </a:p>
        </p:txBody>
      </p:sp>
      <p:sp>
        <p:nvSpPr>
          <p:cNvPr id="181" name="Text 178"/>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181</a:t>
            </a:r>
            <a:endParaRPr lang="en-US" sz="576" dirty="0"/>
          </a:p>
        </p:txBody>
      </p:sp>
      <p:sp>
        <p:nvSpPr>
          <p:cNvPr id="182" name="Text 179"/>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772</a:t>
            </a:r>
            <a:endParaRPr lang="en-US" sz="576" dirty="0"/>
          </a:p>
        </p:txBody>
      </p:sp>
      <p:sp>
        <p:nvSpPr>
          <p:cNvPr id="183" name="Text 180"/>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773</a:t>
            </a:r>
            <a:endParaRPr lang="en-US" sz="576" dirty="0"/>
          </a:p>
        </p:txBody>
      </p:sp>
      <p:sp>
        <p:nvSpPr>
          <p:cNvPr id="184" name="Text 181"/>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280</a:t>
            </a:r>
            <a:endParaRPr lang="en-US" sz="576" dirty="0"/>
          </a:p>
        </p:txBody>
      </p:sp>
      <p:sp>
        <p:nvSpPr>
          <p:cNvPr id="185" name="Text 182"/>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86" name="Text 183"/>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87" name="Text 184"/>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188" name="Text 185"/>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922</a:t>
            </a:r>
            <a:endParaRPr lang="en-US" sz="576" dirty="0"/>
          </a:p>
        </p:txBody>
      </p:sp>
      <p:sp>
        <p:nvSpPr>
          <p:cNvPr id="189" name="Text 186"/>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142</a:t>
            </a:r>
            <a:endParaRPr lang="en-US" sz="576" dirty="0"/>
          </a:p>
        </p:txBody>
      </p:sp>
      <p:sp>
        <p:nvSpPr>
          <p:cNvPr id="190" name="Text 187"/>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382</a:t>
            </a:r>
            <a:endParaRPr lang="en-US" sz="576" dirty="0"/>
          </a:p>
        </p:txBody>
      </p:sp>
      <p:sp>
        <p:nvSpPr>
          <p:cNvPr id="191" name="Text 188"/>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153</a:t>
            </a:r>
            <a:endParaRPr lang="en-US" sz="576" dirty="0"/>
          </a:p>
        </p:txBody>
      </p:sp>
      <p:sp>
        <p:nvSpPr>
          <p:cNvPr id="192" name="Text 189"/>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592</a:t>
            </a:r>
            <a:endParaRPr lang="en-US" sz="576" dirty="0"/>
          </a:p>
        </p:txBody>
      </p:sp>
      <p:sp>
        <p:nvSpPr>
          <p:cNvPr id="193" name="Text 190"/>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4" name="Text 191"/>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123</a:t>
            </a:r>
            <a:endParaRPr lang="en-US" sz="636" dirty="0"/>
          </a:p>
        </p:txBody>
      </p:sp>
      <p:sp>
        <p:nvSpPr>
          <p:cNvPr id="195" name="Text 192"/>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196" name="Text 193"/>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197" name="Text 194"/>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138</a:t>
            </a:r>
            <a:endParaRPr lang="en-US" sz="636" dirty="0"/>
          </a:p>
        </p:txBody>
      </p:sp>
      <p:sp>
        <p:nvSpPr>
          <p:cNvPr id="198" name="Text 195"/>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318</a:t>
            </a:r>
            <a:endParaRPr lang="en-US" sz="636" dirty="0"/>
          </a:p>
        </p:txBody>
      </p:sp>
      <p:sp>
        <p:nvSpPr>
          <p:cNvPr id="199" name="Text 196"/>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00" name="Text 197"/>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01" name="Text 198"/>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02" name="Text 199"/>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3" name="Text 200"/>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4" name="Text 201"/>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5" name="Text 202"/>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137</a:t>
            </a:r>
            <a:endParaRPr lang="en-US" sz="552" dirty="0"/>
          </a:p>
        </p:txBody>
      </p:sp>
      <p:sp>
        <p:nvSpPr>
          <p:cNvPr id="206" name="Text 203"/>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318</a:t>
            </a:r>
            <a:endParaRPr lang="en-US" sz="552" dirty="0"/>
          </a:p>
        </p:txBody>
      </p:sp>
      <p:sp>
        <p:nvSpPr>
          <p:cNvPr id="207" name="Text 204"/>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669</a:t>
            </a:r>
            <a:endParaRPr lang="en-US" sz="552" dirty="0"/>
          </a:p>
        </p:txBody>
      </p:sp>
      <p:sp>
        <p:nvSpPr>
          <p:cNvPr id="208" name="Text 205"/>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852</a:t>
            </a:r>
            <a:endParaRPr lang="en-US" sz="552" dirty="0"/>
          </a:p>
        </p:txBody>
      </p:sp>
      <p:sp>
        <p:nvSpPr>
          <p:cNvPr id="209" name="Text 206"/>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10" name="Text 207"/>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570</a:t>
            </a:r>
            <a:endParaRPr lang="en-US" sz="552" dirty="0"/>
          </a:p>
        </p:txBody>
      </p:sp>
      <p:sp>
        <p:nvSpPr>
          <p:cNvPr id="211" name="Text 208"/>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729</a:t>
            </a:r>
            <a:endParaRPr lang="en-US" sz="552" dirty="0"/>
          </a:p>
        </p:txBody>
      </p:sp>
      <p:sp>
        <p:nvSpPr>
          <p:cNvPr id="212" name="Text 209"/>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213" name="Text 210"/>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530</a:t>
            </a:r>
            <a:endParaRPr lang="en-US" sz="552" dirty="0"/>
          </a:p>
        </p:txBody>
      </p:sp>
      <p:sp>
        <p:nvSpPr>
          <p:cNvPr id="214" name="Text 211"/>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240</a:t>
            </a:r>
            <a:endParaRPr lang="en-US" sz="552" dirty="0"/>
          </a:p>
        </p:txBody>
      </p:sp>
      <p:sp>
        <p:nvSpPr>
          <p:cNvPr id="215" name="Text 212"/>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286</a:t>
            </a:r>
            <a:endParaRPr lang="en-US" sz="552" dirty="0"/>
          </a:p>
        </p:txBody>
      </p:sp>
      <p:sp>
        <p:nvSpPr>
          <p:cNvPr id="216" name="Text 213"/>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804</a:t>
            </a:r>
            <a:endParaRPr lang="en-US" sz="552" dirty="0"/>
          </a:p>
        </p:txBody>
      </p:sp>
      <p:sp>
        <p:nvSpPr>
          <p:cNvPr id="217" name="Text 214"/>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218" name="Text 215"/>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280</a:t>
            </a:r>
            <a:endParaRPr lang="en-US" sz="552" dirty="0"/>
          </a:p>
        </p:txBody>
      </p:sp>
      <p:sp>
        <p:nvSpPr>
          <p:cNvPr id="219" name="Text 216"/>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205</a:t>
            </a:r>
            <a:endParaRPr lang="en-US" sz="552" dirty="0"/>
          </a:p>
        </p:txBody>
      </p:sp>
      <p:sp>
        <p:nvSpPr>
          <p:cNvPr id="220" name="Text 217"/>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657</a:t>
            </a:r>
            <a:endParaRPr lang="en-US" sz="552" dirty="0"/>
          </a:p>
        </p:txBody>
      </p:sp>
      <p:sp>
        <p:nvSpPr>
          <p:cNvPr id="221" name="Text 218"/>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22" name="Text 219"/>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177</a:t>
            </a:r>
            <a:endParaRPr lang="en-US" sz="552" dirty="0"/>
          </a:p>
        </p:txBody>
      </p:sp>
      <p:sp>
        <p:nvSpPr>
          <p:cNvPr id="223" name="Text 220"/>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224" name="Text 221"/>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225</a:t>
            </a:r>
            <a:endParaRPr lang="en-US" sz="552" dirty="0"/>
          </a:p>
        </p:txBody>
      </p:sp>
      <p:sp>
        <p:nvSpPr>
          <p:cNvPr id="225" name="Text 222"/>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26" name="Text 223"/>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27" name="Text 224"/>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28" name="Text 225"/>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29" name="Text 226"/>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702</a:t>
            </a:r>
            <a:endParaRPr lang="en-US" sz="552" dirty="0"/>
          </a:p>
        </p:txBody>
      </p:sp>
      <p:sp>
        <p:nvSpPr>
          <p:cNvPr id="230" name="Text 227"/>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182</a:t>
            </a:r>
            <a:endParaRPr lang="en-US" sz="552" dirty="0"/>
          </a:p>
        </p:txBody>
      </p:sp>
      <p:sp>
        <p:nvSpPr>
          <p:cNvPr id="231" name="Text 228"/>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511</a:t>
            </a:r>
            <a:endParaRPr lang="en-US" sz="552" dirty="0"/>
          </a:p>
        </p:txBody>
      </p:sp>
      <p:sp>
        <p:nvSpPr>
          <p:cNvPr id="232" name="Text 229"/>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231</a:t>
            </a:r>
            <a:endParaRPr lang="en-US" sz="552" dirty="0"/>
          </a:p>
        </p:txBody>
      </p:sp>
      <p:sp>
        <p:nvSpPr>
          <p:cNvPr id="233" name="Text 230"/>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110</a:t>
            </a:r>
            <a:endParaRPr lang="en-US" sz="552" dirty="0"/>
          </a:p>
        </p:txBody>
      </p:sp>
      <p:sp>
        <p:nvSpPr>
          <p:cNvPr id="234" name="Text 231"/>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256</a:t>
            </a:r>
            <a:endParaRPr lang="en-US" sz="552" dirty="0"/>
          </a:p>
        </p:txBody>
      </p:sp>
      <p:sp>
        <p:nvSpPr>
          <p:cNvPr id="235" name="Text 232"/>
          <p:cNvSpPr/>
          <p:nvPr/>
        </p:nvSpPr>
        <p:spPr>
          <a:xfrm>
            <a:off x="10988599" y="500139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230</a:t>
            </a:r>
            <a:endParaRPr lang="en-US" sz="552" dirty="0"/>
          </a:p>
        </p:txBody>
      </p:sp>
      <p:sp>
        <p:nvSpPr>
          <p:cNvPr id="236" name="Text 233"/>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237" name="Text 234"/>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73</a:t>
            </a:r>
            <a:endParaRPr lang="en-US" sz="576" dirty="0"/>
          </a:p>
        </p:txBody>
      </p:sp>
      <p:sp>
        <p:nvSpPr>
          <p:cNvPr id="238" name="Text 235"/>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39" name="Text 236"/>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40" name="Text 237"/>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72</a:t>
            </a:r>
            <a:endParaRPr lang="en-US" sz="576" dirty="0"/>
          </a:p>
        </p:txBody>
      </p:sp>
      <p:sp>
        <p:nvSpPr>
          <p:cNvPr id="241" name="Text 238"/>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a:t>
            </a:r>
            <a:endParaRPr lang="en-US" sz="576" dirty="0"/>
          </a:p>
        </p:txBody>
      </p:sp>
      <p:sp>
        <p:nvSpPr>
          <p:cNvPr id="242" name="Text 239"/>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78</a:t>
            </a:r>
            <a:endParaRPr lang="en-US" sz="576" dirty="0"/>
          </a:p>
        </p:txBody>
      </p:sp>
      <p:sp>
        <p:nvSpPr>
          <p:cNvPr id="243" name="Text 240"/>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31</a:t>
            </a:r>
            <a:endParaRPr lang="en-US" sz="576" dirty="0"/>
          </a:p>
        </p:txBody>
      </p:sp>
      <p:sp>
        <p:nvSpPr>
          <p:cNvPr id="244" name="Text 241"/>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31</a:t>
            </a:r>
            <a:endParaRPr lang="en-US" sz="636" dirty="0"/>
          </a:p>
        </p:txBody>
      </p:sp>
      <p:sp>
        <p:nvSpPr>
          <p:cNvPr id="245" name="Text 242"/>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21</a:t>
            </a:r>
            <a:endParaRPr lang="en-US" sz="636" dirty="0"/>
          </a:p>
        </p:txBody>
      </p:sp>
      <p:sp>
        <p:nvSpPr>
          <p:cNvPr id="246" name="Text 243"/>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47" name="Text 244"/>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48" name="Text 245"/>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a:t>
            </a:r>
            <a:endParaRPr lang="en-US" sz="552" dirty="0"/>
          </a:p>
        </p:txBody>
      </p:sp>
      <p:sp>
        <p:nvSpPr>
          <p:cNvPr id="249" name="Text 246"/>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50" name="Text 247"/>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a:t>
            </a:r>
            <a:endParaRPr lang="en-US" sz="552" dirty="0"/>
          </a:p>
        </p:txBody>
      </p:sp>
      <p:sp>
        <p:nvSpPr>
          <p:cNvPr id="251" name="Text 248"/>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2" name="Text 249"/>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3" name="Text 250"/>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4" name="Text 251"/>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5" name="Text 252"/>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56" name="Text 253"/>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57" name="Text 254"/>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258" name="Text 255"/>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59" name="Text 256"/>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a:t>
            </a:r>
            <a:endParaRPr lang="en-US" sz="552" dirty="0"/>
          </a:p>
        </p:txBody>
      </p:sp>
      <p:sp>
        <p:nvSpPr>
          <p:cNvPr id="260" name="Text 257"/>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80</a:t>
            </a:r>
            <a:endParaRPr lang="en-US" sz="552" dirty="0"/>
          </a:p>
        </p:txBody>
      </p:sp>
      <p:sp>
        <p:nvSpPr>
          <p:cNvPr id="261" name="Text 258"/>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a:t>
            </a:r>
            <a:endParaRPr lang="en-US" sz="552" dirty="0"/>
          </a:p>
        </p:txBody>
      </p:sp>
      <p:sp>
        <p:nvSpPr>
          <p:cNvPr id="262" name="Text 259"/>
          <p:cNvSpPr/>
          <p:nvPr/>
        </p:nvSpPr>
        <p:spPr>
          <a:xfrm>
            <a:off x="8091881"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63" name="Text 260"/>
          <p:cNvSpPr/>
          <p:nvPr/>
        </p:nvSpPr>
        <p:spPr>
          <a:xfrm>
            <a:off x="8574667"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64" name="Text 261"/>
          <p:cNvSpPr/>
          <p:nvPr/>
        </p:nvSpPr>
        <p:spPr>
          <a:xfrm>
            <a:off x="9057453"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a:t>
            </a:r>
            <a:endParaRPr lang="en-US" sz="552" dirty="0"/>
          </a:p>
        </p:txBody>
      </p:sp>
      <p:sp>
        <p:nvSpPr>
          <p:cNvPr id="265" name="Text 262"/>
          <p:cNvSpPr/>
          <p:nvPr/>
        </p:nvSpPr>
        <p:spPr>
          <a:xfrm>
            <a:off x="10505812"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056138"/>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4" dirty="0"/>
          </a:p>
        </p:txBody>
      </p:sp>
      <p:sp>
        <p:nvSpPr>
          <p:cNvPr id="4" name="Text 1"/>
          <p:cNvSpPr/>
          <p:nvPr/>
        </p:nvSpPr>
        <p:spPr>
          <a:xfrm>
            <a:off x="685783" y="4909691"/>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4" dirty="0"/>
          </a:p>
        </p:txBody>
      </p:sp>
      <p:sp>
        <p:nvSpPr>
          <p:cNvPr id="5" name="Text 2"/>
          <p:cNvSpPr/>
          <p:nvPr/>
        </p:nvSpPr>
        <p:spPr>
          <a:xfrm>
            <a:off x="685783" y="5202585"/>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4" dirty="0"/>
          </a:p>
        </p:txBody>
      </p:sp>
      <p:sp>
        <p:nvSpPr>
          <p:cNvPr id="6" name="Text 3"/>
          <p:cNvSpPr/>
          <p:nvPr/>
        </p:nvSpPr>
        <p:spPr>
          <a:xfrm>
            <a:off x="1213514" y="219075"/>
            <a:ext cx="448845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y depurada de forma express</a:t>
            </a:r>
            <a:endParaRPr lang="en-US" sz="648" dirty="0"/>
          </a:p>
        </p:txBody>
      </p:sp>
      <p:sp>
        <p:nvSpPr>
          <p:cNvPr id="8" name="Text 5"/>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 / Producto Activo</a:t>
            </a:r>
            <a:endParaRPr lang="en-US" sz="576"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Interacción ágil con clientes históricos</a:t>
            </a:r>
            <a:endParaRPr lang="en-US" sz="648" dirty="0"/>
          </a:p>
        </p:txBody>
      </p:sp>
      <p:sp>
        <p:nvSpPr>
          <p:cNvPr id="10" name="Text 7"/>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táctico masivo al inicio del año</a:t>
            </a:r>
            <a:endParaRPr lang="en-US" sz="648" dirty="0"/>
          </a:p>
        </p:txBody>
      </p:sp>
      <p:sp>
        <p:nvSpPr>
          <p:cNvPr id="11" name="Text 8"/>
          <p:cNvSpPr/>
          <p:nvPr/>
        </p:nvSpPr>
        <p:spPr>
          <a:xfrm>
            <a:off x="8681672" y="209550"/>
            <a:ext cx="302669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2" name="Text 9"/>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 / experiencia</a:t>
            </a:r>
            <a:endParaRPr lang="en-US" sz="552" dirty="0"/>
          </a:p>
        </p:txBody>
      </p:sp>
      <p:sp>
        <p:nvSpPr>
          <p:cNvPr id="13" name="Text 10"/>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Errado / Sin Teléfono</a:t>
            </a:r>
            <a:endParaRPr lang="en-US" sz="576" dirty="0"/>
          </a:p>
        </p:txBody>
      </p:sp>
      <p:sp>
        <p:nvSpPr>
          <p:cNvPr id="15" name="Text 12"/>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6" name="Text 13"/>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7" name="Text 14"/>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CONTACTO EFECTIVO EN ENERO</a:t>
            </a:r>
            <a:endParaRPr lang="en-US" sz="672" dirty="0"/>
          </a:p>
        </p:txBody>
      </p:sp>
      <p:sp>
        <p:nvSpPr>
          <p:cNvPr id="18" name="Text 15"/>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 / No apto</a:t>
            </a:r>
            <a:endParaRPr lang="en-US" sz="576" dirty="0"/>
          </a:p>
        </p:txBody>
      </p:sp>
      <p:sp>
        <p:nvSpPr>
          <p:cNvPr id="19" name="Text 16"/>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0" name="Text 17"/>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1" name="Text 18"/>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2" name="Text 19"/>
          <p:cNvSpPr/>
          <p:nvPr/>
        </p:nvSpPr>
        <p:spPr>
          <a:xfrm>
            <a:off x="6267293" y="43346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3" name="Text 20"/>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GENERADOS</a:t>
            </a:r>
            <a:endParaRPr lang="en-US" sz="672" dirty="0"/>
          </a:p>
        </p:txBody>
      </p:sp>
      <p:sp>
        <p:nvSpPr>
          <p:cNvPr id="24" name="Text 21"/>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INCREMENTALES</a:t>
            </a:r>
            <a:endParaRPr lang="en-US" sz="672" dirty="0"/>
          </a:p>
        </p:txBody>
      </p:sp>
      <p:sp>
        <p:nvSpPr>
          <p:cNvPr id="25" name="Text 22"/>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6" name="Text 23"/>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27" name="Text 24"/>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28" name="Text 25"/>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29" name="Text 26"/>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0" name="Text 27"/>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1" name="Text 28"/>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2" name="Text 29"/>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3" name="Text 30"/>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4" name="Text 31"/>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108.659</a:t>
            </a:r>
            <a:endParaRPr lang="en-US" sz="636" dirty="0"/>
          </a:p>
        </p:txBody>
      </p:sp>
      <p:sp>
        <p:nvSpPr>
          <p:cNvPr id="35" name="Text 32"/>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6" name="Text 33"/>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108.659</a:t>
            </a:r>
            <a:endParaRPr lang="en-US" sz="636" dirty="0"/>
          </a:p>
        </p:txBody>
      </p:sp>
      <p:sp>
        <p:nvSpPr>
          <p:cNvPr id="37" name="Text 34"/>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8" name="Text 35"/>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73.431</a:t>
            </a:r>
            <a:endParaRPr lang="en-US" sz="636" dirty="0"/>
          </a:p>
        </p:txBody>
      </p:sp>
      <p:sp>
        <p:nvSpPr>
          <p:cNvPr id="39" name="Text 36"/>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67,6 %</a:t>
            </a:r>
            <a:endParaRPr lang="en-US" sz="636" dirty="0"/>
          </a:p>
        </p:txBody>
      </p:sp>
      <p:sp>
        <p:nvSpPr>
          <p:cNvPr id="40" name="Text 37"/>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73.431</a:t>
            </a:r>
            <a:endParaRPr lang="en-US" sz="636" dirty="0"/>
          </a:p>
        </p:txBody>
      </p:sp>
      <p:sp>
        <p:nvSpPr>
          <p:cNvPr id="41" name="Text 38"/>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67,6 %</a:t>
            </a:r>
            <a:endParaRPr lang="en-US" sz="636" dirty="0"/>
          </a:p>
        </p:txBody>
      </p:sp>
      <p:sp>
        <p:nvSpPr>
          <p:cNvPr id="42" name="Text 39"/>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3" name="Text 40"/>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43.210</a:t>
            </a:r>
            <a:endParaRPr lang="en-US" sz="576" dirty="0"/>
          </a:p>
        </p:txBody>
      </p:sp>
      <p:sp>
        <p:nvSpPr>
          <p:cNvPr id="44" name="Text 41"/>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43.210</a:t>
            </a:r>
            <a:endParaRPr lang="en-US" sz="576" dirty="0"/>
          </a:p>
        </p:txBody>
      </p:sp>
      <p:sp>
        <p:nvSpPr>
          <p:cNvPr id="45" name="Text 42"/>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22.105</a:t>
            </a:r>
            <a:endParaRPr lang="en-US" sz="576" dirty="0"/>
          </a:p>
        </p:txBody>
      </p:sp>
      <p:sp>
        <p:nvSpPr>
          <p:cNvPr id="46" name="Text 43"/>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22.105</a:t>
            </a:r>
            <a:endParaRPr lang="en-US" sz="576" dirty="0"/>
          </a:p>
        </p:txBody>
      </p:sp>
      <p:sp>
        <p:nvSpPr>
          <p:cNvPr id="47" name="Text 44"/>
          <p:cNvSpPr/>
          <p:nvPr/>
        </p:nvSpPr>
        <p:spPr>
          <a:xfrm>
            <a:off x="2329400" y="40679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48" name="Text 45"/>
          <p:cNvSpPr/>
          <p:nvPr/>
        </p:nvSpPr>
        <p:spPr>
          <a:xfrm>
            <a:off x="5226118" y="40679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49" name="Text 46"/>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0" name="Text 47"/>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35.228</a:t>
            </a:r>
            <a:endParaRPr lang="en-US" sz="636" dirty="0"/>
          </a:p>
        </p:txBody>
      </p:sp>
      <p:sp>
        <p:nvSpPr>
          <p:cNvPr id="51" name="Text 48"/>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52" name="Text 49"/>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35.228</a:t>
            </a:r>
            <a:endParaRPr lang="en-US" sz="636" dirty="0"/>
          </a:p>
        </p:txBody>
      </p:sp>
      <p:sp>
        <p:nvSpPr>
          <p:cNvPr id="53" name="Text 50"/>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18,6 %</a:t>
            </a:r>
            <a:endParaRPr lang="en-US" sz="636" dirty="0"/>
          </a:p>
        </p:txBody>
      </p:sp>
      <p:sp>
        <p:nvSpPr>
          <p:cNvPr id="54" name="Text 51"/>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55" name="Text 52"/>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56" name="Text 53"/>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22.104</a:t>
            </a:r>
            <a:endParaRPr lang="en-US" sz="552" dirty="0"/>
          </a:p>
        </p:txBody>
      </p:sp>
      <p:sp>
        <p:nvSpPr>
          <p:cNvPr id="57" name="Text 54"/>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22.104</a:t>
            </a:r>
            <a:endParaRPr lang="en-US" sz="552" dirty="0"/>
          </a:p>
        </p:txBody>
      </p:sp>
      <p:sp>
        <p:nvSpPr>
          <p:cNvPr id="58" name="Text 55"/>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59" name="Text 56"/>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60" name="Text 57"/>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1" name="Text 58"/>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2" name="Text 59"/>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3" name="Text 60"/>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4" name="Text 61"/>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5" name="Text 62"/>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66" name="Text 63"/>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4.120</a:t>
            </a:r>
            <a:endParaRPr lang="en-US" sz="576" dirty="0"/>
          </a:p>
        </p:txBody>
      </p:sp>
      <p:sp>
        <p:nvSpPr>
          <p:cNvPr id="67" name="Text 64"/>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4.120</a:t>
            </a:r>
            <a:endParaRPr lang="en-US" sz="576" dirty="0"/>
          </a:p>
        </p:txBody>
      </p:sp>
      <p:sp>
        <p:nvSpPr>
          <p:cNvPr id="68" name="Text 65"/>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2.980</a:t>
            </a:r>
            <a:endParaRPr lang="en-US" sz="576" dirty="0"/>
          </a:p>
        </p:txBody>
      </p:sp>
      <p:sp>
        <p:nvSpPr>
          <p:cNvPr id="69" name="Text 66"/>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2.980</a:t>
            </a:r>
            <a:endParaRPr lang="en-US" sz="576" dirty="0"/>
          </a:p>
        </p:txBody>
      </p:sp>
      <p:sp>
        <p:nvSpPr>
          <p:cNvPr id="70" name="Text 67"/>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1.016</a:t>
            </a:r>
            <a:endParaRPr lang="en-US" sz="576" dirty="0"/>
          </a:p>
        </p:txBody>
      </p:sp>
      <p:sp>
        <p:nvSpPr>
          <p:cNvPr id="71" name="Text 68"/>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1.016</a:t>
            </a:r>
            <a:endParaRPr lang="en-US" sz="576" dirty="0"/>
          </a:p>
        </p:txBody>
      </p:sp>
      <p:sp>
        <p:nvSpPr>
          <p:cNvPr id="72" name="Text 69"/>
          <p:cNvSpPr/>
          <p:nvPr/>
        </p:nvSpPr>
        <p:spPr>
          <a:xfrm>
            <a:off x="504812" y="40679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3" name="Text 70"/>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4" name="Text 71"/>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75" name="Text 72"/>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1,2 %</a:t>
            </a:r>
            <a:endParaRPr lang="en-US" sz="636" dirty="0"/>
          </a:p>
        </p:txBody>
      </p:sp>
      <p:sp>
        <p:nvSpPr>
          <p:cNvPr id="76" name="Text 73"/>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77" name="Text 74"/>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78" name="Text 75"/>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9" name="Text 76"/>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80" name="Text 77"/>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1,2 %</a:t>
            </a:r>
            <a:endParaRPr lang="en-US" sz="636" dirty="0"/>
          </a:p>
        </p:txBody>
      </p:sp>
      <p:sp>
        <p:nvSpPr>
          <p:cNvPr id="81" name="Text 78"/>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2" name="Text 79"/>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3" name="Text 80"/>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4" name="Text 81"/>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3.210</a:t>
            </a:r>
            <a:endParaRPr lang="en-US" sz="552" dirty="0"/>
          </a:p>
        </p:txBody>
      </p:sp>
      <p:sp>
        <p:nvSpPr>
          <p:cNvPr id="85" name="Text 82"/>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3.210</a:t>
            </a:r>
            <a:endParaRPr lang="en-US" sz="552" dirty="0"/>
          </a:p>
        </p:txBody>
      </p:sp>
      <p:sp>
        <p:nvSpPr>
          <p:cNvPr id="86" name="Text 83"/>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1.845</a:t>
            </a:r>
            <a:endParaRPr lang="en-US" sz="552" dirty="0"/>
          </a:p>
        </p:txBody>
      </p:sp>
      <p:sp>
        <p:nvSpPr>
          <p:cNvPr id="87" name="Text 84"/>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1.845</a:t>
            </a:r>
            <a:endParaRPr lang="en-US" sz="552" dirty="0"/>
          </a:p>
        </p:txBody>
      </p:sp>
      <p:sp>
        <p:nvSpPr>
          <p:cNvPr id="88" name="Text 85"/>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1.402</a:t>
            </a:r>
            <a:endParaRPr lang="en-US" sz="552" dirty="0"/>
          </a:p>
        </p:txBody>
      </p:sp>
      <p:sp>
        <p:nvSpPr>
          <p:cNvPr id="89" name="Text 86"/>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1.402</a:t>
            </a:r>
            <a:endParaRPr lang="en-US" sz="552" dirty="0"/>
          </a:p>
        </p:txBody>
      </p:sp>
      <p:sp>
        <p:nvSpPr>
          <p:cNvPr id="90" name="Text 87"/>
          <p:cNvSpPr/>
          <p:nvPr/>
        </p:nvSpPr>
        <p:spPr>
          <a:xfrm>
            <a:off x="8091881" y="43346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6.588</a:t>
            </a:r>
            <a:endParaRPr lang="en-US" sz="552" dirty="0"/>
          </a:p>
        </p:txBody>
      </p:sp>
      <p:sp>
        <p:nvSpPr>
          <p:cNvPr id="91" name="Text 88"/>
          <p:cNvSpPr/>
          <p:nvPr/>
        </p:nvSpPr>
        <p:spPr>
          <a:xfrm>
            <a:off x="10988599" y="43346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6.588</a:t>
            </a:r>
            <a:endParaRPr lang="en-US" sz="552" dirty="0"/>
          </a:p>
        </p:txBody>
      </p:sp>
      <p:sp>
        <p:nvSpPr>
          <p:cNvPr id="92" name="Text 89"/>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3" name="Text 90"/>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4" name="Text 91"/>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5" name="Text 92"/>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96" name="Text 93"/>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97" name="Text 94"/>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98" name="Text 95"/>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99" name="Text 96"/>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0" name="Text 97"/>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1" name="Text 98"/>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2" name="Text 99"/>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3" name="Text 100"/>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4" name="Text 101"/>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5" name="Text 102"/>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06" name="Text 103"/>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7" name="Text 104"/>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8" name="Text 105"/>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79</a:t>
            </a:r>
            <a:endParaRPr lang="en-US" sz="636" dirty="0"/>
          </a:p>
        </p:txBody>
      </p:sp>
      <p:sp>
        <p:nvSpPr>
          <p:cNvPr id="109" name="Text 106"/>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79</a:t>
            </a:r>
            <a:endParaRPr lang="en-US" sz="636" dirty="0"/>
          </a:p>
        </p:txBody>
      </p:sp>
      <p:sp>
        <p:nvSpPr>
          <p:cNvPr id="110" name="Text 107"/>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79</a:t>
            </a:r>
            <a:endParaRPr lang="en-US" sz="552" dirty="0"/>
          </a:p>
        </p:txBody>
      </p:sp>
      <p:sp>
        <p:nvSpPr>
          <p:cNvPr id="111" name="Text 108"/>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79</a:t>
            </a:r>
            <a:endParaRPr lang="en-US" sz="552" dirty="0"/>
          </a:p>
        </p:txBody>
      </p:sp>
      <p:sp>
        <p:nvSpPr>
          <p:cNvPr id="112" name="Text 109"/>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Muestra una contactabilidad excelente () y una conversión sobre contacto muy alta ().</a:t>
            </a:r>
            <a:endParaRPr lang="en-US" sz="744" dirty="0"/>
          </a:p>
        </p:txBody>
      </p:sp>
      <p:sp>
        <p:nvSpPr>
          <p:cNvPr id="4" name="Text 1"/>
          <p:cNvSpPr/>
          <p:nvPr/>
        </p:nvSpPr>
        <p:spPr>
          <a:xfrm>
            <a:off x="685783" y="5869335"/>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 el , consolidándose como un canal de gran eficiencia a menor escala.</a:t>
            </a:r>
            <a:endParaRPr lang="en-US" sz="744" dirty="0"/>
          </a:p>
        </p:txBody>
      </p:sp>
      <p:sp>
        <p:nvSpPr>
          <p:cNvPr id="5" name="Text 2"/>
          <p:cNvSpPr/>
          <p:nvPr/>
        </p:nvSpPr>
        <p:spPr>
          <a:xfrm>
            <a:off x="685783" y="5576441"/>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La campaña Microseguro tiene un  porque es base ultra-filtrada.</a:t>
            </a:r>
            <a:endParaRPr lang="en-US" sz="744" dirty="0"/>
          </a:p>
        </p:txBody>
      </p:sp>
      <p:sp>
        <p:nvSpPr>
          <p:cNvPr id="6" name="Text 3"/>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tasa de efectividad comercial en portafolio</a:t>
            </a:r>
            <a:endParaRPr lang="en-US" sz="648" dirty="0"/>
          </a:p>
        </p:txBody>
      </p:sp>
      <p:sp>
        <p:nvSpPr>
          <p:cNvPr id="7" name="Text 4"/>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 / Ya Posee el Producto</a:t>
            </a:r>
            <a:endParaRPr lang="en-US" sz="576" dirty="0"/>
          </a:p>
        </p:txBody>
      </p:sp>
      <p:sp>
        <p:nvSpPr>
          <p:cNvPr id="8" name="Text 5"/>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Excelente respuesta de llamada y atención</a:t>
            </a:r>
            <a:endParaRPr lang="en-US" sz="648" dirty="0"/>
          </a:p>
        </p:txBody>
      </p:sp>
      <p:sp>
        <p:nvSpPr>
          <p:cNvPr id="9" name="Text 6"/>
          <p:cNvSpPr/>
          <p:nvPr/>
        </p:nvSpPr>
        <p:spPr>
          <a:xfrm>
            <a:off x="1213514" y="219075"/>
            <a:ext cx="3548030"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0" name="Text 7"/>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cumple requisito de edad (&gt;69 años)</a:t>
            </a:r>
            <a:endParaRPr lang="en-US" sz="552" dirty="0"/>
          </a:p>
        </p:txBody>
      </p:sp>
      <p:sp>
        <p:nvSpPr>
          <p:cNvPr id="11" name="Text 8"/>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2" name="Text 9"/>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Campaña estable y altamente rentable</a:t>
            </a:r>
            <a:endParaRPr lang="en-US" sz="648" dirty="0"/>
          </a:p>
        </p:txBody>
      </p:sp>
      <p:sp>
        <p:nvSpPr>
          <p:cNvPr id="13" name="Text 10"/>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5" name="Text 12"/>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6" name="Text 13"/>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17" name="Text 14"/>
          <p:cNvSpPr/>
          <p:nvPr/>
        </p:nvSpPr>
        <p:spPr>
          <a:xfrm>
            <a:off x="9287536" y="209550"/>
            <a:ext cx="240265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18" name="Text 15"/>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19" name="Text 16"/>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0" name="Text 17"/>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1" name="Text 18"/>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2" name="Text 19"/>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3" name="Text 20"/>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4" name="Text 21"/>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5" name="Text 22"/>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6" name="Text 23"/>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7" name="Text 24"/>
          <p:cNvSpPr/>
          <p:nvPr/>
        </p:nvSpPr>
        <p:spPr>
          <a:xfrm>
            <a:off x="6267293" y="500139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28" name="Text 25"/>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29" name="Text 26"/>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0" name="Text 27"/>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1" name="Text 28"/>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2" name="Text 29"/>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3" name="Text 30"/>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4" name="Text 31"/>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5" name="Text 32"/>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6" name="Text 33"/>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7" name="Text 34"/>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8" name="Text 35"/>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9" name="Text 36"/>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0" name="Text 37"/>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1" name="Text 38"/>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87,9 %</a:t>
            </a:r>
            <a:endParaRPr lang="en-US" sz="636" dirty="0"/>
          </a:p>
        </p:txBody>
      </p:sp>
      <p:sp>
        <p:nvSpPr>
          <p:cNvPr id="42" name="Text 39"/>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22,0 %</a:t>
            </a:r>
            <a:endParaRPr lang="en-US" sz="636" dirty="0"/>
          </a:p>
        </p:txBody>
      </p:sp>
      <p:sp>
        <p:nvSpPr>
          <p:cNvPr id="43" name="Text 40"/>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85,2 %</a:t>
            </a:r>
            <a:endParaRPr lang="en-US" sz="636" dirty="0"/>
          </a:p>
        </p:txBody>
      </p:sp>
      <p:sp>
        <p:nvSpPr>
          <p:cNvPr id="44" name="Text 41"/>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19,0 %</a:t>
            </a:r>
            <a:endParaRPr lang="en-US" sz="636" dirty="0"/>
          </a:p>
        </p:txBody>
      </p:sp>
      <p:sp>
        <p:nvSpPr>
          <p:cNvPr id="45" name="Text 42"/>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78,9 %</a:t>
            </a:r>
            <a:endParaRPr lang="en-US" sz="636" dirty="0"/>
          </a:p>
        </p:txBody>
      </p:sp>
      <p:sp>
        <p:nvSpPr>
          <p:cNvPr id="46" name="Text 43"/>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17,5 %</a:t>
            </a:r>
            <a:endParaRPr lang="en-US" sz="636" dirty="0"/>
          </a:p>
        </p:txBody>
      </p:sp>
      <p:sp>
        <p:nvSpPr>
          <p:cNvPr id="47" name="Text 44"/>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50,0 %</a:t>
            </a:r>
            <a:endParaRPr lang="en-US" sz="636" dirty="0"/>
          </a:p>
        </p:txBody>
      </p:sp>
      <p:sp>
        <p:nvSpPr>
          <p:cNvPr id="48" name="Text 45"/>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15,6 %</a:t>
            </a:r>
            <a:endParaRPr lang="en-US" sz="636" dirty="0"/>
          </a:p>
        </p:txBody>
      </p:sp>
      <p:sp>
        <p:nvSpPr>
          <p:cNvPr id="49" name="Text 46"/>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86,8 %</a:t>
            </a:r>
            <a:endParaRPr lang="en-US" sz="636" dirty="0"/>
          </a:p>
        </p:txBody>
      </p:sp>
      <p:sp>
        <p:nvSpPr>
          <p:cNvPr id="50" name="Text 47"/>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17,8 %</a:t>
            </a:r>
            <a:endParaRPr lang="en-US" sz="636" dirty="0"/>
          </a:p>
        </p:txBody>
      </p:sp>
      <p:sp>
        <p:nvSpPr>
          <p:cNvPr id="51" name="Text 48"/>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86,7 %</a:t>
            </a:r>
            <a:endParaRPr lang="en-US" sz="636" dirty="0"/>
          </a:p>
        </p:txBody>
      </p:sp>
      <p:sp>
        <p:nvSpPr>
          <p:cNvPr id="52" name="Text 49"/>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14,3 %</a:t>
            </a:r>
            <a:endParaRPr lang="en-US" sz="636" dirty="0"/>
          </a:p>
        </p:txBody>
      </p:sp>
      <p:sp>
        <p:nvSpPr>
          <p:cNvPr id="53" name="Text 50"/>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78,9 %</a:t>
            </a:r>
            <a:endParaRPr lang="en-US" sz="636" dirty="0"/>
          </a:p>
        </p:txBody>
      </p:sp>
      <p:sp>
        <p:nvSpPr>
          <p:cNvPr id="54" name="Text 51"/>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17,7 %</a:t>
            </a:r>
            <a:endParaRPr lang="en-US" sz="636" dirty="0"/>
          </a:p>
        </p:txBody>
      </p:sp>
      <p:sp>
        <p:nvSpPr>
          <p:cNvPr id="55" name="Text 52"/>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56" name="Text 53"/>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57" name="Text 54"/>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8" name="Text 55"/>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1.368</a:t>
            </a:r>
            <a:endParaRPr lang="en-US" sz="636" dirty="0"/>
          </a:p>
        </p:txBody>
      </p:sp>
      <p:sp>
        <p:nvSpPr>
          <p:cNvPr id="59" name="Text 56"/>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60" name="Text 57"/>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1.575</a:t>
            </a:r>
            <a:endParaRPr lang="en-US" sz="636" dirty="0"/>
          </a:p>
        </p:txBody>
      </p:sp>
      <p:sp>
        <p:nvSpPr>
          <p:cNvPr id="61" name="Text 58"/>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2" name="Text 59"/>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3" name="Text 60"/>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1.147</a:t>
            </a:r>
            <a:endParaRPr lang="en-US" sz="636" dirty="0"/>
          </a:p>
        </p:txBody>
      </p:sp>
      <p:sp>
        <p:nvSpPr>
          <p:cNvPr id="64" name="Text 61"/>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5" name="Text 62"/>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6" name="Text 63"/>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1.737</a:t>
            </a:r>
            <a:endParaRPr lang="en-US" sz="636" dirty="0"/>
          </a:p>
        </p:txBody>
      </p:sp>
      <p:sp>
        <p:nvSpPr>
          <p:cNvPr id="67" name="Text 64"/>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68" name="Text 65"/>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1.865</a:t>
            </a:r>
            <a:endParaRPr lang="en-US" sz="636" dirty="0"/>
          </a:p>
        </p:txBody>
      </p:sp>
      <p:sp>
        <p:nvSpPr>
          <p:cNvPr id="69" name="Text 66"/>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0,2 %</a:t>
            </a:r>
            <a:endParaRPr lang="en-US" sz="636" dirty="0"/>
          </a:p>
        </p:txBody>
      </p:sp>
      <p:sp>
        <p:nvSpPr>
          <p:cNvPr id="70" name="Text 67"/>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1" name="Text 68"/>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1.705</a:t>
            </a:r>
            <a:endParaRPr lang="en-US" sz="636" dirty="0"/>
          </a:p>
        </p:txBody>
      </p:sp>
      <p:sp>
        <p:nvSpPr>
          <p:cNvPr id="72" name="Text 69"/>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3" name="Text 70"/>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74" name="Text 71"/>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9.397</a:t>
            </a:r>
            <a:endParaRPr lang="en-US" sz="636" dirty="0"/>
          </a:p>
        </p:txBody>
      </p:sp>
      <p:sp>
        <p:nvSpPr>
          <p:cNvPr id="75" name="Text 72"/>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0,2 %</a:t>
            </a:r>
            <a:endParaRPr lang="en-US" sz="636" dirty="0"/>
          </a:p>
        </p:txBody>
      </p:sp>
      <p:sp>
        <p:nvSpPr>
          <p:cNvPr id="76" name="Text 73"/>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7" name="Text 74"/>
          <p:cNvSpPr/>
          <p:nvPr/>
        </p:nvSpPr>
        <p:spPr>
          <a:xfrm>
            <a:off x="504812" y="38012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8" name="Text 75"/>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9" name="Text 76"/>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80" name="Text 77"/>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1.363</a:t>
            </a:r>
            <a:endParaRPr lang="en-US" sz="636" dirty="0"/>
          </a:p>
        </p:txBody>
      </p:sp>
      <p:sp>
        <p:nvSpPr>
          <p:cNvPr id="81" name="Text 78"/>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1.571</a:t>
            </a:r>
            <a:endParaRPr lang="en-US" sz="636" dirty="0"/>
          </a:p>
        </p:txBody>
      </p:sp>
      <p:sp>
        <p:nvSpPr>
          <p:cNvPr id="82" name="Text 79"/>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3" name="Text 80"/>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1.143</a:t>
            </a:r>
            <a:endParaRPr lang="en-US" sz="636" dirty="0"/>
          </a:p>
        </p:txBody>
      </p:sp>
      <p:sp>
        <p:nvSpPr>
          <p:cNvPr id="84" name="Text 81"/>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5" name="Text 82"/>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1.735</a:t>
            </a:r>
            <a:endParaRPr lang="en-US" sz="636" dirty="0"/>
          </a:p>
        </p:txBody>
      </p:sp>
      <p:sp>
        <p:nvSpPr>
          <p:cNvPr id="86" name="Text 83"/>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1.862</a:t>
            </a:r>
            <a:endParaRPr lang="en-US" sz="636" dirty="0"/>
          </a:p>
        </p:txBody>
      </p:sp>
      <p:sp>
        <p:nvSpPr>
          <p:cNvPr id="87" name="Text 84"/>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88" name="Text 85"/>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1.704</a:t>
            </a:r>
            <a:endParaRPr lang="en-US" sz="636" dirty="0"/>
          </a:p>
        </p:txBody>
      </p:sp>
      <p:sp>
        <p:nvSpPr>
          <p:cNvPr id="89" name="Text 86"/>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90" name="Text 87"/>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9.378</a:t>
            </a:r>
            <a:endParaRPr lang="en-US" sz="636" dirty="0"/>
          </a:p>
        </p:txBody>
      </p:sp>
      <p:sp>
        <p:nvSpPr>
          <p:cNvPr id="91" name="Text 88"/>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1.309</a:t>
            </a:r>
            <a:endParaRPr lang="en-US" sz="636" dirty="0"/>
          </a:p>
        </p:txBody>
      </p:sp>
      <p:sp>
        <p:nvSpPr>
          <p:cNvPr id="92" name="Text 89"/>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93" name="Text 90"/>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1.076</a:t>
            </a:r>
            <a:endParaRPr lang="en-US" sz="552" dirty="0"/>
          </a:p>
        </p:txBody>
      </p:sp>
      <p:sp>
        <p:nvSpPr>
          <p:cNvPr id="94" name="Text 91"/>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1.240</a:t>
            </a:r>
            <a:endParaRPr lang="en-US" sz="552" dirty="0"/>
          </a:p>
        </p:txBody>
      </p:sp>
      <p:sp>
        <p:nvSpPr>
          <p:cNvPr id="95" name="Text 92"/>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1.369</a:t>
            </a:r>
            <a:endParaRPr lang="en-US" sz="552" dirty="0"/>
          </a:p>
        </p:txBody>
      </p:sp>
      <p:sp>
        <p:nvSpPr>
          <p:cNvPr id="96" name="Text 93"/>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1.468</a:t>
            </a:r>
            <a:endParaRPr lang="en-US" sz="552" dirty="0"/>
          </a:p>
        </p:txBody>
      </p:sp>
      <p:sp>
        <p:nvSpPr>
          <p:cNvPr id="97" name="Text 94"/>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1.345</a:t>
            </a:r>
            <a:endParaRPr lang="en-US" sz="552" dirty="0"/>
          </a:p>
        </p:txBody>
      </p:sp>
      <p:sp>
        <p:nvSpPr>
          <p:cNvPr id="98" name="Text 95"/>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7.400</a:t>
            </a:r>
            <a:endParaRPr lang="en-US" sz="552" dirty="0"/>
          </a:p>
        </p:txBody>
      </p:sp>
      <p:sp>
        <p:nvSpPr>
          <p:cNvPr id="99" name="Text 96"/>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1.309</a:t>
            </a:r>
            <a:endParaRPr lang="en-US" sz="552" dirty="0"/>
          </a:p>
        </p:txBody>
      </p:sp>
      <p:sp>
        <p:nvSpPr>
          <p:cNvPr id="100" name="Text 97"/>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2.508</a:t>
            </a:r>
            <a:endParaRPr lang="en-US" sz="552" dirty="0"/>
          </a:p>
        </p:txBody>
      </p:sp>
      <p:sp>
        <p:nvSpPr>
          <p:cNvPr id="101" name="Text 98"/>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1.008</a:t>
            </a:r>
            <a:endParaRPr lang="en-US" sz="552" dirty="0"/>
          </a:p>
        </p:txBody>
      </p:sp>
      <p:sp>
        <p:nvSpPr>
          <p:cNvPr id="102" name="Text 99"/>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1.978</a:t>
            </a:r>
            <a:endParaRPr lang="en-US" sz="552" dirty="0"/>
          </a:p>
        </p:txBody>
      </p:sp>
      <p:sp>
        <p:nvSpPr>
          <p:cNvPr id="103" name="Text 100"/>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1.244</a:t>
            </a:r>
            <a:endParaRPr lang="en-US" sz="552" dirty="0"/>
          </a:p>
        </p:txBody>
      </p:sp>
      <p:sp>
        <p:nvSpPr>
          <p:cNvPr id="104" name="Text 101"/>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105" name="Text 102"/>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06" name="Text 103"/>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07" name="Text 104"/>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8" name="Text 105"/>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9" name="Text 106"/>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10" name="Text 107"/>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11" name="Text 108"/>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2" name="Text 109"/>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3" name="Text 110"/>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4" name="Text 111"/>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5" name="Text 112"/>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264</a:t>
            </a:r>
            <a:endParaRPr lang="en-US" sz="636" dirty="0"/>
          </a:p>
        </p:txBody>
      </p:sp>
      <p:sp>
        <p:nvSpPr>
          <p:cNvPr id="116" name="Text 113"/>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254</a:t>
            </a:r>
            <a:endParaRPr lang="en-US" sz="636" dirty="0"/>
          </a:p>
        </p:txBody>
      </p:sp>
      <p:sp>
        <p:nvSpPr>
          <p:cNvPr id="117" name="Text 114"/>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158</a:t>
            </a:r>
            <a:endParaRPr lang="en-US" sz="636" dirty="0"/>
          </a:p>
        </p:txBody>
      </p:sp>
      <p:sp>
        <p:nvSpPr>
          <p:cNvPr id="118" name="Text 115"/>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135</a:t>
            </a:r>
            <a:endParaRPr lang="en-US" sz="636" dirty="0"/>
          </a:p>
        </p:txBody>
      </p:sp>
      <p:sp>
        <p:nvSpPr>
          <p:cNvPr id="119" name="Text 116"/>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287</a:t>
            </a:r>
            <a:endParaRPr lang="en-US" sz="636" dirty="0"/>
          </a:p>
        </p:txBody>
      </p:sp>
      <p:sp>
        <p:nvSpPr>
          <p:cNvPr id="120" name="Text 117"/>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211</a:t>
            </a:r>
            <a:endParaRPr lang="en-US" sz="636" dirty="0"/>
          </a:p>
        </p:txBody>
      </p:sp>
      <p:sp>
        <p:nvSpPr>
          <p:cNvPr id="121" name="Text 118"/>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22" name="Text 119"/>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23" name="Text 120"/>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24" name="Text 121"/>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25" name="Text 122"/>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26" name="Text 123"/>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27" name="Text 124"/>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902</a:t>
            </a:r>
            <a:endParaRPr lang="en-US" sz="552" dirty="0"/>
          </a:p>
        </p:txBody>
      </p:sp>
      <p:sp>
        <p:nvSpPr>
          <p:cNvPr id="128" name="Text 125"/>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190</a:t>
            </a:r>
            <a:endParaRPr lang="en-US" sz="552" dirty="0"/>
          </a:p>
        </p:txBody>
      </p:sp>
      <p:sp>
        <p:nvSpPr>
          <p:cNvPr id="129" name="Text 126"/>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219</a:t>
            </a:r>
            <a:endParaRPr lang="en-US" sz="552" dirty="0"/>
          </a:p>
        </p:txBody>
      </p:sp>
      <p:sp>
        <p:nvSpPr>
          <p:cNvPr id="130" name="Text 127"/>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131" name="Text 128"/>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242</a:t>
            </a:r>
            <a:endParaRPr lang="en-US" sz="552" dirty="0"/>
          </a:p>
        </p:txBody>
      </p:sp>
      <p:sp>
        <p:nvSpPr>
          <p:cNvPr id="132" name="Text 129"/>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260</a:t>
            </a:r>
            <a:endParaRPr lang="en-US" sz="552" dirty="0"/>
          </a:p>
        </p:txBody>
      </p:sp>
      <p:sp>
        <p:nvSpPr>
          <p:cNvPr id="133" name="Text 130"/>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238</a:t>
            </a:r>
            <a:endParaRPr lang="en-US" sz="552" dirty="0"/>
          </a:p>
        </p:txBody>
      </p:sp>
      <p:sp>
        <p:nvSpPr>
          <p:cNvPr id="134" name="Text 131"/>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135" name="Text 132"/>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136" name="Text 133"/>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306</a:t>
            </a:r>
            <a:endParaRPr lang="en-US" sz="552" dirty="0"/>
          </a:p>
        </p:txBody>
      </p:sp>
      <p:sp>
        <p:nvSpPr>
          <p:cNvPr id="137" name="Text 134"/>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138" name="Text 135"/>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139" name="Text 136"/>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140" name="Text 137"/>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41" name="Text 138"/>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157</a:t>
            </a:r>
            <a:endParaRPr lang="en-US" sz="552" dirty="0"/>
          </a:p>
        </p:txBody>
      </p:sp>
      <p:sp>
        <p:nvSpPr>
          <p:cNvPr id="142" name="Text 139"/>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a:t>
            </a:r>
            <a:endParaRPr lang="en-US" sz="552" dirty="0"/>
          </a:p>
        </p:txBody>
      </p:sp>
      <p:sp>
        <p:nvSpPr>
          <p:cNvPr id="143" name="Text 140"/>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174</a:t>
            </a:r>
            <a:endParaRPr lang="en-US" sz="552" dirty="0"/>
          </a:p>
        </p:txBody>
      </p:sp>
      <p:sp>
        <p:nvSpPr>
          <p:cNvPr id="144" name="Text 141"/>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187</a:t>
            </a:r>
            <a:endParaRPr lang="en-US" sz="552" dirty="0"/>
          </a:p>
        </p:txBody>
      </p:sp>
      <p:sp>
        <p:nvSpPr>
          <p:cNvPr id="145" name="Text 142"/>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171</a:t>
            </a:r>
            <a:endParaRPr lang="en-US" sz="552" dirty="0"/>
          </a:p>
        </p:txBody>
      </p:sp>
      <p:sp>
        <p:nvSpPr>
          <p:cNvPr id="146" name="Text 143"/>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939</a:t>
            </a:r>
            <a:endParaRPr lang="en-US" sz="552" dirty="0"/>
          </a:p>
        </p:txBody>
      </p:sp>
      <p:sp>
        <p:nvSpPr>
          <p:cNvPr id="147" name="Text 144"/>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a:t>
            </a:r>
            <a:endParaRPr lang="en-US" sz="552" dirty="0"/>
          </a:p>
        </p:txBody>
      </p:sp>
      <p:sp>
        <p:nvSpPr>
          <p:cNvPr id="148" name="Text 145"/>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125</a:t>
            </a:r>
            <a:endParaRPr lang="en-US" sz="552" dirty="0"/>
          </a:p>
        </p:txBody>
      </p:sp>
      <p:sp>
        <p:nvSpPr>
          <p:cNvPr id="149" name="Text 146"/>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138</a:t>
            </a:r>
            <a:endParaRPr lang="en-US" sz="552" dirty="0"/>
          </a:p>
        </p:txBody>
      </p:sp>
      <p:sp>
        <p:nvSpPr>
          <p:cNvPr id="150" name="Text 147"/>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151" name="Text 148"/>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52" name="Text 149"/>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746</a:t>
            </a:r>
            <a:endParaRPr lang="en-US" sz="552" dirty="0"/>
          </a:p>
        </p:txBody>
      </p:sp>
      <p:sp>
        <p:nvSpPr>
          <p:cNvPr id="153" name="Text 150"/>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100</a:t>
            </a:r>
            <a:endParaRPr lang="en-US" sz="552" dirty="0"/>
          </a:p>
        </p:txBody>
      </p:sp>
      <p:sp>
        <p:nvSpPr>
          <p:cNvPr id="154" name="Text 151"/>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505</a:t>
            </a:r>
            <a:endParaRPr lang="en-US" sz="552" dirty="0"/>
          </a:p>
        </p:txBody>
      </p:sp>
      <p:sp>
        <p:nvSpPr>
          <p:cNvPr id="155" name="Text 152"/>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386</a:t>
            </a:r>
            <a:endParaRPr lang="en-US" sz="552" dirty="0"/>
          </a:p>
        </p:txBody>
      </p:sp>
      <p:sp>
        <p:nvSpPr>
          <p:cNvPr id="156" name="Text 153"/>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147</a:t>
            </a:r>
            <a:endParaRPr lang="en-US" sz="552" dirty="0"/>
          </a:p>
        </p:txBody>
      </p:sp>
      <p:sp>
        <p:nvSpPr>
          <p:cNvPr id="157" name="Text 154"/>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169</a:t>
            </a:r>
            <a:endParaRPr lang="en-US" sz="552" dirty="0"/>
          </a:p>
        </p:txBody>
      </p:sp>
      <p:sp>
        <p:nvSpPr>
          <p:cNvPr id="158" name="Text 155"/>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123</a:t>
            </a:r>
            <a:endParaRPr lang="en-US" sz="552" dirty="0"/>
          </a:p>
        </p:txBody>
      </p:sp>
      <p:sp>
        <p:nvSpPr>
          <p:cNvPr id="159" name="Text 156"/>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186</a:t>
            </a:r>
            <a:endParaRPr lang="en-US" sz="552" dirty="0"/>
          </a:p>
        </p:txBody>
      </p:sp>
      <p:sp>
        <p:nvSpPr>
          <p:cNvPr id="160" name="Text 157"/>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200</a:t>
            </a:r>
            <a:endParaRPr lang="en-US" sz="552" dirty="0"/>
          </a:p>
        </p:txBody>
      </p:sp>
      <p:sp>
        <p:nvSpPr>
          <p:cNvPr id="161" name="Text 158"/>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183</a:t>
            </a:r>
            <a:endParaRPr lang="en-US" sz="552" dirty="0"/>
          </a:p>
        </p:txBody>
      </p:sp>
      <p:sp>
        <p:nvSpPr>
          <p:cNvPr id="162" name="Text 159"/>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287</a:t>
            </a:r>
            <a:endParaRPr lang="en-US" sz="552" dirty="0"/>
          </a:p>
        </p:txBody>
      </p:sp>
      <p:sp>
        <p:nvSpPr>
          <p:cNvPr id="163" name="Text 160"/>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331</a:t>
            </a:r>
            <a:endParaRPr lang="en-US" sz="552" dirty="0"/>
          </a:p>
        </p:txBody>
      </p:sp>
      <p:sp>
        <p:nvSpPr>
          <p:cNvPr id="164" name="Text 161"/>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241</a:t>
            </a:r>
            <a:endParaRPr lang="en-US" sz="552" dirty="0"/>
          </a:p>
        </p:txBody>
      </p:sp>
      <p:sp>
        <p:nvSpPr>
          <p:cNvPr id="165" name="Text 162"/>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366</a:t>
            </a:r>
            <a:endParaRPr lang="en-US" sz="552" dirty="0"/>
          </a:p>
        </p:txBody>
      </p:sp>
      <p:sp>
        <p:nvSpPr>
          <p:cNvPr id="166" name="Text 163"/>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394</a:t>
            </a:r>
            <a:endParaRPr lang="en-US" sz="552" dirty="0"/>
          </a:p>
        </p:txBody>
      </p:sp>
      <p:sp>
        <p:nvSpPr>
          <p:cNvPr id="167" name="Text 164"/>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359</a:t>
            </a:r>
            <a:endParaRPr lang="en-US" sz="552" dirty="0"/>
          </a:p>
        </p:txBody>
      </p:sp>
      <p:sp>
        <p:nvSpPr>
          <p:cNvPr id="168" name="Text 165"/>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181</a:t>
            </a:r>
            <a:endParaRPr lang="en-US" sz="552" dirty="0"/>
          </a:p>
        </p:txBody>
      </p:sp>
      <p:sp>
        <p:nvSpPr>
          <p:cNvPr id="169" name="Text 166"/>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208</a:t>
            </a:r>
            <a:endParaRPr lang="en-US" sz="552" dirty="0"/>
          </a:p>
        </p:txBody>
      </p:sp>
      <p:sp>
        <p:nvSpPr>
          <p:cNvPr id="170" name="Text 167"/>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152</a:t>
            </a:r>
            <a:endParaRPr lang="en-US" sz="552" dirty="0"/>
          </a:p>
        </p:txBody>
      </p:sp>
      <p:sp>
        <p:nvSpPr>
          <p:cNvPr id="171" name="Text 168"/>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230</a:t>
            </a:r>
            <a:endParaRPr lang="en-US" sz="552" dirty="0"/>
          </a:p>
        </p:txBody>
      </p:sp>
      <p:sp>
        <p:nvSpPr>
          <p:cNvPr id="172" name="Text 169"/>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247</a:t>
            </a:r>
            <a:endParaRPr lang="en-US" sz="552" dirty="0"/>
          </a:p>
        </p:txBody>
      </p:sp>
      <p:sp>
        <p:nvSpPr>
          <p:cNvPr id="173" name="Text 170"/>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226</a:t>
            </a:r>
            <a:endParaRPr lang="en-US" sz="552" dirty="0"/>
          </a:p>
        </p:txBody>
      </p:sp>
      <p:sp>
        <p:nvSpPr>
          <p:cNvPr id="174" name="Text 171"/>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103</a:t>
            </a:r>
            <a:endParaRPr lang="en-US" sz="552" dirty="0"/>
          </a:p>
        </p:txBody>
      </p:sp>
      <p:sp>
        <p:nvSpPr>
          <p:cNvPr id="175" name="Text 172"/>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a:t>
            </a:r>
            <a:endParaRPr lang="en-US" sz="552" dirty="0"/>
          </a:p>
        </p:txBody>
      </p:sp>
      <p:sp>
        <p:nvSpPr>
          <p:cNvPr id="176" name="Text 173"/>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101</a:t>
            </a:r>
            <a:endParaRPr lang="en-US" sz="552" dirty="0"/>
          </a:p>
        </p:txBody>
      </p:sp>
      <p:sp>
        <p:nvSpPr>
          <p:cNvPr id="177" name="Text 174"/>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555</a:t>
            </a:r>
            <a:endParaRPr lang="en-US" sz="552" dirty="0"/>
          </a:p>
        </p:txBody>
      </p:sp>
      <p:sp>
        <p:nvSpPr>
          <p:cNvPr id="178" name="Text 175"/>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161</a:t>
            </a:r>
            <a:endParaRPr lang="en-US" sz="552" dirty="0"/>
          </a:p>
        </p:txBody>
      </p:sp>
      <p:sp>
        <p:nvSpPr>
          <p:cNvPr id="179" name="Text 176"/>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a:t>
            </a:r>
            <a:endParaRPr lang="en-US" sz="636" dirty="0"/>
          </a:p>
        </p:txBody>
      </p:sp>
      <p:sp>
        <p:nvSpPr>
          <p:cNvPr id="180" name="Text 177"/>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12</a:t>
            </a:r>
            <a:endParaRPr lang="en-US" sz="576" dirty="0"/>
          </a:p>
        </p:txBody>
      </p:sp>
      <p:sp>
        <p:nvSpPr>
          <p:cNvPr id="181" name="Text 178"/>
          <p:cNvSpPr/>
          <p:nvPr/>
        </p:nvSpPr>
        <p:spPr>
          <a:xfrm>
            <a:off x="5226118" y="38012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a:t>
            </a:r>
            <a:endParaRPr lang="en-US" sz="576" dirty="0"/>
          </a:p>
        </p:txBody>
      </p:sp>
      <p:sp>
        <p:nvSpPr>
          <p:cNvPr id="182" name="Text 179"/>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a:t>
            </a:r>
            <a:endParaRPr lang="en-US" sz="552" dirty="0"/>
          </a:p>
        </p:txBody>
      </p:sp>
      <p:sp>
        <p:nvSpPr>
          <p:cNvPr id="183" name="Text 180"/>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184" name="Text 181"/>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85</a:t>
            </a:r>
            <a:endParaRPr lang="en-US" sz="552" dirty="0"/>
          </a:p>
        </p:txBody>
      </p:sp>
      <p:sp>
        <p:nvSpPr>
          <p:cNvPr id="185" name="Text 182"/>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62</a:t>
            </a:r>
            <a:endParaRPr lang="en-US" sz="552" dirty="0"/>
          </a:p>
        </p:txBody>
      </p:sp>
      <p:sp>
        <p:nvSpPr>
          <p:cNvPr id="186" name="Text 183"/>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87" name="Text 184"/>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92</a:t>
            </a:r>
            <a:endParaRPr lang="en-US" sz="552" dirty="0"/>
          </a:p>
        </p:txBody>
      </p:sp>
      <p:sp>
        <p:nvSpPr>
          <p:cNvPr id="188" name="Text 185"/>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a:t>
            </a:r>
            <a:endParaRPr lang="en-US" sz="552" dirty="0"/>
          </a:p>
        </p:txBody>
      </p:sp>
      <p:sp>
        <p:nvSpPr>
          <p:cNvPr id="189" name="Text 186"/>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65</a:t>
            </a:r>
            <a:endParaRPr lang="en-US" sz="552" dirty="0"/>
          </a:p>
        </p:txBody>
      </p:sp>
      <p:sp>
        <p:nvSpPr>
          <p:cNvPr id="190" name="Text 187"/>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a:t>
            </a:r>
            <a:endParaRPr lang="en-US" sz="552" dirty="0"/>
          </a:p>
        </p:txBody>
      </p:sp>
      <p:sp>
        <p:nvSpPr>
          <p:cNvPr id="191" name="Text 188"/>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92" name="Text 189"/>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77</a:t>
            </a:r>
            <a:endParaRPr lang="en-US" sz="552" dirty="0"/>
          </a:p>
        </p:txBody>
      </p:sp>
      <p:sp>
        <p:nvSpPr>
          <p:cNvPr id="193" name="Text 190"/>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70</a:t>
            </a:r>
            <a:endParaRPr lang="en-US" sz="552" dirty="0"/>
          </a:p>
        </p:txBody>
      </p:sp>
      <p:sp>
        <p:nvSpPr>
          <p:cNvPr id="194" name="Text 191"/>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81</a:t>
            </a:r>
            <a:endParaRPr lang="en-US" sz="552" dirty="0"/>
          </a:p>
        </p:txBody>
      </p:sp>
      <p:sp>
        <p:nvSpPr>
          <p:cNvPr id="195" name="Text 192"/>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96" name="Text 193"/>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97" name="Text 194"/>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a:t>
            </a:r>
            <a:endParaRPr lang="en-US" sz="552" dirty="0"/>
          </a:p>
        </p:txBody>
      </p:sp>
      <p:sp>
        <p:nvSpPr>
          <p:cNvPr id="198" name="Text 195"/>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a:t>
            </a:r>
            <a:endParaRPr lang="en-US" sz="552" dirty="0"/>
          </a:p>
        </p:txBody>
      </p:sp>
      <p:sp>
        <p:nvSpPr>
          <p:cNvPr id="199" name="Text 196"/>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a:t>
            </a:r>
            <a:endParaRPr lang="en-US" sz="552" dirty="0"/>
          </a:p>
        </p:txBody>
      </p:sp>
      <p:sp>
        <p:nvSpPr>
          <p:cNvPr id="200" name="Text 197"/>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30</a:t>
            </a:r>
            <a:endParaRPr lang="en-US" sz="552" dirty="0"/>
          </a:p>
        </p:txBody>
      </p:sp>
      <p:sp>
        <p:nvSpPr>
          <p:cNvPr id="201" name="Text 198"/>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02" name="Text 199"/>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29</a:t>
            </a:r>
            <a:endParaRPr lang="en-US" sz="552" dirty="0"/>
          </a:p>
        </p:txBody>
      </p:sp>
      <p:sp>
        <p:nvSpPr>
          <p:cNvPr id="203" name="Text 200"/>
          <p:cNvSpPr/>
          <p:nvPr/>
        </p:nvSpPr>
        <p:spPr>
          <a:xfrm>
            <a:off x="10988599" y="500139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a:t>
            </a:r>
            <a:endParaRPr lang="en-US" sz="552"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322838"/>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una efectividad extremadamente baja (), lo que sustentó su suspensión inmediata.</a:t>
            </a:r>
            <a:endParaRPr lang="en-US" sz="744" dirty="0"/>
          </a:p>
        </p:txBody>
      </p:sp>
      <p:sp>
        <p:nvSpPr>
          <p:cNvPr id="4" name="Text 1"/>
          <p:cNvSpPr/>
          <p:nvPr/>
        </p:nvSpPr>
        <p:spPr>
          <a:xfrm>
            <a:off x="685783" y="5176391"/>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solicitudes de cancelaciones previas).</a:t>
            </a:r>
            <a:endParaRPr lang="en-US" sz="744" dirty="0"/>
          </a:p>
        </p:txBody>
      </p:sp>
      <p:sp>
        <p:nvSpPr>
          <p:cNvPr id="5" name="Text 2"/>
          <p:cNvSpPr/>
          <p:nvPr/>
        </p:nvSpPr>
        <p:spPr>
          <a:xfrm>
            <a:off x="1213514" y="219075"/>
            <a:ext cx="474215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6" name="Text 3"/>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Buen nivel de interacción telefónica express</a:t>
            </a:r>
            <a:endParaRPr lang="en-US" sz="648" dirty="0"/>
          </a:p>
        </p:txBody>
      </p:sp>
      <p:sp>
        <p:nvSpPr>
          <p:cNvPr id="7" name="Text 4"/>
          <p:cNvSpPr/>
          <p:nvPr/>
        </p:nvSpPr>
        <p:spPr>
          <a:xfrm>
            <a:off x="685783" y="5469285"/>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se concentró en  y .</a:t>
            </a:r>
            <a:endParaRPr lang="en-US" sz="744" dirty="0"/>
          </a:p>
        </p:txBody>
      </p:sp>
      <p:sp>
        <p:nvSpPr>
          <p:cNvPr id="8" name="Text 5"/>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en cancelaciones previas</a:t>
            </a:r>
            <a:endParaRPr lang="en-US" sz="648" dirty="0"/>
          </a:p>
        </p:txBody>
      </p:sp>
      <p:sp>
        <p:nvSpPr>
          <p:cNvPr id="9" name="Text 6"/>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de campaña piloto express</a:t>
            </a:r>
            <a:endParaRPr lang="en-US" sz="648" dirty="0"/>
          </a:p>
        </p:txBody>
      </p:sp>
      <p:sp>
        <p:nvSpPr>
          <p:cNvPr id="10" name="Text 7"/>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1" name="Text 8"/>
          <p:cNvSpPr/>
          <p:nvPr/>
        </p:nvSpPr>
        <p:spPr>
          <a:xfrm>
            <a:off x="9150320" y="209550"/>
            <a:ext cx="2543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Cancelaciones</a:t>
            </a:r>
            <a:endParaRPr lang="en-US" sz="840" dirty="0"/>
          </a:p>
        </p:txBody>
      </p:sp>
      <p:sp>
        <p:nvSpPr>
          <p:cNvPr id="12" name="Text 9"/>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3" name="Text 10"/>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4" name="Text 11"/>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5" name="Text 12"/>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16" name="Text 13"/>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INICIAL</a:t>
            </a:r>
            <a:endParaRPr lang="en-US" sz="672" dirty="0"/>
          </a:p>
        </p:txBody>
      </p:sp>
      <p:sp>
        <p:nvSpPr>
          <p:cNvPr id="17" name="Text 14"/>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GESTIONADOS</a:t>
            </a:r>
            <a:endParaRPr lang="en-US" sz="672" dirty="0"/>
          </a:p>
        </p:txBody>
      </p:sp>
      <p:sp>
        <p:nvSpPr>
          <p:cNvPr id="18" name="Text 15"/>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19" name="Text 16"/>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0" name="Text 17"/>
          <p:cNvSpPr/>
          <p:nvPr/>
        </p:nvSpPr>
        <p:spPr>
          <a:xfrm>
            <a:off x="6267293" y="46013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1" name="Text 18"/>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2" name="Text 19"/>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3" name="Text 20"/>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4" name="Text 21"/>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GENERADAS</a:t>
            </a:r>
            <a:endParaRPr lang="en-US" sz="672" dirty="0"/>
          </a:p>
        </p:txBody>
      </p:sp>
      <p:sp>
        <p:nvSpPr>
          <p:cNvPr id="25" name="Text 22"/>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a:t>
            </a:r>
            <a:endParaRPr lang="en-US" sz="576" dirty="0"/>
          </a:p>
        </p:txBody>
      </p:sp>
      <p:sp>
        <p:nvSpPr>
          <p:cNvPr id="26" name="Text 23"/>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 Errada</a:t>
            </a:r>
            <a:endParaRPr lang="en-US" sz="576" dirty="0"/>
          </a:p>
        </p:txBody>
      </p:sp>
      <p:sp>
        <p:nvSpPr>
          <p:cNvPr id="27" name="Text 24"/>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28" name="Text 25"/>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29" name="Text 26"/>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Nombre Vacío</a:t>
            </a:r>
            <a:endParaRPr lang="en-US" sz="576" dirty="0"/>
          </a:p>
        </p:txBody>
      </p:sp>
      <p:sp>
        <p:nvSpPr>
          <p:cNvPr id="30" name="Text 27"/>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1" name="Text 28"/>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2" name="Text 29"/>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3" name="Text 30"/>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4" name="Text 31"/>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5" name="Text 32"/>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6" name="Text 33"/>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7" name="Text 34"/>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38" name="Text 35"/>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15,7 %</a:t>
            </a:r>
            <a:endParaRPr lang="en-US" sz="636" dirty="0"/>
          </a:p>
        </p:txBody>
      </p:sp>
      <p:sp>
        <p:nvSpPr>
          <p:cNvPr id="39" name="Text 36"/>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15,7 %</a:t>
            </a:r>
            <a:endParaRPr lang="en-US" sz="636" dirty="0"/>
          </a:p>
        </p:txBody>
      </p:sp>
      <p:sp>
        <p:nvSpPr>
          <p:cNvPr id="40" name="Text 37"/>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1" name="Text 38"/>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2" name="Text 39"/>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53,0 %</a:t>
            </a:r>
            <a:endParaRPr lang="en-US" sz="636" dirty="0"/>
          </a:p>
        </p:txBody>
      </p:sp>
      <p:sp>
        <p:nvSpPr>
          <p:cNvPr id="43" name="Text 40"/>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44" name="Text 41"/>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45" name="Text 42"/>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46" name="Text 43"/>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1.263</a:t>
            </a:r>
            <a:endParaRPr lang="en-US" sz="636" dirty="0"/>
          </a:p>
        </p:txBody>
      </p:sp>
      <p:sp>
        <p:nvSpPr>
          <p:cNvPr id="47" name="Text 44"/>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48" name="Text 45"/>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49" name="Text 46"/>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50" name="Text 47"/>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51" name="Text 48"/>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1.263</a:t>
            </a:r>
            <a:endParaRPr lang="en-US" sz="636" dirty="0"/>
          </a:p>
        </p:txBody>
      </p:sp>
      <p:sp>
        <p:nvSpPr>
          <p:cNvPr id="52" name="Text 49"/>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3" name="Text 50"/>
          <p:cNvSpPr/>
          <p:nvPr/>
        </p:nvSpPr>
        <p:spPr>
          <a:xfrm>
            <a:off x="504812" y="40679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54" name="Text 51"/>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55" name="Text 52"/>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6" name="Text 53"/>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1.065</a:t>
            </a:r>
            <a:endParaRPr lang="en-US" sz="636" dirty="0"/>
          </a:p>
        </p:txBody>
      </p:sp>
      <p:sp>
        <p:nvSpPr>
          <p:cNvPr id="57" name="Text 54"/>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58" name="Text 55"/>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59" name="Text 56"/>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0" name="Text 57"/>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1" name="Text 58"/>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2" name="Text 59"/>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1.065</a:t>
            </a:r>
            <a:endParaRPr lang="en-US" sz="636" dirty="0"/>
          </a:p>
        </p:txBody>
      </p:sp>
      <p:sp>
        <p:nvSpPr>
          <p:cNvPr id="63" name="Text 60"/>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0,7 %</a:t>
            </a:r>
            <a:endParaRPr lang="en-US" sz="636" dirty="0"/>
          </a:p>
        </p:txBody>
      </p:sp>
      <p:sp>
        <p:nvSpPr>
          <p:cNvPr id="64" name="Text 61"/>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65" name="Text 62"/>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66" name="Text 63"/>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67" name="Text 64"/>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68" name="Text 65"/>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69" name="Text 66"/>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198</a:t>
            </a:r>
            <a:endParaRPr lang="en-US" sz="636" dirty="0"/>
          </a:p>
        </p:txBody>
      </p:sp>
      <p:sp>
        <p:nvSpPr>
          <p:cNvPr id="70" name="Text 67"/>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198</a:t>
            </a:r>
            <a:endParaRPr lang="en-US" sz="636" dirty="0"/>
          </a:p>
        </p:txBody>
      </p:sp>
      <p:sp>
        <p:nvSpPr>
          <p:cNvPr id="71" name="Text 68"/>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72" name="Text 69"/>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73" name="Text 70"/>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74" name="Text 71"/>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75" name="Text 72"/>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76" name="Text 73"/>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77" name="Text 74"/>
          <p:cNvSpPr/>
          <p:nvPr/>
        </p:nvSpPr>
        <p:spPr>
          <a:xfrm>
            <a:off x="2329400" y="40679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78" name="Text 75"/>
          <p:cNvSpPr/>
          <p:nvPr/>
        </p:nvSpPr>
        <p:spPr>
          <a:xfrm>
            <a:off x="5226118" y="40679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79" name="Text 76"/>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0" name="Text 77"/>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81" name="Text 78"/>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82" name="Text 79"/>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83" name="Text 80"/>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84" name="Text 81"/>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5" name="Text 82"/>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86" name="Text 83"/>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87" name="Text 84"/>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88" name="Text 85"/>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143</a:t>
            </a:r>
            <a:endParaRPr lang="en-US" sz="552" dirty="0"/>
          </a:p>
        </p:txBody>
      </p:sp>
      <p:sp>
        <p:nvSpPr>
          <p:cNvPr id="89" name="Text 86"/>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143</a:t>
            </a:r>
            <a:endParaRPr lang="en-US" sz="552" dirty="0"/>
          </a:p>
        </p:txBody>
      </p:sp>
      <p:sp>
        <p:nvSpPr>
          <p:cNvPr id="90" name="Text 87"/>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91" name="Text 88"/>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188</a:t>
            </a:r>
            <a:endParaRPr lang="en-US" sz="552" dirty="0"/>
          </a:p>
        </p:txBody>
      </p:sp>
      <p:sp>
        <p:nvSpPr>
          <p:cNvPr id="92" name="Text 89"/>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3" name="Text 90"/>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4" name="Text 91"/>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95" name="Text 92"/>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455</a:t>
            </a:r>
            <a:endParaRPr lang="en-US" sz="552" dirty="0"/>
          </a:p>
        </p:txBody>
      </p:sp>
      <p:sp>
        <p:nvSpPr>
          <p:cNvPr id="96" name="Text 93"/>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97" name="Text 94"/>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67</a:t>
            </a:r>
            <a:endParaRPr lang="en-US" sz="576" dirty="0"/>
          </a:p>
        </p:txBody>
      </p:sp>
      <p:sp>
        <p:nvSpPr>
          <p:cNvPr id="98" name="Text 95"/>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66</a:t>
            </a:r>
            <a:endParaRPr lang="en-US" sz="576" dirty="0"/>
          </a:p>
        </p:txBody>
      </p:sp>
      <p:sp>
        <p:nvSpPr>
          <p:cNvPr id="99" name="Text 96"/>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66</a:t>
            </a:r>
            <a:endParaRPr lang="en-US" sz="576" dirty="0"/>
          </a:p>
        </p:txBody>
      </p:sp>
      <p:sp>
        <p:nvSpPr>
          <p:cNvPr id="100" name="Text 97"/>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58</a:t>
            </a:r>
            <a:endParaRPr lang="en-US" sz="576" dirty="0"/>
          </a:p>
        </p:txBody>
      </p:sp>
      <p:sp>
        <p:nvSpPr>
          <p:cNvPr id="101" name="Text 98"/>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58</a:t>
            </a:r>
            <a:endParaRPr lang="en-US" sz="576" dirty="0"/>
          </a:p>
        </p:txBody>
      </p:sp>
      <p:sp>
        <p:nvSpPr>
          <p:cNvPr id="102" name="Text 99"/>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90</a:t>
            </a:r>
            <a:endParaRPr lang="en-US" sz="552" dirty="0"/>
          </a:p>
        </p:txBody>
      </p:sp>
      <p:sp>
        <p:nvSpPr>
          <p:cNvPr id="103" name="Text 100"/>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90</a:t>
            </a:r>
            <a:endParaRPr lang="en-US" sz="552" dirty="0"/>
          </a:p>
        </p:txBody>
      </p:sp>
      <p:sp>
        <p:nvSpPr>
          <p:cNvPr id="104" name="Text 101"/>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05" name="Text 102"/>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68</a:t>
            </a:r>
            <a:endParaRPr lang="en-US" sz="552" dirty="0"/>
          </a:p>
        </p:txBody>
      </p:sp>
      <p:sp>
        <p:nvSpPr>
          <p:cNvPr id="106" name="Text 103"/>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07" name="Text 104"/>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71</a:t>
            </a:r>
            <a:endParaRPr lang="en-US" sz="552" dirty="0"/>
          </a:p>
        </p:txBody>
      </p:sp>
      <p:sp>
        <p:nvSpPr>
          <p:cNvPr id="108" name="Text 105"/>
          <p:cNvSpPr/>
          <p:nvPr/>
        </p:nvSpPr>
        <p:spPr>
          <a:xfrm>
            <a:off x="8091881" y="46013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a:t>
            </a:r>
            <a:endParaRPr lang="en-US" sz="552" dirty="0"/>
          </a:p>
        </p:txBody>
      </p:sp>
      <p:sp>
        <p:nvSpPr>
          <p:cNvPr id="109" name="Text 106"/>
          <p:cNvSpPr/>
          <p:nvPr/>
        </p:nvSpPr>
        <p:spPr>
          <a:xfrm>
            <a:off x="10988599" y="46013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46</a:t>
            </a:r>
            <a:endParaRPr lang="en-US" sz="5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01_Repositorios\13_Presentaciones\dash\televentas\ppt_slides\sk_1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806476" cy="526715"/>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50716" y="2256406"/>
            <a:ext cx="2881989" cy="290513"/>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Semanas Ganadoras: 1.292/950 ventas (136 %) · Bono $100K/semana × trío</a:t>
            </a:r>
            <a:endParaRPr lang="en-US" sz="720" dirty="0"/>
          </a:p>
        </p:txBody>
      </p:sp>
      <p:sp>
        <p:nvSpPr>
          <p:cNvPr id="5" name="Text 2"/>
          <p:cNvSpPr/>
          <p:nvPr/>
        </p:nvSpPr>
        <p:spPr>
          <a:xfrm>
            <a:off x="8650716" y="2546919"/>
            <a:ext cx="2881989" cy="35242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La Gran Jugada: 4.798/4.200 ventas (114 %) · $7.000.000 al equipo</a:t>
            </a:r>
            <a:endParaRPr lang="en-US" sz="720" dirty="0"/>
          </a:p>
        </p:txBody>
      </p:sp>
      <p:sp>
        <p:nvSpPr>
          <p:cNvPr id="6" name="Text 3"/>
          <p:cNvSpPr/>
          <p:nvPr/>
        </p:nvSpPr>
        <p:spPr>
          <a:xfrm>
            <a:off x="8650716" y="2899344"/>
            <a:ext cx="28819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Acelerador Mayo: 560/650 ventas (86 %) · Bono $300.000</a:t>
            </a:r>
            <a:endParaRPr lang="en-US" sz="720" dirty="0"/>
          </a:p>
        </p:txBody>
      </p:sp>
      <p:sp>
        <p:nvSpPr>
          <p:cNvPr id="7" name="Text 4"/>
          <p:cNvSpPr/>
          <p:nvPr/>
        </p:nvSpPr>
        <p:spPr>
          <a:xfrm>
            <a:off x="8650716" y="3118419"/>
            <a:ext cx="2881989" cy="214313"/>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8 eventos de incentivo Vanti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1015429" y="2800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0" name="Text 7"/>
          <p:cNvSpPr/>
          <p:nvPr/>
        </p:nvSpPr>
        <p:spPr>
          <a:xfrm>
            <a:off x="1015429" y="46196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1" name="Text 8"/>
          <p:cNvSpPr/>
          <p:nvPr/>
        </p:nvSpPr>
        <p:spPr>
          <a:xfrm>
            <a:off x="1015429" y="18954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2" name="Text 9"/>
          <p:cNvSpPr/>
          <p:nvPr/>
        </p:nvSpPr>
        <p:spPr>
          <a:xfrm>
            <a:off x="1015429" y="20478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3" name="Text 10"/>
          <p:cNvSpPr/>
          <p:nvPr/>
        </p:nvSpPr>
        <p:spPr>
          <a:xfrm>
            <a:off x="7867453" y="1419225"/>
            <a:ext cx="2918625" cy="188244"/>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4" name="Text 11"/>
          <p:cNvSpPr/>
          <p:nvPr/>
        </p:nvSpPr>
        <p:spPr>
          <a:xfrm>
            <a:off x="1015429" y="15906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5" name="Text 12"/>
          <p:cNvSpPr/>
          <p:nvPr/>
        </p:nvSpPr>
        <p:spPr>
          <a:xfrm>
            <a:off x="1015429" y="50768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6" name="Text 13"/>
          <p:cNvSpPr/>
          <p:nvPr/>
        </p:nvSpPr>
        <p:spPr>
          <a:xfrm>
            <a:off x="1015429" y="3105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17" name="Text 14"/>
          <p:cNvSpPr/>
          <p:nvPr/>
        </p:nvSpPr>
        <p:spPr>
          <a:xfrm>
            <a:off x="1015429" y="1443060"/>
            <a:ext cx="2296884" cy="147637"/>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18" name="Text 15"/>
          <p:cNvSpPr/>
          <p:nvPr/>
        </p:nvSpPr>
        <p:spPr>
          <a:xfrm>
            <a:off x="1015429" y="2647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19" name="Text 16"/>
          <p:cNvSpPr/>
          <p:nvPr/>
        </p:nvSpPr>
        <p:spPr>
          <a:xfrm>
            <a:off x="1015429" y="2952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0" name="Text 17"/>
          <p:cNvSpPr/>
          <p:nvPr/>
        </p:nvSpPr>
        <p:spPr>
          <a:xfrm>
            <a:off x="1015429" y="2495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1" name="Text 18"/>
          <p:cNvSpPr/>
          <p:nvPr/>
        </p:nvSpPr>
        <p:spPr>
          <a:xfrm>
            <a:off x="1015429" y="3562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2" name="Text 19"/>
          <p:cNvSpPr/>
          <p:nvPr/>
        </p:nvSpPr>
        <p:spPr>
          <a:xfrm>
            <a:off x="1015429" y="3257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3" name="Text 20"/>
          <p:cNvSpPr/>
          <p:nvPr/>
        </p:nvSpPr>
        <p:spPr>
          <a:xfrm>
            <a:off x="1015429" y="17430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4" name="Text 21"/>
          <p:cNvSpPr/>
          <p:nvPr/>
        </p:nvSpPr>
        <p:spPr>
          <a:xfrm>
            <a:off x="1015429" y="49244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25" name="Text 22"/>
          <p:cNvSpPr/>
          <p:nvPr/>
        </p:nvSpPr>
        <p:spPr>
          <a:xfrm>
            <a:off x="1015429" y="4019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26" name="Text 23"/>
          <p:cNvSpPr/>
          <p:nvPr/>
        </p:nvSpPr>
        <p:spPr>
          <a:xfrm>
            <a:off x="1015429" y="44672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27" name="Text 24"/>
          <p:cNvSpPr/>
          <p:nvPr/>
        </p:nvSpPr>
        <p:spPr>
          <a:xfrm>
            <a:off x="1015429" y="3714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28" name="Text 25"/>
          <p:cNvSpPr/>
          <p:nvPr/>
        </p:nvSpPr>
        <p:spPr>
          <a:xfrm>
            <a:off x="1015429" y="4171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29" name="Text 26"/>
          <p:cNvSpPr/>
          <p:nvPr/>
        </p:nvSpPr>
        <p:spPr>
          <a:xfrm>
            <a:off x="1015429" y="2200298"/>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0" name="Text 27"/>
          <p:cNvSpPr/>
          <p:nvPr/>
        </p:nvSpPr>
        <p:spPr>
          <a:xfrm>
            <a:off x="1015429" y="47720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1" name="Text 28"/>
          <p:cNvSpPr/>
          <p:nvPr/>
        </p:nvSpPr>
        <p:spPr>
          <a:xfrm>
            <a:off x="10196555" y="209550"/>
            <a:ext cx="14663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2" name="Text 29"/>
          <p:cNvSpPr/>
          <p:nvPr/>
        </p:nvSpPr>
        <p:spPr>
          <a:xfrm>
            <a:off x="1015429" y="3409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3" name="Text 30"/>
          <p:cNvSpPr/>
          <p:nvPr/>
        </p:nvSpPr>
        <p:spPr>
          <a:xfrm>
            <a:off x="1015429" y="2343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34" name="Text 31"/>
          <p:cNvSpPr/>
          <p:nvPr/>
        </p:nvSpPr>
        <p:spPr>
          <a:xfrm>
            <a:off x="1015429" y="3867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5" name="Text 32"/>
          <p:cNvSpPr/>
          <p:nvPr/>
        </p:nvSpPr>
        <p:spPr>
          <a:xfrm>
            <a:off x="1015429" y="4324373"/>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36" name="Text 33"/>
          <p:cNvSpPr/>
          <p:nvPr/>
        </p:nvSpPr>
        <p:spPr>
          <a:xfrm>
            <a:off x="1687222" y="5429250"/>
            <a:ext cx="463853" cy="128016"/>
          </a:xfrm>
          <a:prstGeom prst="rect">
            <a:avLst/>
          </a:prstGeom>
          <a:noFill/>
          <a:ln/>
        </p:spPr>
        <p:txBody>
          <a:bodyPr wrap="squar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 = sin dato</a:t>
            </a:r>
            <a:endParaRPr lang="en-US" sz="648" dirty="0"/>
          </a:p>
        </p:txBody>
      </p:sp>
      <p:sp>
        <p:nvSpPr>
          <p:cNvPr id="37" name="Text 34"/>
          <p:cNvSpPr/>
          <p:nvPr/>
        </p:nvSpPr>
        <p:spPr>
          <a:xfrm>
            <a:off x="1149073" y="5429250"/>
            <a:ext cx="436567" cy="128016"/>
          </a:xfrm>
          <a:prstGeom prst="rect">
            <a:avLst/>
          </a:prstGeom>
          <a:noFill/>
          <a:ln/>
        </p:spPr>
        <p:txBody>
          <a:bodyPr wrap="square" lIns="0" tIns="0" rIns="0" bIns="0" rtlCol="0" anchor="t"/>
          <a:lstStyle/>
          <a:p>
            <a:pPr algn="l" indent="0" marL="0">
              <a:buNone/>
            </a:pPr>
            <a:r>
              <a:rPr lang="en-US" sz="648" dirty="0">
                <a:solidFill>
                  <a:srgbClr val="C44A1A"/>
                </a:solidFill>
                <a:latin typeface="Raleway" pitchFamily="34" charset="0"/>
                <a:ea typeface="Raleway" pitchFamily="34" charset="-122"/>
                <a:cs typeface="Raleway" pitchFamily="34" charset="-120"/>
              </a:rPr>
              <a:t>rojo &lt; meta</a:t>
            </a:r>
            <a:endParaRPr lang="en-US" sz="648" dirty="0"/>
          </a:p>
        </p:txBody>
      </p:sp>
      <p:sp>
        <p:nvSpPr>
          <p:cNvPr id="38" name="Text 35"/>
          <p:cNvSpPr/>
          <p:nvPr/>
        </p:nvSpPr>
        <p:spPr>
          <a:xfrm>
            <a:off x="7953771" y="2027806"/>
            <a:ext cx="71785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39" name="Text 36"/>
          <p:cNvSpPr/>
          <p:nvPr/>
        </p:nvSpPr>
        <p:spPr>
          <a:xfrm>
            <a:off x="8650716" y="2027806"/>
            <a:ext cx="288198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0" name="Text 37"/>
          <p:cNvSpPr/>
          <p:nvPr/>
        </p:nvSpPr>
        <p:spPr>
          <a:xfrm>
            <a:off x="1015429" y="1252560"/>
            <a:ext cx="2296884" cy="190500"/>
          </a:xfrm>
          <a:prstGeom prst="rect">
            <a:avLst/>
          </a:prstGeom>
          <a:noFill/>
          <a:ln/>
        </p:spPr>
        <p:txBody>
          <a:bodyPr wrap="square" lIns="28575" tIns="57150" rIns="57150" bIns="2857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1" name="Text 38"/>
          <p:cNvSpPr/>
          <p:nvPr/>
        </p:nvSpPr>
        <p:spPr>
          <a:xfrm>
            <a:off x="6328907" y="5229248"/>
            <a:ext cx="642895"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2" name="Text 39"/>
          <p:cNvSpPr/>
          <p:nvPr/>
        </p:nvSpPr>
        <p:spPr>
          <a:xfrm>
            <a:off x="7448364" y="2546919"/>
            <a:ext cx="520570" cy="35242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MarAbr</a:t>
            </a:r>
            <a:endParaRPr lang="en-US" sz="888" dirty="0"/>
          </a:p>
        </p:txBody>
      </p:sp>
      <p:sp>
        <p:nvSpPr>
          <p:cNvPr id="43" name="Text 40"/>
          <p:cNvSpPr/>
          <p:nvPr/>
        </p:nvSpPr>
        <p:spPr>
          <a:xfrm>
            <a:off x="6328907" y="1252560"/>
            <a:ext cx="642895"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44" name="Text 41"/>
          <p:cNvSpPr/>
          <p:nvPr/>
        </p:nvSpPr>
        <p:spPr>
          <a:xfrm>
            <a:off x="6328907" y="1443060"/>
            <a:ext cx="642895" cy="147637"/>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45" name="Text 42"/>
          <p:cNvSpPr/>
          <p:nvPr/>
        </p:nvSpPr>
        <p:spPr>
          <a:xfrm>
            <a:off x="6328907" y="15906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46" name="Text 43"/>
          <p:cNvSpPr/>
          <p:nvPr/>
        </p:nvSpPr>
        <p:spPr>
          <a:xfrm>
            <a:off x="1015429" y="5229248"/>
            <a:ext cx="2296884" cy="147637"/>
          </a:xfrm>
          <a:prstGeom prst="rect">
            <a:avLst/>
          </a:prstGeom>
          <a:noFill/>
          <a:ln/>
        </p:spPr>
        <p:txBody>
          <a:bodyPr wrap="square" lIns="19050" tIns="57150" rIns="57150" bIns="19050" rtlCol="0" anchor="ctr"/>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47" name="Text 44"/>
          <p:cNvSpPr/>
          <p:nvPr/>
        </p:nvSpPr>
        <p:spPr>
          <a:xfrm>
            <a:off x="3245414" y="5229248"/>
            <a:ext cx="527161"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48" name="Text 45"/>
          <p:cNvSpPr/>
          <p:nvPr/>
        </p:nvSpPr>
        <p:spPr>
          <a:xfrm>
            <a:off x="3757221" y="5229248"/>
            <a:ext cx="523329"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49" name="Text 46"/>
          <p:cNvSpPr/>
          <p:nvPr/>
        </p:nvSpPr>
        <p:spPr>
          <a:xfrm>
            <a:off x="4265307" y="5229248"/>
            <a:ext cx="524096"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0" name="Text 47"/>
          <p:cNvSpPr/>
          <p:nvPr/>
        </p:nvSpPr>
        <p:spPr>
          <a:xfrm>
            <a:off x="4774138" y="5229248"/>
            <a:ext cx="53222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1" name="Text 48"/>
          <p:cNvSpPr/>
          <p:nvPr/>
        </p:nvSpPr>
        <p:spPr>
          <a:xfrm>
            <a:off x="5290856" y="5229248"/>
            <a:ext cx="549082"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2" name="Text 49"/>
          <p:cNvSpPr/>
          <p:nvPr/>
        </p:nvSpPr>
        <p:spPr>
          <a:xfrm>
            <a:off x="5823945" y="5229248"/>
            <a:ext cx="52011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3" name="Text 50"/>
          <p:cNvSpPr/>
          <p:nvPr/>
        </p:nvSpPr>
        <p:spPr>
          <a:xfrm>
            <a:off x="7448364" y="3118419"/>
            <a:ext cx="520570" cy="214313"/>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54" name="Text 51"/>
          <p:cNvSpPr/>
          <p:nvPr/>
        </p:nvSpPr>
        <p:spPr>
          <a:xfrm>
            <a:off x="10517867" y="1066800"/>
            <a:ext cx="444998" cy="206026"/>
          </a:xfrm>
          <a:prstGeom prst="rect">
            <a:avLst/>
          </a:prstGeom>
          <a:noFill/>
          <a:ln/>
        </p:spPr>
        <p:txBody>
          <a:bodyPr wrap="square" lIns="38100" tIns="95250" rIns="95250" bIns="3810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Vanti</a:t>
            </a:r>
            <a:endParaRPr lang="en-US" sz="720" dirty="0"/>
          </a:p>
        </p:txBody>
      </p:sp>
      <p:sp>
        <p:nvSpPr>
          <p:cNvPr id="55" name="Text 52"/>
          <p:cNvSpPr/>
          <p:nvPr/>
        </p:nvSpPr>
        <p:spPr>
          <a:xfrm>
            <a:off x="10988003" y="1066800"/>
            <a:ext cx="474583" cy="206026"/>
          </a:xfrm>
          <a:prstGeom prst="rect">
            <a:avLst/>
          </a:prstGeom>
          <a:noFill/>
          <a:ln/>
        </p:spPr>
        <p:txBody>
          <a:bodyPr wrap="square" lIns="38100" tIns="95250" rIns="95250" bIns="3810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Xuma</a:t>
            </a:r>
            <a:endParaRPr lang="en-US" sz="720" dirty="0"/>
          </a:p>
        </p:txBody>
      </p:sp>
      <p:sp>
        <p:nvSpPr>
          <p:cNvPr id="56" name="Text 53"/>
          <p:cNvSpPr/>
          <p:nvPr/>
        </p:nvSpPr>
        <p:spPr>
          <a:xfrm>
            <a:off x="3245414" y="1252560"/>
            <a:ext cx="527161"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57" name="Text 54"/>
          <p:cNvSpPr/>
          <p:nvPr/>
        </p:nvSpPr>
        <p:spPr>
          <a:xfrm>
            <a:off x="3757221" y="1252560"/>
            <a:ext cx="523329"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58" name="Text 55"/>
          <p:cNvSpPr/>
          <p:nvPr/>
        </p:nvSpPr>
        <p:spPr>
          <a:xfrm>
            <a:off x="4265307" y="1252560"/>
            <a:ext cx="524096"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59" name="Text 56"/>
          <p:cNvSpPr/>
          <p:nvPr/>
        </p:nvSpPr>
        <p:spPr>
          <a:xfrm>
            <a:off x="4774138" y="1252560"/>
            <a:ext cx="53222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0" name="Text 57"/>
          <p:cNvSpPr/>
          <p:nvPr/>
        </p:nvSpPr>
        <p:spPr>
          <a:xfrm>
            <a:off x="5290856" y="1252560"/>
            <a:ext cx="549082"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1" name="Text 58"/>
          <p:cNvSpPr/>
          <p:nvPr/>
        </p:nvSpPr>
        <p:spPr>
          <a:xfrm>
            <a:off x="5823945" y="1252560"/>
            <a:ext cx="52011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2" name="Text 59"/>
          <p:cNvSpPr/>
          <p:nvPr/>
        </p:nvSpPr>
        <p:spPr>
          <a:xfrm>
            <a:off x="3245414" y="1443060"/>
            <a:ext cx="527161"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63" name="Text 60"/>
          <p:cNvSpPr/>
          <p:nvPr/>
        </p:nvSpPr>
        <p:spPr>
          <a:xfrm>
            <a:off x="3757221" y="1443060"/>
            <a:ext cx="523329"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64" name="Text 61"/>
          <p:cNvSpPr/>
          <p:nvPr/>
        </p:nvSpPr>
        <p:spPr>
          <a:xfrm>
            <a:off x="4265307" y="1443060"/>
            <a:ext cx="524096"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65" name="Text 62"/>
          <p:cNvSpPr/>
          <p:nvPr/>
        </p:nvSpPr>
        <p:spPr>
          <a:xfrm>
            <a:off x="4774138" y="1443060"/>
            <a:ext cx="53222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66" name="Text 63"/>
          <p:cNvSpPr/>
          <p:nvPr/>
        </p:nvSpPr>
        <p:spPr>
          <a:xfrm>
            <a:off x="5290856" y="1443060"/>
            <a:ext cx="549082"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67" name="Text 64"/>
          <p:cNvSpPr/>
          <p:nvPr/>
        </p:nvSpPr>
        <p:spPr>
          <a:xfrm>
            <a:off x="5823945" y="1443060"/>
            <a:ext cx="52011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68" name="Text 65"/>
          <p:cNvSpPr/>
          <p:nvPr/>
        </p:nvSpPr>
        <p:spPr>
          <a:xfrm>
            <a:off x="3245414" y="15906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69" name="Text 66"/>
          <p:cNvSpPr/>
          <p:nvPr/>
        </p:nvSpPr>
        <p:spPr>
          <a:xfrm>
            <a:off x="3757221" y="15906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0" name="Text 67"/>
          <p:cNvSpPr/>
          <p:nvPr/>
        </p:nvSpPr>
        <p:spPr>
          <a:xfrm>
            <a:off x="4265307" y="15906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1" name="Text 68"/>
          <p:cNvSpPr/>
          <p:nvPr/>
        </p:nvSpPr>
        <p:spPr>
          <a:xfrm>
            <a:off x="4774138" y="15906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2" name="Text 69"/>
          <p:cNvSpPr/>
          <p:nvPr/>
        </p:nvSpPr>
        <p:spPr>
          <a:xfrm>
            <a:off x="5290856" y="15906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73" name="Text 70"/>
          <p:cNvSpPr/>
          <p:nvPr/>
        </p:nvSpPr>
        <p:spPr>
          <a:xfrm>
            <a:off x="5823945" y="15906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4" name="Text 71"/>
          <p:cNvSpPr/>
          <p:nvPr/>
        </p:nvSpPr>
        <p:spPr>
          <a:xfrm>
            <a:off x="3245414" y="17430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75" name="Text 72"/>
          <p:cNvSpPr/>
          <p:nvPr/>
        </p:nvSpPr>
        <p:spPr>
          <a:xfrm>
            <a:off x="3757221" y="17430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6" name="Text 73"/>
          <p:cNvSpPr/>
          <p:nvPr/>
        </p:nvSpPr>
        <p:spPr>
          <a:xfrm>
            <a:off x="4265307" y="17430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77" name="Text 74"/>
          <p:cNvSpPr/>
          <p:nvPr/>
        </p:nvSpPr>
        <p:spPr>
          <a:xfrm>
            <a:off x="4774138" y="17430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78" name="Text 75"/>
          <p:cNvSpPr/>
          <p:nvPr/>
        </p:nvSpPr>
        <p:spPr>
          <a:xfrm>
            <a:off x="5290856" y="17430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9" name="Text 76"/>
          <p:cNvSpPr/>
          <p:nvPr/>
        </p:nvSpPr>
        <p:spPr>
          <a:xfrm>
            <a:off x="5823945" y="17430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0" name="Text 77"/>
          <p:cNvSpPr/>
          <p:nvPr/>
        </p:nvSpPr>
        <p:spPr>
          <a:xfrm>
            <a:off x="6328907" y="17430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1" name="Text 78"/>
          <p:cNvSpPr/>
          <p:nvPr/>
        </p:nvSpPr>
        <p:spPr>
          <a:xfrm>
            <a:off x="3245414" y="18954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2" name="Text 79"/>
          <p:cNvSpPr/>
          <p:nvPr/>
        </p:nvSpPr>
        <p:spPr>
          <a:xfrm>
            <a:off x="3757221" y="18954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83" name="Text 80"/>
          <p:cNvSpPr/>
          <p:nvPr/>
        </p:nvSpPr>
        <p:spPr>
          <a:xfrm>
            <a:off x="4265307" y="18954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84" name="Text 81"/>
          <p:cNvSpPr/>
          <p:nvPr/>
        </p:nvSpPr>
        <p:spPr>
          <a:xfrm>
            <a:off x="4774138" y="18954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5" name="Text 82"/>
          <p:cNvSpPr/>
          <p:nvPr/>
        </p:nvSpPr>
        <p:spPr>
          <a:xfrm>
            <a:off x="5290856" y="18954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6" name="Text 83"/>
          <p:cNvSpPr/>
          <p:nvPr/>
        </p:nvSpPr>
        <p:spPr>
          <a:xfrm>
            <a:off x="5823945" y="18954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87" name="Text 84"/>
          <p:cNvSpPr/>
          <p:nvPr/>
        </p:nvSpPr>
        <p:spPr>
          <a:xfrm>
            <a:off x="6328907" y="18954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88" name="Text 85"/>
          <p:cNvSpPr/>
          <p:nvPr/>
        </p:nvSpPr>
        <p:spPr>
          <a:xfrm>
            <a:off x="3245414" y="20478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89" name="Text 86"/>
          <p:cNvSpPr/>
          <p:nvPr/>
        </p:nvSpPr>
        <p:spPr>
          <a:xfrm>
            <a:off x="3757221" y="20478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0" name="Text 87"/>
          <p:cNvSpPr/>
          <p:nvPr/>
        </p:nvSpPr>
        <p:spPr>
          <a:xfrm>
            <a:off x="4265307" y="20478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1" name="Text 88"/>
          <p:cNvSpPr/>
          <p:nvPr/>
        </p:nvSpPr>
        <p:spPr>
          <a:xfrm>
            <a:off x="4774138" y="20478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2" name="Text 89"/>
          <p:cNvSpPr/>
          <p:nvPr/>
        </p:nvSpPr>
        <p:spPr>
          <a:xfrm>
            <a:off x="5290856" y="20478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3" name="Text 90"/>
          <p:cNvSpPr/>
          <p:nvPr/>
        </p:nvSpPr>
        <p:spPr>
          <a:xfrm>
            <a:off x="5823945" y="20478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4" name="Text 91"/>
          <p:cNvSpPr/>
          <p:nvPr/>
        </p:nvSpPr>
        <p:spPr>
          <a:xfrm>
            <a:off x="6328907" y="20478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95" name="Text 92"/>
          <p:cNvSpPr/>
          <p:nvPr/>
        </p:nvSpPr>
        <p:spPr>
          <a:xfrm>
            <a:off x="3245414" y="2200298"/>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96" name="Text 93"/>
          <p:cNvSpPr/>
          <p:nvPr/>
        </p:nvSpPr>
        <p:spPr>
          <a:xfrm>
            <a:off x="3757221" y="2200298"/>
            <a:ext cx="523329"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97" name="Text 94"/>
          <p:cNvSpPr/>
          <p:nvPr/>
        </p:nvSpPr>
        <p:spPr>
          <a:xfrm>
            <a:off x="4265307" y="2200298"/>
            <a:ext cx="524096"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98" name="Text 95"/>
          <p:cNvSpPr/>
          <p:nvPr/>
        </p:nvSpPr>
        <p:spPr>
          <a:xfrm>
            <a:off x="4774138" y="2200298"/>
            <a:ext cx="53222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99" name="Text 96"/>
          <p:cNvSpPr/>
          <p:nvPr/>
        </p:nvSpPr>
        <p:spPr>
          <a:xfrm>
            <a:off x="5823945" y="2200298"/>
            <a:ext cx="52011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0" name="Text 97"/>
          <p:cNvSpPr/>
          <p:nvPr/>
        </p:nvSpPr>
        <p:spPr>
          <a:xfrm>
            <a:off x="6328907" y="2200298"/>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1" name="Text 98"/>
          <p:cNvSpPr/>
          <p:nvPr/>
        </p:nvSpPr>
        <p:spPr>
          <a:xfrm>
            <a:off x="3245414" y="2343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2" name="Text 99"/>
          <p:cNvSpPr/>
          <p:nvPr/>
        </p:nvSpPr>
        <p:spPr>
          <a:xfrm>
            <a:off x="3757221" y="23431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03" name="Text 100"/>
          <p:cNvSpPr/>
          <p:nvPr/>
        </p:nvSpPr>
        <p:spPr>
          <a:xfrm>
            <a:off x="4265307" y="23431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4" name="Text 101"/>
          <p:cNvSpPr/>
          <p:nvPr/>
        </p:nvSpPr>
        <p:spPr>
          <a:xfrm>
            <a:off x="4774138" y="23431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5" name="Text 102"/>
          <p:cNvSpPr/>
          <p:nvPr/>
        </p:nvSpPr>
        <p:spPr>
          <a:xfrm>
            <a:off x="5290856" y="2343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06" name="Text 103"/>
          <p:cNvSpPr/>
          <p:nvPr/>
        </p:nvSpPr>
        <p:spPr>
          <a:xfrm>
            <a:off x="5823945" y="2343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07" name="Text 104"/>
          <p:cNvSpPr/>
          <p:nvPr/>
        </p:nvSpPr>
        <p:spPr>
          <a:xfrm>
            <a:off x="6328907" y="2343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08" name="Text 105"/>
          <p:cNvSpPr/>
          <p:nvPr/>
        </p:nvSpPr>
        <p:spPr>
          <a:xfrm>
            <a:off x="3245414" y="2495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9" name="Text 106"/>
          <p:cNvSpPr/>
          <p:nvPr/>
        </p:nvSpPr>
        <p:spPr>
          <a:xfrm>
            <a:off x="3757221" y="2495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0" name="Text 107"/>
          <p:cNvSpPr/>
          <p:nvPr/>
        </p:nvSpPr>
        <p:spPr>
          <a:xfrm>
            <a:off x="4265307" y="2495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1" name="Text 108"/>
          <p:cNvSpPr/>
          <p:nvPr/>
        </p:nvSpPr>
        <p:spPr>
          <a:xfrm>
            <a:off x="4774138" y="24955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2" name="Text 109"/>
          <p:cNvSpPr/>
          <p:nvPr/>
        </p:nvSpPr>
        <p:spPr>
          <a:xfrm>
            <a:off x="5290856" y="24955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3" name="Text 110"/>
          <p:cNvSpPr/>
          <p:nvPr/>
        </p:nvSpPr>
        <p:spPr>
          <a:xfrm>
            <a:off x="5823945" y="2495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14" name="Text 111"/>
          <p:cNvSpPr/>
          <p:nvPr/>
        </p:nvSpPr>
        <p:spPr>
          <a:xfrm>
            <a:off x="6328907" y="2495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15" name="Text 112"/>
          <p:cNvSpPr/>
          <p:nvPr/>
        </p:nvSpPr>
        <p:spPr>
          <a:xfrm>
            <a:off x="3245414" y="26479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6" name="Text 113"/>
          <p:cNvSpPr/>
          <p:nvPr/>
        </p:nvSpPr>
        <p:spPr>
          <a:xfrm>
            <a:off x="3757221" y="2647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7" name="Text 114"/>
          <p:cNvSpPr/>
          <p:nvPr/>
        </p:nvSpPr>
        <p:spPr>
          <a:xfrm>
            <a:off x="4265307" y="26479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18" name="Text 115"/>
          <p:cNvSpPr/>
          <p:nvPr/>
        </p:nvSpPr>
        <p:spPr>
          <a:xfrm>
            <a:off x="4774138" y="2647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19" name="Text 116"/>
          <p:cNvSpPr/>
          <p:nvPr/>
        </p:nvSpPr>
        <p:spPr>
          <a:xfrm>
            <a:off x="5290856" y="26479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0" name="Text 117"/>
          <p:cNvSpPr/>
          <p:nvPr/>
        </p:nvSpPr>
        <p:spPr>
          <a:xfrm>
            <a:off x="5823945" y="2647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1" name="Text 118"/>
          <p:cNvSpPr/>
          <p:nvPr/>
        </p:nvSpPr>
        <p:spPr>
          <a:xfrm>
            <a:off x="6328907" y="2647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2" name="Text 119"/>
          <p:cNvSpPr/>
          <p:nvPr/>
        </p:nvSpPr>
        <p:spPr>
          <a:xfrm>
            <a:off x="3245414" y="28003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3" name="Text 120"/>
          <p:cNvSpPr/>
          <p:nvPr/>
        </p:nvSpPr>
        <p:spPr>
          <a:xfrm>
            <a:off x="3757221" y="28003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4" name="Text 121"/>
          <p:cNvSpPr/>
          <p:nvPr/>
        </p:nvSpPr>
        <p:spPr>
          <a:xfrm>
            <a:off x="4265307" y="2800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25" name="Text 122"/>
          <p:cNvSpPr/>
          <p:nvPr/>
        </p:nvSpPr>
        <p:spPr>
          <a:xfrm>
            <a:off x="4774138" y="2800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26" name="Text 123"/>
          <p:cNvSpPr/>
          <p:nvPr/>
        </p:nvSpPr>
        <p:spPr>
          <a:xfrm>
            <a:off x="5290856" y="2800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27" name="Text 124"/>
          <p:cNvSpPr/>
          <p:nvPr/>
        </p:nvSpPr>
        <p:spPr>
          <a:xfrm>
            <a:off x="6328907" y="2800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28" name="Text 125"/>
          <p:cNvSpPr/>
          <p:nvPr/>
        </p:nvSpPr>
        <p:spPr>
          <a:xfrm>
            <a:off x="3245414" y="29527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29" name="Text 126"/>
          <p:cNvSpPr/>
          <p:nvPr/>
        </p:nvSpPr>
        <p:spPr>
          <a:xfrm>
            <a:off x="3757221" y="29527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0" name="Text 127"/>
          <p:cNvSpPr/>
          <p:nvPr/>
        </p:nvSpPr>
        <p:spPr>
          <a:xfrm>
            <a:off x="4265307" y="29527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1" name="Text 128"/>
          <p:cNvSpPr/>
          <p:nvPr/>
        </p:nvSpPr>
        <p:spPr>
          <a:xfrm>
            <a:off x="4774138" y="29527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2" name="Text 129"/>
          <p:cNvSpPr/>
          <p:nvPr/>
        </p:nvSpPr>
        <p:spPr>
          <a:xfrm>
            <a:off x="5290856" y="2952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33" name="Text 130"/>
          <p:cNvSpPr/>
          <p:nvPr/>
        </p:nvSpPr>
        <p:spPr>
          <a:xfrm>
            <a:off x="6328907" y="2952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34" name="Text 131"/>
          <p:cNvSpPr/>
          <p:nvPr/>
        </p:nvSpPr>
        <p:spPr>
          <a:xfrm>
            <a:off x="3245414" y="3105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35" name="Text 132"/>
          <p:cNvSpPr/>
          <p:nvPr/>
        </p:nvSpPr>
        <p:spPr>
          <a:xfrm>
            <a:off x="3757221" y="31051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36" name="Text 133"/>
          <p:cNvSpPr/>
          <p:nvPr/>
        </p:nvSpPr>
        <p:spPr>
          <a:xfrm>
            <a:off x="4774138" y="31051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37" name="Text 134"/>
          <p:cNvSpPr/>
          <p:nvPr/>
        </p:nvSpPr>
        <p:spPr>
          <a:xfrm>
            <a:off x="5823945" y="3105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38" name="Text 135"/>
          <p:cNvSpPr/>
          <p:nvPr/>
        </p:nvSpPr>
        <p:spPr>
          <a:xfrm>
            <a:off x="6328907" y="3105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39" name="Text 136"/>
          <p:cNvSpPr/>
          <p:nvPr/>
        </p:nvSpPr>
        <p:spPr>
          <a:xfrm>
            <a:off x="3245414" y="3257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0" name="Text 137"/>
          <p:cNvSpPr/>
          <p:nvPr/>
        </p:nvSpPr>
        <p:spPr>
          <a:xfrm>
            <a:off x="3757221" y="3257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1" name="Text 138"/>
          <p:cNvSpPr/>
          <p:nvPr/>
        </p:nvSpPr>
        <p:spPr>
          <a:xfrm>
            <a:off x="4265307" y="3257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2" name="Text 139"/>
          <p:cNvSpPr/>
          <p:nvPr/>
        </p:nvSpPr>
        <p:spPr>
          <a:xfrm>
            <a:off x="6328907" y="3257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43" name="Text 140"/>
          <p:cNvSpPr/>
          <p:nvPr/>
        </p:nvSpPr>
        <p:spPr>
          <a:xfrm>
            <a:off x="3245414" y="34099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44" name="Text 141"/>
          <p:cNvSpPr/>
          <p:nvPr/>
        </p:nvSpPr>
        <p:spPr>
          <a:xfrm>
            <a:off x="3757221" y="3409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5" name="Text 142"/>
          <p:cNvSpPr/>
          <p:nvPr/>
        </p:nvSpPr>
        <p:spPr>
          <a:xfrm>
            <a:off x="4774138" y="3409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46" name="Text 143"/>
          <p:cNvSpPr/>
          <p:nvPr/>
        </p:nvSpPr>
        <p:spPr>
          <a:xfrm>
            <a:off x="6328907" y="3409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47" name="Text 144"/>
          <p:cNvSpPr/>
          <p:nvPr/>
        </p:nvSpPr>
        <p:spPr>
          <a:xfrm>
            <a:off x="4265307" y="3562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48" name="Text 145"/>
          <p:cNvSpPr/>
          <p:nvPr/>
        </p:nvSpPr>
        <p:spPr>
          <a:xfrm>
            <a:off x="4774138" y="3562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9" name="Text 146"/>
          <p:cNvSpPr/>
          <p:nvPr/>
        </p:nvSpPr>
        <p:spPr>
          <a:xfrm>
            <a:off x="5290856" y="3562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0" name="Text 147"/>
          <p:cNvSpPr/>
          <p:nvPr/>
        </p:nvSpPr>
        <p:spPr>
          <a:xfrm>
            <a:off x="5823945" y="3562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1" name="Text 148"/>
          <p:cNvSpPr/>
          <p:nvPr/>
        </p:nvSpPr>
        <p:spPr>
          <a:xfrm>
            <a:off x="6328907" y="3562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2" name="Text 149"/>
          <p:cNvSpPr/>
          <p:nvPr/>
        </p:nvSpPr>
        <p:spPr>
          <a:xfrm>
            <a:off x="4265307" y="37147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53" name="Text 150"/>
          <p:cNvSpPr/>
          <p:nvPr/>
        </p:nvSpPr>
        <p:spPr>
          <a:xfrm>
            <a:off x="5290856" y="3714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54" name="Text 151"/>
          <p:cNvSpPr/>
          <p:nvPr/>
        </p:nvSpPr>
        <p:spPr>
          <a:xfrm>
            <a:off x="5823945" y="37147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55" name="Text 152"/>
          <p:cNvSpPr/>
          <p:nvPr/>
        </p:nvSpPr>
        <p:spPr>
          <a:xfrm>
            <a:off x="6328907" y="3714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56" name="Text 153"/>
          <p:cNvSpPr/>
          <p:nvPr/>
        </p:nvSpPr>
        <p:spPr>
          <a:xfrm>
            <a:off x="5290856" y="3867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57" name="Text 154"/>
          <p:cNvSpPr/>
          <p:nvPr/>
        </p:nvSpPr>
        <p:spPr>
          <a:xfrm>
            <a:off x="5823945" y="3867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58" name="Text 155"/>
          <p:cNvSpPr/>
          <p:nvPr/>
        </p:nvSpPr>
        <p:spPr>
          <a:xfrm>
            <a:off x="6328907" y="3867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59" name="Text 156"/>
          <p:cNvSpPr/>
          <p:nvPr/>
        </p:nvSpPr>
        <p:spPr>
          <a:xfrm>
            <a:off x="4265307" y="40195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0" name="Text 157"/>
          <p:cNvSpPr/>
          <p:nvPr/>
        </p:nvSpPr>
        <p:spPr>
          <a:xfrm>
            <a:off x="6328907" y="4019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1" name="Text 158"/>
          <p:cNvSpPr/>
          <p:nvPr/>
        </p:nvSpPr>
        <p:spPr>
          <a:xfrm>
            <a:off x="6328907" y="4171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2" name="Text 159"/>
          <p:cNvSpPr/>
          <p:nvPr/>
        </p:nvSpPr>
        <p:spPr>
          <a:xfrm>
            <a:off x="3245414" y="4324373"/>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3" name="Text 160"/>
          <p:cNvSpPr/>
          <p:nvPr/>
        </p:nvSpPr>
        <p:spPr>
          <a:xfrm>
            <a:off x="6328907" y="4324373"/>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64" name="Text 161"/>
          <p:cNvSpPr/>
          <p:nvPr/>
        </p:nvSpPr>
        <p:spPr>
          <a:xfrm>
            <a:off x="7448364" y="2027806"/>
            <a:ext cx="520570"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5" name="Text 162"/>
          <p:cNvSpPr/>
          <p:nvPr/>
        </p:nvSpPr>
        <p:spPr>
          <a:xfrm>
            <a:off x="7448364" y="2256406"/>
            <a:ext cx="520570" cy="2905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66" name="Text 163"/>
          <p:cNvSpPr/>
          <p:nvPr/>
        </p:nvSpPr>
        <p:spPr>
          <a:xfrm>
            <a:off x="7448364" y="2899344"/>
            <a:ext cx="52057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67" name="Text 164"/>
          <p:cNvSpPr/>
          <p:nvPr/>
        </p:nvSpPr>
        <p:spPr>
          <a:xfrm>
            <a:off x="5290856" y="2200298"/>
            <a:ext cx="549082"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68" name="Text 165"/>
          <p:cNvSpPr/>
          <p:nvPr/>
        </p:nvSpPr>
        <p:spPr>
          <a:xfrm>
            <a:off x="704832" y="2800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10</a:t>
            </a:r>
            <a:endParaRPr lang="en-US" sz="624" dirty="0"/>
          </a:p>
        </p:txBody>
      </p:sp>
      <p:sp>
        <p:nvSpPr>
          <p:cNvPr id="169" name="Text 166"/>
          <p:cNvSpPr/>
          <p:nvPr/>
        </p:nvSpPr>
        <p:spPr>
          <a:xfrm>
            <a:off x="5823945" y="2800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70" name="Text 167"/>
          <p:cNvSpPr/>
          <p:nvPr/>
        </p:nvSpPr>
        <p:spPr>
          <a:xfrm>
            <a:off x="704832" y="2952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11</a:t>
            </a:r>
            <a:endParaRPr lang="en-US" sz="624" dirty="0"/>
          </a:p>
        </p:txBody>
      </p:sp>
      <p:sp>
        <p:nvSpPr>
          <p:cNvPr id="171" name="Text 168"/>
          <p:cNvSpPr/>
          <p:nvPr/>
        </p:nvSpPr>
        <p:spPr>
          <a:xfrm>
            <a:off x="5823945" y="2952773"/>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72" name="Text 169"/>
          <p:cNvSpPr/>
          <p:nvPr/>
        </p:nvSpPr>
        <p:spPr>
          <a:xfrm>
            <a:off x="704832" y="3105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12</a:t>
            </a:r>
            <a:endParaRPr lang="en-US" sz="624" dirty="0"/>
          </a:p>
        </p:txBody>
      </p:sp>
      <p:sp>
        <p:nvSpPr>
          <p:cNvPr id="173" name="Text 170"/>
          <p:cNvSpPr/>
          <p:nvPr/>
        </p:nvSpPr>
        <p:spPr>
          <a:xfrm>
            <a:off x="4265307" y="31051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74" name="Text 171"/>
          <p:cNvSpPr/>
          <p:nvPr/>
        </p:nvSpPr>
        <p:spPr>
          <a:xfrm>
            <a:off x="5290856" y="3105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75" name="Text 172"/>
          <p:cNvSpPr/>
          <p:nvPr/>
        </p:nvSpPr>
        <p:spPr>
          <a:xfrm>
            <a:off x="704832" y="3257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13</a:t>
            </a:r>
            <a:endParaRPr lang="en-US" sz="624" dirty="0"/>
          </a:p>
        </p:txBody>
      </p:sp>
      <p:sp>
        <p:nvSpPr>
          <p:cNvPr id="176" name="Text 173"/>
          <p:cNvSpPr/>
          <p:nvPr/>
        </p:nvSpPr>
        <p:spPr>
          <a:xfrm>
            <a:off x="4774138" y="3257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77" name="Text 174"/>
          <p:cNvSpPr/>
          <p:nvPr/>
        </p:nvSpPr>
        <p:spPr>
          <a:xfrm>
            <a:off x="5290856" y="32575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78" name="Text 175"/>
          <p:cNvSpPr/>
          <p:nvPr/>
        </p:nvSpPr>
        <p:spPr>
          <a:xfrm>
            <a:off x="5823945" y="3257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79" name="Text 176"/>
          <p:cNvSpPr/>
          <p:nvPr/>
        </p:nvSpPr>
        <p:spPr>
          <a:xfrm>
            <a:off x="704832" y="3409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14</a:t>
            </a:r>
            <a:endParaRPr lang="en-US" sz="624" dirty="0"/>
          </a:p>
        </p:txBody>
      </p:sp>
      <p:sp>
        <p:nvSpPr>
          <p:cNvPr id="180" name="Text 177"/>
          <p:cNvSpPr/>
          <p:nvPr/>
        </p:nvSpPr>
        <p:spPr>
          <a:xfrm>
            <a:off x="4265307" y="34099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81" name="Text 178"/>
          <p:cNvSpPr/>
          <p:nvPr/>
        </p:nvSpPr>
        <p:spPr>
          <a:xfrm>
            <a:off x="5290856" y="3409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82" name="Text 179"/>
          <p:cNvSpPr/>
          <p:nvPr/>
        </p:nvSpPr>
        <p:spPr>
          <a:xfrm>
            <a:off x="5823945" y="3409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183" name="Text 180"/>
          <p:cNvSpPr/>
          <p:nvPr/>
        </p:nvSpPr>
        <p:spPr>
          <a:xfrm>
            <a:off x="704832" y="3562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15</a:t>
            </a:r>
            <a:endParaRPr lang="en-US" sz="624" dirty="0"/>
          </a:p>
        </p:txBody>
      </p:sp>
      <p:sp>
        <p:nvSpPr>
          <p:cNvPr id="184" name="Text 181"/>
          <p:cNvSpPr/>
          <p:nvPr/>
        </p:nvSpPr>
        <p:spPr>
          <a:xfrm>
            <a:off x="3757221" y="35623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185" name="Text 182"/>
          <p:cNvSpPr/>
          <p:nvPr/>
        </p:nvSpPr>
        <p:spPr>
          <a:xfrm>
            <a:off x="704832" y="3714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16</a:t>
            </a:r>
            <a:endParaRPr lang="en-US" sz="624" dirty="0"/>
          </a:p>
        </p:txBody>
      </p:sp>
      <p:sp>
        <p:nvSpPr>
          <p:cNvPr id="186" name="Text 183"/>
          <p:cNvSpPr/>
          <p:nvPr/>
        </p:nvSpPr>
        <p:spPr>
          <a:xfrm>
            <a:off x="3757221" y="37147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187" name="Text 184"/>
          <p:cNvSpPr/>
          <p:nvPr/>
        </p:nvSpPr>
        <p:spPr>
          <a:xfrm>
            <a:off x="4774138" y="37147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188" name="Text 185"/>
          <p:cNvSpPr/>
          <p:nvPr/>
        </p:nvSpPr>
        <p:spPr>
          <a:xfrm>
            <a:off x="704832" y="3867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17</a:t>
            </a:r>
            <a:endParaRPr lang="en-US" sz="624" dirty="0"/>
          </a:p>
        </p:txBody>
      </p:sp>
      <p:sp>
        <p:nvSpPr>
          <p:cNvPr id="189" name="Text 186"/>
          <p:cNvSpPr/>
          <p:nvPr/>
        </p:nvSpPr>
        <p:spPr>
          <a:xfrm>
            <a:off x="704832" y="4019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18</a:t>
            </a:r>
            <a:endParaRPr lang="en-US" sz="624" dirty="0"/>
          </a:p>
        </p:txBody>
      </p:sp>
      <p:sp>
        <p:nvSpPr>
          <p:cNvPr id="190" name="Text 187"/>
          <p:cNvSpPr/>
          <p:nvPr/>
        </p:nvSpPr>
        <p:spPr>
          <a:xfrm>
            <a:off x="3757221" y="40195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191" name="Text 188"/>
          <p:cNvSpPr/>
          <p:nvPr/>
        </p:nvSpPr>
        <p:spPr>
          <a:xfrm>
            <a:off x="4774138" y="4019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192" name="Text 189"/>
          <p:cNvSpPr/>
          <p:nvPr/>
        </p:nvSpPr>
        <p:spPr>
          <a:xfrm>
            <a:off x="704832" y="4171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19</a:t>
            </a:r>
            <a:endParaRPr lang="en-US" sz="624" dirty="0"/>
          </a:p>
        </p:txBody>
      </p:sp>
      <p:sp>
        <p:nvSpPr>
          <p:cNvPr id="193" name="Text 190"/>
          <p:cNvSpPr/>
          <p:nvPr/>
        </p:nvSpPr>
        <p:spPr>
          <a:xfrm>
            <a:off x="4774138" y="4171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194" name="Text 191"/>
          <p:cNvSpPr/>
          <p:nvPr/>
        </p:nvSpPr>
        <p:spPr>
          <a:xfrm>
            <a:off x="5290856" y="4171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195" name="Text 192"/>
          <p:cNvSpPr/>
          <p:nvPr/>
        </p:nvSpPr>
        <p:spPr>
          <a:xfrm>
            <a:off x="5823945" y="4171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196" name="Text 193"/>
          <p:cNvSpPr/>
          <p:nvPr/>
        </p:nvSpPr>
        <p:spPr>
          <a:xfrm>
            <a:off x="704832" y="4324373"/>
            <a:ext cx="319914" cy="142875"/>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20</a:t>
            </a:r>
            <a:endParaRPr lang="en-US" sz="624" dirty="0"/>
          </a:p>
        </p:txBody>
      </p:sp>
      <p:sp>
        <p:nvSpPr>
          <p:cNvPr id="197" name="Text 194"/>
          <p:cNvSpPr/>
          <p:nvPr/>
        </p:nvSpPr>
        <p:spPr>
          <a:xfrm>
            <a:off x="704832" y="44672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21</a:t>
            </a:r>
            <a:endParaRPr lang="en-US" sz="624" dirty="0"/>
          </a:p>
        </p:txBody>
      </p:sp>
      <p:sp>
        <p:nvSpPr>
          <p:cNvPr id="198" name="Text 195"/>
          <p:cNvSpPr/>
          <p:nvPr/>
        </p:nvSpPr>
        <p:spPr>
          <a:xfrm>
            <a:off x="4774138" y="4467248"/>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199" name="Text 196"/>
          <p:cNvSpPr/>
          <p:nvPr/>
        </p:nvSpPr>
        <p:spPr>
          <a:xfrm>
            <a:off x="6328907" y="44672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00" name="Text 197"/>
          <p:cNvSpPr/>
          <p:nvPr/>
        </p:nvSpPr>
        <p:spPr>
          <a:xfrm>
            <a:off x="704832" y="46196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22</a:t>
            </a:r>
            <a:endParaRPr lang="en-US" sz="624" dirty="0"/>
          </a:p>
        </p:txBody>
      </p:sp>
      <p:sp>
        <p:nvSpPr>
          <p:cNvPr id="201" name="Text 198"/>
          <p:cNvSpPr/>
          <p:nvPr/>
        </p:nvSpPr>
        <p:spPr>
          <a:xfrm>
            <a:off x="5823945" y="46196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02" name="Text 199"/>
          <p:cNvSpPr/>
          <p:nvPr/>
        </p:nvSpPr>
        <p:spPr>
          <a:xfrm>
            <a:off x="6328907" y="46196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03" name="Text 200"/>
          <p:cNvSpPr/>
          <p:nvPr/>
        </p:nvSpPr>
        <p:spPr>
          <a:xfrm>
            <a:off x="704832" y="47720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23</a:t>
            </a:r>
            <a:endParaRPr lang="en-US" sz="624" dirty="0"/>
          </a:p>
        </p:txBody>
      </p:sp>
      <p:sp>
        <p:nvSpPr>
          <p:cNvPr id="204" name="Text 201"/>
          <p:cNvSpPr/>
          <p:nvPr/>
        </p:nvSpPr>
        <p:spPr>
          <a:xfrm>
            <a:off x="5290856" y="4772048"/>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05" name="Text 202"/>
          <p:cNvSpPr/>
          <p:nvPr/>
        </p:nvSpPr>
        <p:spPr>
          <a:xfrm>
            <a:off x="5823945" y="47720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06" name="Text 203"/>
          <p:cNvSpPr/>
          <p:nvPr/>
        </p:nvSpPr>
        <p:spPr>
          <a:xfrm>
            <a:off x="6328907" y="47720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07" name="Text 204"/>
          <p:cNvSpPr/>
          <p:nvPr/>
        </p:nvSpPr>
        <p:spPr>
          <a:xfrm>
            <a:off x="704832" y="49244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24</a:t>
            </a:r>
            <a:endParaRPr lang="en-US" sz="624" dirty="0"/>
          </a:p>
        </p:txBody>
      </p:sp>
      <p:sp>
        <p:nvSpPr>
          <p:cNvPr id="208" name="Text 205"/>
          <p:cNvSpPr/>
          <p:nvPr/>
        </p:nvSpPr>
        <p:spPr>
          <a:xfrm>
            <a:off x="5823945" y="49244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09" name="Text 206"/>
          <p:cNvSpPr/>
          <p:nvPr/>
        </p:nvSpPr>
        <p:spPr>
          <a:xfrm>
            <a:off x="6328907" y="49244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10" name="Text 207"/>
          <p:cNvSpPr/>
          <p:nvPr/>
        </p:nvSpPr>
        <p:spPr>
          <a:xfrm>
            <a:off x="704832" y="50768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25</a:t>
            </a:r>
            <a:endParaRPr lang="en-US" sz="62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806476" cy="526715"/>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73337" y="2926495"/>
            <a:ext cx="2858689" cy="214313"/>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5" name="Text 2"/>
          <p:cNvSpPr/>
          <p:nvPr/>
        </p:nvSpPr>
        <p:spPr>
          <a:xfrm>
            <a:off x="8673337" y="3140807"/>
            <a:ext cx="28586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6" name="Text 3"/>
          <p:cNvSpPr/>
          <p:nvPr/>
        </p:nvSpPr>
        <p:spPr>
          <a:xfrm>
            <a:off x="8673337" y="4017107"/>
            <a:ext cx="28586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7" name="Text 4"/>
          <p:cNvSpPr/>
          <p:nvPr/>
        </p:nvSpPr>
        <p:spPr>
          <a:xfrm>
            <a:off x="8673337" y="4236182"/>
            <a:ext cx="2858689" cy="214313"/>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41 eventos de incentivo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8673337" y="3798032"/>
            <a:ext cx="28586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1015429" y="2800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1" name="Text 8"/>
          <p:cNvSpPr/>
          <p:nvPr/>
        </p:nvSpPr>
        <p:spPr>
          <a:xfrm>
            <a:off x="1015429" y="46196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2" name="Text 9"/>
          <p:cNvSpPr/>
          <p:nvPr/>
        </p:nvSpPr>
        <p:spPr>
          <a:xfrm>
            <a:off x="8673337" y="3359882"/>
            <a:ext cx="28586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Incentivos de rendimiento medio</a:t>
            </a:r>
            <a:endParaRPr lang="en-US" sz="720" dirty="0"/>
          </a:p>
        </p:txBody>
      </p:sp>
      <p:sp>
        <p:nvSpPr>
          <p:cNvPr id="13" name="Text 10"/>
          <p:cNvSpPr/>
          <p:nvPr/>
        </p:nvSpPr>
        <p:spPr>
          <a:xfrm>
            <a:off x="1015429" y="18954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4" name="Text 11"/>
          <p:cNvSpPr/>
          <p:nvPr/>
        </p:nvSpPr>
        <p:spPr>
          <a:xfrm>
            <a:off x="1015429" y="20478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5" name="Text 12"/>
          <p:cNvSpPr/>
          <p:nvPr/>
        </p:nvSpPr>
        <p:spPr>
          <a:xfrm>
            <a:off x="7867453" y="2085975"/>
            <a:ext cx="2918625" cy="188244"/>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6" name="Text 13"/>
          <p:cNvSpPr/>
          <p:nvPr/>
        </p:nvSpPr>
        <p:spPr>
          <a:xfrm>
            <a:off x="1015429" y="15906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7" name="Text 14"/>
          <p:cNvSpPr/>
          <p:nvPr/>
        </p:nvSpPr>
        <p:spPr>
          <a:xfrm>
            <a:off x="1015429" y="50768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8" name="Text 15"/>
          <p:cNvSpPr/>
          <p:nvPr/>
        </p:nvSpPr>
        <p:spPr>
          <a:xfrm>
            <a:off x="1015429" y="3105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19" name="Text 16"/>
          <p:cNvSpPr/>
          <p:nvPr/>
        </p:nvSpPr>
        <p:spPr>
          <a:xfrm>
            <a:off x="1015429" y="1443060"/>
            <a:ext cx="2296884" cy="147637"/>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20" name="Text 17"/>
          <p:cNvSpPr/>
          <p:nvPr/>
        </p:nvSpPr>
        <p:spPr>
          <a:xfrm>
            <a:off x="1015429" y="2647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1" name="Text 18"/>
          <p:cNvSpPr/>
          <p:nvPr/>
        </p:nvSpPr>
        <p:spPr>
          <a:xfrm>
            <a:off x="1015429" y="2952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2" name="Text 19"/>
          <p:cNvSpPr/>
          <p:nvPr/>
        </p:nvSpPr>
        <p:spPr>
          <a:xfrm>
            <a:off x="1015429" y="2495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3" name="Text 20"/>
          <p:cNvSpPr/>
          <p:nvPr/>
        </p:nvSpPr>
        <p:spPr>
          <a:xfrm>
            <a:off x="1015429" y="3562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4" name="Text 21"/>
          <p:cNvSpPr/>
          <p:nvPr/>
        </p:nvSpPr>
        <p:spPr>
          <a:xfrm>
            <a:off x="1015429" y="3257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5" name="Text 22"/>
          <p:cNvSpPr/>
          <p:nvPr/>
        </p:nvSpPr>
        <p:spPr>
          <a:xfrm>
            <a:off x="1015429" y="17430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6" name="Text 23"/>
          <p:cNvSpPr/>
          <p:nvPr/>
        </p:nvSpPr>
        <p:spPr>
          <a:xfrm>
            <a:off x="1015429" y="49244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27" name="Text 24"/>
          <p:cNvSpPr/>
          <p:nvPr/>
        </p:nvSpPr>
        <p:spPr>
          <a:xfrm>
            <a:off x="8673337" y="3578957"/>
            <a:ext cx="28586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Patrón similar a marzo</a:t>
            </a:r>
            <a:endParaRPr lang="en-US" sz="720" dirty="0"/>
          </a:p>
        </p:txBody>
      </p:sp>
      <p:sp>
        <p:nvSpPr>
          <p:cNvPr id="28" name="Text 25"/>
          <p:cNvSpPr/>
          <p:nvPr/>
        </p:nvSpPr>
        <p:spPr>
          <a:xfrm>
            <a:off x="1015429" y="4019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29" name="Text 26"/>
          <p:cNvSpPr/>
          <p:nvPr/>
        </p:nvSpPr>
        <p:spPr>
          <a:xfrm>
            <a:off x="1015429" y="44672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0" name="Text 27"/>
          <p:cNvSpPr/>
          <p:nvPr/>
        </p:nvSpPr>
        <p:spPr>
          <a:xfrm>
            <a:off x="1015429" y="3714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31" name="Text 28"/>
          <p:cNvSpPr/>
          <p:nvPr/>
        </p:nvSpPr>
        <p:spPr>
          <a:xfrm>
            <a:off x="1015429" y="4171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2" name="Text 29"/>
          <p:cNvSpPr/>
          <p:nvPr/>
        </p:nvSpPr>
        <p:spPr>
          <a:xfrm>
            <a:off x="1015429" y="2200298"/>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3" name="Text 30"/>
          <p:cNvSpPr/>
          <p:nvPr/>
        </p:nvSpPr>
        <p:spPr>
          <a:xfrm>
            <a:off x="1015429" y="47720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4" name="Text 31"/>
          <p:cNvSpPr/>
          <p:nvPr/>
        </p:nvSpPr>
        <p:spPr>
          <a:xfrm>
            <a:off x="10196555" y="209550"/>
            <a:ext cx="14663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5" name="Text 32"/>
          <p:cNvSpPr/>
          <p:nvPr/>
        </p:nvSpPr>
        <p:spPr>
          <a:xfrm>
            <a:off x="1015429" y="3409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6" name="Text 33"/>
          <p:cNvSpPr/>
          <p:nvPr/>
        </p:nvSpPr>
        <p:spPr>
          <a:xfrm>
            <a:off x="1015429" y="2343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37" name="Text 34"/>
          <p:cNvSpPr/>
          <p:nvPr/>
        </p:nvSpPr>
        <p:spPr>
          <a:xfrm>
            <a:off x="1015429" y="3867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8" name="Text 35"/>
          <p:cNvSpPr/>
          <p:nvPr/>
        </p:nvSpPr>
        <p:spPr>
          <a:xfrm>
            <a:off x="1015429" y="4324373"/>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39" name="Text 36"/>
          <p:cNvSpPr/>
          <p:nvPr/>
        </p:nvSpPr>
        <p:spPr>
          <a:xfrm>
            <a:off x="1687222" y="5429250"/>
            <a:ext cx="463853" cy="128016"/>
          </a:xfrm>
          <a:prstGeom prst="rect">
            <a:avLst/>
          </a:prstGeom>
          <a:noFill/>
          <a:ln/>
        </p:spPr>
        <p:txBody>
          <a:bodyPr wrap="squar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 = sin dato</a:t>
            </a:r>
            <a:endParaRPr lang="en-US" sz="648" dirty="0"/>
          </a:p>
        </p:txBody>
      </p:sp>
      <p:sp>
        <p:nvSpPr>
          <p:cNvPr id="40" name="Text 37"/>
          <p:cNvSpPr/>
          <p:nvPr/>
        </p:nvSpPr>
        <p:spPr>
          <a:xfrm>
            <a:off x="1149073" y="5429250"/>
            <a:ext cx="436567" cy="128016"/>
          </a:xfrm>
          <a:prstGeom prst="rect">
            <a:avLst/>
          </a:prstGeom>
          <a:noFill/>
          <a:ln/>
        </p:spPr>
        <p:txBody>
          <a:bodyPr wrap="square" lIns="0" tIns="0" rIns="0" bIns="0" rtlCol="0" anchor="t"/>
          <a:lstStyle/>
          <a:p>
            <a:pPr algn="l" indent="0" marL="0">
              <a:buNone/>
            </a:pPr>
            <a:r>
              <a:rPr lang="en-US" sz="648" dirty="0">
                <a:solidFill>
                  <a:srgbClr val="C44A1A"/>
                </a:solidFill>
                <a:latin typeface="Raleway" pitchFamily="34" charset="0"/>
                <a:ea typeface="Raleway" pitchFamily="34" charset="-122"/>
                <a:cs typeface="Raleway" pitchFamily="34" charset="-120"/>
              </a:rPr>
              <a:t>rojo &lt; meta</a:t>
            </a:r>
            <a:endParaRPr lang="en-US" sz="648" dirty="0"/>
          </a:p>
        </p:txBody>
      </p:sp>
      <p:sp>
        <p:nvSpPr>
          <p:cNvPr id="41" name="Text 38"/>
          <p:cNvSpPr/>
          <p:nvPr/>
        </p:nvSpPr>
        <p:spPr>
          <a:xfrm>
            <a:off x="7963296" y="2697895"/>
            <a:ext cx="73134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2" name="Text 39"/>
          <p:cNvSpPr/>
          <p:nvPr/>
        </p:nvSpPr>
        <p:spPr>
          <a:xfrm>
            <a:off x="8673337" y="2697895"/>
            <a:ext cx="285868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3" name="Text 40"/>
          <p:cNvSpPr/>
          <p:nvPr/>
        </p:nvSpPr>
        <p:spPr>
          <a:xfrm>
            <a:off x="1015429" y="1252560"/>
            <a:ext cx="2296884" cy="190500"/>
          </a:xfrm>
          <a:prstGeom prst="rect">
            <a:avLst/>
          </a:prstGeom>
          <a:noFill/>
          <a:ln/>
        </p:spPr>
        <p:txBody>
          <a:bodyPr wrap="square" lIns="28575" tIns="57150" rIns="57150" bIns="2857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4" name="Text 41"/>
          <p:cNvSpPr/>
          <p:nvPr/>
        </p:nvSpPr>
        <p:spPr>
          <a:xfrm>
            <a:off x="6328907" y="5229248"/>
            <a:ext cx="642895"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5" name="Text 42"/>
          <p:cNvSpPr/>
          <p:nvPr/>
        </p:nvSpPr>
        <p:spPr>
          <a:xfrm>
            <a:off x="6328907" y="1252560"/>
            <a:ext cx="642895"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46" name="Text 43"/>
          <p:cNvSpPr/>
          <p:nvPr/>
        </p:nvSpPr>
        <p:spPr>
          <a:xfrm>
            <a:off x="6328907" y="1443060"/>
            <a:ext cx="642895" cy="147637"/>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47" name="Text 44"/>
          <p:cNvSpPr/>
          <p:nvPr/>
        </p:nvSpPr>
        <p:spPr>
          <a:xfrm>
            <a:off x="6328907" y="15906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48" name="Text 45"/>
          <p:cNvSpPr/>
          <p:nvPr/>
        </p:nvSpPr>
        <p:spPr>
          <a:xfrm>
            <a:off x="1015429" y="5229248"/>
            <a:ext cx="2296884" cy="147637"/>
          </a:xfrm>
          <a:prstGeom prst="rect">
            <a:avLst/>
          </a:prstGeom>
          <a:noFill/>
          <a:ln/>
        </p:spPr>
        <p:txBody>
          <a:bodyPr wrap="square" lIns="19050" tIns="57150" rIns="57150" bIns="19050" rtlCol="0" anchor="ctr"/>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49" name="Text 46"/>
          <p:cNvSpPr/>
          <p:nvPr/>
        </p:nvSpPr>
        <p:spPr>
          <a:xfrm>
            <a:off x="3245414" y="5229248"/>
            <a:ext cx="527161"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0" name="Text 47"/>
          <p:cNvSpPr/>
          <p:nvPr/>
        </p:nvSpPr>
        <p:spPr>
          <a:xfrm>
            <a:off x="3757221" y="5229248"/>
            <a:ext cx="523329"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1" name="Text 48"/>
          <p:cNvSpPr/>
          <p:nvPr/>
        </p:nvSpPr>
        <p:spPr>
          <a:xfrm>
            <a:off x="4265307" y="5229248"/>
            <a:ext cx="524096"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2" name="Text 49"/>
          <p:cNvSpPr/>
          <p:nvPr/>
        </p:nvSpPr>
        <p:spPr>
          <a:xfrm>
            <a:off x="4774138" y="5229248"/>
            <a:ext cx="53222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3" name="Text 50"/>
          <p:cNvSpPr/>
          <p:nvPr/>
        </p:nvSpPr>
        <p:spPr>
          <a:xfrm>
            <a:off x="5290856" y="5229248"/>
            <a:ext cx="549082"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4" name="Text 51"/>
          <p:cNvSpPr/>
          <p:nvPr/>
        </p:nvSpPr>
        <p:spPr>
          <a:xfrm>
            <a:off x="5823945" y="5229248"/>
            <a:ext cx="52011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5" name="Text 52"/>
          <p:cNvSpPr/>
          <p:nvPr/>
        </p:nvSpPr>
        <p:spPr>
          <a:xfrm>
            <a:off x="7448364" y="4236182"/>
            <a:ext cx="530380" cy="214313"/>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56" name="Text 53"/>
          <p:cNvSpPr/>
          <p:nvPr/>
        </p:nvSpPr>
        <p:spPr>
          <a:xfrm>
            <a:off x="10517867" y="1066800"/>
            <a:ext cx="444998" cy="206026"/>
          </a:xfrm>
          <a:prstGeom prst="rect">
            <a:avLst/>
          </a:prstGeom>
          <a:noFill/>
          <a:ln/>
        </p:spPr>
        <p:txBody>
          <a:bodyPr wrap="square" lIns="38100" tIns="95250" rIns="95250" bIns="3810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Vanti</a:t>
            </a:r>
            <a:endParaRPr lang="en-US" sz="720" dirty="0"/>
          </a:p>
        </p:txBody>
      </p:sp>
      <p:sp>
        <p:nvSpPr>
          <p:cNvPr id="57" name="Text 54"/>
          <p:cNvSpPr/>
          <p:nvPr/>
        </p:nvSpPr>
        <p:spPr>
          <a:xfrm>
            <a:off x="10988003" y="1066800"/>
            <a:ext cx="474583" cy="206026"/>
          </a:xfrm>
          <a:prstGeom prst="rect">
            <a:avLst/>
          </a:prstGeom>
          <a:noFill/>
          <a:ln/>
        </p:spPr>
        <p:txBody>
          <a:bodyPr wrap="square" lIns="38100" tIns="95250" rIns="95250" bIns="3810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3245414" y="1252560"/>
            <a:ext cx="527161"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59" name="Text 56"/>
          <p:cNvSpPr/>
          <p:nvPr/>
        </p:nvSpPr>
        <p:spPr>
          <a:xfrm>
            <a:off x="3757221" y="1252560"/>
            <a:ext cx="523329"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0" name="Text 57"/>
          <p:cNvSpPr/>
          <p:nvPr/>
        </p:nvSpPr>
        <p:spPr>
          <a:xfrm>
            <a:off x="4265307" y="1252560"/>
            <a:ext cx="524096"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1" name="Text 58"/>
          <p:cNvSpPr/>
          <p:nvPr/>
        </p:nvSpPr>
        <p:spPr>
          <a:xfrm>
            <a:off x="4774138" y="1252560"/>
            <a:ext cx="53222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2" name="Text 59"/>
          <p:cNvSpPr/>
          <p:nvPr/>
        </p:nvSpPr>
        <p:spPr>
          <a:xfrm>
            <a:off x="5290856" y="1252560"/>
            <a:ext cx="549082"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3" name="Text 60"/>
          <p:cNvSpPr/>
          <p:nvPr/>
        </p:nvSpPr>
        <p:spPr>
          <a:xfrm>
            <a:off x="5823945" y="1252560"/>
            <a:ext cx="52011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4" name="Text 61"/>
          <p:cNvSpPr/>
          <p:nvPr/>
        </p:nvSpPr>
        <p:spPr>
          <a:xfrm>
            <a:off x="3245414" y="1443060"/>
            <a:ext cx="527161"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65" name="Text 62"/>
          <p:cNvSpPr/>
          <p:nvPr/>
        </p:nvSpPr>
        <p:spPr>
          <a:xfrm>
            <a:off x="3757221" y="1443060"/>
            <a:ext cx="523329"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66" name="Text 63"/>
          <p:cNvSpPr/>
          <p:nvPr/>
        </p:nvSpPr>
        <p:spPr>
          <a:xfrm>
            <a:off x="4265307" y="1443060"/>
            <a:ext cx="524096"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67" name="Text 64"/>
          <p:cNvSpPr/>
          <p:nvPr/>
        </p:nvSpPr>
        <p:spPr>
          <a:xfrm>
            <a:off x="4774138" y="1443060"/>
            <a:ext cx="53222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68" name="Text 65"/>
          <p:cNvSpPr/>
          <p:nvPr/>
        </p:nvSpPr>
        <p:spPr>
          <a:xfrm>
            <a:off x="5290856" y="1443060"/>
            <a:ext cx="549082"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69" name="Text 66"/>
          <p:cNvSpPr/>
          <p:nvPr/>
        </p:nvSpPr>
        <p:spPr>
          <a:xfrm>
            <a:off x="5823945" y="1443060"/>
            <a:ext cx="52011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0" name="Text 67"/>
          <p:cNvSpPr/>
          <p:nvPr/>
        </p:nvSpPr>
        <p:spPr>
          <a:xfrm>
            <a:off x="3245414" y="15906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1" name="Text 68"/>
          <p:cNvSpPr/>
          <p:nvPr/>
        </p:nvSpPr>
        <p:spPr>
          <a:xfrm>
            <a:off x="3757221" y="15906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2" name="Text 69"/>
          <p:cNvSpPr/>
          <p:nvPr/>
        </p:nvSpPr>
        <p:spPr>
          <a:xfrm>
            <a:off x="4265307" y="15906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3" name="Text 70"/>
          <p:cNvSpPr/>
          <p:nvPr/>
        </p:nvSpPr>
        <p:spPr>
          <a:xfrm>
            <a:off x="4774138" y="15906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4" name="Text 71"/>
          <p:cNvSpPr/>
          <p:nvPr/>
        </p:nvSpPr>
        <p:spPr>
          <a:xfrm>
            <a:off x="5290856" y="15906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75" name="Text 72"/>
          <p:cNvSpPr/>
          <p:nvPr/>
        </p:nvSpPr>
        <p:spPr>
          <a:xfrm>
            <a:off x="5823945" y="15906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6" name="Text 73"/>
          <p:cNvSpPr/>
          <p:nvPr/>
        </p:nvSpPr>
        <p:spPr>
          <a:xfrm>
            <a:off x="3245414" y="17430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77" name="Text 74"/>
          <p:cNvSpPr/>
          <p:nvPr/>
        </p:nvSpPr>
        <p:spPr>
          <a:xfrm>
            <a:off x="3757221" y="17430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8" name="Text 75"/>
          <p:cNvSpPr/>
          <p:nvPr/>
        </p:nvSpPr>
        <p:spPr>
          <a:xfrm>
            <a:off x="4265307" y="17430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79" name="Text 76"/>
          <p:cNvSpPr/>
          <p:nvPr/>
        </p:nvSpPr>
        <p:spPr>
          <a:xfrm>
            <a:off x="4774138" y="17430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0" name="Text 77"/>
          <p:cNvSpPr/>
          <p:nvPr/>
        </p:nvSpPr>
        <p:spPr>
          <a:xfrm>
            <a:off x="5290856" y="17430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1" name="Text 78"/>
          <p:cNvSpPr/>
          <p:nvPr/>
        </p:nvSpPr>
        <p:spPr>
          <a:xfrm>
            <a:off x="5823945" y="17430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2" name="Text 79"/>
          <p:cNvSpPr/>
          <p:nvPr/>
        </p:nvSpPr>
        <p:spPr>
          <a:xfrm>
            <a:off x="6328907" y="17430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3" name="Text 80"/>
          <p:cNvSpPr/>
          <p:nvPr/>
        </p:nvSpPr>
        <p:spPr>
          <a:xfrm>
            <a:off x="3245414" y="18954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4" name="Text 81"/>
          <p:cNvSpPr/>
          <p:nvPr/>
        </p:nvSpPr>
        <p:spPr>
          <a:xfrm>
            <a:off x="3757221" y="18954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85" name="Text 82"/>
          <p:cNvSpPr/>
          <p:nvPr/>
        </p:nvSpPr>
        <p:spPr>
          <a:xfrm>
            <a:off x="4265307" y="18954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86" name="Text 83"/>
          <p:cNvSpPr/>
          <p:nvPr/>
        </p:nvSpPr>
        <p:spPr>
          <a:xfrm>
            <a:off x="4774138" y="18954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7" name="Text 84"/>
          <p:cNvSpPr/>
          <p:nvPr/>
        </p:nvSpPr>
        <p:spPr>
          <a:xfrm>
            <a:off x="5290856" y="18954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8" name="Text 85"/>
          <p:cNvSpPr/>
          <p:nvPr/>
        </p:nvSpPr>
        <p:spPr>
          <a:xfrm>
            <a:off x="5823945" y="18954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89" name="Text 86"/>
          <p:cNvSpPr/>
          <p:nvPr/>
        </p:nvSpPr>
        <p:spPr>
          <a:xfrm>
            <a:off x="6328907" y="18954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0" name="Text 87"/>
          <p:cNvSpPr/>
          <p:nvPr/>
        </p:nvSpPr>
        <p:spPr>
          <a:xfrm>
            <a:off x="3245414" y="20478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1" name="Text 88"/>
          <p:cNvSpPr/>
          <p:nvPr/>
        </p:nvSpPr>
        <p:spPr>
          <a:xfrm>
            <a:off x="3757221" y="20478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2" name="Text 89"/>
          <p:cNvSpPr/>
          <p:nvPr/>
        </p:nvSpPr>
        <p:spPr>
          <a:xfrm>
            <a:off x="4265307" y="20478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3" name="Text 90"/>
          <p:cNvSpPr/>
          <p:nvPr/>
        </p:nvSpPr>
        <p:spPr>
          <a:xfrm>
            <a:off x="4774138" y="20478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4" name="Text 91"/>
          <p:cNvSpPr/>
          <p:nvPr/>
        </p:nvSpPr>
        <p:spPr>
          <a:xfrm>
            <a:off x="5290856" y="20478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5" name="Text 92"/>
          <p:cNvSpPr/>
          <p:nvPr/>
        </p:nvSpPr>
        <p:spPr>
          <a:xfrm>
            <a:off x="5823945" y="20478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6" name="Text 93"/>
          <p:cNvSpPr/>
          <p:nvPr/>
        </p:nvSpPr>
        <p:spPr>
          <a:xfrm>
            <a:off x="6328907" y="20478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97" name="Text 94"/>
          <p:cNvSpPr/>
          <p:nvPr/>
        </p:nvSpPr>
        <p:spPr>
          <a:xfrm>
            <a:off x="3245414" y="2200298"/>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98" name="Text 95"/>
          <p:cNvSpPr/>
          <p:nvPr/>
        </p:nvSpPr>
        <p:spPr>
          <a:xfrm>
            <a:off x="3757221" y="2200298"/>
            <a:ext cx="523329"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99" name="Text 96"/>
          <p:cNvSpPr/>
          <p:nvPr/>
        </p:nvSpPr>
        <p:spPr>
          <a:xfrm>
            <a:off x="4265307" y="2200298"/>
            <a:ext cx="524096"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0" name="Text 97"/>
          <p:cNvSpPr/>
          <p:nvPr/>
        </p:nvSpPr>
        <p:spPr>
          <a:xfrm>
            <a:off x="4774138" y="2200298"/>
            <a:ext cx="53222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1" name="Text 98"/>
          <p:cNvSpPr/>
          <p:nvPr/>
        </p:nvSpPr>
        <p:spPr>
          <a:xfrm>
            <a:off x="5823945" y="2200298"/>
            <a:ext cx="52011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2" name="Text 99"/>
          <p:cNvSpPr/>
          <p:nvPr/>
        </p:nvSpPr>
        <p:spPr>
          <a:xfrm>
            <a:off x="6328907" y="2200298"/>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3" name="Text 100"/>
          <p:cNvSpPr/>
          <p:nvPr/>
        </p:nvSpPr>
        <p:spPr>
          <a:xfrm>
            <a:off x="3245414" y="2343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4" name="Text 101"/>
          <p:cNvSpPr/>
          <p:nvPr/>
        </p:nvSpPr>
        <p:spPr>
          <a:xfrm>
            <a:off x="3757221" y="23431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05" name="Text 102"/>
          <p:cNvSpPr/>
          <p:nvPr/>
        </p:nvSpPr>
        <p:spPr>
          <a:xfrm>
            <a:off x="4265307" y="23431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6" name="Text 103"/>
          <p:cNvSpPr/>
          <p:nvPr/>
        </p:nvSpPr>
        <p:spPr>
          <a:xfrm>
            <a:off x="4774138" y="23431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7" name="Text 104"/>
          <p:cNvSpPr/>
          <p:nvPr/>
        </p:nvSpPr>
        <p:spPr>
          <a:xfrm>
            <a:off x="5290856" y="2343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08" name="Text 105"/>
          <p:cNvSpPr/>
          <p:nvPr/>
        </p:nvSpPr>
        <p:spPr>
          <a:xfrm>
            <a:off x="5823945" y="2343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09" name="Text 106"/>
          <p:cNvSpPr/>
          <p:nvPr/>
        </p:nvSpPr>
        <p:spPr>
          <a:xfrm>
            <a:off x="6328907" y="2343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0" name="Text 107"/>
          <p:cNvSpPr/>
          <p:nvPr/>
        </p:nvSpPr>
        <p:spPr>
          <a:xfrm>
            <a:off x="3245414" y="2495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1" name="Text 108"/>
          <p:cNvSpPr/>
          <p:nvPr/>
        </p:nvSpPr>
        <p:spPr>
          <a:xfrm>
            <a:off x="3757221" y="2495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2" name="Text 109"/>
          <p:cNvSpPr/>
          <p:nvPr/>
        </p:nvSpPr>
        <p:spPr>
          <a:xfrm>
            <a:off x="4265307" y="2495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3" name="Text 110"/>
          <p:cNvSpPr/>
          <p:nvPr/>
        </p:nvSpPr>
        <p:spPr>
          <a:xfrm>
            <a:off x="4774138" y="24955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4" name="Text 111"/>
          <p:cNvSpPr/>
          <p:nvPr/>
        </p:nvSpPr>
        <p:spPr>
          <a:xfrm>
            <a:off x="5290856" y="24955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5" name="Text 112"/>
          <p:cNvSpPr/>
          <p:nvPr/>
        </p:nvSpPr>
        <p:spPr>
          <a:xfrm>
            <a:off x="5823945" y="2495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16" name="Text 113"/>
          <p:cNvSpPr/>
          <p:nvPr/>
        </p:nvSpPr>
        <p:spPr>
          <a:xfrm>
            <a:off x="6328907" y="2495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17" name="Text 114"/>
          <p:cNvSpPr/>
          <p:nvPr/>
        </p:nvSpPr>
        <p:spPr>
          <a:xfrm>
            <a:off x="3245414" y="26479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8" name="Text 115"/>
          <p:cNvSpPr/>
          <p:nvPr/>
        </p:nvSpPr>
        <p:spPr>
          <a:xfrm>
            <a:off x="3757221" y="2647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19" name="Text 116"/>
          <p:cNvSpPr/>
          <p:nvPr/>
        </p:nvSpPr>
        <p:spPr>
          <a:xfrm>
            <a:off x="4265307" y="26479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0" name="Text 117"/>
          <p:cNvSpPr/>
          <p:nvPr/>
        </p:nvSpPr>
        <p:spPr>
          <a:xfrm>
            <a:off x="4774138" y="2647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1" name="Text 118"/>
          <p:cNvSpPr/>
          <p:nvPr/>
        </p:nvSpPr>
        <p:spPr>
          <a:xfrm>
            <a:off x="5290856" y="26479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2" name="Text 119"/>
          <p:cNvSpPr/>
          <p:nvPr/>
        </p:nvSpPr>
        <p:spPr>
          <a:xfrm>
            <a:off x="5823945" y="2647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3" name="Text 120"/>
          <p:cNvSpPr/>
          <p:nvPr/>
        </p:nvSpPr>
        <p:spPr>
          <a:xfrm>
            <a:off x="6328907" y="2647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4" name="Text 121"/>
          <p:cNvSpPr/>
          <p:nvPr/>
        </p:nvSpPr>
        <p:spPr>
          <a:xfrm>
            <a:off x="3245414" y="28003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5" name="Text 122"/>
          <p:cNvSpPr/>
          <p:nvPr/>
        </p:nvSpPr>
        <p:spPr>
          <a:xfrm>
            <a:off x="3757221" y="28003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6" name="Text 123"/>
          <p:cNvSpPr/>
          <p:nvPr/>
        </p:nvSpPr>
        <p:spPr>
          <a:xfrm>
            <a:off x="4265307" y="2800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27" name="Text 124"/>
          <p:cNvSpPr/>
          <p:nvPr/>
        </p:nvSpPr>
        <p:spPr>
          <a:xfrm>
            <a:off x="4774138" y="2800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28" name="Text 125"/>
          <p:cNvSpPr/>
          <p:nvPr/>
        </p:nvSpPr>
        <p:spPr>
          <a:xfrm>
            <a:off x="5290856" y="2800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29" name="Text 126"/>
          <p:cNvSpPr/>
          <p:nvPr/>
        </p:nvSpPr>
        <p:spPr>
          <a:xfrm>
            <a:off x="6328907" y="2800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0" name="Text 127"/>
          <p:cNvSpPr/>
          <p:nvPr/>
        </p:nvSpPr>
        <p:spPr>
          <a:xfrm>
            <a:off x="3245414" y="29527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1" name="Text 128"/>
          <p:cNvSpPr/>
          <p:nvPr/>
        </p:nvSpPr>
        <p:spPr>
          <a:xfrm>
            <a:off x="3757221" y="29527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2" name="Text 129"/>
          <p:cNvSpPr/>
          <p:nvPr/>
        </p:nvSpPr>
        <p:spPr>
          <a:xfrm>
            <a:off x="4265307" y="29527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3" name="Text 130"/>
          <p:cNvSpPr/>
          <p:nvPr/>
        </p:nvSpPr>
        <p:spPr>
          <a:xfrm>
            <a:off x="4774138" y="29527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4" name="Text 131"/>
          <p:cNvSpPr/>
          <p:nvPr/>
        </p:nvSpPr>
        <p:spPr>
          <a:xfrm>
            <a:off x="5290856" y="2952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35" name="Text 132"/>
          <p:cNvSpPr/>
          <p:nvPr/>
        </p:nvSpPr>
        <p:spPr>
          <a:xfrm>
            <a:off x="6328907" y="2952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36" name="Text 133"/>
          <p:cNvSpPr/>
          <p:nvPr/>
        </p:nvSpPr>
        <p:spPr>
          <a:xfrm>
            <a:off x="3245414" y="3105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37" name="Text 134"/>
          <p:cNvSpPr/>
          <p:nvPr/>
        </p:nvSpPr>
        <p:spPr>
          <a:xfrm>
            <a:off x="3757221" y="31051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38" name="Text 135"/>
          <p:cNvSpPr/>
          <p:nvPr/>
        </p:nvSpPr>
        <p:spPr>
          <a:xfrm>
            <a:off x="4774138" y="31051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39" name="Text 136"/>
          <p:cNvSpPr/>
          <p:nvPr/>
        </p:nvSpPr>
        <p:spPr>
          <a:xfrm>
            <a:off x="5823945" y="3105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0" name="Text 137"/>
          <p:cNvSpPr/>
          <p:nvPr/>
        </p:nvSpPr>
        <p:spPr>
          <a:xfrm>
            <a:off x="6328907" y="3105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1" name="Text 138"/>
          <p:cNvSpPr/>
          <p:nvPr/>
        </p:nvSpPr>
        <p:spPr>
          <a:xfrm>
            <a:off x="3245414" y="3257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2" name="Text 139"/>
          <p:cNvSpPr/>
          <p:nvPr/>
        </p:nvSpPr>
        <p:spPr>
          <a:xfrm>
            <a:off x="3757221" y="3257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3" name="Text 140"/>
          <p:cNvSpPr/>
          <p:nvPr/>
        </p:nvSpPr>
        <p:spPr>
          <a:xfrm>
            <a:off x="4265307" y="3257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4" name="Text 141"/>
          <p:cNvSpPr/>
          <p:nvPr/>
        </p:nvSpPr>
        <p:spPr>
          <a:xfrm>
            <a:off x="6328907" y="3257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45" name="Text 142"/>
          <p:cNvSpPr/>
          <p:nvPr/>
        </p:nvSpPr>
        <p:spPr>
          <a:xfrm>
            <a:off x="3245414" y="34099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46" name="Text 143"/>
          <p:cNvSpPr/>
          <p:nvPr/>
        </p:nvSpPr>
        <p:spPr>
          <a:xfrm>
            <a:off x="3757221" y="3409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7" name="Text 144"/>
          <p:cNvSpPr/>
          <p:nvPr/>
        </p:nvSpPr>
        <p:spPr>
          <a:xfrm>
            <a:off x="4774138" y="3409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48" name="Text 145"/>
          <p:cNvSpPr/>
          <p:nvPr/>
        </p:nvSpPr>
        <p:spPr>
          <a:xfrm>
            <a:off x="6328907" y="3409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49" name="Text 146"/>
          <p:cNvSpPr/>
          <p:nvPr/>
        </p:nvSpPr>
        <p:spPr>
          <a:xfrm>
            <a:off x="4265307" y="3562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0" name="Text 147"/>
          <p:cNvSpPr/>
          <p:nvPr/>
        </p:nvSpPr>
        <p:spPr>
          <a:xfrm>
            <a:off x="4774138" y="3562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1" name="Text 148"/>
          <p:cNvSpPr/>
          <p:nvPr/>
        </p:nvSpPr>
        <p:spPr>
          <a:xfrm>
            <a:off x="5290856" y="3562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2" name="Text 149"/>
          <p:cNvSpPr/>
          <p:nvPr/>
        </p:nvSpPr>
        <p:spPr>
          <a:xfrm>
            <a:off x="5823945" y="3562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3" name="Text 150"/>
          <p:cNvSpPr/>
          <p:nvPr/>
        </p:nvSpPr>
        <p:spPr>
          <a:xfrm>
            <a:off x="6328907" y="3562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4" name="Text 151"/>
          <p:cNvSpPr/>
          <p:nvPr/>
        </p:nvSpPr>
        <p:spPr>
          <a:xfrm>
            <a:off x="4265307" y="37147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55" name="Text 152"/>
          <p:cNvSpPr/>
          <p:nvPr/>
        </p:nvSpPr>
        <p:spPr>
          <a:xfrm>
            <a:off x="5290856" y="3714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56" name="Text 153"/>
          <p:cNvSpPr/>
          <p:nvPr/>
        </p:nvSpPr>
        <p:spPr>
          <a:xfrm>
            <a:off x="5823945" y="37147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57" name="Text 154"/>
          <p:cNvSpPr/>
          <p:nvPr/>
        </p:nvSpPr>
        <p:spPr>
          <a:xfrm>
            <a:off x="6328907" y="3714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58" name="Text 155"/>
          <p:cNvSpPr/>
          <p:nvPr/>
        </p:nvSpPr>
        <p:spPr>
          <a:xfrm>
            <a:off x="5290856" y="3867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59" name="Text 156"/>
          <p:cNvSpPr/>
          <p:nvPr/>
        </p:nvSpPr>
        <p:spPr>
          <a:xfrm>
            <a:off x="5823945" y="3867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0" name="Text 157"/>
          <p:cNvSpPr/>
          <p:nvPr/>
        </p:nvSpPr>
        <p:spPr>
          <a:xfrm>
            <a:off x="6328907" y="3867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1" name="Text 158"/>
          <p:cNvSpPr/>
          <p:nvPr/>
        </p:nvSpPr>
        <p:spPr>
          <a:xfrm>
            <a:off x="4265307" y="40195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2" name="Text 159"/>
          <p:cNvSpPr/>
          <p:nvPr/>
        </p:nvSpPr>
        <p:spPr>
          <a:xfrm>
            <a:off x="6328907" y="4019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3" name="Text 160"/>
          <p:cNvSpPr/>
          <p:nvPr/>
        </p:nvSpPr>
        <p:spPr>
          <a:xfrm>
            <a:off x="6328907" y="4171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4" name="Text 161"/>
          <p:cNvSpPr/>
          <p:nvPr/>
        </p:nvSpPr>
        <p:spPr>
          <a:xfrm>
            <a:off x="3245414" y="4324373"/>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5" name="Text 162"/>
          <p:cNvSpPr/>
          <p:nvPr/>
        </p:nvSpPr>
        <p:spPr>
          <a:xfrm>
            <a:off x="6328907" y="4324373"/>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66" name="Text 163"/>
          <p:cNvSpPr/>
          <p:nvPr/>
        </p:nvSpPr>
        <p:spPr>
          <a:xfrm>
            <a:off x="7448364" y="2697895"/>
            <a:ext cx="530380"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7" name="Text 164"/>
          <p:cNvSpPr/>
          <p:nvPr/>
        </p:nvSpPr>
        <p:spPr>
          <a:xfrm>
            <a:off x="7448364" y="2926495"/>
            <a:ext cx="530380"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68" name="Text 165"/>
          <p:cNvSpPr/>
          <p:nvPr/>
        </p:nvSpPr>
        <p:spPr>
          <a:xfrm>
            <a:off x="7448364" y="3140807"/>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169" name="Text 166"/>
          <p:cNvSpPr/>
          <p:nvPr/>
        </p:nvSpPr>
        <p:spPr>
          <a:xfrm>
            <a:off x="7448364" y="3359882"/>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70" name="Text 167"/>
          <p:cNvSpPr/>
          <p:nvPr/>
        </p:nvSpPr>
        <p:spPr>
          <a:xfrm>
            <a:off x="7448364" y="3578957"/>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71" name="Text 168"/>
          <p:cNvSpPr/>
          <p:nvPr/>
        </p:nvSpPr>
        <p:spPr>
          <a:xfrm>
            <a:off x="7448364" y="3798032"/>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2" name="Text 169"/>
          <p:cNvSpPr/>
          <p:nvPr/>
        </p:nvSpPr>
        <p:spPr>
          <a:xfrm>
            <a:off x="7448364" y="4017107"/>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73" name="Text 170"/>
          <p:cNvSpPr/>
          <p:nvPr/>
        </p:nvSpPr>
        <p:spPr>
          <a:xfrm>
            <a:off x="7448364"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Ene</a:t>
            </a:r>
            <a:endParaRPr lang="en-US" sz="696" dirty="0"/>
          </a:p>
        </p:txBody>
      </p:sp>
      <p:sp>
        <p:nvSpPr>
          <p:cNvPr id="174" name="Text 171"/>
          <p:cNvSpPr/>
          <p:nvPr/>
        </p:nvSpPr>
        <p:spPr>
          <a:xfrm>
            <a:off x="7791255"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Feb</a:t>
            </a:r>
            <a:endParaRPr lang="en-US" sz="696" dirty="0"/>
          </a:p>
        </p:txBody>
      </p:sp>
      <p:sp>
        <p:nvSpPr>
          <p:cNvPr id="175" name="Text 172"/>
          <p:cNvSpPr/>
          <p:nvPr/>
        </p:nvSpPr>
        <p:spPr>
          <a:xfrm>
            <a:off x="8134147"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Mar</a:t>
            </a:r>
            <a:endParaRPr lang="en-US" sz="696" dirty="0"/>
          </a:p>
        </p:txBody>
      </p:sp>
      <p:sp>
        <p:nvSpPr>
          <p:cNvPr id="176" name="Text 173"/>
          <p:cNvSpPr/>
          <p:nvPr/>
        </p:nvSpPr>
        <p:spPr>
          <a:xfrm>
            <a:off x="8477038"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Abr</a:t>
            </a:r>
            <a:endParaRPr lang="en-US" sz="696" dirty="0"/>
          </a:p>
        </p:txBody>
      </p:sp>
      <p:sp>
        <p:nvSpPr>
          <p:cNvPr id="177" name="Text 174"/>
          <p:cNvSpPr/>
          <p:nvPr/>
        </p:nvSpPr>
        <p:spPr>
          <a:xfrm>
            <a:off x="8819929"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May</a:t>
            </a:r>
            <a:endParaRPr lang="en-US" sz="696" dirty="0"/>
          </a:p>
        </p:txBody>
      </p:sp>
      <p:sp>
        <p:nvSpPr>
          <p:cNvPr id="178" name="Text 175"/>
          <p:cNvSpPr/>
          <p:nvPr/>
        </p:nvSpPr>
        <p:spPr>
          <a:xfrm>
            <a:off x="9162821" y="1813089"/>
            <a:ext cx="274694" cy="128016"/>
          </a:xfrm>
          <a:prstGeom prst="rect">
            <a:avLst/>
          </a:prstGeom>
          <a:noFill/>
          <a:ln/>
        </p:spPr>
        <p:txBody>
          <a:bodyPr wrap="square" lIns="0" tIns="0" rIns="0" bIns="0" rtlCol="0" anchor="t"/>
          <a:lstStyle/>
          <a:p>
            <a:pPr algn="ctr" indent="0" marL="0">
              <a:buNone/>
            </a:pPr>
            <a:r>
              <a:rPr lang="en-US" sz="696" b="1" dirty="0">
                <a:solidFill>
                  <a:srgbClr val="9098B0"/>
                </a:solidFill>
                <a:latin typeface="Raleway" pitchFamily="34" charset="0"/>
                <a:ea typeface="Raleway" pitchFamily="34" charset="-122"/>
                <a:cs typeface="Raleway" pitchFamily="34" charset="-120"/>
              </a:rPr>
              <a:t>Jun</a:t>
            </a:r>
            <a:endParaRPr lang="en-US" sz="696" dirty="0"/>
          </a:p>
        </p:txBody>
      </p:sp>
      <p:sp>
        <p:nvSpPr>
          <p:cNvPr id="179" name="Text 176"/>
          <p:cNvSpPr/>
          <p:nvPr/>
        </p:nvSpPr>
        <p:spPr>
          <a:xfrm>
            <a:off x="5290856" y="2200298"/>
            <a:ext cx="549082"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80" name="Text 177"/>
          <p:cNvSpPr/>
          <p:nvPr/>
        </p:nvSpPr>
        <p:spPr>
          <a:xfrm>
            <a:off x="704832" y="2800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10</a:t>
            </a:r>
            <a:endParaRPr lang="en-US" sz="624" dirty="0"/>
          </a:p>
        </p:txBody>
      </p:sp>
      <p:sp>
        <p:nvSpPr>
          <p:cNvPr id="181" name="Text 178"/>
          <p:cNvSpPr/>
          <p:nvPr/>
        </p:nvSpPr>
        <p:spPr>
          <a:xfrm>
            <a:off x="5823945" y="2800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82" name="Text 179"/>
          <p:cNvSpPr/>
          <p:nvPr/>
        </p:nvSpPr>
        <p:spPr>
          <a:xfrm>
            <a:off x="704832" y="2952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11</a:t>
            </a:r>
            <a:endParaRPr lang="en-US" sz="624" dirty="0"/>
          </a:p>
        </p:txBody>
      </p:sp>
      <p:sp>
        <p:nvSpPr>
          <p:cNvPr id="183" name="Text 180"/>
          <p:cNvSpPr/>
          <p:nvPr/>
        </p:nvSpPr>
        <p:spPr>
          <a:xfrm>
            <a:off x="5823945" y="2952773"/>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4" name="Text 181"/>
          <p:cNvSpPr/>
          <p:nvPr/>
        </p:nvSpPr>
        <p:spPr>
          <a:xfrm>
            <a:off x="704832" y="3105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12</a:t>
            </a:r>
            <a:endParaRPr lang="en-US" sz="624" dirty="0"/>
          </a:p>
        </p:txBody>
      </p:sp>
      <p:sp>
        <p:nvSpPr>
          <p:cNvPr id="185" name="Text 182"/>
          <p:cNvSpPr/>
          <p:nvPr/>
        </p:nvSpPr>
        <p:spPr>
          <a:xfrm>
            <a:off x="4265307" y="31051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86" name="Text 183"/>
          <p:cNvSpPr/>
          <p:nvPr/>
        </p:nvSpPr>
        <p:spPr>
          <a:xfrm>
            <a:off x="5290856" y="3105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87" name="Text 184"/>
          <p:cNvSpPr/>
          <p:nvPr/>
        </p:nvSpPr>
        <p:spPr>
          <a:xfrm>
            <a:off x="704832" y="3257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13</a:t>
            </a:r>
            <a:endParaRPr lang="en-US" sz="624" dirty="0"/>
          </a:p>
        </p:txBody>
      </p:sp>
      <p:sp>
        <p:nvSpPr>
          <p:cNvPr id="188" name="Text 185"/>
          <p:cNvSpPr/>
          <p:nvPr/>
        </p:nvSpPr>
        <p:spPr>
          <a:xfrm>
            <a:off x="4774138" y="3257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89" name="Text 186"/>
          <p:cNvSpPr/>
          <p:nvPr/>
        </p:nvSpPr>
        <p:spPr>
          <a:xfrm>
            <a:off x="5290856" y="32575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90" name="Text 187"/>
          <p:cNvSpPr/>
          <p:nvPr/>
        </p:nvSpPr>
        <p:spPr>
          <a:xfrm>
            <a:off x="5823945" y="3257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91" name="Text 188"/>
          <p:cNvSpPr/>
          <p:nvPr/>
        </p:nvSpPr>
        <p:spPr>
          <a:xfrm>
            <a:off x="704832" y="3409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14</a:t>
            </a:r>
            <a:endParaRPr lang="en-US" sz="624" dirty="0"/>
          </a:p>
        </p:txBody>
      </p:sp>
      <p:sp>
        <p:nvSpPr>
          <p:cNvPr id="192" name="Text 189"/>
          <p:cNvSpPr/>
          <p:nvPr/>
        </p:nvSpPr>
        <p:spPr>
          <a:xfrm>
            <a:off x="4265307" y="34099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93" name="Text 190"/>
          <p:cNvSpPr/>
          <p:nvPr/>
        </p:nvSpPr>
        <p:spPr>
          <a:xfrm>
            <a:off x="5290856" y="3409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4" name="Text 191"/>
          <p:cNvSpPr/>
          <p:nvPr/>
        </p:nvSpPr>
        <p:spPr>
          <a:xfrm>
            <a:off x="5823945" y="3409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195" name="Text 192"/>
          <p:cNvSpPr/>
          <p:nvPr/>
        </p:nvSpPr>
        <p:spPr>
          <a:xfrm>
            <a:off x="704832" y="3562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15</a:t>
            </a:r>
            <a:endParaRPr lang="en-US" sz="624" dirty="0"/>
          </a:p>
        </p:txBody>
      </p:sp>
      <p:sp>
        <p:nvSpPr>
          <p:cNvPr id="196" name="Text 193"/>
          <p:cNvSpPr/>
          <p:nvPr/>
        </p:nvSpPr>
        <p:spPr>
          <a:xfrm>
            <a:off x="3757221" y="35623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197" name="Text 194"/>
          <p:cNvSpPr/>
          <p:nvPr/>
        </p:nvSpPr>
        <p:spPr>
          <a:xfrm>
            <a:off x="704832" y="3714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16</a:t>
            </a:r>
            <a:endParaRPr lang="en-US" sz="624" dirty="0"/>
          </a:p>
        </p:txBody>
      </p:sp>
      <p:sp>
        <p:nvSpPr>
          <p:cNvPr id="198" name="Text 195"/>
          <p:cNvSpPr/>
          <p:nvPr/>
        </p:nvSpPr>
        <p:spPr>
          <a:xfrm>
            <a:off x="3757221" y="37147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199" name="Text 196"/>
          <p:cNvSpPr/>
          <p:nvPr/>
        </p:nvSpPr>
        <p:spPr>
          <a:xfrm>
            <a:off x="4774138" y="37147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200" name="Text 197"/>
          <p:cNvSpPr/>
          <p:nvPr/>
        </p:nvSpPr>
        <p:spPr>
          <a:xfrm>
            <a:off x="704832" y="3867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17</a:t>
            </a:r>
            <a:endParaRPr lang="en-US" sz="624" dirty="0"/>
          </a:p>
        </p:txBody>
      </p:sp>
      <p:sp>
        <p:nvSpPr>
          <p:cNvPr id="201" name="Text 198"/>
          <p:cNvSpPr/>
          <p:nvPr/>
        </p:nvSpPr>
        <p:spPr>
          <a:xfrm>
            <a:off x="704832" y="4019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18</a:t>
            </a:r>
            <a:endParaRPr lang="en-US" sz="624" dirty="0"/>
          </a:p>
        </p:txBody>
      </p:sp>
      <p:sp>
        <p:nvSpPr>
          <p:cNvPr id="202" name="Text 199"/>
          <p:cNvSpPr/>
          <p:nvPr/>
        </p:nvSpPr>
        <p:spPr>
          <a:xfrm>
            <a:off x="3757221" y="40195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203" name="Text 200"/>
          <p:cNvSpPr/>
          <p:nvPr/>
        </p:nvSpPr>
        <p:spPr>
          <a:xfrm>
            <a:off x="4774138" y="4019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204" name="Text 201"/>
          <p:cNvSpPr/>
          <p:nvPr/>
        </p:nvSpPr>
        <p:spPr>
          <a:xfrm>
            <a:off x="704832" y="4171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19</a:t>
            </a:r>
            <a:endParaRPr lang="en-US" sz="624" dirty="0"/>
          </a:p>
        </p:txBody>
      </p:sp>
      <p:sp>
        <p:nvSpPr>
          <p:cNvPr id="205" name="Text 202"/>
          <p:cNvSpPr/>
          <p:nvPr/>
        </p:nvSpPr>
        <p:spPr>
          <a:xfrm>
            <a:off x="4774138" y="4171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206" name="Text 203"/>
          <p:cNvSpPr/>
          <p:nvPr/>
        </p:nvSpPr>
        <p:spPr>
          <a:xfrm>
            <a:off x="5290856" y="4171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207" name="Text 204"/>
          <p:cNvSpPr/>
          <p:nvPr/>
        </p:nvSpPr>
        <p:spPr>
          <a:xfrm>
            <a:off x="5823945" y="4171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08" name="Text 205"/>
          <p:cNvSpPr/>
          <p:nvPr/>
        </p:nvSpPr>
        <p:spPr>
          <a:xfrm>
            <a:off x="704832" y="4324373"/>
            <a:ext cx="319914" cy="142875"/>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20</a:t>
            </a:r>
            <a:endParaRPr lang="en-US" sz="624" dirty="0"/>
          </a:p>
        </p:txBody>
      </p:sp>
      <p:sp>
        <p:nvSpPr>
          <p:cNvPr id="209" name="Text 206"/>
          <p:cNvSpPr/>
          <p:nvPr/>
        </p:nvSpPr>
        <p:spPr>
          <a:xfrm>
            <a:off x="704832" y="44672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21</a:t>
            </a:r>
            <a:endParaRPr lang="en-US" sz="624" dirty="0"/>
          </a:p>
        </p:txBody>
      </p:sp>
      <p:sp>
        <p:nvSpPr>
          <p:cNvPr id="210" name="Text 207"/>
          <p:cNvSpPr/>
          <p:nvPr/>
        </p:nvSpPr>
        <p:spPr>
          <a:xfrm>
            <a:off x="4774138" y="4467248"/>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11" name="Text 208"/>
          <p:cNvSpPr/>
          <p:nvPr/>
        </p:nvSpPr>
        <p:spPr>
          <a:xfrm>
            <a:off x="6328907" y="44672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12" name="Text 209"/>
          <p:cNvSpPr/>
          <p:nvPr/>
        </p:nvSpPr>
        <p:spPr>
          <a:xfrm>
            <a:off x="704832" y="46196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22</a:t>
            </a:r>
            <a:endParaRPr lang="en-US" sz="624" dirty="0"/>
          </a:p>
        </p:txBody>
      </p:sp>
      <p:sp>
        <p:nvSpPr>
          <p:cNvPr id="213" name="Text 210"/>
          <p:cNvSpPr/>
          <p:nvPr/>
        </p:nvSpPr>
        <p:spPr>
          <a:xfrm>
            <a:off x="5823945" y="46196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14" name="Text 211"/>
          <p:cNvSpPr/>
          <p:nvPr/>
        </p:nvSpPr>
        <p:spPr>
          <a:xfrm>
            <a:off x="6328907" y="46196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15" name="Text 212"/>
          <p:cNvSpPr/>
          <p:nvPr/>
        </p:nvSpPr>
        <p:spPr>
          <a:xfrm>
            <a:off x="704832" y="47720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23</a:t>
            </a:r>
            <a:endParaRPr lang="en-US" sz="624" dirty="0"/>
          </a:p>
        </p:txBody>
      </p:sp>
      <p:sp>
        <p:nvSpPr>
          <p:cNvPr id="216" name="Text 213"/>
          <p:cNvSpPr/>
          <p:nvPr/>
        </p:nvSpPr>
        <p:spPr>
          <a:xfrm>
            <a:off x="5290856" y="4772048"/>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17" name="Text 214"/>
          <p:cNvSpPr/>
          <p:nvPr/>
        </p:nvSpPr>
        <p:spPr>
          <a:xfrm>
            <a:off x="5823945" y="47720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18" name="Text 215"/>
          <p:cNvSpPr/>
          <p:nvPr/>
        </p:nvSpPr>
        <p:spPr>
          <a:xfrm>
            <a:off x="6328907" y="47720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19" name="Text 216"/>
          <p:cNvSpPr/>
          <p:nvPr/>
        </p:nvSpPr>
        <p:spPr>
          <a:xfrm>
            <a:off x="704832" y="49244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24</a:t>
            </a:r>
            <a:endParaRPr lang="en-US" sz="624" dirty="0"/>
          </a:p>
        </p:txBody>
      </p:sp>
      <p:sp>
        <p:nvSpPr>
          <p:cNvPr id="220" name="Text 217"/>
          <p:cNvSpPr/>
          <p:nvPr/>
        </p:nvSpPr>
        <p:spPr>
          <a:xfrm>
            <a:off x="5823945" y="49244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21" name="Text 218"/>
          <p:cNvSpPr/>
          <p:nvPr/>
        </p:nvSpPr>
        <p:spPr>
          <a:xfrm>
            <a:off x="6328907" y="49244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22" name="Text 219"/>
          <p:cNvSpPr/>
          <p:nvPr/>
        </p:nvSpPr>
        <p:spPr>
          <a:xfrm>
            <a:off x="704832" y="50768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25</a:t>
            </a:r>
            <a:endParaRPr lang="en-US" sz="624" dirty="0"/>
          </a:p>
        </p:txBody>
      </p:sp>
      <p:sp>
        <p:nvSpPr>
          <p:cNvPr id="223" name="Text 220"/>
          <p:cNvSpPr/>
          <p:nvPr/>
        </p:nvSpPr>
        <p:spPr>
          <a:xfrm>
            <a:off x="7963296" y="4236182"/>
            <a:ext cx="731342" cy="214313"/>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41</a:t>
            </a:r>
            <a:endParaRPr lang="en-US" sz="888" dirty="0"/>
          </a:p>
        </p:txBody>
      </p:sp>
      <p:sp>
        <p:nvSpPr>
          <p:cNvPr id="224" name="Text 221"/>
          <p:cNvSpPr/>
          <p:nvPr/>
        </p:nvSpPr>
        <p:spPr>
          <a:xfrm>
            <a:off x="7448364"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15</a:t>
            </a:r>
            <a:endParaRPr lang="en-US" sz="888" dirty="0"/>
          </a:p>
        </p:txBody>
      </p:sp>
      <p:sp>
        <p:nvSpPr>
          <p:cNvPr id="225" name="Text 222"/>
          <p:cNvSpPr/>
          <p:nvPr/>
        </p:nvSpPr>
        <p:spPr>
          <a:xfrm>
            <a:off x="7791255"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17</a:t>
            </a:r>
            <a:endParaRPr lang="en-US" sz="888" dirty="0"/>
          </a:p>
        </p:txBody>
      </p:sp>
      <p:sp>
        <p:nvSpPr>
          <p:cNvPr id="226" name="Text 223"/>
          <p:cNvSpPr/>
          <p:nvPr/>
        </p:nvSpPr>
        <p:spPr>
          <a:xfrm>
            <a:off x="8134147"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18</a:t>
            </a:r>
            <a:endParaRPr lang="en-US" sz="888" dirty="0"/>
          </a:p>
        </p:txBody>
      </p:sp>
      <p:sp>
        <p:nvSpPr>
          <p:cNvPr id="227" name="Text 224"/>
          <p:cNvSpPr/>
          <p:nvPr/>
        </p:nvSpPr>
        <p:spPr>
          <a:xfrm>
            <a:off x="8477038"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20</a:t>
            </a:r>
            <a:endParaRPr lang="en-US" sz="888" dirty="0"/>
          </a:p>
        </p:txBody>
      </p:sp>
      <p:sp>
        <p:nvSpPr>
          <p:cNvPr id="228" name="Text 225"/>
          <p:cNvSpPr/>
          <p:nvPr/>
        </p:nvSpPr>
        <p:spPr>
          <a:xfrm>
            <a:off x="8819929"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20</a:t>
            </a:r>
            <a:endParaRPr lang="en-US" sz="888" dirty="0"/>
          </a:p>
        </p:txBody>
      </p:sp>
      <p:sp>
        <p:nvSpPr>
          <p:cNvPr id="229" name="Text 226"/>
          <p:cNvSpPr/>
          <p:nvPr/>
        </p:nvSpPr>
        <p:spPr>
          <a:xfrm>
            <a:off x="9162821" y="1527339"/>
            <a:ext cx="274694" cy="274701"/>
          </a:xfrm>
          <a:prstGeom prst="rect">
            <a:avLst/>
          </a:prstGeom>
          <a:noFill/>
          <a:ln/>
        </p:spPr>
        <p:txBody>
          <a:bodyPr wrap="square" lIns="0" tIns="0" rIns="0" bIns="0" rtlCol="0" anchor="t"/>
          <a:lstStyle/>
          <a:p>
            <a:pPr algn="ctr" indent="0" marL="0">
              <a:buNone/>
            </a:pPr>
            <a:r>
              <a:rPr lang="en-US" sz="888" b="1" dirty="0">
                <a:solidFill>
                  <a:srgbClr val="FFFFFF"/>
                </a:solidFill>
                <a:latin typeface="Raleway" pitchFamily="34" charset="0"/>
                <a:ea typeface="Raleway" pitchFamily="34" charset="-122"/>
                <a:cs typeface="Raleway" pitchFamily="34" charset="-120"/>
              </a:rPr>
              <a:t>21</a:t>
            </a:r>
            <a:endParaRPr lang="en-US" sz="88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16595" y="2156520"/>
            <a:ext cx="3074060"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 Burger ×2 · Feria Vanti ×2 · Mundialista</a:t>
            </a:r>
            <a:endParaRPr lang="en-US" sz="864" dirty="0"/>
          </a:p>
        </p:txBody>
      </p:sp>
      <p:sp>
        <p:nvSpPr>
          <p:cNvPr id="4" name="Text 1"/>
          <p:cNvSpPr/>
          <p:nvPr/>
        </p:nvSpPr>
        <p:spPr>
          <a:xfrm>
            <a:off x="1028674" y="2156520"/>
            <a:ext cx="3073907"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 iniciativas comerciales ejecutadas</a:t>
            </a:r>
            <a:endParaRPr lang="en-US" sz="864" dirty="0"/>
          </a:p>
        </p:txBody>
      </p:sp>
      <p:sp>
        <p:nvSpPr>
          <p:cNvPr id="5" name="Text 2"/>
          <p:cNvSpPr/>
          <p:nvPr/>
        </p:nvSpPr>
        <p:spPr>
          <a:xfrm>
            <a:off x="4622635" y="2156520"/>
            <a:ext cx="3073907"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Semanas Ganadoras · La Gran Jugada</a:t>
            </a:r>
            <a:endParaRPr lang="en-US" sz="864" dirty="0"/>
          </a:p>
        </p:txBody>
      </p:sp>
      <p:sp>
        <p:nvSpPr>
          <p:cNvPr id="6" name="Text 3"/>
          <p:cNvSpPr/>
          <p:nvPr/>
        </p:nvSpPr>
        <p:spPr>
          <a:xfrm>
            <a:off x="1213514" y="219075"/>
            <a:ext cx="27576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7" name="Text 4"/>
          <p:cNvSpPr/>
          <p:nvPr/>
        </p:nvSpPr>
        <p:spPr>
          <a:xfrm>
            <a:off x="1028674" y="1657350"/>
            <a:ext cx="3073907"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en campañas del 1S</a:t>
            </a:r>
            <a:endParaRPr lang="en-US" sz="864" dirty="0"/>
          </a:p>
        </p:txBody>
      </p:sp>
      <p:sp>
        <p:nvSpPr>
          <p:cNvPr id="8" name="Text 5"/>
          <p:cNvSpPr/>
          <p:nvPr/>
        </p:nvSpPr>
        <p:spPr>
          <a:xfrm>
            <a:off x="10082705" y="209550"/>
            <a:ext cx="1583630"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Iniciativas</a:t>
            </a:r>
            <a:endParaRPr lang="en-US" sz="840" dirty="0"/>
          </a:p>
        </p:txBody>
      </p:sp>
      <p:sp>
        <p:nvSpPr>
          <p:cNvPr id="9" name="Text 6"/>
          <p:cNvSpPr/>
          <p:nvPr/>
        </p:nvSpPr>
        <p:spPr>
          <a:xfrm>
            <a:off x="4622635" y="1657350"/>
            <a:ext cx="3073907"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Vanti</a:t>
            </a:r>
            <a:endParaRPr lang="en-US" sz="864" dirty="0"/>
          </a:p>
        </p:txBody>
      </p:sp>
      <p:sp>
        <p:nvSpPr>
          <p:cNvPr id="10" name="Text 7"/>
          <p:cNvSpPr/>
          <p:nvPr/>
        </p:nvSpPr>
        <p:spPr>
          <a:xfrm>
            <a:off x="8216595" y="1657350"/>
            <a:ext cx="3074060"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Xuma</a:t>
            </a:r>
            <a:endParaRPr lang="en-US" sz="864" dirty="0"/>
          </a:p>
        </p:txBody>
      </p:sp>
      <p:sp>
        <p:nvSpPr>
          <p:cNvPr id="11" name="Text 8"/>
          <p:cNvSpPr/>
          <p:nvPr/>
        </p:nvSpPr>
        <p:spPr>
          <a:xfrm>
            <a:off x="895328"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Semanas Ganadoras</a:t>
            </a:r>
            <a:endParaRPr lang="en-US" sz="912" dirty="0"/>
          </a:p>
        </p:txBody>
      </p:sp>
      <p:sp>
        <p:nvSpPr>
          <p:cNvPr id="12" name="Text 9"/>
          <p:cNvSpPr/>
          <p:nvPr/>
        </p:nvSpPr>
        <p:spPr>
          <a:xfrm>
            <a:off x="895328" y="4827091"/>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Mundialista</a:t>
            </a:r>
            <a:endParaRPr lang="en-US" sz="912" dirty="0"/>
          </a:p>
        </p:txBody>
      </p:sp>
      <p:sp>
        <p:nvSpPr>
          <p:cNvPr id="13" name="Text 10"/>
          <p:cNvSpPr/>
          <p:nvPr/>
        </p:nvSpPr>
        <p:spPr>
          <a:xfrm>
            <a:off x="4457589" y="4827091"/>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Acelerador Mayo</a:t>
            </a:r>
            <a:endParaRPr lang="en-US" sz="912" dirty="0"/>
          </a:p>
        </p:txBody>
      </p:sp>
      <p:sp>
        <p:nvSpPr>
          <p:cNvPr id="14" name="Text 11"/>
          <p:cNvSpPr/>
          <p:nvPr/>
        </p:nvSpPr>
        <p:spPr>
          <a:xfrm>
            <a:off x="8019849"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La Gran Jugada</a:t>
            </a:r>
            <a:endParaRPr lang="en-US" sz="912" dirty="0"/>
          </a:p>
        </p:txBody>
      </p:sp>
      <p:sp>
        <p:nvSpPr>
          <p:cNvPr id="15" name="Text 12"/>
          <p:cNvSpPr/>
          <p:nvPr/>
        </p:nvSpPr>
        <p:spPr>
          <a:xfrm>
            <a:off x="895328"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6" name="Text 13"/>
          <p:cNvSpPr/>
          <p:nvPr/>
        </p:nvSpPr>
        <p:spPr>
          <a:xfrm>
            <a:off x="4457589"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17" name="Text 14"/>
          <p:cNvSpPr/>
          <p:nvPr/>
        </p:nvSpPr>
        <p:spPr>
          <a:xfrm>
            <a:off x="4457589"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8" name="Text 15"/>
          <p:cNvSpPr/>
          <p:nvPr/>
        </p:nvSpPr>
        <p:spPr>
          <a:xfrm>
            <a:off x="8019849"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9" name="Text 16"/>
          <p:cNvSpPr/>
          <p:nvPr/>
        </p:nvSpPr>
        <p:spPr>
          <a:xfrm>
            <a:off x="895328"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20" name="Text 17"/>
          <p:cNvSpPr/>
          <p:nvPr/>
        </p:nvSpPr>
        <p:spPr>
          <a:xfrm>
            <a:off x="895328"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1" name="Text 18"/>
          <p:cNvSpPr/>
          <p:nvPr/>
        </p:nvSpPr>
        <p:spPr>
          <a:xfrm>
            <a:off x="4457589"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2" name="Text 19"/>
          <p:cNvSpPr/>
          <p:nvPr/>
        </p:nvSpPr>
        <p:spPr>
          <a:xfrm>
            <a:off x="8019849"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895328" y="5228927"/>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4457589" y="5228927"/>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4457589"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6" name="Text 23"/>
          <p:cNvSpPr/>
          <p:nvPr/>
        </p:nvSpPr>
        <p:spPr>
          <a:xfrm>
            <a:off x="8019849"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7" name="Text 24"/>
          <p:cNvSpPr/>
          <p:nvPr/>
        </p:nvSpPr>
        <p:spPr>
          <a:xfrm>
            <a:off x="7373654" y="2708970"/>
            <a:ext cx="351645"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Febrero</a:t>
            </a:r>
            <a:endParaRPr lang="en-US" sz="744" dirty="0"/>
          </a:p>
        </p:txBody>
      </p:sp>
      <p:sp>
        <p:nvSpPr>
          <p:cNvPr id="28" name="Text 25"/>
          <p:cNvSpPr/>
          <p:nvPr/>
        </p:nvSpPr>
        <p:spPr>
          <a:xfrm>
            <a:off x="10904811" y="2708970"/>
            <a:ext cx="383683"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Mar–Abr</a:t>
            </a:r>
            <a:endParaRPr lang="en-US" sz="744" dirty="0"/>
          </a:p>
        </p:txBody>
      </p:sp>
      <p:sp>
        <p:nvSpPr>
          <p:cNvPr id="29" name="Text 26"/>
          <p:cNvSpPr/>
          <p:nvPr/>
        </p:nvSpPr>
        <p:spPr>
          <a:xfrm>
            <a:off x="8377772" y="3082230"/>
            <a:ext cx="41740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4.200</a:t>
            </a:r>
            <a:endParaRPr lang="en-US" sz="936" dirty="0"/>
          </a:p>
        </p:txBody>
      </p:sp>
      <p:sp>
        <p:nvSpPr>
          <p:cNvPr id="30" name="Text 27"/>
          <p:cNvSpPr/>
          <p:nvPr/>
        </p:nvSpPr>
        <p:spPr>
          <a:xfrm>
            <a:off x="1243874" y="5028902"/>
            <a:ext cx="404223"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1.200</a:t>
            </a:r>
            <a:endParaRPr lang="en-US" sz="936" dirty="0"/>
          </a:p>
        </p:txBody>
      </p:sp>
      <p:sp>
        <p:nvSpPr>
          <p:cNvPr id="31" name="Text 28"/>
          <p:cNvSpPr/>
          <p:nvPr/>
        </p:nvSpPr>
        <p:spPr>
          <a:xfrm>
            <a:off x="1028674" y="1828800"/>
            <a:ext cx="3073907"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10.509</a:t>
            </a:r>
            <a:endParaRPr lang="en-US" sz="1400" dirty="0"/>
          </a:p>
        </p:txBody>
      </p:sp>
      <p:sp>
        <p:nvSpPr>
          <p:cNvPr id="32" name="Text 29"/>
          <p:cNvSpPr/>
          <p:nvPr/>
        </p:nvSpPr>
        <p:spPr>
          <a:xfrm>
            <a:off x="895328" y="2689920"/>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33" name="Text 30"/>
          <p:cNvSpPr/>
          <p:nvPr/>
        </p:nvSpPr>
        <p:spPr>
          <a:xfrm>
            <a:off x="3897265" y="2708970"/>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Enero</a:t>
            </a:r>
            <a:endParaRPr lang="en-US" sz="744" dirty="0"/>
          </a:p>
        </p:txBody>
      </p:sp>
      <p:sp>
        <p:nvSpPr>
          <p:cNvPr id="34" name="Text 31"/>
          <p:cNvSpPr/>
          <p:nvPr/>
        </p:nvSpPr>
        <p:spPr>
          <a:xfrm>
            <a:off x="895328" y="3082230"/>
            <a:ext cx="298301"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1.292</a:t>
            </a:r>
            <a:endParaRPr lang="en-US" sz="936" dirty="0"/>
          </a:p>
        </p:txBody>
      </p:sp>
      <p:sp>
        <p:nvSpPr>
          <p:cNvPr id="35" name="Text 32"/>
          <p:cNvSpPr/>
          <p:nvPr/>
        </p:nvSpPr>
        <p:spPr>
          <a:xfrm>
            <a:off x="1242088" y="3082230"/>
            <a:ext cx="322980"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950</a:t>
            </a:r>
            <a:endParaRPr lang="en-US" sz="936" dirty="0"/>
          </a:p>
        </p:txBody>
      </p:sp>
      <p:sp>
        <p:nvSpPr>
          <p:cNvPr id="36" name="Text 33"/>
          <p:cNvSpPr/>
          <p:nvPr/>
        </p:nvSpPr>
        <p:spPr>
          <a:xfrm>
            <a:off x="1612810" y="3072705"/>
            <a:ext cx="443619"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136 %</a:t>
            </a:r>
            <a:endParaRPr lang="en-US" sz="816" dirty="0"/>
          </a:p>
        </p:txBody>
      </p:sp>
      <p:sp>
        <p:nvSpPr>
          <p:cNvPr id="37" name="Text 34"/>
          <p:cNvSpPr/>
          <p:nvPr/>
        </p:nvSpPr>
        <p:spPr>
          <a:xfrm>
            <a:off x="4722794" y="3082230"/>
            <a:ext cx="333097"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38" name="Text 35"/>
          <p:cNvSpPr/>
          <p:nvPr/>
        </p:nvSpPr>
        <p:spPr>
          <a:xfrm>
            <a:off x="5103338" y="3072705"/>
            <a:ext cx="43748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110 %</a:t>
            </a:r>
            <a:endParaRPr lang="en-US" sz="816" dirty="0"/>
          </a:p>
        </p:txBody>
      </p:sp>
      <p:sp>
        <p:nvSpPr>
          <p:cNvPr id="39" name="Text 36"/>
          <p:cNvSpPr/>
          <p:nvPr/>
        </p:nvSpPr>
        <p:spPr>
          <a:xfrm>
            <a:off x="8019849" y="2689920"/>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0" name="Text 37"/>
          <p:cNvSpPr/>
          <p:nvPr/>
        </p:nvSpPr>
        <p:spPr>
          <a:xfrm>
            <a:off x="8019849" y="3082230"/>
            <a:ext cx="309797"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4.798</a:t>
            </a:r>
            <a:endParaRPr lang="en-US" sz="936" dirty="0"/>
          </a:p>
        </p:txBody>
      </p:sp>
      <p:sp>
        <p:nvSpPr>
          <p:cNvPr id="41" name="Text 38"/>
          <p:cNvSpPr/>
          <p:nvPr/>
        </p:nvSpPr>
        <p:spPr>
          <a:xfrm>
            <a:off x="8840170" y="3072705"/>
            <a:ext cx="432889"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114 %</a:t>
            </a:r>
            <a:endParaRPr lang="en-US" sz="816" dirty="0"/>
          </a:p>
        </p:txBody>
      </p:sp>
      <p:sp>
        <p:nvSpPr>
          <p:cNvPr id="42" name="Text 39"/>
          <p:cNvSpPr/>
          <p:nvPr/>
        </p:nvSpPr>
        <p:spPr>
          <a:xfrm>
            <a:off x="3951139"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3" name="Text 40"/>
          <p:cNvSpPr/>
          <p:nvPr/>
        </p:nvSpPr>
        <p:spPr>
          <a:xfrm>
            <a:off x="1164402" y="4055566"/>
            <a:ext cx="333097"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44" name="Text 41"/>
          <p:cNvSpPr/>
          <p:nvPr/>
        </p:nvSpPr>
        <p:spPr>
          <a:xfrm>
            <a:off x="1544946" y="4046041"/>
            <a:ext cx="43748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101 %</a:t>
            </a:r>
            <a:endParaRPr lang="en-US" sz="816" dirty="0"/>
          </a:p>
        </p:txBody>
      </p:sp>
      <p:sp>
        <p:nvSpPr>
          <p:cNvPr id="45" name="Text 42"/>
          <p:cNvSpPr/>
          <p:nvPr/>
        </p:nvSpPr>
        <p:spPr>
          <a:xfrm>
            <a:off x="7513400"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6" name="Text 43"/>
          <p:cNvSpPr/>
          <p:nvPr/>
        </p:nvSpPr>
        <p:spPr>
          <a:xfrm>
            <a:off x="4706125" y="4055566"/>
            <a:ext cx="32604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7" name="Text 44"/>
          <p:cNvSpPr/>
          <p:nvPr/>
        </p:nvSpPr>
        <p:spPr>
          <a:xfrm>
            <a:off x="5079823" y="4046041"/>
            <a:ext cx="444385"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103 %</a:t>
            </a:r>
            <a:endParaRPr lang="en-US" sz="816" dirty="0"/>
          </a:p>
        </p:txBody>
      </p:sp>
      <p:sp>
        <p:nvSpPr>
          <p:cNvPr id="48" name="Text 45"/>
          <p:cNvSpPr/>
          <p:nvPr/>
        </p:nvSpPr>
        <p:spPr>
          <a:xfrm>
            <a:off x="8280888" y="4055566"/>
            <a:ext cx="32604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9" name="Text 46"/>
          <p:cNvSpPr/>
          <p:nvPr/>
        </p:nvSpPr>
        <p:spPr>
          <a:xfrm>
            <a:off x="8654586" y="4046041"/>
            <a:ext cx="424764"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111 %</a:t>
            </a:r>
            <a:endParaRPr lang="en-US" sz="816" dirty="0"/>
          </a:p>
        </p:txBody>
      </p:sp>
      <p:sp>
        <p:nvSpPr>
          <p:cNvPr id="50" name="Text 47"/>
          <p:cNvSpPr/>
          <p:nvPr/>
        </p:nvSpPr>
        <p:spPr>
          <a:xfrm>
            <a:off x="3919737" y="4655641"/>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Junio</a:t>
            </a:r>
            <a:endParaRPr lang="en-US" sz="744" dirty="0"/>
          </a:p>
        </p:txBody>
      </p:sp>
      <p:sp>
        <p:nvSpPr>
          <p:cNvPr id="51" name="Text 48"/>
          <p:cNvSpPr/>
          <p:nvPr/>
        </p:nvSpPr>
        <p:spPr>
          <a:xfrm>
            <a:off x="895328" y="5028902"/>
            <a:ext cx="30014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1.520</a:t>
            </a:r>
            <a:endParaRPr lang="en-US" sz="936" dirty="0"/>
          </a:p>
        </p:txBody>
      </p:sp>
      <p:sp>
        <p:nvSpPr>
          <p:cNvPr id="52" name="Text 49"/>
          <p:cNvSpPr/>
          <p:nvPr/>
        </p:nvSpPr>
        <p:spPr>
          <a:xfrm>
            <a:off x="1693473" y="5019377"/>
            <a:ext cx="43932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127 %</a:t>
            </a:r>
            <a:endParaRPr lang="en-US" sz="816" dirty="0"/>
          </a:p>
        </p:txBody>
      </p:sp>
      <p:sp>
        <p:nvSpPr>
          <p:cNvPr id="53" name="Text 50"/>
          <p:cNvSpPr/>
          <p:nvPr/>
        </p:nvSpPr>
        <p:spPr>
          <a:xfrm>
            <a:off x="4457589" y="4636591"/>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54" name="Text 51"/>
          <p:cNvSpPr/>
          <p:nvPr/>
        </p:nvSpPr>
        <p:spPr>
          <a:xfrm>
            <a:off x="4725770" y="5028902"/>
            <a:ext cx="324973"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650</a:t>
            </a:r>
            <a:endParaRPr lang="en-US" sz="936" dirty="0"/>
          </a:p>
        </p:txBody>
      </p:sp>
      <p:sp>
        <p:nvSpPr>
          <p:cNvPr id="55" name="Text 52"/>
          <p:cNvSpPr/>
          <p:nvPr/>
        </p:nvSpPr>
        <p:spPr>
          <a:xfrm>
            <a:off x="4457589" y="2689920"/>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6" name="Text 53"/>
          <p:cNvSpPr/>
          <p:nvPr/>
        </p:nvSpPr>
        <p:spPr>
          <a:xfrm>
            <a:off x="895328"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4457589"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8019849"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9" name="Text 56"/>
          <p:cNvSpPr/>
          <p:nvPr/>
        </p:nvSpPr>
        <p:spPr>
          <a:xfrm>
            <a:off x="11039199"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0" name="Text 57"/>
          <p:cNvSpPr/>
          <p:nvPr/>
        </p:nvSpPr>
        <p:spPr>
          <a:xfrm>
            <a:off x="895328" y="4636591"/>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1" name="Text 58"/>
          <p:cNvSpPr/>
          <p:nvPr/>
        </p:nvSpPr>
        <p:spPr>
          <a:xfrm>
            <a:off x="7476938" y="4655641"/>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2" name="Text 59"/>
          <p:cNvSpPr/>
          <p:nvPr/>
        </p:nvSpPr>
        <p:spPr>
          <a:xfrm>
            <a:off x="5098426" y="5019377"/>
            <a:ext cx="395793" cy="166783"/>
          </a:xfrm>
          <a:prstGeom prst="rect">
            <a:avLst/>
          </a:prstGeom>
          <a:noFill/>
          <a:ln/>
        </p:spPr>
        <p:txBody>
          <a:bodyPr wrap="square" lIns="19050" tIns="76200" rIns="76200" bIns="19050" rtlCol="0" anchor="t"/>
          <a:lstStyle/>
          <a:p>
            <a:pPr algn="l" indent="0" marL="0">
              <a:buNone/>
            </a:pPr>
            <a:r>
              <a:rPr lang="en-US" sz="816" b="1" dirty="0">
                <a:solidFill>
                  <a:srgbClr val="8A6200"/>
                </a:solidFill>
                <a:latin typeface="Raleway" pitchFamily="34" charset="0"/>
                <a:ea typeface="Raleway" pitchFamily="34" charset="-122"/>
                <a:cs typeface="Raleway" pitchFamily="34" charset="-120"/>
              </a:rPr>
              <a:t>86 %</a:t>
            </a:r>
            <a:endParaRPr lang="en-US" sz="816" dirty="0"/>
          </a:p>
        </p:txBody>
      </p:sp>
      <p:sp>
        <p:nvSpPr>
          <p:cNvPr id="63" name="Text 60"/>
          <p:cNvSpPr/>
          <p:nvPr/>
        </p:nvSpPr>
        <p:spPr>
          <a:xfrm>
            <a:off x="4457589" y="3082230"/>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659</a:t>
            </a:r>
            <a:endParaRPr lang="en-US" sz="936" dirty="0"/>
          </a:p>
        </p:txBody>
      </p:sp>
      <p:sp>
        <p:nvSpPr>
          <p:cNvPr id="64" name="Text 61"/>
          <p:cNvSpPr/>
          <p:nvPr/>
        </p:nvSpPr>
        <p:spPr>
          <a:xfrm>
            <a:off x="895328"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607</a:t>
            </a:r>
            <a:endParaRPr lang="en-US" sz="936" dirty="0"/>
          </a:p>
        </p:txBody>
      </p:sp>
      <p:sp>
        <p:nvSpPr>
          <p:cNvPr id="65" name="Text 62"/>
          <p:cNvSpPr/>
          <p:nvPr/>
        </p:nvSpPr>
        <p:spPr>
          <a:xfrm>
            <a:off x="4457589"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517</a:t>
            </a:r>
            <a:endParaRPr lang="en-US" sz="936" dirty="0"/>
          </a:p>
        </p:txBody>
      </p:sp>
      <p:sp>
        <p:nvSpPr>
          <p:cNvPr id="66" name="Text 63"/>
          <p:cNvSpPr/>
          <p:nvPr/>
        </p:nvSpPr>
        <p:spPr>
          <a:xfrm>
            <a:off x="8019849"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556</a:t>
            </a:r>
            <a:endParaRPr lang="en-US" sz="936" dirty="0"/>
          </a:p>
        </p:txBody>
      </p:sp>
      <p:sp>
        <p:nvSpPr>
          <p:cNvPr id="67" name="Text 64"/>
          <p:cNvSpPr/>
          <p:nvPr/>
        </p:nvSpPr>
        <p:spPr>
          <a:xfrm>
            <a:off x="4457589" y="5028902"/>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560</a:t>
            </a:r>
            <a:endParaRPr lang="en-US" sz="93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3594784"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4" name="Text 1"/>
          <p:cNvSpPr/>
          <p:nvPr/>
        </p:nvSpPr>
        <p:spPr>
          <a:xfrm>
            <a:off x="6514937" y="108689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5" name="Text 2"/>
          <p:cNvSpPr/>
          <p:nvPr/>
        </p:nvSpPr>
        <p:spPr>
          <a:xfrm>
            <a:off x="609585" y="688657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Parte de La Gran Jugada · 114% meta</a:t>
            </a:r>
            <a:endParaRPr lang="en-US" sz="672" dirty="0"/>
          </a:p>
        </p:txBody>
      </p:sp>
      <p:sp>
        <p:nvSpPr>
          <p:cNvPr id="6" name="Text 3"/>
          <p:cNvSpPr/>
          <p:nvPr/>
        </p:nvSpPr>
        <p:spPr>
          <a:xfrm>
            <a:off x="981050" y="108689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7" name="Text 4"/>
          <p:cNvSpPr/>
          <p:nvPr/>
        </p:nvSpPr>
        <p:spPr>
          <a:xfrm>
            <a:off x="6514937" y="419204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8" name="Text 5"/>
          <p:cNvSpPr/>
          <p:nvPr/>
        </p:nvSpPr>
        <p:spPr>
          <a:xfrm>
            <a:off x="6143471" y="688657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1.520 ventas en dos semanas</a:t>
            </a:r>
            <a:endParaRPr lang="en-US" sz="672" dirty="0"/>
          </a:p>
        </p:txBody>
      </p:sp>
      <p:sp>
        <p:nvSpPr>
          <p:cNvPr id="9" name="Text 6"/>
          <p:cNvSpPr/>
          <p:nvPr/>
        </p:nvSpPr>
        <p:spPr>
          <a:xfrm>
            <a:off x="981050" y="419204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0" name="Text 7"/>
          <p:cNvSpPr/>
          <p:nvPr/>
        </p:nvSpPr>
        <p:spPr>
          <a:xfrm>
            <a:off x="609585" y="378142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1.292 ventas logradas</a:t>
            </a:r>
            <a:endParaRPr lang="en-US" sz="672" dirty="0"/>
          </a:p>
        </p:txBody>
      </p:sp>
      <p:sp>
        <p:nvSpPr>
          <p:cNvPr id="11" name="Text 8"/>
          <p:cNvSpPr/>
          <p:nvPr/>
        </p:nvSpPr>
        <p:spPr>
          <a:xfrm>
            <a:off x="6143471" y="378142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1.266 ventas logradas</a:t>
            </a:r>
            <a:endParaRPr lang="en-US" sz="672" dirty="0"/>
          </a:p>
        </p:txBody>
      </p:sp>
      <p:sp>
        <p:nvSpPr>
          <p:cNvPr id="12" name="Text 9"/>
          <p:cNvSpPr/>
          <p:nvPr/>
        </p:nvSpPr>
        <p:spPr>
          <a:xfrm>
            <a:off x="10079579" y="209550"/>
            <a:ext cx="1586849"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Evidencias</a:t>
            </a:r>
            <a:endParaRPr lang="en-US" sz="840" dirty="0"/>
          </a:p>
        </p:txBody>
      </p:sp>
      <p:sp>
        <p:nvSpPr>
          <p:cNvPr id="13" name="Text 10"/>
          <p:cNvSpPr/>
          <p:nvPr/>
        </p:nvSpPr>
        <p:spPr>
          <a:xfrm>
            <a:off x="981050" y="97824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4" name="Text 11"/>
          <p:cNvSpPr/>
          <p:nvPr/>
        </p:nvSpPr>
        <p:spPr>
          <a:xfrm>
            <a:off x="6514937" y="97824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5" name="Text 12"/>
          <p:cNvSpPr/>
          <p:nvPr/>
        </p:nvSpPr>
        <p:spPr>
          <a:xfrm>
            <a:off x="981050" y="408339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6" name="Text 13"/>
          <p:cNvSpPr/>
          <p:nvPr/>
        </p:nvSpPr>
        <p:spPr>
          <a:xfrm>
            <a:off x="6514937" y="408339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7" name="Text 14"/>
          <p:cNvSpPr/>
          <p:nvPr/>
        </p:nvSpPr>
        <p:spPr>
          <a:xfrm>
            <a:off x="609585" y="360045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8" name="Text 15"/>
          <p:cNvSpPr/>
          <p:nvPr/>
        </p:nvSpPr>
        <p:spPr>
          <a:xfrm>
            <a:off x="6143471" y="360045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9" name="Text 16"/>
          <p:cNvSpPr/>
          <p:nvPr/>
        </p:nvSpPr>
        <p:spPr>
          <a:xfrm>
            <a:off x="609585" y="670560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0" name="Text 17"/>
          <p:cNvSpPr/>
          <p:nvPr/>
        </p:nvSpPr>
        <p:spPr>
          <a:xfrm>
            <a:off x="6143471" y="670560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1" name="Text 18"/>
          <p:cNvSpPr/>
          <p:nvPr/>
        </p:nvSpPr>
        <p:spPr>
          <a:xfrm>
            <a:off x="5815165" y="1014413"/>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2" name="Text 19"/>
          <p:cNvSpPr/>
          <p:nvPr/>
        </p:nvSpPr>
        <p:spPr>
          <a:xfrm>
            <a:off x="11349051" y="1014413"/>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3" name="Text 20"/>
          <p:cNvSpPr/>
          <p:nvPr/>
        </p:nvSpPr>
        <p:spPr>
          <a:xfrm>
            <a:off x="5815165" y="4119562"/>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4" name="Text 21"/>
          <p:cNvSpPr/>
          <p:nvPr/>
        </p:nvSpPr>
        <p:spPr>
          <a:xfrm>
            <a:off x="11349051" y="4119562"/>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5040064"/>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2" dirty="0"/>
          </a:p>
        </p:txBody>
      </p:sp>
      <p:sp>
        <p:nvSpPr>
          <p:cNvPr id="4" name="Text 1"/>
          <p:cNvSpPr/>
          <p:nvPr/>
        </p:nvSpPr>
        <p:spPr>
          <a:xfrm>
            <a:off x="923902" y="5405735"/>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2" dirty="0"/>
          </a:p>
        </p:txBody>
      </p:sp>
      <p:sp>
        <p:nvSpPr>
          <p:cNvPr id="5" name="Text 2"/>
          <p:cNvSpPr/>
          <p:nvPr/>
        </p:nvSpPr>
        <p:spPr>
          <a:xfrm>
            <a:off x="6676858" y="4118223"/>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2" dirty="0"/>
          </a:p>
        </p:txBody>
      </p:sp>
      <p:sp>
        <p:nvSpPr>
          <p:cNvPr id="6" name="Text 3"/>
          <p:cNvSpPr/>
          <p:nvPr/>
        </p:nvSpPr>
        <p:spPr>
          <a:xfrm>
            <a:off x="6676858" y="375255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2" dirty="0"/>
          </a:p>
        </p:txBody>
      </p:sp>
      <p:sp>
        <p:nvSpPr>
          <p:cNvPr id="7" name="Text 4"/>
          <p:cNvSpPr/>
          <p:nvPr/>
        </p:nvSpPr>
        <p:spPr>
          <a:xfrm>
            <a:off x="6676858" y="2221111"/>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2" dirty="0"/>
          </a:p>
        </p:txBody>
      </p:sp>
      <p:sp>
        <p:nvSpPr>
          <p:cNvPr id="8" name="Text 5"/>
          <p:cNvSpPr/>
          <p:nvPr/>
        </p:nvSpPr>
        <p:spPr>
          <a:xfrm>
            <a:off x="923902" y="4674394"/>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2" dirty="0"/>
          </a:p>
        </p:txBody>
      </p:sp>
      <p:sp>
        <p:nvSpPr>
          <p:cNvPr id="9" name="Text 6"/>
          <p:cNvSpPr/>
          <p:nvPr/>
        </p:nvSpPr>
        <p:spPr>
          <a:xfrm>
            <a:off x="6676858" y="5961906"/>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2" dirty="0"/>
          </a:p>
        </p:txBody>
      </p:sp>
      <p:sp>
        <p:nvSpPr>
          <p:cNvPr id="10" name="Text 7"/>
          <p:cNvSpPr/>
          <p:nvPr/>
        </p:nvSpPr>
        <p:spPr>
          <a:xfrm>
            <a:off x="923902" y="1611511"/>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2" dirty="0"/>
          </a:p>
        </p:txBody>
      </p:sp>
      <p:sp>
        <p:nvSpPr>
          <p:cNvPr id="11" name="Text 8"/>
          <p:cNvSpPr/>
          <p:nvPr/>
        </p:nvSpPr>
        <p:spPr>
          <a:xfrm>
            <a:off x="923902" y="314295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2" dirty="0"/>
          </a:p>
        </p:txBody>
      </p:sp>
      <p:sp>
        <p:nvSpPr>
          <p:cNvPr id="12" name="Text 9"/>
          <p:cNvSpPr/>
          <p:nvPr/>
        </p:nvSpPr>
        <p:spPr>
          <a:xfrm>
            <a:off x="6676858" y="258678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2" dirty="0"/>
          </a:p>
        </p:txBody>
      </p:sp>
      <p:sp>
        <p:nvSpPr>
          <p:cNvPr id="13" name="Text 10"/>
          <p:cNvSpPr/>
          <p:nvPr/>
        </p:nvSpPr>
        <p:spPr>
          <a:xfrm>
            <a:off x="4154880" y="1037779"/>
            <a:ext cx="4292709"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ejecutadas por Xuma — al menos una por mes, con análisis de impacto operativo por sesión.</a:t>
            </a:r>
            <a:endParaRPr lang="en-US" sz="624" dirty="0"/>
          </a:p>
        </p:txBody>
      </p:sp>
      <p:sp>
        <p:nvSpPr>
          <p:cNvPr id="14" name="Text 11"/>
          <p:cNvSpPr/>
          <p:nvPr/>
        </p:nvSpPr>
        <p:spPr>
          <a:xfrm>
            <a:off x="6676858" y="5849541"/>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4" dirty="0"/>
          </a:p>
        </p:txBody>
      </p:sp>
      <p:sp>
        <p:nvSpPr>
          <p:cNvPr id="15" name="Text 12"/>
          <p:cNvSpPr/>
          <p:nvPr/>
        </p:nvSpPr>
        <p:spPr>
          <a:xfrm>
            <a:off x="923902" y="5293370"/>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4" dirty="0"/>
          </a:p>
        </p:txBody>
      </p:sp>
      <p:sp>
        <p:nvSpPr>
          <p:cNvPr id="16" name="Text 13"/>
          <p:cNvSpPr/>
          <p:nvPr/>
        </p:nvSpPr>
        <p:spPr>
          <a:xfrm>
            <a:off x="6676858" y="3640187"/>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4" dirty="0"/>
          </a:p>
        </p:txBody>
      </p:sp>
      <p:sp>
        <p:nvSpPr>
          <p:cNvPr id="17" name="Text 14"/>
          <p:cNvSpPr/>
          <p:nvPr/>
        </p:nvSpPr>
        <p:spPr>
          <a:xfrm>
            <a:off x="923902" y="149914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4" dirty="0"/>
          </a:p>
        </p:txBody>
      </p:sp>
      <p:sp>
        <p:nvSpPr>
          <p:cNvPr id="18" name="Text 15"/>
          <p:cNvSpPr/>
          <p:nvPr/>
        </p:nvSpPr>
        <p:spPr>
          <a:xfrm>
            <a:off x="6676858" y="247441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4" dirty="0"/>
          </a:p>
        </p:txBody>
      </p:sp>
      <p:sp>
        <p:nvSpPr>
          <p:cNvPr id="19" name="Text 16"/>
          <p:cNvSpPr/>
          <p:nvPr/>
        </p:nvSpPr>
        <p:spPr>
          <a:xfrm>
            <a:off x="923902" y="3030587"/>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4" dirty="0"/>
          </a:p>
        </p:txBody>
      </p:sp>
      <p:sp>
        <p:nvSpPr>
          <p:cNvPr id="20" name="Text 17"/>
          <p:cNvSpPr/>
          <p:nvPr/>
        </p:nvSpPr>
        <p:spPr>
          <a:xfrm>
            <a:off x="923902" y="4927699"/>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4" dirty="0"/>
          </a:p>
        </p:txBody>
      </p:sp>
      <p:sp>
        <p:nvSpPr>
          <p:cNvPr id="21" name="Text 18"/>
          <p:cNvSpPr/>
          <p:nvPr/>
        </p:nvSpPr>
        <p:spPr>
          <a:xfrm>
            <a:off x="923902" y="4562029"/>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Actualización Comercial del Producto Plan Combo Vida</a:t>
            </a:r>
            <a:endParaRPr lang="en-US" sz="624" dirty="0"/>
          </a:p>
        </p:txBody>
      </p:sp>
      <p:sp>
        <p:nvSpPr>
          <p:cNvPr id="22" name="Text 19"/>
          <p:cNvSpPr/>
          <p:nvPr/>
        </p:nvSpPr>
        <p:spPr>
          <a:xfrm>
            <a:off x="6676858" y="210874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Protocolo de Cierre Comercial</a:t>
            </a:r>
            <a:endParaRPr lang="en-US" sz="624" dirty="0"/>
          </a:p>
        </p:txBody>
      </p:sp>
      <p:sp>
        <p:nvSpPr>
          <p:cNvPr id="23" name="Text 20"/>
          <p:cNvSpPr/>
          <p:nvPr/>
        </p:nvSpPr>
        <p:spPr>
          <a:xfrm>
            <a:off x="1213514" y="219075"/>
            <a:ext cx="402552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24" name="Text 21"/>
          <p:cNvSpPr/>
          <p:nvPr/>
        </p:nvSpPr>
        <p:spPr>
          <a:xfrm>
            <a:off x="6676858" y="4005858"/>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Guion Comercial Aprobado</a:t>
            </a:r>
            <a:endParaRPr lang="en-US" sz="624" dirty="0"/>
          </a:p>
        </p:txBody>
      </p:sp>
      <p:sp>
        <p:nvSpPr>
          <p:cNvPr id="25" name="Text 22"/>
          <p:cNvSpPr/>
          <p:nvPr/>
        </p:nvSpPr>
        <p:spPr>
          <a:xfrm>
            <a:off x="9743831" y="209550"/>
            <a:ext cx="1932669"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Capacitaciones</a:t>
            </a:r>
            <a:endParaRPr lang="en-US" sz="840" dirty="0"/>
          </a:p>
        </p:txBody>
      </p:sp>
      <p:sp>
        <p:nvSpPr>
          <p:cNvPr id="26" name="Text 23"/>
          <p:cNvSpPr/>
          <p:nvPr/>
        </p:nvSpPr>
        <p:spPr>
          <a:xfrm>
            <a:off x="6739067" y="1984921"/>
            <a:ext cx="301213"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7" name="Text 24"/>
          <p:cNvSpPr/>
          <p:nvPr/>
        </p:nvSpPr>
        <p:spPr>
          <a:xfrm>
            <a:off x="6750675" y="3516362"/>
            <a:ext cx="301213"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1003969" y="4438204"/>
            <a:ext cx="30198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9" name="Text 26"/>
          <p:cNvSpPr/>
          <p:nvPr/>
        </p:nvSpPr>
        <p:spPr>
          <a:xfrm>
            <a:off x="993105" y="1375321"/>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1365796"/>
            <a:ext cx="274320" cy="128016"/>
          </a:xfrm>
          <a:prstGeom prst="rect">
            <a:avLst/>
          </a:prstGeom>
          <a:noFill/>
          <a:ln/>
        </p:spPr>
        <p:txBody>
          <a:bodyPr wrap="square" lIns="0" tIns="0" rIns="0" bIns="0" rtlCol="0" anchor="t"/>
          <a:lstStyle/>
          <a:p>
            <a:pPr algn="l" indent="0" marL="0">
              <a:buNone/>
            </a:pPr>
            <a:r>
              <a:rPr lang="en-US" sz="528" b="1" dirty="0">
                <a:solidFill>
                  <a:srgbClr val="FF6B35"/>
                </a:solidFill>
                <a:latin typeface="Raleway" pitchFamily="34" charset="0"/>
                <a:ea typeface="Raleway" pitchFamily="34" charset="-122"/>
                <a:cs typeface="Raleway" pitchFamily="34" charset="-120"/>
              </a:rPr>
              <a:t>Ene</a:t>
            </a:r>
            <a:endParaRPr lang="en-US" sz="528" dirty="0"/>
          </a:p>
        </p:txBody>
      </p:sp>
      <p:sp>
        <p:nvSpPr>
          <p:cNvPr id="33" name="Text 30"/>
          <p:cNvSpPr/>
          <p:nvPr/>
        </p:nvSpPr>
        <p:spPr>
          <a:xfrm>
            <a:off x="6495888" y="1975396"/>
            <a:ext cx="274320" cy="128016"/>
          </a:xfrm>
          <a:prstGeom prst="rect">
            <a:avLst/>
          </a:prstGeom>
          <a:noFill/>
          <a:ln/>
        </p:spPr>
        <p:txBody>
          <a:bodyPr wrap="square" lIns="0" tIns="0" rIns="0" bIns="0" rtlCol="0" anchor="t"/>
          <a:lstStyle/>
          <a:p>
            <a:pPr algn="l" indent="0" marL="0">
              <a:buNone/>
            </a:pPr>
            <a:r>
              <a:rPr lang="en-US" sz="528" b="1" dirty="0">
                <a:solidFill>
                  <a:srgbClr val="F5A623"/>
                </a:solidFill>
                <a:latin typeface="Raleway" pitchFamily="34" charset="0"/>
                <a:ea typeface="Raleway" pitchFamily="34" charset="-122"/>
                <a:cs typeface="Raleway" pitchFamily="34" charset="-120"/>
              </a:rPr>
              <a:t>Feb</a:t>
            </a:r>
            <a:endParaRPr lang="en-US" sz="528" dirty="0"/>
          </a:p>
        </p:txBody>
      </p:sp>
      <p:sp>
        <p:nvSpPr>
          <p:cNvPr id="34" name="Text 31"/>
          <p:cNvSpPr/>
          <p:nvPr/>
        </p:nvSpPr>
        <p:spPr>
          <a:xfrm>
            <a:off x="742931" y="2897237"/>
            <a:ext cx="274320" cy="128016"/>
          </a:xfrm>
          <a:prstGeom prst="rect">
            <a:avLst/>
          </a:prstGeom>
          <a:noFill/>
          <a:ln/>
        </p:spPr>
        <p:txBody>
          <a:bodyPr wrap="square" lIns="0" tIns="0" rIns="0" bIns="0" rtlCol="0" anchor="t"/>
          <a:lstStyle/>
          <a:p>
            <a:pPr algn="l" indent="0" marL="0">
              <a:buNone/>
            </a:pPr>
            <a:r>
              <a:rPr lang="en-US" sz="528" b="1" dirty="0">
                <a:solidFill>
                  <a:srgbClr val="F7C948"/>
                </a:solidFill>
                <a:latin typeface="Raleway" pitchFamily="34" charset="0"/>
                <a:ea typeface="Raleway" pitchFamily="34" charset="-122"/>
                <a:cs typeface="Raleway" pitchFamily="34" charset="-120"/>
              </a:rPr>
              <a:t>Mar</a:t>
            </a:r>
            <a:endParaRPr lang="en-US" sz="528" dirty="0"/>
          </a:p>
        </p:txBody>
      </p:sp>
      <p:sp>
        <p:nvSpPr>
          <p:cNvPr id="35" name="Text 32"/>
          <p:cNvSpPr/>
          <p:nvPr/>
        </p:nvSpPr>
        <p:spPr>
          <a:xfrm>
            <a:off x="6495888" y="3506837"/>
            <a:ext cx="274320" cy="128016"/>
          </a:xfrm>
          <a:prstGeom prst="rect">
            <a:avLst/>
          </a:prstGeom>
          <a:noFill/>
          <a:ln/>
        </p:spPr>
        <p:txBody>
          <a:bodyPr wrap="square" lIns="0" tIns="0" rIns="0" bIns="0" rtlCol="0" anchor="t"/>
          <a:lstStyle/>
          <a:p>
            <a:pPr algn="l" indent="0" marL="0">
              <a:buNone/>
            </a:pPr>
            <a:r>
              <a:rPr lang="en-US" sz="528" b="1" dirty="0">
                <a:solidFill>
                  <a:srgbClr val="5AE280"/>
                </a:solidFill>
                <a:latin typeface="Raleway" pitchFamily="34" charset="0"/>
                <a:ea typeface="Raleway" pitchFamily="34" charset="-122"/>
                <a:cs typeface="Raleway" pitchFamily="34" charset="-120"/>
              </a:rPr>
              <a:t>Abr</a:t>
            </a:r>
            <a:endParaRPr lang="en-US" sz="528" dirty="0"/>
          </a:p>
        </p:txBody>
      </p:sp>
      <p:sp>
        <p:nvSpPr>
          <p:cNvPr id="36" name="Text 33"/>
          <p:cNvSpPr/>
          <p:nvPr/>
        </p:nvSpPr>
        <p:spPr>
          <a:xfrm>
            <a:off x="742931" y="4428679"/>
            <a:ext cx="274320" cy="128016"/>
          </a:xfrm>
          <a:prstGeom prst="rect">
            <a:avLst/>
          </a:prstGeom>
          <a:noFill/>
          <a:ln/>
        </p:spPr>
        <p:txBody>
          <a:bodyPr wrap="square" lIns="0" tIns="0" rIns="0" bIns="0" rtlCol="0" anchor="t"/>
          <a:lstStyle/>
          <a:p>
            <a:pPr algn="l" indent="0" marL="0">
              <a:buNone/>
            </a:pPr>
            <a:r>
              <a:rPr lang="en-US" sz="528" b="1" dirty="0">
                <a:solidFill>
                  <a:srgbClr val="00CD93"/>
                </a:solidFill>
                <a:latin typeface="Raleway" pitchFamily="34" charset="0"/>
                <a:ea typeface="Raleway" pitchFamily="34" charset="-122"/>
                <a:cs typeface="Raleway" pitchFamily="34" charset="-120"/>
              </a:rPr>
              <a:t>May</a:t>
            </a:r>
            <a:endParaRPr lang="en-US" sz="528" dirty="0"/>
          </a:p>
        </p:txBody>
      </p:sp>
      <p:sp>
        <p:nvSpPr>
          <p:cNvPr id="37" name="Text 34"/>
          <p:cNvSpPr/>
          <p:nvPr/>
        </p:nvSpPr>
        <p:spPr>
          <a:xfrm>
            <a:off x="6495888" y="5716191"/>
            <a:ext cx="274320" cy="128016"/>
          </a:xfrm>
          <a:prstGeom prst="rect">
            <a:avLst/>
          </a:prstGeom>
          <a:noFill/>
          <a:ln/>
        </p:spPr>
        <p:txBody>
          <a:bodyPr wrap="square" lIns="0" tIns="0" rIns="0" bIns="0" rtlCol="0" anchor="t"/>
          <a:lstStyle/>
          <a:p>
            <a:pPr algn="l" indent="0" marL="0">
              <a:buNone/>
            </a:pPr>
            <a:r>
              <a:rPr lang="en-US" sz="528" b="1" dirty="0">
                <a:solidFill>
                  <a:srgbClr val="5B8DEF"/>
                </a:solidFill>
                <a:latin typeface="Raleway" pitchFamily="34" charset="0"/>
                <a:ea typeface="Raleway" pitchFamily="34" charset="-122"/>
                <a:cs typeface="Raleway" pitchFamily="34" charset="-120"/>
              </a:rPr>
              <a:t>Jun</a:t>
            </a:r>
            <a:endParaRPr lang="en-US" sz="52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43531" y="3815060"/>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2" dirty="0"/>
          </a:p>
        </p:txBody>
      </p:sp>
      <p:sp>
        <p:nvSpPr>
          <p:cNvPr id="4" name="Text 1"/>
          <p:cNvSpPr/>
          <p:nvPr/>
        </p:nvSpPr>
        <p:spPr>
          <a:xfrm>
            <a:off x="6743531" y="1619250"/>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2" dirty="0"/>
          </a:p>
        </p:txBody>
      </p:sp>
      <p:sp>
        <p:nvSpPr>
          <p:cNvPr id="5" name="Text 2"/>
          <p:cNvSpPr/>
          <p:nvPr/>
        </p:nvSpPr>
        <p:spPr>
          <a:xfrm>
            <a:off x="6743531" y="3083123"/>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2" dirty="0"/>
          </a:p>
        </p:txBody>
      </p:sp>
      <p:sp>
        <p:nvSpPr>
          <p:cNvPr id="6" name="Text 3"/>
          <p:cNvSpPr/>
          <p:nvPr/>
        </p:nvSpPr>
        <p:spPr>
          <a:xfrm>
            <a:off x="6743531" y="2351187"/>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2" dirty="0"/>
          </a:p>
        </p:txBody>
      </p:sp>
      <p:sp>
        <p:nvSpPr>
          <p:cNvPr id="7" name="Text 4"/>
          <p:cNvSpPr/>
          <p:nvPr/>
        </p:nvSpPr>
        <p:spPr>
          <a:xfrm>
            <a:off x="1200120" y="2223343"/>
            <a:ext cx="4728663" cy="263357"/>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2" dirty="0"/>
          </a:p>
        </p:txBody>
      </p:sp>
      <p:sp>
        <p:nvSpPr>
          <p:cNvPr id="8" name="Text 5"/>
          <p:cNvSpPr/>
          <p:nvPr/>
        </p:nvSpPr>
        <p:spPr>
          <a:xfrm>
            <a:off x="1200120" y="2955280"/>
            <a:ext cx="4728663" cy="263357"/>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2" dirty="0"/>
          </a:p>
        </p:txBody>
      </p:sp>
      <p:sp>
        <p:nvSpPr>
          <p:cNvPr id="9" name="Text 6"/>
          <p:cNvSpPr/>
          <p:nvPr/>
        </p:nvSpPr>
        <p:spPr>
          <a:xfrm>
            <a:off x="1200120" y="1619250"/>
            <a:ext cx="4478189" cy="131679"/>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2" dirty="0"/>
          </a:p>
        </p:txBody>
      </p:sp>
      <p:sp>
        <p:nvSpPr>
          <p:cNvPr id="10" name="Text 7"/>
          <p:cNvSpPr/>
          <p:nvPr/>
        </p:nvSpPr>
        <p:spPr>
          <a:xfrm>
            <a:off x="1200120" y="3687217"/>
            <a:ext cx="3778577" cy="131679"/>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2" dirty="0"/>
          </a:p>
        </p:txBody>
      </p:sp>
      <p:sp>
        <p:nvSpPr>
          <p:cNvPr id="11" name="Text 8"/>
          <p:cNvSpPr/>
          <p:nvPr/>
        </p:nvSpPr>
        <p:spPr>
          <a:xfrm>
            <a:off x="1200120" y="1495425"/>
            <a:ext cx="4478189"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Objeciones, tipificación y corrección inmediata</a:t>
            </a:r>
            <a:endParaRPr lang="en-US" sz="672" dirty="0"/>
          </a:p>
        </p:txBody>
      </p:sp>
      <p:sp>
        <p:nvSpPr>
          <p:cNvPr id="12" name="Text 9"/>
          <p:cNvSpPr/>
          <p:nvPr/>
        </p:nvSpPr>
        <p:spPr>
          <a:xfrm>
            <a:off x="6743531" y="2227362"/>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Trato preferencial y medición de experiencia</a:t>
            </a:r>
            <a:endParaRPr lang="en-US" sz="672" dirty="0"/>
          </a:p>
        </p:txBody>
      </p:sp>
      <p:sp>
        <p:nvSpPr>
          <p:cNvPr id="13" name="Text 10"/>
          <p:cNvSpPr/>
          <p:nvPr/>
        </p:nvSpPr>
        <p:spPr>
          <a:xfrm>
            <a:off x="1200120" y="2099518"/>
            <a:ext cx="4728663"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Contrastan tipificación vs. la llamada real</a:t>
            </a:r>
            <a:endParaRPr lang="en-US" sz="672" dirty="0"/>
          </a:p>
        </p:txBody>
      </p:sp>
      <p:sp>
        <p:nvSpPr>
          <p:cNvPr id="14" name="Text 11"/>
          <p:cNvSpPr/>
          <p:nvPr/>
        </p:nvSpPr>
        <p:spPr>
          <a:xfrm>
            <a:off x="1200120" y="2831455"/>
            <a:ext cx="4728663"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Manual de objeciones desde "no interesado"</a:t>
            </a:r>
            <a:endParaRPr lang="en-US" sz="672" dirty="0"/>
          </a:p>
        </p:txBody>
      </p:sp>
      <p:sp>
        <p:nvSpPr>
          <p:cNvPr id="15" name="Text 12"/>
          <p:cNvSpPr/>
          <p:nvPr/>
        </p:nvSpPr>
        <p:spPr>
          <a:xfrm>
            <a:off x="6743531" y="2959298"/>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El asesor deja explícito que es un seguro</a:t>
            </a:r>
            <a:endParaRPr lang="en-US" sz="672" dirty="0"/>
          </a:p>
        </p:txBody>
      </p:sp>
      <p:sp>
        <p:nvSpPr>
          <p:cNvPr id="16" name="Text 13"/>
          <p:cNvSpPr/>
          <p:nvPr/>
        </p:nvSpPr>
        <p:spPr>
          <a:xfrm>
            <a:off x="1213514" y="219075"/>
            <a:ext cx="35647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7" name="Text 14"/>
          <p:cNvSpPr/>
          <p:nvPr/>
        </p:nvSpPr>
        <p:spPr>
          <a:xfrm>
            <a:off x="6743531" y="3691235"/>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Por localidad/edad + control de spam/DID</a:t>
            </a:r>
            <a:endParaRPr lang="en-US" sz="672" dirty="0"/>
          </a:p>
        </p:txBody>
      </p:sp>
      <p:sp>
        <p:nvSpPr>
          <p:cNvPr id="18" name="Text 15"/>
          <p:cNvSpPr/>
          <p:nvPr/>
        </p:nvSpPr>
        <p:spPr>
          <a:xfrm>
            <a:off x="6743531" y="1495425"/>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Menor carencia + coberturas adicionales</a:t>
            </a:r>
            <a:endParaRPr lang="en-US" sz="672" dirty="0"/>
          </a:p>
        </p:txBody>
      </p:sp>
      <p:sp>
        <p:nvSpPr>
          <p:cNvPr id="19" name="Text 16"/>
          <p:cNvSpPr/>
          <p:nvPr/>
        </p:nvSpPr>
        <p:spPr>
          <a:xfrm>
            <a:off x="1200120" y="3563392"/>
            <a:ext cx="3778577"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Avance, proyección y KPI faltante</a:t>
            </a:r>
            <a:endParaRPr lang="en-US" sz="672" dirty="0"/>
          </a:p>
        </p:txBody>
      </p:sp>
      <p:sp>
        <p:nvSpPr>
          <p:cNvPr id="20" name="Text 17"/>
          <p:cNvSpPr/>
          <p:nvPr/>
        </p:nvSpPr>
        <p:spPr>
          <a:xfrm>
            <a:off x="6743531" y="2816423"/>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Frase de aclaración obligatoria</a:t>
            </a:r>
            <a:endParaRPr lang="en-US" sz="864" dirty="0"/>
          </a:p>
        </p:txBody>
      </p:sp>
      <p:sp>
        <p:nvSpPr>
          <p:cNvPr id="21" name="Text 18"/>
          <p:cNvSpPr/>
          <p:nvPr/>
        </p:nvSpPr>
        <p:spPr>
          <a:xfrm>
            <a:off x="6743531" y="3548360"/>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Segmentación y contactabilidad</a:t>
            </a:r>
            <a:endParaRPr lang="en-US" sz="864" dirty="0"/>
          </a:p>
        </p:txBody>
      </p:sp>
      <p:sp>
        <p:nvSpPr>
          <p:cNvPr id="22" name="Text 19"/>
          <p:cNvSpPr/>
          <p:nvPr/>
        </p:nvSpPr>
        <p:spPr>
          <a:xfrm>
            <a:off x="1200120" y="3420517"/>
            <a:ext cx="3778577"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Revisión semanal por asesor</a:t>
            </a:r>
            <a:endParaRPr lang="en-US" sz="864" dirty="0"/>
          </a:p>
        </p:txBody>
      </p:sp>
      <p:sp>
        <p:nvSpPr>
          <p:cNvPr id="23" name="Text 20"/>
          <p:cNvSpPr/>
          <p:nvPr/>
        </p:nvSpPr>
        <p:spPr>
          <a:xfrm>
            <a:off x="1200120" y="1352550"/>
            <a:ext cx="4478189"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 semanal en vivo</a:t>
            </a:r>
            <a:endParaRPr lang="en-US" sz="864" dirty="0"/>
          </a:p>
        </p:txBody>
      </p:sp>
      <p:sp>
        <p:nvSpPr>
          <p:cNvPr id="24" name="Text 21"/>
          <p:cNvSpPr/>
          <p:nvPr/>
        </p:nvSpPr>
        <p:spPr>
          <a:xfrm>
            <a:off x="1200120" y="1956643"/>
            <a:ext cx="4728663"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Monitoreos ocasionales</a:t>
            </a:r>
            <a:endParaRPr lang="en-US" sz="864" dirty="0"/>
          </a:p>
        </p:txBody>
      </p:sp>
      <p:sp>
        <p:nvSpPr>
          <p:cNvPr id="25" name="Text 22"/>
          <p:cNvSpPr/>
          <p:nvPr/>
        </p:nvSpPr>
        <p:spPr>
          <a:xfrm>
            <a:off x="6743531" y="1352550"/>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Exclusiones del seguro</a:t>
            </a:r>
            <a:endParaRPr lang="en-US" sz="864" dirty="0"/>
          </a:p>
        </p:txBody>
      </p:sp>
      <p:sp>
        <p:nvSpPr>
          <p:cNvPr id="26" name="Text 23"/>
          <p:cNvSpPr/>
          <p:nvPr/>
        </p:nvSpPr>
        <p:spPr>
          <a:xfrm>
            <a:off x="6743531" y="2084487"/>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Bienvenida autogestión</a:t>
            </a:r>
            <a:endParaRPr lang="en-US" sz="864" dirty="0"/>
          </a:p>
        </p:txBody>
      </p:sp>
      <p:sp>
        <p:nvSpPr>
          <p:cNvPr id="27" name="Text 24"/>
          <p:cNvSpPr/>
          <p:nvPr/>
        </p:nvSpPr>
        <p:spPr>
          <a:xfrm>
            <a:off x="10079877" y="209550"/>
            <a:ext cx="1586543"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Monitoreo</a:t>
            </a:r>
            <a:endParaRPr lang="en-US" sz="840" dirty="0"/>
          </a:p>
        </p:txBody>
      </p:sp>
      <p:sp>
        <p:nvSpPr>
          <p:cNvPr id="28" name="Text 25"/>
          <p:cNvSpPr/>
          <p:nvPr/>
        </p:nvSpPr>
        <p:spPr>
          <a:xfrm>
            <a:off x="1200120" y="2688580"/>
            <a:ext cx="4728663"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Kit de emergencia</a:t>
            </a:r>
            <a:endParaRPr lang="en-US" sz="86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01_Repositorios\13_Presentaciones\dash\televentas\ppt_slides\sk_1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algn="l" indent="0" marL="0">
              <a:buNone/>
            </a:pPr>
            <a:r>
              <a:rPr lang="en-US" sz="1260" dirty="0">
                <a:solidFill>
                  <a:srgbClr val="FFFFFF"/>
                </a:solidFill>
                <a:latin typeface="Raleway" pitchFamily="34" charset="0"/>
                <a:ea typeface="Raleway" pitchFamily="34" charset="-122"/>
                <a:cs typeface="Raleway" pitchFamily="34" charset="-120"/>
              </a:rPr>
              <a:t>Contactabilidad, conversión, motivos de rechazo y proyección</a:t>
            </a:r>
            <a:endParaRPr lang="en-US" sz="1260" dirty="0"/>
          </a:p>
          <a:p>
            <a:pPr algn="l" indent="0" marL="0">
              <a:buNone/>
            </a:pPr>
            <a:r>
              <a:rPr lang="en-US" sz="1260" dirty="0">
                <a:solidFill>
                  <a:srgbClr val="FFFFFF"/>
                </a:solidFill>
                <a:latin typeface="Raleway" pitchFamily="34" charset="0"/>
                <a:ea typeface="Raleway" pitchFamily="34" charset="-122"/>
                <a:cs typeface="Raleway" pitchFamily="34" charset="-120"/>
              </a:rPr>
              <a:t>      del volumen necesario para lograr 3.000 ventas/mes en el segundo semestre.</a:t>
            </a:r>
            <a:endParaRPr lang="en-US" sz="1260" dirty="0"/>
          </a:p>
        </p:txBody>
      </p:sp>
      <p:sp>
        <p:nvSpPr>
          <p:cNvPr id="4" name="Text 1"/>
          <p:cNvSpPr/>
          <p:nvPr/>
        </p:nvSpPr>
        <p:spPr>
          <a:xfrm>
            <a:off x="952476" y="3128367"/>
            <a:ext cx="5705422" cy="1082862"/>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Análisis de Basese Indicadores Operativos</a:t>
            </a:r>
            <a:endParaRPr lang="en-US" sz="1400" dirty="0"/>
          </a:p>
        </p:txBody>
      </p:sp>
      <p:sp>
        <p:nvSpPr>
          <p:cNvPr id="5" name="Text 2"/>
          <p:cNvSpPr/>
          <p:nvPr/>
        </p:nvSpPr>
        <p:spPr>
          <a:xfrm>
            <a:off x="952476" y="2852142"/>
            <a:ext cx="949320" cy="147161"/>
          </a:xfrm>
          <a:prstGeom prst="rect">
            <a:avLst/>
          </a:prstGeom>
          <a:noFill/>
          <a:ln/>
        </p:spPr>
        <p:txBody>
          <a:bodyPr wrap="squar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Capítulo 2</a:t>
            </a:r>
            <a:endParaRPr lang="en-US" sz="936" dirty="0"/>
          </a:p>
        </p:txBody>
      </p:sp>
      <p:sp>
        <p:nvSpPr>
          <p:cNvPr id="6" name="Text 3"/>
          <p:cNvSpPr/>
          <p:nvPr/>
        </p:nvSpPr>
        <p:spPr>
          <a:xfrm>
            <a:off x="952476" y="1975842"/>
            <a:ext cx="1332849" cy="1098804"/>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02</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01_Repositorios\13_Presentaciones\dash\televentas\ppt_slides\sk_18_M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4461570"/>
            <a:ext cx="10811176" cy="56473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entre enero (20 %) y mayo (64 %) triplicamos la contactabilidad sin cambiar quién llamamos, solo . Eso nos trajo 21 % más ventas.  el calendario, horarios y estrategia de llamadas son tan poderosos como la base misma. Febrero y junio bajan porque cambia el mix de campañas (vimos esto arriba). En el 2S, Isaac propone seguir con análisis por franja horaria para identificar ventanas óptimas.</a:t>
            </a:r>
            <a:endParaRPr lang="en-US" sz="960" dirty="0"/>
          </a:p>
        </p:txBody>
      </p:sp>
      <p:sp>
        <p:nvSpPr>
          <p:cNvPr id="4" name="Text 1"/>
          <p:cNvSpPr/>
          <p:nvPr/>
        </p:nvSpPr>
        <p:spPr>
          <a:xfrm>
            <a:off x="1213514" y="219075"/>
            <a:ext cx="32874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5" name="Text 2"/>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6" name="Text 3"/>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7" name="Text 4"/>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8" name="Text 5"/>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9" name="Text 6"/>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0" name="Text 7"/>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1" name="Text 8"/>
          <p:cNvSpPr/>
          <p:nvPr/>
        </p:nvSpPr>
        <p:spPr>
          <a:xfrm>
            <a:off x="9637273" y="209550"/>
            <a:ext cx="204242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2" name="Text 9"/>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3" name="Text 10"/>
          <p:cNvSpPr/>
          <p:nvPr/>
        </p:nvSpPr>
        <p:spPr>
          <a:xfrm>
            <a:off x="7166193" y="2494680"/>
            <a:ext cx="188882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Contactados</a:t>
            </a:r>
            <a:endParaRPr lang="en-US" sz="888" dirty="0"/>
          </a:p>
        </p:txBody>
      </p:sp>
      <p:sp>
        <p:nvSpPr>
          <p:cNvPr id="14" name="Text 11"/>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15" name="Text 12"/>
          <p:cNvSpPr/>
          <p:nvPr/>
        </p:nvSpPr>
        <p:spPr>
          <a:xfrm>
            <a:off x="9000007" y="2494680"/>
            <a:ext cx="121389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16" name="Text 13"/>
          <p:cNvSpPr/>
          <p:nvPr/>
        </p:nvSpPr>
        <p:spPr>
          <a:xfrm>
            <a:off x="10178547" y="2494680"/>
            <a:ext cx="132794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Efect.</a:t>
            </a:r>
            <a:endParaRPr lang="en-US" sz="888" dirty="0"/>
          </a:p>
        </p:txBody>
      </p:sp>
      <p:sp>
        <p:nvSpPr>
          <p:cNvPr id="17" name="Text 14"/>
          <p:cNvSpPr/>
          <p:nvPr/>
        </p:nvSpPr>
        <p:spPr>
          <a:xfrm>
            <a:off x="7166193" y="2723280"/>
            <a:ext cx="18888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21.204</a:t>
            </a:r>
            <a:endParaRPr lang="en-US" sz="888" dirty="0"/>
          </a:p>
        </p:txBody>
      </p:sp>
      <p:sp>
        <p:nvSpPr>
          <p:cNvPr id="18" name="Text 15"/>
          <p:cNvSpPr/>
          <p:nvPr/>
        </p:nvSpPr>
        <p:spPr>
          <a:xfrm>
            <a:off x="10178547" y="2723280"/>
            <a:ext cx="1327944"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10,6 %</a:t>
            </a:r>
            <a:endParaRPr lang="en-US" sz="888" dirty="0"/>
          </a:p>
        </p:txBody>
      </p:sp>
      <p:sp>
        <p:nvSpPr>
          <p:cNvPr id="19" name="Text 16"/>
          <p:cNvSpPr/>
          <p:nvPr/>
        </p:nvSpPr>
        <p:spPr>
          <a:xfrm>
            <a:off x="7166193" y="296616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19.832</a:t>
            </a:r>
            <a:endParaRPr lang="en-US" sz="888" dirty="0"/>
          </a:p>
        </p:txBody>
      </p:sp>
      <p:sp>
        <p:nvSpPr>
          <p:cNvPr id="20" name="Text 17"/>
          <p:cNvSpPr/>
          <p:nvPr/>
        </p:nvSpPr>
        <p:spPr>
          <a:xfrm>
            <a:off x="10178547" y="296616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12,0 %</a:t>
            </a:r>
            <a:endParaRPr lang="en-US" sz="888" dirty="0"/>
          </a:p>
        </p:txBody>
      </p:sp>
      <p:sp>
        <p:nvSpPr>
          <p:cNvPr id="21" name="Text 18"/>
          <p:cNvSpPr/>
          <p:nvPr/>
        </p:nvSpPr>
        <p:spPr>
          <a:xfrm>
            <a:off x="7166193" y="321381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27.138</a:t>
            </a:r>
            <a:endParaRPr lang="en-US" sz="888" dirty="0"/>
          </a:p>
        </p:txBody>
      </p:sp>
      <p:sp>
        <p:nvSpPr>
          <p:cNvPr id="22" name="Text 19"/>
          <p:cNvSpPr/>
          <p:nvPr/>
        </p:nvSpPr>
        <p:spPr>
          <a:xfrm>
            <a:off x="7166193" y="346146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16.200</a:t>
            </a:r>
            <a:endParaRPr lang="en-US" sz="888" dirty="0"/>
          </a:p>
        </p:txBody>
      </p:sp>
      <p:sp>
        <p:nvSpPr>
          <p:cNvPr id="23" name="Text 20"/>
          <p:cNvSpPr/>
          <p:nvPr/>
        </p:nvSpPr>
        <p:spPr>
          <a:xfrm>
            <a:off x="10178547" y="346146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14,6 %</a:t>
            </a:r>
            <a:endParaRPr lang="en-US" sz="888" dirty="0"/>
          </a:p>
        </p:txBody>
      </p:sp>
      <p:sp>
        <p:nvSpPr>
          <p:cNvPr id="24" name="Text 21"/>
          <p:cNvSpPr/>
          <p:nvPr/>
        </p:nvSpPr>
        <p:spPr>
          <a:xfrm>
            <a:off x="7166193" y="370911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24.031</a:t>
            </a:r>
            <a:endParaRPr lang="en-US" sz="888" dirty="0"/>
          </a:p>
        </p:txBody>
      </p:sp>
      <p:sp>
        <p:nvSpPr>
          <p:cNvPr id="25" name="Text 22"/>
          <p:cNvSpPr/>
          <p:nvPr/>
        </p:nvSpPr>
        <p:spPr>
          <a:xfrm>
            <a:off x="7166193" y="3956767"/>
            <a:ext cx="18888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21.291</a:t>
            </a:r>
            <a:endParaRPr lang="en-US" sz="888" dirty="0"/>
          </a:p>
        </p:txBody>
      </p:sp>
      <p:sp>
        <p:nvSpPr>
          <p:cNvPr id="26" name="Text 23"/>
          <p:cNvSpPr/>
          <p:nvPr/>
        </p:nvSpPr>
        <p:spPr>
          <a:xfrm>
            <a:off x="10178547" y="3956767"/>
            <a:ext cx="1327944"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10,9 %</a:t>
            </a:r>
            <a:endParaRPr lang="en-US" sz="888" dirty="0"/>
          </a:p>
        </p:txBody>
      </p:sp>
      <p:sp>
        <p:nvSpPr>
          <p:cNvPr id="27" name="Text 24"/>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40,4 %</a:t>
            </a:r>
            <a:endParaRPr lang="en-US" sz="1400" dirty="0"/>
          </a:p>
        </p:txBody>
      </p:sp>
      <p:sp>
        <p:nvSpPr>
          <p:cNvPr id="28" name="Text 25"/>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63,8 %</a:t>
            </a:r>
            <a:endParaRPr lang="en-US" sz="1400" dirty="0"/>
          </a:p>
        </p:txBody>
      </p:sp>
      <p:sp>
        <p:nvSpPr>
          <p:cNvPr id="29" name="Text 26"/>
          <p:cNvSpPr/>
          <p:nvPr/>
        </p:nvSpPr>
        <p:spPr>
          <a:xfrm>
            <a:off x="5438639" y="252799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20,8 %</a:t>
            </a:r>
            <a:endParaRPr lang="en-US" sz="768" dirty="0"/>
          </a:p>
        </p:txBody>
      </p:sp>
      <p:sp>
        <p:nvSpPr>
          <p:cNvPr id="30" name="Text 27"/>
          <p:cNvSpPr/>
          <p:nvPr/>
        </p:nvSpPr>
        <p:spPr>
          <a:xfrm>
            <a:off x="5438639" y="270897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42,7 %</a:t>
            </a:r>
            <a:endParaRPr lang="en-US" sz="768" dirty="0"/>
          </a:p>
        </p:txBody>
      </p:sp>
      <p:sp>
        <p:nvSpPr>
          <p:cNvPr id="31" name="Text 28"/>
          <p:cNvSpPr/>
          <p:nvPr/>
        </p:nvSpPr>
        <p:spPr>
          <a:xfrm>
            <a:off x="5438639" y="288994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44,9 %</a:t>
            </a:r>
            <a:endParaRPr lang="en-US" sz="768" dirty="0"/>
          </a:p>
        </p:txBody>
      </p:sp>
      <p:sp>
        <p:nvSpPr>
          <p:cNvPr id="32" name="Text 29"/>
          <p:cNvSpPr/>
          <p:nvPr/>
        </p:nvSpPr>
        <p:spPr>
          <a:xfrm>
            <a:off x="5438639" y="307092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52,2 %</a:t>
            </a:r>
            <a:endParaRPr lang="en-US" sz="768" dirty="0"/>
          </a:p>
        </p:txBody>
      </p:sp>
      <p:sp>
        <p:nvSpPr>
          <p:cNvPr id="33" name="Text 30"/>
          <p:cNvSpPr/>
          <p:nvPr/>
        </p:nvSpPr>
        <p:spPr>
          <a:xfrm>
            <a:off x="5438639" y="325189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63,8 %</a:t>
            </a:r>
            <a:endParaRPr lang="en-US" sz="768" dirty="0"/>
          </a:p>
        </p:txBody>
      </p:sp>
      <p:sp>
        <p:nvSpPr>
          <p:cNvPr id="34" name="Text 31"/>
          <p:cNvSpPr/>
          <p:nvPr/>
        </p:nvSpPr>
        <p:spPr>
          <a:xfrm>
            <a:off x="5438639" y="343287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49,0 %</a:t>
            </a:r>
            <a:endParaRPr lang="en-US" sz="768" dirty="0"/>
          </a:p>
        </p:txBody>
      </p:sp>
      <p:sp>
        <p:nvSpPr>
          <p:cNvPr id="35" name="Text 32"/>
          <p:cNvSpPr/>
          <p:nvPr/>
        </p:nvSpPr>
        <p:spPr>
          <a:xfrm>
            <a:off x="9000007" y="2723280"/>
            <a:ext cx="1213897"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2.245</a:t>
            </a:r>
            <a:endParaRPr lang="en-US" sz="888" dirty="0"/>
          </a:p>
        </p:txBody>
      </p:sp>
      <p:sp>
        <p:nvSpPr>
          <p:cNvPr id="36" name="Text 33"/>
          <p:cNvSpPr/>
          <p:nvPr/>
        </p:nvSpPr>
        <p:spPr>
          <a:xfrm>
            <a:off x="9000007" y="296616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2.374</a:t>
            </a:r>
            <a:endParaRPr lang="en-US" sz="888" dirty="0"/>
          </a:p>
        </p:txBody>
      </p:sp>
      <p:sp>
        <p:nvSpPr>
          <p:cNvPr id="37" name="Text 34"/>
          <p:cNvSpPr/>
          <p:nvPr/>
        </p:nvSpPr>
        <p:spPr>
          <a:xfrm>
            <a:off x="9000007" y="321381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2.431</a:t>
            </a:r>
            <a:endParaRPr lang="en-US" sz="888" dirty="0"/>
          </a:p>
        </p:txBody>
      </p:sp>
      <p:sp>
        <p:nvSpPr>
          <p:cNvPr id="38" name="Text 35"/>
          <p:cNvSpPr/>
          <p:nvPr/>
        </p:nvSpPr>
        <p:spPr>
          <a:xfrm>
            <a:off x="10178547" y="321381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9,0 %</a:t>
            </a:r>
            <a:endParaRPr lang="en-US" sz="888" dirty="0"/>
          </a:p>
        </p:txBody>
      </p:sp>
      <p:sp>
        <p:nvSpPr>
          <p:cNvPr id="39" name="Text 36"/>
          <p:cNvSpPr/>
          <p:nvPr/>
        </p:nvSpPr>
        <p:spPr>
          <a:xfrm>
            <a:off x="9000007" y="346146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2.367</a:t>
            </a:r>
            <a:endParaRPr lang="en-US" sz="888" dirty="0"/>
          </a:p>
        </p:txBody>
      </p:sp>
      <p:sp>
        <p:nvSpPr>
          <p:cNvPr id="40" name="Text 37"/>
          <p:cNvSpPr/>
          <p:nvPr/>
        </p:nvSpPr>
        <p:spPr>
          <a:xfrm>
            <a:off x="9000007" y="370911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2.186</a:t>
            </a:r>
            <a:endParaRPr lang="en-US" sz="888" dirty="0"/>
          </a:p>
        </p:txBody>
      </p:sp>
      <p:sp>
        <p:nvSpPr>
          <p:cNvPr id="41" name="Text 38"/>
          <p:cNvSpPr/>
          <p:nvPr/>
        </p:nvSpPr>
        <p:spPr>
          <a:xfrm>
            <a:off x="10178547" y="370911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9,1 %</a:t>
            </a:r>
            <a:endParaRPr lang="en-US" sz="888" dirty="0"/>
          </a:p>
        </p:txBody>
      </p:sp>
      <p:sp>
        <p:nvSpPr>
          <p:cNvPr id="42" name="Text 39"/>
          <p:cNvSpPr/>
          <p:nvPr/>
        </p:nvSpPr>
        <p:spPr>
          <a:xfrm>
            <a:off x="9000007" y="3956767"/>
            <a:ext cx="1213897"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2.314</a:t>
            </a:r>
            <a:endParaRPr lang="en-US" sz="888" dirty="0"/>
          </a:p>
        </p:txBody>
      </p:sp>
      <p:sp>
        <p:nvSpPr>
          <p:cNvPr id="43" name="Text 40"/>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8,6 %</a:t>
            </a:r>
            <a:endParaRPr lang="en-US" sz="1400" dirty="0"/>
          </a:p>
        </p:txBody>
      </p:sp>
      <p:sp>
        <p:nvSpPr>
          <p:cNvPr id="44" name="Text 41"/>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~54 %</a:t>
            </a:r>
            <a:endParaRPr lang="en-US" sz="1400" dirty="0"/>
          </a:p>
        </p:txBody>
      </p:sp>
      <p:sp>
        <p:nvSpPr>
          <p:cNvPr id="45" name="Text 42"/>
          <p:cNvSpPr/>
          <p:nvPr/>
        </p:nvSpPr>
        <p:spPr>
          <a:xfrm>
            <a:off x="6295868" y="2494680"/>
            <a:ext cx="896435"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46" name="Text 43"/>
          <p:cNvSpPr/>
          <p:nvPr/>
        </p:nvSpPr>
        <p:spPr>
          <a:xfrm>
            <a:off x="6295868" y="2723280"/>
            <a:ext cx="89643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47" name="Text 44"/>
          <p:cNvSpPr/>
          <p:nvPr/>
        </p:nvSpPr>
        <p:spPr>
          <a:xfrm>
            <a:off x="6295868" y="296616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48" name="Text 45"/>
          <p:cNvSpPr/>
          <p:nvPr/>
        </p:nvSpPr>
        <p:spPr>
          <a:xfrm>
            <a:off x="6295868" y="321381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49" name="Text 46"/>
          <p:cNvSpPr/>
          <p:nvPr/>
        </p:nvSpPr>
        <p:spPr>
          <a:xfrm>
            <a:off x="6295868" y="346146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50" name="Text 47"/>
          <p:cNvSpPr/>
          <p:nvPr/>
        </p:nvSpPr>
        <p:spPr>
          <a:xfrm>
            <a:off x="6295868" y="370911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51" name="Text 48"/>
          <p:cNvSpPr/>
          <p:nvPr/>
        </p:nvSpPr>
        <p:spPr>
          <a:xfrm>
            <a:off x="6295868" y="3956767"/>
            <a:ext cx="89643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52" name="Text 49"/>
          <p:cNvSpPr/>
          <p:nvPr/>
        </p:nvSpPr>
        <p:spPr>
          <a:xfrm>
            <a:off x="723882" y="252323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53" name="Text 50"/>
          <p:cNvSpPr/>
          <p:nvPr/>
        </p:nvSpPr>
        <p:spPr>
          <a:xfrm>
            <a:off x="723882" y="270420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54" name="Text 51"/>
          <p:cNvSpPr/>
          <p:nvPr/>
        </p:nvSpPr>
        <p:spPr>
          <a:xfrm>
            <a:off x="723882" y="288518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55" name="Text 52"/>
          <p:cNvSpPr/>
          <p:nvPr/>
        </p:nvSpPr>
        <p:spPr>
          <a:xfrm>
            <a:off x="723882" y="306615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56" name="Text 53"/>
          <p:cNvSpPr/>
          <p:nvPr/>
        </p:nvSpPr>
        <p:spPr>
          <a:xfrm>
            <a:off x="723882" y="324713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57" name="Text 54"/>
          <p:cNvSpPr/>
          <p:nvPr/>
        </p:nvSpPr>
        <p:spPr>
          <a:xfrm>
            <a:off x="723882" y="342810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01_Repositorios\13_Presentaciones\dash\televentas\ppt_slides\sk_18_Campan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81070" y="3995625"/>
            <a:ext cx="10418756" cy="56473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Los números en el calendario cambian según qué tipo de cliente estamos llamando. Cuando trabajamos con gente que ya nos conoce (CP y Autogestión) los contactamos 4-5 veces mejor (71-79 %) que números nuevos en Masiva Voluntarios (17 %).  mejorar contactabilidad no es solo cuestión de horarios — es el tipo de base. Mejor calidad de números = mejores resultados.</a:t>
            </a:r>
            <a:endParaRPr lang="en-US" sz="960" dirty="0"/>
          </a:p>
        </p:txBody>
      </p:sp>
      <p:sp>
        <p:nvSpPr>
          <p:cNvPr id="4" name="Text 1"/>
          <p:cNvSpPr/>
          <p:nvPr/>
        </p:nvSpPr>
        <p:spPr>
          <a:xfrm>
            <a:off x="1213514" y="219075"/>
            <a:ext cx="32874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5" name="Text 2"/>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6" name="Text 3"/>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7" name="Text 4"/>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8" name="Text 5"/>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9" name="Text 6"/>
          <p:cNvSpPr/>
          <p:nvPr/>
        </p:nvSpPr>
        <p:spPr>
          <a:xfrm>
            <a:off x="723882" y="2790735"/>
            <a:ext cx="3950721"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Bienvenidas Cuota Protegida</a:t>
            </a:r>
            <a:endParaRPr lang="en-US" sz="888" dirty="0"/>
          </a:p>
        </p:txBody>
      </p:sp>
      <p:sp>
        <p:nvSpPr>
          <p:cNvPr id="10" name="Text 7"/>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1" name="Text 8"/>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2" name="Text 9"/>
          <p:cNvSpPr/>
          <p:nvPr/>
        </p:nvSpPr>
        <p:spPr>
          <a:xfrm>
            <a:off x="9637273" y="209550"/>
            <a:ext cx="204242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3" name="Text 10"/>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4" name="Text 11"/>
          <p:cNvSpPr/>
          <p:nvPr/>
        </p:nvSpPr>
        <p:spPr>
          <a:xfrm>
            <a:off x="723882" y="3281273"/>
            <a:ext cx="3950721"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Cuota Protegida Stock</a:t>
            </a:r>
            <a:endParaRPr lang="en-US" sz="888" dirty="0"/>
          </a:p>
        </p:txBody>
      </p:sp>
      <p:sp>
        <p:nvSpPr>
          <p:cNvPr id="15" name="Text 12"/>
          <p:cNvSpPr/>
          <p:nvPr/>
        </p:nvSpPr>
        <p:spPr>
          <a:xfrm>
            <a:off x="723882" y="3528923"/>
            <a:ext cx="3950721"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Masiva Voluntarios</a:t>
            </a:r>
            <a:endParaRPr lang="en-US" sz="888" dirty="0"/>
          </a:p>
        </p:txBody>
      </p:sp>
      <p:sp>
        <p:nvSpPr>
          <p:cNvPr id="16" name="Text 13"/>
          <p:cNvSpPr/>
          <p:nvPr/>
        </p:nvSpPr>
        <p:spPr>
          <a:xfrm>
            <a:off x="4559533" y="2562135"/>
            <a:ext cx="260499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Contactabilidad</a:t>
            </a:r>
            <a:endParaRPr lang="en-US" sz="888" dirty="0"/>
          </a:p>
        </p:txBody>
      </p:sp>
      <p:sp>
        <p:nvSpPr>
          <p:cNvPr id="17" name="Text 14"/>
          <p:cNvSpPr/>
          <p:nvPr/>
        </p:nvSpPr>
        <p:spPr>
          <a:xfrm>
            <a:off x="7088655" y="2562135"/>
            <a:ext cx="254659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18" name="Text 15"/>
          <p:cNvSpPr/>
          <p:nvPr/>
        </p:nvSpPr>
        <p:spPr>
          <a:xfrm>
            <a:off x="723882" y="3033623"/>
            <a:ext cx="3950721"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Autogestión</a:t>
            </a:r>
            <a:endParaRPr lang="en-US" sz="888" dirty="0"/>
          </a:p>
        </p:txBody>
      </p:sp>
      <p:sp>
        <p:nvSpPr>
          <p:cNvPr id="19" name="Text 16"/>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20" name="Text 17"/>
          <p:cNvSpPr/>
          <p:nvPr/>
        </p:nvSpPr>
        <p:spPr>
          <a:xfrm>
            <a:off x="9561075" y="2790735"/>
            <a:ext cx="1963940"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Excelente</a:t>
            </a:r>
            <a:endParaRPr lang="en-US" sz="888" dirty="0"/>
          </a:p>
        </p:txBody>
      </p:sp>
      <p:sp>
        <p:nvSpPr>
          <p:cNvPr id="21" name="Text 18"/>
          <p:cNvSpPr/>
          <p:nvPr/>
        </p:nvSpPr>
        <p:spPr>
          <a:xfrm>
            <a:off x="9561075" y="3033623"/>
            <a:ext cx="1963940"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Excelente</a:t>
            </a:r>
            <a:endParaRPr lang="en-US" sz="888" dirty="0"/>
          </a:p>
        </p:txBody>
      </p:sp>
      <p:sp>
        <p:nvSpPr>
          <p:cNvPr id="22" name="Text 19"/>
          <p:cNvSpPr/>
          <p:nvPr/>
        </p:nvSpPr>
        <p:spPr>
          <a:xfrm>
            <a:off x="9561075" y="3281273"/>
            <a:ext cx="1963940"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Moderado</a:t>
            </a:r>
            <a:endParaRPr lang="en-US" sz="888" dirty="0"/>
          </a:p>
        </p:txBody>
      </p:sp>
      <p:sp>
        <p:nvSpPr>
          <p:cNvPr id="23" name="Text 20"/>
          <p:cNvSpPr/>
          <p:nvPr/>
        </p:nvSpPr>
        <p:spPr>
          <a:xfrm>
            <a:off x="723882" y="2562135"/>
            <a:ext cx="3950721"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24" name="Text 21"/>
          <p:cNvSpPr/>
          <p:nvPr/>
        </p:nvSpPr>
        <p:spPr>
          <a:xfrm>
            <a:off x="9561075" y="2562135"/>
            <a:ext cx="196394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Perfil</a:t>
            </a:r>
            <a:endParaRPr lang="en-US" sz="888" dirty="0"/>
          </a:p>
        </p:txBody>
      </p:sp>
      <p:sp>
        <p:nvSpPr>
          <p:cNvPr id="25" name="Text 22"/>
          <p:cNvSpPr/>
          <p:nvPr/>
        </p:nvSpPr>
        <p:spPr>
          <a:xfrm>
            <a:off x="7088655" y="2790735"/>
            <a:ext cx="2546592"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19,5 %</a:t>
            </a:r>
            <a:endParaRPr lang="en-US" sz="888" dirty="0"/>
          </a:p>
        </p:txBody>
      </p:sp>
      <p:sp>
        <p:nvSpPr>
          <p:cNvPr id="26" name="Text 23"/>
          <p:cNvSpPr/>
          <p:nvPr/>
        </p:nvSpPr>
        <p:spPr>
          <a:xfrm>
            <a:off x="7088655" y="3033623"/>
            <a:ext cx="2546592"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26,6 %</a:t>
            </a:r>
            <a:endParaRPr lang="en-US" sz="888" dirty="0"/>
          </a:p>
        </p:txBody>
      </p:sp>
      <p:sp>
        <p:nvSpPr>
          <p:cNvPr id="27" name="Text 24"/>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40,4 %</a:t>
            </a:r>
            <a:endParaRPr lang="en-US" sz="1400" dirty="0"/>
          </a:p>
        </p:txBody>
      </p:sp>
      <p:sp>
        <p:nvSpPr>
          <p:cNvPr id="28" name="Text 25"/>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63,8 %</a:t>
            </a:r>
            <a:endParaRPr lang="en-US" sz="1400" dirty="0"/>
          </a:p>
        </p:txBody>
      </p:sp>
      <p:sp>
        <p:nvSpPr>
          <p:cNvPr id="29" name="Text 26"/>
          <p:cNvSpPr/>
          <p:nvPr/>
        </p:nvSpPr>
        <p:spPr>
          <a:xfrm>
            <a:off x="7088655" y="3281273"/>
            <a:ext cx="2546592"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4,6 %</a:t>
            </a:r>
            <a:endParaRPr lang="en-US" sz="888" dirty="0"/>
          </a:p>
        </p:txBody>
      </p:sp>
      <p:sp>
        <p:nvSpPr>
          <p:cNvPr id="30" name="Text 27"/>
          <p:cNvSpPr/>
          <p:nvPr/>
        </p:nvSpPr>
        <p:spPr>
          <a:xfrm>
            <a:off x="7088655" y="3528923"/>
            <a:ext cx="2546592"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1,9 %</a:t>
            </a:r>
            <a:endParaRPr lang="en-US" sz="888" dirty="0"/>
          </a:p>
        </p:txBody>
      </p:sp>
      <p:sp>
        <p:nvSpPr>
          <p:cNvPr id="31" name="Text 28"/>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8,6 %</a:t>
            </a:r>
            <a:endParaRPr lang="en-US" sz="1400" dirty="0"/>
          </a:p>
        </p:txBody>
      </p:sp>
      <p:sp>
        <p:nvSpPr>
          <p:cNvPr id="32" name="Text 29"/>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~54 %</a:t>
            </a:r>
            <a:endParaRPr lang="en-US" sz="1400" dirty="0"/>
          </a:p>
        </p:txBody>
      </p:sp>
      <p:sp>
        <p:nvSpPr>
          <p:cNvPr id="33" name="Text 30"/>
          <p:cNvSpPr/>
          <p:nvPr/>
        </p:nvSpPr>
        <p:spPr>
          <a:xfrm>
            <a:off x="4559533" y="2790735"/>
            <a:ext cx="260499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79 %</a:t>
            </a:r>
            <a:endParaRPr lang="en-US" sz="888" dirty="0"/>
          </a:p>
        </p:txBody>
      </p:sp>
      <p:sp>
        <p:nvSpPr>
          <p:cNvPr id="34" name="Text 31"/>
          <p:cNvSpPr/>
          <p:nvPr/>
        </p:nvSpPr>
        <p:spPr>
          <a:xfrm>
            <a:off x="4559533" y="3033623"/>
            <a:ext cx="260499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71 %</a:t>
            </a:r>
            <a:endParaRPr lang="en-US" sz="888" dirty="0"/>
          </a:p>
        </p:txBody>
      </p:sp>
      <p:sp>
        <p:nvSpPr>
          <p:cNvPr id="35" name="Text 32"/>
          <p:cNvSpPr/>
          <p:nvPr/>
        </p:nvSpPr>
        <p:spPr>
          <a:xfrm>
            <a:off x="4559533" y="3281273"/>
            <a:ext cx="260499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49 %</a:t>
            </a:r>
            <a:endParaRPr lang="en-US" sz="888" dirty="0"/>
          </a:p>
        </p:txBody>
      </p:sp>
      <p:sp>
        <p:nvSpPr>
          <p:cNvPr id="36" name="Text 33"/>
          <p:cNvSpPr/>
          <p:nvPr/>
        </p:nvSpPr>
        <p:spPr>
          <a:xfrm>
            <a:off x="4559533" y="3528923"/>
            <a:ext cx="260499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17 %</a:t>
            </a:r>
            <a:endParaRPr lang="en-US" sz="888" dirty="0"/>
          </a:p>
        </p:txBody>
      </p:sp>
      <p:sp>
        <p:nvSpPr>
          <p:cNvPr id="37" name="Text 34"/>
          <p:cNvSpPr/>
          <p:nvPr/>
        </p:nvSpPr>
        <p:spPr>
          <a:xfrm>
            <a:off x="9561075" y="3528923"/>
            <a:ext cx="1963940"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Bajo</a:t>
            </a:r>
            <a:endParaRPr lang="en-US" sz="888"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01_Repositorios\13_Presentaciones\dash\televentas\ppt_slides\sk_19_Resume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34007" y="4290120"/>
            <a:ext cx="4738474" cy="508166"/>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Del 59,6 % de "no contacto", al menos  nunca se cursaron por fallas de red.  parte de ese insumo termina descartándose luego como "re-enviado" — cruce pendiente de confirmar registro por registro.</a:t>
            </a:r>
            <a:endParaRPr lang="en-US" sz="864" dirty="0"/>
          </a:p>
        </p:txBody>
      </p:sp>
      <p:sp>
        <p:nvSpPr>
          <p:cNvPr id="4" name="Text 1"/>
          <p:cNvSpPr/>
          <p:nvPr/>
        </p:nvSpPr>
        <p:spPr>
          <a:xfrm>
            <a:off x="1142971" y="5061645"/>
            <a:ext cx="4738474" cy="564731"/>
          </a:xfrm>
          <a:prstGeom prst="rect">
            <a:avLst/>
          </a:prstGeom>
          <a:noFill/>
          <a:ln/>
        </p:spPr>
        <p:txBody>
          <a:bodyPr wrap="square" lIns="0" tIns="0" rIns="0" bIns="0" rtlCol="0" anchor="t"/>
          <a:lstStyle/>
          <a:p>
            <a:pPr algn="l" indent="0" marL="0">
              <a:buNone/>
            </a:pPr>
            <a:r>
              <a:rPr lang="en-US" sz="960" b="1" dirty="0">
                <a:solidFill>
                  <a:srgbClr val="7A3010"/>
                </a:solidFill>
                <a:latin typeface="Raleway" pitchFamily="34" charset="0"/>
                <a:ea typeface="Raleway" pitchFamily="34" charset="-122"/>
                <a:cs typeface="Raleway" pitchFamily="34" charset="-120"/>
              </a:rPr>
              <a:t>El  con la red menos estable de las dos: pierde 17 de cada 100 llamadas por congestión o rechazo de troncal, frente a 0,86 % en Tigo.</a:t>
            </a:r>
            <a:endParaRPr lang="en-US" sz="960" dirty="0"/>
          </a:p>
        </p:txBody>
      </p:sp>
      <p:sp>
        <p:nvSpPr>
          <p:cNvPr id="5" name="Text 2"/>
          <p:cNvSpPr/>
          <p:nvPr/>
        </p:nvSpPr>
        <p:spPr>
          <a:xfrm>
            <a:off x="6314917" y="4013895"/>
            <a:ext cx="5307483" cy="128016"/>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Estimación con la efectividad del semestre; validar con Isaac el período de la muestra.</a:t>
            </a:r>
            <a:endParaRPr lang="en-US" sz="720" dirty="0"/>
          </a:p>
        </p:txBody>
      </p:sp>
      <p:sp>
        <p:nvSpPr>
          <p:cNvPr id="6" name="Text 3"/>
          <p:cNvSpPr/>
          <p:nvPr/>
        </p:nvSpPr>
        <p:spPr>
          <a:xfrm>
            <a:off x="6314917" y="5164485"/>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Rebalancear troncales hacia Tigo en zonas periféricas (San Cristóbal, Ciudad Bolívar)</a:t>
            </a:r>
            <a:endParaRPr lang="en-US" sz="864" dirty="0"/>
          </a:p>
        </p:txBody>
      </p:sp>
      <p:sp>
        <p:nvSpPr>
          <p:cNvPr id="7" name="Text 4"/>
          <p:cNvSpPr/>
          <p:nvPr/>
        </p:nvSpPr>
        <p:spPr>
          <a:xfrm>
            <a:off x="6314917" y="5577632"/>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Enrutamiento dinámico: salida obligada por Tigo donde Movistar falla &gt;17 %</a:t>
            </a:r>
            <a:endParaRPr lang="en-US" sz="864" dirty="0"/>
          </a:p>
        </p:txBody>
      </p:sp>
      <p:sp>
        <p:nvSpPr>
          <p:cNvPr id="8" name="Text 5"/>
          <p:cNvSpPr/>
          <p:nvPr/>
        </p:nvSpPr>
        <p:spPr>
          <a:xfrm>
            <a:off x="6314917" y="5371058"/>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Auditoría formal a Movistar: códigos 34 (congestión) y 21 (rechazo)</a:t>
            </a:r>
            <a:endParaRPr lang="en-US" sz="864" dirty="0"/>
          </a:p>
        </p:txBody>
      </p:sp>
      <p:sp>
        <p:nvSpPr>
          <p:cNvPr id="9" name="Text 6"/>
          <p:cNvSpPr/>
          <p:nvPr/>
        </p:nvSpPr>
        <p:spPr>
          <a:xfrm>
            <a:off x="6343491"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10" name="Text 7"/>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11" name="Text 8"/>
          <p:cNvSpPr/>
          <p:nvPr/>
        </p:nvSpPr>
        <p:spPr>
          <a:xfrm>
            <a:off x="1213514" y="219075"/>
            <a:ext cx="3764475"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12" name="Text 9"/>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13" name="Text 10"/>
          <p:cNvSpPr/>
          <p:nvPr/>
        </p:nvSpPr>
        <p:spPr>
          <a:xfrm>
            <a:off x="10059488" y="3593455"/>
            <a:ext cx="1362281"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ventas, a la efectividad histórica (8,6 %)</a:t>
            </a:r>
            <a:endParaRPr lang="en-US" sz="720" dirty="0"/>
          </a:p>
        </p:txBody>
      </p:sp>
      <p:sp>
        <p:nvSpPr>
          <p:cNvPr id="14" name="Text 11"/>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5" name="Text 12"/>
          <p:cNvSpPr/>
          <p:nvPr/>
        </p:nvSpPr>
        <p:spPr>
          <a:xfrm>
            <a:off x="6400640" y="3593455"/>
            <a:ext cx="1362281"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caídas de troncal (backup Movistar)</a:t>
            </a:r>
            <a:endParaRPr lang="en-US" sz="720" dirty="0"/>
          </a:p>
        </p:txBody>
      </p:sp>
      <p:sp>
        <p:nvSpPr>
          <p:cNvPr id="16" name="Text 13"/>
          <p:cNvSpPr/>
          <p:nvPr/>
        </p:nvSpPr>
        <p:spPr>
          <a:xfrm>
            <a:off x="8229990" y="3593455"/>
            <a:ext cx="1362434"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contactos, a la tasa de Tigo (71 %)</a:t>
            </a:r>
            <a:endParaRPr lang="en-US" sz="720" dirty="0"/>
          </a:p>
        </p:txBody>
      </p:sp>
      <p:sp>
        <p:nvSpPr>
          <p:cNvPr id="17" name="Text 14"/>
          <p:cNvSpPr/>
          <p:nvPr/>
        </p:nvSpPr>
        <p:spPr>
          <a:xfrm>
            <a:off x="9029177" y="209550"/>
            <a:ext cx="26687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8" name="Text 15"/>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19" name="Text 16"/>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20" name="Text 17"/>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21" name="Text 18"/>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22" name="Text 19"/>
          <p:cNvSpPr/>
          <p:nvPr/>
        </p:nvSpPr>
        <p:spPr>
          <a:xfrm>
            <a:off x="5065983" y="3128070"/>
            <a:ext cx="835119"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173.548 llamadas</a:t>
            </a:r>
            <a:endParaRPr lang="en-US" sz="816" dirty="0"/>
          </a:p>
        </p:txBody>
      </p:sp>
      <p:sp>
        <p:nvSpPr>
          <p:cNvPr id="23" name="Text 20"/>
          <p:cNvSpPr/>
          <p:nvPr/>
        </p:nvSpPr>
        <p:spPr>
          <a:xfrm>
            <a:off x="5045445" y="4080570"/>
            <a:ext cx="856273"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448.057 llamadas</a:t>
            </a:r>
            <a:endParaRPr lang="en-US" sz="816" dirty="0"/>
          </a:p>
        </p:txBody>
      </p:sp>
      <p:sp>
        <p:nvSpPr>
          <p:cNvPr id="24" name="Text 21"/>
          <p:cNvSpPr/>
          <p:nvPr/>
        </p:nvSpPr>
        <p:spPr>
          <a:xfrm>
            <a:off x="1035074" y="3128070"/>
            <a:ext cx="590930" cy="128016"/>
          </a:xfrm>
          <a:prstGeom prst="rect">
            <a:avLst/>
          </a:prstGeom>
          <a:noFill/>
          <a:ln/>
        </p:spPr>
        <p:txBody>
          <a:bodyPr wrap="square" lIns="0" tIns="0" rIns="0" bIns="0" rtlCol="0" anchor="t"/>
          <a:lstStyle/>
          <a:p>
            <a:pPr algn="l" indent="0" marL="0">
              <a:buNone/>
            </a:pPr>
            <a:r>
              <a:rPr lang="en-US" sz="792" b="1" dirty="0">
                <a:solidFill>
                  <a:srgbClr val="9098B0"/>
                </a:solidFill>
                <a:latin typeface="Raleway" pitchFamily="34" charset="0"/>
                <a:ea typeface="Raleway" pitchFamily="34" charset="-122"/>
                <a:cs typeface="Raleway" pitchFamily="34" charset="-120"/>
              </a:rPr>
              <a:t>(principal)</a:t>
            </a:r>
            <a:endParaRPr lang="en-US" sz="792" dirty="0"/>
          </a:p>
        </p:txBody>
      </p:sp>
      <p:sp>
        <p:nvSpPr>
          <p:cNvPr id="25" name="Text 22"/>
          <p:cNvSpPr/>
          <p:nvPr/>
        </p:nvSpPr>
        <p:spPr>
          <a:xfrm>
            <a:off x="8229990" y="3254425"/>
            <a:ext cx="1362434"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Recuperable</a:t>
            </a:r>
            <a:endParaRPr lang="en-US" sz="720" dirty="0"/>
          </a:p>
        </p:txBody>
      </p:sp>
      <p:sp>
        <p:nvSpPr>
          <p:cNvPr id="26" name="Text 23"/>
          <p:cNvSpPr/>
          <p:nvPr/>
        </p:nvSpPr>
        <p:spPr>
          <a:xfrm>
            <a:off x="723882" y="3680520"/>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27" name="Text 24"/>
          <p:cNvSpPr/>
          <p:nvPr/>
        </p:nvSpPr>
        <p:spPr>
          <a:xfrm>
            <a:off x="723882" y="4633020"/>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28" name="Text 25"/>
          <p:cNvSpPr/>
          <p:nvPr/>
        </p:nvSpPr>
        <p:spPr>
          <a:xfrm>
            <a:off x="10059488" y="3254425"/>
            <a:ext cx="1362281"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Potencial</a:t>
            </a:r>
            <a:endParaRPr lang="en-US" sz="720" dirty="0"/>
          </a:p>
        </p:txBody>
      </p:sp>
      <p:sp>
        <p:nvSpPr>
          <p:cNvPr id="29" name="Text 26"/>
          <p:cNvSpPr/>
          <p:nvPr/>
        </p:nvSpPr>
        <p:spPr>
          <a:xfrm>
            <a:off x="723882" y="3366195"/>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0" name="Text 27"/>
          <p:cNvSpPr/>
          <p:nvPr/>
        </p:nvSpPr>
        <p:spPr>
          <a:xfrm>
            <a:off x="723882" y="4051995"/>
            <a:ext cx="1067199" cy="156972"/>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Movistar</a:t>
            </a:r>
            <a:endParaRPr lang="en-US" sz="1032" dirty="0"/>
          </a:p>
        </p:txBody>
      </p:sp>
      <p:sp>
        <p:nvSpPr>
          <p:cNvPr id="31" name="Text 28"/>
          <p:cNvSpPr/>
          <p:nvPr/>
        </p:nvSpPr>
        <p:spPr>
          <a:xfrm>
            <a:off x="723882" y="4318695"/>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2" name="Text 29"/>
          <p:cNvSpPr/>
          <p:nvPr/>
        </p:nvSpPr>
        <p:spPr>
          <a:xfrm>
            <a:off x="8229990" y="3387775"/>
            <a:ext cx="1362434"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49.500</a:t>
            </a:r>
            <a:endParaRPr lang="en-US" sz="1320" dirty="0"/>
          </a:p>
        </p:txBody>
      </p:sp>
      <p:sp>
        <p:nvSpPr>
          <p:cNvPr id="33" name="Text 30"/>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628.406</a:t>
            </a:r>
            <a:endParaRPr lang="en-US" sz="1400" dirty="0"/>
          </a:p>
        </p:txBody>
      </p:sp>
      <p:sp>
        <p:nvSpPr>
          <p:cNvPr id="34" name="Text 31"/>
          <p:cNvSpPr/>
          <p:nvPr/>
        </p:nvSpPr>
        <p:spPr>
          <a:xfrm>
            <a:off x="10059488" y="3387775"/>
            <a:ext cx="1362281"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4.200</a:t>
            </a:r>
            <a:endParaRPr lang="en-US" sz="1320" dirty="0"/>
          </a:p>
        </p:txBody>
      </p:sp>
      <p:sp>
        <p:nvSpPr>
          <p:cNvPr id="35" name="Text 32"/>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38,9 %</a:t>
            </a:r>
            <a:endParaRPr lang="en-US" sz="1400" dirty="0"/>
          </a:p>
        </p:txBody>
      </p:sp>
      <p:sp>
        <p:nvSpPr>
          <p:cNvPr id="36" name="Text 33"/>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69.740</a:t>
            </a:r>
            <a:endParaRPr lang="en-US" sz="1400" dirty="0"/>
          </a:p>
        </p:txBody>
      </p:sp>
      <p:sp>
        <p:nvSpPr>
          <p:cNvPr id="37" name="Text 34"/>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17,1 %</a:t>
            </a:r>
            <a:endParaRPr lang="en-US" sz="1400" dirty="0"/>
          </a:p>
        </p:txBody>
      </p:sp>
      <p:sp>
        <p:nvSpPr>
          <p:cNvPr id="38" name="Text 35"/>
          <p:cNvSpPr/>
          <p:nvPr/>
        </p:nvSpPr>
        <p:spPr>
          <a:xfrm>
            <a:off x="5419590" y="3366195"/>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71,0 %</a:t>
            </a:r>
            <a:endParaRPr lang="en-US" sz="864" dirty="0"/>
          </a:p>
        </p:txBody>
      </p:sp>
      <p:sp>
        <p:nvSpPr>
          <p:cNvPr id="39" name="Text 36"/>
          <p:cNvSpPr/>
          <p:nvPr/>
        </p:nvSpPr>
        <p:spPr>
          <a:xfrm>
            <a:off x="5419590" y="4318695"/>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25,6 %</a:t>
            </a:r>
            <a:endParaRPr lang="en-US" sz="864" dirty="0"/>
          </a:p>
        </p:txBody>
      </p:sp>
      <p:sp>
        <p:nvSpPr>
          <p:cNvPr id="40" name="Text 37"/>
          <p:cNvSpPr/>
          <p:nvPr/>
        </p:nvSpPr>
        <p:spPr>
          <a:xfrm>
            <a:off x="5419590" y="4633020"/>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15,1 %</a:t>
            </a:r>
            <a:endParaRPr lang="en-US" sz="864" dirty="0"/>
          </a:p>
        </p:txBody>
      </p:sp>
      <p:sp>
        <p:nvSpPr>
          <p:cNvPr id="41" name="Text 38"/>
          <p:cNvSpPr/>
          <p:nvPr/>
        </p:nvSpPr>
        <p:spPr>
          <a:xfrm>
            <a:off x="6400640" y="3387775"/>
            <a:ext cx="1362281"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69.740</a:t>
            </a:r>
            <a:endParaRPr lang="en-US" sz="1320" dirty="0"/>
          </a:p>
        </p:txBody>
      </p:sp>
      <p:sp>
        <p:nvSpPr>
          <p:cNvPr id="42" name="Text 39"/>
          <p:cNvSpPr/>
          <p:nvPr/>
        </p:nvSpPr>
        <p:spPr>
          <a:xfrm>
            <a:off x="5419590" y="3680520"/>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1,3 %</a:t>
            </a:r>
            <a:endParaRPr lang="en-US" sz="864" dirty="0"/>
          </a:p>
        </p:txBody>
      </p:sp>
      <p:sp>
        <p:nvSpPr>
          <p:cNvPr id="43" name="Text 40"/>
          <p:cNvSpPr/>
          <p:nvPr/>
        </p:nvSpPr>
        <p:spPr>
          <a:xfrm>
            <a:off x="723882" y="3099495"/>
            <a:ext cx="911457" cy="156972"/>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Tigo</a:t>
            </a:r>
            <a:endParaRPr lang="en-US" sz="1032" dirty="0"/>
          </a:p>
        </p:txBody>
      </p:sp>
      <p:sp>
        <p:nvSpPr>
          <p:cNvPr id="44" name="Text 41"/>
          <p:cNvSpPr/>
          <p:nvPr/>
        </p:nvSpPr>
        <p:spPr>
          <a:xfrm>
            <a:off x="6400640" y="3254425"/>
            <a:ext cx="1362281"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Hoy</a:t>
            </a:r>
            <a:endParaRPr lang="en-US" sz="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01_Repositorios\13_Presentaciones\dash\televentas\ppt_slides\sk_19_Zon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343491"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4" name="Text 1"/>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5" name="Text 2"/>
          <p:cNvSpPr/>
          <p:nvPr/>
        </p:nvSpPr>
        <p:spPr>
          <a:xfrm>
            <a:off x="2528080" y="3282292"/>
            <a:ext cx="2532490"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(Tigo 71,9 % contacto · Movistar 24,1 % contacto)</a:t>
            </a:r>
            <a:endParaRPr lang="en-US" sz="864" dirty="0"/>
          </a:p>
        </p:txBody>
      </p:sp>
      <p:sp>
        <p:nvSpPr>
          <p:cNvPr id="6" name="Text 3"/>
          <p:cNvSpPr/>
          <p:nvPr/>
        </p:nvSpPr>
        <p:spPr>
          <a:xfrm>
            <a:off x="7997972" y="3282292"/>
            <a:ext cx="2543220"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(Tigo 72,4 % contacto · Movistar 25,7 % contacto)</a:t>
            </a:r>
            <a:endParaRPr lang="en-US" sz="864" dirty="0"/>
          </a:p>
        </p:txBody>
      </p:sp>
      <p:sp>
        <p:nvSpPr>
          <p:cNvPr id="7" name="Text 4"/>
          <p:cNvSpPr/>
          <p:nvPr/>
        </p:nvSpPr>
        <p:spPr>
          <a:xfrm>
            <a:off x="1213514" y="219075"/>
            <a:ext cx="3764475"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8" name="Text 5"/>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9" name="Text 6"/>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0" name="Text 7"/>
          <p:cNvSpPr/>
          <p:nvPr/>
        </p:nvSpPr>
        <p:spPr>
          <a:xfrm>
            <a:off x="9029177" y="209550"/>
            <a:ext cx="26687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1" name="Text 8"/>
          <p:cNvSpPr/>
          <p:nvPr/>
        </p:nvSpPr>
        <p:spPr>
          <a:xfrm>
            <a:off x="6172046" y="3282292"/>
            <a:ext cx="5395778"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Ciudad Bolívar — 28.819 llamadas</a:t>
            </a:r>
            <a:endParaRPr lang="en-US" sz="864" dirty="0"/>
          </a:p>
        </p:txBody>
      </p:sp>
      <p:sp>
        <p:nvSpPr>
          <p:cNvPr id="12" name="Text 9"/>
          <p:cNvSpPr/>
          <p:nvPr/>
        </p:nvSpPr>
        <p:spPr>
          <a:xfrm>
            <a:off x="781030" y="3282292"/>
            <a:ext cx="5395778"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San Cristóbal — 32.619 llamadas</a:t>
            </a:r>
            <a:endParaRPr lang="en-US" sz="864" dirty="0"/>
          </a:p>
        </p:txBody>
      </p:sp>
      <p:sp>
        <p:nvSpPr>
          <p:cNvPr id="13" name="Text 10"/>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14" name="Text 11"/>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15" name="Text 12"/>
          <p:cNvSpPr/>
          <p:nvPr/>
        </p:nvSpPr>
        <p:spPr>
          <a:xfrm>
            <a:off x="781030" y="3782377"/>
            <a:ext cx="1776774"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La Gloria Occidental</a:t>
            </a:r>
            <a:endParaRPr lang="en-US" sz="840" dirty="0"/>
          </a:p>
        </p:txBody>
      </p:sp>
      <p:sp>
        <p:nvSpPr>
          <p:cNvPr id="16" name="Text 13"/>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17" name="Text 14"/>
          <p:cNvSpPr/>
          <p:nvPr/>
        </p:nvSpPr>
        <p:spPr>
          <a:xfrm>
            <a:off x="6172046" y="3782377"/>
            <a:ext cx="1639427"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Arborizadora Alta</a:t>
            </a:r>
            <a:endParaRPr lang="en-US" sz="840" dirty="0"/>
          </a:p>
        </p:txBody>
      </p:sp>
      <p:sp>
        <p:nvSpPr>
          <p:cNvPr id="18" name="Text 15"/>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19" name="Text 16"/>
          <p:cNvSpPr/>
          <p:nvPr/>
        </p:nvSpPr>
        <p:spPr>
          <a:xfrm>
            <a:off x="781030" y="4120514"/>
            <a:ext cx="1776774" cy="342900"/>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Bello Horizonte</a:t>
            </a:r>
            <a:endParaRPr lang="en-US" sz="840" dirty="0"/>
          </a:p>
        </p:txBody>
      </p:sp>
      <p:sp>
        <p:nvSpPr>
          <p:cNvPr id="20" name="Text 17"/>
          <p:cNvSpPr/>
          <p:nvPr/>
        </p:nvSpPr>
        <p:spPr>
          <a:xfrm>
            <a:off x="4498664" y="3458527"/>
            <a:ext cx="1566615"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1" name="Text 18"/>
          <p:cNvSpPr/>
          <p:nvPr/>
        </p:nvSpPr>
        <p:spPr>
          <a:xfrm>
            <a:off x="9832084" y="3458527"/>
            <a:ext cx="1625938"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2" name="Text 19"/>
          <p:cNvSpPr/>
          <p:nvPr/>
        </p:nvSpPr>
        <p:spPr>
          <a:xfrm>
            <a:off x="6172046" y="4120514"/>
            <a:ext cx="1639427" cy="342900"/>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El Mochuelo</a:t>
            </a:r>
            <a:endParaRPr lang="en-US" sz="840" dirty="0"/>
          </a:p>
        </p:txBody>
      </p:sp>
      <p:sp>
        <p:nvSpPr>
          <p:cNvPr id="23" name="Text 20"/>
          <p:cNvSpPr/>
          <p:nvPr/>
        </p:nvSpPr>
        <p:spPr>
          <a:xfrm>
            <a:off x="3305539" y="3458527"/>
            <a:ext cx="122891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4" name="Text 21"/>
          <p:cNvSpPr/>
          <p:nvPr/>
        </p:nvSpPr>
        <p:spPr>
          <a:xfrm>
            <a:off x="8593568" y="3458527"/>
            <a:ext cx="1275672"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5" name="Text 22"/>
          <p:cNvSpPr/>
          <p:nvPr/>
        </p:nvSpPr>
        <p:spPr>
          <a:xfrm>
            <a:off x="781030" y="4463414"/>
            <a:ext cx="1776774"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Calvo Sur</a:t>
            </a:r>
            <a:endParaRPr lang="en-US" sz="840" dirty="0"/>
          </a:p>
        </p:txBody>
      </p:sp>
      <p:sp>
        <p:nvSpPr>
          <p:cNvPr id="26" name="Text 23"/>
          <p:cNvSpPr/>
          <p:nvPr/>
        </p:nvSpPr>
        <p:spPr>
          <a:xfrm>
            <a:off x="6172046" y="4463414"/>
            <a:ext cx="1639427"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El Tesoro</a:t>
            </a:r>
            <a:endParaRPr lang="en-US" sz="840" dirty="0"/>
          </a:p>
        </p:txBody>
      </p:sp>
      <p:sp>
        <p:nvSpPr>
          <p:cNvPr id="27" name="Text 24"/>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628.406</a:t>
            </a:r>
            <a:endParaRPr lang="en-US" sz="1400" dirty="0"/>
          </a:p>
        </p:txBody>
      </p:sp>
      <p:sp>
        <p:nvSpPr>
          <p:cNvPr id="28" name="Text 25"/>
          <p:cNvSpPr/>
          <p:nvPr/>
        </p:nvSpPr>
        <p:spPr>
          <a:xfrm>
            <a:off x="781030" y="3458527"/>
            <a:ext cx="1776774"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29" name="Text 26"/>
          <p:cNvSpPr/>
          <p:nvPr/>
        </p:nvSpPr>
        <p:spPr>
          <a:xfrm>
            <a:off x="4498664" y="3782377"/>
            <a:ext cx="1566615"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15,6 %</a:t>
            </a:r>
            <a:endParaRPr lang="en-US" sz="840" dirty="0"/>
          </a:p>
        </p:txBody>
      </p:sp>
      <p:sp>
        <p:nvSpPr>
          <p:cNvPr id="30" name="Text 27"/>
          <p:cNvSpPr/>
          <p:nvPr/>
        </p:nvSpPr>
        <p:spPr>
          <a:xfrm>
            <a:off x="4498664" y="4120514"/>
            <a:ext cx="1566615"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17,6 %</a:t>
            </a:r>
            <a:endParaRPr lang="en-US" sz="840" dirty="0"/>
          </a:p>
        </p:txBody>
      </p:sp>
      <p:sp>
        <p:nvSpPr>
          <p:cNvPr id="31" name="Text 28"/>
          <p:cNvSpPr/>
          <p:nvPr/>
        </p:nvSpPr>
        <p:spPr>
          <a:xfrm>
            <a:off x="4498664" y="4463414"/>
            <a:ext cx="1566615"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19,0 %</a:t>
            </a:r>
            <a:endParaRPr lang="en-US" sz="840" dirty="0"/>
          </a:p>
        </p:txBody>
      </p:sp>
      <p:sp>
        <p:nvSpPr>
          <p:cNvPr id="32" name="Text 29"/>
          <p:cNvSpPr/>
          <p:nvPr/>
        </p:nvSpPr>
        <p:spPr>
          <a:xfrm>
            <a:off x="6172046" y="3458527"/>
            <a:ext cx="1639427"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33" name="Text 30"/>
          <p:cNvSpPr/>
          <p:nvPr/>
        </p:nvSpPr>
        <p:spPr>
          <a:xfrm>
            <a:off x="9832084" y="3782377"/>
            <a:ext cx="1625938"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15,0 %</a:t>
            </a:r>
            <a:endParaRPr lang="en-US" sz="840" dirty="0"/>
          </a:p>
        </p:txBody>
      </p:sp>
      <p:sp>
        <p:nvSpPr>
          <p:cNvPr id="34" name="Text 31"/>
          <p:cNvSpPr/>
          <p:nvPr/>
        </p:nvSpPr>
        <p:spPr>
          <a:xfrm>
            <a:off x="9832084" y="4120514"/>
            <a:ext cx="1625938"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20,9 %</a:t>
            </a:r>
            <a:endParaRPr lang="en-US" sz="840" dirty="0"/>
          </a:p>
        </p:txBody>
      </p:sp>
      <p:sp>
        <p:nvSpPr>
          <p:cNvPr id="35" name="Text 32"/>
          <p:cNvSpPr/>
          <p:nvPr/>
        </p:nvSpPr>
        <p:spPr>
          <a:xfrm>
            <a:off x="9832084" y="4463414"/>
            <a:ext cx="1625938"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19,4 %</a:t>
            </a:r>
            <a:endParaRPr lang="en-US" sz="840" dirty="0"/>
          </a:p>
        </p:txBody>
      </p:sp>
      <p:sp>
        <p:nvSpPr>
          <p:cNvPr id="36" name="Text 33"/>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38,9 %</a:t>
            </a:r>
            <a:endParaRPr lang="en-US" sz="1400" dirty="0"/>
          </a:p>
        </p:txBody>
      </p:sp>
      <p:sp>
        <p:nvSpPr>
          <p:cNvPr id="37" name="Text 34"/>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69.740</a:t>
            </a:r>
            <a:endParaRPr lang="en-US" sz="1400" dirty="0"/>
          </a:p>
        </p:txBody>
      </p:sp>
      <p:sp>
        <p:nvSpPr>
          <p:cNvPr id="38" name="Text 35"/>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17,1 %</a:t>
            </a:r>
            <a:endParaRPr lang="en-US" sz="1400" dirty="0"/>
          </a:p>
        </p:txBody>
      </p:sp>
      <p:sp>
        <p:nvSpPr>
          <p:cNvPr id="39" name="Text 36"/>
          <p:cNvSpPr/>
          <p:nvPr/>
        </p:nvSpPr>
        <p:spPr>
          <a:xfrm>
            <a:off x="2506054" y="3458527"/>
            <a:ext cx="82346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40" name="Text 37"/>
          <p:cNvSpPr/>
          <p:nvPr/>
        </p:nvSpPr>
        <p:spPr>
          <a:xfrm>
            <a:off x="2506054" y="3782377"/>
            <a:ext cx="82346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3.346</a:t>
            </a:r>
            <a:endParaRPr lang="en-US" sz="840" dirty="0"/>
          </a:p>
        </p:txBody>
      </p:sp>
      <p:sp>
        <p:nvSpPr>
          <p:cNvPr id="41" name="Text 38"/>
          <p:cNvSpPr/>
          <p:nvPr/>
        </p:nvSpPr>
        <p:spPr>
          <a:xfrm>
            <a:off x="3305539" y="3782377"/>
            <a:ext cx="122891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4,1 %</a:t>
            </a:r>
            <a:endParaRPr lang="en-US" sz="840" dirty="0"/>
          </a:p>
        </p:txBody>
      </p:sp>
      <p:sp>
        <p:nvSpPr>
          <p:cNvPr id="42" name="Text 39"/>
          <p:cNvSpPr/>
          <p:nvPr/>
        </p:nvSpPr>
        <p:spPr>
          <a:xfrm>
            <a:off x="2506054" y="4120514"/>
            <a:ext cx="823469"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2.384</a:t>
            </a:r>
            <a:endParaRPr lang="en-US" sz="840" dirty="0"/>
          </a:p>
        </p:txBody>
      </p:sp>
      <p:sp>
        <p:nvSpPr>
          <p:cNvPr id="43" name="Text 40"/>
          <p:cNvSpPr/>
          <p:nvPr/>
        </p:nvSpPr>
        <p:spPr>
          <a:xfrm>
            <a:off x="3305539" y="4120514"/>
            <a:ext cx="1228919"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0,3 %</a:t>
            </a:r>
            <a:endParaRPr lang="en-US" sz="840" dirty="0"/>
          </a:p>
        </p:txBody>
      </p:sp>
      <p:sp>
        <p:nvSpPr>
          <p:cNvPr id="44" name="Text 41"/>
          <p:cNvSpPr/>
          <p:nvPr/>
        </p:nvSpPr>
        <p:spPr>
          <a:xfrm>
            <a:off x="2506054" y="4463414"/>
            <a:ext cx="82346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1.021</a:t>
            </a:r>
            <a:endParaRPr lang="en-US" sz="840" dirty="0"/>
          </a:p>
        </p:txBody>
      </p:sp>
      <p:sp>
        <p:nvSpPr>
          <p:cNvPr id="45" name="Text 42"/>
          <p:cNvSpPr/>
          <p:nvPr/>
        </p:nvSpPr>
        <p:spPr>
          <a:xfrm>
            <a:off x="3305539" y="4463414"/>
            <a:ext cx="122891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1,3 %</a:t>
            </a:r>
            <a:endParaRPr lang="en-US" sz="840" dirty="0"/>
          </a:p>
        </p:txBody>
      </p:sp>
      <p:sp>
        <p:nvSpPr>
          <p:cNvPr id="46" name="Text 43"/>
          <p:cNvSpPr/>
          <p:nvPr/>
        </p:nvSpPr>
        <p:spPr>
          <a:xfrm>
            <a:off x="7763723" y="3458527"/>
            <a:ext cx="854740"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47" name="Text 44"/>
          <p:cNvSpPr/>
          <p:nvPr/>
        </p:nvSpPr>
        <p:spPr>
          <a:xfrm>
            <a:off x="7763723" y="3782377"/>
            <a:ext cx="854740"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4.546</a:t>
            </a:r>
            <a:endParaRPr lang="en-US" sz="840" dirty="0"/>
          </a:p>
        </p:txBody>
      </p:sp>
      <p:sp>
        <p:nvSpPr>
          <p:cNvPr id="48" name="Text 45"/>
          <p:cNvSpPr/>
          <p:nvPr/>
        </p:nvSpPr>
        <p:spPr>
          <a:xfrm>
            <a:off x="8593568" y="3782377"/>
            <a:ext cx="1275672"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49" name="Text 46"/>
          <p:cNvSpPr/>
          <p:nvPr/>
        </p:nvSpPr>
        <p:spPr>
          <a:xfrm>
            <a:off x="8593568" y="4120514"/>
            <a:ext cx="1275672"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50" name="Text 47"/>
          <p:cNvSpPr/>
          <p:nvPr/>
        </p:nvSpPr>
        <p:spPr>
          <a:xfrm>
            <a:off x="8593568" y="4463414"/>
            <a:ext cx="1275672"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0,0 %</a:t>
            </a:r>
            <a:endParaRPr lang="en-US" sz="840" dirty="0"/>
          </a:p>
        </p:txBody>
      </p:sp>
      <p:sp>
        <p:nvSpPr>
          <p:cNvPr id="51" name="Text 48"/>
          <p:cNvSpPr/>
          <p:nvPr/>
        </p:nvSpPr>
        <p:spPr>
          <a:xfrm>
            <a:off x="7763723" y="4120514"/>
            <a:ext cx="854740"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531</a:t>
            </a:r>
            <a:endParaRPr lang="en-US" sz="840" dirty="0"/>
          </a:p>
        </p:txBody>
      </p:sp>
      <p:sp>
        <p:nvSpPr>
          <p:cNvPr id="52" name="Text 49"/>
          <p:cNvSpPr/>
          <p:nvPr/>
        </p:nvSpPr>
        <p:spPr>
          <a:xfrm>
            <a:off x="7763723" y="4463414"/>
            <a:ext cx="854740"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566</a:t>
            </a:r>
            <a:endParaRPr lang="en-US" sz="8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01_Repositorios\13_Presentaciones\dash\televentas\ppt_slides\sk_20_Calcul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61522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4" name="Text 1"/>
          <p:cNvSpPr/>
          <p:nvPr/>
        </p:nvSpPr>
        <p:spPr>
          <a:xfrm>
            <a:off x="2791946" y="5690295"/>
            <a:ext cx="2415070"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Metas diferenciadas: top performers a 150 pólizas</a:t>
            </a:r>
            <a:endParaRPr lang="en-US" sz="768" dirty="0"/>
          </a:p>
        </p:txBody>
      </p:sp>
      <p:sp>
        <p:nvSpPr>
          <p:cNvPr id="5" name="Text 2"/>
          <p:cNvSpPr/>
          <p:nvPr/>
        </p:nvSpPr>
        <p:spPr>
          <a:xfrm>
            <a:off x="2791946" y="5328345"/>
            <a:ext cx="2244766"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sube 3,7 % — equipo llega a 20 asesores</a:t>
            </a:r>
            <a:endParaRPr lang="en-US" sz="768" dirty="0"/>
          </a:p>
        </p:txBody>
      </p:sp>
      <p:sp>
        <p:nvSpPr>
          <p:cNvPr id="6" name="Text 3"/>
          <p:cNvSpPr/>
          <p:nvPr/>
        </p:nvSpPr>
        <p:spPr>
          <a:xfrm>
            <a:off x="3671200" y="5509320"/>
            <a:ext cx="2035680"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Volante: +Bono por 120 pólizas extra</a:t>
            </a:r>
            <a:endParaRPr lang="en-US" sz="768" dirty="0"/>
          </a:p>
        </p:txBody>
      </p:sp>
      <p:sp>
        <p:nvSpPr>
          <p:cNvPr id="7" name="Text 4"/>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8" name="Text 5"/>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9" name="Text 6"/>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0" name="Text 7"/>
          <p:cNvSpPr/>
          <p:nvPr/>
        </p:nvSpPr>
        <p:spPr>
          <a:xfrm>
            <a:off x="742931" y="4585395"/>
            <a:ext cx="11027007" cy="13735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ESQUEMA COMISIONES 1S — EVOLUCIÓN</a:t>
            </a:r>
            <a:endParaRPr lang="en-US" sz="840" dirty="0"/>
          </a:p>
        </p:txBody>
      </p:sp>
      <p:sp>
        <p:nvSpPr>
          <p:cNvPr id="11" name="Text 8"/>
          <p:cNvSpPr/>
          <p:nvPr/>
        </p:nvSpPr>
        <p:spPr>
          <a:xfrm>
            <a:off x="742931" y="4242517"/>
            <a:ext cx="6630981" cy="233362"/>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Registros mínimos requeridos/mes</a:t>
            </a:r>
            <a:endParaRPr lang="en-US" sz="888" dirty="0"/>
          </a:p>
        </p:txBody>
      </p:sp>
      <p:sp>
        <p:nvSpPr>
          <p:cNvPr id="12" name="Text 9"/>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3" name="Text 10"/>
          <p:cNvSpPr/>
          <p:nvPr/>
        </p:nvSpPr>
        <p:spPr>
          <a:xfrm>
            <a:off x="1142971" y="4785420"/>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4" name="Text 11"/>
          <p:cNvSpPr/>
          <p:nvPr/>
        </p:nvSpPr>
        <p:spPr>
          <a:xfrm>
            <a:off x="1142971" y="4966395"/>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5" name="Text 12"/>
          <p:cNvSpPr/>
          <p:nvPr/>
        </p:nvSpPr>
        <p:spPr>
          <a:xfrm>
            <a:off x="1142971" y="5147370"/>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6" name="Text 13"/>
          <p:cNvSpPr/>
          <p:nvPr/>
        </p:nvSpPr>
        <p:spPr>
          <a:xfrm>
            <a:off x="1142971" y="5328345"/>
            <a:ext cx="1619960"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7" name="Text 14"/>
          <p:cNvSpPr/>
          <p:nvPr/>
        </p:nvSpPr>
        <p:spPr>
          <a:xfrm>
            <a:off x="1142971" y="5509320"/>
            <a:ext cx="252559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8" name="Text 15"/>
          <p:cNvSpPr/>
          <p:nvPr/>
        </p:nvSpPr>
        <p:spPr>
          <a:xfrm>
            <a:off x="1142971" y="5690295"/>
            <a:ext cx="1619960"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9" name="Text 16"/>
          <p:cNvSpPr/>
          <p:nvPr/>
        </p:nvSpPr>
        <p:spPr>
          <a:xfrm>
            <a:off x="7180778" y="3585292"/>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40,4 % = 86.427 gestionados</a:t>
            </a:r>
            <a:endParaRPr lang="en-US" sz="888" dirty="0"/>
          </a:p>
        </p:txBody>
      </p:sp>
      <p:sp>
        <p:nvSpPr>
          <p:cNvPr id="20" name="Text 17"/>
          <p:cNvSpPr/>
          <p:nvPr/>
        </p:nvSpPr>
        <p:spPr>
          <a:xfrm>
            <a:off x="7180778" y="4023442"/>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39,9 % = ~245.500 recibidos</a:t>
            </a:r>
            <a:endParaRPr lang="en-US" sz="888" dirty="0"/>
          </a:p>
        </p:txBody>
      </p:sp>
      <p:sp>
        <p:nvSpPr>
          <p:cNvPr id="21" name="Text 18"/>
          <p:cNvSpPr/>
          <p:nvPr/>
        </p:nvSpPr>
        <p:spPr>
          <a:xfrm>
            <a:off x="7180778" y="3366217"/>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8,59 % = 34.908 contactos</a:t>
            </a:r>
            <a:endParaRPr lang="en-US" sz="888" dirty="0"/>
          </a:p>
        </p:txBody>
      </p:sp>
      <p:sp>
        <p:nvSpPr>
          <p:cNvPr id="22" name="Text 19"/>
          <p:cNvSpPr/>
          <p:nvPr/>
        </p:nvSpPr>
        <p:spPr>
          <a:xfrm>
            <a:off x="742931" y="3366217"/>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Efectividad / contactados</a:t>
            </a:r>
            <a:endParaRPr lang="en-US" sz="888" dirty="0"/>
          </a:p>
        </p:txBody>
      </p:sp>
      <p:sp>
        <p:nvSpPr>
          <p:cNvPr id="23" name="Text 20"/>
          <p:cNvSpPr/>
          <p:nvPr/>
        </p:nvSpPr>
        <p:spPr>
          <a:xfrm>
            <a:off x="2784356" y="4785420"/>
            <a:ext cx="1165611"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inicial del equipo</a:t>
            </a:r>
            <a:endParaRPr lang="en-US" sz="768" dirty="0"/>
          </a:p>
        </p:txBody>
      </p:sp>
      <p:sp>
        <p:nvSpPr>
          <p:cNvPr id="24" name="Text 21"/>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25" name="Text 22"/>
          <p:cNvSpPr/>
          <p:nvPr/>
        </p:nvSpPr>
        <p:spPr>
          <a:xfrm>
            <a:off x="7180778" y="3804367"/>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88,3 % = 97.902 aptos</a:t>
            </a:r>
            <a:endParaRPr lang="en-US" sz="888" dirty="0"/>
          </a:p>
        </p:txBody>
      </p:sp>
      <p:sp>
        <p:nvSpPr>
          <p:cNvPr id="26" name="Text 23"/>
          <p:cNvSpPr/>
          <p:nvPr/>
        </p:nvSpPr>
        <p:spPr>
          <a:xfrm>
            <a:off x="742931" y="3804367"/>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 Gestión sobre aptos</a:t>
            </a:r>
            <a:endParaRPr lang="en-US" sz="888" dirty="0"/>
          </a:p>
        </p:txBody>
      </p:sp>
      <p:sp>
        <p:nvSpPr>
          <p:cNvPr id="27" name="Text 24"/>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8" name="Text 25"/>
          <p:cNvSpPr/>
          <p:nvPr/>
        </p:nvSpPr>
        <p:spPr>
          <a:xfrm>
            <a:off x="742931" y="4023442"/>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 Aptos (1–rechazo)</a:t>
            </a:r>
            <a:endParaRPr lang="en-US" sz="888" dirty="0"/>
          </a:p>
        </p:txBody>
      </p:sp>
      <p:sp>
        <p:nvSpPr>
          <p:cNvPr id="29" name="Text 26"/>
          <p:cNvSpPr/>
          <p:nvPr/>
        </p:nvSpPr>
        <p:spPr>
          <a:xfrm>
            <a:off x="10016775" y="209550"/>
            <a:ext cx="165153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30" name="Text 27"/>
          <p:cNvSpPr/>
          <p:nvPr/>
        </p:nvSpPr>
        <p:spPr>
          <a:xfrm>
            <a:off x="7180778" y="2923305"/>
            <a:ext cx="439602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Insumo para 3.000</a:t>
            </a:r>
            <a:endParaRPr lang="en-US" sz="888" dirty="0"/>
          </a:p>
        </p:txBody>
      </p:sp>
      <p:sp>
        <p:nvSpPr>
          <p:cNvPr id="31" name="Text 28"/>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32" name="Text 29"/>
          <p:cNvSpPr/>
          <p:nvPr/>
        </p:nvSpPr>
        <p:spPr>
          <a:xfrm>
            <a:off x="4579476" y="2923305"/>
            <a:ext cx="26793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Valor histórico</a:t>
            </a:r>
            <a:endParaRPr lang="en-US" sz="888" dirty="0"/>
          </a:p>
        </p:txBody>
      </p:sp>
      <p:sp>
        <p:nvSpPr>
          <p:cNvPr id="33" name="Text 30"/>
          <p:cNvSpPr/>
          <p:nvPr/>
        </p:nvSpPr>
        <p:spPr>
          <a:xfrm>
            <a:off x="742931" y="3151905"/>
            <a:ext cx="3951641" cy="214313"/>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Meta ventas/mes</a:t>
            </a:r>
            <a:endParaRPr lang="en-US" sz="888" dirty="0"/>
          </a:p>
        </p:txBody>
      </p:sp>
      <p:sp>
        <p:nvSpPr>
          <p:cNvPr id="34" name="Text 31"/>
          <p:cNvSpPr/>
          <p:nvPr/>
        </p:nvSpPr>
        <p:spPr>
          <a:xfrm>
            <a:off x="742931" y="3585292"/>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35" name="Text 32"/>
          <p:cNvSpPr/>
          <p:nvPr/>
        </p:nvSpPr>
        <p:spPr>
          <a:xfrm>
            <a:off x="7180778" y="4242517"/>
            <a:ext cx="4396026" cy="233362"/>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235.000–260.000</a:t>
            </a:r>
            <a:endParaRPr lang="en-US" sz="888" dirty="0"/>
          </a:p>
        </p:txBody>
      </p:sp>
      <p:sp>
        <p:nvSpPr>
          <p:cNvPr id="36" name="Text 33"/>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37" name="Text 34"/>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Base limpia</a:t>
            </a:r>
            <a:endParaRPr lang="en-US" sz="1400" dirty="0"/>
          </a:p>
        </p:txBody>
      </p:sp>
      <p:sp>
        <p:nvSpPr>
          <p:cNvPr id="38" name="Text 35"/>
          <p:cNvSpPr/>
          <p:nvPr/>
        </p:nvSpPr>
        <p:spPr>
          <a:xfrm>
            <a:off x="742931" y="2923305"/>
            <a:ext cx="3951641"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Parámetro</a:t>
            </a:r>
            <a:endParaRPr lang="en-US" sz="888" dirty="0"/>
          </a:p>
        </p:txBody>
      </p:sp>
      <p:sp>
        <p:nvSpPr>
          <p:cNvPr id="39" name="Text 36"/>
          <p:cNvSpPr/>
          <p:nvPr/>
        </p:nvSpPr>
        <p:spPr>
          <a:xfrm>
            <a:off x="4579476" y="3366217"/>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8,59 %</a:t>
            </a:r>
            <a:endParaRPr lang="en-US" sz="888" dirty="0"/>
          </a:p>
        </p:txBody>
      </p:sp>
      <p:sp>
        <p:nvSpPr>
          <p:cNvPr id="40" name="Text 37"/>
          <p:cNvSpPr/>
          <p:nvPr/>
        </p:nvSpPr>
        <p:spPr>
          <a:xfrm>
            <a:off x="4579476" y="3585292"/>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40,4 %</a:t>
            </a:r>
            <a:endParaRPr lang="en-US" sz="888" dirty="0"/>
          </a:p>
        </p:txBody>
      </p:sp>
      <p:sp>
        <p:nvSpPr>
          <p:cNvPr id="41" name="Text 38"/>
          <p:cNvSpPr/>
          <p:nvPr/>
        </p:nvSpPr>
        <p:spPr>
          <a:xfrm>
            <a:off x="4579476" y="3804367"/>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88,3 %</a:t>
            </a:r>
            <a:endParaRPr lang="en-US" sz="888" dirty="0"/>
          </a:p>
        </p:txBody>
      </p:sp>
      <p:sp>
        <p:nvSpPr>
          <p:cNvPr id="42" name="Text 39"/>
          <p:cNvSpPr/>
          <p:nvPr/>
        </p:nvSpPr>
        <p:spPr>
          <a:xfrm>
            <a:off x="4579476" y="4023442"/>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39,9 %</a:t>
            </a:r>
            <a:endParaRPr lang="en-US" sz="888" dirty="0"/>
          </a:p>
        </p:txBody>
      </p:sp>
      <p:sp>
        <p:nvSpPr>
          <p:cNvPr id="43" name="Text 40"/>
          <p:cNvSpPr/>
          <p:nvPr/>
        </p:nvSpPr>
        <p:spPr>
          <a:xfrm>
            <a:off x="7180778" y="3151905"/>
            <a:ext cx="4396026"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3.000</a:t>
            </a:r>
            <a:endParaRPr lang="en-US" sz="888" dirty="0"/>
          </a:p>
        </p:txBody>
      </p:sp>
      <p:sp>
        <p:nvSpPr>
          <p:cNvPr id="44" name="Text 41"/>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3.000</a:t>
            </a:r>
            <a:endParaRPr lang="en-US" sz="1400" dirty="0"/>
          </a:p>
        </p:txBody>
      </p:sp>
      <p:sp>
        <p:nvSpPr>
          <p:cNvPr id="45" name="Text 42"/>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~245K</a:t>
            </a:r>
            <a:endParaRPr lang="en-US" sz="1400" dirty="0"/>
          </a:p>
        </p:txBody>
      </p:sp>
      <p:sp>
        <p:nvSpPr>
          <p:cNvPr id="46" name="Text 43"/>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2.407</a:t>
            </a:r>
            <a:endParaRPr lang="en-US" sz="1400" dirty="0"/>
          </a:p>
        </p:txBody>
      </p:sp>
      <p:sp>
        <p:nvSpPr>
          <p:cNvPr id="47" name="Text 44"/>
          <p:cNvSpPr/>
          <p:nvPr/>
        </p:nvSpPr>
        <p:spPr>
          <a:xfrm>
            <a:off x="800080" y="478542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Ene</a:t>
            </a:r>
            <a:endParaRPr lang="en-US" sz="816" dirty="0"/>
          </a:p>
        </p:txBody>
      </p:sp>
      <p:sp>
        <p:nvSpPr>
          <p:cNvPr id="48" name="Text 45"/>
          <p:cNvSpPr/>
          <p:nvPr/>
        </p:nvSpPr>
        <p:spPr>
          <a:xfrm>
            <a:off x="800080" y="496639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Feb</a:t>
            </a:r>
            <a:endParaRPr lang="en-US" sz="816" dirty="0"/>
          </a:p>
        </p:txBody>
      </p:sp>
      <p:sp>
        <p:nvSpPr>
          <p:cNvPr id="49" name="Text 46"/>
          <p:cNvSpPr/>
          <p:nvPr/>
        </p:nvSpPr>
        <p:spPr>
          <a:xfrm>
            <a:off x="800080" y="514737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Mar</a:t>
            </a:r>
            <a:endParaRPr lang="en-US" sz="816" dirty="0"/>
          </a:p>
        </p:txBody>
      </p:sp>
      <p:sp>
        <p:nvSpPr>
          <p:cNvPr id="50" name="Text 47"/>
          <p:cNvSpPr/>
          <p:nvPr/>
        </p:nvSpPr>
        <p:spPr>
          <a:xfrm>
            <a:off x="800080" y="532834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Abr</a:t>
            </a:r>
            <a:endParaRPr lang="en-US" sz="816" dirty="0"/>
          </a:p>
        </p:txBody>
      </p:sp>
      <p:sp>
        <p:nvSpPr>
          <p:cNvPr id="51" name="Text 48"/>
          <p:cNvSpPr/>
          <p:nvPr/>
        </p:nvSpPr>
        <p:spPr>
          <a:xfrm>
            <a:off x="800080" y="550932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May</a:t>
            </a:r>
            <a:endParaRPr lang="en-US" sz="816" dirty="0"/>
          </a:p>
        </p:txBody>
      </p:sp>
      <p:sp>
        <p:nvSpPr>
          <p:cNvPr id="52" name="Text 49"/>
          <p:cNvSpPr/>
          <p:nvPr/>
        </p:nvSpPr>
        <p:spPr>
          <a:xfrm>
            <a:off x="800080" y="569029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Jun</a:t>
            </a:r>
            <a:endParaRPr lang="en-US" sz="816"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01_Repositorios\13_Presentaciones\dash\televentas\ppt_slides\sk_20_Escenari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23882" y="3521941"/>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la deduplicación en origen es viable (registro del distribuidor + validación de fuentes). Su meta de corto plazo: rechazo  como escalón intermedio hacia el 35 %.</a:t>
            </a:r>
            <a:endParaRPr lang="en-US" sz="816" dirty="0"/>
          </a:p>
        </p:txBody>
      </p:sp>
      <p:sp>
        <p:nvSpPr>
          <p:cNvPr id="4" name="Text 1"/>
          <p:cNvSpPr/>
          <p:nvPr/>
        </p:nvSpPr>
        <p:spPr>
          <a:xfrm>
            <a:off x="1142971" y="5553594"/>
            <a:ext cx="9779234" cy="16479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camino a 3.000 pasa más por  que por aumentar el volumen bruto de registros. Cálculo con el semestre completo (ene–jun), liquidación de junio ya incluida.</a:t>
            </a:r>
            <a:endParaRPr lang="en-US" sz="840" dirty="0"/>
          </a:p>
        </p:txBody>
      </p:sp>
      <p:sp>
        <p:nvSpPr>
          <p:cNvPr id="5" name="Text 2"/>
          <p:cNvSpPr/>
          <p:nvPr/>
        </p:nvSpPr>
        <p:spPr>
          <a:xfrm>
            <a:off x="723882" y="3398116"/>
            <a:ext cx="11066249" cy="128016"/>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Premisas del cálculo: 88 % gestión · 45 % contactabilidad · 8,6 % conversión (históricos 1S)</a:t>
            </a:r>
            <a:endParaRPr lang="en-US" sz="720" dirty="0"/>
          </a:p>
        </p:txBody>
      </p:sp>
      <p:sp>
        <p:nvSpPr>
          <p:cNvPr id="6" name="Text 3"/>
          <p:cNvSpPr/>
          <p:nvPr/>
        </p:nvSpPr>
        <p:spPr>
          <a:xfrm>
            <a:off x="723882" y="3681634"/>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Priorizar  y  (conversión 17–33 % sobre contacto) reduce el volumen necesario a la mitad.</a:t>
            </a:r>
            <a:endParaRPr lang="en-US" sz="816" dirty="0"/>
          </a:p>
        </p:txBody>
      </p:sp>
      <p:sp>
        <p:nvSpPr>
          <p:cNvPr id="7" name="Text 4"/>
          <p:cNvSpPr/>
          <p:nvPr/>
        </p:nvSpPr>
        <p:spPr>
          <a:xfrm>
            <a:off x="723882" y="3841327"/>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Capacidad del equipo: meta agregada jun =  (18 asesores, 134 pol/asesor). Para 3.000 → .</a:t>
            </a:r>
            <a:endParaRPr lang="en-US" sz="816" dirty="0"/>
          </a:p>
        </p:txBody>
      </p:sp>
      <p:sp>
        <p:nvSpPr>
          <p:cNvPr id="8" name="Text 5"/>
          <p:cNvSpPr/>
          <p:nvPr/>
        </p:nvSpPr>
        <p:spPr>
          <a:xfrm>
            <a:off x="1213514" y="219075"/>
            <a:ext cx="461522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9" name="Text 6"/>
          <p:cNvSpPr/>
          <p:nvPr/>
        </p:nvSpPr>
        <p:spPr>
          <a:xfrm>
            <a:off x="828654" y="3165200"/>
            <a:ext cx="3253102" cy="128016"/>
          </a:xfrm>
          <a:prstGeom prst="rect">
            <a:avLst/>
          </a:prstGeom>
          <a:noFill/>
          <a:ln/>
        </p:spPr>
        <p:txBody>
          <a:bodyPr wrap="square" lIns="0" tIns="0" rIns="0" bIns="0" rtlCol="0" anchor="t"/>
          <a:lstStyle/>
          <a:p>
            <a:pPr algn="ctr" indent="0" marL="0">
              <a:buNone/>
            </a:pPr>
            <a:r>
              <a:rPr lang="en-US" sz="696" dirty="0">
                <a:solidFill>
                  <a:srgbClr val="9098B0"/>
                </a:solidFill>
                <a:latin typeface="Raleway" pitchFamily="34" charset="0"/>
                <a:ea typeface="Raleway" pitchFamily="34" charset="-122"/>
                <a:cs typeface="Raleway" pitchFamily="34" charset="-120"/>
              </a:rPr>
              <a:t>de rechazo, excluyendo re-envíos y producto activo</a:t>
            </a:r>
            <a:endParaRPr lang="en-US" sz="696" dirty="0"/>
          </a:p>
        </p:txBody>
      </p:sp>
      <p:sp>
        <p:nvSpPr>
          <p:cNvPr id="10" name="Text 7"/>
          <p:cNvSpPr/>
          <p:nvPr/>
        </p:nvSpPr>
        <p:spPr>
          <a:xfrm>
            <a:off x="4516672" y="3165200"/>
            <a:ext cx="3253102" cy="128016"/>
          </a:xfrm>
          <a:prstGeom prst="rect">
            <a:avLst/>
          </a:prstGeom>
          <a:noFill/>
          <a:ln/>
        </p:spPr>
        <p:txBody>
          <a:bodyPr wrap="square" lIns="0" tIns="0" rIns="0" bIns="0" rtlCol="0" anchor="t"/>
          <a:lstStyle/>
          <a:p>
            <a:pPr algn="ctr" indent="0" marL="0">
              <a:buNone/>
            </a:pPr>
            <a:r>
              <a:rPr lang="en-US" sz="696" dirty="0">
                <a:solidFill>
                  <a:srgbClr val="9098B0"/>
                </a:solidFill>
                <a:latin typeface="Raleway" pitchFamily="34" charset="0"/>
                <a:ea typeface="Raleway" pitchFamily="34" charset="-122"/>
                <a:cs typeface="Raleway" pitchFamily="34" charset="-120"/>
              </a:rPr>
              <a:t>registros aptos/mes con los mismos ~170K recibidos</a:t>
            </a:r>
            <a:endParaRPr lang="en-US" sz="696" dirty="0"/>
          </a:p>
        </p:txBody>
      </p:sp>
      <p:sp>
        <p:nvSpPr>
          <p:cNvPr id="11" name="Text 8"/>
          <p:cNvSpPr/>
          <p:nvPr/>
        </p:nvSpPr>
        <p:spPr>
          <a:xfrm>
            <a:off x="8204689" y="3165200"/>
            <a:ext cx="3253102" cy="128016"/>
          </a:xfrm>
          <a:prstGeom prst="rect">
            <a:avLst/>
          </a:prstGeom>
          <a:noFill/>
          <a:ln/>
        </p:spPr>
        <p:txBody>
          <a:bodyPr wrap="square" lIns="0" tIns="0" rIns="0" bIns="0" rtlCol="0" anchor="t"/>
          <a:lstStyle/>
          <a:p>
            <a:pPr algn="ctr" indent="0" marL="0">
              <a:buNone/>
            </a:pPr>
            <a:r>
              <a:rPr lang="en-US" sz="696" dirty="0">
                <a:solidFill>
                  <a:srgbClr val="9098B0"/>
                </a:solidFill>
                <a:latin typeface="Raleway" pitchFamily="34" charset="0"/>
                <a:ea typeface="Raleway" pitchFamily="34" charset="-122"/>
                <a:cs typeface="Raleway" pitchFamily="34" charset="-120"/>
              </a:rPr>
              <a:t>ventas/mes potenciales — supera la meta de 3.000</a:t>
            </a:r>
            <a:endParaRPr lang="en-US" sz="696" dirty="0"/>
          </a:p>
        </p:txBody>
      </p:sp>
      <p:sp>
        <p:nvSpPr>
          <p:cNvPr id="12" name="Text 9"/>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13" name="Text 10"/>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14" name="Text 11"/>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5" name="Text 12"/>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6" name="Text 13"/>
          <p:cNvSpPr/>
          <p:nvPr/>
        </p:nvSpPr>
        <p:spPr>
          <a:xfrm>
            <a:off x="4377968" y="4396330"/>
            <a:ext cx="4800709" cy="214313"/>
          </a:xfrm>
          <a:prstGeom prst="rect">
            <a:avLst/>
          </a:prstGeom>
          <a:noFill/>
          <a:ln/>
        </p:spPr>
        <p:txBody>
          <a:bodyPr wrap="square" lIns="38100" tIns="114300" rIns="114300" bIns="38100"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Total ventas (liquidación)</a:t>
            </a:r>
            <a:endParaRPr lang="en-US" sz="888" dirty="0"/>
          </a:p>
        </p:txBody>
      </p:sp>
      <p:sp>
        <p:nvSpPr>
          <p:cNvPr id="17" name="Text 14"/>
          <p:cNvSpPr/>
          <p:nvPr/>
        </p:nvSpPr>
        <p:spPr>
          <a:xfrm>
            <a:off x="4377968" y="5267867"/>
            <a:ext cx="4800709" cy="214313"/>
          </a:xfrm>
          <a:prstGeom prst="rect">
            <a:avLst/>
          </a:prstGeom>
          <a:noFill/>
          <a:ln/>
        </p:spPr>
        <p:txBody>
          <a:bodyPr wrap="square" lIns="38100" tIns="114300" rIns="114300" bIns="38100"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Contactados / gestionados</a:t>
            </a:r>
            <a:endParaRPr lang="en-US" sz="888" dirty="0"/>
          </a:p>
        </p:txBody>
      </p:sp>
      <p:sp>
        <p:nvSpPr>
          <p:cNvPr id="18" name="Text 15"/>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19" name="Text 16"/>
          <p:cNvSpPr/>
          <p:nvPr/>
        </p:nvSpPr>
        <p:spPr>
          <a:xfrm>
            <a:off x="4377968" y="4610642"/>
            <a:ext cx="4800709" cy="219075"/>
          </a:xfrm>
          <a:prstGeom prst="rect">
            <a:avLst/>
          </a:prstGeom>
          <a:noFill/>
          <a:ln/>
        </p:spPr>
        <p:txBody>
          <a:bodyPr wrap="square" lIns="38100" tIns="114300" rIns="114300" bIns="38100"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Asesores ≥ meta / total</a:t>
            </a:r>
            <a:endParaRPr lang="en-US" sz="888" dirty="0"/>
          </a:p>
        </p:txBody>
      </p:sp>
      <p:sp>
        <p:nvSpPr>
          <p:cNvPr id="20" name="Text 17"/>
          <p:cNvSpPr/>
          <p:nvPr/>
        </p:nvSpPr>
        <p:spPr>
          <a:xfrm>
            <a:off x="4377968" y="4829717"/>
            <a:ext cx="4800709" cy="219075"/>
          </a:xfrm>
          <a:prstGeom prst="rect">
            <a:avLst/>
          </a:prstGeom>
          <a:noFill/>
          <a:ln/>
        </p:spPr>
        <p:txBody>
          <a:bodyPr wrap="square" lIns="38100" tIns="114300" rIns="114300" bIns="38100"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Pólizas / asesor activo</a:t>
            </a:r>
            <a:endParaRPr lang="en-US" sz="888" dirty="0"/>
          </a:p>
        </p:txBody>
      </p:sp>
      <p:sp>
        <p:nvSpPr>
          <p:cNvPr id="21" name="Text 18"/>
          <p:cNvSpPr/>
          <p:nvPr/>
        </p:nvSpPr>
        <p:spPr>
          <a:xfrm>
            <a:off x="4377968" y="5048792"/>
            <a:ext cx="4800709" cy="219075"/>
          </a:xfrm>
          <a:prstGeom prst="rect">
            <a:avLst/>
          </a:prstGeom>
          <a:noFill/>
          <a:ln/>
        </p:spPr>
        <p:txBody>
          <a:bodyPr wrap="square" lIns="38100" tIns="114300" rIns="114300" bIns="38100"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Rechazados / recibidos</a:t>
            </a:r>
            <a:endParaRPr lang="en-US" sz="888" dirty="0"/>
          </a:p>
        </p:txBody>
      </p:sp>
      <p:sp>
        <p:nvSpPr>
          <p:cNvPr id="22" name="Text 19"/>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3" name="Text 20"/>
          <p:cNvSpPr/>
          <p:nvPr/>
        </p:nvSpPr>
        <p:spPr>
          <a:xfrm>
            <a:off x="10016775" y="209550"/>
            <a:ext cx="165153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24" name="Text 21"/>
          <p:cNvSpPr/>
          <p:nvPr/>
        </p:nvSpPr>
        <p:spPr>
          <a:xfrm>
            <a:off x="723882" y="4396330"/>
            <a:ext cx="3763708"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Pólizas equipo/mes</a:t>
            </a:r>
            <a:endParaRPr lang="en-US" sz="888" dirty="0"/>
          </a:p>
        </p:txBody>
      </p:sp>
      <p:sp>
        <p:nvSpPr>
          <p:cNvPr id="25" name="Text 22"/>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26" name="Text 23"/>
          <p:cNvSpPr/>
          <p:nvPr/>
        </p:nvSpPr>
        <p:spPr>
          <a:xfrm>
            <a:off x="828654" y="2872902"/>
            <a:ext cx="3253102" cy="128016"/>
          </a:xfrm>
          <a:prstGeom prst="rect">
            <a:avLst/>
          </a:prstGeom>
          <a:noFill/>
          <a:ln/>
        </p:spPr>
        <p:txBody>
          <a:bodyPr wrap="square" lIns="0" tIns="0" rIns="0" bIns="0" rtlCol="0" anchor="t"/>
          <a:lstStyle/>
          <a:p>
            <a:pPr algn="ctr" indent="0" marL="0">
              <a:buNone/>
            </a:pPr>
            <a:r>
              <a:rPr lang="en-US" sz="696" b="1" dirty="0">
                <a:solidFill>
                  <a:srgbClr val="00CD93"/>
                </a:solidFill>
                <a:latin typeface="Raleway" pitchFamily="34" charset="0"/>
                <a:ea typeface="Raleway" pitchFamily="34" charset="-122"/>
                <a:cs typeface="Raleway" pitchFamily="34" charset="-120"/>
              </a:rPr>
              <a:t>Paso 1 · Depurar</a:t>
            </a:r>
            <a:endParaRPr lang="en-US" sz="696" dirty="0"/>
          </a:p>
        </p:txBody>
      </p:sp>
      <p:sp>
        <p:nvSpPr>
          <p:cNvPr id="27" name="Text 24"/>
          <p:cNvSpPr/>
          <p:nvPr/>
        </p:nvSpPr>
        <p:spPr>
          <a:xfrm>
            <a:off x="723882" y="4610642"/>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Cumplimiento E1</a:t>
            </a:r>
            <a:endParaRPr lang="en-US" sz="888" dirty="0"/>
          </a:p>
        </p:txBody>
      </p:sp>
      <p:sp>
        <p:nvSpPr>
          <p:cNvPr id="28" name="Text 25"/>
          <p:cNvSpPr/>
          <p:nvPr/>
        </p:nvSpPr>
        <p:spPr>
          <a:xfrm>
            <a:off x="723882" y="5267867"/>
            <a:ext cx="3763708"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29" name="Text 26"/>
          <p:cNvSpPr/>
          <p:nvPr/>
        </p:nvSpPr>
        <p:spPr>
          <a:xfrm>
            <a:off x="8204689" y="2872902"/>
            <a:ext cx="3253102" cy="128016"/>
          </a:xfrm>
          <a:prstGeom prst="rect">
            <a:avLst/>
          </a:prstGeom>
          <a:noFill/>
          <a:ln/>
        </p:spPr>
        <p:txBody>
          <a:bodyPr wrap="square" lIns="0" tIns="0" rIns="0" bIns="0" rtlCol="0" anchor="t"/>
          <a:lstStyle/>
          <a:p>
            <a:pPr algn="ctr" indent="0" marL="0">
              <a:buNone/>
            </a:pPr>
            <a:r>
              <a:rPr lang="en-US" sz="696" b="1" dirty="0">
                <a:solidFill>
                  <a:srgbClr val="00CD93"/>
                </a:solidFill>
                <a:latin typeface="Raleway" pitchFamily="34" charset="0"/>
                <a:ea typeface="Raleway" pitchFamily="34" charset="-122"/>
                <a:cs typeface="Raleway" pitchFamily="34" charset="-120"/>
              </a:rPr>
              <a:t>Paso 3 · Ventas</a:t>
            </a:r>
            <a:endParaRPr lang="en-US" sz="696" dirty="0"/>
          </a:p>
        </p:txBody>
      </p:sp>
      <p:sp>
        <p:nvSpPr>
          <p:cNvPr id="30" name="Text 27"/>
          <p:cNvSpPr/>
          <p:nvPr/>
        </p:nvSpPr>
        <p:spPr>
          <a:xfrm>
            <a:off x="723882" y="5048792"/>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 Rechazo base</a:t>
            </a:r>
            <a:endParaRPr lang="en-US" sz="888" dirty="0"/>
          </a:p>
        </p:txBody>
      </p:sp>
      <p:sp>
        <p:nvSpPr>
          <p:cNvPr id="31" name="Text 28"/>
          <p:cNvSpPr/>
          <p:nvPr/>
        </p:nvSpPr>
        <p:spPr>
          <a:xfrm>
            <a:off x="4516672" y="2872902"/>
            <a:ext cx="3253102" cy="128016"/>
          </a:xfrm>
          <a:prstGeom prst="rect">
            <a:avLst/>
          </a:prstGeom>
          <a:noFill/>
          <a:ln/>
        </p:spPr>
        <p:txBody>
          <a:bodyPr wrap="square" lIns="0" tIns="0" rIns="0" bIns="0" rtlCol="0" anchor="t"/>
          <a:lstStyle/>
          <a:p>
            <a:pPr algn="ctr" indent="0" marL="0">
              <a:buNone/>
            </a:pPr>
            <a:r>
              <a:rPr lang="en-US" sz="696" b="1" dirty="0">
                <a:solidFill>
                  <a:srgbClr val="00CD93"/>
                </a:solidFill>
                <a:latin typeface="Raleway" pitchFamily="34" charset="0"/>
                <a:ea typeface="Raleway" pitchFamily="34" charset="-122"/>
                <a:cs typeface="Raleway" pitchFamily="34" charset="-120"/>
              </a:rPr>
              <a:t>Paso 2 · Aptos</a:t>
            </a:r>
            <a:endParaRPr lang="en-US" sz="696" dirty="0"/>
          </a:p>
        </p:txBody>
      </p:sp>
      <p:sp>
        <p:nvSpPr>
          <p:cNvPr id="32" name="Text 29"/>
          <p:cNvSpPr/>
          <p:nvPr/>
        </p:nvSpPr>
        <p:spPr>
          <a:xfrm>
            <a:off x="9038850" y="4396330"/>
            <a:ext cx="2501832"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3.000 (dic)</a:t>
            </a:r>
            <a:endParaRPr lang="en-US" sz="888" dirty="0"/>
          </a:p>
        </p:txBody>
      </p:sp>
      <p:sp>
        <p:nvSpPr>
          <p:cNvPr id="33" name="Text 30"/>
          <p:cNvSpPr/>
          <p:nvPr/>
        </p:nvSpPr>
        <p:spPr>
          <a:xfrm>
            <a:off x="723882" y="4829717"/>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Productividad</a:t>
            </a:r>
            <a:endParaRPr lang="en-US" sz="888" dirty="0"/>
          </a:p>
        </p:txBody>
      </p:sp>
      <p:sp>
        <p:nvSpPr>
          <p:cNvPr id="34" name="Text 31"/>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35" name="Text 32"/>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Base limpia</a:t>
            </a:r>
            <a:endParaRPr lang="en-US" sz="1400" dirty="0"/>
          </a:p>
        </p:txBody>
      </p:sp>
      <p:sp>
        <p:nvSpPr>
          <p:cNvPr id="36" name="Text 33"/>
          <p:cNvSpPr/>
          <p:nvPr/>
        </p:nvSpPr>
        <p:spPr>
          <a:xfrm>
            <a:off x="828654" y="2996727"/>
            <a:ext cx="3253102" cy="153906"/>
          </a:xfrm>
          <a:prstGeom prst="rect">
            <a:avLst/>
          </a:prstGeom>
          <a:noFill/>
          <a:ln/>
        </p:spPr>
        <p:txBody>
          <a:bodyPr wrap="square" lIns="0" tIns="0" rIns="0" bIns="0" rtlCol="0" anchor="t"/>
          <a:lstStyle/>
          <a:p>
            <a:pPr algn="ctr" indent="0" marL="0">
              <a:buNone/>
            </a:pPr>
            <a:r>
              <a:rPr lang="en-US" sz="1176" b="1" dirty="0">
                <a:solidFill>
                  <a:srgbClr val="120180"/>
                </a:solidFill>
                <a:latin typeface="Raleway" pitchFamily="34" charset="0"/>
                <a:ea typeface="Raleway" pitchFamily="34" charset="-122"/>
                <a:cs typeface="Raleway" pitchFamily="34" charset="-120"/>
              </a:rPr>
              <a:t>60 % → 35 %</a:t>
            </a:r>
            <a:endParaRPr lang="en-US" sz="1176" dirty="0"/>
          </a:p>
        </p:txBody>
      </p:sp>
      <p:sp>
        <p:nvSpPr>
          <p:cNvPr id="37" name="Text 34"/>
          <p:cNvSpPr/>
          <p:nvPr/>
        </p:nvSpPr>
        <p:spPr>
          <a:xfrm>
            <a:off x="4516672" y="2996727"/>
            <a:ext cx="3253102" cy="153906"/>
          </a:xfrm>
          <a:prstGeom prst="rect">
            <a:avLst/>
          </a:prstGeom>
          <a:noFill/>
          <a:ln/>
        </p:spPr>
        <p:txBody>
          <a:bodyPr wrap="square" lIns="0" tIns="0" rIns="0" bIns="0" rtlCol="0" anchor="t"/>
          <a:lstStyle/>
          <a:p>
            <a:pPr algn="ctr" indent="0" marL="0">
              <a:buNone/>
            </a:pPr>
            <a:r>
              <a:rPr lang="en-US" sz="1176" b="1" dirty="0">
                <a:solidFill>
                  <a:srgbClr val="120180"/>
                </a:solidFill>
                <a:latin typeface="Raleway" pitchFamily="34" charset="0"/>
                <a:ea typeface="Raleway" pitchFamily="34" charset="-122"/>
                <a:cs typeface="Raleway" pitchFamily="34" charset="-120"/>
              </a:rPr>
              <a:t>64K → 110K</a:t>
            </a:r>
            <a:endParaRPr lang="en-US" sz="1176" dirty="0"/>
          </a:p>
        </p:txBody>
      </p:sp>
      <p:sp>
        <p:nvSpPr>
          <p:cNvPr id="38" name="Text 35"/>
          <p:cNvSpPr/>
          <p:nvPr/>
        </p:nvSpPr>
        <p:spPr>
          <a:xfrm>
            <a:off x="4377968" y="4167730"/>
            <a:ext cx="480070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Fórmula</a:t>
            </a:r>
            <a:endParaRPr lang="en-US" sz="888" dirty="0"/>
          </a:p>
        </p:txBody>
      </p:sp>
      <p:sp>
        <p:nvSpPr>
          <p:cNvPr id="39" name="Text 36"/>
          <p:cNvSpPr/>
          <p:nvPr/>
        </p:nvSpPr>
        <p:spPr>
          <a:xfrm>
            <a:off x="9038850" y="4167730"/>
            <a:ext cx="250183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40" name="Text 37"/>
          <p:cNvSpPr/>
          <p:nvPr/>
        </p:nvSpPr>
        <p:spPr>
          <a:xfrm>
            <a:off x="8204689" y="2996727"/>
            <a:ext cx="3253102" cy="153906"/>
          </a:xfrm>
          <a:prstGeom prst="rect">
            <a:avLst/>
          </a:prstGeom>
          <a:noFill/>
          <a:ln/>
        </p:spPr>
        <p:txBody>
          <a:bodyPr wrap="square" lIns="0" tIns="0" rIns="0" bIns="0" rtlCol="0" anchor="t"/>
          <a:lstStyle/>
          <a:p>
            <a:pPr algn="ctr" indent="0" marL="0">
              <a:buNone/>
            </a:pPr>
            <a:r>
              <a:rPr lang="en-US" sz="1176" b="1" dirty="0">
                <a:solidFill>
                  <a:srgbClr val="120180"/>
                </a:solidFill>
                <a:latin typeface="Raleway" pitchFamily="34" charset="0"/>
                <a:ea typeface="Raleway" pitchFamily="34" charset="-122"/>
                <a:cs typeface="Raleway" pitchFamily="34" charset="-120"/>
              </a:rPr>
              <a:t>≈ 3.760</a:t>
            </a:r>
            <a:endParaRPr lang="en-US" sz="1176" dirty="0"/>
          </a:p>
        </p:txBody>
      </p:sp>
      <p:sp>
        <p:nvSpPr>
          <p:cNvPr id="41" name="Text 38"/>
          <p:cNvSpPr/>
          <p:nvPr/>
        </p:nvSpPr>
        <p:spPr>
          <a:xfrm>
            <a:off x="9038850" y="4610642"/>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90 %</a:t>
            </a:r>
            <a:endParaRPr lang="en-US" sz="888" dirty="0"/>
          </a:p>
        </p:txBody>
      </p:sp>
      <p:sp>
        <p:nvSpPr>
          <p:cNvPr id="42" name="Text 39"/>
          <p:cNvSpPr/>
          <p:nvPr/>
        </p:nvSpPr>
        <p:spPr>
          <a:xfrm>
            <a:off x="9038850" y="5048792"/>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&lt; 40 %</a:t>
            </a:r>
            <a:endParaRPr lang="en-US" sz="888" dirty="0"/>
          </a:p>
        </p:txBody>
      </p:sp>
      <p:sp>
        <p:nvSpPr>
          <p:cNvPr id="43" name="Text 40"/>
          <p:cNvSpPr/>
          <p:nvPr/>
        </p:nvSpPr>
        <p:spPr>
          <a:xfrm>
            <a:off x="9038850" y="5267867"/>
            <a:ext cx="2501832"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55 %</a:t>
            </a:r>
            <a:endParaRPr lang="en-US" sz="888" dirty="0"/>
          </a:p>
        </p:txBody>
      </p:sp>
      <p:sp>
        <p:nvSpPr>
          <p:cNvPr id="44" name="Text 41"/>
          <p:cNvSpPr/>
          <p:nvPr/>
        </p:nvSpPr>
        <p:spPr>
          <a:xfrm>
            <a:off x="9038850" y="4829717"/>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140</a:t>
            </a:r>
            <a:endParaRPr lang="en-US" sz="888" dirty="0"/>
          </a:p>
        </p:txBody>
      </p:sp>
      <p:sp>
        <p:nvSpPr>
          <p:cNvPr id="45" name="Text 42"/>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3.000</a:t>
            </a:r>
            <a:endParaRPr lang="en-US" sz="1400" dirty="0"/>
          </a:p>
        </p:txBody>
      </p:sp>
      <p:sp>
        <p:nvSpPr>
          <p:cNvPr id="46" name="Text 43"/>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~245K</a:t>
            </a:r>
            <a:endParaRPr lang="en-US" sz="1400" dirty="0"/>
          </a:p>
        </p:txBody>
      </p:sp>
      <p:sp>
        <p:nvSpPr>
          <p:cNvPr id="47" name="Text 44"/>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2.407</a:t>
            </a:r>
            <a:endParaRPr lang="en-US" sz="1400" dirty="0"/>
          </a:p>
        </p:txBody>
      </p:sp>
      <p:sp>
        <p:nvSpPr>
          <p:cNvPr id="48" name="Text 45"/>
          <p:cNvSpPr/>
          <p:nvPr/>
        </p:nvSpPr>
        <p:spPr>
          <a:xfrm>
            <a:off x="723882" y="4167730"/>
            <a:ext cx="3763708"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KPI</a:t>
            </a:r>
            <a:endParaRPr lang="en-US" sz="888"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01_Repositorios\13_Presentaciones\dash\televentas\ppt_slides\sk_21_Iniciativ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654208" cy="262591"/>
          </a:xfrm>
          <a:prstGeom prst="rect">
            <a:avLst/>
          </a:prstGeom>
          <a:noFill/>
          <a:ln/>
        </p:spPr>
        <p:txBody>
          <a:bodyPr wrap="square" lIns="76200" tIns="381000" rIns="38100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88" dirty="0"/>
          </a:p>
        </p:txBody>
      </p:sp>
      <p:sp>
        <p:nvSpPr>
          <p:cNvPr id="4" name="Text 1"/>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5" name="Text 2"/>
          <p:cNvSpPr/>
          <p:nvPr/>
        </p:nvSpPr>
        <p:spPr>
          <a:xfrm>
            <a:off x="1304892" y="1762125"/>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6" name="Text 3"/>
          <p:cNvSpPr/>
          <p:nvPr/>
        </p:nvSpPr>
        <p:spPr>
          <a:xfrm>
            <a:off x="1304892" y="2626668"/>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7" name="Text 4"/>
          <p:cNvSpPr/>
          <p:nvPr/>
        </p:nvSpPr>
        <p:spPr>
          <a:xfrm>
            <a:off x="1304892" y="3198168"/>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8" name="Text 5"/>
          <p:cNvSpPr/>
          <p:nvPr/>
        </p:nvSpPr>
        <p:spPr>
          <a:xfrm>
            <a:off x="1304892" y="3045768"/>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Desarrollo Emocional (Gestión Humana)</a:t>
            </a:r>
            <a:endParaRPr lang="en-US" sz="984" dirty="0"/>
          </a:p>
        </p:txBody>
      </p:sp>
      <p:sp>
        <p:nvSpPr>
          <p:cNvPr id="9" name="Text 6"/>
          <p:cNvSpPr/>
          <p:nvPr/>
        </p:nvSpPr>
        <p:spPr>
          <a:xfrm>
            <a:off x="1304892" y="2474268"/>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Modelado de Top Performers</a:t>
            </a:r>
            <a:endParaRPr lang="en-US" sz="984" dirty="0"/>
          </a:p>
        </p:txBody>
      </p:sp>
      <p:sp>
        <p:nvSpPr>
          <p:cNvPr id="10" name="Text 7"/>
          <p:cNvSpPr/>
          <p:nvPr/>
        </p:nvSpPr>
        <p:spPr>
          <a:xfrm>
            <a:off x="1304892" y="1609725"/>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School Master Comercial</a:t>
            </a:r>
            <a:endParaRPr lang="en-US" sz="984" dirty="0"/>
          </a:p>
        </p:txBody>
      </p:sp>
      <p:sp>
        <p:nvSpPr>
          <p:cNvPr id="11" name="Text 8"/>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01_Repositorios\13_Presentaciones\dash\televentas\ppt_slides\sk_21_Cronogra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781030" y="2144965"/>
            <a:ext cx="3531628" cy="333375"/>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Plan de desarrollo emocional</a:t>
            </a:r>
            <a:endParaRPr lang="en-US" sz="888" dirty="0"/>
          </a:p>
        </p:txBody>
      </p:sp>
      <p:sp>
        <p:nvSpPr>
          <p:cNvPr id="5" name="Text 2"/>
          <p:cNvSpPr/>
          <p:nvPr/>
        </p:nvSpPr>
        <p:spPr>
          <a:xfrm>
            <a:off x="781030" y="2478340"/>
            <a:ext cx="3531628" cy="333375"/>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Bases limpias y actualizadas</a:t>
            </a:r>
            <a:endParaRPr lang="en-US" sz="888" dirty="0"/>
          </a:p>
        </p:txBody>
      </p:sp>
      <p:sp>
        <p:nvSpPr>
          <p:cNvPr id="6" name="Text 3"/>
          <p:cNvSpPr/>
          <p:nvPr/>
        </p:nvSpPr>
        <p:spPr>
          <a:xfrm>
            <a:off x="781030" y="2811715"/>
            <a:ext cx="3531628" cy="328613"/>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Optimización de equipos PC</a:t>
            </a:r>
            <a:endParaRPr lang="en-US" sz="888" dirty="0"/>
          </a:p>
        </p:txBody>
      </p:sp>
      <p:sp>
        <p:nvSpPr>
          <p:cNvPr id="7" name="Text 4"/>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8" name="Text 5"/>
          <p:cNvSpPr/>
          <p:nvPr/>
        </p:nvSpPr>
        <p:spPr>
          <a:xfrm>
            <a:off x="781030" y="1816353"/>
            <a:ext cx="3531628" cy="328613"/>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Control de tiempos</a:t>
            </a:r>
            <a:endParaRPr lang="en-US" sz="888" dirty="0"/>
          </a:p>
        </p:txBody>
      </p:sp>
      <p:sp>
        <p:nvSpPr>
          <p:cNvPr id="9" name="Text 6"/>
          <p:cNvSpPr/>
          <p:nvPr/>
        </p:nvSpPr>
        <p:spPr>
          <a:xfrm>
            <a:off x="781030" y="1492503"/>
            <a:ext cx="3531628"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Frente / Acción</a:t>
            </a:r>
            <a:endParaRPr lang="en-US" sz="888" dirty="0"/>
          </a:p>
        </p:txBody>
      </p:sp>
      <p:sp>
        <p:nvSpPr>
          <p:cNvPr id="10" name="Text 7"/>
          <p:cNvSpPr/>
          <p:nvPr/>
        </p:nvSpPr>
        <p:spPr>
          <a:xfrm>
            <a:off x="4209796" y="2144965"/>
            <a:ext cx="1959955" cy="333375"/>
          </a:xfrm>
          <a:prstGeom prst="rect">
            <a:avLst/>
          </a:prstGeom>
          <a:noFill/>
          <a:ln/>
        </p:spPr>
        <p:txBody>
          <a:bodyPr wrap="square" lIns="85725" tIns="133350" rIns="133350" bIns="85725"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GH / Líderes</a:t>
            </a:r>
            <a:endParaRPr lang="en-US" sz="888" dirty="0"/>
          </a:p>
        </p:txBody>
      </p:sp>
      <p:sp>
        <p:nvSpPr>
          <p:cNvPr id="11" name="Text 8"/>
          <p:cNvSpPr/>
          <p:nvPr/>
        </p:nvSpPr>
        <p:spPr>
          <a:xfrm>
            <a:off x="4209796" y="1492503"/>
            <a:ext cx="1959955"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Responsable</a:t>
            </a:r>
            <a:endParaRPr lang="en-US" sz="888" dirty="0"/>
          </a:p>
        </p:txBody>
      </p:sp>
      <p:sp>
        <p:nvSpPr>
          <p:cNvPr id="12" name="Text 9"/>
          <p:cNvSpPr/>
          <p:nvPr/>
        </p:nvSpPr>
        <p:spPr>
          <a:xfrm>
            <a:off x="4209796" y="2811715"/>
            <a:ext cx="1959955" cy="328613"/>
          </a:xfrm>
          <a:prstGeom prst="rect">
            <a:avLst/>
          </a:prstGeom>
          <a:noFill/>
          <a:ln/>
        </p:spPr>
        <p:txBody>
          <a:bodyPr wrap="square" lIns="85725" tIns="133350" rIns="133350" bIns="85725"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Tecnología</a:t>
            </a:r>
            <a:endParaRPr lang="en-US" sz="888" dirty="0"/>
          </a:p>
        </p:txBody>
      </p:sp>
      <p:sp>
        <p:nvSpPr>
          <p:cNvPr id="13" name="Text 10"/>
          <p:cNvSpPr/>
          <p:nvPr/>
        </p:nvSpPr>
        <p:spPr>
          <a:xfrm>
            <a:off x="4209796" y="1816353"/>
            <a:ext cx="1959955" cy="328613"/>
          </a:xfrm>
          <a:prstGeom prst="rect">
            <a:avLst/>
          </a:prstGeom>
          <a:noFill/>
          <a:ln/>
        </p:spPr>
        <p:txBody>
          <a:bodyPr wrap="square" lIns="85725" tIns="133350" rIns="133350" bIns="85725"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Isaac</a:t>
            </a:r>
            <a:endParaRPr lang="en-US" sz="888" dirty="0"/>
          </a:p>
        </p:txBody>
      </p:sp>
      <p:sp>
        <p:nvSpPr>
          <p:cNvPr id="14" name="Text 11"/>
          <p:cNvSpPr/>
          <p:nvPr/>
        </p:nvSpPr>
        <p:spPr>
          <a:xfrm>
            <a:off x="4209796" y="2478340"/>
            <a:ext cx="1959955" cy="333375"/>
          </a:xfrm>
          <a:prstGeom prst="rect">
            <a:avLst/>
          </a:prstGeom>
          <a:noFill/>
          <a:ln/>
        </p:spPr>
        <p:txBody>
          <a:bodyPr wrap="square" lIns="85725" tIns="133350" rIns="133350" bIns="85725" rtlCol="0" anchor="ctr"/>
          <a:lstStyle/>
          <a:p>
            <a:pPr algn="l" indent="0" marL="0">
              <a:buNone/>
            </a:pPr>
            <a:r>
              <a:rPr lang="en-US" sz="888" dirty="0">
                <a:solidFill>
                  <a:srgbClr val="9098B0"/>
                </a:solidFill>
                <a:latin typeface="Raleway" pitchFamily="34" charset="0"/>
                <a:ea typeface="Raleway" pitchFamily="34" charset="-122"/>
                <a:cs typeface="Raleway" pitchFamily="34" charset="-120"/>
              </a:rPr>
              <a:t>Vanti</a:t>
            </a:r>
            <a:endParaRPr lang="en-US" sz="888" dirty="0"/>
          </a:p>
        </p:txBody>
      </p:sp>
      <p:sp>
        <p:nvSpPr>
          <p:cNvPr id="15" name="Text 12"/>
          <p:cNvSpPr/>
          <p:nvPr/>
        </p:nvSpPr>
        <p:spPr>
          <a:xfrm>
            <a:off x="6112665" y="1492503"/>
            <a:ext cx="845543"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Jul</a:t>
            </a:r>
            <a:endParaRPr lang="en-US" sz="888" dirty="0"/>
          </a:p>
        </p:txBody>
      </p:sp>
      <p:sp>
        <p:nvSpPr>
          <p:cNvPr id="16" name="Text 13"/>
          <p:cNvSpPr/>
          <p:nvPr/>
        </p:nvSpPr>
        <p:spPr>
          <a:xfrm>
            <a:off x="6933580" y="1492503"/>
            <a:ext cx="948553"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Ago</a:t>
            </a:r>
            <a:endParaRPr lang="en-US" sz="888" dirty="0"/>
          </a:p>
        </p:txBody>
      </p:sp>
      <p:sp>
        <p:nvSpPr>
          <p:cNvPr id="17" name="Text 14"/>
          <p:cNvSpPr/>
          <p:nvPr/>
        </p:nvSpPr>
        <p:spPr>
          <a:xfrm>
            <a:off x="7854506" y="1492503"/>
            <a:ext cx="937516"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Sep</a:t>
            </a:r>
            <a:endParaRPr lang="en-US" sz="888" dirty="0"/>
          </a:p>
        </p:txBody>
      </p:sp>
      <p:sp>
        <p:nvSpPr>
          <p:cNvPr id="18" name="Text 15"/>
          <p:cNvSpPr/>
          <p:nvPr/>
        </p:nvSpPr>
        <p:spPr>
          <a:xfrm>
            <a:off x="8764716" y="1492503"/>
            <a:ext cx="90685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Oct</a:t>
            </a:r>
            <a:endParaRPr lang="en-US" sz="888" dirty="0"/>
          </a:p>
        </p:txBody>
      </p:sp>
      <p:sp>
        <p:nvSpPr>
          <p:cNvPr id="19" name="Text 16"/>
          <p:cNvSpPr/>
          <p:nvPr/>
        </p:nvSpPr>
        <p:spPr>
          <a:xfrm>
            <a:off x="9645161" y="1492503"/>
            <a:ext cx="947480"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Nov</a:t>
            </a:r>
            <a:endParaRPr lang="en-US" sz="888" dirty="0"/>
          </a:p>
        </p:txBody>
      </p:sp>
      <p:sp>
        <p:nvSpPr>
          <p:cNvPr id="20" name="Text 17"/>
          <p:cNvSpPr/>
          <p:nvPr/>
        </p:nvSpPr>
        <p:spPr>
          <a:xfrm>
            <a:off x="10565044" y="1492503"/>
            <a:ext cx="87098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Dic</a:t>
            </a:r>
            <a:endParaRPr lang="en-US" sz="88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01_Repositorios\13_Presentaciones\dash\televentas\ppt_slides\sk_21_KPI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4681569" y="2156018"/>
            <a:ext cx="5049651" cy="342900"/>
          </a:xfrm>
          <a:prstGeom prst="rect">
            <a:avLst/>
          </a:prstGeom>
          <a:noFill/>
          <a:ln/>
        </p:spPr>
        <p:txBody>
          <a:bodyPr wrap="square" lIns="85725" tIns="133350" rIns="133350" bIns="85725" rtlCol="0" anchor="ctr"/>
          <a:lstStyle/>
          <a:p>
            <a:pPr algn="l" indent="0" marL="0">
              <a:buNone/>
            </a:pPr>
            <a:r>
              <a:rPr lang="en-US" sz="912" dirty="0">
                <a:solidFill>
                  <a:srgbClr val="9098B0"/>
                </a:solidFill>
                <a:latin typeface="Raleway" pitchFamily="34" charset="0"/>
                <a:ea typeface="Raleway" pitchFamily="34" charset="-122"/>
                <a:cs typeface="Raleway" pitchFamily="34" charset="-120"/>
              </a:rPr>
              <a:t>Ventas / contactos en Autogestión</a:t>
            </a:r>
            <a:endParaRPr lang="en-US" sz="912" dirty="0"/>
          </a:p>
        </p:txBody>
      </p:sp>
      <p:sp>
        <p:nvSpPr>
          <p:cNvPr id="5" name="Text 2"/>
          <p:cNvSpPr/>
          <p:nvPr/>
        </p:nvSpPr>
        <p:spPr>
          <a:xfrm>
            <a:off x="4681569" y="2498917"/>
            <a:ext cx="5049651" cy="342900"/>
          </a:xfrm>
          <a:prstGeom prst="rect">
            <a:avLst/>
          </a:prstGeom>
          <a:noFill/>
          <a:ln/>
        </p:spPr>
        <p:txBody>
          <a:bodyPr wrap="square" lIns="85725" tIns="133350" rIns="133350" bIns="85725" rtlCol="0" anchor="ctr"/>
          <a:lstStyle/>
          <a:p>
            <a:pPr algn="l" indent="0" marL="0">
              <a:buNone/>
            </a:pPr>
            <a:r>
              <a:rPr lang="en-US" sz="912" dirty="0">
                <a:solidFill>
                  <a:srgbClr val="9098B0"/>
                </a:solidFill>
                <a:latin typeface="Raleway" pitchFamily="34" charset="0"/>
                <a:ea typeface="Raleway" pitchFamily="34" charset="-122"/>
                <a:cs typeface="Raleway" pitchFamily="34" charset="-120"/>
              </a:rPr>
              <a:t>Ventas / contactos en Bienvenida</a:t>
            </a:r>
            <a:endParaRPr lang="en-US" sz="912" dirty="0"/>
          </a:p>
        </p:txBody>
      </p:sp>
      <p:sp>
        <p:nvSpPr>
          <p:cNvPr id="6" name="Text 3"/>
          <p:cNvSpPr/>
          <p:nvPr/>
        </p:nvSpPr>
        <p:spPr>
          <a:xfrm>
            <a:off x="4681569" y="2841817"/>
            <a:ext cx="5049651" cy="338137"/>
          </a:xfrm>
          <a:prstGeom prst="rect">
            <a:avLst/>
          </a:prstGeom>
          <a:noFill/>
          <a:ln/>
        </p:spPr>
        <p:txBody>
          <a:bodyPr wrap="square" lIns="85725" tIns="133350" rIns="133350" bIns="85725" rtlCol="0" anchor="ctr"/>
          <a:lstStyle/>
          <a:p>
            <a:pPr algn="l" indent="0" marL="0">
              <a:buNone/>
            </a:pPr>
            <a:r>
              <a:rPr lang="en-US" sz="912" dirty="0">
                <a:solidFill>
                  <a:srgbClr val="9098B0"/>
                </a:solidFill>
                <a:latin typeface="Raleway" pitchFamily="34" charset="0"/>
                <a:ea typeface="Raleway" pitchFamily="34" charset="-122"/>
                <a:cs typeface="Raleway" pitchFamily="34" charset="-120"/>
              </a:rPr>
              <a:t>Sesiones individuales / asesor</a:t>
            </a:r>
            <a:endParaRPr lang="en-US" sz="912" dirty="0"/>
          </a:p>
        </p:txBody>
      </p:sp>
      <p:sp>
        <p:nvSpPr>
          <p:cNvPr id="7" name="Text 4"/>
          <p:cNvSpPr/>
          <p:nvPr/>
        </p:nvSpPr>
        <p:spPr>
          <a:xfrm>
            <a:off x="4681569" y="1817880"/>
            <a:ext cx="5049651" cy="338137"/>
          </a:xfrm>
          <a:prstGeom prst="rect">
            <a:avLst/>
          </a:prstGeom>
          <a:noFill/>
          <a:ln/>
        </p:spPr>
        <p:txBody>
          <a:bodyPr wrap="square" lIns="85725" tIns="133350" rIns="133350" bIns="85725" rtlCol="0" anchor="ctr"/>
          <a:lstStyle/>
          <a:p>
            <a:pPr algn="l" indent="0" marL="0">
              <a:buNone/>
            </a:pPr>
            <a:r>
              <a:rPr lang="en-US" sz="912" dirty="0">
                <a:solidFill>
                  <a:srgbClr val="9098B0"/>
                </a:solidFill>
                <a:latin typeface="Raleway" pitchFamily="34" charset="0"/>
                <a:ea typeface="Raleway" pitchFamily="34" charset="-122"/>
                <a:cs typeface="Raleway" pitchFamily="34" charset="-120"/>
              </a:rPr>
              <a:t>Ventas liquidadas totales/mes</a:t>
            </a:r>
            <a:endParaRPr lang="en-US" sz="912" dirty="0"/>
          </a:p>
        </p:txBody>
      </p:sp>
      <p:sp>
        <p:nvSpPr>
          <p:cNvPr id="8" name="Text 5"/>
          <p:cNvSpPr/>
          <p:nvPr/>
        </p:nvSpPr>
        <p:spPr>
          <a:xfrm>
            <a:off x="781030" y="2498917"/>
            <a:ext cx="4017555" cy="342900"/>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Bienvenida CP</a:t>
            </a:r>
            <a:endParaRPr lang="en-US" sz="912" dirty="0"/>
          </a:p>
        </p:txBody>
      </p:sp>
      <p:sp>
        <p:nvSpPr>
          <p:cNvPr id="9" name="Text 6"/>
          <p:cNvSpPr/>
          <p:nvPr/>
        </p:nvSpPr>
        <p:spPr>
          <a:xfrm>
            <a:off x="781030" y="2156018"/>
            <a:ext cx="4017555" cy="342900"/>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Autogestión</a:t>
            </a:r>
            <a:endParaRPr lang="en-US" sz="912" dirty="0"/>
          </a:p>
        </p:txBody>
      </p:sp>
      <p:sp>
        <p:nvSpPr>
          <p:cNvPr id="10" name="Text 7"/>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1" name="Text 8"/>
          <p:cNvSpPr/>
          <p:nvPr/>
        </p:nvSpPr>
        <p:spPr>
          <a:xfrm>
            <a:off x="781030" y="1817880"/>
            <a:ext cx="4017555" cy="338137"/>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Volumen de ventas</a:t>
            </a:r>
            <a:endParaRPr lang="en-US" sz="912" dirty="0"/>
          </a:p>
        </p:txBody>
      </p:sp>
      <p:sp>
        <p:nvSpPr>
          <p:cNvPr id="12" name="Text 9"/>
          <p:cNvSpPr/>
          <p:nvPr/>
        </p:nvSpPr>
        <p:spPr>
          <a:xfrm>
            <a:off x="781030" y="2841817"/>
            <a:ext cx="4017555" cy="338137"/>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Escuela de ventas</a:t>
            </a:r>
            <a:endParaRPr lang="en-US" sz="912" dirty="0"/>
          </a:p>
        </p:txBody>
      </p:sp>
      <p:sp>
        <p:nvSpPr>
          <p:cNvPr id="13" name="Text 10"/>
          <p:cNvSpPr/>
          <p:nvPr/>
        </p:nvSpPr>
        <p:spPr>
          <a:xfrm>
            <a:off x="4681569" y="1494030"/>
            <a:ext cx="5049651"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Definición</a:t>
            </a:r>
            <a:endParaRPr lang="en-US" sz="888" dirty="0"/>
          </a:p>
        </p:txBody>
      </p:sp>
      <p:sp>
        <p:nvSpPr>
          <p:cNvPr id="14" name="Text 11"/>
          <p:cNvSpPr/>
          <p:nvPr/>
        </p:nvSpPr>
        <p:spPr>
          <a:xfrm>
            <a:off x="781030" y="1494030"/>
            <a:ext cx="4017555"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Métrica</a:t>
            </a:r>
            <a:endParaRPr lang="en-US" sz="888" dirty="0"/>
          </a:p>
        </p:txBody>
      </p:sp>
      <p:sp>
        <p:nvSpPr>
          <p:cNvPr id="15" name="Text 12"/>
          <p:cNvSpPr/>
          <p:nvPr/>
        </p:nvSpPr>
        <p:spPr>
          <a:xfrm>
            <a:off x="9584143" y="1494030"/>
            <a:ext cx="1881318"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16" name="Text 13"/>
          <p:cNvSpPr/>
          <p:nvPr/>
        </p:nvSpPr>
        <p:spPr>
          <a:xfrm>
            <a:off x="9584143" y="1817880"/>
            <a:ext cx="1881318" cy="338137"/>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3.000</a:t>
            </a:r>
            <a:endParaRPr lang="en-US" sz="912" dirty="0"/>
          </a:p>
        </p:txBody>
      </p:sp>
      <p:sp>
        <p:nvSpPr>
          <p:cNvPr id="17" name="Text 14"/>
          <p:cNvSpPr/>
          <p:nvPr/>
        </p:nvSpPr>
        <p:spPr>
          <a:xfrm>
            <a:off x="9584143" y="2841817"/>
            <a:ext cx="1881318" cy="338137"/>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1 / mes</a:t>
            </a:r>
            <a:endParaRPr lang="en-US" sz="912" dirty="0"/>
          </a:p>
        </p:txBody>
      </p:sp>
      <p:sp>
        <p:nvSpPr>
          <p:cNvPr id="18" name="Text 15"/>
          <p:cNvSpPr/>
          <p:nvPr/>
        </p:nvSpPr>
        <p:spPr>
          <a:xfrm>
            <a:off x="9584143" y="2156018"/>
            <a:ext cx="1881318" cy="342900"/>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40 %</a:t>
            </a:r>
            <a:endParaRPr lang="en-US" sz="912" dirty="0"/>
          </a:p>
        </p:txBody>
      </p:sp>
      <p:sp>
        <p:nvSpPr>
          <p:cNvPr id="19" name="Text 16"/>
          <p:cNvSpPr/>
          <p:nvPr/>
        </p:nvSpPr>
        <p:spPr>
          <a:xfrm>
            <a:off x="9584143" y="2498917"/>
            <a:ext cx="1881318" cy="342900"/>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30 %</a:t>
            </a:r>
            <a:endParaRPr lang="en-US" sz="912"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01_Repositorios\13_Presentaciones\dash\televentas\ppt_slides\sk_22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774502"/>
            <a:ext cx="6867353" cy="1082862"/>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Hitos Consolidados del 1S y Plan 2S</a:t>
            </a:r>
            <a:endParaRPr lang="en-US" sz="1400" dirty="0"/>
          </a:p>
        </p:txBody>
      </p:sp>
      <p:sp>
        <p:nvSpPr>
          <p:cNvPr id="4" name="Text 1"/>
          <p:cNvSpPr/>
          <p:nvPr/>
        </p:nvSpPr>
        <p:spPr>
          <a:xfrm>
            <a:off x="1190595" y="3635573"/>
            <a:ext cx="3433677" cy="313944"/>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1.520 ventas en dos semanas.</a:t>
            </a:r>
            <a:endParaRPr lang="en-US" sz="984" dirty="0"/>
          </a:p>
        </p:txBody>
      </p:sp>
      <p:sp>
        <p:nvSpPr>
          <p:cNvPr id="5" name="Text 2"/>
          <p:cNvSpPr/>
          <p:nvPr/>
        </p:nvSpPr>
        <p:spPr>
          <a:xfrm>
            <a:off x="1190595" y="3016448"/>
            <a:ext cx="3433677" cy="313944"/>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4.798 ventas (114% meta).</a:t>
            </a:r>
            <a:endParaRPr lang="en-US" sz="984" dirty="0"/>
          </a:p>
        </p:txBody>
      </p:sp>
      <p:sp>
        <p:nvSpPr>
          <p:cNvPr id="6" name="Text 3"/>
          <p:cNvSpPr/>
          <p:nvPr/>
        </p:nvSpPr>
        <p:spPr>
          <a:xfrm>
            <a:off x="1190595" y="2311598"/>
            <a:ext cx="3433677" cy="137350"/>
          </a:xfrm>
          <a:prstGeom prst="rect">
            <a:avLst/>
          </a:prstGeom>
          <a:noFill/>
          <a:ln/>
        </p:spPr>
        <p:txBody>
          <a:bodyPr wrap="square" lIns="0" tIns="0" rIns="0" bIns="0" rtlCol="0" anchor="t"/>
          <a:lstStyle/>
          <a:p>
            <a:pPr algn="l" indent="0" marL="0">
              <a:buNone/>
            </a:pPr>
            <a:r>
              <a:rPr lang="en-US" sz="864" b="1" dirty="0">
                <a:solidFill>
                  <a:srgbClr val="5AE280"/>
                </a:solidFill>
                <a:latin typeface="Raleway" pitchFamily="34" charset="0"/>
                <a:ea typeface="Raleway" pitchFamily="34" charset="-122"/>
                <a:cs typeface="Raleway" pitchFamily="34" charset="-120"/>
              </a:rPr>
              <a:t>Iniciativas 1S Ejecutadas</a:t>
            </a:r>
            <a:endParaRPr lang="en-US" sz="864" dirty="0"/>
          </a:p>
        </p:txBody>
      </p:sp>
      <p:sp>
        <p:nvSpPr>
          <p:cNvPr id="7" name="Text 4"/>
          <p:cNvSpPr/>
          <p:nvPr/>
        </p:nvSpPr>
        <p:spPr>
          <a:xfrm>
            <a:off x="1394187" y="2797373"/>
            <a:ext cx="1658588"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 Burger (Feb &amp; Abr)</a:t>
            </a:r>
            <a:endParaRPr lang="en-US" sz="984" dirty="0"/>
          </a:p>
        </p:txBody>
      </p:sp>
      <p:sp>
        <p:nvSpPr>
          <p:cNvPr id="8" name="Text 5"/>
          <p:cNvSpPr/>
          <p:nvPr/>
        </p:nvSpPr>
        <p:spPr>
          <a:xfrm>
            <a:off x="5190995" y="2311598"/>
            <a:ext cx="3433677" cy="137350"/>
          </a:xfrm>
          <a:prstGeom prst="rect">
            <a:avLst/>
          </a:prstGeom>
          <a:noFill/>
          <a:ln/>
        </p:spPr>
        <p:txBody>
          <a:bodyPr wrap="square" lIns="0" tIns="0" rIns="0" bIns="0" rtlCol="0" anchor="t"/>
          <a:lstStyle/>
          <a:p>
            <a:pPr algn="l" indent="0" marL="0">
              <a:buNone/>
            </a:pPr>
            <a:r>
              <a:rPr lang="en-US" sz="864" b="1" dirty="0">
                <a:solidFill>
                  <a:srgbClr val="00CD93"/>
                </a:solidFill>
                <a:latin typeface="Raleway" pitchFamily="34" charset="0"/>
                <a:ea typeface="Raleway" pitchFamily="34" charset="-122"/>
                <a:cs typeface="Raleway" pitchFamily="34" charset="-120"/>
              </a:rPr>
              <a:t>Hitos y Plan Comercial 2S</a:t>
            </a:r>
            <a:endParaRPr lang="en-US" sz="864" dirty="0"/>
          </a:p>
        </p:txBody>
      </p:sp>
      <p:sp>
        <p:nvSpPr>
          <p:cNvPr id="9" name="Text 6"/>
          <p:cNvSpPr/>
          <p:nvPr/>
        </p:nvSpPr>
        <p:spPr>
          <a:xfrm>
            <a:off x="5356339" y="2778323"/>
            <a:ext cx="1568608"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School Master Comercial:</a:t>
            </a:r>
            <a:endParaRPr lang="en-US" sz="984" dirty="0"/>
          </a:p>
        </p:txBody>
      </p:sp>
      <p:sp>
        <p:nvSpPr>
          <p:cNvPr id="10" name="Text 7"/>
          <p:cNvSpPr/>
          <p:nvPr/>
        </p:nvSpPr>
        <p:spPr>
          <a:xfrm>
            <a:off x="1355939" y="2559248"/>
            <a:ext cx="1602791"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Semanas Ganadoras (Ene)</a:t>
            </a:r>
            <a:endParaRPr lang="en-US" sz="984" dirty="0"/>
          </a:p>
        </p:txBody>
      </p:sp>
      <p:sp>
        <p:nvSpPr>
          <p:cNvPr id="11" name="Text 8"/>
          <p:cNvSpPr/>
          <p:nvPr/>
        </p:nvSpPr>
        <p:spPr>
          <a:xfrm>
            <a:off x="1394187" y="3416498"/>
            <a:ext cx="1338521"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Ferias Vanti (Abr-May)</a:t>
            </a:r>
            <a:endParaRPr lang="en-US" sz="984" dirty="0"/>
          </a:p>
        </p:txBody>
      </p:sp>
      <p:sp>
        <p:nvSpPr>
          <p:cNvPr id="12" name="Text 9"/>
          <p:cNvSpPr/>
          <p:nvPr/>
        </p:nvSpPr>
        <p:spPr>
          <a:xfrm>
            <a:off x="1190595" y="2778323"/>
            <a:ext cx="3433677" cy="16678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1.266 ventas.</a:t>
            </a:r>
            <a:endParaRPr lang="en-US" sz="984" dirty="0"/>
          </a:p>
        </p:txBody>
      </p:sp>
      <p:sp>
        <p:nvSpPr>
          <p:cNvPr id="13" name="Text 10"/>
          <p:cNvSpPr/>
          <p:nvPr/>
        </p:nvSpPr>
        <p:spPr>
          <a:xfrm>
            <a:off x="1190595" y="3397448"/>
            <a:ext cx="3433677" cy="16678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1.073 ventas.</a:t>
            </a:r>
            <a:endParaRPr lang="en-US" sz="984" dirty="0"/>
          </a:p>
        </p:txBody>
      </p:sp>
      <p:sp>
        <p:nvSpPr>
          <p:cNvPr id="14" name="Text 11"/>
          <p:cNvSpPr/>
          <p:nvPr/>
        </p:nvSpPr>
        <p:spPr>
          <a:xfrm>
            <a:off x="5356339" y="2559248"/>
            <a:ext cx="1231372"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13.917 ventas CP+RS</a:t>
            </a:r>
            <a:endParaRPr lang="en-US" sz="984" dirty="0"/>
          </a:p>
        </p:txBody>
      </p:sp>
      <p:sp>
        <p:nvSpPr>
          <p:cNvPr id="15" name="Text 12"/>
          <p:cNvSpPr/>
          <p:nvPr/>
        </p:nvSpPr>
        <p:spPr>
          <a:xfrm>
            <a:off x="952476" y="498277"/>
            <a:ext cx="1708561" cy="147161"/>
          </a:xfrm>
          <a:prstGeom prst="rect">
            <a:avLst/>
          </a:prstGeom>
          <a:noFill/>
          <a:ln/>
        </p:spPr>
        <p:txBody>
          <a:bodyPr wrap="squar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Cierre del Informe</a:t>
            </a:r>
            <a:endParaRPr lang="en-US" sz="936" dirty="0"/>
          </a:p>
        </p:txBody>
      </p:sp>
      <p:sp>
        <p:nvSpPr>
          <p:cNvPr id="16" name="Text 13"/>
          <p:cNvSpPr/>
          <p:nvPr/>
        </p:nvSpPr>
        <p:spPr>
          <a:xfrm>
            <a:off x="1355939" y="4016573"/>
            <a:ext cx="1106134"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10 capacitaciones</a:t>
            </a:r>
            <a:endParaRPr lang="en-US" sz="984" dirty="0"/>
          </a:p>
        </p:txBody>
      </p:sp>
      <p:sp>
        <p:nvSpPr>
          <p:cNvPr id="17" name="Text 14"/>
          <p:cNvSpPr/>
          <p:nvPr/>
        </p:nvSpPr>
        <p:spPr>
          <a:xfrm>
            <a:off x="5356339" y="3578423"/>
            <a:ext cx="935677"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Roster en Julio:</a:t>
            </a:r>
            <a:endParaRPr lang="en-US" sz="984" dirty="0"/>
          </a:p>
        </p:txBody>
      </p:sp>
      <p:sp>
        <p:nvSpPr>
          <p:cNvPr id="18" name="Text 15"/>
          <p:cNvSpPr/>
          <p:nvPr/>
        </p:nvSpPr>
        <p:spPr>
          <a:xfrm>
            <a:off x="5363334" y="3140273"/>
            <a:ext cx="1109200" cy="186404"/>
          </a:xfrm>
          <a:prstGeom prst="rect">
            <a:avLst/>
          </a:prstGeom>
          <a:noFill/>
          <a:ln/>
        </p:spPr>
        <p:txBody>
          <a:bodyPr wrap="square" lIns="0" tIns="0" rIns="0" bIns="0" rtlCol="0" anchor="t"/>
          <a:lstStyle/>
          <a:p>
            <a:pPr algn="l" indent="0" marL="0">
              <a:buNone/>
            </a:pPr>
            <a:r>
              <a:rPr lang="en-US" sz="1200" b="1" dirty="0">
                <a:solidFill>
                  <a:srgbClr val="FFFFFF"/>
                </a:solidFill>
                <a:latin typeface="Raleway" pitchFamily="34" charset="0"/>
                <a:ea typeface="Raleway" pitchFamily="34" charset="-122"/>
                <a:cs typeface="Raleway" pitchFamily="34" charset="-120"/>
              </a:rPr>
              <a:t>Modelado Top:</a:t>
            </a:r>
            <a:endParaRPr lang="en-US" sz="1200" dirty="0"/>
          </a:p>
        </p:txBody>
      </p:sp>
      <p:sp>
        <p:nvSpPr>
          <p:cNvPr id="19" name="Text 16"/>
          <p:cNvSpPr/>
          <p:nvPr/>
        </p:nvSpPr>
        <p:spPr>
          <a:xfrm>
            <a:off x="2944044" y="2559248"/>
            <a:ext cx="349193" cy="147161"/>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Vanti</a:t>
            </a:r>
            <a:endParaRPr lang="en-US" sz="9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2026-07-15T21:44:52Z</dcterms:created>
  <dcterms:modified xsi:type="dcterms:W3CDTF">2026-07-15T21:44:52Z</dcterms:modified>
</cp:coreProperties>
</file>