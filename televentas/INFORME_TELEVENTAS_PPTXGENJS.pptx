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01_Repositorios\13_Presentaciones\dash\televentas\ppt_slides\sk_00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168527"/>
            <a:ext cx="4678146" cy="543223"/>
          </a:xfrm>
          <a:prstGeom prst="rect">
            <a:avLst/>
          </a:prstGeom>
          <a:noFill/>
          <a:ln/>
        </p:spPr>
        <p:txBody>
          <a:bodyPr wrap="none" lIns="0" tIns="0" rIns="0" bIns="0" rtlCol="0" anchor="t"/>
          <a:lstStyle/>
          <a:p>
            <a:pPr algn="l" indent="0" marL="0">
              <a:buNone/>
            </a:pPr>
            <a:r>
              <a:rPr lang="en-US" sz="1380" dirty="0">
                <a:solidFill>
                  <a:srgbClr val="555555"/>
                </a:solidFill>
                <a:latin typeface="Raleway" pitchFamily="34" charset="0"/>
                <a:ea typeface="Raleway" pitchFamily="34" charset="-122"/>
                <a:cs typeface="Raleway" pitchFamily="34" charset="-120"/>
              </a:rPr>
              <a:t>Gestión del primer semestre · Análisis de bases operativas</a:t>
            </a:r>
            <a:endParaRPr lang="en-US" sz="1380" dirty="0"/>
          </a:p>
          <a:p>
            <a:pPr algn="l" indent="0" marL="0">
              <a:buNone/>
            </a:pPr>
            <a:r>
              <a:rPr lang="en-US" sz="1380" dirty="0">
                <a:solidFill>
                  <a:srgbClr val="555555"/>
                </a:solidFill>
                <a:latin typeface="Raleway" pitchFamily="34" charset="0"/>
                <a:ea typeface="Raleway" pitchFamily="34" charset="-122"/>
                <a:cs typeface="Raleway" pitchFamily="34" charset="-120"/>
              </a:rPr>
              <a:t>      Estrategia para alcanzar</a:t>
            </a:r>
            <a:endParaRPr lang="en-US" sz="1380" dirty="0"/>
          </a:p>
        </p:txBody>
      </p:sp>
      <p:sp>
        <p:nvSpPr>
          <p:cNvPr id="4" name="Text 1"/>
          <p:cNvSpPr/>
          <p:nvPr/>
        </p:nvSpPr>
        <p:spPr>
          <a:xfrm>
            <a:off x="952476" y="1872704"/>
            <a:ext cx="3229936" cy="142875"/>
          </a:xfrm>
          <a:prstGeom prst="rect">
            <a:avLst/>
          </a:prstGeom>
          <a:noFill/>
          <a:ln/>
        </p:spPr>
        <p:txBody>
          <a:bodyPr wrap="non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Informe Ejecutivo · Canal Televentas</a:t>
            </a:r>
            <a:endParaRPr lang="en-US" sz="936" dirty="0"/>
          </a:p>
        </p:txBody>
      </p:sp>
      <p:sp>
        <p:nvSpPr>
          <p:cNvPr id="5" name="Text 2"/>
          <p:cNvSpPr/>
          <p:nvPr/>
        </p:nvSpPr>
        <p:spPr>
          <a:xfrm>
            <a:off x="4022872" y="5149900"/>
            <a:ext cx="1753896" cy="142875"/>
          </a:xfrm>
          <a:prstGeom prst="rect">
            <a:avLst/>
          </a:prstGeom>
          <a:noFill/>
          <a:ln/>
        </p:spPr>
        <p:txBody>
          <a:bodyPr wrap="non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Data Marshall, Gestión Integral</a:t>
            </a:r>
            <a:endParaRPr lang="en-US" sz="936" dirty="0"/>
          </a:p>
        </p:txBody>
      </p:sp>
      <p:sp>
        <p:nvSpPr>
          <p:cNvPr id="6" name="Text 3"/>
          <p:cNvSpPr/>
          <p:nvPr/>
        </p:nvSpPr>
        <p:spPr>
          <a:xfrm>
            <a:off x="952476" y="4959400"/>
            <a:ext cx="1679186" cy="114300"/>
          </a:xfrm>
          <a:prstGeom prst="rect">
            <a:avLst/>
          </a:prstGeom>
          <a:noFill/>
          <a:ln/>
        </p:spPr>
        <p:txBody>
          <a:bodyPr wrap="none" lIns="0" tIns="0" rIns="0" bIns="0" rtlCol="0" anchor="t"/>
          <a:lstStyle/>
          <a:p>
            <a:pPr algn="l" indent="0" marL="0">
              <a:buNone/>
            </a:pPr>
            <a:r>
              <a:rPr lang="en-US" sz="768" b="1" dirty="0">
                <a:solidFill>
                  <a:srgbClr val="00CD93"/>
                </a:solidFill>
                <a:latin typeface="Raleway" pitchFamily="34" charset="0"/>
                <a:ea typeface="Raleway" pitchFamily="34" charset="-122"/>
                <a:cs typeface="Raleway" pitchFamily="34" charset="-120"/>
              </a:rPr>
              <a:t>Coordinadora Comercial</a:t>
            </a:r>
            <a:endParaRPr lang="en-US" sz="768" dirty="0"/>
          </a:p>
        </p:txBody>
      </p:sp>
      <p:sp>
        <p:nvSpPr>
          <p:cNvPr id="7" name="Text 4"/>
          <p:cNvSpPr/>
          <p:nvPr/>
        </p:nvSpPr>
        <p:spPr>
          <a:xfrm>
            <a:off x="3951734" y="5737771"/>
            <a:ext cx="1859561" cy="314325"/>
          </a:xfrm>
          <a:prstGeom prst="rect">
            <a:avLst/>
          </a:prstGeom>
          <a:noFill/>
          <a:ln/>
        </p:spPr>
        <p:txBody>
          <a:bodyPr wrap="non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15–21 asesores activos</a:t>
            </a:r>
            <a:endParaRPr lang="en-US" sz="936" dirty="0"/>
          </a:p>
        </p:txBody>
      </p:sp>
      <p:sp>
        <p:nvSpPr>
          <p:cNvPr id="8" name="Text 5"/>
          <p:cNvSpPr/>
          <p:nvPr/>
        </p:nvSpPr>
        <p:spPr>
          <a:xfrm>
            <a:off x="2411997" y="5737771"/>
            <a:ext cx="1425440" cy="314325"/>
          </a:xfrm>
          <a:prstGeom prst="rect">
            <a:avLst/>
          </a:prstGeom>
          <a:noFill/>
          <a:ln/>
        </p:spPr>
        <p:txBody>
          <a:bodyPr wrap="non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13.917 ventas 1S</a:t>
            </a:r>
            <a:endParaRPr lang="en-US" sz="936" dirty="0"/>
          </a:p>
        </p:txBody>
      </p:sp>
      <p:sp>
        <p:nvSpPr>
          <p:cNvPr id="9" name="Text 6"/>
          <p:cNvSpPr/>
          <p:nvPr/>
        </p:nvSpPr>
        <p:spPr>
          <a:xfrm>
            <a:off x="952476" y="5121325"/>
            <a:ext cx="1679186" cy="196602"/>
          </a:xfrm>
          <a:prstGeom prst="rect">
            <a:avLst/>
          </a:prstGeom>
          <a:noFill/>
          <a:ln/>
        </p:spPr>
        <p:txBody>
          <a:bodyPr wrap="non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Martha Carvajal</a:t>
            </a:r>
            <a:endParaRPr lang="en-US" sz="1032" dirty="0"/>
          </a:p>
        </p:txBody>
      </p:sp>
      <p:sp>
        <p:nvSpPr>
          <p:cNvPr id="10" name="Text 7"/>
          <p:cNvSpPr/>
          <p:nvPr/>
        </p:nvSpPr>
        <p:spPr>
          <a:xfrm>
            <a:off x="3174573" y="4959400"/>
            <a:ext cx="2602195" cy="114300"/>
          </a:xfrm>
          <a:prstGeom prst="rect">
            <a:avLst/>
          </a:prstGeom>
          <a:noFill/>
          <a:ln/>
        </p:spPr>
        <p:txBody>
          <a:bodyPr wrap="none" lIns="0" tIns="0" rIns="0" bIns="0" rtlCol="0" anchor="t"/>
          <a:lstStyle/>
          <a:p>
            <a:pPr algn="l" indent="0" marL="0">
              <a:buNone/>
            </a:pPr>
            <a:r>
              <a:rPr lang="en-US" sz="768" b="1" dirty="0">
                <a:solidFill>
                  <a:srgbClr val="00CD93"/>
                </a:solidFill>
                <a:latin typeface="Raleway" pitchFamily="34" charset="0"/>
                <a:ea typeface="Raleway" pitchFamily="34" charset="-122"/>
                <a:cs typeface="Raleway" pitchFamily="34" charset="-120"/>
              </a:rPr>
              <a:t>Contribuyentes</a:t>
            </a:r>
            <a:endParaRPr lang="en-US" sz="768" dirty="0"/>
          </a:p>
        </p:txBody>
      </p:sp>
      <p:sp>
        <p:nvSpPr>
          <p:cNvPr id="11" name="Text 8"/>
          <p:cNvSpPr/>
          <p:nvPr/>
        </p:nvSpPr>
        <p:spPr>
          <a:xfrm>
            <a:off x="952476" y="5737771"/>
            <a:ext cx="1345224" cy="314325"/>
          </a:xfrm>
          <a:prstGeom prst="rect">
            <a:avLst/>
          </a:prstGeom>
          <a:noFill/>
          <a:ln/>
        </p:spPr>
        <p:txBody>
          <a:bodyPr wrap="non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Ene – Jun 2026</a:t>
            </a:r>
            <a:endParaRPr lang="en-US" sz="936" dirty="0"/>
          </a:p>
        </p:txBody>
      </p:sp>
      <p:sp>
        <p:nvSpPr>
          <p:cNvPr id="12" name="Text 9"/>
          <p:cNvSpPr/>
          <p:nvPr/>
        </p:nvSpPr>
        <p:spPr>
          <a:xfrm>
            <a:off x="3174573" y="5121325"/>
            <a:ext cx="2602195" cy="197346"/>
          </a:xfrm>
          <a:prstGeom prst="rect">
            <a:avLst/>
          </a:prstGeom>
          <a:noFill/>
          <a:ln/>
        </p:spPr>
        <p:txBody>
          <a:bodyPr wrap="non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Isaac Álvarez</a:t>
            </a:r>
            <a:endParaRPr lang="en-US" sz="1032" dirty="0"/>
          </a:p>
        </p:txBody>
      </p:sp>
      <p:sp>
        <p:nvSpPr>
          <p:cNvPr id="13" name="Text 10"/>
          <p:cNvSpPr/>
          <p:nvPr/>
        </p:nvSpPr>
        <p:spPr>
          <a:xfrm>
            <a:off x="5925592" y="5737771"/>
            <a:ext cx="1174373" cy="314325"/>
          </a:xfrm>
          <a:prstGeom prst="rect">
            <a:avLst/>
          </a:prstGeom>
          <a:noFill/>
          <a:ln/>
        </p:spPr>
        <p:txBody>
          <a:bodyPr wrap="non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Vanti · Xuma</a:t>
            </a:r>
            <a:endParaRPr lang="en-US" sz="936" dirty="0"/>
          </a:p>
        </p:txBody>
      </p:sp>
      <p:sp>
        <p:nvSpPr>
          <p:cNvPr id="14" name="Text 11"/>
          <p:cNvSpPr/>
          <p:nvPr/>
        </p:nvSpPr>
        <p:spPr>
          <a:xfrm>
            <a:off x="952476" y="2771329"/>
            <a:ext cx="2904159" cy="638175"/>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Televentas</a:t>
            </a:r>
            <a:endParaRPr lang="en-US" sz="1600" dirty="0"/>
          </a:p>
        </p:txBody>
      </p:sp>
      <p:sp>
        <p:nvSpPr>
          <p:cNvPr id="15" name="Text 12"/>
          <p:cNvSpPr/>
          <p:nvPr/>
        </p:nvSpPr>
        <p:spPr>
          <a:xfrm>
            <a:off x="952476" y="2187029"/>
            <a:ext cx="2904159" cy="1810048"/>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Canal2026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01_Repositorios\13_Presentaciones\dash\televentas\ppt_slides\sk_01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370189"/>
            <a:ext cx="5524362" cy="511969"/>
          </a:xfrm>
          <a:prstGeom prst="rect">
            <a:avLst/>
          </a:prstGeom>
          <a:noFill/>
          <a:ln/>
        </p:spPr>
        <p:txBody>
          <a:bodyPr wrap="none" lIns="0" tIns="0" rIns="0" bIns="0" rtlCol="0" anchor="t"/>
          <a:lstStyle/>
          <a:p>
            <a:pPr algn="l" indent="0" marL="0">
              <a:buNone/>
            </a:pPr>
            <a:r>
              <a:rPr lang="en-US" sz="1260" dirty="0">
                <a:solidFill>
                  <a:srgbClr val="555555"/>
                </a:solidFill>
                <a:latin typeface="Raleway" pitchFamily="34" charset="0"/>
                <a:ea typeface="Raleway" pitchFamily="34" charset="-122"/>
                <a:cs typeface="Raleway" pitchFamily="34" charset="-120"/>
              </a:rPr>
              <a:t>Resultados de ventas, desempeño por asesor, eficiencia por campaña</a:t>
            </a:r>
            <a:endParaRPr lang="en-US" sz="1260" dirty="0"/>
          </a:p>
          <a:p>
            <a:pPr algn="l" indent="0" marL="0">
              <a:buNone/>
            </a:pPr>
            <a:r>
              <a:rPr lang="en-US" sz="1260" dirty="0">
                <a:solidFill>
                  <a:srgbClr val="555555"/>
                </a:solidFill>
                <a:latin typeface="Raleway" pitchFamily="34" charset="0"/>
                <a:ea typeface="Raleway" pitchFamily="34" charset="-122"/>
                <a:cs typeface="Raleway" pitchFamily="34" charset="-120"/>
              </a:rPr>
              <a:t>      e iniciativas ejecutadas durante el primer semestre.</a:t>
            </a:r>
            <a:endParaRPr lang="en-US" sz="1260" dirty="0"/>
          </a:p>
        </p:txBody>
      </p:sp>
      <p:sp>
        <p:nvSpPr>
          <p:cNvPr id="4" name="Text 1"/>
          <p:cNvSpPr/>
          <p:nvPr/>
        </p:nvSpPr>
        <p:spPr>
          <a:xfrm>
            <a:off x="952476" y="3128367"/>
            <a:ext cx="4897662" cy="1051322"/>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Gestión del CanalPrimer Semestre 2026</a:t>
            </a:r>
            <a:endParaRPr lang="en-US" sz="1600" dirty="0"/>
          </a:p>
        </p:txBody>
      </p:sp>
      <p:sp>
        <p:nvSpPr>
          <p:cNvPr id="5" name="Text 2"/>
          <p:cNvSpPr/>
          <p:nvPr/>
        </p:nvSpPr>
        <p:spPr>
          <a:xfrm>
            <a:off x="952476" y="2852142"/>
            <a:ext cx="913335" cy="142875"/>
          </a:xfrm>
          <a:prstGeom prst="rect">
            <a:avLst/>
          </a:prstGeom>
          <a:noFill/>
          <a:ln/>
        </p:spPr>
        <p:txBody>
          <a:bodyPr wrap="non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Capítulo 1</a:t>
            </a:r>
            <a:endParaRPr lang="en-US" sz="936" dirty="0"/>
          </a:p>
        </p:txBody>
      </p:sp>
      <p:sp>
        <p:nvSpPr>
          <p:cNvPr id="6" name="Text 3"/>
          <p:cNvSpPr/>
          <p:nvPr/>
        </p:nvSpPr>
        <p:spPr>
          <a:xfrm>
            <a:off x="952476" y="1975842"/>
            <a:ext cx="1238666" cy="106680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01</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01_Repositorios\13_Presentaciones\dash\televentas\ppt_slides\sk_02_Vanti.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5452170"/>
            <a:ext cx="8614849" cy="164455"/>
          </a:xfrm>
          <a:prstGeom prst="rect">
            <a:avLst/>
          </a:prstGeom>
          <a:noFill/>
          <a:ln/>
        </p:spPr>
        <p:txBody>
          <a:bodyPr wrap="non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en el semestre —  de la meta general, cumpliendo los 6 meses. Cuota Protegida aportó 10.534 (145 %) y Combo Vida 3.383 (154 %).</a:t>
            </a:r>
            <a:endParaRPr lang="en-US" sz="864" dirty="0"/>
          </a:p>
        </p:txBody>
      </p:sp>
      <p:sp>
        <p:nvSpPr>
          <p:cNvPr id="4" name="Text 1"/>
          <p:cNvSpPr/>
          <p:nvPr/>
        </p:nvSpPr>
        <p:spPr>
          <a:xfrm>
            <a:off x="8203945" y="1489770"/>
            <a:ext cx="3263719"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Crecimiento necesario sobre junio (2.314) · mejor mes: 2.431</a:t>
            </a:r>
            <a:endParaRPr lang="en-US" sz="864" dirty="0"/>
          </a:p>
        </p:txBody>
      </p:sp>
      <p:sp>
        <p:nvSpPr>
          <p:cNvPr id="5" name="Text 2"/>
          <p:cNvSpPr/>
          <p:nvPr/>
        </p:nvSpPr>
        <p:spPr>
          <a:xfrm>
            <a:off x="1213514" y="219075"/>
            <a:ext cx="3731623"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6" name="Text 3"/>
          <p:cNvSpPr/>
          <p:nvPr/>
        </p:nvSpPr>
        <p:spPr>
          <a:xfrm>
            <a:off x="761981" y="990600"/>
            <a:ext cx="3263719"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Pólizas liquidadas (1S completo)</a:t>
            </a:r>
            <a:endParaRPr lang="en-US" sz="864" dirty="0"/>
          </a:p>
        </p:txBody>
      </p:sp>
      <p:sp>
        <p:nvSpPr>
          <p:cNvPr id="7" name="Text 4"/>
          <p:cNvSpPr/>
          <p:nvPr/>
        </p:nvSpPr>
        <p:spPr>
          <a:xfrm>
            <a:off x="857229" y="4543501"/>
            <a:ext cx="5048124" cy="180975"/>
          </a:xfrm>
          <a:prstGeom prst="rect">
            <a:avLst/>
          </a:prstGeom>
          <a:noFill/>
          <a:ln/>
        </p:spPr>
        <p:txBody>
          <a:bodyPr wrap="none" lIns="0" tIns="0" rIns="0" bIns="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Cuota Protegida</a:t>
            </a:r>
            <a:endParaRPr lang="en-US" sz="936" dirty="0"/>
          </a:p>
        </p:txBody>
      </p:sp>
      <p:sp>
        <p:nvSpPr>
          <p:cNvPr id="8" name="Text 5"/>
          <p:cNvSpPr/>
          <p:nvPr/>
        </p:nvSpPr>
        <p:spPr>
          <a:xfrm>
            <a:off x="4482889" y="1489770"/>
            <a:ext cx="3263868"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Ene · Pico (abr–may) · Jun</a:t>
            </a:r>
            <a:endParaRPr lang="en-US" sz="864" dirty="0"/>
          </a:p>
        </p:txBody>
      </p:sp>
      <p:sp>
        <p:nvSpPr>
          <p:cNvPr id="9" name="Text 6"/>
          <p:cNvSpPr/>
          <p:nvPr/>
        </p:nvSpPr>
        <p:spPr>
          <a:xfrm>
            <a:off x="8203945" y="990600"/>
            <a:ext cx="3263719"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Brecha vs. meta 3.000/mes</a:t>
            </a:r>
            <a:endParaRPr lang="en-US" sz="864" dirty="0"/>
          </a:p>
        </p:txBody>
      </p:sp>
      <p:sp>
        <p:nvSpPr>
          <p:cNvPr id="10" name="Text 7"/>
          <p:cNvSpPr/>
          <p:nvPr/>
        </p:nvSpPr>
        <p:spPr>
          <a:xfrm>
            <a:off x="723882" y="1951732"/>
            <a:ext cx="1751514" cy="1524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Pólizas vendidas vs. meta</a:t>
            </a:r>
            <a:endParaRPr lang="en-US" sz="1020" dirty="0"/>
          </a:p>
        </p:txBody>
      </p:sp>
      <p:sp>
        <p:nvSpPr>
          <p:cNvPr id="11" name="Text 8"/>
          <p:cNvSpPr/>
          <p:nvPr/>
        </p:nvSpPr>
        <p:spPr>
          <a:xfrm>
            <a:off x="6286343" y="4603046"/>
            <a:ext cx="5048124" cy="180975"/>
          </a:xfrm>
          <a:prstGeom prst="rect">
            <a:avLst/>
          </a:prstGeom>
          <a:noFill/>
          <a:ln/>
        </p:spPr>
        <p:txBody>
          <a:bodyPr wrap="none" lIns="0" tIns="0" rIns="0" bIns="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Combo Vida</a:t>
            </a:r>
            <a:endParaRPr lang="en-US" sz="936" dirty="0"/>
          </a:p>
        </p:txBody>
      </p:sp>
      <p:sp>
        <p:nvSpPr>
          <p:cNvPr id="12" name="Text 9"/>
          <p:cNvSpPr/>
          <p:nvPr/>
        </p:nvSpPr>
        <p:spPr>
          <a:xfrm>
            <a:off x="761981" y="1489770"/>
            <a:ext cx="3263719"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Cifra oficial ene–jun</a:t>
            </a:r>
            <a:endParaRPr lang="en-US" sz="864" dirty="0"/>
          </a:p>
        </p:txBody>
      </p:sp>
      <p:sp>
        <p:nvSpPr>
          <p:cNvPr id="13" name="Text 10"/>
          <p:cNvSpPr/>
          <p:nvPr/>
        </p:nvSpPr>
        <p:spPr>
          <a:xfrm>
            <a:off x="2458579" y="2177384"/>
            <a:ext cx="3007295" cy="228600"/>
          </a:xfrm>
          <a:prstGeom prst="rect">
            <a:avLst/>
          </a:prstGeom>
          <a:noFill/>
          <a:ln/>
        </p:spPr>
        <p:txBody>
          <a:bodyPr wrap="non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Cuota Protegida (CP)</a:t>
            </a:r>
            <a:endParaRPr lang="en-US" sz="888" dirty="0"/>
          </a:p>
        </p:txBody>
      </p:sp>
      <p:sp>
        <p:nvSpPr>
          <p:cNvPr id="14" name="Text 11"/>
          <p:cNvSpPr/>
          <p:nvPr/>
        </p:nvSpPr>
        <p:spPr>
          <a:xfrm>
            <a:off x="4482889" y="990600"/>
            <a:ext cx="3263868"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Asesores en equipo</a:t>
            </a:r>
            <a:endParaRPr lang="en-US" sz="864" dirty="0"/>
          </a:p>
        </p:txBody>
      </p:sp>
      <p:sp>
        <p:nvSpPr>
          <p:cNvPr id="15" name="Text 12"/>
          <p:cNvSpPr/>
          <p:nvPr/>
        </p:nvSpPr>
        <p:spPr>
          <a:xfrm>
            <a:off x="5465874" y="2177384"/>
            <a:ext cx="3007295" cy="228600"/>
          </a:xfrm>
          <a:prstGeom prst="rect">
            <a:avLst/>
          </a:prstGeom>
          <a:noFill/>
          <a:ln/>
        </p:spPr>
        <p:txBody>
          <a:bodyPr wrap="non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Combo Vida (VOL)</a:t>
            </a:r>
            <a:endParaRPr lang="en-US" sz="888" dirty="0"/>
          </a:p>
        </p:txBody>
      </p:sp>
      <p:sp>
        <p:nvSpPr>
          <p:cNvPr id="16" name="Text 13"/>
          <p:cNvSpPr/>
          <p:nvPr/>
        </p:nvSpPr>
        <p:spPr>
          <a:xfrm>
            <a:off x="10362941" y="209550"/>
            <a:ext cx="1257269"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Ventas</a:t>
            </a:r>
            <a:endParaRPr lang="en-US" sz="840" dirty="0"/>
          </a:p>
        </p:txBody>
      </p:sp>
      <p:sp>
        <p:nvSpPr>
          <p:cNvPr id="17" name="Text 14"/>
          <p:cNvSpPr/>
          <p:nvPr/>
        </p:nvSpPr>
        <p:spPr>
          <a:xfrm>
            <a:off x="4482889" y="1162050"/>
            <a:ext cx="3263868"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15 → 21 → 21</a:t>
            </a:r>
            <a:endParaRPr lang="en-US" sz="1600" dirty="0"/>
          </a:p>
        </p:txBody>
      </p:sp>
      <p:sp>
        <p:nvSpPr>
          <p:cNvPr id="18" name="Text 15"/>
          <p:cNvSpPr/>
          <p:nvPr/>
        </p:nvSpPr>
        <p:spPr>
          <a:xfrm>
            <a:off x="3980904" y="2405984"/>
            <a:ext cx="1484970"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9" name="Text 16"/>
          <p:cNvSpPr/>
          <p:nvPr/>
        </p:nvSpPr>
        <p:spPr>
          <a:xfrm>
            <a:off x="6988199" y="2405984"/>
            <a:ext cx="1484970"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20" name="Text 17"/>
          <p:cNvSpPr/>
          <p:nvPr/>
        </p:nvSpPr>
        <p:spPr>
          <a:xfrm>
            <a:off x="9995493" y="2405984"/>
            <a:ext cx="1472320"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21" name="Text 18"/>
          <p:cNvSpPr/>
          <p:nvPr/>
        </p:nvSpPr>
        <p:spPr>
          <a:xfrm>
            <a:off x="1391657" y="2177384"/>
            <a:ext cx="1066922" cy="4572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Asesores</a:t>
            </a:r>
            <a:endParaRPr lang="en-US" sz="888" dirty="0"/>
          </a:p>
        </p:txBody>
      </p:sp>
      <p:sp>
        <p:nvSpPr>
          <p:cNvPr id="22" name="Text 19"/>
          <p:cNvSpPr/>
          <p:nvPr/>
        </p:nvSpPr>
        <p:spPr>
          <a:xfrm>
            <a:off x="8473169" y="2177384"/>
            <a:ext cx="2994645" cy="228600"/>
          </a:xfrm>
          <a:prstGeom prst="rect">
            <a:avLst/>
          </a:prstGeom>
          <a:noFill/>
          <a:ln/>
        </p:spPr>
        <p:txBody>
          <a:bodyPr wrap="non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General</a:t>
            </a:r>
            <a:endParaRPr lang="en-US" sz="888" dirty="0"/>
          </a:p>
        </p:txBody>
      </p:sp>
      <p:sp>
        <p:nvSpPr>
          <p:cNvPr id="23" name="Text 20"/>
          <p:cNvSpPr/>
          <p:nvPr/>
        </p:nvSpPr>
        <p:spPr>
          <a:xfrm>
            <a:off x="4833965" y="2672684"/>
            <a:ext cx="508087"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141,0 %</a:t>
            </a:r>
            <a:endParaRPr lang="en-US" sz="816" dirty="0"/>
          </a:p>
        </p:txBody>
      </p:sp>
      <p:sp>
        <p:nvSpPr>
          <p:cNvPr id="24" name="Text 21"/>
          <p:cNvSpPr/>
          <p:nvPr/>
        </p:nvSpPr>
        <p:spPr>
          <a:xfrm>
            <a:off x="7842004" y="2672684"/>
            <a:ext cx="507342"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112,0 %</a:t>
            </a:r>
            <a:endParaRPr lang="en-US" sz="816" dirty="0"/>
          </a:p>
        </p:txBody>
      </p:sp>
      <p:sp>
        <p:nvSpPr>
          <p:cNvPr id="25" name="Text 22"/>
          <p:cNvSpPr/>
          <p:nvPr/>
        </p:nvSpPr>
        <p:spPr>
          <a:xfrm>
            <a:off x="10839625" y="2672684"/>
            <a:ext cx="513891"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132,0 %</a:t>
            </a:r>
            <a:endParaRPr lang="en-US" sz="816" dirty="0"/>
          </a:p>
        </p:txBody>
      </p:sp>
      <p:sp>
        <p:nvSpPr>
          <p:cNvPr id="26" name="Text 23"/>
          <p:cNvSpPr/>
          <p:nvPr/>
        </p:nvSpPr>
        <p:spPr>
          <a:xfrm>
            <a:off x="4828608" y="2920334"/>
            <a:ext cx="51344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152,0 %</a:t>
            </a:r>
            <a:endParaRPr lang="en-US" sz="816" dirty="0"/>
          </a:p>
        </p:txBody>
      </p:sp>
      <p:sp>
        <p:nvSpPr>
          <p:cNvPr id="27" name="Text 24"/>
          <p:cNvSpPr/>
          <p:nvPr/>
        </p:nvSpPr>
        <p:spPr>
          <a:xfrm>
            <a:off x="7818937" y="2920334"/>
            <a:ext cx="53041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286,0 %</a:t>
            </a:r>
            <a:endParaRPr lang="en-US" sz="816" dirty="0"/>
          </a:p>
        </p:txBody>
      </p:sp>
      <p:sp>
        <p:nvSpPr>
          <p:cNvPr id="28" name="Text 25"/>
          <p:cNvSpPr/>
          <p:nvPr/>
        </p:nvSpPr>
        <p:spPr>
          <a:xfrm>
            <a:off x="10846471" y="2920334"/>
            <a:ext cx="507045"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171,0 %</a:t>
            </a:r>
            <a:endParaRPr lang="en-US" sz="816" dirty="0"/>
          </a:p>
        </p:txBody>
      </p:sp>
      <p:sp>
        <p:nvSpPr>
          <p:cNvPr id="29" name="Text 26"/>
          <p:cNvSpPr/>
          <p:nvPr/>
        </p:nvSpPr>
        <p:spPr>
          <a:xfrm>
            <a:off x="4825929" y="3167984"/>
            <a:ext cx="516123"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159,0 %</a:t>
            </a:r>
            <a:endParaRPr lang="en-US" sz="816" dirty="0"/>
          </a:p>
        </p:txBody>
      </p:sp>
      <p:sp>
        <p:nvSpPr>
          <p:cNvPr id="30" name="Text 27"/>
          <p:cNvSpPr/>
          <p:nvPr/>
        </p:nvSpPr>
        <p:spPr>
          <a:xfrm>
            <a:off x="7834712" y="3167984"/>
            <a:ext cx="514635"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143,0 %</a:t>
            </a:r>
            <a:endParaRPr lang="en-US" sz="816" dirty="0"/>
          </a:p>
        </p:txBody>
      </p:sp>
      <p:sp>
        <p:nvSpPr>
          <p:cNvPr id="31" name="Text 28"/>
          <p:cNvSpPr/>
          <p:nvPr/>
        </p:nvSpPr>
        <p:spPr>
          <a:xfrm>
            <a:off x="10840965" y="3167984"/>
            <a:ext cx="512551"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155,0 %</a:t>
            </a:r>
            <a:endParaRPr lang="en-US" sz="816" dirty="0"/>
          </a:p>
        </p:txBody>
      </p:sp>
      <p:sp>
        <p:nvSpPr>
          <p:cNvPr id="32" name="Text 29"/>
          <p:cNvSpPr/>
          <p:nvPr/>
        </p:nvSpPr>
        <p:spPr>
          <a:xfrm>
            <a:off x="4828608" y="3415634"/>
            <a:ext cx="51344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152,0 %</a:t>
            </a:r>
            <a:endParaRPr lang="en-US" sz="816" dirty="0"/>
          </a:p>
        </p:txBody>
      </p:sp>
      <p:sp>
        <p:nvSpPr>
          <p:cNvPr id="33" name="Text 30"/>
          <p:cNvSpPr/>
          <p:nvPr/>
        </p:nvSpPr>
        <p:spPr>
          <a:xfrm>
            <a:off x="10834417" y="3415634"/>
            <a:ext cx="51910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130,0 %</a:t>
            </a:r>
            <a:endParaRPr lang="en-US" sz="816" dirty="0"/>
          </a:p>
        </p:txBody>
      </p:sp>
      <p:sp>
        <p:nvSpPr>
          <p:cNvPr id="34" name="Text 31"/>
          <p:cNvSpPr/>
          <p:nvPr/>
        </p:nvSpPr>
        <p:spPr>
          <a:xfrm>
            <a:off x="4833519" y="3663284"/>
            <a:ext cx="508533"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127,0 %</a:t>
            </a:r>
            <a:endParaRPr lang="en-US" sz="816" dirty="0"/>
          </a:p>
        </p:txBody>
      </p:sp>
      <p:sp>
        <p:nvSpPr>
          <p:cNvPr id="35" name="Text 32"/>
          <p:cNvSpPr/>
          <p:nvPr/>
        </p:nvSpPr>
        <p:spPr>
          <a:xfrm>
            <a:off x="7818192" y="3663284"/>
            <a:ext cx="53115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280,0 %</a:t>
            </a:r>
            <a:endParaRPr lang="en-US" sz="816" dirty="0"/>
          </a:p>
        </p:txBody>
      </p:sp>
      <p:sp>
        <p:nvSpPr>
          <p:cNvPr id="36" name="Text 33"/>
          <p:cNvSpPr/>
          <p:nvPr/>
        </p:nvSpPr>
        <p:spPr>
          <a:xfrm>
            <a:off x="10847216" y="3663284"/>
            <a:ext cx="506301"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151,0 %</a:t>
            </a:r>
            <a:endParaRPr lang="en-US" sz="816" dirty="0"/>
          </a:p>
        </p:txBody>
      </p:sp>
      <p:sp>
        <p:nvSpPr>
          <p:cNvPr id="37" name="Text 34"/>
          <p:cNvSpPr/>
          <p:nvPr/>
        </p:nvSpPr>
        <p:spPr>
          <a:xfrm>
            <a:off x="4833965" y="3910934"/>
            <a:ext cx="508087"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141,0 %</a:t>
            </a:r>
            <a:endParaRPr lang="en-US" sz="816" dirty="0"/>
          </a:p>
        </p:txBody>
      </p:sp>
      <p:sp>
        <p:nvSpPr>
          <p:cNvPr id="38" name="Text 35"/>
          <p:cNvSpPr/>
          <p:nvPr/>
        </p:nvSpPr>
        <p:spPr>
          <a:xfrm>
            <a:off x="7828015" y="3910934"/>
            <a:ext cx="521332"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198,0 %</a:t>
            </a:r>
            <a:endParaRPr lang="en-US" sz="816" dirty="0"/>
          </a:p>
        </p:txBody>
      </p:sp>
      <p:sp>
        <p:nvSpPr>
          <p:cNvPr id="39" name="Text 36"/>
          <p:cNvSpPr/>
          <p:nvPr/>
        </p:nvSpPr>
        <p:spPr>
          <a:xfrm>
            <a:off x="10840072" y="3910934"/>
            <a:ext cx="51344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152,0 %</a:t>
            </a:r>
            <a:endParaRPr lang="en-US" sz="816" dirty="0"/>
          </a:p>
        </p:txBody>
      </p:sp>
      <p:sp>
        <p:nvSpPr>
          <p:cNvPr id="40" name="Text 37"/>
          <p:cNvSpPr/>
          <p:nvPr/>
        </p:nvSpPr>
        <p:spPr>
          <a:xfrm>
            <a:off x="4827864" y="4158584"/>
            <a:ext cx="514188"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145,0 %</a:t>
            </a:r>
            <a:endParaRPr lang="en-US" sz="816" dirty="0"/>
          </a:p>
        </p:txBody>
      </p:sp>
      <p:sp>
        <p:nvSpPr>
          <p:cNvPr id="41" name="Text 38"/>
          <p:cNvSpPr/>
          <p:nvPr/>
        </p:nvSpPr>
        <p:spPr>
          <a:xfrm>
            <a:off x="7835158" y="4158584"/>
            <a:ext cx="514188"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154,0 %</a:t>
            </a:r>
            <a:endParaRPr lang="en-US" sz="816" dirty="0"/>
          </a:p>
        </p:txBody>
      </p:sp>
      <p:sp>
        <p:nvSpPr>
          <p:cNvPr id="42" name="Text 39"/>
          <p:cNvSpPr/>
          <p:nvPr/>
        </p:nvSpPr>
        <p:spPr>
          <a:xfrm>
            <a:off x="10844239" y="4158584"/>
            <a:ext cx="509277"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147,0 %</a:t>
            </a:r>
            <a:endParaRPr lang="en-US" sz="816" dirty="0"/>
          </a:p>
        </p:txBody>
      </p:sp>
      <p:sp>
        <p:nvSpPr>
          <p:cNvPr id="43" name="Text 40"/>
          <p:cNvSpPr/>
          <p:nvPr/>
        </p:nvSpPr>
        <p:spPr>
          <a:xfrm>
            <a:off x="761981" y="1162050"/>
            <a:ext cx="3263719"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13.917</a:t>
            </a:r>
            <a:endParaRPr lang="en-US" sz="1600" dirty="0"/>
          </a:p>
        </p:txBody>
      </p:sp>
      <p:sp>
        <p:nvSpPr>
          <p:cNvPr id="44" name="Text 41"/>
          <p:cNvSpPr/>
          <p:nvPr/>
        </p:nvSpPr>
        <p:spPr>
          <a:xfrm>
            <a:off x="7879210" y="3415634"/>
            <a:ext cx="470136"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89,0 %</a:t>
            </a:r>
            <a:endParaRPr lang="en-US" sz="816" dirty="0"/>
          </a:p>
        </p:txBody>
      </p:sp>
      <p:sp>
        <p:nvSpPr>
          <p:cNvPr id="45" name="Text 42"/>
          <p:cNvSpPr/>
          <p:nvPr/>
        </p:nvSpPr>
        <p:spPr>
          <a:xfrm>
            <a:off x="2458579" y="4115722"/>
            <a:ext cx="799634"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10.534</a:t>
            </a:r>
            <a:endParaRPr lang="en-US" sz="816" dirty="0"/>
          </a:p>
        </p:txBody>
      </p:sp>
      <p:sp>
        <p:nvSpPr>
          <p:cNvPr id="46" name="Text 43"/>
          <p:cNvSpPr/>
          <p:nvPr/>
        </p:nvSpPr>
        <p:spPr>
          <a:xfrm>
            <a:off x="8473169" y="4115722"/>
            <a:ext cx="799634"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13.917</a:t>
            </a:r>
            <a:endParaRPr lang="en-US" sz="816" dirty="0"/>
          </a:p>
        </p:txBody>
      </p:sp>
      <p:sp>
        <p:nvSpPr>
          <p:cNvPr id="47" name="Text 44"/>
          <p:cNvSpPr/>
          <p:nvPr/>
        </p:nvSpPr>
        <p:spPr>
          <a:xfrm>
            <a:off x="8203945" y="1162050"/>
            <a:ext cx="3263719"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+30 %</a:t>
            </a:r>
            <a:endParaRPr lang="en-US" sz="1600" dirty="0"/>
          </a:p>
        </p:txBody>
      </p:sp>
      <p:sp>
        <p:nvSpPr>
          <p:cNvPr id="48" name="Text 45"/>
          <p:cNvSpPr/>
          <p:nvPr/>
        </p:nvSpPr>
        <p:spPr>
          <a:xfrm>
            <a:off x="10378419" y="1908870"/>
            <a:ext cx="499901" cy="238125"/>
          </a:xfrm>
          <a:prstGeom prst="rect">
            <a:avLst/>
          </a:prstGeom>
          <a:noFill/>
          <a:ln/>
        </p:spPr>
        <p:txBody>
          <a:bodyPr wrap="none" lIns="0" tIns="0" rIns="0" bIns="0" rtlCol="0" anchor="t"/>
          <a:lstStyle/>
          <a:p>
            <a:pPr algn="ctr" indent="0" marL="0">
              <a:buNone/>
            </a:pPr>
            <a:r>
              <a:rPr lang="en-US" sz="816" b="1" dirty="0">
                <a:solidFill>
                  <a:srgbClr val="FFFFFF"/>
                </a:solidFill>
                <a:latin typeface="Raleway" pitchFamily="34" charset="0"/>
                <a:ea typeface="Raleway" pitchFamily="34" charset="-122"/>
                <a:cs typeface="Raleway" pitchFamily="34" charset="-120"/>
              </a:rPr>
              <a:t>Vanti</a:t>
            </a:r>
            <a:endParaRPr lang="en-US" sz="816" dirty="0"/>
          </a:p>
        </p:txBody>
      </p:sp>
      <p:sp>
        <p:nvSpPr>
          <p:cNvPr id="49" name="Text 46"/>
          <p:cNvSpPr/>
          <p:nvPr/>
        </p:nvSpPr>
        <p:spPr>
          <a:xfrm>
            <a:off x="2458579" y="2405984"/>
            <a:ext cx="799634"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0" name="Text 47"/>
          <p:cNvSpPr/>
          <p:nvPr/>
        </p:nvSpPr>
        <p:spPr>
          <a:xfrm>
            <a:off x="5465874" y="2405984"/>
            <a:ext cx="799634"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1" name="Text 48"/>
          <p:cNvSpPr/>
          <p:nvPr/>
        </p:nvSpPr>
        <p:spPr>
          <a:xfrm>
            <a:off x="8473169" y="2405984"/>
            <a:ext cx="799634"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2" name="Text 49"/>
          <p:cNvSpPr/>
          <p:nvPr/>
        </p:nvSpPr>
        <p:spPr>
          <a:xfrm>
            <a:off x="2458579" y="2634584"/>
            <a:ext cx="799634"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1.689</a:t>
            </a:r>
            <a:endParaRPr lang="en-US" sz="816" dirty="0"/>
          </a:p>
        </p:txBody>
      </p:sp>
      <p:sp>
        <p:nvSpPr>
          <p:cNvPr id="53" name="Text 50"/>
          <p:cNvSpPr/>
          <p:nvPr/>
        </p:nvSpPr>
        <p:spPr>
          <a:xfrm>
            <a:off x="3258213" y="2634584"/>
            <a:ext cx="722691"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54" name="Text 51"/>
          <p:cNvSpPr/>
          <p:nvPr/>
        </p:nvSpPr>
        <p:spPr>
          <a:xfrm>
            <a:off x="8473169" y="2634584"/>
            <a:ext cx="799634"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2.245</a:t>
            </a:r>
            <a:endParaRPr lang="en-US" sz="816" dirty="0"/>
          </a:p>
        </p:txBody>
      </p:sp>
      <p:sp>
        <p:nvSpPr>
          <p:cNvPr id="55" name="Text 52"/>
          <p:cNvSpPr/>
          <p:nvPr/>
        </p:nvSpPr>
        <p:spPr>
          <a:xfrm>
            <a:off x="9272802" y="2634584"/>
            <a:ext cx="722691"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1.695</a:t>
            </a:r>
            <a:endParaRPr lang="en-US" sz="816" dirty="0"/>
          </a:p>
        </p:txBody>
      </p:sp>
      <p:sp>
        <p:nvSpPr>
          <p:cNvPr id="56" name="Text 53"/>
          <p:cNvSpPr/>
          <p:nvPr/>
        </p:nvSpPr>
        <p:spPr>
          <a:xfrm>
            <a:off x="2458579" y="287747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1.819</a:t>
            </a:r>
            <a:endParaRPr lang="en-US" sz="816" dirty="0"/>
          </a:p>
        </p:txBody>
      </p:sp>
      <p:sp>
        <p:nvSpPr>
          <p:cNvPr id="57" name="Text 54"/>
          <p:cNvSpPr/>
          <p:nvPr/>
        </p:nvSpPr>
        <p:spPr>
          <a:xfrm>
            <a:off x="3258213" y="287747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58" name="Text 55"/>
          <p:cNvSpPr/>
          <p:nvPr/>
        </p:nvSpPr>
        <p:spPr>
          <a:xfrm>
            <a:off x="8473169" y="287747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2.374</a:t>
            </a:r>
            <a:endParaRPr lang="en-US" sz="816" dirty="0"/>
          </a:p>
        </p:txBody>
      </p:sp>
      <p:sp>
        <p:nvSpPr>
          <p:cNvPr id="59" name="Text 56"/>
          <p:cNvSpPr/>
          <p:nvPr/>
        </p:nvSpPr>
        <p:spPr>
          <a:xfrm>
            <a:off x="9272802" y="287747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1.391</a:t>
            </a:r>
            <a:endParaRPr lang="en-US" sz="816" dirty="0"/>
          </a:p>
        </p:txBody>
      </p:sp>
      <p:sp>
        <p:nvSpPr>
          <p:cNvPr id="60" name="Text 57"/>
          <p:cNvSpPr/>
          <p:nvPr/>
        </p:nvSpPr>
        <p:spPr>
          <a:xfrm>
            <a:off x="2458579" y="312512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1.901</a:t>
            </a:r>
            <a:endParaRPr lang="en-US" sz="816" dirty="0"/>
          </a:p>
        </p:txBody>
      </p:sp>
      <p:sp>
        <p:nvSpPr>
          <p:cNvPr id="61" name="Text 58"/>
          <p:cNvSpPr/>
          <p:nvPr/>
        </p:nvSpPr>
        <p:spPr>
          <a:xfrm>
            <a:off x="3258213" y="312512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62" name="Text 59"/>
          <p:cNvSpPr/>
          <p:nvPr/>
        </p:nvSpPr>
        <p:spPr>
          <a:xfrm>
            <a:off x="8473169" y="312512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2.431</a:t>
            </a:r>
            <a:endParaRPr lang="en-US" sz="816" dirty="0"/>
          </a:p>
        </p:txBody>
      </p:sp>
      <p:sp>
        <p:nvSpPr>
          <p:cNvPr id="63" name="Text 60"/>
          <p:cNvSpPr/>
          <p:nvPr/>
        </p:nvSpPr>
        <p:spPr>
          <a:xfrm>
            <a:off x="9272802" y="312512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4" name="Text 61"/>
          <p:cNvSpPr/>
          <p:nvPr/>
        </p:nvSpPr>
        <p:spPr>
          <a:xfrm>
            <a:off x="2458579" y="337277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1.816</a:t>
            </a:r>
            <a:endParaRPr lang="en-US" sz="816" dirty="0"/>
          </a:p>
        </p:txBody>
      </p:sp>
      <p:sp>
        <p:nvSpPr>
          <p:cNvPr id="65" name="Text 62"/>
          <p:cNvSpPr/>
          <p:nvPr/>
        </p:nvSpPr>
        <p:spPr>
          <a:xfrm>
            <a:off x="3258213" y="337277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66" name="Text 63"/>
          <p:cNvSpPr/>
          <p:nvPr/>
        </p:nvSpPr>
        <p:spPr>
          <a:xfrm>
            <a:off x="8473169" y="337277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2.367</a:t>
            </a:r>
            <a:endParaRPr lang="en-US" sz="816" dirty="0"/>
          </a:p>
        </p:txBody>
      </p:sp>
      <p:sp>
        <p:nvSpPr>
          <p:cNvPr id="67" name="Text 64"/>
          <p:cNvSpPr/>
          <p:nvPr/>
        </p:nvSpPr>
        <p:spPr>
          <a:xfrm>
            <a:off x="9272802" y="337277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1.818</a:t>
            </a:r>
            <a:endParaRPr lang="en-US" sz="816" dirty="0"/>
          </a:p>
        </p:txBody>
      </p:sp>
      <p:sp>
        <p:nvSpPr>
          <p:cNvPr id="68" name="Text 65"/>
          <p:cNvSpPr/>
          <p:nvPr/>
        </p:nvSpPr>
        <p:spPr>
          <a:xfrm>
            <a:off x="2458579" y="362042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9" name="Text 66"/>
          <p:cNvSpPr/>
          <p:nvPr/>
        </p:nvSpPr>
        <p:spPr>
          <a:xfrm>
            <a:off x="3258213" y="362042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1.231</a:t>
            </a:r>
            <a:endParaRPr lang="en-US" sz="816" dirty="0"/>
          </a:p>
        </p:txBody>
      </p:sp>
      <p:sp>
        <p:nvSpPr>
          <p:cNvPr id="70" name="Text 67"/>
          <p:cNvSpPr/>
          <p:nvPr/>
        </p:nvSpPr>
        <p:spPr>
          <a:xfrm>
            <a:off x="8473169" y="362042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2.186</a:t>
            </a:r>
            <a:endParaRPr lang="en-US" sz="816" dirty="0"/>
          </a:p>
        </p:txBody>
      </p:sp>
      <p:sp>
        <p:nvSpPr>
          <p:cNvPr id="71" name="Text 68"/>
          <p:cNvSpPr/>
          <p:nvPr/>
        </p:nvSpPr>
        <p:spPr>
          <a:xfrm>
            <a:off x="9272802" y="362042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1.452</a:t>
            </a:r>
            <a:endParaRPr lang="en-US" sz="816" dirty="0"/>
          </a:p>
        </p:txBody>
      </p:sp>
      <p:sp>
        <p:nvSpPr>
          <p:cNvPr id="72" name="Text 69"/>
          <p:cNvSpPr/>
          <p:nvPr/>
        </p:nvSpPr>
        <p:spPr>
          <a:xfrm>
            <a:off x="2458579" y="386807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1.741</a:t>
            </a:r>
            <a:endParaRPr lang="en-US" sz="816" dirty="0"/>
          </a:p>
        </p:txBody>
      </p:sp>
      <p:sp>
        <p:nvSpPr>
          <p:cNvPr id="73" name="Text 70"/>
          <p:cNvSpPr/>
          <p:nvPr/>
        </p:nvSpPr>
        <p:spPr>
          <a:xfrm>
            <a:off x="3258213" y="386807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1.231</a:t>
            </a:r>
            <a:endParaRPr lang="en-US" sz="816" dirty="0"/>
          </a:p>
        </p:txBody>
      </p:sp>
      <p:sp>
        <p:nvSpPr>
          <p:cNvPr id="74" name="Text 71"/>
          <p:cNvSpPr/>
          <p:nvPr/>
        </p:nvSpPr>
        <p:spPr>
          <a:xfrm>
            <a:off x="8473169" y="386807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2.314</a:t>
            </a:r>
            <a:endParaRPr lang="en-US" sz="816" dirty="0"/>
          </a:p>
        </p:txBody>
      </p:sp>
      <p:sp>
        <p:nvSpPr>
          <p:cNvPr id="75" name="Text 72"/>
          <p:cNvSpPr/>
          <p:nvPr/>
        </p:nvSpPr>
        <p:spPr>
          <a:xfrm>
            <a:off x="9272802" y="386807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1.520</a:t>
            </a:r>
            <a:endParaRPr lang="en-US" sz="816" dirty="0"/>
          </a:p>
        </p:txBody>
      </p:sp>
      <p:sp>
        <p:nvSpPr>
          <p:cNvPr id="76" name="Text 73"/>
          <p:cNvSpPr/>
          <p:nvPr/>
        </p:nvSpPr>
        <p:spPr>
          <a:xfrm>
            <a:off x="723882" y="4115722"/>
            <a:ext cx="667775" cy="242888"/>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Total</a:t>
            </a:r>
            <a:endParaRPr lang="en-US" sz="816" dirty="0"/>
          </a:p>
        </p:txBody>
      </p:sp>
      <p:sp>
        <p:nvSpPr>
          <p:cNvPr id="77" name="Text 74"/>
          <p:cNvSpPr/>
          <p:nvPr/>
        </p:nvSpPr>
        <p:spPr>
          <a:xfrm>
            <a:off x="3258213" y="4115722"/>
            <a:ext cx="722691"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7.250</a:t>
            </a:r>
            <a:endParaRPr lang="en-US" sz="816" dirty="0"/>
          </a:p>
        </p:txBody>
      </p:sp>
      <p:sp>
        <p:nvSpPr>
          <p:cNvPr id="78" name="Text 75"/>
          <p:cNvSpPr/>
          <p:nvPr/>
        </p:nvSpPr>
        <p:spPr>
          <a:xfrm>
            <a:off x="5465874" y="4115722"/>
            <a:ext cx="799634"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3.383</a:t>
            </a:r>
            <a:endParaRPr lang="en-US" sz="816" dirty="0"/>
          </a:p>
        </p:txBody>
      </p:sp>
      <p:sp>
        <p:nvSpPr>
          <p:cNvPr id="79" name="Text 76"/>
          <p:cNvSpPr/>
          <p:nvPr/>
        </p:nvSpPr>
        <p:spPr>
          <a:xfrm>
            <a:off x="6265507" y="4115722"/>
            <a:ext cx="722691"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2.194</a:t>
            </a:r>
            <a:endParaRPr lang="en-US" sz="816" dirty="0"/>
          </a:p>
        </p:txBody>
      </p:sp>
      <p:sp>
        <p:nvSpPr>
          <p:cNvPr id="80" name="Text 77"/>
          <p:cNvSpPr/>
          <p:nvPr/>
        </p:nvSpPr>
        <p:spPr>
          <a:xfrm>
            <a:off x="9272802" y="4115722"/>
            <a:ext cx="722691"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9.444</a:t>
            </a:r>
            <a:endParaRPr lang="en-US" sz="816" dirty="0"/>
          </a:p>
        </p:txBody>
      </p:sp>
      <p:sp>
        <p:nvSpPr>
          <p:cNvPr id="81" name="Text 78"/>
          <p:cNvSpPr/>
          <p:nvPr/>
        </p:nvSpPr>
        <p:spPr>
          <a:xfrm>
            <a:off x="10935468" y="1908870"/>
            <a:ext cx="532345" cy="238125"/>
          </a:xfrm>
          <a:prstGeom prst="rect">
            <a:avLst/>
          </a:prstGeom>
          <a:noFill/>
          <a:ln/>
        </p:spPr>
        <p:txBody>
          <a:bodyPr wrap="none" lIns="0" tIns="0" rIns="0" bIns="0" rtlCol="0" anchor="t"/>
          <a:lstStyle/>
          <a:p>
            <a:pPr algn="ctr" indent="0" marL="0">
              <a:buNone/>
            </a:pPr>
            <a:r>
              <a:rPr lang="en-US" sz="816" b="1" dirty="0">
                <a:solidFill>
                  <a:srgbClr val="9098B0"/>
                </a:solidFill>
                <a:latin typeface="Raleway" pitchFamily="34" charset="0"/>
                <a:ea typeface="Raleway" pitchFamily="34" charset="-122"/>
                <a:cs typeface="Raleway" pitchFamily="34" charset="-120"/>
              </a:rPr>
              <a:t>Xuma</a:t>
            </a:r>
            <a:endParaRPr lang="en-US" sz="816" dirty="0"/>
          </a:p>
        </p:txBody>
      </p:sp>
      <p:sp>
        <p:nvSpPr>
          <p:cNvPr id="82" name="Text 79"/>
          <p:cNvSpPr/>
          <p:nvPr/>
        </p:nvSpPr>
        <p:spPr>
          <a:xfrm>
            <a:off x="3258213" y="2405984"/>
            <a:ext cx="722691"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3" name="Text 80"/>
          <p:cNvSpPr/>
          <p:nvPr/>
        </p:nvSpPr>
        <p:spPr>
          <a:xfrm>
            <a:off x="6265507" y="2405984"/>
            <a:ext cx="722691"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4" name="Text 81"/>
          <p:cNvSpPr/>
          <p:nvPr/>
        </p:nvSpPr>
        <p:spPr>
          <a:xfrm>
            <a:off x="9272802" y="2405984"/>
            <a:ext cx="722691"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5" name="Text 82"/>
          <p:cNvSpPr/>
          <p:nvPr/>
        </p:nvSpPr>
        <p:spPr>
          <a:xfrm>
            <a:off x="723882" y="2177384"/>
            <a:ext cx="667775" cy="4572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6" name="Text 83"/>
          <p:cNvSpPr/>
          <p:nvPr/>
        </p:nvSpPr>
        <p:spPr>
          <a:xfrm>
            <a:off x="838179" y="2691734"/>
            <a:ext cx="186775"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87" name="Text 84"/>
          <p:cNvSpPr/>
          <p:nvPr/>
        </p:nvSpPr>
        <p:spPr>
          <a:xfrm>
            <a:off x="5465874" y="2634584"/>
            <a:ext cx="799634"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556</a:t>
            </a:r>
            <a:endParaRPr lang="en-US" sz="816" dirty="0"/>
          </a:p>
        </p:txBody>
      </p:sp>
      <p:sp>
        <p:nvSpPr>
          <p:cNvPr id="88" name="Text 85"/>
          <p:cNvSpPr/>
          <p:nvPr/>
        </p:nvSpPr>
        <p:spPr>
          <a:xfrm>
            <a:off x="6265507" y="2634584"/>
            <a:ext cx="722691"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498</a:t>
            </a:r>
            <a:endParaRPr lang="en-US" sz="816" dirty="0"/>
          </a:p>
        </p:txBody>
      </p:sp>
      <p:sp>
        <p:nvSpPr>
          <p:cNvPr id="89" name="Text 86"/>
          <p:cNvSpPr/>
          <p:nvPr/>
        </p:nvSpPr>
        <p:spPr>
          <a:xfrm>
            <a:off x="838179" y="2939384"/>
            <a:ext cx="184096"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90" name="Text 87"/>
          <p:cNvSpPr/>
          <p:nvPr/>
        </p:nvSpPr>
        <p:spPr>
          <a:xfrm>
            <a:off x="5465874" y="287747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555</a:t>
            </a:r>
            <a:endParaRPr lang="en-US" sz="816" dirty="0"/>
          </a:p>
        </p:txBody>
      </p:sp>
      <p:sp>
        <p:nvSpPr>
          <p:cNvPr id="91" name="Text 88"/>
          <p:cNvSpPr/>
          <p:nvPr/>
        </p:nvSpPr>
        <p:spPr>
          <a:xfrm>
            <a:off x="6265507" y="287747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194</a:t>
            </a:r>
            <a:endParaRPr lang="en-US" sz="816" dirty="0"/>
          </a:p>
        </p:txBody>
      </p:sp>
      <p:sp>
        <p:nvSpPr>
          <p:cNvPr id="92" name="Text 89"/>
          <p:cNvSpPr/>
          <p:nvPr/>
        </p:nvSpPr>
        <p:spPr>
          <a:xfrm>
            <a:off x="838179" y="3187034"/>
            <a:ext cx="188709"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93" name="Text 90"/>
          <p:cNvSpPr/>
          <p:nvPr/>
        </p:nvSpPr>
        <p:spPr>
          <a:xfrm>
            <a:off x="5465874" y="312512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530</a:t>
            </a:r>
            <a:endParaRPr lang="en-US" sz="816" dirty="0"/>
          </a:p>
        </p:txBody>
      </p:sp>
      <p:sp>
        <p:nvSpPr>
          <p:cNvPr id="94" name="Text 91"/>
          <p:cNvSpPr/>
          <p:nvPr/>
        </p:nvSpPr>
        <p:spPr>
          <a:xfrm>
            <a:off x="6265507" y="312512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371</a:t>
            </a:r>
            <a:endParaRPr lang="en-US" sz="816" dirty="0"/>
          </a:p>
        </p:txBody>
      </p:sp>
      <p:sp>
        <p:nvSpPr>
          <p:cNvPr id="95" name="Text 92"/>
          <p:cNvSpPr/>
          <p:nvPr/>
        </p:nvSpPr>
        <p:spPr>
          <a:xfrm>
            <a:off x="838179" y="3434684"/>
            <a:ext cx="182880"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96" name="Text 93"/>
          <p:cNvSpPr/>
          <p:nvPr/>
        </p:nvSpPr>
        <p:spPr>
          <a:xfrm>
            <a:off x="5465874" y="337277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551</a:t>
            </a:r>
            <a:endParaRPr lang="en-US" sz="816" dirty="0"/>
          </a:p>
        </p:txBody>
      </p:sp>
      <p:sp>
        <p:nvSpPr>
          <p:cNvPr id="97" name="Text 94"/>
          <p:cNvSpPr/>
          <p:nvPr/>
        </p:nvSpPr>
        <p:spPr>
          <a:xfrm>
            <a:off x="6265507" y="337277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621</a:t>
            </a:r>
            <a:endParaRPr lang="en-US" sz="816" dirty="0"/>
          </a:p>
        </p:txBody>
      </p:sp>
      <p:sp>
        <p:nvSpPr>
          <p:cNvPr id="98" name="Text 95"/>
          <p:cNvSpPr/>
          <p:nvPr/>
        </p:nvSpPr>
        <p:spPr>
          <a:xfrm>
            <a:off x="838179" y="3682334"/>
            <a:ext cx="203443"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99" name="Text 96"/>
          <p:cNvSpPr/>
          <p:nvPr/>
        </p:nvSpPr>
        <p:spPr>
          <a:xfrm>
            <a:off x="5465874" y="362042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618</a:t>
            </a:r>
            <a:endParaRPr lang="en-US" sz="816" dirty="0"/>
          </a:p>
        </p:txBody>
      </p:sp>
      <p:sp>
        <p:nvSpPr>
          <p:cNvPr id="100" name="Text 97"/>
          <p:cNvSpPr/>
          <p:nvPr/>
        </p:nvSpPr>
        <p:spPr>
          <a:xfrm>
            <a:off x="6265507" y="362042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221</a:t>
            </a:r>
            <a:endParaRPr lang="en-US" sz="816" dirty="0"/>
          </a:p>
        </p:txBody>
      </p:sp>
      <p:sp>
        <p:nvSpPr>
          <p:cNvPr id="101" name="Text 98"/>
          <p:cNvSpPr/>
          <p:nvPr/>
        </p:nvSpPr>
        <p:spPr>
          <a:xfrm>
            <a:off x="838179" y="3929984"/>
            <a:ext cx="182880"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102" name="Text 99"/>
          <p:cNvSpPr/>
          <p:nvPr/>
        </p:nvSpPr>
        <p:spPr>
          <a:xfrm>
            <a:off x="5465874" y="3868072"/>
            <a:ext cx="799634"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573</a:t>
            </a:r>
            <a:endParaRPr lang="en-US" sz="816" dirty="0"/>
          </a:p>
        </p:txBody>
      </p:sp>
      <p:sp>
        <p:nvSpPr>
          <p:cNvPr id="103" name="Text 100"/>
          <p:cNvSpPr/>
          <p:nvPr/>
        </p:nvSpPr>
        <p:spPr>
          <a:xfrm>
            <a:off x="6265507" y="3868072"/>
            <a:ext cx="722691"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289</a:t>
            </a:r>
            <a:endParaRPr lang="en-US" sz="816" dirty="0"/>
          </a:p>
        </p:txBody>
      </p:sp>
      <p:sp>
        <p:nvSpPr>
          <p:cNvPr id="104" name="Text 101"/>
          <p:cNvSpPr/>
          <p:nvPr/>
        </p:nvSpPr>
        <p:spPr>
          <a:xfrm>
            <a:off x="1391657" y="2634584"/>
            <a:ext cx="1066922"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15</a:t>
            </a:r>
            <a:endParaRPr lang="en-US" sz="816" dirty="0"/>
          </a:p>
        </p:txBody>
      </p:sp>
      <p:sp>
        <p:nvSpPr>
          <p:cNvPr id="105" name="Text 102"/>
          <p:cNvSpPr/>
          <p:nvPr/>
        </p:nvSpPr>
        <p:spPr>
          <a:xfrm>
            <a:off x="1391657" y="2877472"/>
            <a:ext cx="10669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17</a:t>
            </a:r>
            <a:endParaRPr lang="en-US" sz="816" dirty="0"/>
          </a:p>
        </p:txBody>
      </p:sp>
      <p:sp>
        <p:nvSpPr>
          <p:cNvPr id="106" name="Text 103"/>
          <p:cNvSpPr/>
          <p:nvPr/>
        </p:nvSpPr>
        <p:spPr>
          <a:xfrm>
            <a:off x="1391657" y="3125122"/>
            <a:ext cx="10669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18</a:t>
            </a:r>
            <a:endParaRPr lang="en-US" sz="816" dirty="0"/>
          </a:p>
        </p:txBody>
      </p:sp>
      <p:sp>
        <p:nvSpPr>
          <p:cNvPr id="107" name="Text 104"/>
          <p:cNvSpPr/>
          <p:nvPr/>
        </p:nvSpPr>
        <p:spPr>
          <a:xfrm>
            <a:off x="1391657" y="3372772"/>
            <a:ext cx="10669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08" name="Text 105"/>
          <p:cNvSpPr/>
          <p:nvPr/>
        </p:nvSpPr>
        <p:spPr>
          <a:xfrm>
            <a:off x="1391657" y="3620422"/>
            <a:ext cx="10669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09" name="Text 106"/>
          <p:cNvSpPr/>
          <p:nvPr/>
        </p:nvSpPr>
        <p:spPr>
          <a:xfrm>
            <a:off x="1391657" y="3868072"/>
            <a:ext cx="10669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21</a:t>
            </a:r>
            <a:endParaRPr lang="en-US" sz="816" dirty="0"/>
          </a:p>
        </p:txBody>
      </p:sp>
      <p:sp>
        <p:nvSpPr>
          <p:cNvPr id="110" name="Text 107"/>
          <p:cNvSpPr/>
          <p:nvPr/>
        </p:nvSpPr>
        <p:spPr>
          <a:xfrm>
            <a:off x="1391657" y="4115722"/>
            <a:ext cx="1066922"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19</a:t>
            </a:r>
            <a:endParaRPr lang="en-US" sz="816"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01_Repositorios\13_Presentaciones\dash\televentas\ppt_slides\sk_02_Xu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5452170"/>
            <a:ext cx="8916368" cy="164455"/>
          </a:xfrm>
          <a:prstGeom prst="rect">
            <a:avLst/>
          </a:prstGeom>
          <a:noFill/>
          <a:ln/>
        </p:spPr>
        <p:txBody>
          <a:bodyPr wrap="non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en el semestre —  de la meta general, con 3 de 6 meses sobre la meta. Cuota Protegida aportó 10.534 (90 %) y Combo Vida 3.383 (116 %).</a:t>
            </a:r>
            <a:endParaRPr lang="en-US" sz="864" dirty="0"/>
          </a:p>
        </p:txBody>
      </p:sp>
      <p:sp>
        <p:nvSpPr>
          <p:cNvPr id="4" name="Text 1"/>
          <p:cNvSpPr/>
          <p:nvPr/>
        </p:nvSpPr>
        <p:spPr>
          <a:xfrm>
            <a:off x="8203945" y="1489770"/>
            <a:ext cx="3263719"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Crecimiento necesario sobre junio (2.314) · mejor mes: 2.431</a:t>
            </a:r>
            <a:endParaRPr lang="en-US" sz="864" dirty="0"/>
          </a:p>
        </p:txBody>
      </p:sp>
      <p:sp>
        <p:nvSpPr>
          <p:cNvPr id="5" name="Text 2"/>
          <p:cNvSpPr/>
          <p:nvPr/>
        </p:nvSpPr>
        <p:spPr>
          <a:xfrm>
            <a:off x="1213514" y="219075"/>
            <a:ext cx="3731623"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6" name="Text 3"/>
          <p:cNvSpPr/>
          <p:nvPr/>
        </p:nvSpPr>
        <p:spPr>
          <a:xfrm>
            <a:off x="761981" y="990600"/>
            <a:ext cx="3263719"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Pólizas liquidadas (1S completo)</a:t>
            </a:r>
            <a:endParaRPr lang="en-US" sz="864" dirty="0"/>
          </a:p>
        </p:txBody>
      </p:sp>
      <p:sp>
        <p:nvSpPr>
          <p:cNvPr id="7" name="Text 4"/>
          <p:cNvSpPr/>
          <p:nvPr/>
        </p:nvSpPr>
        <p:spPr>
          <a:xfrm>
            <a:off x="857229" y="4543510"/>
            <a:ext cx="5048124" cy="180975"/>
          </a:xfrm>
          <a:prstGeom prst="rect">
            <a:avLst/>
          </a:prstGeom>
          <a:noFill/>
          <a:ln/>
        </p:spPr>
        <p:txBody>
          <a:bodyPr wrap="none" lIns="0" tIns="0" rIns="0" bIns="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Cuota Protegida</a:t>
            </a:r>
            <a:endParaRPr lang="en-US" sz="936" dirty="0"/>
          </a:p>
        </p:txBody>
      </p:sp>
      <p:sp>
        <p:nvSpPr>
          <p:cNvPr id="8" name="Text 5"/>
          <p:cNvSpPr/>
          <p:nvPr/>
        </p:nvSpPr>
        <p:spPr>
          <a:xfrm>
            <a:off x="4482889" y="1489770"/>
            <a:ext cx="3263868"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Ene · Pico (abr–may) · Jun</a:t>
            </a:r>
            <a:endParaRPr lang="en-US" sz="864" dirty="0"/>
          </a:p>
        </p:txBody>
      </p:sp>
      <p:sp>
        <p:nvSpPr>
          <p:cNvPr id="9" name="Text 6"/>
          <p:cNvSpPr/>
          <p:nvPr/>
        </p:nvSpPr>
        <p:spPr>
          <a:xfrm>
            <a:off x="8203945" y="990600"/>
            <a:ext cx="3263719"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Brecha vs. meta 3.000/mes</a:t>
            </a:r>
            <a:endParaRPr lang="en-US" sz="864" dirty="0"/>
          </a:p>
        </p:txBody>
      </p:sp>
      <p:sp>
        <p:nvSpPr>
          <p:cNvPr id="10" name="Text 7"/>
          <p:cNvSpPr/>
          <p:nvPr/>
        </p:nvSpPr>
        <p:spPr>
          <a:xfrm>
            <a:off x="723882" y="1951732"/>
            <a:ext cx="1751514" cy="1524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Pólizas vendidas vs. meta</a:t>
            </a:r>
            <a:endParaRPr lang="en-US" sz="1020" dirty="0"/>
          </a:p>
        </p:txBody>
      </p:sp>
      <p:sp>
        <p:nvSpPr>
          <p:cNvPr id="11" name="Text 8"/>
          <p:cNvSpPr/>
          <p:nvPr/>
        </p:nvSpPr>
        <p:spPr>
          <a:xfrm>
            <a:off x="6286343" y="4603053"/>
            <a:ext cx="5048124" cy="180975"/>
          </a:xfrm>
          <a:prstGeom prst="rect">
            <a:avLst/>
          </a:prstGeom>
          <a:noFill/>
          <a:ln/>
        </p:spPr>
        <p:txBody>
          <a:bodyPr wrap="none" lIns="0" tIns="0" rIns="0" bIns="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Combo Vida</a:t>
            </a:r>
            <a:endParaRPr lang="en-US" sz="936" dirty="0"/>
          </a:p>
        </p:txBody>
      </p:sp>
      <p:sp>
        <p:nvSpPr>
          <p:cNvPr id="12" name="Text 9"/>
          <p:cNvSpPr/>
          <p:nvPr/>
        </p:nvSpPr>
        <p:spPr>
          <a:xfrm>
            <a:off x="761981" y="1489770"/>
            <a:ext cx="3263719"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Cifra oficial ene–jun</a:t>
            </a:r>
            <a:endParaRPr lang="en-US" sz="864" dirty="0"/>
          </a:p>
        </p:txBody>
      </p:sp>
      <p:sp>
        <p:nvSpPr>
          <p:cNvPr id="13" name="Text 10"/>
          <p:cNvSpPr/>
          <p:nvPr/>
        </p:nvSpPr>
        <p:spPr>
          <a:xfrm>
            <a:off x="2449352" y="2177385"/>
            <a:ext cx="3018457" cy="228600"/>
          </a:xfrm>
          <a:prstGeom prst="rect">
            <a:avLst/>
          </a:prstGeom>
          <a:noFill/>
          <a:ln/>
        </p:spPr>
        <p:txBody>
          <a:bodyPr wrap="non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Cuota Protegida (CP)</a:t>
            </a:r>
            <a:endParaRPr lang="en-US" sz="888" dirty="0"/>
          </a:p>
        </p:txBody>
      </p:sp>
      <p:sp>
        <p:nvSpPr>
          <p:cNvPr id="14" name="Text 11"/>
          <p:cNvSpPr/>
          <p:nvPr/>
        </p:nvSpPr>
        <p:spPr>
          <a:xfrm>
            <a:off x="4482889" y="990600"/>
            <a:ext cx="3263868"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Asesores en equipo</a:t>
            </a:r>
            <a:endParaRPr lang="en-US" sz="864" dirty="0"/>
          </a:p>
        </p:txBody>
      </p:sp>
      <p:sp>
        <p:nvSpPr>
          <p:cNvPr id="15" name="Text 12"/>
          <p:cNvSpPr/>
          <p:nvPr/>
        </p:nvSpPr>
        <p:spPr>
          <a:xfrm>
            <a:off x="5467809" y="2177385"/>
            <a:ext cx="2991073" cy="228600"/>
          </a:xfrm>
          <a:prstGeom prst="rect">
            <a:avLst/>
          </a:prstGeom>
          <a:noFill/>
          <a:ln/>
        </p:spPr>
        <p:txBody>
          <a:bodyPr wrap="non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Combo Vida (VOL)</a:t>
            </a:r>
            <a:endParaRPr lang="en-US" sz="888" dirty="0"/>
          </a:p>
        </p:txBody>
      </p:sp>
      <p:sp>
        <p:nvSpPr>
          <p:cNvPr id="16" name="Text 13"/>
          <p:cNvSpPr/>
          <p:nvPr/>
        </p:nvSpPr>
        <p:spPr>
          <a:xfrm>
            <a:off x="10362941" y="209550"/>
            <a:ext cx="1257269"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Ventas</a:t>
            </a:r>
            <a:endParaRPr lang="en-US" sz="840" dirty="0"/>
          </a:p>
        </p:txBody>
      </p:sp>
      <p:sp>
        <p:nvSpPr>
          <p:cNvPr id="17" name="Text 14"/>
          <p:cNvSpPr/>
          <p:nvPr/>
        </p:nvSpPr>
        <p:spPr>
          <a:xfrm>
            <a:off x="4482889" y="1162050"/>
            <a:ext cx="3263868"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15 → 21 → 21</a:t>
            </a:r>
            <a:endParaRPr lang="en-US" sz="1600" dirty="0"/>
          </a:p>
        </p:txBody>
      </p:sp>
      <p:sp>
        <p:nvSpPr>
          <p:cNvPr id="18" name="Text 15"/>
          <p:cNvSpPr/>
          <p:nvPr/>
        </p:nvSpPr>
        <p:spPr>
          <a:xfrm>
            <a:off x="3990875" y="2405985"/>
            <a:ext cx="1476933"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9" name="Text 16"/>
          <p:cNvSpPr/>
          <p:nvPr/>
        </p:nvSpPr>
        <p:spPr>
          <a:xfrm>
            <a:off x="6981948" y="2405985"/>
            <a:ext cx="1476933"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20" name="Text 17"/>
          <p:cNvSpPr/>
          <p:nvPr/>
        </p:nvSpPr>
        <p:spPr>
          <a:xfrm>
            <a:off x="10003232" y="2405985"/>
            <a:ext cx="1464581"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21" name="Text 18"/>
          <p:cNvSpPr/>
          <p:nvPr/>
        </p:nvSpPr>
        <p:spPr>
          <a:xfrm>
            <a:off x="1388085" y="2177385"/>
            <a:ext cx="1061267" cy="4572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Asesores</a:t>
            </a:r>
            <a:endParaRPr lang="en-US" sz="888" dirty="0"/>
          </a:p>
        </p:txBody>
      </p:sp>
      <p:sp>
        <p:nvSpPr>
          <p:cNvPr id="22" name="Text 19"/>
          <p:cNvSpPr/>
          <p:nvPr/>
        </p:nvSpPr>
        <p:spPr>
          <a:xfrm>
            <a:off x="8458881" y="2177385"/>
            <a:ext cx="3008932" cy="228600"/>
          </a:xfrm>
          <a:prstGeom prst="rect">
            <a:avLst/>
          </a:prstGeom>
          <a:noFill/>
          <a:ln/>
        </p:spPr>
        <p:txBody>
          <a:bodyPr wrap="non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General</a:t>
            </a:r>
            <a:endParaRPr lang="en-US" sz="888" dirty="0"/>
          </a:p>
        </p:txBody>
      </p:sp>
      <p:sp>
        <p:nvSpPr>
          <p:cNvPr id="23" name="Text 20"/>
          <p:cNvSpPr/>
          <p:nvPr/>
        </p:nvSpPr>
        <p:spPr>
          <a:xfrm>
            <a:off x="7815960" y="2672685"/>
            <a:ext cx="51910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130,0 %</a:t>
            </a:r>
            <a:endParaRPr lang="en-US" sz="816" dirty="0"/>
          </a:p>
        </p:txBody>
      </p:sp>
      <p:sp>
        <p:nvSpPr>
          <p:cNvPr id="24" name="Text 21"/>
          <p:cNvSpPr/>
          <p:nvPr/>
        </p:nvSpPr>
        <p:spPr>
          <a:xfrm>
            <a:off x="10834863" y="2672685"/>
            <a:ext cx="518653"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105,0 %</a:t>
            </a:r>
            <a:endParaRPr lang="en-US" sz="816" dirty="0"/>
          </a:p>
        </p:txBody>
      </p:sp>
      <p:sp>
        <p:nvSpPr>
          <p:cNvPr id="25" name="Text 22"/>
          <p:cNvSpPr/>
          <p:nvPr/>
        </p:nvSpPr>
        <p:spPr>
          <a:xfrm>
            <a:off x="4821613" y="2920335"/>
            <a:ext cx="52237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109,0 %</a:t>
            </a:r>
            <a:endParaRPr lang="en-US" sz="816" dirty="0"/>
          </a:p>
        </p:txBody>
      </p:sp>
      <p:sp>
        <p:nvSpPr>
          <p:cNvPr id="26" name="Text 23"/>
          <p:cNvSpPr/>
          <p:nvPr/>
        </p:nvSpPr>
        <p:spPr>
          <a:xfrm>
            <a:off x="7835010" y="2920335"/>
            <a:ext cx="50005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111,0 %</a:t>
            </a:r>
            <a:endParaRPr lang="en-US" sz="816" dirty="0"/>
          </a:p>
        </p:txBody>
      </p:sp>
      <p:sp>
        <p:nvSpPr>
          <p:cNvPr id="27" name="Text 24"/>
          <p:cNvSpPr/>
          <p:nvPr/>
        </p:nvSpPr>
        <p:spPr>
          <a:xfrm>
            <a:off x="10831142" y="2920335"/>
            <a:ext cx="52237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109,0 %</a:t>
            </a:r>
            <a:endParaRPr lang="en-US" sz="816" dirty="0"/>
          </a:p>
        </p:txBody>
      </p:sp>
      <p:sp>
        <p:nvSpPr>
          <p:cNvPr id="28" name="Text 25"/>
          <p:cNvSpPr/>
          <p:nvPr/>
        </p:nvSpPr>
        <p:spPr>
          <a:xfrm>
            <a:off x="4835900" y="3167985"/>
            <a:ext cx="508087"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114,0 %</a:t>
            </a:r>
            <a:endParaRPr lang="en-US" sz="816" dirty="0"/>
          </a:p>
        </p:txBody>
      </p:sp>
      <p:sp>
        <p:nvSpPr>
          <p:cNvPr id="29" name="Text 26"/>
          <p:cNvSpPr/>
          <p:nvPr/>
        </p:nvSpPr>
        <p:spPr>
          <a:xfrm>
            <a:off x="7810900" y="3167985"/>
            <a:ext cx="52416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106,0 %</a:t>
            </a:r>
            <a:endParaRPr lang="en-US" sz="816" dirty="0"/>
          </a:p>
        </p:txBody>
      </p:sp>
      <p:sp>
        <p:nvSpPr>
          <p:cNvPr id="30" name="Text 27"/>
          <p:cNvSpPr/>
          <p:nvPr/>
        </p:nvSpPr>
        <p:spPr>
          <a:xfrm>
            <a:off x="10846174" y="3167985"/>
            <a:ext cx="507342"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112,0 %</a:t>
            </a:r>
            <a:endParaRPr lang="en-US" sz="816" dirty="0"/>
          </a:p>
        </p:txBody>
      </p:sp>
      <p:sp>
        <p:nvSpPr>
          <p:cNvPr id="31" name="Text 28"/>
          <p:cNvSpPr/>
          <p:nvPr/>
        </p:nvSpPr>
        <p:spPr>
          <a:xfrm>
            <a:off x="7822508" y="3415635"/>
            <a:ext cx="512551"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110,0 %</a:t>
            </a:r>
            <a:endParaRPr lang="en-US" sz="816" dirty="0"/>
          </a:p>
        </p:txBody>
      </p:sp>
      <p:sp>
        <p:nvSpPr>
          <p:cNvPr id="32" name="Text 29"/>
          <p:cNvSpPr/>
          <p:nvPr/>
        </p:nvSpPr>
        <p:spPr>
          <a:xfrm>
            <a:off x="7819829" y="3663285"/>
            <a:ext cx="51523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124,0 %</a:t>
            </a:r>
            <a:endParaRPr lang="en-US" sz="816" dirty="0"/>
          </a:p>
        </p:txBody>
      </p:sp>
      <p:sp>
        <p:nvSpPr>
          <p:cNvPr id="33" name="Text 30"/>
          <p:cNvSpPr/>
          <p:nvPr/>
        </p:nvSpPr>
        <p:spPr>
          <a:xfrm>
            <a:off x="7828759" y="3910935"/>
            <a:ext cx="506301"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115,0 %</a:t>
            </a:r>
            <a:endParaRPr lang="en-US" sz="816" dirty="0"/>
          </a:p>
        </p:txBody>
      </p:sp>
      <p:sp>
        <p:nvSpPr>
          <p:cNvPr id="34" name="Text 31"/>
          <p:cNvSpPr/>
          <p:nvPr/>
        </p:nvSpPr>
        <p:spPr>
          <a:xfrm>
            <a:off x="7823252" y="4158585"/>
            <a:ext cx="511807"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116,0 %</a:t>
            </a:r>
            <a:endParaRPr lang="en-US" sz="816" dirty="0"/>
          </a:p>
        </p:txBody>
      </p:sp>
      <p:sp>
        <p:nvSpPr>
          <p:cNvPr id="35" name="Text 32"/>
          <p:cNvSpPr/>
          <p:nvPr/>
        </p:nvSpPr>
        <p:spPr>
          <a:xfrm>
            <a:off x="761981" y="1162050"/>
            <a:ext cx="3263719"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13.917</a:t>
            </a:r>
            <a:endParaRPr lang="en-US" sz="1600" dirty="0"/>
          </a:p>
        </p:txBody>
      </p:sp>
      <p:sp>
        <p:nvSpPr>
          <p:cNvPr id="36" name="Text 33"/>
          <p:cNvSpPr/>
          <p:nvPr/>
        </p:nvSpPr>
        <p:spPr>
          <a:xfrm>
            <a:off x="4875487" y="2672685"/>
            <a:ext cx="468499"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99,0 %</a:t>
            </a:r>
            <a:endParaRPr lang="en-US" sz="816" dirty="0"/>
          </a:p>
        </p:txBody>
      </p:sp>
      <p:sp>
        <p:nvSpPr>
          <p:cNvPr id="37" name="Text 34"/>
          <p:cNvSpPr/>
          <p:nvPr/>
        </p:nvSpPr>
        <p:spPr>
          <a:xfrm>
            <a:off x="4881589" y="3415635"/>
            <a:ext cx="462397"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73,0 %</a:t>
            </a:r>
            <a:endParaRPr lang="en-US" sz="816" dirty="0"/>
          </a:p>
        </p:txBody>
      </p:sp>
      <p:sp>
        <p:nvSpPr>
          <p:cNvPr id="38" name="Text 35"/>
          <p:cNvSpPr/>
          <p:nvPr/>
        </p:nvSpPr>
        <p:spPr>
          <a:xfrm>
            <a:off x="10887845" y="3415635"/>
            <a:ext cx="465672"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79,0 %</a:t>
            </a:r>
            <a:endParaRPr lang="en-US" sz="816" dirty="0"/>
          </a:p>
        </p:txBody>
      </p:sp>
      <p:sp>
        <p:nvSpPr>
          <p:cNvPr id="39" name="Text 36"/>
          <p:cNvSpPr/>
          <p:nvPr/>
        </p:nvSpPr>
        <p:spPr>
          <a:xfrm>
            <a:off x="4883375" y="3663285"/>
            <a:ext cx="460612"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75,0 %</a:t>
            </a:r>
            <a:endParaRPr lang="en-US" sz="816" dirty="0"/>
          </a:p>
        </p:txBody>
      </p:sp>
      <p:sp>
        <p:nvSpPr>
          <p:cNvPr id="40" name="Text 37"/>
          <p:cNvSpPr/>
          <p:nvPr/>
        </p:nvSpPr>
        <p:spPr>
          <a:xfrm>
            <a:off x="10885315" y="3663285"/>
            <a:ext cx="468202"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84,0 %</a:t>
            </a:r>
            <a:endParaRPr lang="en-US" sz="816" dirty="0"/>
          </a:p>
        </p:txBody>
      </p:sp>
      <p:sp>
        <p:nvSpPr>
          <p:cNvPr id="41" name="Text 38"/>
          <p:cNvSpPr/>
          <p:nvPr/>
        </p:nvSpPr>
        <p:spPr>
          <a:xfrm>
            <a:off x="4882482" y="3910935"/>
            <a:ext cx="461504"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87,0 %</a:t>
            </a:r>
            <a:endParaRPr lang="en-US" sz="816" dirty="0"/>
          </a:p>
        </p:txBody>
      </p:sp>
      <p:sp>
        <p:nvSpPr>
          <p:cNvPr id="42" name="Text 39"/>
          <p:cNvSpPr/>
          <p:nvPr/>
        </p:nvSpPr>
        <p:spPr>
          <a:xfrm>
            <a:off x="10888142" y="3910935"/>
            <a:ext cx="465374"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93,0 %</a:t>
            </a:r>
            <a:endParaRPr lang="en-US" sz="816" dirty="0"/>
          </a:p>
        </p:txBody>
      </p:sp>
      <p:sp>
        <p:nvSpPr>
          <p:cNvPr id="43" name="Text 40"/>
          <p:cNvSpPr/>
          <p:nvPr/>
        </p:nvSpPr>
        <p:spPr>
          <a:xfrm>
            <a:off x="2449352" y="4115723"/>
            <a:ext cx="795318"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10.534</a:t>
            </a:r>
            <a:endParaRPr lang="en-US" sz="816" dirty="0"/>
          </a:p>
        </p:txBody>
      </p:sp>
      <p:sp>
        <p:nvSpPr>
          <p:cNvPr id="44" name="Text 41"/>
          <p:cNvSpPr/>
          <p:nvPr/>
        </p:nvSpPr>
        <p:spPr>
          <a:xfrm>
            <a:off x="3244670" y="4115723"/>
            <a:ext cx="746206"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11.643</a:t>
            </a:r>
            <a:endParaRPr lang="en-US" sz="816" dirty="0"/>
          </a:p>
        </p:txBody>
      </p:sp>
      <p:sp>
        <p:nvSpPr>
          <p:cNvPr id="45" name="Text 42"/>
          <p:cNvSpPr/>
          <p:nvPr/>
        </p:nvSpPr>
        <p:spPr>
          <a:xfrm>
            <a:off x="4872809" y="4158585"/>
            <a:ext cx="471178"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90,0 %</a:t>
            </a:r>
            <a:endParaRPr lang="en-US" sz="816" dirty="0"/>
          </a:p>
        </p:txBody>
      </p:sp>
      <p:sp>
        <p:nvSpPr>
          <p:cNvPr id="46" name="Text 43"/>
          <p:cNvSpPr/>
          <p:nvPr/>
        </p:nvSpPr>
        <p:spPr>
          <a:xfrm>
            <a:off x="8458881" y="4115723"/>
            <a:ext cx="795318"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13.917</a:t>
            </a:r>
            <a:endParaRPr lang="en-US" sz="816" dirty="0"/>
          </a:p>
        </p:txBody>
      </p:sp>
      <p:sp>
        <p:nvSpPr>
          <p:cNvPr id="47" name="Text 44"/>
          <p:cNvSpPr/>
          <p:nvPr/>
        </p:nvSpPr>
        <p:spPr>
          <a:xfrm>
            <a:off x="9254199" y="4115723"/>
            <a:ext cx="749033"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14.572</a:t>
            </a:r>
            <a:endParaRPr lang="en-US" sz="816" dirty="0"/>
          </a:p>
        </p:txBody>
      </p:sp>
      <p:sp>
        <p:nvSpPr>
          <p:cNvPr id="48" name="Text 45"/>
          <p:cNvSpPr/>
          <p:nvPr/>
        </p:nvSpPr>
        <p:spPr>
          <a:xfrm>
            <a:off x="10883082" y="4158585"/>
            <a:ext cx="470434"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96,0 %</a:t>
            </a:r>
            <a:endParaRPr lang="en-US" sz="816" dirty="0"/>
          </a:p>
        </p:txBody>
      </p:sp>
      <p:sp>
        <p:nvSpPr>
          <p:cNvPr id="49" name="Text 46"/>
          <p:cNvSpPr/>
          <p:nvPr/>
        </p:nvSpPr>
        <p:spPr>
          <a:xfrm>
            <a:off x="8203945" y="1162050"/>
            <a:ext cx="3263719"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+30 %</a:t>
            </a:r>
            <a:endParaRPr lang="en-US" sz="1600" dirty="0"/>
          </a:p>
        </p:txBody>
      </p:sp>
      <p:sp>
        <p:nvSpPr>
          <p:cNvPr id="50" name="Text 47"/>
          <p:cNvSpPr/>
          <p:nvPr/>
        </p:nvSpPr>
        <p:spPr>
          <a:xfrm>
            <a:off x="10378419" y="1908870"/>
            <a:ext cx="499901" cy="238125"/>
          </a:xfrm>
          <a:prstGeom prst="rect">
            <a:avLst/>
          </a:prstGeom>
          <a:noFill/>
          <a:ln/>
        </p:spPr>
        <p:txBody>
          <a:bodyPr wrap="none" lIns="0" tIns="0" rIns="0" bIns="0" rtlCol="0" anchor="t"/>
          <a:lstStyle/>
          <a:p>
            <a:pPr algn="ctr" indent="0" marL="0">
              <a:buNone/>
            </a:pPr>
            <a:r>
              <a:rPr lang="en-US" sz="816" b="1" dirty="0">
                <a:solidFill>
                  <a:srgbClr val="9098B0"/>
                </a:solidFill>
                <a:latin typeface="Raleway" pitchFamily="34" charset="0"/>
                <a:ea typeface="Raleway" pitchFamily="34" charset="-122"/>
                <a:cs typeface="Raleway" pitchFamily="34" charset="-120"/>
              </a:rPr>
              <a:t>Vanti</a:t>
            </a:r>
            <a:endParaRPr lang="en-US" sz="816" dirty="0"/>
          </a:p>
        </p:txBody>
      </p:sp>
      <p:sp>
        <p:nvSpPr>
          <p:cNvPr id="51" name="Text 48"/>
          <p:cNvSpPr/>
          <p:nvPr/>
        </p:nvSpPr>
        <p:spPr>
          <a:xfrm>
            <a:off x="2449352" y="2405985"/>
            <a:ext cx="795318"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2" name="Text 49"/>
          <p:cNvSpPr/>
          <p:nvPr/>
        </p:nvSpPr>
        <p:spPr>
          <a:xfrm>
            <a:off x="5467809" y="2405985"/>
            <a:ext cx="795318"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3" name="Text 50"/>
          <p:cNvSpPr/>
          <p:nvPr/>
        </p:nvSpPr>
        <p:spPr>
          <a:xfrm>
            <a:off x="8458881" y="2405985"/>
            <a:ext cx="795318"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4" name="Text 51"/>
          <p:cNvSpPr/>
          <p:nvPr/>
        </p:nvSpPr>
        <p:spPr>
          <a:xfrm>
            <a:off x="2449352" y="2634585"/>
            <a:ext cx="795318"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1.689</a:t>
            </a:r>
            <a:endParaRPr lang="en-US" sz="816" dirty="0"/>
          </a:p>
        </p:txBody>
      </p:sp>
      <p:sp>
        <p:nvSpPr>
          <p:cNvPr id="55" name="Text 52"/>
          <p:cNvSpPr/>
          <p:nvPr/>
        </p:nvSpPr>
        <p:spPr>
          <a:xfrm>
            <a:off x="3244670" y="2634585"/>
            <a:ext cx="746206"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1.703</a:t>
            </a:r>
            <a:endParaRPr lang="en-US" sz="816" dirty="0"/>
          </a:p>
        </p:txBody>
      </p:sp>
      <p:sp>
        <p:nvSpPr>
          <p:cNvPr id="56" name="Text 53"/>
          <p:cNvSpPr/>
          <p:nvPr/>
        </p:nvSpPr>
        <p:spPr>
          <a:xfrm>
            <a:off x="8458881" y="2634585"/>
            <a:ext cx="795318"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2.245</a:t>
            </a:r>
            <a:endParaRPr lang="en-US" sz="816" dirty="0"/>
          </a:p>
        </p:txBody>
      </p:sp>
      <p:sp>
        <p:nvSpPr>
          <p:cNvPr id="57" name="Text 54"/>
          <p:cNvSpPr/>
          <p:nvPr/>
        </p:nvSpPr>
        <p:spPr>
          <a:xfrm>
            <a:off x="9254199" y="2634585"/>
            <a:ext cx="749033"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2.132</a:t>
            </a:r>
            <a:endParaRPr lang="en-US" sz="816" dirty="0"/>
          </a:p>
        </p:txBody>
      </p:sp>
      <p:sp>
        <p:nvSpPr>
          <p:cNvPr id="58" name="Text 55"/>
          <p:cNvSpPr/>
          <p:nvPr/>
        </p:nvSpPr>
        <p:spPr>
          <a:xfrm>
            <a:off x="2449352" y="287747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1.819</a:t>
            </a:r>
            <a:endParaRPr lang="en-US" sz="816" dirty="0"/>
          </a:p>
        </p:txBody>
      </p:sp>
      <p:sp>
        <p:nvSpPr>
          <p:cNvPr id="59" name="Text 56"/>
          <p:cNvSpPr/>
          <p:nvPr/>
        </p:nvSpPr>
        <p:spPr>
          <a:xfrm>
            <a:off x="3244670" y="2877473"/>
            <a:ext cx="746206"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60" name="Text 57"/>
          <p:cNvSpPr/>
          <p:nvPr/>
        </p:nvSpPr>
        <p:spPr>
          <a:xfrm>
            <a:off x="8458881" y="287747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2.374</a:t>
            </a:r>
            <a:endParaRPr lang="en-US" sz="816" dirty="0"/>
          </a:p>
        </p:txBody>
      </p:sp>
      <p:sp>
        <p:nvSpPr>
          <p:cNvPr id="61" name="Text 58"/>
          <p:cNvSpPr/>
          <p:nvPr/>
        </p:nvSpPr>
        <p:spPr>
          <a:xfrm>
            <a:off x="9254199" y="2877473"/>
            <a:ext cx="749033"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62" name="Text 59"/>
          <p:cNvSpPr/>
          <p:nvPr/>
        </p:nvSpPr>
        <p:spPr>
          <a:xfrm>
            <a:off x="2449352" y="312512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1.901</a:t>
            </a:r>
            <a:endParaRPr lang="en-US" sz="816" dirty="0"/>
          </a:p>
        </p:txBody>
      </p:sp>
      <p:sp>
        <p:nvSpPr>
          <p:cNvPr id="63" name="Text 60"/>
          <p:cNvSpPr/>
          <p:nvPr/>
        </p:nvSpPr>
        <p:spPr>
          <a:xfrm>
            <a:off x="3244670" y="3125123"/>
            <a:ext cx="746206"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64" name="Text 61"/>
          <p:cNvSpPr/>
          <p:nvPr/>
        </p:nvSpPr>
        <p:spPr>
          <a:xfrm>
            <a:off x="8458881" y="312512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2.431</a:t>
            </a:r>
            <a:endParaRPr lang="en-US" sz="816" dirty="0"/>
          </a:p>
        </p:txBody>
      </p:sp>
      <p:sp>
        <p:nvSpPr>
          <p:cNvPr id="65" name="Text 62"/>
          <p:cNvSpPr/>
          <p:nvPr/>
        </p:nvSpPr>
        <p:spPr>
          <a:xfrm>
            <a:off x="9254199" y="3125123"/>
            <a:ext cx="749033"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66" name="Text 63"/>
          <p:cNvSpPr/>
          <p:nvPr/>
        </p:nvSpPr>
        <p:spPr>
          <a:xfrm>
            <a:off x="2449352" y="337277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1.816</a:t>
            </a:r>
            <a:endParaRPr lang="en-US" sz="816" dirty="0"/>
          </a:p>
        </p:txBody>
      </p:sp>
      <p:sp>
        <p:nvSpPr>
          <p:cNvPr id="67" name="Text 64"/>
          <p:cNvSpPr/>
          <p:nvPr/>
        </p:nvSpPr>
        <p:spPr>
          <a:xfrm>
            <a:off x="3244670" y="3372773"/>
            <a:ext cx="746206"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68" name="Text 65"/>
          <p:cNvSpPr/>
          <p:nvPr/>
        </p:nvSpPr>
        <p:spPr>
          <a:xfrm>
            <a:off x="8458881" y="337277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2.367</a:t>
            </a:r>
            <a:endParaRPr lang="en-US" sz="816" dirty="0"/>
          </a:p>
        </p:txBody>
      </p:sp>
      <p:sp>
        <p:nvSpPr>
          <p:cNvPr id="69" name="Text 66"/>
          <p:cNvSpPr/>
          <p:nvPr/>
        </p:nvSpPr>
        <p:spPr>
          <a:xfrm>
            <a:off x="9254199" y="3372773"/>
            <a:ext cx="749033"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3.000</a:t>
            </a:r>
            <a:endParaRPr lang="en-US" sz="816" dirty="0"/>
          </a:p>
        </p:txBody>
      </p:sp>
      <p:sp>
        <p:nvSpPr>
          <p:cNvPr id="70" name="Text 67"/>
          <p:cNvSpPr/>
          <p:nvPr/>
        </p:nvSpPr>
        <p:spPr>
          <a:xfrm>
            <a:off x="2449352" y="362042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71" name="Text 68"/>
          <p:cNvSpPr/>
          <p:nvPr/>
        </p:nvSpPr>
        <p:spPr>
          <a:xfrm>
            <a:off x="3244670" y="3620423"/>
            <a:ext cx="746206"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2.100</a:t>
            </a:r>
            <a:endParaRPr lang="en-US" sz="816" dirty="0"/>
          </a:p>
        </p:txBody>
      </p:sp>
      <p:sp>
        <p:nvSpPr>
          <p:cNvPr id="72" name="Text 69"/>
          <p:cNvSpPr/>
          <p:nvPr/>
        </p:nvSpPr>
        <p:spPr>
          <a:xfrm>
            <a:off x="8458881" y="362042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2.186</a:t>
            </a:r>
            <a:endParaRPr lang="en-US" sz="816" dirty="0"/>
          </a:p>
        </p:txBody>
      </p:sp>
      <p:sp>
        <p:nvSpPr>
          <p:cNvPr id="73" name="Text 70"/>
          <p:cNvSpPr/>
          <p:nvPr/>
        </p:nvSpPr>
        <p:spPr>
          <a:xfrm>
            <a:off x="9254199" y="3620423"/>
            <a:ext cx="749033"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2.600</a:t>
            </a:r>
            <a:endParaRPr lang="en-US" sz="816" dirty="0"/>
          </a:p>
        </p:txBody>
      </p:sp>
      <p:sp>
        <p:nvSpPr>
          <p:cNvPr id="74" name="Text 71"/>
          <p:cNvSpPr/>
          <p:nvPr/>
        </p:nvSpPr>
        <p:spPr>
          <a:xfrm>
            <a:off x="2449352" y="386807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1.741</a:t>
            </a:r>
            <a:endParaRPr lang="en-US" sz="816" dirty="0"/>
          </a:p>
        </p:txBody>
      </p:sp>
      <p:sp>
        <p:nvSpPr>
          <p:cNvPr id="75" name="Text 72"/>
          <p:cNvSpPr/>
          <p:nvPr/>
        </p:nvSpPr>
        <p:spPr>
          <a:xfrm>
            <a:off x="3244670" y="3868073"/>
            <a:ext cx="746206"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2.000</a:t>
            </a:r>
            <a:endParaRPr lang="en-US" sz="816" dirty="0"/>
          </a:p>
        </p:txBody>
      </p:sp>
      <p:sp>
        <p:nvSpPr>
          <p:cNvPr id="76" name="Text 73"/>
          <p:cNvSpPr/>
          <p:nvPr/>
        </p:nvSpPr>
        <p:spPr>
          <a:xfrm>
            <a:off x="8458881" y="386807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2.314</a:t>
            </a:r>
            <a:endParaRPr lang="en-US" sz="816" dirty="0"/>
          </a:p>
        </p:txBody>
      </p:sp>
      <p:sp>
        <p:nvSpPr>
          <p:cNvPr id="77" name="Text 74"/>
          <p:cNvSpPr/>
          <p:nvPr/>
        </p:nvSpPr>
        <p:spPr>
          <a:xfrm>
            <a:off x="9254199" y="3868073"/>
            <a:ext cx="749033"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78" name="Text 75"/>
          <p:cNvSpPr/>
          <p:nvPr/>
        </p:nvSpPr>
        <p:spPr>
          <a:xfrm>
            <a:off x="723882" y="4115723"/>
            <a:ext cx="664203" cy="242888"/>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Total</a:t>
            </a:r>
            <a:endParaRPr lang="en-US" sz="816" dirty="0"/>
          </a:p>
        </p:txBody>
      </p:sp>
      <p:sp>
        <p:nvSpPr>
          <p:cNvPr id="79" name="Text 76"/>
          <p:cNvSpPr/>
          <p:nvPr/>
        </p:nvSpPr>
        <p:spPr>
          <a:xfrm>
            <a:off x="5467809" y="4115723"/>
            <a:ext cx="795318"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3.383</a:t>
            </a:r>
            <a:endParaRPr lang="en-US" sz="816" dirty="0"/>
          </a:p>
        </p:txBody>
      </p:sp>
      <p:sp>
        <p:nvSpPr>
          <p:cNvPr id="80" name="Text 77"/>
          <p:cNvSpPr/>
          <p:nvPr/>
        </p:nvSpPr>
        <p:spPr>
          <a:xfrm>
            <a:off x="6263126" y="4115723"/>
            <a:ext cx="718822"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2.929</a:t>
            </a:r>
            <a:endParaRPr lang="en-US" sz="816" dirty="0"/>
          </a:p>
        </p:txBody>
      </p:sp>
      <p:sp>
        <p:nvSpPr>
          <p:cNvPr id="81" name="Text 78"/>
          <p:cNvSpPr/>
          <p:nvPr/>
        </p:nvSpPr>
        <p:spPr>
          <a:xfrm>
            <a:off x="10935468" y="1908870"/>
            <a:ext cx="532345" cy="238125"/>
          </a:xfrm>
          <a:prstGeom prst="rect">
            <a:avLst/>
          </a:prstGeom>
          <a:noFill/>
          <a:ln/>
        </p:spPr>
        <p:txBody>
          <a:bodyPr wrap="none" lIns="0" tIns="0" rIns="0" bIns="0" rtlCol="0" anchor="t"/>
          <a:lstStyle/>
          <a:p>
            <a:pPr algn="ctr" indent="0" marL="0">
              <a:buNone/>
            </a:pPr>
            <a:r>
              <a:rPr lang="en-US" sz="816" b="1" dirty="0">
                <a:solidFill>
                  <a:srgbClr val="FFFFFF"/>
                </a:solidFill>
                <a:latin typeface="Raleway" pitchFamily="34" charset="0"/>
                <a:ea typeface="Raleway" pitchFamily="34" charset="-122"/>
                <a:cs typeface="Raleway" pitchFamily="34" charset="-120"/>
              </a:rPr>
              <a:t>Xuma</a:t>
            </a:r>
            <a:endParaRPr lang="en-US" sz="816" dirty="0"/>
          </a:p>
        </p:txBody>
      </p:sp>
      <p:sp>
        <p:nvSpPr>
          <p:cNvPr id="82" name="Text 79"/>
          <p:cNvSpPr/>
          <p:nvPr/>
        </p:nvSpPr>
        <p:spPr>
          <a:xfrm>
            <a:off x="3244670" y="2405985"/>
            <a:ext cx="746206"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3" name="Text 80"/>
          <p:cNvSpPr/>
          <p:nvPr/>
        </p:nvSpPr>
        <p:spPr>
          <a:xfrm>
            <a:off x="6263126" y="2405985"/>
            <a:ext cx="718822"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4" name="Text 81"/>
          <p:cNvSpPr/>
          <p:nvPr/>
        </p:nvSpPr>
        <p:spPr>
          <a:xfrm>
            <a:off x="9254199" y="2405985"/>
            <a:ext cx="749033"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5" name="Text 82"/>
          <p:cNvSpPr/>
          <p:nvPr/>
        </p:nvSpPr>
        <p:spPr>
          <a:xfrm>
            <a:off x="723882" y="2177385"/>
            <a:ext cx="664203" cy="4572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6" name="Text 83"/>
          <p:cNvSpPr/>
          <p:nvPr/>
        </p:nvSpPr>
        <p:spPr>
          <a:xfrm>
            <a:off x="838179" y="2691735"/>
            <a:ext cx="186775"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87" name="Text 84"/>
          <p:cNvSpPr/>
          <p:nvPr/>
        </p:nvSpPr>
        <p:spPr>
          <a:xfrm>
            <a:off x="5467809" y="2634585"/>
            <a:ext cx="795318"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556</a:t>
            </a:r>
            <a:endParaRPr lang="en-US" sz="816" dirty="0"/>
          </a:p>
        </p:txBody>
      </p:sp>
      <p:sp>
        <p:nvSpPr>
          <p:cNvPr id="88" name="Text 85"/>
          <p:cNvSpPr/>
          <p:nvPr/>
        </p:nvSpPr>
        <p:spPr>
          <a:xfrm>
            <a:off x="6263126" y="2634585"/>
            <a:ext cx="718822"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429</a:t>
            </a:r>
            <a:endParaRPr lang="en-US" sz="816" dirty="0"/>
          </a:p>
        </p:txBody>
      </p:sp>
      <p:sp>
        <p:nvSpPr>
          <p:cNvPr id="89" name="Text 86"/>
          <p:cNvSpPr/>
          <p:nvPr/>
        </p:nvSpPr>
        <p:spPr>
          <a:xfrm>
            <a:off x="838179" y="2939385"/>
            <a:ext cx="184096"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90" name="Text 87"/>
          <p:cNvSpPr/>
          <p:nvPr/>
        </p:nvSpPr>
        <p:spPr>
          <a:xfrm>
            <a:off x="5467809" y="287747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555</a:t>
            </a:r>
            <a:endParaRPr lang="en-US" sz="816" dirty="0"/>
          </a:p>
        </p:txBody>
      </p:sp>
      <p:sp>
        <p:nvSpPr>
          <p:cNvPr id="91" name="Text 88"/>
          <p:cNvSpPr/>
          <p:nvPr/>
        </p:nvSpPr>
        <p:spPr>
          <a:xfrm>
            <a:off x="6263126" y="2877473"/>
            <a:ext cx="7188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92" name="Text 89"/>
          <p:cNvSpPr/>
          <p:nvPr/>
        </p:nvSpPr>
        <p:spPr>
          <a:xfrm>
            <a:off x="838179" y="3187035"/>
            <a:ext cx="188709"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93" name="Text 90"/>
          <p:cNvSpPr/>
          <p:nvPr/>
        </p:nvSpPr>
        <p:spPr>
          <a:xfrm>
            <a:off x="5467809" y="312512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530</a:t>
            </a:r>
            <a:endParaRPr lang="en-US" sz="816" dirty="0"/>
          </a:p>
        </p:txBody>
      </p:sp>
      <p:sp>
        <p:nvSpPr>
          <p:cNvPr id="94" name="Text 91"/>
          <p:cNvSpPr/>
          <p:nvPr/>
        </p:nvSpPr>
        <p:spPr>
          <a:xfrm>
            <a:off x="6263126" y="3125123"/>
            <a:ext cx="7188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95" name="Text 92"/>
          <p:cNvSpPr/>
          <p:nvPr/>
        </p:nvSpPr>
        <p:spPr>
          <a:xfrm>
            <a:off x="838179" y="3434685"/>
            <a:ext cx="182880"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96" name="Text 93"/>
          <p:cNvSpPr/>
          <p:nvPr/>
        </p:nvSpPr>
        <p:spPr>
          <a:xfrm>
            <a:off x="5467809" y="337277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551</a:t>
            </a:r>
            <a:endParaRPr lang="en-US" sz="816" dirty="0"/>
          </a:p>
        </p:txBody>
      </p:sp>
      <p:sp>
        <p:nvSpPr>
          <p:cNvPr id="97" name="Text 94"/>
          <p:cNvSpPr/>
          <p:nvPr/>
        </p:nvSpPr>
        <p:spPr>
          <a:xfrm>
            <a:off x="6263126" y="3372773"/>
            <a:ext cx="7188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98" name="Text 95"/>
          <p:cNvSpPr/>
          <p:nvPr/>
        </p:nvSpPr>
        <p:spPr>
          <a:xfrm>
            <a:off x="838179" y="3682335"/>
            <a:ext cx="203443"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99" name="Text 96"/>
          <p:cNvSpPr/>
          <p:nvPr/>
        </p:nvSpPr>
        <p:spPr>
          <a:xfrm>
            <a:off x="5467809" y="362042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618</a:t>
            </a:r>
            <a:endParaRPr lang="en-US" sz="816" dirty="0"/>
          </a:p>
        </p:txBody>
      </p:sp>
      <p:sp>
        <p:nvSpPr>
          <p:cNvPr id="100" name="Text 97"/>
          <p:cNvSpPr/>
          <p:nvPr/>
        </p:nvSpPr>
        <p:spPr>
          <a:xfrm>
            <a:off x="6263126" y="3620423"/>
            <a:ext cx="7188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1" name="Text 98"/>
          <p:cNvSpPr/>
          <p:nvPr/>
        </p:nvSpPr>
        <p:spPr>
          <a:xfrm>
            <a:off x="838179" y="3929985"/>
            <a:ext cx="182880" cy="123825"/>
          </a:xfrm>
          <a:prstGeom prst="rect">
            <a:avLst/>
          </a:prstGeom>
          <a:noFill/>
          <a:ln/>
        </p:spPr>
        <p:txBody>
          <a:bodyPr wrap="none" lIns="0" tIns="0" rIns="0" bIns="0" rtlCol="0" anchor="t"/>
          <a:lstStyle/>
          <a:p>
            <a:pPr algn="l" indent="0" marL="0">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102" name="Text 99"/>
          <p:cNvSpPr/>
          <p:nvPr/>
        </p:nvSpPr>
        <p:spPr>
          <a:xfrm>
            <a:off x="5467809" y="3868073"/>
            <a:ext cx="795318"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573</a:t>
            </a:r>
            <a:endParaRPr lang="en-US" sz="816" dirty="0"/>
          </a:p>
        </p:txBody>
      </p:sp>
      <p:sp>
        <p:nvSpPr>
          <p:cNvPr id="103" name="Text 100"/>
          <p:cNvSpPr/>
          <p:nvPr/>
        </p:nvSpPr>
        <p:spPr>
          <a:xfrm>
            <a:off x="6263126" y="3868073"/>
            <a:ext cx="718822"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4" name="Text 101"/>
          <p:cNvSpPr/>
          <p:nvPr/>
        </p:nvSpPr>
        <p:spPr>
          <a:xfrm>
            <a:off x="1388085" y="2634585"/>
            <a:ext cx="1061267" cy="242888"/>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15</a:t>
            </a:r>
            <a:endParaRPr lang="en-US" sz="816" dirty="0"/>
          </a:p>
        </p:txBody>
      </p:sp>
      <p:sp>
        <p:nvSpPr>
          <p:cNvPr id="105" name="Text 102"/>
          <p:cNvSpPr/>
          <p:nvPr/>
        </p:nvSpPr>
        <p:spPr>
          <a:xfrm>
            <a:off x="1388085" y="2877473"/>
            <a:ext cx="1061267"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17</a:t>
            </a:r>
            <a:endParaRPr lang="en-US" sz="816" dirty="0"/>
          </a:p>
        </p:txBody>
      </p:sp>
      <p:sp>
        <p:nvSpPr>
          <p:cNvPr id="106" name="Text 103"/>
          <p:cNvSpPr/>
          <p:nvPr/>
        </p:nvSpPr>
        <p:spPr>
          <a:xfrm>
            <a:off x="1388085" y="3125123"/>
            <a:ext cx="1061267"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18</a:t>
            </a:r>
            <a:endParaRPr lang="en-US" sz="816" dirty="0"/>
          </a:p>
        </p:txBody>
      </p:sp>
      <p:sp>
        <p:nvSpPr>
          <p:cNvPr id="107" name="Text 104"/>
          <p:cNvSpPr/>
          <p:nvPr/>
        </p:nvSpPr>
        <p:spPr>
          <a:xfrm>
            <a:off x="1388085" y="3372773"/>
            <a:ext cx="1061267"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08" name="Text 105"/>
          <p:cNvSpPr/>
          <p:nvPr/>
        </p:nvSpPr>
        <p:spPr>
          <a:xfrm>
            <a:off x="1388085" y="3620423"/>
            <a:ext cx="1061267"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09" name="Text 106"/>
          <p:cNvSpPr/>
          <p:nvPr/>
        </p:nvSpPr>
        <p:spPr>
          <a:xfrm>
            <a:off x="1388085" y="3868073"/>
            <a:ext cx="1061267" cy="247650"/>
          </a:xfrm>
          <a:prstGeom prst="rect">
            <a:avLst/>
          </a:prstGeom>
          <a:noFill/>
          <a:ln/>
        </p:spPr>
        <p:txBody>
          <a:bodyPr wrap="none" lIns="0" tIns="0" rIns="0" bIns="0" rtlCol="0" anchor="t"/>
          <a:lstStyle/>
          <a:p>
            <a:pPr algn="r" indent="0" marL="0">
              <a:buNone/>
            </a:pPr>
            <a:r>
              <a:rPr lang="en-US" sz="816" dirty="0">
                <a:solidFill>
                  <a:srgbClr val="333333"/>
                </a:solidFill>
                <a:latin typeface="Raleway" pitchFamily="34" charset="0"/>
                <a:ea typeface="Raleway" pitchFamily="34" charset="-122"/>
                <a:cs typeface="Raleway" pitchFamily="34" charset="-120"/>
              </a:rPr>
              <a:t>21</a:t>
            </a:r>
            <a:endParaRPr lang="en-US" sz="816" dirty="0"/>
          </a:p>
        </p:txBody>
      </p:sp>
      <p:sp>
        <p:nvSpPr>
          <p:cNvPr id="110" name="Text 107"/>
          <p:cNvSpPr/>
          <p:nvPr/>
        </p:nvSpPr>
        <p:spPr>
          <a:xfrm>
            <a:off x="1388085" y="4115723"/>
            <a:ext cx="1061267" cy="242888"/>
          </a:xfrm>
          <a:prstGeom prst="rect">
            <a:avLst/>
          </a:prstGeom>
          <a:noFill/>
          <a:ln/>
        </p:spPr>
        <p:txBody>
          <a:bodyPr wrap="none" lIns="0" tIns="0" rIns="0" bIns="0" rtlCol="0" anchor="t"/>
          <a:lstStyle/>
          <a:p>
            <a:pPr algn="r" indent="0" marL="0">
              <a:buNone/>
            </a:pPr>
            <a:r>
              <a:rPr lang="en-US" sz="816" b="1" dirty="0">
                <a:solidFill>
                  <a:srgbClr val="120180"/>
                </a:solidFill>
                <a:latin typeface="Raleway" pitchFamily="34" charset="0"/>
                <a:ea typeface="Raleway" pitchFamily="34" charset="-122"/>
                <a:cs typeface="Raleway" pitchFamily="34" charset="-120"/>
              </a:rPr>
              <a:t>19</a:t>
            </a:r>
            <a:endParaRPr lang="en-US" sz="81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01_Repositorios\13_Presentaciones\dash\televentas\ppt_slides\sk_03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90575" y="5452170"/>
            <a:ext cx="10464588" cy="159990"/>
          </a:xfrm>
          <a:prstGeom prst="rect">
            <a:avLst/>
          </a:prstGeom>
          <a:noFill/>
          <a:ln/>
        </p:spPr>
        <p:txBody>
          <a:bodyPr wrap="non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el 78 % del descarte son registros re-enviados (49 %) y clientes con el producto activo (29 %) — depurar la base en origen podría liberar  al semestre.</a:t>
            </a:r>
            <a:endParaRPr lang="en-US" sz="840" dirty="0"/>
          </a:p>
        </p:txBody>
      </p:sp>
      <p:sp>
        <p:nvSpPr>
          <p:cNvPr id="4" name="Text 1"/>
          <p:cNvSpPr/>
          <p:nvPr/>
        </p:nvSpPr>
        <p:spPr>
          <a:xfrm>
            <a:off x="6314917" y="4956870"/>
            <a:ext cx="5152896" cy="95250"/>
          </a:xfrm>
          <a:prstGeom prst="rect">
            <a:avLst/>
          </a:prstGeom>
          <a:noFill/>
          <a:ln/>
        </p:spPr>
        <p:txBody>
          <a:bodyPr wrap="none" lIns="0" tIns="0" rIns="0" bIns="0" rtlCol="0" anchor="t"/>
          <a:lstStyle/>
          <a:p>
            <a:pPr algn="ctr" indent="0" marL="0">
              <a:buNone/>
            </a:pPr>
            <a:r>
              <a:rPr lang="en-US" sz="648" dirty="0">
                <a:solidFill>
                  <a:srgbClr val="9098B0"/>
                </a:solidFill>
                <a:latin typeface="Raleway" pitchFamily="34" charset="0"/>
                <a:ea typeface="Raleway" pitchFamily="34" charset="-122"/>
                <a:cs typeface="Raleway" pitchFamily="34" charset="-120"/>
              </a:rPr>
              <a:t>Ancho del embudo en escala visual (no lineal) — los valores y porcentajes son los reales.</a:t>
            </a:r>
            <a:endParaRPr lang="en-US" sz="648" dirty="0"/>
          </a:p>
        </p:txBody>
      </p:sp>
      <p:sp>
        <p:nvSpPr>
          <p:cNvPr id="5" name="Text 2"/>
          <p:cNvSpPr/>
          <p:nvPr/>
        </p:nvSpPr>
        <p:spPr>
          <a:xfrm>
            <a:off x="6314917" y="1985070"/>
            <a:ext cx="5152896" cy="20955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Embudo de la gestión · de la base a la venta (semestre)</a:t>
            </a:r>
            <a:endParaRPr lang="en-US" sz="1020" dirty="0"/>
          </a:p>
        </p:txBody>
      </p:sp>
      <p:sp>
        <p:nvSpPr>
          <p:cNvPr id="6" name="Text 3"/>
          <p:cNvSpPr/>
          <p:nvPr/>
        </p:nvSpPr>
        <p:spPr>
          <a:xfrm>
            <a:off x="6314917" y="3544342"/>
            <a:ext cx="1528724" cy="204490"/>
          </a:xfrm>
          <a:prstGeom prst="rect">
            <a:avLst/>
          </a:prstGeom>
          <a:noFill/>
          <a:ln/>
        </p:spPr>
        <p:txBody>
          <a:bodyPr wrap="non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Registros efectivamente marcados por el equipo</a:t>
            </a:r>
            <a:endParaRPr lang="en-US" sz="672" dirty="0"/>
          </a:p>
        </p:txBody>
      </p:sp>
      <p:sp>
        <p:nvSpPr>
          <p:cNvPr id="7" name="Text 4"/>
          <p:cNvSpPr/>
          <p:nvPr/>
        </p:nvSpPr>
        <p:spPr>
          <a:xfrm>
            <a:off x="9134247"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 venta por cada 66 registros recibidos</a:t>
            </a:r>
            <a:endParaRPr lang="en-US" sz="864" dirty="0"/>
          </a:p>
        </p:txBody>
      </p:sp>
      <p:sp>
        <p:nvSpPr>
          <p:cNvPr id="8" name="Text 5"/>
          <p:cNvSpPr/>
          <p:nvPr/>
        </p:nvSpPr>
        <p:spPr>
          <a:xfrm>
            <a:off x="6314917" y="2528590"/>
            <a:ext cx="1528724" cy="102245"/>
          </a:xfrm>
          <a:prstGeom prst="rect">
            <a:avLst/>
          </a:prstGeom>
          <a:noFill/>
          <a:ln/>
        </p:spPr>
        <p:txBody>
          <a:bodyPr wrap="non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Bases enviadas por Vanti (Power BI)</a:t>
            </a:r>
            <a:endParaRPr lang="en-US" sz="672" dirty="0"/>
          </a:p>
        </p:txBody>
      </p:sp>
      <p:sp>
        <p:nvSpPr>
          <p:cNvPr id="9" name="Text 6"/>
          <p:cNvSpPr/>
          <p:nvPr/>
        </p:nvSpPr>
        <p:spPr>
          <a:xfrm>
            <a:off x="1213514" y="219075"/>
            <a:ext cx="2876627"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Consolidado de las Bases · 1S 2026</a:t>
            </a:r>
            <a:endParaRPr lang="en-US" sz="1260" dirty="0"/>
          </a:p>
        </p:txBody>
      </p:sp>
      <p:sp>
        <p:nvSpPr>
          <p:cNvPr id="10" name="Text 7"/>
          <p:cNvSpPr/>
          <p:nvPr/>
        </p:nvSpPr>
        <p:spPr>
          <a:xfrm>
            <a:off x="723882" y="1985070"/>
            <a:ext cx="5152896" cy="20955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Volumen y calidad de base por mes</a:t>
            </a:r>
            <a:endParaRPr lang="en-US" sz="1020" dirty="0"/>
          </a:p>
        </p:txBody>
      </p:sp>
      <p:sp>
        <p:nvSpPr>
          <p:cNvPr id="11" name="Text 8"/>
          <p:cNvSpPr/>
          <p:nvPr/>
        </p:nvSpPr>
        <p:spPr>
          <a:xfrm>
            <a:off x="6314917" y="4128790"/>
            <a:ext cx="1528724" cy="102245"/>
          </a:xfrm>
          <a:prstGeom prst="rect">
            <a:avLst/>
          </a:prstGeom>
          <a:noFill/>
          <a:ln/>
        </p:spPr>
        <p:txBody>
          <a:bodyPr wrap="non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Clientes con contacto efectivo</a:t>
            </a:r>
            <a:endParaRPr lang="en-US" sz="672" dirty="0"/>
          </a:p>
        </p:txBody>
      </p:sp>
      <p:sp>
        <p:nvSpPr>
          <p:cNvPr id="12" name="Text 9"/>
          <p:cNvSpPr/>
          <p:nvPr/>
        </p:nvSpPr>
        <p:spPr>
          <a:xfrm>
            <a:off x="76198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recibidos (ene–jun)</a:t>
            </a:r>
            <a:endParaRPr lang="en-US" sz="864" dirty="0"/>
          </a:p>
        </p:txBody>
      </p:sp>
      <p:sp>
        <p:nvSpPr>
          <p:cNvPr id="13" name="Text 10"/>
          <p:cNvSpPr/>
          <p:nvPr/>
        </p:nvSpPr>
        <p:spPr>
          <a:xfrm>
            <a:off x="76198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Fuente: dashboards Power BI</a:t>
            </a:r>
            <a:endParaRPr lang="en-US" sz="864" dirty="0"/>
          </a:p>
        </p:txBody>
      </p:sp>
      <p:sp>
        <p:nvSpPr>
          <p:cNvPr id="14" name="Text 11"/>
          <p:cNvSpPr/>
          <p:nvPr/>
        </p:nvSpPr>
        <p:spPr>
          <a:xfrm>
            <a:off x="3552736"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Solo 40 % apto para gestión</a:t>
            </a:r>
            <a:endParaRPr lang="en-US" sz="864" dirty="0"/>
          </a:p>
        </p:txBody>
      </p:sp>
      <p:sp>
        <p:nvSpPr>
          <p:cNvPr id="15" name="Text 12"/>
          <p:cNvSpPr/>
          <p:nvPr/>
        </p:nvSpPr>
        <p:spPr>
          <a:xfrm>
            <a:off x="6314917" y="3061990"/>
            <a:ext cx="1528724" cy="102245"/>
          </a:xfrm>
          <a:prstGeom prst="rect">
            <a:avLst/>
          </a:prstGeom>
          <a:noFill/>
          <a:ln/>
        </p:spPr>
        <p:txBody>
          <a:bodyPr wrap="non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Tras depuración y descarte</a:t>
            </a:r>
            <a:endParaRPr lang="en-US" sz="672" dirty="0"/>
          </a:p>
        </p:txBody>
      </p:sp>
      <p:sp>
        <p:nvSpPr>
          <p:cNvPr id="16" name="Text 13"/>
          <p:cNvSpPr/>
          <p:nvPr/>
        </p:nvSpPr>
        <p:spPr>
          <a:xfrm>
            <a:off x="3552736"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Rechazo promedio de base</a:t>
            </a:r>
            <a:endParaRPr lang="en-US" sz="864" dirty="0"/>
          </a:p>
        </p:txBody>
      </p:sp>
      <p:sp>
        <p:nvSpPr>
          <p:cNvPr id="17" name="Text 14"/>
          <p:cNvSpPr/>
          <p:nvPr/>
        </p:nvSpPr>
        <p:spPr>
          <a:xfrm>
            <a:off x="9939089" y="2466082"/>
            <a:ext cx="1528724"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100 % · punto de partida</a:t>
            </a:r>
            <a:endParaRPr lang="en-US" sz="744" dirty="0"/>
          </a:p>
        </p:txBody>
      </p:sp>
      <p:sp>
        <p:nvSpPr>
          <p:cNvPr id="18" name="Text 15"/>
          <p:cNvSpPr/>
          <p:nvPr/>
        </p:nvSpPr>
        <p:spPr>
          <a:xfrm>
            <a:off x="9134247"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Ventas 1S (liquidación)</a:t>
            </a:r>
            <a:endParaRPr lang="en-US" sz="864" dirty="0"/>
          </a:p>
        </p:txBody>
      </p:sp>
      <p:sp>
        <p:nvSpPr>
          <p:cNvPr id="19" name="Text 16"/>
          <p:cNvSpPr/>
          <p:nvPr/>
        </p:nvSpPr>
        <p:spPr>
          <a:xfrm>
            <a:off x="634349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Aptos (gestionables)</a:t>
            </a:r>
            <a:endParaRPr lang="en-US" sz="864" dirty="0"/>
          </a:p>
        </p:txBody>
      </p:sp>
      <p:sp>
        <p:nvSpPr>
          <p:cNvPr id="20" name="Text 17"/>
          <p:cNvSpPr/>
          <p:nvPr/>
        </p:nvSpPr>
        <p:spPr>
          <a:xfrm>
            <a:off x="634349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De 912.083 recibidos</a:t>
            </a:r>
            <a:endParaRPr lang="en-US" sz="864" dirty="0"/>
          </a:p>
        </p:txBody>
      </p:sp>
      <p:sp>
        <p:nvSpPr>
          <p:cNvPr id="21" name="Text 18"/>
          <p:cNvSpPr/>
          <p:nvPr/>
        </p:nvSpPr>
        <p:spPr>
          <a:xfrm>
            <a:off x="6314917" y="2405955"/>
            <a:ext cx="1528724" cy="122634"/>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Registros recibidos</a:t>
            </a:r>
            <a:endParaRPr lang="en-US" sz="840" dirty="0"/>
          </a:p>
        </p:txBody>
      </p:sp>
      <p:sp>
        <p:nvSpPr>
          <p:cNvPr id="22" name="Text 19"/>
          <p:cNvSpPr/>
          <p:nvPr/>
        </p:nvSpPr>
        <p:spPr>
          <a:xfrm>
            <a:off x="6314917" y="2939355"/>
            <a:ext cx="1528724" cy="122634"/>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Aptos para gestión</a:t>
            </a:r>
            <a:endParaRPr lang="en-US" sz="840" dirty="0"/>
          </a:p>
        </p:txBody>
      </p:sp>
      <p:sp>
        <p:nvSpPr>
          <p:cNvPr id="23" name="Text 20"/>
          <p:cNvSpPr/>
          <p:nvPr/>
        </p:nvSpPr>
        <p:spPr>
          <a:xfrm>
            <a:off x="9939089" y="2999482"/>
            <a:ext cx="1528724"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4" name="Text 21"/>
          <p:cNvSpPr/>
          <p:nvPr/>
        </p:nvSpPr>
        <p:spPr>
          <a:xfrm>
            <a:off x="9939089" y="3532882"/>
            <a:ext cx="1528724"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5" name="Text 22"/>
          <p:cNvSpPr/>
          <p:nvPr/>
        </p:nvSpPr>
        <p:spPr>
          <a:xfrm>
            <a:off x="9939089" y="4066282"/>
            <a:ext cx="1528724"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6" name="Text 23"/>
          <p:cNvSpPr/>
          <p:nvPr/>
        </p:nvSpPr>
        <p:spPr>
          <a:xfrm>
            <a:off x="9939089" y="4599682"/>
            <a:ext cx="1528724"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7" name="Text 24"/>
          <p:cNvSpPr/>
          <p:nvPr/>
        </p:nvSpPr>
        <p:spPr>
          <a:xfrm>
            <a:off x="10451640" y="209550"/>
            <a:ext cx="1168569"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Bases</a:t>
            </a:r>
            <a:endParaRPr lang="en-US" sz="840" dirty="0"/>
          </a:p>
        </p:txBody>
      </p:sp>
      <p:sp>
        <p:nvSpPr>
          <p:cNvPr id="28" name="Text 25"/>
          <p:cNvSpPr/>
          <p:nvPr/>
        </p:nvSpPr>
        <p:spPr>
          <a:xfrm>
            <a:off x="6314917" y="4662190"/>
            <a:ext cx="1528724" cy="102245"/>
          </a:xfrm>
          <a:prstGeom prst="rect">
            <a:avLst/>
          </a:prstGeom>
          <a:noFill/>
          <a:ln/>
        </p:spPr>
        <p:txBody>
          <a:bodyPr wrap="non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Cifra oficial</a:t>
            </a:r>
            <a:endParaRPr lang="en-US" sz="672" dirty="0"/>
          </a:p>
        </p:txBody>
      </p:sp>
      <p:sp>
        <p:nvSpPr>
          <p:cNvPr id="29" name="Text 26"/>
          <p:cNvSpPr/>
          <p:nvPr/>
        </p:nvSpPr>
        <p:spPr>
          <a:xfrm>
            <a:off x="6314917" y="3421707"/>
            <a:ext cx="1528724" cy="122634"/>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Gestionados</a:t>
            </a:r>
            <a:endParaRPr lang="en-US" sz="840" dirty="0"/>
          </a:p>
        </p:txBody>
      </p:sp>
      <p:sp>
        <p:nvSpPr>
          <p:cNvPr id="30" name="Text 27"/>
          <p:cNvSpPr/>
          <p:nvPr/>
        </p:nvSpPr>
        <p:spPr>
          <a:xfrm>
            <a:off x="6314917" y="4006155"/>
            <a:ext cx="1528724" cy="122634"/>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Contactados</a:t>
            </a:r>
            <a:endParaRPr lang="en-US" sz="840" dirty="0"/>
          </a:p>
        </p:txBody>
      </p:sp>
      <p:sp>
        <p:nvSpPr>
          <p:cNvPr id="31" name="Text 28"/>
          <p:cNvSpPr/>
          <p:nvPr/>
        </p:nvSpPr>
        <p:spPr>
          <a:xfrm>
            <a:off x="2267786" y="2232720"/>
            <a:ext cx="1115439"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2" name="Text 29"/>
          <p:cNvSpPr/>
          <p:nvPr/>
        </p:nvSpPr>
        <p:spPr>
          <a:xfrm>
            <a:off x="1306529" y="2232720"/>
            <a:ext cx="961257"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3" name="Text 30"/>
          <p:cNvSpPr/>
          <p:nvPr/>
        </p:nvSpPr>
        <p:spPr>
          <a:xfrm>
            <a:off x="3383225" y="2232720"/>
            <a:ext cx="1015578"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4" name="Text 31"/>
          <p:cNvSpPr/>
          <p:nvPr/>
        </p:nvSpPr>
        <p:spPr>
          <a:xfrm>
            <a:off x="761981" y="118110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912.083</a:t>
            </a:r>
            <a:endParaRPr lang="en-US" sz="1600" dirty="0"/>
          </a:p>
        </p:txBody>
      </p:sp>
      <p:sp>
        <p:nvSpPr>
          <p:cNvPr id="35" name="Text 32"/>
          <p:cNvSpPr/>
          <p:nvPr/>
        </p:nvSpPr>
        <p:spPr>
          <a:xfrm>
            <a:off x="6343491" y="118110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363.715</a:t>
            </a:r>
            <a:endParaRPr lang="en-US" sz="1600" dirty="0"/>
          </a:p>
        </p:txBody>
      </p:sp>
      <p:sp>
        <p:nvSpPr>
          <p:cNvPr id="36" name="Text 33"/>
          <p:cNvSpPr/>
          <p:nvPr/>
        </p:nvSpPr>
        <p:spPr>
          <a:xfrm>
            <a:off x="1306529" y="2461320"/>
            <a:ext cx="961257" cy="242888"/>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201.409</a:t>
            </a:r>
            <a:endParaRPr lang="en-US" sz="840" dirty="0"/>
          </a:p>
        </p:txBody>
      </p:sp>
      <p:sp>
        <p:nvSpPr>
          <p:cNvPr id="37" name="Text 34"/>
          <p:cNvSpPr/>
          <p:nvPr/>
        </p:nvSpPr>
        <p:spPr>
          <a:xfrm>
            <a:off x="4398803" y="2461320"/>
            <a:ext cx="728942" cy="242888"/>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102.168</a:t>
            </a:r>
            <a:endParaRPr lang="en-US" sz="840" dirty="0"/>
          </a:p>
        </p:txBody>
      </p:sp>
      <p:sp>
        <p:nvSpPr>
          <p:cNvPr id="38" name="Text 35"/>
          <p:cNvSpPr/>
          <p:nvPr/>
        </p:nvSpPr>
        <p:spPr>
          <a:xfrm>
            <a:off x="1306529" y="2951857"/>
            <a:ext cx="961257"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134.897</a:t>
            </a:r>
            <a:endParaRPr lang="en-US" sz="840" dirty="0"/>
          </a:p>
        </p:txBody>
      </p:sp>
      <p:sp>
        <p:nvSpPr>
          <p:cNvPr id="39" name="Text 36"/>
          <p:cNvSpPr/>
          <p:nvPr/>
        </p:nvSpPr>
        <p:spPr>
          <a:xfrm>
            <a:off x="1306529" y="3199507"/>
            <a:ext cx="961257"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153.111</a:t>
            </a:r>
            <a:endParaRPr lang="en-US" sz="840" dirty="0"/>
          </a:p>
        </p:txBody>
      </p:sp>
      <p:sp>
        <p:nvSpPr>
          <p:cNvPr id="40" name="Text 37"/>
          <p:cNvSpPr/>
          <p:nvPr/>
        </p:nvSpPr>
        <p:spPr>
          <a:xfrm>
            <a:off x="2267786" y="3199507"/>
            <a:ext cx="1115439"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114.123</a:t>
            </a:r>
            <a:endParaRPr lang="en-US" sz="840" dirty="0"/>
          </a:p>
        </p:txBody>
      </p:sp>
      <p:sp>
        <p:nvSpPr>
          <p:cNvPr id="41" name="Text 38"/>
          <p:cNvSpPr/>
          <p:nvPr/>
        </p:nvSpPr>
        <p:spPr>
          <a:xfrm>
            <a:off x="1306529" y="3447157"/>
            <a:ext cx="961257"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154.335</a:t>
            </a:r>
            <a:endParaRPr lang="en-US" sz="840" dirty="0"/>
          </a:p>
        </p:txBody>
      </p:sp>
      <p:sp>
        <p:nvSpPr>
          <p:cNvPr id="42" name="Text 39"/>
          <p:cNvSpPr/>
          <p:nvPr/>
        </p:nvSpPr>
        <p:spPr>
          <a:xfrm>
            <a:off x="2267786" y="3447157"/>
            <a:ext cx="1115439"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116.691</a:t>
            </a:r>
            <a:endParaRPr lang="en-US" sz="840" dirty="0"/>
          </a:p>
        </p:txBody>
      </p:sp>
      <p:sp>
        <p:nvSpPr>
          <p:cNvPr id="43" name="Text 40"/>
          <p:cNvSpPr/>
          <p:nvPr/>
        </p:nvSpPr>
        <p:spPr>
          <a:xfrm>
            <a:off x="1306529" y="3694807"/>
            <a:ext cx="961257"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173.413</a:t>
            </a:r>
            <a:endParaRPr lang="en-US" sz="840" dirty="0"/>
          </a:p>
        </p:txBody>
      </p:sp>
      <p:sp>
        <p:nvSpPr>
          <p:cNvPr id="44" name="Text 41"/>
          <p:cNvSpPr/>
          <p:nvPr/>
        </p:nvSpPr>
        <p:spPr>
          <a:xfrm>
            <a:off x="2267786" y="3694807"/>
            <a:ext cx="1115439"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109.130</a:t>
            </a:r>
            <a:endParaRPr lang="en-US" sz="840" dirty="0"/>
          </a:p>
        </p:txBody>
      </p:sp>
      <p:sp>
        <p:nvSpPr>
          <p:cNvPr id="45" name="Text 42"/>
          <p:cNvSpPr/>
          <p:nvPr/>
        </p:nvSpPr>
        <p:spPr>
          <a:xfrm>
            <a:off x="1306529" y="3942457"/>
            <a:ext cx="961257" cy="214313"/>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912.083</a:t>
            </a:r>
            <a:endParaRPr lang="en-US" sz="840" dirty="0"/>
          </a:p>
        </p:txBody>
      </p:sp>
      <p:sp>
        <p:nvSpPr>
          <p:cNvPr id="46" name="Text 43"/>
          <p:cNvSpPr/>
          <p:nvPr/>
        </p:nvSpPr>
        <p:spPr>
          <a:xfrm>
            <a:off x="2267786" y="3942457"/>
            <a:ext cx="1115439" cy="214313"/>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548.368</a:t>
            </a:r>
            <a:endParaRPr lang="en-US" sz="840" dirty="0"/>
          </a:p>
        </p:txBody>
      </p:sp>
      <p:sp>
        <p:nvSpPr>
          <p:cNvPr id="47" name="Text 44"/>
          <p:cNvSpPr/>
          <p:nvPr/>
        </p:nvSpPr>
        <p:spPr>
          <a:xfrm>
            <a:off x="4398803" y="3942457"/>
            <a:ext cx="728942" cy="214313"/>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363.715</a:t>
            </a:r>
            <a:endParaRPr lang="en-US" sz="840" dirty="0"/>
          </a:p>
        </p:txBody>
      </p:sp>
      <p:sp>
        <p:nvSpPr>
          <p:cNvPr id="48" name="Text 45"/>
          <p:cNvSpPr/>
          <p:nvPr/>
        </p:nvSpPr>
        <p:spPr>
          <a:xfrm>
            <a:off x="7938889" y="2251770"/>
            <a:ext cx="1904952" cy="533400"/>
          </a:xfrm>
          <a:prstGeom prst="rect">
            <a:avLst/>
          </a:prstGeom>
          <a:noFill/>
          <a:ln/>
        </p:spPr>
        <p:txBody>
          <a:bodyPr wrap="none" lIns="0" tIns="0" rIns="0" bIns="0" rtlCol="0" anchor="t"/>
          <a:lstStyle/>
          <a:p>
            <a:pPr algn="l" indent="0" marL="0">
              <a:buNone/>
            </a:pPr>
            <a:r>
              <a:rPr lang="en-US" sz="912" b="1" dirty="0">
                <a:solidFill>
                  <a:srgbClr val="FFFFFF"/>
                </a:solidFill>
                <a:latin typeface="Raleway" pitchFamily="34" charset="0"/>
                <a:ea typeface="Raleway" pitchFamily="34" charset="-122"/>
                <a:cs typeface="Raleway" pitchFamily="34" charset="-120"/>
              </a:rPr>
              <a:t>912.083</a:t>
            </a:r>
            <a:endParaRPr lang="en-US" sz="912" dirty="0"/>
          </a:p>
        </p:txBody>
      </p:sp>
      <p:sp>
        <p:nvSpPr>
          <p:cNvPr id="49" name="Text 46"/>
          <p:cNvSpPr/>
          <p:nvPr/>
        </p:nvSpPr>
        <p:spPr>
          <a:xfrm>
            <a:off x="7938889" y="2785170"/>
            <a:ext cx="1904952" cy="533400"/>
          </a:xfrm>
          <a:prstGeom prst="rect">
            <a:avLst/>
          </a:prstGeom>
          <a:noFill/>
          <a:ln/>
        </p:spPr>
        <p:txBody>
          <a:bodyPr wrap="none" lIns="0" tIns="0" rIns="0" bIns="0" rtlCol="0" anchor="t"/>
          <a:lstStyle/>
          <a:p>
            <a:pPr algn="l" indent="0" marL="0">
              <a:buNone/>
            </a:pPr>
            <a:r>
              <a:rPr lang="en-US" sz="912" b="1" dirty="0">
                <a:solidFill>
                  <a:srgbClr val="FFFFFF"/>
                </a:solidFill>
                <a:latin typeface="Raleway" pitchFamily="34" charset="0"/>
                <a:ea typeface="Raleway" pitchFamily="34" charset="-122"/>
                <a:cs typeface="Raleway" pitchFamily="34" charset="-120"/>
              </a:rPr>
              <a:t>363.715</a:t>
            </a:r>
            <a:endParaRPr lang="en-US" sz="912" dirty="0"/>
          </a:p>
        </p:txBody>
      </p:sp>
      <p:sp>
        <p:nvSpPr>
          <p:cNvPr id="50" name="Text 47"/>
          <p:cNvSpPr/>
          <p:nvPr/>
        </p:nvSpPr>
        <p:spPr>
          <a:xfrm>
            <a:off x="7938889" y="3318570"/>
            <a:ext cx="1904952" cy="533400"/>
          </a:xfrm>
          <a:prstGeom prst="rect">
            <a:avLst/>
          </a:prstGeom>
          <a:noFill/>
          <a:ln/>
        </p:spPr>
        <p:txBody>
          <a:bodyPr wrap="none" lIns="0" tIns="0" rIns="0" bIns="0" rtlCol="0" anchor="t"/>
          <a:lstStyle/>
          <a:p>
            <a:pPr algn="l" indent="0" marL="0">
              <a:buNone/>
            </a:pPr>
            <a:r>
              <a:rPr lang="en-US" sz="912" b="1" dirty="0">
                <a:solidFill>
                  <a:srgbClr val="120180"/>
                </a:solidFill>
                <a:latin typeface="Raleway" pitchFamily="34" charset="0"/>
                <a:ea typeface="Raleway" pitchFamily="34" charset="-122"/>
                <a:cs typeface="Raleway" pitchFamily="34" charset="-120"/>
              </a:rPr>
              <a:t>321.087</a:t>
            </a:r>
            <a:endParaRPr lang="en-US" sz="912" dirty="0"/>
          </a:p>
        </p:txBody>
      </p:sp>
      <p:sp>
        <p:nvSpPr>
          <p:cNvPr id="51" name="Text 48"/>
          <p:cNvSpPr/>
          <p:nvPr/>
        </p:nvSpPr>
        <p:spPr>
          <a:xfrm>
            <a:off x="7938889" y="3851970"/>
            <a:ext cx="1904952" cy="533400"/>
          </a:xfrm>
          <a:prstGeom prst="rect">
            <a:avLst/>
          </a:prstGeom>
          <a:noFill/>
          <a:ln/>
        </p:spPr>
        <p:txBody>
          <a:bodyPr wrap="none" lIns="0" tIns="0" rIns="0" bIns="0" rtlCol="0" anchor="t"/>
          <a:lstStyle/>
          <a:p>
            <a:pPr algn="l" indent="0" marL="0">
              <a:buNone/>
            </a:pPr>
            <a:r>
              <a:rPr lang="en-US" sz="912" b="1" dirty="0">
                <a:solidFill>
                  <a:srgbClr val="120180"/>
                </a:solidFill>
                <a:latin typeface="Raleway" pitchFamily="34" charset="0"/>
                <a:ea typeface="Raleway" pitchFamily="34" charset="-122"/>
                <a:cs typeface="Raleway" pitchFamily="34" charset="-120"/>
              </a:rPr>
              <a:t>129.696</a:t>
            </a:r>
            <a:endParaRPr lang="en-US" sz="912" dirty="0"/>
          </a:p>
        </p:txBody>
      </p:sp>
      <p:sp>
        <p:nvSpPr>
          <p:cNvPr id="52" name="Text 49"/>
          <p:cNvSpPr/>
          <p:nvPr/>
        </p:nvSpPr>
        <p:spPr>
          <a:xfrm>
            <a:off x="9134247" y="118110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13.917</a:t>
            </a:r>
            <a:endParaRPr lang="en-US" sz="1600" dirty="0"/>
          </a:p>
        </p:txBody>
      </p:sp>
      <p:sp>
        <p:nvSpPr>
          <p:cNvPr id="53" name="Text 50"/>
          <p:cNvSpPr/>
          <p:nvPr/>
        </p:nvSpPr>
        <p:spPr>
          <a:xfrm>
            <a:off x="5127745" y="2232720"/>
            <a:ext cx="749033"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4" name="Text 51"/>
          <p:cNvSpPr/>
          <p:nvPr/>
        </p:nvSpPr>
        <p:spPr>
          <a:xfrm>
            <a:off x="2267786" y="2461320"/>
            <a:ext cx="1115439" cy="242888"/>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99.241</a:t>
            </a:r>
            <a:endParaRPr lang="en-US" sz="840" dirty="0"/>
          </a:p>
        </p:txBody>
      </p:sp>
      <p:sp>
        <p:nvSpPr>
          <p:cNvPr id="55" name="Text 52"/>
          <p:cNvSpPr/>
          <p:nvPr/>
        </p:nvSpPr>
        <p:spPr>
          <a:xfrm>
            <a:off x="1306529" y="2704207"/>
            <a:ext cx="961257"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94.918</a:t>
            </a:r>
            <a:endParaRPr lang="en-US" sz="840" dirty="0"/>
          </a:p>
        </p:txBody>
      </p:sp>
      <p:sp>
        <p:nvSpPr>
          <p:cNvPr id="56" name="Text 53"/>
          <p:cNvSpPr/>
          <p:nvPr/>
        </p:nvSpPr>
        <p:spPr>
          <a:xfrm>
            <a:off x="2267786" y="2704207"/>
            <a:ext cx="1115439"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48.185</a:t>
            </a:r>
            <a:endParaRPr lang="en-US" sz="840" dirty="0"/>
          </a:p>
        </p:txBody>
      </p:sp>
      <p:sp>
        <p:nvSpPr>
          <p:cNvPr id="57" name="Text 54"/>
          <p:cNvSpPr/>
          <p:nvPr/>
        </p:nvSpPr>
        <p:spPr>
          <a:xfrm>
            <a:off x="4398803" y="2704207"/>
            <a:ext cx="728942"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46.733</a:t>
            </a:r>
            <a:endParaRPr lang="en-US" sz="840" dirty="0"/>
          </a:p>
        </p:txBody>
      </p:sp>
      <p:sp>
        <p:nvSpPr>
          <p:cNvPr id="58" name="Text 55"/>
          <p:cNvSpPr/>
          <p:nvPr/>
        </p:nvSpPr>
        <p:spPr>
          <a:xfrm>
            <a:off x="2267786" y="2951857"/>
            <a:ext cx="1115439"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60.998</a:t>
            </a:r>
            <a:endParaRPr lang="en-US" sz="840" dirty="0"/>
          </a:p>
        </p:txBody>
      </p:sp>
      <p:sp>
        <p:nvSpPr>
          <p:cNvPr id="59" name="Text 56"/>
          <p:cNvSpPr/>
          <p:nvPr/>
        </p:nvSpPr>
        <p:spPr>
          <a:xfrm>
            <a:off x="4398803" y="2951857"/>
            <a:ext cx="728942"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73.899</a:t>
            </a:r>
            <a:endParaRPr lang="en-US" sz="840" dirty="0"/>
          </a:p>
        </p:txBody>
      </p:sp>
      <p:sp>
        <p:nvSpPr>
          <p:cNvPr id="60" name="Text 57"/>
          <p:cNvSpPr/>
          <p:nvPr/>
        </p:nvSpPr>
        <p:spPr>
          <a:xfrm>
            <a:off x="4398803" y="3199507"/>
            <a:ext cx="728942"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38.988</a:t>
            </a:r>
            <a:endParaRPr lang="en-US" sz="840" dirty="0"/>
          </a:p>
        </p:txBody>
      </p:sp>
      <p:sp>
        <p:nvSpPr>
          <p:cNvPr id="61" name="Text 58"/>
          <p:cNvSpPr/>
          <p:nvPr/>
        </p:nvSpPr>
        <p:spPr>
          <a:xfrm>
            <a:off x="4398803" y="3447157"/>
            <a:ext cx="728942"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37.644</a:t>
            </a:r>
            <a:endParaRPr lang="en-US" sz="840" dirty="0"/>
          </a:p>
        </p:txBody>
      </p:sp>
      <p:sp>
        <p:nvSpPr>
          <p:cNvPr id="62" name="Text 59"/>
          <p:cNvSpPr/>
          <p:nvPr/>
        </p:nvSpPr>
        <p:spPr>
          <a:xfrm>
            <a:off x="4398803" y="3694807"/>
            <a:ext cx="728942" cy="24765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64.283</a:t>
            </a:r>
            <a:endParaRPr lang="en-US" sz="840" dirty="0"/>
          </a:p>
        </p:txBody>
      </p:sp>
      <p:sp>
        <p:nvSpPr>
          <p:cNvPr id="63" name="Text 60"/>
          <p:cNvSpPr/>
          <p:nvPr/>
        </p:nvSpPr>
        <p:spPr>
          <a:xfrm>
            <a:off x="5127745" y="3942457"/>
            <a:ext cx="749033" cy="214313"/>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13.917</a:t>
            </a:r>
            <a:endParaRPr lang="en-US" sz="840" dirty="0"/>
          </a:p>
        </p:txBody>
      </p:sp>
      <p:sp>
        <p:nvSpPr>
          <p:cNvPr id="64" name="Text 61"/>
          <p:cNvSpPr/>
          <p:nvPr/>
        </p:nvSpPr>
        <p:spPr>
          <a:xfrm>
            <a:off x="7938889" y="4385370"/>
            <a:ext cx="1904952" cy="533400"/>
          </a:xfrm>
          <a:prstGeom prst="rect">
            <a:avLst/>
          </a:prstGeom>
          <a:noFill/>
          <a:ln/>
        </p:spPr>
        <p:txBody>
          <a:bodyPr wrap="none" lIns="0" tIns="0" rIns="0" bIns="0" rtlCol="0" anchor="t"/>
          <a:lstStyle/>
          <a:p>
            <a:pPr algn="l" indent="0" marL="0">
              <a:buNone/>
            </a:pPr>
            <a:r>
              <a:rPr lang="en-US" sz="912" b="1" dirty="0">
                <a:solidFill>
                  <a:srgbClr val="120180"/>
                </a:solidFill>
                <a:latin typeface="Raleway" pitchFamily="34" charset="0"/>
                <a:ea typeface="Raleway" pitchFamily="34" charset="-122"/>
                <a:cs typeface="Raleway" pitchFamily="34" charset="-120"/>
              </a:rPr>
              <a:t>13.917</a:t>
            </a:r>
            <a:endParaRPr lang="en-US" sz="912" dirty="0"/>
          </a:p>
        </p:txBody>
      </p:sp>
      <p:sp>
        <p:nvSpPr>
          <p:cNvPr id="65" name="Text 62"/>
          <p:cNvSpPr/>
          <p:nvPr/>
        </p:nvSpPr>
        <p:spPr>
          <a:xfrm>
            <a:off x="4398803" y="2232720"/>
            <a:ext cx="728942"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66" name="Text 63"/>
          <p:cNvSpPr/>
          <p:nvPr/>
        </p:nvSpPr>
        <p:spPr>
          <a:xfrm>
            <a:off x="5498020" y="2513707"/>
            <a:ext cx="264461" cy="133350"/>
          </a:xfrm>
          <a:prstGeom prst="rect">
            <a:avLst/>
          </a:prstGeom>
          <a:noFill/>
          <a:ln/>
        </p:spPr>
        <p:txBody>
          <a:bodyPr wrap="non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2.245</a:t>
            </a:r>
            <a:endParaRPr lang="en-US" sz="840" dirty="0"/>
          </a:p>
        </p:txBody>
      </p:sp>
      <p:sp>
        <p:nvSpPr>
          <p:cNvPr id="67" name="Text 64"/>
          <p:cNvSpPr/>
          <p:nvPr/>
        </p:nvSpPr>
        <p:spPr>
          <a:xfrm>
            <a:off x="5502038" y="2761357"/>
            <a:ext cx="260443" cy="133350"/>
          </a:xfrm>
          <a:prstGeom prst="rect">
            <a:avLst/>
          </a:prstGeom>
          <a:noFill/>
          <a:ln/>
        </p:spPr>
        <p:txBody>
          <a:bodyPr wrap="non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2.374</a:t>
            </a:r>
            <a:endParaRPr lang="en-US" sz="840" dirty="0"/>
          </a:p>
        </p:txBody>
      </p:sp>
      <p:sp>
        <p:nvSpPr>
          <p:cNvPr id="68" name="Text 65"/>
          <p:cNvSpPr/>
          <p:nvPr/>
        </p:nvSpPr>
        <p:spPr>
          <a:xfrm>
            <a:off x="5505164" y="3009007"/>
            <a:ext cx="257317" cy="133350"/>
          </a:xfrm>
          <a:prstGeom prst="rect">
            <a:avLst/>
          </a:prstGeom>
          <a:noFill/>
          <a:ln/>
        </p:spPr>
        <p:txBody>
          <a:bodyPr wrap="non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2.431</a:t>
            </a:r>
            <a:endParaRPr lang="en-US" sz="840" dirty="0"/>
          </a:p>
        </p:txBody>
      </p:sp>
      <p:sp>
        <p:nvSpPr>
          <p:cNvPr id="69" name="Text 66"/>
          <p:cNvSpPr/>
          <p:nvPr/>
        </p:nvSpPr>
        <p:spPr>
          <a:xfrm>
            <a:off x="5494151" y="3256657"/>
            <a:ext cx="268330" cy="133350"/>
          </a:xfrm>
          <a:prstGeom prst="rect">
            <a:avLst/>
          </a:prstGeom>
          <a:noFill/>
          <a:ln/>
        </p:spPr>
        <p:txBody>
          <a:bodyPr wrap="non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2.367</a:t>
            </a:r>
            <a:endParaRPr lang="en-US" sz="840" dirty="0"/>
          </a:p>
        </p:txBody>
      </p:sp>
      <p:sp>
        <p:nvSpPr>
          <p:cNvPr id="70" name="Text 67"/>
          <p:cNvSpPr/>
          <p:nvPr/>
        </p:nvSpPr>
        <p:spPr>
          <a:xfrm>
            <a:off x="5496383" y="3504307"/>
            <a:ext cx="266098" cy="133350"/>
          </a:xfrm>
          <a:prstGeom prst="rect">
            <a:avLst/>
          </a:prstGeom>
          <a:noFill/>
          <a:ln/>
        </p:spPr>
        <p:txBody>
          <a:bodyPr wrap="non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2.186</a:t>
            </a:r>
            <a:endParaRPr lang="en-US" sz="840" dirty="0"/>
          </a:p>
        </p:txBody>
      </p:sp>
      <p:sp>
        <p:nvSpPr>
          <p:cNvPr id="71" name="Text 68"/>
          <p:cNvSpPr/>
          <p:nvPr/>
        </p:nvSpPr>
        <p:spPr>
          <a:xfrm>
            <a:off x="5505164" y="3751957"/>
            <a:ext cx="257317" cy="133350"/>
          </a:xfrm>
          <a:prstGeom prst="rect">
            <a:avLst/>
          </a:prstGeom>
          <a:noFill/>
          <a:ln/>
        </p:spPr>
        <p:txBody>
          <a:bodyPr wrap="none" lIns="0" tIns="0" rIns="0" bIns="0" rtlCol="0" anchor="t"/>
          <a:lstStyle/>
          <a:p>
            <a:pPr algn="r" indent="0" marL="0">
              <a:buNone/>
            </a:pPr>
            <a:r>
              <a:rPr lang="en-US" sz="840" b="1" dirty="0">
                <a:solidFill>
                  <a:srgbClr val="333333"/>
                </a:solidFill>
                <a:latin typeface="Raleway" pitchFamily="34" charset="0"/>
                <a:ea typeface="Raleway" pitchFamily="34" charset="-122"/>
                <a:cs typeface="Raleway" pitchFamily="34" charset="-120"/>
              </a:rPr>
              <a:t>2.314</a:t>
            </a:r>
            <a:endParaRPr lang="en-US" sz="840" dirty="0"/>
          </a:p>
        </p:txBody>
      </p:sp>
      <p:sp>
        <p:nvSpPr>
          <p:cNvPr id="72" name="Text 69"/>
          <p:cNvSpPr/>
          <p:nvPr/>
        </p:nvSpPr>
        <p:spPr>
          <a:xfrm>
            <a:off x="723882" y="3942457"/>
            <a:ext cx="582648" cy="214313"/>
          </a:xfrm>
          <a:prstGeom prst="rect">
            <a:avLst/>
          </a:prstGeom>
          <a:noFill/>
          <a:ln/>
        </p:spPr>
        <p:txBody>
          <a:bodyPr wrap="non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Total</a:t>
            </a:r>
            <a:endParaRPr lang="en-US" sz="840" dirty="0"/>
          </a:p>
        </p:txBody>
      </p:sp>
      <p:sp>
        <p:nvSpPr>
          <p:cNvPr id="73" name="Text 70"/>
          <p:cNvSpPr/>
          <p:nvPr/>
        </p:nvSpPr>
        <p:spPr>
          <a:xfrm>
            <a:off x="6314917" y="4539555"/>
            <a:ext cx="1528724" cy="122634"/>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Venta</a:t>
            </a:r>
            <a:endParaRPr lang="en-US" sz="840" dirty="0"/>
          </a:p>
        </p:txBody>
      </p:sp>
      <p:sp>
        <p:nvSpPr>
          <p:cNvPr id="74" name="Text 71"/>
          <p:cNvSpPr/>
          <p:nvPr/>
        </p:nvSpPr>
        <p:spPr>
          <a:xfrm>
            <a:off x="3552736" y="1181100"/>
            <a:ext cx="2333567"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60 %</a:t>
            </a:r>
            <a:endParaRPr lang="en-US" sz="1600" dirty="0"/>
          </a:p>
        </p:txBody>
      </p:sp>
      <p:sp>
        <p:nvSpPr>
          <p:cNvPr id="75" name="Text 72"/>
          <p:cNvSpPr/>
          <p:nvPr/>
        </p:nvSpPr>
        <p:spPr>
          <a:xfrm>
            <a:off x="3905450" y="2499420"/>
            <a:ext cx="379056"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49 %</a:t>
            </a:r>
            <a:endParaRPr lang="en-US" sz="816" dirty="0"/>
          </a:p>
        </p:txBody>
      </p:sp>
      <p:sp>
        <p:nvSpPr>
          <p:cNvPr id="76" name="Text 73"/>
          <p:cNvSpPr/>
          <p:nvPr/>
        </p:nvSpPr>
        <p:spPr>
          <a:xfrm>
            <a:off x="3917058" y="2747070"/>
            <a:ext cx="367447"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51 %</a:t>
            </a:r>
            <a:endParaRPr lang="en-US" sz="816" dirty="0"/>
          </a:p>
        </p:txBody>
      </p:sp>
      <p:sp>
        <p:nvSpPr>
          <p:cNvPr id="77" name="Text 74"/>
          <p:cNvSpPr/>
          <p:nvPr/>
        </p:nvSpPr>
        <p:spPr>
          <a:xfrm>
            <a:off x="3909171" y="2994720"/>
            <a:ext cx="375335"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45 %</a:t>
            </a:r>
            <a:endParaRPr lang="en-US" sz="816" dirty="0"/>
          </a:p>
        </p:txBody>
      </p:sp>
      <p:sp>
        <p:nvSpPr>
          <p:cNvPr id="78" name="Text 75"/>
          <p:cNvSpPr/>
          <p:nvPr/>
        </p:nvSpPr>
        <p:spPr>
          <a:xfrm>
            <a:off x="3911552" y="3242370"/>
            <a:ext cx="372954"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75 %</a:t>
            </a:r>
            <a:endParaRPr lang="en-US" sz="816" dirty="0"/>
          </a:p>
        </p:txBody>
      </p:sp>
      <p:sp>
        <p:nvSpPr>
          <p:cNvPr id="79" name="Text 76"/>
          <p:cNvSpPr/>
          <p:nvPr/>
        </p:nvSpPr>
        <p:spPr>
          <a:xfrm>
            <a:off x="3904706" y="3490020"/>
            <a:ext cx="379800"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76 %</a:t>
            </a:r>
            <a:endParaRPr lang="en-US" sz="816" dirty="0"/>
          </a:p>
        </p:txBody>
      </p:sp>
      <p:sp>
        <p:nvSpPr>
          <p:cNvPr id="80" name="Text 77"/>
          <p:cNvSpPr/>
          <p:nvPr/>
        </p:nvSpPr>
        <p:spPr>
          <a:xfrm>
            <a:off x="3905599" y="3737670"/>
            <a:ext cx="378907"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63 %</a:t>
            </a:r>
            <a:endParaRPr lang="en-US" sz="816" dirty="0"/>
          </a:p>
        </p:txBody>
      </p:sp>
      <p:sp>
        <p:nvSpPr>
          <p:cNvPr id="81" name="Text 78"/>
          <p:cNvSpPr/>
          <p:nvPr/>
        </p:nvSpPr>
        <p:spPr>
          <a:xfrm>
            <a:off x="3383225" y="3942457"/>
            <a:ext cx="1015578" cy="214313"/>
          </a:xfrm>
          <a:prstGeom prst="rect">
            <a:avLst/>
          </a:prstGeom>
          <a:noFill/>
          <a:ln/>
        </p:spPr>
        <p:txBody>
          <a:bodyPr wrap="non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60 %</a:t>
            </a:r>
            <a:endParaRPr lang="en-US" sz="840" dirty="0"/>
          </a:p>
        </p:txBody>
      </p:sp>
      <p:sp>
        <p:nvSpPr>
          <p:cNvPr id="82" name="Text 79"/>
          <p:cNvSpPr/>
          <p:nvPr/>
        </p:nvSpPr>
        <p:spPr>
          <a:xfrm>
            <a:off x="723882" y="2232720"/>
            <a:ext cx="582648"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3" name="Text 80"/>
          <p:cNvSpPr/>
          <p:nvPr/>
        </p:nvSpPr>
        <p:spPr>
          <a:xfrm>
            <a:off x="838179" y="2513707"/>
            <a:ext cx="192281" cy="133350"/>
          </a:xfrm>
          <a:prstGeom prst="rect">
            <a:avLst/>
          </a:prstGeom>
          <a:noFill/>
          <a:ln/>
        </p:spPr>
        <p:txBody>
          <a:bodyPr wrap="non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Ene</a:t>
            </a:r>
            <a:endParaRPr lang="en-US" sz="840" dirty="0"/>
          </a:p>
        </p:txBody>
      </p:sp>
      <p:sp>
        <p:nvSpPr>
          <p:cNvPr id="84" name="Text 81"/>
          <p:cNvSpPr/>
          <p:nvPr/>
        </p:nvSpPr>
        <p:spPr>
          <a:xfrm>
            <a:off x="838179" y="2761357"/>
            <a:ext cx="189602" cy="133350"/>
          </a:xfrm>
          <a:prstGeom prst="rect">
            <a:avLst/>
          </a:prstGeom>
          <a:noFill/>
          <a:ln/>
        </p:spPr>
        <p:txBody>
          <a:bodyPr wrap="non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Feb</a:t>
            </a:r>
            <a:endParaRPr lang="en-US" sz="840" dirty="0"/>
          </a:p>
        </p:txBody>
      </p:sp>
      <p:sp>
        <p:nvSpPr>
          <p:cNvPr id="85" name="Text 82"/>
          <p:cNvSpPr/>
          <p:nvPr/>
        </p:nvSpPr>
        <p:spPr>
          <a:xfrm>
            <a:off x="838179" y="3009007"/>
            <a:ext cx="194216" cy="133350"/>
          </a:xfrm>
          <a:prstGeom prst="rect">
            <a:avLst/>
          </a:prstGeom>
          <a:noFill/>
          <a:ln/>
        </p:spPr>
        <p:txBody>
          <a:bodyPr wrap="non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Mar</a:t>
            </a:r>
            <a:endParaRPr lang="en-US" sz="840" dirty="0"/>
          </a:p>
        </p:txBody>
      </p:sp>
      <p:sp>
        <p:nvSpPr>
          <p:cNvPr id="86" name="Text 83"/>
          <p:cNvSpPr/>
          <p:nvPr/>
        </p:nvSpPr>
        <p:spPr>
          <a:xfrm>
            <a:off x="838179" y="3256657"/>
            <a:ext cx="182880" cy="133350"/>
          </a:xfrm>
          <a:prstGeom prst="rect">
            <a:avLst/>
          </a:prstGeom>
          <a:noFill/>
          <a:ln/>
        </p:spPr>
        <p:txBody>
          <a:bodyPr wrap="non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Abr</a:t>
            </a:r>
            <a:endParaRPr lang="en-US" sz="840" dirty="0"/>
          </a:p>
        </p:txBody>
      </p:sp>
      <p:sp>
        <p:nvSpPr>
          <p:cNvPr id="87" name="Text 84"/>
          <p:cNvSpPr/>
          <p:nvPr/>
        </p:nvSpPr>
        <p:spPr>
          <a:xfrm>
            <a:off x="838179" y="3504307"/>
            <a:ext cx="209396" cy="133350"/>
          </a:xfrm>
          <a:prstGeom prst="rect">
            <a:avLst/>
          </a:prstGeom>
          <a:noFill/>
          <a:ln/>
        </p:spPr>
        <p:txBody>
          <a:bodyPr wrap="non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May</a:t>
            </a:r>
            <a:endParaRPr lang="en-US" sz="840" dirty="0"/>
          </a:p>
        </p:txBody>
      </p:sp>
      <p:sp>
        <p:nvSpPr>
          <p:cNvPr id="88" name="Text 85"/>
          <p:cNvSpPr/>
          <p:nvPr/>
        </p:nvSpPr>
        <p:spPr>
          <a:xfrm>
            <a:off x="838179" y="3751957"/>
            <a:ext cx="182880" cy="133350"/>
          </a:xfrm>
          <a:prstGeom prst="rect">
            <a:avLst/>
          </a:prstGeom>
          <a:noFill/>
          <a:ln/>
        </p:spPr>
        <p:txBody>
          <a:bodyPr wrap="none" lIns="0" tIns="0" rIns="0" bIns="0" rtlCol="0" anchor="t"/>
          <a:lstStyle/>
          <a:p>
            <a:pPr algn="l" indent="0" marL="0">
              <a:buNone/>
            </a:pPr>
            <a:r>
              <a:rPr lang="en-US" sz="840" b="1" dirty="0">
                <a:solidFill>
                  <a:srgbClr val="333333"/>
                </a:solidFill>
                <a:latin typeface="Raleway" pitchFamily="34" charset="0"/>
                <a:ea typeface="Raleway" pitchFamily="34" charset="-122"/>
                <a:cs typeface="Raleway" pitchFamily="34" charset="-120"/>
              </a:rPr>
              <a:t>Jun</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01_Repositorios\13_Presentaciones\dash\televentas\ppt_slides\sk_04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667333" y="4853880"/>
            <a:ext cx="4724282" cy="663029"/>
          </a:xfrm>
          <a:prstGeom prst="rect">
            <a:avLst/>
          </a:prstGeom>
          <a:noFill/>
          <a:ln/>
        </p:spPr>
        <p:txBody>
          <a:bodyPr wrap="none" lIns="0" tIns="0" rIns="0" bIns="0" rtlCol="0" anchor="t"/>
          <a:lstStyle/>
          <a:p>
            <a:pPr algn="l" indent="0" marL="0">
              <a:buNone/>
            </a:pPr>
            <a:r>
              <a:rPr lang="en-US" sz="696" b="1" dirty="0">
                <a:solidFill>
                  <a:srgbClr val="120180"/>
                </a:solidFill>
                <a:latin typeface="Raleway" pitchFamily="34" charset="0"/>
                <a:ea typeface="Raleway" pitchFamily="34" charset="-122"/>
                <a:cs typeface="Raleway" pitchFamily="34" charset="-120"/>
              </a:rPr>
              <a:t>el 78 % del descarte corresponde a bases repetidas y clientes con producto activo. Depurar estos registros en origen podría recuperar hasta  por semestre, equivalentes a ~ adicionales aplicando la conversión actual del canal. Una coordinación con Vanti para limpiar la base antes del cargue liberaría capacidad operativa sin aumentar el equipo.</a:t>
            </a:r>
            <a:endParaRPr lang="en-US" sz="696" dirty="0"/>
          </a:p>
        </p:txBody>
      </p:sp>
      <p:sp>
        <p:nvSpPr>
          <p:cNvPr id="4" name="Text 1"/>
          <p:cNvSpPr/>
          <p:nvPr/>
        </p:nvSpPr>
        <p:spPr>
          <a:xfrm>
            <a:off x="704832" y="3720405"/>
            <a:ext cx="5200520" cy="9525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 CP Clientes Satisfechos: campaña puntual solo en enero (no recurrente).</a:t>
            </a:r>
            <a:endParaRPr lang="en-US" sz="600" dirty="0"/>
          </a:p>
        </p:txBody>
      </p:sp>
      <p:sp>
        <p:nvSpPr>
          <p:cNvPr id="5" name="Text 2"/>
          <p:cNvSpPr/>
          <p:nvPr/>
        </p:nvSpPr>
        <p:spPr>
          <a:xfrm>
            <a:off x="9067573" y="1282005"/>
            <a:ext cx="2438339" cy="9525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Campaña con mayor volumen de registros (255.138) en el semestre</a:t>
            </a:r>
            <a:endParaRPr lang="en-US" sz="600" dirty="0"/>
          </a:p>
        </p:txBody>
      </p:sp>
      <p:sp>
        <p:nvSpPr>
          <p:cNvPr id="6" name="Text 3"/>
          <p:cNvSpPr/>
          <p:nvPr/>
        </p:nvSpPr>
        <p:spPr>
          <a:xfrm>
            <a:off x="3505112" y="1282005"/>
            <a:ext cx="2438339" cy="9525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Conversión más alta del portafolio · 3× el promedio del canal</a:t>
            </a:r>
            <a:endParaRPr lang="en-US" sz="600" dirty="0"/>
          </a:p>
        </p:txBody>
      </p:sp>
      <p:sp>
        <p:nvSpPr>
          <p:cNvPr id="7" name="Text 4"/>
          <p:cNvSpPr/>
          <p:nvPr/>
        </p:nvSpPr>
        <p:spPr>
          <a:xfrm>
            <a:off x="6286343" y="1282005"/>
            <a:ext cx="2438339" cy="9525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4,6 % de conversión · en el objetivo de la campaña (5 %)</a:t>
            </a:r>
            <a:endParaRPr lang="en-US" sz="600" dirty="0"/>
          </a:p>
        </p:txBody>
      </p:sp>
      <p:sp>
        <p:nvSpPr>
          <p:cNvPr id="8" name="Text 5"/>
          <p:cNvSpPr/>
          <p:nvPr/>
        </p:nvSpPr>
        <p:spPr>
          <a:xfrm>
            <a:off x="6286343" y="4653855"/>
            <a:ext cx="5200520"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548.368 registros descartados (60 % de la base total)</a:t>
            </a:r>
            <a:endParaRPr lang="en-US" sz="576" dirty="0"/>
          </a:p>
        </p:txBody>
      </p:sp>
      <p:sp>
        <p:nvSpPr>
          <p:cNvPr id="9" name="Text 6"/>
          <p:cNvSpPr/>
          <p:nvPr/>
        </p:nvSpPr>
        <p:spPr>
          <a:xfrm>
            <a:off x="723882" y="1282005"/>
            <a:ext cx="2438339" cy="9525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62 % del total del semestre · 19,5 % de conversión</a:t>
            </a:r>
            <a:endParaRPr lang="en-US" sz="600" dirty="0"/>
          </a:p>
        </p:txBody>
      </p:sp>
      <p:sp>
        <p:nvSpPr>
          <p:cNvPr id="10" name="Text 7"/>
          <p:cNvSpPr/>
          <p:nvPr/>
        </p:nvSpPr>
        <p:spPr>
          <a:xfrm>
            <a:off x="704832" y="5758755"/>
            <a:ext cx="5200520"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Cada mes: aptos → gestión → contacto → ventas</a:t>
            </a:r>
            <a:endParaRPr lang="en-US" sz="576" dirty="0"/>
          </a:p>
        </p:txBody>
      </p:sp>
      <p:sp>
        <p:nvSpPr>
          <p:cNvPr id="11" name="Text 8"/>
          <p:cNvSpPr/>
          <p:nvPr/>
        </p:nvSpPr>
        <p:spPr>
          <a:xfrm>
            <a:off x="6286343" y="3720405"/>
            <a:ext cx="5200520" cy="171450"/>
          </a:xfrm>
          <a:prstGeom prst="rect">
            <a:avLst/>
          </a:prstGeom>
          <a:noFill/>
          <a:ln/>
        </p:spPr>
        <p:txBody>
          <a:bodyPr wrap="non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Tipificación de rechazo (semestre)</a:t>
            </a:r>
            <a:endParaRPr lang="en-US" sz="840" dirty="0"/>
          </a:p>
        </p:txBody>
      </p:sp>
      <p:sp>
        <p:nvSpPr>
          <p:cNvPr id="12" name="Text 9"/>
          <p:cNvSpPr/>
          <p:nvPr/>
        </p:nvSpPr>
        <p:spPr>
          <a:xfrm>
            <a:off x="704832" y="1777305"/>
            <a:ext cx="5200520" cy="209550"/>
          </a:xfrm>
          <a:prstGeom prst="rect">
            <a:avLst/>
          </a:prstGeom>
          <a:noFill/>
          <a:ln/>
        </p:spPr>
        <p:txBody>
          <a:bodyPr wrap="none" lIns="0" tIns="0" rIns="0" bIns="0" rtlCol="0" anchor="t"/>
          <a:lstStyle/>
          <a:p>
            <a:pPr algn="l" indent="0" marL="0">
              <a:buNone/>
            </a:pPr>
            <a:r>
              <a:rPr lang="en-US" sz="912" b="1" dirty="0">
                <a:solidFill>
                  <a:srgbClr val="120180"/>
                </a:solidFill>
                <a:latin typeface="Raleway" pitchFamily="34" charset="0"/>
                <a:ea typeface="Raleway" pitchFamily="34" charset="-122"/>
                <a:cs typeface="Raleway" pitchFamily="34" charset="-120"/>
              </a:rPr>
              <a:t>Rendimiento por campaña (ene–jun)</a:t>
            </a:r>
            <a:endParaRPr lang="en-US" sz="912" dirty="0"/>
          </a:p>
        </p:txBody>
      </p:sp>
      <p:sp>
        <p:nvSpPr>
          <p:cNvPr id="13" name="Text 10"/>
          <p:cNvSpPr/>
          <p:nvPr/>
        </p:nvSpPr>
        <p:spPr>
          <a:xfrm>
            <a:off x="6286343" y="3920430"/>
            <a:ext cx="1142971"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Registro enviado anteriormente</a:t>
            </a:r>
            <a:endParaRPr lang="en-US" sz="576" dirty="0"/>
          </a:p>
        </p:txBody>
      </p:sp>
      <p:sp>
        <p:nvSpPr>
          <p:cNvPr id="14" name="Text 11"/>
          <p:cNvSpPr/>
          <p:nvPr/>
        </p:nvSpPr>
        <p:spPr>
          <a:xfrm>
            <a:off x="704832" y="3891855"/>
            <a:ext cx="5200520" cy="190500"/>
          </a:xfrm>
          <a:prstGeom prst="rect">
            <a:avLst/>
          </a:prstGeom>
          <a:noFill/>
          <a:ln/>
        </p:spPr>
        <p:txBody>
          <a:bodyPr wrap="non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Tipificación de aptos por mes</a:t>
            </a:r>
            <a:endParaRPr lang="en-US" sz="840" dirty="0"/>
          </a:p>
        </p:txBody>
      </p:sp>
      <p:sp>
        <p:nvSpPr>
          <p:cNvPr id="15" name="Text 12"/>
          <p:cNvSpPr/>
          <p:nvPr/>
        </p:nvSpPr>
        <p:spPr>
          <a:xfrm>
            <a:off x="6286343" y="1777305"/>
            <a:ext cx="5200520" cy="200025"/>
          </a:xfrm>
          <a:prstGeom prst="rect">
            <a:avLst/>
          </a:prstGeom>
          <a:noFill/>
          <a:ln/>
        </p:spPr>
        <p:txBody>
          <a:bodyPr wrap="non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Evolución del rechazo por mes</a:t>
            </a:r>
            <a:endParaRPr lang="en-US" sz="840" dirty="0"/>
          </a:p>
        </p:txBody>
      </p:sp>
      <p:sp>
        <p:nvSpPr>
          <p:cNvPr id="16" name="Text 13"/>
          <p:cNvSpPr/>
          <p:nvPr/>
        </p:nvSpPr>
        <p:spPr>
          <a:xfrm>
            <a:off x="6286343" y="4025205"/>
            <a:ext cx="1142971"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Producto ya activo (CP / MS)</a:t>
            </a:r>
            <a:endParaRPr lang="en-US" sz="576" dirty="0"/>
          </a:p>
        </p:txBody>
      </p:sp>
      <p:sp>
        <p:nvSpPr>
          <p:cNvPr id="17" name="Text 14"/>
          <p:cNvSpPr/>
          <p:nvPr/>
        </p:nvSpPr>
        <p:spPr>
          <a:xfrm>
            <a:off x="6286343" y="4129980"/>
            <a:ext cx="1142971"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Dirección repetida/errónea</a:t>
            </a:r>
            <a:endParaRPr lang="en-US" sz="576" dirty="0"/>
          </a:p>
        </p:txBody>
      </p:sp>
      <p:sp>
        <p:nvSpPr>
          <p:cNvPr id="18" name="Text 15"/>
          <p:cNvSpPr/>
          <p:nvPr/>
        </p:nvSpPr>
        <p:spPr>
          <a:xfrm>
            <a:off x="6286343" y="4234755"/>
            <a:ext cx="1142971"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Contrato / cédula repetida</a:t>
            </a:r>
            <a:endParaRPr lang="en-US" sz="576" dirty="0"/>
          </a:p>
        </p:txBody>
      </p:sp>
      <p:sp>
        <p:nvSpPr>
          <p:cNvPr id="19" name="Text 16"/>
          <p:cNvSpPr/>
          <p:nvPr/>
        </p:nvSpPr>
        <p:spPr>
          <a:xfrm>
            <a:off x="1213514" y="219075"/>
            <a:ext cx="2124617"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por Campaña</a:t>
            </a:r>
            <a:endParaRPr lang="en-US" sz="1260" dirty="0"/>
          </a:p>
        </p:txBody>
      </p:sp>
      <p:sp>
        <p:nvSpPr>
          <p:cNvPr id="20" name="Text 17"/>
          <p:cNvSpPr/>
          <p:nvPr/>
        </p:nvSpPr>
        <p:spPr>
          <a:xfrm>
            <a:off x="819130" y="3301305"/>
            <a:ext cx="1075405" cy="161925"/>
          </a:xfrm>
          <a:prstGeom prst="rect">
            <a:avLst/>
          </a:prstGeom>
          <a:noFill/>
          <a:ln/>
        </p:spPr>
        <p:txBody>
          <a:bodyPr wrap="none" lIns="0" tIns="0" rIns="0" bIns="0" rtlCol="0" anchor="t"/>
          <a:lstStyle/>
          <a:p>
            <a:pPr algn="l" indent="0" marL="0">
              <a:buNone/>
            </a:pPr>
            <a:r>
              <a:rPr lang="en-US" sz="816" b="1" dirty="0">
                <a:solidFill>
                  <a:srgbClr val="C44A1A"/>
                </a:solidFill>
                <a:latin typeface="Raleway" pitchFamily="34" charset="0"/>
                <a:ea typeface="Raleway" pitchFamily="34" charset="-122"/>
                <a:cs typeface="Raleway" pitchFamily="34" charset="-120"/>
              </a:rPr>
              <a:t>CP Clientes Satisf.*</a:t>
            </a:r>
            <a:endParaRPr lang="en-US" sz="816" dirty="0"/>
          </a:p>
        </p:txBody>
      </p:sp>
      <p:sp>
        <p:nvSpPr>
          <p:cNvPr id="21" name="Text 18"/>
          <p:cNvSpPr/>
          <p:nvPr/>
        </p:nvSpPr>
        <p:spPr>
          <a:xfrm>
            <a:off x="9067573" y="971550"/>
            <a:ext cx="2438339" cy="104775"/>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Masiva Voluntarios</a:t>
            </a:r>
            <a:endParaRPr lang="en-US" sz="720" dirty="0"/>
          </a:p>
        </p:txBody>
      </p:sp>
      <p:sp>
        <p:nvSpPr>
          <p:cNvPr id="22" name="Text 19"/>
          <p:cNvSpPr/>
          <p:nvPr/>
        </p:nvSpPr>
        <p:spPr>
          <a:xfrm>
            <a:off x="819130" y="3053655"/>
            <a:ext cx="1079721" cy="161925"/>
          </a:xfrm>
          <a:prstGeom prst="rect">
            <a:avLst/>
          </a:prstGeom>
          <a:noFill/>
          <a:ln/>
        </p:spPr>
        <p:txBody>
          <a:bodyPr wrap="none" lIns="0" tIns="0" rIns="0" bIns="0" rtlCol="0" anchor="t"/>
          <a:lstStyle/>
          <a:p>
            <a:pPr algn="l" indent="0" marL="0">
              <a:buNone/>
            </a:pPr>
            <a:r>
              <a:rPr lang="en-US" sz="816" b="1" dirty="0">
                <a:solidFill>
                  <a:srgbClr val="C44A1A"/>
                </a:solidFill>
                <a:latin typeface="Raleway" pitchFamily="34" charset="0"/>
                <a:ea typeface="Raleway" pitchFamily="34" charset="-122"/>
                <a:cs typeface="Raleway" pitchFamily="34" charset="-120"/>
              </a:rPr>
              <a:t>Masiva Voluntarios</a:t>
            </a:r>
            <a:endParaRPr lang="en-US" sz="816" dirty="0"/>
          </a:p>
        </p:txBody>
      </p:sp>
      <p:sp>
        <p:nvSpPr>
          <p:cNvPr id="23" name="Text 20"/>
          <p:cNvSpPr/>
          <p:nvPr/>
        </p:nvSpPr>
        <p:spPr>
          <a:xfrm>
            <a:off x="10153843" y="209550"/>
            <a:ext cx="1466367"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Campañas</a:t>
            </a:r>
            <a:endParaRPr lang="en-US" sz="840" dirty="0"/>
          </a:p>
        </p:txBody>
      </p:sp>
      <p:sp>
        <p:nvSpPr>
          <p:cNvPr id="24" name="Text 21"/>
          <p:cNvSpPr/>
          <p:nvPr/>
        </p:nvSpPr>
        <p:spPr>
          <a:xfrm>
            <a:off x="6286343" y="4444305"/>
            <a:ext cx="1142971"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Teléfono errado</a:t>
            </a:r>
            <a:endParaRPr lang="en-US" sz="576" dirty="0"/>
          </a:p>
        </p:txBody>
      </p:sp>
      <p:sp>
        <p:nvSpPr>
          <p:cNvPr id="25" name="Text 22"/>
          <p:cNvSpPr/>
          <p:nvPr/>
        </p:nvSpPr>
        <p:spPr>
          <a:xfrm>
            <a:off x="723882" y="971550"/>
            <a:ext cx="2438339" cy="104775"/>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Bienvenidas CP</a:t>
            </a:r>
            <a:endParaRPr lang="en-US" sz="720" dirty="0"/>
          </a:p>
        </p:txBody>
      </p:sp>
      <p:sp>
        <p:nvSpPr>
          <p:cNvPr id="26" name="Text 23"/>
          <p:cNvSpPr/>
          <p:nvPr/>
        </p:nvSpPr>
        <p:spPr>
          <a:xfrm>
            <a:off x="4552985" y="2044005"/>
            <a:ext cx="1352367"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Conv./contacto</a:t>
            </a:r>
            <a:endParaRPr lang="en-US" sz="888" dirty="0"/>
          </a:p>
        </p:txBody>
      </p:sp>
      <p:sp>
        <p:nvSpPr>
          <p:cNvPr id="27" name="Text 24"/>
          <p:cNvSpPr/>
          <p:nvPr/>
        </p:nvSpPr>
        <p:spPr>
          <a:xfrm>
            <a:off x="819130" y="2310705"/>
            <a:ext cx="917354" cy="161925"/>
          </a:xfrm>
          <a:prstGeom prst="rect">
            <a:avLst/>
          </a:prstGeom>
          <a:noFill/>
          <a:ln/>
        </p:spPr>
        <p:txBody>
          <a:bodyPr wrap="none" lIns="0" tIns="0" rIns="0" bIns="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Bienvenidas CP</a:t>
            </a:r>
            <a:endParaRPr lang="en-US" sz="816" dirty="0"/>
          </a:p>
        </p:txBody>
      </p:sp>
      <p:sp>
        <p:nvSpPr>
          <p:cNvPr id="28" name="Text 25"/>
          <p:cNvSpPr/>
          <p:nvPr/>
        </p:nvSpPr>
        <p:spPr>
          <a:xfrm>
            <a:off x="3505112" y="971550"/>
            <a:ext cx="2438339" cy="104775"/>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Autogestión</a:t>
            </a:r>
            <a:endParaRPr lang="en-US" sz="720" dirty="0"/>
          </a:p>
        </p:txBody>
      </p:sp>
      <p:sp>
        <p:nvSpPr>
          <p:cNvPr id="29" name="Text 26"/>
          <p:cNvSpPr/>
          <p:nvPr/>
        </p:nvSpPr>
        <p:spPr>
          <a:xfrm>
            <a:off x="819130" y="2558355"/>
            <a:ext cx="757219" cy="161925"/>
          </a:xfrm>
          <a:prstGeom prst="rect">
            <a:avLst/>
          </a:prstGeom>
          <a:noFill/>
          <a:ln/>
        </p:spPr>
        <p:txBody>
          <a:bodyPr wrap="none" lIns="0" tIns="0" rIns="0" bIns="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Autogestión</a:t>
            </a:r>
            <a:endParaRPr lang="en-US" sz="816" dirty="0"/>
          </a:p>
        </p:txBody>
      </p:sp>
      <p:sp>
        <p:nvSpPr>
          <p:cNvPr id="30" name="Text 27"/>
          <p:cNvSpPr/>
          <p:nvPr/>
        </p:nvSpPr>
        <p:spPr>
          <a:xfrm>
            <a:off x="6286343" y="4339530"/>
            <a:ext cx="1142971"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Supera edad</a:t>
            </a:r>
            <a:endParaRPr lang="en-US" sz="576" dirty="0"/>
          </a:p>
        </p:txBody>
      </p:sp>
      <p:sp>
        <p:nvSpPr>
          <p:cNvPr id="31" name="Text 28"/>
          <p:cNvSpPr/>
          <p:nvPr/>
        </p:nvSpPr>
        <p:spPr>
          <a:xfrm>
            <a:off x="3617028" y="2044005"/>
            <a:ext cx="935957"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2" name="Text 29"/>
          <p:cNvSpPr/>
          <p:nvPr/>
        </p:nvSpPr>
        <p:spPr>
          <a:xfrm>
            <a:off x="8492962" y="2015430"/>
            <a:ext cx="176401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3" name="Text 30"/>
          <p:cNvSpPr/>
          <p:nvPr/>
        </p:nvSpPr>
        <p:spPr>
          <a:xfrm>
            <a:off x="2056902" y="2044005"/>
            <a:ext cx="832077"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4" name="Text 31"/>
          <p:cNvSpPr/>
          <p:nvPr/>
        </p:nvSpPr>
        <p:spPr>
          <a:xfrm>
            <a:off x="7013201" y="2015430"/>
            <a:ext cx="147976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5" name="Text 32"/>
          <p:cNvSpPr/>
          <p:nvPr/>
        </p:nvSpPr>
        <p:spPr>
          <a:xfrm>
            <a:off x="6286343" y="971550"/>
            <a:ext cx="2438339" cy="104775"/>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CP Stock</a:t>
            </a:r>
            <a:endParaRPr lang="en-US" sz="720" dirty="0"/>
          </a:p>
        </p:txBody>
      </p:sp>
      <p:sp>
        <p:nvSpPr>
          <p:cNvPr id="36" name="Text 33"/>
          <p:cNvSpPr/>
          <p:nvPr/>
        </p:nvSpPr>
        <p:spPr>
          <a:xfrm>
            <a:off x="819130" y="2806005"/>
            <a:ext cx="590684" cy="161925"/>
          </a:xfrm>
          <a:prstGeom prst="rect">
            <a:avLst/>
          </a:prstGeom>
          <a:noFill/>
          <a:ln/>
        </p:spPr>
        <p:txBody>
          <a:bodyPr wrap="none" lIns="0" tIns="0" rIns="0" bIns="0" rtlCol="0" anchor="t"/>
          <a:lstStyle/>
          <a:p>
            <a:pPr algn="l" indent="0" marL="0">
              <a:buNone/>
            </a:pPr>
            <a:r>
              <a:rPr lang="en-US" sz="816" b="1" dirty="0">
                <a:solidFill>
                  <a:srgbClr val="8A6200"/>
                </a:solidFill>
                <a:latin typeface="Raleway" pitchFamily="34" charset="0"/>
                <a:ea typeface="Raleway" pitchFamily="34" charset="-122"/>
                <a:cs typeface="Raleway" pitchFamily="34" charset="-120"/>
              </a:rPr>
              <a:t>CP Stock</a:t>
            </a:r>
            <a:endParaRPr lang="en-US" sz="816" dirty="0"/>
          </a:p>
        </p:txBody>
      </p:sp>
      <p:sp>
        <p:nvSpPr>
          <p:cNvPr id="37" name="Text 34"/>
          <p:cNvSpPr/>
          <p:nvPr/>
        </p:nvSpPr>
        <p:spPr>
          <a:xfrm>
            <a:off x="3075159" y="4110930"/>
            <a:ext cx="829250"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Contacto</a:t>
            </a:r>
            <a:endParaRPr lang="en-US" sz="888" dirty="0"/>
          </a:p>
        </p:txBody>
      </p:sp>
      <p:sp>
        <p:nvSpPr>
          <p:cNvPr id="38" name="Text 35"/>
          <p:cNvSpPr/>
          <p:nvPr/>
        </p:nvSpPr>
        <p:spPr>
          <a:xfrm>
            <a:off x="704832" y="2044005"/>
            <a:ext cx="1352070"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Campaña</a:t>
            </a:r>
            <a:endParaRPr lang="en-US" sz="888" dirty="0"/>
          </a:p>
        </p:txBody>
      </p:sp>
      <p:sp>
        <p:nvSpPr>
          <p:cNvPr id="39" name="Text 36"/>
          <p:cNvSpPr/>
          <p:nvPr/>
        </p:nvSpPr>
        <p:spPr>
          <a:xfrm>
            <a:off x="2056902" y="2272605"/>
            <a:ext cx="832077" cy="242888"/>
          </a:xfrm>
          <a:prstGeom prst="rect">
            <a:avLst/>
          </a:prstGeom>
          <a:noFill/>
          <a:ln/>
        </p:spPr>
        <p:txBody>
          <a:bodyPr wrap="none" lIns="0" tIns="0" rIns="0" bIns="0" rtlCol="0" anchor="t"/>
          <a:lstStyle/>
          <a:p>
            <a:pPr algn="r" indent="0" marL="0">
              <a:buNone/>
            </a:pPr>
            <a:r>
              <a:rPr lang="en-US" sz="792" dirty="0">
                <a:solidFill>
                  <a:srgbClr val="333333"/>
                </a:solidFill>
                <a:latin typeface="Raleway" pitchFamily="34" charset="0"/>
                <a:ea typeface="Raleway" pitchFamily="34" charset="-122"/>
                <a:cs typeface="Raleway" pitchFamily="34" charset="-120"/>
              </a:rPr>
              <a:t>114.696</a:t>
            </a:r>
            <a:endParaRPr lang="en-US" sz="792" dirty="0"/>
          </a:p>
        </p:txBody>
      </p:sp>
      <p:sp>
        <p:nvSpPr>
          <p:cNvPr id="40" name="Text 37"/>
          <p:cNvSpPr/>
          <p:nvPr/>
        </p:nvSpPr>
        <p:spPr>
          <a:xfrm>
            <a:off x="2056902" y="2763143"/>
            <a:ext cx="832077" cy="247650"/>
          </a:xfrm>
          <a:prstGeom prst="rect">
            <a:avLst/>
          </a:prstGeom>
          <a:noFill/>
          <a:ln/>
        </p:spPr>
        <p:txBody>
          <a:bodyPr wrap="none" lIns="0" tIns="0" rIns="0" bIns="0" rtlCol="0" anchor="t"/>
          <a:lstStyle/>
          <a:p>
            <a:pPr algn="r" indent="0" marL="0">
              <a:buNone/>
            </a:pPr>
            <a:r>
              <a:rPr lang="en-US" sz="792" dirty="0">
                <a:solidFill>
                  <a:srgbClr val="333333"/>
                </a:solidFill>
                <a:latin typeface="Raleway" pitchFamily="34" charset="0"/>
                <a:ea typeface="Raleway" pitchFamily="34" charset="-122"/>
                <a:cs typeface="Raleway" pitchFamily="34" charset="-120"/>
              </a:rPr>
              <a:t>420.641</a:t>
            </a:r>
            <a:endParaRPr lang="en-US" sz="792" dirty="0"/>
          </a:p>
        </p:txBody>
      </p:sp>
      <p:sp>
        <p:nvSpPr>
          <p:cNvPr id="41" name="Text 38"/>
          <p:cNvSpPr/>
          <p:nvPr/>
        </p:nvSpPr>
        <p:spPr>
          <a:xfrm>
            <a:off x="2056902" y="3010793"/>
            <a:ext cx="832077" cy="247650"/>
          </a:xfrm>
          <a:prstGeom prst="rect">
            <a:avLst/>
          </a:prstGeom>
          <a:noFill/>
          <a:ln/>
        </p:spPr>
        <p:txBody>
          <a:bodyPr wrap="none" lIns="0" tIns="0" rIns="0" bIns="0" rtlCol="0" anchor="t"/>
          <a:lstStyle/>
          <a:p>
            <a:pPr algn="r" indent="0" marL="0">
              <a:buNone/>
            </a:pPr>
            <a:r>
              <a:rPr lang="en-US" sz="792" dirty="0">
                <a:solidFill>
                  <a:srgbClr val="333333"/>
                </a:solidFill>
                <a:latin typeface="Raleway" pitchFamily="34" charset="0"/>
                <a:ea typeface="Raleway" pitchFamily="34" charset="-122"/>
                <a:cs typeface="Raleway" pitchFamily="34" charset="-120"/>
              </a:rPr>
              <a:t>255.138</a:t>
            </a:r>
            <a:endParaRPr lang="en-US" sz="792" dirty="0"/>
          </a:p>
        </p:txBody>
      </p:sp>
      <p:sp>
        <p:nvSpPr>
          <p:cNvPr id="42" name="Text 39"/>
          <p:cNvSpPr/>
          <p:nvPr/>
        </p:nvSpPr>
        <p:spPr>
          <a:xfrm>
            <a:off x="2056902" y="3258443"/>
            <a:ext cx="832077" cy="247650"/>
          </a:xfrm>
          <a:prstGeom prst="rect">
            <a:avLst/>
          </a:prstGeom>
          <a:noFill/>
          <a:ln/>
        </p:spPr>
        <p:txBody>
          <a:bodyPr wrap="none" lIns="0" tIns="0" rIns="0" bIns="0" rtlCol="0" anchor="t"/>
          <a:lstStyle/>
          <a:p>
            <a:pPr algn="r" indent="0" marL="0">
              <a:buNone/>
            </a:pPr>
            <a:r>
              <a:rPr lang="en-US" sz="792" dirty="0">
                <a:solidFill>
                  <a:srgbClr val="333333"/>
                </a:solidFill>
                <a:latin typeface="Raleway" pitchFamily="34" charset="0"/>
                <a:ea typeface="Raleway" pitchFamily="34" charset="-122"/>
                <a:cs typeface="Raleway" pitchFamily="34" charset="-120"/>
              </a:rPr>
              <a:t>108.659</a:t>
            </a:r>
            <a:endParaRPr lang="en-US" sz="792" dirty="0"/>
          </a:p>
        </p:txBody>
      </p:sp>
      <p:sp>
        <p:nvSpPr>
          <p:cNvPr id="43" name="Text 40"/>
          <p:cNvSpPr/>
          <p:nvPr/>
        </p:nvSpPr>
        <p:spPr>
          <a:xfrm>
            <a:off x="2056902" y="3506093"/>
            <a:ext cx="832077"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910.820</a:t>
            </a:r>
            <a:endParaRPr lang="en-US" sz="720" dirty="0"/>
          </a:p>
        </p:txBody>
      </p:sp>
      <p:sp>
        <p:nvSpPr>
          <p:cNvPr id="44" name="Text 41"/>
          <p:cNvSpPr/>
          <p:nvPr/>
        </p:nvSpPr>
        <p:spPr>
          <a:xfrm>
            <a:off x="1686329" y="4110930"/>
            <a:ext cx="710637"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Gestión</a:t>
            </a:r>
            <a:endParaRPr lang="en-US" sz="888" dirty="0"/>
          </a:p>
        </p:txBody>
      </p:sp>
      <p:sp>
        <p:nvSpPr>
          <p:cNvPr id="45" name="Text 42"/>
          <p:cNvSpPr/>
          <p:nvPr/>
        </p:nvSpPr>
        <p:spPr>
          <a:xfrm>
            <a:off x="2396966" y="4110930"/>
            <a:ext cx="678193"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Gest.</a:t>
            </a:r>
            <a:endParaRPr lang="en-US" sz="888" dirty="0"/>
          </a:p>
        </p:txBody>
      </p:sp>
      <p:sp>
        <p:nvSpPr>
          <p:cNvPr id="46" name="Text 43"/>
          <p:cNvSpPr/>
          <p:nvPr/>
        </p:nvSpPr>
        <p:spPr>
          <a:xfrm>
            <a:off x="3904408" y="4110930"/>
            <a:ext cx="654232"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Ctto.</a:t>
            </a:r>
            <a:endParaRPr lang="en-US" sz="888" dirty="0"/>
          </a:p>
        </p:txBody>
      </p:sp>
      <p:sp>
        <p:nvSpPr>
          <p:cNvPr id="47" name="Text 44"/>
          <p:cNvSpPr/>
          <p:nvPr/>
        </p:nvSpPr>
        <p:spPr>
          <a:xfrm>
            <a:off x="5200520" y="4110930"/>
            <a:ext cx="704832"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Conv.</a:t>
            </a:r>
            <a:endParaRPr lang="en-US" sz="888" dirty="0"/>
          </a:p>
        </p:txBody>
      </p:sp>
      <p:sp>
        <p:nvSpPr>
          <p:cNvPr id="48" name="Text 45"/>
          <p:cNvSpPr/>
          <p:nvPr/>
        </p:nvSpPr>
        <p:spPr>
          <a:xfrm>
            <a:off x="1125261" y="4282380"/>
            <a:ext cx="561068" cy="20478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49" name="Text 46"/>
          <p:cNvSpPr/>
          <p:nvPr/>
        </p:nvSpPr>
        <p:spPr>
          <a:xfrm>
            <a:off x="1686329" y="4282380"/>
            <a:ext cx="710637" cy="20478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50" name="Text 47"/>
          <p:cNvSpPr/>
          <p:nvPr/>
        </p:nvSpPr>
        <p:spPr>
          <a:xfrm>
            <a:off x="1125261" y="5534918"/>
            <a:ext cx="561068" cy="204787"/>
          </a:xfrm>
          <a:prstGeom prst="rect">
            <a:avLst/>
          </a:prstGeom>
          <a:noFill/>
          <a:ln/>
        </p:spPr>
        <p:txBody>
          <a:bodyPr wrap="none" lIns="0" tIns="0" rIns="0" bIns="0" rtlCol="0" anchor="t"/>
          <a:lstStyle/>
          <a:p>
            <a:pPr algn="r" indent="0" marL="0">
              <a:buNone/>
            </a:pPr>
            <a:r>
              <a:rPr lang="en-US" sz="624" b="1" dirty="0">
                <a:solidFill>
                  <a:srgbClr val="120180"/>
                </a:solidFill>
                <a:latin typeface="Raleway" pitchFamily="34" charset="0"/>
                <a:ea typeface="Raleway" pitchFamily="34" charset="-122"/>
                <a:cs typeface="Raleway" pitchFamily="34" charset="-120"/>
              </a:rPr>
              <a:t>363.715</a:t>
            </a:r>
            <a:endParaRPr lang="en-US" sz="624" dirty="0"/>
          </a:p>
        </p:txBody>
      </p:sp>
      <p:sp>
        <p:nvSpPr>
          <p:cNvPr id="51" name="Text 48"/>
          <p:cNvSpPr/>
          <p:nvPr/>
        </p:nvSpPr>
        <p:spPr>
          <a:xfrm>
            <a:off x="1686329" y="5534918"/>
            <a:ext cx="710637" cy="204787"/>
          </a:xfrm>
          <a:prstGeom prst="rect">
            <a:avLst/>
          </a:prstGeom>
          <a:noFill/>
          <a:ln/>
        </p:spPr>
        <p:txBody>
          <a:bodyPr wrap="none" lIns="0" tIns="0" rIns="0" bIns="0" rtlCol="0" anchor="t"/>
          <a:lstStyle/>
          <a:p>
            <a:pPr algn="r" indent="0" marL="0">
              <a:buNone/>
            </a:pPr>
            <a:r>
              <a:rPr lang="en-US" sz="624" b="1" dirty="0">
                <a:solidFill>
                  <a:srgbClr val="120180"/>
                </a:solidFill>
                <a:latin typeface="Raleway" pitchFamily="34" charset="0"/>
                <a:ea typeface="Raleway" pitchFamily="34" charset="-122"/>
                <a:cs typeface="Raleway" pitchFamily="34" charset="-120"/>
              </a:rPr>
              <a:t>321.087</a:t>
            </a:r>
            <a:endParaRPr lang="en-US" sz="624" dirty="0"/>
          </a:p>
        </p:txBody>
      </p:sp>
      <p:sp>
        <p:nvSpPr>
          <p:cNvPr id="52" name="Text 49"/>
          <p:cNvSpPr/>
          <p:nvPr/>
        </p:nvSpPr>
        <p:spPr>
          <a:xfrm>
            <a:off x="3075159" y="5534918"/>
            <a:ext cx="829250" cy="204787"/>
          </a:xfrm>
          <a:prstGeom prst="rect">
            <a:avLst/>
          </a:prstGeom>
          <a:noFill/>
          <a:ln/>
        </p:spPr>
        <p:txBody>
          <a:bodyPr wrap="none" lIns="0" tIns="0" rIns="0" bIns="0" rtlCol="0" anchor="t"/>
          <a:lstStyle/>
          <a:p>
            <a:pPr algn="r" indent="0" marL="0">
              <a:buNone/>
            </a:pPr>
            <a:r>
              <a:rPr lang="en-US" sz="624" b="1" dirty="0">
                <a:solidFill>
                  <a:srgbClr val="120180"/>
                </a:solidFill>
                <a:latin typeface="Raleway" pitchFamily="34" charset="0"/>
                <a:ea typeface="Raleway" pitchFamily="34" charset="-122"/>
                <a:cs typeface="Raleway" pitchFamily="34" charset="-120"/>
              </a:rPr>
              <a:t>129.696</a:t>
            </a:r>
            <a:endParaRPr lang="en-US" sz="624" dirty="0"/>
          </a:p>
        </p:txBody>
      </p:sp>
      <p:sp>
        <p:nvSpPr>
          <p:cNvPr id="53" name="Text 50"/>
          <p:cNvSpPr/>
          <p:nvPr/>
        </p:nvSpPr>
        <p:spPr>
          <a:xfrm>
            <a:off x="10256978" y="2015430"/>
            <a:ext cx="1229885"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54" name="Text 51"/>
          <p:cNvSpPr/>
          <p:nvPr/>
        </p:nvSpPr>
        <p:spPr>
          <a:xfrm>
            <a:off x="7013201" y="2186880"/>
            <a:ext cx="1479761" cy="204787"/>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201.409</a:t>
            </a:r>
            <a:endParaRPr lang="en-US" sz="672" dirty="0"/>
          </a:p>
        </p:txBody>
      </p:sp>
      <p:sp>
        <p:nvSpPr>
          <p:cNvPr id="55" name="Text 52"/>
          <p:cNvSpPr/>
          <p:nvPr/>
        </p:nvSpPr>
        <p:spPr>
          <a:xfrm>
            <a:off x="7013201" y="2601218"/>
            <a:ext cx="1479761"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134.897</a:t>
            </a:r>
            <a:endParaRPr lang="en-US" sz="672" dirty="0"/>
          </a:p>
        </p:txBody>
      </p:sp>
      <p:sp>
        <p:nvSpPr>
          <p:cNvPr id="56" name="Text 53"/>
          <p:cNvSpPr/>
          <p:nvPr/>
        </p:nvSpPr>
        <p:spPr>
          <a:xfrm>
            <a:off x="7013201" y="2810768"/>
            <a:ext cx="1479761"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153.111</a:t>
            </a:r>
            <a:endParaRPr lang="en-US" sz="672" dirty="0"/>
          </a:p>
        </p:txBody>
      </p:sp>
      <p:sp>
        <p:nvSpPr>
          <p:cNvPr id="57" name="Text 54"/>
          <p:cNvSpPr/>
          <p:nvPr/>
        </p:nvSpPr>
        <p:spPr>
          <a:xfrm>
            <a:off x="8492962" y="2810768"/>
            <a:ext cx="1764016"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114.123</a:t>
            </a:r>
            <a:endParaRPr lang="en-US" sz="672" dirty="0"/>
          </a:p>
        </p:txBody>
      </p:sp>
      <p:sp>
        <p:nvSpPr>
          <p:cNvPr id="58" name="Text 55"/>
          <p:cNvSpPr/>
          <p:nvPr/>
        </p:nvSpPr>
        <p:spPr>
          <a:xfrm>
            <a:off x="7013201" y="3020318"/>
            <a:ext cx="1479761"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154.335</a:t>
            </a:r>
            <a:endParaRPr lang="en-US" sz="672" dirty="0"/>
          </a:p>
        </p:txBody>
      </p:sp>
      <p:sp>
        <p:nvSpPr>
          <p:cNvPr id="59" name="Text 56"/>
          <p:cNvSpPr/>
          <p:nvPr/>
        </p:nvSpPr>
        <p:spPr>
          <a:xfrm>
            <a:off x="8492962" y="3020318"/>
            <a:ext cx="1764016"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116.691</a:t>
            </a:r>
            <a:endParaRPr lang="en-US" sz="672" dirty="0"/>
          </a:p>
        </p:txBody>
      </p:sp>
      <p:sp>
        <p:nvSpPr>
          <p:cNvPr id="60" name="Text 57"/>
          <p:cNvSpPr/>
          <p:nvPr/>
        </p:nvSpPr>
        <p:spPr>
          <a:xfrm>
            <a:off x="7013201" y="3229868"/>
            <a:ext cx="1479761"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173.413</a:t>
            </a:r>
            <a:endParaRPr lang="en-US" sz="672" dirty="0"/>
          </a:p>
        </p:txBody>
      </p:sp>
      <p:sp>
        <p:nvSpPr>
          <p:cNvPr id="61" name="Text 58"/>
          <p:cNvSpPr/>
          <p:nvPr/>
        </p:nvSpPr>
        <p:spPr>
          <a:xfrm>
            <a:off x="8492962" y="3229868"/>
            <a:ext cx="1764016"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109.130</a:t>
            </a:r>
            <a:endParaRPr lang="en-US" sz="672" dirty="0"/>
          </a:p>
        </p:txBody>
      </p:sp>
      <p:sp>
        <p:nvSpPr>
          <p:cNvPr id="62" name="Text 59"/>
          <p:cNvSpPr/>
          <p:nvPr/>
        </p:nvSpPr>
        <p:spPr>
          <a:xfrm>
            <a:off x="7013201" y="3439418"/>
            <a:ext cx="1479761" cy="204787"/>
          </a:xfrm>
          <a:prstGeom prst="rect">
            <a:avLst/>
          </a:prstGeom>
          <a:noFill/>
          <a:ln/>
        </p:spPr>
        <p:txBody>
          <a:bodyPr wrap="none" lIns="0" tIns="0" rIns="0" bIns="0" rtlCol="0" anchor="t"/>
          <a:lstStyle/>
          <a:p>
            <a:pPr algn="r" indent="0" marL="0">
              <a:buNone/>
            </a:pPr>
            <a:r>
              <a:rPr lang="en-US" sz="624" b="1" dirty="0">
                <a:solidFill>
                  <a:srgbClr val="120180"/>
                </a:solidFill>
                <a:latin typeface="Raleway" pitchFamily="34" charset="0"/>
                <a:ea typeface="Raleway" pitchFamily="34" charset="-122"/>
                <a:cs typeface="Raleway" pitchFamily="34" charset="-120"/>
              </a:rPr>
              <a:t>912.083</a:t>
            </a:r>
            <a:endParaRPr lang="en-US" sz="624" dirty="0"/>
          </a:p>
        </p:txBody>
      </p:sp>
      <p:sp>
        <p:nvSpPr>
          <p:cNvPr id="63" name="Text 60"/>
          <p:cNvSpPr/>
          <p:nvPr/>
        </p:nvSpPr>
        <p:spPr>
          <a:xfrm>
            <a:off x="8492962" y="3439418"/>
            <a:ext cx="1764016" cy="204787"/>
          </a:xfrm>
          <a:prstGeom prst="rect">
            <a:avLst/>
          </a:prstGeom>
          <a:noFill/>
          <a:ln/>
        </p:spPr>
        <p:txBody>
          <a:bodyPr wrap="none" lIns="0" tIns="0" rIns="0" bIns="0" rtlCol="0" anchor="t"/>
          <a:lstStyle/>
          <a:p>
            <a:pPr algn="r" indent="0" marL="0">
              <a:buNone/>
            </a:pPr>
            <a:r>
              <a:rPr lang="en-US" sz="624" b="1" dirty="0">
                <a:solidFill>
                  <a:srgbClr val="120180"/>
                </a:solidFill>
                <a:latin typeface="Raleway" pitchFamily="34" charset="0"/>
                <a:ea typeface="Raleway" pitchFamily="34" charset="-122"/>
                <a:cs typeface="Raleway" pitchFamily="34" charset="-120"/>
              </a:rPr>
              <a:t>548.368</a:t>
            </a:r>
            <a:endParaRPr lang="en-US" sz="624" dirty="0"/>
          </a:p>
        </p:txBody>
      </p:sp>
      <p:sp>
        <p:nvSpPr>
          <p:cNvPr id="64" name="Text 61"/>
          <p:cNvSpPr/>
          <p:nvPr/>
        </p:nvSpPr>
        <p:spPr>
          <a:xfrm>
            <a:off x="1088204" y="1143000"/>
            <a:ext cx="235589" cy="9525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65" name="Text 62"/>
          <p:cNvSpPr/>
          <p:nvPr/>
        </p:nvSpPr>
        <p:spPr>
          <a:xfrm>
            <a:off x="3505112" y="1114425"/>
            <a:ext cx="2438339" cy="129480"/>
          </a:xfrm>
          <a:prstGeom prst="rect">
            <a:avLst/>
          </a:prstGeom>
          <a:noFill/>
          <a:ln/>
        </p:spPr>
        <p:txBody>
          <a:bodyPr wrap="none" lIns="0" tIns="0" rIns="0" bIns="0" rtlCol="0" anchor="t"/>
          <a:lstStyle/>
          <a:p>
            <a:pPr algn="l" indent="0" marL="0">
              <a:buNone/>
            </a:pPr>
            <a:r>
              <a:rPr lang="en-US" sz="1020" b="1" dirty="0">
                <a:solidFill>
                  <a:srgbClr val="00CD93"/>
                </a:solidFill>
                <a:latin typeface="Raleway" pitchFamily="34" charset="0"/>
                <a:ea typeface="Raleway" pitchFamily="34" charset="-122"/>
                <a:cs typeface="Raleway" pitchFamily="34" charset="-120"/>
              </a:rPr>
              <a:t>26,6 %</a:t>
            </a:r>
            <a:endParaRPr lang="en-US" sz="1020" dirty="0"/>
          </a:p>
        </p:txBody>
      </p:sp>
      <p:sp>
        <p:nvSpPr>
          <p:cNvPr id="66" name="Text 63"/>
          <p:cNvSpPr/>
          <p:nvPr/>
        </p:nvSpPr>
        <p:spPr>
          <a:xfrm>
            <a:off x="6649177" y="1143000"/>
            <a:ext cx="235589" cy="9525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67" name="Text 64"/>
          <p:cNvSpPr/>
          <p:nvPr/>
        </p:nvSpPr>
        <p:spPr>
          <a:xfrm>
            <a:off x="9317301" y="1143000"/>
            <a:ext cx="235589" cy="9525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68" name="Text 65"/>
          <p:cNvSpPr/>
          <p:nvPr/>
        </p:nvSpPr>
        <p:spPr>
          <a:xfrm>
            <a:off x="2888979" y="2044005"/>
            <a:ext cx="728049"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69" name="Text 66"/>
          <p:cNvSpPr/>
          <p:nvPr/>
        </p:nvSpPr>
        <p:spPr>
          <a:xfrm>
            <a:off x="5338629" y="2310705"/>
            <a:ext cx="452426"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19,5 %</a:t>
            </a:r>
            <a:endParaRPr lang="en-US" sz="816" dirty="0"/>
          </a:p>
        </p:txBody>
      </p:sp>
      <p:sp>
        <p:nvSpPr>
          <p:cNvPr id="70" name="Text 67"/>
          <p:cNvSpPr/>
          <p:nvPr/>
        </p:nvSpPr>
        <p:spPr>
          <a:xfrm>
            <a:off x="2056902" y="2515493"/>
            <a:ext cx="832077" cy="247650"/>
          </a:xfrm>
          <a:prstGeom prst="rect">
            <a:avLst/>
          </a:prstGeom>
          <a:noFill/>
          <a:ln/>
        </p:spPr>
        <p:txBody>
          <a:bodyPr wrap="none" lIns="0" tIns="0" rIns="0" bIns="0" rtlCol="0" anchor="t"/>
          <a:lstStyle/>
          <a:p>
            <a:pPr algn="r" indent="0" marL="0">
              <a:buNone/>
            </a:pPr>
            <a:r>
              <a:rPr lang="en-US" sz="792" dirty="0">
                <a:solidFill>
                  <a:srgbClr val="333333"/>
                </a:solidFill>
                <a:latin typeface="Raleway" pitchFamily="34" charset="0"/>
                <a:ea typeface="Raleway" pitchFamily="34" charset="-122"/>
                <a:cs typeface="Raleway" pitchFamily="34" charset="-120"/>
              </a:rPr>
              <a:t>11.686</a:t>
            </a:r>
            <a:endParaRPr lang="en-US" sz="792" dirty="0"/>
          </a:p>
        </p:txBody>
      </p:sp>
      <p:sp>
        <p:nvSpPr>
          <p:cNvPr id="71" name="Text 68"/>
          <p:cNvSpPr/>
          <p:nvPr/>
        </p:nvSpPr>
        <p:spPr>
          <a:xfrm>
            <a:off x="5323895" y="2558355"/>
            <a:ext cx="46716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26,6 %</a:t>
            </a:r>
            <a:endParaRPr lang="en-US" sz="816" dirty="0"/>
          </a:p>
        </p:txBody>
      </p:sp>
      <p:sp>
        <p:nvSpPr>
          <p:cNvPr id="72" name="Text 69"/>
          <p:cNvSpPr/>
          <p:nvPr/>
        </p:nvSpPr>
        <p:spPr>
          <a:xfrm>
            <a:off x="2888979" y="3506093"/>
            <a:ext cx="728049"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11.142</a:t>
            </a:r>
            <a:endParaRPr lang="en-US" sz="720" dirty="0"/>
          </a:p>
        </p:txBody>
      </p:sp>
      <p:sp>
        <p:nvSpPr>
          <p:cNvPr id="73" name="Text 70"/>
          <p:cNvSpPr/>
          <p:nvPr/>
        </p:nvSpPr>
        <p:spPr>
          <a:xfrm>
            <a:off x="4558640" y="4110930"/>
            <a:ext cx="641880"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74" name="Text 71"/>
          <p:cNvSpPr/>
          <p:nvPr/>
        </p:nvSpPr>
        <p:spPr>
          <a:xfrm>
            <a:off x="3075159" y="4282380"/>
            <a:ext cx="829250" cy="20478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21.204</a:t>
            </a:r>
            <a:endParaRPr lang="en-US" sz="660" dirty="0"/>
          </a:p>
        </p:txBody>
      </p:sp>
      <p:sp>
        <p:nvSpPr>
          <p:cNvPr id="75" name="Text 72"/>
          <p:cNvSpPr/>
          <p:nvPr/>
        </p:nvSpPr>
        <p:spPr>
          <a:xfrm>
            <a:off x="1125261" y="4487168"/>
            <a:ext cx="561068"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46.733</a:t>
            </a:r>
            <a:endParaRPr lang="en-US" sz="660" dirty="0"/>
          </a:p>
        </p:txBody>
      </p:sp>
      <p:sp>
        <p:nvSpPr>
          <p:cNvPr id="76" name="Text 73"/>
          <p:cNvSpPr/>
          <p:nvPr/>
        </p:nvSpPr>
        <p:spPr>
          <a:xfrm>
            <a:off x="1686329" y="4487168"/>
            <a:ext cx="710637"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46.426</a:t>
            </a:r>
            <a:endParaRPr lang="en-US" sz="660" dirty="0"/>
          </a:p>
        </p:txBody>
      </p:sp>
      <p:sp>
        <p:nvSpPr>
          <p:cNvPr id="77" name="Text 74"/>
          <p:cNvSpPr/>
          <p:nvPr/>
        </p:nvSpPr>
        <p:spPr>
          <a:xfrm>
            <a:off x="3075159" y="4487168"/>
            <a:ext cx="829250"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19.832</a:t>
            </a:r>
            <a:endParaRPr lang="en-US" sz="660" dirty="0"/>
          </a:p>
        </p:txBody>
      </p:sp>
      <p:sp>
        <p:nvSpPr>
          <p:cNvPr id="78" name="Text 75"/>
          <p:cNvSpPr/>
          <p:nvPr/>
        </p:nvSpPr>
        <p:spPr>
          <a:xfrm>
            <a:off x="1125261" y="4696718"/>
            <a:ext cx="561068"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73.899</a:t>
            </a:r>
            <a:endParaRPr lang="en-US" sz="660" dirty="0"/>
          </a:p>
        </p:txBody>
      </p:sp>
      <p:sp>
        <p:nvSpPr>
          <p:cNvPr id="79" name="Text 76"/>
          <p:cNvSpPr/>
          <p:nvPr/>
        </p:nvSpPr>
        <p:spPr>
          <a:xfrm>
            <a:off x="1686329" y="4696718"/>
            <a:ext cx="710637"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60.402</a:t>
            </a:r>
            <a:endParaRPr lang="en-US" sz="660" dirty="0"/>
          </a:p>
        </p:txBody>
      </p:sp>
      <p:sp>
        <p:nvSpPr>
          <p:cNvPr id="80" name="Text 77"/>
          <p:cNvSpPr/>
          <p:nvPr/>
        </p:nvSpPr>
        <p:spPr>
          <a:xfrm>
            <a:off x="3075159" y="4696718"/>
            <a:ext cx="829250"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27.138</a:t>
            </a:r>
            <a:endParaRPr lang="en-US" sz="660" dirty="0"/>
          </a:p>
        </p:txBody>
      </p:sp>
      <p:sp>
        <p:nvSpPr>
          <p:cNvPr id="81" name="Text 78"/>
          <p:cNvSpPr/>
          <p:nvPr/>
        </p:nvSpPr>
        <p:spPr>
          <a:xfrm>
            <a:off x="1125261" y="4906268"/>
            <a:ext cx="561068"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38.988</a:t>
            </a:r>
            <a:endParaRPr lang="en-US" sz="660" dirty="0"/>
          </a:p>
        </p:txBody>
      </p:sp>
      <p:sp>
        <p:nvSpPr>
          <p:cNvPr id="82" name="Text 79"/>
          <p:cNvSpPr/>
          <p:nvPr/>
        </p:nvSpPr>
        <p:spPr>
          <a:xfrm>
            <a:off x="1686329" y="4906268"/>
            <a:ext cx="710637"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31.039</a:t>
            </a:r>
            <a:endParaRPr lang="en-US" sz="660" dirty="0"/>
          </a:p>
        </p:txBody>
      </p:sp>
      <p:sp>
        <p:nvSpPr>
          <p:cNvPr id="83" name="Text 80"/>
          <p:cNvSpPr/>
          <p:nvPr/>
        </p:nvSpPr>
        <p:spPr>
          <a:xfrm>
            <a:off x="3075159" y="4906268"/>
            <a:ext cx="829250"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16.200</a:t>
            </a:r>
            <a:endParaRPr lang="en-US" sz="660" dirty="0"/>
          </a:p>
        </p:txBody>
      </p:sp>
      <p:sp>
        <p:nvSpPr>
          <p:cNvPr id="84" name="Text 81"/>
          <p:cNvSpPr/>
          <p:nvPr/>
        </p:nvSpPr>
        <p:spPr>
          <a:xfrm>
            <a:off x="1125261" y="5115818"/>
            <a:ext cx="561068"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37.644</a:t>
            </a:r>
            <a:endParaRPr lang="en-US" sz="660" dirty="0"/>
          </a:p>
        </p:txBody>
      </p:sp>
      <p:sp>
        <p:nvSpPr>
          <p:cNvPr id="85" name="Text 82"/>
          <p:cNvSpPr/>
          <p:nvPr/>
        </p:nvSpPr>
        <p:spPr>
          <a:xfrm>
            <a:off x="1686329" y="5115818"/>
            <a:ext cx="710637"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37.642</a:t>
            </a:r>
            <a:endParaRPr lang="en-US" sz="660" dirty="0"/>
          </a:p>
        </p:txBody>
      </p:sp>
      <p:sp>
        <p:nvSpPr>
          <p:cNvPr id="86" name="Text 83"/>
          <p:cNvSpPr/>
          <p:nvPr/>
        </p:nvSpPr>
        <p:spPr>
          <a:xfrm>
            <a:off x="3075159" y="5115818"/>
            <a:ext cx="829250"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24.031</a:t>
            </a:r>
            <a:endParaRPr lang="en-US" sz="660" dirty="0"/>
          </a:p>
        </p:txBody>
      </p:sp>
      <p:sp>
        <p:nvSpPr>
          <p:cNvPr id="87" name="Text 84"/>
          <p:cNvSpPr/>
          <p:nvPr/>
        </p:nvSpPr>
        <p:spPr>
          <a:xfrm>
            <a:off x="1125261" y="5325368"/>
            <a:ext cx="561068"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64.283</a:t>
            </a:r>
            <a:endParaRPr lang="en-US" sz="660" dirty="0"/>
          </a:p>
        </p:txBody>
      </p:sp>
      <p:sp>
        <p:nvSpPr>
          <p:cNvPr id="88" name="Text 85"/>
          <p:cNvSpPr/>
          <p:nvPr/>
        </p:nvSpPr>
        <p:spPr>
          <a:xfrm>
            <a:off x="1686329" y="5325368"/>
            <a:ext cx="710637"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43.410</a:t>
            </a:r>
            <a:endParaRPr lang="en-US" sz="660" dirty="0"/>
          </a:p>
        </p:txBody>
      </p:sp>
      <p:sp>
        <p:nvSpPr>
          <p:cNvPr id="89" name="Text 86"/>
          <p:cNvSpPr/>
          <p:nvPr/>
        </p:nvSpPr>
        <p:spPr>
          <a:xfrm>
            <a:off x="3075159" y="5325368"/>
            <a:ext cx="829250" cy="20955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21.291</a:t>
            </a:r>
            <a:endParaRPr lang="en-US" sz="660" dirty="0"/>
          </a:p>
        </p:txBody>
      </p:sp>
      <p:sp>
        <p:nvSpPr>
          <p:cNvPr id="90" name="Text 87"/>
          <p:cNvSpPr/>
          <p:nvPr/>
        </p:nvSpPr>
        <p:spPr>
          <a:xfrm>
            <a:off x="4558640" y="5534918"/>
            <a:ext cx="641880" cy="204787"/>
          </a:xfrm>
          <a:prstGeom prst="rect">
            <a:avLst/>
          </a:prstGeom>
          <a:noFill/>
          <a:ln/>
        </p:spPr>
        <p:txBody>
          <a:bodyPr wrap="none" lIns="0" tIns="0" rIns="0" bIns="0" rtlCol="0" anchor="t"/>
          <a:lstStyle/>
          <a:p>
            <a:pPr algn="r" indent="0" marL="0">
              <a:buNone/>
            </a:pPr>
            <a:r>
              <a:rPr lang="en-US" sz="624" b="1" dirty="0">
                <a:solidFill>
                  <a:srgbClr val="120180"/>
                </a:solidFill>
                <a:latin typeface="Raleway" pitchFamily="34" charset="0"/>
                <a:ea typeface="Raleway" pitchFamily="34" charset="-122"/>
                <a:cs typeface="Raleway" pitchFamily="34" charset="-120"/>
              </a:rPr>
              <a:t>13.917</a:t>
            </a:r>
            <a:endParaRPr lang="en-US" sz="624" dirty="0"/>
          </a:p>
        </p:txBody>
      </p:sp>
      <p:sp>
        <p:nvSpPr>
          <p:cNvPr id="91" name="Text 88"/>
          <p:cNvSpPr/>
          <p:nvPr/>
        </p:nvSpPr>
        <p:spPr>
          <a:xfrm>
            <a:off x="8492962" y="2186880"/>
            <a:ext cx="1764016" cy="204787"/>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99.241</a:t>
            </a:r>
            <a:endParaRPr lang="en-US" sz="672" dirty="0"/>
          </a:p>
        </p:txBody>
      </p:sp>
      <p:sp>
        <p:nvSpPr>
          <p:cNvPr id="92" name="Text 89"/>
          <p:cNvSpPr/>
          <p:nvPr/>
        </p:nvSpPr>
        <p:spPr>
          <a:xfrm>
            <a:off x="10978330" y="2205930"/>
            <a:ext cx="460909"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49,3 %</a:t>
            </a:r>
            <a:endParaRPr lang="en-US" sz="816" dirty="0"/>
          </a:p>
        </p:txBody>
      </p:sp>
      <p:sp>
        <p:nvSpPr>
          <p:cNvPr id="93" name="Text 90"/>
          <p:cNvSpPr/>
          <p:nvPr/>
        </p:nvSpPr>
        <p:spPr>
          <a:xfrm>
            <a:off x="7013201" y="2391668"/>
            <a:ext cx="1479761"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94.918</a:t>
            </a:r>
            <a:endParaRPr lang="en-US" sz="672" dirty="0"/>
          </a:p>
        </p:txBody>
      </p:sp>
      <p:sp>
        <p:nvSpPr>
          <p:cNvPr id="94" name="Text 91"/>
          <p:cNvSpPr/>
          <p:nvPr/>
        </p:nvSpPr>
        <p:spPr>
          <a:xfrm>
            <a:off x="8492962" y="2391668"/>
            <a:ext cx="1764016"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48.185</a:t>
            </a:r>
            <a:endParaRPr lang="en-US" sz="672" dirty="0"/>
          </a:p>
        </p:txBody>
      </p:sp>
      <p:sp>
        <p:nvSpPr>
          <p:cNvPr id="95" name="Text 92"/>
          <p:cNvSpPr/>
          <p:nvPr/>
        </p:nvSpPr>
        <p:spPr>
          <a:xfrm>
            <a:off x="10972823" y="2415480"/>
            <a:ext cx="466416"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50,8 %</a:t>
            </a:r>
            <a:endParaRPr lang="en-US" sz="816" dirty="0"/>
          </a:p>
        </p:txBody>
      </p:sp>
      <p:sp>
        <p:nvSpPr>
          <p:cNvPr id="96" name="Text 93"/>
          <p:cNvSpPr/>
          <p:nvPr/>
        </p:nvSpPr>
        <p:spPr>
          <a:xfrm>
            <a:off x="8492962" y="2601218"/>
            <a:ext cx="1764016" cy="209550"/>
          </a:xfrm>
          <a:prstGeom prst="rect">
            <a:avLst/>
          </a:prstGeom>
          <a:noFill/>
          <a:ln/>
        </p:spPr>
        <p:txBody>
          <a:bodyPr wrap="none" lIns="0" tIns="0" rIns="0" bIns="0" rtlCol="0" anchor="t"/>
          <a:lstStyle/>
          <a:p>
            <a:pPr algn="r" indent="0" marL="0">
              <a:buNone/>
            </a:pPr>
            <a:r>
              <a:rPr lang="en-US" sz="672" dirty="0">
                <a:solidFill>
                  <a:srgbClr val="333333"/>
                </a:solidFill>
                <a:latin typeface="Raleway" pitchFamily="34" charset="0"/>
                <a:ea typeface="Raleway" pitchFamily="34" charset="-122"/>
                <a:cs typeface="Raleway" pitchFamily="34" charset="-120"/>
              </a:rPr>
              <a:t>60.998</a:t>
            </a:r>
            <a:endParaRPr lang="en-US" sz="672" dirty="0"/>
          </a:p>
        </p:txBody>
      </p:sp>
      <p:sp>
        <p:nvSpPr>
          <p:cNvPr id="97" name="Text 94"/>
          <p:cNvSpPr/>
          <p:nvPr/>
        </p:nvSpPr>
        <p:spPr>
          <a:xfrm>
            <a:off x="10981306" y="2625030"/>
            <a:ext cx="457933"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45,2 %</a:t>
            </a:r>
            <a:endParaRPr lang="en-US" sz="816" dirty="0"/>
          </a:p>
        </p:txBody>
      </p:sp>
      <p:sp>
        <p:nvSpPr>
          <p:cNvPr id="98" name="Text 95"/>
          <p:cNvSpPr/>
          <p:nvPr/>
        </p:nvSpPr>
        <p:spPr>
          <a:xfrm>
            <a:off x="10985771" y="2834580"/>
            <a:ext cx="453468"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74,5 %</a:t>
            </a:r>
            <a:endParaRPr lang="en-US" sz="816" dirty="0"/>
          </a:p>
        </p:txBody>
      </p:sp>
      <p:sp>
        <p:nvSpPr>
          <p:cNvPr id="99" name="Text 96"/>
          <p:cNvSpPr/>
          <p:nvPr/>
        </p:nvSpPr>
        <p:spPr>
          <a:xfrm>
            <a:off x="10979372" y="3044130"/>
            <a:ext cx="459867"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75,6 %</a:t>
            </a:r>
            <a:endParaRPr lang="en-US" sz="816" dirty="0"/>
          </a:p>
        </p:txBody>
      </p:sp>
      <p:sp>
        <p:nvSpPr>
          <p:cNvPr id="100" name="Text 97"/>
          <p:cNvSpPr/>
          <p:nvPr/>
        </p:nvSpPr>
        <p:spPr>
          <a:xfrm>
            <a:off x="10974014" y="3253680"/>
            <a:ext cx="465225"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62,9 %</a:t>
            </a:r>
            <a:endParaRPr lang="en-US" sz="816" dirty="0"/>
          </a:p>
        </p:txBody>
      </p:sp>
      <p:sp>
        <p:nvSpPr>
          <p:cNvPr id="101" name="Text 98"/>
          <p:cNvSpPr/>
          <p:nvPr/>
        </p:nvSpPr>
        <p:spPr>
          <a:xfrm>
            <a:off x="10978627" y="3463230"/>
            <a:ext cx="460612"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60,1 %</a:t>
            </a:r>
            <a:endParaRPr lang="en-US" sz="816" dirty="0"/>
          </a:p>
        </p:txBody>
      </p:sp>
      <p:sp>
        <p:nvSpPr>
          <p:cNvPr id="102" name="Text 99"/>
          <p:cNvSpPr/>
          <p:nvPr/>
        </p:nvSpPr>
        <p:spPr>
          <a:xfrm>
            <a:off x="723882" y="1114425"/>
            <a:ext cx="2438339" cy="129480"/>
          </a:xfrm>
          <a:prstGeom prst="rect">
            <a:avLst/>
          </a:prstGeom>
          <a:noFill/>
          <a:ln/>
        </p:spPr>
        <p:txBody>
          <a:bodyPr wrap="none" lIns="0" tIns="0" rIns="0" bIns="0" rtlCol="0" anchor="t"/>
          <a:lstStyle/>
          <a:p>
            <a:pPr algn="l" indent="0" marL="0">
              <a:buNone/>
            </a:pPr>
            <a:r>
              <a:rPr lang="en-US" sz="1020" b="1" dirty="0">
                <a:solidFill>
                  <a:srgbClr val="00CD93"/>
                </a:solidFill>
                <a:latin typeface="Raleway" pitchFamily="34" charset="0"/>
                <a:ea typeface="Raleway" pitchFamily="34" charset="-122"/>
                <a:cs typeface="Raleway" pitchFamily="34" charset="-120"/>
              </a:rPr>
              <a:t>6.881</a:t>
            </a:r>
            <a:endParaRPr lang="en-US" sz="1020" dirty="0"/>
          </a:p>
        </p:txBody>
      </p:sp>
      <p:sp>
        <p:nvSpPr>
          <p:cNvPr id="103" name="Text 100"/>
          <p:cNvSpPr/>
          <p:nvPr/>
        </p:nvSpPr>
        <p:spPr>
          <a:xfrm>
            <a:off x="6286343" y="1114425"/>
            <a:ext cx="2438339" cy="12948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3.073</a:t>
            </a:r>
            <a:endParaRPr lang="en-US" sz="1020" dirty="0"/>
          </a:p>
        </p:txBody>
      </p:sp>
      <p:sp>
        <p:nvSpPr>
          <p:cNvPr id="104" name="Text 101"/>
          <p:cNvSpPr/>
          <p:nvPr/>
        </p:nvSpPr>
        <p:spPr>
          <a:xfrm>
            <a:off x="3247795" y="2334518"/>
            <a:ext cx="254936" cy="114300"/>
          </a:xfrm>
          <a:prstGeom prst="rect">
            <a:avLst/>
          </a:prstGeom>
          <a:noFill/>
          <a:ln/>
        </p:spPr>
        <p:txBody>
          <a:bodyPr wrap="none" lIns="0" tIns="0" rIns="0" bIns="0" rtlCol="0" anchor="t"/>
          <a:lstStyle/>
          <a:p>
            <a:pPr algn="r" indent="0" marL="0">
              <a:buNone/>
            </a:pPr>
            <a:r>
              <a:rPr lang="en-US" sz="792" b="1" dirty="0">
                <a:solidFill>
                  <a:srgbClr val="333333"/>
                </a:solidFill>
                <a:latin typeface="Raleway" pitchFamily="34" charset="0"/>
                <a:ea typeface="Raleway" pitchFamily="34" charset="-122"/>
                <a:cs typeface="Raleway" pitchFamily="34" charset="-120"/>
              </a:rPr>
              <a:t>6.881</a:t>
            </a:r>
            <a:endParaRPr lang="en-US" sz="792" dirty="0"/>
          </a:p>
        </p:txBody>
      </p:sp>
      <p:sp>
        <p:nvSpPr>
          <p:cNvPr id="105" name="Text 102"/>
          <p:cNvSpPr/>
          <p:nvPr/>
        </p:nvSpPr>
        <p:spPr>
          <a:xfrm>
            <a:off x="3249581" y="2829818"/>
            <a:ext cx="253150" cy="114300"/>
          </a:xfrm>
          <a:prstGeom prst="rect">
            <a:avLst/>
          </a:prstGeom>
          <a:noFill/>
          <a:ln/>
        </p:spPr>
        <p:txBody>
          <a:bodyPr wrap="none" lIns="0" tIns="0" rIns="0" bIns="0" rtlCol="0" anchor="t"/>
          <a:lstStyle/>
          <a:p>
            <a:pPr algn="r" indent="0" marL="0">
              <a:buNone/>
            </a:pPr>
            <a:r>
              <a:rPr lang="en-US" sz="792" b="1" dirty="0">
                <a:solidFill>
                  <a:srgbClr val="333333"/>
                </a:solidFill>
                <a:latin typeface="Raleway" pitchFamily="34" charset="0"/>
                <a:ea typeface="Raleway" pitchFamily="34" charset="-122"/>
                <a:cs typeface="Raleway" pitchFamily="34" charset="-120"/>
              </a:rPr>
              <a:t>3.073</a:t>
            </a:r>
            <a:endParaRPr lang="en-US" sz="792" dirty="0"/>
          </a:p>
        </p:txBody>
      </p:sp>
      <p:sp>
        <p:nvSpPr>
          <p:cNvPr id="106" name="Text 103"/>
          <p:cNvSpPr/>
          <p:nvPr/>
        </p:nvSpPr>
        <p:spPr>
          <a:xfrm>
            <a:off x="5386104" y="2806005"/>
            <a:ext cx="404951"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4,6 %</a:t>
            </a:r>
            <a:endParaRPr lang="en-US" sz="816" dirty="0"/>
          </a:p>
        </p:txBody>
      </p:sp>
      <p:sp>
        <p:nvSpPr>
          <p:cNvPr id="107" name="Text 104"/>
          <p:cNvSpPr/>
          <p:nvPr/>
        </p:nvSpPr>
        <p:spPr>
          <a:xfrm>
            <a:off x="5395926" y="3053655"/>
            <a:ext cx="395129"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1,9 %</a:t>
            </a:r>
            <a:endParaRPr lang="en-US" sz="816" dirty="0"/>
          </a:p>
        </p:txBody>
      </p:sp>
      <p:sp>
        <p:nvSpPr>
          <p:cNvPr id="108" name="Text 105"/>
          <p:cNvSpPr/>
          <p:nvPr/>
        </p:nvSpPr>
        <p:spPr>
          <a:xfrm>
            <a:off x="5398605" y="3301305"/>
            <a:ext cx="392450"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1,2 %</a:t>
            </a:r>
            <a:endParaRPr lang="en-US" sz="816" dirty="0"/>
          </a:p>
        </p:txBody>
      </p:sp>
      <p:sp>
        <p:nvSpPr>
          <p:cNvPr id="109" name="Text 106"/>
          <p:cNvSpPr/>
          <p:nvPr/>
        </p:nvSpPr>
        <p:spPr>
          <a:xfrm>
            <a:off x="704832" y="3506093"/>
            <a:ext cx="1352070" cy="185738"/>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Total</a:t>
            </a:r>
            <a:endParaRPr lang="en-US" sz="720" dirty="0"/>
          </a:p>
        </p:txBody>
      </p:sp>
      <p:sp>
        <p:nvSpPr>
          <p:cNvPr id="110" name="Text 107"/>
          <p:cNvSpPr/>
          <p:nvPr/>
        </p:nvSpPr>
        <p:spPr>
          <a:xfrm>
            <a:off x="4552985" y="3506093"/>
            <a:ext cx="1352367"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8,6 %</a:t>
            </a:r>
            <a:endParaRPr lang="en-US" sz="720" dirty="0"/>
          </a:p>
        </p:txBody>
      </p:sp>
      <p:sp>
        <p:nvSpPr>
          <p:cNvPr id="111" name="Text 108"/>
          <p:cNvSpPr/>
          <p:nvPr/>
        </p:nvSpPr>
        <p:spPr>
          <a:xfrm>
            <a:off x="1125261" y="4110930"/>
            <a:ext cx="56106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12" name="Text 109"/>
          <p:cNvSpPr/>
          <p:nvPr/>
        </p:nvSpPr>
        <p:spPr>
          <a:xfrm>
            <a:off x="4558640" y="4282380"/>
            <a:ext cx="641880" cy="204787"/>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2.245</a:t>
            </a:r>
            <a:endParaRPr lang="en-US" sz="660" dirty="0"/>
          </a:p>
        </p:txBody>
      </p:sp>
      <p:sp>
        <p:nvSpPr>
          <p:cNvPr id="113" name="Text 110"/>
          <p:cNvSpPr/>
          <p:nvPr/>
        </p:nvSpPr>
        <p:spPr>
          <a:xfrm>
            <a:off x="4558640" y="4487168"/>
            <a:ext cx="641880" cy="2095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2.374</a:t>
            </a:r>
            <a:endParaRPr lang="en-US" sz="660" dirty="0"/>
          </a:p>
        </p:txBody>
      </p:sp>
      <p:sp>
        <p:nvSpPr>
          <p:cNvPr id="114" name="Text 111"/>
          <p:cNvSpPr/>
          <p:nvPr/>
        </p:nvSpPr>
        <p:spPr>
          <a:xfrm>
            <a:off x="4558640" y="4696718"/>
            <a:ext cx="641880" cy="2095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2.431</a:t>
            </a:r>
            <a:endParaRPr lang="en-US" sz="660" dirty="0"/>
          </a:p>
        </p:txBody>
      </p:sp>
      <p:sp>
        <p:nvSpPr>
          <p:cNvPr id="115" name="Text 112"/>
          <p:cNvSpPr/>
          <p:nvPr/>
        </p:nvSpPr>
        <p:spPr>
          <a:xfrm>
            <a:off x="4558640" y="4906268"/>
            <a:ext cx="641880" cy="2095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2.367</a:t>
            </a:r>
            <a:endParaRPr lang="en-US" sz="660" dirty="0"/>
          </a:p>
        </p:txBody>
      </p:sp>
      <p:sp>
        <p:nvSpPr>
          <p:cNvPr id="116" name="Text 113"/>
          <p:cNvSpPr/>
          <p:nvPr/>
        </p:nvSpPr>
        <p:spPr>
          <a:xfrm>
            <a:off x="4558640" y="5115818"/>
            <a:ext cx="641880" cy="2095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2.186</a:t>
            </a:r>
            <a:endParaRPr lang="en-US" sz="660" dirty="0"/>
          </a:p>
        </p:txBody>
      </p:sp>
      <p:sp>
        <p:nvSpPr>
          <p:cNvPr id="117" name="Text 114"/>
          <p:cNvSpPr/>
          <p:nvPr/>
        </p:nvSpPr>
        <p:spPr>
          <a:xfrm>
            <a:off x="4558640" y="5325368"/>
            <a:ext cx="641880" cy="2095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2.314</a:t>
            </a:r>
            <a:endParaRPr lang="en-US" sz="660" dirty="0"/>
          </a:p>
        </p:txBody>
      </p:sp>
      <p:sp>
        <p:nvSpPr>
          <p:cNvPr id="118" name="Text 115"/>
          <p:cNvSpPr/>
          <p:nvPr/>
        </p:nvSpPr>
        <p:spPr>
          <a:xfrm>
            <a:off x="704832" y="5534918"/>
            <a:ext cx="420429" cy="204787"/>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19" name="Text 116"/>
          <p:cNvSpPr/>
          <p:nvPr/>
        </p:nvSpPr>
        <p:spPr>
          <a:xfrm>
            <a:off x="6286343" y="3439418"/>
            <a:ext cx="726858" cy="204787"/>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20" name="Text 117"/>
          <p:cNvSpPr/>
          <p:nvPr/>
        </p:nvSpPr>
        <p:spPr>
          <a:xfrm>
            <a:off x="6286343" y="4549080"/>
            <a:ext cx="1142971"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Otros</a:t>
            </a:r>
            <a:endParaRPr lang="en-US" sz="576" dirty="0"/>
          </a:p>
        </p:txBody>
      </p:sp>
      <p:sp>
        <p:nvSpPr>
          <p:cNvPr id="121" name="Text 118"/>
          <p:cNvSpPr/>
          <p:nvPr/>
        </p:nvSpPr>
        <p:spPr>
          <a:xfrm>
            <a:off x="4060674" y="2310705"/>
            <a:ext cx="37801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79 %</a:t>
            </a:r>
            <a:endParaRPr lang="en-US" sz="816" dirty="0"/>
          </a:p>
        </p:txBody>
      </p:sp>
      <p:sp>
        <p:nvSpPr>
          <p:cNvPr id="122" name="Text 119"/>
          <p:cNvSpPr/>
          <p:nvPr/>
        </p:nvSpPr>
        <p:spPr>
          <a:xfrm>
            <a:off x="4070496" y="2558355"/>
            <a:ext cx="368192"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71 %</a:t>
            </a:r>
            <a:endParaRPr lang="en-US" sz="816" dirty="0"/>
          </a:p>
        </p:txBody>
      </p:sp>
      <p:sp>
        <p:nvSpPr>
          <p:cNvPr id="123" name="Text 120"/>
          <p:cNvSpPr/>
          <p:nvPr/>
        </p:nvSpPr>
        <p:spPr>
          <a:xfrm>
            <a:off x="4059632" y="2806005"/>
            <a:ext cx="379056"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49 %</a:t>
            </a:r>
            <a:endParaRPr lang="en-US" sz="816" dirty="0"/>
          </a:p>
        </p:txBody>
      </p:sp>
      <p:sp>
        <p:nvSpPr>
          <p:cNvPr id="124" name="Text 121"/>
          <p:cNvSpPr/>
          <p:nvPr/>
        </p:nvSpPr>
        <p:spPr>
          <a:xfrm>
            <a:off x="4070496" y="3053655"/>
            <a:ext cx="368192"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17 %</a:t>
            </a:r>
            <a:endParaRPr lang="en-US" sz="816" dirty="0"/>
          </a:p>
        </p:txBody>
      </p:sp>
      <p:sp>
        <p:nvSpPr>
          <p:cNvPr id="125" name="Text 122"/>
          <p:cNvSpPr/>
          <p:nvPr/>
        </p:nvSpPr>
        <p:spPr>
          <a:xfrm>
            <a:off x="4067669" y="3301305"/>
            <a:ext cx="371019"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19 %</a:t>
            </a:r>
            <a:endParaRPr lang="en-US" sz="816" dirty="0"/>
          </a:p>
        </p:txBody>
      </p:sp>
      <p:sp>
        <p:nvSpPr>
          <p:cNvPr id="126" name="Text 123"/>
          <p:cNvSpPr/>
          <p:nvPr/>
        </p:nvSpPr>
        <p:spPr>
          <a:xfrm>
            <a:off x="3617028" y="3506093"/>
            <a:ext cx="935957"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40 %</a:t>
            </a:r>
            <a:endParaRPr lang="en-US" sz="720" dirty="0"/>
          </a:p>
        </p:txBody>
      </p:sp>
      <p:sp>
        <p:nvSpPr>
          <p:cNvPr id="127" name="Text 124"/>
          <p:cNvSpPr/>
          <p:nvPr/>
        </p:nvSpPr>
        <p:spPr>
          <a:xfrm>
            <a:off x="2624667" y="4301430"/>
            <a:ext cx="412392"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100%</a:t>
            </a:r>
            <a:endParaRPr lang="en-US" sz="816" dirty="0"/>
          </a:p>
        </p:txBody>
      </p:sp>
      <p:sp>
        <p:nvSpPr>
          <p:cNvPr id="128" name="Text 125"/>
          <p:cNvSpPr/>
          <p:nvPr/>
        </p:nvSpPr>
        <p:spPr>
          <a:xfrm>
            <a:off x="2624667" y="5139630"/>
            <a:ext cx="412392"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100%</a:t>
            </a:r>
            <a:endParaRPr lang="en-US" sz="816" dirty="0"/>
          </a:p>
        </p:txBody>
      </p:sp>
      <p:sp>
        <p:nvSpPr>
          <p:cNvPr id="129" name="Text 126"/>
          <p:cNvSpPr/>
          <p:nvPr/>
        </p:nvSpPr>
        <p:spPr>
          <a:xfrm>
            <a:off x="9067573" y="1114425"/>
            <a:ext cx="2438339" cy="12948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318</a:t>
            </a:r>
            <a:endParaRPr lang="en-US" sz="1020" dirty="0"/>
          </a:p>
        </p:txBody>
      </p:sp>
      <p:sp>
        <p:nvSpPr>
          <p:cNvPr id="130" name="Text 127"/>
          <p:cNvSpPr/>
          <p:nvPr/>
        </p:nvSpPr>
        <p:spPr>
          <a:xfrm>
            <a:off x="3337238" y="2582168"/>
            <a:ext cx="182880" cy="114300"/>
          </a:xfrm>
          <a:prstGeom prst="rect">
            <a:avLst/>
          </a:prstGeom>
          <a:noFill/>
          <a:ln/>
        </p:spPr>
        <p:txBody>
          <a:bodyPr wrap="none" lIns="0" tIns="0" rIns="0" bIns="0" rtlCol="0" anchor="t"/>
          <a:lstStyle/>
          <a:p>
            <a:pPr algn="r" indent="0" marL="0">
              <a:buNone/>
            </a:pPr>
            <a:r>
              <a:rPr lang="en-US" sz="792" b="1" dirty="0">
                <a:solidFill>
                  <a:srgbClr val="333333"/>
                </a:solidFill>
                <a:latin typeface="Raleway" pitchFamily="34" charset="0"/>
                <a:ea typeface="Raleway" pitchFamily="34" charset="-122"/>
                <a:cs typeface="Raleway" pitchFamily="34" charset="-120"/>
              </a:rPr>
              <a:t>791</a:t>
            </a:r>
            <a:endParaRPr lang="en-US" sz="792" dirty="0"/>
          </a:p>
        </p:txBody>
      </p:sp>
      <p:sp>
        <p:nvSpPr>
          <p:cNvPr id="131" name="Text 128"/>
          <p:cNvSpPr/>
          <p:nvPr/>
        </p:nvSpPr>
        <p:spPr>
          <a:xfrm>
            <a:off x="3336048" y="3077468"/>
            <a:ext cx="182880" cy="114300"/>
          </a:xfrm>
          <a:prstGeom prst="rect">
            <a:avLst/>
          </a:prstGeom>
          <a:noFill/>
          <a:ln/>
        </p:spPr>
        <p:txBody>
          <a:bodyPr wrap="none" lIns="0" tIns="0" rIns="0" bIns="0" rtlCol="0" anchor="t"/>
          <a:lstStyle/>
          <a:p>
            <a:pPr algn="r" indent="0" marL="0">
              <a:buNone/>
            </a:pPr>
            <a:r>
              <a:rPr lang="en-US" sz="792" b="1" dirty="0">
                <a:solidFill>
                  <a:srgbClr val="333333"/>
                </a:solidFill>
                <a:latin typeface="Raleway" pitchFamily="34" charset="0"/>
                <a:ea typeface="Raleway" pitchFamily="34" charset="-122"/>
                <a:cs typeface="Raleway" pitchFamily="34" charset="-120"/>
              </a:rPr>
              <a:t>318</a:t>
            </a:r>
            <a:endParaRPr lang="en-US" sz="792" dirty="0"/>
          </a:p>
        </p:txBody>
      </p:sp>
      <p:sp>
        <p:nvSpPr>
          <p:cNvPr id="132" name="Text 129"/>
          <p:cNvSpPr/>
          <p:nvPr/>
        </p:nvSpPr>
        <p:spPr>
          <a:xfrm>
            <a:off x="704832" y="4110930"/>
            <a:ext cx="42042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33" name="Text 130"/>
          <p:cNvSpPr/>
          <p:nvPr/>
        </p:nvSpPr>
        <p:spPr>
          <a:xfrm>
            <a:off x="742931" y="4334768"/>
            <a:ext cx="182880" cy="95250"/>
          </a:xfrm>
          <a:prstGeom prst="rect">
            <a:avLst/>
          </a:prstGeom>
          <a:noFill/>
          <a:ln/>
        </p:spPr>
        <p:txBody>
          <a:bodyPr wrap="non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Ene</a:t>
            </a:r>
            <a:endParaRPr lang="en-US" sz="660" dirty="0"/>
          </a:p>
        </p:txBody>
      </p:sp>
      <p:sp>
        <p:nvSpPr>
          <p:cNvPr id="134" name="Text 131"/>
          <p:cNvSpPr/>
          <p:nvPr/>
        </p:nvSpPr>
        <p:spPr>
          <a:xfrm>
            <a:off x="4176906" y="4301430"/>
            <a:ext cx="343636"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21%</a:t>
            </a:r>
            <a:endParaRPr lang="en-US" sz="816" dirty="0"/>
          </a:p>
        </p:txBody>
      </p:sp>
      <p:sp>
        <p:nvSpPr>
          <p:cNvPr id="135" name="Text 132"/>
          <p:cNvSpPr/>
          <p:nvPr/>
        </p:nvSpPr>
        <p:spPr>
          <a:xfrm>
            <a:off x="5530910" y="4301430"/>
            <a:ext cx="336343"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11%</a:t>
            </a:r>
            <a:endParaRPr lang="en-US" sz="816" dirty="0"/>
          </a:p>
        </p:txBody>
      </p:sp>
      <p:sp>
        <p:nvSpPr>
          <p:cNvPr id="136" name="Text 133"/>
          <p:cNvSpPr/>
          <p:nvPr/>
        </p:nvSpPr>
        <p:spPr>
          <a:xfrm>
            <a:off x="742931" y="4544318"/>
            <a:ext cx="182880" cy="95250"/>
          </a:xfrm>
          <a:prstGeom prst="rect">
            <a:avLst/>
          </a:prstGeom>
          <a:noFill/>
          <a:ln/>
        </p:spPr>
        <p:txBody>
          <a:bodyPr wrap="non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Feb</a:t>
            </a:r>
            <a:endParaRPr lang="en-US" sz="660" dirty="0"/>
          </a:p>
        </p:txBody>
      </p:sp>
      <p:sp>
        <p:nvSpPr>
          <p:cNvPr id="137" name="Text 134"/>
          <p:cNvSpPr/>
          <p:nvPr/>
        </p:nvSpPr>
        <p:spPr>
          <a:xfrm>
            <a:off x="2681072" y="4510980"/>
            <a:ext cx="355988"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99%</a:t>
            </a:r>
            <a:endParaRPr lang="en-US" sz="816" dirty="0"/>
          </a:p>
        </p:txBody>
      </p:sp>
      <p:sp>
        <p:nvSpPr>
          <p:cNvPr id="138" name="Text 135"/>
          <p:cNvSpPr/>
          <p:nvPr/>
        </p:nvSpPr>
        <p:spPr>
          <a:xfrm>
            <a:off x="4169613" y="4510980"/>
            <a:ext cx="350928"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43%</a:t>
            </a:r>
            <a:endParaRPr lang="en-US" sz="816" dirty="0"/>
          </a:p>
        </p:txBody>
      </p:sp>
      <p:sp>
        <p:nvSpPr>
          <p:cNvPr id="139" name="Text 136"/>
          <p:cNvSpPr/>
          <p:nvPr/>
        </p:nvSpPr>
        <p:spPr>
          <a:xfrm>
            <a:off x="5523618" y="4510980"/>
            <a:ext cx="343636"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12%</a:t>
            </a:r>
            <a:endParaRPr lang="en-US" sz="816" dirty="0"/>
          </a:p>
        </p:txBody>
      </p:sp>
      <p:sp>
        <p:nvSpPr>
          <p:cNvPr id="140" name="Text 137"/>
          <p:cNvSpPr/>
          <p:nvPr/>
        </p:nvSpPr>
        <p:spPr>
          <a:xfrm>
            <a:off x="742931" y="4753868"/>
            <a:ext cx="182880" cy="95250"/>
          </a:xfrm>
          <a:prstGeom prst="rect">
            <a:avLst/>
          </a:prstGeom>
          <a:noFill/>
          <a:ln/>
        </p:spPr>
        <p:txBody>
          <a:bodyPr wrap="non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Mar</a:t>
            </a:r>
            <a:endParaRPr lang="en-US" sz="660" dirty="0"/>
          </a:p>
        </p:txBody>
      </p:sp>
      <p:sp>
        <p:nvSpPr>
          <p:cNvPr id="141" name="Text 138"/>
          <p:cNvSpPr/>
          <p:nvPr/>
        </p:nvSpPr>
        <p:spPr>
          <a:xfrm>
            <a:off x="2682113" y="4720530"/>
            <a:ext cx="354946"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82%</a:t>
            </a:r>
            <a:endParaRPr lang="en-US" sz="816" dirty="0"/>
          </a:p>
        </p:txBody>
      </p:sp>
      <p:sp>
        <p:nvSpPr>
          <p:cNvPr id="142" name="Text 139"/>
          <p:cNvSpPr/>
          <p:nvPr/>
        </p:nvSpPr>
        <p:spPr>
          <a:xfrm>
            <a:off x="4170060" y="4720530"/>
            <a:ext cx="350481"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45%</a:t>
            </a:r>
            <a:endParaRPr lang="en-US" sz="816" dirty="0"/>
          </a:p>
        </p:txBody>
      </p:sp>
      <p:sp>
        <p:nvSpPr>
          <p:cNvPr id="143" name="Text 140"/>
          <p:cNvSpPr/>
          <p:nvPr/>
        </p:nvSpPr>
        <p:spPr>
          <a:xfrm>
            <a:off x="742931" y="4963418"/>
            <a:ext cx="182880" cy="95250"/>
          </a:xfrm>
          <a:prstGeom prst="rect">
            <a:avLst/>
          </a:prstGeom>
          <a:noFill/>
          <a:ln/>
        </p:spPr>
        <p:txBody>
          <a:bodyPr wrap="non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Abr</a:t>
            </a:r>
            <a:endParaRPr lang="en-US" sz="660" dirty="0"/>
          </a:p>
        </p:txBody>
      </p:sp>
      <p:sp>
        <p:nvSpPr>
          <p:cNvPr id="144" name="Text 141"/>
          <p:cNvSpPr/>
          <p:nvPr/>
        </p:nvSpPr>
        <p:spPr>
          <a:xfrm>
            <a:off x="2676905" y="4930080"/>
            <a:ext cx="360155"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80%</a:t>
            </a:r>
            <a:endParaRPr lang="en-US" sz="816" dirty="0"/>
          </a:p>
        </p:txBody>
      </p:sp>
      <p:sp>
        <p:nvSpPr>
          <p:cNvPr id="145" name="Text 142"/>
          <p:cNvSpPr/>
          <p:nvPr/>
        </p:nvSpPr>
        <p:spPr>
          <a:xfrm>
            <a:off x="4170804" y="4930080"/>
            <a:ext cx="349737"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52%</a:t>
            </a:r>
            <a:endParaRPr lang="en-US" sz="816" dirty="0"/>
          </a:p>
        </p:txBody>
      </p:sp>
      <p:sp>
        <p:nvSpPr>
          <p:cNvPr id="146" name="Text 143"/>
          <p:cNvSpPr/>
          <p:nvPr/>
        </p:nvSpPr>
        <p:spPr>
          <a:xfrm>
            <a:off x="5524660" y="4930080"/>
            <a:ext cx="34259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15%</a:t>
            </a:r>
            <a:endParaRPr lang="en-US" sz="816" dirty="0"/>
          </a:p>
        </p:txBody>
      </p:sp>
      <p:sp>
        <p:nvSpPr>
          <p:cNvPr id="147" name="Text 144"/>
          <p:cNvSpPr/>
          <p:nvPr/>
        </p:nvSpPr>
        <p:spPr>
          <a:xfrm>
            <a:off x="742931" y="5172968"/>
            <a:ext cx="182880" cy="95250"/>
          </a:xfrm>
          <a:prstGeom prst="rect">
            <a:avLst/>
          </a:prstGeom>
          <a:noFill/>
          <a:ln/>
        </p:spPr>
        <p:txBody>
          <a:bodyPr wrap="non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May</a:t>
            </a:r>
            <a:endParaRPr lang="en-US" sz="660" dirty="0"/>
          </a:p>
        </p:txBody>
      </p:sp>
      <p:sp>
        <p:nvSpPr>
          <p:cNvPr id="148" name="Text 145"/>
          <p:cNvSpPr/>
          <p:nvPr/>
        </p:nvSpPr>
        <p:spPr>
          <a:xfrm>
            <a:off x="4164553" y="5139630"/>
            <a:ext cx="355988"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64%</a:t>
            </a:r>
            <a:endParaRPr lang="en-US" sz="816" dirty="0"/>
          </a:p>
        </p:txBody>
      </p:sp>
      <p:sp>
        <p:nvSpPr>
          <p:cNvPr id="149" name="Text 146"/>
          <p:cNvSpPr/>
          <p:nvPr/>
        </p:nvSpPr>
        <p:spPr>
          <a:xfrm>
            <a:off x="742931" y="5382518"/>
            <a:ext cx="182880" cy="95250"/>
          </a:xfrm>
          <a:prstGeom prst="rect">
            <a:avLst/>
          </a:prstGeom>
          <a:noFill/>
          <a:ln/>
        </p:spPr>
        <p:txBody>
          <a:bodyPr wrap="none" lIns="0" tIns="0" rIns="0" bIns="0" rtlCol="0" anchor="t"/>
          <a:lstStyle/>
          <a:p>
            <a:pPr algn="l" indent="0" marL="0">
              <a:buNone/>
            </a:pPr>
            <a:r>
              <a:rPr lang="en-US" sz="660" b="1" dirty="0">
                <a:solidFill>
                  <a:srgbClr val="333333"/>
                </a:solidFill>
                <a:latin typeface="Raleway" pitchFamily="34" charset="0"/>
                <a:ea typeface="Raleway" pitchFamily="34" charset="-122"/>
                <a:cs typeface="Raleway" pitchFamily="34" charset="-120"/>
              </a:rPr>
              <a:t>Jun</a:t>
            </a:r>
            <a:endParaRPr lang="en-US" sz="660" dirty="0"/>
          </a:p>
        </p:txBody>
      </p:sp>
      <p:sp>
        <p:nvSpPr>
          <p:cNvPr id="150" name="Text 147"/>
          <p:cNvSpPr/>
          <p:nvPr/>
        </p:nvSpPr>
        <p:spPr>
          <a:xfrm>
            <a:off x="2677649" y="5349180"/>
            <a:ext cx="359411"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68%</a:t>
            </a:r>
            <a:endParaRPr lang="en-US" sz="816" dirty="0"/>
          </a:p>
        </p:txBody>
      </p:sp>
      <p:sp>
        <p:nvSpPr>
          <p:cNvPr id="151" name="Text 148"/>
          <p:cNvSpPr/>
          <p:nvPr/>
        </p:nvSpPr>
        <p:spPr>
          <a:xfrm>
            <a:off x="4166339" y="5349180"/>
            <a:ext cx="354202"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49%</a:t>
            </a:r>
            <a:endParaRPr lang="en-US" sz="816" dirty="0"/>
          </a:p>
        </p:txBody>
      </p:sp>
      <p:sp>
        <p:nvSpPr>
          <p:cNvPr id="152" name="Text 149"/>
          <p:cNvSpPr/>
          <p:nvPr/>
        </p:nvSpPr>
        <p:spPr>
          <a:xfrm>
            <a:off x="5530910" y="5349180"/>
            <a:ext cx="336343"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11%</a:t>
            </a:r>
            <a:endParaRPr lang="en-US" sz="816" dirty="0"/>
          </a:p>
        </p:txBody>
      </p:sp>
      <p:sp>
        <p:nvSpPr>
          <p:cNvPr id="153" name="Text 150"/>
          <p:cNvSpPr/>
          <p:nvPr/>
        </p:nvSpPr>
        <p:spPr>
          <a:xfrm>
            <a:off x="2677946" y="5558730"/>
            <a:ext cx="359113"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88%</a:t>
            </a:r>
            <a:endParaRPr lang="en-US" sz="816" dirty="0"/>
          </a:p>
        </p:txBody>
      </p:sp>
      <p:sp>
        <p:nvSpPr>
          <p:cNvPr id="154" name="Text 151"/>
          <p:cNvSpPr/>
          <p:nvPr/>
        </p:nvSpPr>
        <p:spPr>
          <a:xfrm>
            <a:off x="4163809" y="5558730"/>
            <a:ext cx="356732"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40%</a:t>
            </a:r>
            <a:endParaRPr lang="en-US" sz="816" dirty="0"/>
          </a:p>
        </p:txBody>
      </p:sp>
      <p:sp>
        <p:nvSpPr>
          <p:cNvPr id="155" name="Text 152"/>
          <p:cNvSpPr/>
          <p:nvPr/>
        </p:nvSpPr>
        <p:spPr>
          <a:xfrm>
            <a:off x="5530910" y="5558730"/>
            <a:ext cx="336343"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11%</a:t>
            </a:r>
            <a:endParaRPr lang="en-US" sz="816" dirty="0"/>
          </a:p>
        </p:txBody>
      </p:sp>
      <p:sp>
        <p:nvSpPr>
          <p:cNvPr id="156" name="Text 153"/>
          <p:cNvSpPr/>
          <p:nvPr/>
        </p:nvSpPr>
        <p:spPr>
          <a:xfrm>
            <a:off x="6286343" y="2015430"/>
            <a:ext cx="726858"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57" name="Text 154"/>
          <p:cNvSpPr/>
          <p:nvPr/>
        </p:nvSpPr>
        <p:spPr>
          <a:xfrm>
            <a:off x="6333967" y="2239268"/>
            <a:ext cx="182880" cy="95250"/>
          </a:xfrm>
          <a:prstGeom prst="rect">
            <a:avLst/>
          </a:prstGeom>
          <a:noFill/>
          <a:ln/>
        </p:spPr>
        <p:txBody>
          <a:bodyPr wrap="none" lIns="0" tIns="0" rIns="0" bIns="0" rtlCol="0" anchor="t"/>
          <a:lstStyle/>
          <a:p>
            <a:pPr algn="l" indent="0" marL="0">
              <a:buNone/>
            </a:pPr>
            <a:r>
              <a:rPr lang="en-US" sz="672" b="1" dirty="0">
                <a:solidFill>
                  <a:srgbClr val="333333"/>
                </a:solidFill>
                <a:latin typeface="Raleway" pitchFamily="34" charset="0"/>
                <a:ea typeface="Raleway" pitchFamily="34" charset="-122"/>
                <a:cs typeface="Raleway" pitchFamily="34" charset="-120"/>
              </a:rPr>
              <a:t>Ene</a:t>
            </a:r>
            <a:endParaRPr lang="en-US" sz="672" dirty="0"/>
          </a:p>
        </p:txBody>
      </p:sp>
      <p:sp>
        <p:nvSpPr>
          <p:cNvPr id="158" name="Text 155"/>
          <p:cNvSpPr/>
          <p:nvPr/>
        </p:nvSpPr>
        <p:spPr>
          <a:xfrm>
            <a:off x="6333967" y="2448818"/>
            <a:ext cx="182880" cy="95250"/>
          </a:xfrm>
          <a:prstGeom prst="rect">
            <a:avLst/>
          </a:prstGeom>
          <a:noFill/>
          <a:ln/>
        </p:spPr>
        <p:txBody>
          <a:bodyPr wrap="none" lIns="0" tIns="0" rIns="0" bIns="0" rtlCol="0" anchor="t"/>
          <a:lstStyle/>
          <a:p>
            <a:pPr algn="l" indent="0" marL="0">
              <a:buNone/>
            </a:pPr>
            <a:r>
              <a:rPr lang="en-US" sz="672" b="1" dirty="0">
                <a:solidFill>
                  <a:srgbClr val="333333"/>
                </a:solidFill>
                <a:latin typeface="Raleway" pitchFamily="34" charset="0"/>
                <a:ea typeface="Raleway" pitchFamily="34" charset="-122"/>
                <a:cs typeface="Raleway" pitchFamily="34" charset="-120"/>
              </a:rPr>
              <a:t>Feb</a:t>
            </a:r>
            <a:endParaRPr lang="en-US" sz="672" dirty="0"/>
          </a:p>
        </p:txBody>
      </p:sp>
      <p:sp>
        <p:nvSpPr>
          <p:cNvPr id="159" name="Text 156"/>
          <p:cNvSpPr/>
          <p:nvPr/>
        </p:nvSpPr>
        <p:spPr>
          <a:xfrm>
            <a:off x="6333967" y="2658368"/>
            <a:ext cx="182880" cy="95250"/>
          </a:xfrm>
          <a:prstGeom prst="rect">
            <a:avLst/>
          </a:prstGeom>
          <a:noFill/>
          <a:ln/>
        </p:spPr>
        <p:txBody>
          <a:bodyPr wrap="none" lIns="0" tIns="0" rIns="0" bIns="0" rtlCol="0" anchor="t"/>
          <a:lstStyle/>
          <a:p>
            <a:pPr algn="l" indent="0" marL="0">
              <a:buNone/>
            </a:pPr>
            <a:r>
              <a:rPr lang="en-US" sz="672" b="1" dirty="0">
                <a:solidFill>
                  <a:srgbClr val="333333"/>
                </a:solidFill>
                <a:latin typeface="Raleway" pitchFamily="34" charset="0"/>
                <a:ea typeface="Raleway" pitchFamily="34" charset="-122"/>
                <a:cs typeface="Raleway" pitchFamily="34" charset="-120"/>
              </a:rPr>
              <a:t>Mar</a:t>
            </a:r>
            <a:endParaRPr lang="en-US" sz="672" dirty="0"/>
          </a:p>
        </p:txBody>
      </p:sp>
      <p:sp>
        <p:nvSpPr>
          <p:cNvPr id="160" name="Text 157"/>
          <p:cNvSpPr/>
          <p:nvPr/>
        </p:nvSpPr>
        <p:spPr>
          <a:xfrm>
            <a:off x="6333967" y="2867918"/>
            <a:ext cx="182880" cy="95250"/>
          </a:xfrm>
          <a:prstGeom prst="rect">
            <a:avLst/>
          </a:prstGeom>
          <a:noFill/>
          <a:ln/>
        </p:spPr>
        <p:txBody>
          <a:bodyPr wrap="none" lIns="0" tIns="0" rIns="0" bIns="0" rtlCol="0" anchor="t"/>
          <a:lstStyle/>
          <a:p>
            <a:pPr algn="l" indent="0" marL="0">
              <a:buNone/>
            </a:pPr>
            <a:r>
              <a:rPr lang="en-US" sz="672" b="1" dirty="0">
                <a:solidFill>
                  <a:srgbClr val="333333"/>
                </a:solidFill>
                <a:latin typeface="Raleway" pitchFamily="34" charset="0"/>
                <a:ea typeface="Raleway" pitchFamily="34" charset="-122"/>
                <a:cs typeface="Raleway" pitchFamily="34" charset="-120"/>
              </a:rPr>
              <a:t>Abr</a:t>
            </a:r>
            <a:endParaRPr lang="en-US" sz="672" dirty="0"/>
          </a:p>
        </p:txBody>
      </p:sp>
      <p:sp>
        <p:nvSpPr>
          <p:cNvPr id="161" name="Text 158"/>
          <p:cNvSpPr/>
          <p:nvPr/>
        </p:nvSpPr>
        <p:spPr>
          <a:xfrm>
            <a:off x="6333967" y="3077468"/>
            <a:ext cx="182880" cy="95250"/>
          </a:xfrm>
          <a:prstGeom prst="rect">
            <a:avLst/>
          </a:prstGeom>
          <a:noFill/>
          <a:ln/>
        </p:spPr>
        <p:txBody>
          <a:bodyPr wrap="none" lIns="0" tIns="0" rIns="0" bIns="0" rtlCol="0" anchor="t"/>
          <a:lstStyle/>
          <a:p>
            <a:pPr algn="l" indent="0" marL="0">
              <a:buNone/>
            </a:pPr>
            <a:r>
              <a:rPr lang="en-US" sz="672" b="1" dirty="0">
                <a:solidFill>
                  <a:srgbClr val="333333"/>
                </a:solidFill>
                <a:latin typeface="Raleway" pitchFamily="34" charset="0"/>
                <a:ea typeface="Raleway" pitchFamily="34" charset="-122"/>
                <a:cs typeface="Raleway" pitchFamily="34" charset="-120"/>
              </a:rPr>
              <a:t>May</a:t>
            </a:r>
            <a:endParaRPr lang="en-US" sz="672" dirty="0"/>
          </a:p>
        </p:txBody>
      </p:sp>
      <p:sp>
        <p:nvSpPr>
          <p:cNvPr id="162" name="Text 159"/>
          <p:cNvSpPr/>
          <p:nvPr/>
        </p:nvSpPr>
        <p:spPr>
          <a:xfrm>
            <a:off x="6333967" y="3287018"/>
            <a:ext cx="182880" cy="95250"/>
          </a:xfrm>
          <a:prstGeom prst="rect">
            <a:avLst/>
          </a:prstGeom>
          <a:noFill/>
          <a:ln/>
        </p:spPr>
        <p:txBody>
          <a:bodyPr wrap="none" lIns="0" tIns="0" rIns="0" bIns="0" rtlCol="0" anchor="t"/>
          <a:lstStyle/>
          <a:p>
            <a:pPr algn="l" indent="0" marL="0">
              <a:buNone/>
            </a:pPr>
            <a:r>
              <a:rPr lang="en-US" sz="672" b="1" dirty="0">
                <a:solidFill>
                  <a:srgbClr val="333333"/>
                </a:solidFill>
                <a:latin typeface="Raleway" pitchFamily="34" charset="0"/>
                <a:ea typeface="Raleway" pitchFamily="34" charset="-122"/>
                <a:cs typeface="Raleway" pitchFamily="34" charset="-120"/>
              </a:rPr>
              <a:t>Jun</a:t>
            </a:r>
            <a:endParaRPr lang="en-US" sz="672" dirty="0"/>
          </a:p>
        </p:txBody>
      </p:sp>
      <p:sp>
        <p:nvSpPr>
          <p:cNvPr id="163" name="Text 160"/>
          <p:cNvSpPr/>
          <p:nvPr/>
        </p:nvSpPr>
        <p:spPr>
          <a:xfrm>
            <a:off x="11220169" y="3920430"/>
            <a:ext cx="266693" cy="91440"/>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49%</a:t>
            </a:r>
            <a:endParaRPr lang="en-US" sz="576" dirty="0"/>
          </a:p>
        </p:txBody>
      </p:sp>
      <p:sp>
        <p:nvSpPr>
          <p:cNvPr id="164" name="Text 161"/>
          <p:cNvSpPr/>
          <p:nvPr/>
        </p:nvSpPr>
        <p:spPr>
          <a:xfrm>
            <a:off x="11220169" y="4025205"/>
            <a:ext cx="266693" cy="91440"/>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29%</a:t>
            </a:r>
            <a:endParaRPr lang="en-US" sz="576" dirty="0"/>
          </a:p>
        </p:txBody>
      </p:sp>
      <p:sp>
        <p:nvSpPr>
          <p:cNvPr id="165" name="Text 162"/>
          <p:cNvSpPr/>
          <p:nvPr/>
        </p:nvSpPr>
        <p:spPr>
          <a:xfrm>
            <a:off x="3386946" y="3325118"/>
            <a:ext cx="182880" cy="114300"/>
          </a:xfrm>
          <a:prstGeom prst="rect">
            <a:avLst/>
          </a:prstGeom>
          <a:noFill/>
          <a:ln/>
        </p:spPr>
        <p:txBody>
          <a:bodyPr wrap="none" lIns="0" tIns="0" rIns="0" bIns="0" rtlCol="0" anchor="t"/>
          <a:lstStyle/>
          <a:p>
            <a:pPr algn="r" indent="0" marL="0">
              <a:buNone/>
            </a:pPr>
            <a:r>
              <a:rPr lang="en-US" sz="792" b="1" dirty="0">
                <a:solidFill>
                  <a:srgbClr val="333333"/>
                </a:solidFill>
                <a:latin typeface="Raleway" pitchFamily="34" charset="0"/>
                <a:ea typeface="Raleway" pitchFamily="34" charset="-122"/>
                <a:cs typeface="Raleway" pitchFamily="34" charset="-120"/>
              </a:rPr>
              <a:t>79</a:t>
            </a:r>
            <a:endParaRPr lang="en-US" sz="792" dirty="0"/>
          </a:p>
        </p:txBody>
      </p:sp>
      <p:sp>
        <p:nvSpPr>
          <p:cNvPr id="166" name="Text 163"/>
          <p:cNvSpPr/>
          <p:nvPr/>
        </p:nvSpPr>
        <p:spPr>
          <a:xfrm>
            <a:off x="5572283" y="4720530"/>
            <a:ext cx="294970"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9%</a:t>
            </a:r>
            <a:endParaRPr lang="en-US" sz="816" dirty="0"/>
          </a:p>
        </p:txBody>
      </p:sp>
      <p:sp>
        <p:nvSpPr>
          <p:cNvPr id="167" name="Text 164"/>
          <p:cNvSpPr/>
          <p:nvPr/>
        </p:nvSpPr>
        <p:spPr>
          <a:xfrm>
            <a:off x="5572283" y="5139630"/>
            <a:ext cx="294970"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9%</a:t>
            </a:r>
            <a:endParaRPr lang="en-US" sz="816" dirty="0"/>
          </a:p>
        </p:txBody>
      </p:sp>
      <p:sp>
        <p:nvSpPr>
          <p:cNvPr id="168" name="Text 165"/>
          <p:cNvSpPr/>
          <p:nvPr/>
        </p:nvSpPr>
        <p:spPr>
          <a:xfrm>
            <a:off x="11220169" y="4129980"/>
            <a:ext cx="266693" cy="91440"/>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69" name="Text 166"/>
          <p:cNvSpPr/>
          <p:nvPr/>
        </p:nvSpPr>
        <p:spPr>
          <a:xfrm>
            <a:off x="11220169" y="4234755"/>
            <a:ext cx="266693" cy="91440"/>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70" name="Text 167"/>
          <p:cNvSpPr/>
          <p:nvPr/>
        </p:nvSpPr>
        <p:spPr>
          <a:xfrm>
            <a:off x="11220169" y="4339530"/>
            <a:ext cx="266693" cy="91440"/>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71" name="Text 168"/>
          <p:cNvSpPr/>
          <p:nvPr/>
        </p:nvSpPr>
        <p:spPr>
          <a:xfrm>
            <a:off x="11220169" y="4444305"/>
            <a:ext cx="266693" cy="91440"/>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72" name="Text 169"/>
          <p:cNvSpPr/>
          <p:nvPr/>
        </p:nvSpPr>
        <p:spPr>
          <a:xfrm>
            <a:off x="11220169" y="4549080"/>
            <a:ext cx="266693" cy="91440"/>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8%</a:t>
            </a:r>
            <a:endParaRPr lang="en-US" sz="57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01_Repositorios\13_Presentaciones\dash\televentas\ppt_slides\sk_05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648284" y="5367784"/>
            <a:ext cx="4724282" cy="397818"/>
          </a:xfrm>
          <a:prstGeom prst="rect">
            <a:avLst/>
          </a:prstGeom>
          <a:noFill/>
          <a:ln/>
        </p:spPr>
        <p:txBody>
          <a:bodyPr wrap="none" lIns="0" tIns="0" rIns="0" bIns="0" rtlCol="0" anchor="t"/>
          <a:lstStyle/>
          <a:p>
            <a:pPr algn="l" indent="0" marL="0">
              <a:buNone/>
            </a:pPr>
            <a:r>
              <a:rPr lang="en-US" sz="696" b="1" dirty="0">
                <a:solidFill>
                  <a:srgbClr val="120180"/>
                </a:solidFill>
                <a:latin typeface="Raleway" pitchFamily="34" charset="0"/>
                <a:ea typeface="Raleway" pitchFamily="34" charset="-122"/>
                <a:cs typeface="Raleway" pitchFamily="34" charset="-120"/>
              </a:rPr>
              <a:t>Base con intención de compra validada ·  en el semestre · Crecimiento de  · El equipo focalizado pasó de 14 a 266 ventas/mes () · 26,6% de conversión,  · La autogestión es la campaña de mayor efectividad del portafolio.</a:t>
            </a:r>
            <a:endParaRPr lang="en-US" sz="696" dirty="0"/>
          </a:p>
        </p:txBody>
      </p:sp>
      <p:sp>
        <p:nvSpPr>
          <p:cNvPr id="4" name="Text 1"/>
          <p:cNvSpPr/>
          <p:nvPr/>
        </p:nvSpPr>
        <p:spPr>
          <a:xfrm>
            <a:off x="6314917" y="3575745"/>
            <a:ext cx="5152896" cy="142875"/>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¿Por qué se descartaron? (tipificación rechazos — autogestión)</a:t>
            </a:r>
            <a:endParaRPr lang="en-US" sz="744" dirty="0"/>
          </a:p>
        </p:txBody>
      </p:sp>
      <p:sp>
        <p:nvSpPr>
          <p:cNvPr id="5" name="Text 2"/>
          <p:cNvSpPr/>
          <p:nvPr/>
        </p:nvSpPr>
        <p:spPr>
          <a:xfrm>
            <a:off x="6314917" y="4537770"/>
            <a:ext cx="5152896" cy="9144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63,8 % de la base total · 7.460 registros descartados en 1S</a:t>
            </a:r>
            <a:endParaRPr lang="en-US" sz="576" dirty="0"/>
          </a:p>
        </p:txBody>
      </p:sp>
      <p:sp>
        <p:nvSpPr>
          <p:cNvPr id="6" name="Text 3"/>
          <p:cNvSpPr/>
          <p:nvPr/>
        </p:nvSpPr>
        <p:spPr>
          <a:xfrm>
            <a:off x="9134247" y="1527870"/>
            <a:ext cx="2333567" cy="26670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Convierte 3.0 veces mejor que el resto de la base</a:t>
            </a:r>
            <a:endParaRPr lang="en-US" sz="864" dirty="0"/>
          </a:p>
        </p:txBody>
      </p:sp>
      <p:sp>
        <p:nvSpPr>
          <p:cNvPr id="7" name="Text 4"/>
          <p:cNvSpPr/>
          <p:nvPr/>
        </p:nvSpPr>
        <p:spPr>
          <a:xfrm>
            <a:off x="1213514" y="219075"/>
            <a:ext cx="3502582"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Campaña Autogestión · Histórico y Análisis</a:t>
            </a:r>
            <a:endParaRPr lang="en-US" sz="1260" dirty="0"/>
          </a:p>
        </p:txBody>
      </p:sp>
      <p:sp>
        <p:nvSpPr>
          <p:cNvPr id="8" name="Text 5"/>
          <p:cNvSpPr/>
          <p:nvPr/>
        </p:nvSpPr>
        <p:spPr>
          <a:xfrm>
            <a:off x="761981" y="152787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Solicitudes de financiación autogestionada</a:t>
            </a:r>
            <a:endParaRPr lang="en-US" sz="864" dirty="0"/>
          </a:p>
        </p:txBody>
      </p:sp>
      <p:sp>
        <p:nvSpPr>
          <p:cNvPr id="9" name="Text 6"/>
          <p:cNvSpPr/>
          <p:nvPr/>
        </p:nvSpPr>
        <p:spPr>
          <a:xfrm>
            <a:off x="6343491" y="152787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7.460 registros descartados en el semestre</a:t>
            </a:r>
            <a:endParaRPr lang="en-US" sz="864" dirty="0"/>
          </a:p>
        </p:txBody>
      </p:sp>
      <p:sp>
        <p:nvSpPr>
          <p:cNvPr id="10" name="Text 7"/>
          <p:cNvSpPr/>
          <p:nvPr/>
        </p:nvSpPr>
        <p:spPr>
          <a:xfrm>
            <a:off x="6314917" y="3851970"/>
            <a:ext cx="1219170" cy="95250"/>
          </a:xfrm>
          <a:prstGeom prst="rect">
            <a:avLst/>
          </a:prstGeom>
          <a:noFill/>
          <a:ln/>
        </p:spPr>
        <p:txBody>
          <a:bodyPr wrap="non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Registro Recibido Anteriormente</a:t>
            </a:r>
            <a:endParaRPr lang="en-US" sz="600" dirty="0"/>
          </a:p>
        </p:txBody>
      </p:sp>
      <p:sp>
        <p:nvSpPr>
          <p:cNvPr id="11" name="Text 8"/>
          <p:cNvSpPr/>
          <p:nvPr/>
        </p:nvSpPr>
        <p:spPr>
          <a:xfrm>
            <a:off x="9134247"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Vs. promedio general del canal</a:t>
            </a:r>
            <a:endParaRPr lang="en-US" sz="864" dirty="0"/>
          </a:p>
        </p:txBody>
      </p:sp>
      <p:sp>
        <p:nvSpPr>
          <p:cNvPr id="12" name="Text 9"/>
          <p:cNvSpPr/>
          <p:nvPr/>
        </p:nvSpPr>
        <p:spPr>
          <a:xfrm>
            <a:off x="6314917" y="4080570"/>
            <a:ext cx="1219170" cy="95250"/>
          </a:xfrm>
          <a:prstGeom prst="rect">
            <a:avLst/>
          </a:prstGeom>
          <a:noFill/>
          <a:ln/>
        </p:spPr>
        <p:txBody>
          <a:bodyPr wrap="non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Registro Enviado Anteriormente</a:t>
            </a:r>
            <a:endParaRPr lang="en-US" sz="600" dirty="0"/>
          </a:p>
        </p:txBody>
      </p:sp>
      <p:sp>
        <p:nvSpPr>
          <p:cNvPr id="13" name="Text 10"/>
          <p:cNvSpPr/>
          <p:nvPr/>
        </p:nvSpPr>
        <p:spPr>
          <a:xfrm>
            <a:off x="723882" y="4518720"/>
            <a:ext cx="5152896" cy="180975"/>
          </a:xfrm>
          <a:prstGeom prst="rect">
            <a:avLst/>
          </a:prstGeom>
          <a:noFill/>
          <a:ln/>
        </p:spPr>
        <p:txBody>
          <a:bodyPr wrap="none" lIns="0" tIns="0" rIns="0" bIns="0" rtlCol="0" anchor="t"/>
          <a:lstStyle/>
          <a:p>
            <a:pPr algn="l" indent="0" marL="0">
              <a:buNone/>
            </a:pPr>
            <a:r>
              <a:rPr lang="en-US" sz="792" b="1" dirty="0">
                <a:solidFill>
                  <a:srgbClr val="120180"/>
                </a:solidFill>
                <a:latin typeface="Raleway" pitchFamily="34" charset="0"/>
                <a:ea typeface="Raleway" pitchFamily="34" charset="-122"/>
                <a:cs typeface="Raleway" pitchFamily="34" charset="-120"/>
              </a:rPr>
              <a:t>Ventas Autogestión por asesor</a:t>
            </a:r>
            <a:endParaRPr lang="en-US" sz="792" dirty="0"/>
          </a:p>
        </p:txBody>
      </p:sp>
      <p:sp>
        <p:nvSpPr>
          <p:cNvPr id="14" name="Text 11"/>
          <p:cNvSpPr/>
          <p:nvPr/>
        </p:nvSpPr>
        <p:spPr>
          <a:xfrm>
            <a:off x="6314917" y="2194620"/>
            <a:ext cx="5152896" cy="180975"/>
          </a:xfrm>
          <a:prstGeom prst="rect">
            <a:avLst/>
          </a:prstGeom>
          <a:noFill/>
          <a:ln/>
        </p:spPr>
        <p:txBody>
          <a:bodyPr wrap="none" lIns="0" tIns="0" rIns="0" bIns="0" rtlCol="0" anchor="t"/>
          <a:lstStyle/>
          <a:p>
            <a:pPr algn="l" indent="0" marL="0">
              <a:buNone/>
            </a:pPr>
            <a:r>
              <a:rPr lang="en-US" sz="792" b="1" dirty="0">
                <a:solidFill>
                  <a:srgbClr val="120180"/>
                </a:solidFill>
                <a:latin typeface="Raleway" pitchFamily="34" charset="0"/>
                <a:ea typeface="Raleway" pitchFamily="34" charset="-122"/>
                <a:cs typeface="Raleway" pitchFamily="34" charset="-120"/>
              </a:rPr>
              <a:t>Crecimiento mensual de ventas</a:t>
            </a:r>
            <a:endParaRPr lang="en-US" sz="792" dirty="0"/>
          </a:p>
        </p:txBody>
      </p:sp>
      <p:sp>
        <p:nvSpPr>
          <p:cNvPr id="15" name="Text 12"/>
          <p:cNvSpPr/>
          <p:nvPr/>
        </p:nvSpPr>
        <p:spPr>
          <a:xfrm>
            <a:off x="3552736" y="152787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26,6 % sobre contactados</a:t>
            </a:r>
            <a:endParaRPr lang="en-US" sz="864" dirty="0"/>
          </a:p>
        </p:txBody>
      </p:sp>
      <p:sp>
        <p:nvSpPr>
          <p:cNvPr id="16" name="Text 13"/>
          <p:cNvSpPr/>
          <p:nvPr/>
        </p:nvSpPr>
        <p:spPr>
          <a:xfrm>
            <a:off x="6314917" y="4718745"/>
            <a:ext cx="5152896" cy="104775"/>
          </a:xfrm>
          <a:prstGeom prst="rect">
            <a:avLst/>
          </a:prstGeom>
          <a:noFill/>
          <a:ln/>
        </p:spPr>
        <p:txBody>
          <a:bodyPr wrap="none" lIns="0" tIns="0" rIns="0" bIns="0" rtlCol="0" anchor="t"/>
          <a:lstStyle/>
          <a:p>
            <a:pPr algn="l" indent="0" marL="0">
              <a:buNone/>
            </a:pPr>
            <a:r>
              <a:rPr lang="en-US" sz="624" b="1" dirty="0">
                <a:solidFill>
                  <a:srgbClr val="9098B0"/>
                </a:solidFill>
                <a:latin typeface="Raleway" pitchFamily="34" charset="0"/>
                <a:ea typeface="Raleway" pitchFamily="34" charset="-122"/>
                <a:cs typeface="Raleway" pitchFamily="34" charset="-120"/>
              </a:rPr>
              <a:t>Qué cambió en la gestión</a:t>
            </a:r>
            <a:endParaRPr lang="en-US" sz="624" dirty="0"/>
          </a:p>
        </p:txBody>
      </p:sp>
      <p:sp>
        <p:nvSpPr>
          <p:cNvPr id="17" name="Text 14"/>
          <p:cNvSpPr/>
          <p:nvPr/>
        </p:nvSpPr>
        <p:spPr>
          <a:xfrm>
            <a:off x="6314917" y="3737670"/>
            <a:ext cx="1219170" cy="95250"/>
          </a:xfrm>
          <a:prstGeom prst="rect">
            <a:avLst/>
          </a:prstGeom>
          <a:noFill/>
          <a:ln/>
        </p:spPr>
        <p:txBody>
          <a:bodyPr wrap="non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Cuota Protegida Activa</a:t>
            </a:r>
            <a:endParaRPr lang="en-US" sz="600" dirty="0"/>
          </a:p>
        </p:txBody>
      </p:sp>
      <p:sp>
        <p:nvSpPr>
          <p:cNvPr id="18" name="Text 15"/>
          <p:cNvSpPr/>
          <p:nvPr/>
        </p:nvSpPr>
        <p:spPr>
          <a:xfrm>
            <a:off x="9936261" y="209550"/>
            <a:ext cx="1683948"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Autogestión</a:t>
            </a:r>
            <a:endParaRPr lang="en-US" sz="840" dirty="0"/>
          </a:p>
        </p:txBody>
      </p:sp>
      <p:sp>
        <p:nvSpPr>
          <p:cNvPr id="19" name="Text 16"/>
          <p:cNvSpPr/>
          <p:nvPr/>
        </p:nvSpPr>
        <p:spPr>
          <a:xfrm>
            <a:off x="6314917" y="4309170"/>
            <a:ext cx="1219170" cy="95250"/>
          </a:xfrm>
          <a:prstGeom prst="rect">
            <a:avLst/>
          </a:prstGeom>
          <a:noFill/>
          <a:ln/>
        </p:spPr>
        <p:txBody>
          <a:bodyPr wrap="non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Microseguro Activo</a:t>
            </a:r>
            <a:endParaRPr lang="en-US" sz="600" dirty="0"/>
          </a:p>
        </p:txBody>
      </p:sp>
      <p:sp>
        <p:nvSpPr>
          <p:cNvPr id="20" name="Text 17"/>
          <p:cNvSpPr/>
          <p:nvPr/>
        </p:nvSpPr>
        <p:spPr>
          <a:xfrm>
            <a:off x="8988548" y="5099745"/>
            <a:ext cx="1128089" cy="91440"/>
          </a:xfrm>
          <a:prstGeom prst="rect">
            <a:avLst/>
          </a:prstGeom>
          <a:noFill/>
          <a:ln/>
        </p:spPr>
        <p:txBody>
          <a:bodyPr wrap="non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Sobremarcación OCM</a:t>
            </a:r>
            <a:endParaRPr lang="en-US" sz="624" dirty="0"/>
          </a:p>
        </p:txBody>
      </p:sp>
      <p:sp>
        <p:nvSpPr>
          <p:cNvPr id="21" name="Text 18"/>
          <p:cNvSpPr/>
          <p:nvPr/>
        </p:nvSpPr>
        <p:spPr>
          <a:xfrm>
            <a:off x="723882" y="2194620"/>
            <a:ext cx="5152896" cy="219075"/>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Histórico mensual</a:t>
            </a:r>
            <a:endParaRPr lang="en-US" sz="1020" dirty="0"/>
          </a:p>
        </p:txBody>
      </p:sp>
      <p:sp>
        <p:nvSpPr>
          <p:cNvPr id="22" name="Text 19"/>
          <p:cNvSpPr/>
          <p:nvPr/>
        </p:nvSpPr>
        <p:spPr>
          <a:xfrm>
            <a:off x="838179" y="5242620"/>
            <a:ext cx="776566" cy="104775"/>
          </a:xfrm>
          <a:prstGeom prst="rect">
            <a:avLst/>
          </a:prstGeom>
          <a:noFill/>
          <a:ln/>
        </p:spPr>
        <p:txBody>
          <a:bodyPr wrap="none" lIns="0" tIns="0" rIns="0" bIns="0" rtlCol="0" anchor="t"/>
          <a:lstStyle/>
          <a:p>
            <a:pPr algn="l" indent="0" marL="0">
              <a:buNone/>
            </a:pPr>
            <a:r>
              <a:rPr lang="en-US" sz="744" b="1" dirty="0">
                <a:solidFill>
                  <a:srgbClr val="333333"/>
                </a:solidFill>
                <a:latin typeface="Raleway" pitchFamily="34" charset="0"/>
                <a:ea typeface="Raleway" pitchFamily="34" charset="-122"/>
                <a:cs typeface="Raleway" pitchFamily="34" charset="-120"/>
              </a:rPr>
              <a:t>Melissa P. Orozco</a:t>
            </a:r>
            <a:endParaRPr lang="en-US" sz="744" dirty="0"/>
          </a:p>
        </p:txBody>
      </p:sp>
      <p:sp>
        <p:nvSpPr>
          <p:cNvPr id="23" name="Text 20"/>
          <p:cNvSpPr/>
          <p:nvPr/>
        </p:nvSpPr>
        <p:spPr>
          <a:xfrm>
            <a:off x="6314917" y="3966270"/>
            <a:ext cx="1219170" cy="95250"/>
          </a:xfrm>
          <a:prstGeom prst="rect">
            <a:avLst/>
          </a:prstGeom>
          <a:noFill/>
          <a:ln/>
        </p:spPr>
        <p:txBody>
          <a:bodyPr wrap="non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Contrato Repetido</a:t>
            </a:r>
            <a:endParaRPr lang="en-US" sz="600" dirty="0"/>
          </a:p>
        </p:txBody>
      </p:sp>
      <p:sp>
        <p:nvSpPr>
          <p:cNvPr id="24" name="Text 21"/>
          <p:cNvSpPr/>
          <p:nvPr/>
        </p:nvSpPr>
        <p:spPr>
          <a:xfrm>
            <a:off x="6314917" y="4194870"/>
            <a:ext cx="1219170" cy="95250"/>
          </a:xfrm>
          <a:prstGeom prst="rect">
            <a:avLst/>
          </a:prstGeom>
          <a:noFill/>
          <a:ln/>
        </p:spPr>
        <p:txBody>
          <a:bodyPr wrap="non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Localidad Errónea</a:t>
            </a:r>
            <a:endParaRPr lang="en-US" sz="600" dirty="0"/>
          </a:p>
        </p:txBody>
      </p:sp>
      <p:sp>
        <p:nvSpPr>
          <p:cNvPr id="25" name="Text 22"/>
          <p:cNvSpPr/>
          <p:nvPr/>
        </p:nvSpPr>
        <p:spPr>
          <a:xfrm>
            <a:off x="6343491"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Rechazo promedio</a:t>
            </a:r>
            <a:endParaRPr lang="en-US" sz="864" dirty="0"/>
          </a:p>
        </p:txBody>
      </p:sp>
      <p:sp>
        <p:nvSpPr>
          <p:cNvPr id="26" name="Text 23"/>
          <p:cNvSpPr/>
          <p:nvPr/>
        </p:nvSpPr>
        <p:spPr>
          <a:xfrm>
            <a:off x="838179" y="5680770"/>
            <a:ext cx="665096" cy="104775"/>
          </a:xfrm>
          <a:prstGeom prst="rect">
            <a:avLst/>
          </a:prstGeom>
          <a:noFill/>
          <a:ln/>
        </p:spPr>
        <p:txBody>
          <a:bodyPr wrap="none" lIns="0" tIns="0" rIns="0" bIns="0" rtlCol="0" anchor="t"/>
          <a:lstStyle/>
          <a:p>
            <a:pPr algn="l" indent="0" marL="0">
              <a:buNone/>
            </a:pPr>
            <a:r>
              <a:rPr lang="en-US" sz="744" b="1" dirty="0">
                <a:solidFill>
                  <a:srgbClr val="333333"/>
                </a:solidFill>
                <a:latin typeface="Raleway" pitchFamily="34" charset="0"/>
                <a:ea typeface="Raleway" pitchFamily="34" charset="-122"/>
                <a:cs typeface="Raleway" pitchFamily="34" charset="-120"/>
              </a:rPr>
              <a:t>Joelis J. Barros</a:t>
            </a:r>
            <a:endParaRPr lang="en-US" sz="744" dirty="0"/>
          </a:p>
        </p:txBody>
      </p:sp>
      <p:sp>
        <p:nvSpPr>
          <p:cNvPr id="27" name="Text 24"/>
          <p:cNvSpPr/>
          <p:nvPr/>
        </p:nvSpPr>
        <p:spPr>
          <a:xfrm>
            <a:off x="723882" y="5839718"/>
            <a:ext cx="1390615" cy="185738"/>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Total 4 asesores</a:t>
            </a:r>
            <a:endParaRPr lang="en-US" sz="720" dirty="0"/>
          </a:p>
        </p:txBody>
      </p:sp>
      <p:sp>
        <p:nvSpPr>
          <p:cNvPr id="28" name="Text 25"/>
          <p:cNvSpPr/>
          <p:nvPr/>
        </p:nvSpPr>
        <p:spPr>
          <a:xfrm>
            <a:off x="7665945" y="5099745"/>
            <a:ext cx="1128238" cy="91440"/>
          </a:xfrm>
          <a:prstGeom prst="rect">
            <a:avLst/>
          </a:prstGeom>
          <a:noFill/>
          <a:ln/>
        </p:spPr>
        <p:txBody>
          <a:bodyPr wrap="non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Foco: 3 asesores</a:t>
            </a:r>
            <a:endParaRPr lang="en-US" sz="624" dirty="0"/>
          </a:p>
        </p:txBody>
      </p:sp>
      <p:sp>
        <p:nvSpPr>
          <p:cNvPr id="29" name="Text 26"/>
          <p:cNvSpPr/>
          <p:nvPr/>
        </p:nvSpPr>
        <p:spPr>
          <a:xfrm>
            <a:off x="838179" y="5023545"/>
            <a:ext cx="684890" cy="104775"/>
          </a:xfrm>
          <a:prstGeom prst="rect">
            <a:avLst/>
          </a:prstGeom>
          <a:noFill/>
          <a:ln/>
        </p:spPr>
        <p:txBody>
          <a:bodyPr wrap="none" lIns="0" tIns="0" rIns="0" bIns="0" rtlCol="0" anchor="t"/>
          <a:lstStyle/>
          <a:p>
            <a:pPr algn="l" indent="0" marL="0">
              <a:buNone/>
            </a:pPr>
            <a:r>
              <a:rPr lang="en-US" sz="744" b="1" dirty="0">
                <a:solidFill>
                  <a:srgbClr val="333333"/>
                </a:solidFill>
                <a:latin typeface="Raleway" pitchFamily="34" charset="0"/>
                <a:ea typeface="Raleway" pitchFamily="34" charset="-122"/>
                <a:cs typeface="Raleway" pitchFamily="34" charset="-120"/>
              </a:rPr>
              <a:t>Jesús D. Cortés</a:t>
            </a:r>
            <a:endParaRPr lang="en-US" sz="744" dirty="0"/>
          </a:p>
        </p:txBody>
      </p:sp>
      <p:sp>
        <p:nvSpPr>
          <p:cNvPr id="30" name="Text 27"/>
          <p:cNvSpPr/>
          <p:nvPr/>
        </p:nvSpPr>
        <p:spPr>
          <a:xfrm>
            <a:off x="6314917" y="4423470"/>
            <a:ext cx="1219170" cy="95250"/>
          </a:xfrm>
          <a:prstGeom prst="rect">
            <a:avLst/>
          </a:prstGeom>
          <a:noFill/>
          <a:ln/>
        </p:spPr>
        <p:txBody>
          <a:bodyPr wrap="non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Otros (&lt;1% c/u)</a:t>
            </a:r>
            <a:endParaRPr lang="en-US" sz="600" dirty="0"/>
          </a:p>
        </p:txBody>
      </p:sp>
      <p:sp>
        <p:nvSpPr>
          <p:cNvPr id="31" name="Text 28"/>
          <p:cNvSpPr/>
          <p:nvPr/>
        </p:nvSpPr>
        <p:spPr>
          <a:xfrm>
            <a:off x="761981"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(1S)</a:t>
            </a:r>
            <a:endParaRPr lang="en-US" sz="864" dirty="0"/>
          </a:p>
        </p:txBody>
      </p:sp>
      <p:sp>
        <p:nvSpPr>
          <p:cNvPr id="32" name="Text 29"/>
          <p:cNvSpPr/>
          <p:nvPr/>
        </p:nvSpPr>
        <p:spPr>
          <a:xfrm>
            <a:off x="838179" y="5461695"/>
            <a:ext cx="615091" cy="104775"/>
          </a:xfrm>
          <a:prstGeom prst="rect">
            <a:avLst/>
          </a:prstGeom>
          <a:noFill/>
          <a:ln/>
        </p:spPr>
        <p:txBody>
          <a:bodyPr wrap="none" lIns="0" tIns="0" rIns="0" bIns="0" rtlCol="0" anchor="t"/>
          <a:lstStyle/>
          <a:p>
            <a:pPr algn="l" indent="0" marL="0">
              <a:buNone/>
            </a:pPr>
            <a:r>
              <a:rPr lang="en-US" sz="744" b="1" dirty="0">
                <a:solidFill>
                  <a:srgbClr val="333333"/>
                </a:solidFill>
                <a:latin typeface="Raleway" pitchFamily="34" charset="0"/>
                <a:ea typeface="Raleway" pitchFamily="34" charset="-122"/>
                <a:cs typeface="Raleway" pitchFamily="34" charset="-120"/>
              </a:rPr>
              <a:t>Luisa L. Percy</a:t>
            </a:r>
            <a:endParaRPr lang="en-US" sz="744" dirty="0"/>
          </a:p>
        </p:txBody>
      </p:sp>
      <p:sp>
        <p:nvSpPr>
          <p:cNvPr id="33" name="Text 30"/>
          <p:cNvSpPr/>
          <p:nvPr/>
        </p:nvSpPr>
        <p:spPr>
          <a:xfrm>
            <a:off x="6343491" y="5099745"/>
            <a:ext cx="1128089" cy="91440"/>
          </a:xfrm>
          <a:prstGeom prst="rect">
            <a:avLst/>
          </a:prstGeom>
          <a:noFill/>
          <a:ln/>
        </p:spPr>
        <p:txBody>
          <a:bodyPr wrap="non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Sin focalizar</a:t>
            </a:r>
            <a:endParaRPr lang="en-US" sz="624" dirty="0"/>
          </a:p>
        </p:txBody>
      </p:sp>
      <p:sp>
        <p:nvSpPr>
          <p:cNvPr id="34" name="Text 31"/>
          <p:cNvSpPr/>
          <p:nvPr/>
        </p:nvSpPr>
        <p:spPr>
          <a:xfrm>
            <a:off x="10311001" y="5099745"/>
            <a:ext cx="1128238" cy="91440"/>
          </a:xfrm>
          <a:prstGeom prst="rect">
            <a:avLst/>
          </a:prstGeom>
          <a:noFill/>
          <a:ln/>
        </p:spPr>
        <p:txBody>
          <a:bodyPr wrap="non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+1 asesor (4)</a:t>
            </a:r>
            <a:endParaRPr lang="en-US" sz="624" dirty="0"/>
          </a:p>
        </p:txBody>
      </p:sp>
      <p:sp>
        <p:nvSpPr>
          <p:cNvPr id="35" name="Text 32"/>
          <p:cNvSpPr/>
          <p:nvPr/>
        </p:nvSpPr>
        <p:spPr>
          <a:xfrm>
            <a:off x="3552736"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Ventas (1S)</a:t>
            </a:r>
            <a:endParaRPr lang="en-US" sz="864" dirty="0"/>
          </a:p>
        </p:txBody>
      </p:sp>
      <p:sp>
        <p:nvSpPr>
          <p:cNvPr id="36" name="Text 33"/>
          <p:cNvSpPr/>
          <p:nvPr/>
        </p:nvSpPr>
        <p:spPr>
          <a:xfrm>
            <a:off x="4091927" y="2470845"/>
            <a:ext cx="884612"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7" name="Text 34"/>
          <p:cNvSpPr/>
          <p:nvPr/>
        </p:nvSpPr>
        <p:spPr>
          <a:xfrm>
            <a:off x="4976539" y="2470845"/>
            <a:ext cx="900239"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Conversión</a:t>
            </a:r>
            <a:endParaRPr lang="en-US" sz="888" dirty="0"/>
          </a:p>
        </p:txBody>
      </p:sp>
      <p:sp>
        <p:nvSpPr>
          <p:cNvPr id="38" name="Text 35"/>
          <p:cNvSpPr/>
          <p:nvPr/>
        </p:nvSpPr>
        <p:spPr>
          <a:xfrm>
            <a:off x="1234945" y="2470845"/>
            <a:ext cx="794573"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9" name="Text 36"/>
          <p:cNvSpPr/>
          <p:nvPr/>
        </p:nvSpPr>
        <p:spPr>
          <a:xfrm>
            <a:off x="2666636" y="2470845"/>
            <a:ext cx="736234"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Rechazo</a:t>
            </a:r>
            <a:endParaRPr lang="en-US" sz="888" dirty="0"/>
          </a:p>
        </p:txBody>
      </p:sp>
      <p:sp>
        <p:nvSpPr>
          <p:cNvPr id="40" name="Text 37"/>
          <p:cNvSpPr/>
          <p:nvPr/>
        </p:nvSpPr>
        <p:spPr>
          <a:xfrm>
            <a:off x="3402870" y="2470845"/>
            <a:ext cx="689057"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41" name="Text 38"/>
          <p:cNvSpPr/>
          <p:nvPr/>
        </p:nvSpPr>
        <p:spPr>
          <a:xfrm>
            <a:off x="6343491" y="5014020"/>
            <a:ext cx="1128089" cy="91440"/>
          </a:xfrm>
          <a:prstGeom prst="rect">
            <a:avLst/>
          </a:prstGeom>
          <a:noFill/>
          <a:ln/>
        </p:spPr>
        <p:txBody>
          <a:bodyPr wrap="non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Ene–Feb</a:t>
            </a:r>
            <a:endParaRPr lang="en-US" sz="576" dirty="0"/>
          </a:p>
        </p:txBody>
      </p:sp>
      <p:sp>
        <p:nvSpPr>
          <p:cNvPr id="42" name="Text 39"/>
          <p:cNvSpPr/>
          <p:nvPr/>
        </p:nvSpPr>
        <p:spPr>
          <a:xfrm>
            <a:off x="8988548" y="5014020"/>
            <a:ext cx="1128089" cy="91440"/>
          </a:xfrm>
          <a:prstGeom prst="rect">
            <a:avLst/>
          </a:prstGeom>
          <a:noFill/>
          <a:ln/>
        </p:spPr>
        <p:txBody>
          <a:bodyPr wrap="non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Abr–May</a:t>
            </a:r>
            <a:endParaRPr lang="en-US" sz="576" dirty="0"/>
          </a:p>
        </p:txBody>
      </p:sp>
      <p:sp>
        <p:nvSpPr>
          <p:cNvPr id="43" name="Text 40"/>
          <p:cNvSpPr/>
          <p:nvPr/>
        </p:nvSpPr>
        <p:spPr>
          <a:xfrm>
            <a:off x="761981" y="120015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11.686</a:t>
            </a:r>
            <a:endParaRPr lang="en-US" sz="1600" dirty="0"/>
          </a:p>
        </p:txBody>
      </p:sp>
      <p:sp>
        <p:nvSpPr>
          <p:cNvPr id="44" name="Text 41"/>
          <p:cNvSpPr/>
          <p:nvPr/>
        </p:nvSpPr>
        <p:spPr>
          <a:xfrm>
            <a:off x="6343491" y="120015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63,8 %</a:t>
            </a:r>
            <a:endParaRPr lang="en-US" sz="1600" dirty="0"/>
          </a:p>
        </p:txBody>
      </p:sp>
      <p:sp>
        <p:nvSpPr>
          <p:cNvPr id="45" name="Text 42"/>
          <p:cNvSpPr/>
          <p:nvPr/>
        </p:nvSpPr>
        <p:spPr>
          <a:xfrm>
            <a:off x="2029518" y="2470845"/>
            <a:ext cx="637117"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6" name="Text 43"/>
          <p:cNvSpPr/>
          <p:nvPr/>
        </p:nvSpPr>
        <p:spPr>
          <a:xfrm>
            <a:off x="3402870" y="2699445"/>
            <a:ext cx="689057"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41,2 %</a:t>
            </a:r>
            <a:endParaRPr lang="en-US" sz="888" dirty="0"/>
          </a:p>
        </p:txBody>
      </p:sp>
      <p:sp>
        <p:nvSpPr>
          <p:cNvPr id="47" name="Text 44"/>
          <p:cNvSpPr/>
          <p:nvPr/>
        </p:nvSpPr>
        <p:spPr>
          <a:xfrm>
            <a:off x="4091927" y="2699445"/>
            <a:ext cx="884612"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80,9 %</a:t>
            </a:r>
            <a:endParaRPr lang="en-US" sz="888" dirty="0"/>
          </a:p>
        </p:txBody>
      </p:sp>
      <p:sp>
        <p:nvSpPr>
          <p:cNvPr id="48" name="Text 45"/>
          <p:cNvSpPr/>
          <p:nvPr/>
        </p:nvSpPr>
        <p:spPr>
          <a:xfrm>
            <a:off x="5302167" y="2737545"/>
            <a:ext cx="46031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30,7 %</a:t>
            </a:r>
            <a:endParaRPr lang="en-US" sz="816" dirty="0"/>
          </a:p>
        </p:txBody>
      </p:sp>
      <p:sp>
        <p:nvSpPr>
          <p:cNvPr id="49" name="Text 46"/>
          <p:cNvSpPr/>
          <p:nvPr/>
        </p:nvSpPr>
        <p:spPr>
          <a:xfrm>
            <a:off x="3402870" y="2942332"/>
            <a:ext cx="689057"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57,9 %</a:t>
            </a:r>
            <a:endParaRPr lang="en-US" sz="888" dirty="0"/>
          </a:p>
        </p:txBody>
      </p:sp>
      <p:sp>
        <p:nvSpPr>
          <p:cNvPr id="50" name="Text 47"/>
          <p:cNvSpPr/>
          <p:nvPr/>
        </p:nvSpPr>
        <p:spPr>
          <a:xfrm>
            <a:off x="4091927" y="2942332"/>
            <a:ext cx="884612"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81,3 %</a:t>
            </a:r>
            <a:endParaRPr lang="en-US" sz="888" dirty="0"/>
          </a:p>
        </p:txBody>
      </p:sp>
      <p:sp>
        <p:nvSpPr>
          <p:cNvPr id="51" name="Text 48"/>
          <p:cNvSpPr/>
          <p:nvPr/>
        </p:nvSpPr>
        <p:spPr>
          <a:xfrm>
            <a:off x="5304251" y="2985195"/>
            <a:ext cx="45823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32,4 %</a:t>
            </a:r>
            <a:endParaRPr lang="en-US" sz="816" dirty="0"/>
          </a:p>
        </p:txBody>
      </p:sp>
      <p:sp>
        <p:nvSpPr>
          <p:cNvPr id="52" name="Text 49"/>
          <p:cNvSpPr/>
          <p:nvPr/>
        </p:nvSpPr>
        <p:spPr>
          <a:xfrm>
            <a:off x="3402870" y="3189982"/>
            <a:ext cx="689057"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63,8 %</a:t>
            </a:r>
            <a:endParaRPr lang="en-US" sz="888" dirty="0"/>
          </a:p>
        </p:txBody>
      </p:sp>
      <p:sp>
        <p:nvSpPr>
          <p:cNvPr id="53" name="Text 50"/>
          <p:cNvSpPr/>
          <p:nvPr/>
        </p:nvSpPr>
        <p:spPr>
          <a:xfrm>
            <a:off x="4091927" y="3189982"/>
            <a:ext cx="884612"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74,8 %</a:t>
            </a:r>
            <a:endParaRPr lang="en-US" sz="888" dirty="0"/>
          </a:p>
        </p:txBody>
      </p:sp>
      <p:sp>
        <p:nvSpPr>
          <p:cNvPr id="54" name="Text 51"/>
          <p:cNvSpPr/>
          <p:nvPr/>
        </p:nvSpPr>
        <p:spPr>
          <a:xfrm>
            <a:off x="5317645" y="3232845"/>
            <a:ext cx="444836"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17,2 %</a:t>
            </a:r>
            <a:endParaRPr lang="en-US" sz="816" dirty="0"/>
          </a:p>
        </p:txBody>
      </p:sp>
      <p:sp>
        <p:nvSpPr>
          <p:cNvPr id="55" name="Text 52"/>
          <p:cNvSpPr/>
          <p:nvPr/>
        </p:nvSpPr>
        <p:spPr>
          <a:xfrm>
            <a:off x="3402870" y="3437632"/>
            <a:ext cx="689057"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58,3 %</a:t>
            </a:r>
            <a:endParaRPr lang="en-US" sz="888" dirty="0"/>
          </a:p>
        </p:txBody>
      </p:sp>
      <p:sp>
        <p:nvSpPr>
          <p:cNvPr id="56" name="Text 53"/>
          <p:cNvSpPr/>
          <p:nvPr/>
        </p:nvSpPr>
        <p:spPr>
          <a:xfrm>
            <a:off x="4091927" y="3437632"/>
            <a:ext cx="884612"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71,0 %</a:t>
            </a:r>
            <a:endParaRPr lang="en-US" sz="888" dirty="0"/>
          </a:p>
        </p:txBody>
      </p:sp>
      <p:sp>
        <p:nvSpPr>
          <p:cNvPr id="57" name="Text 54"/>
          <p:cNvSpPr/>
          <p:nvPr/>
        </p:nvSpPr>
        <p:spPr>
          <a:xfrm>
            <a:off x="5301423" y="3480495"/>
            <a:ext cx="461058"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20,7 %</a:t>
            </a:r>
            <a:endParaRPr lang="en-US" sz="816" dirty="0"/>
          </a:p>
        </p:txBody>
      </p:sp>
      <p:sp>
        <p:nvSpPr>
          <p:cNvPr id="58" name="Text 55"/>
          <p:cNvSpPr/>
          <p:nvPr/>
        </p:nvSpPr>
        <p:spPr>
          <a:xfrm>
            <a:off x="3402870" y="3685282"/>
            <a:ext cx="689057"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60,4 %</a:t>
            </a:r>
            <a:endParaRPr lang="en-US" sz="888" dirty="0"/>
          </a:p>
        </p:txBody>
      </p:sp>
      <p:sp>
        <p:nvSpPr>
          <p:cNvPr id="59" name="Text 56"/>
          <p:cNvSpPr/>
          <p:nvPr/>
        </p:nvSpPr>
        <p:spPr>
          <a:xfrm>
            <a:off x="4091927" y="3685282"/>
            <a:ext cx="884612"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75,8 %</a:t>
            </a:r>
            <a:endParaRPr lang="en-US" sz="888" dirty="0"/>
          </a:p>
        </p:txBody>
      </p:sp>
      <p:sp>
        <p:nvSpPr>
          <p:cNvPr id="60" name="Text 57"/>
          <p:cNvSpPr/>
          <p:nvPr/>
        </p:nvSpPr>
        <p:spPr>
          <a:xfrm>
            <a:off x="5300381" y="3728145"/>
            <a:ext cx="46210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33,0 %</a:t>
            </a:r>
            <a:endParaRPr lang="en-US" sz="816" dirty="0"/>
          </a:p>
        </p:txBody>
      </p:sp>
      <p:sp>
        <p:nvSpPr>
          <p:cNvPr id="61" name="Text 58"/>
          <p:cNvSpPr/>
          <p:nvPr/>
        </p:nvSpPr>
        <p:spPr>
          <a:xfrm>
            <a:off x="3402870" y="3932932"/>
            <a:ext cx="689057"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69,4 %</a:t>
            </a:r>
            <a:endParaRPr lang="en-US" sz="888" dirty="0"/>
          </a:p>
        </p:txBody>
      </p:sp>
      <p:sp>
        <p:nvSpPr>
          <p:cNvPr id="62" name="Text 59"/>
          <p:cNvSpPr/>
          <p:nvPr/>
        </p:nvSpPr>
        <p:spPr>
          <a:xfrm>
            <a:off x="4091927" y="3932932"/>
            <a:ext cx="884612"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63,3 %</a:t>
            </a:r>
            <a:endParaRPr lang="en-US" sz="888" dirty="0"/>
          </a:p>
        </p:txBody>
      </p:sp>
      <p:sp>
        <p:nvSpPr>
          <p:cNvPr id="63" name="Text 60"/>
          <p:cNvSpPr/>
          <p:nvPr/>
        </p:nvSpPr>
        <p:spPr>
          <a:xfrm>
            <a:off x="5301721" y="3975795"/>
            <a:ext cx="46076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29,2 %</a:t>
            </a:r>
            <a:endParaRPr lang="en-US" sz="816" dirty="0"/>
          </a:p>
        </p:txBody>
      </p:sp>
      <p:sp>
        <p:nvSpPr>
          <p:cNvPr id="64" name="Text 61"/>
          <p:cNvSpPr/>
          <p:nvPr/>
        </p:nvSpPr>
        <p:spPr>
          <a:xfrm>
            <a:off x="1234945" y="4180582"/>
            <a:ext cx="794573" cy="242888"/>
          </a:xfrm>
          <a:prstGeom prst="rect">
            <a:avLst/>
          </a:prstGeom>
          <a:noFill/>
          <a:ln/>
        </p:spPr>
        <p:txBody>
          <a:bodyPr wrap="none" lIns="0" tIns="0" rIns="0" bIns="0" rtlCol="0" anchor="t"/>
          <a:lstStyle/>
          <a:p>
            <a:pPr algn="r" indent="0" marL="0">
              <a:buNone/>
            </a:pPr>
            <a:r>
              <a:rPr lang="en-US" sz="888" b="1" dirty="0">
                <a:solidFill>
                  <a:srgbClr val="120180"/>
                </a:solidFill>
                <a:latin typeface="Raleway" pitchFamily="34" charset="0"/>
                <a:ea typeface="Raleway" pitchFamily="34" charset="-122"/>
                <a:cs typeface="Raleway" pitchFamily="34" charset="-120"/>
              </a:rPr>
              <a:t>11.686</a:t>
            </a:r>
            <a:endParaRPr lang="en-US" sz="888" dirty="0"/>
          </a:p>
        </p:txBody>
      </p:sp>
      <p:sp>
        <p:nvSpPr>
          <p:cNvPr id="65" name="Text 62"/>
          <p:cNvSpPr/>
          <p:nvPr/>
        </p:nvSpPr>
        <p:spPr>
          <a:xfrm>
            <a:off x="3402870" y="4180582"/>
            <a:ext cx="689057" cy="242888"/>
          </a:xfrm>
          <a:prstGeom prst="rect">
            <a:avLst/>
          </a:prstGeom>
          <a:noFill/>
          <a:ln/>
        </p:spPr>
        <p:txBody>
          <a:bodyPr wrap="none" lIns="0" tIns="0" rIns="0" bIns="0" rtlCol="0" anchor="t"/>
          <a:lstStyle/>
          <a:p>
            <a:pPr algn="r" indent="0" marL="0">
              <a:buNone/>
            </a:pPr>
            <a:r>
              <a:rPr lang="en-US" sz="888" b="1" dirty="0">
                <a:solidFill>
                  <a:srgbClr val="120180"/>
                </a:solidFill>
                <a:latin typeface="Raleway" pitchFamily="34" charset="0"/>
                <a:ea typeface="Raleway" pitchFamily="34" charset="-122"/>
                <a:cs typeface="Raleway" pitchFamily="34" charset="-120"/>
              </a:rPr>
              <a:t>63,8 %</a:t>
            </a:r>
            <a:endParaRPr lang="en-US" sz="888" dirty="0"/>
          </a:p>
        </p:txBody>
      </p:sp>
      <p:sp>
        <p:nvSpPr>
          <p:cNvPr id="66" name="Text 63"/>
          <p:cNvSpPr/>
          <p:nvPr/>
        </p:nvSpPr>
        <p:spPr>
          <a:xfrm>
            <a:off x="4091927" y="4180582"/>
            <a:ext cx="884612" cy="242888"/>
          </a:xfrm>
          <a:prstGeom prst="rect">
            <a:avLst/>
          </a:prstGeom>
          <a:noFill/>
          <a:ln/>
        </p:spPr>
        <p:txBody>
          <a:bodyPr wrap="none" lIns="0" tIns="0" rIns="0" bIns="0" rtlCol="0" anchor="t"/>
          <a:lstStyle/>
          <a:p>
            <a:pPr algn="r" indent="0" marL="0">
              <a:buNone/>
            </a:pPr>
            <a:r>
              <a:rPr lang="en-US" sz="888" b="1" dirty="0">
                <a:solidFill>
                  <a:srgbClr val="120180"/>
                </a:solidFill>
                <a:latin typeface="Raleway" pitchFamily="34" charset="0"/>
                <a:ea typeface="Raleway" pitchFamily="34" charset="-122"/>
                <a:cs typeface="Raleway" pitchFamily="34" charset="-120"/>
              </a:rPr>
              <a:t>70,3 %</a:t>
            </a:r>
            <a:endParaRPr lang="en-US" sz="888" dirty="0"/>
          </a:p>
        </p:txBody>
      </p:sp>
      <p:sp>
        <p:nvSpPr>
          <p:cNvPr id="67" name="Text 64"/>
          <p:cNvSpPr/>
          <p:nvPr/>
        </p:nvSpPr>
        <p:spPr>
          <a:xfrm>
            <a:off x="5295321" y="4223445"/>
            <a:ext cx="46716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26,6 %</a:t>
            </a:r>
            <a:endParaRPr lang="en-US" sz="816" dirty="0"/>
          </a:p>
        </p:txBody>
      </p:sp>
      <p:sp>
        <p:nvSpPr>
          <p:cNvPr id="68" name="Text 65"/>
          <p:cNvSpPr/>
          <p:nvPr/>
        </p:nvSpPr>
        <p:spPr>
          <a:xfrm>
            <a:off x="723882" y="4737795"/>
            <a:ext cx="1390615"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69" name="Text 66"/>
          <p:cNvSpPr/>
          <p:nvPr/>
        </p:nvSpPr>
        <p:spPr>
          <a:xfrm>
            <a:off x="1234945" y="3189982"/>
            <a:ext cx="794573"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1.865</a:t>
            </a:r>
            <a:endParaRPr lang="en-US" sz="888" dirty="0"/>
          </a:p>
        </p:txBody>
      </p:sp>
      <p:sp>
        <p:nvSpPr>
          <p:cNvPr id="70" name="Text 67"/>
          <p:cNvSpPr/>
          <p:nvPr/>
        </p:nvSpPr>
        <p:spPr>
          <a:xfrm>
            <a:off x="2666636" y="3189982"/>
            <a:ext cx="736234"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1.189</a:t>
            </a:r>
            <a:endParaRPr lang="en-US" sz="888" dirty="0"/>
          </a:p>
        </p:txBody>
      </p:sp>
      <p:sp>
        <p:nvSpPr>
          <p:cNvPr id="71" name="Text 68"/>
          <p:cNvSpPr/>
          <p:nvPr/>
        </p:nvSpPr>
        <p:spPr>
          <a:xfrm>
            <a:off x="1234945" y="3437632"/>
            <a:ext cx="794573"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1.950</a:t>
            </a:r>
            <a:endParaRPr lang="en-US" sz="888" dirty="0"/>
          </a:p>
        </p:txBody>
      </p:sp>
      <p:sp>
        <p:nvSpPr>
          <p:cNvPr id="72" name="Text 69"/>
          <p:cNvSpPr/>
          <p:nvPr/>
        </p:nvSpPr>
        <p:spPr>
          <a:xfrm>
            <a:off x="2666636" y="3437632"/>
            <a:ext cx="736234"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1.137</a:t>
            </a:r>
            <a:endParaRPr lang="en-US" sz="888" dirty="0"/>
          </a:p>
        </p:txBody>
      </p:sp>
      <p:sp>
        <p:nvSpPr>
          <p:cNvPr id="73" name="Text 70"/>
          <p:cNvSpPr/>
          <p:nvPr/>
        </p:nvSpPr>
        <p:spPr>
          <a:xfrm>
            <a:off x="1234945" y="3685282"/>
            <a:ext cx="794573"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2.203</a:t>
            </a:r>
            <a:endParaRPr lang="en-US" sz="888" dirty="0"/>
          </a:p>
        </p:txBody>
      </p:sp>
      <p:sp>
        <p:nvSpPr>
          <p:cNvPr id="74" name="Text 71"/>
          <p:cNvSpPr/>
          <p:nvPr/>
        </p:nvSpPr>
        <p:spPr>
          <a:xfrm>
            <a:off x="2666636" y="3685282"/>
            <a:ext cx="736234"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1.331</a:t>
            </a:r>
            <a:endParaRPr lang="en-US" sz="888" dirty="0"/>
          </a:p>
        </p:txBody>
      </p:sp>
      <p:sp>
        <p:nvSpPr>
          <p:cNvPr id="75" name="Text 72"/>
          <p:cNvSpPr/>
          <p:nvPr/>
        </p:nvSpPr>
        <p:spPr>
          <a:xfrm>
            <a:off x="1234945" y="3932932"/>
            <a:ext cx="794573"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4.968</a:t>
            </a:r>
            <a:endParaRPr lang="en-US" sz="888" dirty="0"/>
          </a:p>
        </p:txBody>
      </p:sp>
      <p:sp>
        <p:nvSpPr>
          <p:cNvPr id="76" name="Text 73"/>
          <p:cNvSpPr/>
          <p:nvPr/>
        </p:nvSpPr>
        <p:spPr>
          <a:xfrm>
            <a:off x="2666636" y="3932932"/>
            <a:ext cx="736234"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3.447</a:t>
            </a:r>
            <a:endParaRPr lang="en-US" sz="888" dirty="0"/>
          </a:p>
        </p:txBody>
      </p:sp>
      <p:sp>
        <p:nvSpPr>
          <p:cNvPr id="77" name="Text 74"/>
          <p:cNvSpPr/>
          <p:nvPr/>
        </p:nvSpPr>
        <p:spPr>
          <a:xfrm>
            <a:off x="723882" y="4180582"/>
            <a:ext cx="511063" cy="242888"/>
          </a:xfrm>
          <a:prstGeom prst="rect">
            <a:avLst/>
          </a:prstGeom>
          <a:noFill/>
          <a:ln/>
        </p:spPr>
        <p:txBody>
          <a:bodyPr wrap="none" lIns="0" tIns="0" rIns="0" bIns="0" rtlCol="0" anchor="t"/>
          <a:lstStyle/>
          <a:p>
            <a:pPr algn="l" indent="0" marL="0">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78" name="Text 75"/>
          <p:cNvSpPr/>
          <p:nvPr/>
        </p:nvSpPr>
        <p:spPr>
          <a:xfrm>
            <a:off x="2666636" y="4180582"/>
            <a:ext cx="736234" cy="242888"/>
          </a:xfrm>
          <a:prstGeom prst="rect">
            <a:avLst/>
          </a:prstGeom>
          <a:noFill/>
          <a:ln/>
        </p:spPr>
        <p:txBody>
          <a:bodyPr wrap="none" lIns="0" tIns="0" rIns="0" bIns="0" rtlCol="0" anchor="t"/>
          <a:lstStyle/>
          <a:p>
            <a:pPr algn="r" indent="0" marL="0">
              <a:buNone/>
            </a:pPr>
            <a:r>
              <a:rPr lang="en-US" sz="888" b="1" dirty="0">
                <a:solidFill>
                  <a:srgbClr val="120180"/>
                </a:solidFill>
                <a:latin typeface="Raleway" pitchFamily="34" charset="0"/>
                <a:ea typeface="Raleway" pitchFamily="34" charset="-122"/>
                <a:cs typeface="Raleway" pitchFamily="34" charset="-120"/>
              </a:rPr>
              <a:t>7.460</a:t>
            </a:r>
            <a:endParaRPr lang="en-US" sz="888" dirty="0"/>
          </a:p>
        </p:txBody>
      </p:sp>
      <p:sp>
        <p:nvSpPr>
          <p:cNvPr id="79" name="Text 76"/>
          <p:cNvSpPr/>
          <p:nvPr/>
        </p:nvSpPr>
        <p:spPr>
          <a:xfrm>
            <a:off x="5267789" y="4737795"/>
            <a:ext cx="608989" cy="228600"/>
          </a:xfrm>
          <a:prstGeom prst="rect">
            <a:avLst/>
          </a:prstGeom>
          <a:noFill/>
          <a:ln/>
        </p:spPr>
        <p:txBody>
          <a:bodyPr wrap="non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Total</a:t>
            </a:r>
            <a:endParaRPr lang="en-US" sz="720" dirty="0"/>
          </a:p>
        </p:txBody>
      </p:sp>
      <p:sp>
        <p:nvSpPr>
          <p:cNvPr id="80" name="Text 77"/>
          <p:cNvSpPr/>
          <p:nvPr/>
        </p:nvSpPr>
        <p:spPr>
          <a:xfrm>
            <a:off x="11182070" y="3737670"/>
            <a:ext cx="285743" cy="95250"/>
          </a:xfrm>
          <a:prstGeom prst="rect">
            <a:avLst/>
          </a:prstGeom>
          <a:noFill/>
          <a:ln/>
        </p:spPr>
        <p:txBody>
          <a:bodyPr wrap="non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62.3%</a:t>
            </a:r>
            <a:endParaRPr lang="en-US" sz="600" dirty="0"/>
          </a:p>
        </p:txBody>
      </p:sp>
      <p:sp>
        <p:nvSpPr>
          <p:cNvPr id="81" name="Text 78"/>
          <p:cNvSpPr/>
          <p:nvPr/>
        </p:nvSpPr>
        <p:spPr>
          <a:xfrm>
            <a:off x="11182070" y="3851970"/>
            <a:ext cx="285743" cy="95250"/>
          </a:xfrm>
          <a:prstGeom prst="rect">
            <a:avLst/>
          </a:prstGeom>
          <a:noFill/>
          <a:ln/>
        </p:spPr>
        <p:txBody>
          <a:bodyPr wrap="non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14.2%</a:t>
            </a:r>
            <a:endParaRPr lang="en-US" sz="600" dirty="0"/>
          </a:p>
        </p:txBody>
      </p:sp>
      <p:sp>
        <p:nvSpPr>
          <p:cNvPr id="82" name="Text 79"/>
          <p:cNvSpPr/>
          <p:nvPr/>
        </p:nvSpPr>
        <p:spPr>
          <a:xfrm>
            <a:off x="9134247" y="120015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3.0×</a:t>
            </a:r>
            <a:endParaRPr lang="en-US" sz="1600" dirty="0"/>
          </a:p>
        </p:txBody>
      </p:sp>
      <p:sp>
        <p:nvSpPr>
          <p:cNvPr id="83" name="Text 80"/>
          <p:cNvSpPr/>
          <p:nvPr/>
        </p:nvSpPr>
        <p:spPr>
          <a:xfrm>
            <a:off x="8392059" y="2946202"/>
            <a:ext cx="182880" cy="91440"/>
          </a:xfrm>
          <a:prstGeom prst="rect">
            <a:avLst/>
          </a:prstGeom>
          <a:noFill/>
          <a:ln/>
        </p:spPr>
        <p:txBody>
          <a:bodyPr wrap="non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+93%</a:t>
            </a:r>
            <a:endParaRPr lang="en-US" sz="504" dirty="0"/>
          </a:p>
        </p:txBody>
      </p:sp>
      <p:sp>
        <p:nvSpPr>
          <p:cNvPr id="84" name="Text 81"/>
          <p:cNvSpPr/>
          <p:nvPr/>
        </p:nvSpPr>
        <p:spPr>
          <a:xfrm>
            <a:off x="9240656" y="2831009"/>
            <a:ext cx="182880" cy="91440"/>
          </a:xfrm>
          <a:prstGeom prst="rect">
            <a:avLst/>
          </a:prstGeom>
          <a:noFill/>
          <a:ln/>
        </p:spPr>
        <p:txBody>
          <a:bodyPr wrap="non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+34%</a:t>
            </a:r>
            <a:endParaRPr lang="en-US" sz="504" dirty="0"/>
          </a:p>
        </p:txBody>
      </p:sp>
      <p:sp>
        <p:nvSpPr>
          <p:cNvPr id="85" name="Text 82"/>
          <p:cNvSpPr/>
          <p:nvPr/>
        </p:nvSpPr>
        <p:spPr>
          <a:xfrm>
            <a:off x="10085532" y="2533650"/>
            <a:ext cx="182880" cy="91440"/>
          </a:xfrm>
          <a:prstGeom prst="rect">
            <a:avLst/>
          </a:prstGeom>
          <a:noFill/>
          <a:ln/>
        </p:spPr>
        <p:txBody>
          <a:bodyPr wrap="non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+86%</a:t>
            </a:r>
            <a:endParaRPr lang="en-US" sz="504" dirty="0"/>
          </a:p>
        </p:txBody>
      </p:sp>
      <p:sp>
        <p:nvSpPr>
          <p:cNvPr id="86" name="Text 83"/>
          <p:cNvSpPr/>
          <p:nvPr/>
        </p:nvSpPr>
        <p:spPr>
          <a:xfrm>
            <a:off x="10935320" y="2533650"/>
            <a:ext cx="182880" cy="91440"/>
          </a:xfrm>
          <a:prstGeom prst="rect">
            <a:avLst/>
          </a:prstGeom>
          <a:noFill/>
          <a:ln/>
        </p:spPr>
        <p:txBody>
          <a:bodyPr wrap="non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+29%</a:t>
            </a:r>
            <a:endParaRPr lang="en-US" sz="504" dirty="0"/>
          </a:p>
        </p:txBody>
      </p:sp>
      <p:sp>
        <p:nvSpPr>
          <p:cNvPr id="87" name="Text 84"/>
          <p:cNvSpPr/>
          <p:nvPr/>
        </p:nvSpPr>
        <p:spPr>
          <a:xfrm>
            <a:off x="11182070" y="3966270"/>
            <a:ext cx="285743" cy="95250"/>
          </a:xfrm>
          <a:prstGeom prst="rect">
            <a:avLst/>
          </a:prstGeom>
          <a:noFill/>
          <a:ln/>
        </p:spPr>
        <p:txBody>
          <a:bodyPr wrap="non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8.2%</a:t>
            </a:r>
            <a:endParaRPr lang="en-US" sz="600" dirty="0"/>
          </a:p>
        </p:txBody>
      </p:sp>
      <p:sp>
        <p:nvSpPr>
          <p:cNvPr id="88" name="Text 85"/>
          <p:cNvSpPr/>
          <p:nvPr/>
        </p:nvSpPr>
        <p:spPr>
          <a:xfrm>
            <a:off x="11182070" y="4080570"/>
            <a:ext cx="285743" cy="95250"/>
          </a:xfrm>
          <a:prstGeom prst="rect">
            <a:avLst/>
          </a:prstGeom>
          <a:noFill/>
          <a:ln/>
        </p:spPr>
        <p:txBody>
          <a:bodyPr wrap="non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6.2%</a:t>
            </a:r>
            <a:endParaRPr lang="en-US" sz="600" dirty="0"/>
          </a:p>
        </p:txBody>
      </p:sp>
      <p:sp>
        <p:nvSpPr>
          <p:cNvPr id="89" name="Text 86"/>
          <p:cNvSpPr/>
          <p:nvPr/>
        </p:nvSpPr>
        <p:spPr>
          <a:xfrm>
            <a:off x="11182070" y="4194870"/>
            <a:ext cx="285743" cy="95250"/>
          </a:xfrm>
          <a:prstGeom prst="rect">
            <a:avLst/>
          </a:prstGeom>
          <a:noFill/>
          <a:ln/>
        </p:spPr>
        <p:txBody>
          <a:bodyPr wrap="non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4.6%</a:t>
            </a:r>
            <a:endParaRPr lang="en-US" sz="600" dirty="0"/>
          </a:p>
        </p:txBody>
      </p:sp>
      <p:sp>
        <p:nvSpPr>
          <p:cNvPr id="90" name="Text 87"/>
          <p:cNvSpPr/>
          <p:nvPr/>
        </p:nvSpPr>
        <p:spPr>
          <a:xfrm>
            <a:off x="11182070" y="4309170"/>
            <a:ext cx="285743" cy="95250"/>
          </a:xfrm>
          <a:prstGeom prst="rect">
            <a:avLst/>
          </a:prstGeom>
          <a:noFill/>
          <a:ln/>
        </p:spPr>
        <p:txBody>
          <a:bodyPr wrap="non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1.1%</a:t>
            </a:r>
            <a:endParaRPr lang="en-US" sz="600" dirty="0"/>
          </a:p>
        </p:txBody>
      </p:sp>
      <p:sp>
        <p:nvSpPr>
          <p:cNvPr id="91" name="Text 88"/>
          <p:cNvSpPr/>
          <p:nvPr/>
        </p:nvSpPr>
        <p:spPr>
          <a:xfrm>
            <a:off x="11182070" y="4423470"/>
            <a:ext cx="285743" cy="95250"/>
          </a:xfrm>
          <a:prstGeom prst="rect">
            <a:avLst/>
          </a:prstGeom>
          <a:noFill/>
          <a:ln/>
        </p:spPr>
        <p:txBody>
          <a:bodyPr wrap="non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3.4%</a:t>
            </a:r>
            <a:endParaRPr lang="en-US" sz="600" dirty="0"/>
          </a:p>
        </p:txBody>
      </p:sp>
      <p:sp>
        <p:nvSpPr>
          <p:cNvPr id="92" name="Text 89"/>
          <p:cNvSpPr/>
          <p:nvPr/>
        </p:nvSpPr>
        <p:spPr>
          <a:xfrm>
            <a:off x="3552736" y="120015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791</a:t>
            </a:r>
            <a:endParaRPr lang="en-US" sz="1600" dirty="0"/>
          </a:p>
        </p:txBody>
      </p:sp>
      <p:sp>
        <p:nvSpPr>
          <p:cNvPr id="93" name="Text 90"/>
          <p:cNvSpPr/>
          <p:nvPr/>
        </p:nvSpPr>
        <p:spPr>
          <a:xfrm>
            <a:off x="723882" y="2470845"/>
            <a:ext cx="511063"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4" name="Text 91"/>
          <p:cNvSpPr/>
          <p:nvPr/>
        </p:nvSpPr>
        <p:spPr>
          <a:xfrm>
            <a:off x="838179" y="2751832"/>
            <a:ext cx="203145"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95" name="Text 92"/>
          <p:cNvSpPr/>
          <p:nvPr/>
        </p:nvSpPr>
        <p:spPr>
          <a:xfrm>
            <a:off x="1234945" y="2699445"/>
            <a:ext cx="794573"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294</a:t>
            </a:r>
            <a:endParaRPr lang="en-US" sz="888" dirty="0"/>
          </a:p>
        </p:txBody>
      </p:sp>
      <p:sp>
        <p:nvSpPr>
          <p:cNvPr id="96" name="Text 93"/>
          <p:cNvSpPr/>
          <p:nvPr/>
        </p:nvSpPr>
        <p:spPr>
          <a:xfrm>
            <a:off x="2666636" y="2699445"/>
            <a:ext cx="736234"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121</a:t>
            </a:r>
            <a:endParaRPr lang="en-US" sz="888" dirty="0"/>
          </a:p>
        </p:txBody>
      </p:sp>
      <p:sp>
        <p:nvSpPr>
          <p:cNvPr id="97" name="Text 94"/>
          <p:cNvSpPr/>
          <p:nvPr/>
        </p:nvSpPr>
        <p:spPr>
          <a:xfrm>
            <a:off x="838179" y="2999482"/>
            <a:ext cx="200466"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98" name="Text 95"/>
          <p:cNvSpPr/>
          <p:nvPr/>
        </p:nvSpPr>
        <p:spPr>
          <a:xfrm>
            <a:off x="1234945" y="2942332"/>
            <a:ext cx="794573"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406</a:t>
            </a:r>
            <a:endParaRPr lang="en-US" sz="888" dirty="0"/>
          </a:p>
        </p:txBody>
      </p:sp>
      <p:sp>
        <p:nvSpPr>
          <p:cNvPr id="99" name="Text 96"/>
          <p:cNvSpPr/>
          <p:nvPr/>
        </p:nvSpPr>
        <p:spPr>
          <a:xfrm>
            <a:off x="2666636" y="2942332"/>
            <a:ext cx="736234"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235</a:t>
            </a:r>
            <a:endParaRPr lang="en-US" sz="888" dirty="0"/>
          </a:p>
        </p:txBody>
      </p:sp>
      <p:sp>
        <p:nvSpPr>
          <p:cNvPr id="100" name="Text 97"/>
          <p:cNvSpPr/>
          <p:nvPr/>
        </p:nvSpPr>
        <p:spPr>
          <a:xfrm>
            <a:off x="838179" y="3247132"/>
            <a:ext cx="205229"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101" name="Text 98"/>
          <p:cNvSpPr/>
          <p:nvPr/>
        </p:nvSpPr>
        <p:spPr>
          <a:xfrm>
            <a:off x="838179" y="3494782"/>
            <a:ext cx="190942"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102" name="Text 99"/>
          <p:cNvSpPr/>
          <p:nvPr/>
        </p:nvSpPr>
        <p:spPr>
          <a:xfrm>
            <a:off x="2029518" y="3437632"/>
            <a:ext cx="637117" cy="247650"/>
          </a:xfrm>
          <a:prstGeom prst="rect">
            <a:avLst/>
          </a:prstGeom>
          <a:noFill/>
          <a:ln/>
        </p:spPr>
        <p:txBody>
          <a:bodyPr wrap="none" lIns="0" tIns="0" rIns="0" bIns="0" rtlCol="0" anchor="t"/>
          <a:lstStyle/>
          <a:p>
            <a:pPr algn="r" indent="0" marL="0">
              <a:buNone/>
            </a:pPr>
            <a:r>
              <a:rPr lang="en-US" sz="888" b="1" dirty="0">
                <a:solidFill>
                  <a:srgbClr val="00CD93"/>
                </a:solidFill>
                <a:latin typeface="Raleway" pitchFamily="34" charset="0"/>
                <a:ea typeface="Raleway" pitchFamily="34" charset="-122"/>
                <a:cs typeface="Raleway" pitchFamily="34" charset="-120"/>
              </a:rPr>
              <a:t>117</a:t>
            </a:r>
            <a:endParaRPr lang="en-US" sz="888" dirty="0"/>
          </a:p>
        </p:txBody>
      </p:sp>
      <p:sp>
        <p:nvSpPr>
          <p:cNvPr id="103" name="Text 100"/>
          <p:cNvSpPr/>
          <p:nvPr/>
        </p:nvSpPr>
        <p:spPr>
          <a:xfrm>
            <a:off x="838179" y="3742432"/>
            <a:ext cx="221451"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04" name="Text 101"/>
          <p:cNvSpPr/>
          <p:nvPr/>
        </p:nvSpPr>
        <p:spPr>
          <a:xfrm>
            <a:off x="2029518" y="3685282"/>
            <a:ext cx="637117" cy="247650"/>
          </a:xfrm>
          <a:prstGeom prst="rect">
            <a:avLst/>
          </a:prstGeom>
          <a:noFill/>
          <a:ln/>
        </p:spPr>
        <p:txBody>
          <a:bodyPr wrap="none" lIns="0" tIns="0" rIns="0" bIns="0" rtlCol="0" anchor="t"/>
          <a:lstStyle/>
          <a:p>
            <a:pPr algn="r" indent="0" marL="0">
              <a:buNone/>
            </a:pPr>
            <a:r>
              <a:rPr lang="en-US" sz="888" b="1" dirty="0">
                <a:solidFill>
                  <a:srgbClr val="00CD93"/>
                </a:solidFill>
                <a:latin typeface="Raleway" pitchFamily="34" charset="0"/>
                <a:ea typeface="Raleway" pitchFamily="34" charset="-122"/>
                <a:cs typeface="Raleway" pitchFamily="34" charset="-120"/>
              </a:rPr>
              <a:t>218</a:t>
            </a:r>
            <a:endParaRPr lang="en-US" sz="888" dirty="0"/>
          </a:p>
        </p:txBody>
      </p:sp>
      <p:sp>
        <p:nvSpPr>
          <p:cNvPr id="105" name="Text 102"/>
          <p:cNvSpPr/>
          <p:nvPr/>
        </p:nvSpPr>
        <p:spPr>
          <a:xfrm>
            <a:off x="838179" y="3990082"/>
            <a:ext cx="192430"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06" name="Text 103"/>
          <p:cNvSpPr/>
          <p:nvPr/>
        </p:nvSpPr>
        <p:spPr>
          <a:xfrm>
            <a:off x="2029518" y="3932932"/>
            <a:ext cx="637117" cy="247650"/>
          </a:xfrm>
          <a:prstGeom prst="rect">
            <a:avLst/>
          </a:prstGeom>
          <a:noFill/>
          <a:ln/>
        </p:spPr>
        <p:txBody>
          <a:bodyPr wrap="none" lIns="0" tIns="0" rIns="0" bIns="0" rtlCol="0" anchor="t"/>
          <a:lstStyle/>
          <a:p>
            <a:pPr algn="r" indent="0" marL="0">
              <a:buNone/>
            </a:pPr>
            <a:r>
              <a:rPr lang="en-US" sz="888" b="1" dirty="0">
                <a:solidFill>
                  <a:srgbClr val="00CD93"/>
                </a:solidFill>
                <a:latin typeface="Raleway" pitchFamily="34" charset="0"/>
                <a:ea typeface="Raleway" pitchFamily="34" charset="-122"/>
                <a:cs typeface="Raleway" pitchFamily="34" charset="-120"/>
              </a:rPr>
              <a:t>281</a:t>
            </a:r>
            <a:endParaRPr lang="en-US" sz="888" dirty="0"/>
          </a:p>
        </p:txBody>
      </p:sp>
      <p:sp>
        <p:nvSpPr>
          <p:cNvPr id="107" name="Text 104"/>
          <p:cNvSpPr/>
          <p:nvPr/>
        </p:nvSpPr>
        <p:spPr>
          <a:xfrm>
            <a:off x="2029518" y="4180582"/>
            <a:ext cx="637117" cy="242888"/>
          </a:xfrm>
          <a:prstGeom prst="rect">
            <a:avLst/>
          </a:prstGeom>
          <a:noFill/>
          <a:ln/>
        </p:spPr>
        <p:txBody>
          <a:bodyPr wrap="none" lIns="0" tIns="0" rIns="0" bIns="0" rtlCol="0" anchor="t"/>
          <a:lstStyle/>
          <a:p>
            <a:pPr algn="r" indent="0" marL="0">
              <a:buNone/>
            </a:pPr>
            <a:r>
              <a:rPr lang="en-US" sz="888" b="1" dirty="0">
                <a:solidFill>
                  <a:srgbClr val="00CD93"/>
                </a:solidFill>
                <a:latin typeface="Raleway" pitchFamily="34" charset="0"/>
                <a:ea typeface="Raleway" pitchFamily="34" charset="-122"/>
                <a:cs typeface="Raleway" pitchFamily="34" charset="-120"/>
              </a:rPr>
              <a:t>791</a:t>
            </a:r>
            <a:endParaRPr lang="en-US" sz="888" dirty="0"/>
          </a:p>
        </p:txBody>
      </p:sp>
      <p:sp>
        <p:nvSpPr>
          <p:cNvPr id="108" name="Text 105"/>
          <p:cNvSpPr/>
          <p:nvPr/>
        </p:nvSpPr>
        <p:spPr>
          <a:xfrm>
            <a:off x="2114497" y="4737795"/>
            <a:ext cx="526392" cy="228600"/>
          </a:xfrm>
          <a:prstGeom prst="rect">
            <a:avLst/>
          </a:prstGeom>
          <a:noFill/>
          <a:ln/>
        </p:spPr>
        <p:txBody>
          <a:bodyPr wrap="non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Ene</a:t>
            </a:r>
            <a:endParaRPr lang="en-US" sz="720" dirty="0"/>
          </a:p>
        </p:txBody>
      </p:sp>
      <p:sp>
        <p:nvSpPr>
          <p:cNvPr id="109" name="Text 106"/>
          <p:cNvSpPr/>
          <p:nvPr/>
        </p:nvSpPr>
        <p:spPr>
          <a:xfrm>
            <a:off x="2640889" y="4737795"/>
            <a:ext cx="523564" cy="228600"/>
          </a:xfrm>
          <a:prstGeom prst="rect">
            <a:avLst/>
          </a:prstGeom>
          <a:noFill/>
          <a:ln/>
        </p:spPr>
        <p:txBody>
          <a:bodyPr wrap="non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Feb</a:t>
            </a:r>
            <a:endParaRPr lang="en-US" sz="720" dirty="0"/>
          </a:p>
        </p:txBody>
      </p:sp>
      <p:sp>
        <p:nvSpPr>
          <p:cNvPr id="110" name="Text 107"/>
          <p:cNvSpPr/>
          <p:nvPr/>
        </p:nvSpPr>
        <p:spPr>
          <a:xfrm>
            <a:off x="3164453" y="4737795"/>
            <a:ext cx="528773" cy="228600"/>
          </a:xfrm>
          <a:prstGeom prst="rect">
            <a:avLst/>
          </a:prstGeom>
          <a:noFill/>
          <a:ln/>
        </p:spPr>
        <p:txBody>
          <a:bodyPr wrap="non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Mar</a:t>
            </a:r>
            <a:endParaRPr lang="en-US" sz="720" dirty="0"/>
          </a:p>
        </p:txBody>
      </p:sp>
      <p:sp>
        <p:nvSpPr>
          <p:cNvPr id="111" name="Text 108"/>
          <p:cNvSpPr/>
          <p:nvPr/>
        </p:nvSpPr>
        <p:spPr>
          <a:xfrm>
            <a:off x="3693226" y="4737795"/>
            <a:ext cx="513742" cy="228600"/>
          </a:xfrm>
          <a:prstGeom prst="rect">
            <a:avLst/>
          </a:prstGeom>
          <a:noFill/>
          <a:ln/>
        </p:spPr>
        <p:txBody>
          <a:bodyPr wrap="non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Abr</a:t>
            </a:r>
            <a:endParaRPr lang="en-US" sz="720" dirty="0"/>
          </a:p>
        </p:txBody>
      </p:sp>
      <p:sp>
        <p:nvSpPr>
          <p:cNvPr id="112" name="Text 109"/>
          <p:cNvSpPr/>
          <p:nvPr/>
        </p:nvSpPr>
        <p:spPr>
          <a:xfrm>
            <a:off x="4206968" y="4737795"/>
            <a:ext cx="545590" cy="228600"/>
          </a:xfrm>
          <a:prstGeom prst="rect">
            <a:avLst/>
          </a:prstGeom>
          <a:noFill/>
          <a:ln/>
        </p:spPr>
        <p:txBody>
          <a:bodyPr wrap="non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May</a:t>
            </a:r>
            <a:endParaRPr lang="en-US" sz="720" dirty="0"/>
          </a:p>
        </p:txBody>
      </p:sp>
      <p:sp>
        <p:nvSpPr>
          <p:cNvPr id="113" name="Text 110"/>
          <p:cNvSpPr/>
          <p:nvPr/>
        </p:nvSpPr>
        <p:spPr>
          <a:xfrm>
            <a:off x="4752559" y="4737795"/>
            <a:ext cx="515230" cy="228600"/>
          </a:xfrm>
          <a:prstGeom prst="rect">
            <a:avLst/>
          </a:prstGeom>
          <a:noFill/>
          <a:ln/>
        </p:spPr>
        <p:txBody>
          <a:bodyPr wrap="none" lIns="0" tIns="0" rIns="0" bIns="0" rtlCol="0" anchor="t"/>
          <a:lstStyle/>
          <a:p>
            <a:pPr algn="r" indent="0" marL="0">
              <a:buNone/>
            </a:pPr>
            <a:r>
              <a:rPr lang="en-US" sz="720" b="1" dirty="0">
                <a:solidFill>
                  <a:srgbClr val="FFFFFF"/>
                </a:solidFill>
                <a:latin typeface="Raleway" pitchFamily="34" charset="0"/>
                <a:ea typeface="Raleway" pitchFamily="34" charset="-122"/>
                <a:cs typeface="Raleway" pitchFamily="34" charset="-120"/>
              </a:rPr>
              <a:t>Jun</a:t>
            </a:r>
            <a:endParaRPr lang="en-US" sz="720" dirty="0"/>
          </a:p>
        </p:txBody>
      </p:sp>
      <p:sp>
        <p:nvSpPr>
          <p:cNvPr id="114" name="Text 111"/>
          <p:cNvSpPr/>
          <p:nvPr/>
        </p:nvSpPr>
        <p:spPr>
          <a:xfrm>
            <a:off x="4206968" y="4966395"/>
            <a:ext cx="545590" cy="214313"/>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101</a:t>
            </a:r>
            <a:endParaRPr lang="en-US" sz="720" dirty="0"/>
          </a:p>
        </p:txBody>
      </p:sp>
      <p:sp>
        <p:nvSpPr>
          <p:cNvPr id="115" name="Text 112"/>
          <p:cNvSpPr/>
          <p:nvPr/>
        </p:nvSpPr>
        <p:spPr>
          <a:xfrm>
            <a:off x="5267789" y="4966395"/>
            <a:ext cx="608989" cy="214313"/>
          </a:xfrm>
          <a:prstGeom prst="rect">
            <a:avLst/>
          </a:prstGeom>
          <a:noFill/>
          <a:ln/>
        </p:spPr>
        <p:txBody>
          <a:bodyPr wrap="none" lIns="0" tIns="0" rIns="0" bIns="0" rtlCol="0" anchor="t"/>
          <a:lstStyle/>
          <a:p>
            <a:pPr algn="r" indent="0" marL="0">
              <a:buNone/>
            </a:pPr>
            <a:r>
              <a:rPr lang="en-US" sz="744" b="1" dirty="0">
                <a:solidFill>
                  <a:srgbClr val="333333"/>
                </a:solidFill>
                <a:latin typeface="Raleway" pitchFamily="34" charset="0"/>
                <a:ea typeface="Raleway" pitchFamily="34" charset="-122"/>
                <a:cs typeface="Raleway" pitchFamily="34" charset="-120"/>
              </a:rPr>
              <a:t>255</a:t>
            </a:r>
            <a:endParaRPr lang="en-US" sz="744" dirty="0"/>
          </a:p>
        </p:txBody>
      </p:sp>
      <p:sp>
        <p:nvSpPr>
          <p:cNvPr id="116" name="Text 113"/>
          <p:cNvSpPr/>
          <p:nvPr/>
        </p:nvSpPr>
        <p:spPr>
          <a:xfrm>
            <a:off x="5267789" y="5180707"/>
            <a:ext cx="608989" cy="219075"/>
          </a:xfrm>
          <a:prstGeom prst="rect">
            <a:avLst/>
          </a:prstGeom>
          <a:noFill/>
          <a:ln/>
        </p:spPr>
        <p:txBody>
          <a:bodyPr wrap="none" lIns="0" tIns="0" rIns="0" bIns="0" rtlCol="0" anchor="t"/>
          <a:lstStyle/>
          <a:p>
            <a:pPr algn="r" indent="0" marL="0">
              <a:buNone/>
            </a:pPr>
            <a:r>
              <a:rPr lang="en-US" sz="744" b="1" dirty="0">
                <a:solidFill>
                  <a:srgbClr val="333333"/>
                </a:solidFill>
                <a:latin typeface="Raleway" pitchFamily="34" charset="0"/>
                <a:ea typeface="Raleway" pitchFamily="34" charset="-122"/>
                <a:cs typeface="Raleway" pitchFamily="34" charset="-120"/>
              </a:rPr>
              <a:t>165</a:t>
            </a:r>
            <a:endParaRPr lang="en-US" sz="744" dirty="0"/>
          </a:p>
        </p:txBody>
      </p:sp>
      <p:sp>
        <p:nvSpPr>
          <p:cNvPr id="117" name="Text 114"/>
          <p:cNvSpPr/>
          <p:nvPr/>
        </p:nvSpPr>
        <p:spPr>
          <a:xfrm>
            <a:off x="5267789" y="5399782"/>
            <a:ext cx="608989" cy="219075"/>
          </a:xfrm>
          <a:prstGeom prst="rect">
            <a:avLst/>
          </a:prstGeom>
          <a:noFill/>
          <a:ln/>
        </p:spPr>
        <p:txBody>
          <a:bodyPr wrap="none" lIns="0" tIns="0" rIns="0" bIns="0" rtlCol="0" anchor="t"/>
          <a:lstStyle/>
          <a:p>
            <a:pPr algn="r" indent="0" marL="0">
              <a:buNone/>
            </a:pPr>
            <a:r>
              <a:rPr lang="en-US" sz="744" b="1" dirty="0">
                <a:solidFill>
                  <a:srgbClr val="333333"/>
                </a:solidFill>
                <a:latin typeface="Raleway" pitchFamily="34" charset="0"/>
                <a:ea typeface="Raleway" pitchFamily="34" charset="-122"/>
                <a:cs typeface="Raleway" pitchFamily="34" charset="-120"/>
              </a:rPr>
              <a:t>138</a:t>
            </a:r>
            <a:endParaRPr lang="en-US" sz="744" dirty="0"/>
          </a:p>
        </p:txBody>
      </p:sp>
      <p:sp>
        <p:nvSpPr>
          <p:cNvPr id="118" name="Text 115"/>
          <p:cNvSpPr/>
          <p:nvPr/>
        </p:nvSpPr>
        <p:spPr>
          <a:xfrm>
            <a:off x="4206968" y="5839718"/>
            <a:ext cx="545590"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204</a:t>
            </a:r>
            <a:endParaRPr lang="en-US" sz="720" dirty="0"/>
          </a:p>
        </p:txBody>
      </p:sp>
      <p:sp>
        <p:nvSpPr>
          <p:cNvPr id="119" name="Text 116"/>
          <p:cNvSpPr/>
          <p:nvPr/>
        </p:nvSpPr>
        <p:spPr>
          <a:xfrm>
            <a:off x="4752559" y="5839718"/>
            <a:ext cx="515230"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266</a:t>
            </a:r>
            <a:endParaRPr lang="en-US" sz="720" dirty="0"/>
          </a:p>
        </p:txBody>
      </p:sp>
      <p:sp>
        <p:nvSpPr>
          <p:cNvPr id="120" name="Text 117"/>
          <p:cNvSpPr/>
          <p:nvPr/>
        </p:nvSpPr>
        <p:spPr>
          <a:xfrm>
            <a:off x="5267789" y="5839718"/>
            <a:ext cx="608989" cy="185738"/>
          </a:xfrm>
          <a:prstGeom prst="rect">
            <a:avLst/>
          </a:prstGeom>
          <a:noFill/>
          <a:ln/>
        </p:spPr>
        <p:txBody>
          <a:bodyPr wrap="none" lIns="0" tIns="0" rIns="0" bIns="0" rtlCol="0" anchor="t"/>
          <a:lstStyle/>
          <a:p>
            <a:pPr algn="r" indent="0" marL="0">
              <a:buNone/>
            </a:pPr>
            <a:r>
              <a:rPr lang="en-US" sz="744" b="1" dirty="0">
                <a:solidFill>
                  <a:srgbClr val="120180"/>
                </a:solidFill>
                <a:latin typeface="Raleway" pitchFamily="34" charset="0"/>
                <a:ea typeface="Raleway" pitchFamily="34" charset="-122"/>
                <a:cs typeface="Raleway" pitchFamily="34" charset="-120"/>
              </a:rPr>
              <a:t>605</a:t>
            </a:r>
            <a:endParaRPr lang="en-US" sz="744" dirty="0"/>
          </a:p>
        </p:txBody>
      </p:sp>
      <p:sp>
        <p:nvSpPr>
          <p:cNvPr id="121" name="Text 118"/>
          <p:cNvSpPr/>
          <p:nvPr/>
        </p:nvSpPr>
        <p:spPr>
          <a:xfrm>
            <a:off x="6703349" y="3385245"/>
            <a:ext cx="182880" cy="95250"/>
          </a:xfrm>
          <a:prstGeom prst="rect">
            <a:avLst/>
          </a:prstGeom>
          <a:noFill/>
          <a:ln/>
        </p:spPr>
        <p:txBody>
          <a:bodyPr wrap="non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Ene</a:t>
            </a:r>
            <a:endParaRPr lang="en-US" sz="600" dirty="0"/>
          </a:p>
        </p:txBody>
      </p:sp>
      <p:sp>
        <p:nvSpPr>
          <p:cNvPr id="122" name="Text 119"/>
          <p:cNvSpPr/>
          <p:nvPr/>
        </p:nvSpPr>
        <p:spPr>
          <a:xfrm>
            <a:off x="7563405" y="3103364"/>
            <a:ext cx="182880" cy="91440"/>
          </a:xfrm>
          <a:prstGeom prst="rect">
            <a:avLst/>
          </a:prstGeom>
          <a:noFill/>
          <a:ln/>
        </p:spPr>
        <p:txBody>
          <a:bodyPr wrap="non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+5%</a:t>
            </a:r>
            <a:endParaRPr lang="en-US" sz="504" dirty="0"/>
          </a:p>
        </p:txBody>
      </p:sp>
      <p:sp>
        <p:nvSpPr>
          <p:cNvPr id="123" name="Text 120"/>
          <p:cNvSpPr/>
          <p:nvPr/>
        </p:nvSpPr>
        <p:spPr>
          <a:xfrm>
            <a:off x="7552094" y="3385245"/>
            <a:ext cx="182880" cy="95250"/>
          </a:xfrm>
          <a:prstGeom prst="rect">
            <a:avLst/>
          </a:prstGeom>
          <a:noFill/>
          <a:ln/>
        </p:spPr>
        <p:txBody>
          <a:bodyPr wrap="non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Feb</a:t>
            </a:r>
            <a:endParaRPr lang="en-US" sz="600" dirty="0"/>
          </a:p>
        </p:txBody>
      </p:sp>
      <p:sp>
        <p:nvSpPr>
          <p:cNvPr id="124" name="Text 121"/>
          <p:cNvSpPr/>
          <p:nvPr/>
        </p:nvSpPr>
        <p:spPr>
          <a:xfrm>
            <a:off x="8398161" y="3385245"/>
            <a:ext cx="182880" cy="95250"/>
          </a:xfrm>
          <a:prstGeom prst="rect">
            <a:avLst/>
          </a:prstGeom>
          <a:noFill/>
          <a:ln/>
        </p:spPr>
        <p:txBody>
          <a:bodyPr wrap="non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Mar</a:t>
            </a:r>
            <a:endParaRPr lang="en-US" sz="600" dirty="0"/>
          </a:p>
        </p:txBody>
      </p:sp>
      <p:sp>
        <p:nvSpPr>
          <p:cNvPr id="125" name="Text 122"/>
          <p:cNvSpPr/>
          <p:nvPr/>
        </p:nvSpPr>
        <p:spPr>
          <a:xfrm>
            <a:off x="9241400" y="2730103"/>
            <a:ext cx="182880" cy="91440"/>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117</a:t>
            </a:r>
            <a:endParaRPr lang="en-US" sz="720" dirty="0"/>
          </a:p>
        </p:txBody>
      </p:sp>
      <p:sp>
        <p:nvSpPr>
          <p:cNvPr id="126" name="Text 123"/>
          <p:cNvSpPr/>
          <p:nvPr/>
        </p:nvSpPr>
        <p:spPr>
          <a:xfrm>
            <a:off x="9250627" y="3385245"/>
            <a:ext cx="182880" cy="95250"/>
          </a:xfrm>
          <a:prstGeom prst="rect">
            <a:avLst/>
          </a:prstGeom>
          <a:noFill/>
          <a:ln/>
        </p:spPr>
        <p:txBody>
          <a:bodyPr wrap="non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Abr</a:t>
            </a:r>
            <a:endParaRPr lang="en-US" sz="600" dirty="0"/>
          </a:p>
        </p:txBody>
      </p:sp>
      <p:sp>
        <p:nvSpPr>
          <p:cNvPr id="127" name="Text 124"/>
          <p:cNvSpPr/>
          <p:nvPr/>
        </p:nvSpPr>
        <p:spPr>
          <a:xfrm>
            <a:off x="10084937" y="2432745"/>
            <a:ext cx="182880" cy="91440"/>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218</a:t>
            </a:r>
            <a:endParaRPr lang="en-US" sz="720" dirty="0"/>
          </a:p>
        </p:txBody>
      </p:sp>
      <p:sp>
        <p:nvSpPr>
          <p:cNvPr id="128" name="Text 125"/>
          <p:cNvSpPr/>
          <p:nvPr/>
        </p:nvSpPr>
        <p:spPr>
          <a:xfrm>
            <a:off x="10088062" y="3385245"/>
            <a:ext cx="182880" cy="95250"/>
          </a:xfrm>
          <a:prstGeom prst="rect">
            <a:avLst/>
          </a:prstGeom>
          <a:noFill/>
          <a:ln/>
        </p:spPr>
        <p:txBody>
          <a:bodyPr wrap="non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May</a:t>
            </a:r>
            <a:endParaRPr lang="en-US" sz="600" dirty="0"/>
          </a:p>
        </p:txBody>
      </p:sp>
      <p:sp>
        <p:nvSpPr>
          <p:cNvPr id="129" name="Text 126"/>
          <p:cNvSpPr/>
          <p:nvPr/>
        </p:nvSpPr>
        <p:spPr>
          <a:xfrm>
            <a:off x="10932641" y="2432745"/>
            <a:ext cx="182880" cy="91440"/>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281</a:t>
            </a:r>
            <a:endParaRPr lang="en-US" sz="720" dirty="0"/>
          </a:p>
        </p:txBody>
      </p:sp>
      <p:sp>
        <p:nvSpPr>
          <p:cNvPr id="130" name="Text 127"/>
          <p:cNvSpPr/>
          <p:nvPr/>
        </p:nvSpPr>
        <p:spPr>
          <a:xfrm>
            <a:off x="10945588" y="3385245"/>
            <a:ext cx="182880" cy="95250"/>
          </a:xfrm>
          <a:prstGeom prst="rect">
            <a:avLst/>
          </a:prstGeom>
          <a:noFill/>
          <a:ln/>
        </p:spPr>
        <p:txBody>
          <a:bodyPr wrap="non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Jun</a:t>
            </a:r>
            <a:endParaRPr lang="en-US" sz="600" dirty="0"/>
          </a:p>
        </p:txBody>
      </p:sp>
      <p:sp>
        <p:nvSpPr>
          <p:cNvPr id="131" name="Text 128"/>
          <p:cNvSpPr/>
          <p:nvPr/>
        </p:nvSpPr>
        <p:spPr>
          <a:xfrm>
            <a:off x="7665945" y="5014020"/>
            <a:ext cx="1128238" cy="91440"/>
          </a:xfrm>
          <a:prstGeom prst="rect">
            <a:avLst/>
          </a:prstGeom>
          <a:noFill/>
          <a:ln/>
        </p:spPr>
        <p:txBody>
          <a:bodyPr wrap="non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Mar</a:t>
            </a:r>
            <a:endParaRPr lang="en-US" sz="576" dirty="0"/>
          </a:p>
        </p:txBody>
      </p:sp>
      <p:sp>
        <p:nvSpPr>
          <p:cNvPr id="132" name="Text 129"/>
          <p:cNvSpPr/>
          <p:nvPr/>
        </p:nvSpPr>
        <p:spPr>
          <a:xfrm>
            <a:off x="10311001" y="5014020"/>
            <a:ext cx="1128238" cy="91440"/>
          </a:xfrm>
          <a:prstGeom prst="rect">
            <a:avLst/>
          </a:prstGeom>
          <a:noFill/>
          <a:ln/>
        </p:spPr>
        <p:txBody>
          <a:bodyPr wrap="non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Jun</a:t>
            </a:r>
            <a:endParaRPr lang="en-US" sz="576" dirty="0"/>
          </a:p>
        </p:txBody>
      </p:sp>
      <p:sp>
        <p:nvSpPr>
          <p:cNvPr id="133" name="Text 130"/>
          <p:cNvSpPr/>
          <p:nvPr/>
        </p:nvSpPr>
        <p:spPr>
          <a:xfrm>
            <a:off x="2029518" y="2699445"/>
            <a:ext cx="637117" cy="242888"/>
          </a:xfrm>
          <a:prstGeom prst="rect">
            <a:avLst/>
          </a:prstGeom>
          <a:noFill/>
          <a:ln/>
        </p:spPr>
        <p:txBody>
          <a:bodyPr wrap="none" lIns="0" tIns="0" rIns="0" bIns="0" rtlCol="0" anchor="t"/>
          <a:lstStyle/>
          <a:p>
            <a:pPr algn="r" indent="0" marL="0">
              <a:buNone/>
            </a:pPr>
            <a:r>
              <a:rPr lang="en-US" sz="888" b="1" dirty="0">
                <a:solidFill>
                  <a:srgbClr val="00CD93"/>
                </a:solidFill>
                <a:latin typeface="Raleway" pitchFamily="34" charset="0"/>
                <a:ea typeface="Raleway" pitchFamily="34" charset="-122"/>
                <a:cs typeface="Raleway" pitchFamily="34" charset="-120"/>
              </a:rPr>
              <a:t>43</a:t>
            </a:r>
            <a:endParaRPr lang="en-US" sz="888" dirty="0"/>
          </a:p>
        </p:txBody>
      </p:sp>
      <p:sp>
        <p:nvSpPr>
          <p:cNvPr id="134" name="Text 131"/>
          <p:cNvSpPr/>
          <p:nvPr/>
        </p:nvSpPr>
        <p:spPr>
          <a:xfrm>
            <a:off x="2029518" y="2942332"/>
            <a:ext cx="637117" cy="247650"/>
          </a:xfrm>
          <a:prstGeom prst="rect">
            <a:avLst/>
          </a:prstGeom>
          <a:noFill/>
          <a:ln/>
        </p:spPr>
        <p:txBody>
          <a:bodyPr wrap="none" lIns="0" tIns="0" rIns="0" bIns="0" rtlCol="0" anchor="t"/>
          <a:lstStyle/>
          <a:p>
            <a:pPr algn="r" indent="0" marL="0">
              <a:buNone/>
            </a:pPr>
            <a:r>
              <a:rPr lang="en-US" sz="888" b="1" dirty="0">
                <a:solidFill>
                  <a:srgbClr val="00CD93"/>
                </a:solidFill>
                <a:latin typeface="Raleway" pitchFamily="34" charset="0"/>
                <a:ea typeface="Raleway" pitchFamily="34" charset="-122"/>
                <a:cs typeface="Raleway" pitchFamily="34" charset="-120"/>
              </a:rPr>
              <a:t>45</a:t>
            </a:r>
            <a:endParaRPr lang="en-US" sz="888" dirty="0"/>
          </a:p>
        </p:txBody>
      </p:sp>
      <p:sp>
        <p:nvSpPr>
          <p:cNvPr id="135" name="Text 132"/>
          <p:cNvSpPr/>
          <p:nvPr/>
        </p:nvSpPr>
        <p:spPr>
          <a:xfrm>
            <a:off x="2029518" y="3189982"/>
            <a:ext cx="637117" cy="247650"/>
          </a:xfrm>
          <a:prstGeom prst="rect">
            <a:avLst/>
          </a:prstGeom>
          <a:noFill/>
          <a:ln/>
        </p:spPr>
        <p:txBody>
          <a:bodyPr wrap="none" lIns="0" tIns="0" rIns="0" bIns="0" rtlCol="0" anchor="t"/>
          <a:lstStyle/>
          <a:p>
            <a:pPr algn="r" indent="0" marL="0">
              <a:buNone/>
            </a:pPr>
            <a:r>
              <a:rPr lang="en-US" sz="888" b="1" dirty="0">
                <a:solidFill>
                  <a:srgbClr val="00CD93"/>
                </a:solidFill>
                <a:latin typeface="Raleway" pitchFamily="34" charset="0"/>
                <a:ea typeface="Raleway" pitchFamily="34" charset="-122"/>
                <a:cs typeface="Raleway" pitchFamily="34" charset="-120"/>
              </a:rPr>
              <a:t>87</a:t>
            </a:r>
            <a:endParaRPr lang="en-US" sz="888" dirty="0"/>
          </a:p>
        </p:txBody>
      </p:sp>
      <p:sp>
        <p:nvSpPr>
          <p:cNvPr id="136" name="Text 133"/>
          <p:cNvSpPr/>
          <p:nvPr/>
        </p:nvSpPr>
        <p:spPr>
          <a:xfrm>
            <a:off x="3164453" y="4966395"/>
            <a:ext cx="528773" cy="214313"/>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13</a:t>
            </a:r>
            <a:endParaRPr lang="en-US" sz="720" dirty="0"/>
          </a:p>
        </p:txBody>
      </p:sp>
      <p:sp>
        <p:nvSpPr>
          <p:cNvPr id="137" name="Text 134"/>
          <p:cNvSpPr/>
          <p:nvPr/>
        </p:nvSpPr>
        <p:spPr>
          <a:xfrm>
            <a:off x="3693226" y="4966395"/>
            <a:ext cx="513742" cy="214313"/>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36</a:t>
            </a:r>
            <a:endParaRPr lang="en-US" sz="720" dirty="0"/>
          </a:p>
        </p:txBody>
      </p:sp>
      <p:sp>
        <p:nvSpPr>
          <p:cNvPr id="138" name="Text 135"/>
          <p:cNvSpPr/>
          <p:nvPr/>
        </p:nvSpPr>
        <p:spPr>
          <a:xfrm>
            <a:off x="4752559" y="4966395"/>
            <a:ext cx="515230" cy="214313"/>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97</a:t>
            </a:r>
            <a:endParaRPr lang="en-US" sz="720" dirty="0"/>
          </a:p>
        </p:txBody>
      </p:sp>
      <p:sp>
        <p:nvSpPr>
          <p:cNvPr id="139" name="Text 136"/>
          <p:cNvSpPr/>
          <p:nvPr/>
        </p:nvSpPr>
        <p:spPr>
          <a:xfrm>
            <a:off x="3693226" y="5180707"/>
            <a:ext cx="513742"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40" name="Text 137"/>
          <p:cNvSpPr/>
          <p:nvPr/>
        </p:nvSpPr>
        <p:spPr>
          <a:xfrm>
            <a:off x="4206968" y="5180707"/>
            <a:ext cx="545590"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58</a:t>
            </a:r>
            <a:endParaRPr lang="en-US" sz="720" dirty="0"/>
          </a:p>
        </p:txBody>
      </p:sp>
      <p:sp>
        <p:nvSpPr>
          <p:cNvPr id="141" name="Text 138"/>
          <p:cNvSpPr/>
          <p:nvPr/>
        </p:nvSpPr>
        <p:spPr>
          <a:xfrm>
            <a:off x="4752559" y="5180707"/>
            <a:ext cx="515230"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74</a:t>
            </a:r>
            <a:endParaRPr lang="en-US" sz="720" dirty="0"/>
          </a:p>
        </p:txBody>
      </p:sp>
      <p:sp>
        <p:nvSpPr>
          <p:cNvPr id="142" name="Text 139"/>
          <p:cNvSpPr/>
          <p:nvPr/>
        </p:nvSpPr>
        <p:spPr>
          <a:xfrm>
            <a:off x="3693226" y="5399782"/>
            <a:ext cx="513742"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43" name="Text 140"/>
          <p:cNvSpPr/>
          <p:nvPr/>
        </p:nvSpPr>
        <p:spPr>
          <a:xfrm>
            <a:off x="4206968" y="5399782"/>
            <a:ext cx="545590"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45</a:t>
            </a:r>
            <a:endParaRPr lang="en-US" sz="720" dirty="0"/>
          </a:p>
        </p:txBody>
      </p:sp>
      <p:sp>
        <p:nvSpPr>
          <p:cNvPr id="144" name="Text 141"/>
          <p:cNvSpPr/>
          <p:nvPr/>
        </p:nvSpPr>
        <p:spPr>
          <a:xfrm>
            <a:off x="4752559" y="5399782"/>
            <a:ext cx="515230"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64</a:t>
            </a:r>
            <a:endParaRPr lang="en-US" sz="720" dirty="0"/>
          </a:p>
        </p:txBody>
      </p:sp>
      <p:sp>
        <p:nvSpPr>
          <p:cNvPr id="145" name="Text 142"/>
          <p:cNvSpPr/>
          <p:nvPr/>
        </p:nvSpPr>
        <p:spPr>
          <a:xfrm>
            <a:off x="1530361" y="5690295"/>
            <a:ext cx="182880" cy="106561"/>
          </a:xfrm>
          <a:prstGeom prst="rect">
            <a:avLst/>
          </a:prstGeom>
          <a:noFill/>
          <a:ln/>
        </p:spPr>
        <p:txBody>
          <a:bodyPr wrap="none" lIns="0" tIns="0" rIns="0" bIns="0" rtlCol="0" anchor="t"/>
          <a:lstStyle/>
          <a:p>
            <a:pPr algn="l" indent="0" marL="0">
              <a:buNone/>
            </a:pPr>
            <a:r>
              <a:rPr lang="en-US" sz="600" b="1" dirty="0">
                <a:solidFill>
                  <a:srgbClr val="04003A"/>
                </a:solidFill>
                <a:latin typeface="Raleway" pitchFamily="34" charset="0"/>
                <a:ea typeface="Raleway" pitchFamily="34" charset="-122"/>
                <a:cs typeface="Raleway" pitchFamily="34" charset="-120"/>
              </a:rPr>
              <a:t>4ª</a:t>
            </a:r>
            <a:endParaRPr lang="en-US" sz="600" dirty="0"/>
          </a:p>
        </p:txBody>
      </p:sp>
      <p:sp>
        <p:nvSpPr>
          <p:cNvPr id="146" name="Text 143"/>
          <p:cNvSpPr/>
          <p:nvPr/>
        </p:nvSpPr>
        <p:spPr>
          <a:xfrm>
            <a:off x="4752559" y="5618857"/>
            <a:ext cx="515230" cy="220861"/>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31</a:t>
            </a:r>
            <a:endParaRPr lang="en-US" sz="720" dirty="0"/>
          </a:p>
        </p:txBody>
      </p:sp>
      <p:sp>
        <p:nvSpPr>
          <p:cNvPr id="147" name="Text 144"/>
          <p:cNvSpPr/>
          <p:nvPr/>
        </p:nvSpPr>
        <p:spPr>
          <a:xfrm>
            <a:off x="5267789" y="5618857"/>
            <a:ext cx="608989" cy="220861"/>
          </a:xfrm>
          <a:prstGeom prst="rect">
            <a:avLst/>
          </a:prstGeom>
          <a:noFill/>
          <a:ln/>
        </p:spPr>
        <p:txBody>
          <a:bodyPr wrap="none" lIns="0" tIns="0" rIns="0" bIns="0" rtlCol="0" anchor="t"/>
          <a:lstStyle/>
          <a:p>
            <a:pPr algn="r" indent="0" marL="0">
              <a:buNone/>
            </a:pPr>
            <a:r>
              <a:rPr lang="en-US" sz="744" b="1" dirty="0">
                <a:solidFill>
                  <a:srgbClr val="333333"/>
                </a:solidFill>
                <a:latin typeface="Raleway" pitchFamily="34" charset="0"/>
                <a:ea typeface="Raleway" pitchFamily="34" charset="-122"/>
                <a:cs typeface="Raleway" pitchFamily="34" charset="-120"/>
              </a:rPr>
              <a:t>47</a:t>
            </a:r>
            <a:endParaRPr lang="en-US" sz="744" dirty="0"/>
          </a:p>
        </p:txBody>
      </p:sp>
      <p:sp>
        <p:nvSpPr>
          <p:cNvPr id="148" name="Text 145"/>
          <p:cNvSpPr/>
          <p:nvPr/>
        </p:nvSpPr>
        <p:spPr>
          <a:xfrm>
            <a:off x="2114497" y="5839718"/>
            <a:ext cx="526392"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14</a:t>
            </a:r>
            <a:endParaRPr lang="en-US" sz="720" dirty="0"/>
          </a:p>
        </p:txBody>
      </p:sp>
      <p:sp>
        <p:nvSpPr>
          <p:cNvPr id="149" name="Text 146"/>
          <p:cNvSpPr/>
          <p:nvPr/>
        </p:nvSpPr>
        <p:spPr>
          <a:xfrm>
            <a:off x="2640889" y="5839718"/>
            <a:ext cx="523564"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15</a:t>
            </a:r>
            <a:endParaRPr lang="en-US" sz="720" dirty="0"/>
          </a:p>
        </p:txBody>
      </p:sp>
      <p:sp>
        <p:nvSpPr>
          <p:cNvPr id="150" name="Text 147"/>
          <p:cNvSpPr/>
          <p:nvPr/>
        </p:nvSpPr>
        <p:spPr>
          <a:xfrm>
            <a:off x="3164453" y="5839718"/>
            <a:ext cx="528773"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31</a:t>
            </a:r>
            <a:endParaRPr lang="en-US" sz="720" dirty="0"/>
          </a:p>
        </p:txBody>
      </p:sp>
      <p:sp>
        <p:nvSpPr>
          <p:cNvPr id="151" name="Text 148"/>
          <p:cNvSpPr/>
          <p:nvPr/>
        </p:nvSpPr>
        <p:spPr>
          <a:xfrm>
            <a:off x="3693226" y="5839718"/>
            <a:ext cx="513742" cy="185738"/>
          </a:xfrm>
          <a:prstGeom prst="rect">
            <a:avLst/>
          </a:prstGeom>
          <a:noFill/>
          <a:ln/>
        </p:spPr>
        <p:txBody>
          <a:bodyPr wrap="none" lIns="0" tIns="0" rIns="0" bIns="0" rtlCol="0" anchor="t"/>
          <a:lstStyle/>
          <a:p>
            <a:pPr algn="r" indent="0" marL="0">
              <a:buNone/>
            </a:pPr>
            <a:r>
              <a:rPr lang="en-US" sz="720" b="1" dirty="0">
                <a:solidFill>
                  <a:srgbClr val="120180"/>
                </a:solidFill>
                <a:latin typeface="Raleway" pitchFamily="34" charset="0"/>
                <a:ea typeface="Raleway" pitchFamily="34" charset="-122"/>
                <a:cs typeface="Raleway" pitchFamily="34" charset="-120"/>
              </a:rPr>
              <a:t>75</a:t>
            </a:r>
            <a:endParaRPr lang="en-US" sz="720" dirty="0"/>
          </a:p>
        </p:txBody>
      </p:sp>
      <p:sp>
        <p:nvSpPr>
          <p:cNvPr id="152" name="Text 149"/>
          <p:cNvSpPr/>
          <p:nvPr/>
        </p:nvSpPr>
        <p:spPr>
          <a:xfrm>
            <a:off x="6719571" y="3012877"/>
            <a:ext cx="182880" cy="91440"/>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43</a:t>
            </a:r>
            <a:endParaRPr lang="en-US" sz="720" dirty="0"/>
          </a:p>
        </p:txBody>
      </p:sp>
      <p:sp>
        <p:nvSpPr>
          <p:cNvPr id="153" name="Text 150"/>
          <p:cNvSpPr/>
          <p:nvPr/>
        </p:nvSpPr>
        <p:spPr>
          <a:xfrm>
            <a:off x="7567870" y="3002459"/>
            <a:ext cx="182880" cy="91440"/>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45</a:t>
            </a:r>
            <a:endParaRPr lang="en-US" sz="720" dirty="0"/>
          </a:p>
        </p:txBody>
      </p:sp>
      <p:sp>
        <p:nvSpPr>
          <p:cNvPr id="154" name="Text 151"/>
          <p:cNvSpPr/>
          <p:nvPr/>
        </p:nvSpPr>
        <p:spPr>
          <a:xfrm>
            <a:off x="8413341" y="2845296"/>
            <a:ext cx="182880" cy="91440"/>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87</a:t>
            </a:r>
            <a:endParaRPr lang="en-US" sz="720" dirty="0"/>
          </a:p>
        </p:txBody>
      </p:sp>
      <p:sp>
        <p:nvSpPr>
          <p:cNvPr id="155" name="Text 152"/>
          <p:cNvSpPr/>
          <p:nvPr/>
        </p:nvSpPr>
        <p:spPr>
          <a:xfrm>
            <a:off x="2114497" y="4966395"/>
            <a:ext cx="526392" cy="214313"/>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5</a:t>
            </a:r>
            <a:endParaRPr lang="en-US" sz="720" dirty="0"/>
          </a:p>
        </p:txBody>
      </p:sp>
      <p:sp>
        <p:nvSpPr>
          <p:cNvPr id="156" name="Text 153"/>
          <p:cNvSpPr/>
          <p:nvPr/>
        </p:nvSpPr>
        <p:spPr>
          <a:xfrm>
            <a:off x="2640889" y="4966395"/>
            <a:ext cx="523564" cy="214313"/>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157" name="Text 154"/>
          <p:cNvSpPr/>
          <p:nvPr/>
        </p:nvSpPr>
        <p:spPr>
          <a:xfrm>
            <a:off x="2114497" y="5180707"/>
            <a:ext cx="526392"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5</a:t>
            </a:r>
            <a:endParaRPr lang="en-US" sz="720" dirty="0"/>
          </a:p>
        </p:txBody>
      </p:sp>
      <p:sp>
        <p:nvSpPr>
          <p:cNvPr id="158" name="Text 155"/>
          <p:cNvSpPr/>
          <p:nvPr/>
        </p:nvSpPr>
        <p:spPr>
          <a:xfrm>
            <a:off x="2640889" y="5180707"/>
            <a:ext cx="523564"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159" name="Text 156"/>
          <p:cNvSpPr/>
          <p:nvPr/>
        </p:nvSpPr>
        <p:spPr>
          <a:xfrm>
            <a:off x="3164453" y="5180707"/>
            <a:ext cx="528773"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7</a:t>
            </a:r>
            <a:endParaRPr lang="en-US" sz="720" dirty="0"/>
          </a:p>
        </p:txBody>
      </p:sp>
      <p:sp>
        <p:nvSpPr>
          <p:cNvPr id="160" name="Text 157"/>
          <p:cNvSpPr/>
          <p:nvPr/>
        </p:nvSpPr>
        <p:spPr>
          <a:xfrm>
            <a:off x="2114497" y="5399782"/>
            <a:ext cx="526392"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1</a:t>
            </a:r>
            <a:endParaRPr lang="en-US" sz="720" dirty="0"/>
          </a:p>
        </p:txBody>
      </p:sp>
      <p:sp>
        <p:nvSpPr>
          <p:cNvPr id="161" name="Text 158"/>
          <p:cNvSpPr/>
          <p:nvPr/>
        </p:nvSpPr>
        <p:spPr>
          <a:xfrm>
            <a:off x="2640889" y="5399782"/>
            <a:ext cx="523564"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162" name="Text 159"/>
          <p:cNvSpPr/>
          <p:nvPr/>
        </p:nvSpPr>
        <p:spPr>
          <a:xfrm>
            <a:off x="3164453" y="5399782"/>
            <a:ext cx="528773" cy="219075"/>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7</a:t>
            </a:r>
            <a:endParaRPr lang="en-US" sz="720" dirty="0"/>
          </a:p>
        </p:txBody>
      </p:sp>
      <p:sp>
        <p:nvSpPr>
          <p:cNvPr id="163" name="Text 160"/>
          <p:cNvSpPr/>
          <p:nvPr/>
        </p:nvSpPr>
        <p:spPr>
          <a:xfrm>
            <a:off x="2114497" y="5618857"/>
            <a:ext cx="526392" cy="220861"/>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164" name="Text 161"/>
          <p:cNvSpPr/>
          <p:nvPr/>
        </p:nvSpPr>
        <p:spPr>
          <a:xfrm>
            <a:off x="2640889" y="5618857"/>
            <a:ext cx="523564" cy="220861"/>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6</a:t>
            </a:r>
            <a:endParaRPr lang="en-US" sz="720" dirty="0"/>
          </a:p>
        </p:txBody>
      </p:sp>
      <p:sp>
        <p:nvSpPr>
          <p:cNvPr id="165" name="Text 162"/>
          <p:cNvSpPr/>
          <p:nvPr/>
        </p:nvSpPr>
        <p:spPr>
          <a:xfrm>
            <a:off x="3164453" y="5618857"/>
            <a:ext cx="528773" cy="220861"/>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4</a:t>
            </a:r>
            <a:endParaRPr lang="en-US" sz="720" dirty="0"/>
          </a:p>
        </p:txBody>
      </p:sp>
      <p:sp>
        <p:nvSpPr>
          <p:cNvPr id="166" name="Text 163"/>
          <p:cNvSpPr/>
          <p:nvPr/>
        </p:nvSpPr>
        <p:spPr>
          <a:xfrm>
            <a:off x="3693226" y="5618857"/>
            <a:ext cx="513742" cy="220861"/>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3</a:t>
            </a:r>
            <a:endParaRPr lang="en-US" sz="720" dirty="0"/>
          </a:p>
        </p:txBody>
      </p:sp>
      <p:sp>
        <p:nvSpPr>
          <p:cNvPr id="167" name="Text 164"/>
          <p:cNvSpPr/>
          <p:nvPr/>
        </p:nvSpPr>
        <p:spPr>
          <a:xfrm>
            <a:off x="4206968" y="5618857"/>
            <a:ext cx="545590" cy="220861"/>
          </a:xfrm>
          <a:prstGeom prst="rect">
            <a:avLst/>
          </a:prstGeom>
          <a:noFill/>
          <a:ln/>
        </p:spPr>
        <p:txBody>
          <a:bodyPr wrap="none" lIns="0" tIns="0" rIns="0" bIns="0" rtlCol="0" anchor="t"/>
          <a:lstStyle/>
          <a:p>
            <a:pPr algn="r" indent="0" marL="0">
              <a:buNone/>
            </a:pPr>
            <a:r>
              <a:rPr lang="en-US" sz="720" dirty="0">
                <a:solidFill>
                  <a:srgbClr val="333333"/>
                </a:solidFill>
                <a:latin typeface="Raleway" pitchFamily="34" charset="0"/>
                <a:ea typeface="Raleway" pitchFamily="34" charset="-122"/>
                <a:cs typeface="Raleway" pitchFamily="34" charset="-120"/>
              </a:rPr>
              <a:t>-</a:t>
            </a:r>
            <a:endParaRPr lang="en-US" sz="720" dirty="0"/>
          </a:p>
        </p:txBody>
      </p:sp>
      <p:sp>
        <p:nvSpPr>
          <p:cNvPr id="168" name="Text 165"/>
          <p:cNvSpPr/>
          <p:nvPr/>
        </p:nvSpPr>
        <p:spPr>
          <a:xfrm>
            <a:off x="7519204" y="4971752"/>
            <a:ext cx="182880" cy="133350"/>
          </a:xfrm>
          <a:prstGeom prst="rect">
            <a:avLst/>
          </a:prstGeom>
          <a:noFill/>
          <a:ln/>
        </p:spPr>
        <p:txBody>
          <a:bodyPr wrap="none" lIns="0" tIns="0" rIns="0" bIns="0" rtlCol="0" anchor="t"/>
          <a:lstStyle/>
          <a:p>
            <a:pPr algn="l" indent="0" marL="0">
              <a:buNone/>
            </a:pPr>
            <a:r>
              <a:rPr lang="en-US" sz="780" b="1" dirty="0">
                <a:solidFill>
                  <a:srgbClr val="00CD93"/>
                </a:solidFill>
                <a:latin typeface="Raleway" pitchFamily="34" charset="0"/>
                <a:ea typeface="Raleway" pitchFamily="34" charset="-122"/>
                <a:cs typeface="Raleway" pitchFamily="34" charset="-120"/>
              </a:rPr>
              <a:t>→</a:t>
            </a:r>
            <a:endParaRPr lang="en-US" sz="780" dirty="0"/>
          </a:p>
        </p:txBody>
      </p:sp>
      <p:sp>
        <p:nvSpPr>
          <p:cNvPr id="169" name="Text 166"/>
          <p:cNvSpPr/>
          <p:nvPr/>
        </p:nvSpPr>
        <p:spPr>
          <a:xfrm>
            <a:off x="8841807" y="4971752"/>
            <a:ext cx="182880" cy="133350"/>
          </a:xfrm>
          <a:prstGeom prst="rect">
            <a:avLst/>
          </a:prstGeom>
          <a:noFill/>
          <a:ln/>
        </p:spPr>
        <p:txBody>
          <a:bodyPr wrap="none" lIns="0" tIns="0" rIns="0" bIns="0" rtlCol="0" anchor="t"/>
          <a:lstStyle/>
          <a:p>
            <a:pPr algn="l" indent="0" marL="0">
              <a:buNone/>
            </a:pPr>
            <a:r>
              <a:rPr lang="en-US" sz="780" b="1" dirty="0">
                <a:solidFill>
                  <a:srgbClr val="00CD93"/>
                </a:solidFill>
                <a:latin typeface="Raleway" pitchFamily="34" charset="0"/>
                <a:ea typeface="Raleway" pitchFamily="34" charset="-122"/>
                <a:cs typeface="Raleway" pitchFamily="34" charset="-120"/>
              </a:rPr>
              <a:t>→</a:t>
            </a:r>
            <a:endParaRPr lang="en-US" sz="780" dirty="0"/>
          </a:p>
        </p:txBody>
      </p:sp>
      <p:sp>
        <p:nvSpPr>
          <p:cNvPr id="170" name="Text 167"/>
          <p:cNvSpPr/>
          <p:nvPr/>
        </p:nvSpPr>
        <p:spPr>
          <a:xfrm>
            <a:off x="10164260" y="4971752"/>
            <a:ext cx="182880" cy="133350"/>
          </a:xfrm>
          <a:prstGeom prst="rect">
            <a:avLst/>
          </a:prstGeom>
          <a:noFill/>
          <a:ln/>
        </p:spPr>
        <p:txBody>
          <a:bodyPr wrap="none" lIns="0" tIns="0" rIns="0" bIns="0" rtlCol="0" anchor="t"/>
          <a:lstStyle/>
          <a:p>
            <a:pPr algn="l" indent="0" marL="0">
              <a:buNone/>
            </a:pPr>
            <a:r>
              <a:rPr lang="en-US" sz="780" b="1" dirty="0">
                <a:solidFill>
                  <a:srgbClr val="00CD93"/>
                </a:solidFill>
                <a:latin typeface="Raleway" pitchFamily="34" charset="0"/>
                <a:ea typeface="Raleway" pitchFamily="34" charset="-122"/>
                <a:cs typeface="Raleway" pitchFamily="34" charset="-120"/>
              </a:rPr>
              <a:t>→</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01_Repositorios\13_Presentaciones\dash\televentas\ppt_slides\sk_06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856238"/>
            <a:ext cx="7086720"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descarte principal es , lo que indica que el 1S se depuró correctamente contra clientes vigentes antes de lanzar el marcador.</a:t>
            </a:r>
            <a:endParaRPr lang="en-US" sz="744" dirty="0"/>
          </a:p>
        </p:txBody>
      </p:sp>
      <p:sp>
        <p:nvSpPr>
          <p:cNvPr id="4" name="Text 1"/>
          <p:cNvSpPr/>
          <p:nvPr/>
        </p:nvSpPr>
        <p:spPr>
          <a:xfrm>
            <a:off x="685783" y="6002685"/>
            <a:ext cx="7086720"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representa el , convirtiéndose en el motor de ventas del canal.</a:t>
            </a:r>
            <a:endParaRPr lang="en-US" sz="744" dirty="0"/>
          </a:p>
        </p:txBody>
      </p:sp>
      <p:sp>
        <p:nvSpPr>
          <p:cNvPr id="5" name="Text 2"/>
          <p:cNvSpPr/>
          <p:nvPr/>
        </p:nvSpPr>
        <p:spPr>
          <a:xfrm>
            <a:off x="685783" y="5709791"/>
            <a:ext cx="7086720"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tiene la  y una efectividad sobresaliente.</a:t>
            </a:r>
            <a:endParaRPr lang="en-US" sz="744" dirty="0"/>
          </a:p>
        </p:txBody>
      </p:sp>
      <p:sp>
        <p:nvSpPr>
          <p:cNvPr id="6" name="Text 3"/>
          <p:cNvSpPr/>
          <p:nvPr/>
        </p:nvSpPr>
        <p:spPr>
          <a:xfrm>
            <a:off x="1213514" y="219075"/>
            <a:ext cx="3684446"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Bienvenidas CP</a:t>
            </a:r>
            <a:endParaRPr lang="en-US" sz="1260" dirty="0"/>
          </a:p>
        </p:txBody>
      </p:sp>
      <p:sp>
        <p:nvSpPr>
          <p:cNvPr id="7" name="Text 4"/>
          <p:cNvSpPr/>
          <p:nvPr/>
        </p:nvSpPr>
        <p:spPr>
          <a:xfrm>
            <a:off x="8216595" y="1219944"/>
            <a:ext cx="3479812"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Alta efectividad comercial sobre contacto</a:t>
            </a:r>
            <a:endParaRPr lang="en-US" sz="648" dirty="0"/>
          </a:p>
        </p:txBody>
      </p:sp>
      <p:sp>
        <p:nvSpPr>
          <p:cNvPr id="8" name="Text 5"/>
          <p:cNvSpPr/>
          <p:nvPr/>
        </p:nvSpPr>
        <p:spPr>
          <a:xfrm>
            <a:off x="6257769"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9" name="Text 6"/>
          <p:cNvSpPr/>
          <p:nvPr/>
        </p:nvSpPr>
        <p:spPr>
          <a:xfrm>
            <a:off x="495288"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0" name="Text 7"/>
          <p:cNvSpPr/>
          <p:nvPr/>
        </p:nvSpPr>
        <p:spPr>
          <a:xfrm>
            <a:off x="6267293" y="50156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1" name="Text 8"/>
          <p:cNvSpPr/>
          <p:nvPr/>
        </p:nvSpPr>
        <p:spPr>
          <a:xfrm>
            <a:off x="533387"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Líder en contactabilidad del canal</a:t>
            </a:r>
            <a:endParaRPr lang="en-US" sz="648" dirty="0"/>
          </a:p>
        </p:txBody>
      </p:sp>
      <p:sp>
        <p:nvSpPr>
          <p:cNvPr id="12" name="Text 9"/>
          <p:cNvSpPr/>
          <p:nvPr/>
        </p:nvSpPr>
        <p:spPr>
          <a:xfrm>
            <a:off x="4374991"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Aporta el 62% de las ventas de CP</a:t>
            </a:r>
            <a:endParaRPr lang="en-US" sz="648" dirty="0"/>
          </a:p>
        </p:txBody>
      </p:sp>
      <p:sp>
        <p:nvSpPr>
          <p:cNvPr id="13" name="Text 10"/>
          <p:cNvSpPr/>
          <p:nvPr/>
        </p:nvSpPr>
        <p:spPr>
          <a:xfrm>
            <a:off x="6257769"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4" name="Text 11"/>
          <p:cNvSpPr/>
          <p:nvPr/>
        </p:nvSpPr>
        <p:spPr>
          <a:xfrm>
            <a:off x="504812" y="43489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5" name="Text 12"/>
          <p:cNvSpPr/>
          <p:nvPr/>
        </p:nvSpPr>
        <p:spPr>
          <a:xfrm>
            <a:off x="6267293" y="35488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Venta exitosa (CP + Autogestión)</a:t>
            </a:r>
            <a:endParaRPr lang="en-US" sz="552" dirty="0"/>
          </a:p>
        </p:txBody>
      </p:sp>
      <p:sp>
        <p:nvSpPr>
          <p:cNvPr id="16" name="Text 13"/>
          <p:cNvSpPr/>
          <p:nvPr/>
        </p:nvSpPr>
        <p:spPr>
          <a:xfrm>
            <a:off x="504812" y="39488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7" name="Text 14"/>
          <p:cNvSpPr/>
          <p:nvPr/>
        </p:nvSpPr>
        <p:spPr>
          <a:xfrm>
            <a:off x="552436" y="5553819"/>
            <a:ext cx="1624567"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8" name="Text 15"/>
          <p:cNvSpPr/>
          <p:nvPr/>
        </p:nvSpPr>
        <p:spPr>
          <a:xfrm>
            <a:off x="495288"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9" name="Text 16"/>
          <p:cNvSpPr/>
          <p:nvPr/>
        </p:nvSpPr>
        <p:spPr>
          <a:xfrm>
            <a:off x="504812" y="36821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20" name="Text 17"/>
          <p:cNvSpPr/>
          <p:nvPr/>
        </p:nvSpPr>
        <p:spPr>
          <a:xfrm>
            <a:off x="504812" y="40822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con Localidad Errónea</a:t>
            </a:r>
            <a:endParaRPr lang="en-US" sz="576" dirty="0"/>
          </a:p>
        </p:txBody>
      </p:sp>
      <p:sp>
        <p:nvSpPr>
          <p:cNvPr id="21" name="Text 18"/>
          <p:cNvSpPr/>
          <p:nvPr/>
        </p:nvSpPr>
        <p:spPr>
          <a:xfrm>
            <a:off x="6267293" y="36821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2" name="Text 19"/>
          <p:cNvSpPr/>
          <p:nvPr/>
        </p:nvSpPr>
        <p:spPr>
          <a:xfrm>
            <a:off x="6267293" y="39488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3" name="Text 20"/>
          <p:cNvSpPr/>
          <p:nvPr/>
        </p:nvSpPr>
        <p:spPr>
          <a:xfrm>
            <a:off x="9445141" y="209550"/>
            <a:ext cx="2175069"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Bienvenida</a:t>
            </a:r>
            <a:endParaRPr lang="en-US" sz="840" dirty="0"/>
          </a:p>
        </p:txBody>
      </p:sp>
      <p:sp>
        <p:nvSpPr>
          <p:cNvPr id="24" name="Text 21"/>
          <p:cNvSpPr/>
          <p:nvPr/>
        </p:nvSpPr>
        <p:spPr>
          <a:xfrm>
            <a:off x="6267293" y="42155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25" name="Text 22"/>
          <p:cNvSpPr/>
          <p:nvPr/>
        </p:nvSpPr>
        <p:spPr>
          <a:xfrm>
            <a:off x="6267293" y="43489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6" name="Text 23"/>
          <p:cNvSpPr/>
          <p:nvPr/>
        </p:nvSpPr>
        <p:spPr>
          <a:xfrm>
            <a:off x="6267293" y="40822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7" name="Text 24"/>
          <p:cNvSpPr/>
          <p:nvPr/>
        </p:nvSpPr>
        <p:spPr>
          <a:xfrm>
            <a:off x="533387"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8" name="Text 25"/>
          <p:cNvSpPr/>
          <p:nvPr/>
        </p:nvSpPr>
        <p:spPr>
          <a:xfrm>
            <a:off x="504812" y="42155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Cédula/Teléfono Repetido</a:t>
            </a:r>
            <a:endParaRPr lang="en-US" sz="576" dirty="0"/>
          </a:p>
        </p:txBody>
      </p:sp>
      <p:sp>
        <p:nvSpPr>
          <p:cNvPr id="29" name="Text 26"/>
          <p:cNvSpPr/>
          <p:nvPr/>
        </p:nvSpPr>
        <p:spPr>
          <a:xfrm>
            <a:off x="504812" y="3420219"/>
            <a:ext cx="1824587" cy="128588"/>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30" name="Text 27"/>
          <p:cNvSpPr/>
          <p:nvPr/>
        </p:nvSpPr>
        <p:spPr>
          <a:xfrm>
            <a:off x="6267293" y="47489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31" name="Text 28"/>
          <p:cNvSpPr/>
          <p:nvPr/>
        </p:nvSpPr>
        <p:spPr>
          <a:xfrm>
            <a:off x="504812" y="44822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32" name="Text 29"/>
          <p:cNvSpPr/>
          <p:nvPr/>
        </p:nvSpPr>
        <p:spPr>
          <a:xfrm>
            <a:off x="6267293" y="44822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33" name="Text 30"/>
          <p:cNvSpPr/>
          <p:nvPr/>
        </p:nvSpPr>
        <p:spPr>
          <a:xfrm>
            <a:off x="8216595" y="828675"/>
            <a:ext cx="3479812"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34" name="Text 31"/>
          <p:cNvSpPr/>
          <p:nvPr/>
        </p:nvSpPr>
        <p:spPr>
          <a:xfrm>
            <a:off x="504812" y="38155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5" name="Text 32"/>
          <p:cNvSpPr/>
          <p:nvPr/>
        </p:nvSpPr>
        <p:spPr>
          <a:xfrm>
            <a:off x="504812" y="35488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Contrato Repetido</a:t>
            </a:r>
            <a:endParaRPr lang="en-US" sz="576" dirty="0"/>
          </a:p>
        </p:txBody>
      </p:sp>
      <p:sp>
        <p:nvSpPr>
          <p:cNvPr id="36" name="Text 33"/>
          <p:cNvSpPr/>
          <p:nvPr/>
        </p:nvSpPr>
        <p:spPr>
          <a:xfrm>
            <a:off x="6267293" y="3420219"/>
            <a:ext cx="1824587" cy="128588"/>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7" name="Text 34"/>
          <p:cNvSpPr/>
          <p:nvPr/>
        </p:nvSpPr>
        <p:spPr>
          <a:xfrm>
            <a:off x="6267293" y="38155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8" name="Text 35"/>
          <p:cNvSpPr/>
          <p:nvPr/>
        </p:nvSpPr>
        <p:spPr>
          <a:xfrm>
            <a:off x="6267293" y="5149007"/>
            <a:ext cx="1824587" cy="128588"/>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9" name="Text 36"/>
          <p:cNvSpPr/>
          <p:nvPr/>
        </p:nvSpPr>
        <p:spPr>
          <a:xfrm>
            <a:off x="4374991"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TOTALES</a:t>
            </a:r>
            <a:endParaRPr lang="en-US" sz="672" dirty="0"/>
          </a:p>
        </p:txBody>
      </p:sp>
      <p:sp>
        <p:nvSpPr>
          <p:cNvPr id="40" name="Text 37"/>
          <p:cNvSpPr/>
          <p:nvPr/>
        </p:nvSpPr>
        <p:spPr>
          <a:xfrm>
            <a:off x="10281832" y="1810494"/>
            <a:ext cx="141457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41" name="Text 38"/>
          <p:cNvSpPr/>
          <p:nvPr/>
        </p:nvSpPr>
        <p:spPr>
          <a:xfrm>
            <a:off x="6267293"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2" name="Text 39"/>
          <p:cNvSpPr/>
          <p:nvPr/>
        </p:nvSpPr>
        <p:spPr>
          <a:xfrm>
            <a:off x="6267293" y="4615607"/>
            <a:ext cx="1824587" cy="133350"/>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3" name="Text 40"/>
          <p:cNvSpPr/>
          <p:nvPr/>
        </p:nvSpPr>
        <p:spPr>
          <a:xfrm>
            <a:off x="6267293" y="48823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4" name="Text 41"/>
          <p:cNvSpPr/>
          <p:nvPr/>
        </p:nvSpPr>
        <p:spPr>
          <a:xfrm>
            <a:off x="2996877" y="1810494"/>
            <a:ext cx="152277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5" name="Text 42"/>
          <p:cNvSpPr/>
          <p:nvPr/>
        </p:nvSpPr>
        <p:spPr>
          <a:xfrm>
            <a:off x="8324195"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6" name="Text 43"/>
          <p:cNvSpPr/>
          <p:nvPr/>
        </p:nvSpPr>
        <p:spPr>
          <a:xfrm>
            <a:off x="1582896" y="1810494"/>
            <a:ext cx="141398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7" name="Text 44"/>
          <p:cNvSpPr/>
          <p:nvPr/>
        </p:nvSpPr>
        <p:spPr>
          <a:xfrm>
            <a:off x="4519648" y="1810494"/>
            <a:ext cx="141427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8" name="Text 45"/>
          <p:cNvSpPr/>
          <p:nvPr/>
        </p:nvSpPr>
        <p:spPr>
          <a:xfrm>
            <a:off x="533387"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9" name="Text 46"/>
          <p:cNvSpPr/>
          <p:nvPr/>
        </p:nvSpPr>
        <p:spPr>
          <a:xfrm>
            <a:off x="1582896" y="2834432"/>
            <a:ext cx="141398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114.696</a:t>
            </a:r>
            <a:endParaRPr lang="en-US" sz="636" dirty="0"/>
          </a:p>
        </p:txBody>
      </p:sp>
      <p:sp>
        <p:nvSpPr>
          <p:cNvPr id="50" name="Text 47"/>
          <p:cNvSpPr/>
          <p:nvPr/>
        </p:nvSpPr>
        <p:spPr>
          <a:xfrm>
            <a:off x="6295868"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1" name="Text 48"/>
          <p:cNvSpPr/>
          <p:nvPr/>
        </p:nvSpPr>
        <p:spPr>
          <a:xfrm>
            <a:off x="8216595" y="971550"/>
            <a:ext cx="3479812"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19,5 %</a:t>
            </a:r>
            <a:endParaRPr lang="en-US" sz="1380" dirty="0"/>
          </a:p>
        </p:txBody>
      </p:sp>
      <p:sp>
        <p:nvSpPr>
          <p:cNvPr id="52" name="Text 49"/>
          <p:cNvSpPr/>
          <p:nvPr/>
        </p:nvSpPr>
        <p:spPr>
          <a:xfrm>
            <a:off x="1582896" y="1981944"/>
            <a:ext cx="141398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14.772</a:t>
            </a:r>
            <a:endParaRPr lang="en-US" sz="636" dirty="0"/>
          </a:p>
        </p:txBody>
      </p:sp>
      <p:sp>
        <p:nvSpPr>
          <p:cNvPr id="53" name="Text 50"/>
          <p:cNvSpPr/>
          <p:nvPr/>
        </p:nvSpPr>
        <p:spPr>
          <a:xfrm>
            <a:off x="4519648" y="1981944"/>
            <a:ext cx="141427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57,4 %</a:t>
            </a:r>
            <a:endParaRPr lang="en-US" sz="636" dirty="0"/>
          </a:p>
        </p:txBody>
      </p:sp>
      <p:sp>
        <p:nvSpPr>
          <p:cNvPr id="54" name="Text 51"/>
          <p:cNvSpPr/>
          <p:nvPr/>
        </p:nvSpPr>
        <p:spPr>
          <a:xfrm>
            <a:off x="1582896" y="21200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19.573</a:t>
            </a:r>
            <a:endParaRPr lang="en-US" sz="636" dirty="0"/>
          </a:p>
        </p:txBody>
      </p:sp>
      <p:sp>
        <p:nvSpPr>
          <p:cNvPr id="55" name="Text 52"/>
          <p:cNvSpPr/>
          <p:nvPr/>
        </p:nvSpPr>
        <p:spPr>
          <a:xfrm>
            <a:off x="2996877" y="21200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11.134</a:t>
            </a:r>
            <a:endParaRPr lang="en-US" sz="636" dirty="0"/>
          </a:p>
        </p:txBody>
      </p:sp>
      <p:sp>
        <p:nvSpPr>
          <p:cNvPr id="56" name="Text 53"/>
          <p:cNvSpPr/>
          <p:nvPr/>
        </p:nvSpPr>
        <p:spPr>
          <a:xfrm>
            <a:off x="4519648" y="21200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56,9 %</a:t>
            </a:r>
            <a:endParaRPr lang="en-US" sz="636" dirty="0"/>
          </a:p>
        </p:txBody>
      </p:sp>
      <p:sp>
        <p:nvSpPr>
          <p:cNvPr id="57" name="Text 54"/>
          <p:cNvSpPr/>
          <p:nvPr/>
        </p:nvSpPr>
        <p:spPr>
          <a:xfrm>
            <a:off x="1582896" y="226293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21.421</a:t>
            </a:r>
            <a:endParaRPr lang="en-US" sz="636" dirty="0"/>
          </a:p>
        </p:txBody>
      </p:sp>
      <p:sp>
        <p:nvSpPr>
          <p:cNvPr id="58" name="Text 55"/>
          <p:cNvSpPr/>
          <p:nvPr/>
        </p:nvSpPr>
        <p:spPr>
          <a:xfrm>
            <a:off x="2996877" y="226293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13.486</a:t>
            </a:r>
            <a:endParaRPr lang="en-US" sz="636" dirty="0"/>
          </a:p>
        </p:txBody>
      </p:sp>
      <p:sp>
        <p:nvSpPr>
          <p:cNvPr id="59" name="Text 56"/>
          <p:cNvSpPr/>
          <p:nvPr/>
        </p:nvSpPr>
        <p:spPr>
          <a:xfrm>
            <a:off x="4519648" y="226293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63,0 %</a:t>
            </a:r>
            <a:endParaRPr lang="en-US" sz="636" dirty="0"/>
          </a:p>
        </p:txBody>
      </p:sp>
      <p:sp>
        <p:nvSpPr>
          <p:cNvPr id="60" name="Text 57"/>
          <p:cNvSpPr/>
          <p:nvPr/>
        </p:nvSpPr>
        <p:spPr>
          <a:xfrm>
            <a:off x="1582896" y="240580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19.096</a:t>
            </a:r>
            <a:endParaRPr lang="en-US" sz="636" dirty="0"/>
          </a:p>
        </p:txBody>
      </p:sp>
      <p:sp>
        <p:nvSpPr>
          <p:cNvPr id="61" name="Text 58"/>
          <p:cNvSpPr/>
          <p:nvPr/>
        </p:nvSpPr>
        <p:spPr>
          <a:xfrm>
            <a:off x="2996877" y="240580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10.792</a:t>
            </a:r>
            <a:endParaRPr lang="en-US" sz="636" dirty="0"/>
          </a:p>
        </p:txBody>
      </p:sp>
      <p:sp>
        <p:nvSpPr>
          <p:cNvPr id="62" name="Text 59"/>
          <p:cNvSpPr/>
          <p:nvPr/>
        </p:nvSpPr>
        <p:spPr>
          <a:xfrm>
            <a:off x="4519648" y="240580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56,5 %</a:t>
            </a:r>
            <a:endParaRPr lang="en-US" sz="636" dirty="0"/>
          </a:p>
        </p:txBody>
      </p:sp>
      <p:sp>
        <p:nvSpPr>
          <p:cNvPr id="63" name="Text 60"/>
          <p:cNvSpPr/>
          <p:nvPr/>
        </p:nvSpPr>
        <p:spPr>
          <a:xfrm>
            <a:off x="1582896" y="254868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20.067</a:t>
            </a:r>
            <a:endParaRPr lang="en-US" sz="636" dirty="0"/>
          </a:p>
        </p:txBody>
      </p:sp>
      <p:sp>
        <p:nvSpPr>
          <p:cNvPr id="64" name="Text 61"/>
          <p:cNvSpPr/>
          <p:nvPr/>
        </p:nvSpPr>
        <p:spPr>
          <a:xfrm>
            <a:off x="2996877" y="254868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13.166</a:t>
            </a:r>
            <a:endParaRPr lang="en-US" sz="636" dirty="0"/>
          </a:p>
        </p:txBody>
      </p:sp>
      <p:sp>
        <p:nvSpPr>
          <p:cNvPr id="65" name="Text 62"/>
          <p:cNvSpPr/>
          <p:nvPr/>
        </p:nvSpPr>
        <p:spPr>
          <a:xfrm>
            <a:off x="4519648" y="254868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66" name="Text 63"/>
          <p:cNvSpPr/>
          <p:nvPr/>
        </p:nvSpPr>
        <p:spPr>
          <a:xfrm>
            <a:off x="1582896" y="26915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19.767</a:t>
            </a:r>
            <a:endParaRPr lang="en-US" sz="636" dirty="0"/>
          </a:p>
        </p:txBody>
      </p:sp>
      <p:sp>
        <p:nvSpPr>
          <p:cNvPr id="67" name="Text 64"/>
          <p:cNvSpPr/>
          <p:nvPr/>
        </p:nvSpPr>
        <p:spPr>
          <a:xfrm>
            <a:off x="2996877" y="26915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13.203</a:t>
            </a:r>
            <a:endParaRPr lang="en-US" sz="636" dirty="0"/>
          </a:p>
        </p:txBody>
      </p:sp>
      <p:sp>
        <p:nvSpPr>
          <p:cNvPr id="68" name="Text 65"/>
          <p:cNvSpPr/>
          <p:nvPr/>
        </p:nvSpPr>
        <p:spPr>
          <a:xfrm>
            <a:off x="4519648" y="26915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66,8 %</a:t>
            </a:r>
            <a:endParaRPr lang="en-US" sz="636" dirty="0"/>
          </a:p>
        </p:txBody>
      </p:sp>
      <p:sp>
        <p:nvSpPr>
          <p:cNvPr id="69" name="Text 66"/>
          <p:cNvSpPr/>
          <p:nvPr/>
        </p:nvSpPr>
        <p:spPr>
          <a:xfrm>
            <a:off x="2996877" y="2834432"/>
            <a:ext cx="152277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70.266</a:t>
            </a:r>
            <a:endParaRPr lang="en-US" sz="636" dirty="0"/>
          </a:p>
        </p:txBody>
      </p:sp>
      <p:sp>
        <p:nvSpPr>
          <p:cNvPr id="70" name="Text 67"/>
          <p:cNvSpPr/>
          <p:nvPr/>
        </p:nvSpPr>
        <p:spPr>
          <a:xfrm>
            <a:off x="4519648" y="2834432"/>
            <a:ext cx="141427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61,3 %</a:t>
            </a:r>
            <a:endParaRPr lang="en-US" sz="636" dirty="0"/>
          </a:p>
        </p:txBody>
      </p:sp>
      <p:sp>
        <p:nvSpPr>
          <p:cNvPr id="71" name="Text 68"/>
          <p:cNvSpPr/>
          <p:nvPr/>
        </p:nvSpPr>
        <p:spPr>
          <a:xfrm>
            <a:off x="504812"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2" name="Text 69"/>
          <p:cNvSpPr/>
          <p:nvPr/>
        </p:nvSpPr>
        <p:spPr>
          <a:xfrm>
            <a:off x="5226118" y="3420219"/>
            <a:ext cx="698284" cy="128588"/>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35.758</a:t>
            </a:r>
            <a:endParaRPr lang="en-US" sz="576" dirty="0"/>
          </a:p>
        </p:txBody>
      </p:sp>
      <p:sp>
        <p:nvSpPr>
          <p:cNvPr id="73" name="Text 70"/>
          <p:cNvSpPr/>
          <p:nvPr/>
        </p:nvSpPr>
        <p:spPr>
          <a:xfrm>
            <a:off x="5226118" y="35488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12.760</a:t>
            </a:r>
            <a:endParaRPr lang="en-US" sz="576" dirty="0"/>
          </a:p>
        </p:txBody>
      </p:sp>
      <p:sp>
        <p:nvSpPr>
          <p:cNvPr id="74" name="Text 71"/>
          <p:cNvSpPr/>
          <p:nvPr/>
        </p:nvSpPr>
        <p:spPr>
          <a:xfrm>
            <a:off x="2812186"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11.134</a:t>
            </a:r>
            <a:endParaRPr lang="en-US" sz="576" dirty="0"/>
          </a:p>
        </p:txBody>
      </p:sp>
      <p:sp>
        <p:nvSpPr>
          <p:cNvPr id="75" name="Text 72"/>
          <p:cNvSpPr/>
          <p:nvPr/>
        </p:nvSpPr>
        <p:spPr>
          <a:xfrm>
            <a:off x="3294972"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13.486</a:t>
            </a:r>
            <a:endParaRPr lang="en-US" sz="576" dirty="0"/>
          </a:p>
        </p:txBody>
      </p:sp>
      <p:sp>
        <p:nvSpPr>
          <p:cNvPr id="76" name="Text 73"/>
          <p:cNvSpPr/>
          <p:nvPr/>
        </p:nvSpPr>
        <p:spPr>
          <a:xfrm>
            <a:off x="3777759"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10.792</a:t>
            </a:r>
            <a:endParaRPr lang="en-US" sz="576" dirty="0"/>
          </a:p>
        </p:txBody>
      </p:sp>
      <p:sp>
        <p:nvSpPr>
          <p:cNvPr id="77" name="Text 74"/>
          <p:cNvSpPr/>
          <p:nvPr/>
        </p:nvSpPr>
        <p:spPr>
          <a:xfrm>
            <a:off x="4260545"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13.166</a:t>
            </a:r>
            <a:endParaRPr lang="en-US" sz="576" dirty="0"/>
          </a:p>
        </p:txBody>
      </p:sp>
      <p:sp>
        <p:nvSpPr>
          <p:cNvPr id="78" name="Text 75"/>
          <p:cNvSpPr/>
          <p:nvPr/>
        </p:nvSpPr>
        <p:spPr>
          <a:xfrm>
            <a:off x="4743331"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13.203</a:t>
            </a:r>
            <a:endParaRPr lang="en-US" sz="576" dirty="0"/>
          </a:p>
        </p:txBody>
      </p:sp>
      <p:sp>
        <p:nvSpPr>
          <p:cNvPr id="79" name="Text 76"/>
          <p:cNvSpPr/>
          <p:nvPr/>
        </p:nvSpPr>
        <p:spPr>
          <a:xfrm>
            <a:off x="5226118" y="4615607"/>
            <a:ext cx="698284"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70.266</a:t>
            </a:r>
            <a:endParaRPr lang="en-US" sz="576" dirty="0"/>
          </a:p>
        </p:txBody>
      </p:sp>
      <p:sp>
        <p:nvSpPr>
          <p:cNvPr id="80" name="Text 77"/>
          <p:cNvSpPr/>
          <p:nvPr/>
        </p:nvSpPr>
        <p:spPr>
          <a:xfrm>
            <a:off x="9303014"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81" name="Text 78"/>
          <p:cNvSpPr/>
          <p:nvPr/>
        </p:nvSpPr>
        <p:spPr>
          <a:xfrm>
            <a:off x="8324195"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81,5 %</a:t>
            </a:r>
            <a:endParaRPr lang="en-US" sz="636" dirty="0"/>
          </a:p>
        </p:txBody>
      </p:sp>
      <p:sp>
        <p:nvSpPr>
          <p:cNvPr id="82" name="Text 79"/>
          <p:cNvSpPr/>
          <p:nvPr/>
        </p:nvSpPr>
        <p:spPr>
          <a:xfrm>
            <a:off x="10281832" y="1981944"/>
            <a:ext cx="1414576"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23,6 %</a:t>
            </a:r>
            <a:endParaRPr lang="en-US" sz="636" dirty="0"/>
          </a:p>
        </p:txBody>
      </p:sp>
      <p:sp>
        <p:nvSpPr>
          <p:cNvPr id="83" name="Text 80"/>
          <p:cNvSpPr/>
          <p:nvPr/>
        </p:nvSpPr>
        <p:spPr>
          <a:xfrm>
            <a:off x="8324195"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79,0 %</a:t>
            </a:r>
            <a:endParaRPr lang="en-US" sz="636" dirty="0"/>
          </a:p>
        </p:txBody>
      </p:sp>
      <p:sp>
        <p:nvSpPr>
          <p:cNvPr id="84" name="Text 81"/>
          <p:cNvSpPr/>
          <p:nvPr/>
        </p:nvSpPr>
        <p:spPr>
          <a:xfrm>
            <a:off x="10281832" y="21200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21,5 %</a:t>
            </a:r>
            <a:endParaRPr lang="en-US" sz="636" dirty="0"/>
          </a:p>
        </p:txBody>
      </p:sp>
      <p:sp>
        <p:nvSpPr>
          <p:cNvPr id="85" name="Text 82"/>
          <p:cNvSpPr/>
          <p:nvPr/>
        </p:nvSpPr>
        <p:spPr>
          <a:xfrm>
            <a:off x="8324195"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78,2 %</a:t>
            </a:r>
            <a:endParaRPr lang="en-US" sz="636" dirty="0"/>
          </a:p>
        </p:txBody>
      </p:sp>
      <p:sp>
        <p:nvSpPr>
          <p:cNvPr id="86" name="Text 83"/>
          <p:cNvSpPr/>
          <p:nvPr/>
        </p:nvSpPr>
        <p:spPr>
          <a:xfrm>
            <a:off x="10281832" y="226293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18,0 %</a:t>
            </a:r>
            <a:endParaRPr lang="en-US" sz="636" dirty="0"/>
          </a:p>
        </p:txBody>
      </p:sp>
      <p:sp>
        <p:nvSpPr>
          <p:cNvPr id="87" name="Text 84"/>
          <p:cNvSpPr/>
          <p:nvPr/>
        </p:nvSpPr>
        <p:spPr>
          <a:xfrm>
            <a:off x="8324195"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76,1 %</a:t>
            </a:r>
            <a:endParaRPr lang="en-US" sz="636" dirty="0"/>
          </a:p>
        </p:txBody>
      </p:sp>
      <p:sp>
        <p:nvSpPr>
          <p:cNvPr id="88" name="Text 85"/>
          <p:cNvSpPr/>
          <p:nvPr/>
        </p:nvSpPr>
        <p:spPr>
          <a:xfrm>
            <a:off x="10281832" y="240580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17,2 %</a:t>
            </a:r>
            <a:endParaRPr lang="en-US" sz="636" dirty="0"/>
          </a:p>
        </p:txBody>
      </p:sp>
      <p:sp>
        <p:nvSpPr>
          <p:cNvPr id="89" name="Text 86"/>
          <p:cNvSpPr/>
          <p:nvPr/>
        </p:nvSpPr>
        <p:spPr>
          <a:xfrm>
            <a:off x="8324195"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83,1 %</a:t>
            </a:r>
            <a:endParaRPr lang="en-US" sz="636" dirty="0"/>
          </a:p>
        </p:txBody>
      </p:sp>
      <p:sp>
        <p:nvSpPr>
          <p:cNvPr id="90" name="Text 87"/>
          <p:cNvSpPr/>
          <p:nvPr/>
        </p:nvSpPr>
        <p:spPr>
          <a:xfrm>
            <a:off x="10281832" y="254868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91" name="Text 88"/>
          <p:cNvSpPr/>
          <p:nvPr/>
        </p:nvSpPr>
        <p:spPr>
          <a:xfrm>
            <a:off x="8324195"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79,9 %</a:t>
            </a:r>
            <a:endParaRPr lang="en-US" sz="636" dirty="0"/>
          </a:p>
        </p:txBody>
      </p:sp>
      <p:sp>
        <p:nvSpPr>
          <p:cNvPr id="92" name="Text 89"/>
          <p:cNvSpPr/>
          <p:nvPr/>
        </p:nvSpPr>
        <p:spPr>
          <a:xfrm>
            <a:off x="10281832" y="26915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18,4 %</a:t>
            </a:r>
            <a:endParaRPr lang="en-US" sz="636" dirty="0"/>
          </a:p>
        </p:txBody>
      </p:sp>
      <p:sp>
        <p:nvSpPr>
          <p:cNvPr id="93" name="Text 90"/>
          <p:cNvSpPr/>
          <p:nvPr/>
        </p:nvSpPr>
        <p:spPr>
          <a:xfrm>
            <a:off x="7345377"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44.430</a:t>
            </a:r>
            <a:endParaRPr lang="en-US" sz="636" dirty="0"/>
          </a:p>
        </p:txBody>
      </p:sp>
      <p:sp>
        <p:nvSpPr>
          <p:cNvPr id="94" name="Text 91"/>
          <p:cNvSpPr/>
          <p:nvPr/>
        </p:nvSpPr>
        <p:spPr>
          <a:xfrm>
            <a:off x="8324195"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79,4 %</a:t>
            </a:r>
            <a:endParaRPr lang="en-US" sz="636" dirty="0"/>
          </a:p>
        </p:txBody>
      </p:sp>
      <p:sp>
        <p:nvSpPr>
          <p:cNvPr id="95" name="Text 92"/>
          <p:cNvSpPr/>
          <p:nvPr/>
        </p:nvSpPr>
        <p:spPr>
          <a:xfrm>
            <a:off x="10281832" y="2834432"/>
            <a:ext cx="1414576"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19,5 %</a:t>
            </a:r>
            <a:endParaRPr lang="en-US" sz="636" dirty="0"/>
          </a:p>
        </p:txBody>
      </p:sp>
      <p:sp>
        <p:nvSpPr>
          <p:cNvPr id="96" name="Text 93"/>
          <p:cNvSpPr/>
          <p:nvPr/>
        </p:nvSpPr>
        <p:spPr>
          <a:xfrm>
            <a:off x="10988599" y="3420219"/>
            <a:ext cx="698284"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38.250</a:t>
            </a:r>
            <a:endParaRPr lang="en-US" sz="552" dirty="0"/>
          </a:p>
        </p:txBody>
      </p:sp>
      <p:sp>
        <p:nvSpPr>
          <p:cNvPr id="97" name="Text 94"/>
          <p:cNvSpPr/>
          <p:nvPr/>
        </p:nvSpPr>
        <p:spPr>
          <a:xfrm>
            <a:off x="10988599" y="36821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14.908</a:t>
            </a:r>
            <a:endParaRPr lang="en-US" sz="552" dirty="0"/>
          </a:p>
        </p:txBody>
      </p:sp>
      <p:sp>
        <p:nvSpPr>
          <p:cNvPr id="98" name="Text 95"/>
          <p:cNvSpPr/>
          <p:nvPr/>
        </p:nvSpPr>
        <p:spPr>
          <a:xfrm>
            <a:off x="10988599" y="4615607"/>
            <a:ext cx="698284"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10.362</a:t>
            </a:r>
            <a:endParaRPr lang="en-US" sz="552" dirty="0"/>
          </a:p>
        </p:txBody>
      </p:sp>
      <p:sp>
        <p:nvSpPr>
          <p:cNvPr id="99" name="Text 96"/>
          <p:cNvSpPr/>
          <p:nvPr/>
        </p:nvSpPr>
        <p:spPr>
          <a:xfrm>
            <a:off x="4374991"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6.881</a:t>
            </a:r>
            <a:endParaRPr lang="en-US" sz="1380" dirty="0"/>
          </a:p>
        </p:txBody>
      </p:sp>
      <p:sp>
        <p:nvSpPr>
          <p:cNvPr id="100" name="Text 97"/>
          <p:cNvSpPr/>
          <p:nvPr/>
        </p:nvSpPr>
        <p:spPr>
          <a:xfrm>
            <a:off x="533387"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01" name="Text 98"/>
          <p:cNvSpPr/>
          <p:nvPr/>
        </p:nvSpPr>
        <p:spPr>
          <a:xfrm>
            <a:off x="2996877" y="1981944"/>
            <a:ext cx="152277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8.485</a:t>
            </a:r>
            <a:endParaRPr lang="en-US" sz="636" dirty="0"/>
          </a:p>
        </p:txBody>
      </p:sp>
      <p:sp>
        <p:nvSpPr>
          <p:cNvPr id="102" name="Text 99"/>
          <p:cNvSpPr/>
          <p:nvPr/>
        </p:nvSpPr>
        <p:spPr>
          <a:xfrm>
            <a:off x="533387"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03" name="Text 100"/>
          <p:cNvSpPr/>
          <p:nvPr/>
        </p:nvSpPr>
        <p:spPr>
          <a:xfrm>
            <a:off x="533387"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04" name="Text 101"/>
          <p:cNvSpPr/>
          <p:nvPr/>
        </p:nvSpPr>
        <p:spPr>
          <a:xfrm>
            <a:off x="533387"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5" name="Text 102"/>
          <p:cNvSpPr/>
          <p:nvPr/>
        </p:nvSpPr>
        <p:spPr>
          <a:xfrm>
            <a:off x="495288"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6" name="Text 103"/>
          <p:cNvSpPr/>
          <p:nvPr/>
        </p:nvSpPr>
        <p:spPr>
          <a:xfrm>
            <a:off x="5226118"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7" name="Text 104"/>
          <p:cNvSpPr/>
          <p:nvPr/>
        </p:nvSpPr>
        <p:spPr>
          <a:xfrm>
            <a:off x="2329400"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4.318</a:t>
            </a:r>
            <a:endParaRPr lang="en-US" sz="576" dirty="0"/>
          </a:p>
        </p:txBody>
      </p:sp>
      <p:sp>
        <p:nvSpPr>
          <p:cNvPr id="108" name="Text 105"/>
          <p:cNvSpPr/>
          <p:nvPr/>
        </p:nvSpPr>
        <p:spPr>
          <a:xfrm>
            <a:off x="2812186"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5.666</a:t>
            </a:r>
            <a:endParaRPr lang="en-US" sz="576" dirty="0"/>
          </a:p>
        </p:txBody>
      </p:sp>
      <p:sp>
        <p:nvSpPr>
          <p:cNvPr id="109" name="Text 106"/>
          <p:cNvSpPr/>
          <p:nvPr/>
        </p:nvSpPr>
        <p:spPr>
          <a:xfrm>
            <a:off x="3294972"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6.863</a:t>
            </a:r>
            <a:endParaRPr lang="en-US" sz="576" dirty="0"/>
          </a:p>
        </p:txBody>
      </p:sp>
      <p:sp>
        <p:nvSpPr>
          <p:cNvPr id="110" name="Text 107"/>
          <p:cNvSpPr/>
          <p:nvPr/>
        </p:nvSpPr>
        <p:spPr>
          <a:xfrm>
            <a:off x="3777759"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5.492</a:t>
            </a:r>
            <a:endParaRPr lang="en-US" sz="576" dirty="0"/>
          </a:p>
        </p:txBody>
      </p:sp>
      <p:sp>
        <p:nvSpPr>
          <p:cNvPr id="111" name="Text 108"/>
          <p:cNvSpPr/>
          <p:nvPr/>
        </p:nvSpPr>
        <p:spPr>
          <a:xfrm>
            <a:off x="4260545"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6.700</a:t>
            </a:r>
            <a:endParaRPr lang="en-US" sz="576" dirty="0"/>
          </a:p>
        </p:txBody>
      </p:sp>
      <p:sp>
        <p:nvSpPr>
          <p:cNvPr id="112" name="Text 109"/>
          <p:cNvSpPr/>
          <p:nvPr/>
        </p:nvSpPr>
        <p:spPr>
          <a:xfrm>
            <a:off x="4743331"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6.719</a:t>
            </a:r>
            <a:endParaRPr lang="en-US" sz="576" dirty="0"/>
          </a:p>
        </p:txBody>
      </p:sp>
      <p:sp>
        <p:nvSpPr>
          <p:cNvPr id="113" name="Text 110"/>
          <p:cNvSpPr/>
          <p:nvPr/>
        </p:nvSpPr>
        <p:spPr>
          <a:xfrm>
            <a:off x="2329400"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1.541</a:t>
            </a:r>
            <a:endParaRPr lang="en-US" sz="576" dirty="0"/>
          </a:p>
        </p:txBody>
      </p:sp>
      <p:sp>
        <p:nvSpPr>
          <p:cNvPr id="114" name="Text 111"/>
          <p:cNvSpPr/>
          <p:nvPr/>
        </p:nvSpPr>
        <p:spPr>
          <a:xfrm>
            <a:off x="2812186"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2.022</a:t>
            </a:r>
            <a:endParaRPr lang="en-US" sz="576" dirty="0"/>
          </a:p>
        </p:txBody>
      </p:sp>
      <p:sp>
        <p:nvSpPr>
          <p:cNvPr id="115" name="Text 112"/>
          <p:cNvSpPr/>
          <p:nvPr/>
        </p:nvSpPr>
        <p:spPr>
          <a:xfrm>
            <a:off x="3294972"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2.448</a:t>
            </a:r>
            <a:endParaRPr lang="en-US" sz="576" dirty="0"/>
          </a:p>
        </p:txBody>
      </p:sp>
      <p:sp>
        <p:nvSpPr>
          <p:cNvPr id="116" name="Text 113"/>
          <p:cNvSpPr/>
          <p:nvPr/>
        </p:nvSpPr>
        <p:spPr>
          <a:xfrm>
            <a:off x="3777759"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1.960</a:t>
            </a:r>
            <a:endParaRPr lang="en-US" sz="576" dirty="0"/>
          </a:p>
        </p:txBody>
      </p:sp>
      <p:sp>
        <p:nvSpPr>
          <p:cNvPr id="117" name="Text 114"/>
          <p:cNvSpPr/>
          <p:nvPr/>
        </p:nvSpPr>
        <p:spPr>
          <a:xfrm>
            <a:off x="4260545"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2.391</a:t>
            </a:r>
            <a:endParaRPr lang="en-US" sz="576" dirty="0"/>
          </a:p>
        </p:txBody>
      </p:sp>
      <p:sp>
        <p:nvSpPr>
          <p:cNvPr id="118" name="Text 115"/>
          <p:cNvSpPr/>
          <p:nvPr/>
        </p:nvSpPr>
        <p:spPr>
          <a:xfrm>
            <a:off x="4743331"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2.398</a:t>
            </a:r>
            <a:endParaRPr lang="en-US" sz="576" dirty="0"/>
          </a:p>
        </p:txBody>
      </p:sp>
      <p:sp>
        <p:nvSpPr>
          <p:cNvPr id="119" name="Text 116"/>
          <p:cNvSpPr/>
          <p:nvPr/>
        </p:nvSpPr>
        <p:spPr>
          <a:xfrm>
            <a:off x="2812186"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1.113</a:t>
            </a:r>
            <a:endParaRPr lang="en-US" sz="576" dirty="0"/>
          </a:p>
        </p:txBody>
      </p:sp>
      <p:sp>
        <p:nvSpPr>
          <p:cNvPr id="120" name="Text 117"/>
          <p:cNvSpPr/>
          <p:nvPr/>
        </p:nvSpPr>
        <p:spPr>
          <a:xfrm>
            <a:off x="3294972"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1.349</a:t>
            </a:r>
            <a:endParaRPr lang="en-US" sz="576" dirty="0"/>
          </a:p>
        </p:txBody>
      </p:sp>
      <p:sp>
        <p:nvSpPr>
          <p:cNvPr id="121" name="Text 118"/>
          <p:cNvSpPr/>
          <p:nvPr/>
        </p:nvSpPr>
        <p:spPr>
          <a:xfrm>
            <a:off x="3777759"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1.079</a:t>
            </a:r>
            <a:endParaRPr lang="en-US" sz="576" dirty="0"/>
          </a:p>
        </p:txBody>
      </p:sp>
      <p:sp>
        <p:nvSpPr>
          <p:cNvPr id="122" name="Text 119"/>
          <p:cNvSpPr/>
          <p:nvPr/>
        </p:nvSpPr>
        <p:spPr>
          <a:xfrm>
            <a:off x="4260545"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1.317</a:t>
            </a:r>
            <a:endParaRPr lang="en-US" sz="576" dirty="0"/>
          </a:p>
        </p:txBody>
      </p:sp>
      <p:sp>
        <p:nvSpPr>
          <p:cNvPr id="123" name="Text 120"/>
          <p:cNvSpPr/>
          <p:nvPr/>
        </p:nvSpPr>
        <p:spPr>
          <a:xfrm>
            <a:off x="4743331"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1.320</a:t>
            </a:r>
            <a:endParaRPr lang="en-US" sz="576" dirty="0"/>
          </a:p>
        </p:txBody>
      </p:sp>
      <p:sp>
        <p:nvSpPr>
          <p:cNvPr id="124" name="Text 121"/>
          <p:cNvSpPr/>
          <p:nvPr/>
        </p:nvSpPr>
        <p:spPr>
          <a:xfrm>
            <a:off x="5226118" y="36821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7.027</a:t>
            </a:r>
            <a:endParaRPr lang="en-US" sz="576" dirty="0"/>
          </a:p>
        </p:txBody>
      </p:sp>
      <p:sp>
        <p:nvSpPr>
          <p:cNvPr id="125" name="Text 122"/>
          <p:cNvSpPr/>
          <p:nvPr/>
        </p:nvSpPr>
        <p:spPr>
          <a:xfrm>
            <a:off x="3294972"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1.135</a:t>
            </a:r>
            <a:endParaRPr lang="en-US" sz="576" dirty="0"/>
          </a:p>
        </p:txBody>
      </p:sp>
      <p:sp>
        <p:nvSpPr>
          <p:cNvPr id="126" name="Text 123"/>
          <p:cNvSpPr/>
          <p:nvPr/>
        </p:nvSpPr>
        <p:spPr>
          <a:xfrm>
            <a:off x="4260545"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1.109</a:t>
            </a:r>
            <a:endParaRPr lang="en-US" sz="576" dirty="0"/>
          </a:p>
        </p:txBody>
      </p:sp>
      <p:sp>
        <p:nvSpPr>
          <p:cNvPr id="127" name="Text 124"/>
          <p:cNvSpPr/>
          <p:nvPr/>
        </p:nvSpPr>
        <p:spPr>
          <a:xfrm>
            <a:off x="4743331"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1.112</a:t>
            </a:r>
            <a:endParaRPr lang="en-US" sz="576" dirty="0"/>
          </a:p>
        </p:txBody>
      </p:sp>
      <p:sp>
        <p:nvSpPr>
          <p:cNvPr id="128" name="Text 125"/>
          <p:cNvSpPr/>
          <p:nvPr/>
        </p:nvSpPr>
        <p:spPr>
          <a:xfrm>
            <a:off x="5226118" y="38155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5.916</a:t>
            </a:r>
            <a:endParaRPr lang="en-US" sz="576" dirty="0"/>
          </a:p>
        </p:txBody>
      </p:sp>
      <p:sp>
        <p:nvSpPr>
          <p:cNvPr id="129" name="Text 126"/>
          <p:cNvSpPr/>
          <p:nvPr/>
        </p:nvSpPr>
        <p:spPr>
          <a:xfrm>
            <a:off x="5226118" y="39488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4.624</a:t>
            </a:r>
            <a:endParaRPr lang="en-US" sz="576" dirty="0"/>
          </a:p>
        </p:txBody>
      </p:sp>
      <p:sp>
        <p:nvSpPr>
          <p:cNvPr id="130" name="Text 127"/>
          <p:cNvSpPr/>
          <p:nvPr/>
        </p:nvSpPr>
        <p:spPr>
          <a:xfrm>
            <a:off x="5226118" y="40822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1.912</a:t>
            </a:r>
            <a:endParaRPr lang="en-US" sz="576" dirty="0"/>
          </a:p>
        </p:txBody>
      </p:sp>
      <p:sp>
        <p:nvSpPr>
          <p:cNvPr id="131" name="Text 128"/>
          <p:cNvSpPr/>
          <p:nvPr/>
        </p:nvSpPr>
        <p:spPr>
          <a:xfrm>
            <a:off x="5226118" y="42155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1.070</a:t>
            </a:r>
            <a:endParaRPr lang="en-US" sz="576" dirty="0"/>
          </a:p>
        </p:txBody>
      </p:sp>
      <p:sp>
        <p:nvSpPr>
          <p:cNvPr id="132" name="Text 129"/>
          <p:cNvSpPr/>
          <p:nvPr/>
        </p:nvSpPr>
        <p:spPr>
          <a:xfrm>
            <a:off x="504812" y="4615607"/>
            <a:ext cx="1824587" cy="128588"/>
          </a:xfrm>
          <a:prstGeom prst="rect">
            <a:avLst/>
          </a:prstGeom>
          <a:noFill/>
          <a:ln/>
        </p:spPr>
        <p:txBody>
          <a:bodyPr wrap="none" lIns="0" tIns="0" rIns="0" bIns="0" rtlCol="0" anchor="t"/>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33" name="Text 130"/>
          <p:cNvSpPr/>
          <p:nvPr/>
        </p:nvSpPr>
        <p:spPr>
          <a:xfrm>
            <a:off x="2329400"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8.485</a:t>
            </a:r>
            <a:endParaRPr lang="en-US" sz="576" dirty="0"/>
          </a:p>
        </p:txBody>
      </p:sp>
      <p:sp>
        <p:nvSpPr>
          <p:cNvPr id="134" name="Text 131"/>
          <p:cNvSpPr/>
          <p:nvPr/>
        </p:nvSpPr>
        <p:spPr>
          <a:xfrm>
            <a:off x="7345377"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35" name="Text 132"/>
          <p:cNvSpPr/>
          <p:nvPr/>
        </p:nvSpPr>
        <p:spPr>
          <a:xfrm>
            <a:off x="6295868"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36" name="Text 133"/>
          <p:cNvSpPr/>
          <p:nvPr/>
        </p:nvSpPr>
        <p:spPr>
          <a:xfrm>
            <a:off x="7345377"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6.287</a:t>
            </a:r>
            <a:endParaRPr lang="en-US" sz="636" dirty="0"/>
          </a:p>
        </p:txBody>
      </p:sp>
      <p:sp>
        <p:nvSpPr>
          <p:cNvPr id="137" name="Text 134"/>
          <p:cNvSpPr/>
          <p:nvPr/>
        </p:nvSpPr>
        <p:spPr>
          <a:xfrm>
            <a:off x="10037164" y="2000994"/>
            <a:ext cx="201806"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1.208</a:t>
            </a:r>
            <a:endParaRPr lang="en-US" sz="636" dirty="0"/>
          </a:p>
        </p:txBody>
      </p:sp>
      <p:sp>
        <p:nvSpPr>
          <p:cNvPr id="138" name="Text 135"/>
          <p:cNvSpPr/>
          <p:nvPr/>
        </p:nvSpPr>
        <p:spPr>
          <a:xfrm>
            <a:off x="7345377"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8.439</a:t>
            </a:r>
            <a:endParaRPr lang="en-US" sz="636" dirty="0"/>
          </a:p>
        </p:txBody>
      </p:sp>
      <p:sp>
        <p:nvSpPr>
          <p:cNvPr id="139" name="Text 136"/>
          <p:cNvSpPr/>
          <p:nvPr/>
        </p:nvSpPr>
        <p:spPr>
          <a:xfrm>
            <a:off x="10045052" y="2143869"/>
            <a:ext cx="193918"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1.435</a:t>
            </a:r>
            <a:endParaRPr lang="en-US" sz="636" dirty="0"/>
          </a:p>
        </p:txBody>
      </p:sp>
      <p:sp>
        <p:nvSpPr>
          <p:cNvPr id="140" name="Text 137"/>
          <p:cNvSpPr/>
          <p:nvPr/>
        </p:nvSpPr>
        <p:spPr>
          <a:xfrm>
            <a:off x="6295868"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41" name="Text 138"/>
          <p:cNvSpPr/>
          <p:nvPr/>
        </p:nvSpPr>
        <p:spPr>
          <a:xfrm>
            <a:off x="7345377"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7.935</a:t>
            </a:r>
            <a:endParaRPr lang="en-US" sz="636" dirty="0"/>
          </a:p>
        </p:txBody>
      </p:sp>
      <p:sp>
        <p:nvSpPr>
          <p:cNvPr id="142" name="Text 139"/>
          <p:cNvSpPr/>
          <p:nvPr/>
        </p:nvSpPr>
        <p:spPr>
          <a:xfrm>
            <a:off x="10053684" y="2286744"/>
            <a:ext cx="185286"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1.119</a:t>
            </a:r>
            <a:endParaRPr lang="en-US" sz="636" dirty="0"/>
          </a:p>
        </p:txBody>
      </p:sp>
      <p:sp>
        <p:nvSpPr>
          <p:cNvPr id="143" name="Text 140"/>
          <p:cNvSpPr/>
          <p:nvPr/>
        </p:nvSpPr>
        <p:spPr>
          <a:xfrm>
            <a:off x="6295868"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44" name="Text 141"/>
          <p:cNvSpPr/>
          <p:nvPr/>
        </p:nvSpPr>
        <p:spPr>
          <a:xfrm>
            <a:off x="7345377"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8.304</a:t>
            </a:r>
            <a:endParaRPr lang="en-US" sz="636" dirty="0"/>
          </a:p>
        </p:txBody>
      </p:sp>
      <p:sp>
        <p:nvSpPr>
          <p:cNvPr id="145" name="Text 142"/>
          <p:cNvSpPr/>
          <p:nvPr/>
        </p:nvSpPr>
        <p:spPr>
          <a:xfrm>
            <a:off x="10033593" y="2429619"/>
            <a:ext cx="205378"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1.086</a:t>
            </a:r>
            <a:endParaRPr lang="en-US" sz="636" dirty="0"/>
          </a:p>
        </p:txBody>
      </p:sp>
      <p:sp>
        <p:nvSpPr>
          <p:cNvPr id="146" name="Text 143"/>
          <p:cNvSpPr/>
          <p:nvPr/>
        </p:nvSpPr>
        <p:spPr>
          <a:xfrm>
            <a:off x="7345377"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6.901</a:t>
            </a:r>
            <a:endParaRPr lang="en-US" sz="636" dirty="0"/>
          </a:p>
        </p:txBody>
      </p:sp>
      <p:sp>
        <p:nvSpPr>
          <p:cNvPr id="147" name="Text 144"/>
          <p:cNvSpPr/>
          <p:nvPr/>
        </p:nvSpPr>
        <p:spPr>
          <a:xfrm>
            <a:off x="10033593" y="2572494"/>
            <a:ext cx="205378"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1.068</a:t>
            </a:r>
            <a:endParaRPr lang="en-US" sz="636" dirty="0"/>
          </a:p>
        </p:txBody>
      </p:sp>
      <p:sp>
        <p:nvSpPr>
          <p:cNvPr id="148" name="Text 145"/>
          <p:cNvSpPr/>
          <p:nvPr/>
        </p:nvSpPr>
        <p:spPr>
          <a:xfrm>
            <a:off x="6295868"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49" name="Text 146"/>
          <p:cNvSpPr/>
          <p:nvPr/>
        </p:nvSpPr>
        <p:spPr>
          <a:xfrm>
            <a:off x="7345377"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6.564</a:t>
            </a:r>
            <a:endParaRPr lang="en-US" sz="636" dirty="0"/>
          </a:p>
        </p:txBody>
      </p:sp>
      <p:sp>
        <p:nvSpPr>
          <p:cNvPr id="150" name="Text 147"/>
          <p:cNvSpPr/>
          <p:nvPr/>
        </p:nvSpPr>
        <p:spPr>
          <a:xfrm>
            <a:off x="6257769"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51" name="Text 148"/>
          <p:cNvSpPr/>
          <p:nvPr/>
        </p:nvSpPr>
        <p:spPr>
          <a:xfrm>
            <a:off x="10026598" y="2858244"/>
            <a:ext cx="212372" cy="95250"/>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6.881</a:t>
            </a:r>
            <a:endParaRPr lang="en-US" sz="636" dirty="0"/>
          </a:p>
        </p:txBody>
      </p:sp>
      <p:sp>
        <p:nvSpPr>
          <p:cNvPr id="152" name="Text 149"/>
          <p:cNvSpPr/>
          <p:nvPr/>
        </p:nvSpPr>
        <p:spPr>
          <a:xfrm>
            <a:off x="10988599"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53" name="Text 150"/>
          <p:cNvSpPr/>
          <p:nvPr/>
        </p:nvSpPr>
        <p:spPr>
          <a:xfrm>
            <a:off x="8091881"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5.413</a:t>
            </a:r>
            <a:endParaRPr lang="en-US" sz="552" dirty="0"/>
          </a:p>
        </p:txBody>
      </p:sp>
      <p:sp>
        <p:nvSpPr>
          <p:cNvPr id="154" name="Text 151"/>
          <p:cNvSpPr/>
          <p:nvPr/>
        </p:nvSpPr>
        <p:spPr>
          <a:xfrm>
            <a:off x="8574667"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7.265</a:t>
            </a:r>
            <a:endParaRPr lang="en-US" sz="552" dirty="0"/>
          </a:p>
        </p:txBody>
      </p:sp>
      <p:sp>
        <p:nvSpPr>
          <p:cNvPr id="155" name="Text 152"/>
          <p:cNvSpPr/>
          <p:nvPr/>
        </p:nvSpPr>
        <p:spPr>
          <a:xfrm>
            <a:off x="9057453"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6.831</a:t>
            </a:r>
            <a:endParaRPr lang="en-US" sz="552" dirty="0"/>
          </a:p>
        </p:txBody>
      </p:sp>
      <p:sp>
        <p:nvSpPr>
          <p:cNvPr id="156" name="Text 153"/>
          <p:cNvSpPr/>
          <p:nvPr/>
        </p:nvSpPr>
        <p:spPr>
          <a:xfrm>
            <a:off x="9540240"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7.149</a:t>
            </a:r>
            <a:endParaRPr lang="en-US" sz="552" dirty="0"/>
          </a:p>
        </p:txBody>
      </p:sp>
      <p:sp>
        <p:nvSpPr>
          <p:cNvPr id="157" name="Text 154"/>
          <p:cNvSpPr/>
          <p:nvPr/>
        </p:nvSpPr>
        <p:spPr>
          <a:xfrm>
            <a:off x="10023026"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5.941</a:t>
            </a:r>
            <a:endParaRPr lang="en-US" sz="552" dirty="0"/>
          </a:p>
        </p:txBody>
      </p:sp>
      <p:sp>
        <p:nvSpPr>
          <p:cNvPr id="158" name="Text 155"/>
          <p:cNvSpPr/>
          <p:nvPr/>
        </p:nvSpPr>
        <p:spPr>
          <a:xfrm>
            <a:off x="10505812"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5.651</a:t>
            </a:r>
            <a:endParaRPr lang="en-US" sz="552" dirty="0"/>
          </a:p>
        </p:txBody>
      </p:sp>
      <p:sp>
        <p:nvSpPr>
          <p:cNvPr id="159" name="Text 156"/>
          <p:cNvSpPr/>
          <p:nvPr/>
        </p:nvSpPr>
        <p:spPr>
          <a:xfrm>
            <a:off x="8091881"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1.086</a:t>
            </a:r>
            <a:endParaRPr lang="en-US" sz="552" dirty="0"/>
          </a:p>
        </p:txBody>
      </p:sp>
      <p:sp>
        <p:nvSpPr>
          <p:cNvPr id="160" name="Text 157"/>
          <p:cNvSpPr/>
          <p:nvPr/>
        </p:nvSpPr>
        <p:spPr>
          <a:xfrm>
            <a:off x="8574667"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1.457</a:t>
            </a:r>
            <a:endParaRPr lang="en-US" sz="552" dirty="0"/>
          </a:p>
        </p:txBody>
      </p:sp>
      <p:sp>
        <p:nvSpPr>
          <p:cNvPr id="161" name="Text 158"/>
          <p:cNvSpPr/>
          <p:nvPr/>
        </p:nvSpPr>
        <p:spPr>
          <a:xfrm>
            <a:off x="9057453"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1.370</a:t>
            </a:r>
            <a:endParaRPr lang="en-US" sz="552" dirty="0"/>
          </a:p>
        </p:txBody>
      </p:sp>
      <p:sp>
        <p:nvSpPr>
          <p:cNvPr id="162" name="Text 159"/>
          <p:cNvSpPr/>
          <p:nvPr/>
        </p:nvSpPr>
        <p:spPr>
          <a:xfrm>
            <a:off x="9540240"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1.434</a:t>
            </a:r>
            <a:endParaRPr lang="en-US" sz="552" dirty="0"/>
          </a:p>
        </p:txBody>
      </p:sp>
      <p:sp>
        <p:nvSpPr>
          <p:cNvPr id="163" name="Text 160"/>
          <p:cNvSpPr/>
          <p:nvPr/>
        </p:nvSpPr>
        <p:spPr>
          <a:xfrm>
            <a:off x="10023026"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1.192</a:t>
            </a:r>
            <a:endParaRPr lang="en-US" sz="552" dirty="0"/>
          </a:p>
        </p:txBody>
      </p:sp>
      <p:sp>
        <p:nvSpPr>
          <p:cNvPr id="164" name="Text 161"/>
          <p:cNvSpPr/>
          <p:nvPr/>
        </p:nvSpPr>
        <p:spPr>
          <a:xfrm>
            <a:off x="10505812"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1.133</a:t>
            </a:r>
            <a:endParaRPr lang="en-US" sz="552" dirty="0"/>
          </a:p>
        </p:txBody>
      </p:sp>
      <p:sp>
        <p:nvSpPr>
          <p:cNvPr id="165" name="Text 162"/>
          <p:cNvSpPr/>
          <p:nvPr/>
        </p:nvSpPr>
        <p:spPr>
          <a:xfrm>
            <a:off x="10988599" y="35488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7.672</a:t>
            </a:r>
            <a:endParaRPr lang="en-US" sz="552" dirty="0"/>
          </a:p>
        </p:txBody>
      </p:sp>
      <p:sp>
        <p:nvSpPr>
          <p:cNvPr id="166" name="Text 163"/>
          <p:cNvSpPr/>
          <p:nvPr/>
        </p:nvSpPr>
        <p:spPr>
          <a:xfrm>
            <a:off x="8091881"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2.110</a:t>
            </a:r>
            <a:endParaRPr lang="en-US" sz="552" dirty="0"/>
          </a:p>
        </p:txBody>
      </p:sp>
      <p:sp>
        <p:nvSpPr>
          <p:cNvPr id="167" name="Text 164"/>
          <p:cNvSpPr/>
          <p:nvPr/>
        </p:nvSpPr>
        <p:spPr>
          <a:xfrm>
            <a:off x="8574667"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2.831</a:t>
            </a:r>
            <a:endParaRPr lang="en-US" sz="552" dirty="0"/>
          </a:p>
        </p:txBody>
      </p:sp>
      <p:sp>
        <p:nvSpPr>
          <p:cNvPr id="168" name="Text 165"/>
          <p:cNvSpPr/>
          <p:nvPr/>
        </p:nvSpPr>
        <p:spPr>
          <a:xfrm>
            <a:off x="9057453"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2.663</a:t>
            </a:r>
            <a:endParaRPr lang="en-US" sz="552" dirty="0"/>
          </a:p>
        </p:txBody>
      </p:sp>
      <p:sp>
        <p:nvSpPr>
          <p:cNvPr id="169" name="Text 166"/>
          <p:cNvSpPr/>
          <p:nvPr/>
        </p:nvSpPr>
        <p:spPr>
          <a:xfrm>
            <a:off x="9540240"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2.786</a:t>
            </a:r>
            <a:endParaRPr lang="en-US" sz="552" dirty="0"/>
          </a:p>
        </p:txBody>
      </p:sp>
      <p:sp>
        <p:nvSpPr>
          <p:cNvPr id="170" name="Text 167"/>
          <p:cNvSpPr/>
          <p:nvPr/>
        </p:nvSpPr>
        <p:spPr>
          <a:xfrm>
            <a:off x="10023026"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2.316</a:t>
            </a:r>
            <a:endParaRPr lang="en-US" sz="552" dirty="0"/>
          </a:p>
        </p:txBody>
      </p:sp>
      <p:sp>
        <p:nvSpPr>
          <p:cNvPr id="171" name="Text 168"/>
          <p:cNvSpPr/>
          <p:nvPr/>
        </p:nvSpPr>
        <p:spPr>
          <a:xfrm>
            <a:off x="10505812"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2.202</a:t>
            </a:r>
            <a:endParaRPr lang="en-US" sz="552" dirty="0"/>
          </a:p>
        </p:txBody>
      </p:sp>
      <p:sp>
        <p:nvSpPr>
          <p:cNvPr id="172" name="Text 169"/>
          <p:cNvSpPr/>
          <p:nvPr/>
        </p:nvSpPr>
        <p:spPr>
          <a:xfrm>
            <a:off x="10988599" y="38155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4.822</a:t>
            </a:r>
            <a:endParaRPr lang="en-US" sz="552" dirty="0"/>
          </a:p>
        </p:txBody>
      </p:sp>
      <p:sp>
        <p:nvSpPr>
          <p:cNvPr id="173" name="Text 170"/>
          <p:cNvSpPr/>
          <p:nvPr/>
        </p:nvSpPr>
        <p:spPr>
          <a:xfrm>
            <a:off x="10988599" y="39488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2.971</a:t>
            </a:r>
            <a:endParaRPr lang="en-US" sz="552" dirty="0"/>
          </a:p>
        </p:txBody>
      </p:sp>
      <p:sp>
        <p:nvSpPr>
          <p:cNvPr id="174" name="Text 171"/>
          <p:cNvSpPr/>
          <p:nvPr/>
        </p:nvSpPr>
        <p:spPr>
          <a:xfrm>
            <a:off x="10988599" y="40822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2.501</a:t>
            </a:r>
            <a:endParaRPr lang="en-US" sz="552" dirty="0"/>
          </a:p>
        </p:txBody>
      </p:sp>
      <p:sp>
        <p:nvSpPr>
          <p:cNvPr id="175" name="Text 172"/>
          <p:cNvSpPr/>
          <p:nvPr/>
        </p:nvSpPr>
        <p:spPr>
          <a:xfrm>
            <a:off x="10988599" y="42155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1.847</a:t>
            </a:r>
            <a:endParaRPr lang="en-US" sz="552" dirty="0"/>
          </a:p>
        </p:txBody>
      </p:sp>
      <p:sp>
        <p:nvSpPr>
          <p:cNvPr id="176" name="Text 173"/>
          <p:cNvSpPr/>
          <p:nvPr/>
        </p:nvSpPr>
        <p:spPr>
          <a:xfrm>
            <a:off x="10988599" y="43489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1.126</a:t>
            </a:r>
            <a:endParaRPr lang="en-US" sz="552" dirty="0"/>
          </a:p>
        </p:txBody>
      </p:sp>
      <p:sp>
        <p:nvSpPr>
          <p:cNvPr id="177" name="Text 174"/>
          <p:cNvSpPr/>
          <p:nvPr/>
        </p:nvSpPr>
        <p:spPr>
          <a:xfrm>
            <a:off x="10988599" y="44822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2.403</a:t>
            </a:r>
            <a:endParaRPr lang="en-US" sz="552" dirty="0"/>
          </a:p>
        </p:txBody>
      </p:sp>
      <p:sp>
        <p:nvSpPr>
          <p:cNvPr id="178" name="Text 175"/>
          <p:cNvSpPr/>
          <p:nvPr/>
        </p:nvSpPr>
        <p:spPr>
          <a:xfrm>
            <a:off x="8091881"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1.466</a:t>
            </a:r>
            <a:endParaRPr lang="en-US" sz="552" dirty="0"/>
          </a:p>
        </p:txBody>
      </p:sp>
      <p:sp>
        <p:nvSpPr>
          <p:cNvPr id="179" name="Text 176"/>
          <p:cNvSpPr/>
          <p:nvPr/>
        </p:nvSpPr>
        <p:spPr>
          <a:xfrm>
            <a:off x="8574667"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1.968</a:t>
            </a:r>
            <a:endParaRPr lang="en-US" sz="552" dirty="0"/>
          </a:p>
        </p:txBody>
      </p:sp>
      <p:sp>
        <p:nvSpPr>
          <p:cNvPr id="180" name="Text 177"/>
          <p:cNvSpPr/>
          <p:nvPr/>
        </p:nvSpPr>
        <p:spPr>
          <a:xfrm>
            <a:off x="9057453"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1.851</a:t>
            </a:r>
            <a:endParaRPr lang="en-US" sz="552" dirty="0"/>
          </a:p>
        </p:txBody>
      </p:sp>
      <p:sp>
        <p:nvSpPr>
          <p:cNvPr id="181" name="Text 178"/>
          <p:cNvSpPr/>
          <p:nvPr/>
        </p:nvSpPr>
        <p:spPr>
          <a:xfrm>
            <a:off x="9540240"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1.937</a:t>
            </a:r>
            <a:endParaRPr lang="en-US" sz="552" dirty="0"/>
          </a:p>
        </p:txBody>
      </p:sp>
      <p:sp>
        <p:nvSpPr>
          <p:cNvPr id="182" name="Text 179"/>
          <p:cNvSpPr/>
          <p:nvPr/>
        </p:nvSpPr>
        <p:spPr>
          <a:xfrm>
            <a:off x="10023026"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1.609</a:t>
            </a:r>
            <a:endParaRPr lang="en-US" sz="552" dirty="0"/>
          </a:p>
        </p:txBody>
      </p:sp>
      <p:sp>
        <p:nvSpPr>
          <p:cNvPr id="183" name="Text 180"/>
          <p:cNvSpPr/>
          <p:nvPr/>
        </p:nvSpPr>
        <p:spPr>
          <a:xfrm>
            <a:off x="10505812"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1.531</a:t>
            </a:r>
            <a:endParaRPr lang="en-US" sz="552" dirty="0"/>
          </a:p>
        </p:txBody>
      </p:sp>
      <p:sp>
        <p:nvSpPr>
          <p:cNvPr id="184" name="Text 181"/>
          <p:cNvSpPr/>
          <p:nvPr/>
        </p:nvSpPr>
        <p:spPr>
          <a:xfrm>
            <a:off x="8574667"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1.299</a:t>
            </a:r>
            <a:endParaRPr lang="en-US" sz="552" dirty="0"/>
          </a:p>
        </p:txBody>
      </p:sp>
      <p:sp>
        <p:nvSpPr>
          <p:cNvPr id="185" name="Text 182"/>
          <p:cNvSpPr/>
          <p:nvPr/>
        </p:nvSpPr>
        <p:spPr>
          <a:xfrm>
            <a:off x="9057453"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1.221</a:t>
            </a:r>
            <a:endParaRPr lang="en-US" sz="552" dirty="0"/>
          </a:p>
        </p:txBody>
      </p:sp>
      <p:sp>
        <p:nvSpPr>
          <p:cNvPr id="186" name="Text 183"/>
          <p:cNvSpPr/>
          <p:nvPr/>
        </p:nvSpPr>
        <p:spPr>
          <a:xfrm>
            <a:off x="9540240"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1.278</a:t>
            </a:r>
            <a:endParaRPr lang="en-US" sz="552" dirty="0"/>
          </a:p>
        </p:txBody>
      </p:sp>
      <p:sp>
        <p:nvSpPr>
          <p:cNvPr id="187" name="Text 184"/>
          <p:cNvSpPr/>
          <p:nvPr/>
        </p:nvSpPr>
        <p:spPr>
          <a:xfrm>
            <a:off x="10023026"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1.062</a:t>
            </a:r>
            <a:endParaRPr lang="en-US" sz="552" dirty="0"/>
          </a:p>
        </p:txBody>
      </p:sp>
      <p:sp>
        <p:nvSpPr>
          <p:cNvPr id="188" name="Text 185"/>
          <p:cNvSpPr/>
          <p:nvPr/>
        </p:nvSpPr>
        <p:spPr>
          <a:xfrm>
            <a:off x="10505812"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1.010</a:t>
            </a:r>
            <a:endParaRPr lang="en-US" sz="552" dirty="0"/>
          </a:p>
        </p:txBody>
      </p:sp>
      <p:sp>
        <p:nvSpPr>
          <p:cNvPr id="189" name="Text 186"/>
          <p:cNvSpPr/>
          <p:nvPr/>
        </p:nvSpPr>
        <p:spPr>
          <a:xfrm>
            <a:off x="10988599" y="47489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6.837</a:t>
            </a:r>
            <a:endParaRPr lang="en-US" sz="552" dirty="0"/>
          </a:p>
        </p:txBody>
      </p:sp>
      <p:sp>
        <p:nvSpPr>
          <p:cNvPr id="190" name="Text 187"/>
          <p:cNvSpPr/>
          <p:nvPr/>
        </p:nvSpPr>
        <p:spPr>
          <a:xfrm>
            <a:off x="10988599" y="48823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2.442</a:t>
            </a:r>
            <a:endParaRPr lang="en-US" sz="552" dirty="0"/>
          </a:p>
        </p:txBody>
      </p:sp>
      <p:sp>
        <p:nvSpPr>
          <p:cNvPr id="191" name="Text 188"/>
          <p:cNvSpPr/>
          <p:nvPr/>
        </p:nvSpPr>
        <p:spPr>
          <a:xfrm>
            <a:off x="10988599" y="50156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1.033</a:t>
            </a:r>
            <a:endParaRPr lang="en-US" sz="552" dirty="0"/>
          </a:p>
        </p:txBody>
      </p:sp>
      <p:sp>
        <p:nvSpPr>
          <p:cNvPr id="192" name="Text 189"/>
          <p:cNvSpPr/>
          <p:nvPr/>
        </p:nvSpPr>
        <p:spPr>
          <a:xfrm>
            <a:off x="533387"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79 %</a:t>
            </a:r>
            <a:endParaRPr lang="en-US" sz="1380" dirty="0"/>
          </a:p>
        </p:txBody>
      </p:sp>
      <p:sp>
        <p:nvSpPr>
          <p:cNvPr id="193" name="Text 190"/>
          <p:cNvSpPr/>
          <p:nvPr/>
        </p:nvSpPr>
        <p:spPr>
          <a:xfrm>
            <a:off x="533387"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94" name="Text 191"/>
          <p:cNvSpPr/>
          <p:nvPr/>
        </p:nvSpPr>
        <p:spPr>
          <a:xfrm>
            <a:off x="6295868"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95" name="Text 192"/>
          <p:cNvSpPr/>
          <p:nvPr/>
        </p:nvSpPr>
        <p:spPr>
          <a:xfrm>
            <a:off x="495288"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6" name="Text 193"/>
          <p:cNvSpPr/>
          <p:nvPr/>
        </p:nvSpPr>
        <p:spPr>
          <a:xfrm>
            <a:off x="232940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97" name="Text 194"/>
          <p:cNvSpPr/>
          <p:nvPr/>
        </p:nvSpPr>
        <p:spPr>
          <a:xfrm>
            <a:off x="281218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98" name="Text 195"/>
          <p:cNvSpPr/>
          <p:nvPr/>
        </p:nvSpPr>
        <p:spPr>
          <a:xfrm>
            <a:off x="329497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99" name="Text 196"/>
          <p:cNvSpPr/>
          <p:nvPr/>
        </p:nvSpPr>
        <p:spPr>
          <a:xfrm>
            <a:off x="3777759"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00" name="Text 197"/>
          <p:cNvSpPr/>
          <p:nvPr/>
        </p:nvSpPr>
        <p:spPr>
          <a:xfrm>
            <a:off x="4260545"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01" name="Text 198"/>
          <p:cNvSpPr/>
          <p:nvPr/>
        </p:nvSpPr>
        <p:spPr>
          <a:xfrm>
            <a:off x="474333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02" name="Text 199"/>
          <p:cNvSpPr/>
          <p:nvPr/>
        </p:nvSpPr>
        <p:spPr>
          <a:xfrm>
            <a:off x="2329400"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849</a:t>
            </a:r>
            <a:endParaRPr lang="en-US" sz="576" dirty="0"/>
          </a:p>
        </p:txBody>
      </p:sp>
      <p:sp>
        <p:nvSpPr>
          <p:cNvPr id="203" name="Text 200"/>
          <p:cNvSpPr/>
          <p:nvPr/>
        </p:nvSpPr>
        <p:spPr>
          <a:xfrm>
            <a:off x="2329400"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714</a:t>
            </a:r>
            <a:endParaRPr lang="en-US" sz="576" dirty="0"/>
          </a:p>
        </p:txBody>
      </p:sp>
      <p:sp>
        <p:nvSpPr>
          <p:cNvPr id="204" name="Text 201"/>
          <p:cNvSpPr/>
          <p:nvPr/>
        </p:nvSpPr>
        <p:spPr>
          <a:xfrm>
            <a:off x="2812186"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937</a:t>
            </a:r>
            <a:endParaRPr lang="en-US" sz="576" dirty="0"/>
          </a:p>
        </p:txBody>
      </p:sp>
      <p:sp>
        <p:nvSpPr>
          <p:cNvPr id="205" name="Text 202"/>
          <p:cNvSpPr/>
          <p:nvPr/>
        </p:nvSpPr>
        <p:spPr>
          <a:xfrm>
            <a:off x="3777759"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909</a:t>
            </a:r>
            <a:endParaRPr lang="en-US" sz="576" dirty="0"/>
          </a:p>
        </p:txBody>
      </p:sp>
      <p:sp>
        <p:nvSpPr>
          <p:cNvPr id="206" name="Text 203"/>
          <p:cNvSpPr/>
          <p:nvPr/>
        </p:nvSpPr>
        <p:spPr>
          <a:xfrm>
            <a:off x="2329400"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558</a:t>
            </a:r>
            <a:endParaRPr lang="en-US" sz="576" dirty="0"/>
          </a:p>
        </p:txBody>
      </p:sp>
      <p:sp>
        <p:nvSpPr>
          <p:cNvPr id="207" name="Text 204"/>
          <p:cNvSpPr/>
          <p:nvPr/>
        </p:nvSpPr>
        <p:spPr>
          <a:xfrm>
            <a:off x="2812186"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733</a:t>
            </a:r>
            <a:endParaRPr lang="en-US" sz="576" dirty="0"/>
          </a:p>
        </p:txBody>
      </p:sp>
      <p:sp>
        <p:nvSpPr>
          <p:cNvPr id="208" name="Text 205"/>
          <p:cNvSpPr/>
          <p:nvPr/>
        </p:nvSpPr>
        <p:spPr>
          <a:xfrm>
            <a:off x="3294972"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888</a:t>
            </a:r>
            <a:endParaRPr lang="en-US" sz="576" dirty="0"/>
          </a:p>
        </p:txBody>
      </p:sp>
      <p:sp>
        <p:nvSpPr>
          <p:cNvPr id="209" name="Text 206"/>
          <p:cNvSpPr/>
          <p:nvPr/>
        </p:nvSpPr>
        <p:spPr>
          <a:xfrm>
            <a:off x="3777759"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710</a:t>
            </a:r>
            <a:endParaRPr lang="en-US" sz="576" dirty="0"/>
          </a:p>
        </p:txBody>
      </p:sp>
      <p:sp>
        <p:nvSpPr>
          <p:cNvPr id="210" name="Text 207"/>
          <p:cNvSpPr/>
          <p:nvPr/>
        </p:nvSpPr>
        <p:spPr>
          <a:xfrm>
            <a:off x="4260545"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866</a:t>
            </a:r>
            <a:endParaRPr lang="en-US" sz="576" dirty="0"/>
          </a:p>
        </p:txBody>
      </p:sp>
      <p:sp>
        <p:nvSpPr>
          <p:cNvPr id="211" name="Text 208"/>
          <p:cNvSpPr/>
          <p:nvPr/>
        </p:nvSpPr>
        <p:spPr>
          <a:xfrm>
            <a:off x="4743331"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869</a:t>
            </a:r>
            <a:endParaRPr lang="en-US" sz="576" dirty="0"/>
          </a:p>
        </p:txBody>
      </p:sp>
      <p:sp>
        <p:nvSpPr>
          <p:cNvPr id="212" name="Text 209"/>
          <p:cNvSpPr/>
          <p:nvPr/>
        </p:nvSpPr>
        <p:spPr>
          <a:xfrm>
            <a:off x="2329400"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231</a:t>
            </a:r>
            <a:endParaRPr lang="en-US" sz="576" dirty="0"/>
          </a:p>
        </p:txBody>
      </p:sp>
      <p:sp>
        <p:nvSpPr>
          <p:cNvPr id="213" name="Text 210"/>
          <p:cNvSpPr/>
          <p:nvPr/>
        </p:nvSpPr>
        <p:spPr>
          <a:xfrm>
            <a:off x="2812186"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303</a:t>
            </a:r>
            <a:endParaRPr lang="en-US" sz="576" dirty="0"/>
          </a:p>
        </p:txBody>
      </p:sp>
      <p:sp>
        <p:nvSpPr>
          <p:cNvPr id="214" name="Text 211"/>
          <p:cNvSpPr/>
          <p:nvPr/>
        </p:nvSpPr>
        <p:spPr>
          <a:xfrm>
            <a:off x="3294972"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367</a:t>
            </a:r>
            <a:endParaRPr lang="en-US" sz="576" dirty="0"/>
          </a:p>
        </p:txBody>
      </p:sp>
      <p:sp>
        <p:nvSpPr>
          <p:cNvPr id="215" name="Text 212"/>
          <p:cNvSpPr/>
          <p:nvPr/>
        </p:nvSpPr>
        <p:spPr>
          <a:xfrm>
            <a:off x="3777759"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294</a:t>
            </a:r>
            <a:endParaRPr lang="en-US" sz="576" dirty="0"/>
          </a:p>
        </p:txBody>
      </p:sp>
      <p:sp>
        <p:nvSpPr>
          <p:cNvPr id="216" name="Text 213"/>
          <p:cNvSpPr/>
          <p:nvPr/>
        </p:nvSpPr>
        <p:spPr>
          <a:xfrm>
            <a:off x="4260545"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358</a:t>
            </a:r>
            <a:endParaRPr lang="en-US" sz="576" dirty="0"/>
          </a:p>
        </p:txBody>
      </p:sp>
      <p:sp>
        <p:nvSpPr>
          <p:cNvPr id="217" name="Text 214"/>
          <p:cNvSpPr/>
          <p:nvPr/>
        </p:nvSpPr>
        <p:spPr>
          <a:xfrm>
            <a:off x="4743331"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359</a:t>
            </a:r>
            <a:endParaRPr lang="en-US" sz="576" dirty="0"/>
          </a:p>
        </p:txBody>
      </p:sp>
      <p:sp>
        <p:nvSpPr>
          <p:cNvPr id="218" name="Text 215"/>
          <p:cNvSpPr/>
          <p:nvPr/>
        </p:nvSpPr>
        <p:spPr>
          <a:xfrm>
            <a:off x="2329400"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129</a:t>
            </a:r>
            <a:endParaRPr lang="en-US" sz="576" dirty="0"/>
          </a:p>
        </p:txBody>
      </p:sp>
      <p:sp>
        <p:nvSpPr>
          <p:cNvPr id="219" name="Text 216"/>
          <p:cNvSpPr/>
          <p:nvPr/>
        </p:nvSpPr>
        <p:spPr>
          <a:xfrm>
            <a:off x="2812186"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170</a:t>
            </a:r>
            <a:endParaRPr lang="en-US" sz="576" dirty="0"/>
          </a:p>
        </p:txBody>
      </p:sp>
      <p:sp>
        <p:nvSpPr>
          <p:cNvPr id="220" name="Text 217"/>
          <p:cNvSpPr/>
          <p:nvPr/>
        </p:nvSpPr>
        <p:spPr>
          <a:xfrm>
            <a:off x="3294972"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206</a:t>
            </a:r>
            <a:endParaRPr lang="en-US" sz="576" dirty="0"/>
          </a:p>
        </p:txBody>
      </p:sp>
      <p:sp>
        <p:nvSpPr>
          <p:cNvPr id="221" name="Text 218"/>
          <p:cNvSpPr/>
          <p:nvPr/>
        </p:nvSpPr>
        <p:spPr>
          <a:xfrm>
            <a:off x="3777759"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164</a:t>
            </a:r>
            <a:endParaRPr lang="en-US" sz="576" dirty="0"/>
          </a:p>
        </p:txBody>
      </p:sp>
      <p:sp>
        <p:nvSpPr>
          <p:cNvPr id="222" name="Text 219"/>
          <p:cNvSpPr/>
          <p:nvPr/>
        </p:nvSpPr>
        <p:spPr>
          <a:xfrm>
            <a:off x="4260545"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200</a:t>
            </a:r>
            <a:endParaRPr lang="en-US" sz="576" dirty="0"/>
          </a:p>
        </p:txBody>
      </p:sp>
      <p:sp>
        <p:nvSpPr>
          <p:cNvPr id="223" name="Text 220"/>
          <p:cNvSpPr/>
          <p:nvPr/>
        </p:nvSpPr>
        <p:spPr>
          <a:xfrm>
            <a:off x="4743331"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224" name="Text 221"/>
          <p:cNvSpPr/>
          <p:nvPr/>
        </p:nvSpPr>
        <p:spPr>
          <a:xfrm>
            <a:off x="5226118" y="43489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420</a:t>
            </a:r>
            <a:endParaRPr lang="en-US" sz="576" dirty="0"/>
          </a:p>
        </p:txBody>
      </p:sp>
      <p:sp>
        <p:nvSpPr>
          <p:cNvPr id="225" name="Text 222"/>
          <p:cNvSpPr/>
          <p:nvPr/>
        </p:nvSpPr>
        <p:spPr>
          <a:xfrm>
            <a:off x="2812186"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123</a:t>
            </a:r>
            <a:endParaRPr lang="en-US" sz="576" dirty="0"/>
          </a:p>
        </p:txBody>
      </p:sp>
      <p:sp>
        <p:nvSpPr>
          <p:cNvPr id="226" name="Text 223"/>
          <p:cNvSpPr/>
          <p:nvPr/>
        </p:nvSpPr>
        <p:spPr>
          <a:xfrm>
            <a:off x="3294972"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150</a:t>
            </a:r>
            <a:endParaRPr lang="en-US" sz="576" dirty="0"/>
          </a:p>
        </p:txBody>
      </p:sp>
      <p:sp>
        <p:nvSpPr>
          <p:cNvPr id="227" name="Text 224"/>
          <p:cNvSpPr/>
          <p:nvPr/>
        </p:nvSpPr>
        <p:spPr>
          <a:xfrm>
            <a:off x="3777759"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228" name="Text 225"/>
          <p:cNvSpPr/>
          <p:nvPr/>
        </p:nvSpPr>
        <p:spPr>
          <a:xfrm>
            <a:off x="4260545"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29" name="Text 226"/>
          <p:cNvSpPr/>
          <p:nvPr/>
        </p:nvSpPr>
        <p:spPr>
          <a:xfrm>
            <a:off x="4743331"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30" name="Text 227"/>
          <p:cNvSpPr/>
          <p:nvPr/>
        </p:nvSpPr>
        <p:spPr>
          <a:xfrm>
            <a:off x="5226118" y="44822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779</a:t>
            </a:r>
            <a:endParaRPr lang="en-US" sz="576" dirty="0"/>
          </a:p>
        </p:txBody>
      </p:sp>
      <p:sp>
        <p:nvSpPr>
          <p:cNvPr id="231" name="Text 228"/>
          <p:cNvSpPr/>
          <p:nvPr/>
        </p:nvSpPr>
        <p:spPr>
          <a:xfrm>
            <a:off x="6257769"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32" name="Text 229"/>
          <p:cNvSpPr/>
          <p:nvPr/>
        </p:nvSpPr>
        <p:spPr>
          <a:xfrm>
            <a:off x="10097736" y="271536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965</a:t>
            </a:r>
            <a:endParaRPr lang="en-US" sz="636" dirty="0"/>
          </a:p>
        </p:txBody>
      </p:sp>
      <p:sp>
        <p:nvSpPr>
          <p:cNvPr id="233" name="Text 230"/>
          <p:cNvSpPr/>
          <p:nvPr/>
        </p:nvSpPr>
        <p:spPr>
          <a:xfrm>
            <a:off x="809188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34" name="Text 231"/>
          <p:cNvSpPr/>
          <p:nvPr/>
        </p:nvSpPr>
        <p:spPr>
          <a:xfrm>
            <a:off x="8574667"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5" name="Text 232"/>
          <p:cNvSpPr/>
          <p:nvPr/>
        </p:nvSpPr>
        <p:spPr>
          <a:xfrm>
            <a:off x="9057453"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6" name="Text 233"/>
          <p:cNvSpPr/>
          <p:nvPr/>
        </p:nvSpPr>
        <p:spPr>
          <a:xfrm>
            <a:off x="954024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7" name="Text 234"/>
          <p:cNvSpPr/>
          <p:nvPr/>
        </p:nvSpPr>
        <p:spPr>
          <a:xfrm>
            <a:off x="1002302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8" name="Text 235"/>
          <p:cNvSpPr/>
          <p:nvPr/>
        </p:nvSpPr>
        <p:spPr>
          <a:xfrm>
            <a:off x="1050581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9" name="Text 236"/>
          <p:cNvSpPr/>
          <p:nvPr/>
        </p:nvSpPr>
        <p:spPr>
          <a:xfrm>
            <a:off x="8091881"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40" name="Text 237"/>
          <p:cNvSpPr/>
          <p:nvPr/>
        </p:nvSpPr>
        <p:spPr>
          <a:xfrm>
            <a:off x="8574667"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917</a:t>
            </a:r>
            <a:endParaRPr lang="en-US" sz="552" dirty="0"/>
          </a:p>
        </p:txBody>
      </p:sp>
      <p:sp>
        <p:nvSpPr>
          <p:cNvPr id="241" name="Text 238"/>
          <p:cNvSpPr/>
          <p:nvPr/>
        </p:nvSpPr>
        <p:spPr>
          <a:xfrm>
            <a:off x="9057453"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861</a:t>
            </a:r>
            <a:endParaRPr lang="en-US" sz="552" dirty="0"/>
          </a:p>
        </p:txBody>
      </p:sp>
      <p:sp>
        <p:nvSpPr>
          <p:cNvPr id="242" name="Text 239"/>
          <p:cNvSpPr/>
          <p:nvPr/>
        </p:nvSpPr>
        <p:spPr>
          <a:xfrm>
            <a:off x="9540240"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901</a:t>
            </a:r>
            <a:endParaRPr lang="en-US" sz="552" dirty="0"/>
          </a:p>
        </p:txBody>
      </p:sp>
      <p:sp>
        <p:nvSpPr>
          <p:cNvPr id="243" name="Text 240"/>
          <p:cNvSpPr/>
          <p:nvPr/>
        </p:nvSpPr>
        <p:spPr>
          <a:xfrm>
            <a:off x="10023026"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749</a:t>
            </a:r>
            <a:endParaRPr lang="en-US" sz="552" dirty="0"/>
          </a:p>
        </p:txBody>
      </p:sp>
      <p:sp>
        <p:nvSpPr>
          <p:cNvPr id="244" name="Text 241"/>
          <p:cNvSpPr/>
          <p:nvPr/>
        </p:nvSpPr>
        <p:spPr>
          <a:xfrm>
            <a:off x="10505812"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712</a:t>
            </a:r>
            <a:endParaRPr lang="en-US" sz="552" dirty="0"/>
          </a:p>
        </p:txBody>
      </p:sp>
      <p:sp>
        <p:nvSpPr>
          <p:cNvPr id="245" name="Text 242"/>
          <p:cNvSpPr/>
          <p:nvPr/>
        </p:nvSpPr>
        <p:spPr>
          <a:xfrm>
            <a:off x="8091881"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246" name="Text 243"/>
          <p:cNvSpPr/>
          <p:nvPr/>
        </p:nvSpPr>
        <p:spPr>
          <a:xfrm>
            <a:off x="8574667"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565</a:t>
            </a:r>
            <a:endParaRPr lang="en-US" sz="552" dirty="0"/>
          </a:p>
        </p:txBody>
      </p:sp>
      <p:sp>
        <p:nvSpPr>
          <p:cNvPr id="247" name="Text 244"/>
          <p:cNvSpPr/>
          <p:nvPr/>
        </p:nvSpPr>
        <p:spPr>
          <a:xfrm>
            <a:off x="9057453"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531</a:t>
            </a:r>
            <a:endParaRPr lang="en-US" sz="552" dirty="0"/>
          </a:p>
        </p:txBody>
      </p:sp>
      <p:sp>
        <p:nvSpPr>
          <p:cNvPr id="248" name="Text 245"/>
          <p:cNvSpPr/>
          <p:nvPr/>
        </p:nvSpPr>
        <p:spPr>
          <a:xfrm>
            <a:off x="9540240"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555</a:t>
            </a:r>
            <a:endParaRPr lang="en-US" sz="552" dirty="0"/>
          </a:p>
        </p:txBody>
      </p:sp>
      <p:sp>
        <p:nvSpPr>
          <p:cNvPr id="249" name="Text 246"/>
          <p:cNvSpPr/>
          <p:nvPr/>
        </p:nvSpPr>
        <p:spPr>
          <a:xfrm>
            <a:off x="10023026"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461</a:t>
            </a:r>
            <a:endParaRPr lang="en-US" sz="552" dirty="0"/>
          </a:p>
        </p:txBody>
      </p:sp>
      <p:sp>
        <p:nvSpPr>
          <p:cNvPr id="250" name="Text 247"/>
          <p:cNvSpPr/>
          <p:nvPr/>
        </p:nvSpPr>
        <p:spPr>
          <a:xfrm>
            <a:off x="10505812"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439</a:t>
            </a:r>
            <a:endParaRPr lang="en-US" sz="552" dirty="0"/>
          </a:p>
        </p:txBody>
      </p:sp>
      <p:sp>
        <p:nvSpPr>
          <p:cNvPr id="251" name="Text 248"/>
          <p:cNvSpPr/>
          <p:nvPr/>
        </p:nvSpPr>
        <p:spPr>
          <a:xfrm>
            <a:off x="8091881"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354</a:t>
            </a:r>
            <a:endParaRPr lang="en-US" sz="552" dirty="0"/>
          </a:p>
        </p:txBody>
      </p:sp>
      <p:sp>
        <p:nvSpPr>
          <p:cNvPr id="252" name="Text 249"/>
          <p:cNvSpPr/>
          <p:nvPr/>
        </p:nvSpPr>
        <p:spPr>
          <a:xfrm>
            <a:off x="8574667"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476</a:t>
            </a:r>
            <a:endParaRPr lang="en-US" sz="552" dirty="0"/>
          </a:p>
        </p:txBody>
      </p:sp>
      <p:sp>
        <p:nvSpPr>
          <p:cNvPr id="253" name="Text 250"/>
          <p:cNvSpPr/>
          <p:nvPr/>
        </p:nvSpPr>
        <p:spPr>
          <a:xfrm>
            <a:off x="9057453"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54" name="Text 251"/>
          <p:cNvSpPr/>
          <p:nvPr/>
        </p:nvSpPr>
        <p:spPr>
          <a:xfrm>
            <a:off x="9540240"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467</a:t>
            </a:r>
            <a:endParaRPr lang="en-US" sz="552" dirty="0"/>
          </a:p>
        </p:txBody>
      </p:sp>
      <p:sp>
        <p:nvSpPr>
          <p:cNvPr id="255" name="Text 252"/>
          <p:cNvSpPr/>
          <p:nvPr/>
        </p:nvSpPr>
        <p:spPr>
          <a:xfrm>
            <a:off x="10023026"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388</a:t>
            </a:r>
            <a:endParaRPr lang="en-US" sz="552" dirty="0"/>
          </a:p>
        </p:txBody>
      </p:sp>
      <p:sp>
        <p:nvSpPr>
          <p:cNvPr id="256" name="Text 253"/>
          <p:cNvSpPr/>
          <p:nvPr/>
        </p:nvSpPr>
        <p:spPr>
          <a:xfrm>
            <a:off x="10505812"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369</a:t>
            </a:r>
            <a:endParaRPr lang="en-US" sz="552" dirty="0"/>
          </a:p>
        </p:txBody>
      </p:sp>
      <p:sp>
        <p:nvSpPr>
          <p:cNvPr id="257" name="Text 254"/>
          <p:cNvSpPr/>
          <p:nvPr/>
        </p:nvSpPr>
        <p:spPr>
          <a:xfrm>
            <a:off x="8091881"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261</a:t>
            </a:r>
            <a:endParaRPr lang="en-US" sz="552" dirty="0"/>
          </a:p>
        </p:txBody>
      </p:sp>
      <p:sp>
        <p:nvSpPr>
          <p:cNvPr id="258" name="Text 255"/>
          <p:cNvSpPr/>
          <p:nvPr/>
        </p:nvSpPr>
        <p:spPr>
          <a:xfrm>
            <a:off x="8574667"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351</a:t>
            </a:r>
            <a:endParaRPr lang="en-US" sz="552" dirty="0"/>
          </a:p>
        </p:txBody>
      </p:sp>
      <p:sp>
        <p:nvSpPr>
          <p:cNvPr id="259" name="Text 256"/>
          <p:cNvSpPr/>
          <p:nvPr/>
        </p:nvSpPr>
        <p:spPr>
          <a:xfrm>
            <a:off x="9057453"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330</a:t>
            </a:r>
            <a:endParaRPr lang="en-US" sz="552" dirty="0"/>
          </a:p>
        </p:txBody>
      </p:sp>
      <p:sp>
        <p:nvSpPr>
          <p:cNvPr id="260" name="Text 257"/>
          <p:cNvSpPr/>
          <p:nvPr/>
        </p:nvSpPr>
        <p:spPr>
          <a:xfrm>
            <a:off x="9540240"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345</a:t>
            </a:r>
            <a:endParaRPr lang="en-US" sz="552" dirty="0"/>
          </a:p>
        </p:txBody>
      </p:sp>
      <p:sp>
        <p:nvSpPr>
          <p:cNvPr id="261" name="Text 258"/>
          <p:cNvSpPr/>
          <p:nvPr/>
        </p:nvSpPr>
        <p:spPr>
          <a:xfrm>
            <a:off x="10023026"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287</a:t>
            </a:r>
            <a:endParaRPr lang="en-US" sz="552" dirty="0"/>
          </a:p>
        </p:txBody>
      </p:sp>
      <p:sp>
        <p:nvSpPr>
          <p:cNvPr id="262" name="Text 259"/>
          <p:cNvSpPr/>
          <p:nvPr/>
        </p:nvSpPr>
        <p:spPr>
          <a:xfrm>
            <a:off x="10505812"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273</a:t>
            </a:r>
            <a:endParaRPr lang="en-US" sz="552" dirty="0"/>
          </a:p>
        </p:txBody>
      </p:sp>
      <p:sp>
        <p:nvSpPr>
          <p:cNvPr id="263" name="Text 260"/>
          <p:cNvSpPr/>
          <p:nvPr/>
        </p:nvSpPr>
        <p:spPr>
          <a:xfrm>
            <a:off x="8091881"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159</a:t>
            </a:r>
            <a:endParaRPr lang="en-US" sz="552" dirty="0"/>
          </a:p>
        </p:txBody>
      </p:sp>
      <p:sp>
        <p:nvSpPr>
          <p:cNvPr id="264" name="Text 261"/>
          <p:cNvSpPr/>
          <p:nvPr/>
        </p:nvSpPr>
        <p:spPr>
          <a:xfrm>
            <a:off x="8574667"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215</a:t>
            </a:r>
            <a:endParaRPr lang="en-US" sz="552" dirty="0"/>
          </a:p>
        </p:txBody>
      </p:sp>
      <p:sp>
        <p:nvSpPr>
          <p:cNvPr id="265" name="Text 262"/>
          <p:cNvSpPr/>
          <p:nvPr/>
        </p:nvSpPr>
        <p:spPr>
          <a:xfrm>
            <a:off x="9057453"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201</a:t>
            </a:r>
            <a:endParaRPr lang="en-US" sz="552" dirty="0"/>
          </a:p>
        </p:txBody>
      </p:sp>
      <p:sp>
        <p:nvSpPr>
          <p:cNvPr id="266" name="Text 263"/>
          <p:cNvSpPr/>
          <p:nvPr/>
        </p:nvSpPr>
        <p:spPr>
          <a:xfrm>
            <a:off x="9540240"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210</a:t>
            </a:r>
            <a:endParaRPr lang="en-US" sz="552" dirty="0"/>
          </a:p>
        </p:txBody>
      </p:sp>
      <p:sp>
        <p:nvSpPr>
          <p:cNvPr id="267" name="Text 264"/>
          <p:cNvSpPr/>
          <p:nvPr/>
        </p:nvSpPr>
        <p:spPr>
          <a:xfrm>
            <a:off x="10023026"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175</a:t>
            </a:r>
            <a:endParaRPr lang="en-US" sz="552" dirty="0"/>
          </a:p>
        </p:txBody>
      </p:sp>
      <p:sp>
        <p:nvSpPr>
          <p:cNvPr id="268" name="Text 265"/>
          <p:cNvSpPr/>
          <p:nvPr/>
        </p:nvSpPr>
        <p:spPr>
          <a:xfrm>
            <a:off x="10505812"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166</a:t>
            </a:r>
            <a:endParaRPr lang="en-US" sz="552" dirty="0"/>
          </a:p>
        </p:txBody>
      </p:sp>
      <p:sp>
        <p:nvSpPr>
          <p:cNvPr id="269" name="Text 266"/>
          <p:cNvSpPr/>
          <p:nvPr/>
        </p:nvSpPr>
        <p:spPr>
          <a:xfrm>
            <a:off x="8091881"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340</a:t>
            </a:r>
            <a:endParaRPr lang="en-US" sz="552" dirty="0"/>
          </a:p>
        </p:txBody>
      </p:sp>
      <p:sp>
        <p:nvSpPr>
          <p:cNvPr id="270" name="Text 267"/>
          <p:cNvSpPr/>
          <p:nvPr/>
        </p:nvSpPr>
        <p:spPr>
          <a:xfrm>
            <a:off x="8574667"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457</a:t>
            </a:r>
            <a:endParaRPr lang="en-US" sz="552" dirty="0"/>
          </a:p>
        </p:txBody>
      </p:sp>
      <p:sp>
        <p:nvSpPr>
          <p:cNvPr id="271" name="Text 268"/>
          <p:cNvSpPr/>
          <p:nvPr/>
        </p:nvSpPr>
        <p:spPr>
          <a:xfrm>
            <a:off x="9057453"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429</a:t>
            </a:r>
            <a:endParaRPr lang="en-US" sz="552" dirty="0"/>
          </a:p>
        </p:txBody>
      </p:sp>
      <p:sp>
        <p:nvSpPr>
          <p:cNvPr id="272" name="Text 269"/>
          <p:cNvSpPr/>
          <p:nvPr/>
        </p:nvSpPr>
        <p:spPr>
          <a:xfrm>
            <a:off x="9540240"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449</a:t>
            </a:r>
            <a:endParaRPr lang="en-US" sz="552" dirty="0"/>
          </a:p>
        </p:txBody>
      </p:sp>
      <p:sp>
        <p:nvSpPr>
          <p:cNvPr id="273" name="Text 270"/>
          <p:cNvSpPr/>
          <p:nvPr/>
        </p:nvSpPr>
        <p:spPr>
          <a:xfrm>
            <a:off x="10023026"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373</a:t>
            </a:r>
            <a:endParaRPr lang="en-US" sz="552" dirty="0"/>
          </a:p>
        </p:txBody>
      </p:sp>
      <p:sp>
        <p:nvSpPr>
          <p:cNvPr id="274" name="Text 271"/>
          <p:cNvSpPr/>
          <p:nvPr/>
        </p:nvSpPr>
        <p:spPr>
          <a:xfrm>
            <a:off x="10505812"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355</a:t>
            </a:r>
            <a:endParaRPr lang="en-US" sz="552" dirty="0"/>
          </a:p>
        </p:txBody>
      </p:sp>
      <p:sp>
        <p:nvSpPr>
          <p:cNvPr id="275" name="Text 272"/>
          <p:cNvSpPr/>
          <p:nvPr/>
        </p:nvSpPr>
        <p:spPr>
          <a:xfrm>
            <a:off x="8091881"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967</a:t>
            </a:r>
            <a:endParaRPr lang="en-US" sz="552" dirty="0"/>
          </a:p>
        </p:txBody>
      </p:sp>
      <p:sp>
        <p:nvSpPr>
          <p:cNvPr id="276" name="Text 273"/>
          <p:cNvSpPr/>
          <p:nvPr/>
        </p:nvSpPr>
        <p:spPr>
          <a:xfrm>
            <a:off x="8091881"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346</a:t>
            </a:r>
            <a:endParaRPr lang="en-US" sz="552" dirty="0"/>
          </a:p>
        </p:txBody>
      </p:sp>
      <p:sp>
        <p:nvSpPr>
          <p:cNvPr id="277" name="Text 274"/>
          <p:cNvSpPr/>
          <p:nvPr/>
        </p:nvSpPr>
        <p:spPr>
          <a:xfrm>
            <a:off x="8574667"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278" name="Text 275"/>
          <p:cNvSpPr/>
          <p:nvPr/>
        </p:nvSpPr>
        <p:spPr>
          <a:xfrm>
            <a:off x="9057453"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436</a:t>
            </a:r>
            <a:endParaRPr lang="en-US" sz="552" dirty="0"/>
          </a:p>
        </p:txBody>
      </p:sp>
      <p:sp>
        <p:nvSpPr>
          <p:cNvPr id="279" name="Text 276"/>
          <p:cNvSpPr/>
          <p:nvPr/>
        </p:nvSpPr>
        <p:spPr>
          <a:xfrm>
            <a:off x="9540240"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280" name="Text 277"/>
          <p:cNvSpPr/>
          <p:nvPr/>
        </p:nvSpPr>
        <p:spPr>
          <a:xfrm>
            <a:off x="10023026"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379</a:t>
            </a:r>
            <a:endParaRPr lang="en-US" sz="552" dirty="0"/>
          </a:p>
        </p:txBody>
      </p:sp>
      <p:sp>
        <p:nvSpPr>
          <p:cNvPr id="281" name="Text 278"/>
          <p:cNvSpPr/>
          <p:nvPr/>
        </p:nvSpPr>
        <p:spPr>
          <a:xfrm>
            <a:off x="10505812"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361</a:t>
            </a:r>
            <a:endParaRPr lang="en-US" sz="552" dirty="0"/>
          </a:p>
        </p:txBody>
      </p:sp>
      <p:sp>
        <p:nvSpPr>
          <p:cNvPr id="282" name="Text 279"/>
          <p:cNvSpPr/>
          <p:nvPr/>
        </p:nvSpPr>
        <p:spPr>
          <a:xfrm>
            <a:off x="8091881"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146</a:t>
            </a:r>
            <a:endParaRPr lang="en-US" sz="552" dirty="0"/>
          </a:p>
        </p:txBody>
      </p:sp>
      <p:sp>
        <p:nvSpPr>
          <p:cNvPr id="283" name="Text 280"/>
          <p:cNvSpPr/>
          <p:nvPr/>
        </p:nvSpPr>
        <p:spPr>
          <a:xfrm>
            <a:off x="8574667"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197</a:t>
            </a:r>
            <a:endParaRPr lang="en-US" sz="552" dirty="0"/>
          </a:p>
        </p:txBody>
      </p:sp>
      <p:sp>
        <p:nvSpPr>
          <p:cNvPr id="284" name="Text 281"/>
          <p:cNvSpPr/>
          <p:nvPr/>
        </p:nvSpPr>
        <p:spPr>
          <a:xfrm>
            <a:off x="9057453"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184</a:t>
            </a:r>
            <a:endParaRPr lang="en-US" sz="552" dirty="0"/>
          </a:p>
        </p:txBody>
      </p:sp>
      <p:sp>
        <p:nvSpPr>
          <p:cNvPr id="285" name="Text 282"/>
          <p:cNvSpPr/>
          <p:nvPr/>
        </p:nvSpPr>
        <p:spPr>
          <a:xfrm>
            <a:off x="9540240"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193</a:t>
            </a:r>
            <a:endParaRPr lang="en-US" sz="552" dirty="0"/>
          </a:p>
        </p:txBody>
      </p:sp>
      <p:sp>
        <p:nvSpPr>
          <p:cNvPr id="286" name="Text 283"/>
          <p:cNvSpPr/>
          <p:nvPr/>
        </p:nvSpPr>
        <p:spPr>
          <a:xfrm>
            <a:off x="10023026"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287" name="Text 284"/>
          <p:cNvSpPr/>
          <p:nvPr/>
        </p:nvSpPr>
        <p:spPr>
          <a:xfrm>
            <a:off x="10505812"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153</a:t>
            </a:r>
            <a:endParaRPr lang="en-US" sz="552" dirty="0"/>
          </a:p>
        </p:txBody>
      </p:sp>
      <p:sp>
        <p:nvSpPr>
          <p:cNvPr id="288" name="Text 285"/>
          <p:cNvSpPr/>
          <p:nvPr/>
        </p:nvSpPr>
        <p:spPr>
          <a:xfrm>
            <a:off x="2329400"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51</a:t>
            </a:r>
            <a:endParaRPr lang="en-US" sz="576" dirty="0"/>
          </a:p>
        </p:txBody>
      </p:sp>
      <p:sp>
        <p:nvSpPr>
          <p:cNvPr id="289" name="Text 286"/>
          <p:cNvSpPr/>
          <p:nvPr/>
        </p:nvSpPr>
        <p:spPr>
          <a:xfrm>
            <a:off x="2812186"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90" name="Text 287"/>
          <p:cNvSpPr/>
          <p:nvPr/>
        </p:nvSpPr>
        <p:spPr>
          <a:xfrm>
            <a:off x="3294972"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1" name="Text 288"/>
          <p:cNvSpPr/>
          <p:nvPr/>
        </p:nvSpPr>
        <p:spPr>
          <a:xfrm>
            <a:off x="3777759"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65</a:t>
            </a:r>
            <a:endParaRPr lang="en-US" sz="576" dirty="0"/>
          </a:p>
        </p:txBody>
      </p:sp>
      <p:sp>
        <p:nvSpPr>
          <p:cNvPr id="292" name="Text 289"/>
          <p:cNvSpPr/>
          <p:nvPr/>
        </p:nvSpPr>
        <p:spPr>
          <a:xfrm>
            <a:off x="4260545"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3" name="Text 290"/>
          <p:cNvSpPr/>
          <p:nvPr/>
        </p:nvSpPr>
        <p:spPr>
          <a:xfrm>
            <a:off x="4743331"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4" name="Text 291"/>
          <p:cNvSpPr/>
          <p:nvPr/>
        </p:nvSpPr>
        <p:spPr>
          <a:xfrm>
            <a:off x="2329400"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94</a:t>
            </a:r>
            <a:endParaRPr lang="en-US" sz="576" dirty="0"/>
          </a:p>
        </p:txBody>
      </p:sp>
      <p:sp>
        <p:nvSpPr>
          <p:cNvPr id="295" name="Text 292"/>
          <p:cNvSpPr/>
          <p:nvPr/>
        </p:nvSpPr>
        <p:spPr>
          <a:xfrm>
            <a:off x="8574667"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a:t>
            </a:r>
            <a:endParaRPr lang="en-US" sz="552" dirty="0"/>
          </a:p>
        </p:txBody>
      </p:sp>
      <p:sp>
        <p:nvSpPr>
          <p:cNvPr id="296" name="Text 293"/>
          <p:cNvSpPr/>
          <p:nvPr/>
        </p:nvSpPr>
        <p:spPr>
          <a:xfrm>
            <a:off x="10988599" y="5149007"/>
            <a:ext cx="698284" cy="128588"/>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50</a:t>
            </a:r>
            <a:endParaRPr lang="en-US" sz="552" dirty="0"/>
          </a:p>
        </p:txBody>
      </p:sp>
      <p:sp>
        <p:nvSpPr>
          <p:cNvPr id="297" name="Text 294"/>
          <p:cNvSpPr/>
          <p:nvPr/>
        </p:nvSpPr>
        <p:spPr>
          <a:xfrm>
            <a:off x="8091881"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a:t>
            </a:r>
            <a:endParaRPr lang="en-US" sz="552" dirty="0"/>
          </a:p>
        </p:txBody>
      </p:sp>
      <p:sp>
        <p:nvSpPr>
          <p:cNvPr id="298" name="Text 295"/>
          <p:cNvSpPr/>
          <p:nvPr/>
        </p:nvSpPr>
        <p:spPr>
          <a:xfrm>
            <a:off x="9057453"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a:t>
            </a:r>
            <a:endParaRPr lang="en-US" sz="552" dirty="0"/>
          </a:p>
        </p:txBody>
      </p:sp>
      <p:sp>
        <p:nvSpPr>
          <p:cNvPr id="299" name="Text 296"/>
          <p:cNvSpPr/>
          <p:nvPr/>
        </p:nvSpPr>
        <p:spPr>
          <a:xfrm>
            <a:off x="9540240"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a:t>
            </a:r>
            <a:endParaRPr lang="en-US" sz="552" dirty="0"/>
          </a:p>
        </p:txBody>
      </p:sp>
      <p:sp>
        <p:nvSpPr>
          <p:cNvPr id="300" name="Text 297"/>
          <p:cNvSpPr/>
          <p:nvPr/>
        </p:nvSpPr>
        <p:spPr>
          <a:xfrm>
            <a:off x="10023026"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a:t>
            </a:r>
            <a:endParaRPr lang="en-US" sz="552" dirty="0"/>
          </a:p>
        </p:txBody>
      </p:sp>
      <p:sp>
        <p:nvSpPr>
          <p:cNvPr id="301" name="Text 298"/>
          <p:cNvSpPr/>
          <p:nvPr/>
        </p:nvSpPr>
        <p:spPr>
          <a:xfrm>
            <a:off x="10505812"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a:t>
            </a:r>
            <a:endParaRPr lang="en-US" sz="5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01_Repositorios\13_Presentaciones\dash\televentas\ppt_slides\sk_07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6002685"/>
            <a:ext cx="7174229"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no contacto es muy alto (), impulsado por contestadores automáticos (), lo que exige depuración telefónica en 2S.</a:t>
            </a:r>
            <a:endParaRPr lang="en-US" sz="744" dirty="0"/>
          </a:p>
        </p:txBody>
      </p:sp>
      <p:sp>
        <p:nvSpPr>
          <p:cNvPr id="4" name="Text 1"/>
          <p:cNvSpPr/>
          <p:nvPr/>
        </p:nvSpPr>
        <p:spPr>
          <a:xfrm>
            <a:off x="685783" y="5856238"/>
            <a:ext cx="7174229"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descarte estructural de  y  suma el , confirmando el agotamiento de la base.</a:t>
            </a:r>
            <a:endParaRPr lang="en-US" sz="744" dirty="0"/>
          </a:p>
        </p:txBody>
      </p:sp>
      <p:sp>
        <p:nvSpPr>
          <p:cNvPr id="5" name="Text 2"/>
          <p:cNvSpPr/>
          <p:nvPr/>
        </p:nvSpPr>
        <p:spPr>
          <a:xfrm>
            <a:off x="1336741" y="5719316"/>
            <a:ext cx="2440274" cy="104775"/>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base de mayor volumen (420.641 registros recibidos)</a:t>
            </a:r>
            <a:endParaRPr lang="en-US" sz="744" dirty="0"/>
          </a:p>
        </p:txBody>
      </p:sp>
      <p:sp>
        <p:nvSpPr>
          <p:cNvPr id="6" name="Text 3"/>
          <p:cNvSpPr/>
          <p:nvPr/>
        </p:nvSpPr>
        <p:spPr>
          <a:xfrm>
            <a:off x="8216595" y="1219944"/>
            <a:ext cx="3479812"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Cumplimiento de objetivos sobre contacto</a:t>
            </a:r>
            <a:endParaRPr lang="en-US" sz="648" dirty="0"/>
          </a:p>
        </p:txBody>
      </p:sp>
      <p:sp>
        <p:nvSpPr>
          <p:cNvPr id="7" name="Text 4"/>
          <p:cNvSpPr/>
          <p:nvPr/>
        </p:nvSpPr>
        <p:spPr>
          <a:xfrm>
            <a:off x="6257769"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8" name="Text 5"/>
          <p:cNvSpPr/>
          <p:nvPr/>
        </p:nvSpPr>
        <p:spPr>
          <a:xfrm>
            <a:off x="495288"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9" name="Text 6"/>
          <p:cNvSpPr/>
          <p:nvPr/>
        </p:nvSpPr>
        <p:spPr>
          <a:xfrm>
            <a:off x="1213514" y="219075"/>
            <a:ext cx="3141832"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CP Stock</a:t>
            </a:r>
            <a:endParaRPr lang="en-US" sz="1260" dirty="0"/>
          </a:p>
        </p:txBody>
      </p:sp>
      <p:sp>
        <p:nvSpPr>
          <p:cNvPr id="10" name="Text 7"/>
          <p:cNvSpPr/>
          <p:nvPr/>
        </p:nvSpPr>
        <p:spPr>
          <a:xfrm>
            <a:off x="6267293" y="50156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1" name="Text 8"/>
          <p:cNvSpPr/>
          <p:nvPr/>
        </p:nvSpPr>
        <p:spPr>
          <a:xfrm>
            <a:off x="4374991"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Segundo mayor aportante de ventas</a:t>
            </a:r>
            <a:endParaRPr lang="en-US" sz="648" dirty="0"/>
          </a:p>
        </p:txBody>
      </p:sp>
      <p:sp>
        <p:nvSpPr>
          <p:cNvPr id="12" name="Text 9"/>
          <p:cNvSpPr/>
          <p:nvPr/>
        </p:nvSpPr>
        <p:spPr>
          <a:xfrm>
            <a:off x="6257769"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3" name="Text 10"/>
          <p:cNvSpPr/>
          <p:nvPr/>
        </p:nvSpPr>
        <p:spPr>
          <a:xfrm>
            <a:off x="504812" y="43489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4" name="Text 11"/>
          <p:cNvSpPr/>
          <p:nvPr/>
        </p:nvSpPr>
        <p:spPr>
          <a:xfrm>
            <a:off x="504812" y="36821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5" name="Text 12"/>
          <p:cNvSpPr/>
          <p:nvPr/>
        </p:nvSpPr>
        <p:spPr>
          <a:xfrm>
            <a:off x="552436" y="5553819"/>
            <a:ext cx="1624567"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6" name="Text 13"/>
          <p:cNvSpPr/>
          <p:nvPr/>
        </p:nvSpPr>
        <p:spPr>
          <a:xfrm>
            <a:off x="685783" y="5709791"/>
            <a:ext cx="7174229"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CP Stock es la  en el semestre.</a:t>
            </a:r>
            <a:endParaRPr lang="en-US" sz="744" dirty="0"/>
          </a:p>
        </p:txBody>
      </p:sp>
      <p:sp>
        <p:nvSpPr>
          <p:cNvPr id="17" name="Text 14"/>
          <p:cNvSpPr/>
          <p:nvPr/>
        </p:nvSpPr>
        <p:spPr>
          <a:xfrm>
            <a:off x="533387"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de mayor dimensionamiento</a:t>
            </a:r>
            <a:endParaRPr lang="en-US" sz="648" dirty="0"/>
          </a:p>
        </p:txBody>
      </p:sp>
      <p:sp>
        <p:nvSpPr>
          <p:cNvPr id="18" name="Text 15"/>
          <p:cNvSpPr/>
          <p:nvPr/>
        </p:nvSpPr>
        <p:spPr>
          <a:xfrm>
            <a:off x="495288"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9" name="Text 16"/>
          <p:cNvSpPr/>
          <p:nvPr/>
        </p:nvSpPr>
        <p:spPr>
          <a:xfrm>
            <a:off x="504812" y="3420219"/>
            <a:ext cx="1824587" cy="128588"/>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20" name="Text 17"/>
          <p:cNvSpPr/>
          <p:nvPr/>
        </p:nvSpPr>
        <p:spPr>
          <a:xfrm>
            <a:off x="6267293" y="36821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1" name="Text 18"/>
          <p:cNvSpPr/>
          <p:nvPr/>
        </p:nvSpPr>
        <p:spPr>
          <a:xfrm>
            <a:off x="6267293" y="43489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2" name="Text 19"/>
          <p:cNvSpPr/>
          <p:nvPr/>
        </p:nvSpPr>
        <p:spPr>
          <a:xfrm>
            <a:off x="6267293" y="40822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23" name="Text 20"/>
          <p:cNvSpPr/>
          <p:nvPr/>
        </p:nvSpPr>
        <p:spPr>
          <a:xfrm>
            <a:off x="6267293" y="42155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4" name="Text 21"/>
          <p:cNvSpPr/>
          <p:nvPr/>
        </p:nvSpPr>
        <p:spPr>
          <a:xfrm>
            <a:off x="6267293" y="39488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5" name="Text 22"/>
          <p:cNvSpPr/>
          <p:nvPr/>
        </p:nvSpPr>
        <p:spPr>
          <a:xfrm>
            <a:off x="9601853" y="209550"/>
            <a:ext cx="2018357"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CP Stock</a:t>
            </a:r>
            <a:endParaRPr lang="en-US" sz="840" dirty="0"/>
          </a:p>
        </p:txBody>
      </p:sp>
      <p:sp>
        <p:nvSpPr>
          <p:cNvPr id="26" name="Text 23"/>
          <p:cNvSpPr/>
          <p:nvPr/>
        </p:nvSpPr>
        <p:spPr>
          <a:xfrm>
            <a:off x="504812" y="35488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27" name="Text 24"/>
          <p:cNvSpPr/>
          <p:nvPr/>
        </p:nvSpPr>
        <p:spPr>
          <a:xfrm>
            <a:off x="6267293" y="47489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8" name="Text 25"/>
          <p:cNvSpPr/>
          <p:nvPr/>
        </p:nvSpPr>
        <p:spPr>
          <a:xfrm>
            <a:off x="504812" y="44822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9" name="Text 26"/>
          <p:cNvSpPr/>
          <p:nvPr/>
        </p:nvSpPr>
        <p:spPr>
          <a:xfrm>
            <a:off x="6267293" y="44822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30" name="Text 27"/>
          <p:cNvSpPr/>
          <p:nvPr/>
        </p:nvSpPr>
        <p:spPr>
          <a:xfrm>
            <a:off x="533387"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VOLUMEN DE REGISTROS</a:t>
            </a:r>
            <a:endParaRPr lang="en-US" sz="672" dirty="0"/>
          </a:p>
        </p:txBody>
      </p:sp>
      <p:sp>
        <p:nvSpPr>
          <p:cNvPr id="31" name="Text 28"/>
          <p:cNvSpPr/>
          <p:nvPr/>
        </p:nvSpPr>
        <p:spPr>
          <a:xfrm>
            <a:off x="4374991"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32" name="Text 29"/>
          <p:cNvSpPr/>
          <p:nvPr/>
        </p:nvSpPr>
        <p:spPr>
          <a:xfrm>
            <a:off x="8216595" y="828675"/>
            <a:ext cx="3479812"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33" name="Text 30"/>
          <p:cNvSpPr/>
          <p:nvPr/>
        </p:nvSpPr>
        <p:spPr>
          <a:xfrm>
            <a:off x="504812" y="38155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Dirección Repetida</a:t>
            </a:r>
            <a:endParaRPr lang="en-US" sz="576" dirty="0"/>
          </a:p>
        </p:txBody>
      </p:sp>
      <p:sp>
        <p:nvSpPr>
          <p:cNvPr id="34" name="Text 31"/>
          <p:cNvSpPr/>
          <p:nvPr/>
        </p:nvSpPr>
        <p:spPr>
          <a:xfrm>
            <a:off x="504812" y="39488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5" name="Text 32"/>
          <p:cNvSpPr/>
          <p:nvPr/>
        </p:nvSpPr>
        <p:spPr>
          <a:xfrm>
            <a:off x="504812" y="40822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Teléfono Repetido</a:t>
            </a:r>
            <a:endParaRPr lang="en-US" sz="576" dirty="0"/>
          </a:p>
        </p:txBody>
      </p:sp>
      <p:sp>
        <p:nvSpPr>
          <p:cNvPr id="36" name="Text 33"/>
          <p:cNvSpPr/>
          <p:nvPr/>
        </p:nvSpPr>
        <p:spPr>
          <a:xfrm>
            <a:off x="6267293" y="3420219"/>
            <a:ext cx="1824587" cy="128588"/>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7" name="Text 34"/>
          <p:cNvSpPr/>
          <p:nvPr/>
        </p:nvSpPr>
        <p:spPr>
          <a:xfrm>
            <a:off x="6267293" y="38155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8" name="Text 35"/>
          <p:cNvSpPr/>
          <p:nvPr/>
        </p:nvSpPr>
        <p:spPr>
          <a:xfrm>
            <a:off x="6267293" y="5149007"/>
            <a:ext cx="1824587" cy="128588"/>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9" name="Text 36"/>
          <p:cNvSpPr/>
          <p:nvPr/>
        </p:nvSpPr>
        <p:spPr>
          <a:xfrm>
            <a:off x="504812" y="42155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Cédula Repetida</a:t>
            </a:r>
            <a:endParaRPr lang="en-US" sz="576" dirty="0"/>
          </a:p>
        </p:txBody>
      </p:sp>
      <p:sp>
        <p:nvSpPr>
          <p:cNvPr id="40" name="Text 37"/>
          <p:cNvSpPr/>
          <p:nvPr/>
        </p:nvSpPr>
        <p:spPr>
          <a:xfrm>
            <a:off x="10281832" y="1810494"/>
            <a:ext cx="141457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41" name="Text 38"/>
          <p:cNvSpPr/>
          <p:nvPr/>
        </p:nvSpPr>
        <p:spPr>
          <a:xfrm>
            <a:off x="6267293" y="35488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42" name="Text 39"/>
          <p:cNvSpPr/>
          <p:nvPr/>
        </p:nvSpPr>
        <p:spPr>
          <a:xfrm>
            <a:off x="6267293"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3" name="Text 40"/>
          <p:cNvSpPr/>
          <p:nvPr/>
        </p:nvSpPr>
        <p:spPr>
          <a:xfrm>
            <a:off x="6267293" y="4615607"/>
            <a:ext cx="1824587" cy="133350"/>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4" name="Text 41"/>
          <p:cNvSpPr/>
          <p:nvPr/>
        </p:nvSpPr>
        <p:spPr>
          <a:xfrm>
            <a:off x="6267293" y="48823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5" name="Text 42"/>
          <p:cNvSpPr/>
          <p:nvPr/>
        </p:nvSpPr>
        <p:spPr>
          <a:xfrm>
            <a:off x="2996877" y="1810494"/>
            <a:ext cx="152277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6" name="Text 43"/>
          <p:cNvSpPr/>
          <p:nvPr/>
        </p:nvSpPr>
        <p:spPr>
          <a:xfrm>
            <a:off x="8324195"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7" name="Text 44"/>
          <p:cNvSpPr/>
          <p:nvPr/>
        </p:nvSpPr>
        <p:spPr>
          <a:xfrm>
            <a:off x="1582896" y="1810494"/>
            <a:ext cx="141398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8" name="Text 45"/>
          <p:cNvSpPr/>
          <p:nvPr/>
        </p:nvSpPr>
        <p:spPr>
          <a:xfrm>
            <a:off x="4519648" y="1810494"/>
            <a:ext cx="141427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9" name="Text 46"/>
          <p:cNvSpPr/>
          <p:nvPr/>
        </p:nvSpPr>
        <p:spPr>
          <a:xfrm>
            <a:off x="533387"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420.641</a:t>
            </a:r>
            <a:endParaRPr lang="en-US" sz="1380" dirty="0"/>
          </a:p>
        </p:txBody>
      </p:sp>
      <p:sp>
        <p:nvSpPr>
          <p:cNvPr id="50" name="Text 47"/>
          <p:cNvSpPr/>
          <p:nvPr/>
        </p:nvSpPr>
        <p:spPr>
          <a:xfrm>
            <a:off x="533387"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1" name="Text 48"/>
          <p:cNvSpPr/>
          <p:nvPr/>
        </p:nvSpPr>
        <p:spPr>
          <a:xfrm>
            <a:off x="1582896" y="26915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114.104</a:t>
            </a:r>
            <a:endParaRPr lang="en-US" sz="636" dirty="0"/>
          </a:p>
        </p:txBody>
      </p:sp>
      <p:sp>
        <p:nvSpPr>
          <p:cNvPr id="52" name="Text 49"/>
          <p:cNvSpPr/>
          <p:nvPr/>
        </p:nvSpPr>
        <p:spPr>
          <a:xfrm>
            <a:off x="1582896" y="2834432"/>
            <a:ext cx="141398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420.641</a:t>
            </a:r>
            <a:endParaRPr lang="en-US" sz="636" dirty="0"/>
          </a:p>
        </p:txBody>
      </p:sp>
      <p:sp>
        <p:nvSpPr>
          <p:cNvPr id="53" name="Text 50"/>
          <p:cNvSpPr/>
          <p:nvPr/>
        </p:nvSpPr>
        <p:spPr>
          <a:xfrm>
            <a:off x="2996877" y="2834432"/>
            <a:ext cx="152277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261.700</a:t>
            </a:r>
            <a:endParaRPr lang="en-US" sz="636" dirty="0"/>
          </a:p>
        </p:txBody>
      </p:sp>
      <p:sp>
        <p:nvSpPr>
          <p:cNvPr id="54" name="Text 51"/>
          <p:cNvSpPr/>
          <p:nvPr/>
        </p:nvSpPr>
        <p:spPr>
          <a:xfrm>
            <a:off x="5226118" y="4615607"/>
            <a:ext cx="698284"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261.700</a:t>
            </a:r>
            <a:endParaRPr lang="en-US" sz="576" dirty="0"/>
          </a:p>
        </p:txBody>
      </p:sp>
      <p:sp>
        <p:nvSpPr>
          <p:cNvPr id="55" name="Text 52"/>
          <p:cNvSpPr/>
          <p:nvPr/>
        </p:nvSpPr>
        <p:spPr>
          <a:xfrm>
            <a:off x="6295868"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6" name="Text 53"/>
          <p:cNvSpPr/>
          <p:nvPr/>
        </p:nvSpPr>
        <p:spPr>
          <a:xfrm>
            <a:off x="7345377"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158.941</a:t>
            </a:r>
            <a:endParaRPr lang="en-US" sz="636" dirty="0"/>
          </a:p>
        </p:txBody>
      </p:sp>
      <p:sp>
        <p:nvSpPr>
          <p:cNvPr id="57" name="Text 54"/>
          <p:cNvSpPr/>
          <p:nvPr/>
        </p:nvSpPr>
        <p:spPr>
          <a:xfrm>
            <a:off x="1582896" y="1981944"/>
            <a:ext cx="141398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20.864</a:t>
            </a:r>
            <a:endParaRPr lang="en-US" sz="636" dirty="0"/>
          </a:p>
        </p:txBody>
      </p:sp>
      <p:sp>
        <p:nvSpPr>
          <p:cNvPr id="58" name="Text 55"/>
          <p:cNvSpPr/>
          <p:nvPr/>
        </p:nvSpPr>
        <p:spPr>
          <a:xfrm>
            <a:off x="2996877" y="1981944"/>
            <a:ext cx="152277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12.781</a:t>
            </a:r>
            <a:endParaRPr lang="en-US" sz="636" dirty="0"/>
          </a:p>
        </p:txBody>
      </p:sp>
      <p:sp>
        <p:nvSpPr>
          <p:cNvPr id="59" name="Text 56"/>
          <p:cNvSpPr/>
          <p:nvPr/>
        </p:nvSpPr>
        <p:spPr>
          <a:xfrm>
            <a:off x="4519648" y="1981944"/>
            <a:ext cx="141427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61,3 %</a:t>
            </a:r>
            <a:endParaRPr lang="en-US" sz="636" dirty="0"/>
          </a:p>
        </p:txBody>
      </p:sp>
      <p:sp>
        <p:nvSpPr>
          <p:cNvPr id="60" name="Text 57"/>
          <p:cNvSpPr/>
          <p:nvPr/>
        </p:nvSpPr>
        <p:spPr>
          <a:xfrm>
            <a:off x="1582896" y="21200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50.266</a:t>
            </a:r>
            <a:endParaRPr lang="en-US" sz="636" dirty="0"/>
          </a:p>
        </p:txBody>
      </p:sp>
      <p:sp>
        <p:nvSpPr>
          <p:cNvPr id="61" name="Text 58"/>
          <p:cNvSpPr/>
          <p:nvPr/>
        </p:nvSpPr>
        <p:spPr>
          <a:xfrm>
            <a:off x="2996877" y="21200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25.419</a:t>
            </a:r>
            <a:endParaRPr lang="en-US" sz="636" dirty="0"/>
          </a:p>
        </p:txBody>
      </p:sp>
      <p:sp>
        <p:nvSpPr>
          <p:cNvPr id="62" name="Text 59"/>
          <p:cNvSpPr/>
          <p:nvPr/>
        </p:nvSpPr>
        <p:spPr>
          <a:xfrm>
            <a:off x="4519648" y="21200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50,6 %</a:t>
            </a:r>
            <a:endParaRPr lang="en-US" sz="636" dirty="0"/>
          </a:p>
        </p:txBody>
      </p:sp>
      <p:sp>
        <p:nvSpPr>
          <p:cNvPr id="63" name="Text 60"/>
          <p:cNvSpPr/>
          <p:nvPr/>
        </p:nvSpPr>
        <p:spPr>
          <a:xfrm>
            <a:off x="1582896" y="226293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69.741</a:t>
            </a:r>
            <a:endParaRPr lang="en-US" sz="636" dirty="0"/>
          </a:p>
        </p:txBody>
      </p:sp>
      <p:sp>
        <p:nvSpPr>
          <p:cNvPr id="64" name="Text 61"/>
          <p:cNvSpPr/>
          <p:nvPr/>
        </p:nvSpPr>
        <p:spPr>
          <a:xfrm>
            <a:off x="2996877" y="226293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41.761</a:t>
            </a:r>
            <a:endParaRPr lang="en-US" sz="636" dirty="0"/>
          </a:p>
        </p:txBody>
      </p:sp>
      <p:sp>
        <p:nvSpPr>
          <p:cNvPr id="65" name="Text 62"/>
          <p:cNvSpPr/>
          <p:nvPr/>
        </p:nvSpPr>
        <p:spPr>
          <a:xfrm>
            <a:off x="4519648" y="226293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59,9 %</a:t>
            </a:r>
            <a:endParaRPr lang="en-US" sz="636" dirty="0"/>
          </a:p>
        </p:txBody>
      </p:sp>
      <p:sp>
        <p:nvSpPr>
          <p:cNvPr id="66" name="Text 63"/>
          <p:cNvSpPr/>
          <p:nvPr/>
        </p:nvSpPr>
        <p:spPr>
          <a:xfrm>
            <a:off x="1582896" y="240580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67" name="Text 64"/>
          <p:cNvSpPr/>
          <p:nvPr/>
        </p:nvSpPr>
        <p:spPr>
          <a:xfrm>
            <a:off x="2996877" y="240580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68" name="Text 65"/>
          <p:cNvSpPr/>
          <p:nvPr/>
        </p:nvSpPr>
        <p:spPr>
          <a:xfrm>
            <a:off x="4519648" y="240580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69" name="Text 66"/>
          <p:cNvSpPr/>
          <p:nvPr/>
        </p:nvSpPr>
        <p:spPr>
          <a:xfrm>
            <a:off x="1582896" y="254868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70" name="Text 67"/>
          <p:cNvSpPr/>
          <p:nvPr/>
        </p:nvSpPr>
        <p:spPr>
          <a:xfrm>
            <a:off x="2996877" y="254868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71" name="Text 68"/>
          <p:cNvSpPr/>
          <p:nvPr/>
        </p:nvSpPr>
        <p:spPr>
          <a:xfrm>
            <a:off x="4519648" y="254868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72" name="Text 69"/>
          <p:cNvSpPr/>
          <p:nvPr/>
        </p:nvSpPr>
        <p:spPr>
          <a:xfrm>
            <a:off x="2996877" y="26915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74.819</a:t>
            </a:r>
            <a:endParaRPr lang="en-US" sz="636" dirty="0"/>
          </a:p>
        </p:txBody>
      </p:sp>
      <p:sp>
        <p:nvSpPr>
          <p:cNvPr id="73" name="Text 70"/>
          <p:cNvSpPr/>
          <p:nvPr/>
        </p:nvSpPr>
        <p:spPr>
          <a:xfrm>
            <a:off x="4519648" y="26915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74" name="Text 71"/>
          <p:cNvSpPr/>
          <p:nvPr/>
        </p:nvSpPr>
        <p:spPr>
          <a:xfrm>
            <a:off x="4519648" y="2834432"/>
            <a:ext cx="141427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62,2 %</a:t>
            </a:r>
            <a:endParaRPr lang="en-US" sz="636" dirty="0"/>
          </a:p>
        </p:txBody>
      </p:sp>
      <p:sp>
        <p:nvSpPr>
          <p:cNvPr id="75" name="Text 72"/>
          <p:cNvSpPr/>
          <p:nvPr/>
        </p:nvSpPr>
        <p:spPr>
          <a:xfrm>
            <a:off x="504812"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6" name="Text 73"/>
          <p:cNvSpPr/>
          <p:nvPr/>
        </p:nvSpPr>
        <p:spPr>
          <a:xfrm>
            <a:off x="3294972"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15.354</a:t>
            </a:r>
            <a:endParaRPr lang="en-US" sz="576" dirty="0"/>
          </a:p>
        </p:txBody>
      </p:sp>
      <p:sp>
        <p:nvSpPr>
          <p:cNvPr id="77" name="Text 74"/>
          <p:cNvSpPr/>
          <p:nvPr/>
        </p:nvSpPr>
        <p:spPr>
          <a:xfrm>
            <a:off x="3777759"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8" name="Text 75"/>
          <p:cNvSpPr/>
          <p:nvPr/>
        </p:nvSpPr>
        <p:spPr>
          <a:xfrm>
            <a:off x="4260545"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9" name="Text 76"/>
          <p:cNvSpPr/>
          <p:nvPr/>
        </p:nvSpPr>
        <p:spPr>
          <a:xfrm>
            <a:off x="4743331"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27.509</a:t>
            </a:r>
            <a:endParaRPr lang="en-US" sz="576" dirty="0"/>
          </a:p>
        </p:txBody>
      </p:sp>
      <p:sp>
        <p:nvSpPr>
          <p:cNvPr id="80" name="Text 77"/>
          <p:cNvSpPr/>
          <p:nvPr/>
        </p:nvSpPr>
        <p:spPr>
          <a:xfrm>
            <a:off x="5226118" y="3420219"/>
            <a:ext cx="698284" cy="128588"/>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96.218</a:t>
            </a:r>
            <a:endParaRPr lang="en-US" sz="576" dirty="0"/>
          </a:p>
        </p:txBody>
      </p:sp>
      <p:sp>
        <p:nvSpPr>
          <p:cNvPr id="81" name="Text 78"/>
          <p:cNvSpPr/>
          <p:nvPr/>
        </p:nvSpPr>
        <p:spPr>
          <a:xfrm>
            <a:off x="3294972"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13.637</a:t>
            </a:r>
            <a:endParaRPr lang="en-US" sz="576" dirty="0"/>
          </a:p>
        </p:txBody>
      </p:sp>
      <p:sp>
        <p:nvSpPr>
          <p:cNvPr id="82" name="Text 79"/>
          <p:cNvSpPr/>
          <p:nvPr/>
        </p:nvSpPr>
        <p:spPr>
          <a:xfrm>
            <a:off x="3777759"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83" name="Text 80"/>
          <p:cNvSpPr/>
          <p:nvPr/>
        </p:nvSpPr>
        <p:spPr>
          <a:xfrm>
            <a:off x="4260545"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84" name="Text 81"/>
          <p:cNvSpPr/>
          <p:nvPr/>
        </p:nvSpPr>
        <p:spPr>
          <a:xfrm>
            <a:off x="4743331"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24.431</a:t>
            </a:r>
            <a:endParaRPr lang="en-US" sz="576" dirty="0"/>
          </a:p>
        </p:txBody>
      </p:sp>
      <p:sp>
        <p:nvSpPr>
          <p:cNvPr id="85" name="Text 82"/>
          <p:cNvSpPr/>
          <p:nvPr/>
        </p:nvSpPr>
        <p:spPr>
          <a:xfrm>
            <a:off x="5226118" y="35488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85.455</a:t>
            </a:r>
            <a:endParaRPr lang="en-US" sz="576" dirty="0"/>
          </a:p>
        </p:txBody>
      </p:sp>
      <p:sp>
        <p:nvSpPr>
          <p:cNvPr id="86" name="Text 83"/>
          <p:cNvSpPr/>
          <p:nvPr/>
        </p:nvSpPr>
        <p:spPr>
          <a:xfrm>
            <a:off x="5226118" y="36821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21.047</a:t>
            </a:r>
            <a:endParaRPr lang="en-US" sz="576" dirty="0"/>
          </a:p>
        </p:txBody>
      </p:sp>
      <p:sp>
        <p:nvSpPr>
          <p:cNvPr id="87" name="Text 84"/>
          <p:cNvSpPr/>
          <p:nvPr/>
        </p:nvSpPr>
        <p:spPr>
          <a:xfrm>
            <a:off x="5226118" y="38155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19.533</a:t>
            </a:r>
            <a:endParaRPr lang="en-US" sz="576" dirty="0"/>
          </a:p>
        </p:txBody>
      </p:sp>
      <p:sp>
        <p:nvSpPr>
          <p:cNvPr id="88" name="Text 85"/>
          <p:cNvSpPr/>
          <p:nvPr/>
        </p:nvSpPr>
        <p:spPr>
          <a:xfrm>
            <a:off x="5226118" y="39488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13.637</a:t>
            </a:r>
            <a:endParaRPr lang="en-US" sz="576" dirty="0"/>
          </a:p>
        </p:txBody>
      </p:sp>
      <p:sp>
        <p:nvSpPr>
          <p:cNvPr id="89" name="Text 86"/>
          <p:cNvSpPr/>
          <p:nvPr/>
        </p:nvSpPr>
        <p:spPr>
          <a:xfrm>
            <a:off x="2329400"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12.781</a:t>
            </a:r>
            <a:endParaRPr lang="en-US" sz="576" dirty="0"/>
          </a:p>
        </p:txBody>
      </p:sp>
      <p:sp>
        <p:nvSpPr>
          <p:cNvPr id="90" name="Text 87"/>
          <p:cNvSpPr/>
          <p:nvPr/>
        </p:nvSpPr>
        <p:spPr>
          <a:xfrm>
            <a:off x="2812186"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25.419</a:t>
            </a:r>
            <a:endParaRPr lang="en-US" sz="576" dirty="0"/>
          </a:p>
        </p:txBody>
      </p:sp>
      <p:sp>
        <p:nvSpPr>
          <p:cNvPr id="91" name="Text 88"/>
          <p:cNvSpPr/>
          <p:nvPr/>
        </p:nvSpPr>
        <p:spPr>
          <a:xfrm>
            <a:off x="3294972"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41.761</a:t>
            </a:r>
            <a:endParaRPr lang="en-US" sz="576" dirty="0"/>
          </a:p>
        </p:txBody>
      </p:sp>
      <p:sp>
        <p:nvSpPr>
          <p:cNvPr id="92" name="Text 89"/>
          <p:cNvSpPr/>
          <p:nvPr/>
        </p:nvSpPr>
        <p:spPr>
          <a:xfrm>
            <a:off x="3777759"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93" name="Text 90"/>
          <p:cNvSpPr/>
          <p:nvPr/>
        </p:nvSpPr>
        <p:spPr>
          <a:xfrm>
            <a:off x="4260545"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94" name="Text 91"/>
          <p:cNvSpPr/>
          <p:nvPr/>
        </p:nvSpPr>
        <p:spPr>
          <a:xfrm>
            <a:off x="4743331" y="46156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74.819</a:t>
            </a:r>
            <a:endParaRPr lang="en-US" sz="576" dirty="0"/>
          </a:p>
        </p:txBody>
      </p:sp>
      <p:sp>
        <p:nvSpPr>
          <p:cNvPr id="95" name="Text 92"/>
          <p:cNvSpPr/>
          <p:nvPr/>
        </p:nvSpPr>
        <p:spPr>
          <a:xfrm>
            <a:off x="9303014"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96" name="Text 93"/>
          <p:cNvSpPr/>
          <p:nvPr/>
        </p:nvSpPr>
        <p:spPr>
          <a:xfrm>
            <a:off x="8324195"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97" name="Text 94"/>
          <p:cNvSpPr/>
          <p:nvPr/>
        </p:nvSpPr>
        <p:spPr>
          <a:xfrm>
            <a:off x="7345377"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24.847</a:t>
            </a:r>
            <a:endParaRPr lang="en-US" sz="636" dirty="0"/>
          </a:p>
        </p:txBody>
      </p:sp>
      <p:sp>
        <p:nvSpPr>
          <p:cNvPr id="98" name="Text 95"/>
          <p:cNvSpPr/>
          <p:nvPr/>
        </p:nvSpPr>
        <p:spPr>
          <a:xfrm>
            <a:off x="8324195"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36,8 %</a:t>
            </a:r>
            <a:endParaRPr lang="en-US" sz="636" dirty="0"/>
          </a:p>
        </p:txBody>
      </p:sp>
      <p:sp>
        <p:nvSpPr>
          <p:cNvPr id="99" name="Text 96"/>
          <p:cNvSpPr/>
          <p:nvPr/>
        </p:nvSpPr>
        <p:spPr>
          <a:xfrm>
            <a:off x="7345377"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27.980</a:t>
            </a:r>
            <a:endParaRPr lang="en-US" sz="636" dirty="0"/>
          </a:p>
        </p:txBody>
      </p:sp>
      <p:sp>
        <p:nvSpPr>
          <p:cNvPr id="100" name="Text 97"/>
          <p:cNvSpPr/>
          <p:nvPr/>
        </p:nvSpPr>
        <p:spPr>
          <a:xfrm>
            <a:off x="8324195"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54,4 %</a:t>
            </a:r>
            <a:endParaRPr lang="en-US" sz="636" dirty="0"/>
          </a:p>
        </p:txBody>
      </p:sp>
      <p:sp>
        <p:nvSpPr>
          <p:cNvPr id="101" name="Text 98"/>
          <p:cNvSpPr/>
          <p:nvPr/>
        </p:nvSpPr>
        <p:spPr>
          <a:xfrm>
            <a:off x="7345377"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102" name="Text 99"/>
          <p:cNvSpPr/>
          <p:nvPr/>
        </p:nvSpPr>
        <p:spPr>
          <a:xfrm>
            <a:off x="8324195"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42,9 %</a:t>
            </a:r>
            <a:endParaRPr lang="en-US" sz="636" dirty="0"/>
          </a:p>
        </p:txBody>
      </p:sp>
      <p:sp>
        <p:nvSpPr>
          <p:cNvPr id="103" name="Text 100"/>
          <p:cNvSpPr/>
          <p:nvPr/>
        </p:nvSpPr>
        <p:spPr>
          <a:xfrm>
            <a:off x="7345377"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104" name="Text 101"/>
          <p:cNvSpPr/>
          <p:nvPr/>
        </p:nvSpPr>
        <p:spPr>
          <a:xfrm>
            <a:off x="8324195"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59,3 %</a:t>
            </a:r>
            <a:endParaRPr lang="en-US" sz="636" dirty="0"/>
          </a:p>
        </p:txBody>
      </p:sp>
      <p:sp>
        <p:nvSpPr>
          <p:cNvPr id="105" name="Text 102"/>
          <p:cNvSpPr/>
          <p:nvPr/>
        </p:nvSpPr>
        <p:spPr>
          <a:xfrm>
            <a:off x="7345377"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39.285</a:t>
            </a:r>
            <a:endParaRPr lang="en-US" sz="636" dirty="0"/>
          </a:p>
        </p:txBody>
      </p:sp>
      <p:sp>
        <p:nvSpPr>
          <p:cNvPr id="106" name="Text 103"/>
          <p:cNvSpPr/>
          <p:nvPr/>
        </p:nvSpPr>
        <p:spPr>
          <a:xfrm>
            <a:off x="8324195"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50,1 %</a:t>
            </a:r>
            <a:endParaRPr lang="en-US" sz="636" dirty="0"/>
          </a:p>
        </p:txBody>
      </p:sp>
      <p:sp>
        <p:nvSpPr>
          <p:cNvPr id="107" name="Text 104"/>
          <p:cNvSpPr/>
          <p:nvPr/>
        </p:nvSpPr>
        <p:spPr>
          <a:xfrm>
            <a:off x="8324195"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49,2 %</a:t>
            </a:r>
            <a:endParaRPr lang="en-US" sz="636" dirty="0"/>
          </a:p>
        </p:txBody>
      </p:sp>
      <p:sp>
        <p:nvSpPr>
          <p:cNvPr id="108" name="Text 105"/>
          <p:cNvSpPr/>
          <p:nvPr/>
        </p:nvSpPr>
        <p:spPr>
          <a:xfrm>
            <a:off x="8574667"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10.540</a:t>
            </a:r>
            <a:endParaRPr lang="en-US" sz="552" dirty="0"/>
          </a:p>
        </p:txBody>
      </p:sp>
      <p:sp>
        <p:nvSpPr>
          <p:cNvPr id="109" name="Text 106"/>
          <p:cNvSpPr/>
          <p:nvPr/>
        </p:nvSpPr>
        <p:spPr>
          <a:xfrm>
            <a:off x="9057453"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11.869</a:t>
            </a:r>
            <a:endParaRPr lang="en-US" sz="552" dirty="0"/>
          </a:p>
        </p:txBody>
      </p:sp>
      <p:sp>
        <p:nvSpPr>
          <p:cNvPr id="110" name="Text 107"/>
          <p:cNvSpPr/>
          <p:nvPr/>
        </p:nvSpPr>
        <p:spPr>
          <a:xfrm>
            <a:off x="9540240"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11" name="Text 108"/>
          <p:cNvSpPr/>
          <p:nvPr/>
        </p:nvSpPr>
        <p:spPr>
          <a:xfrm>
            <a:off x="10023026"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12" name="Text 109"/>
          <p:cNvSpPr/>
          <p:nvPr/>
        </p:nvSpPr>
        <p:spPr>
          <a:xfrm>
            <a:off x="10505812"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16.662</a:t>
            </a:r>
            <a:endParaRPr lang="en-US" sz="552" dirty="0"/>
          </a:p>
        </p:txBody>
      </p:sp>
      <p:sp>
        <p:nvSpPr>
          <p:cNvPr id="113" name="Text 110"/>
          <p:cNvSpPr/>
          <p:nvPr/>
        </p:nvSpPr>
        <p:spPr>
          <a:xfrm>
            <a:off x="10988599" y="3420219"/>
            <a:ext cx="698284"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67.420</a:t>
            </a:r>
            <a:endParaRPr lang="en-US" sz="552" dirty="0"/>
          </a:p>
        </p:txBody>
      </p:sp>
      <p:sp>
        <p:nvSpPr>
          <p:cNvPr id="114" name="Text 111"/>
          <p:cNvSpPr/>
          <p:nvPr/>
        </p:nvSpPr>
        <p:spPr>
          <a:xfrm>
            <a:off x="10988599" y="36821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24.996</a:t>
            </a:r>
            <a:endParaRPr lang="en-US" sz="552" dirty="0"/>
          </a:p>
        </p:txBody>
      </p:sp>
      <p:sp>
        <p:nvSpPr>
          <p:cNvPr id="115" name="Text 112"/>
          <p:cNvSpPr/>
          <p:nvPr/>
        </p:nvSpPr>
        <p:spPr>
          <a:xfrm>
            <a:off x="10988599" y="38155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14.356</a:t>
            </a:r>
            <a:endParaRPr lang="en-US" sz="552" dirty="0"/>
          </a:p>
        </p:txBody>
      </p:sp>
      <p:sp>
        <p:nvSpPr>
          <p:cNvPr id="116" name="Text 113"/>
          <p:cNvSpPr/>
          <p:nvPr/>
        </p:nvSpPr>
        <p:spPr>
          <a:xfrm>
            <a:off x="8574667"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10.777</a:t>
            </a:r>
            <a:endParaRPr lang="en-US" sz="552" dirty="0"/>
          </a:p>
        </p:txBody>
      </p:sp>
      <p:sp>
        <p:nvSpPr>
          <p:cNvPr id="117" name="Text 114"/>
          <p:cNvSpPr/>
          <p:nvPr/>
        </p:nvSpPr>
        <p:spPr>
          <a:xfrm>
            <a:off x="9057453"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12.136</a:t>
            </a:r>
            <a:endParaRPr lang="en-US" sz="552" dirty="0"/>
          </a:p>
        </p:txBody>
      </p:sp>
      <p:sp>
        <p:nvSpPr>
          <p:cNvPr id="118" name="Text 115"/>
          <p:cNvSpPr/>
          <p:nvPr/>
        </p:nvSpPr>
        <p:spPr>
          <a:xfrm>
            <a:off x="9540240"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19" name="Text 116"/>
          <p:cNvSpPr/>
          <p:nvPr/>
        </p:nvSpPr>
        <p:spPr>
          <a:xfrm>
            <a:off x="10023026"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20" name="Text 117"/>
          <p:cNvSpPr/>
          <p:nvPr/>
        </p:nvSpPr>
        <p:spPr>
          <a:xfrm>
            <a:off x="10505812"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17.041</a:t>
            </a:r>
            <a:endParaRPr lang="en-US" sz="552" dirty="0"/>
          </a:p>
        </p:txBody>
      </p:sp>
      <p:sp>
        <p:nvSpPr>
          <p:cNvPr id="121" name="Text 118"/>
          <p:cNvSpPr/>
          <p:nvPr/>
        </p:nvSpPr>
        <p:spPr>
          <a:xfrm>
            <a:off x="10988599" y="4615607"/>
            <a:ext cx="698284"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68.940</a:t>
            </a:r>
            <a:endParaRPr lang="en-US" sz="552" dirty="0"/>
          </a:p>
        </p:txBody>
      </p:sp>
      <p:sp>
        <p:nvSpPr>
          <p:cNvPr id="122" name="Text 119"/>
          <p:cNvSpPr/>
          <p:nvPr/>
        </p:nvSpPr>
        <p:spPr>
          <a:xfrm>
            <a:off x="9540240"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23" name="Text 120"/>
          <p:cNvSpPr/>
          <p:nvPr/>
        </p:nvSpPr>
        <p:spPr>
          <a:xfrm>
            <a:off x="10023026"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24" name="Text 121"/>
          <p:cNvSpPr/>
          <p:nvPr/>
        </p:nvSpPr>
        <p:spPr>
          <a:xfrm>
            <a:off x="10505812"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14.019</a:t>
            </a:r>
            <a:endParaRPr lang="en-US" sz="552" dirty="0"/>
          </a:p>
        </p:txBody>
      </p:sp>
      <p:sp>
        <p:nvSpPr>
          <p:cNvPr id="125" name="Text 122"/>
          <p:cNvSpPr/>
          <p:nvPr/>
        </p:nvSpPr>
        <p:spPr>
          <a:xfrm>
            <a:off x="10988599" y="47489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56.723</a:t>
            </a:r>
            <a:endParaRPr lang="en-US" sz="552" dirty="0"/>
          </a:p>
        </p:txBody>
      </p:sp>
      <p:sp>
        <p:nvSpPr>
          <p:cNvPr id="126" name="Text 123"/>
          <p:cNvSpPr/>
          <p:nvPr/>
        </p:nvSpPr>
        <p:spPr>
          <a:xfrm>
            <a:off x="4374991"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3.073</a:t>
            </a:r>
            <a:endParaRPr lang="en-US" sz="1380" dirty="0"/>
          </a:p>
        </p:txBody>
      </p:sp>
      <p:sp>
        <p:nvSpPr>
          <p:cNvPr id="127" name="Text 124"/>
          <p:cNvSpPr/>
          <p:nvPr/>
        </p:nvSpPr>
        <p:spPr>
          <a:xfrm>
            <a:off x="8216595" y="971550"/>
            <a:ext cx="3479812"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4,6 %</a:t>
            </a:r>
            <a:endParaRPr lang="en-US" sz="1380" dirty="0"/>
          </a:p>
        </p:txBody>
      </p:sp>
      <p:sp>
        <p:nvSpPr>
          <p:cNvPr id="128" name="Text 125"/>
          <p:cNvSpPr/>
          <p:nvPr/>
        </p:nvSpPr>
        <p:spPr>
          <a:xfrm>
            <a:off x="533387"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29" name="Text 126"/>
          <p:cNvSpPr/>
          <p:nvPr/>
        </p:nvSpPr>
        <p:spPr>
          <a:xfrm>
            <a:off x="533387"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30" name="Text 127"/>
          <p:cNvSpPr/>
          <p:nvPr/>
        </p:nvSpPr>
        <p:spPr>
          <a:xfrm>
            <a:off x="533387"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31" name="Text 128"/>
          <p:cNvSpPr/>
          <p:nvPr/>
        </p:nvSpPr>
        <p:spPr>
          <a:xfrm>
            <a:off x="533387"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32" name="Text 129"/>
          <p:cNvSpPr/>
          <p:nvPr/>
        </p:nvSpPr>
        <p:spPr>
          <a:xfrm>
            <a:off x="495288"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33" name="Text 130"/>
          <p:cNvSpPr/>
          <p:nvPr/>
        </p:nvSpPr>
        <p:spPr>
          <a:xfrm>
            <a:off x="5226118"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34" name="Text 131"/>
          <p:cNvSpPr/>
          <p:nvPr/>
        </p:nvSpPr>
        <p:spPr>
          <a:xfrm>
            <a:off x="2329400"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4.699</a:t>
            </a:r>
            <a:endParaRPr lang="en-US" sz="576" dirty="0"/>
          </a:p>
        </p:txBody>
      </p:sp>
      <p:sp>
        <p:nvSpPr>
          <p:cNvPr id="135" name="Text 132"/>
          <p:cNvSpPr/>
          <p:nvPr/>
        </p:nvSpPr>
        <p:spPr>
          <a:xfrm>
            <a:off x="2812186"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9.346</a:t>
            </a:r>
            <a:endParaRPr lang="en-US" sz="576" dirty="0"/>
          </a:p>
        </p:txBody>
      </p:sp>
      <p:sp>
        <p:nvSpPr>
          <p:cNvPr id="136" name="Text 133"/>
          <p:cNvSpPr/>
          <p:nvPr/>
        </p:nvSpPr>
        <p:spPr>
          <a:xfrm>
            <a:off x="2329400"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4.173</a:t>
            </a:r>
            <a:endParaRPr lang="en-US" sz="576" dirty="0"/>
          </a:p>
        </p:txBody>
      </p:sp>
      <p:sp>
        <p:nvSpPr>
          <p:cNvPr id="137" name="Text 134"/>
          <p:cNvSpPr/>
          <p:nvPr/>
        </p:nvSpPr>
        <p:spPr>
          <a:xfrm>
            <a:off x="2812186"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8.300</a:t>
            </a:r>
            <a:endParaRPr lang="en-US" sz="576" dirty="0"/>
          </a:p>
        </p:txBody>
      </p:sp>
      <p:sp>
        <p:nvSpPr>
          <p:cNvPr id="138" name="Text 135"/>
          <p:cNvSpPr/>
          <p:nvPr/>
        </p:nvSpPr>
        <p:spPr>
          <a:xfrm>
            <a:off x="2329400"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1.028</a:t>
            </a:r>
            <a:endParaRPr lang="en-US" sz="576" dirty="0"/>
          </a:p>
        </p:txBody>
      </p:sp>
      <p:sp>
        <p:nvSpPr>
          <p:cNvPr id="139" name="Text 136"/>
          <p:cNvSpPr/>
          <p:nvPr/>
        </p:nvSpPr>
        <p:spPr>
          <a:xfrm>
            <a:off x="2812186"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2.044</a:t>
            </a:r>
            <a:endParaRPr lang="en-US" sz="576" dirty="0"/>
          </a:p>
        </p:txBody>
      </p:sp>
      <p:sp>
        <p:nvSpPr>
          <p:cNvPr id="140" name="Text 137"/>
          <p:cNvSpPr/>
          <p:nvPr/>
        </p:nvSpPr>
        <p:spPr>
          <a:xfrm>
            <a:off x="3294972"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3.359</a:t>
            </a:r>
            <a:endParaRPr lang="en-US" sz="576" dirty="0"/>
          </a:p>
        </p:txBody>
      </p:sp>
      <p:sp>
        <p:nvSpPr>
          <p:cNvPr id="141" name="Text 138"/>
          <p:cNvSpPr/>
          <p:nvPr/>
        </p:nvSpPr>
        <p:spPr>
          <a:xfrm>
            <a:off x="3777759"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42" name="Text 139"/>
          <p:cNvSpPr/>
          <p:nvPr/>
        </p:nvSpPr>
        <p:spPr>
          <a:xfrm>
            <a:off x="4260545"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43" name="Text 140"/>
          <p:cNvSpPr/>
          <p:nvPr/>
        </p:nvSpPr>
        <p:spPr>
          <a:xfrm>
            <a:off x="4743331"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6.018</a:t>
            </a:r>
            <a:endParaRPr lang="en-US" sz="576" dirty="0"/>
          </a:p>
        </p:txBody>
      </p:sp>
      <p:sp>
        <p:nvSpPr>
          <p:cNvPr id="144" name="Text 141"/>
          <p:cNvSpPr/>
          <p:nvPr/>
        </p:nvSpPr>
        <p:spPr>
          <a:xfrm>
            <a:off x="2812186"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1.897</a:t>
            </a:r>
            <a:endParaRPr lang="en-US" sz="576" dirty="0"/>
          </a:p>
        </p:txBody>
      </p:sp>
      <p:sp>
        <p:nvSpPr>
          <p:cNvPr id="145" name="Text 142"/>
          <p:cNvSpPr/>
          <p:nvPr/>
        </p:nvSpPr>
        <p:spPr>
          <a:xfrm>
            <a:off x="3294972"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3.117</a:t>
            </a:r>
            <a:endParaRPr lang="en-US" sz="576" dirty="0"/>
          </a:p>
        </p:txBody>
      </p:sp>
      <p:sp>
        <p:nvSpPr>
          <p:cNvPr id="146" name="Text 143"/>
          <p:cNvSpPr/>
          <p:nvPr/>
        </p:nvSpPr>
        <p:spPr>
          <a:xfrm>
            <a:off x="3777759"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7" name="Text 144"/>
          <p:cNvSpPr/>
          <p:nvPr/>
        </p:nvSpPr>
        <p:spPr>
          <a:xfrm>
            <a:off x="4260545"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8" name="Text 145"/>
          <p:cNvSpPr/>
          <p:nvPr/>
        </p:nvSpPr>
        <p:spPr>
          <a:xfrm>
            <a:off x="4743331"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5.585</a:t>
            </a:r>
            <a:endParaRPr lang="en-US" sz="576" dirty="0"/>
          </a:p>
        </p:txBody>
      </p:sp>
      <p:sp>
        <p:nvSpPr>
          <p:cNvPr id="149" name="Text 146"/>
          <p:cNvSpPr/>
          <p:nvPr/>
        </p:nvSpPr>
        <p:spPr>
          <a:xfrm>
            <a:off x="2812186"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1.325</a:t>
            </a:r>
            <a:endParaRPr lang="en-US" sz="576" dirty="0"/>
          </a:p>
        </p:txBody>
      </p:sp>
      <p:sp>
        <p:nvSpPr>
          <p:cNvPr id="150" name="Text 147"/>
          <p:cNvSpPr/>
          <p:nvPr/>
        </p:nvSpPr>
        <p:spPr>
          <a:xfrm>
            <a:off x="3294972"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2.176</a:t>
            </a:r>
            <a:endParaRPr lang="en-US" sz="576" dirty="0"/>
          </a:p>
        </p:txBody>
      </p:sp>
      <p:sp>
        <p:nvSpPr>
          <p:cNvPr id="151" name="Text 148"/>
          <p:cNvSpPr/>
          <p:nvPr/>
        </p:nvSpPr>
        <p:spPr>
          <a:xfrm>
            <a:off x="3777759"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52" name="Text 149"/>
          <p:cNvSpPr/>
          <p:nvPr/>
        </p:nvSpPr>
        <p:spPr>
          <a:xfrm>
            <a:off x="4260545"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53" name="Text 150"/>
          <p:cNvSpPr/>
          <p:nvPr/>
        </p:nvSpPr>
        <p:spPr>
          <a:xfrm>
            <a:off x="4743331"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3.898</a:t>
            </a:r>
            <a:endParaRPr lang="en-US" sz="576" dirty="0"/>
          </a:p>
        </p:txBody>
      </p:sp>
      <p:sp>
        <p:nvSpPr>
          <p:cNvPr id="154" name="Text 151"/>
          <p:cNvSpPr/>
          <p:nvPr/>
        </p:nvSpPr>
        <p:spPr>
          <a:xfrm>
            <a:off x="3294972"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1.126</a:t>
            </a:r>
            <a:endParaRPr lang="en-US" sz="576" dirty="0"/>
          </a:p>
        </p:txBody>
      </p:sp>
      <p:sp>
        <p:nvSpPr>
          <p:cNvPr id="155" name="Text 152"/>
          <p:cNvSpPr/>
          <p:nvPr/>
        </p:nvSpPr>
        <p:spPr>
          <a:xfrm>
            <a:off x="3777759"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6" name="Text 153"/>
          <p:cNvSpPr/>
          <p:nvPr/>
        </p:nvSpPr>
        <p:spPr>
          <a:xfrm>
            <a:off x="4260545"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7" name="Text 154"/>
          <p:cNvSpPr/>
          <p:nvPr/>
        </p:nvSpPr>
        <p:spPr>
          <a:xfrm>
            <a:off x="4743331"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2.018</a:t>
            </a:r>
            <a:endParaRPr lang="en-US" sz="576" dirty="0"/>
          </a:p>
        </p:txBody>
      </p:sp>
      <p:sp>
        <p:nvSpPr>
          <p:cNvPr id="158" name="Text 155"/>
          <p:cNvSpPr/>
          <p:nvPr/>
        </p:nvSpPr>
        <p:spPr>
          <a:xfrm>
            <a:off x="5226118" y="40822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7.059</a:t>
            </a:r>
            <a:endParaRPr lang="en-US" sz="576" dirty="0"/>
          </a:p>
        </p:txBody>
      </p:sp>
      <p:sp>
        <p:nvSpPr>
          <p:cNvPr id="159" name="Text 156"/>
          <p:cNvSpPr/>
          <p:nvPr/>
        </p:nvSpPr>
        <p:spPr>
          <a:xfrm>
            <a:off x="3777759"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60" name="Text 157"/>
          <p:cNvSpPr/>
          <p:nvPr/>
        </p:nvSpPr>
        <p:spPr>
          <a:xfrm>
            <a:off x="4260545"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61" name="Text 158"/>
          <p:cNvSpPr/>
          <p:nvPr/>
        </p:nvSpPr>
        <p:spPr>
          <a:xfrm>
            <a:off x="4743331"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1.445</a:t>
            </a:r>
            <a:endParaRPr lang="en-US" sz="576" dirty="0"/>
          </a:p>
        </p:txBody>
      </p:sp>
      <p:sp>
        <p:nvSpPr>
          <p:cNvPr id="162" name="Text 159"/>
          <p:cNvSpPr/>
          <p:nvPr/>
        </p:nvSpPr>
        <p:spPr>
          <a:xfrm>
            <a:off x="5226118" y="42155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5.053</a:t>
            </a:r>
            <a:endParaRPr lang="en-US" sz="576" dirty="0"/>
          </a:p>
        </p:txBody>
      </p:sp>
      <p:sp>
        <p:nvSpPr>
          <p:cNvPr id="163" name="Text 160"/>
          <p:cNvSpPr/>
          <p:nvPr/>
        </p:nvSpPr>
        <p:spPr>
          <a:xfrm>
            <a:off x="4743331"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1.300</a:t>
            </a:r>
            <a:endParaRPr lang="en-US" sz="576" dirty="0"/>
          </a:p>
        </p:txBody>
      </p:sp>
      <p:sp>
        <p:nvSpPr>
          <p:cNvPr id="164" name="Text 161"/>
          <p:cNvSpPr/>
          <p:nvPr/>
        </p:nvSpPr>
        <p:spPr>
          <a:xfrm>
            <a:off x="5226118" y="43489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4.544</a:t>
            </a:r>
            <a:endParaRPr lang="en-US" sz="576" dirty="0"/>
          </a:p>
        </p:txBody>
      </p:sp>
      <p:sp>
        <p:nvSpPr>
          <p:cNvPr id="165" name="Text 162"/>
          <p:cNvSpPr/>
          <p:nvPr/>
        </p:nvSpPr>
        <p:spPr>
          <a:xfrm>
            <a:off x="3294972"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1.461</a:t>
            </a:r>
            <a:endParaRPr lang="en-US" sz="576" dirty="0"/>
          </a:p>
        </p:txBody>
      </p:sp>
      <p:sp>
        <p:nvSpPr>
          <p:cNvPr id="166" name="Text 163"/>
          <p:cNvSpPr/>
          <p:nvPr/>
        </p:nvSpPr>
        <p:spPr>
          <a:xfrm>
            <a:off x="3777759"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7" name="Text 164"/>
          <p:cNvSpPr/>
          <p:nvPr/>
        </p:nvSpPr>
        <p:spPr>
          <a:xfrm>
            <a:off x="4260545"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8" name="Text 165"/>
          <p:cNvSpPr/>
          <p:nvPr/>
        </p:nvSpPr>
        <p:spPr>
          <a:xfrm>
            <a:off x="4743331"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2.617</a:t>
            </a:r>
            <a:endParaRPr lang="en-US" sz="576" dirty="0"/>
          </a:p>
        </p:txBody>
      </p:sp>
      <p:sp>
        <p:nvSpPr>
          <p:cNvPr id="169" name="Text 166"/>
          <p:cNvSpPr/>
          <p:nvPr/>
        </p:nvSpPr>
        <p:spPr>
          <a:xfrm>
            <a:off x="5226118" y="44822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9.154</a:t>
            </a:r>
            <a:endParaRPr lang="en-US" sz="576" dirty="0"/>
          </a:p>
        </p:txBody>
      </p:sp>
      <p:sp>
        <p:nvSpPr>
          <p:cNvPr id="170" name="Text 167"/>
          <p:cNvSpPr/>
          <p:nvPr/>
        </p:nvSpPr>
        <p:spPr>
          <a:xfrm>
            <a:off x="504812" y="4615607"/>
            <a:ext cx="1824587" cy="128588"/>
          </a:xfrm>
          <a:prstGeom prst="rect">
            <a:avLst/>
          </a:prstGeom>
          <a:noFill/>
          <a:ln/>
        </p:spPr>
        <p:txBody>
          <a:bodyPr wrap="none" lIns="0" tIns="0" rIns="0" bIns="0" rtlCol="0" anchor="t"/>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71" name="Text 168"/>
          <p:cNvSpPr/>
          <p:nvPr/>
        </p:nvSpPr>
        <p:spPr>
          <a:xfrm>
            <a:off x="7345377"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72" name="Text 169"/>
          <p:cNvSpPr/>
          <p:nvPr/>
        </p:nvSpPr>
        <p:spPr>
          <a:xfrm>
            <a:off x="6295868"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73" name="Text 170"/>
          <p:cNvSpPr/>
          <p:nvPr/>
        </p:nvSpPr>
        <p:spPr>
          <a:xfrm>
            <a:off x="7345377"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8.083</a:t>
            </a:r>
            <a:endParaRPr lang="en-US" sz="636" dirty="0"/>
          </a:p>
        </p:txBody>
      </p:sp>
      <p:sp>
        <p:nvSpPr>
          <p:cNvPr id="174" name="Text 171"/>
          <p:cNvSpPr/>
          <p:nvPr/>
        </p:nvSpPr>
        <p:spPr>
          <a:xfrm>
            <a:off x="10281832" y="1981944"/>
            <a:ext cx="1414576"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7,8 %</a:t>
            </a:r>
            <a:endParaRPr lang="en-US" sz="636" dirty="0"/>
          </a:p>
        </p:txBody>
      </p:sp>
      <p:sp>
        <p:nvSpPr>
          <p:cNvPr id="175" name="Text 172"/>
          <p:cNvSpPr/>
          <p:nvPr/>
        </p:nvSpPr>
        <p:spPr>
          <a:xfrm>
            <a:off x="10281832" y="21200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4,8 %</a:t>
            </a:r>
            <a:endParaRPr lang="en-US" sz="636" dirty="0"/>
          </a:p>
        </p:txBody>
      </p:sp>
      <p:sp>
        <p:nvSpPr>
          <p:cNvPr id="176" name="Text 173"/>
          <p:cNvSpPr/>
          <p:nvPr/>
        </p:nvSpPr>
        <p:spPr>
          <a:xfrm>
            <a:off x="6295868"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77" name="Text 174"/>
          <p:cNvSpPr/>
          <p:nvPr/>
        </p:nvSpPr>
        <p:spPr>
          <a:xfrm>
            <a:off x="10281832" y="226293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4,0 %</a:t>
            </a:r>
            <a:endParaRPr lang="en-US" sz="636" dirty="0"/>
          </a:p>
        </p:txBody>
      </p:sp>
      <p:sp>
        <p:nvSpPr>
          <p:cNvPr id="178" name="Text 175"/>
          <p:cNvSpPr/>
          <p:nvPr/>
        </p:nvSpPr>
        <p:spPr>
          <a:xfrm>
            <a:off x="6295868"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79" name="Text 176"/>
          <p:cNvSpPr/>
          <p:nvPr/>
        </p:nvSpPr>
        <p:spPr>
          <a:xfrm>
            <a:off x="10281832" y="240580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3,7 %</a:t>
            </a:r>
            <a:endParaRPr lang="en-US" sz="636" dirty="0"/>
          </a:p>
        </p:txBody>
      </p:sp>
      <p:sp>
        <p:nvSpPr>
          <p:cNvPr id="180" name="Text 177"/>
          <p:cNvSpPr/>
          <p:nvPr/>
        </p:nvSpPr>
        <p:spPr>
          <a:xfrm>
            <a:off x="10281832" y="254868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4,3 %</a:t>
            </a:r>
            <a:endParaRPr lang="en-US" sz="636" dirty="0"/>
          </a:p>
        </p:txBody>
      </p:sp>
      <p:sp>
        <p:nvSpPr>
          <p:cNvPr id="181" name="Text 178"/>
          <p:cNvSpPr/>
          <p:nvPr/>
        </p:nvSpPr>
        <p:spPr>
          <a:xfrm>
            <a:off x="6295868"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82" name="Text 179"/>
          <p:cNvSpPr/>
          <p:nvPr/>
        </p:nvSpPr>
        <p:spPr>
          <a:xfrm>
            <a:off x="10281832" y="26915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5,0 %</a:t>
            </a:r>
            <a:endParaRPr lang="en-US" sz="636" dirty="0"/>
          </a:p>
        </p:txBody>
      </p:sp>
      <p:sp>
        <p:nvSpPr>
          <p:cNvPr id="183" name="Text 180"/>
          <p:cNvSpPr/>
          <p:nvPr/>
        </p:nvSpPr>
        <p:spPr>
          <a:xfrm>
            <a:off x="6257769"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84" name="Text 181"/>
          <p:cNvSpPr/>
          <p:nvPr/>
        </p:nvSpPr>
        <p:spPr>
          <a:xfrm>
            <a:off x="10027342" y="2858244"/>
            <a:ext cx="211628" cy="95250"/>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3.073</a:t>
            </a:r>
            <a:endParaRPr lang="en-US" sz="636" dirty="0"/>
          </a:p>
        </p:txBody>
      </p:sp>
      <p:sp>
        <p:nvSpPr>
          <p:cNvPr id="185" name="Text 182"/>
          <p:cNvSpPr/>
          <p:nvPr/>
        </p:nvSpPr>
        <p:spPr>
          <a:xfrm>
            <a:off x="10281832" y="2834432"/>
            <a:ext cx="1414576"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3,9 %</a:t>
            </a:r>
            <a:endParaRPr lang="en-US" sz="636" dirty="0"/>
          </a:p>
        </p:txBody>
      </p:sp>
      <p:sp>
        <p:nvSpPr>
          <p:cNvPr id="186" name="Text 183"/>
          <p:cNvSpPr/>
          <p:nvPr/>
        </p:nvSpPr>
        <p:spPr>
          <a:xfrm>
            <a:off x="10988599"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87" name="Text 184"/>
          <p:cNvSpPr/>
          <p:nvPr/>
        </p:nvSpPr>
        <p:spPr>
          <a:xfrm>
            <a:off x="8091881"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3.429</a:t>
            </a:r>
            <a:endParaRPr lang="en-US" sz="552" dirty="0"/>
          </a:p>
        </p:txBody>
      </p:sp>
      <p:sp>
        <p:nvSpPr>
          <p:cNvPr id="188" name="Text 185"/>
          <p:cNvSpPr/>
          <p:nvPr/>
        </p:nvSpPr>
        <p:spPr>
          <a:xfrm>
            <a:off x="10988599" y="35488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3.073</a:t>
            </a:r>
            <a:endParaRPr lang="en-US" sz="552" dirty="0"/>
          </a:p>
        </p:txBody>
      </p:sp>
      <p:sp>
        <p:nvSpPr>
          <p:cNvPr id="189" name="Text 186"/>
          <p:cNvSpPr/>
          <p:nvPr/>
        </p:nvSpPr>
        <p:spPr>
          <a:xfrm>
            <a:off x="8091881"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1.271</a:t>
            </a:r>
            <a:endParaRPr lang="en-US" sz="552" dirty="0"/>
          </a:p>
        </p:txBody>
      </p:sp>
      <p:sp>
        <p:nvSpPr>
          <p:cNvPr id="190" name="Text 187"/>
          <p:cNvSpPr/>
          <p:nvPr/>
        </p:nvSpPr>
        <p:spPr>
          <a:xfrm>
            <a:off x="8574667"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3.908</a:t>
            </a:r>
            <a:endParaRPr lang="en-US" sz="552" dirty="0"/>
          </a:p>
        </p:txBody>
      </p:sp>
      <p:sp>
        <p:nvSpPr>
          <p:cNvPr id="191" name="Text 188"/>
          <p:cNvSpPr/>
          <p:nvPr/>
        </p:nvSpPr>
        <p:spPr>
          <a:xfrm>
            <a:off x="9057453"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4.400</a:t>
            </a:r>
            <a:endParaRPr lang="en-US" sz="552" dirty="0"/>
          </a:p>
        </p:txBody>
      </p:sp>
      <p:sp>
        <p:nvSpPr>
          <p:cNvPr id="192" name="Text 189"/>
          <p:cNvSpPr/>
          <p:nvPr/>
        </p:nvSpPr>
        <p:spPr>
          <a:xfrm>
            <a:off x="9540240"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93" name="Text 190"/>
          <p:cNvSpPr/>
          <p:nvPr/>
        </p:nvSpPr>
        <p:spPr>
          <a:xfrm>
            <a:off x="10023026"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94" name="Text 191"/>
          <p:cNvSpPr/>
          <p:nvPr/>
        </p:nvSpPr>
        <p:spPr>
          <a:xfrm>
            <a:off x="10505812"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6.179</a:t>
            </a:r>
            <a:endParaRPr lang="en-US" sz="552" dirty="0"/>
          </a:p>
        </p:txBody>
      </p:sp>
      <p:sp>
        <p:nvSpPr>
          <p:cNvPr id="195" name="Text 192"/>
          <p:cNvSpPr/>
          <p:nvPr/>
        </p:nvSpPr>
        <p:spPr>
          <a:xfrm>
            <a:off x="8574667"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2.244</a:t>
            </a:r>
            <a:endParaRPr lang="en-US" sz="552" dirty="0"/>
          </a:p>
        </p:txBody>
      </p:sp>
      <p:sp>
        <p:nvSpPr>
          <p:cNvPr id="196" name="Text 193"/>
          <p:cNvSpPr/>
          <p:nvPr/>
        </p:nvSpPr>
        <p:spPr>
          <a:xfrm>
            <a:off x="9057453"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2.527</a:t>
            </a:r>
            <a:endParaRPr lang="en-US" sz="552" dirty="0"/>
          </a:p>
        </p:txBody>
      </p:sp>
      <p:sp>
        <p:nvSpPr>
          <p:cNvPr id="197" name="Text 194"/>
          <p:cNvSpPr/>
          <p:nvPr/>
        </p:nvSpPr>
        <p:spPr>
          <a:xfrm>
            <a:off x="9540240"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8" name="Text 195"/>
          <p:cNvSpPr/>
          <p:nvPr/>
        </p:nvSpPr>
        <p:spPr>
          <a:xfrm>
            <a:off x="10023026"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9" name="Text 196"/>
          <p:cNvSpPr/>
          <p:nvPr/>
        </p:nvSpPr>
        <p:spPr>
          <a:xfrm>
            <a:off x="10505812"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3.549</a:t>
            </a:r>
            <a:endParaRPr lang="en-US" sz="552" dirty="0"/>
          </a:p>
        </p:txBody>
      </p:sp>
      <p:sp>
        <p:nvSpPr>
          <p:cNvPr id="200" name="Text 197"/>
          <p:cNvSpPr/>
          <p:nvPr/>
        </p:nvSpPr>
        <p:spPr>
          <a:xfrm>
            <a:off x="9057453"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1.035</a:t>
            </a:r>
            <a:endParaRPr lang="en-US" sz="552" dirty="0"/>
          </a:p>
        </p:txBody>
      </p:sp>
      <p:sp>
        <p:nvSpPr>
          <p:cNvPr id="201" name="Text 198"/>
          <p:cNvSpPr/>
          <p:nvPr/>
        </p:nvSpPr>
        <p:spPr>
          <a:xfrm>
            <a:off x="9540240"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202" name="Text 199"/>
          <p:cNvSpPr/>
          <p:nvPr/>
        </p:nvSpPr>
        <p:spPr>
          <a:xfrm>
            <a:off x="10023026"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203" name="Text 200"/>
          <p:cNvSpPr/>
          <p:nvPr/>
        </p:nvSpPr>
        <p:spPr>
          <a:xfrm>
            <a:off x="10505812"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1.454</a:t>
            </a:r>
            <a:endParaRPr lang="en-US" sz="552" dirty="0"/>
          </a:p>
        </p:txBody>
      </p:sp>
      <p:sp>
        <p:nvSpPr>
          <p:cNvPr id="204" name="Text 201"/>
          <p:cNvSpPr/>
          <p:nvPr/>
        </p:nvSpPr>
        <p:spPr>
          <a:xfrm>
            <a:off x="10988599" y="39488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5.881</a:t>
            </a:r>
            <a:endParaRPr lang="en-US" sz="552" dirty="0"/>
          </a:p>
        </p:txBody>
      </p:sp>
      <p:sp>
        <p:nvSpPr>
          <p:cNvPr id="205" name="Text 202"/>
          <p:cNvSpPr/>
          <p:nvPr/>
        </p:nvSpPr>
        <p:spPr>
          <a:xfrm>
            <a:off x="8574667"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1.098</a:t>
            </a:r>
            <a:endParaRPr lang="en-US" sz="552" dirty="0"/>
          </a:p>
        </p:txBody>
      </p:sp>
      <p:sp>
        <p:nvSpPr>
          <p:cNvPr id="206" name="Text 203"/>
          <p:cNvSpPr/>
          <p:nvPr/>
        </p:nvSpPr>
        <p:spPr>
          <a:xfrm>
            <a:off x="9057453"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1.237</a:t>
            </a:r>
            <a:endParaRPr lang="en-US" sz="552" dirty="0"/>
          </a:p>
        </p:txBody>
      </p:sp>
      <p:sp>
        <p:nvSpPr>
          <p:cNvPr id="207" name="Text 204"/>
          <p:cNvSpPr/>
          <p:nvPr/>
        </p:nvSpPr>
        <p:spPr>
          <a:xfrm>
            <a:off x="9540240"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8" name="Text 205"/>
          <p:cNvSpPr/>
          <p:nvPr/>
        </p:nvSpPr>
        <p:spPr>
          <a:xfrm>
            <a:off x="10023026"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9" name="Text 206"/>
          <p:cNvSpPr/>
          <p:nvPr/>
        </p:nvSpPr>
        <p:spPr>
          <a:xfrm>
            <a:off x="10505812"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1.738</a:t>
            </a:r>
            <a:endParaRPr lang="en-US" sz="552" dirty="0"/>
          </a:p>
        </p:txBody>
      </p:sp>
      <p:sp>
        <p:nvSpPr>
          <p:cNvPr id="210" name="Text 207"/>
          <p:cNvSpPr/>
          <p:nvPr/>
        </p:nvSpPr>
        <p:spPr>
          <a:xfrm>
            <a:off x="10988599" y="40822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7.026</a:t>
            </a:r>
            <a:endParaRPr lang="en-US" sz="552" dirty="0"/>
          </a:p>
        </p:txBody>
      </p:sp>
      <p:sp>
        <p:nvSpPr>
          <p:cNvPr id="211" name="Text 208"/>
          <p:cNvSpPr/>
          <p:nvPr/>
        </p:nvSpPr>
        <p:spPr>
          <a:xfrm>
            <a:off x="10988599" y="42155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3.063</a:t>
            </a:r>
            <a:endParaRPr lang="en-US" sz="552" dirty="0"/>
          </a:p>
        </p:txBody>
      </p:sp>
      <p:sp>
        <p:nvSpPr>
          <p:cNvPr id="212" name="Text 209"/>
          <p:cNvSpPr/>
          <p:nvPr/>
        </p:nvSpPr>
        <p:spPr>
          <a:xfrm>
            <a:off x="10988599" y="43489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2.911</a:t>
            </a:r>
            <a:endParaRPr lang="en-US" sz="552" dirty="0"/>
          </a:p>
        </p:txBody>
      </p:sp>
      <p:sp>
        <p:nvSpPr>
          <p:cNvPr id="213" name="Text 210"/>
          <p:cNvSpPr/>
          <p:nvPr/>
        </p:nvSpPr>
        <p:spPr>
          <a:xfrm>
            <a:off x="9057453"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1.094</a:t>
            </a:r>
            <a:endParaRPr lang="en-US" sz="552" dirty="0"/>
          </a:p>
        </p:txBody>
      </p:sp>
      <p:sp>
        <p:nvSpPr>
          <p:cNvPr id="214" name="Text 211"/>
          <p:cNvSpPr/>
          <p:nvPr/>
        </p:nvSpPr>
        <p:spPr>
          <a:xfrm>
            <a:off x="9540240"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15" name="Text 212"/>
          <p:cNvSpPr/>
          <p:nvPr/>
        </p:nvSpPr>
        <p:spPr>
          <a:xfrm>
            <a:off x="10023026"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16" name="Text 213"/>
          <p:cNvSpPr/>
          <p:nvPr/>
        </p:nvSpPr>
        <p:spPr>
          <a:xfrm>
            <a:off x="10505812"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1.537</a:t>
            </a:r>
            <a:endParaRPr lang="en-US" sz="552" dirty="0"/>
          </a:p>
        </p:txBody>
      </p:sp>
      <p:sp>
        <p:nvSpPr>
          <p:cNvPr id="217" name="Text 214"/>
          <p:cNvSpPr/>
          <p:nvPr/>
        </p:nvSpPr>
        <p:spPr>
          <a:xfrm>
            <a:off x="10988599" y="44822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6.214</a:t>
            </a:r>
            <a:endParaRPr lang="en-US" sz="552" dirty="0"/>
          </a:p>
        </p:txBody>
      </p:sp>
      <p:sp>
        <p:nvSpPr>
          <p:cNvPr id="218" name="Text 215"/>
          <p:cNvSpPr/>
          <p:nvPr/>
        </p:nvSpPr>
        <p:spPr>
          <a:xfrm>
            <a:off x="8091881" y="46156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3.506</a:t>
            </a:r>
            <a:endParaRPr lang="en-US" sz="552" dirty="0"/>
          </a:p>
        </p:txBody>
      </p:sp>
      <p:sp>
        <p:nvSpPr>
          <p:cNvPr id="219" name="Text 216"/>
          <p:cNvSpPr/>
          <p:nvPr/>
        </p:nvSpPr>
        <p:spPr>
          <a:xfrm>
            <a:off x="8091881"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2.885</a:t>
            </a:r>
            <a:endParaRPr lang="en-US" sz="552" dirty="0"/>
          </a:p>
        </p:txBody>
      </p:sp>
      <p:sp>
        <p:nvSpPr>
          <p:cNvPr id="220" name="Text 217"/>
          <p:cNvSpPr/>
          <p:nvPr/>
        </p:nvSpPr>
        <p:spPr>
          <a:xfrm>
            <a:off x="8574667"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8.867</a:t>
            </a:r>
            <a:endParaRPr lang="en-US" sz="552" dirty="0"/>
          </a:p>
        </p:txBody>
      </p:sp>
      <p:sp>
        <p:nvSpPr>
          <p:cNvPr id="221" name="Text 218"/>
          <p:cNvSpPr/>
          <p:nvPr/>
        </p:nvSpPr>
        <p:spPr>
          <a:xfrm>
            <a:off x="9057453"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9.986</a:t>
            </a:r>
            <a:endParaRPr lang="en-US" sz="552" dirty="0"/>
          </a:p>
        </p:txBody>
      </p:sp>
      <p:sp>
        <p:nvSpPr>
          <p:cNvPr id="222" name="Text 219"/>
          <p:cNvSpPr/>
          <p:nvPr/>
        </p:nvSpPr>
        <p:spPr>
          <a:xfrm>
            <a:off x="8574667"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1.343</a:t>
            </a:r>
            <a:endParaRPr lang="en-US" sz="552" dirty="0"/>
          </a:p>
        </p:txBody>
      </p:sp>
      <p:sp>
        <p:nvSpPr>
          <p:cNvPr id="223" name="Text 220"/>
          <p:cNvSpPr/>
          <p:nvPr/>
        </p:nvSpPr>
        <p:spPr>
          <a:xfrm>
            <a:off x="9057453"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1.513</a:t>
            </a:r>
            <a:endParaRPr lang="en-US" sz="552" dirty="0"/>
          </a:p>
        </p:txBody>
      </p:sp>
      <p:sp>
        <p:nvSpPr>
          <p:cNvPr id="224" name="Text 221"/>
          <p:cNvSpPr/>
          <p:nvPr/>
        </p:nvSpPr>
        <p:spPr>
          <a:xfrm>
            <a:off x="9540240"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25" name="Text 222"/>
          <p:cNvSpPr/>
          <p:nvPr/>
        </p:nvSpPr>
        <p:spPr>
          <a:xfrm>
            <a:off x="10023026"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26" name="Text 223"/>
          <p:cNvSpPr/>
          <p:nvPr/>
        </p:nvSpPr>
        <p:spPr>
          <a:xfrm>
            <a:off x="10505812"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2.125</a:t>
            </a:r>
            <a:endParaRPr lang="en-US" sz="552" dirty="0"/>
          </a:p>
        </p:txBody>
      </p:sp>
      <p:sp>
        <p:nvSpPr>
          <p:cNvPr id="227" name="Text 224"/>
          <p:cNvSpPr/>
          <p:nvPr/>
        </p:nvSpPr>
        <p:spPr>
          <a:xfrm>
            <a:off x="10988599" y="48823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8.594</a:t>
            </a:r>
            <a:endParaRPr lang="en-US" sz="552" dirty="0"/>
          </a:p>
        </p:txBody>
      </p:sp>
      <p:sp>
        <p:nvSpPr>
          <p:cNvPr id="228" name="Text 225"/>
          <p:cNvSpPr/>
          <p:nvPr/>
        </p:nvSpPr>
        <p:spPr>
          <a:xfrm>
            <a:off x="10988599" y="50156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3.347</a:t>
            </a:r>
            <a:endParaRPr lang="en-US" sz="552" dirty="0"/>
          </a:p>
        </p:txBody>
      </p:sp>
      <p:sp>
        <p:nvSpPr>
          <p:cNvPr id="229" name="Text 226"/>
          <p:cNvSpPr/>
          <p:nvPr/>
        </p:nvSpPr>
        <p:spPr>
          <a:xfrm>
            <a:off x="533387"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30" name="Text 227"/>
          <p:cNvSpPr/>
          <p:nvPr/>
        </p:nvSpPr>
        <p:spPr>
          <a:xfrm>
            <a:off x="6295868"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31" name="Text 228"/>
          <p:cNvSpPr/>
          <p:nvPr/>
        </p:nvSpPr>
        <p:spPr>
          <a:xfrm>
            <a:off x="495288"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32" name="Text 229"/>
          <p:cNvSpPr/>
          <p:nvPr/>
        </p:nvSpPr>
        <p:spPr>
          <a:xfrm>
            <a:off x="232940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33" name="Text 230"/>
          <p:cNvSpPr/>
          <p:nvPr/>
        </p:nvSpPr>
        <p:spPr>
          <a:xfrm>
            <a:off x="281218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4" name="Text 231"/>
          <p:cNvSpPr/>
          <p:nvPr/>
        </p:nvSpPr>
        <p:spPr>
          <a:xfrm>
            <a:off x="329497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5" name="Text 232"/>
          <p:cNvSpPr/>
          <p:nvPr/>
        </p:nvSpPr>
        <p:spPr>
          <a:xfrm>
            <a:off x="3777759"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6" name="Text 233"/>
          <p:cNvSpPr/>
          <p:nvPr/>
        </p:nvSpPr>
        <p:spPr>
          <a:xfrm>
            <a:off x="4260545"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7" name="Text 234"/>
          <p:cNvSpPr/>
          <p:nvPr/>
        </p:nvSpPr>
        <p:spPr>
          <a:xfrm>
            <a:off x="474333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8" name="Text 235"/>
          <p:cNvSpPr/>
          <p:nvPr/>
        </p:nvSpPr>
        <p:spPr>
          <a:xfrm>
            <a:off x="2329400"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954</a:t>
            </a:r>
            <a:endParaRPr lang="en-US" sz="576" dirty="0"/>
          </a:p>
        </p:txBody>
      </p:sp>
      <p:sp>
        <p:nvSpPr>
          <p:cNvPr id="239" name="Text 236"/>
          <p:cNvSpPr/>
          <p:nvPr/>
        </p:nvSpPr>
        <p:spPr>
          <a:xfrm>
            <a:off x="2329400"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666</a:t>
            </a:r>
            <a:endParaRPr lang="en-US" sz="576" dirty="0"/>
          </a:p>
        </p:txBody>
      </p:sp>
      <p:sp>
        <p:nvSpPr>
          <p:cNvPr id="240" name="Text 237"/>
          <p:cNvSpPr/>
          <p:nvPr/>
        </p:nvSpPr>
        <p:spPr>
          <a:xfrm>
            <a:off x="2329400"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345</a:t>
            </a:r>
            <a:endParaRPr lang="en-US" sz="576" dirty="0"/>
          </a:p>
        </p:txBody>
      </p:sp>
      <p:sp>
        <p:nvSpPr>
          <p:cNvPr id="241" name="Text 238"/>
          <p:cNvSpPr/>
          <p:nvPr/>
        </p:nvSpPr>
        <p:spPr>
          <a:xfrm>
            <a:off x="2812186"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686</a:t>
            </a:r>
            <a:endParaRPr lang="en-US" sz="576" dirty="0"/>
          </a:p>
        </p:txBody>
      </p:sp>
      <p:sp>
        <p:nvSpPr>
          <p:cNvPr id="242" name="Text 239"/>
          <p:cNvSpPr/>
          <p:nvPr/>
        </p:nvSpPr>
        <p:spPr>
          <a:xfrm>
            <a:off x="2329400"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247</a:t>
            </a:r>
            <a:endParaRPr lang="en-US" sz="576" dirty="0"/>
          </a:p>
        </p:txBody>
      </p:sp>
      <p:sp>
        <p:nvSpPr>
          <p:cNvPr id="243" name="Text 240"/>
          <p:cNvSpPr/>
          <p:nvPr/>
        </p:nvSpPr>
        <p:spPr>
          <a:xfrm>
            <a:off x="2812186"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491</a:t>
            </a:r>
            <a:endParaRPr lang="en-US" sz="576" dirty="0"/>
          </a:p>
        </p:txBody>
      </p:sp>
      <p:sp>
        <p:nvSpPr>
          <p:cNvPr id="244" name="Text 241"/>
          <p:cNvSpPr/>
          <p:nvPr/>
        </p:nvSpPr>
        <p:spPr>
          <a:xfrm>
            <a:off x="3294972"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806</a:t>
            </a:r>
            <a:endParaRPr lang="en-US" sz="576" dirty="0"/>
          </a:p>
        </p:txBody>
      </p:sp>
      <p:sp>
        <p:nvSpPr>
          <p:cNvPr id="245" name="Text 242"/>
          <p:cNvSpPr/>
          <p:nvPr/>
        </p:nvSpPr>
        <p:spPr>
          <a:xfrm>
            <a:off x="2329400"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222</a:t>
            </a:r>
            <a:endParaRPr lang="en-US" sz="576" dirty="0"/>
          </a:p>
        </p:txBody>
      </p:sp>
      <p:sp>
        <p:nvSpPr>
          <p:cNvPr id="246" name="Text 243"/>
          <p:cNvSpPr/>
          <p:nvPr/>
        </p:nvSpPr>
        <p:spPr>
          <a:xfrm>
            <a:off x="2812186"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441</a:t>
            </a:r>
            <a:endParaRPr lang="en-US" sz="576" dirty="0"/>
          </a:p>
        </p:txBody>
      </p:sp>
      <p:sp>
        <p:nvSpPr>
          <p:cNvPr id="247" name="Text 244"/>
          <p:cNvSpPr/>
          <p:nvPr/>
        </p:nvSpPr>
        <p:spPr>
          <a:xfrm>
            <a:off x="3294972"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725</a:t>
            </a:r>
            <a:endParaRPr lang="en-US" sz="576" dirty="0"/>
          </a:p>
        </p:txBody>
      </p:sp>
      <p:sp>
        <p:nvSpPr>
          <p:cNvPr id="248" name="Text 245"/>
          <p:cNvSpPr/>
          <p:nvPr/>
        </p:nvSpPr>
        <p:spPr>
          <a:xfrm>
            <a:off x="3777759"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49" name="Text 246"/>
          <p:cNvSpPr/>
          <p:nvPr/>
        </p:nvSpPr>
        <p:spPr>
          <a:xfrm>
            <a:off x="4260545"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50" name="Text 247"/>
          <p:cNvSpPr/>
          <p:nvPr/>
        </p:nvSpPr>
        <p:spPr>
          <a:xfrm>
            <a:off x="2329400"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447</a:t>
            </a:r>
            <a:endParaRPr lang="en-US" sz="576" dirty="0"/>
          </a:p>
        </p:txBody>
      </p:sp>
      <p:sp>
        <p:nvSpPr>
          <p:cNvPr id="251" name="Text 248"/>
          <p:cNvSpPr/>
          <p:nvPr/>
        </p:nvSpPr>
        <p:spPr>
          <a:xfrm>
            <a:off x="2812186" y="44822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889</a:t>
            </a:r>
            <a:endParaRPr lang="en-US" sz="576" dirty="0"/>
          </a:p>
        </p:txBody>
      </p:sp>
      <p:sp>
        <p:nvSpPr>
          <p:cNvPr id="252" name="Text 249"/>
          <p:cNvSpPr/>
          <p:nvPr/>
        </p:nvSpPr>
        <p:spPr>
          <a:xfrm>
            <a:off x="6257769"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53" name="Text 250"/>
          <p:cNvSpPr/>
          <p:nvPr/>
        </p:nvSpPr>
        <p:spPr>
          <a:xfrm>
            <a:off x="10102945" y="2000994"/>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322</a:t>
            </a:r>
            <a:endParaRPr lang="en-US" sz="636" dirty="0"/>
          </a:p>
        </p:txBody>
      </p:sp>
      <p:sp>
        <p:nvSpPr>
          <p:cNvPr id="254" name="Text 251"/>
          <p:cNvSpPr/>
          <p:nvPr/>
        </p:nvSpPr>
        <p:spPr>
          <a:xfrm>
            <a:off x="10106963" y="214386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441</a:t>
            </a:r>
            <a:endParaRPr lang="en-US" sz="636" dirty="0"/>
          </a:p>
        </p:txBody>
      </p:sp>
      <p:sp>
        <p:nvSpPr>
          <p:cNvPr id="255" name="Text 252"/>
          <p:cNvSpPr/>
          <p:nvPr/>
        </p:nvSpPr>
        <p:spPr>
          <a:xfrm>
            <a:off x="10090890" y="2286744"/>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600</a:t>
            </a:r>
            <a:endParaRPr lang="en-US" sz="636" dirty="0"/>
          </a:p>
        </p:txBody>
      </p:sp>
      <p:sp>
        <p:nvSpPr>
          <p:cNvPr id="256" name="Text 253"/>
          <p:cNvSpPr/>
          <p:nvPr/>
        </p:nvSpPr>
        <p:spPr>
          <a:xfrm>
            <a:off x="10103094" y="242961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345</a:t>
            </a:r>
            <a:endParaRPr lang="en-US" sz="636" dirty="0"/>
          </a:p>
        </p:txBody>
      </p:sp>
      <p:sp>
        <p:nvSpPr>
          <p:cNvPr id="257" name="Text 254"/>
          <p:cNvSpPr/>
          <p:nvPr/>
        </p:nvSpPr>
        <p:spPr>
          <a:xfrm>
            <a:off x="10100563" y="2572494"/>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750</a:t>
            </a:r>
            <a:endParaRPr lang="en-US" sz="636" dirty="0"/>
          </a:p>
        </p:txBody>
      </p:sp>
      <p:sp>
        <p:nvSpPr>
          <p:cNvPr id="258" name="Text 255"/>
          <p:cNvSpPr/>
          <p:nvPr/>
        </p:nvSpPr>
        <p:spPr>
          <a:xfrm>
            <a:off x="10105326" y="271536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615</a:t>
            </a:r>
            <a:endParaRPr lang="en-US" sz="636" dirty="0"/>
          </a:p>
        </p:txBody>
      </p:sp>
      <p:sp>
        <p:nvSpPr>
          <p:cNvPr id="259" name="Text 256"/>
          <p:cNvSpPr/>
          <p:nvPr/>
        </p:nvSpPr>
        <p:spPr>
          <a:xfrm>
            <a:off x="809188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60" name="Text 257"/>
          <p:cNvSpPr/>
          <p:nvPr/>
        </p:nvSpPr>
        <p:spPr>
          <a:xfrm>
            <a:off x="8574667"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61" name="Text 258"/>
          <p:cNvSpPr/>
          <p:nvPr/>
        </p:nvSpPr>
        <p:spPr>
          <a:xfrm>
            <a:off x="9057453"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62" name="Text 259"/>
          <p:cNvSpPr/>
          <p:nvPr/>
        </p:nvSpPr>
        <p:spPr>
          <a:xfrm>
            <a:off x="954024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63" name="Text 260"/>
          <p:cNvSpPr/>
          <p:nvPr/>
        </p:nvSpPr>
        <p:spPr>
          <a:xfrm>
            <a:off x="1002302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64" name="Text 261"/>
          <p:cNvSpPr/>
          <p:nvPr/>
        </p:nvSpPr>
        <p:spPr>
          <a:xfrm>
            <a:off x="1050581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65" name="Text 262"/>
          <p:cNvSpPr/>
          <p:nvPr/>
        </p:nvSpPr>
        <p:spPr>
          <a:xfrm>
            <a:off x="8091881"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66" name="Text 263"/>
          <p:cNvSpPr/>
          <p:nvPr/>
        </p:nvSpPr>
        <p:spPr>
          <a:xfrm>
            <a:off x="8574667"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480</a:t>
            </a:r>
            <a:endParaRPr lang="en-US" sz="552" dirty="0"/>
          </a:p>
        </p:txBody>
      </p:sp>
      <p:sp>
        <p:nvSpPr>
          <p:cNvPr id="267" name="Text 264"/>
          <p:cNvSpPr/>
          <p:nvPr/>
        </p:nvSpPr>
        <p:spPr>
          <a:xfrm>
            <a:off x="9057453"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541</a:t>
            </a:r>
            <a:endParaRPr lang="en-US" sz="552" dirty="0"/>
          </a:p>
        </p:txBody>
      </p:sp>
      <p:sp>
        <p:nvSpPr>
          <p:cNvPr id="268" name="Text 265"/>
          <p:cNvSpPr/>
          <p:nvPr/>
        </p:nvSpPr>
        <p:spPr>
          <a:xfrm>
            <a:off x="9540240"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69" name="Text 266"/>
          <p:cNvSpPr/>
          <p:nvPr/>
        </p:nvSpPr>
        <p:spPr>
          <a:xfrm>
            <a:off x="10023026"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70" name="Text 267"/>
          <p:cNvSpPr/>
          <p:nvPr/>
        </p:nvSpPr>
        <p:spPr>
          <a:xfrm>
            <a:off x="10505812"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760</a:t>
            </a:r>
            <a:endParaRPr lang="en-US" sz="552" dirty="0"/>
          </a:p>
        </p:txBody>
      </p:sp>
      <p:sp>
        <p:nvSpPr>
          <p:cNvPr id="271" name="Text 268"/>
          <p:cNvSpPr/>
          <p:nvPr/>
        </p:nvSpPr>
        <p:spPr>
          <a:xfrm>
            <a:off x="8091881"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730</a:t>
            </a:r>
            <a:endParaRPr lang="en-US" sz="552" dirty="0"/>
          </a:p>
        </p:txBody>
      </p:sp>
      <p:sp>
        <p:nvSpPr>
          <p:cNvPr id="272" name="Text 269"/>
          <p:cNvSpPr/>
          <p:nvPr/>
        </p:nvSpPr>
        <p:spPr>
          <a:xfrm>
            <a:off x="8091881"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299</a:t>
            </a:r>
            <a:endParaRPr lang="en-US" sz="552" dirty="0"/>
          </a:p>
        </p:txBody>
      </p:sp>
      <p:sp>
        <p:nvSpPr>
          <p:cNvPr id="273" name="Text 270"/>
          <p:cNvSpPr/>
          <p:nvPr/>
        </p:nvSpPr>
        <p:spPr>
          <a:xfrm>
            <a:off x="8574667"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919</a:t>
            </a:r>
            <a:endParaRPr lang="en-US" sz="552" dirty="0"/>
          </a:p>
        </p:txBody>
      </p:sp>
      <p:sp>
        <p:nvSpPr>
          <p:cNvPr id="274" name="Text 271"/>
          <p:cNvSpPr/>
          <p:nvPr/>
        </p:nvSpPr>
        <p:spPr>
          <a:xfrm>
            <a:off x="8091881"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357</a:t>
            </a:r>
            <a:endParaRPr lang="en-US" sz="552" dirty="0"/>
          </a:p>
        </p:txBody>
      </p:sp>
      <p:sp>
        <p:nvSpPr>
          <p:cNvPr id="275" name="Text 272"/>
          <p:cNvSpPr/>
          <p:nvPr/>
        </p:nvSpPr>
        <p:spPr>
          <a:xfrm>
            <a:off x="8091881"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76" name="Text 273"/>
          <p:cNvSpPr/>
          <p:nvPr/>
        </p:nvSpPr>
        <p:spPr>
          <a:xfrm>
            <a:off x="8574667"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479</a:t>
            </a:r>
            <a:endParaRPr lang="en-US" sz="552" dirty="0"/>
          </a:p>
        </p:txBody>
      </p:sp>
      <p:sp>
        <p:nvSpPr>
          <p:cNvPr id="277" name="Text 274"/>
          <p:cNvSpPr/>
          <p:nvPr/>
        </p:nvSpPr>
        <p:spPr>
          <a:xfrm>
            <a:off x="9057453"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539</a:t>
            </a:r>
            <a:endParaRPr lang="en-US" sz="552" dirty="0"/>
          </a:p>
        </p:txBody>
      </p:sp>
      <p:sp>
        <p:nvSpPr>
          <p:cNvPr id="278" name="Text 275"/>
          <p:cNvSpPr/>
          <p:nvPr/>
        </p:nvSpPr>
        <p:spPr>
          <a:xfrm>
            <a:off x="9540240"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79" name="Text 276"/>
          <p:cNvSpPr/>
          <p:nvPr/>
        </p:nvSpPr>
        <p:spPr>
          <a:xfrm>
            <a:off x="10023026"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80" name="Text 277"/>
          <p:cNvSpPr/>
          <p:nvPr/>
        </p:nvSpPr>
        <p:spPr>
          <a:xfrm>
            <a:off x="10505812"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757</a:t>
            </a:r>
            <a:endParaRPr lang="en-US" sz="552" dirty="0"/>
          </a:p>
        </p:txBody>
      </p:sp>
      <p:sp>
        <p:nvSpPr>
          <p:cNvPr id="281" name="Text 278"/>
          <p:cNvSpPr/>
          <p:nvPr/>
        </p:nvSpPr>
        <p:spPr>
          <a:xfrm>
            <a:off x="8091881"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282" name="Text 279"/>
          <p:cNvSpPr/>
          <p:nvPr/>
        </p:nvSpPr>
        <p:spPr>
          <a:xfrm>
            <a:off x="8574667"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283" name="Text 280"/>
          <p:cNvSpPr/>
          <p:nvPr/>
        </p:nvSpPr>
        <p:spPr>
          <a:xfrm>
            <a:off x="9057453"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512</a:t>
            </a:r>
            <a:endParaRPr lang="en-US" sz="552" dirty="0"/>
          </a:p>
        </p:txBody>
      </p:sp>
      <p:sp>
        <p:nvSpPr>
          <p:cNvPr id="284" name="Text 281"/>
          <p:cNvSpPr/>
          <p:nvPr/>
        </p:nvSpPr>
        <p:spPr>
          <a:xfrm>
            <a:off x="9540240"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5" name="Text 282"/>
          <p:cNvSpPr/>
          <p:nvPr/>
        </p:nvSpPr>
        <p:spPr>
          <a:xfrm>
            <a:off x="10023026"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6" name="Text 283"/>
          <p:cNvSpPr/>
          <p:nvPr/>
        </p:nvSpPr>
        <p:spPr>
          <a:xfrm>
            <a:off x="10505812"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720</a:t>
            </a:r>
            <a:endParaRPr lang="en-US" sz="552" dirty="0"/>
          </a:p>
        </p:txBody>
      </p:sp>
      <p:sp>
        <p:nvSpPr>
          <p:cNvPr id="287" name="Text 284"/>
          <p:cNvSpPr/>
          <p:nvPr/>
        </p:nvSpPr>
        <p:spPr>
          <a:xfrm>
            <a:off x="8091881"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316</a:t>
            </a:r>
            <a:endParaRPr lang="en-US" sz="552" dirty="0"/>
          </a:p>
        </p:txBody>
      </p:sp>
      <p:sp>
        <p:nvSpPr>
          <p:cNvPr id="288" name="Text 285"/>
          <p:cNvSpPr/>
          <p:nvPr/>
        </p:nvSpPr>
        <p:spPr>
          <a:xfrm>
            <a:off x="8574667"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971</a:t>
            </a:r>
            <a:endParaRPr lang="en-US" sz="552" dirty="0"/>
          </a:p>
        </p:txBody>
      </p:sp>
      <p:sp>
        <p:nvSpPr>
          <p:cNvPr id="289" name="Text 286"/>
          <p:cNvSpPr/>
          <p:nvPr/>
        </p:nvSpPr>
        <p:spPr>
          <a:xfrm>
            <a:off x="8091881"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437</a:t>
            </a:r>
            <a:endParaRPr lang="en-US" sz="552" dirty="0"/>
          </a:p>
        </p:txBody>
      </p:sp>
      <p:sp>
        <p:nvSpPr>
          <p:cNvPr id="290" name="Text 287"/>
          <p:cNvSpPr/>
          <p:nvPr/>
        </p:nvSpPr>
        <p:spPr>
          <a:xfrm>
            <a:off x="8091881"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170</a:t>
            </a:r>
            <a:endParaRPr lang="en-US" sz="552" dirty="0"/>
          </a:p>
        </p:txBody>
      </p:sp>
      <p:sp>
        <p:nvSpPr>
          <p:cNvPr id="291" name="Text 288"/>
          <p:cNvSpPr/>
          <p:nvPr/>
        </p:nvSpPr>
        <p:spPr>
          <a:xfrm>
            <a:off x="8574667"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523</a:t>
            </a:r>
            <a:endParaRPr lang="en-US" sz="552" dirty="0"/>
          </a:p>
        </p:txBody>
      </p:sp>
      <p:sp>
        <p:nvSpPr>
          <p:cNvPr id="292" name="Text 289"/>
          <p:cNvSpPr/>
          <p:nvPr/>
        </p:nvSpPr>
        <p:spPr>
          <a:xfrm>
            <a:off x="9057453"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589</a:t>
            </a:r>
            <a:endParaRPr lang="en-US" sz="552" dirty="0"/>
          </a:p>
        </p:txBody>
      </p:sp>
      <p:sp>
        <p:nvSpPr>
          <p:cNvPr id="293" name="Text 290"/>
          <p:cNvSpPr/>
          <p:nvPr/>
        </p:nvSpPr>
        <p:spPr>
          <a:xfrm>
            <a:off x="9540240"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4" name="Text 291"/>
          <p:cNvSpPr/>
          <p:nvPr/>
        </p:nvSpPr>
        <p:spPr>
          <a:xfrm>
            <a:off x="10023026"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5" name="Text 292"/>
          <p:cNvSpPr/>
          <p:nvPr/>
        </p:nvSpPr>
        <p:spPr>
          <a:xfrm>
            <a:off x="10505812" y="50156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827</a:t>
            </a:r>
            <a:endParaRPr lang="en-US" sz="552" dirty="0"/>
          </a:p>
        </p:txBody>
      </p:sp>
      <p:sp>
        <p:nvSpPr>
          <p:cNvPr id="296" name="Text 293"/>
          <p:cNvSpPr/>
          <p:nvPr/>
        </p:nvSpPr>
        <p:spPr>
          <a:xfrm>
            <a:off x="10988599" y="5149007"/>
            <a:ext cx="698284" cy="128588"/>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276</a:t>
            </a:r>
            <a:endParaRPr lang="en-US" sz="552" dirty="0"/>
          </a:p>
        </p:txBody>
      </p:sp>
      <p:sp>
        <p:nvSpPr>
          <p:cNvPr id="297" name="Text 294"/>
          <p:cNvSpPr/>
          <p:nvPr/>
        </p:nvSpPr>
        <p:spPr>
          <a:xfrm>
            <a:off x="8091881"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a:t>
            </a:r>
            <a:endParaRPr lang="en-US" sz="552" dirty="0"/>
          </a:p>
        </p:txBody>
      </p:sp>
      <p:sp>
        <p:nvSpPr>
          <p:cNvPr id="298" name="Text 295"/>
          <p:cNvSpPr/>
          <p:nvPr/>
        </p:nvSpPr>
        <p:spPr>
          <a:xfrm>
            <a:off x="8574667"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43</a:t>
            </a:r>
            <a:endParaRPr lang="en-US" sz="552" dirty="0"/>
          </a:p>
        </p:txBody>
      </p:sp>
      <p:sp>
        <p:nvSpPr>
          <p:cNvPr id="299" name="Text 296"/>
          <p:cNvSpPr/>
          <p:nvPr/>
        </p:nvSpPr>
        <p:spPr>
          <a:xfrm>
            <a:off x="9057453"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49</a:t>
            </a:r>
            <a:endParaRPr lang="en-US" sz="552" dirty="0"/>
          </a:p>
        </p:txBody>
      </p:sp>
      <p:sp>
        <p:nvSpPr>
          <p:cNvPr id="300" name="Text 297"/>
          <p:cNvSpPr/>
          <p:nvPr/>
        </p:nvSpPr>
        <p:spPr>
          <a:xfrm>
            <a:off x="9540240"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301" name="Text 298"/>
          <p:cNvSpPr/>
          <p:nvPr/>
        </p:nvSpPr>
        <p:spPr>
          <a:xfrm>
            <a:off x="10023026"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302" name="Text 299"/>
          <p:cNvSpPr/>
          <p:nvPr/>
        </p:nvSpPr>
        <p:spPr>
          <a:xfrm>
            <a:off x="10505812" y="51490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01_Repositorios\13_Presentaciones\dash\televentas\ppt_slides\sk_08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722888"/>
            <a:ext cx="7384518"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no contacto es el más alto del portafolio (), impulsado masivamente por , lo que indica bases quemadas o números desactualizados.</a:t>
            </a:r>
            <a:endParaRPr lang="en-US" sz="744" dirty="0"/>
          </a:p>
        </p:txBody>
      </p:sp>
      <p:sp>
        <p:nvSpPr>
          <p:cNvPr id="4" name="Text 1"/>
          <p:cNvSpPr/>
          <p:nvPr/>
        </p:nvSpPr>
        <p:spPr>
          <a:xfrm>
            <a:off x="685783" y="5869335"/>
            <a:ext cx="7384518"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En abril y mayo el rechazo llegó al  porque se enviaron registros duplicados.  al actualizarse la base.</a:t>
            </a:r>
            <a:endParaRPr lang="en-US" sz="744" dirty="0"/>
          </a:p>
        </p:txBody>
      </p:sp>
      <p:sp>
        <p:nvSpPr>
          <p:cNvPr id="5" name="Text 2"/>
          <p:cNvSpPr/>
          <p:nvPr/>
        </p:nvSpPr>
        <p:spPr>
          <a:xfrm>
            <a:off x="685783" y="5576441"/>
            <a:ext cx="7384518"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tiene una , con un rechazo promedio del .</a:t>
            </a:r>
            <a:endParaRPr lang="en-US" sz="744" dirty="0"/>
          </a:p>
        </p:txBody>
      </p:sp>
      <p:sp>
        <p:nvSpPr>
          <p:cNvPr id="6" name="Text 3"/>
          <p:cNvSpPr/>
          <p:nvPr/>
        </p:nvSpPr>
        <p:spPr>
          <a:xfrm>
            <a:off x="1213514" y="219075"/>
            <a:ext cx="3960664"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Masiva Voluntarios</a:t>
            </a:r>
            <a:endParaRPr lang="en-US" sz="1260" dirty="0"/>
          </a:p>
        </p:txBody>
      </p:sp>
      <p:sp>
        <p:nvSpPr>
          <p:cNvPr id="7" name="Text 4"/>
          <p:cNvSpPr/>
          <p:nvPr/>
        </p:nvSpPr>
        <p:spPr>
          <a:xfrm>
            <a:off x="4374991"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Importante repunte tras actualización de base</a:t>
            </a:r>
            <a:endParaRPr lang="en-US" sz="648" dirty="0"/>
          </a:p>
        </p:txBody>
      </p:sp>
      <p:sp>
        <p:nvSpPr>
          <p:cNvPr id="8" name="Text 5"/>
          <p:cNvSpPr/>
          <p:nvPr/>
        </p:nvSpPr>
        <p:spPr>
          <a:xfrm>
            <a:off x="504812" y="36821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Supera edad para Microseguro (69 años)</a:t>
            </a:r>
            <a:endParaRPr lang="en-US" sz="576" dirty="0"/>
          </a:p>
        </p:txBody>
      </p:sp>
      <p:sp>
        <p:nvSpPr>
          <p:cNvPr id="9" name="Text 6"/>
          <p:cNvSpPr/>
          <p:nvPr/>
        </p:nvSpPr>
        <p:spPr>
          <a:xfrm>
            <a:off x="6257769"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0" name="Text 7"/>
          <p:cNvSpPr/>
          <p:nvPr/>
        </p:nvSpPr>
        <p:spPr>
          <a:xfrm>
            <a:off x="533387"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masiva para gestión del marcador</a:t>
            </a:r>
            <a:endParaRPr lang="en-US" sz="648" dirty="0"/>
          </a:p>
        </p:txBody>
      </p:sp>
      <p:sp>
        <p:nvSpPr>
          <p:cNvPr id="11" name="Text 8"/>
          <p:cNvSpPr/>
          <p:nvPr/>
        </p:nvSpPr>
        <p:spPr>
          <a:xfrm>
            <a:off x="495288"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2" name="Text 9"/>
          <p:cNvSpPr/>
          <p:nvPr/>
        </p:nvSpPr>
        <p:spPr>
          <a:xfrm>
            <a:off x="6267293" y="48823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3" name="Text 10"/>
          <p:cNvSpPr/>
          <p:nvPr/>
        </p:nvSpPr>
        <p:spPr>
          <a:xfrm>
            <a:off x="8794481" y="209550"/>
            <a:ext cx="2825729"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Masiva Voluntarios</a:t>
            </a:r>
            <a:endParaRPr lang="en-US" sz="840" dirty="0"/>
          </a:p>
        </p:txBody>
      </p:sp>
      <p:sp>
        <p:nvSpPr>
          <p:cNvPr id="14" name="Text 11"/>
          <p:cNvSpPr/>
          <p:nvPr/>
        </p:nvSpPr>
        <p:spPr>
          <a:xfrm>
            <a:off x="6267293" y="40822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precio / datos</a:t>
            </a:r>
            <a:endParaRPr lang="en-US" sz="552" dirty="0"/>
          </a:p>
        </p:txBody>
      </p:sp>
      <p:sp>
        <p:nvSpPr>
          <p:cNvPr id="15" name="Text 12"/>
          <p:cNvSpPr/>
          <p:nvPr/>
        </p:nvSpPr>
        <p:spPr>
          <a:xfrm>
            <a:off x="6257769"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6" name="Text 13"/>
          <p:cNvSpPr/>
          <p:nvPr/>
        </p:nvSpPr>
        <p:spPr>
          <a:xfrm>
            <a:off x="504812" y="38155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Excede límite de edad (&gt;69 años)</a:t>
            </a:r>
            <a:endParaRPr lang="en-US" sz="576" dirty="0"/>
          </a:p>
        </p:txBody>
      </p:sp>
      <p:sp>
        <p:nvSpPr>
          <p:cNvPr id="17" name="Text 14"/>
          <p:cNvSpPr/>
          <p:nvPr/>
        </p:nvSpPr>
        <p:spPr>
          <a:xfrm>
            <a:off x="504812" y="35488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8" name="Text 15"/>
          <p:cNvSpPr/>
          <p:nvPr/>
        </p:nvSpPr>
        <p:spPr>
          <a:xfrm>
            <a:off x="552436" y="5420469"/>
            <a:ext cx="1624567"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9" name="Text 16"/>
          <p:cNvSpPr/>
          <p:nvPr/>
        </p:nvSpPr>
        <p:spPr>
          <a:xfrm>
            <a:off x="495288"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0" name="Text 17"/>
          <p:cNvSpPr/>
          <p:nvPr/>
        </p:nvSpPr>
        <p:spPr>
          <a:xfrm>
            <a:off x="504812" y="3420219"/>
            <a:ext cx="1824587" cy="128588"/>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21" name="Text 18"/>
          <p:cNvSpPr/>
          <p:nvPr/>
        </p:nvSpPr>
        <p:spPr>
          <a:xfrm>
            <a:off x="6267293" y="36821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2" name="Text 19"/>
          <p:cNvSpPr/>
          <p:nvPr/>
        </p:nvSpPr>
        <p:spPr>
          <a:xfrm>
            <a:off x="8216595" y="1219944"/>
            <a:ext cx="3479812"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Aporte incremental constante</a:t>
            </a:r>
            <a:endParaRPr lang="en-US" sz="648" dirty="0"/>
          </a:p>
        </p:txBody>
      </p:sp>
      <p:sp>
        <p:nvSpPr>
          <p:cNvPr id="23" name="Text 20"/>
          <p:cNvSpPr/>
          <p:nvPr/>
        </p:nvSpPr>
        <p:spPr>
          <a:xfrm>
            <a:off x="6267293" y="42155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4" name="Text 21"/>
          <p:cNvSpPr/>
          <p:nvPr/>
        </p:nvSpPr>
        <p:spPr>
          <a:xfrm>
            <a:off x="6267293" y="39488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5" name="Text 22"/>
          <p:cNvSpPr/>
          <p:nvPr/>
        </p:nvSpPr>
        <p:spPr>
          <a:xfrm>
            <a:off x="504812" y="39488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Seguro Voluntario Activo</a:t>
            </a:r>
            <a:endParaRPr lang="en-US" sz="576" dirty="0"/>
          </a:p>
        </p:txBody>
      </p:sp>
      <p:sp>
        <p:nvSpPr>
          <p:cNvPr id="26" name="Text 23"/>
          <p:cNvSpPr/>
          <p:nvPr/>
        </p:nvSpPr>
        <p:spPr>
          <a:xfrm>
            <a:off x="6267293" y="46156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7" name="Text 24"/>
          <p:cNvSpPr/>
          <p:nvPr/>
        </p:nvSpPr>
        <p:spPr>
          <a:xfrm>
            <a:off x="504812" y="43489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8" name="Text 25"/>
          <p:cNvSpPr/>
          <p:nvPr/>
        </p:nvSpPr>
        <p:spPr>
          <a:xfrm>
            <a:off x="6267293" y="43489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9" name="Text 26"/>
          <p:cNvSpPr/>
          <p:nvPr/>
        </p:nvSpPr>
        <p:spPr>
          <a:xfrm>
            <a:off x="4374991"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EFECTIVIDAD EN JUNIO</a:t>
            </a:r>
            <a:endParaRPr lang="en-US" sz="672" dirty="0"/>
          </a:p>
        </p:txBody>
      </p:sp>
      <p:sp>
        <p:nvSpPr>
          <p:cNvPr id="30" name="Text 27"/>
          <p:cNvSpPr/>
          <p:nvPr/>
        </p:nvSpPr>
        <p:spPr>
          <a:xfrm>
            <a:off x="8216595" y="828675"/>
            <a:ext cx="3479812"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CONSEGUIDAS</a:t>
            </a:r>
            <a:endParaRPr lang="en-US" sz="672" dirty="0"/>
          </a:p>
        </p:txBody>
      </p:sp>
      <p:sp>
        <p:nvSpPr>
          <p:cNvPr id="31" name="Text 28"/>
          <p:cNvSpPr/>
          <p:nvPr/>
        </p:nvSpPr>
        <p:spPr>
          <a:xfrm>
            <a:off x="504812" y="42155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2" name="Text 29"/>
          <p:cNvSpPr/>
          <p:nvPr/>
        </p:nvSpPr>
        <p:spPr>
          <a:xfrm>
            <a:off x="533387"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INSUMO APTO TOTAL</a:t>
            </a:r>
            <a:endParaRPr lang="en-US" sz="672" dirty="0"/>
          </a:p>
        </p:txBody>
      </p:sp>
      <p:sp>
        <p:nvSpPr>
          <p:cNvPr id="33" name="Text 30"/>
          <p:cNvSpPr/>
          <p:nvPr/>
        </p:nvSpPr>
        <p:spPr>
          <a:xfrm>
            <a:off x="6267293" y="3420219"/>
            <a:ext cx="1824587" cy="128588"/>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4" name="Text 31"/>
          <p:cNvSpPr/>
          <p:nvPr/>
        </p:nvSpPr>
        <p:spPr>
          <a:xfrm>
            <a:off x="6267293" y="38155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5" name="Text 32"/>
          <p:cNvSpPr/>
          <p:nvPr/>
        </p:nvSpPr>
        <p:spPr>
          <a:xfrm>
            <a:off x="6267293" y="5015657"/>
            <a:ext cx="1824587" cy="128588"/>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6" name="Text 33"/>
          <p:cNvSpPr/>
          <p:nvPr/>
        </p:nvSpPr>
        <p:spPr>
          <a:xfrm>
            <a:off x="504812" y="40822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Teléfono Vacío</a:t>
            </a:r>
            <a:endParaRPr lang="en-US" sz="576" dirty="0"/>
          </a:p>
        </p:txBody>
      </p:sp>
      <p:sp>
        <p:nvSpPr>
          <p:cNvPr id="37" name="Text 34"/>
          <p:cNvSpPr/>
          <p:nvPr/>
        </p:nvSpPr>
        <p:spPr>
          <a:xfrm>
            <a:off x="10281832" y="1810494"/>
            <a:ext cx="141457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8" name="Text 35"/>
          <p:cNvSpPr/>
          <p:nvPr/>
        </p:nvSpPr>
        <p:spPr>
          <a:xfrm>
            <a:off x="6267293" y="35488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9" name="Text 36"/>
          <p:cNvSpPr/>
          <p:nvPr/>
        </p:nvSpPr>
        <p:spPr>
          <a:xfrm>
            <a:off x="6267293"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0" name="Text 37"/>
          <p:cNvSpPr/>
          <p:nvPr/>
        </p:nvSpPr>
        <p:spPr>
          <a:xfrm>
            <a:off x="6267293" y="4482257"/>
            <a:ext cx="1824587" cy="133350"/>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1" name="Text 38"/>
          <p:cNvSpPr/>
          <p:nvPr/>
        </p:nvSpPr>
        <p:spPr>
          <a:xfrm>
            <a:off x="6267293" y="47489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2" name="Text 39"/>
          <p:cNvSpPr/>
          <p:nvPr/>
        </p:nvSpPr>
        <p:spPr>
          <a:xfrm>
            <a:off x="2996877" y="1810494"/>
            <a:ext cx="152277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3" name="Text 40"/>
          <p:cNvSpPr/>
          <p:nvPr/>
        </p:nvSpPr>
        <p:spPr>
          <a:xfrm>
            <a:off x="8324195"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4" name="Text 41"/>
          <p:cNvSpPr/>
          <p:nvPr/>
        </p:nvSpPr>
        <p:spPr>
          <a:xfrm>
            <a:off x="1582896" y="1810494"/>
            <a:ext cx="141398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5" name="Text 42"/>
          <p:cNvSpPr/>
          <p:nvPr/>
        </p:nvSpPr>
        <p:spPr>
          <a:xfrm>
            <a:off x="4519648" y="1810494"/>
            <a:ext cx="141427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6" name="Text 43"/>
          <p:cNvSpPr/>
          <p:nvPr/>
        </p:nvSpPr>
        <p:spPr>
          <a:xfrm>
            <a:off x="533387"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119.828</a:t>
            </a:r>
            <a:endParaRPr lang="en-US" sz="1380" dirty="0"/>
          </a:p>
        </p:txBody>
      </p:sp>
      <p:sp>
        <p:nvSpPr>
          <p:cNvPr id="47" name="Text 44"/>
          <p:cNvSpPr/>
          <p:nvPr/>
        </p:nvSpPr>
        <p:spPr>
          <a:xfrm>
            <a:off x="533387"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8" name="Text 45"/>
          <p:cNvSpPr/>
          <p:nvPr/>
        </p:nvSpPr>
        <p:spPr>
          <a:xfrm>
            <a:off x="1582896" y="2834432"/>
            <a:ext cx="141398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255.138</a:t>
            </a:r>
            <a:endParaRPr lang="en-US" sz="636" dirty="0"/>
          </a:p>
        </p:txBody>
      </p:sp>
      <p:sp>
        <p:nvSpPr>
          <p:cNvPr id="49" name="Text 46"/>
          <p:cNvSpPr/>
          <p:nvPr/>
        </p:nvSpPr>
        <p:spPr>
          <a:xfrm>
            <a:off x="2996877" y="2834432"/>
            <a:ext cx="152277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135.313</a:t>
            </a:r>
            <a:endParaRPr lang="en-US" sz="636" dirty="0"/>
          </a:p>
        </p:txBody>
      </p:sp>
      <p:sp>
        <p:nvSpPr>
          <p:cNvPr id="50" name="Text 47"/>
          <p:cNvSpPr/>
          <p:nvPr/>
        </p:nvSpPr>
        <p:spPr>
          <a:xfrm>
            <a:off x="5226118" y="3420219"/>
            <a:ext cx="698284" cy="128588"/>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103.678</a:t>
            </a:r>
            <a:endParaRPr lang="en-US" sz="576" dirty="0"/>
          </a:p>
        </p:txBody>
      </p:sp>
      <p:sp>
        <p:nvSpPr>
          <p:cNvPr id="51" name="Text 48"/>
          <p:cNvSpPr/>
          <p:nvPr/>
        </p:nvSpPr>
        <p:spPr>
          <a:xfrm>
            <a:off x="5226118" y="4482257"/>
            <a:ext cx="698284"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135.313</a:t>
            </a:r>
            <a:endParaRPr lang="en-US" sz="576" dirty="0"/>
          </a:p>
        </p:txBody>
      </p:sp>
      <p:sp>
        <p:nvSpPr>
          <p:cNvPr id="52" name="Text 49"/>
          <p:cNvSpPr/>
          <p:nvPr/>
        </p:nvSpPr>
        <p:spPr>
          <a:xfrm>
            <a:off x="6295868"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3" name="Text 50"/>
          <p:cNvSpPr/>
          <p:nvPr/>
        </p:nvSpPr>
        <p:spPr>
          <a:xfrm>
            <a:off x="7345377"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119.825</a:t>
            </a:r>
            <a:endParaRPr lang="en-US" sz="636" dirty="0"/>
          </a:p>
        </p:txBody>
      </p:sp>
      <p:sp>
        <p:nvSpPr>
          <p:cNvPr id="54" name="Text 51"/>
          <p:cNvSpPr/>
          <p:nvPr/>
        </p:nvSpPr>
        <p:spPr>
          <a:xfrm>
            <a:off x="1582896" y="1981944"/>
            <a:ext cx="141398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55.557</a:t>
            </a:r>
            <a:endParaRPr lang="en-US" sz="636" dirty="0"/>
          </a:p>
        </p:txBody>
      </p:sp>
      <p:sp>
        <p:nvSpPr>
          <p:cNvPr id="55" name="Text 52"/>
          <p:cNvSpPr/>
          <p:nvPr/>
        </p:nvSpPr>
        <p:spPr>
          <a:xfrm>
            <a:off x="1582896" y="21200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24.673</a:t>
            </a:r>
            <a:endParaRPr lang="en-US" sz="636" dirty="0"/>
          </a:p>
        </p:txBody>
      </p:sp>
      <p:sp>
        <p:nvSpPr>
          <p:cNvPr id="56" name="Text 53"/>
          <p:cNvSpPr/>
          <p:nvPr/>
        </p:nvSpPr>
        <p:spPr>
          <a:xfrm>
            <a:off x="2996877" y="21200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11.397</a:t>
            </a:r>
            <a:endParaRPr lang="en-US" sz="636" dirty="0"/>
          </a:p>
        </p:txBody>
      </p:sp>
      <p:sp>
        <p:nvSpPr>
          <p:cNvPr id="57" name="Text 54"/>
          <p:cNvSpPr/>
          <p:nvPr/>
        </p:nvSpPr>
        <p:spPr>
          <a:xfrm>
            <a:off x="4519648" y="21200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46,2 %</a:t>
            </a:r>
            <a:endParaRPr lang="en-US" sz="636" dirty="0"/>
          </a:p>
        </p:txBody>
      </p:sp>
      <p:sp>
        <p:nvSpPr>
          <p:cNvPr id="58" name="Text 55"/>
          <p:cNvSpPr/>
          <p:nvPr/>
        </p:nvSpPr>
        <p:spPr>
          <a:xfrm>
            <a:off x="1582896" y="226293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41.870</a:t>
            </a:r>
            <a:endParaRPr lang="en-US" sz="636" dirty="0"/>
          </a:p>
        </p:txBody>
      </p:sp>
      <p:sp>
        <p:nvSpPr>
          <p:cNvPr id="59" name="Text 56"/>
          <p:cNvSpPr/>
          <p:nvPr/>
        </p:nvSpPr>
        <p:spPr>
          <a:xfrm>
            <a:off x="4519648" y="226293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10,9 %</a:t>
            </a:r>
            <a:endParaRPr lang="en-US" sz="636" dirty="0"/>
          </a:p>
        </p:txBody>
      </p:sp>
      <p:sp>
        <p:nvSpPr>
          <p:cNvPr id="60" name="Text 57"/>
          <p:cNvSpPr/>
          <p:nvPr/>
        </p:nvSpPr>
        <p:spPr>
          <a:xfrm>
            <a:off x="1582896" y="240580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61" name="Text 58"/>
          <p:cNvSpPr/>
          <p:nvPr/>
        </p:nvSpPr>
        <p:spPr>
          <a:xfrm>
            <a:off x="2996877" y="240580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62" name="Text 59"/>
          <p:cNvSpPr/>
          <p:nvPr/>
        </p:nvSpPr>
        <p:spPr>
          <a:xfrm>
            <a:off x="4519648" y="240580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63" name="Text 60"/>
          <p:cNvSpPr/>
          <p:nvPr/>
        </p:nvSpPr>
        <p:spPr>
          <a:xfrm>
            <a:off x="1582896" y="254868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64" name="Text 61"/>
          <p:cNvSpPr/>
          <p:nvPr/>
        </p:nvSpPr>
        <p:spPr>
          <a:xfrm>
            <a:off x="2996877" y="254868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65" name="Text 62"/>
          <p:cNvSpPr/>
          <p:nvPr/>
        </p:nvSpPr>
        <p:spPr>
          <a:xfrm>
            <a:off x="4519648" y="254868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66" name="Text 63"/>
          <p:cNvSpPr/>
          <p:nvPr/>
        </p:nvSpPr>
        <p:spPr>
          <a:xfrm>
            <a:off x="1582896" y="26915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34.574</a:t>
            </a:r>
            <a:endParaRPr lang="en-US" sz="636" dirty="0"/>
          </a:p>
        </p:txBody>
      </p:sp>
      <p:sp>
        <p:nvSpPr>
          <p:cNvPr id="67" name="Text 64"/>
          <p:cNvSpPr/>
          <p:nvPr/>
        </p:nvSpPr>
        <p:spPr>
          <a:xfrm>
            <a:off x="2996877" y="26915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17.661</a:t>
            </a:r>
            <a:endParaRPr lang="en-US" sz="636" dirty="0"/>
          </a:p>
        </p:txBody>
      </p:sp>
      <p:sp>
        <p:nvSpPr>
          <p:cNvPr id="68" name="Text 65"/>
          <p:cNvSpPr/>
          <p:nvPr/>
        </p:nvSpPr>
        <p:spPr>
          <a:xfrm>
            <a:off x="4519648" y="26915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69" name="Text 66"/>
          <p:cNvSpPr/>
          <p:nvPr/>
        </p:nvSpPr>
        <p:spPr>
          <a:xfrm>
            <a:off x="4519648" y="2834432"/>
            <a:ext cx="141427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70" name="Text 67"/>
          <p:cNvSpPr/>
          <p:nvPr/>
        </p:nvSpPr>
        <p:spPr>
          <a:xfrm>
            <a:off x="504812"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1" name="Text 68"/>
          <p:cNvSpPr/>
          <p:nvPr/>
        </p:nvSpPr>
        <p:spPr>
          <a:xfrm>
            <a:off x="3777759"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37.342</a:t>
            </a:r>
            <a:endParaRPr lang="en-US" sz="576" dirty="0"/>
          </a:p>
        </p:txBody>
      </p:sp>
      <p:sp>
        <p:nvSpPr>
          <p:cNvPr id="72" name="Text 69"/>
          <p:cNvSpPr/>
          <p:nvPr/>
        </p:nvSpPr>
        <p:spPr>
          <a:xfrm>
            <a:off x="4260545"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37.340</a:t>
            </a:r>
            <a:endParaRPr lang="en-US" sz="576" dirty="0"/>
          </a:p>
        </p:txBody>
      </p:sp>
      <p:sp>
        <p:nvSpPr>
          <p:cNvPr id="73" name="Text 70"/>
          <p:cNvSpPr/>
          <p:nvPr/>
        </p:nvSpPr>
        <p:spPr>
          <a:xfrm>
            <a:off x="4743331"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13.532</a:t>
            </a:r>
            <a:endParaRPr lang="en-US" sz="576" dirty="0"/>
          </a:p>
        </p:txBody>
      </p:sp>
      <p:sp>
        <p:nvSpPr>
          <p:cNvPr id="74" name="Text 71"/>
          <p:cNvSpPr/>
          <p:nvPr/>
        </p:nvSpPr>
        <p:spPr>
          <a:xfrm>
            <a:off x="5226118" y="35488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11.261</a:t>
            </a:r>
            <a:endParaRPr lang="en-US" sz="576" dirty="0"/>
          </a:p>
        </p:txBody>
      </p:sp>
      <p:sp>
        <p:nvSpPr>
          <p:cNvPr id="75" name="Text 72"/>
          <p:cNvSpPr/>
          <p:nvPr/>
        </p:nvSpPr>
        <p:spPr>
          <a:xfrm>
            <a:off x="2812186" y="448225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11.397</a:t>
            </a:r>
            <a:endParaRPr lang="en-US" sz="576" dirty="0"/>
          </a:p>
        </p:txBody>
      </p:sp>
      <p:sp>
        <p:nvSpPr>
          <p:cNvPr id="76" name="Text 73"/>
          <p:cNvSpPr/>
          <p:nvPr/>
        </p:nvSpPr>
        <p:spPr>
          <a:xfrm>
            <a:off x="3777759" y="448225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7" name="Text 74"/>
          <p:cNvSpPr/>
          <p:nvPr/>
        </p:nvSpPr>
        <p:spPr>
          <a:xfrm>
            <a:off x="4260545" y="448225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8" name="Text 75"/>
          <p:cNvSpPr/>
          <p:nvPr/>
        </p:nvSpPr>
        <p:spPr>
          <a:xfrm>
            <a:off x="4743331" y="448225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17.661</a:t>
            </a:r>
            <a:endParaRPr lang="en-US" sz="576" dirty="0"/>
          </a:p>
        </p:txBody>
      </p:sp>
      <p:sp>
        <p:nvSpPr>
          <p:cNvPr id="79" name="Text 76"/>
          <p:cNvSpPr/>
          <p:nvPr/>
        </p:nvSpPr>
        <p:spPr>
          <a:xfrm>
            <a:off x="9303014"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80" name="Text 77"/>
          <p:cNvSpPr/>
          <p:nvPr/>
        </p:nvSpPr>
        <p:spPr>
          <a:xfrm>
            <a:off x="7345377"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51.332</a:t>
            </a:r>
            <a:endParaRPr lang="en-US" sz="636" dirty="0"/>
          </a:p>
        </p:txBody>
      </p:sp>
      <p:sp>
        <p:nvSpPr>
          <p:cNvPr id="81" name="Text 78"/>
          <p:cNvSpPr/>
          <p:nvPr/>
        </p:nvSpPr>
        <p:spPr>
          <a:xfrm>
            <a:off x="7345377"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13.276</a:t>
            </a:r>
            <a:endParaRPr lang="en-US" sz="636" dirty="0"/>
          </a:p>
        </p:txBody>
      </p:sp>
      <p:sp>
        <p:nvSpPr>
          <p:cNvPr id="82" name="Text 79"/>
          <p:cNvSpPr/>
          <p:nvPr/>
        </p:nvSpPr>
        <p:spPr>
          <a:xfrm>
            <a:off x="8324195"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30,0 %</a:t>
            </a:r>
            <a:endParaRPr lang="en-US" sz="636" dirty="0"/>
          </a:p>
        </p:txBody>
      </p:sp>
      <p:sp>
        <p:nvSpPr>
          <p:cNvPr id="83" name="Text 80"/>
          <p:cNvSpPr/>
          <p:nvPr/>
        </p:nvSpPr>
        <p:spPr>
          <a:xfrm>
            <a:off x="7345377"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37.308</a:t>
            </a:r>
            <a:endParaRPr lang="en-US" sz="636" dirty="0"/>
          </a:p>
        </p:txBody>
      </p:sp>
      <p:sp>
        <p:nvSpPr>
          <p:cNvPr id="84" name="Text 81"/>
          <p:cNvSpPr/>
          <p:nvPr/>
        </p:nvSpPr>
        <p:spPr>
          <a:xfrm>
            <a:off x="8324195"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22,1 %</a:t>
            </a:r>
            <a:endParaRPr lang="en-US" sz="636" dirty="0"/>
          </a:p>
        </p:txBody>
      </p:sp>
      <p:sp>
        <p:nvSpPr>
          <p:cNvPr id="85" name="Text 82"/>
          <p:cNvSpPr/>
          <p:nvPr/>
        </p:nvSpPr>
        <p:spPr>
          <a:xfrm>
            <a:off x="8324195"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43,2 %</a:t>
            </a:r>
            <a:endParaRPr lang="en-US" sz="636" dirty="0"/>
          </a:p>
        </p:txBody>
      </p:sp>
      <p:sp>
        <p:nvSpPr>
          <p:cNvPr id="86" name="Text 83"/>
          <p:cNvSpPr/>
          <p:nvPr/>
        </p:nvSpPr>
        <p:spPr>
          <a:xfrm>
            <a:off x="7345377"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16.913</a:t>
            </a:r>
            <a:endParaRPr lang="en-US" sz="636" dirty="0"/>
          </a:p>
        </p:txBody>
      </p:sp>
      <p:sp>
        <p:nvSpPr>
          <p:cNvPr id="87" name="Text 84"/>
          <p:cNvSpPr/>
          <p:nvPr/>
        </p:nvSpPr>
        <p:spPr>
          <a:xfrm>
            <a:off x="8324195"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25,9 %</a:t>
            </a:r>
            <a:endParaRPr lang="en-US" sz="636" dirty="0"/>
          </a:p>
        </p:txBody>
      </p:sp>
      <p:sp>
        <p:nvSpPr>
          <p:cNvPr id="88" name="Text 85"/>
          <p:cNvSpPr/>
          <p:nvPr/>
        </p:nvSpPr>
        <p:spPr>
          <a:xfrm>
            <a:off x="8324195"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18,0 %</a:t>
            </a:r>
            <a:endParaRPr lang="en-US" sz="636" dirty="0"/>
          </a:p>
        </p:txBody>
      </p:sp>
      <p:sp>
        <p:nvSpPr>
          <p:cNvPr id="89" name="Text 86"/>
          <p:cNvSpPr/>
          <p:nvPr/>
        </p:nvSpPr>
        <p:spPr>
          <a:xfrm>
            <a:off x="10988599" y="3420219"/>
            <a:ext cx="698284"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16.926</a:t>
            </a:r>
            <a:endParaRPr lang="en-US" sz="552" dirty="0"/>
          </a:p>
        </p:txBody>
      </p:sp>
      <p:sp>
        <p:nvSpPr>
          <p:cNvPr id="90" name="Text 87"/>
          <p:cNvSpPr/>
          <p:nvPr/>
        </p:nvSpPr>
        <p:spPr>
          <a:xfrm>
            <a:off x="8091881"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35.511</a:t>
            </a:r>
            <a:endParaRPr lang="en-US" sz="552" dirty="0"/>
          </a:p>
        </p:txBody>
      </p:sp>
      <p:sp>
        <p:nvSpPr>
          <p:cNvPr id="91" name="Text 88"/>
          <p:cNvSpPr/>
          <p:nvPr/>
        </p:nvSpPr>
        <p:spPr>
          <a:xfrm>
            <a:off x="9057453"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25.810</a:t>
            </a:r>
            <a:endParaRPr lang="en-US" sz="552" dirty="0"/>
          </a:p>
        </p:txBody>
      </p:sp>
      <p:sp>
        <p:nvSpPr>
          <p:cNvPr id="92" name="Text 89"/>
          <p:cNvSpPr/>
          <p:nvPr/>
        </p:nvSpPr>
        <p:spPr>
          <a:xfrm>
            <a:off x="10505812"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11.700</a:t>
            </a:r>
            <a:endParaRPr lang="en-US" sz="552" dirty="0"/>
          </a:p>
        </p:txBody>
      </p:sp>
      <p:sp>
        <p:nvSpPr>
          <p:cNvPr id="93" name="Text 90"/>
          <p:cNvSpPr/>
          <p:nvPr/>
        </p:nvSpPr>
        <p:spPr>
          <a:xfrm>
            <a:off x="10988599" y="4482257"/>
            <a:ext cx="698284"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82.895</a:t>
            </a:r>
            <a:endParaRPr lang="en-US" sz="552" dirty="0"/>
          </a:p>
        </p:txBody>
      </p:sp>
      <p:sp>
        <p:nvSpPr>
          <p:cNvPr id="94" name="Text 91"/>
          <p:cNvSpPr/>
          <p:nvPr/>
        </p:nvSpPr>
        <p:spPr>
          <a:xfrm>
            <a:off x="8091881"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34.600</a:t>
            </a:r>
            <a:endParaRPr lang="en-US" sz="552" dirty="0"/>
          </a:p>
        </p:txBody>
      </p:sp>
      <p:sp>
        <p:nvSpPr>
          <p:cNvPr id="95" name="Text 92"/>
          <p:cNvSpPr/>
          <p:nvPr/>
        </p:nvSpPr>
        <p:spPr>
          <a:xfrm>
            <a:off x="9057453"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25.148</a:t>
            </a:r>
            <a:endParaRPr lang="en-US" sz="552" dirty="0"/>
          </a:p>
        </p:txBody>
      </p:sp>
      <p:sp>
        <p:nvSpPr>
          <p:cNvPr id="96" name="Text 93"/>
          <p:cNvSpPr/>
          <p:nvPr/>
        </p:nvSpPr>
        <p:spPr>
          <a:xfrm>
            <a:off x="10505812"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11.400</a:t>
            </a:r>
            <a:endParaRPr lang="en-US" sz="552" dirty="0"/>
          </a:p>
        </p:txBody>
      </p:sp>
      <p:sp>
        <p:nvSpPr>
          <p:cNvPr id="97" name="Text 94"/>
          <p:cNvSpPr/>
          <p:nvPr/>
        </p:nvSpPr>
        <p:spPr>
          <a:xfrm>
            <a:off x="10988599" y="46156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80.769</a:t>
            </a:r>
            <a:endParaRPr lang="en-US" sz="552" dirty="0"/>
          </a:p>
        </p:txBody>
      </p:sp>
      <p:sp>
        <p:nvSpPr>
          <p:cNvPr id="98" name="Text 95"/>
          <p:cNvSpPr/>
          <p:nvPr/>
        </p:nvSpPr>
        <p:spPr>
          <a:xfrm>
            <a:off x="4374991"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4,9 %</a:t>
            </a:r>
            <a:endParaRPr lang="en-US" sz="1380" dirty="0"/>
          </a:p>
        </p:txBody>
      </p:sp>
      <p:sp>
        <p:nvSpPr>
          <p:cNvPr id="99" name="Text 96"/>
          <p:cNvSpPr/>
          <p:nvPr/>
        </p:nvSpPr>
        <p:spPr>
          <a:xfrm>
            <a:off x="533387"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00" name="Text 97"/>
          <p:cNvSpPr/>
          <p:nvPr/>
        </p:nvSpPr>
        <p:spPr>
          <a:xfrm>
            <a:off x="2996877" y="1981944"/>
            <a:ext cx="152277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4.225</a:t>
            </a:r>
            <a:endParaRPr lang="en-US" sz="636" dirty="0"/>
          </a:p>
        </p:txBody>
      </p:sp>
      <p:sp>
        <p:nvSpPr>
          <p:cNvPr id="101" name="Text 98"/>
          <p:cNvSpPr/>
          <p:nvPr/>
        </p:nvSpPr>
        <p:spPr>
          <a:xfrm>
            <a:off x="4519648" y="1981944"/>
            <a:ext cx="141427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7,6 %</a:t>
            </a:r>
            <a:endParaRPr lang="en-US" sz="636" dirty="0"/>
          </a:p>
        </p:txBody>
      </p:sp>
      <p:sp>
        <p:nvSpPr>
          <p:cNvPr id="102" name="Text 99"/>
          <p:cNvSpPr/>
          <p:nvPr/>
        </p:nvSpPr>
        <p:spPr>
          <a:xfrm>
            <a:off x="533387"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03" name="Text 100"/>
          <p:cNvSpPr/>
          <p:nvPr/>
        </p:nvSpPr>
        <p:spPr>
          <a:xfrm>
            <a:off x="2996877" y="226293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4.562</a:t>
            </a:r>
            <a:endParaRPr lang="en-US" sz="636" dirty="0"/>
          </a:p>
        </p:txBody>
      </p:sp>
      <p:sp>
        <p:nvSpPr>
          <p:cNvPr id="104" name="Text 101"/>
          <p:cNvSpPr/>
          <p:nvPr/>
        </p:nvSpPr>
        <p:spPr>
          <a:xfrm>
            <a:off x="533387"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05" name="Text 102"/>
          <p:cNvSpPr/>
          <p:nvPr/>
        </p:nvSpPr>
        <p:spPr>
          <a:xfrm>
            <a:off x="533387"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6" name="Text 103"/>
          <p:cNvSpPr/>
          <p:nvPr/>
        </p:nvSpPr>
        <p:spPr>
          <a:xfrm>
            <a:off x="495288"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7" name="Text 104"/>
          <p:cNvSpPr/>
          <p:nvPr/>
        </p:nvSpPr>
        <p:spPr>
          <a:xfrm>
            <a:off x="5226118"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8" name="Text 105"/>
          <p:cNvSpPr/>
          <p:nvPr/>
        </p:nvSpPr>
        <p:spPr>
          <a:xfrm>
            <a:off x="2329400"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3.237</a:t>
            </a:r>
            <a:endParaRPr lang="en-US" sz="576" dirty="0"/>
          </a:p>
        </p:txBody>
      </p:sp>
      <p:sp>
        <p:nvSpPr>
          <p:cNvPr id="109" name="Text 106"/>
          <p:cNvSpPr/>
          <p:nvPr/>
        </p:nvSpPr>
        <p:spPr>
          <a:xfrm>
            <a:off x="2812186"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8.732</a:t>
            </a:r>
            <a:endParaRPr lang="en-US" sz="576" dirty="0"/>
          </a:p>
        </p:txBody>
      </p:sp>
      <p:sp>
        <p:nvSpPr>
          <p:cNvPr id="110" name="Text 107"/>
          <p:cNvSpPr/>
          <p:nvPr/>
        </p:nvSpPr>
        <p:spPr>
          <a:xfrm>
            <a:off x="3294972"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3.495</a:t>
            </a:r>
            <a:endParaRPr lang="en-US" sz="576" dirty="0"/>
          </a:p>
        </p:txBody>
      </p:sp>
      <p:sp>
        <p:nvSpPr>
          <p:cNvPr id="111" name="Text 108"/>
          <p:cNvSpPr/>
          <p:nvPr/>
        </p:nvSpPr>
        <p:spPr>
          <a:xfrm>
            <a:off x="3777759"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4.055</a:t>
            </a:r>
            <a:endParaRPr lang="en-US" sz="576" dirty="0"/>
          </a:p>
        </p:txBody>
      </p:sp>
      <p:sp>
        <p:nvSpPr>
          <p:cNvPr id="112" name="Text 109"/>
          <p:cNvSpPr/>
          <p:nvPr/>
        </p:nvSpPr>
        <p:spPr>
          <a:xfrm>
            <a:off x="4260545"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4.056</a:t>
            </a:r>
            <a:endParaRPr lang="en-US" sz="576" dirty="0"/>
          </a:p>
        </p:txBody>
      </p:sp>
      <p:sp>
        <p:nvSpPr>
          <p:cNvPr id="113" name="Text 110"/>
          <p:cNvSpPr/>
          <p:nvPr/>
        </p:nvSpPr>
        <p:spPr>
          <a:xfrm>
            <a:off x="4743331"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1.470</a:t>
            </a:r>
            <a:endParaRPr lang="en-US" sz="576" dirty="0"/>
          </a:p>
        </p:txBody>
      </p:sp>
      <p:sp>
        <p:nvSpPr>
          <p:cNvPr id="114" name="Text 111"/>
          <p:cNvSpPr/>
          <p:nvPr/>
        </p:nvSpPr>
        <p:spPr>
          <a:xfrm>
            <a:off x="3777759"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5" name="Text 112"/>
          <p:cNvSpPr/>
          <p:nvPr/>
        </p:nvSpPr>
        <p:spPr>
          <a:xfrm>
            <a:off x="4260545"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6" name="Text 113"/>
          <p:cNvSpPr/>
          <p:nvPr/>
        </p:nvSpPr>
        <p:spPr>
          <a:xfrm>
            <a:off x="5226118" y="36821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5.948</a:t>
            </a:r>
            <a:endParaRPr lang="en-US" sz="576" dirty="0"/>
          </a:p>
        </p:txBody>
      </p:sp>
      <p:sp>
        <p:nvSpPr>
          <p:cNvPr id="117" name="Text 114"/>
          <p:cNvSpPr/>
          <p:nvPr/>
        </p:nvSpPr>
        <p:spPr>
          <a:xfrm>
            <a:off x="3777759"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1.618</a:t>
            </a:r>
            <a:endParaRPr lang="en-US" sz="576" dirty="0"/>
          </a:p>
        </p:txBody>
      </p:sp>
      <p:sp>
        <p:nvSpPr>
          <p:cNvPr id="118" name="Text 115"/>
          <p:cNvSpPr/>
          <p:nvPr/>
        </p:nvSpPr>
        <p:spPr>
          <a:xfrm>
            <a:off x="4260545"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1.619</a:t>
            </a:r>
            <a:endParaRPr lang="en-US" sz="576" dirty="0"/>
          </a:p>
        </p:txBody>
      </p:sp>
      <p:sp>
        <p:nvSpPr>
          <p:cNvPr id="119" name="Text 116"/>
          <p:cNvSpPr/>
          <p:nvPr/>
        </p:nvSpPr>
        <p:spPr>
          <a:xfrm>
            <a:off x="5226118" y="38155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4.495</a:t>
            </a:r>
            <a:endParaRPr lang="en-US" sz="576" dirty="0"/>
          </a:p>
        </p:txBody>
      </p:sp>
      <p:sp>
        <p:nvSpPr>
          <p:cNvPr id="120" name="Text 117"/>
          <p:cNvSpPr/>
          <p:nvPr/>
        </p:nvSpPr>
        <p:spPr>
          <a:xfrm>
            <a:off x="5226118" y="39488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2.330</a:t>
            </a:r>
            <a:endParaRPr lang="en-US" sz="576" dirty="0"/>
          </a:p>
        </p:txBody>
      </p:sp>
      <p:sp>
        <p:nvSpPr>
          <p:cNvPr id="121" name="Text 118"/>
          <p:cNvSpPr/>
          <p:nvPr/>
        </p:nvSpPr>
        <p:spPr>
          <a:xfrm>
            <a:off x="5226118" y="40822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2.145</a:t>
            </a:r>
            <a:endParaRPr lang="en-US" sz="576" dirty="0"/>
          </a:p>
        </p:txBody>
      </p:sp>
      <p:sp>
        <p:nvSpPr>
          <p:cNvPr id="122" name="Text 119"/>
          <p:cNvSpPr/>
          <p:nvPr/>
        </p:nvSpPr>
        <p:spPr>
          <a:xfrm>
            <a:off x="3777759"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1.632</a:t>
            </a:r>
            <a:endParaRPr lang="en-US" sz="576" dirty="0"/>
          </a:p>
        </p:txBody>
      </p:sp>
      <p:sp>
        <p:nvSpPr>
          <p:cNvPr id="123" name="Text 120"/>
          <p:cNvSpPr/>
          <p:nvPr/>
        </p:nvSpPr>
        <p:spPr>
          <a:xfrm>
            <a:off x="4260545"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1.633</a:t>
            </a:r>
            <a:endParaRPr lang="en-US" sz="576" dirty="0"/>
          </a:p>
        </p:txBody>
      </p:sp>
      <p:sp>
        <p:nvSpPr>
          <p:cNvPr id="124" name="Text 121"/>
          <p:cNvSpPr/>
          <p:nvPr/>
        </p:nvSpPr>
        <p:spPr>
          <a:xfrm>
            <a:off x="5226118" y="43489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4.534</a:t>
            </a:r>
            <a:endParaRPr lang="en-US" sz="576" dirty="0"/>
          </a:p>
        </p:txBody>
      </p:sp>
      <p:sp>
        <p:nvSpPr>
          <p:cNvPr id="125" name="Text 122"/>
          <p:cNvSpPr/>
          <p:nvPr/>
        </p:nvSpPr>
        <p:spPr>
          <a:xfrm>
            <a:off x="504812" y="4482257"/>
            <a:ext cx="1824587" cy="128588"/>
          </a:xfrm>
          <a:prstGeom prst="rect">
            <a:avLst/>
          </a:prstGeom>
          <a:noFill/>
          <a:ln/>
        </p:spPr>
        <p:txBody>
          <a:bodyPr wrap="none" lIns="0" tIns="0" rIns="0" bIns="0" rtlCol="0" anchor="t"/>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26" name="Text 123"/>
          <p:cNvSpPr/>
          <p:nvPr/>
        </p:nvSpPr>
        <p:spPr>
          <a:xfrm>
            <a:off x="2329400" y="448225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4.225</a:t>
            </a:r>
            <a:endParaRPr lang="en-US" sz="576" dirty="0"/>
          </a:p>
        </p:txBody>
      </p:sp>
      <p:sp>
        <p:nvSpPr>
          <p:cNvPr id="127" name="Text 124"/>
          <p:cNvSpPr/>
          <p:nvPr/>
        </p:nvSpPr>
        <p:spPr>
          <a:xfrm>
            <a:off x="3294972" y="448225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4.562</a:t>
            </a:r>
            <a:endParaRPr lang="en-US" sz="576" dirty="0"/>
          </a:p>
        </p:txBody>
      </p:sp>
      <p:sp>
        <p:nvSpPr>
          <p:cNvPr id="128" name="Text 125"/>
          <p:cNvSpPr/>
          <p:nvPr/>
        </p:nvSpPr>
        <p:spPr>
          <a:xfrm>
            <a:off x="7345377"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29" name="Text 126"/>
          <p:cNvSpPr/>
          <p:nvPr/>
        </p:nvSpPr>
        <p:spPr>
          <a:xfrm>
            <a:off x="6295868"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30" name="Text 127"/>
          <p:cNvSpPr/>
          <p:nvPr/>
        </p:nvSpPr>
        <p:spPr>
          <a:xfrm>
            <a:off x="8324195"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9,2 %</a:t>
            </a:r>
            <a:endParaRPr lang="en-US" sz="636" dirty="0"/>
          </a:p>
        </p:txBody>
      </p:sp>
      <p:sp>
        <p:nvSpPr>
          <p:cNvPr id="131" name="Text 128"/>
          <p:cNvSpPr/>
          <p:nvPr/>
        </p:nvSpPr>
        <p:spPr>
          <a:xfrm>
            <a:off x="10281832" y="1981944"/>
            <a:ext cx="1414576"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132" name="Text 129"/>
          <p:cNvSpPr/>
          <p:nvPr/>
        </p:nvSpPr>
        <p:spPr>
          <a:xfrm>
            <a:off x="10281832" y="21200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3,2 %</a:t>
            </a:r>
            <a:endParaRPr lang="en-US" sz="636" dirty="0"/>
          </a:p>
        </p:txBody>
      </p:sp>
      <p:sp>
        <p:nvSpPr>
          <p:cNvPr id="133" name="Text 130"/>
          <p:cNvSpPr/>
          <p:nvPr/>
        </p:nvSpPr>
        <p:spPr>
          <a:xfrm>
            <a:off x="6295868"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34" name="Text 131"/>
          <p:cNvSpPr/>
          <p:nvPr/>
        </p:nvSpPr>
        <p:spPr>
          <a:xfrm>
            <a:off x="10281832" y="226293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135" name="Text 132"/>
          <p:cNvSpPr/>
          <p:nvPr/>
        </p:nvSpPr>
        <p:spPr>
          <a:xfrm>
            <a:off x="6295868"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36" name="Text 133"/>
          <p:cNvSpPr/>
          <p:nvPr/>
        </p:nvSpPr>
        <p:spPr>
          <a:xfrm>
            <a:off x="8324195"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6,0 %</a:t>
            </a:r>
            <a:endParaRPr lang="en-US" sz="636" dirty="0"/>
          </a:p>
        </p:txBody>
      </p:sp>
      <p:sp>
        <p:nvSpPr>
          <p:cNvPr id="137" name="Text 134"/>
          <p:cNvSpPr/>
          <p:nvPr/>
        </p:nvSpPr>
        <p:spPr>
          <a:xfrm>
            <a:off x="10281832" y="240580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0,0 %</a:t>
            </a:r>
            <a:endParaRPr lang="en-US" sz="636" dirty="0"/>
          </a:p>
        </p:txBody>
      </p:sp>
      <p:sp>
        <p:nvSpPr>
          <p:cNvPr id="138" name="Text 135"/>
          <p:cNvSpPr/>
          <p:nvPr/>
        </p:nvSpPr>
        <p:spPr>
          <a:xfrm>
            <a:off x="10281832" y="254868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2,3 %</a:t>
            </a:r>
            <a:endParaRPr lang="en-US" sz="636" dirty="0"/>
          </a:p>
        </p:txBody>
      </p:sp>
      <p:sp>
        <p:nvSpPr>
          <p:cNvPr id="139" name="Text 136"/>
          <p:cNvSpPr/>
          <p:nvPr/>
        </p:nvSpPr>
        <p:spPr>
          <a:xfrm>
            <a:off x="6295868"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40" name="Text 137"/>
          <p:cNvSpPr/>
          <p:nvPr/>
        </p:nvSpPr>
        <p:spPr>
          <a:xfrm>
            <a:off x="10281832" y="26915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4,9 %</a:t>
            </a:r>
            <a:endParaRPr lang="en-US" sz="636" dirty="0"/>
          </a:p>
        </p:txBody>
      </p:sp>
      <p:sp>
        <p:nvSpPr>
          <p:cNvPr id="141" name="Text 138"/>
          <p:cNvSpPr/>
          <p:nvPr/>
        </p:nvSpPr>
        <p:spPr>
          <a:xfrm>
            <a:off x="6257769"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42" name="Text 139"/>
          <p:cNvSpPr/>
          <p:nvPr/>
        </p:nvSpPr>
        <p:spPr>
          <a:xfrm>
            <a:off x="10281832" y="2834432"/>
            <a:ext cx="1414576"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1,5 %</a:t>
            </a:r>
            <a:endParaRPr lang="en-US" sz="636" dirty="0"/>
          </a:p>
        </p:txBody>
      </p:sp>
      <p:sp>
        <p:nvSpPr>
          <p:cNvPr id="143" name="Text 140"/>
          <p:cNvSpPr/>
          <p:nvPr/>
        </p:nvSpPr>
        <p:spPr>
          <a:xfrm>
            <a:off x="10988599"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44" name="Text 141"/>
          <p:cNvSpPr/>
          <p:nvPr/>
        </p:nvSpPr>
        <p:spPr>
          <a:xfrm>
            <a:off x="8091881"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7.252</a:t>
            </a:r>
            <a:endParaRPr lang="en-US" sz="552" dirty="0"/>
          </a:p>
        </p:txBody>
      </p:sp>
      <p:sp>
        <p:nvSpPr>
          <p:cNvPr id="145" name="Text 142"/>
          <p:cNvSpPr/>
          <p:nvPr/>
        </p:nvSpPr>
        <p:spPr>
          <a:xfrm>
            <a:off x="8574667"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1.875</a:t>
            </a:r>
            <a:endParaRPr lang="en-US" sz="552" dirty="0"/>
          </a:p>
        </p:txBody>
      </p:sp>
      <p:sp>
        <p:nvSpPr>
          <p:cNvPr id="146" name="Text 143"/>
          <p:cNvSpPr/>
          <p:nvPr/>
        </p:nvSpPr>
        <p:spPr>
          <a:xfrm>
            <a:off x="9057453"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5.270</a:t>
            </a:r>
            <a:endParaRPr lang="en-US" sz="552" dirty="0"/>
          </a:p>
        </p:txBody>
      </p:sp>
      <p:sp>
        <p:nvSpPr>
          <p:cNvPr id="147" name="Text 144"/>
          <p:cNvSpPr/>
          <p:nvPr/>
        </p:nvSpPr>
        <p:spPr>
          <a:xfrm>
            <a:off x="10505812"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2.389</a:t>
            </a:r>
            <a:endParaRPr lang="en-US" sz="552" dirty="0"/>
          </a:p>
        </p:txBody>
      </p:sp>
      <p:sp>
        <p:nvSpPr>
          <p:cNvPr id="148" name="Text 145"/>
          <p:cNvSpPr/>
          <p:nvPr/>
        </p:nvSpPr>
        <p:spPr>
          <a:xfrm>
            <a:off x="8091881"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2.586</a:t>
            </a:r>
            <a:endParaRPr lang="en-US" sz="552" dirty="0"/>
          </a:p>
        </p:txBody>
      </p:sp>
      <p:sp>
        <p:nvSpPr>
          <p:cNvPr id="149" name="Text 146"/>
          <p:cNvSpPr/>
          <p:nvPr/>
        </p:nvSpPr>
        <p:spPr>
          <a:xfrm>
            <a:off x="9057453"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1.880</a:t>
            </a:r>
            <a:endParaRPr lang="en-US" sz="552" dirty="0"/>
          </a:p>
        </p:txBody>
      </p:sp>
      <p:sp>
        <p:nvSpPr>
          <p:cNvPr id="150" name="Text 147"/>
          <p:cNvSpPr/>
          <p:nvPr/>
        </p:nvSpPr>
        <p:spPr>
          <a:xfrm>
            <a:off x="10988599" y="36821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6.037</a:t>
            </a:r>
            <a:endParaRPr lang="en-US" sz="552" dirty="0"/>
          </a:p>
        </p:txBody>
      </p:sp>
      <p:sp>
        <p:nvSpPr>
          <p:cNvPr id="151" name="Text 148"/>
          <p:cNvSpPr/>
          <p:nvPr/>
        </p:nvSpPr>
        <p:spPr>
          <a:xfrm>
            <a:off x="8091881"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1.728</a:t>
            </a:r>
            <a:endParaRPr lang="en-US" sz="552" dirty="0"/>
          </a:p>
        </p:txBody>
      </p:sp>
      <p:sp>
        <p:nvSpPr>
          <p:cNvPr id="152" name="Text 149"/>
          <p:cNvSpPr/>
          <p:nvPr/>
        </p:nvSpPr>
        <p:spPr>
          <a:xfrm>
            <a:off x="9057453"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1.256</a:t>
            </a:r>
            <a:endParaRPr lang="en-US" sz="552" dirty="0"/>
          </a:p>
        </p:txBody>
      </p:sp>
      <p:sp>
        <p:nvSpPr>
          <p:cNvPr id="153" name="Text 150"/>
          <p:cNvSpPr/>
          <p:nvPr/>
        </p:nvSpPr>
        <p:spPr>
          <a:xfrm>
            <a:off x="10988599" y="38155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4.035</a:t>
            </a:r>
            <a:endParaRPr lang="en-US" sz="552" dirty="0"/>
          </a:p>
        </p:txBody>
      </p:sp>
      <p:sp>
        <p:nvSpPr>
          <p:cNvPr id="154" name="Text 151"/>
          <p:cNvSpPr/>
          <p:nvPr/>
        </p:nvSpPr>
        <p:spPr>
          <a:xfrm>
            <a:off x="10988599" y="39488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1.701</a:t>
            </a:r>
            <a:endParaRPr lang="en-US" sz="552" dirty="0"/>
          </a:p>
        </p:txBody>
      </p:sp>
      <p:sp>
        <p:nvSpPr>
          <p:cNvPr id="155" name="Text 152"/>
          <p:cNvSpPr/>
          <p:nvPr/>
        </p:nvSpPr>
        <p:spPr>
          <a:xfrm>
            <a:off x="8091881"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1.106</a:t>
            </a:r>
            <a:endParaRPr lang="en-US" sz="552" dirty="0"/>
          </a:p>
        </p:txBody>
      </p:sp>
      <p:sp>
        <p:nvSpPr>
          <p:cNvPr id="156" name="Text 153"/>
          <p:cNvSpPr/>
          <p:nvPr/>
        </p:nvSpPr>
        <p:spPr>
          <a:xfrm>
            <a:off x="10988599" y="40822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2.583</a:t>
            </a:r>
            <a:endParaRPr lang="en-US" sz="552" dirty="0"/>
          </a:p>
        </p:txBody>
      </p:sp>
      <p:sp>
        <p:nvSpPr>
          <p:cNvPr id="157" name="Text 154"/>
          <p:cNvSpPr/>
          <p:nvPr/>
        </p:nvSpPr>
        <p:spPr>
          <a:xfrm>
            <a:off x="10988599" y="43489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1.595</a:t>
            </a:r>
            <a:endParaRPr lang="en-US" sz="552" dirty="0"/>
          </a:p>
        </p:txBody>
      </p:sp>
      <p:sp>
        <p:nvSpPr>
          <p:cNvPr id="158" name="Text 155"/>
          <p:cNvSpPr/>
          <p:nvPr/>
        </p:nvSpPr>
        <p:spPr>
          <a:xfrm>
            <a:off x="8574667"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9.184</a:t>
            </a:r>
            <a:endParaRPr lang="en-US" sz="552" dirty="0"/>
          </a:p>
        </p:txBody>
      </p:sp>
      <p:sp>
        <p:nvSpPr>
          <p:cNvPr id="159" name="Text 156"/>
          <p:cNvSpPr/>
          <p:nvPr/>
        </p:nvSpPr>
        <p:spPr>
          <a:xfrm>
            <a:off x="8574667"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8.949</a:t>
            </a:r>
            <a:endParaRPr lang="en-US" sz="552" dirty="0"/>
          </a:p>
        </p:txBody>
      </p:sp>
      <p:sp>
        <p:nvSpPr>
          <p:cNvPr id="160" name="Text 157"/>
          <p:cNvSpPr/>
          <p:nvPr/>
        </p:nvSpPr>
        <p:spPr>
          <a:xfrm>
            <a:off x="10988599" y="47489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1.640</a:t>
            </a:r>
            <a:endParaRPr lang="en-US" sz="552" dirty="0"/>
          </a:p>
        </p:txBody>
      </p:sp>
      <p:sp>
        <p:nvSpPr>
          <p:cNvPr id="161" name="Text 158"/>
          <p:cNvSpPr/>
          <p:nvPr/>
        </p:nvSpPr>
        <p:spPr>
          <a:xfrm>
            <a:off x="533387"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62" name="Text 159"/>
          <p:cNvSpPr/>
          <p:nvPr/>
        </p:nvSpPr>
        <p:spPr>
          <a:xfrm>
            <a:off x="6295868"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63" name="Text 160"/>
          <p:cNvSpPr/>
          <p:nvPr/>
        </p:nvSpPr>
        <p:spPr>
          <a:xfrm>
            <a:off x="8216595" y="971550"/>
            <a:ext cx="3479812"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318</a:t>
            </a:r>
            <a:endParaRPr lang="en-US" sz="1380" dirty="0"/>
          </a:p>
        </p:txBody>
      </p:sp>
      <p:sp>
        <p:nvSpPr>
          <p:cNvPr id="164" name="Text 161"/>
          <p:cNvSpPr/>
          <p:nvPr/>
        </p:nvSpPr>
        <p:spPr>
          <a:xfrm>
            <a:off x="495288"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5" name="Text 162"/>
          <p:cNvSpPr/>
          <p:nvPr/>
        </p:nvSpPr>
        <p:spPr>
          <a:xfrm>
            <a:off x="232940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66" name="Text 163"/>
          <p:cNvSpPr/>
          <p:nvPr/>
        </p:nvSpPr>
        <p:spPr>
          <a:xfrm>
            <a:off x="281218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67" name="Text 164"/>
          <p:cNvSpPr/>
          <p:nvPr/>
        </p:nvSpPr>
        <p:spPr>
          <a:xfrm>
            <a:off x="329497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68" name="Text 165"/>
          <p:cNvSpPr/>
          <p:nvPr/>
        </p:nvSpPr>
        <p:spPr>
          <a:xfrm>
            <a:off x="3777759"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69" name="Text 166"/>
          <p:cNvSpPr/>
          <p:nvPr/>
        </p:nvSpPr>
        <p:spPr>
          <a:xfrm>
            <a:off x="4260545"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70" name="Text 167"/>
          <p:cNvSpPr/>
          <p:nvPr/>
        </p:nvSpPr>
        <p:spPr>
          <a:xfrm>
            <a:off x="474333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71" name="Text 168"/>
          <p:cNvSpPr/>
          <p:nvPr/>
        </p:nvSpPr>
        <p:spPr>
          <a:xfrm>
            <a:off x="2329400"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352</a:t>
            </a:r>
            <a:endParaRPr lang="en-US" sz="576" dirty="0"/>
          </a:p>
        </p:txBody>
      </p:sp>
      <p:sp>
        <p:nvSpPr>
          <p:cNvPr id="172" name="Text 169"/>
          <p:cNvSpPr/>
          <p:nvPr/>
        </p:nvSpPr>
        <p:spPr>
          <a:xfrm>
            <a:off x="2812186"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948</a:t>
            </a:r>
            <a:endParaRPr lang="en-US" sz="576" dirty="0"/>
          </a:p>
        </p:txBody>
      </p:sp>
      <p:sp>
        <p:nvSpPr>
          <p:cNvPr id="173" name="Text 170"/>
          <p:cNvSpPr/>
          <p:nvPr/>
        </p:nvSpPr>
        <p:spPr>
          <a:xfrm>
            <a:off x="3294972"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380</a:t>
            </a:r>
            <a:endParaRPr lang="en-US" sz="576" dirty="0"/>
          </a:p>
        </p:txBody>
      </p:sp>
      <p:sp>
        <p:nvSpPr>
          <p:cNvPr id="174" name="Text 171"/>
          <p:cNvSpPr/>
          <p:nvPr/>
        </p:nvSpPr>
        <p:spPr>
          <a:xfrm>
            <a:off x="2329400"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186</a:t>
            </a:r>
            <a:endParaRPr lang="en-US" sz="576" dirty="0"/>
          </a:p>
        </p:txBody>
      </p:sp>
      <p:sp>
        <p:nvSpPr>
          <p:cNvPr id="175" name="Text 172"/>
          <p:cNvSpPr/>
          <p:nvPr/>
        </p:nvSpPr>
        <p:spPr>
          <a:xfrm>
            <a:off x="2812186"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501</a:t>
            </a:r>
            <a:endParaRPr lang="en-US" sz="576" dirty="0"/>
          </a:p>
        </p:txBody>
      </p:sp>
      <p:sp>
        <p:nvSpPr>
          <p:cNvPr id="176" name="Text 173"/>
          <p:cNvSpPr/>
          <p:nvPr/>
        </p:nvSpPr>
        <p:spPr>
          <a:xfrm>
            <a:off x="3294972"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177" name="Text 174"/>
          <p:cNvSpPr/>
          <p:nvPr/>
        </p:nvSpPr>
        <p:spPr>
          <a:xfrm>
            <a:off x="4743331"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776</a:t>
            </a:r>
            <a:endParaRPr lang="en-US" sz="576" dirty="0"/>
          </a:p>
        </p:txBody>
      </p:sp>
      <p:sp>
        <p:nvSpPr>
          <p:cNvPr id="178" name="Text 175"/>
          <p:cNvSpPr/>
          <p:nvPr/>
        </p:nvSpPr>
        <p:spPr>
          <a:xfrm>
            <a:off x="2329400"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140</a:t>
            </a:r>
            <a:endParaRPr lang="en-US" sz="576" dirty="0"/>
          </a:p>
        </p:txBody>
      </p:sp>
      <p:sp>
        <p:nvSpPr>
          <p:cNvPr id="179" name="Text 176"/>
          <p:cNvSpPr/>
          <p:nvPr/>
        </p:nvSpPr>
        <p:spPr>
          <a:xfrm>
            <a:off x="2812186"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379</a:t>
            </a:r>
            <a:endParaRPr lang="en-US" sz="576" dirty="0"/>
          </a:p>
        </p:txBody>
      </p:sp>
      <p:sp>
        <p:nvSpPr>
          <p:cNvPr id="180" name="Text 177"/>
          <p:cNvSpPr/>
          <p:nvPr/>
        </p:nvSpPr>
        <p:spPr>
          <a:xfrm>
            <a:off x="3294972"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152</a:t>
            </a:r>
            <a:endParaRPr lang="en-US" sz="576" dirty="0"/>
          </a:p>
        </p:txBody>
      </p:sp>
      <p:sp>
        <p:nvSpPr>
          <p:cNvPr id="181" name="Text 178"/>
          <p:cNvSpPr/>
          <p:nvPr/>
        </p:nvSpPr>
        <p:spPr>
          <a:xfrm>
            <a:off x="4743331"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587</a:t>
            </a:r>
            <a:endParaRPr lang="en-US" sz="576" dirty="0"/>
          </a:p>
        </p:txBody>
      </p:sp>
      <p:sp>
        <p:nvSpPr>
          <p:cNvPr id="182" name="Text 179"/>
          <p:cNvSpPr/>
          <p:nvPr/>
        </p:nvSpPr>
        <p:spPr>
          <a:xfrm>
            <a:off x="2812186"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196</a:t>
            </a:r>
            <a:endParaRPr lang="en-US" sz="576" dirty="0"/>
          </a:p>
        </p:txBody>
      </p:sp>
      <p:sp>
        <p:nvSpPr>
          <p:cNvPr id="183" name="Text 180"/>
          <p:cNvSpPr/>
          <p:nvPr/>
        </p:nvSpPr>
        <p:spPr>
          <a:xfrm>
            <a:off x="3777759"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84" name="Text 181"/>
          <p:cNvSpPr/>
          <p:nvPr/>
        </p:nvSpPr>
        <p:spPr>
          <a:xfrm>
            <a:off x="4260545"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85" name="Text 182"/>
          <p:cNvSpPr/>
          <p:nvPr/>
        </p:nvSpPr>
        <p:spPr>
          <a:xfrm>
            <a:off x="4743331"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304</a:t>
            </a:r>
            <a:endParaRPr lang="en-US" sz="576" dirty="0"/>
          </a:p>
        </p:txBody>
      </p:sp>
      <p:sp>
        <p:nvSpPr>
          <p:cNvPr id="186" name="Text 183"/>
          <p:cNvSpPr/>
          <p:nvPr/>
        </p:nvSpPr>
        <p:spPr>
          <a:xfrm>
            <a:off x="2812186"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181</a:t>
            </a:r>
            <a:endParaRPr lang="en-US" sz="576" dirty="0"/>
          </a:p>
        </p:txBody>
      </p:sp>
      <p:sp>
        <p:nvSpPr>
          <p:cNvPr id="187" name="Text 184"/>
          <p:cNvSpPr/>
          <p:nvPr/>
        </p:nvSpPr>
        <p:spPr>
          <a:xfrm>
            <a:off x="3777759"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772</a:t>
            </a:r>
            <a:endParaRPr lang="en-US" sz="576" dirty="0"/>
          </a:p>
        </p:txBody>
      </p:sp>
      <p:sp>
        <p:nvSpPr>
          <p:cNvPr id="188" name="Text 185"/>
          <p:cNvSpPr/>
          <p:nvPr/>
        </p:nvSpPr>
        <p:spPr>
          <a:xfrm>
            <a:off x="4260545"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773</a:t>
            </a:r>
            <a:endParaRPr lang="en-US" sz="576" dirty="0"/>
          </a:p>
        </p:txBody>
      </p:sp>
      <p:sp>
        <p:nvSpPr>
          <p:cNvPr id="189" name="Text 186"/>
          <p:cNvSpPr/>
          <p:nvPr/>
        </p:nvSpPr>
        <p:spPr>
          <a:xfrm>
            <a:off x="4743331"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280</a:t>
            </a:r>
            <a:endParaRPr lang="en-US" sz="576" dirty="0"/>
          </a:p>
        </p:txBody>
      </p:sp>
      <p:sp>
        <p:nvSpPr>
          <p:cNvPr id="190" name="Text 187"/>
          <p:cNvSpPr/>
          <p:nvPr/>
        </p:nvSpPr>
        <p:spPr>
          <a:xfrm>
            <a:off x="3777759"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91" name="Text 188"/>
          <p:cNvSpPr/>
          <p:nvPr/>
        </p:nvSpPr>
        <p:spPr>
          <a:xfrm>
            <a:off x="4260545"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92" name="Text 189"/>
          <p:cNvSpPr/>
          <p:nvPr/>
        </p:nvSpPr>
        <p:spPr>
          <a:xfrm>
            <a:off x="4743331"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193" name="Text 190"/>
          <p:cNvSpPr/>
          <p:nvPr/>
        </p:nvSpPr>
        <p:spPr>
          <a:xfrm>
            <a:off x="5226118" y="42155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922</a:t>
            </a:r>
            <a:endParaRPr lang="en-US" sz="576" dirty="0"/>
          </a:p>
        </p:txBody>
      </p:sp>
      <p:sp>
        <p:nvSpPr>
          <p:cNvPr id="194" name="Text 191"/>
          <p:cNvSpPr/>
          <p:nvPr/>
        </p:nvSpPr>
        <p:spPr>
          <a:xfrm>
            <a:off x="2329400"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142</a:t>
            </a:r>
            <a:endParaRPr lang="en-US" sz="576" dirty="0"/>
          </a:p>
        </p:txBody>
      </p:sp>
      <p:sp>
        <p:nvSpPr>
          <p:cNvPr id="195" name="Text 192"/>
          <p:cNvSpPr/>
          <p:nvPr/>
        </p:nvSpPr>
        <p:spPr>
          <a:xfrm>
            <a:off x="2812186"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382</a:t>
            </a:r>
            <a:endParaRPr lang="en-US" sz="576" dirty="0"/>
          </a:p>
        </p:txBody>
      </p:sp>
      <p:sp>
        <p:nvSpPr>
          <p:cNvPr id="196" name="Text 193"/>
          <p:cNvSpPr/>
          <p:nvPr/>
        </p:nvSpPr>
        <p:spPr>
          <a:xfrm>
            <a:off x="3294972"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153</a:t>
            </a:r>
            <a:endParaRPr lang="en-US" sz="576" dirty="0"/>
          </a:p>
        </p:txBody>
      </p:sp>
      <p:sp>
        <p:nvSpPr>
          <p:cNvPr id="197" name="Text 194"/>
          <p:cNvSpPr/>
          <p:nvPr/>
        </p:nvSpPr>
        <p:spPr>
          <a:xfrm>
            <a:off x="4743331" y="43489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592</a:t>
            </a:r>
            <a:endParaRPr lang="en-US" sz="576" dirty="0"/>
          </a:p>
        </p:txBody>
      </p:sp>
      <p:sp>
        <p:nvSpPr>
          <p:cNvPr id="198" name="Text 195"/>
          <p:cNvSpPr/>
          <p:nvPr/>
        </p:nvSpPr>
        <p:spPr>
          <a:xfrm>
            <a:off x="6257769"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9" name="Text 196"/>
          <p:cNvSpPr/>
          <p:nvPr/>
        </p:nvSpPr>
        <p:spPr>
          <a:xfrm>
            <a:off x="10108600" y="214386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123</a:t>
            </a:r>
            <a:endParaRPr lang="en-US" sz="636" dirty="0"/>
          </a:p>
        </p:txBody>
      </p:sp>
      <p:sp>
        <p:nvSpPr>
          <p:cNvPr id="200" name="Text 197"/>
          <p:cNvSpPr/>
          <p:nvPr/>
        </p:nvSpPr>
        <p:spPr>
          <a:xfrm>
            <a:off x="7345377"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201" name="Text 198"/>
          <p:cNvSpPr/>
          <p:nvPr/>
        </p:nvSpPr>
        <p:spPr>
          <a:xfrm>
            <a:off x="7345377"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202" name="Text 199"/>
          <p:cNvSpPr/>
          <p:nvPr/>
        </p:nvSpPr>
        <p:spPr>
          <a:xfrm>
            <a:off x="10105326" y="271536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138</a:t>
            </a:r>
            <a:endParaRPr lang="en-US" sz="636" dirty="0"/>
          </a:p>
        </p:txBody>
      </p:sp>
      <p:sp>
        <p:nvSpPr>
          <p:cNvPr id="203" name="Text 200"/>
          <p:cNvSpPr/>
          <p:nvPr/>
        </p:nvSpPr>
        <p:spPr>
          <a:xfrm>
            <a:off x="10098629" y="2858244"/>
            <a:ext cx="182880" cy="95250"/>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318</a:t>
            </a:r>
            <a:endParaRPr lang="en-US" sz="636" dirty="0"/>
          </a:p>
        </p:txBody>
      </p:sp>
      <p:sp>
        <p:nvSpPr>
          <p:cNvPr id="204" name="Text 201"/>
          <p:cNvSpPr/>
          <p:nvPr/>
        </p:nvSpPr>
        <p:spPr>
          <a:xfrm>
            <a:off x="809188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05" name="Text 202"/>
          <p:cNvSpPr/>
          <p:nvPr/>
        </p:nvSpPr>
        <p:spPr>
          <a:xfrm>
            <a:off x="8574667"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06" name="Text 203"/>
          <p:cNvSpPr/>
          <p:nvPr/>
        </p:nvSpPr>
        <p:spPr>
          <a:xfrm>
            <a:off x="9057453"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07" name="Text 204"/>
          <p:cNvSpPr/>
          <p:nvPr/>
        </p:nvSpPr>
        <p:spPr>
          <a:xfrm>
            <a:off x="954024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08" name="Text 205"/>
          <p:cNvSpPr/>
          <p:nvPr/>
        </p:nvSpPr>
        <p:spPr>
          <a:xfrm>
            <a:off x="1002302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09" name="Text 206"/>
          <p:cNvSpPr/>
          <p:nvPr/>
        </p:nvSpPr>
        <p:spPr>
          <a:xfrm>
            <a:off x="1050581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10" name="Text 207"/>
          <p:cNvSpPr/>
          <p:nvPr/>
        </p:nvSpPr>
        <p:spPr>
          <a:xfrm>
            <a:off x="8091881"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137</a:t>
            </a:r>
            <a:endParaRPr lang="en-US" sz="552" dirty="0"/>
          </a:p>
        </p:txBody>
      </p:sp>
      <p:sp>
        <p:nvSpPr>
          <p:cNvPr id="211" name="Text 208"/>
          <p:cNvSpPr/>
          <p:nvPr/>
        </p:nvSpPr>
        <p:spPr>
          <a:xfrm>
            <a:off x="10988599" y="35488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318</a:t>
            </a:r>
            <a:endParaRPr lang="en-US" sz="552" dirty="0"/>
          </a:p>
        </p:txBody>
      </p:sp>
      <p:sp>
        <p:nvSpPr>
          <p:cNvPr id="212" name="Text 209"/>
          <p:cNvSpPr/>
          <p:nvPr/>
        </p:nvSpPr>
        <p:spPr>
          <a:xfrm>
            <a:off x="8574667"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669</a:t>
            </a:r>
            <a:endParaRPr lang="en-US" sz="552" dirty="0"/>
          </a:p>
        </p:txBody>
      </p:sp>
      <p:sp>
        <p:nvSpPr>
          <p:cNvPr id="213" name="Text 210"/>
          <p:cNvSpPr/>
          <p:nvPr/>
        </p:nvSpPr>
        <p:spPr>
          <a:xfrm>
            <a:off x="10505812"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852</a:t>
            </a:r>
            <a:endParaRPr lang="en-US" sz="552" dirty="0"/>
          </a:p>
        </p:txBody>
      </p:sp>
      <p:sp>
        <p:nvSpPr>
          <p:cNvPr id="214" name="Text 211"/>
          <p:cNvSpPr/>
          <p:nvPr/>
        </p:nvSpPr>
        <p:spPr>
          <a:xfrm>
            <a:off x="8574667"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15" name="Text 212"/>
          <p:cNvSpPr/>
          <p:nvPr/>
        </p:nvSpPr>
        <p:spPr>
          <a:xfrm>
            <a:off x="10505812"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570</a:t>
            </a:r>
            <a:endParaRPr lang="en-US" sz="552" dirty="0"/>
          </a:p>
        </p:txBody>
      </p:sp>
      <p:sp>
        <p:nvSpPr>
          <p:cNvPr id="216" name="Text 213"/>
          <p:cNvSpPr/>
          <p:nvPr/>
        </p:nvSpPr>
        <p:spPr>
          <a:xfrm>
            <a:off x="8091881"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729</a:t>
            </a:r>
            <a:endParaRPr lang="en-US" sz="552" dirty="0"/>
          </a:p>
        </p:txBody>
      </p:sp>
      <p:sp>
        <p:nvSpPr>
          <p:cNvPr id="217" name="Text 214"/>
          <p:cNvSpPr/>
          <p:nvPr/>
        </p:nvSpPr>
        <p:spPr>
          <a:xfrm>
            <a:off x="8574667"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218" name="Text 215"/>
          <p:cNvSpPr/>
          <p:nvPr/>
        </p:nvSpPr>
        <p:spPr>
          <a:xfrm>
            <a:off x="9057453"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530</a:t>
            </a:r>
            <a:endParaRPr lang="en-US" sz="552" dirty="0"/>
          </a:p>
        </p:txBody>
      </p:sp>
      <p:sp>
        <p:nvSpPr>
          <p:cNvPr id="219" name="Text 216"/>
          <p:cNvSpPr/>
          <p:nvPr/>
        </p:nvSpPr>
        <p:spPr>
          <a:xfrm>
            <a:off x="10505812"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240</a:t>
            </a:r>
            <a:endParaRPr lang="en-US" sz="552" dirty="0"/>
          </a:p>
        </p:txBody>
      </p:sp>
      <p:sp>
        <p:nvSpPr>
          <p:cNvPr id="220" name="Text 217"/>
          <p:cNvSpPr/>
          <p:nvPr/>
        </p:nvSpPr>
        <p:spPr>
          <a:xfrm>
            <a:off x="8574667"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286</a:t>
            </a:r>
            <a:endParaRPr lang="en-US" sz="552" dirty="0"/>
          </a:p>
        </p:txBody>
      </p:sp>
      <p:sp>
        <p:nvSpPr>
          <p:cNvPr id="221" name="Text 218"/>
          <p:cNvSpPr/>
          <p:nvPr/>
        </p:nvSpPr>
        <p:spPr>
          <a:xfrm>
            <a:off x="9057453"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804</a:t>
            </a:r>
            <a:endParaRPr lang="en-US" sz="552" dirty="0"/>
          </a:p>
        </p:txBody>
      </p:sp>
      <p:sp>
        <p:nvSpPr>
          <p:cNvPr id="222" name="Text 219"/>
          <p:cNvSpPr/>
          <p:nvPr/>
        </p:nvSpPr>
        <p:spPr>
          <a:xfrm>
            <a:off x="10505812"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223" name="Text 220"/>
          <p:cNvSpPr/>
          <p:nvPr/>
        </p:nvSpPr>
        <p:spPr>
          <a:xfrm>
            <a:off x="8091881"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280</a:t>
            </a:r>
            <a:endParaRPr lang="en-US" sz="552" dirty="0"/>
          </a:p>
        </p:txBody>
      </p:sp>
      <p:sp>
        <p:nvSpPr>
          <p:cNvPr id="224" name="Text 221"/>
          <p:cNvSpPr/>
          <p:nvPr/>
        </p:nvSpPr>
        <p:spPr>
          <a:xfrm>
            <a:off x="9057453"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205</a:t>
            </a:r>
            <a:endParaRPr lang="en-US" sz="552" dirty="0"/>
          </a:p>
        </p:txBody>
      </p:sp>
      <p:sp>
        <p:nvSpPr>
          <p:cNvPr id="225" name="Text 222"/>
          <p:cNvSpPr/>
          <p:nvPr/>
        </p:nvSpPr>
        <p:spPr>
          <a:xfrm>
            <a:off x="10988599" y="42155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657</a:t>
            </a:r>
            <a:endParaRPr lang="en-US" sz="552" dirty="0"/>
          </a:p>
        </p:txBody>
      </p:sp>
      <p:sp>
        <p:nvSpPr>
          <p:cNvPr id="226" name="Text 223"/>
          <p:cNvSpPr/>
          <p:nvPr/>
        </p:nvSpPr>
        <p:spPr>
          <a:xfrm>
            <a:off x="8091881"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27" name="Text 224"/>
          <p:cNvSpPr/>
          <p:nvPr/>
        </p:nvSpPr>
        <p:spPr>
          <a:xfrm>
            <a:off x="8574667"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177</a:t>
            </a:r>
            <a:endParaRPr lang="en-US" sz="552" dirty="0"/>
          </a:p>
        </p:txBody>
      </p:sp>
      <p:sp>
        <p:nvSpPr>
          <p:cNvPr id="228" name="Text 225"/>
          <p:cNvSpPr/>
          <p:nvPr/>
        </p:nvSpPr>
        <p:spPr>
          <a:xfrm>
            <a:off x="9057453"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229" name="Text 226"/>
          <p:cNvSpPr/>
          <p:nvPr/>
        </p:nvSpPr>
        <p:spPr>
          <a:xfrm>
            <a:off x="10505812"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225</a:t>
            </a:r>
            <a:endParaRPr lang="en-US" sz="552" dirty="0"/>
          </a:p>
        </p:txBody>
      </p:sp>
      <p:sp>
        <p:nvSpPr>
          <p:cNvPr id="230" name="Text 227"/>
          <p:cNvSpPr/>
          <p:nvPr/>
        </p:nvSpPr>
        <p:spPr>
          <a:xfrm>
            <a:off x="9540240"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31" name="Text 228"/>
          <p:cNvSpPr/>
          <p:nvPr/>
        </p:nvSpPr>
        <p:spPr>
          <a:xfrm>
            <a:off x="10023026"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32" name="Text 229"/>
          <p:cNvSpPr/>
          <p:nvPr/>
        </p:nvSpPr>
        <p:spPr>
          <a:xfrm>
            <a:off x="9540240"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33" name="Text 230"/>
          <p:cNvSpPr/>
          <p:nvPr/>
        </p:nvSpPr>
        <p:spPr>
          <a:xfrm>
            <a:off x="10023026"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34" name="Text 231"/>
          <p:cNvSpPr/>
          <p:nvPr/>
        </p:nvSpPr>
        <p:spPr>
          <a:xfrm>
            <a:off x="8091881"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702</a:t>
            </a:r>
            <a:endParaRPr lang="en-US" sz="552" dirty="0"/>
          </a:p>
        </p:txBody>
      </p:sp>
      <p:sp>
        <p:nvSpPr>
          <p:cNvPr id="235" name="Text 232"/>
          <p:cNvSpPr/>
          <p:nvPr/>
        </p:nvSpPr>
        <p:spPr>
          <a:xfrm>
            <a:off x="8574667"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182</a:t>
            </a:r>
            <a:endParaRPr lang="en-US" sz="552" dirty="0"/>
          </a:p>
        </p:txBody>
      </p:sp>
      <p:sp>
        <p:nvSpPr>
          <p:cNvPr id="236" name="Text 233"/>
          <p:cNvSpPr/>
          <p:nvPr/>
        </p:nvSpPr>
        <p:spPr>
          <a:xfrm>
            <a:off x="9057453"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511</a:t>
            </a:r>
            <a:endParaRPr lang="en-US" sz="552" dirty="0"/>
          </a:p>
        </p:txBody>
      </p:sp>
      <p:sp>
        <p:nvSpPr>
          <p:cNvPr id="237" name="Text 234"/>
          <p:cNvSpPr/>
          <p:nvPr/>
        </p:nvSpPr>
        <p:spPr>
          <a:xfrm>
            <a:off x="10505812"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231</a:t>
            </a:r>
            <a:endParaRPr lang="en-US" sz="552" dirty="0"/>
          </a:p>
        </p:txBody>
      </p:sp>
      <p:sp>
        <p:nvSpPr>
          <p:cNvPr id="238" name="Text 235"/>
          <p:cNvSpPr/>
          <p:nvPr/>
        </p:nvSpPr>
        <p:spPr>
          <a:xfrm>
            <a:off x="8091881"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110</a:t>
            </a:r>
            <a:endParaRPr lang="en-US" sz="552" dirty="0"/>
          </a:p>
        </p:txBody>
      </p:sp>
      <p:sp>
        <p:nvSpPr>
          <p:cNvPr id="239" name="Text 236"/>
          <p:cNvSpPr/>
          <p:nvPr/>
        </p:nvSpPr>
        <p:spPr>
          <a:xfrm>
            <a:off x="10988599" y="48823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256</a:t>
            </a:r>
            <a:endParaRPr lang="en-US" sz="552" dirty="0"/>
          </a:p>
        </p:txBody>
      </p:sp>
      <p:sp>
        <p:nvSpPr>
          <p:cNvPr id="240" name="Text 237"/>
          <p:cNvSpPr/>
          <p:nvPr/>
        </p:nvSpPr>
        <p:spPr>
          <a:xfrm>
            <a:off x="10988599" y="5015657"/>
            <a:ext cx="698284" cy="128588"/>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230</a:t>
            </a:r>
            <a:endParaRPr lang="en-US" sz="552" dirty="0"/>
          </a:p>
        </p:txBody>
      </p:sp>
      <p:sp>
        <p:nvSpPr>
          <p:cNvPr id="241" name="Text 238"/>
          <p:cNvSpPr/>
          <p:nvPr/>
        </p:nvSpPr>
        <p:spPr>
          <a:xfrm>
            <a:off x="2329400"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73</a:t>
            </a:r>
            <a:endParaRPr lang="en-US" sz="576" dirty="0"/>
          </a:p>
        </p:txBody>
      </p:sp>
      <p:sp>
        <p:nvSpPr>
          <p:cNvPr id="242" name="Text 239"/>
          <p:cNvSpPr/>
          <p:nvPr/>
        </p:nvSpPr>
        <p:spPr>
          <a:xfrm>
            <a:off x="3294972"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43" name="Text 240"/>
          <p:cNvSpPr/>
          <p:nvPr/>
        </p:nvSpPr>
        <p:spPr>
          <a:xfrm>
            <a:off x="2329400"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44" name="Text 241"/>
          <p:cNvSpPr/>
          <p:nvPr/>
        </p:nvSpPr>
        <p:spPr>
          <a:xfrm>
            <a:off x="3294972" y="40822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72</a:t>
            </a:r>
            <a:endParaRPr lang="en-US" sz="576" dirty="0"/>
          </a:p>
        </p:txBody>
      </p:sp>
      <p:sp>
        <p:nvSpPr>
          <p:cNvPr id="245" name="Text 242"/>
          <p:cNvSpPr/>
          <p:nvPr/>
        </p:nvSpPr>
        <p:spPr>
          <a:xfrm>
            <a:off x="2329400"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29</a:t>
            </a:r>
            <a:endParaRPr lang="en-US" sz="576" dirty="0"/>
          </a:p>
        </p:txBody>
      </p:sp>
      <p:sp>
        <p:nvSpPr>
          <p:cNvPr id="246" name="Text 243"/>
          <p:cNvSpPr/>
          <p:nvPr/>
        </p:nvSpPr>
        <p:spPr>
          <a:xfrm>
            <a:off x="2812186"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78</a:t>
            </a:r>
            <a:endParaRPr lang="en-US" sz="576" dirty="0"/>
          </a:p>
        </p:txBody>
      </p:sp>
      <p:sp>
        <p:nvSpPr>
          <p:cNvPr id="247" name="Text 244"/>
          <p:cNvSpPr/>
          <p:nvPr/>
        </p:nvSpPr>
        <p:spPr>
          <a:xfrm>
            <a:off x="3294972" y="42155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31</a:t>
            </a:r>
            <a:endParaRPr lang="en-US" sz="576" dirty="0"/>
          </a:p>
        </p:txBody>
      </p:sp>
      <p:sp>
        <p:nvSpPr>
          <p:cNvPr id="248" name="Text 245"/>
          <p:cNvSpPr/>
          <p:nvPr/>
        </p:nvSpPr>
        <p:spPr>
          <a:xfrm>
            <a:off x="10153991" y="2000994"/>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31</a:t>
            </a:r>
            <a:endParaRPr lang="en-US" sz="636" dirty="0"/>
          </a:p>
        </p:txBody>
      </p:sp>
      <p:sp>
        <p:nvSpPr>
          <p:cNvPr id="249" name="Text 246"/>
          <p:cNvSpPr/>
          <p:nvPr/>
        </p:nvSpPr>
        <p:spPr>
          <a:xfrm>
            <a:off x="10153545" y="2286744"/>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21</a:t>
            </a:r>
            <a:endParaRPr lang="en-US" sz="636" dirty="0"/>
          </a:p>
        </p:txBody>
      </p:sp>
      <p:sp>
        <p:nvSpPr>
          <p:cNvPr id="250" name="Text 247"/>
          <p:cNvSpPr/>
          <p:nvPr/>
        </p:nvSpPr>
        <p:spPr>
          <a:xfrm>
            <a:off x="9540240"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51" name="Text 248"/>
          <p:cNvSpPr/>
          <p:nvPr/>
        </p:nvSpPr>
        <p:spPr>
          <a:xfrm>
            <a:off x="10023026"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52" name="Text 249"/>
          <p:cNvSpPr/>
          <p:nvPr/>
        </p:nvSpPr>
        <p:spPr>
          <a:xfrm>
            <a:off x="8574667"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35</a:t>
            </a:r>
            <a:endParaRPr lang="en-US" sz="552" dirty="0"/>
          </a:p>
        </p:txBody>
      </p:sp>
      <p:sp>
        <p:nvSpPr>
          <p:cNvPr id="253" name="Text 250"/>
          <p:cNvSpPr/>
          <p:nvPr/>
        </p:nvSpPr>
        <p:spPr>
          <a:xfrm>
            <a:off x="9057453"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54" name="Text 251"/>
          <p:cNvSpPr/>
          <p:nvPr/>
        </p:nvSpPr>
        <p:spPr>
          <a:xfrm>
            <a:off x="10505812"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45</a:t>
            </a:r>
            <a:endParaRPr lang="en-US" sz="552" dirty="0"/>
          </a:p>
        </p:txBody>
      </p:sp>
      <p:sp>
        <p:nvSpPr>
          <p:cNvPr id="255" name="Text 252"/>
          <p:cNvSpPr/>
          <p:nvPr/>
        </p:nvSpPr>
        <p:spPr>
          <a:xfrm>
            <a:off x="9540240"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6" name="Text 253"/>
          <p:cNvSpPr/>
          <p:nvPr/>
        </p:nvSpPr>
        <p:spPr>
          <a:xfrm>
            <a:off x="10023026"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7" name="Text 254"/>
          <p:cNvSpPr/>
          <p:nvPr/>
        </p:nvSpPr>
        <p:spPr>
          <a:xfrm>
            <a:off x="9540240"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8" name="Text 255"/>
          <p:cNvSpPr/>
          <p:nvPr/>
        </p:nvSpPr>
        <p:spPr>
          <a:xfrm>
            <a:off x="10023026"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9" name="Text 256"/>
          <p:cNvSpPr/>
          <p:nvPr/>
        </p:nvSpPr>
        <p:spPr>
          <a:xfrm>
            <a:off x="9540240"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60" name="Text 257"/>
          <p:cNvSpPr/>
          <p:nvPr/>
        </p:nvSpPr>
        <p:spPr>
          <a:xfrm>
            <a:off x="10023026"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61" name="Text 258"/>
          <p:cNvSpPr/>
          <p:nvPr/>
        </p:nvSpPr>
        <p:spPr>
          <a:xfrm>
            <a:off x="8574667"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262" name="Text 259"/>
          <p:cNvSpPr/>
          <p:nvPr/>
        </p:nvSpPr>
        <p:spPr>
          <a:xfrm>
            <a:off x="10505812"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263" name="Text 260"/>
          <p:cNvSpPr/>
          <p:nvPr/>
        </p:nvSpPr>
        <p:spPr>
          <a:xfrm>
            <a:off x="8574667"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28</a:t>
            </a:r>
            <a:endParaRPr lang="en-US" sz="552" dirty="0"/>
          </a:p>
        </p:txBody>
      </p:sp>
      <p:sp>
        <p:nvSpPr>
          <p:cNvPr id="264" name="Text 261"/>
          <p:cNvSpPr/>
          <p:nvPr/>
        </p:nvSpPr>
        <p:spPr>
          <a:xfrm>
            <a:off x="9057453"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80</a:t>
            </a:r>
            <a:endParaRPr lang="en-US" sz="552" dirty="0"/>
          </a:p>
        </p:txBody>
      </p:sp>
      <p:sp>
        <p:nvSpPr>
          <p:cNvPr id="265" name="Text 262"/>
          <p:cNvSpPr/>
          <p:nvPr/>
        </p:nvSpPr>
        <p:spPr>
          <a:xfrm>
            <a:off x="10505812"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36</a:t>
            </a:r>
            <a:endParaRPr lang="en-US" sz="552" dirty="0"/>
          </a:p>
        </p:txBody>
      </p:sp>
      <p:sp>
        <p:nvSpPr>
          <p:cNvPr id="266" name="Text 263"/>
          <p:cNvSpPr/>
          <p:nvPr/>
        </p:nvSpPr>
        <p:spPr>
          <a:xfrm>
            <a:off x="8091881"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67" name="Text 264"/>
          <p:cNvSpPr/>
          <p:nvPr/>
        </p:nvSpPr>
        <p:spPr>
          <a:xfrm>
            <a:off x="8574667"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68" name="Text 265"/>
          <p:cNvSpPr/>
          <p:nvPr/>
        </p:nvSpPr>
        <p:spPr>
          <a:xfrm>
            <a:off x="9057453"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72</a:t>
            </a:r>
            <a:endParaRPr lang="en-US" sz="552" dirty="0"/>
          </a:p>
        </p:txBody>
      </p:sp>
      <p:sp>
        <p:nvSpPr>
          <p:cNvPr id="269" name="Text 266"/>
          <p:cNvSpPr/>
          <p:nvPr/>
        </p:nvSpPr>
        <p:spPr>
          <a:xfrm>
            <a:off x="10505812"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
        <p:nvSpPr>
          <p:cNvPr id="270" name="Text 267"/>
          <p:cNvSpPr/>
          <p:nvPr/>
        </p:nvSpPr>
        <p:spPr>
          <a:xfrm>
            <a:off x="10189412" y="242961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0</a:t>
            </a:r>
            <a:endParaRPr lang="en-US" sz="636" dirty="0"/>
          </a:p>
        </p:txBody>
      </p:sp>
      <p:sp>
        <p:nvSpPr>
          <p:cNvPr id="271" name="Text 268"/>
          <p:cNvSpPr/>
          <p:nvPr/>
        </p:nvSpPr>
        <p:spPr>
          <a:xfrm>
            <a:off x="9540240"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a:t>
            </a:r>
            <a:endParaRPr lang="en-US" sz="552" dirty="0"/>
          </a:p>
        </p:txBody>
      </p:sp>
      <p:sp>
        <p:nvSpPr>
          <p:cNvPr id="272" name="Text 269"/>
          <p:cNvSpPr/>
          <p:nvPr/>
        </p:nvSpPr>
        <p:spPr>
          <a:xfrm>
            <a:off x="10023026"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a:t>
            </a:r>
            <a:endParaRPr lang="en-US" sz="552" dirty="0"/>
          </a:p>
        </p:txBody>
      </p:sp>
      <p:sp>
        <p:nvSpPr>
          <p:cNvPr id="273" name="Text 270"/>
          <p:cNvSpPr/>
          <p:nvPr/>
        </p:nvSpPr>
        <p:spPr>
          <a:xfrm>
            <a:off x="9540240"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a:t>
            </a:r>
            <a:endParaRPr lang="en-US" sz="552" dirty="0"/>
          </a:p>
        </p:txBody>
      </p:sp>
      <p:sp>
        <p:nvSpPr>
          <p:cNvPr id="274" name="Text 271"/>
          <p:cNvSpPr/>
          <p:nvPr/>
        </p:nvSpPr>
        <p:spPr>
          <a:xfrm>
            <a:off x="10023026"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a:t>
            </a:r>
            <a:endParaRPr lang="en-US" sz="552" dirty="0"/>
          </a:p>
        </p:txBody>
      </p:sp>
      <p:sp>
        <p:nvSpPr>
          <p:cNvPr id="275" name="Text 272"/>
          <p:cNvSpPr/>
          <p:nvPr/>
        </p:nvSpPr>
        <p:spPr>
          <a:xfrm>
            <a:off x="9540240"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a:t>
            </a:r>
            <a:endParaRPr lang="en-US" sz="552" dirty="0"/>
          </a:p>
        </p:txBody>
      </p:sp>
      <p:sp>
        <p:nvSpPr>
          <p:cNvPr id="276" name="Text 273"/>
          <p:cNvSpPr/>
          <p:nvPr/>
        </p:nvSpPr>
        <p:spPr>
          <a:xfrm>
            <a:off x="10023026"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a:t>
            </a:r>
            <a:endParaRPr lang="en-US" sz="552" dirty="0"/>
          </a:p>
        </p:txBody>
      </p:sp>
      <p:sp>
        <p:nvSpPr>
          <p:cNvPr id="277" name="Text 274"/>
          <p:cNvSpPr/>
          <p:nvPr/>
        </p:nvSpPr>
        <p:spPr>
          <a:xfrm>
            <a:off x="9540240"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a:t>
            </a:r>
            <a:endParaRPr lang="en-US" sz="552" dirty="0"/>
          </a:p>
        </p:txBody>
      </p:sp>
      <p:sp>
        <p:nvSpPr>
          <p:cNvPr id="278" name="Text 275"/>
          <p:cNvSpPr/>
          <p:nvPr/>
        </p:nvSpPr>
        <p:spPr>
          <a:xfrm>
            <a:off x="10023026"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a:t>
            </a:r>
            <a:endParaRPr lang="en-US" sz="552" dirty="0"/>
          </a:p>
        </p:txBody>
      </p:sp>
      <p:sp>
        <p:nvSpPr>
          <p:cNvPr id="279" name="Text 276"/>
          <p:cNvSpPr/>
          <p:nvPr/>
        </p:nvSpPr>
        <p:spPr>
          <a:xfrm>
            <a:off x="9540240"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a:t>
            </a:r>
            <a:endParaRPr lang="en-US" sz="552" dirty="0"/>
          </a:p>
        </p:txBody>
      </p:sp>
      <p:sp>
        <p:nvSpPr>
          <p:cNvPr id="280" name="Text 277"/>
          <p:cNvSpPr/>
          <p:nvPr/>
        </p:nvSpPr>
        <p:spPr>
          <a:xfrm>
            <a:off x="10023026"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a:t>
            </a:r>
            <a:endParaRPr lang="en-US" sz="552" dirty="0"/>
          </a:p>
        </p:txBody>
      </p:sp>
      <p:sp>
        <p:nvSpPr>
          <p:cNvPr id="281" name="Text 278"/>
          <p:cNvSpPr/>
          <p:nvPr/>
        </p:nvSpPr>
        <p:spPr>
          <a:xfrm>
            <a:off x="9540240"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a:t>
            </a:r>
            <a:endParaRPr lang="en-US" sz="552" dirty="0"/>
          </a:p>
        </p:txBody>
      </p:sp>
      <p:sp>
        <p:nvSpPr>
          <p:cNvPr id="282" name="Text 279"/>
          <p:cNvSpPr/>
          <p:nvPr/>
        </p:nvSpPr>
        <p:spPr>
          <a:xfrm>
            <a:off x="10023026"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a:t>
            </a:r>
            <a:endParaRPr lang="en-US" sz="552" dirty="0"/>
          </a:p>
        </p:txBody>
      </p:sp>
      <p:sp>
        <p:nvSpPr>
          <p:cNvPr id="283" name="Text 280"/>
          <p:cNvSpPr/>
          <p:nvPr/>
        </p:nvSpPr>
        <p:spPr>
          <a:xfrm>
            <a:off x="9540240"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a:t>
            </a:r>
            <a:endParaRPr lang="en-US" sz="552" dirty="0"/>
          </a:p>
        </p:txBody>
      </p:sp>
      <p:sp>
        <p:nvSpPr>
          <p:cNvPr id="284" name="Text 281"/>
          <p:cNvSpPr/>
          <p:nvPr/>
        </p:nvSpPr>
        <p:spPr>
          <a:xfrm>
            <a:off x="10023026"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a:t>
            </a:r>
            <a:endParaRPr lang="en-US" sz="55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01_Repositorios\13_Presentaciones\dash\televentas\ppt_slides\sk_09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056138"/>
            <a:ext cx="6456151"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Mostró un descarte muy alto () y una bajísima efectividad sobre contacto (), lo que justifica que se haya pausado a partir de febrero.</a:t>
            </a:r>
            <a:endParaRPr lang="en-US" sz="744" dirty="0"/>
          </a:p>
        </p:txBody>
      </p:sp>
      <p:sp>
        <p:nvSpPr>
          <p:cNvPr id="4" name="Text 1"/>
          <p:cNvSpPr/>
          <p:nvPr/>
        </p:nvSpPr>
        <p:spPr>
          <a:xfrm>
            <a:off x="685783" y="4909691"/>
            <a:ext cx="6456151"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(campaña táctica sobre base histórica de clientes satisfechos).</a:t>
            </a:r>
            <a:endParaRPr lang="en-US" sz="744" dirty="0"/>
          </a:p>
        </p:txBody>
      </p:sp>
      <p:sp>
        <p:nvSpPr>
          <p:cNvPr id="5" name="Text 2"/>
          <p:cNvSpPr/>
          <p:nvPr/>
        </p:nvSpPr>
        <p:spPr>
          <a:xfrm>
            <a:off x="685783" y="5202585"/>
            <a:ext cx="6456151"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contestador fue el gran bloqueador en enero, consumiendo el .</a:t>
            </a:r>
            <a:endParaRPr lang="en-US" sz="744" dirty="0"/>
          </a:p>
        </p:txBody>
      </p:sp>
      <p:sp>
        <p:nvSpPr>
          <p:cNvPr id="6" name="Text 3"/>
          <p:cNvSpPr/>
          <p:nvPr/>
        </p:nvSpPr>
        <p:spPr>
          <a:xfrm>
            <a:off x="1213514" y="219075"/>
            <a:ext cx="4357727"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CP Clientes Satisfechos</a:t>
            </a:r>
            <a:endParaRPr lang="en-US" sz="1260" dirty="0"/>
          </a:p>
        </p:txBody>
      </p:sp>
      <p:sp>
        <p:nvSpPr>
          <p:cNvPr id="7" name="Text 4"/>
          <p:cNvSpPr/>
          <p:nvPr/>
        </p:nvSpPr>
        <p:spPr>
          <a:xfrm>
            <a:off x="8216595" y="1219944"/>
            <a:ext cx="3479812"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focalizada y depurada de forma express</a:t>
            </a:r>
            <a:endParaRPr lang="en-US" sz="648" dirty="0"/>
          </a:p>
        </p:txBody>
      </p:sp>
      <p:sp>
        <p:nvSpPr>
          <p:cNvPr id="8" name="Text 5"/>
          <p:cNvSpPr/>
          <p:nvPr/>
        </p:nvSpPr>
        <p:spPr>
          <a:xfrm>
            <a:off x="533387"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Interacción ágil con clientes históricos</a:t>
            </a:r>
            <a:endParaRPr lang="en-US" sz="648" dirty="0"/>
          </a:p>
        </p:txBody>
      </p:sp>
      <p:sp>
        <p:nvSpPr>
          <p:cNvPr id="9" name="Text 6"/>
          <p:cNvSpPr/>
          <p:nvPr/>
        </p:nvSpPr>
        <p:spPr>
          <a:xfrm>
            <a:off x="504812" y="35488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Cuota Protegida Activa / Producto Activo</a:t>
            </a:r>
            <a:endParaRPr lang="en-US" sz="576" dirty="0"/>
          </a:p>
        </p:txBody>
      </p:sp>
      <p:sp>
        <p:nvSpPr>
          <p:cNvPr id="10" name="Text 7"/>
          <p:cNvSpPr/>
          <p:nvPr/>
        </p:nvSpPr>
        <p:spPr>
          <a:xfrm>
            <a:off x="4374991"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Aporte táctico masivo al inicio del año</a:t>
            </a:r>
            <a:endParaRPr lang="en-US" sz="648" dirty="0"/>
          </a:p>
        </p:txBody>
      </p:sp>
      <p:sp>
        <p:nvSpPr>
          <p:cNvPr id="11" name="Text 8"/>
          <p:cNvSpPr/>
          <p:nvPr/>
        </p:nvSpPr>
        <p:spPr>
          <a:xfrm>
            <a:off x="6257769"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2" name="Text 9"/>
          <p:cNvSpPr/>
          <p:nvPr/>
        </p:nvSpPr>
        <p:spPr>
          <a:xfrm>
            <a:off x="8681672" y="209550"/>
            <a:ext cx="2938538"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Clientes Satisfechos</a:t>
            </a:r>
            <a:endParaRPr lang="en-US" sz="840" dirty="0"/>
          </a:p>
        </p:txBody>
      </p:sp>
      <p:sp>
        <p:nvSpPr>
          <p:cNvPr id="13" name="Text 10"/>
          <p:cNvSpPr/>
          <p:nvPr/>
        </p:nvSpPr>
        <p:spPr>
          <a:xfrm>
            <a:off x="495288"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4" name="Text 11"/>
          <p:cNvSpPr/>
          <p:nvPr/>
        </p:nvSpPr>
        <p:spPr>
          <a:xfrm>
            <a:off x="6257769"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5" name="Text 12"/>
          <p:cNvSpPr/>
          <p:nvPr/>
        </p:nvSpPr>
        <p:spPr>
          <a:xfrm>
            <a:off x="6267293" y="38155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 / experiencia</a:t>
            </a:r>
            <a:endParaRPr lang="en-US" sz="552" dirty="0"/>
          </a:p>
        </p:txBody>
      </p:sp>
      <p:sp>
        <p:nvSpPr>
          <p:cNvPr id="16" name="Text 13"/>
          <p:cNvSpPr/>
          <p:nvPr/>
        </p:nvSpPr>
        <p:spPr>
          <a:xfrm>
            <a:off x="552436" y="4753719"/>
            <a:ext cx="1624567"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7" name="Text 14"/>
          <p:cNvSpPr/>
          <p:nvPr/>
        </p:nvSpPr>
        <p:spPr>
          <a:xfrm>
            <a:off x="495288"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8" name="Text 15"/>
          <p:cNvSpPr/>
          <p:nvPr/>
        </p:nvSpPr>
        <p:spPr>
          <a:xfrm>
            <a:off x="504812" y="3420219"/>
            <a:ext cx="1824587" cy="128588"/>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9" name="Text 16"/>
          <p:cNvSpPr/>
          <p:nvPr/>
        </p:nvSpPr>
        <p:spPr>
          <a:xfrm>
            <a:off x="504812" y="36821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Teléfono Errado / Sin Teléfono</a:t>
            </a:r>
            <a:endParaRPr lang="en-US" sz="576" dirty="0"/>
          </a:p>
        </p:txBody>
      </p:sp>
      <p:sp>
        <p:nvSpPr>
          <p:cNvPr id="20" name="Text 17"/>
          <p:cNvSpPr/>
          <p:nvPr/>
        </p:nvSpPr>
        <p:spPr>
          <a:xfrm>
            <a:off x="6267293" y="36821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1" name="Text 18"/>
          <p:cNvSpPr/>
          <p:nvPr/>
        </p:nvSpPr>
        <p:spPr>
          <a:xfrm>
            <a:off x="533387"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CONTACTO EFECTIVO EN ENERO</a:t>
            </a:r>
            <a:endParaRPr lang="en-US" sz="672" dirty="0"/>
          </a:p>
        </p:txBody>
      </p:sp>
      <p:sp>
        <p:nvSpPr>
          <p:cNvPr id="22" name="Text 19"/>
          <p:cNvSpPr/>
          <p:nvPr/>
        </p:nvSpPr>
        <p:spPr>
          <a:xfrm>
            <a:off x="504812" y="38155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NIT de empresa / No apto</a:t>
            </a:r>
            <a:endParaRPr lang="en-US" sz="576" dirty="0"/>
          </a:p>
        </p:txBody>
      </p:sp>
      <p:sp>
        <p:nvSpPr>
          <p:cNvPr id="23" name="Text 20"/>
          <p:cNvSpPr/>
          <p:nvPr/>
        </p:nvSpPr>
        <p:spPr>
          <a:xfrm>
            <a:off x="6267293" y="42155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4" name="Text 21"/>
          <p:cNvSpPr/>
          <p:nvPr/>
        </p:nvSpPr>
        <p:spPr>
          <a:xfrm>
            <a:off x="8216595" y="828675"/>
            <a:ext cx="3479812"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LEADS APTOS GENERADOS</a:t>
            </a:r>
            <a:endParaRPr lang="en-US" sz="672" dirty="0"/>
          </a:p>
        </p:txBody>
      </p:sp>
      <p:sp>
        <p:nvSpPr>
          <p:cNvPr id="25" name="Text 22"/>
          <p:cNvSpPr/>
          <p:nvPr/>
        </p:nvSpPr>
        <p:spPr>
          <a:xfrm>
            <a:off x="504812" y="39488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6" name="Text 23"/>
          <p:cNvSpPr/>
          <p:nvPr/>
        </p:nvSpPr>
        <p:spPr>
          <a:xfrm>
            <a:off x="6267293" y="39488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7" name="Text 24"/>
          <p:cNvSpPr/>
          <p:nvPr/>
        </p:nvSpPr>
        <p:spPr>
          <a:xfrm>
            <a:off x="6267293" y="4348907"/>
            <a:ext cx="1824587" cy="128588"/>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8" name="Text 25"/>
          <p:cNvSpPr/>
          <p:nvPr/>
        </p:nvSpPr>
        <p:spPr>
          <a:xfrm>
            <a:off x="4374991"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INCREMENTALES</a:t>
            </a:r>
            <a:endParaRPr lang="en-US" sz="672" dirty="0"/>
          </a:p>
        </p:txBody>
      </p:sp>
      <p:sp>
        <p:nvSpPr>
          <p:cNvPr id="29" name="Text 26"/>
          <p:cNvSpPr/>
          <p:nvPr/>
        </p:nvSpPr>
        <p:spPr>
          <a:xfrm>
            <a:off x="6267293" y="3420219"/>
            <a:ext cx="1824587" cy="128588"/>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0" name="Text 27"/>
          <p:cNvSpPr/>
          <p:nvPr/>
        </p:nvSpPr>
        <p:spPr>
          <a:xfrm>
            <a:off x="10281832" y="1810494"/>
            <a:ext cx="141457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1" name="Text 28"/>
          <p:cNvSpPr/>
          <p:nvPr/>
        </p:nvSpPr>
        <p:spPr>
          <a:xfrm>
            <a:off x="6267293" y="35488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2" name="Text 29"/>
          <p:cNvSpPr/>
          <p:nvPr/>
        </p:nvSpPr>
        <p:spPr>
          <a:xfrm>
            <a:off x="6267293"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3" name="Text 30"/>
          <p:cNvSpPr/>
          <p:nvPr/>
        </p:nvSpPr>
        <p:spPr>
          <a:xfrm>
            <a:off x="6267293" y="4082207"/>
            <a:ext cx="1824587" cy="133350"/>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4" name="Text 31"/>
          <p:cNvSpPr/>
          <p:nvPr/>
        </p:nvSpPr>
        <p:spPr>
          <a:xfrm>
            <a:off x="2996877" y="1810494"/>
            <a:ext cx="152277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5" name="Text 32"/>
          <p:cNvSpPr/>
          <p:nvPr/>
        </p:nvSpPr>
        <p:spPr>
          <a:xfrm>
            <a:off x="8324195"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6" name="Text 33"/>
          <p:cNvSpPr/>
          <p:nvPr/>
        </p:nvSpPr>
        <p:spPr>
          <a:xfrm>
            <a:off x="1582896" y="1810494"/>
            <a:ext cx="141398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7" name="Text 34"/>
          <p:cNvSpPr/>
          <p:nvPr/>
        </p:nvSpPr>
        <p:spPr>
          <a:xfrm>
            <a:off x="4519648" y="1810494"/>
            <a:ext cx="141427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8" name="Text 35"/>
          <p:cNvSpPr/>
          <p:nvPr/>
        </p:nvSpPr>
        <p:spPr>
          <a:xfrm>
            <a:off x="1582896" y="1981944"/>
            <a:ext cx="141398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108.659</a:t>
            </a:r>
            <a:endParaRPr lang="en-US" sz="636" dirty="0"/>
          </a:p>
        </p:txBody>
      </p:sp>
      <p:sp>
        <p:nvSpPr>
          <p:cNvPr id="39" name="Text 36"/>
          <p:cNvSpPr/>
          <p:nvPr/>
        </p:nvSpPr>
        <p:spPr>
          <a:xfrm>
            <a:off x="533387"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0" name="Text 37"/>
          <p:cNvSpPr/>
          <p:nvPr/>
        </p:nvSpPr>
        <p:spPr>
          <a:xfrm>
            <a:off x="1582896" y="2834432"/>
            <a:ext cx="141398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108.659</a:t>
            </a:r>
            <a:endParaRPr lang="en-US" sz="636" dirty="0"/>
          </a:p>
        </p:txBody>
      </p:sp>
      <p:sp>
        <p:nvSpPr>
          <p:cNvPr id="41" name="Text 38"/>
          <p:cNvSpPr/>
          <p:nvPr/>
        </p:nvSpPr>
        <p:spPr>
          <a:xfrm>
            <a:off x="6295868"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533387"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18,6 %</a:t>
            </a:r>
            <a:endParaRPr lang="en-US" sz="1380" dirty="0"/>
          </a:p>
        </p:txBody>
      </p:sp>
      <p:sp>
        <p:nvSpPr>
          <p:cNvPr id="43" name="Text 40"/>
          <p:cNvSpPr/>
          <p:nvPr/>
        </p:nvSpPr>
        <p:spPr>
          <a:xfrm>
            <a:off x="8216595" y="971550"/>
            <a:ext cx="3479812"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35.228</a:t>
            </a:r>
            <a:endParaRPr lang="en-US" sz="1380" dirty="0"/>
          </a:p>
        </p:txBody>
      </p:sp>
      <p:sp>
        <p:nvSpPr>
          <p:cNvPr id="44" name="Text 41"/>
          <p:cNvSpPr/>
          <p:nvPr/>
        </p:nvSpPr>
        <p:spPr>
          <a:xfrm>
            <a:off x="2996877" y="1981944"/>
            <a:ext cx="152277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73.431</a:t>
            </a:r>
            <a:endParaRPr lang="en-US" sz="636" dirty="0"/>
          </a:p>
        </p:txBody>
      </p:sp>
      <p:sp>
        <p:nvSpPr>
          <p:cNvPr id="45" name="Text 42"/>
          <p:cNvSpPr/>
          <p:nvPr/>
        </p:nvSpPr>
        <p:spPr>
          <a:xfrm>
            <a:off x="4519648" y="1981944"/>
            <a:ext cx="141427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67,6 %</a:t>
            </a:r>
            <a:endParaRPr lang="en-US" sz="636" dirty="0"/>
          </a:p>
        </p:txBody>
      </p:sp>
      <p:sp>
        <p:nvSpPr>
          <p:cNvPr id="46" name="Text 43"/>
          <p:cNvSpPr/>
          <p:nvPr/>
        </p:nvSpPr>
        <p:spPr>
          <a:xfrm>
            <a:off x="2996877" y="2834432"/>
            <a:ext cx="152277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73.431</a:t>
            </a:r>
            <a:endParaRPr lang="en-US" sz="636" dirty="0"/>
          </a:p>
        </p:txBody>
      </p:sp>
      <p:sp>
        <p:nvSpPr>
          <p:cNvPr id="47" name="Text 44"/>
          <p:cNvSpPr/>
          <p:nvPr/>
        </p:nvSpPr>
        <p:spPr>
          <a:xfrm>
            <a:off x="4519648" y="2834432"/>
            <a:ext cx="141427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67,6 %</a:t>
            </a:r>
            <a:endParaRPr lang="en-US" sz="636" dirty="0"/>
          </a:p>
        </p:txBody>
      </p:sp>
      <p:sp>
        <p:nvSpPr>
          <p:cNvPr id="48" name="Text 45"/>
          <p:cNvSpPr/>
          <p:nvPr/>
        </p:nvSpPr>
        <p:spPr>
          <a:xfrm>
            <a:off x="504812"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9" name="Text 46"/>
          <p:cNvSpPr/>
          <p:nvPr/>
        </p:nvSpPr>
        <p:spPr>
          <a:xfrm>
            <a:off x="2329400"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43.210</a:t>
            </a:r>
            <a:endParaRPr lang="en-US" sz="576" dirty="0"/>
          </a:p>
        </p:txBody>
      </p:sp>
      <p:sp>
        <p:nvSpPr>
          <p:cNvPr id="50" name="Text 47"/>
          <p:cNvSpPr/>
          <p:nvPr/>
        </p:nvSpPr>
        <p:spPr>
          <a:xfrm>
            <a:off x="5226118" y="3420219"/>
            <a:ext cx="698284" cy="128588"/>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43.210</a:t>
            </a:r>
            <a:endParaRPr lang="en-US" sz="576" dirty="0"/>
          </a:p>
        </p:txBody>
      </p:sp>
      <p:sp>
        <p:nvSpPr>
          <p:cNvPr id="51" name="Text 48"/>
          <p:cNvSpPr/>
          <p:nvPr/>
        </p:nvSpPr>
        <p:spPr>
          <a:xfrm>
            <a:off x="2329400"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22.105</a:t>
            </a:r>
            <a:endParaRPr lang="en-US" sz="576" dirty="0"/>
          </a:p>
        </p:txBody>
      </p:sp>
      <p:sp>
        <p:nvSpPr>
          <p:cNvPr id="52" name="Text 49"/>
          <p:cNvSpPr/>
          <p:nvPr/>
        </p:nvSpPr>
        <p:spPr>
          <a:xfrm>
            <a:off x="5226118" y="35488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22.105</a:t>
            </a:r>
            <a:endParaRPr lang="en-US" sz="576" dirty="0"/>
          </a:p>
        </p:txBody>
      </p:sp>
      <p:sp>
        <p:nvSpPr>
          <p:cNvPr id="53" name="Text 50"/>
          <p:cNvSpPr/>
          <p:nvPr/>
        </p:nvSpPr>
        <p:spPr>
          <a:xfrm>
            <a:off x="2329400"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54" name="Text 51"/>
          <p:cNvSpPr/>
          <p:nvPr/>
        </p:nvSpPr>
        <p:spPr>
          <a:xfrm>
            <a:off x="5226118" y="4082207"/>
            <a:ext cx="698284"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55" name="Text 52"/>
          <p:cNvSpPr/>
          <p:nvPr/>
        </p:nvSpPr>
        <p:spPr>
          <a:xfrm>
            <a:off x="9303014"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6" name="Text 53"/>
          <p:cNvSpPr/>
          <p:nvPr/>
        </p:nvSpPr>
        <p:spPr>
          <a:xfrm>
            <a:off x="7345377"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35.228</a:t>
            </a:r>
            <a:endParaRPr lang="en-US" sz="636" dirty="0"/>
          </a:p>
        </p:txBody>
      </p:sp>
      <p:sp>
        <p:nvSpPr>
          <p:cNvPr id="57" name="Text 54"/>
          <p:cNvSpPr/>
          <p:nvPr/>
        </p:nvSpPr>
        <p:spPr>
          <a:xfrm>
            <a:off x="8324195"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58" name="Text 55"/>
          <p:cNvSpPr/>
          <p:nvPr/>
        </p:nvSpPr>
        <p:spPr>
          <a:xfrm>
            <a:off x="7345377"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35.228</a:t>
            </a:r>
            <a:endParaRPr lang="en-US" sz="636" dirty="0"/>
          </a:p>
        </p:txBody>
      </p:sp>
      <p:sp>
        <p:nvSpPr>
          <p:cNvPr id="59" name="Text 56"/>
          <p:cNvSpPr/>
          <p:nvPr/>
        </p:nvSpPr>
        <p:spPr>
          <a:xfrm>
            <a:off x="8324195"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18,6 %</a:t>
            </a:r>
            <a:endParaRPr lang="en-US" sz="636" dirty="0"/>
          </a:p>
        </p:txBody>
      </p:sp>
      <p:sp>
        <p:nvSpPr>
          <p:cNvPr id="60" name="Text 57"/>
          <p:cNvSpPr/>
          <p:nvPr/>
        </p:nvSpPr>
        <p:spPr>
          <a:xfrm>
            <a:off x="8091881" y="40822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61" name="Text 58"/>
          <p:cNvSpPr/>
          <p:nvPr/>
        </p:nvSpPr>
        <p:spPr>
          <a:xfrm>
            <a:off x="10988599" y="4082207"/>
            <a:ext cx="698284"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62" name="Text 59"/>
          <p:cNvSpPr/>
          <p:nvPr/>
        </p:nvSpPr>
        <p:spPr>
          <a:xfrm>
            <a:off x="8091881"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22.104</a:t>
            </a:r>
            <a:endParaRPr lang="en-US" sz="552" dirty="0"/>
          </a:p>
        </p:txBody>
      </p:sp>
      <p:sp>
        <p:nvSpPr>
          <p:cNvPr id="63" name="Text 60"/>
          <p:cNvSpPr/>
          <p:nvPr/>
        </p:nvSpPr>
        <p:spPr>
          <a:xfrm>
            <a:off x="10988599" y="42155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22.104</a:t>
            </a:r>
            <a:endParaRPr lang="en-US" sz="552" dirty="0"/>
          </a:p>
        </p:txBody>
      </p:sp>
      <p:sp>
        <p:nvSpPr>
          <p:cNvPr id="64" name="Text 61"/>
          <p:cNvSpPr/>
          <p:nvPr/>
        </p:nvSpPr>
        <p:spPr>
          <a:xfrm>
            <a:off x="533387"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5" name="Text 62"/>
          <p:cNvSpPr/>
          <p:nvPr/>
        </p:nvSpPr>
        <p:spPr>
          <a:xfrm>
            <a:off x="533387"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6" name="Text 63"/>
          <p:cNvSpPr/>
          <p:nvPr/>
        </p:nvSpPr>
        <p:spPr>
          <a:xfrm>
            <a:off x="533387"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7" name="Text 64"/>
          <p:cNvSpPr/>
          <p:nvPr/>
        </p:nvSpPr>
        <p:spPr>
          <a:xfrm>
            <a:off x="533387"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8" name="Text 65"/>
          <p:cNvSpPr/>
          <p:nvPr/>
        </p:nvSpPr>
        <p:spPr>
          <a:xfrm>
            <a:off x="495288"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9" name="Text 66"/>
          <p:cNvSpPr/>
          <p:nvPr/>
        </p:nvSpPr>
        <p:spPr>
          <a:xfrm>
            <a:off x="5226118"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70" name="Text 67"/>
          <p:cNvSpPr/>
          <p:nvPr/>
        </p:nvSpPr>
        <p:spPr>
          <a:xfrm>
            <a:off x="2329400"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4.120</a:t>
            </a:r>
            <a:endParaRPr lang="en-US" sz="576" dirty="0"/>
          </a:p>
        </p:txBody>
      </p:sp>
      <p:sp>
        <p:nvSpPr>
          <p:cNvPr id="71" name="Text 68"/>
          <p:cNvSpPr/>
          <p:nvPr/>
        </p:nvSpPr>
        <p:spPr>
          <a:xfrm>
            <a:off x="5226118" y="36821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4.120</a:t>
            </a:r>
            <a:endParaRPr lang="en-US" sz="576" dirty="0"/>
          </a:p>
        </p:txBody>
      </p:sp>
      <p:sp>
        <p:nvSpPr>
          <p:cNvPr id="72" name="Text 69"/>
          <p:cNvSpPr/>
          <p:nvPr/>
        </p:nvSpPr>
        <p:spPr>
          <a:xfrm>
            <a:off x="2329400"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2.980</a:t>
            </a:r>
            <a:endParaRPr lang="en-US" sz="576" dirty="0"/>
          </a:p>
        </p:txBody>
      </p:sp>
      <p:sp>
        <p:nvSpPr>
          <p:cNvPr id="73" name="Text 70"/>
          <p:cNvSpPr/>
          <p:nvPr/>
        </p:nvSpPr>
        <p:spPr>
          <a:xfrm>
            <a:off x="5226118" y="38155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2.980</a:t>
            </a:r>
            <a:endParaRPr lang="en-US" sz="576" dirty="0"/>
          </a:p>
        </p:txBody>
      </p:sp>
      <p:sp>
        <p:nvSpPr>
          <p:cNvPr id="74" name="Text 71"/>
          <p:cNvSpPr/>
          <p:nvPr/>
        </p:nvSpPr>
        <p:spPr>
          <a:xfrm>
            <a:off x="2329400"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1.016</a:t>
            </a:r>
            <a:endParaRPr lang="en-US" sz="576" dirty="0"/>
          </a:p>
        </p:txBody>
      </p:sp>
      <p:sp>
        <p:nvSpPr>
          <p:cNvPr id="75" name="Text 72"/>
          <p:cNvSpPr/>
          <p:nvPr/>
        </p:nvSpPr>
        <p:spPr>
          <a:xfrm>
            <a:off x="5226118" y="39488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1.016</a:t>
            </a:r>
            <a:endParaRPr lang="en-US" sz="576" dirty="0"/>
          </a:p>
        </p:txBody>
      </p:sp>
      <p:sp>
        <p:nvSpPr>
          <p:cNvPr id="76" name="Text 73"/>
          <p:cNvSpPr/>
          <p:nvPr/>
        </p:nvSpPr>
        <p:spPr>
          <a:xfrm>
            <a:off x="504812" y="4082207"/>
            <a:ext cx="1824587" cy="128588"/>
          </a:xfrm>
          <a:prstGeom prst="rect">
            <a:avLst/>
          </a:prstGeom>
          <a:noFill/>
          <a:ln/>
        </p:spPr>
        <p:txBody>
          <a:bodyPr wrap="none" lIns="0" tIns="0" rIns="0" bIns="0" rtlCol="0" anchor="t"/>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77" name="Text 74"/>
          <p:cNvSpPr/>
          <p:nvPr/>
        </p:nvSpPr>
        <p:spPr>
          <a:xfrm>
            <a:off x="7345377"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78" name="Text 75"/>
          <p:cNvSpPr/>
          <p:nvPr/>
        </p:nvSpPr>
        <p:spPr>
          <a:xfrm>
            <a:off x="6295868"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79" name="Text 76"/>
          <p:cNvSpPr/>
          <p:nvPr/>
        </p:nvSpPr>
        <p:spPr>
          <a:xfrm>
            <a:off x="10281832" y="1981944"/>
            <a:ext cx="1414576"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1,2 %</a:t>
            </a:r>
            <a:endParaRPr lang="en-US" sz="636" dirty="0"/>
          </a:p>
        </p:txBody>
      </p:sp>
      <p:sp>
        <p:nvSpPr>
          <p:cNvPr id="80" name="Text 77"/>
          <p:cNvSpPr/>
          <p:nvPr/>
        </p:nvSpPr>
        <p:spPr>
          <a:xfrm>
            <a:off x="6295868"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81" name="Text 78"/>
          <p:cNvSpPr/>
          <p:nvPr/>
        </p:nvSpPr>
        <p:spPr>
          <a:xfrm>
            <a:off x="6295868"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82" name="Text 79"/>
          <p:cNvSpPr/>
          <p:nvPr/>
        </p:nvSpPr>
        <p:spPr>
          <a:xfrm>
            <a:off x="6295868"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83" name="Text 80"/>
          <p:cNvSpPr/>
          <p:nvPr/>
        </p:nvSpPr>
        <p:spPr>
          <a:xfrm>
            <a:off x="6257769"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84" name="Text 81"/>
          <p:cNvSpPr/>
          <p:nvPr/>
        </p:nvSpPr>
        <p:spPr>
          <a:xfrm>
            <a:off x="10281832" y="2834432"/>
            <a:ext cx="1414576"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1,2 %</a:t>
            </a:r>
            <a:endParaRPr lang="en-US" sz="636" dirty="0"/>
          </a:p>
        </p:txBody>
      </p:sp>
      <p:sp>
        <p:nvSpPr>
          <p:cNvPr id="85" name="Text 82"/>
          <p:cNvSpPr/>
          <p:nvPr/>
        </p:nvSpPr>
        <p:spPr>
          <a:xfrm>
            <a:off x="10988599"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86" name="Text 83"/>
          <p:cNvSpPr/>
          <p:nvPr/>
        </p:nvSpPr>
        <p:spPr>
          <a:xfrm>
            <a:off x="8091881"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7" name="Text 84"/>
          <p:cNvSpPr/>
          <p:nvPr/>
        </p:nvSpPr>
        <p:spPr>
          <a:xfrm>
            <a:off x="10988599" y="3420219"/>
            <a:ext cx="698284"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8" name="Text 85"/>
          <p:cNvSpPr/>
          <p:nvPr/>
        </p:nvSpPr>
        <p:spPr>
          <a:xfrm>
            <a:off x="8091881"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3.210</a:t>
            </a:r>
            <a:endParaRPr lang="en-US" sz="552" dirty="0"/>
          </a:p>
        </p:txBody>
      </p:sp>
      <p:sp>
        <p:nvSpPr>
          <p:cNvPr id="89" name="Text 86"/>
          <p:cNvSpPr/>
          <p:nvPr/>
        </p:nvSpPr>
        <p:spPr>
          <a:xfrm>
            <a:off x="10988599" y="36821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3.210</a:t>
            </a:r>
            <a:endParaRPr lang="en-US" sz="552" dirty="0"/>
          </a:p>
        </p:txBody>
      </p:sp>
      <p:sp>
        <p:nvSpPr>
          <p:cNvPr id="90" name="Text 87"/>
          <p:cNvSpPr/>
          <p:nvPr/>
        </p:nvSpPr>
        <p:spPr>
          <a:xfrm>
            <a:off x="8091881"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1.845</a:t>
            </a:r>
            <a:endParaRPr lang="en-US" sz="552" dirty="0"/>
          </a:p>
        </p:txBody>
      </p:sp>
      <p:sp>
        <p:nvSpPr>
          <p:cNvPr id="91" name="Text 88"/>
          <p:cNvSpPr/>
          <p:nvPr/>
        </p:nvSpPr>
        <p:spPr>
          <a:xfrm>
            <a:off x="10988599" y="38155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1.845</a:t>
            </a:r>
            <a:endParaRPr lang="en-US" sz="552" dirty="0"/>
          </a:p>
        </p:txBody>
      </p:sp>
      <p:sp>
        <p:nvSpPr>
          <p:cNvPr id="92" name="Text 89"/>
          <p:cNvSpPr/>
          <p:nvPr/>
        </p:nvSpPr>
        <p:spPr>
          <a:xfrm>
            <a:off x="8091881"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1.402</a:t>
            </a:r>
            <a:endParaRPr lang="en-US" sz="552" dirty="0"/>
          </a:p>
        </p:txBody>
      </p:sp>
      <p:sp>
        <p:nvSpPr>
          <p:cNvPr id="93" name="Text 90"/>
          <p:cNvSpPr/>
          <p:nvPr/>
        </p:nvSpPr>
        <p:spPr>
          <a:xfrm>
            <a:off x="10988599" y="39488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1.402</a:t>
            </a:r>
            <a:endParaRPr lang="en-US" sz="552" dirty="0"/>
          </a:p>
        </p:txBody>
      </p:sp>
      <p:sp>
        <p:nvSpPr>
          <p:cNvPr id="94" name="Text 91"/>
          <p:cNvSpPr/>
          <p:nvPr/>
        </p:nvSpPr>
        <p:spPr>
          <a:xfrm>
            <a:off x="8091881" y="43489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6.588</a:t>
            </a:r>
            <a:endParaRPr lang="en-US" sz="552" dirty="0"/>
          </a:p>
        </p:txBody>
      </p:sp>
      <p:sp>
        <p:nvSpPr>
          <p:cNvPr id="95" name="Text 92"/>
          <p:cNvSpPr/>
          <p:nvPr/>
        </p:nvSpPr>
        <p:spPr>
          <a:xfrm>
            <a:off x="10988599" y="4348907"/>
            <a:ext cx="698284" cy="128588"/>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6.588</a:t>
            </a:r>
            <a:endParaRPr lang="en-US" sz="552" dirty="0"/>
          </a:p>
        </p:txBody>
      </p:sp>
      <p:sp>
        <p:nvSpPr>
          <p:cNvPr id="96" name="Text 93"/>
          <p:cNvSpPr/>
          <p:nvPr/>
        </p:nvSpPr>
        <p:spPr>
          <a:xfrm>
            <a:off x="533387"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7" name="Text 94"/>
          <p:cNvSpPr/>
          <p:nvPr/>
        </p:nvSpPr>
        <p:spPr>
          <a:xfrm>
            <a:off x="6295868"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8" name="Text 95"/>
          <p:cNvSpPr/>
          <p:nvPr/>
        </p:nvSpPr>
        <p:spPr>
          <a:xfrm>
            <a:off x="495288"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9" name="Text 96"/>
          <p:cNvSpPr/>
          <p:nvPr/>
        </p:nvSpPr>
        <p:spPr>
          <a:xfrm>
            <a:off x="232940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0" name="Text 97"/>
          <p:cNvSpPr/>
          <p:nvPr/>
        </p:nvSpPr>
        <p:spPr>
          <a:xfrm>
            <a:off x="281218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01" name="Text 98"/>
          <p:cNvSpPr/>
          <p:nvPr/>
        </p:nvSpPr>
        <p:spPr>
          <a:xfrm>
            <a:off x="329497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02" name="Text 99"/>
          <p:cNvSpPr/>
          <p:nvPr/>
        </p:nvSpPr>
        <p:spPr>
          <a:xfrm>
            <a:off x="3777759"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03" name="Text 100"/>
          <p:cNvSpPr/>
          <p:nvPr/>
        </p:nvSpPr>
        <p:spPr>
          <a:xfrm>
            <a:off x="4260545"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04" name="Text 101"/>
          <p:cNvSpPr/>
          <p:nvPr/>
        </p:nvSpPr>
        <p:spPr>
          <a:xfrm>
            <a:off x="474333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05" name="Text 102"/>
          <p:cNvSpPr/>
          <p:nvPr/>
        </p:nvSpPr>
        <p:spPr>
          <a:xfrm>
            <a:off x="6257769"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06" name="Text 103"/>
          <p:cNvSpPr/>
          <p:nvPr/>
        </p:nvSpPr>
        <p:spPr>
          <a:xfrm>
            <a:off x="809188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7" name="Text 104"/>
          <p:cNvSpPr/>
          <p:nvPr/>
        </p:nvSpPr>
        <p:spPr>
          <a:xfrm>
            <a:off x="8574667"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08" name="Text 105"/>
          <p:cNvSpPr/>
          <p:nvPr/>
        </p:nvSpPr>
        <p:spPr>
          <a:xfrm>
            <a:off x="9057453"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09" name="Text 106"/>
          <p:cNvSpPr/>
          <p:nvPr/>
        </p:nvSpPr>
        <p:spPr>
          <a:xfrm>
            <a:off x="954024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10" name="Text 107"/>
          <p:cNvSpPr/>
          <p:nvPr/>
        </p:nvSpPr>
        <p:spPr>
          <a:xfrm>
            <a:off x="1002302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11" name="Text 108"/>
          <p:cNvSpPr/>
          <p:nvPr/>
        </p:nvSpPr>
        <p:spPr>
          <a:xfrm>
            <a:off x="1050581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12" name="Text 109"/>
          <p:cNvSpPr/>
          <p:nvPr/>
        </p:nvSpPr>
        <p:spPr>
          <a:xfrm>
            <a:off x="4374991"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79</a:t>
            </a:r>
            <a:endParaRPr lang="en-US" sz="1380" dirty="0"/>
          </a:p>
        </p:txBody>
      </p:sp>
      <p:sp>
        <p:nvSpPr>
          <p:cNvPr id="113" name="Text 110"/>
          <p:cNvSpPr/>
          <p:nvPr/>
        </p:nvSpPr>
        <p:spPr>
          <a:xfrm>
            <a:off x="10146104" y="2000994"/>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79</a:t>
            </a:r>
            <a:endParaRPr lang="en-US" sz="636" dirty="0"/>
          </a:p>
        </p:txBody>
      </p:sp>
      <p:sp>
        <p:nvSpPr>
          <p:cNvPr id="114" name="Text 111"/>
          <p:cNvSpPr/>
          <p:nvPr/>
        </p:nvSpPr>
        <p:spPr>
          <a:xfrm>
            <a:off x="10143574" y="2858244"/>
            <a:ext cx="182880" cy="95250"/>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79</a:t>
            </a:r>
            <a:endParaRPr lang="en-US" sz="636" dirty="0"/>
          </a:p>
        </p:txBody>
      </p:sp>
      <p:sp>
        <p:nvSpPr>
          <p:cNvPr id="115" name="Text 112"/>
          <p:cNvSpPr/>
          <p:nvPr/>
        </p:nvSpPr>
        <p:spPr>
          <a:xfrm>
            <a:off x="8091881"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79</a:t>
            </a:r>
            <a:endParaRPr lang="en-US" sz="552" dirty="0"/>
          </a:p>
        </p:txBody>
      </p:sp>
      <p:sp>
        <p:nvSpPr>
          <p:cNvPr id="116" name="Text 113"/>
          <p:cNvSpPr/>
          <p:nvPr/>
        </p:nvSpPr>
        <p:spPr>
          <a:xfrm>
            <a:off x="10988599" y="35488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79</a:t>
            </a:r>
            <a:endParaRPr lang="en-US" sz="552" dirty="0"/>
          </a:p>
        </p:txBody>
      </p:sp>
      <p:sp>
        <p:nvSpPr>
          <p:cNvPr id="117" name="Text 114"/>
          <p:cNvSpPr/>
          <p:nvPr/>
        </p:nvSpPr>
        <p:spPr>
          <a:xfrm>
            <a:off x="1582896" y="21200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18" name="Text 115"/>
          <p:cNvSpPr/>
          <p:nvPr/>
        </p:nvSpPr>
        <p:spPr>
          <a:xfrm>
            <a:off x="2996877" y="21200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19" name="Text 116"/>
          <p:cNvSpPr/>
          <p:nvPr/>
        </p:nvSpPr>
        <p:spPr>
          <a:xfrm>
            <a:off x="4519648" y="21200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0" name="Text 117"/>
          <p:cNvSpPr/>
          <p:nvPr/>
        </p:nvSpPr>
        <p:spPr>
          <a:xfrm>
            <a:off x="1582896" y="226293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1" name="Text 118"/>
          <p:cNvSpPr/>
          <p:nvPr/>
        </p:nvSpPr>
        <p:spPr>
          <a:xfrm>
            <a:off x="2996877" y="226293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2" name="Text 119"/>
          <p:cNvSpPr/>
          <p:nvPr/>
        </p:nvSpPr>
        <p:spPr>
          <a:xfrm>
            <a:off x="4519648" y="226293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3" name="Text 120"/>
          <p:cNvSpPr/>
          <p:nvPr/>
        </p:nvSpPr>
        <p:spPr>
          <a:xfrm>
            <a:off x="1582896" y="240580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4" name="Text 121"/>
          <p:cNvSpPr/>
          <p:nvPr/>
        </p:nvSpPr>
        <p:spPr>
          <a:xfrm>
            <a:off x="2996877" y="240580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5" name="Text 122"/>
          <p:cNvSpPr/>
          <p:nvPr/>
        </p:nvSpPr>
        <p:spPr>
          <a:xfrm>
            <a:off x="4519648" y="240580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6" name="Text 123"/>
          <p:cNvSpPr/>
          <p:nvPr/>
        </p:nvSpPr>
        <p:spPr>
          <a:xfrm>
            <a:off x="1582896" y="254868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7" name="Text 124"/>
          <p:cNvSpPr/>
          <p:nvPr/>
        </p:nvSpPr>
        <p:spPr>
          <a:xfrm>
            <a:off x="2996877" y="254868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8" name="Text 125"/>
          <p:cNvSpPr/>
          <p:nvPr/>
        </p:nvSpPr>
        <p:spPr>
          <a:xfrm>
            <a:off x="4519648" y="254868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9" name="Text 126"/>
          <p:cNvSpPr/>
          <p:nvPr/>
        </p:nvSpPr>
        <p:spPr>
          <a:xfrm>
            <a:off x="1582896" y="26915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30" name="Text 127"/>
          <p:cNvSpPr/>
          <p:nvPr/>
        </p:nvSpPr>
        <p:spPr>
          <a:xfrm>
            <a:off x="2996877" y="26915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31" name="Text 128"/>
          <p:cNvSpPr/>
          <p:nvPr/>
        </p:nvSpPr>
        <p:spPr>
          <a:xfrm>
            <a:off x="4519648" y="26915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32" name="Text 129"/>
          <p:cNvSpPr/>
          <p:nvPr/>
        </p:nvSpPr>
        <p:spPr>
          <a:xfrm>
            <a:off x="2812186"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3" name="Text 130"/>
          <p:cNvSpPr/>
          <p:nvPr/>
        </p:nvSpPr>
        <p:spPr>
          <a:xfrm>
            <a:off x="3294972"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4" name="Text 131"/>
          <p:cNvSpPr/>
          <p:nvPr/>
        </p:nvSpPr>
        <p:spPr>
          <a:xfrm>
            <a:off x="3777759"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5" name="Text 132"/>
          <p:cNvSpPr/>
          <p:nvPr/>
        </p:nvSpPr>
        <p:spPr>
          <a:xfrm>
            <a:off x="4260545"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6" name="Text 133"/>
          <p:cNvSpPr/>
          <p:nvPr/>
        </p:nvSpPr>
        <p:spPr>
          <a:xfrm>
            <a:off x="4743331"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7" name="Text 134"/>
          <p:cNvSpPr/>
          <p:nvPr/>
        </p:nvSpPr>
        <p:spPr>
          <a:xfrm>
            <a:off x="2812186"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8" name="Text 135"/>
          <p:cNvSpPr/>
          <p:nvPr/>
        </p:nvSpPr>
        <p:spPr>
          <a:xfrm>
            <a:off x="3294972"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9" name="Text 136"/>
          <p:cNvSpPr/>
          <p:nvPr/>
        </p:nvSpPr>
        <p:spPr>
          <a:xfrm>
            <a:off x="3777759"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0" name="Text 137"/>
          <p:cNvSpPr/>
          <p:nvPr/>
        </p:nvSpPr>
        <p:spPr>
          <a:xfrm>
            <a:off x="4260545"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1" name="Text 138"/>
          <p:cNvSpPr/>
          <p:nvPr/>
        </p:nvSpPr>
        <p:spPr>
          <a:xfrm>
            <a:off x="4743331"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2" name="Text 139"/>
          <p:cNvSpPr/>
          <p:nvPr/>
        </p:nvSpPr>
        <p:spPr>
          <a:xfrm>
            <a:off x="2812186"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3" name="Text 140"/>
          <p:cNvSpPr/>
          <p:nvPr/>
        </p:nvSpPr>
        <p:spPr>
          <a:xfrm>
            <a:off x="3294972"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4" name="Text 141"/>
          <p:cNvSpPr/>
          <p:nvPr/>
        </p:nvSpPr>
        <p:spPr>
          <a:xfrm>
            <a:off x="3777759"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5" name="Text 142"/>
          <p:cNvSpPr/>
          <p:nvPr/>
        </p:nvSpPr>
        <p:spPr>
          <a:xfrm>
            <a:off x="4260545"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6" name="Text 143"/>
          <p:cNvSpPr/>
          <p:nvPr/>
        </p:nvSpPr>
        <p:spPr>
          <a:xfrm>
            <a:off x="4743331"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7" name="Text 144"/>
          <p:cNvSpPr/>
          <p:nvPr/>
        </p:nvSpPr>
        <p:spPr>
          <a:xfrm>
            <a:off x="2812186"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8" name="Text 145"/>
          <p:cNvSpPr/>
          <p:nvPr/>
        </p:nvSpPr>
        <p:spPr>
          <a:xfrm>
            <a:off x="3294972"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9" name="Text 146"/>
          <p:cNvSpPr/>
          <p:nvPr/>
        </p:nvSpPr>
        <p:spPr>
          <a:xfrm>
            <a:off x="3777759"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0" name="Text 147"/>
          <p:cNvSpPr/>
          <p:nvPr/>
        </p:nvSpPr>
        <p:spPr>
          <a:xfrm>
            <a:off x="4260545"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1" name="Text 148"/>
          <p:cNvSpPr/>
          <p:nvPr/>
        </p:nvSpPr>
        <p:spPr>
          <a:xfrm>
            <a:off x="4743331"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2" name="Text 149"/>
          <p:cNvSpPr/>
          <p:nvPr/>
        </p:nvSpPr>
        <p:spPr>
          <a:xfrm>
            <a:off x="2812186"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3" name="Text 150"/>
          <p:cNvSpPr/>
          <p:nvPr/>
        </p:nvSpPr>
        <p:spPr>
          <a:xfrm>
            <a:off x="3294972"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4" name="Text 151"/>
          <p:cNvSpPr/>
          <p:nvPr/>
        </p:nvSpPr>
        <p:spPr>
          <a:xfrm>
            <a:off x="3777759"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5" name="Text 152"/>
          <p:cNvSpPr/>
          <p:nvPr/>
        </p:nvSpPr>
        <p:spPr>
          <a:xfrm>
            <a:off x="4260545"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6" name="Text 153"/>
          <p:cNvSpPr/>
          <p:nvPr/>
        </p:nvSpPr>
        <p:spPr>
          <a:xfrm>
            <a:off x="4743331"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7" name="Text 154"/>
          <p:cNvSpPr/>
          <p:nvPr/>
        </p:nvSpPr>
        <p:spPr>
          <a:xfrm>
            <a:off x="2812186"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58" name="Text 155"/>
          <p:cNvSpPr/>
          <p:nvPr/>
        </p:nvSpPr>
        <p:spPr>
          <a:xfrm>
            <a:off x="3294972"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59" name="Text 156"/>
          <p:cNvSpPr/>
          <p:nvPr/>
        </p:nvSpPr>
        <p:spPr>
          <a:xfrm>
            <a:off x="3777759"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60" name="Text 157"/>
          <p:cNvSpPr/>
          <p:nvPr/>
        </p:nvSpPr>
        <p:spPr>
          <a:xfrm>
            <a:off x="4260545"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61" name="Text 158"/>
          <p:cNvSpPr/>
          <p:nvPr/>
        </p:nvSpPr>
        <p:spPr>
          <a:xfrm>
            <a:off x="4743331"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62" name="Text 159"/>
          <p:cNvSpPr/>
          <p:nvPr/>
        </p:nvSpPr>
        <p:spPr>
          <a:xfrm>
            <a:off x="7345377"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3" name="Text 160"/>
          <p:cNvSpPr/>
          <p:nvPr/>
        </p:nvSpPr>
        <p:spPr>
          <a:xfrm>
            <a:off x="8324195"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4" name="Text 161"/>
          <p:cNvSpPr/>
          <p:nvPr/>
        </p:nvSpPr>
        <p:spPr>
          <a:xfrm>
            <a:off x="9303014"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5" name="Text 162"/>
          <p:cNvSpPr/>
          <p:nvPr/>
        </p:nvSpPr>
        <p:spPr>
          <a:xfrm>
            <a:off x="10281832" y="21200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6" name="Text 163"/>
          <p:cNvSpPr/>
          <p:nvPr/>
        </p:nvSpPr>
        <p:spPr>
          <a:xfrm>
            <a:off x="7345377"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7" name="Text 164"/>
          <p:cNvSpPr/>
          <p:nvPr/>
        </p:nvSpPr>
        <p:spPr>
          <a:xfrm>
            <a:off x="8324195"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8" name="Text 165"/>
          <p:cNvSpPr/>
          <p:nvPr/>
        </p:nvSpPr>
        <p:spPr>
          <a:xfrm>
            <a:off x="9303014"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9" name="Text 166"/>
          <p:cNvSpPr/>
          <p:nvPr/>
        </p:nvSpPr>
        <p:spPr>
          <a:xfrm>
            <a:off x="10281832" y="226293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0" name="Text 167"/>
          <p:cNvSpPr/>
          <p:nvPr/>
        </p:nvSpPr>
        <p:spPr>
          <a:xfrm>
            <a:off x="7345377"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1" name="Text 168"/>
          <p:cNvSpPr/>
          <p:nvPr/>
        </p:nvSpPr>
        <p:spPr>
          <a:xfrm>
            <a:off x="8324195"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2" name="Text 169"/>
          <p:cNvSpPr/>
          <p:nvPr/>
        </p:nvSpPr>
        <p:spPr>
          <a:xfrm>
            <a:off x="9303014"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3" name="Text 170"/>
          <p:cNvSpPr/>
          <p:nvPr/>
        </p:nvSpPr>
        <p:spPr>
          <a:xfrm>
            <a:off x="10281832" y="240580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4" name="Text 171"/>
          <p:cNvSpPr/>
          <p:nvPr/>
        </p:nvSpPr>
        <p:spPr>
          <a:xfrm>
            <a:off x="7345377"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5" name="Text 172"/>
          <p:cNvSpPr/>
          <p:nvPr/>
        </p:nvSpPr>
        <p:spPr>
          <a:xfrm>
            <a:off x="8324195"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6" name="Text 173"/>
          <p:cNvSpPr/>
          <p:nvPr/>
        </p:nvSpPr>
        <p:spPr>
          <a:xfrm>
            <a:off x="9303014"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7" name="Text 174"/>
          <p:cNvSpPr/>
          <p:nvPr/>
        </p:nvSpPr>
        <p:spPr>
          <a:xfrm>
            <a:off x="10281832" y="254868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8" name="Text 175"/>
          <p:cNvSpPr/>
          <p:nvPr/>
        </p:nvSpPr>
        <p:spPr>
          <a:xfrm>
            <a:off x="7345377"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9" name="Text 176"/>
          <p:cNvSpPr/>
          <p:nvPr/>
        </p:nvSpPr>
        <p:spPr>
          <a:xfrm>
            <a:off x="8324195"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80" name="Text 177"/>
          <p:cNvSpPr/>
          <p:nvPr/>
        </p:nvSpPr>
        <p:spPr>
          <a:xfrm>
            <a:off x="9303014"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81" name="Text 178"/>
          <p:cNvSpPr/>
          <p:nvPr/>
        </p:nvSpPr>
        <p:spPr>
          <a:xfrm>
            <a:off x="10281832" y="26915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82" name="Text 179"/>
          <p:cNvSpPr/>
          <p:nvPr/>
        </p:nvSpPr>
        <p:spPr>
          <a:xfrm>
            <a:off x="8574667"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3" name="Text 180"/>
          <p:cNvSpPr/>
          <p:nvPr/>
        </p:nvSpPr>
        <p:spPr>
          <a:xfrm>
            <a:off x="9057453"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4" name="Text 181"/>
          <p:cNvSpPr/>
          <p:nvPr/>
        </p:nvSpPr>
        <p:spPr>
          <a:xfrm>
            <a:off x="9540240"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5" name="Text 182"/>
          <p:cNvSpPr/>
          <p:nvPr/>
        </p:nvSpPr>
        <p:spPr>
          <a:xfrm>
            <a:off x="10023026"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6" name="Text 183"/>
          <p:cNvSpPr/>
          <p:nvPr/>
        </p:nvSpPr>
        <p:spPr>
          <a:xfrm>
            <a:off x="10505812"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7" name="Text 184"/>
          <p:cNvSpPr/>
          <p:nvPr/>
        </p:nvSpPr>
        <p:spPr>
          <a:xfrm>
            <a:off x="8574667"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88" name="Text 185"/>
          <p:cNvSpPr/>
          <p:nvPr/>
        </p:nvSpPr>
        <p:spPr>
          <a:xfrm>
            <a:off x="9057453"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89" name="Text 186"/>
          <p:cNvSpPr/>
          <p:nvPr/>
        </p:nvSpPr>
        <p:spPr>
          <a:xfrm>
            <a:off x="9540240"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0" name="Text 187"/>
          <p:cNvSpPr/>
          <p:nvPr/>
        </p:nvSpPr>
        <p:spPr>
          <a:xfrm>
            <a:off x="10023026"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1" name="Text 188"/>
          <p:cNvSpPr/>
          <p:nvPr/>
        </p:nvSpPr>
        <p:spPr>
          <a:xfrm>
            <a:off x="10505812"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2" name="Text 189"/>
          <p:cNvSpPr/>
          <p:nvPr/>
        </p:nvSpPr>
        <p:spPr>
          <a:xfrm>
            <a:off x="8574667"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3" name="Text 190"/>
          <p:cNvSpPr/>
          <p:nvPr/>
        </p:nvSpPr>
        <p:spPr>
          <a:xfrm>
            <a:off x="9057453"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4" name="Text 191"/>
          <p:cNvSpPr/>
          <p:nvPr/>
        </p:nvSpPr>
        <p:spPr>
          <a:xfrm>
            <a:off x="9540240"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5" name="Text 192"/>
          <p:cNvSpPr/>
          <p:nvPr/>
        </p:nvSpPr>
        <p:spPr>
          <a:xfrm>
            <a:off x="10023026"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6" name="Text 193"/>
          <p:cNvSpPr/>
          <p:nvPr/>
        </p:nvSpPr>
        <p:spPr>
          <a:xfrm>
            <a:off x="10505812"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7" name="Text 194"/>
          <p:cNvSpPr/>
          <p:nvPr/>
        </p:nvSpPr>
        <p:spPr>
          <a:xfrm>
            <a:off x="8574667"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8" name="Text 195"/>
          <p:cNvSpPr/>
          <p:nvPr/>
        </p:nvSpPr>
        <p:spPr>
          <a:xfrm>
            <a:off x="9057453"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9" name="Text 196"/>
          <p:cNvSpPr/>
          <p:nvPr/>
        </p:nvSpPr>
        <p:spPr>
          <a:xfrm>
            <a:off x="9540240"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0" name="Text 197"/>
          <p:cNvSpPr/>
          <p:nvPr/>
        </p:nvSpPr>
        <p:spPr>
          <a:xfrm>
            <a:off x="10023026"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1" name="Text 198"/>
          <p:cNvSpPr/>
          <p:nvPr/>
        </p:nvSpPr>
        <p:spPr>
          <a:xfrm>
            <a:off x="10505812"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2" name="Text 199"/>
          <p:cNvSpPr/>
          <p:nvPr/>
        </p:nvSpPr>
        <p:spPr>
          <a:xfrm>
            <a:off x="8574667"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3" name="Text 200"/>
          <p:cNvSpPr/>
          <p:nvPr/>
        </p:nvSpPr>
        <p:spPr>
          <a:xfrm>
            <a:off x="9057453"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4" name="Text 201"/>
          <p:cNvSpPr/>
          <p:nvPr/>
        </p:nvSpPr>
        <p:spPr>
          <a:xfrm>
            <a:off x="9540240"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5" name="Text 202"/>
          <p:cNvSpPr/>
          <p:nvPr/>
        </p:nvSpPr>
        <p:spPr>
          <a:xfrm>
            <a:off x="10023026"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6" name="Text 203"/>
          <p:cNvSpPr/>
          <p:nvPr/>
        </p:nvSpPr>
        <p:spPr>
          <a:xfrm>
            <a:off x="10505812"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7" name="Text 204"/>
          <p:cNvSpPr/>
          <p:nvPr/>
        </p:nvSpPr>
        <p:spPr>
          <a:xfrm>
            <a:off x="8574667" y="40822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08" name="Text 205"/>
          <p:cNvSpPr/>
          <p:nvPr/>
        </p:nvSpPr>
        <p:spPr>
          <a:xfrm>
            <a:off x="9057453" y="40822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09" name="Text 206"/>
          <p:cNvSpPr/>
          <p:nvPr/>
        </p:nvSpPr>
        <p:spPr>
          <a:xfrm>
            <a:off x="9540240" y="40822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10" name="Text 207"/>
          <p:cNvSpPr/>
          <p:nvPr/>
        </p:nvSpPr>
        <p:spPr>
          <a:xfrm>
            <a:off x="10023026" y="40822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11" name="Text 208"/>
          <p:cNvSpPr/>
          <p:nvPr/>
        </p:nvSpPr>
        <p:spPr>
          <a:xfrm>
            <a:off x="10505812" y="40822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12" name="Text 209"/>
          <p:cNvSpPr/>
          <p:nvPr/>
        </p:nvSpPr>
        <p:spPr>
          <a:xfrm>
            <a:off x="8574667"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3" name="Text 210"/>
          <p:cNvSpPr/>
          <p:nvPr/>
        </p:nvSpPr>
        <p:spPr>
          <a:xfrm>
            <a:off x="9057453"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4" name="Text 211"/>
          <p:cNvSpPr/>
          <p:nvPr/>
        </p:nvSpPr>
        <p:spPr>
          <a:xfrm>
            <a:off x="9540240"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5" name="Text 212"/>
          <p:cNvSpPr/>
          <p:nvPr/>
        </p:nvSpPr>
        <p:spPr>
          <a:xfrm>
            <a:off x="10023026"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6" name="Text 213"/>
          <p:cNvSpPr/>
          <p:nvPr/>
        </p:nvSpPr>
        <p:spPr>
          <a:xfrm>
            <a:off x="10505812"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7" name="Text 214"/>
          <p:cNvSpPr/>
          <p:nvPr/>
        </p:nvSpPr>
        <p:spPr>
          <a:xfrm>
            <a:off x="8574667" y="43489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8" name="Text 215"/>
          <p:cNvSpPr/>
          <p:nvPr/>
        </p:nvSpPr>
        <p:spPr>
          <a:xfrm>
            <a:off x="9057453" y="43489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9" name="Text 216"/>
          <p:cNvSpPr/>
          <p:nvPr/>
        </p:nvSpPr>
        <p:spPr>
          <a:xfrm>
            <a:off x="9540240" y="43489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20" name="Text 217"/>
          <p:cNvSpPr/>
          <p:nvPr/>
        </p:nvSpPr>
        <p:spPr>
          <a:xfrm>
            <a:off x="10023026" y="43489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21" name="Text 218"/>
          <p:cNvSpPr/>
          <p:nvPr/>
        </p:nvSpPr>
        <p:spPr>
          <a:xfrm>
            <a:off x="10505812" y="43489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01_Repositorios\13_Presentaciones\dash\televentas\ppt_slides\sk_10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722888"/>
            <a:ext cx="6315810"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Muestra una contactabilidad excelente () y una conversión sobre contacto muy alta ().</a:t>
            </a:r>
            <a:endParaRPr lang="en-US" sz="744" dirty="0"/>
          </a:p>
        </p:txBody>
      </p:sp>
      <p:sp>
        <p:nvSpPr>
          <p:cNvPr id="4" name="Text 1"/>
          <p:cNvSpPr/>
          <p:nvPr/>
        </p:nvSpPr>
        <p:spPr>
          <a:xfrm>
            <a:off x="685783" y="5869335"/>
            <a:ext cx="6315810"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 el , consolidándose como un canal de gran eficiencia a menor escala.</a:t>
            </a:r>
            <a:endParaRPr lang="en-US" sz="744" dirty="0"/>
          </a:p>
        </p:txBody>
      </p:sp>
      <p:sp>
        <p:nvSpPr>
          <p:cNvPr id="5" name="Text 2"/>
          <p:cNvSpPr/>
          <p:nvPr/>
        </p:nvSpPr>
        <p:spPr>
          <a:xfrm>
            <a:off x="685783" y="5576441"/>
            <a:ext cx="6315810"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La campaña Microseguro tiene un  porque es base ultra-filtrada.</a:t>
            </a:r>
            <a:endParaRPr lang="en-US" sz="744" dirty="0"/>
          </a:p>
        </p:txBody>
      </p:sp>
      <p:sp>
        <p:nvSpPr>
          <p:cNvPr id="6" name="Text 3"/>
          <p:cNvSpPr/>
          <p:nvPr/>
        </p:nvSpPr>
        <p:spPr>
          <a:xfrm>
            <a:off x="4374991"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Alta tasa de efectividad comercial en portafolio</a:t>
            </a:r>
            <a:endParaRPr lang="en-US" sz="648" dirty="0"/>
          </a:p>
        </p:txBody>
      </p:sp>
      <p:sp>
        <p:nvSpPr>
          <p:cNvPr id="7" name="Text 4"/>
          <p:cNvSpPr/>
          <p:nvPr/>
        </p:nvSpPr>
        <p:spPr>
          <a:xfrm>
            <a:off x="533387"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Excelente respuesta de llamada y atención</a:t>
            </a:r>
            <a:endParaRPr lang="en-US" sz="648" dirty="0"/>
          </a:p>
        </p:txBody>
      </p:sp>
      <p:sp>
        <p:nvSpPr>
          <p:cNvPr id="8" name="Text 5"/>
          <p:cNvSpPr/>
          <p:nvPr/>
        </p:nvSpPr>
        <p:spPr>
          <a:xfrm>
            <a:off x="504812" y="3420219"/>
            <a:ext cx="1824587" cy="128588"/>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 / Ya Posee el Producto</a:t>
            </a:r>
            <a:endParaRPr lang="en-US" sz="576" dirty="0"/>
          </a:p>
        </p:txBody>
      </p:sp>
      <p:sp>
        <p:nvSpPr>
          <p:cNvPr id="9" name="Text 6"/>
          <p:cNvSpPr/>
          <p:nvPr/>
        </p:nvSpPr>
        <p:spPr>
          <a:xfrm>
            <a:off x="1213514" y="219075"/>
            <a:ext cx="3444690"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Microseguro</a:t>
            </a:r>
            <a:endParaRPr lang="en-US" sz="1260" dirty="0"/>
          </a:p>
        </p:txBody>
      </p:sp>
      <p:sp>
        <p:nvSpPr>
          <p:cNvPr id="10" name="Text 7"/>
          <p:cNvSpPr/>
          <p:nvPr/>
        </p:nvSpPr>
        <p:spPr>
          <a:xfrm>
            <a:off x="6257769"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1" name="Text 8"/>
          <p:cNvSpPr/>
          <p:nvPr/>
        </p:nvSpPr>
        <p:spPr>
          <a:xfrm>
            <a:off x="6267293" y="39488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cumple requisito de edad (&gt;69 años)</a:t>
            </a:r>
            <a:endParaRPr lang="en-US" sz="552" dirty="0"/>
          </a:p>
        </p:txBody>
      </p:sp>
      <p:sp>
        <p:nvSpPr>
          <p:cNvPr id="12" name="Text 9"/>
          <p:cNvSpPr/>
          <p:nvPr/>
        </p:nvSpPr>
        <p:spPr>
          <a:xfrm>
            <a:off x="495288"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3" name="Text 10"/>
          <p:cNvSpPr/>
          <p:nvPr/>
        </p:nvSpPr>
        <p:spPr>
          <a:xfrm>
            <a:off x="8216595" y="1219944"/>
            <a:ext cx="3479812"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Campaña estable y altamente rentable</a:t>
            </a:r>
            <a:endParaRPr lang="en-US" sz="648" dirty="0"/>
          </a:p>
        </p:txBody>
      </p:sp>
      <p:sp>
        <p:nvSpPr>
          <p:cNvPr id="14" name="Text 11"/>
          <p:cNvSpPr/>
          <p:nvPr/>
        </p:nvSpPr>
        <p:spPr>
          <a:xfrm>
            <a:off x="6267293" y="48823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5" name="Text 12"/>
          <p:cNvSpPr/>
          <p:nvPr/>
        </p:nvSpPr>
        <p:spPr>
          <a:xfrm>
            <a:off x="6257769"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6" name="Text 13"/>
          <p:cNvSpPr/>
          <p:nvPr/>
        </p:nvSpPr>
        <p:spPr>
          <a:xfrm>
            <a:off x="552436" y="5420469"/>
            <a:ext cx="1624567"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7" name="Text 14"/>
          <p:cNvSpPr/>
          <p:nvPr/>
        </p:nvSpPr>
        <p:spPr>
          <a:xfrm>
            <a:off x="495288"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8" name="Text 15"/>
          <p:cNvSpPr/>
          <p:nvPr/>
        </p:nvSpPr>
        <p:spPr>
          <a:xfrm>
            <a:off x="504812" y="35488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9" name="Text 16"/>
          <p:cNvSpPr/>
          <p:nvPr/>
        </p:nvSpPr>
        <p:spPr>
          <a:xfrm>
            <a:off x="6267293" y="36821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0" name="Text 17"/>
          <p:cNvSpPr/>
          <p:nvPr/>
        </p:nvSpPr>
        <p:spPr>
          <a:xfrm>
            <a:off x="9287536" y="209550"/>
            <a:ext cx="2332674"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Microseguro</a:t>
            </a:r>
            <a:endParaRPr lang="en-US" sz="840" dirty="0"/>
          </a:p>
        </p:txBody>
      </p:sp>
      <p:sp>
        <p:nvSpPr>
          <p:cNvPr id="21" name="Text 18"/>
          <p:cNvSpPr/>
          <p:nvPr/>
        </p:nvSpPr>
        <p:spPr>
          <a:xfrm>
            <a:off x="6267293" y="40822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2" name="Text 19"/>
          <p:cNvSpPr/>
          <p:nvPr/>
        </p:nvSpPr>
        <p:spPr>
          <a:xfrm>
            <a:off x="6267293" y="42155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3" name="Text 20"/>
          <p:cNvSpPr/>
          <p:nvPr/>
        </p:nvSpPr>
        <p:spPr>
          <a:xfrm>
            <a:off x="533387"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4" name="Text 21"/>
          <p:cNvSpPr/>
          <p:nvPr/>
        </p:nvSpPr>
        <p:spPr>
          <a:xfrm>
            <a:off x="6267293" y="46156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5" name="Text 22"/>
          <p:cNvSpPr/>
          <p:nvPr/>
        </p:nvSpPr>
        <p:spPr>
          <a:xfrm>
            <a:off x="504812" y="36821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6" name="Text 23"/>
          <p:cNvSpPr/>
          <p:nvPr/>
        </p:nvSpPr>
        <p:spPr>
          <a:xfrm>
            <a:off x="6267293" y="43489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7" name="Text 24"/>
          <p:cNvSpPr/>
          <p:nvPr/>
        </p:nvSpPr>
        <p:spPr>
          <a:xfrm>
            <a:off x="4374991"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28" name="Text 25"/>
          <p:cNvSpPr/>
          <p:nvPr/>
        </p:nvSpPr>
        <p:spPr>
          <a:xfrm>
            <a:off x="8216595" y="828675"/>
            <a:ext cx="3479812"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29" name="Text 26"/>
          <p:cNvSpPr/>
          <p:nvPr/>
        </p:nvSpPr>
        <p:spPr>
          <a:xfrm>
            <a:off x="6267293" y="3420219"/>
            <a:ext cx="1824587" cy="128588"/>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0" name="Text 27"/>
          <p:cNvSpPr/>
          <p:nvPr/>
        </p:nvSpPr>
        <p:spPr>
          <a:xfrm>
            <a:off x="6267293" y="38155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1" name="Text 28"/>
          <p:cNvSpPr/>
          <p:nvPr/>
        </p:nvSpPr>
        <p:spPr>
          <a:xfrm>
            <a:off x="6267293" y="5015657"/>
            <a:ext cx="1824587" cy="128588"/>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2" name="Text 29"/>
          <p:cNvSpPr/>
          <p:nvPr/>
        </p:nvSpPr>
        <p:spPr>
          <a:xfrm>
            <a:off x="10281832" y="1810494"/>
            <a:ext cx="141457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3" name="Text 30"/>
          <p:cNvSpPr/>
          <p:nvPr/>
        </p:nvSpPr>
        <p:spPr>
          <a:xfrm>
            <a:off x="6267293" y="35488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4" name="Text 31"/>
          <p:cNvSpPr/>
          <p:nvPr/>
        </p:nvSpPr>
        <p:spPr>
          <a:xfrm>
            <a:off x="6267293"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5" name="Text 32"/>
          <p:cNvSpPr/>
          <p:nvPr/>
        </p:nvSpPr>
        <p:spPr>
          <a:xfrm>
            <a:off x="6267293" y="4482257"/>
            <a:ext cx="1824587" cy="133350"/>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6" name="Text 33"/>
          <p:cNvSpPr/>
          <p:nvPr/>
        </p:nvSpPr>
        <p:spPr>
          <a:xfrm>
            <a:off x="6267293" y="47489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37" name="Text 34"/>
          <p:cNvSpPr/>
          <p:nvPr/>
        </p:nvSpPr>
        <p:spPr>
          <a:xfrm>
            <a:off x="2996877" y="1810494"/>
            <a:ext cx="152277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8" name="Text 35"/>
          <p:cNvSpPr/>
          <p:nvPr/>
        </p:nvSpPr>
        <p:spPr>
          <a:xfrm>
            <a:off x="8324195"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9" name="Text 36"/>
          <p:cNvSpPr/>
          <p:nvPr/>
        </p:nvSpPr>
        <p:spPr>
          <a:xfrm>
            <a:off x="1582896" y="1810494"/>
            <a:ext cx="141398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0" name="Text 37"/>
          <p:cNvSpPr/>
          <p:nvPr/>
        </p:nvSpPr>
        <p:spPr>
          <a:xfrm>
            <a:off x="4519648" y="1810494"/>
            <a:ext cx="141427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1" name="Text 38"/>
          <p:cNvSpPr/>
          <p:nvPr/>
        </p:nvSpPr>
        <p:spPr>
          <a:xfrm>
            <a:off x="533387"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6295868"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3" name="Text 40"/>
          <p:cNvSpPr/>
          <p:nvPr/>
        </p:nvSpPr>
        <p:spPr>
          <a:xfrm>
            <a:off x="533387"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78,9 %</a:t>
            </a:r>
            <a:endParaRPr lang="en-US" sz="1380" dirty="0"/>
          </a:p>
        </p:txBody>
      </p:sp>
      <p:sp>
        <p:nvSpPr>
          <p:cNvPr id="44" name="Text 41"/>
          <p:cNvSpPr/>
          <p:nvPr/>
        </p:nvSpPr>
        <p:spPr>
          <a:xfrm>
            <a:off x="4374991"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17,7 %</a:t>
            </a:r>
            <a:endParaRPr lang="en-US" sz="1380" dirty="0"/>
          </a:p>
        </p:txBody>
      </p:sp>
      <p:sp>
        <p:nvSpPr>
          <p:cNvPr id="45" name="Text 42"/>
          <p:cNvSpPr/>
          <p:nvPr/>
        </p:nvSpPr>
        <p:spPr>
          <a:xfrm>
            <a:off x="504812"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6" name="Text 43"/>
          <p:cNvSpPr/>
          <p:nvPr/>
        </p:nvSpPr>
        <p:spPr>
          <a:xfrm>
            <a:off x="9303014"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7" name="Text 44"/>
          <p:cNvSpPr/>
          <p:nvPr/>
        </p:nvSpPr>
        <p:spPr>
          <a:xfrm>
            <a:off x="8324195"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87,9 %</a:t>
            </a:r>
            <a:endParaRPr lang="en-US" sz="636" dirty="0"/>
          </a:p>
        </p:txBody>
      </p:sp>
      <p:sp>
        <p:nvSpPr>
          <p:cNvPr id="48" name="Text 45"/>
          <p:cNvSpPr/>
          <p:nvPr/>
        </p:nvSpPr>
        <p:spPr>
          <a:xfrm>
            <a:off x="10281832" y="1981944"/>
            <a:ext cx="1414576"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22,0 %</a:t>
            </a:r>
            <a:endParaRPr lang="en-US" sz="636" dirty="0"/>
          </a:p>
        </p:txBody>
      </p:sp>
      <p:sp>
        <p:nvSpPr>
          <p:cNvPr id="49" name="Text 46"/>
          <p:cNvSpPr/>
          <p:nvPr/>
        </p:nvSpPr>
        <p:spPr>
          <a:xfrm>
            <a:off x="8324195"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85,2 %</a:t>
            </a:r>
            <a:endParaRPr lang="en-US" sz="636" dirty="0"/>
          </a:p>
        </p:txBody>
      </p:sp>
      <p:sp>
        <p:nvSpPr>
          <p:cNvPr id="50" name="Text 47"/>
          <p:cNvSpPr/>
          <p:nvPr/>
        </p:nvSpPr>
        <p:spPr>
          <a:xfrm>
            <a:off x="10281832" y="21200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19,0 %</a:t>
            </a:r>
            <a:endParaRPr lang="en-US" sz="636" dirty="0"/>
          </a:p>
        </p:txBody>
      </p:sp>
      <p:sp>
        <p:nvSpPr>
          <p:cNvPr id="51" name="Text 48"/>
          <p:cNvSpPr/>
          <p:nvPr/>
        </p:nvSpPr>
        <p:spPr>
          <a:xfrm>
            <a:off x="8324195"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78,9 %</a:t>
            </a:r>
            <a:endParaRPr lang="en-US" sz="636" dirty="0"/>
          </a:p>
        </p:txBody>
      </p:sp>
      <p:sp>
        <p:nvSpPr>
          <p:cNvPr id="52" name="Text 49"/>
          <p:cNvSpPr/>
          <p:nvPr/>
        </p:nvSpPr>
        <p:spPr>
          <a:xfrm>
            <a:off x="10281832" y="226293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17,5 %</a:t>
            </a:r>
            <a:endParaRPr lang="en-US" sz="636" dirty="0"/>
          </a:p>
        </p:txBody>
      </p:sp>
      <p:sp>
        <p:nvSpPr>
          <p:cNvPr id="53" name="Text 50"/>
          <p:cNvSpPr/>
          <p:nvPr/>
        </p:nvSpPr>
        <p:spPr>
          <a:xfrm>
            <a:off x="8324195"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50,0 %</a:t>
            </a:r>
            <a:endParaRPr lang="en-US" sz="636" dirty="0"/>
          </a:p>
        </p:txBody>
      </p:sp>
      <p:sp>
        <p:nvSpPr>
          <p:cNvPr id="54" name="Text 51"/>
          <p:cNvSpPr/>
          <p:nvPr/>
        </p:nvSpPr>
        <p:spPr>
          <a:xfrm>
            <a:off x="10281832" y="240580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15,6 %</a:t>
            </a:r>
            <a:endParaRPr lang="en-US" sz="636" dirty="0"/>
          </a:p>
        </p:txBody>
      </p:sp>
      <p:sp>
        <p:nvSpPr>
          <p:cNvPr id="55" name="Text 52"/>
          <p:cNvSpPr/>
          <p:nvPr/>
        </p:nvSpPr>
        <p:spPr>
          <a:xfrm>
            <a:off x="8324195"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86,8 %</a:t>
            </a:r>
            <a:endParaRPr lang="en-US" sz="636" dirty="0"/>
          </a:p>
        </p:txBody>
      </p:sp>
      <p:sp>
        <p:nvSpPr>
          <p:cNvPr id="56" name="Text 53"/>
          <p:cNvSpPr/>
          <p:nvPr/>
        </p:nvSpPr>
        <p:spPr>
          <a:xfrm>
            <a:off x="10281832" y="254868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17,8 %</a:t>
            </a:r>
            <a:endParaRPr lang="en-US" sz="636" dirty="0"/>
          </a:p>
        </p:txBody>
      </p:sp>
      <p:sp>
        <p:nvSpPr>
          <p:cNvPr id="57" name="Text 54"/>
          <p:cNvSpPr/>
          <p:nvPr/>
        </p:nvSpPr>
        <p:spPr>
          <a:xfrm>
            <a:off x="8324195"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86,7 %</a:t>
            </a:r>
            <a:endParaRPr lang="en-US" sz="636" dirty="0"/>
          </a:p>
        </p:txBody>
      </p:sp>
      <p:sp>
        <p:nvSpPr>
          <p:cNvPr id="58" name="Text 55"/>
          <p:cNvSpPr/>
          <p:nvPr/>
        </p:nvSpPr>
        <p:spPr>
          <a:xfrm>
            <a:off x="10281832" y="26915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14,3 %</a:t>
            </a:r>
            <a:endParaRPr lang="en-US" sz="636" dirty="0"/>
          </a:p>
        </p:txBody>
      </p:sp>
      <p:sp>
        <p:nvSpPr>
          <p:cNvPr id="59" name="Text 56"/>
          <p:cNvSpPr/>
          <p:nvPr/>
        </p:nvSpPr>
        <p:spPr>
          <a:xfrm>
            <a:off x="8324195"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78,9 %</a:t>
            </a:r>
            <a:endParaRPr lang="en-US" sz="636" dirty="0"/>
          </a:p>
        </p:txBody>
      </p:sp>
      <p:sp>
        <p:nvSpPr>
          <p:cNvPr id="60" name="Text 57"/>
          <p:cNvSpPr/>
          <p:nvPr/>
        </p:nvSpPr>
        <p:spPr>
          <a:xfrm>
            <a:off x="10281832" y="2834432"/>
            <a:ext cx="1414576"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17,7 %</a:t>
            </a:r>
            <a:endParaRPr lang="en-US" sz="636" dirty="0"/>
          </a:p>
        </p:txBody>
      </p:sp>
      <p:sp>
        <p:nvSpPr>
          <p:cNvPr id="61" name="Text 58"/>
          <p:cNvSpPr/>
          <p:nvPr/>
        </p:nvSpPr>
        <p:spPr>
          <a:xfrm>
            <a:off x="8216595" y="971550"/>
            <a:ext cx="3479812"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1.309</a:t>
            </a:r>
            <a:endParaRPr lang="en-US" sz="1380" dirty="0"/>
          </a:p>
        </p:txBody>
      </p:sp>
      <p:sp>
        <p:nvSpPr>
          <p:cNvPr id="62" name="Text 59"/>
          <p:cNvSpPr/>
          <p:nvPr/>
        </p:nvSpPr>
        <p:spPr>
          <a:xfrm>
            <a:off x="533387"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3" name="Text 60"/>
          <p:cNvSpPr/>
          <p:nvPr/>
        </p:nvSpPr>
        <p:spPr>
          <a:xfrm>
            <a:off x="1582896" y="1981944"/>
            <a:ext cx="141398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1.368</a:t>
            </a:r>
            <a:endParaRPr lang="en-US" sz="636" dirty="0"/>
          </a:p>
        </p:txBody>
      </p:sp>
      <p:sp>
        <p:nvSpPr>
          <p:cNvPr id="64" name="Text 61"/>
          <p:cNvSpPr/>
          <p:nvPr/>
        </p:nvSpPr>
        <p:spPr>
          <a:xfrm>
            <a:off x="4519648" y="1981944"/>
            <a:ext cx="141427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65" name="Text 62"/>
          <p:cNvSpPr/>
          <p:nvPr/>
        </p:nvSpPr>
        <p:spPr>
          <a:xfrm>
            <a:off x="1582896" y="21200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1.575</a:t>
            </a:r>
            <a:endParaRPr lang="en-US" sz="636" dirty="0"/>
          </a:p>
        </p:txBody>
      </p:sp>
      <p:sp>
        <p:nvSpPr>
          <p:cNvPr id="66" name="Text 63"/>
          <p:cNvSpPr/>
          <p:nvPr/>
        </p:nvSpPr>
        <p:spPr>
          <a:xfrm>
            <a:off x="4519648" y="21200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67" name="Text 64"/>
          <p:cNvSpPr/>
          <p:nvPr/>
        </p:nvSpPr>
        <p:spPr>
          <a:xfrm>
            <a:off x="533387"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8" name="Text 65"/>
          <p:cNvSpPr/>
          <p:nvPr/>
        </p:nvSpPr>
        <p:spPr>
          <a:xfrm>
            <a:off x="1582896" y="226293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1.147</a:t>
            </a:r>
            <a:endParaRPr lang="en-US" sz="636" dirty="0"/>
          </a:p>
        </p:txBody>
      </p:sp>
      <p:sp>
        <p:nvSpPr>
          <p:cNvPr id="69" name="Text 66"/>
          <p:cNvSpPr/>
          <p:nvPr/>
        </p:nvSpPr>
        <p:spPr>
          <a:xfrm>
            <a:off x="4519648" y="226293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70" name="Text 67"/>
          <p:cNvSpPr/>
          <p:nvPr/>
        </p:nvSpPr>
        <p:spPr>
          <a:xfrm>
            <a:off x="533387"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71" name="Text 68"/>
          <p:cNvSpPr/>
          <p:nvPr/>
        </p:nvSpPr>
        <p:spPr>
          <a:xfrm>
            <a:off x="1582896" y="240580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1.737</a:t>
            </a:r>
            <a:endParaRPr lang="en-US" sz="636" dirty="0"/>
          </a:p>
        </p:txBody>
      </p:sp>
      <p:sp>
        <p:nvSpPr>
          <p:cNvPr id="72" name="Text 69"/>
          <p:cNvSpPr/>
          <p:nvPr/>
        </p:nvSpPr>
        <p:spPr>
          <a:xfrm>
            <a:off x="4519648" y="240580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73" name="Text 70"/>
          <p:cNvSpPr/>
          <p:nvPr/>
        </p:nvSpPr>
        <p:spPr>
          <a:xfrm>
            <a:off x="1582896" y="254868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1.865</a:t>
            </a:r>
            <a:endParaRPr lang="en-US" sz="636" dirty="0"/>
          </a:p>
        </p:txBody>
      </p:sp>
      <p:sp>
        <p:nvSpPr>
          <p:cNvPr id="74" name="Text 71"/>
          <p:cNvSpPr/>
          <p:nvPr/>
        </p:nvSpPr>
        <p:spPr>
          <a:xfrm>
            <a:off x="4519648" y="254868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0,2 %</a:t>
            </a:r>
            <a:endParaRPr lang="en-US" sz="636" dirty="0"/>
          </a:p>
        </p:txBody>
      </p:sp>
      <p:sp>
        <p:nvSpPr>
          <p:cNvPr id="75" name="Text 72"/>
          <p:cNvSpPr/>
          <p:nvPr/>
        </p:nvSpPr>
        <p:spPr>
          <a:xfrm>
            <a:off x="533387"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76" name="Text 73"/>
          <p:cNvSpPr/>
          <p:nvPr/>
        </p:nvSpPr>
        <p:spPr>
          <a:xfrm>
            <a:off x="1582896" y="26915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1.705</a:t>
            </a:r>
            <a:endParaRPr lang="en-US" sz="636" dirty="0"/>
          </a:p>
        </p:txBody>
      </p:sp>
      <p:sp>
        <p:nvSpPr>
          <p:cNvPr id="77" name="Text 74"/>
          <p:cNvSpPr/>
          <p:nvPr/>
        </p:nvSpPr>
        <p:spPr>
          <a:xfrm>
            <a:off x="4519648" y="26915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78" name="Text 75"/>
          <p:cNvSpPr/>
          <p:nvPr/>
        </p:nvSpPr>
        <p:spPr>
          <a:xfrm>
            <a:off x="495288"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79" name="Text 76"/>
          <p:cNvSpPr/>
          <p:nvPr/>
        </p:nvSpPr>
        <p:spPr>
          <a:xfrm>
            <a:off x="1582896" y="2834432"/>
            <a:ext cx="141398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9.397</a:t>
            </a:r>
            <a:endParaRPr lang="en-US" sz="636" dirty="0"/>
          </a:p>
        </p:txBody>
      </p:sp>
      <p:sp>
        <p:nvSpPr>
          <p:cNvPr id="80" name="Text 77"/>
          <p:cNvSpPr/>
          <p:nvPr/>
        </p:nvSpPr>
        <p:spPr>
          <a:xfrm>
            <a:off x="4519648" y="2834432"/>
            <a:ext cx="141427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0,2 %</a:t>
            </a:r>
            <a:endParaRPr lang="en-US" sz="636" dirty="0"/>
          </a:p>
        </p:txBody>
      </p:sp>
      <p:sp>
        <p:nvSpPr>
          <p:cNvPr id="81" name="Text 78"/>
          <p:cNvSpPr/>
          <p:nvPr/>
        </p:nvSpPr>
        <p:spPr>
          <a:xfrm>
            <a:off x="5226118"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82" name="Text 79"/>
          <p:cNvSpPr/>
          <p:nvPr/>
        </p:nvSpPr>
        <p:spPr>
          <a:xfrm>
            <a:off x="504812" y="3815507"/>
            <a:ext cx="1824587" cy="128588"/>
          </a:xfrm>
          <a:prstGeom prst="rect">
            <a:avLst/>
          </a:prstGeom>
          <a:noFill/>
          <a:ln/>
        </p:spPr>
        <p:txBody>
          <a:bodyPr wrap="none" lIns="0" tIns="0" rIns="0" bIns="0" rtlCol="0" anchor="t"/>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83" name="Text 80"/>
          <p:cNvSpPr/>
          <p:nvPr/>
        </p:nvSpPr>
        <p:spPr>
          <a:xfrm>
            <a:off x="7345377"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84" name="Text 81"/>
          <p:cNvSpPr/>
          <p:nvPr/>
        </p:nvSpPr>
        <p:spPr>
          <a:xfrm>
            <a:off x="6295868"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85" name="Text 82"/>
          <p:cNvSpPr/>
          <p:nvPr/>
        </p:nvSpPr>
        <p:spPr>
          <a:xfrm>
            <a:off x="7345377"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1.363</a:t>
            </a:r>
            <a:endParaRPr lang="en-US" sz="636" dirty="0"/>
          </a:p>
        </p:txBody>
      </p:sp>
      <p:sp>
        <p:nvSpPr>
          <p:cNvPr id="86" name="Text 83"/>
          <p:cNvSpPr/>
          <p:nvPr/>
        </p:nvSpPr>
        <p:spPr>
          <a:xfrm>
            <a:off x="7345377"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1.571</a:t>
            </a:r>
            <a:endParaRPr lang="en-US" sz="636" dirty="0"/>
          </a:p>
        </p:txBody>
      </p:sp>
      <p:sp>
        <p:nvSpPr>
          <p:cNvPr id="87" name="Text 84"/>
          <p:cNvSpPr/>
          <p:nvPr/>
        </p:nvSpPr>
        <p:spPr>
          <a:xfrm>
            <a:off x="6295868"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88" name="Text 85"/>
          <p:cNvSpPr/>
          <p:nvPr/>
        </p:nvSpPr>
        <p:spPr>
          <a:xfrm>
            <a:off x="7345377"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1.143</a:t>
            </a:r>
            <a:endParaRPr lang="en-US" sz="636" dirty="0"/>
          </a:p>
        </p:txBody>
      </p:sp>
      <p:sp>
        <p:nvSpPr>
          <p:cNvPr id="89" name="Text 86"/>
          <p:cNvSpPr/>
          <p:nvPr/>
        </p:nvSpPr>
        <p:spPr>
          <a:xfrm>
            <a:off x="6295868"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90" name="Text 87"/>
          <p:cNvSpPr/>
          <p:nvPr/>
        </p:nvSpPr>
        <p:spPr>
          <a:xfrm>
            <a:off x="7345377"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1.735</a:t>
            </a:r>
            <a:endParaRPr lang="en-US" sz="636" dirty="0"/>
          </a:p>
        </p:txBody>
      </p:sp>
      <p:sp>
        <p:nvSpPr>
          <p:cNvPr id="91" name="Text 88"/>
          <p:cNvSpPr/>
          <p:nvPr/>
        </p:nvSpPr>
        <p:spPr>
          <a:xfrm>
            <a:off x="7345377"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1.862</a:t>
            </a:r>
            <a:endParaRPr lang="en-US" sz="636" dirty="0"/>
          </a:p>
        </p:txBody>
      </p:sp>
      <p:sp>
        <p:nvSpPr>
          <p:cNvPr id="92" name="Text 89"/>
          <p:cNvSpPr/>
          <p:nvPr/>
        </p:nvSpPr>
        <p:spPr>
          <a:xfrm>
            <a:off x="6295868"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93" name="Text 90"/>
          <p:cNvSpPr/>
          <p:nvPr/>
        </p:nvSpPr>
        <p:spPr>
          <a:xfrm>
            <a:off x="7345377"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1.704</a:t>
            </a:r>
            <a:endParaRPr lang="en-US" sz="636" dirty="0"/>
          </a:p>
        </p:txBody>
      </p:sp>
      <p:sp>
        <p:nvSpPr>
          <p:cNvPr id="94" name="Text 91"/>
          <p:cNvSpPr/>
          <p:nvPr/>
        </p:nvSpPr>
        <p:spPr>
          <a:xfrm>
            <a:off x="6257769"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95" name="Text 92"/>
          <p:cNvSpPr/>
          <p:nvPr/>
        </p:nvSpPr>
        <p:spPr>
          <a:xfrm>
            <a:off x="7345377"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9.378</a:t>
            </a:r>
            <a:endParaRPr lang="en-US" sz="636" dirty="0"/>
          </a:p>
        </p:txBody>
      </p:sp>
      <p:sp>
        <p:nvSpPr>
          <p:cNvPr id="96" name="Text 93"/>
          <p:cNvSpPr/>
          <p:nvPr/>
        </p:nvSpPr>
        <p:spPr>
          <a:xfrm>
            <a:off x="10030318" y="2858244"/>
            <a:ext cx="208652" cy="95250"/>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1.309</a:t>
            </a:r>
            <a:endParaRPr lang="en-US" sz="636" dirty="0"/>
          </a:p>
        </p:txBody>
      </p:sp>
      <p:sp>
        <p:nvSpPr>
          <p:cNvPr id="97" name="Text 94"/>
          <p:cNvSpPr/>
          <p:nvPr/>
        </p:nvSpPr>
        <p:spPr>
          <a:xfrm>
            <a:off x="10988599"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98" name="Text 95"/>
          <p:cNvSpPr/>
          <p:nvPr/>
        </p:nvSpPr>
        <p:spPr>
          <a:xfrm>
            <a:off x="8091881"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1.076</a:t>
            </a:r>
            <a:endParaRPr lang="en-US" sz="552" dirty="0"/>
          </a:p>
        </p:txBody>
      </p:sp>
      <p:sp>
        <p:nvSpPr>
          <p:cNvPr id="99" name="Text 96"/>
          <p:cNvSpPr/>
          <p:nvPr/>
        </p:nvSpPr>
        <p:spPr>
          <a:xfrm>
            <a:off x="8574667"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1.240</a:t>
            </a:r>
            <a:endParaRPr lang="en-US" sz="552" dirty="0"/>
          </a:p>
        </p:txBody>
      </p:sp>
      <p:sp>
        <p:nvSpPr>
          <p:cNvPr id="100" name="Text 97"/>
          <p:cNvSpPr/>
          <p:nvPr/>
        </p:nvSpPr>
        <p:spPr>
          <a:xfrm>
            <a:off x="9540240"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1.369</a:t>
            </a:r>
            <a:endParaRPr lang="en-US" sz="552" dirty="0"/>
          </a:p>
        </p:txBody>
      </p:sp>
      <p:sp>
        <p:nvSpPr>
          <p:cNvPr id="101" name="Text 98"/>
          <p:cNvSpPr/>
          <p:nvPr/>
        </p:nvSpPr>
        <p:spPr>
          <a:xfrm>
            <a:off x="10023026"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1.468</a:t>
            </a:r>
            <a:endParaRPr lang="en-US" sz="552" dirty="0"/>
          </a:p>
        </p:txBody>
      </p:sp>
      <p:sp>
        <p:nvSpPr>
          <p:cNvPr id="102" name="Text 99"/>
          <p:cNvSpPr/>
          <p:nvPr/>
        </p:nvSpPr>
        <p:spPr>
          <a:xfrm>
            <a:off x="10505812"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1.345</a:t>
            </a:r>
            <a:endParaRPr lang="en-US" sz="552" dirty="0"/>
          </a:p>
        </p:txBody>
      </p:sp>
      <p:sp>
        <p:nvSpPr>
          <p:cNvPr id="103" name="Text 100"/>
          <p:cNvSpPr/>
          <p:nvPr/>
        </p:nvSpPr>
        <p:spPr>
          <a:xfrm>
            <a:off x="10988599" y="3420219"/>
            <a:ext cx="698284"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7.400</a:t>
            </a:r>
            <a:endParaRPr lang="en-US" sz="552" dirty="0"/>
          </a:p>
        </p:txBody>
      </p:sp>
      <p:sp>
        <p:nvSpPr>
          <p:cNvPr id="104" name="Text 101"/>
          <p:cNvSpPr/>
          <p:nvPr/>
        </p:nvSpPr>
        <p:spPr>
          <a:xfrm>
            <a:off x="10988599" y="35488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1.309</a:t>
            </a:r>
            <a:endParaRPr lang="en-US" sz="552" dirty="0"/>
          </a:p>
        </p:txBody>
      </p:sp>
      <p:sp>
        <p:nvSpPr>
          <p:cNvPr id="105" name="Text 102"/>
          <p:cNvSpPr/>
          <p:nvPr/>
        </p:nvSpPr>
        <p:spPr>
          <a:xfrm>
            <a:off x="10988599" y="36821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2.508</a:t>
            </a:r>
            <a:endParaRPr lang="en-US" sz="552" dirty="0"/>
          </a:p>
        </p:txBody>
      </p:sp>
      <p:sp>
        <p:nvSpPr>
          <p:cNvPr id="106" name="Text 103"/>
          <p:cNvSpPr/>
          <p:nvPr/>
        </p:nvSpPr>
        <p:spPr>
          <a:xfrm>
            <a:off x="10988599" y="43489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1.008</a:t>
            </a:r>
            <a:endParaRPr lang="en-US" sz="552" dirty="0"/>
          </a:p>
        </p:txBody>
      </p:sp>
      <p:sp>
        <p:nvSpPr>
          <p:cNvPr id="107" name="Text 104"/>
          <p:cNvSpPr/>
          <p:nvPr/>
        </p:nvSpPr>
        <p:spPr>
          <a:xfrm>
            <a:off x="10988599" y="4482257"/>
            <a:ext cx="698284"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1.978</a:t>
            </a:r>
            <a:endParaRPr lang="en-US" sz="552" dirty="0"/>
          </a:p>
        </p:txBody>
      </p:sp>
      <p:sp>
        <p:nvSpPr>
          <p:cNvPr id="108" name="Text 105"/>
          <p:cNvSpPr/>
          <p:nvPr/>
        </p:nvSpPr>
        <p:spPr>
          <a:xfrm>
            <a:off x="10988599" y="46156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1.244</a:t>
            </a:r>
            <a:endParaRPr lang="en-US" sz="552" dirty="0"/>
          </a:p>
        </p:txBody>
      </p:sp>
      <p:sp>
        <p:nvSpPr>
          <p:cNvPr id="109" name="Text 106"/>
          <p:cNvSpPr/>
          <p:nvPr/>
        </p:nvSpPr>
        <p:spPr>
          <a:xfrm>
            <a:off x="533387"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10" name="Text 107"/>
          <p:cNvSpPr/>
          <p:nvPr/>
        </p:nvSpPr>
        <p:spPr>
          <a:xfrm>
            <a:off x="6295868"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11" name="Text 108"/>
          <p:cNvSpPr/>
          <p:nvPr/>
        </p:nvSpPr>
        <p:spPr>
          <a:xfrm>
            <a:off x="495288"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12" name="Text 109"/>
          <p:cNvSpPr/>
          <p:nvPr/>
        </p:nvSpPr>
        <p:spPr>
          <a:xfrm>
            <a:off x="232940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13" name="Text 110"/>
          <p:cNvSpPr/>
          <p:nvPr/>
        </p:nvSpPr>
        <p:spPr>
          <a:xfrm>
            <a:off x="281218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14" name="Text 111"/>
          <p:cNvSpPr/>
          <p:nvPr/>
        </p:nvSpPr>
        <p:spPr>
          <a:xfrm>
            <a:off x="329497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15" name="Text 112"/>
          <p:cNvSpPr/>
          <p:nvPr/>
        </p:nvSpPr>
        <p:spPr>
          <a:xfrm>
            <a:off x="3777759"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16" name="Text 113"/>
          <p:cNvSpPr/>
          <p:nvPr/>
        </p:nvSpPr>
        <p:spPr>
          <a:xfrm>
            <a:off x="4260545"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17" name="Text 114"/>
          <p:cNvSpPr/>
          <p:nvPr/>
        </p:nvSpPr>
        <p:spPr>
          <a:xfrm>
            <a:off x="474333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18" name="Text 115"/>
          <p:cNvSpPr/>
          <p:nvPr/>
        </p:nvSpPr>
        <p:spPr>
          <a:xfrm>
            <a:off x="6257769"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19" name="Text 116"/>
          <p:cNvSpPr/>
          <p:nvPr/>
        </p:nvSpPr>
        <p:spPr>
          <a:xfrm>
            <a:off x="10098331" y="2000994"/>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264</a:t>
            </a:r>
            <a:endParaRPr lang="en-US" sz="636" dirty="0"/>
          </a:p>
        </p:txBody>
      </p:sp>
      <p:sp>
        <p:nvSpPr>
          <p:cNvPr id="120" name="Text 117"/>
          <p:cNvSpPr/>
          <p:nvPr/>
        </p:nvSpPr>
        <p:spPr>
          <a:xfrm>
            <a:off x="10102647" y="214386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254</a:t>
            </a:r>
            <a:endParaRPr lang="en-US" sz="636" dirty="0"/>
          </a:p>
        </p:txBody>
      </p:sp>
      <p:sp>
        <p:nvSpPr>
          <p:cNvPr id="121" name="Text 118"/>
          <p:cNvSpPr/>
          <p:nvPr/>
        </p:nvSpPr>
        <p:spPr>
          <a:xfrm>
            <a:off x="10105624" y="2286744"/>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158</a:t>
            </a:r>
            <a:endParaRPr lang="en-US" sz="636" dirty="0"/>
          </a:p>
        </p:txBody>
      </p:sp>
      <p:sp>
        <p:nvSpPr>
          <p:cNvPr id="122" name="Text 119"/>
          <p:cNvSpPr/>
          <p:nvPr/>
        </p:nvSpPr>
        <p:spPr>
          <a:xfrm>
            <a:off x="10109344" y="242961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135</a:t>
            </a:r>
            <a:endParaRPr lang="en-US" sz="636" dirty="0"/>
          </a:p>
        </p:txBody>
      </p:sp>
      <p:sp>
        <p:nvSpPr>
          <p:cNvPr id="123" name="Text 120"/>
          <p:cNvSpPr/>
          <p:nvPr/>
        </p:nvSpPr>
        <p:spPr>
          <a:xfrm>
            <a:off x="10099373" y="2572494"/>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287</a:t>
            </a:r>
            <a:endParaRPr lang="en-US" sz="636" dirty="0"/>
          </a:p>
        </p:txBody>
      </p:sp>
      <p:sp>
        <p:nvSpPr>
          <p:cNvPr id="124" name="Text 121"/>
          <p:cNvSpPr/>
          <p:nvPr/>
        </p:nvSpPr>
        <p:spPr>
          <a:xfrm>
            <a:off x="10113660" y="2715369"/>
            <a:ext cx="182880" cy="95250"/>
          </a:xfrm>
          <a:prstGeom prst="rect">
            <a:avLst/>
          </a:prstGeom>
          <a:noFill/>
          <a:ln/>
        </p:spPr>
        <p:txBody>
          <a:bodyPr wrap="none" lIns="0" tIns="0" rIns="0" bIns="0" rtlCol="0" anchor="t"/>
          <a:lstStyle/>
          <a:p>
            <a:pPr algn="r" indent="0" marL="0">
              <a:buNone/>
            </a:pPr>
            <a:r>
              <a:rPr lang="en-US" sz="636" b="1" dirty="0">
                <a:solidFill>
                  <a:srgbClr val="333333"/>
                </a:solidFill>
                <a:latin typeface="Raleway" pitchFamily="34" charset="0"/>
                <a:ea typeface="Raleway" pitchFamily="34" charset="-122"/>
                <a:cs typeface="Raleway" pitchFamily="34" charset="-120"/>
              </a:rPr>
              <a:t>211</a:t>
            </a:r>
            <a:endParaRPr lang="en-US" sz="636" dirty="0"/>
          </a:p>
        </p:txBody>
      </p:sp>
      <p:sp>
        <p:nvSpPr>
          <p:cNvPr id="125" name="Text 122"/>
          <p:cNvSpPr/>
          <p:nvPr/>
        </p:nvSpPr>
        <p:spPr>
          <a:xfrm>
            <a:off x="809188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26" name="Text 123"/>
          <p:cNvSpPr/>
          <p:nvPr/>
        </p:nvSpPr>
        <p:spPr>
          <a:xfrm>
            <a:off x="8574667"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27" name="Text 124"/>
          <p:cNvSpPr/>
          <p:nvPr/>
        </p:nvSpPr>
        <p:spPr>
          <a:xfrm>
            <a:off x="9057453"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28" name="Text 125"/>
          <p:cNvSpPr/>
          <p:nvPr/>
        </p:nvSpPr>
        <p:spPr>
          <a:xfrm>
            <a:off x="954024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29" name="Text 126"/>
          <p:cNvSpPr/>
          <p:nvPr/>
        </p:nvSpPr>
        <p:spPr>
          <a:xfrm>
            <a:off x="1002302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30" name="Text 127"/>
          <p:cNvSpPr/>
          <p:nvPr/>
        </p:nvSpPr>
        <p:spPr>
          <a:xfrm>
            <a:off x="1050581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31" name="Text 128"/>
          <p:cNvSpPr/>
          <p:nvPr/>
        </p:nvSpPr>
        <p:spPr>
          <a:xfrm>
            <a:off x="9057453"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902</a:t>
            </a:r>
            <a:endParaRPr lang="en-US" sz="552" dirty="0"/>
          </a:p>
        </p:txBody>
      </p:sp>
      <p:sp>
        <p:nvSpPr>
          <p:cNvPr id="132" name="Text 129"/>
          <p:cNvSpPr/>
          <p:nvPr/>
        </p:nvSpPr>
        <p:spPr>
          <a:xfrm>
            <a:off x="8091881"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190</a:t>
            </a:r>
            <a:endParaRPr lang="en-US" sz="552" dirty="0"/>
          </a:p>
        </p:txBody>
      </p:sp>
      <p:sp>
        <p:nvSpPr>
          <p:cNvPr id="133" name="Text 130"/>
          <p:cNvSpPr/>
          <p:nvPr/>
        </p:nvSpPr>
        <p:spPr>
          <a:xfrm>
            <a:off x="8574667"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219</a:t>
            </a:r>
            <a:endParaRPr lang="en-US" sz="552" dirty="0"/>
          </a:p>
        </p:txBody>
      </p:sp>
      <p:sp>
        <p:nvSpPr>
          <p:cNvPr id="134" name="Text 131"/>
          <p:cNvSpPr/>
          <p:nvPr/>
        </p:nvSpPr>
        <p:spPr>
          <a:xfrm>
            <a:off x="9057453"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135" name="Text 132"/>
          <p:cNvSpPr/>
          <p:nvPr/>
        </p:nvSpPr>
        <p:spPr>
          <a:xfrm>
            <a:off x="9540240"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242</a:t>
            </a:r>
            <a:endParaRPr lang="en-US" sz="552" dirty="0"/>
          </a:p>
        </p:txBody>
      </p:sp>
      <p:sp>
        <p:nvSpPr>
          <p:cNvPr id="136" name="Text 133"/>
          <p:cNvSpPr/>
          <p:nvPr/>
        </p:nvSpPr>
        <p:spPr>
          <a:xfrm>
            <a:off x="10023026"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260</a:t>
            </a:r>
            <a:endParaRPr lang="en-US" sz="552" dirty="0"/>
          </a:p>
        </p:txBody>
      </p:sp>
      <p:sp>
        <p:nvSpPr>
          <p:cNvPr id="137" name="Text 134"/>
          <p:cNvSpPr/>
          <p:nvPr/>
        </p:nvSpPr>
        <p:spPr>
          <a:xfrm>
            <a:off x="10505812"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238</a:t>
            </a:r>
            <a:endParaRPr lang="en-US" sz="552" dirty="0"/>
          </a:p>
        </p:txBody>
      </p:sp>
      <p:sp>
        <p:nvSpPr>
          <p:cNvPr id="138" name="Text 135"/>
          <p:cNvSpPr/>
          <p:nvPr/>
        </p:nvSpPr>
        <p:spPr>
          <a:xfrm>
            <a:off x="8091881"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139" name="Text 136"/>
          <p:cNvSpPr/>
          <p:nvPr/>
        </p:nvSpPr>
        <p:spPr>
          <a:xfrm>
            <a:off x="8574667"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140" name="Text 137"/>
          <p:cNvSpPr/>
          <p:nvPr/>
        </p:nvSpPr>
        <p:spPr>
          <a:xfrm>
            <a:off x="9057453"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306</a:t>
            </a:r>
            <a:endParaRPr lang="en-US" sz="552" dirty="0"/>
          </a:p>
        </p:txBody>
      </p:sp>
      <p:sp>
        <p:nvSpPr>
          <p:cNvPr id="141" name="Text 138"/>
          <p:cNvSpPr/>
          <p:nvPr/>
        </p:nvSpPr>
        <p:spPr>
          <a:xfrm>
            <a:off x="9540240"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142" name="Text 139"/>
          <p:cNvSpPr/>
          <p:nvPr/>
        </p:nvSpPr>
        <p:spPr>
          <a:xfrm>
            <a:off x="10023026"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143" name="Text 140"/>
          <p:cNvSpPr/>
          <p:nvPr/>
        </p:nvSpPr>
        <p:spPr>
          <a:xfrm>
            <a:off x="10505812"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144" name="Text 141"/>
          <p:cNvSpPr/>
          <p:nvPr/>
        </p:nvSpPr>
        <p:spPr>
          <a:xfrm>
            <a:off x="8091881"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45" name="Text 142"/>
          <p:cNvSpPr/>
          <p:nvPr/>
        </p:nvSpPr>
        <p:spPr>
          <a:xfrm>
            <a:off x="8574667"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157</a:t>
            </a:r>
            <a:endParaRPr lang="en-US" sz="552" dirty="0"/>
          </a:p>
        </p:txBody>
      </p:sp>
      <p:sp>
        <p:nvSpPr>
          <p:cNvPr id="146" name="Text 143"/>
          <p:cNvSpPr/>
          <p:nvPr/>
        </p:nvSpPr>
        <p:spPr>
          <a:xfrm>
            <a:off x="9057453"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114</a:t>
            </a:r>
            <a:endParaRPr lang="en-US" sz="552" dirty="0"/>
          </a:p>
        </p:txBody>
      </p:sp>
      <p:sp>
        <p:nvSpPr>
          <p:cNvPr id="147" name="Text 144"/>
          <p:cNvSpPr/>
          <p:nvPr/>
        </p:nvSpPr>
        <p:spPr>
          <a:xfrm>
            <a:off x="9540240"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174</a:t>
            </a:r>
            <a:endParaRPr lang="en-US" sz="552" dirty="0"/>
          </a:p>
        </p:txBody>
      </p:sp>
      <p:sp>
        <p:nvSpPr>
          <p:cNvPr id="148" name="Text 145"/>
          <p:cNvSpPr/>
          <p:nvPr/>
        </p:nvSpPr>
        <p:spPr>
          <a:xfrm>
            <a:off x="10023026"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187</a:t>
            </a:r>
            <a:endParaRPr lang="en-US" sz="552" dirty="0"/>
          </a:p>
        </p:txBody>
      </p:sp>
      <p:sp>
        <p:nvSpPr>
          <p:cNvPr id="149" name="Text 146"/>
          <p:cNvSpPr/>
          <p:nvPr/>
        </p:nvSpPr>
        <p:spPr>
          <a:xfrm>
            <a:off x="10505812"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171</a:t>
            </a:r>
            <a:endParaRPr lang="en-US" sz="552" dirty="0"/>
          </a:p>
        </p:txBody>
      </p:sp>
      <p:sp>
        <p:nvSpPr>
          <p:cNvPr id="150" name="Text 147"/>
          <p:cNvSpPr/>
          <p:nvPr/>
        </p:nvSpPr>
        <p:spPr>
          <a:xfrm>
            <a:off x="10988599" y="38155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939</a:t>
            </a:r>
            <a:endParaRPr lang="en-US" sz="552" dirty="0"/>
          </a:p>
        </p:txBody>
      </p:sp>
      <p:sp>
        <p:nvSpPr>
          <p:cNvPr id="151" name="Text 148"/>
          <p:cNvSpPr/>
          <p:nvPr/>
        </p:nvSpPr>
        <p:spPr>
          <a:xfrm>
            <a:off x="8091881"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108</a:t>
            </a:r>
            <a:endParaRPr lang="en-US" sz="552" dirty="0"/>
          </a:p>
        </p:txBody>
      </p:sp>
      <p:sp>
        <p:nvSpPr>
          <p:cNvPr id="152" name="Text 149"/>
          <p:cNvSpPr/>
          <p:nvPr/>
        </p:nvSpPr>
        <p:spPr>
          <a:xfrm>
            <a:off x="8574667"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125</a:t>
            </a:r>
            <a:endParaRPr lang="en-US" sz="552" dirty="0"/>
          </a:p>
        </p:txBody>
      </p:sp>
      <p:sp>
        <p:nvSpPr>
          <p:cNvPr id="153" name="Text 150"/>
          <p:cNvSpPr/>
          <p:nvPr/>
        </p:nvSpPr>
        <p:spPr>
          <a:xfrm>
            <a:off x="9540240"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138</a:t>
            </a:r>
            <a:endParaRPr lang="en-US" sz="552" dirty="0"/>
          </a:p>
        </p:txBody>
      </p:sp>
      <p:sp>
        <p:nvSpPr>
          <p:cNvPr id="154" name="Text 151"/>
          <p:cNvSpPr/>
          <p:nvPr/>
        </p:nvSpPr>
        <p:spPr>
          <a:xfrm>
            <a:off x="10023026"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155" name="Text 152"/>
          <p:cNvSpPr/>
          <p:nvPr/>
        </p:nvSpPr>
        <p:spPr>
          <a:xfrm>
            <a:off x="10505812"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56" name="Text 153"/>
          <p:cNvSpPr/>
          <p:nvPr/>
        </p:nvSpPr>
        <p:spPr>
          <a:xfrm>
            <a:off x="10988599" y="39488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746</a:t>
            </a:r>
            <a:endParaRPr lang="en-US" sz="552" dirty="0"/>
          </a:p>
        </p:txBody>
      </p:sp>
      <p:sp>
        <p:nvSpPr>
          <p:cNvPr id="157" name="Text 154"/>
          <p:cNvSpPr/>
          <p:nvPr/>
        </p:nvSpPr>
        <p:spPr>
          <a:xfrm>
            <a:off x="10023026"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100</a:t>
            </a:r>
            <a:endParaRPr lang="en-US" sz="552" dirty="0"/>
          </a:p>
        </p:txBody>
      </p:sp>
      <p:sp>
        <p:nvSpPr>
          <p:cNvPr id="158" name="Text 155"/>
          <p:cNvSpPr/>
          <p:nvPr/>
        </p:nvSpPr>
        <p:spPr>
          <a:xfrm>
            <a:off x="10988599" y="40822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505</a:t>
            </a:r>
            <a:endParaRPr lang="en-US" sz="552" dirty="0"/>
          </a:p>
        </p:txBody>
      </p:sp>
      <p:sp>
        <p:nvSpPr>
          <p:cNvPr id="159" name="Text 156"/>
          <p:cNvSpPr/>
          <p:nvPr/>
        </p:nvSpPr>
        <p:spPr>
          <a:xfrm>
            <a:off x="10988599" y="42155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386</a:t>
            </a:r>
            <a:endParaRPr lang="en-US" sz="552" dirty="0"/>
          </a:p>
        </p:txBody>
      </p:sp>
      <p:sp>
        <p:nvSpPr>
          <p:cNvPr id="160" name="Text 157"/>
          <p:cNvSpPr/>
          <p:nvPr/>
        </p:nvSpPr>
        <p:spPr>
          <a:xfrm>
            <a:off x="8091881"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147</a:t>
            </a:r>
            <a:endParaRPr lang="en-US" sz="552" dirty="0"/>
          </a:p>
        </p:txBody>
      </p:sp>
      <p:sp>
        <p:nvSpPr>
          <p:cNvPr id="161" name="Text 158"/>
          <p:cNvSpPr/>
          <p:nvPr/>
        </p:nvSpPr>
        <p:spPr>
          <a:xfrm>
            <a:off x="8574667"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169</a:t>
            </a:r>
            <a:endParaRPr lang="en-US" sz="552" dirty="0"/>
          </a:p>
        </p:txBody>
      </p:sp>
      <p:sp>
        <p:nvSpPr>
          <p:cNvPr id="162" name="Text 159"/>
          <p:cNvSpPr/>
          <p:nvPr/>
        </p:nvSpPr>
        <p:spPr>
          <a:xfrm>
            <a:off x="9057453"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123</a:t>
            </a:r>
            <a:endParaRPr lang="en-US" sz="552" dirty="0"/>
          </a:p>
        </p:txBody>
      </p:sp>
      <p:sp>
        <p:nvSpPr>
          <p:cNvPr id="163" name="Text 160"/>
          <p:cNvSpPr/>
          <p:nvPr/>
        </p:nvSpPr>
        <p:spPr>
          <a:xfrm>
            <a:off x="9540240"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186</a:t>
            </a:r>
            <a:endParaRPr lang="en-US" sz="552" dirty="0"/>
          </a:p>
        </p:txBody>
      </p:sp>
      <p:sp>
        <p:nvSpPr>
          <p:cNvPr id="164" name="Text 161"/>
          <p:cNvSpPr/>
          <p:nvPr/>
        </p:nvSpPr>
        <p:spPr>
          <a:xfrm>
            <a:off x="10023026"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200</a:t>
            </a:r>
            <a:endParaRPr lang="en-US" sz="552" dirty="0"/>
          </a:p>
        </p:txBody>
      </p:sp>
      <p:sp>
        <p:nvSpPr>
          <p:cNvPr id="165" name="Text 162"/>
          <p:cNvSpPr/>
          <p:nvPr/>
        </p:nvSpPr>
        <p:spPr>
          <a:xfrm>
            <a:off x="10505812" y="43489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183</a:t>
            </a:r>
            <a:endParaRPr lang="en-US" sz="552" dirty="0"/>
          </a:p>
        </p:txBody>
      </p:sp>
      <p:sp>
        <p:nvSpPr>
          <p:cNvPr id="166" name="Text 163"/>
          <p:cNvSpPr/>
          <p:nvPr/>
        </p:nvSpPr>
        <p:spPr>
          <a:xfrm>
            <a:off x="8091881"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287</a:t>
            </a:r>
            <a:endParaRPr lang="en-US" sz="552" dirty="0"/>
          </a:p>
        </p:txBody>
      </p:sp>
      <p:sp>
        <p:nvSpPr>
          <p:cNvPr id="167" name="Text 164"/>
          <p:cNvSpPr/>
          <p:nvPr/>
        </p:nvSpPr>
        <p:spPr>
          <a:xfrm>
            <a:off x="8574667"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331</a:t>
            </a:r>
            <a:endParaRPr lang="en-US" sz="552" dirty="0"/>
          </a:p>
        </p:txBody>
      </p:sp>
      <p:sp>
        <p:nvSpPr>
          <p:cNvPr id="168" name="Text 165"/>
          <p:cNvSpPr/>
          <p:nvPr/>
        </p:nvSpPr>
        <p:spPr>
          <a:xfrm>
            <a:off x="9057453"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241</a:t>
            </a:r>
            <a:endParaRPr lang="en-US" sz="552" dirty="0"/>
          </a:p>
        </p:txBody>
      </p:sp>
      <p:sp>
        <p:nvSpPr>
          <p:cNvPr id="169" name="Text 166"/>
          <p:cNvSpPr/>
          <p:nvPr/>
        </p:nvSpPr>
        <p:spPr>
          <a:xfrm>
            <a:off x="9540240"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366</a:t>
            </a:r>
            <a:endParaRPr lang="en-US" sz="552" dirty="0"/>
          </a:p>
        </p:txBody>
      </p:sp>
      <p:sp>
        <p:nvSpPr>
          <p:cNvPr id="170" name="Text 167"/>
          <p:cNvSpPr/>
          <p:nvPr/>
        </p:nvSpPr>
        <p:spPr>
          <a:xfrm>
            <a:off x="10023026"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394</a:t>
            </a:r>
            <a:endParaRPr lang="en-US" sz="552" dirty="0"/>
          </a:p>
        </p:txBody>
      </p:sp>
      <p:sp>
        <p:nvSpPr>
          <p:cNvPr id="171" name="Text 168"/>
          <p:cNvSpPr/>
          <p:nvPr/>
        </p:nvSpPr>
        <p:spPr>
          <a:xfrm>
            <a:off x="10505812" y="448225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359</a:t>
            </a:r>
            <a:endParaRPr lang="en-US" sz="552" dirty="0"/>
          </a:p>
        </p:txBody>
      </p:sp>
      <p:sp>
        <p:nvSpPr>
          <p:cNvPr id="172" name="Text 169"/>
          <p:cNvSpPr/>
          <p:nvPr/>
        </p:nvSpPr>
        <p:spPr>
          <a:xfrm>
            <a:off x="8091881"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181</a:t>
            </a:r>
            <a:endParaRPr lang="en-US" sz="552" dirty="0"/>
          </a:p>
        </p:txBody>
      </p:sp>
      <p:sp>
        <p:nvSpPr>
          <p:cNvPr id="173" name="Text 170"/>
          <p:cNvSpPr/>
          <p:nvPr/>
        </p:nvSpPr>
        <p:spPr>
          <a:xfrm>
            <a:off x="8574667"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208</a:t>
            </a:r>
            <a:endParaRPr lang="en-US" sz="552" dirty="0"/>
          </a:p>
        </p:txBody>
      </p:sp>
      <p:sp>
        <p:nvSpPr>
          <p:cNvPr id="174" name="Text 171"/>
          <p:cNvSpPr/>
          <p:nvPr/>
        </p:nvSpPr>
        <p:spPr>
          <a:xfrm>
            <a:off x="9057453"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152</a:t>
            </a:r>
            <a:endParaRPr lang="en-US" sz="552" dirty="0"/>
          </a:p>
        </p:txBody>
      </p:sp>
      <p:sp>
        <p:nvSpPr>
          <p:cNvPr id="175" name="Text 172"/>
          <p:cNvSpPr/>
          <p:nvPr/>
        </p:nvSpPr>
        <p:spPr>
          <a:xfrm>
            <a:off x="9540240"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230</a:t>
            </a:r>
            <a:endParaRPr lang="en-US" sz="552" dirty="0"/>
          </a:p>
        </p:txBody>
      </p:sp>
      <p:sp>
        <p:nvSpPr>
          <p:cNvPr id="176" name="Text 173"/>
          <p:cNvSpPr/>
          <p:nvPr/>
        </p:nvSpPr>
        <p:spPr>
          <a:xfrm>
            <a:off x="10023026"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247</a:t>
            </a:r>
            <a:endParaRPr lang="en-US" sz="552" dirty="0"/>
          </a:p>
        </p:txBody>
      </p:sp>
      <p:sp>
        <p:nvSpPr>
          <p:cNvPr id="177" name="Text 174"/>
          <p:cNvSpPr/>
          <p:nvPr/>
        </p:nvSpPr>
        <p:spPr>
          <a:xfrm>
            <a:off x="10505812" y="46156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226</a:t>
            </a:r>
            <a:endParaRPr lang="en-US" sz="552" dirty="0"/>
          </a:p>
        </p:txBody>
      </p:sp>
      <p:sp>
        <p:nvSpPr>
          <p:cNvPr id="178" name="Text 175"/>
          <p:cNvSpPr/>
          <p:nvPr/>
        </p:nvSpPr>
        <p:spPr>
          <a:xfrm>
            <a:off x="9540240"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103</a:t>
            </a:r>
            <a:endParaRPr lang="en-US" sz="552" dirty="0"/>
          </a:p>
        </p:txBody>
      </p:sp>
      <p:sp>
        <p:nvSpPr>
          <p:cNvPr id="179" name="Text 176"/>
          <p:cNvSpPr/>
          <p:nvPr/>
        </p:nvSpPr>
        <p:spPr>
          <a:xfrm>
            <a:off x="10023026"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109</a:t>
            </a:r>
            <a:endParaRPr lang="en-US" sz="552" dirty="0"/>
          </a:p>
        </p:txBody>
      </p:sp>
      <p:sp>
        <p:nvSpPr>
          <p:cNvPr id="180" name="Text 177"/>
          <p:cNvSpPr/>
          <p:nvPr/>
        </p:nvSpPr>
        <p:spPr>
          <a:xfrm>
            <a:off x="10505812"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101</a:t>
            </a:r>
            <a:endParaRPr lang="en-US" sz="552" dirty="0"/>
          </a:p>
        </p:txBody>
      </p:sp>
      <p:sp>
        <p:nvSpPr>
          <p:cNvPr id="181" name="Text 178"/>
          <p:cNvSpPr/>
          <p:nvPr/>
        </p:nvSpPr>
        <p:spPr>
          <a:xfrm>
            <a:off x="10988599" y="47489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555</a:t>
            </a:r>
            <a:endParaRPr lang="en-US" sz="552" dirty="0"/>
          </a:p>
        </p:txBody>
      </p:sp>
      <p:sp>
        <p:nvSpPr>
          <p:cNvPr id="182" name="Text 179"/>
          <p:cNvSpPr/>
          <p:nvPr/>
        </p:nvSpPr>
        <p:spPr>
          <a:xfrm>
            <a:off x="10988599" y="48823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161</a:t>
            </a:r>
            <a:endParaRPr lang="en-US" sz="552" dirty="0"/>
          </a:p>
        </p:txBody>
      </p:sp>
      <p:sp>
        <p:nvSpPr>
          <p:cNvPr id="183" name="Text 180"/>
          <p:cNvSpPr/>
          <p:nvPr/>
        </p:nvSpPr>
        <p:spPr>
          <a:xfrm>
            <a:off x="2996877" y="2834432"/>
            <a:ext cx="152277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19</a:t>
            </a:r>
            <a:endParaRPr lang="en-US" sz="636" dirty="0"/>
          </a:p>
        </p:txBody>
      </p:sp>
      <p:sp>
        <p:nvSpPr>
          <p:cNvPr id="184" name="Text 181"/>
          <p:cNvSpPr/>
          <p:nvPr/>
        </p:nvSpPr>
        <p:spPr>
          <a:xfrm>
            <a:off x="5226118" y="3420219"/>
            <a:ext cx="698284" cy="128588"/>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12</a:t>
            </a:r>
            <a:endParaRPr lang="en-US" sz="576" dirty="0"/>
          </a:p>
        </p:txBody>
      </p:sp>
      <p:sp>
        <p:nvSpPr>
          <p:cNvPr id="185" name="Text 182"/>
          <p:cNvSpPr/>
          <p:nvPr/>
        </p:nvSpPr>
        <p:spPr>
          <a:xfrm>
            <a:off x="5226118" y="3815507"/>
            <a:ext cx="698284"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19</a:t>
            </a:r>
            <a:endParaRPr lang="en-US" sz="576" dirty="0"/>
          </a:p>
        </p:txBody>
      </p:sp>
      <p:sp>
        <p:nvSpPr>
          <p:cNvPr id="186" name="Text 183"/>
          <p:cNvSpPr/>
          <p:nvPr/>
        </p:nvSpPr>
        <p:spPr>
          <a:xfrm>
            <a:off x="9057453"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91</a:t>
            </a:r>
            <a:endParaRPr lang="en-US" sz="552" dirty="0"/>
          </a:p>
        </p:txBody>
      </p:sp>
      <p:sp>
        <p:nvSpPr>
          <p:cNvPr id="187" name="Text 184"/>
          <p:cNvSpPr/>
          <p:nvPr/>
        </p:nvSpPr>
        <p:spPr>
          <a:xfrm>
            <a:off x="8091881"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188" name="Text 185"/>
          <p:cNvSpPr/>
          <p:nvPr/>
        </p:nvSpPr>
        <p:spPr>
          <a:xfrm>
            <a:off x="8574667"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85</a:t>
            </a:r>
            <a:endParaRPr lang="en-US" sz="552" dirty="0"/>
          </a:p>
        </p:txBody>
      </p:sp>
      <p:sp>
        <p:nvSpPr>
          <p:cNvPr id="189" name="Text 186"/>
          <p:cNvSpPr/>
          <p:nvPr/>
        </p:nvSpPr>
        <p:spPr>
          <a:xfrm>
            <a:off x="9057453"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62</a:t>
            </a:r>
            <a:endParaRPr lang="en-US" sz="552" dirty="0"/>
          </a:p>
        </p:txBody>
      </p:sp>
      <p:sp>
        <p:nvSpPr>
          <p:cNvPr id="190" name="Text 187"/>
          <p:cNvSpPr/>
          <p:nvPr/>
        </p:nvSpPr>
        <p:spPr>
          <a:xfrm>
            <a:off x="9540240"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191" name="Text 188"/>
          <p:cNvSpPr/>
          <p:nvPr/>
        </p:nvSpPr>
        <p:spPr>
          <a:xfrm>
            <a:off x="10505812"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92</a:t>
            </a:r>
            <a:endParaRPr lang="en-US" sz="552" dirty="0"/>
          </a:p>
        </p:txBody>
      </p:sp>
      <p:sp>
        <p:nvSpPr>
          <p:cNvPr id="192" name="Text 189"/>
          <p:cNvSpPr/>
          <p:nvPr/>
        </p:nvSpPr>
        <p:spPr>
          <a:xfrm>
            <a:off x="8091881"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56</a:t>
            </a:r>
            <a:endParaRPr lang="en-US" sz="552" dirty="0"/>
          </a:p>
        </p:txBody>
      </p:sp>
      <p:sp>
        <p:nvSpPr>
          <p:cNvPr id="193" name="Text 190"/>
          <p:cNvSpPr/>
          <p:nvPr/>
        </p:nvSpPr>
        <p:spPr>
          <a:xfrm>
            <a:off x="8574667"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65</a:t>
            </a:r>
            <a:endParaRPr lang="en-US" sz="552" dirty="0"/>
          </a:p>
        </p:txBody>
      </p:sp>
      <p:sp>
        <p:nvSpPr>
          <p:cNvPr id="194" name="Text 191"/>
          <p:cNvSpPr/>
          <p:nvPr/>
        </p:nvSpPr>
        <p:spPr>
          <a:xfrm>
            <a:off x="9057453"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47</a:t>
            </a:r>
            <a:endParaRPr lang="en-US" sz="552" dirty="0"/>
          </a:p>
        </p:txBody>
      </p:sp>
      <p:sp>
        <p:nvSpPr>
          <p:cNvPr id="195" name="Text 192"/>
          <p:cNvSpPr/>
          <p:nvPr/>
        </p:nvSpPr>
        <p:spPr>
          <a:xfrm>
            <a:off x="9540240"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96" name="Text 193"/>
          <p:cNvSpPr/>
          <p:nvPr/>
        </p:nvSpPr>
        <p:spPr>
          <a:xfrm>
            <a:off x="10023026"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77</a:t>
            </a:r>
            <a:endParaRPr lang="en-US" sz="552" dirty="0"/>
          </a:p>
        </p:txBody>
      </p:sp>
      <p:sp>
        <p:nvSpPr>
          <p:cNvPr id="197" name="Text 194"/>
          <p:cNvSpPr/>
          <p:nvPr/>
        </p:nvSpPr>
        <p:spPr>
          <a:xfrm>
            <a:off x="10505812"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70</a:t>
            </a:r>
            <a:endParaRPr lang="en-US" sz="552" dirty="0"/>
          </a:p>
        </p:txBody>
      </p:sp>
      <p:sp>
        <p:nvSpPr>
          <p:cNvPr id="198" name="Text 195"/>
          <p:cNvSpPr/>
          <p:nvPr/>
        </p:nvSpPr>
        <p:spPr>
          <a:xfrm>
            <a:off x="8091881"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81</a:t>
            </a:r>
            <a:endParaRPr lang="en-US" sz="552" dirty="0"/>
          </a:p>
        </p:txBody>
      </p:sp>
      <p:sp>
        <p:nvSpPr>
          <p:cNvPr id="199" name="Text 196"/>
          <p:cNvSpPr/>
          <p:nvPr/>
        </p:nvSpPr>
        <p:spPr>
          <a:xfrm>
            <a:off x="8574667"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200" name="Text 197"/>
          <p:cNvSpPr/>
          <p:nvPr/>
        </p:nvSpPr>
        <p:spPr>
          <a:xfrm>
            <a:off x="9057453" y="47489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201" name="Text 198"/>
          <p:cNvSpPr/>
          <p:nvPr/>
        </p:nvSpPr>
        <p:spPr>
          <a:xfrm>
            <a:off x="8091881"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23</a:t>
            </a:r>
            <a:endParaRPr lang="en-US" sz="552" dirty="0"/>
          </a:p>
        </p:txBody>
      </p:sp>
      <p:sp>
        <p:nvSpPr>
          <p:cNvPr id="202" name="Text 199"/>
          <p:cNvSpPr/>
          <p:nvPr/>
        </p:nvSpPr>
        <p:spPr>
          <a:xfrm>
            <a:off x="8574667"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27</a:t>
            </a:r>
            <a:endParaRPr lang="en-US" sz="552" dirty="0"/>
          </a:p>
        </p:txBody>
      </p:sp>
      <p:sp>
        <p:nvSpPr>
          <p:cNvPr id="203" name="Text 200"/>
          <p:cNvSpPr/>
          <p:nvPr/>
        </p:nvSpPr>
        <p:spPr>
          <a:xfrm>
            <a:off x="9057453"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20</a:t>
            </a:r>
            <a:endParaRPr lang="en-US" sz="552" dirty="0"/>
          </a:p>
        </p:txBody>
      </p:sp>
      <p:sp>
        <p:nvSpPr>
          <p:cNvPr id="204" name="Text 201"/>
          <p:cNvSpPr/>
          <p:nvPr/>
        </p:nvSpPr>
        <p:spPr>
          <a:xfrm>
            <a:off x="9540240"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30</a:t>
            </a:r>
            <a:endParaRPr lang="en-US" sz="552" dirty="0"/>
          </a:p>
        </p:txBody>
      </p:sp>
      <p:sp>
        <p:nvSpPr>
          <p:cNvPr id="205" name="Text 202"/>
          <p:cNvSpPr/>
          <p:nvPr/>
        </p:nvSpPr>
        <p:spPr>
          <a:xfrm>
            <a:off x="10023026"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
        <p:nvSpPr>
          <p:cNvPr id="206" name="Text 203"/>
          <p:cNvSpPr/>
          <p:nvPr/>
        </p:nvSpPr>
        <p:spPr>
          <a:xfrm>
            <a:off x="10505812" y="48823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29</a:t>
            </a:r>
            <a:endParaRPr lang="en-US" sz="552" dirty="0"/>
          </a:p>
        </p:txBody>
      </p:sp>
      <p:sp>
        <p:nvSpPr>
          <p:cNvPr id="207" name="Text 204"/>
          <p:cNvSpPr/>
          <p:nvPr/>
        </p:nvSpPr>
        <p:spPr>
          <a:xfrm>
            <a:off x="10988599" y="5015657"/>
            <a:ext cx="698284" cy="128588"/>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18</a:t>
            </a:r>
            <a:endParaRPr lang="en-US" sz="552" dirty="0"/>
          </a:p>
        </p:txBody>
      </p:sp>
      <p:sp>
        <p:nvSpPr>
          <p:cNvPr id="208" name="Text 205"/>
          <p:cNvSpPr/>
          <p:nvPr/>
        </p:nvSpPr>
        <p:spPr>
          <a:xfrm>
            <a:off x="2996877" y="1981944"/>
            <a:ext cx="152277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a:t>
            </a:r>
            <a:endParaRPr lang="en-US" sz="636" dirty="0"/>
          </a:p>
        </p:txBody>
      </p:sp>
      <p:sp>
        <p:nvSpPr>
          <p:cNvPr id="209" name="Text 206"/>
          <p:cNvSpPr/>
          <p:nvPr/>
        </p:nvSpPr>
        <p:spPr>
          <a:xfrm>
            <a:off x="2996877" y="21200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a:t>
            </a:r>
            <a:endParaRPr lang="en-US" sz="636" dirty="0"/>
          </a:p>
        </p:txBody>
      </p:sp>
      <p:sp>
        <p:nvSpPr>
          <p:cNvPr id="210" name="Text 207"/>
          <p:cNvSpPr/>
          <p:nvPr/>
        </p:nvSpPr>
        <p:spPr>
          <a:xfrm>
            <a:off x="2996877" y="226293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4</a:t>
            </a:r>
            <a:endParaRPr lang="en-US" sz="636" dirty="0"/>
          </a:p>
        </p:txBody>
      </p:sp>
      <p:sp>
        <p:nvSpPr>
          <p:cNvPr id="211" name="Text 208"/>
          <p:cNvSpPr/>
          <p:nvPr/>
        </p:nvSpPr>
        <p:spPr>
          <a:xfrm>
            <a:off x="2996877" y="240580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2</a:t>
            </a:r>
            <a:endParaRPr lang="en-US" sz="636" dirty="0"/>
          </a:p>
        </p:txBody>
      </p:sp>
      <p:sp>
        <p:nvSpPr>
          <p:cNvPr id="212" name="Text 209"/>
          <p:cNvSpPr/>
          <p:nvPr/>
        </p:nvSpPr>
        <p:spPr>
          <a:xfrm>
            <a:off x="2996877" y="254868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3</a:t>
            </a:r>
            <a:endParaRPr lang="en-US" sz="636" dirty="0"/>
          </a:p>
        </p:txBody>
      </p:sp>
      <p:sp>
        <p:nvSpPr>
          <p:cNvPr id="213" name="Text 210"/>
          <p:cNvSpPr/>
          <p:nvPr/>
        </p:nvSpPr>
        <p:spPr>
          <a:xfrm>
            <a:off x="2996877" y="26915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a:t>
            </a:r>
            <a:endParaRPr lang="en-US" sz="636" dirty="0"/>
          </a:p>
        </p:txBody>
      </p:sp>
      <p:sp>
        <p:nvSpPr>
          <p:cNvPr id="214" name="Text 211"/>
          <p:cNvSpPr/>
          <p:nvPr/>
        </p:nvSpPr>
        <p:spPr>
          <a:xfrm>
            <a:off x="2329400"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a:t>
            </a:r>
            <a:endParaRPr lang="en-US" sz="576" dirty="0"/>
          </a:p>
        </p:txBody>
      </p:sp>
      <p:sp>
        <p:nvSpPr>
          <p:cNvPr id="215" name="Text 212"/>
          <p:cNvSpPr/>
          <p:nvPr/>
        </p:nvSpPr>
        <p:spPr>
          <a:xfrm>
            <a:off x="2812186"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a:t>
            </a:r>
            <a:endParaRPr lang="en-US" sz="576" dirty="0"/>
          </a:p>
        </p:txBody>
      </p:sp>
      <p:sp>
        <p:nvSpPr>
          <p:cNvPr id="216" name="Text 213"/>
          <p:cNvSpPr/>
          <p:nvPr/>
        </p:nvSpPr>
        <p:spPr>
          <a:xfrm>
            <a:off x="3294972"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3</a:t>
            </a:r>
            <a:endParaRPr lang="en-US" sz="576" dirty="0"/>
          </a:p>
        </p:txBody>
      </p:sp>
      <p:sp>
        <p:nvSpPr>
          <p:cNvPr id="217" name="Text 214"/>
          <p:cNvSpPr/>
          <p:nvPr/>
        </p:nvSpPr>
        <p:spPr>
          <a:xfrm>
            <a:off x="3777759"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218" name="Text 215"/>
          <p:cNvSpPr/>
          <p:nvPr/>
        </p:nvSpPr>
        <p:spPr>
          <a:xfrm>
            <a:off x="4260545"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a:t>
            </a:r>
            <a:endParaRPr lang="en-US" sz="576" dirty="0"/>
          </a:p>
        </p:txBody>
      </p:sp>
      <p:sp>
        <p:nvSpPr>
          <p:cNvPr id="219" name="Text 216"/>
          <p:cNvSpPr/>
          <p:nvPr/>
        </p:nvSpPr>
        <p:spPr>
          <a:xfrm>
            <a:off x="4743331"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220" name="Text 217"/>
          <p:cNvSpPr/>
          <p:nvPr/>
        </p:nvSpPr>
        <p:spPr>
          <a:xfrm>
            <a:off x="2329400"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221" name="Text 218"/>
          <p:cNvSpPr/>
          <p:nvPr/>
        </p:nvSpPr>
        <p:spPr>
          <a:xfrm>
            <a:off x="2812186"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222" name="Text 219"/>
          <p:cNvSpPr/>
          <p:nvPr/>
        </p:nvSpPr>
        <p:spPr>
          <a:xfrm>
            <a:off x="3294972"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223" name="Text 220"/>
          <p:cNvSpPr/>
          <p:nvPr/>
        </p:nvSpPr>
        <p:spPr>
          <a:xfrm>
            <a:off x="3777759"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224" name="Text 221"/>
          <p:cNvSpPr/>
          <p:nvPr/>
        </p:nvSpPr>
        <p:spPr>
          <a:xfrm>
            <a:off x="4260545"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225" name="Text 222"/>
          <p:cNvSpPr/>
          <p:nvPr/>
        </p:nvSpPr>
        <p:spPr>
          <a:xfrm>
            <a:off x="4743331"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0</a:t>
            </a:r>
            <a:endParaRPr lang="en-US" sz="576" dirty="0"/>
          </a:p>
        </p:txBody>
      </p:sp>
      <p:sp>
        <p:nvSpPr>
          <p:cNvPr id="226" name="Text 223"/>
          <p:cNvSpPr/>
          <p:nvPr/>
        </p:nvSpPr>
        <p:spPr>
          <a:xfrm>
            <a:off x="5226118" y="35488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5</a:t>
            </a:r>
            <a:endParaRPr lang="en-US" sz="576" dirty="0"/>
          </a:p>
        </p:txBody>
      </p:sp>
      <p:sp>
        <p:nvSpPr>
          <p:cNvPr id="227" name="Text 224"/>
          <p:cNvSpPr/>
          <p:nvPr/>
        </p:nvSpPr>
        <p:spPr>
          <a:xfrm>
            <a:off x="2329400"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2</a:t>
            </a:r>
            <a:endParaRPr lang="en-US" sz="576" dirty="0"/>
          </a:p>
        </p:txBody>
      </p:sp>
      <p:sp>
        <p:nvSpPr>
          <p:cNvPr id="228" name="Text 225"/>
          <p:cNvSpPr/>
          <p:nvPr/>
        </p:nvSpPr>
        <p:spPr>
          <a:xfrm>
            <a:off x="2812186"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0</a:t>
            </a:r>
            <a:endParaRPr lang="en-US" sz="576" dirty="0"/>
          </a:p>
        </p:txBody>
      </p:sp>
      <p:sp>
        <p:nvSpPr>
          <p:cNvPr id="229" name="Text 226"/>
          <p:cNvSpPr/>
          <p:nvPr/>
        </p:nvSpPr>
        <p:spPr>
          <a:xfrm>
            <a:off x="3294972"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0</a:t>
            </a:r>
            <a:endParaRPr lang="en-US" sz="576" dirty="0"/>
          </a:p>
        </p:txBody>
      </p:sp>
      <p:sp>
        <p:nvSpPr>
          <p:cNvPr id="230" name="Text 227"/>
          <p:cNvSpPr/>
          <p:nvPr/>
        </p:nvSpPr>
        <p:spPr>
          <a:xfrm>
            <a:off x="3777759"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0</a:t>
            </a:r>
            <a:endParaRPr lang="en-US" sz="576" dirty="0"/>
          </a:p>
        </p:txBody>
      </p:sp>
      <p:sp>
        <p:nvSpPr>
          <p:cNvPr id="231" name="Text 228"/>
          <p:cNvSpPr/>
          <p:nvPr/>
        </p:nvSpPr>
        <p:spPr>
          <a:xfrm>
            <a:off x="4260545"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0</a:t>
            </a:r>
            <a:endParaRPr lang="en-US" sz="576" dirty="0"/>
          </a:p>
        </p:txBody>
      </p:sp>
      <p:sp>
        <p:nvSpPr>
          <p:cNvPr id="232" name="Text 229"/>
          <p:cNvSpPr/>
          <p:nvPr/>
        </p:nvSpPr>
        <p:spPr>
          <a:xfrm>
            <a:off x="4743331"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0</a:t>
            </a:r>
            <a:endParaRPr lang="en-US" sz="576" dirty="0"/>
          </a:p>
        </p:txBody>
      </p:sp>
      <p:sp>
        <p:nvSpPr>
          <p:cNvPr id="233" name="Text 230"/>
          <p:cNvSpPr/>
          <p:nvPr/>
        </p:nvSpPr>
        <p:spPr>
          <a:xfrm>
            <a:off x="5226118" y="36821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2</a:t>
            </a:r>
            <a:endParaRPr lang="en-US" sz="576" dirty="0"/>
          </a:p>
        </p:txBody>
      </p:sp>
      <p:sp>
        <p:nvSpPr>
          <p:cNvPr id="234" name="Text 231"/>
          <p:cNvSpPr/>
          <p:nvPr/>
        </p:nvSpPr>
        <p:spPr>
          <a:xfrm>
            <a:off x="2329400" y="38155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5</a:t>
            </a:r>
            <a:endParaRPr lang="en-US" sz="576" dirty="0"/>
          </a:p>
        </p:txBody>
      </p:sp>
      <p:sp>
        <p:nvSpPr>
          <p:cNvPr id="235" name="Text 232"/>
          <p:cNvSpPr/>
          <p:nvPr/>
        </p:nvSpPr>
        <p:spPr>
          <a:xfrm>
            <a:off x="2812186" y="38155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236" name="Text 233"/>
          <p:cNvSpPr/>
          <p:nvPr/>
        </p:nvSpPr>
        <p:spPr>
          <a:xfrm>
            <a:off x="3294972" y="38155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237" name="Text 234"/>
          <p:cNvSpPr/>
          <p:nvPr/>
        </p:nvSpPr>
        <p:spPr>
          <a:xfrm>
            <a:off x="3777759" y="38155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2</a:t>
            </a:r>
            <a:endParaRPr lang="en-US" sz="576" dirty="0"/>
          </a:p>
        </p:txBody>
      </p:sp>
      <p:sp>
        <p:nvSpPr>
          <p:cNvPr id="238" name="Text 235"/>
          <p:cNvSpPr/>
          <p:nvPr/>
        </p:nvSpPr>
        <p:spPr>
          <a:xfrm>
            <a:off x="4260545" y="38155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239" name="Text 236"/>
          <p:cNvSpPr/>
          <p:nvPr/>
        </p:nvSpPr>
        <p:spPr>
          <a:xfrm>
            <a:off x="4743331" y="38155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a:t>
            </a:r>
            <a:endParaRPr lang="en-US" sz="576" dirty="0"/>
          </a:p>
        </p:txBody>
      </p:sp>
      <p:sp>
        <p:nvSpPr>
          <p:cNvPr id="240" name="Text 237"/>
          <p:cNvSpPr/>
          <p:nvPr/>
        </p:nvSpPr>
        <p:spPr>
          <a:xfrm>
            <a:off x="8091881"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a:t>
            </a:r>
            <a:endParaRPr lang="en-US" sz="552" dirty="0"/>
          </a:p>
        </p:txBody>
      </p:sp>
      <p:sp>
        <p:nvSpPr>
          <p:cNvPr id="241" name="Text 238"/>
          <p:cNvSpPr/>
          <p:nvPr/>
        </p:nvSpPr>
        <p:spPr>
          <a:xfrm>
            <a:off x="8574667"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a:t>
            </a:r>
            <a:endParaRPr lang="en-US" sz="552" dirty="0"/>
          </a:p>
        </p:txBody>
      </p:sp>
      <p:sp>
        <p:nvSpPr>
          <p:cNvPr id="242" name="Text 239"/>
          <p:cNvSpPr/>
          <p:nvPr/>
        </p:nvSpPr>
        <p:spPr>
          <a:xfrm>
            <a:off x="9057453"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2</a:t>
            </a:r>
            <a:endParaRPr lang="en-US" sz="552" dirty="0"/>
          </a:p>
        </p:txBody>
      </p:sp>
      <p:sp>
        <p:nvSpPr>
          <p:cNvPr id="243" name="Text 240"/>
          <p:cNvSpPr/>
          <p:nvPr/>
        </p:nvSpPr>
        <p:spPr>
          <a:xfrm>
            <a:off x="9540240"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a:t>
            </a:r>
            <a:endParaRPr lang="en-US" sz="552" dirty="0"/>
          </a:p>
        </p:txBody>
      </p:sp>
      <p:sp>
        <p:nvSpPr>
          <p:cNvPr id="244" name="Text 241"/>
          <p:cNvSpPr/>
          <p:nvPr/>
        </p:nvSpPr>
        <p:spPr>
          <a:xfrm>
            <a:off x="10023026"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a:t>
            </a:r>
            <a:endParaRPr lang="en-US" sz="552" dirty="0"/>
          </a:p>
        </p:txBody>
      </p:sp>
      <p:sp>
        <p:nvSpPr>
          <p:cNvPr id="245" name="Text 242"/>
          <p:cNvSpPr/>
          <p:nvPr/>
        </p:nvSpPr>
        <p:spPr>
          <a:xfrm>
            <a:off x="10505812" y="501565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3</a:t>
            </a:r>
            <a:endParaRPr lang="en-US" sz="552"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01_Repositorios\13_Presentaciones\dash\televentas\ppt_slides\sk_11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322838"/>
            <a:ext cx="5488644"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Mostró una efectividad extremadamente baja (), lo que sustentó su suspensión inmediata.</a:t>
            </a:r>
            <a:endParaRPr lang="en-US" sz="744" dirty="0"/>
          </a:p>
        </p:txBody>
      </p:sp>
      <p:sp>
        <p:nvSpPr>
          <p:cNvPr id="4" name="Text 1"/>
          <p:cNvSpPr/>
          <p:nvPr/>
        </p:nvSpPr>
        <p:spPr>
          <a:xfrm>
            <a:off x="685783" y="5176391"/>
            <a:ext cx="5488644"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(campaña táctica sobre solicitudes de cancelaciones previas).</a:t>
            </a:r>
            <a:endParaRPr lang="en-US" sz="744" dirty="0"/>
          </a:p>
        </p:txBody>
      </p:sp>
      <p:sp>
        <p:nvSpPr>
          <p:cNvPr id="5" name="Text 2"/>
          <p:cNvSpPr/>
          <p:nvPr/>
        </p:nvSpPr>
        <p:spPr>
          <a:xfrm>
            <a:off x="1213514" y="219075"/>
            <a:ext cx="4604032"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Voluntarios Cancelaciones</a:t>
            </a:r>
            <a:endParaRPr lang="en-US" sz="1260" dirty="0"/>
          </a:p>
        </p:txBody>
      </p:sp>
      <p:sp>
        <p:nvSpPr>
          <p:cNvPr id="6" name="Text 3"/>
          <p:cNvSpPr/>
          <p:nvPr/>
        </p:nvSpPr>
        <p:spPr>
          <a:xfrm>
            <a:off x="533387"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Buen nivel de interacción telefónica express</a:t>
            </a:r>
            <a:endParaRPr lang="en-US" sz="648" dirty="0"/>
          </a:p>
        </p:txBody>
      </p:sp>
      <p:sp>
        <p:nvSpPr>
          <p:cNvPr id="7" name="Text 4"/>
          <p:cNvSpPr/>
          <p:nvPr/>
        </p:nvSpPr>
        <p:spPr>
          <a:xfrm>
            <a:off x="685783" y="5469285"/>
            <a:ext cx="5488644"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descarte principal se concentró en  y .</a:t>
            </a:r>
            <a:endParaRPr lang="en-US" sz="744" dirty="0"/>
          </a:p>
        </p:txBody>
      </p:sp>
      <p:sp>
        <p:nvSpPr>
          <p:cNvPr id="8" name="Text 5"/>
          <p:cNvSpPr/>
          <p:nvPr/>
        </p:nvSpPr>
        <p:spPr>
          <a:xfrm>
            <a:off x="4374991" y="1219944"/>
            <a:ext cx="3479663"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focalizada en cancelaciones previas</a:t>
            </a:r>
            <a:endParaRPr lang="en-US" sz="648" dirty="0"/>
          </a:p>
        </p:txBody>
      </p:sp>
      <p:sp>
        <p:nvSpPr>
          <p:cNvPr id="9" name="Text 6"/>
          <p:cNvSpPr/>
          <p:nvPr/>
        </p:nvSpPr>
        <p:spPr>
          <a:xfrm>
            <a:off x="6257769"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0" name="Text 7"/>
          <p:cNvSpPr/>
          <p:nvPr/>
        </p:nvSpPr>
        <p:spPr>
          <a:xfrm>
            <a:off x="495288"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1" name="Text 8"/>
          <p:cNvSpPr/>
          <p:nvPr/>
        </p:nvSpPr>
        <p:spPr>
          <a:xfrm>
            <a:off x="6257769" y="160094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2" name="Text 9"/>
          <p:cNvSpPr/>
          <p:nvPr/>
        </p:nvSpPr>
        <p:spPr>
          <a:xfrm>
            <a:off x="8216595" y="1219944"/>
            <a:ext cx="3479812" cy="95250"/>
          </a:xfrm>
          <a:prstGeom prst="rect">
            <a:avLst/>
          </a:prstGeom>
          <a:noFill/>
          <a:ln/>
        </p:spPr>
        <p:txBody>
          <a:bodyPr wrap="non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Aporte de campaña piloto express</a:t>
            </a:r>
            <a:endParaRPr lang="en-US" sz="648" dirty="0"/>
          </a:p>
        </p:txBody>
      </p:sp>
      <p:sp>
        <p:nvSpPr>
          <p:cNvPr id="13" name="Text 10"/>
          <p:cNvSpPr/>
          <p:nvPr/>
        </p:nvSpPr>
        <p:spPr>
          <a:xfrm>
            <a:off x="552436" y="5020419"/>
            <a:ext cx="1624567" cy="136922"/>
          </a:xfrm>
          <a:prstGeom prst="rect">
            <a:avLst/>
          </a:prstGeom>
          <a:noFill/>
          <a:ln/>
        </p:spPr>
        <p:txBody>
          <a:bodyPr wrap="non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4" name="Text 11"/>
          <p:cNvSpPr/>
          <p:nvPr/>
        </p:nvSpPr>
        <p:spPr>
          <a:xfrm>
            <a:off x="9150320" y="209550"/>
            <a:ext cx="2469890"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Cancelaciones</a:t>
            </a:r>
            <a:endParaRPr lang="en-US" sz="840" dirty="0"/>
          </a:p>
        </p:txBody>
      </p:sp>
      <p:sp>
        <p:nvSpPr>
          <p:cNvPr id="15" name="Text 12"/>
          <p:cNvSpPr/>
          <p:nvPr/>
        </p:nvSpPr>
        <p:spPr>
          <a:xfrm>
            <a:off x="495288" y="3029694"/>
            <a:ext cx="5438639" cy="15240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6" name="Text 13"/>
          <p:cNvSpPr/>
          <p:nvPr/>
        </p:nvSpPr>
        <p:spPr>
          <a:xfrm>
            <a:off x="504812" y="36821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7" name="Text 14"/>
          <p:cNvSpPr/>
          <p:nvPr/>
        </p:nvSpPr>
        <p:spPr>
          <a:xfrm>
            <a:off x="6267293" y="36821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8" name="Text 15"/>
          <p:cNvSpPr/>
          <p:nvPr/>
        </p:nvSpPr>
        <p:spPr>
          <a:xfrm>
            <a:off x="6267293" y="38155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19" name="Text 16"/>
          <p:cNvSpPr/>
          <p:nvPr/>
        </p:nvSpPr>
        <p:spPr>
          <a:xfrm>
            <a:off x="6267293" y="40822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0" name="Text 17"/>
          <p:cNvSpPr/>
          <p:nvPr/>
        </p:nvSpPr>
        <p:spPr>
          <a:xfrm>
            <a:off x="533387"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CONTACTABILIDAD INICIAL</a:t>
            </a:r>
            <a:endParaRPr lang="en-US" sz="672" dirty="0"/>
          </a:p>
        </p:txBody>
      </p:sp>
      <p:sp>
        <p:nvSpPr>
          <p:cNvPr id="21" name="Text 18"/>
          <p:cNvSpPr/>
          <p:nvPr/>
        </p:nvSpPr>
        <p:spPr>
          <a:xfrm>
            <a:off x="4374991" y="828675"/>
            <a:ext cx="3479663"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LEADS APTOS GESTIONADOS</a:t>
            </a:r>
            <a:endParaRPr lang="en-US" sz="672" dirty="0"/>
          </a:p>
        </p:txBody>
      </p:sp>
      <p:sp>
        <p:nvSpPr>
          <p:cNvPr id="22" name="Text 19"/>
          <p:cNvSpPr/>
          <p:nvPr/>
        </p:nvSpPr>
        <p:spPr>
          <a:xfrm>
            <a:off x="6267293" y="44822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3" name="Text 20"/>
          <p:cNvSpPr/>
          <p:nvPr/>
        </p:nvSpPr>
        <p:spPr>
          <a:xfrm>
            <a:off x="6267293" y="42155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4" name="Text 21"/>
          <p:cNvSpPr/>
          <p:nvPr/>
        </p:nvSpPr>
        <p:spPr>
          <a:xfrm>
            <a:off x="6267293" y="4615607"/>
            <a:ext cx="1824587" cy="128588"/>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5" name="Text 22"/>
          <p:cNvSpPr/>
          <p:nvPr/>
        </p:nvSpPr>
        <p:spPr>
          <a:xfrm>
            <a:off x="504812" y="3420219"/>
            <a:ext cx="1824587" cy="128588"/>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26" name="Text 23"/>
          <p:cNvSpPr/>
          <p:nvPr/>
        </p:nvSpPr>
        <p:spPr>
          <a:xfrm>
            <a:off x="6267293" y="3420219"/>
            <a:ext cx="1824587" cy="128588"/>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27" name="Text 24"/>
          <p:cNvSpPr/>
          <p:nvPr/>
        </p:nvSpPr>
        <p:spPr>
          <a:xfrm>
            <a:off x="6267293" y="394885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28" name="Text 25"/>
          <p:cNvSpPr/>
          <p:nvPr/>
        </p:nvSpPr>
        <p:spPr>
          <a:xfrm>
            <a:off x="8216595" y="828675"/>
            <a:ext cx="3479812" cy="95250"/>
          </a:xfrm>
          <a:prstGeom prst="rect">
            <a:avLst/>
          </a:prstGeom>
          <a:noFill/>
          <a:ln/>
        </p:spPr>
        <p:txBody>
          <a:bodyPr wrap="non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GENERADAS</a:t>
            </a:r>
            <a:endParaRPr lang="en-US" sz="672" dirty="0"/>
          </a:p>
        </p:txBody>
      </p:sp>
      <p:sp>
        <p:nvSpPr>
          <p:cNvPr id="29" name="Text 26"/>
          <p:cNvSpPr/>
          <p:nvPr/>
        </p:nvSpPr>
        <p:spPr>
          <a:xfrm>
            <a:off x="504812" y="35488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NIT de empresa</a:t>
            </a:r>
            <a:endParaRPr lang="en-US" sz="576" dirty="0"/>
          </a:p>
        </p:txBody>
      </p:sp>
      <p:sp>
        <p:nvSpPr>
          <p:cNvPr id="30" name="Text 27"/>
          <p:cNvSpPr/>
          <p:nvPr/>
        </p:nvSpPr>
        <p:spPr>
          <a:xfrm>
            <a:off x="504812" y="381550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Cédula Errada</a:t>
            </a:r>
            <a:endParaRPr lang="en-US" sz="576" dirty="0"/>
          </a:p>
        </p:txBody>
      </p:sp>
      <p:sp>
        <p:nvSpPr>
          <p:cNvPr id="31" name="Text 28"/>
          <p:cNvSpPr/>
          <p:nvPr/>
        </p:nvSpPr>
        <p:spPr>
          <a:xfrm>
            <a:off x="10281832" y="1810494"/>
            <a:ext cx="141457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2" name="Text 29"/>
          <p:cNvSpPr/>
          <p:nvPr/>
        </p:nvSpPr>
        <p:spPr>
          <a:xfrm>
            <a:off x="6267293" y="3548807"/>
            <a:ext cx="1824587" cy="133350"/>
          </a:xfrm>
          <a:prstGeom prst="rect">
            <a:avLst/>
          </a:prstGeom>
          <a:noFill/>
          <a:ln/>
        </p:spPr>
        <p:txBody>
          <a:bodyPr wrap="none" lIns="0" tIns="0" rIns="0" bIns="0" rtlCol="0" anchor="t"/>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3" name="Text 30"/>
          <p:cNvSpPr/>
          <p:nvPr/>
        </p:nvSpPr>
        <p:spPr>
          <a:xfrm>
            <a:off x="504812" y="3948857"/>
            <a:ext cx="1824587" cy="133350"/>
          </a:xfrm>
          <a:prstGeom prst="rect">
            <a:avLst/>
          </a:prstGeom>
          <a:noFill/>
          <a:ln/>
        </p:spPr>
        <p:txBody>
          <a:bodyPr wrap="none" lIns="0" tIns="0" rIns="0" bIns="0" rtlCol="0" anchor="t"/>
          <a:lstStyle/>
          <a:p>
            <a:pPr algn="l" indent="0" marL="0">
              <a:buNone/>
            </a:pPr>
            <a:r>
              <a:rPr lang="en-US" sz="576" dirty="0">
                <a:solidFill>
                  <a:srgbClr val="333333"/>
                </a:solidFill>
                <a:latin typeface="Raleway" pitchFamily="34" charset="0"/>
                <a:ea typeface="Raleway" pitchFamily="34" charset="-122"/>
                <a:cs typeface="Raleway" pitchFamily="34" charset="-120"/>
              </a:rPr>
              <a:t>Nombre Vacío</a:t>
            </a:r>
            <a:endParaRPr lang="en-US" sz="576" dirty="0"/>
          </a:p>
        </p:txBody>
      </p:sp>
      <p:sp>
        <p:nvSpPr>
          <p:cNvPr id="34" name="Text 31"/>
          <p:cNvSpPr/>
          <p:nvPr/>
        </p:nvSpPr>
        <p:spPr>
          <a:xfrm>
            <a:off x="6267293"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5" name="Text 32"/>
          <p:cNvSpPr/>
          <p:nvPr/>
        </p:nvSpPr>
        <p:spPr>
          <a:xfrm>
            <a:off x="6267293" y="4348907"/>
            <a:ext cx="1824587" cy="133350"/>
          </a:xfrm>
          <a:prstGeom prst="rect">
            <a:avLst/>
          </a:prstGeom>
          <a:noFill/>
          <a:ln/>
        </p:spPr>
        <p:txBody>
          <a:bodyPr wrap="none" lIns="0" tIns="0" rIns="0" bIns="0" rtlCol="0" anchor="t"/>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6" name="Text 33"/>
          <p:cNvSpPr/>
          <p:nvPr/>
        </p:nvSpPr>
        <p:spPr>
          <a:xfrm>
            <a:off x="2996877" y="1810494"/>
            <a:ext cx="152277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7" name="Text 34"/>
          <p:cNvSpPr/>
          <p:nvPr/>
        </p:nvSpPr>
        <p:spPr>
          <a:xfrm>
            <a:off x="8324195"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8" name="Text 35"/>
          <p:cNvSpPr/>
          <p:nvPr/>
        </p:nvSpPr>
        <p:spPr>
          <a:xfrm>
            <a:off x="1582896" y="1810494"/>
            <a:ext cx="1413981"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9" name="Text 36"/>
          <p:cNvSpPr/>
          <p:nvPr/>
        </p:nvSpPr>
        <p:spPr>
          <a:xfrm>
            <a:off x="4519648" y="1810494"/>
            <a:ext cx="141427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0" name="Text 37"/>
          <p:cNvSpPr/>
          <p:nvPr/>
        </p:nvSpPr>
        <p:spPr>
          <a:xfrm>
            <a:off x="533387"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1" name="Text 38"/>
          <p:cNvSpPr/>
          <p:nvPr/>
        </p:nvSpPr>
        <p:spPr>
          <a:xfrm>
            <a:off x="6295868" y="2143869"/>
            <a:ext cx="30196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533387"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53,0 %</a:t>
            </a:r>
            <a:endParaRPr lang="en-US" sz="1380" dirty="0"/>
          </a:p>
        </p:txBody>
      </p:sp>
      <p:sp>
        <p:nvSpPr>
          <p:cNvPr id="43" name="Text 40"/>
          <p:cNvSpPr/>
          <p:nvPr/>
        </p:nvSpPr>
        <p:spPr>
          <a:xfrm>
            <a:off x="4519648" y="1981944"/>
            <a:ext cx="141427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15,7 %</a:t>
            </a:r>
            <a:endParaRPr lang="en-US" sz="636" dirty="0"/>
          </a:p>
        </p:txBody>
      </p:sp>
      <p:sp>
        <p:nvSpPr>
          <p:cNvPr id="44" name="Text 41"/>
          <p:cNvSpPr/>
          <p:nvPr/>
        </p:nvSpPr>
        <p:spPr>
          <a:xfrm>
            <a:off x="4519648" y="2834432"/>
            <a:ext cx="141427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15,7 %</a:t>
            </a:r>
            <a:endParaRPr lang="en-US" sz="636" dirty="0"/>
          </a:p>
        </p:txBody>
      </p:sp>
      <p:sp>
        <p:nvSpPr>
          <p:cNvPr id="45" name="Text 42"/>
          <p:cNvSpPr/>
          <p:nvPr/>
        </p:nvSpPr>
        <p:spPr>
          <a:xfrm>
            <a:off x="504812" y="3248769"/>
            <a:ext cx="1824587"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6" name="Text 43"/>
          <p:cNvSpPr/>
          <p:nvPr/>
        </p:nvSpPr>
        <p:spPr>
          <a:xfrm>
            <a:off x="9303014"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7" name="Text 44"/>
          <p:cNvSpPr/>
          <p:nvPr/>
        </p:nvSpPr>
        <p:spPr>
          <a:xfrm>
            <a:off x="8324195"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53,0 %</a:t>
            </a:r>
            <a:endParaRPr lang="en-US" sz="636" dirty="0"/>
          </a:p>
        </p:txBody>
      </p:sp>
      <p:sp>
        <p:nvSpPr>
          <p:cNvPr id="48" name="Text 45"/>
          <p:cNvSpPr/>
          <p:nvPr/>
        </p:nvSpPr>
        <p:spPr>
          <a:xfrm>
            <a:off x="8324195"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49" name="Text 46"/>
          <p:cNvSpPr/>
          <p:nvPr/>
        </p:nvSpPr>
        <p:spPr>
          <a:xfrm>
            <a:off x="4374991" y="971550"/>
            <a:ext cx="3479663"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1.065</a:t>
            </a:r>
            <a:endParaRPr lang="en-US" sz="1380" dirty="0"/>
          </a:p>
        </p:txBody>
      </p:sp>
      <p:sp>
        <p:nvSpPr>
          <p:cNvPr id="50" name="Text 47"/>
          <p:cNvSpPr/>
          <p:nvPr/>
        </p:nvSpPr>
        <p:spPr>
          <a:xfrm>
            <a:off x="533387"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51" name="Text 48"/>
          <p:cNvSpPr/>
          <p:nvPr/>
        </p:nvSpPr>
        <p:spPr>
          <a:xfrm>
            <a:off x="1582896" y="1981944"/>
            <a:ext cx="141398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1.263</a:t>
            </a:r>
            <a:endParaRPr lang="en-US" sz="636" dirty="0"/>
          </a:p>
        </p:txBody>
      </p:sp>
      <p:sp>
        <p:nvSpPr>
          <p:cNvPr id="52" name="Text 49"/>
          <p:cNvSpPr/>
          <p:nvPr/>
        </p:nvSpPr>
        <p:spPr>
          <a:xfrm>
            <a:off x="533387"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53" name="Text 50"/>
          <p:cNvSpPr/>
          <p:nvPr/>
        </p:nvSpPr>
        <p:spPr>
          <a:xfrm>
            <a:off x="533387"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54" name="Text 51"/>
          <p:cNvSpPr/>
          <p:nvPr/>
        </p:nvSpPr>
        <p:spPr>
          <a:xfrm>
            <a:off x="533387"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55" name="Text 52"/>
          <p:cNvSpPr/>
          <p:nvPr/>
        </p:nvSpPr>
        <p:spPr>
          <a:xfrm>
            <a:off x="495288"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56" name="Text 53"/>
          <p:cNvSpPr/>
          <p:nvPr/>
        </p:nvSpPr>
        <p:spPr>
          <a:xfrm>
            <a:off x="1582896" y="2834432"/>
            <a:ext cx="141398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1.263</a:t>
            </a:r>
            <a:endParaRPr lang="en-US" sz="636" dirty="0"/>
          </a:p>
        </p:txBody>
      </p:sp>
      <p:sp>
        <p:nvSpPr>
          <p:cNvPr id="57" name="Text 54"/>
          <p:cNvSpPr/>
          <p:nvPr/>
        </p:nvSpPr>
        <p:spPr>
          <a:xfrm>
            <a:off x="5226118"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58" name="Text 55"/>
          <p:cNvSpPr/>
          <p:nvPr/>
        </p:nvSpPr>
        <p:spPr>
          <a:xfrm>
            <a:off x="504812" y="4082207"/>
            <a:ext cx="1824587" cy="128588"/>
          </a:xfrm>
          <a:prstGeom prst="rect">
            <a:avLst/>
          </a:prstGeom>
          <a:noFill/>
          <a:ln/>
        </p:spPr>
        <p:txBody>
          <a:bodyPr wrap="none" lIns="0" tIns="0" rIns="0" bIns="0" rtlCol="0" anchor="t"/>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59" name="Text 56"/>
          <p:cNvSpPr/>
          <p:nvPr/>
        </p:nvSpPr>
        <p:spPr>
          <a:xfrm>
            <a:off x="7345377" y="1810494"/>
            <a:ext cx="978818"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60" name="Text 57"/>
          <p:cNvSpPr/>
          <p:nvPr/>
        </p:nvSpPr>
        <p:spPr>
          <a:xfrm>
            <a:off x="6295868" y="2000994"/>
            <a:ext cx="225022"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1" name="Text 58"/>
          <p:cNvSpPr/>
          <p:nvPr/>
        </p:nvSpPr>
        <p:spPr>
          <a:xfrm>
            <a:off x="7345377" y="1981944"/>
            <a:ext cx="978818"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1.065</a:t>
            </a:r>
            <a:endParaRPr lang="en-US" sz="636" dirty="0"/>
          </a:p>
        </p:txBody>
      </p:sp>
      <p:sp>
        <p:nvSpPr>
          <p:cNvPr id="62" name="Text 59"/>
          <p:cNvSpPr/>
          <p:nvPr/>
        </p:nvSpPr>
        <p:spPr>
          <a:xfrm>
            <a:off x="10281832" y="1981944"/>
            <a:ext cx="1414576"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63" name="Text 60"/>
          <p:cNvSpPr/>
          <p:nvPr/>
        </p:nvSpPr>
        <p:spPr>
          <a:xfrm>
            <a:off x="6295868" y="2286744"/>
            <a:ext cx="234845"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4" name="Text 61"/>
          <p:cNvSpPr/>
          <p:nvPr/>
        </p:nvSpPr>
        <p:spPr>
          <a:xfrm>
            <a:off x="6295868" y="2429619"/>
            <a:ext cx="182880"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5" name="Text 62"/>
          <p:cNvSpPr/>
          <p:nvPr/>
        </p:nvSpPr>
        <p:spPr>
          <a:xfrm>
            <a:off x="6295868" y="2715369"/>
            <a:ext cx="20716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6" name="Text 63"/>
          <p:cNvSpPr/>
          <p:nvPr/>
        </p:nvSpPr>
        <p:spPr>
          <a:xfrm>
            <a:off x="6257769" y="2834432"/>
            <a:ext cx="1087609" cy="138113"/>
          </a:xfrm>
          <a:prstGeom prst="rect">
            <a:avLst/>
          </a:prstGeom>
          <a:noFill/>
          <a:ln/>
        </p:spPr>
        <p:txBody>
          <a:bodyPr wrap="none" lIns="0" tIns="0" rIns="0" bIns="0" rtlCol="0" anchor="t"/>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7" name="Text 64"/>
          <p:cNvSpPr/>
          <p:nvPr/>
        </p:nvSpPr>
        <p:spPr>
          <a:xfrm>
            <a:off x="7345377" y="2834432"/>
            <a:ext cx="978818"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1.065</a:t>
            </a:r>
            <a:endParaRPr lang="en-US" sz="636" dirty="0"/>
          </a:p>
        </p:txBody>
      </p:sp>
      <p:sp>
        <p:nvSpPr>
          <p:cNvPr id="68" name="Text 65"/>
          <p:cNvSpPr/>
          <p:nvPr/>
        </p:nvSpPr>
        <p:spPr>
          <a:xfrm>
            <a:off x="10281832" y="2834432"/>
            <a:ext cx="1414576"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0,7 %</a:t>
            </a:r>
            <a:endParaRPr lang="en-US" sz="636" dirty="0"/>
          </a:p>
        </p:txBody>
      </p:sp>
      <p:sp>
        <p:nvSpPr>
          <p:cNvPr id="69" name="Text 66"/>
          <p:cNvSpPr/>
          <p:nvPr/>
        </p:nvSpPr>
        <p:spPr>
          <a:xfrm>
            <a:off x="10988599" y="3248769"/>
            <a:ext cx="698284"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70" name="Text 67"/>
          <p:cNvSpPr/>
          <p:nvPr/>
        </p:nvSpPr>
        <p:spPr>
          <a:xfrm>
            <a:off x="533387"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71" name="Text 68"/>
          <p:cNvSpPr/>
          <p:nvPr/>
        </p:nvSpPr>
        <p:spPr>
          <a:xfrm>
            <a:off x="6295868" y="2572494"/>
            <a:ext cx="205824" cy="95250"/>
          </a:xfrm>
          <a:prstGeom prst="rect">
            <a:avLst/>
          </a:prstGeom>
          <a:noFill/>
          <a:ln/>
        </p:spPr>
        <p:txBody>
          <a:bodyPr wrap="none" lIns="0" tIns="0" rIns="0" bIns="0" rtlCol="0" anchor="t"/>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72" name="Text 69"/>
          <p:cNvSpPr/>
          <p:nvPr/>
        </p:nvSpPr>
        <p:spPr>
          <a:xfrm>
            <a:off x="495288"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73" name="Text 70"/>
          <p:cNvSpPr/>
          <p:nvPr/>
        </p:nvSpPr>
        <p:spPr>
          <a:xfrm>
            <a:off x="2996877" y="1981944"/>
            <a:ext cx="1522771" cy="138113"/>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198</a:t>
            </a:r>
            <a:endParaRPr lang="en-US" sz="636" dirty="0"/>
          </a:p>
        </p:txBody>
      </p:sp>
      <p:sp>
        <p:nvSpPr>
          <p:cNvPr id="74" name="Text 71"/>
          <p:cNvSpPr/>
          <p:nvPr/>
        </p:nvSpPr>
        <p:spPr>
          <a:xfrm>
            <a:off x="2996877" y="2834432"/>
            <a:ext cx="1522771" cy="138113"/>
          </a:xfrm>
          <a:prstGeom prst="rect">
            <a:avLst/>
          </a:prstGeom>
          <a:noFill/>
          <a:ln/>
        </p:spPr>
        <p:txBody>
          <a:bodyPr wrap="none" lIns="0" tIns="0" rIns="0" bIns="0" rtlCol="0" anchor="t"/>
          <a:lstStyle/>
          <a:p>
            <a:pPr algn="r" indent="0" marL="0">
              <a:buNone/>
            </a:pPr>
            <a:r>
              <a:rPr lang="en-US" sz="636" b="1" dirty="0">
                <a:solidFill>
                  <a:srgbClr val="120180"/>
                </a:solidFill>
                <a:latin typeface="Raleway" pitchFamily="34" charset="0"/>
                <a:ea typeface="Raleway" pitchFamily="34" charset="-122"/>
                <a:cs typeface="Raleway" pitchFamily="34" charset="-120"/>
              </a:rPr>
              <a:t>198</a:t>
            </a:r>
            <a:endParaRPr lang="en-US" sz="636" dirty="0"/>
          </a:p>
        </p:txBody>
      </p:sp>
      <p:sp>
        <p:nvSpPr>
          <p:cNvPr id="75" name="Text 72"/>
          <p:cNvSpPr/>
          <p:nvPr/>
        </p:nvSpPr>
        <p:spPr>
          <a:xfrm>
            <a:off x="232940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76" name="Text 73"/>
          <p:cNvSpPr/>
          <p:nvPr/>
        </p:nvSpPr>
        <p:spPr>
          <a:xfrm>
            <a:off x="281218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77" name="Text 74"/>
          <p:cNvSpPr/>
          <p:nvPr/>
        </p:nvSpPr>
        <p:spPr>
          <a:xfrm>
            <a:off x="329497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78" name="Text 75"/>
          <p:cNvSpPr/>
          <p:nvPr/>
        </p:nvSpPr>
        <p:spPr>
          <a:xfrm>
            <a:off x="3777759"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79" name="Text 76"/>
          <p:cNvSpPr/>
          <p:nvPr/>
        </p:nvSpPr>
        <p:spPr>
          <a:xfrm>
            <a:off x="4260545"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80" name="Text 77"/>
          <p:cNvSpPr/>
          <p:nvPr/>
        </p:nvSpPr>
        <p:spPr>
          <a:xfrm>
            <a:off x="474333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81" name="Text 78"/>
          <p:cNvSpPr/>
          <p:nvPr/>
        </p:nvSpPr>
        <p:spPr>
          <a:xfrm>
            <a:off x="2329400"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82" name="Text 79"/>
          <p:cNvSpPr/>
          <p:nvPr/>
        </p:nvSpPr>
        <p:spPr>
          <a:xfrm>
            <a:off x="5226118" y="4082207"/>
            <a:ext cx="698284"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83" name="Text 80"/>
          <p:cNvSpPr/>
          <p:nvPr/>
        </p:nvSpPr>
        <p:spPr>
          <a:xfrm>
            <a:off x="6257769" y="1810494"/>
            <a:ext cx="1087609" cy="1714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4" name="Text 81"/>
          <p:cNvSpPr/>
          <p:nvPr/>
        </p:nvSpPr>
        <p:spPr>
          <a:xfrm>
            <a:off x="8091881"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85" name="Text 82"/>
          <p:cNvSpPr/>
          <p:nvPr/>
        </p:nvSpPr>
        <p:spPr>
          <a:xfrm>
            <a:off x="8574667"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86" name="Text 83"/>
          <p:cNvSpPr/>
          <p:nvPr/>
        </p:nvSpPr>
        <p:spPr>
          <a:xfrm>
            <a:off x="9057453"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87" name="Text 84"/>
          <p:cNvSpPr/>
          <p:nvPr/>
        </p:nvSpPr>
        <p:spPr>
          <a:xfrm>
            <a:off x="9540240"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88" name="Text 85"/>
          <p:cNvSpPr/>
          <p:nvPr/>
        </p:nvSpPr>
        <p:spPr>
          <a:xfrm>
            <a:off x="10023026"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89" name="Text 86"/>
          <p:cNvSpPr/>
          <p:nvPr/>
        </p:nvSpPr>
        <p:spPr>
          <a:xfrm>
            <a:off x="10505812" y="3248769"/>
            <a:ext cx="482786" cy="1714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90" name="Text 87"/>
          <p:cNvSpPr/>
          <p:nvPr/>
        </p:nvSpPr>
        <p:spPr>
          <a:xfrm>
            <a:off x="8091881" y="3420219"/>
            <a:ext cx="482786"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91" name="Text 88"/>
          <p:cNvSpPr/>
          <p:nvPr/>
        </p:nvSpPr>
        <p:spPr>
          <a:xfrm>
            <a:off x="10988599" y="3420219"/>
            <a:ext cx="698284" cy="128588"/>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92" name="Text 89"/>
          <p:cNvSpPr/>
          <p:nvPr/>
        </p:nvSpPr>
        <p:spPr>
          <a:xfrm>
            <a:off x="8091881" y="36821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143</a:t>
            </a:r>
            <a:endParaRPr lang="en-US" sz="552" dirty="0"/>
          </a:p>
        </p:txBody>
      </p:sp>
      <p:sp>
        <p:nvSpPr>
          <p:cNvPr id="93" name="Text 90"/>
          <p:cNvSpPr/>
          <p:nvPr/>
        </p:nvSpPr>
        <p:spPr>
          <a:xfrm>
            <a:off x="10988599" y="36821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143</a:t>
            </a:r>
            <a:endParaRPr lang="en-US" sz="552" dirty="0"/>
          </a:p>
        </p:txBody>
      </p:sp>
      <p:sp>
        <p:nvSpPr>
          <p:cNvPr id="94" name="Text 91"/>
          <p:cNvSpPr/>
          <p:nvPr/>
        </p:nvSpPr>
        <p:spPr>
          <a:xfrm>
            <a:off x="8091881" y="38155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95" name="Text 92"/>
          <p:cNvSpPr/>
          <p:nvPr/>
        </p:nvSpPr>
        <p:spPr>
          <a:xfrm>
            <a:off x="10988599" y="38155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188</a:t>
            </a:r>
            <a:endParaRPr lang="en-US" sz="552" dirty="0"/>
          </a:p>
        </p:txBody>
      </p:sp>
      <p:sp>
        <p:nvSpPr>
          <p:cNvPr id="96" name="Text 93"/>
          <p:cNvSpPr/>
          <p:nvPr/>
        </p:nvSpPr>
        <p:spPr>
          <a:xfrm>
            <a:off x="8091881" y="4348907"/>
            <a:ext cx="482786"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7" name="Text 94"/>
          <p:cNvSpPr/>
          <p:nvPr/>
        </p:nvSpPr>
        <p:spPr>
          <a:xfrm>
            <a:off x="10988599" y="4348907"/>
            <a:ext cx="698284" cy="133350"/>
          </a:xfrm>
          <a:prstGeom prst="rect">
            <a:avLst/>
          </a:prstGeom>
          <a:noFill/>
          <a:ln/>
        </p:spPr>
        <p:txBody>
          <a:bodyPr wrap="none" lIns="0" tIns="0" rIns="0" bIns="0" rtlCol="0" anchor="t"/>
          <a:lstStyle/>
          <a:p>
            <a:pPr algn="r" indent="0" marL="0">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8" name="Text 95"/>
          <p:cNvSpPr/>
          <p:nvPr/>
        </p:nvSpPr>
        <p:spPr>
          <a:xfrm>
            <a:off x="8091881" y="44822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99" name="Text 96"/>
          <p:cNvSpPr/>
          <p:nvPr/>
        </p:nvSpPr>
        <p:spPr>
          <a:xfrm>
            <a:off x="10988599" y="44822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455</a:t>
            </a:r>
            <a:endParaRPr lang="en-US" sz="552" dirty="0"/>
          </a:p>
        </p:txBody>
      </p:sp>
      <p:sp>
        <p:nvSpPr>
          <p:cNvPr id="100" name="Text 97"/>
          <p:cNvSpPr/>
          <p:nvPr/>
        </p:nvSpPr>
        <p:spPr>
          <a:xfrm>
            <a:off x="2329400" y="3420219"/>
            <a:ext cx="482786" cy="128588"/>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101" name="Text 98"/>
          <p:cNvSpPr/>
          <p:nvPr/>
        </p:nvSpPr>
        <p:spPr>
          <a:xfrm>
            <a:off x="5226118" y="3420219"/>
            <a:ext cx="698284" cy="128588"/>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67</a:t>
            </a:r>
            <a:endParaRPr lang="en-US" sz="576" dirty="0"/>
          </a:p>
        </p:txBody>
      </p:sp>
      <p:sp>
        <p:nvSpPr>
          <p:cNvPr id="102" name="Text 99"/>
          <p:cNvSpPr/>
          <p:nvPr/>
        </p:nvSpPr>
        <p:spPr>
          <a:xfrm>
            <a:off x="2329400" y="35488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66</a:t>
            </a:r>
            <a:endParaRPr lang="en-US" sz="576" dirty="0"/>
          </a:p>
        </p:txBody>
      </p:sp>
      <p:sp>
        <p:nvSpPr>
          <p:cNvPr id="103" name="Text 100"/>
          <p:cNvSpPr/>
          <p:nvPr/>
        </p:nvSpPr>
        <p:spPr>
          <a:xfrm>
            <a:off x="5226118" y="35488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66</a:t>
            </a:r>
            <a:endParaRPr lang="en-US" sz="576" dirty="0"/>
          </a:p>
        </p:txBody>
      </p:sp>
      <p:sp>
        <p:nvSpPr>
          <p:cNvPr id="104" name="Text 101"/>
          <p:cNvSpPr/>
          <p:nvPr/>
        </p:nvSpPr>
        <p:spPr>
          <a:xfrm>
            <a:off x="2329400" y="36821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58</a:t>
            </a:r>
            <a:endParaRPr lang="en-US" sz="576" dirty="0"/>
          </a:p>
        </p:txBody>
      </p:sp>
      <p:sp>
        <p:nvSpPr>
          <p:cNvPr id="105" name="Text 102"/>
          <p:cNvSpPr/>
          <p:nvPr/>
        </p:nvSpPr>
        <p:spPr>
          <a:xfrm>
            <a:off x="5226118" y="36821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58</a:t>
            </a:r>
            <a:endParaRPr lang="en-US" sz="576" dirty="0"/>
          </a:p>
        </p:txBody>
      </p:sp>
      <p:sp>
        <p:nvSpPr>
          <p:cNvPr id="106" name="Text 103"/>
          <p:cNvSpPr/>
          <p:nvPr/>
        </p:nvSpPr>
        <p:spPr>
          <a:xfrm>
            <a:off x="8091881" y="39488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90</a:t>
            </a:r>
            <a:endParaRPr lang="en-US" sz="552" dirty="0"/>
          </a:p>
        </p:txBody>
      </p:sp>
      <p:sp>
        <p:nvSpPr>
          <p:cNvPr id="107" name="Text 104"/>
          <p:cNvSpPr/>
          <p:nvPr/>
        </p:nvSpPr>
        <p:spPr>
          <a:xfrm>
            <a:off x="10988599" y="39488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90</a:t>
            </a:r>
            <a:endParaRPr lang="en-US" sz="552" dirty="0"/>
          </a:p>
        </p:txBody>
      </p:sp>
      <p:sp>
        <p:nvSpPr>
          <p:cNvPr id="108" name="Text 105"/>
          <p:cNvSpPr/>
          <p:nvPr/>
        </p:nvSpPr>
        <p:spPr>
          <a:xfrm>
            <a:off x="8091881" y="40822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109" name="Text 106"/>
          <p:cNvSpPr/>
          <p:nvPr/>
        </p:nvSpPr>
        <p:spPr>
          <a:xfrm>
            <a:off x="10988599" y="40822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68</a:t>
            </a:r>
            <a:endParaRPr lang="en-US" sz="552" dirty="0"/>
          </a:p>
        </p:txBody>
      </p:sp>
      <p:sp>
        <p:nvSpPr>
          <p:cNvPr id="110" name="Text 107"/>
          <p:cNvSpPr/>
          <p:nvPr/>
        </p:nvSpPr>
        <p:spPr>
          <a:xfrm>
            <a:off x="8091881" y="421555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11" name="Text 108"/>
          <p:cNvSpPr/>
          <p:nvPr/>
        </p:nvSpPr>
        <p:spPr>
          <a:xfrm>
            <a:off x="10988599" y="421555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71</a:t>
            </a:r>
            <a:endParaRPr lang="en-US" sz="552" dirty="0"/>
          </a:p>
        </p:txBody>
      </p:sp>
      <p:sp>
        <p:nvSpPr>
          <p:cNvPr id="112" name="Text 109"/>
          <p:cNvSpPr/>
          <p:nvPr/>
        </p:nvSpPr>
        <p:spPr>
          <a:xfrm>
            <a:off x="8091881" y="4615607"/>
            <a:ext cx="482786" cy="128588"/>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46</a:t>
            </a:r>
            <a:endParaRPr lang="en-US" sz="552" dirty="0"/>
          </a:p>
        </p:txBody>
      </p:sp>
      <p:sp>
        <p:nvSpPr>
          <p:cNvPr id="113" name="Text 110"/>
          <p:cNvSpPr/>
          <p:nvPr/>
        </p:nvSpPr>
        <p:spPr>
          <a:xfrm>
            <a:off x="10988599" y="4615607"/>
            <a:ext cx="698284" cy="128588"/>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46</a:t>
            </a:r>
            <a:endParaRPr lang="en-US" sz="552" dirty="0"/>
          </a:p>
        </p:txBody>
      </p:sp>
      <p:sp>
        <p:nvSpPr>
          <p:cNvPr id="114" name="Text 111"/>
          <p:cNvSpPr/>
          <p:nvPr/>
        </p:nvSpPr>
        <p:spPr>
          <a:xfrm>
            <a:off x="8216595" y="971550"/>
            <a:ext cx="3479812" cy="210294"/>
          </a:xfrm>
          <a:prstGeom prst="rect">
            <a:avLst/>
          </a:prstGeom>
          <a:noFill/>
          <a:ln/>
        </p:spPr>
        <p:txBody>
          <a:bodyPr wrap="non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a:t>
            </a:r>
            <a:endParaRPr lang="en-US" sz="1380" dirty="0"/>
          </a:p>
        </p:txBody>
      </p:sp>
      <p:sp>
        <p:nvSpPr>
          <p:cNvPr id="115" name="Text 112"/>
          <p:cNvSpPr/>
          <p:nvPr/>
        </p:nvSpPr>
        <p:spPr>
          <a:xfrm>
            <a:off x="1582896" y="21200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16" name="Text 113"/>
          <p:cNvSpPr/>
          <p:nvPr/>
        </p:nvSpPr>
        <p:spPr>
          <a:xfrm>
            <a:off x="2996877" y="21200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17" name="Text 114"/>
          <p:cNvSpPr/>
          <p:nvPr/>
        </p:nvSpPr>
        <p:spPr>
          <a:xfrm>
            <a:off x="4519648" y="21200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18" name="Text 115"/>
          <p:cNvSpPr/>
          <p:nvPr/>
        </p:nvSpPr>
        <p:spPr>
          <a:xfrm>
            <a:off x="1582896" y="226293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19" name="Text 116"/>
          <p:cNvSpPr/>
          <p:nvPr/>
        </p:nvSpPr>
        <p:spPr>
          <a:xfrm>
            <a:off x="2996877" y="226293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0" name="Text 117"/>
          <p:cNvSpPr/>
          <p:nvPr/>
        </p:nvSpPr>
        <p:spPr>
          <a:xfrm>
            <a:off x="4519648" y="226293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1" name="Text 118"/>
          <p:cNvSpPr/>
          <p:nvPr/>
        </p:nvSpPr>
        <p:spPr>
          <a:xfrm>
            <a:off x="1582896" y="240580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2" name="Text 119"/>
          <p:cNvSpPr/>
          <p:nvPr/>
        </p:nvSpPr>
        <p:spPr>
          <a:xfrm>
            <a:off x="2996877" y="240580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3" name="Text 120"/>
          <p:cNvSpPr/>
          <p:nvPr/>
        </p:nvSpPr>
        <p:spPr>
          <a:xfrm>
            <a:off x="4519648" y="240580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4" name="Text 121"/>
          <p:cNvSpPr/>
          <p:nvPr/>
        </p:nvSpPr>
        <p:spPr>
          <a:xfrm>
            <a:off x="1582896" y="2548682"/>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5" name="Text 122"/>
          <p:cNvSpPr/>
          <p:nvPr/>
        </p:nvSpPr>
        <p:spPr>
          <a:xfrm>
            <a:off x="2996877" y="2548682"/>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6" name="Text 123"/>
          <p:cNvSpPr/>
          <p:nvPr/>
        </p:nvSpPr>
        <p:spPr>
          <a:xfrm>
            <a:off x="4519648" y="2548682"/>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7" name="Text 124"/>
          <p:cNvSpPr/>
          <p:nvPr/>
        </p:nvSpPr>
        <p:spPr>
          <a:xfrm>
            <a:off x="1582896" y="2691557"/>
            <a:ext cx="141398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8" name="Text 125"/>
          <p:cNvSpPr/>
          <p:nvPr/>
        </p:nvSpPr>
        <p:spPr>
          <a:xfrm>
            <a:off x="2996877" y="2691557"/>
            <a:ext cx="1522771"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29" name="Text 126"/>
          <p:cNvSpPr/>
          <p:nvPr/>
        </p:nvSpPr>
        <p:spPr>
          <a:xfrm>
            <a:off x="4519648" y="2691557"/>
            <a:ext cx="141427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30" name="Text 127"/>
          <p:cNvSpPr/>
          <p:nvPr/>
        </p:nvSpPr>
        <p:spPr>
          <a:xfrm>
            <a:off x="2812186"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1" name="Text 128"/>
          <p:cNvSpPr/>
          <p:nvPr/>
        </p:nvSpPr>
        <p:spPr>
          <a:xfrm>
            <a:off x="3294972"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2" name="Text 129"/>
          <p:cNvSpPr/>
          <p:nvPr/>
        </p:nvSpPr>
        <p:spPr>
          <a:xfrm>
            <a:off x="3777759"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3" name="Text 130"/>
          <p:cNvSpPr/>
          <p:nvPr/>
        </p:nvSpPr>
        <p:spPr>
          <a:xfrm>
            <a:off x="4260545"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4" name="Text 131"/>
          <p:cNvSpPr/>
          <p:nvPr/>
        </p:nvSpPr>
        <p:spPr>
          <a:xfrm>
            <a:off x="4743331" y="3420219"/>
            <a:ext cx="482786" cy="128588"/>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5" name="Text 132"/>
          <p:cNvSpPr/>
          <p:nvPr/>
        </p:nvSpPr>
        <p:spPr>
          <a:xfrm>
            <a:off x="2812186"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6" name="Text 133"/>
          <p:cNvSpPr/>
          <p:nvPr/>
        </p:nvSpPr>
        <p:spPr>
          <a:xfrm>
            <a:off x="3294972"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7" name="Text 134"/>
          <p:cNvSpPr/>
          <p:nvPr/>
        </p:nvSpPr>
        <p:spPr>
          <a:xfrm>
            <a:off x="3777759"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8" name="Text 135"/>
          <p:cNvSpPr/>
          <p:nvPr/>
        </p:nvSpPr>
        <p:spPr>
          <a:xfrm>
            <a:off x="4260545"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39" name="Text 136"/>
          <p:cNvSpPr/>
          <p:nvPr/>
        </p:nvSpPr>
        <p:spPr>
          <a:xfrm>
            <a:off x="4743331" y="35488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0" name="Text 137"/>
          <p:cNvSpPr/>
          <p:nvPr/>
        </p:nvSpPr>
        <p:spPr>
          <a:xfrm>
            <a:off x="2812186"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1" name="Text 138"/>
          <p:cNvSpPr/>
          <p:nvPr/>
        </p:nvSpPr>
        <p:spPr>
          <a:xfrm>
            <a:off x="3294972"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2" name="Text 139"/>
          <p:cNvSpPr/>
          <p:nvPr/>
        </p:nvSpPr>
        <p:spPr>
          <a:xfrm>
            <a:off x="3777759"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3" name="Text 140"/>
          <p:cNvSpPr/>
          <p:nvPr/>
        </p:nvSpPr>
        <p:spPr>
          <a:xfrm>
            <a:off x="4260545"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4" name="Text 141"/>
          <p:cNvSpPr/>
          <p:nvPr/>
        </p:nvSpPr>
        <p:spPr>
          <a:xfrm>
            <a:off x="4743331" y="36821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5" name="Text 142"/>
          <p:cNvSpPr/>
          <p:nvPr/>
        </p:nvSpPr>
        <p:spPr>
          <a:xfrm>
            <a:off x="2329400" y="381550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6</a:t>
            </a:r>
            <a:endParaRPr lang="en-US" sz="576" dirty="0"/>
          </a:p>
        </p:txBody>
      </p:sp>
      <p:sp>
        <p:nvSpPr>
          <p:cNvPr id="146" name="Text 143"/>
          <p:cNvSpPr/>
          <p:nvPr/>
        </p:nvSpPr>
        <p:spPr>
          <a:xfrm>
            <a:off x="2812186"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7" name="Text 144"/>
          <p:cNvSpPr/>
          <p:nvPr/>
        </p:nvSpPr>
        <p:spPr>
          <a:xfrm>
            <a:off x="3294972"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8" name="Text 145"/>
          <p:cNvSpPr/>
          <p:nvPr/>
        </p:nvSpPr>
        <p:spPr>
          <a:xfrm>
            <a:off x="3777759"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49" name="Text 146"/>
          <p:cNvSpPr/>
          <p:nvPr/>
        </p:nvSpPr>
        <p:spPr>
          <a:xfrm>
            <a:off x="4260545"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0" name="Text 147"/>
          <p:cNvSpPr/>
          <p:nvPr/>
        </p:nvSpPr>
        <p:spPr>
          <a:xfrm>
            <a:off x="4743331" y="381550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1" name="Text 148"/>
          <p:cNvSpPr/>
          <p:nvPr/>
        </p:nvSpPr>
        <p:spPr>
          <a:xfrm>
            <a:off x="5226118" y="381550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6</a:t>
            </a:r>
            <a:endParaRPr lang="en-US" sz="576" dirty="0"/>
          </a:p>
        </p:txBody>
      </p:sp>
      <p:sp>
        <p:nvSpPr>
          <p:cNvPr id="152" name="Text 149"/>
          <p:cNvSpPr/>
          <p:nvPr/>
        </p:nvSpPr>
        <p:spPr>
          <a:xfrm>
            <a:off x="2329400" y="3948857"/>
            <a:ext cx="482786" cy="133350"/>
          </a:xfrm>
          <a:prstGeom prst="rect">
            <a:avLst/>
          </a:prstGeom>
          <a:noFill/>
          <a:ln/>
        </p:spPr>
        <p:txBody>
          <a:bodyPr wrap="none" lIns="0" tIns="0" rIns="0" bIns="0" rtlCol="0" anchor="t"/>
          <a:lstStyle/>
          <a:p>
            <a:pPr algn="r" indent="0" marL="0">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153" name="Text 150"/>
          <p:cNvSpPr/>
          <p:nvPr/>
        </p:nvSpPr>
        <p:spPr>
          <a:xfrm>
            <a:off x="2812186"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4" name="Text 151"/>
          <p:cNvSpPr/>
          <p:nvPr/>
        </p:nvSpPr>
        <p:spPr>
          <a:xfrm>
            <a:off x="3294972"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5" name="Text 152"/>
          <p:cNvSpPr/>
          <p:nvPr/>
        </p:nvSpPr>
        <p:spPr>
          <a:xfrm>
            <a:off x="3777759"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6" name="Text 153"/>
          <p:cNvSpPr/>
          <p:nvPr/>
        </p:nvSpPr>
        <p:spPr>
          <a:xfrm>
            <a:off x="4260545"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7" name="Text 154"/>
          <p:cNvSpPr/>
          <p:nvPr/>
        </p:nvSpPr>
        <p:spPr>
          <a:xfrm>
            <a:off x="4743331" y="3948857"/>
            <a:ext cx="482786" cy="133350"/>
          </a:xfrm>
          <a:prstGeom prst="rect">
            <a:avLst/>
          </a:prstGeom>
          <a:noFill/>
          <a:ln/>
        </p:spPr>
        <p:txBody>
          <a:bodyPr wrap="non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a:t>
            </a:r>
            <a:endParaRPr lang="en-US" sz="576" dirty="0"/>
          </a:p>
        </p:txBody>
      </p:sp>
      <p:sp>
        <p:nvSpPr>
          <p:cNvPr id="158" name="Text 155"/>
          <p:cNvSpPr/>
          <p:nvPr/>
        </p:nvSpPr>
        <p:spPr>
          <a:xfrm>
            <a:off x="5226118" y="3948857"/>
            <a:ext cx="698284" cy="133350"/>
          </a:xfrm>
          <a:prstGeom prst="rect">
            <a:avLst/>
          </a:prstGeom>
          <a:noFill/>
          <a:ln/>
        </p:spPr>
        <p:txBody>
          <a:bodyPr wrap="none" lIns="0" tIns="0" rIns="0" bIns="0" rtlCol="0" anchor="t"/>
          <a:lstStyle/>
          <a:p>
            <a:pPr algn="r" indent="0" marL="0">
              <a:buNone/>
            </a:pPr>
            <a:r>
              <a:rPr lang="en-US" sz="576" b="1" dirty="0">
                <a:solidFill>
                  <a:srgbClr val="333333"/>
                </a:solidFill>
                <a:latin typeface="Raleway" pitchFamily="34" charset="0"/>
                <a:ea typeface="Raleway" pitchFamily="34" charset="-122"/>
                <a:cs typeface="Raleway" pitchFamily="34" charset="-120"/>
              </a:rPr>
              <a:t>1</a:t>
            </a:r>
            <a:endParaRPr lang="en-US" sz="576" dirty="0"/>
          </a:p>
        </p:txBody>
      </p:sp>
      <p:sp>
        <p:nvSpPr>
          <p:cNvPr id="159" name="Text 156"/>
          <p:cNvSpPr/>
          <p:nvPr/>
        </p:nvSpPr>
        <p:spPr>
          <a:xfrm>
            <a:off x="2812186"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60" name="Text 157"/>
          <p:cNvSpPr/>
          <p:nvPr/>
        </p:nvSpPr>
        <p:spPr>
          <a:xfrm>
            <a:off x="3294972"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61" name="Text 158"/>
          <p:cNvSpPr/>
          <p:nvPr/>
        </p:nvSpPr>
        <p:spPr>
          <a:xfrm>
            <a:off x="3777759"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62" name="Text 159"/>
          <p:cNvSpPr/>
          <p:nvPr/>
        </p:nvSpPr>
        <p:spPr>
          <a:xfrm>
            <a:off x="4260545"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63" name="Text 160"/>
          <p:cNvSpPr/>
          <p:nvPr/>
        </p:nvSpPr>
        <p:spPr>
          <a:xfrm>
            <a:off x="4743331" y="4082207"/>
            <a:ext cx="482786" cy="128588"/>
          </a:xfrm>
          <a:prstGeom prst="rect">
            <a:avLst/>
          </a:prstGeom>
          <a:noFill/>
          <a:ln/>
        </p:spPr>
        <p:txBody>
          <a:bodyPr wrap="non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a:t>
            </a:r>
            <a:endParaRPr lang="en-US" sz="576" dirty="0"/>
          </a:p>
        </p:txBody>
      </p:sp>
      <p:sp>
        <p:nvSpPr>
          <p:cNvPr id="164" name="Text 161"/>
          <p:cNvSpPr/>
          <p:nvPr/>
        </p:nvSpPr>
        <p:spPr>
          <a:xfrm>
            <a:off x="7345377"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5" name="Text 162"/>
          <p:cNvSpPr/>
          <p:nvPr/>
        </p:nvSpPr>
        <p:spPr>
          <a:xfrm>
            <a:off x="8324195"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6" name="Text 163"/>
          <p:cNvSpPr/>
          <p:nvPr/>
        </p:nvSpPr>
        <p:spPr>
          <a:xfrm>
            <a:off x="9303014" y="21200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7" name="Text 164"/>
          <p:cNvSpPr/>
          <p:nvPr/>
        </p:nvSpPr>
        <p:spPr>
          <a:xfrm>
            <a:off x="10281832" y="21200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8" name="Text 165"/>
          <p:cNvSpPr/>
          <p:nvPr/>
        </p:nvSpPr>
        <p:spPr>
          <a:xfrm>
            <a:off x="7345377"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69" name="Text 166"/>
          <p:cNvSpPr/>
          <p:nvPr/>
        </p:nvSpPr>
        <p:spPr>
          <a:xfrm>
            <a:off x="8324195"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0" name="Text 167"/>
          <p:cNvSpPr/>
          <p:nvPr/>
        </p:nvSpPr>
        <p:spPr>
          <a:xfrm>
            <a:off x="9303014" y="226293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1" name="Text 168"/>
          <p:cNvSpPr/>
          <p:nvPr/>
        </p:nvSpPr>
        <p:spPr>
          <a:xfrm>
            <a:off x="10281832" y="226293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2" name="Text 169"/>
          <p:cNvSpPr/>
          <p:nvPr/>
        </p:nvSpPr>
        <p:spPr>
          <a:xfrm>
            <a:off x="7345377"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3" name="Text 170"/>
          <p:cNvSpPr/>
          <p:nvPr/>
        </p:nvSpPr>
        <p:spPr>
          <a:xfrm>
            <a:off x="8324195"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4" name="Text 171"/>
          <p:cNvSpPr/>
          <p:nvPr/>
        </p:nvSpPr>
        <p:spPr>
          <a:xfrm>
            <a:off x="9303014" y="240580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5" name="Text 172"/>
          <p:cNvSpPr/>
          <p:nvPr/>
        </p:nvSpPr>
        <p:spPr>
          <a:xfrm>
            <a:off x="10281832" y="240580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6" name="Text 173"/>
          <p:cNvSpPr/>
          <p:nvPr/>
        </p:nvSpPr>
        <p:spPr>
          <a:xfrm>
            <a:off x="7345377"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7" name="Text 174"/>
          <p:cNvSpPr/>
          <p:nvPr/>
        </p:nvSpPr>
        <p:spPr>
          <a:xfrm>
            <a:off x="8324195"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8" name="Text 175"/>
          <p:cNvSpPr/>
          <p:nvPr/>
        </p:nvSpPr>
        <p:spPr>
          <a:xfrm>
            <a:off x="9303014" y="2548682"/>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79" name="Text 176"/>
          <p:cNvSpPr/>
          <p:nvPr/>
        </p:nvSpPr>
        <p:spPr>
          <a:xfrm>
            <a:off x="10281832" y="2548682"/>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80" name="Text 177"/>
          <p:cNvSpPr/>
          <p:nvPr/>
        </p:nvSpPr>
        <p:spPr>
          <a:xfrm>
            <a:off x="7345377"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81" name="Text 178"/>
          <p:cNvSpPr/>
          <p:nvPr/>
        </p:nvSpPr>
        <p:spPr>
          <a:xfrm>
            <a:off x="8324195"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82" name="Text 179"/>
          <p:cNvSpPr/>
          <p:nvPr/>
        </p:nvSpPr>
        <p:spPr>
          <a:xfrm>
            <a:off x="9303014" y="2691557"/>
            <a:ext cx="978818"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83" name="Text 180"/>
          <p:cNvSpPr/>
          <p:nvPr/>
        </p:nvSpPr>
        <p:spPr>
          <a:xfrm>
            <a:off x="10281832" y="2691557"/>
            <a:ext cx="1414576" cy="142875"/>
          </a:xfrm>
          <a:prstGeom prst="rect">
            <a:avLst/>
          </a:prstGeom>
          <a:noFill/>
          <a:ln/>
        </p:spPr>
        <p:txBody>
          <a:bodyPr wrap="none" lIns="0" tIns="0" rIns="0" bIns="0" rtlCol="0" anchor="t"/>
          <a:lstStyle/>
          <a:p>
            <a:pPr algn="r" indent="0" marL="0">
              <a:buNone/>
            </a:pPr>
            <a:r>
              <a:rPr lang="en-US" sz="636" dirty="0">
                <a:solidFill>
                  <a:srgbClr val="333333"/>
                </a:solidFill>
                <a:latin typeface="Raleway" pitchFamily="34" charset="0"/>
                <a:ea typeface="Raleway" pitchFamily="34" charset="-122"/>
                <a:cs typeface="Raleway" pitchFamily="34" charset="-120"/>
              </a:rPr>
              <a:t>—</a:t>
            </a:r>
            <a:endParaRPr lang="en-US" sz="636" dirty="0"/>
          </a:p>
        </p:txBody>
      </p:sp>
      <p:sp>
        <p:nvSpPr>
          <p:cNvPr id="184" name="Text 181"/>
          <p:cNvSpPr/>
          <p:nvPr/>
        </p:nvSpPr>
        <p:spPr>
          <a:xfrm>
            <a:off x="8574667"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5" name="Text 182"/>
          <p:cNvSpPr/>
          <p:nvPr/>
        </p:nvSpPr>
        <p:spPr>
          <a:xfrm>
            <a:off x="9057453"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6" name="Text 183"/>
          <p:cNvSpPr/>
          <p:nvPr/>
        </p:nvSpPr>
        <p:spPr>
          <a:xfrm>
            <a:off x="9540240"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7" name="Text 184"/>
          <p:cNvSpPr/>
          <p:nvPr/>
        </p:nvSpPr>
        <p:spPr>
          <a:xfrm>
            <a:off x="10023026"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8" name="Text 185"/>
          <p:cNvSpPr/>
          <p:nvPr/>
        </p:nvSpPr>
        <p:spPr>
          <a:xfrm>
            <a:off x="10505812" y="3420219"/>
            <a:ext cx="482786" cy="128588"/>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189" name="Text 186"/>
          <p:cNvSpPr/>
          <p:nvPr/>
        </p:nvSpPr>
        <p:spPr>
          <a:xfrm>
            <a:off x="8091881" y="3548807"/>
            <a:ext cx="482786" cy="133350"/>
          </a:xfrm>
          <a:prstGeom prst="rect">
            <a:avLst/>
          </a:prstGeom>
          <a:noFill/>
          <a:ln/>
        </p:spPr>
        <p:txBody>
          <a:bodyPr wrap="none" lIns="0" tIns="0" rIns="0" bIns="0" rtlCol="0" anchor="t"/>
          <a:lstStyle/>
          <a:p>
            <a:pPr algn="r" indent="0" marL="0">
              <a:buNone/>
            </a:pPr>
            <a:r>
              <a:rPr lang="en-US" sz="552" dirty="0">
                <a:solidFill>
                  <a:srgbClr val="333333"/>
                </a:solidFill>
                <a:latin typeface="Raleway" pitchFamily="34" charset="0"/>
                <a:ea typeface="Raleway" pitchFamily="34" charset="-122"/>
                <a:cs typeface="Raleway" pitchFamily="34" charset="-120"/>
              </a:rPr>
              <a:t>4</a:t>
            </a:r>
            <a:endParaRPr lang="en-US" sz="552" dirty="0"/>
          </a:p>
        </p:txBody>
      </p:sp>
      <p:sp>
        <p:nvSpPr>
          <p:cNvPr id="190" name="Text 187"/>
          <p:cNvSpPr/>
          <p:nvPr/>
        </p:nvSpPr>
        <p:spPr>
          <a:xfrm>
            <a:off x="8574667"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1" name="Text 188"/>
          <p:cNvSpPr/>
          <p:nvPr/>
        </p:nvSpPr>
        <p:spPr>
          <a:xfrm>
            <a:off x="9057453"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2" name="Text 189"/>
          <p:cNvSpPr/>
          <p:nvPr/>
        </p:nvSpPr>
        <p:spPr>
          <a:xfrm>
            <a:off x="9540240"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3" name="Text 190"/>
          <p:cNvSpPr/>
          <p:nvPr/>
        </p:nvSpPr>
        <p:spPr>
          <a:xfrm>
            <a:off x="10023026"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4" name="Text 191"/>
          <p:cNvSpPr/>
          <p:nvPr/>
        </p:nvSpPr>
        <p:spPr>
          <a:xfrm>
            <a:off x="10505812" y="35488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5" name="Text 192"/>
          <p:cNvSpPr/>
          <p:nvPr/>
        </p:nvSpPr>
        <p:spPr>
          <a:xfrm>
            <a:off x="10988599" y="3548807"/>
            <a:ext cx="698284" cy="133350"/>
          </a:xfrm>
          <a:prstGeom prst="rect">
            <a:avLst/>
          </a:prstGeom>
          <a:noFill/>
          <a:ln/>
        </p:spPr>
        <p:txBody>
          <a:bodyPr wrap="none" lIns="0" tIns="0" rIns="0" bIns="0" rtlCol="0" anchor="t"/>
          <a:lstStyle/>
          <a:p>
            <a:pPr algn="r" indent="0" marL="0">
              <a:buNone/>
            </a:pPr>
            <a:r>
              <a:rPr lang="en-US" sz="552" b="1" dirty="0">
                <a:solidFill>
                  <a:srgbClr val="333333"/>
                </a:solidFill>
                <a:latin typeface="Raleway" pitchFamily="34" charset="0"/>
                <a:ea typeface="Raleway" pitchFamily="34" charset="-122"/>
                <a:cs typeface="Raleway" pitchFamily="34" charset="-120"/>
              </a:rPr>
              <a:t>4</a:t>
            </a:r>
            <a:endParaRPr lang="en-US" sz="552" dirty="0"/>
          </a:p>
        </p:txBody>
      </p:sp>
      <p:sp>
        <p:nvSpPr>
          <p:cNvPr id="196" name="Text 193"/>
          <p:cNvSpPr/>
          <p:nvPr/>
        </p:nvSpPr>
        <p:spPr>
          <a:xfrm>
            <a:off x="8574667"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7" name="Text 194"/>
          <p:cNvSpPr/>
          <p:nvPr/>
        </p:nvSpPr>
        <p:spPr>
          <a:xfrm>
            <a:off x="9057453"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8" name="Text 195"/>
          <p:cNvSpPr/>
          <p:nvPr/>
        </p:nvSpPr>
        <p:spPr>
          <a:xfrm>
            <a:off x="9540240"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199" name="Text 196"/>
          <p:cNvSpPr/>
          <p:nvPr/>
        </p:nvSpPr>
        <p:spPr>
          <a:xfrm>
            <a:off x="10023026"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0" name="Text 197"/>
          <p:cNvSpPr/>
          <p:nvPr/>
        </p:nvSpPr>
        <p:spPr>
          <a:xfrm>
            <a:off x="10505812" y="36821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1" name="Text 198"/>
          <p:cNvSpPr/>
          <p:nvPr/>
        </p:nvSpPr>
        <p:spPr>
          <a:xfrm>
            <a:off x="8574667"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2" name="Text 199"/>
          <p:cNvSpPr/>
          <p:nvPr/>
        </p:nvSpPr>
        <p:spPr>
          <a:xfrm>
            <a:off x="9057453"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3" name="Text 200"/>
          <p:cNvSpPr/>
          <p:nvPr/>
        </p:nvSpPr>
        <p:spPr>
          <a:xfrm>
            <a:off x="9540240"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4" name="Text 201"/>
          <p:cNvSpPr/>
          <p:nvPr/>
        </p:nvSpPr>
        <p:spPr>
          <a:xfrm>
            <a:off x="10023026"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5" name="Text 202"/>
          <p:cNvSpPr/>
          <p:nvPr/>
        </p:nvSpPr>
        <p:spPr>
          <a:xfrm>
            <a:off x="10505812" y="38155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6" name="Text 203"/>
          <p:cNvSpPr/>
          <p:nvPr/>
        </p:nvSpPr>
        <p:spPr>
          <a:xfrm>
            <a:off x="8574667"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7" name="Text 204"/>
          <p:cNvSpPr/>
          <p:nvPr/>
        </p:nvSpPr>
        <p:spPr>
          <a:xfrm>
            <a:off x="9057453"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8" name="Text 205"/>
          <p:cNvSpPr/>
          <p:nvPr/>
        </p:nvSpPr>
        <p:spPr>
          <a:xfrm>
            <a:off x="9540240"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09" name="Text 206"/>
          <p:cNvSpPr/>
          <p:nvPr/>
        </p:nvSpPr>
        <p:spPr>
          <a:xfrm>
            <a:off x="10023026"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0" name="Text 207"/>
          <p:cNvSpPr/>
          <p:nvPr/>
        </p:nvSpPr>
        <p:spPr>
          <a:xfrm>
            <a:off x="10505812" y="39488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1" name="Text 208"/>
          <p:cNvSpPr/>
          <p:nvPr/>
        </p:nvSpPr>
        <p:spPr>
          <a:xfrm>
            <a:off x="8574667" y="40822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2" name="Text 209"/>
          <p:cNvSpPr/>
          <p:nvPr/>
        </p:nvSpPr>
        <p:spPr>
          <a:xfrm>
            <a:off x="9057453" y="40822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3" name="Text 210"/>
          <p:cNvSpPr/>
          <p:nvPr/>
        </p:nvSpPr>
        <p:spPr>
          <a:xfrm>
            <a:off x="9540240" y="40822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4" name="Text 211"/>
          <p:cNvSpPr/>
          <p:nvPr/>
        </p:nvSpPr>
        <p:spPr>
          <a:xfrm>
            <a:off x="10023026" y="40822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5" name="Text 212"/>
          <p:cNvSpPr/>
          <p:nvPr/>
        </p:nvSpPr>
        <p:spPr>
          <a:xfrm>
            <a:off x="10505812" y="408220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6" name="Text 213"/>
          <p:cNvSpPr/>
          <p:nvPr/>
        </p:nvSpPr>
        <p:spPr>
          <a:xfrm>
            <a:off x="8574667"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7" name="Text 214"/>
          <p:cNvSpPr/>
          <p:nvPr/>
        </p:nvSpPr>
        <p:spPr>
          <a:xfrm>
            <a:off x="9057453"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8" name="Text 215"/>
          <p:cNvSpPr/>
          <p:nvPr/>
        </p:nvSpPr>
        <p:spPr>
          <a:xfrm>
            <a:off x="9540240"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19" name="Text 216"/>
          <p:cNvSpPr/>
          <p:nvPr/>
        </p:nvSpPr>
        <p:spPr>
          <a:xfrm>
            <a:off x="10023026"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20" name="Text 217"/>
          <p:cNvSpPr/>
          <p:nvPr/>
        </p:nvSpPr>
        <p:spPr>
          <a:xfrm>
            <a:off x="10505812" y="42155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21" name="Text 218"/>
          <p:cNvSpPr/>
          <p:nvPr/>
        </p:nvSpPr>
        <p:spPr>
          <a:xfrm>
            <a:off x="8574667" y="43489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22" name="Text 219"/>
          <p:cNvSpPr/>
          <p:nvPr/>
        </p:nvSpPr>
        <p:spPr>
          <a:xfrm>
            <a:off x="9057453" y="43489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23" name="Text 220"/>
          <p:cNvSpPr/>
          <p:nvPr/>
        </p:nvSpPr>
        <p:spPr>
          <a:xfrm>
            <a:off x="9540240" y="43489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24" name="Text 221"/>
          <p:cNvSpPr/>
          <p:nvPr/>
        </p:nvSpPr>
        <p:spPr>
          <a:xfrm>
            <a:off x="10023026" y="43489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25" name="Text 222"/>
          <p:cNvSpPr/>
          <p:nvPr/>
        </p:nvSpPr>
        <p:spPr>
          <a:xfrm>
            <a:off x="10505812" y="4348907"/>
            <a:ext cx="482786" cy="133350"/>
          </a:xfrm>
          <a:prstGeom prst="rect">
            <a:avLst/>
          </a:prstGeom>
          <a:noFill/>
          <a:ln/>
        </p:spPr>
        <p:txBody>
          <a:bodyPr wrap="none" lIns="0" tIns="0" rIns="0" bIns="0" rtlCol="0" anchor="t"/>
          <a:lstStyle/>
          <a:p>
            <a:pPr algn="r" indent="0" marL="0">
              <a:buNone/>
            </a:pPr>
            <a:r>
              <a:rPr lang="en-US" sz="552" b="1" dirty="0">
                <a:solidFill>
                  <a:srgbClr val="9098B0"/>
                </a:solidFill>
                <a:latin typeface="Raleway" pitchFamily="34" charset="0"/>
                <a:ea typeface="Raleway" pitchFamily="34" charset="-122"/>
                <a:cs typeface="Raleway" pitchFamily="34" charset="-120"/>
              </a:rPr>
              <a:t>—</a:t>
            </a:r>
            <a:endParaRPr lang="en-US" sz="552" dirty="0"/>
          </a:p>
        </p:txBody>
      </p:sp>
      <p:sp>
        <p:nvSpPr>
          <p:cNvPr id="226" name="Text 223"/>
          <p:cNvSpPr/>
          <p:nvPr/>
        </p:nvSpPr>
        <p:spPr>
          <a:xfrm>
            <a:off x="8574667" y="44822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27" name="Text 224"/>
          <p:cNvSpPr/>
          <p:nvPr/>
        </p:nvSpPr>
        <p:spPr>
          <a:xfrm>
            <a:off x="9057453" y="44822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28" name="Text 225"/>
          <p:cNvSpPr/>
          <p:nvPr/>
        </p:nvSpPr>
        <p:spPr>
          <a:xfrm>
            <a:off x="9540240" y="44822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29" name="Text 226"/>
          <p:cNvSpPr/>
          <p:nvPr/>
        </p:nvSpPr>
        <p:spPr>
          <a:xfrm>
            <a:off x="10023026" y="44822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30" name="Text 227"/>
          <p:cNvSpPr/>
          <p:nvPr/>
        </p:nvSpPr>
        <p:spPr>
          <a:xfrm>
            <a:off x="10505812" y="4482257"/>
            <a:ext cx="482786" cy="133350"/>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31" name="Text 228"/>
          <p:cNvSpPr/>
          <p:nvPr/>
        </p:nvSpPr>
        <p:spPr>
          <a:xfrm>
            <a:off x="8574667" y="46156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32" name="Text 229"/>
          <p:cNvSpPr/>
          <p:nvPr/>
        </p:nvSpPr>
        <p:spPr>
          <a:xfrm>
            <a:off x="9057453" y="46156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33" name="Text 230"/>
          <p:cNvSpPr/>
          <p:nvPr/>
        </p:nvSpPr>
        <p:spPr>
          <a:xfrm>
            <a:off x="9540240" y="46156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34" name="Text 231"/>
          <p:cNvSpPr/>
          <p:nvPr/>
        </p:nvSpPr>
        <p:spPr>
          <a:xfrm>
            <a:off x="10023026" y="46156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
        <p:nvSpPr>
          <p:cNvPr id="235" name="Text 232"/>
          <p:cNvSpPr/>
          <p:nvPr/>
        </p:nvSpPr>
        <p:spPr>
          <a:xfrm>
            <a:off x="10505812" y="4615607"/>
            <a:ext cx="482786" cy="128588"/>
          </a:xfrm>
          <a:prstGeom prst="rect">
            <a:avLst/>
          </a:prstGeom>
          <a:noFill/>
          <a:ln/>
        </p:spPr>
        <p:txBody>
          <a:bodyPr wrap="none" lIns="0" tIns="0" rIns="0" bIns="0" rtlCol="0" anchor="t"/>
          <a:lstStyle/>
          <a:p>
            <a:pPr algn="r" indent="0" marL="0">
              <a:buNone/>
            </a:pPr>
            <a:r>
              <a:rPr lang="en-US" sz="552" dirty="0">
                <a:solidFill>
                  <a:srgbClr val="9098B0"/>
                </a:solidFill>
                <a:latin typeface="Raleway" pitchFamily="34" charset="0"/>
                <a:ea typeface="Raleway" pitchFamily="34" charset="-122"/>
                <a:cs typeface="Raleway" pitchFamily="34" charset="-120"/>
              </a:rPr>
              <a:t>—</a:t>
            </a:r>
            <a:endParaRPr lang="en-US" sz="552"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01_Repositorios\13_Presentaciones\dash\televentas\ppt_slides\sk_12_Vanti.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29334" y="4898827"/>
            <a:ext cx="3695608" cy="511373"/>
          </a:xfrm>
          <a:prstGeom prst="rect">
            <a:avLst/>
          </a:prstGeom>
          <a:noFill/>
          <a:ln/>
        </p:spPr>
        <p:txBody>
          <a:bodyPr wrap="non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con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n-US" sz="672" dirty="0"/>
          </a:p>
        </p:txBody>
      </p:sp>
      <p:sp>
        <p:nvSpPr>
          <p:cNvPr id="4" name="Text 1"/>
          <p:cNvSpPr/>
          <p:nvPr/>
        </p:nvSpPr>
        <p:spPr>
          <a:xfrm>
            <a:off x="8650716" y="2270671"/>
            <a:ext cx="2798048" cy="290513"/>
          </a:xfrm>
          <a:prstGeom prst="rect">
            <a:avLst/>
          </a:prstGeom>
          <a:noFill/>
          <a:ln/>
        </p:spPr>
        <p:txBody>
          <a:bodyPr wrap="non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Semanas Ganadoras: 1.292/950 ventas (136 %) · Bono $100K/semana × trío</a:t>
            </a:r>
            <a:endParaRPr lang="en-US" sz="720" dirty="0"/>
          </a:p>
        </p:txBody>
      </p:sp>
      <p:sp>
        <p:nvSpPr>
          <p:cNvPr id="5" name="Text 2"/>
          <p:cNvSpPr/>
          <p:nvPr/>
        </p:nvSpPr>
        <p:spPr>
          <a:xfrm>
            <a:off x="8650716" y="2561183"/>
            <a:ext cx="2798048" cy="352425"/>
          </a:xfrm>
          <a:prstGeom prst="rect">
            <a:avLst/>
          </a:prstGeom>
          <a:noFill/>
          <a:ln/>
        </p:spPr>
        <p:txBody>
          <a:bodyPr wrap="non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La Gran Jugada: 4.798/4.200 ventas (114 %) · $7.000.000 al equipo</a:t>
            </a:r>
            <a:endParaRPr lang="en-US" sz="720" dirty="0"/>
          </a:p>
        </p:txBody>
      </p:sp>
      <p:sp>
        <p:nvSpPr>
          <p:cNvPr id="6" name="Text 3"/>
          <p:cNvSpPr/>
          <p:nvPr/>
        </p:nvSpPr>
        <p:spPr>
          <a:xfrm>
            <a:off x="8650716" y="2913608"/>
            <a:ext cx="2798048" cy="219075"/>
          </a:xfrm>
          <a:prstGeom prst="rect">
            <a:avLst/>
          </a:prstGeom>
          <a:noFill/>
          <a:ln/>
        </p:spPr>
        <p:txBody>
          <a:bodyPr wrap="none" lIns="0" tIns="0" rIns="0" bIns="0" rtlCol="0" anchor="t"/>
          <a:lstStyle/>
          <a:p>
            <a:pPr algn="l" indent="0" marL="0">
              <a:buNone/>
            </a:pPr>
            <a:r>
              <a:rPr lang="en-US" sz="720" dirty="0">
                <a:solidFill>
                  <a:srgbClr val="9098B0"/>
                </a:solidFill>
                <a:latin typeface="Raleway" pitchFamily="34" charset="0"/>
                <a:ea typeface="Raleway" pitchFamily="34" charset="-122"/>
                <a:cs typeface="Raleway" pitchFamily="34" charset="-120"/>
              </a:rPr>
              <a:t>Acelerador Mayo: 560/650 ventas (86 %) · Bono $300.000</a:t>
            </a:r>
            <a:endParaRPr lang="en-US" sz="720" dirty="0"/>
          </a:p>
        </p:txBody>
      </p:sp>
      <p:sp>
        <p:nvSpPr>
          <p:cNvPr id="7" name="Text 4"/>
          <p:cNvSpPr/>
          <p:nvPr/>
        </p:nvSpPr>
        <p:spPr>
          <a:xfrm>
            <a:off x="8650716" y="3132683"/>
            <a:ext cx="2798048" cy="214313"/>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8 eventos de incentivo Vanti en el semestre</a:t>
            </a:r>
            <a:endParaRPr lang="en-US" sz="720" dirty="0"/>
          </a:p>
        </p:txBody>
      </p:sp>
      <p:sp>
        <p:nvSpPr>
          <p:cNvPr id="8" name="Text 5"/>
          <p:cNvSpPr/>
          <p:nvPr/>
        </p:nvSpPr>
        <p:spPr>
          <a:xfrm>
            <a:off x="1213514" y="219075"/>
            <a:ext cx="3120401"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9" name="Text 6"/>
          <p:cNvSpPr/>
          <p:nvPr/>
        </p:nvSpPr>
        <p:spPr>
          <a:xfrm>
            <a:off x="1015429" y="28146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10" name="Text 7"/>
          <p:cNvSpPr/>
          <p:nvPr/>
        </p:nvSpPr>
        <p:spPr>
          <a:xfrm>
            <a:off x="1015429" y="463391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11" name="Text 8"/>
          <p:cNvSpPr/>
          <p:nvPr/>
        </p:nvSpPr>
        <p:spPr>
          <a:xfrm>
            <a:off x="1015429" y="1909762"/>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2" name="Text 9"/>
          <p:cNvSpPr/>
          <p:nvPr/>
        </p:nvSpPr>
        <p:spPr>
          <a:xfrm>
            <a:off x="1015429" y="2062162"/>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3" name="Text 10"/>
          <p:cNvSpPr/>
          <p:nvPr/>
        </p:nvSpPr>
        <p:spPr>
          <a:xfrm>
            <a:off x="7867453" y="1419225"/>
            <a:ext cx="2833617" cy="182761"/>
          </a:xfrm>
          <a:prstGeom prst="rect">
            <a:avLst/>
          </a:prstGeom>
          <a:noFill/>
          <a:ln/>
        </p:spPr>
        <p:txBody>
          <a:bodyPr wrap="non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El top 5 aporta  del semestre.</a:t>
            </a:r>
            <a:endParaRPr lang="en-US" sz="960" dirty="0"/>
          </a:p>
        </p:txBody>
      </p:sp>
      <p:sp>
        <p:nvSpPr>
          <p:cNvPr id="14" name="Text 11"/>
          <p:cNvSpPr/>
          <p:nvPr/>
        </p:nvSpPr>
        <p:spPr>
          <a:xfrm>
            <a:off x="704832" y="1028700"/>
            <a:ext cx="6248244" cy="200025"/>
          </a:xfrm>
          <a:prstGeom prst="rect">
            <a:avLst/>
          </a:prstGeom>
          <a:noFill/>
          <a:ln/>
        </p:spPr>
        <p:txBody>
          <a:bodyPr wrap="non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Equipo completo (25 asesores)</a:t>
            </a:r>
            <a:endParaRPr lang="en-US" sz="864" dirty="0"/>
          </a:p>
        </p:txBody>
      </p:sp>
      <p:sp>
        <p:nvSpPr>
          <p:cNvPr id="15" name="Text 12"/>
          <p:cNvSpPr/>
          <p:nvPr/>
        </p:nvSpPr>
        <p:spPr>
          <a:xfrm>
            <a:off x="1015429" y="160496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6" name="Text 13"/>
          <p:cNvSpPr/>
          <p:nvPr/>
        </p:nvSpPr>
        <p:spPr>
          <a:xfrm>
            <a:off x="1015429" y="509111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17" name="Text 14"/>
          <p:cNvSpPr/>
          <p:nvPr/>
        </p:nvSpPr>
        <p:spPr>
          <a:xfrm>
            <a:off x="1015429" y="31194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18" name="Text 15"/>
          <p:cNvSpPr/>
          <p:nvPr/>
        </p:nvSpPr>
        <p:spPr>
          <a:xfrm>
            <a:off x="1015429" y="1457325"/>
            <a:ext cx="2229985" cy="147637"/>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19" name="Text 16"/>
          <p:cNvSpPr/>
          <p:nvPr/>
        </p:nvSpPr>
        <p:spPr>
          <a:xfrm>
            <a:off x="1015429" y="26622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0" name="Text 17"/>
          <p:cNvSpPr/>
          <p:nvPr/>
        </p:nvSpPr>
        <p:spPr>
          <a:xfrm>
            <a:off x="1015429" y="29670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1" name="Text 18"/>
          <p:cNvSpPr/>
          <p:nvPr/>
        </p:nvSpPr>
        <p:spPr>
          <a:xfrm>
            <a:off x="1015429" y="25098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2" name="Text 19"/>
          <p:cNvSpPr/>
          <p:nvPr/>
        </p:nvSpPr>
        <p:spPr>
          <a:xfrm>
            <a:off x="1015429" y="35766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Rhoymar HernáNdez AlbarráN</a:t>
            </a:r>
            <a:endParaRPr lang="en-US" sz="660" dirty="0"/>
          </a:p>
        </p:txBody>
      </p:sp>
      <p:sp>
        <p:nvSpPr>
          <p:cNvPr id="23" name="Text 20"/>
          <p:cNvSpPr/>
          <p:nvPr/>
        </p:nvSpPr>
        <p:spPr>
          <a:xfrm>
            <a:off x="1015429" y="32718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4" name="Text 21"/>
          <p:cNvSpPr/>
          <p:nvPr/>
        </p:nvSpPr>
        <p:spPr>
          <a:xfrm>
            <a:off x="1015429" y="175736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5" name="Text 22"/>
          <p:cNvSpPr/>
          <p:nvPr/>
        </p:nvSpPr>
        <p:spPr>
          <a:xfrm>
            <a:off x="1015429" y="4938712"/>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26" name="Text 23"/>
          <p:cNvSpPr/>
          <p:nvPr/>
        </p:nvSpPr>
        <p:spPr>
          <a:xfrm>
            <a:off x="1015429" y="40338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27" name="Text 24"/>
          <p:cNvSpPr/>
          <p:nvPr/>
        </p:nvSpPr>
        <p:spPr>
          <a:xfrm>
            <a:off x="1015429" y="4481512"/>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28" name="Text 25"/>
          <p:cNvSpPr/>
          <p:nvPr/>
        </p:nvSpPr>
        <p:spPr>
          <a:xfrm>
            <a:off x="1015429" y="37290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CéSar Barrera PáJaro</a:t>
            </a:r>
            <a:endParaRPr lang="en-US" sz="660" dirty="0"/>
          </a:p>
        </p:txBody>
      </p:sp>
      <p:sp>
        <p:nvSpPr>
          <p:cNvPr id="29" name="Text 26"/>
          <p:cNvSpPr/>
          <p:nvPr/>
        </p:nvSpPr>
        <p:spPr>
          <a:xfrm>
            <a:off x="1015429" y="41862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Yannecce MejíA GóMez</a:t>
            </a:r>
            <a:endParaRPr lang="en-US" sz="660" dirty="0"/>
          </a:p>
        </p:txBody>
      </p:sp>
      <p:sp>
        <p:nvSpPr>
          <p:cNvPr id="30" name="Text 27"/>
          <p:cNvSpPr/>
          <p:nvPr/>
        </p:nvSpPr>
        <p:spPr>
          <a:xfrm>
            <a:off x="1015429" y="2214563"/>
            <a:ext cx="2229985" cy="142875"/>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1" name="Text 28"/>
          <p:cNvSpPr/>
          <p:nvPr/>
        </p:nvSpPr>
        <p:spPr>
          <a:xfrm>
            <a:off x="1015429" y="478631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2" name="Text 29"/>
          <p:cNvSpPr/>
          <p:nvPr/>
        </p:nvSpPr>
        <p:spPr>
          <a:xfrm>
            <a:off x="7448364" y="1861096"/>
            <a:ext cx="4000400" cy="13335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Incentivos Vanti 1S</a:t>
            </a:r>
            <a:endParaRPr lang="en-US" sz="816" dirty="0"/>
          </a:p>
        </p:txBody>
      </p:sp>
      <p:sp>
        <p:nvSpPr>
          <p:cNvPr id="33" name="Text 30"/>
          <p:cNvSpPr/>
          <p:nvPr/>
        </p:nvSpPr>
        <p:spPr>
          <a:xfrm>
            <a:off x="7448364" y="1090613"/>
            <a:ext cx="1357576" cy="1524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Lectura del equipo</a:t>
            </a:r>
            <a:endParaRPr lang="en-US" sz="1020" dirty="0"/>
          </a:p>
        </p:txBody>
      </p:sp>
      <p:sp>
        <p:nvSpPr>
          <p:cNvPr id="34" name="Text 31"/>
          <p:cNvSpPr/>
          <p:nvPr/>
        </p:nvSpPr>
        <p:spPr>
          <a:xfrm>
            <a:off x="10196555" y="209550"/>
            <a:ext cx="1423654"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Asesores</a:t>
            </a:r>
            <a:endParaRPr lang="en-US" sz="840" dirty="0"/>
          </a:p>
        </p:txBody>
      </p:sp>
      <p:sp>
        <p:nvSpPr>
          <p:cNvPr id="35" name="Text 32"/>
          <p:cNvSpPr/>
          <p:nvPr/>
        </p:nvSpPr>
        <p:spPr>
          <a:xfrm>
            <a:off x="1015429" y="34242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36" name="Text 33"/>
          <p:cNvSpPr/>
          <p:nvPr/>
        </p:nvSpPr>
        <p:spPr>
          <a:xfrm>
            <a:off x="1015429" y="23574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37" name="Text 34"/>
          <p:cNvSpPr/>
          <p:nvPr/>
        </p:nvSpPr>
        <p:spPr>
          <a:xfrm>
            <a:off x="1015429" y="38814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38" name="Text 35"/>
          <p:cNvSpPr/>
          <p:nvPr/>
        </p:nvSpPr>
        <p:spPr>
          <a:xfrm>
            <a:off x="1015429" y="4338637"/>
            <a:ext cx="2229985" cy="142875"/>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39" name="Text 36"/>
          <p:cNvSpPr/>
          <p:nvPr/>
        </p:nvSpPr>
        <p:spPr>
          <a:xfrm>
            <a:off x="1687222" y="5429250"/>
            <a:ext cx="450343" cy="104775"/>
          </a:xfrm>
          <a:prstGeom prst="rect">
            <a:avLst/>
          </a:prstGeom>
          <a:noFill/>
          <a:ln/>
        </p:spPr>
        <p:txBody>
          <a:bodyPr wrap="none" lIns="0" tIns="0" rIns="0" bIns="0" rtlCol="0" anchor="t"/>
          <a:lstStyle/>
          <a:p>
            <a:pPr algn="l" indent="0" marL="0">
              <a:buNone/>
            </a:pPr>
            <a:r>
              <a:rPr lang="en-US" sz="648" dirty="0">
                <a:solidFill>
                  <a:srgbClr val="9098B0"/>
                </a:solidFill>
                <a:latin typeface="Raleway" pitchFamily="34" charset="0"/>
                <a:ea typeface="Raleway" pitchFamily="34" charset="-122"/>
                <a:cs typeface="Raleway" pitchFamily="34" charset="-120"/>
              </a:rPr>
              <a:t>— = sin dato</a:t>
            </a:r>
            <a:endParaRPr lang="en-US" sz="648" dirty="0"/>
          </a:p>
        </p:txBody>
      </p:sp>
      <p:sp>
        <p:nvSpPr>
          <p:cNvPr id="40" name="Text 37"/>
          <p:cNvSpPr/>
          <p:nvPr/>
        </p:nvSpPr>
        <p:spPr>
          <a:xfrm>
            <a:off x="1149073" y="5429250"/>
            <a:ext cx="423852" cy="104775"/>
          </a:xfrm>
          <a:prstGeom prst="rect">
            <a:avLst/>
          </a:prstGeom>
          <a:noFill/>
          <a:ln/>
        </p:spPr>
        <p:txBody>
          <a:bodyPr wrap="none" lIns="0" tIns="0" rIns="0" bIns="0" rtlCol="0" anchor="t"/>
          <a:lstStyle/>
          <a:p>
            <a:pPr algn="l" indent="0" marL="0">
              <a:buNone/>
            </a:pPr>
            <a:r>
              <a:rPr lang="en-US" sz="648" dirty="0">
                <a:solidFill>
                  <a:srgbClr val="C44A1A"/>
                </a:solidFill>
                <a:latin typeface="Raleway" pitchFamily="34" charset="0"/>
                <a:ea typeface="Raleway" pitchFamily="34" charset="-122"/>
                <a:cs typeface="Raleway" pitchFamily="34" charset="-120"/>
              </a:rPr>
              <a:t>rojo &lt; meta</a:t>
            </a:r>
            <a:endParaRPr lang="en-US" sz="648" dirty="0"/>
          </a:p>
        </p:txBody>
      </p:sp>
      <p:sp>
        <p:nvSpPr>
          <p:cNvPr id="41" name="Text 38"/>
          <p:cNvSpPr/>
          <p:nvPr/>
        </p:nvSpPr>
        <p:spPr>
          <a:xfrm>
            <a:off x="7953771" y="2042071"/>
            <a:ext cx="696945"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Eventos</a:t>
            </a:r>
            <a:endParaRPr lang="en-US" sz="888" dirty="0"/>
          </a:p>
        </p:txBody>
      </p:sp>
      <p:sp>
        <p:nvSpPr>
          <p:cNvPr id="42" name="Text 39"/>
          <p:cNvSpPr/>
          <p:nvPr/>
        </p:nvSpPr>
        <p:spPr>
          <a:xfrm>
            <a:off x="8650716" y="2042071"/>
            <a:ext cx="2798048"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Detalle</a:t>
            </a:r>
            <a:endParaRPr lang="en-US" sz="888" dirty="0"/>
          </a:p>
        </p:txBody>
      </p:sp>
      <p:sp>
        <p:nvSpPr>
          <p:cNvPr id="43" name="Text 40"/>
          <p:cNvSpPr/>
          <p:nvPr/>
        </p:nvSpPr>
        <p:spPr>
          <a:xfrm>
            <a:off x="1015429" y="1266825"/>
            <a:ext cx="2229985" cy="1905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44" name="Text 41"/>
          <p:cNvSpPr/>
          <p:nvPr/>
        </p:nvSpPr>
        <p:spPr>
          <a:xfrm>
            <a:off x="6328907" y="5243513"/>
            <a:ext cx="624170"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13.917</a:t>
            </a:r>
            <a:endParaRPr lang="en-US" sz="696" dirty="0"/>
          </a:p>
        </p:txBody>
      </p:sp>
      <p:sp>
        <p:nvSpPr>
          <p:cNvPr id="45" name="Text 42"/>
          <p:cNvSpPr/>
          <p:nvPr/>
        </p:nvSpPr>
        <p:spPr>
          <a:xfrm>
            <a:off x="7562661" y="2604046"/>
            <a:ext cx="205229" cy="26670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MarAbr</a:t>
            </a:r>
            <a:endParaRPr lang="en-US" sz="888" dirty="0"/>
          </a:p>
        </p:txBody>
      </p:sp>
      <p:sp>
        <p:nvSpPr>
          <p:cNvPr id="46" name="Text 43"/>
          <p:cNvSpPr/>
          <p:nvPr/>
        </p:nvSpPr>
        <p:spPr>
          <a:xfrm>
            <a:off x="6328907" y="1266825"/>
            <a:ext cx="624170"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47" name="Text 44"/>
          <p:cNvSpPr/>
          <p:nvPr/>
        </p:nvSpPr>
        <p:spPr>
          <a:xfrm>
            <a:off x="6690401" y="1481137"/>
            <a:ext cx="205527"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48" name="Text 45"/>
          <p:cNvSpPr/>
          <p:nvPr/>
        </p:nvSpPr>
        <p:spPr>
          <a:xfrm>
            <a:off x="6695461" y="1633538"/>
            <a:ext cx="200466"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49" name="Text 46"/>
          <p:cNvSpPr/>
          <p:nvPr/>
        </p:nvSpPr>
        <p:spPr>
          <a:xfrm>
            <a:off x="1015429" y="5243513"/>
            <a:ext cx="2229985" cy="147637"/>
          </a:xfrm>
          <a:prstGeom prst="rect">
            <a:avLst/>
          </a:prstGeom>
          <a:noFill/>
          <a:ln/>
        </p:spPr>
        <p:txBody>
          <a:bodyPr wrap="none" lIns="0" tIns="0" rIns="0" bIns="0" rtlCol="0" anchor="t"/>
          <a:lstStyle/>
          <a:p>
            <a:pPr algn="l" indent="0" marL="0">
              <a:buNone/>
            </a:pPr>
            <a:r>
              <a:rPr lang="en-US" sz="696" b="1" dirty="0">
                <a:solidFill>
                  <a:srgbClr val="120180"/>
                </a:solidFill>
                <a:latin typeface="Raleway" pitchFamily="34" charset="0"/>
                <a:ea typeface="Raleway" pitchFamily="34" charset="-122"/>
                <a:cs typeface="Raleway" pitchFamily="34" charset="-120"/>
              </a:rPr>
              <a:t>Total</a:t>
            </a:r>
            <a:endParaRPr lang="en-US" sz="696" dirty="0"/>
          </a:p>
        </p:txBody>
      </p:sp>
      <p:sp>
        <p:nvSpPr>
          <p:cNvPr id="50" name="Text 47"/>
          <p:cNvSpPr/>
          <p:nvPr/>
        </p:nvSpPr>
        <p:spPr>
          <a:xfrm>
            <a:off x="3245414" y="5243513"/>
            <a:ext cx="511807"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2.245</a:t>
            </a:r>
            <a:endParaRPr lang="en-US" sz="696" dirty="0"/>
          </a:p>
        </p:txBody>
      </p:sp>
      <p:sp>
        <p:nvSpPr>
          <p:cNvPr id="51" name="Text 48"/>
          <p:cNvSpPr/>
          <p:nvPr/>
        </p:nvSpPr>
        <p:spPr>
          <a:xfrm>
            <a:off x="3757221" y="5243513"/>
            <a:ext cx="508087"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2.374</a:t>
            </a:r>
            <a:endParaRPr lang="en-US" sz="696" dirty="0"/>
          </a:p>
        </p:txBody>
      </p:sp>
      <p:sp>
        <p:nvSpPr>
          <p:cNvPr id="52" name="Text 49"/>
          <p:cNvSpPr/>
          <p:nvPr/>
        </p:nvSpPr>
        <p:spPr>
          <a:xfrm>
            <a:off x="4265307" y="5243513"/>
            <a:ext cx="508831"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2.431</a:t>
            </a:r>
            <a:endParaRPr lang="en-US" sz="696" dirty="0"/>
          </a:p>
        </p:txBody>
      </p:sp>
      <p:sp>
        <p:nvSpPr>
          <p:cNvPr id="53" name="Text 50"/>
          <p:cNvSpPr/>
          <p:nvPr/>
        </p:nvSpPr>
        <p:spPr>
          <a:xfrm>
            <a:off x="4774138" y="5243513"/>
            <a:ext cx="516718"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2.367</a:t>
            </a:r>
            <a:endParaRPr lang="en-US" sz="696" dirty="0"/>
          </a:p>
        </p:txBody>
      </p:sp>
      <p:sp>
        <p:nvSpPr>
          <p:cNvPr id="54" name="Text 51"/>
          <p:cNvSpPr/>
          <p:nvPr/>
        </p:nvSpPr>
        <p:spPr>
          <a:xfrm>
            <a:off x="5290856" y="5243513"/>
            <a:ext cx="533089"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2.186</a:t>
            </a:r>
            <a:endParaRPr lang="en-US" sz="696" dirty="0"/>
          </a:p>
        </p:txBody>
      </p:sp>
      <p:sp>
        <p:nvSpPr>
          <p:cNvPr id="55" name="Text 52"/>
          <p:cNvSpPr/>
          <p:nvPr/>
        </p:nvSpPr>
        <p:spPr>
          <a:xfrm>
            <a:off x="5823945" y="5243513"/>
            <a:ext cx="504961"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2.314</a:t>
            </a:r>
            <a:endParaRPr lang="en-US" sz="696" dirty="0"/>
          </a:p>
        </p:txBody>
      </p:sp>
      <p:sp>
        <p:nvSpPr>
          <p:cNvPr id="56" name="Text 53"/>
          <p:cNvSpPr/>
          <p:nvPr/>
        </p:nvSpPr>
        <p:spPr>
          <a:xfrm>
            <a:off x="704832" y="5429250"/>
            <a:ext cx="329944" cy="104775"/>
          </a:xfrm>
          <a:prstGeom prst="rect">
            <a:avLst/>
          </a:prstGeom>
          <a:noFill/>
          <a:ln/>
        </p:spPr>
        <p:txBody>
          <a:bodyPr wrap="none" lIns="0" tIns="0" rIns="0" bIns="0" rtlCol="0" anchor="t"/>
          <a:lstStyle/>
          <a:p>
            <a:pPr algn="l" indent="0" marL="0">
              <a:buNone/>
            </a:pPr>
            <a:r>
              <a:rPr lang="en-US" sz="648" dirty="0">
                <a:solidFill>
                  <a:srgbClr val="9098B0"/>
                </a:solidFill>
                <a:latin typeface="Raleway" pitchFamily="34" charset="0"/>
                <a:ea typeface="Raleway" pitchFamily="34" charset="-122"/>
                <a:cs typeface="Raleway" pitchFamily="34" charset="-120"/>
              </a:rPr>
              <a:t>Top 5</a:t>
            </a:r>
            <a:endParaRPr lang="en-US" sz="648" dirty="0"/>
          </a:p>
        </p:txBody>
      </p:sp>
      <p:sp>
        <p:nvSpPr>
          <p:cNvPr id="57" name="Text 54"/>
          <p:cNvSpPr/>
          <p:nvPr/>
        </p:nvSpPr>
        <p:spPr>
          <a:xfrm>
            <a:off x="10517867" y="1066800"/>
            <a:ext cx="432037" cy="200025"/>
          </a:xfrm>
          <a:prstGeom prst="rect">
            <a:avLst/>
          </a:prstGeom>
          <a:noFill/>
          <a:ln/>
        </p:spPr>
        <p:txBody>
          <a:bodyPr wrap="none" lIns="0" tIns="0" rIns="0" bIns="0" rtlCol="0" anchor="t"/>
          <a:lstStyle/>
          <a:p>
            <a:pPr algn="ctr" indent="0" marL="0">
              <a:buNone/>
            </a:pPr>
            <a:r>
              <a:rPr lang="en-US" sz="720" b="1" dirty="0">
                <a:solidFill>
                  <a:srgbClr val="FFFFFF"/>
                </a:solidFill>
                <a:latin typeface="Raleway" pitchFamily="34" charset="0"/>
                <a:ea typeface="Raleway" pitchFamily="34" charset="-122"/>
                <a:cs typeface="Raleway" pitchFamily="34" charset="-120"/>
              </a:rPr>
              <a:t>Vanti</a:t>
            </a:r>
            <a:endParaRPr lang="en-US" sz="720" dirty="0"/>
          </a:p>
        </p:txBody>
      </p:sp>
      <p:sp>
        <p:nvSpPr>
          <p:cNvPr id="58" name="Text 55"/>
          <p:cNvSpPr/>
          <p:nvPr/>
        </p:nvSpPr>
        <p:spPr>
          <a:xfrm>
            <a:off x="7448364" y="3132683"/>
            <a:ext cx="505408" cy="214313"/>
          </a:xfrm>
          <a:prstGeom prst="rect">
            <a:avLst/>
          </a:prstGeom>
          <a:noFill/>
          <a:ln/>
        </p:spPr>
        <p:txBody>
          <a:bodyPr wrap="none" lIns="0" tIns="0" rIns="0" bIns="0" rtlCol="0" anchor="t"/>
          <a:lstStyle/>
          <a:p>
            <a:pPr algn="l" indent="0" marL="0">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59" name="Text 56"/>
          <p:cNvSpPr/>
          <p:nvPr/>
        </p:nvSpPr>
        <p:spPr>
          <a:xfrm>
            <a:off x="10988003" y="1066800"/>
            <a:ext cx="460760" cy="200025"/>
          </a:xfrm>
          <a:prstGeom prst="rect">
            <a:avLst/>
          </a:prstGeom>
          <a:noFill/>
          <a:ln/>
        </p:spPr>
        <p:txBody>
          <a:bodyPr wrap="none" lIns="0" tIns="0" rIns="0" bIns="0" rtlCol="0" anchor="t"/>
          <a:lstStyle/>
          <a:p>
            <a:pPr algn="ctr" indent="0" marL="0">
              <a:buNone/>
            </a:pPr>
            <a:r>
              <a:rPr lang="en-US" sz="720" b="1" dirty="0">
                <a:solidFill>
                  <a:srgbClr val="9098B0"/>
                </a:solidFill>
                <a:latin typeface="Raleway" pitchFamily="34" charset="0"/>
                <a:ea typeface="Raleway" pitchFamily="34" charset="-122"/>
                <a:cs typeface="Raleway" pitchFamily="34" charset="-120"/>
              </a:rPr>
              <a:t>Xuma</a:t>
            </a:r>
            <a:endParaRPr lang="en-US" sz="720" dirty="0"/>
          </a:p>
        </p:txBody>
      </p:sp>
      <p:sp>
        <p:nvSpPr>
          <p:cNvPr id="60" name="Text 57"/>
          <p:cNvSpPr/>
          <p:nvPr/>
        </p:nvSpPr>
        <p:spPr>
          <a:xfrm>
            <a:off x="3245414" y="1266825"/>
            <a:ext cx="511807"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61" name="Text 58"/>
          <p:cNvSpPr/>
          <p:nvPr/>
        </p:nvSpPr>
        <p:spPr>
          <a:xfrm>
            <a:off x="3757221" y="1266825"/>
            <a:ext cx="508087"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62" name="Text 59"/>
          <p:cNvSpPr/>
          <p:nvPr/>
        </p:nvSpPr>
        <p:spPr>
          <a:xfrm>
            <a:off x="4265307" y="1266825"/>
            <a:ext cx="508831"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63" name="Text 60"/>
          <p:cNvSpPr/>
          <p:nvPr/>
        </p:nvSpPr>
        <p:spPr>
          <a:xfrm>
            <a:off x="4774138" y="1266825"/>
            <a:ext cx="516718"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64" name="Text 61"/>
          <p:cNvSpPr/>
          <p:nvPr/>
        </p:nvSpPr>
        <p:spPr>
          <a:xfrm>
            <a:off x="5290856" y="1266825"/>
            <a:ext cx="533089"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65" name="Text 62"/>
          <p:cNvSpPr/>
          <p:nvPr/>
        </p:nvSpPr>
        <p:spPr>
          <a:xfrm>
            <a:off x="5823945" y="1266825"/>
            <a:ext cx="504961"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66" name="Text 63"/>
          <p:cNvSpPr/>
          <p:nvPr/>
        </p:nvSpPr>
        <p:spPr>
          <a:xfrm>
            <a:off x="3245414" y="1457325"/>
            <a:ext cx="511807"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67" name="Text 64"/>
          <p:cNvSpPr/>
          <p:nvPr/>
        </p:nvSpPr>
        <p:spPr>
          <a:xfrm>
            <a:off x="3757221" y="1457325"/>
            <a:ext cx="508087"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68" name="Text 65"/>
          <p:cNvSpPr/>
          <p:nvPr/>
        </p:nvSpPr>
        <p:spPr>
          <a:xfrm>
            <a:off x="4265307" y="1457325"/>
            <a:ext cx="508831"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69" name="Text 66"/>
          <p:cNvSpPr/>
          <p:nvPr/>
        </p:nvSpPr>
        <p:spPr>
          <a:xfrm>
            <a:off x="4774138" y="1457325"/>
            <a:ext cx="516718"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70" name="Text 67"/>
          <p:cNvSpPr/>
          <p:nvPr/>
        </p:nvSpPr>
        <p:spPr>
          <a:xfrm>
            <a:off x="5290856" y="1457325"/>
            <a:ext cx="533089"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71" name="Text 68"/>
          <p:cNvSpPr/>
          <p:nvPr/>
        </p:nvSpPr>
        <p:spPr>
          <a:xfrm>
            <a:off x="5823945" y="1457325"/>
            <a:ext cx="504961"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72" name="Text 69"/>
          <p:cNvSpPr/>
          <p:nvPr/>
        </p:nvSpPr>
        <p:spPr>
          <a:xfrm>
            <a:off x="3245414" y="1604963"/>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73" name="Text 70"/>
          <p:cNvSpPr/>
          <p:nvPr/>
        </p:nvSpPr>
        <p:spPr>
          <a:xfrm>
            <a:off x="3757221" y="1604963"/>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74" name="Text 71"/>
          <p:cNvSpPr/>
          <p:nvPr/>
        </p:nvSpPr>
        <p:spPr>
          <a:xfrm>
            <a:off x="4265307" y="1604963"/>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75" name="Text 72"/>
          <p:cNvSpPr/>
          <p:nvPr/>
        </p:nvSpPr>
        <p:spPr>
          <a:xfrm>
            <a:off x="4774138" y="1604963"/>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76" name="Text 73"/>
          <p:cNvSpPr/>
          <p:nvPr/>
        </p:nvSpPr>
        <p:spPr>
          <a:xfrm>
            <a:off x="5290856" y="1604963"/>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77" name="Text 74"/>
          <p:cNvSpPr/>
          <p:nvPr/>
        </p:nvSpPr>
        <p:spPr>
          <a:xfrm>
            <a:off x="5823945" y="1604963"/>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78" name="Text 75"/>
          <p:cNvSpPr/>
          <p:nvPr/>
        </p:nvSpPr>
        <p:spPr>
          <a:xfrm>
            <a:off x="3245414" y="1757363"/>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79" name="Text 76"/>
          <p:cNvSpPr/>
          <p:nvPr/>
        </p:nvSpPr>
        <p:spPr>
          <a:xfrm>
            <a:off x="3757221" y="1757363"/>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0" name="Text 77"/>
          <p:cNvSpPr/>
          <p:nvPr/>
        </p:nvSpPr>
        <p:spPr>
          <a:xfrm>
            <a:off x="4265307" y="1757363"/>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81" name="Text 78"/>
          <p:cNvSpPr/>
          <p:nvPr/>
        </p:nvSpPr>
        <p:spPr>
          <a:xfrm>
            <a:off x="4774138" y="1757363"/>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82" name="Text 79"/>
          <p:cNvSpPr/>
          <p:nvPr/>
        </p:nvSpPr>
        <p:spPr>
          <a:xfrm>
            <a:off x="5290856" y="1757363"/>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3" name="Text 80"/>
          <p:cNvSpPr/>
          <p:nvPr/>
        </p:nvSpPr>
        <p:spPr>
          <a:xfrm>
            <a:off x="5823945" y="1757363"/>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84" name="Text 81"/>
          <p:cNvSpPr/>
          <p:nvPr/>
        </p:nvSpPr>
        <p:spPr>
          <a:xfrm>
            <a:off x="6752759" y="1785938"/>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85" name="Text 82"/>
          <p:cNvSpPr/>
          <p:nvPr/>
        </p:nvSpPr>
        <p:spPr>
          <a:xfrm>
            <a:off x="3245414" y="1909762"/>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86" name="Text 83"/>
          <p:cNvSpPr/>
          <p:nvPr/>
        </p:nvSpPr>
        <p:spPr>
          <a:xfrm>
            <a:off x="3757221" y="1909762"/>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87" name="Text 84"/>
          <p:cNvSpPr/>
          <p:nvPr/>
        </p:nvSpPr>
        <p:spPr>
          <a:xfrm>
            <a:off x="4265307" y="1909762"/>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88" name="Text 85"/>
          <p:cNvSpPr/>
          <p:nvPr/>
        </p:nvSpPr>
        <p:spPr>
          <a:xfrm>
            <a:off x="4774138" y="1909762"/>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89" name="Text 86"/>
          <p:cNvSpPr/>
          <p:nvPr/>
        </p:nvSpPr>
        <p:spPr>
          <a:xfrm>
            <a:off x="5290856" y="1909762"/>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90" name="Text 87"/>
          <p:cNvSpPr/>
          <p:nvPr/>
        </p:nvSpPr>
        <p:spPr>
          <a:xfrm>
            <a:off x="5823945" y="1909762"/>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91" name="Text 88"/>
          <p:cNvSpPr/>
          <p:nvPr/>
        </p:nvSpPr>
        <p:spPr>
          <a:xfrm>
            <a:off x="6753205" y="1938337"/>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92" name="Text 89"/>
          <p:cNvSpPr/>
          <p:nvPr/>
        </p:nvSpPr>
        <p:spPr>
          <a:xfrm>
            <a:off x="3245414" y="2062162"/>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93" name="Text 90"/>
          <p:cNvSpPr/>
          <p:nvPr/>
        </p:nvSpPr>
        <p:spPr>
          <a:xfrm>
            <a:off x="3757221" y="2062162"/>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4" name="Text 91"/>
          <p:cNvSpPr/>
          <p:nvPr/>
        </p:nvSpPr>
        <p:spPr>
          <a:xfrm>
            <a:off x="4265307" y="2062162"/>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5" name="Text 92"/>
          <p:cNvSpPr/>
          <p:nvPr/>
        </p:nvSpPr>
        <p:spPr>
          <a:xfrm>
            <a:off x="4774138" y="2062162"/>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6" name="Text 93"/>
          <p:cNvSpPr/>
          <p:nvPr/>
        </p:nvSpPr>
        <p:spPr>
          <a:xfrm>
            <a:off x="5290856" y="2062162"/>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7" name="Text 94"/>
          <p:cNvSpPr/>
          <p:nvPr/>
        </p:nvSpPr>
        <p:spPr>
          <a:xfrm>
            <a:off x="5823945" y="2062162"/>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98" name="Text 95"/>
          <p:cNvSpPr/>
          <p:nvPr/>
        </p:nvSpPr>
        <p:spPr>
          <a:xfrm>
            <a:off x="6752759" y="2090737"/>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99" name="Text 96"/>
          <p:cNvSpPr/>
          <p:nvPr/>
        </p:nvSpPr>
        <p:spPr>
          <a:xfrm>
            <a:off x="3245414" y="2214563"/>
            <a:ext cx="511807"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100" name="Text 97"/>
          <p:cNvSpPr/>
          <p:nvPr/>
        </p:nvSpPr>
        <p:spPr>
          <a:xfrm>
            <a:off x="3757221" y="2214563"/>
            <a:ext cx="508087"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101" name="Text 98"/>
          <p:cNvSpPr/>
          <p:nvPr/>
        </p:nvSpPr>
        <p:spPr>
          <a:xfrm>
            <a:off x="4265307" y="2214563"/>
            <a:ext cx="508831"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102" name="Text 99"/>
          <p:cNvSpPr/>
          <p:nvPr/>
        </p:nvSpPr>
        <p:spPr>
          <a:xfrm>
            <a:off x="4774138" y="2214563"/>
            <a:ext cx="516718"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03" name="Text 100"/>
          <p:cNvSpPr/>
          <p:nvPr/>
        </p:nvSpPr>
        <p:spPr>
          <a:xfrm>
            <a:off x="5823945" y="2214563"/>
            <a:ext cx="504961"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4" name="Text 101"/>
          <p:cNvSpPr/>
          <p:nvPr/>
        </p:nvSpPr>
        <p:spPr>
          <a:xfrm>
            <a:off x="6743680" y="2238375"/>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105" name="Text 102"/>
          <p:cNvSpPr/>
          <p:nvPr/>
        </p:nvSpPr>
        <p:spPr>
          <a:xfrm>
            <a:off x="3245414" y="23574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6" name="Text 103"/>
          <p:cNvSpPr/>
          <p:nvPr/>
        </p:nvSpPr>
        <p:spPr>
          <a:xfrm>
            <a:off x="3757221" y="23574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07" name="Text 104"/>
          <p:cNvSpPr/>
          <p:nvPr/>
        </p:nvSpPr>
        <p:spPr>
          <a:xfrm>
            <a:off x="4265307" y="23574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08" name="Text 105"/>
          <p:cNvSpPr/>
          <p:nvPr/>
        </p:nvSpPr>
        <p:spPr>
          <a:xfrm>
            <a:off x="4774138" y="2357438"/>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09" name="Text 106"/>
          <p:cNvSpPr/>
          <p:nvPr/>
        </p:nvSpPr>
        <p:spPr>
          <a:xfrm>
            <a:off x="5290856" y="23574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10" name="Text 107"/>
          <p:cNvSpPr/>
          <p:nvPr/>
        </p:nvSpPr>
        <p:spPr>
          <a:xfrm>
            <a:off x="5823945" y="23574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11" name="Text 108"/>
          <p:cNvSpPr/>
          <p:nvPr/>
        </p:nvSpPr>
        <p:spPr>
          <a:xfrm>
            <a:off x="6748145" y="23860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112" name="Text 109"/>
          <p:cNvSpPr/>
          <p:nvPr/>
        </p:nvSpPr>
        <p:spPr>
          <a:xfrm>
            <a:off x="3245414" y="25098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3" name="Text 110"/>
          <p:cNvSpPr/>
          <p:nvPr/>
        </p:nvSpPr>
        <p:spPr>
          <a:xfrm>
            <a:off x="3757221" y="25098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14" name="Text 111"/>
          <p:cNvSpPr/>
          <p:nvPr/>
        </p:nvSpPr>
        <p:spPr>
          <a:xfrm>
            <a:off x="4265307" y="25098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15" name="Text 112"/>
          <p:cNvSpPr/>
          <p:nvPr/>
        </p:nvSpPr>
        <p:spPr>
          <a:xfrm>
            <a:off x="4774138" y="2509838"/>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16" name="Text 113"/>
          <p:cNvSpPr/>
          <p:nvPr/>
        </p:nvSpPr>
        <p:spPr>
          <a:xfrm>
            <a:off x="5290856" y="2509838"/>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17" name="Text 114"/>
          <p:cNvSpPr/>
          <p:nvPr/>
        </p:nvSpPr>
        <p:spPr>
          <a:xfrm>
            <a:off x="5823945" y="25098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132</a:t>
            </a:r>
            <a:endParaRPr lang="en-US" sz="696" dirty="0"/>
          </a:p>
        </p:txBody>
      </p:sp>
      <p:sp>
        <p:nvSpPr>
          <p:cNvPr id="118" name="Text 115"/>
          <p:cNvSpPr/>
          <p:nvPr/>
        </p:nvSpPr>
        <p:spPr>
          <a:xfrm>
            <a:off x="6747847" y="25384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119" name="Text 116"/>
          <p:cNvSpPr/>
          <p:nvPr/>
        </p:nvSpPr>
        <p:spPr>
          <a:xfrm>
            <a:off x="3245414" y="2662237"/>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0" name="Text 117"/>
          <p:cNvSpPr/>
          <p:nvPr/>
        </p:nvSpPr>
        <p:spPr>
          <a:xfrm>
            <a:off x="3757221" y="2662237"/>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1" name="Text 118"/>
          <p:cNvSpPr/>
          <p:nvPr/>
        </p:nvSpPr>
        <p:spPr>
          <a:xfrm>
            <a:off x="4265307" y="2662237"/>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22" name="Text 119"/>
          <p:cNvSpPr/>
          <p:nvPr/>
        </p:nvSpPr>
        <p:spPr>
          <a:xfrm>
            <a:off x="4774138" y="2662237"/>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138</a:t>
            </a:r>
            <a:endParaRPr lang="en-US" sz="696" dirty="0"/>
          </a:p>
        </p:txBody>
      </p:sp>
      <p:sp>
        <p:nvSpPr>
          <p:cNvPr id="123" name="Text 120"/>
          <p:cNvSpPr/>
          <p:nvPr/>
        </p:nvSpPr>
        <p:spPr>
          <a:xfrm>
            <a:off x="5290856" y="2662237"/>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4" name="Text 121"/>
          <p:cNvSpPr/>
          <p:nvPr/>
        </p:nvSpPr>
        <p:spPr>
          <a:xfrm>
            <a:off x="5823945" y="2662237"/>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25" name="Text 122"/>
          <p:cNvSpPr/>
          <p:nvPr/>
        </p:nvSpPr>
        <p:spPr>
          <a:xfrm>
            <a:off x="6748591" y="26908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126" name="Text 123"/>
          <p:cNvSpPr/>
          <p:nvPr/>
        </p:nvSpPr>
        <p:spPr>
          <a:xfrm>
            <a:off x="3245414" y="28146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27" name="Text 124"/>
          <p:cNvSpPr/>
          <p:nvPr/>
        </p:nvSpPr>
        <p:spPr>
          <a:xfrm>
            <a:off x="3757221" y="28146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8" name="Text 125"/>
          <p:cNvSpPr/>
          <p:nvPr/>
        </p:nvSpPr>
        <p:spPr>
          <a:xfrm>
            <a:off x="4265307" y="28146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29" name="Text 126"/>
          <p:cNvSpPr/>
          <p:nvPr/>
        </p:nvSpPr>
        <p:spPr>
          <a:xfrm>
            <a:off x="4774138" y="2814638"/>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130" name="Text 127"/>
          <p:cNvSpPr/>
          <p:nvPr/>
        </p:nvSpPr>
        <p:spPr>
          <a:xfrm>
            <a:off x="5290856" y="28146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31" name="Text 128"/>
          <p:cNvSpPr/>
          <p:nvPr/>
        </p:nvSpPr>
        <p:spPr>
          <a:xfrm>
            <a:off x="6748591" y="28432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132" name="Text 129"/>
          <p:cNvSpPr/>
          <p:nvPr/>
        </p:nvSpPr>
        <p:spPr>
          <a:xfrm>
            <a:off x="3245414" y="2967038"/>
            <a:ext cx="51180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131</a:t>
            </a:r>
            <a:endParaRPr lang="en-US" sz="696" dirty="0"/>
          </a:p>
        </p:txBody>
      </p:sp>
      <p:sp>
        <p:nvSpPr>
          <p:cNvPr id="133" name="Text 130"/>
          <p:cNvSpPr/>
          <p:nvPr/>
        </p:nvSpPr>
        <p:spPr>
          <a:xfrm>
            <a:off x="3757221" y="29670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4" name="Text 131"/>
          <p:cNvSpPr/>
          <p:nvPr/>
        </p:nvSpPr>
        <p:spPr>
          <a:xfrm>
            <a:off x="4265307" y="29670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5" name="Text 132"/>
          <p:cNvSpPr/>
          <p:nvPr/>
        </p:nvSpPr>
        <p:spPr>
          <a:xfrm>
            <a:off x="4774138" y="2967038"/>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36" name="Text 133"/>
          <p:cNvSpPr/>
          <p:nvPr/>
        </p:nvSpPr>
        <p:spPr>
          <a:xfrm>
            <a:off x="5290856" y="29670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100</a:t>
            </a:r>
            <a:endParaRPr lang="en-US" sz="696" dirty="0"/>
          </a:p>
        </p:txBody>
      </p:sp>
      <p:sp>
        <p:nvSpPr>
          <p:cNvPr id="137" name="Text 134"/>
          <p:cNvSpPr/>
          <p:nvPr/>
        </p:nvSpPr>
        <p:spPr>
          <a:xfrm>
            <a:off x="6754842" y="29956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138" name="Text 135"/>
          <p:cNvSpPr/>
          <p:nvPr/>
        </p:nvSpPr>
        <p:spPr>
          <a:xfrm>
            <a:off x="3245414" y="3119437"/>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39" name="Text 136"/>
          <p:cNvSpPr/>
          <p:nvPr/>
        </p:nvSpPr>
        <p:spPr>
          <a:xfrm>
            <a:off x="3757221" y="3119437"/>
            <a:ext cx="50808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40" name="Text 137"/>
          <p:cNvSpPr/>
          <p:nvPr/>
        </p:nvSpPr>
        <p:spPr>
          <a:xfrm>
            <a:off x="4774138" y="3119437"/>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135</a:t>
            </a:r>
            <a:endParaRPr lang="en-US" sz="696" dirty="0"/>
          </a:p>
        </p:txBody>
      </p:sp>
      <p:sp>
        <p:nvSpPr>
          <p:cNvPr id="141" name="Text 138"/>
          <p:cNvSpPr/>
          <p:nvPr/>
        </p:nvSpPr>
        <p:spPr>
          <a:xfrm>
            <a:off x="5823945" y="3119437"/>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122</a:t>
            </a:r>
            <a:endParaRPr lang="en-US" sz="696" dirty="0"/>
          </a:p>
        </p:txBody>
      </p:sp>
      <p:sp>
        <p:nvSpPr>
          <p:cNvPr id="142" name="Text 139"/>
          <p:cNvSpPr/>
          <p:nvPr/>
        </p:nvSpPr>
        <p:spPr>
          <a:xfrm>
            <a:off x="6750080" y="31480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143" name="Text 140"/>
          <p:cNvSpPr/>
          <p:nvPr/>
        </p:nvSpPr>
        <p:spPr>
          <a:xfrm>
            <a:off x="3245414" y="32718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4" name="Text 141"/>
          <p:cNvSpPr/>
          <p:nvPr/>
        </p:nvSpPr>
        <p:spPr>
          <a:xfrm>
            <a:off x="3757221" y="32718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45" name="Text 142"/>
          <p:cNvSpPr/>
          <p:nvPr/>
        </p:nvSpPr>
        <p:spPr>
          <a:xfrm>
            <a:off x="4265307" y="32718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6" name="Text 143"/>
          <p:cNvSpPr/>
          <p:nvPr/>
        </p:nvSpPr>
        <p:spPr>
          <a:xfrm>
            <a:off x="6751866" y="33004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147" name="Text 144"/>
          <p:cNvSpPr/>
          <p:nvPr/>
        </p:nvSpPr>
        <p:spPr>
          <a:xfrm>
            <a:off x="3245414" y="3424238"/>
            <a:ext cx="51180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127</a:t>
            </a:r>
            <a:endParaRPr lang="en-US" sz="696" dirty="0"/>
          </a:p>
        </p:txBody>
      </p:sp>
      <p:sp>
        <p:nvSpPr>
          <p:cNvPr id="148" name="Text 145"/>
          <p:cNvSpPr/>
          <p:nvPr/>
        </p:nvSpPr>
        <p:spPr>
          <a:xfrm>
            <a:off x="3757221" y="34242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49" name="Text 146"/>
          <p:cNvSpPr/>
          <p:nvPr/>
        </p:nvSpPr>
        <p:spPr>
          <a:xfrm>
            <a:off x="4774138" y="3424238"/>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139</a:t>
            </a:r>
            <a:endParaRPr lang="en-US" sz="696" dirty="0"/>
          </a:p>
        </p:txBody>
      </p:sp>
      <p:sp>
        <p:nvSpPr>
          <p:cNvPr id="150" name="Text 147"/>
          <p:cNvSpPr/>
          <p:nvPr/>
        </p:nvSpPr>
        <p:spPr>
          <a:xfrm>
            <a:off x="6750377" y="34528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151" name="Text 148"/>
          <p:cNvSpPr/>
          <p:nvPr/>
        </p:nvSpPr>
        <p:spPr>
          <a:xfrm>
            <a:off x="4265307" y="3576637"/>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52" name="Text 149"/>
          <p:cNvSpPr/>
          <p:nvPr/>
        </p:nvSpPr>
        <p:spPr>
          <a:xfrm>
            <a:off x="4774138" y="3576637"/>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53" name="Text 150"/>
          <p:cNvSpPr/>
          <p:nvPr/>
        </p:nvSpPr>
        <p:spPr>
          <a:xfrm>
            <a:off x="5290856" y="3576637"/>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54" name="Text 151"/>
          <p:cNvSpPr/>
          <p:nvPr/>
        </p:nvSpPr>
        <p:spPr>
          <a:xfrm>
            <a:off x="5823945" y="3576637"/>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137</a:t>
            </a:r>
            <a:endParaRPr lang="en-US" sz="696" dirty="0"/>
          </a:p>
        </p:txBody>
      </p:sp>
      <p:sp>
        <p:nvSpPr>
          <p:cNvPr id="155" name="Text 152"/>
          <p:cNvSpPr/>
          <p:nvPr/>
        </p:nvSpPr>
        <p:spPr>
          <a:xfrm>
            <a:off x="6746210" y="36052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156" name="Text 153"/>
          <p:cNvSpPr/>
          <p:nvPr/>
        </p:nvSpPr>
        <p:spPr>
          <a:xfrm>
            <a:off x="4265307" y="3729038"/>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134</a:t>
            </a:r>
            <a:endParaRPr lang="en-US" sz="696" dirty="0"/>
          </a:p>
        </p:txBody>
      </p:sp>
      <p:sp>
        <p:nvSpPr>
          <p:cNvPr id="157" name="Text 154"/>
          <p:cNvSpPr/>
          <p:nvPr/>
        </p:nvSpPr>
        <p:spPr>
          <a:xfrm>
            <a:off x="5290856" y="37290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104</a:t>
            </a:r>
            <a:endParaRPr lang="en-US" sz="696" dirty="0"/>
          </a:p>
        </p:txBody>
      </p:sp>
      <p:sp>
        <p:nvSpPr>
          <p:cNvPr id="158" name="Text 155"/>
          <p:cNvSpPr/>
          <p:nvPr/>
        </p:nvSpPr>
        <p:spPr>
          <a:xfrm>
            <a:off x="5823945" y="37290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105</a:t>
            </a:r>
            <a:endParaRPr lang="en-US" sz="696" dirty="0"/>
          </a:p>
        </p:txBody>
      </p:sp>
      <p:sp>
        <p:nvSpPr>
          <p:cNvPr id="159" name="Text 156"/>
          <p:cNvSpPr/>
          <p:nvPr/>
        </p:nvSpPr>
        <p:spPr>
          <a:xfrm>
            <a:off x="6760200" y="37576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160" name="Text 157"/>
          <p:cNvSpPr/>
          <p:nvPr/>
        </p:nvSpPr>
        <p:spPr>
          <a:xfrm>
            <a:off x="5290856" y="3881437"/>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101</a:t>
            </a:r>
            <a:endParaRPr lang="en-US" sz="696" dirty="0"/>
          </a:p>
        </p:txBody>
      </p:sp>
      <p:sp>
        <p:nvSpPr>
          <p:cNvPr id="161" name="Text 158"/>
          <p:cNvSpPr/>
          <p:nvPr/>
        </p:nvSpPr>
        <p:spPr>
          <a:xfrm>
            <a:off x="5823945" y="3881437"/>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62" name="Text 159"/>
          <p:cNvSpPr/>
          <p:nvPr/>
        </p:nvSpPr>
        <p:spPr>
          <a:xfrm>
            <a:off x="6749782" y="39100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163" name="Text 160"/>
          <p:cNvSpPr/>
          <p:nvPr/>
        </p:nvSpPr>
        <p:spPr>
          <a:xfrm>
            <a:off x="4265307" y="4033837"/>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109</a:t>
            </a:r>
            <a:endParaRPr lang="en-US" sz="696" dirty="0"/>
          </a:p>
        </p:txBody>
      </p:sp>
      <p:sp>
        <p:nvSpPr>
          <p:cNvPr id="164" name="Text 161"/>
          <p:cNvSpPr/>
          <p:nvPr/>
        </p:nvSpPr>
        <p:spPr>
          <a:xfrm>
            <a:off x="6754396" y="40624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165" name="Text 162"/>
          <p:cNvSpPr/>
          <p:nvPr/>
        </p:nvSpPr>
        <p:spPr>
          <a:xfrm>
            <a:off x="6755140" y="42148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166" name="Text 163"/>
          <p:cNvSpPr/>
          <p:nvPr/>
        </p:nvSpPr>
        <p:spPr>
          <a:xfrm>
            <a:off x="3245414" y="4338637"/>
            <a:ext cx="511807"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67" name="Text 164"/>
          <p:cNvSpPr/>
          <p:nvPr/>
        </p:nvSpPr>
        <p:spPr>
          <a:xfrm>
            <a:off x="6756777" y="4362450"/>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168" name="Text 165"/>
          <p:cNvSpPr/>
          <p:nvPr/>
        </p:nvSpPr>
        <p:spPr>
          <a:xfrm>
            <a:off x="7448364" y="2042071"/>
            <a:ext cx="505408"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9" name="Text 166"/>
          <p:cNvSpPr/>
          <p:nvPr/>
        </p:nvSpPr>
        <p:spPr>
          <a:xfrm>
            <a:off x="7562661" y="2346871"/>
            <a:ext cx="203145"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170" name="Text 167"/>
          <p:cNvSpPr/>
          <p:nvPr/>
        </p:nvSpPr>
        <p:spPr>
          <a:xfrm>
            <a:off x="7562661" y="2956471"/>
            <a:ext cx="221451"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71" name="Text 168"/>
          <p:cNvSpPr/>
          <p:nvPr/>
        </p:nvSpPr>
        <p:spPr>
          <a:xfrm>
            <a:off x="5290856" y="2214563"/>
            <a:ext cx="533089"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72" name="Text 169"/>
          <p:cNvSpPr/>
          <p:nvPr/>
        </p:nvSpPr>
        <p:spPr>
          <a:xfrm>
            <a:off x="704832" y="2814638"/>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10</a:t>
            </a:r>
            <a:endParaRPr lang="en-US" sz="624" dirty="0"/>
          </a:p>
        </p:txBody>
      </p:sp>
      <p:sp>
        <p:nvSpPr>
          <p:cNvPr id="173" name="Text 170"/>
          <p:cNvSpPr/>
          <p:nvPr/>
        </p:nvSpPr>
        <p:spPr>
          <a:xfrm>
            <a:off x="5823945" y="28146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81</a:t>
            </a:r>
            <a:endParaRPr lang="en-US" sz="696" dirty="0"/>
          </a:p>
        </p:txBody>
      </p:sp>
      <p:sp>
        <p:nvSpPr>
          <p:cNvPr id="174" name="Text 171"/>
          <p:cNvSpPr/>
          <p:nvPr/>
        </p:nvSpPr>
        <p:spPr>
          <a:xfrm>
            <a:off x="704832" y="2967038"/>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11</a:t>
            </a:r>
            <a:endParaRPr lang="en-US" sz="624" dirty="0"/>
          </a:p>
        </p:txBody>
      </p:sp>
      <p:sp>
        <p:nvSpPr>
          <p:cNvPr id="175" name="Text 172"/>
          <p:cNvSpPr/>
          <p:nvPr/>
        </p:nvSpPr>
        <p:spPr>
          <a:xfrm>
            <a:off x="5823945" y="2967038"/>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76" name="Text 173"/>
          <p:cNvSpPr/>
          <p:nvPr/>
        </p:nvSpPr>
        <p:spPr>
          <a:xfrm>
            <a:off x="704832" y="3119437"/>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12</a:t>
            </a:r>
            <a:endParaRPr lang="en-US" sz="624" dirty="0"/>
          </a:p>
        </p:txBody>
      </p:sp>
      <p:sp>
        <p:nvSpPr>
          <p:cNvPr id="177" name="Text 174"/>
          <p:cNvSpPr/>
          <p:nvPr/>
        </p:nvSpPr>
        <p:spPr>
          <a:xfrm>
            <a:off x="4265307" y="3119437"/>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27</a:t>
            </a:r>
            <a:endParaRPr lang="en-US" sz="696" dirty="0"/>
          </a:p>
        </p:txBody>
      </p:sp>
      <p:sp>
        <p:nvSpPr>
          <p:cNvPr id="178" name="Text 175"/>
          <p:cNvSpPr/>
          <p:nvPr/>
        </p:nvSpPr>
        <p:spPr>
          <a:xfrm>
            <a:off x="5290856" y="3119437"/>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79" name="Text 176"/>
          <p:cNvSpPr/>
          <p:nvPr/>
        </p:nvSpPr>
        <p:spPr>
          <a:xfrm>
            <a:off x="704832" y="3271838"/>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13</a:t>
            </a:r>
            <a:endParaRPr lang="en-US" sz="624" dirty="0"/>
          </a:p>
        </p:txBody>
      </p:sp>
      <p:sp>
        <p:nvSpPr>
          <p:cNvPr id="180" name="Text 177"/>
          <p:cNvSpPr/>
          <p:nvPr/>
        </p:nvSpPr>
        <p:spPr>
          <a:xfrm>
            <a:off x="4774138" y="3271838"/>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85</a:t>
            </a:r>
            <a:endParaRPr lang="en-US" sz="696" dirty="0"/>
          </a:p>
        </p:txBody>
      </p:sp>
      <p:sp>
        <p:nvSpPr>
          <p:cNvPr id="181" name="Text 178"/>
          <p:cNvSpPr/>
          <p:nvPr/>
        </p:nvSpPr>
        <p:spPr>
          <a:xfrm>
            <a:off x="5290856" y="32718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78</a:t>
            </a:r>
            <a:endParaRPr lang="en-US" sz="696" dirty="0"/>
          </a:p>
        </p:txBody>
      </p:sp>
      <p:sp>
        <p:nvSpPr>
          <p:cNvPr id="182" name="Text 179"/>
          <p:cNvSpPr/>
          <p:nvPr/>
        </p:nvSpPr>
        <p:spPr>
          <a:xfrm>
            <a:off x="5823945" y="32718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34</a:t>
            </a:r>
            <a:endParaRPr lang="en-US" sz="696" dirty="0"/>
          </a:p>
        </p:txBody>
      </p:sp>
      <p:sp>
        <p:nvSpPr>
          <p:cNvPr id="183" name="Text 180"/>
          <p:cNvSpPr/>
          <p:nvPr/>
        </p:nvSpPr>
        <p:spPr>
          <a:xfrm>
            <a:off x="704832" y="3424238"/>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14</a:t>
            </a:r>
            <a:endParaRPr lang="en-US" sz="624" dirty="0"/>
          </a:p>
        </p:txBody>
      </p:sp>
      <p:sp>
        <p:nvSpPr>
          <p:cNvPr id="184" name="Text 181"/>
          <p:cNvSpPr/>
          <p:nvPr/>
        </p:nvSpPr>
        <p:spPr>
          <a:xfrm>
            <a:off x="4265307" y="3424238"/>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20</a:t>
            </a:r>
            <a:endParaRPr lang="en-US" sz="696" dirty="0"/>
          </a:p>
        </p:txBody>
      </p:sp>
      <p:sp>
        <p:nvSpPr>
          <p:cNvPr id="185" name="Text 182"/>
          <p:cNvSpPr/>
          <p:nvPr/>
        </p:nvSpPr>
        <p:spPr>
          <a:xfrm>
            <a:off x="5290856" y="34242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86" name="Text 183"/>
          <p:cNvSpPr/>
          <p:nvPr/>
        </p:nvSpPr>
        <p:spPr>
          <a:xfrm>
            <a:off x="5823945" y="34242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95</a:t>
            </a:r>
            <a:endParaRPr lang="en-US" sz="696" dirty="0"/>
          </a:p>
        </p:txBody>
      </p:sp>
      <p:sp>
        <p:nvSpPr>
          <p:cNvPr id="187" name="Text 184"/>
          <p:cNvSpPr/>
          <p:nvPr/>
        </p:nvSpPr>
        <p:spPr>
          <a:xfrm>
            <a:off x="704832" y="3576637"/>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15</a:t>
            </a:r>
            <a:endParaRPr lang="en-US" sz="624" dirty="0"/>
          </a:p>
        </p:txBody>
      </p:sp>
      <p:sp>
        <p:nvSpPr>
          <p:cNvPr id="188" name="Text 185"/>
          <p:cNvSpPr/>
          <p:nvPr/>
        </p:nvSpPr>
        <p:spPr>
          <a:xfrm>
            <a:off x="3757221" y="3576637"/>
            <a:ext cx="50808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39</a:t>
            </a:r>
            <a:endParaRPr lang="en-US" sz="696" dirty="0"/>
          </a:p>
        </p:txBody>
      </p:sp>
      <p:sp>
        <p:nvSpPr>
          <p:cNvPr id="189" name="Text 186"/>
          <p:cNvSpPr/>
          <p:nvPr/>
        </p:nvSpPr>
        <p:spPr>
          <a:xfrm>
            <a:off x="704832" y="3729038"/>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16</a:t>
            </a:r>
            <a:endParaRPr lang="en-US" sz="624" dirty="0"/>
          </a:p>
        </p:txBody>
      </p:sp>
      <p:sp>
        <p:nvSpPr>
          <p:cNvPr id="190" name="Text 187"/>
          <p:cNvSpPr/>
          <p:nvPr/>
        </p:nvSpPr>
        <p:spPr>
          <a:xfrm>
            <a:off x="3757221" y="3729038"/>
            <a:ext cx="50808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33</a:t>
            </a:r>
            <a:endParaRPr lang="en-US" sz="696" dirty="0"/>
          </a:p>
        </p:txBody>
      </p:sp>
      <p:sp>
        <p:nvSpPr>
          <p:cNvPr id="191" name="Text 188"/>
          <p:cNvSpPr/>
          <p:nvPr/>
        </p:nvSpPr>
        <p:spPr>
          <a:xfrm>
            <a:off x="4774138" y="3729038"/>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75</a:t>
            </a:r>
            <a:endParaRPr lang="en-US" sz="696" dirty="0"/>
          </a:p>
        </p:txBody>
      </p:sp>
      <p:sp>
        <p:nvSpPr>
          <p:cNvPr id="192" name="Text 189"/>
          <p:cNvSpPr/>
          <p:nvPr/>
        </p:nvSpPr>
        <p:spPr>
          <a:xfrm>
            <a:off x="704832" y="3881437"/>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17</a:t>
            </a:r>
            <a:endParaRPr lang="en-US" sz="624" dirty="0"/>
          </a:p>
        </p:txBody>
      </p:sp>
      <p:sp>
        <p:nvSpPr>
          <p:cNvPr id="193" name="Text 190"/>
          <p:cNvSpPr/>
          <p:nvPr/>
        </p:nvSpPr>
        <p:spPr>
          <a:xfrm>
            <a:off x="704832" y="4033837"/>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18</a:t>
            </a:r>
            <a:endParaRPr lang="en-US" sz="624" dirty="0"/>
          </a:p>
        </p:txBody>
      </p:sp>
      <p:sp>
        <p:nvSpPr>
          <p:cNvPr id="194" name="Text 191"/>
          <p:cNvSpPr/>
          <p:nvPr/>
        </p:nvSpPr>
        <p:spPr>
          <a:xfrm>
            <a:off x="3757221" y="4033837"/>
            <a:ext cx="50808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30</a:t>
            </a:r>
            <a:endParaRPr lang="en-US" sz="696" dirty="0"/>
          </a:p>
        </p:txBody>
      </p:sp>
      <p:sp>
        <p:nvSpPr>
          <p:cNvPr id="195" name="Text 192"/>
          <p:cNvSpPr/>
          <p:nvPr/>
        </p:nvSpPr>
        <p:spPr>
          <a:xfrm>
            <a:off x="4774138" y="4033837"/>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59</a:t>
            </a:r>
            <a:endParaRPr lang="en-US" sz="696" dirty="0"/>
          </a:p>
        </p:txBody>
      </p:sp>
      <p:sp>
        <p:nvSpPr>
          <p:cNvPr id="196" name="Text 193"/>
          <p:cNvSpPr/>
          <p:nvPr/>
        </p:nvSpPr>
        <p:spPr>
          <a:xfrm>
            <a:off x="704832" y="4186238"/>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19</a:t>
            </a:r>
            <a:endParaRPr lang="en-US" sz="624" dirty="0"/>
          </a:p>
        </p:txBody>
      </p:sp>
      <p:sp>
        <p:nvSpPr>
          <p:cNvPr id="197" name="Text 194"/>
          <p:cNvSpPr/>
          <p:nvPr/>
        </p:nvSpPr>
        <p:spPr>
          <a:xfrm>
            <a:off x="4774138" y="4186238"/>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19</a:t>
            </a:r>
            <a:endParaRPr lang="en-US" sz="696" dirty="0"/>
          </a:p>
        </p:txBody>
      </p:sp>
      <p:sp>
        <p:nvSpPr>
          <p:cNvPr id="198" name="Text 195"/>
          <p:cNvSpPr/>
          <p:nvPr/>
        </p:nvSpPr>
        <p:spPr>
          <a:xfrm>
            <a:off x="5290856" y="41862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45</a:t>
            </a:r>
            <a:endParaRPr lang="en-US" sz="696" dirty="0"/>
          </a:p>
        </p:txBody>
      </p:sp>
      <p:sp>
        <p:nvSpPr>
          <p:cNvPr id="199" name="Text 196"/>
          <p:cNvSpPr/>
          <p:nvPr/>
        </p:nvSpPr>
        <p:spPr>
          <a:xfrm>
            <a:off x="5823945" y="41862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76</a:t>
            </a:r>
            <a:endParaRPr lang="en-US" sz="696" dirty="0"/>
          </a:p>
        </p:txBody>
      </p:sp>
      <p:sp>
        <p:nvSpPr>
          <p:cNvPr id="200" name="Text 197"/>
          <p:cNvSpPr/>
          <p:nvPr/>
        </p:nvSpPr>
        <p:spPr>
          <a:xfrm>
            <a:off x="704832" y="4338637"/>
            <a:ext cx="310597" cy="142875"/>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20</a:t>
            </a:r>
            <a:endParaRPr lang="en-US" sz="624" dirty="0"/>
          </a:p>
        </p:txBody>
      </p:sp>
      <p:sp>
        <p:nvSpPr>
          <p:cNvPr id="201" name="Text 198"/>
          <p:cNvSpPr/>
          <p:nvPr/>
        </p:nvSpPr>
        <p:spPr>
          <a:xfrm>
            <a:off x="704832" y="4481512"/>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21</a:t>
            </a:r>
            <a:endParaRPr lang="en-US" sz="624" dirty="0"/>
          </a:p>
        </p:txBody>
      </p:sp>
      <p:sp>
        <p:nvSpPr>
          <p:cNvPr id="202" name="Text 199"/>
          <p:cNvSpPr/>
          <p:nvPr/>
        </p:nvSpPr>
        <p:spPr>
          <a:xfrm>
            <a:off x="4774138" y="4481512"/>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73</a:t>
            </a:r>
            <a:endParaRPr lang="en-US" sz="696" dirty="0"/>
          </a:p>
        </p:txBody>
      </p:sp>
      <p:sp>
        <p:nvSpPr>
          <p:cNvPr id="203" name="Text 200"/>
          <p:cNvSpPr/>
          <p:nvPr/>
        </p:nvSpPr>
        <p:spPr>
          <a:xfrm>
            <a:off x="6798001" y="4510087"/>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04" name="Text 201"/>
          <p:cNvSpPr/>
          <p:nvPr/>
        </p:nvSpPr>
        <p:spPr>
          <a:xfrm>
            <a:off x="704832" y="4633913"/>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22</a:t>
            </a:r>
            <a:endParaRPr lang="en-US" sz="624" dirty="0"/>
          </a:p>
        </p:txBody>
      </p:sp>
      <p:sp>
        <p:nvSpPr>
          <p:cNvPr id="205" name="Text 202"/>
          <p:cNvSpPr/>
          <p:nvPr/>
        </p:nvSpPr>
        <p:spPr>
          <a:xfrm>
            <a:off x="5823945" y="4633913"/>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54</a:t>
            </a:r>
            <a:endParaRPr lang="en-US" sz="696" dirty="0"/>
          </a:p>
        </p:txBody>
      </p:sp>
      <p:sp>
        <p:nvSpPr>
          <p:cNvPr id="206" name="Text 203"/>
          <p:cNvSpPr/>
          <p:nvPr/>
        </p:nvSpPr>
        <p:spPr>
          <a:xfrm>
            <a:off x="6801573" y="4662488"/>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07" name="Text 204"/>
          <p:cNvSpPr/>
          <p:nvPr/>
        </p:nvSpPr>
        <p:spPr>
          <a:xfrm>
            <a:off x="704832" y="4786313"/>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23</a:t>
            </a:r>
            <a:endParaRPr lang="en-US" sz="624" dirty="0"/>
          </a:p>
        </p:txBody>
      </p:sp>
      <p:sp>
        <p:nvSpPr>
          <p:cNvPr id="208" name="Text 205"/>
          <p:cNvSpPr/>
          <p:nvPr/>
        </p:nvSpPr>
        <p:spPr>
          <a:xfrm>
            <a:off x="5290856" y="4786313"/>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18</a:t>
            </a:r>
            <a:endParaRPr lang="en-US" sz="696" dirty="0"/>
          </a:p>
        </p:txBody>
      </p:sp>
      <p:sp>
        <p:nvSpPr>
          <p:cNvPr id="209" name="Text 206"/>
          <p:cNvSpPr/>
          <p:nvPr/>
        </p:nvSpPr>
        <p:spPr>
          <a:xfrm>
            <a:off x="5823945" y="4786313"/>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a:t>
            </a:r>
            <a:endParaRPr lang="en-US" sz="696" dirty="0"/>
          </a:p>
        </p:txBody>
      </p:sp>
      <p:sp>
        <p:nvSpPr>
          <p:cNvPr id="210" name="Text 207"/>
          <p:cNvSpPr/>
          <p:nvPr/>
        </p:nvSpPr>
        <p:spPr>
          <a:xfrm>
            <a:off x="6801275" y="4814888"/>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11" name="Text 208"/>
          <p:cNvSpPr/>
          <p:nvPr/>
        </p:nvSpPr>
        <p:spPr>
          <a:xfrm>
            <a:off x="704832" y="4938712"/>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24</a:t>
            </a:r>
            <a:endParaRPr lang="en-US" sz="624" dirty="0"/>
          </a:p>
        </p:txBody>
      </p:sp>
      <p:sp>
        <p:nvSpPr>
          <p:cNvPr id="212" name="Text 209"/>
          <p:cNvSpPr/>
          <p:nvPr/>
        </p:nvSpPr>
        <p:spPr>
          <a:xfrm>
            <a:off x="5823945" y="4938712"/>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21</a:t>
            </a:r>
            <a:endParaRPr lang="en-US" sz="696" dirty="0"/>
          </a:p>
        </p:txBody>
      </p:sp>
      <p:sp>
        <p:nvSpPr>
          <p:cNvPr id="213" name="Text 210"/>
          <p:cNvSpPr/>
          <p:nvPr/>
        </p:nvSpPr>
        <p:spPr>
          <a:xfrm>
            <a:off x="6807228" y="4967287"/>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14" name="Text 211"/>
          <p:cNvSpPr/>
          <p:nvPr/>
        </p:nvSpPr>
        <p:spPr>
          <a:xfrm>
            <a:off x="704832" y="5091113"/>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25</a:t>
            </a:r>
            <a:endParaRPr lang="en-US" sz="624" dirty="0"/>
          </a:p>
        </p:txBody>
      </p:sp>
      <p:sp>
        <p:nvSpPr>
          <p:cNvPr id="215" name="Text 212"/>
          <p:cNvSpPr/>
          <p:nvPr/>
        </p:nvSpPr>
        <p:spPr>
          <a:xfrm>
            <a:off x="704832" y="1266825"/>
            <a:ext cx="310597"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t>
            </a:r>
            <a:endParaRPr lang="en-US" sz="888" dirty="0"/>
          </a:p>
        </p:txBody>
      </p:sp>
      <p:sp>
        <p:nvSpPr>
          <p:cNvPr id="216" name="Text 213"/>
          <p:cNvSpPr/>
          <p:nvPr/>
        </p:nvSpPr>
        <p:spPr>
          <a:xfrm>
            <a:off x="704832" y="1457325"/>
            <a:ext cx="310597" cy="147637"/>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1</a:t>
            </a:r>
            <a:endParaRPr lang="en-US" sz="624" dirty="0"/>
          </a:p>
        </p:txBody>
      </p:sp>
      <p:sp>
        <p:nvSpPr>
          <p:cNvPr id="217" name="Text 214"/>
          <p:cNvSpPr/>
          <p:nvPr/>
        </p:nvSpPr>
        <p:spPr>
          <a:xfrm>
            <a:off x="704832" y="1604963"/>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2</a:t>
            </a:r>
            <a:endParaRPr lang="en-US" sz="624" dirty="0"/>
          </a:p>
        </p:txBody>
      </p:sp>
      <p:sp>
        <p:nvSpPr>
          <p:cNvPr id="218" name="Text 215"/>
          <p:cNvSpPr/>
          <p:nvPr/>
        </p:nvSpPr>
        <p:spPr>
          <a:xfrm>
            <a:off x="704832" y="1757363"/>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3</a:t>
            </a:r>
            <a:endParaRPr lang="en-US" sz="624" dirty="0"/>
          </a:p>
        </p:txBody>
      </p:sp>
      <p:sp>
        <p:nvSpPr>
          <p:cNvPr id="219" name="Text 216"/>
          <p:cNvSpPr/>
          <p:nvPr/>
        </p:nvSpPr>
        <p:spPr>
          <a:xfrm>
            <a:off x="704832" y="1909762"/>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4</a:t>
            </a:r>
            <a:endParaRPr lang="en-US" sz="624" dirty="0"/>
          </a:p>
        </p:txBody>
      </p:sp>
      <p:sp>
        <p:nvSpPr>
          <p:cNvPr id="220" name="Text 217"/>
          <p:cNvSpPr/>
          <p:nvPr/>
        </p:nvSpPr>
        <p:spPr>
          <a:xfrm>
            <a:off x="704832" y="2062162"/>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5</a:t>
            </a:r>
            <a:endParaRPr lang="en-US" sz="624" dirty="0"/>
          </a:p>
        </p:txBody>
      </p:sp>
      <p:sp>
        <p:nvSpPr>
          <p:cNvPr id="221" name="Text 218"/>
          <p:cNvSpPr/>
          <p:nvPr/>
        </p:nvSpPr>
        <p:spPr>
          <a:xfrm>
            <a:off x="704832" y="2214563"/>
            <a:ext cx="310597" cy="142875"/>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6</a:t>
            </a:r>
            <a:endParaRPr lang="en-US" sz="624" dirty="0"/>
          </a:p>
        </p:txBody>
      </p:sp>
      <p:sp>
        <p:nvSpPr>
          <p:cNvPr id="222" name="Text 219"/>
          <p:cNvSpPr/>
          <p:nvPr/>
        </p:nvSpPr>
        <p:spPr>
          <a:xfrm>
            <a:off x="704832" y="2357438"/>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7</a:t>
            </a:r>
            <a:endParaRPr lang="en-US" sz="624" dirty="0"/>
          </a:p>
        </p:txBody>
      </p:sp>
      <p:sp>
        <p:nvSpPr>
          <p:cNvPr id="223" name="Text 220"/>
          <p:cNvSpPr/>
          <p:nvPr/>
        </p:nvSpPr>
        <p:spPr>
          <a:xfrm>
            <a:off x="704832" y="2509838"/>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8</a:t>
            </a:r>
            <a:endParaRPr lang="en-US" sz="624" dirty="0"/>
          </a:p>
        </p:txBody>
      </p:sp>
      <p:sp>
        <p:nvSpPr>
          <p:cNvPr id="224" name="Text 221"/>
          <p:cNvSpPr/>
          <p:nvPr/>
        </p:nvSpPr>
        <p:spPr>
          <a:xfrm>
            <a:off x="704832" y="2662237"/>
            <a:ext cx="310597" cy="152400"/>
          </a:xfrm>
          <a:prstGeom prst="rect">
            <a:avLst/>
          </a:prstGeom>
          <a:noFill/>
          <a:ln/>
        </p:spPr>
        <p:txBody>
          <a:bodyPr wrap="none" lIns="0" tIns="0" rIns="0" bIns="0" rtlCol="0" anchor="t"/>
          <a:lstStyle/>
          <a:p>
            <a:pPr algn="r" indent="0" marL="0">
              <a:buNone/>
            </a:pPr>
            <a:r>
              <a:rPr lang="en-US" sz="624" dirty="0">
                <a:solidFill>
                  <a:srgbClr val="9098B0"/>
                </a:solidFill>
                <a:latin typeface="Raleway" pitchFamily="34" charset="0"/>
                <a:ea typeface="Raleway" pitchFamily="34" charset="-122"/>
                <a:cs typeface="Raleway" pitchFamily="34" charset="-120"/>
              </a:rPr>
              <a:t>9</a:t>
            </a:r>
            <a:endParaRPr lang="en-US" sz="624" dirty="0"/>
          </a:p>
        </p:txBody>
      </p:sp>
      <p:sp>
        <p:nvSpPr>
          <p:cNvPr id="225" name="Text 222"/>
          <p:cNvSpPr/>
          <p:nvPr/>
        </p:nvSpPr>
        <p:spPr>
          <a:xfrm>
            <a:off x="3245414" y="3576637"/>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26" name="Text 223"/>
          <p:cNvSpPr/>
          <p:nvPr/>
        </p:nvSpPr>
        <p:spPr>
          <a:xfrm>
            <a:off x="3245414" y="3729038"/>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27" name="Text 224"/>
          <p:cNvSpPr/>
          <p:nvPr/>
        </p:nvSpPr>
        <p:spPr>
          <a:xfrm>
            <a:off x="3245414" y="3881437"/>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28" name="Text 225"/>
          <p:cNvSpPr/>
          <p:nvPr/>
        </p:nvSpPr>
        <p:spPr>
          <a:xfrm>
            <a:off x="3757221" y="3881437"/>
            <a:ext cx="50808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29" name="Text 226"/>
          <p:cNvSpPr/>
          <p:nvPr/>
        </p:nvSpPr>
        <p:spPr>
          <a:xfrm>
            <a:off x="4265307" y="3881437"/>
            <a:ext cx="508831"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0" name="Text 227"/>
          <p:cNvSpPr/>
          <p:nvPr/>
        </p:nvSpPr>
        <p:spPr>
          <a:xfrm>
            <a:off x="4774138" y="3881437"/>
            <a:ext cx="516718"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1" name="Text 228"/>
          <p:cNvSpPr/>
          <p:nvPr/>
        </p:nvSpPr>
        <p:spPr>
          <a:xfrm>
            <a:off x="3245414" y="4033837"/>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2" name="Text 229"/>
          <p:cNvSpPr/>
          <p:nvPr/>
        </p:nvSpPr>
        <p:spPr>
          <a:xfrm>
            <a:off x="5290856" y="4033837"/>
            <a:ext cx="533089"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3" name="Text 230"/>
          <p:cNvSpPr/>
          <p:nvPr/>
        </p:nvSpPr>
        <p:spPr>
          <a:xfrm>
            <a:off x="5823945" y="4033837"/>
            <a:ext cx="504961"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4" name="Text 231"/>
          <p:cNvSpPr/>
          <p:nvPr/>
        </p:nvSpPr>
        <p:spPr>
          <a:xfrm>
            <a:off x="3245414" y="4186238"/>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5" name="Text 232"/>
          <p:cNvSpPr/>
          <p:nvPr/>
        </p:nvSpPr>
        <p:spPr>
          <a:xfrm>
            <a:off x="3757221" y="4186238"/>
            <a:ext cx="50808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6" name="Text 233"/>
          <p:cNvSpPr/>
          <p:nvPr/>
        </p:nvSpPr>
        <p:spPr>
          <a:xfrm>
            <a:off x="4265307" y="4186238"/>
            <a:ext cx="508831"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7" name="Text 234"/>
          <p:cNvSpPr/>
          <p:nvPr/>
        </p:nvSpPr>
        <p:spPr>
          <a:xfrm>
            <a:off x="3757221" y="4338637"/>
            <a:ext cx="508087" cy="142875"/>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8" name="Text 235"/>
          <p:cNvSpPr/>
          <p:nvPr/>
        </p:nvSpPr>
        <p:spPr>
          <a:xfrm>
            <a:off x="4265307" y="4338637"/>
            <a:ext cx="508831" cy="142875"/>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39" name="Text 236"/>
          <p:cNvSpPr/>
          <p:nvPr/>
        </p:nvSpPr>
        <p:spPr>
          <a:xfrm>
            <a:off x="4774138" y="4338637"/>
            <a:ext cx="516718" cy="142875"/>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40" name="Text 237"/>
          <p:cNvSpPr/>
          <p:nvPr/>
        </p:nvSpPr>
        <p:spPr>
          <a:xfrm>
            <a:off x="5290856" y="4338637"/>
            <a:ext cx="533089" cy="142875"/>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41" name="Text 238"/>
          <p:cNvSpPr/>
          <p:nvPr/>
        </p:nvSpPr>
        <p:spPr>
          <a:xfrm>
            <a:off x="5823945" y="4338637"/>
            <a:ext cx="504961" cy="142875"/>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42" name="Text 239"/>
          <p:cNvSpPr/>
          <p:nvPr/>
        </p:nvSpPr>
        <p:spPr>
          <a:xfrm>
            <a:off x="3245414" y="4481512"/>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43" name="Text 240"/>
          <p:cNvSpPr/>
          <p:nvPr/>
        </p:nvSpPr>
        <p:spPr>
          <a:xfrm>
            <a:off x="3757221" y="4481512"/>
            <a:ext cx="50808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44" name="Text 241"/>
          <p:cNvSpPr/>
          <p:nvPr/>
        </p:nvSpPr>
        <p:spPr>
          <a:xfrm>
            <a:off x="4265307" y="4481512"/>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9</a:t>
            </a:r>
            <a:endParaRPr lang="en-US" sz="696" dirty="0"/>
          </a:p>
        </p:txBody>
      </p:sp>
      <p:sp>
        <p:nvSpPr>
          <p:cNvPr id="245" name="Text 242"/>
          <p:cNvSpPr/>
          <p:nvPr/>
        </p:nvSpPr>
        <p:spPr>
          <a:xfrm>
            <a:off x="5290856" y="4481512"/>
            <a:ext cx="533089"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46" name="Text 243"/>
          <p:cNvSpPr/>
          <p:nvPr/>
        </p:nvSpPr>
        <p:spPr>
          <a:xfrm>
            <a:off x="5823945" y="4481512"/>
            <a:ext cx="504961"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47" name="Text 244"/>
          <p:cNvSpPr/>
          <p:nvPr/>
        </p:nvSpPr>
        <p:spPr>
          <a:xfrm>
            <a:off x="3245414" y="4633913"/>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48" name="Text 245"/>
          <p:cNvSpPr/>
          <p:nvPr/>
        </p:nvSpPr>
        <p:spPr>
          <a:xfrm>
            <a:off x="3757221" y="4633913"/>
            <a:ext cx="50808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49" name="Text 246"/>
          <p:cNvSpPr/>
          <p:nvPr/>
        </p:nvSpPr>
        <p:spPr>
          <a:xfrm>
            <a:off x="4265307" y="4633913"/>
            <a:ext cx="508831"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50" name="Text 247"/>
          <p:cNvSpPr/>
          <p:nvPr/>
        </p:nvSpPr>
        <p:spPr>
          <a:xfrm>
            <a:off x="4774138" y="4633913"/>
            <a:ext cx="516718"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51" name="Text 248"/>
          <p:cNvSpPr/>
          <p:nvPr/>
        </p:nvSpPr>
        <p:spPr>
          <a:xfrm>
            <a:off x="5290856" y="4633913"/>
            <a:ext cx="533089"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52" name="Text 249"/>
          <p:cNvSpPr/>
          <p:nvPr/>
        </p:nvSpPr>
        <p:spPr>
          <a:xfrm>
            <a:off x="3245414" y="4786313"/>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53" name="Text 250"/>
          <p:cNvSpPr/>
          <p:nvPr/>
        </p:nvSpPr>
        <p:spPr>
          <a:xfrm>
            <a:off x="3757221" y="4786313"/>
            <a:ext cx="50808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54" name="Text 251"/>
          <p:cNvSpPr/>
          <p:nvPr/>
        </p:nvSpPr>
        <p:spPr>
          <a:xfrm>
            <a:off x="4265307" y="4786313"/>
            <a:ext cx="508831"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55" name="Text 252"/>
          <p:cNvSpPr/>
          <p:nvPr/>
        </p:nvSpPr>
        <p:spPr>
          <a:xfrm>
            <a:off x="4774138" y="4786313"/>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a:t>
            </a:r>
            <a:endParaRPr lang="en-US" sz="696" dirty="0"/>
          </a:p>
        </p:txBody>
      </p:sp>
      <p:sp>
        <p:nvSpPr>
          <p:cNvPr id="256" name="Text 253"/>
          <p:cNvSpPr/>
          <p:nvPr/>
        </p:nvSpPr>
        <p:spPr>
          <a:xfrm>
            <a:off x="3245414" y="4938712"/>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57" name="Text 254"/>
          <p:cNvSpPr/>
          <p:nvPr/>
        </p:nvSpPr>
        <p:spPr>
          <a:xfrm>
            <a:off x="3757221" y="4938712"/>
            <a:ext cx="50808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58" name="Text 255"/>
          <p:cNvSpPr/>
          <p:nvPr/>
        </p:nvSpPr>
        <p:spPr>
          <a:xfrm>
            <a:off x="4265307" y="4938712"/>
            <a:ext cx="508831"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59" name="Text 256"/>
          <p:cNvSpPr/>
          <p:nvPr/>
        </p:nvSpPr>
        <p:spPr>
          <a:xfrm>
            <a:off x="4774138" y="4938712"/>
            <a:ext cx="516718"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60" name="Text 257"/>
          <p:cNvSpPr/>
          <p:nvPr/>
        </p:nvSpPr>
        <p:spPr>
          <a:xfrm>
            <a:off x="5290856" y="4938712"/>
            <a:ext cx="533089"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61" name="Text 258"/>
          <p:cNvSpPr/>
          <p:nvPr/>
        </p:nvSpPr>
        <p:spPr>
          <a:xfrm>
            <a:off x="3245414" y="5091113"/>
            <a:ext cx="51180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62" name="Text 259"/>
          <p:cNvSpPr/>
          <p:nvPr/>
        </p:nvSpPr>
        <p:spPr>
          <a:xfrm>
            <a:off x="3757221" y="5091113"/>
            <a:ext cx="508087"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63" name="Text 260"/>
          <p:cNvSpPr/>
          <p:nvPr/>
        </p:nvSpPr>
        <p:spPr>
          <a:xfrm>
            <a:off x="4265307" y="5091113"/>
            <a:ext cx="508831"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64" name="Text 261"/>
          <p:cNvSpPr/>
          <p:nvPr/>
        </p:nvSpPr>
        <p:spPr>
          <a:xfrm>
            <a:off x="4774138" y="5091113"/>
            <a:ext cx="516718"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65" name="Text 262"/>
          <p:cNvSpPr/>
          <p:nvPr/>
        </p:nvSpPr>
        <p:spPr>
          <a:xfrm>
            <a:off x="5290856" y="5091113"/>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2</a:t>
            </a:r>
            <a:endParaRPr lang="en-US" sz="696" dirty="0"/>
          </a:p>
        </p:txBody>
      </p:sp>
      <p:sp>
        <p:nvSpPr>
          <p:cNvPr id="266" name="Text 263"/>
          <p:cNvSpPr/>
          <p:nvPr/>
        </p:nvSpPr>
        <p:spPr>
          <a:xfrm>
            <a:off x="5823945" y="5091113"/>
            <a:ext cx="504961" cy="152400"/>
          </a:xfrm>
          <a:prstGeom prst="rect">
            <a:avLst/>
          </a:prstGeom>
          <a:noFill/>
          <a:ln/>
        </p:spPr>
        <p:txBody>
          <a:bodyPr wrap="none" lIns="0" tIns="0" rIns="0" bIns="0" rtlCol="0" anchor="t"/>
          <a:lstStyle/>
          <a:p>
            <a:pPr algn="r" indent="0" marL="0">
              <a:buNone/>
            </a:pPr>
            <a:r>
              <a:rPr lang="en-US" sz="660" dirty="0">
                <a:solidFill>
                  <a:srgbClr val="DDE0EA"/>
                </a:solidFill>
                <a:latin typeface="Raleway" pitchFamily="34" charset="0"/>
                <a:ea typeface="Raleway" pitchFamily="34" charset="-122"/>
                <a:cs typeface="Raleway" pitchFamily="34" charset="-120"/>
              </a:rPr>
              <a:t>—</a:t>
            </a:r>
            <a:endParaRPr lang="en-US" sz="660" dirty="0"/>
          </a:p>
        </p:txBody>
      </p:sp>
      <p:sp>
        <p:nvSpPr>
          <p:cNvPr id="267" name="Text 264"/>
          <p:cNvSpPr/>
          <p:nvPr/>
        </p:nvSpPr>
        <p:spPr>
          <a:xfrm>
            <a:off x="7953771" y="2270671"/>
            <a:ext cx="696945" cy="2905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6</a:t>
            </a:r>
            <a:endParaRPr lang="en-US" sz="888" dirty="0"/>
          </a:p>
        </p:txBody>
      </p:sp>
      <p:sp>
        <p:nvSpPr>
          <p:cNvPr id="268" name="Text 265"/>
          <p:cNvSpPr/>
          <p:nvPr/>
        </p:nvSpPr>
        <p:spPr>
          <a:xfrm>
            <a:off x="7953771" y="2561183"/>
            <a:ext cx="696945" cy="35242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a:t>
            </a:r>
            <a:endParaRPr lang="en-US" sz="888" dirty="0"/>
          </a:p>
        </p:txBody>
      </p:sp>
      <p:sp>
        <p:nvSpPr>
          <p:cNvPr id="269" name="Text 266"/>
          <p:cNvSpPr/>
          <p:nvPr/>
        </p:nvSpPr>
        <p:spPr>
          <a:xfrm>
            <a:off x="7953771" y="2913608"/>
            <a:ext cx="696945"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a:t>
            </a:r>
            <a:endParaRPr lang="en-US" sz="888" dirty="0"/>
          </a:p>
        </p:txBody>
      </p:sp>
      <p:sp>
        <p:nvSpPr>
          <p:cNvPr id="270" name="Text 267"/>
          <p:cNvSpPr/>
          <p:nvPr/>
        </p:nvSpPr>
        <p:spPr>
          <a:xfrm>
            <a:off x="7953771" y="3132683"/>
            <a:ext cx="696945" cy="214313"/>
          </a:xfrm>
          <a:prstGeom prst="rect">
            <a:avLst/>
          </a:prstGeom>
          <a:noFill/>
          <a:ln/>
        </p:spPr>
        <p:txBody>
          <a:bodyPr wrap="none" lIns="0" tIns="0" rIns="0" bIns="0" rtlCol="0" anchor="t"/>
          <a:lstStyle/>
          <a:p>
            <a:pPr algn="r" indent="0" marL="0">
              <a:buNone/>
            </a:pPr>
            <a:r>
              <a:rPr lang="en-US" sz="888" b="1" dirty="0">
                <a:solidFill>
                  <a:srgbClr val="120180"/>
                </a:solidFill>
                <a:latin typeface="Raleway" pitchFamily="34" charset="0"/>
                <a:ea typeface="Raleway" pitchFamily="34" charset="-122"/>
                <a:cs typeface="Raleway" pitchFamily="34" charset="-120"/>
              </a:rPr>
              <a:t>8</a:t>
            </a:r>
            <a:endParaRPr lang="en-US" sz="88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01_Repositorios\13_Presentaciones\dash\televentas\ppt_slides\sk_12_Xu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29334" y="4898827"/>
            <a:ext cx="3695608" cy="511373"/>
          </a:xfrm>
          <a:prstGeom prst="rect">
            <a:avLst/>
          </a:prstGeom>
          <a:noFill/>
          <a:ln/>
        </p:spPr>
        <p:txBody>
          <a:bodyPr wrap="none" lIns="0" tIns="0" rIns="0" bIns="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con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n-US" sz="672" dirty="0"/>
          </a:p>
        </p:txBody>
      </p:sp>
      <p:sp>
        <p:nvSpPr>
          <p:cNvPr id="4" name="Text 1"/>
          <p:cNvSpPr/>
          <p:nvPr/>
        </p:nvSpPr>
        <p:spPr>
          <a:xfrm>
            <a:off x="8673337" y="2940773"/>
            <a:ext cx="2775426" cy="214313"/>
          </a:xfrm>
          <a:prstGeom prst="rect">
            <a:avLst/>
          </a:prstGeom>
          <a:noFill/>
          <a:ln/>
        </p:spPr>
        <p:txBody>
          <a:bodyPr wrap="none" lIns="0" tIns="0" rIns="0" bIns="0" rtlCol="0" anchor="t"/>
          <a:lstStyle/>
          <a:p>
            <a:pPr algn="l" indent="0" marL="0">
              <a:buNone/>
            </a:pPr>
            <a:r>
              <a:rPr lang="en-US" sz="720" dirty="0">
                <a:solidFill>
                  <a:srgbClr val="333333"/>
                </a:solidFill>
                <a:latin typeface="Raleway" pitchFamily="34" charset="0"/>
                <a:ea typeface="Raleway" pitchFamily="34" charset="-122"/>
                <a:cs typeface="Raleway" pitchFamily="34" charset="-120"/>
              </a:rPr>
              <a:t>Incentivo destacado en torneo + varios incentivos menores</a:t>
            </a:r>
            <a:endParaRPr lang="en-US" sz="720" dirty="0"/>
          </a:p>
        </p:txBody>
      </p:sp>
      <p:sp>
        <p:nvSpPr>
          <p:cNvPr id="5" name="Text 2"/>
          <p:cNvSpPr/>
          <p:nvPr/>
        </p:nvSpPr>
        <p:spPr>
          <a:xfrm>
            <a:off x="8673337" y="3155085"/>
            <a:ext cx="2775426" cy="219075"/>
          </a:xfrm>
          <a:prstGeom prst="rect">
            <a:avLst/>
          </a:prstGeom>
          <a:noFill/>
          <a:ln/>
        </p:spPr>
        <p:txBody>
          <a:bodyPr wrap="none" lIns="0" tIns="0" rIns="0" bIns="0" rtlCol="0" anchor="t"/>
          <a:lstStyle/>
          <a:p>
            <a:pPr algn="l" indent="0" marL="0">
              <a:buNone/>
            </a:pPr>
            <a:r>
              <a:rPr lang="en-US" sz="720" dirty="0">
                <a:solidFill>
                  <a:srgbClr val="333333"/>
                </a:solidFill>
                <a:latin typeface="Raleway" pitchFamily="34" charset="0"/>
                <a:ea typeface="Raleway" pitchFamily="34" charset="-122"/>
                <a:cs typeface="Raleway" pitchFamily="34" charset="-120"/>
              </a:rPr>
              <a:t>Incentivos de rendimiento destacado + varios menores</a:t>
            </a:r>
            <a:endParaRPr lang="en-US" sz="720" dirty="0"/>
          </a:p>
        </p:txBody>
      </p:sp>
      <p:sp>
        <p:nvSpPr>
          <p:cNvPr id="6" name="Text 3"/>
          <p:cNvSpPr/>
          <p:nvPr/>
        </p:nvSpPr>
        <p:spPr>
          <a:xfrm>
            <a:off x="8673337" y="4031385"/>
            <a:ext cx="2775426" cy="219075"/>
          </a:xfrm>
          <a:prstGeom prst="rect">
            <a:avLst/>
          </a:prstGeom>
          <a:noFill/>
          <a:ln/>
        </p:spPr>
        <p:txBody>
          <a:bodyPr wrap="none" lIns="0" tIns="0" rIns="0" bIns="0" rtlCol="0" anchor="t"/>
          <a:lstStyle/>
          <a:p>
            <a:pPr algn="l" indent="0" marL="0">
              <a:buNone/>
            </a:pPr>
            <a:r>
              <a:rPr lang="en-US" sz="720" dirty="0">
                <a:solidFill>
                  <a:srgbClr val="333333"/>
                </a:solidFill>
                <a:latin typeface="Raleway" pitchFamily="34" charset="0"/>
                <a:ea typeface="Raleway" pitchFamily="34" charset="-122"/>
                <a:cs typeface="Raleway" pitchFamily="34" charset="-120"/>
              </a:rPr>
              <a:t>Incentivos de rendimiento por cumplimiento de metas</a:t>
            </a:r>
            <a:endParaRPr lang="en-US" sz="720" dirty="0"/>
          </a:p>
        </p:txBody>
      </p:sp>
      <p:sp>
        <p:nvSpPr>
          <p:cNvPr id="7" name="Text 4"/>
          <p:cNvSpPr/>
          <p:nvPr/>
        </p:nvSpPr>
        <p:spPr>
          <a:xfrm>
            <a:off x="8673337" y="4250460"/>
            <a:ext cx="2775426" cy="214313"/>
          </a:xfrm>
          <a:prstGeom prst="rect">
            <a:avLst/>
          </a:prstGeom>
          <a:noFill/>
          <a:ln/>
        </p:spPr>
        <p:txBody>
          <a:bodyPr wrap="non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41 eventos de incentivo en el semestre</a:t>
            </a:r>
            <a:endParaRPr lang="en-US" sz="720" dirty="0"/>
          </a:p>
        </p:txBody>
      </p:sp>
      <p:sp>
        <p:nvSpPr>
          <p:cNvPr id="8" name="Text 5"/>
          <p:cNvSpPr/>
          <p:nvPr/>
        </p:nvSpPr>
        <p:spPr>
          <a:xfrm>
            <a:off x="1213514" y="219075"/>
            <a:ext cx="3120401"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9" name="Text 6"/>
          <p:cNvSpPr/>
          <p:nvPr/>
        </p:nvSpPr>
        <p:spPr>
          <a:xfrm>
            <a:off x="8673337" y="3812310"/>
            <a:ext cx="2775426" cy="219075"/>
          </a:xfrm>
          <a:prstGeom prst="rect">
            <a:avLst/>
          </a:prstGeom>
          <a:noFill/>
          <a:ln/>
        </p:spPr>
        <p:txBody>
          <a:bodyPr wrap="none" lIns="0" tIns="0" rIns="0" bIns="0" rtlCol="0" anchor="t"/>
          <a:lstStyle/>
          <a:p>
            <a:pPr algn="l" indent="0" marL="0">
              <a:buNone/>
            </a:pPr>
            <a:r>
              <a:rPr lang="en-US" sz="720" dirty="0">
                <a:solidFill>
                  <a:srgbClr val="333333"/>
                </a:solidFill>
                <a:latin typeface="Raleway" pitchFamily="34" charset="0"/>
                <a:ea typeface="Raleway" pitchFamily="34" charset="-122"/>
                <a:cs typeface="Raleway" pitchFamily="34" charset="-120"/>
              </a:rPr>
              <a:t>Incentivo destacado + Meta Volante</a:t>
            </a:r>
            <a:endParaRPr lang="en-US" sz="720" dirty="0"/>
          </a:p>
        </p:txBody>
      </p:sp>
      <p:sp>
        <p:nvSpPr>
          <p:cNvPr id="10" name="Text 7"/>
          <p:cNvSpPr/>
          <p:nvPr/>
        </p:nvSpPr>
        <p:spPr>
          <a:xfrm>
            <a:off x="1015429" y="28146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11" name="Text 8"/>
          <p:cNvSpPr/>
          <p:nvPr/>
        </p:nvSpPr>
        <p:spPr>
          <a:xfrm>
            <a:off x="1015429" y="463391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12" name="Text 9"/>
          <p:cNvSpPr/>
          <p:nvPr/>
        </p:nvSpPr>
        <p:spPr>
          <a:xfrm>
            <a:off x="8673337" y="3374160"/>
            <a:ext cx="2775426" cy="219075"/>
          </a:xfrm>
          <a:prstGeom prst="rect">
            <a:avLst/>
          </a:prstGeom>
          <a:noFill/>
          <a:ln/>
        </p:spPr>
        <p:txBody>
          <a:bodyPr wrap="none" lIns="0" tIns="0" rIns="0" bIns="0" rtlCol="0" anchor="t"/>
          <a:lstStyle/>
          <a:p>
            <a:pPr algn="l" indent="0" marL="0">
              <a:buNone/>
            </a:pPr>
            <a:r>
              <a:rPr lang="en-US" sz="720" dirty="0">
                <a:solidFill>
                  <a:srgbClr val="333333"/>
                </a:solidFill>
                <a:latin typeface="Raleway" pitchFamily="34" charset="0"/>
                <a:ea typeface="Raleway" pitchFamily="34" charset="-122"/>
                <a:cs typeface="Raleway" pitchFamily="34" charset="-120"/>
              </a:rPr>
              <a:t>Incentivos de rendimiento medio</a:t>
            </a:r>
            <a:endParaRPr lang="en-US" sz="720" dirty="0"/>
          </a:p>
        </p:txBody>
      </p:sp>
      <p:sp>
        <p:nvSpPr>
          <p:cNvPr id="13" name="Text 10"/>
          <p:cNvSpPr/>
          <p:nvPr/>
        </p:nvSpPr>
        <p:spPr>
          <a:xfrm>
            <a:off x="1015429" y="1909762"/>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4" name="Text 11"/>
          <p:cNvSpPr/>
          <p:nvPr/>
        </p:nvSpPr>
        <p:spPr>
          <a:xfrm>
            <a:off x="1015429" y="2062162"/>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5" name="Text 12"/>
          <p:cNvSpPr/>
          <p:nvPr/>
        </p:nvSpPr>
        <p:spPr>
          <a:xfrm>
            <a:off x="7867453" y="2085975"/>
            <a:ext cx="2833617" cy="182761"/>
          </a:xfrm>
          <a:prstGeom prst="rect">
            <a:avLst/>
          </a:prstGeom>
          <a:noFill/>
          <a:ln/>
        </p:spPr>
        <p:txBody>
          <a:bodyPr wrap="non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El top 5 aporta  del semestre.</a:t>
            </a:r>
            <a:endParaRPr lang="en-US" sz="960" dirty="0"/>
          </a:p>
        </p:txBody>
      </p:sp>
      <p:sp>
        <p:nvSpPr>
          <p:cNvPr id="16" name="Text 13"/>
          <p:cNvSpPr/>
          <p:nvPr/>
        </p:nvSpPr>
        <p:spPr>
          <a:xfrm>
            <a:off x="704832" y="1028700"/>
            <a:ext cx="6248244" cy="200025"/>
          </a:xfrm>
          <a:prstGeom prst="rect">
            <a:avLst/>
          </a:prstGeom>
          <a:noFill/>
          <a:ln/>
        </p:spPr>
        <p:txBody>
          <a:bodyPr wrap="non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Equipo completo (25 asesores)</a:t>
            </a:r>
            <a:endParaRPr lang="en-US" sz="864" dirty="0"/>
          </a:p>
        </p:txBody>
      </p:sp>
      <p:sp>
        <p:nvSpPr>
          <p:cNvPr id="17" name="Text 14"/>
          <p:cNvSpPr/>
          <p:nvPr/>
        </p:nvSpPr>
        <p:spPr>
          <a:xfrm>
            <a:off x="1015429" y="160496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8" name="Text 15"/>
          <p:cNvSpPr/>
          <p:nvPr/>
        </p:nvSpPr>
        <p:spPr>
          <a:xfrm>
            <a:off x="1015429" y="509111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19" name="Text 16"/>
          <p:cNvSpPr/>
          <p:nvPr/>
        </p:nvSpPr>
        <p:spPr>
          <a:xfrm>
            <a:off x="1015429" y="31194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20" name="Text 17"/>
          <p:cNvSpPr/>
          <p:nvPr/>
        </p:nvSpPr>
        <p:spPr>
          <a:xfrm>
            <a:off x="7448364" y="2531198"/>
            <a:ext cx="4000400" cy="13335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Incentivos extras pagados 1S</a:t>
            </a:r>
            <a:endParaRPr lang="en-US" sz="816" dirty="0"/>
          </a:p>
        </p:txBody>
      </p:sp>
      <p:sp>
        <p:nvSpPr>
          <p:cNvPr id="21" name="Text 18"/>
          <p:cNvSpPr/>
          <p:nvPr/>
        </p:nvSpPr>
        <p:spPr>
          <a:xfrm>
            <a:off x="1015429" y="1457325"/>
            <a:ext cx="2229985" cy="147637"/>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22" name="Text 19"/>
          <p:cNvSpPr/>
          <p:nvPr/>
        </p:nvSpPr>
        <p:spPr>
          <a:xfrm>
            <a:off x="1015429" y="26622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3" name="Text 20"/>
          <p:cNvSpPr/>
          <p:nvPr/>
        </p:nvSpPr>
        <p:spPr>
          <a:xfrm>
            <a:off x="1015429" y="29670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4" name="Text 21"/>
          <p:cNvSpPr/>
          <p:nvPr/>
        </p:nvSpPr>
        <p:spPr>
          <a:xfrm>
            <a:off x="1015429" y="25098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5" name="Text 22"/>
          <p:cNvSpPr/>
          <p:nvPr/>
        </p:nvSpPr>
        <p:spPr>
          <a:xfrm>
            <a:off x="1015429" y="35766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Rhoymar HernáNdez AlbarráN</a:t>
            </a:r>
            <a:endParaRPr lang="en-US" sz="660" dirty="0"/>
          </a:p>
        </p:txBody>
      </p:sp>
      <p:sp>
        <p:nvSpPr>
          <p:cNvPr id="26" name="Text 23"/>
          <p:cNvSpPr/>
          <p:nvPr/>
        </p:nvSpPr>
        <p:spPr>
          <a:xfrm>
            <a:off x="1015429" y="32718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7" name="Text 24"/>
          <p:cNvSpPr/>
          <p:nvPr/>
        </p:nvSpPr>
        <p:spPr>
          <a:xfrm>
            <a:off x="7448364" y="1346377"/>
            <a:ext cx="4000400" cy="13335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Asesores activos por mes</a:t>
            </a:r>
            <a:endParaRPr lang="en-US" sz="816" dirty="0"/>
          </a:p>
        </p:txBody>
      </p:sp>
      <p:sp>
        <p:nvSpPr>
          <p:cNvPr id="28" name="Text 25"/>
          <p:cNvSpPr/>
          <p:nvPr/>
        </p:nvSpPr>
        <p:spPr>
          <a:xfrm>
            <a:off x="1015429" y="175736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9" name="Text 26"/>
          <p:cNvSpPr/>
          <p:nvPr/>
        </p:nvSpPr>
        <p:spPr>
          <a:xfrm>
            <a:off x="1015429" y="4938712"/>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30" name="Text 27"/>
          <p:cNvSpPr/>
          <p:nvPr/>
        </p:nvSpPr>
        <p:spPr>
          <a:xfrm>
            <a:off x="8673337" y="3593235"/>
            <a:ext cx="2775426" cy="219075"/>
          </a:xfrm>
          <a:prstGeom prst="rect">
            <a:avLst/>
          </a:prstGeom>
          <a:noFill/>
          <a:ln/>
        </p:spPr>
        <p:txBody>
          <a:bodyPr wrap="none" lIns="0" tIns="0" rIns="0" bIns="0" rtlCol="0" anchor="t"/>
          <a:lstStyle/>
          <a:p>
            <a:pPr algn="l" indent="0" marL="0">
              <a:buNone/>
            </a:pPr>
            <a:r>
              <a:rPr lang="en-US" sz="720" dirty="0">
                <a:solidFill>
                  <a:srgbClr val="333333"/>
                </a:solidFill>
                <a:latin typeface="Raleway" pitchFamily="34" charset="0"/>
                <a:ea typeface="Raleway" pitchFamily="34" charset="-122"/>
                <a:cs typeface="Raleway" pitchFamily="34" charset="-120"/>
              </a:rPr>
              <a:t>Patrón similar a marzo</a:t>
            </a:r>
            <a:endParaRPr lang="en-US" sz="720" dirty="0"/>
          </a:p>
        </p:txBody>
      </p:sp>
      <p:sp>
        <p:nvSpPr>
          <p:cNvPr id="31" name="Text 28"/>
          <p:cNvSpPr/>
          <p:nvPr/>
        </p:nvSpPr>
        <p:spPr>
          <a:xfrm>
            <a:off x="1015429" y="40338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32" name="Text 29"/>
          <p:cNvSpPr/>
          <p:nvPr/>
        </p:nvSpPr>
        <p:spPr>
          <a:xfrm>
            <a:off x="1015429" y="4481512"/>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33" name="Text 30"/>
          <p:cNvSpPr/>
          <p:nvPr/>
        </p:nvSpPr>
        <p:spPr>
          <a:xfrm>
            <a:off x="1015429" y="37290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CéSar Barrera PáJaro</a:t>
            </a:r>
            <a:endParaRPr lang="en-US" sz="660" dirty="0"/>
          </a:p>
        </p:txBody>
      </p:sp>
      <p:sp>
        <p:nvSpPr>
          <p:cNvPr id="34" name="Text 31"/>
          <p:cNvSpPr/>
          <p:nvPr/>
        </p:nvSpPr>
        <p:spPr>
          <a:xfrm>
            <a:off x="1015429" y="41862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Yannecce MejíA GóMez</a:t>
            </a:r>
            <a:endParaRPr lang="en-US" sz="660" dirty="0"/>
          </a:p>
        </p:txBody>
      </p:sp>
      <p:sp>
        <p:nvSpPr>
          <p:cNvPr id="35" name="Text 32"/>
          <p:cNvSpPr/>
          <p:nvPr/>
        </p:nvSpPr>
        <p:spPr>
          <a:xfrm>
            <a:off x="1015429" y="2214563"/>
            <a:ext cx="2229985" cy="142875"/>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6" name="Text 33"/>
          <p:cNvSpPr/>
          <p:nvPr/>
        </p:nvSpPr>
        <p:spPr>
          <a:xfrm>
            <a:off x="1015429" y="4786313"/>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7" name="Text 34"/>
          <p:cNvSpPr/>
          <p:nvPr/>
        </p:nvSpPr>
        <p:spPr>
          <a:xfrm>
            <a:off x="7448364" y="1090613"/>
            <a:ext cx="1357576" cy="1524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Lectura del equipo</a:t>
            </a:r>
            <a:endParaRPr lang="en-US" sz="1020" dirty="0"/>
          </a:p>
        </p:txBody>
      </p:sp>
      <p:sp>
        <p:nvSpPr>
          <p:cNvPr id="38" name="Text 35"/>
          <p:cNvSpPr/>
          <p:nvPr/>
        </p:nvSpPr>
        <p:spPr>
          <a:xfrm>
            <a:off x="10196555" y="209550"/>
            <a:ext cx="1423654"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Asesores</a:t>
            </a:r>
            <a:endParaRPr lang="en-US" sz="840" dirty="0"/>
          </a:p>
        </p:txBody>
      </p:sp>
      <p:sp>
        <p:nvSpPr>
          <p:cNvPr id="39" name="Text 36"/>
          <p:cNvSpPr/>
          <p:nvPr/>
        </p:nvSpPr>
        <p:spPr>
          <a:xfrm>
            <a:off x="1015429" y="34242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40" name="Text 37"/>
          <p:cNvSpPr/>
          <p:nvPr/>
        </p:nvSpPr>
        <p:spPr>
          <a:xfrm>
            <a:off x="1015429" y="2357438"/>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41" name="Text 38"/>
          <p:cNvSpPr/>
          <p:nvPr/>
        </p:nvSpPr>
        <p:spPr>
          <a:xfrm>
            <a:off x="1015429" y="3881437"/>
            <a:ext cx="2229985" cy="152400"/>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42" name="Text 39"/>
          <p:cNvSpPr/>
          <p:nvPr/>
        </p:nvSpPr>
        <p:spPr>
          <a:xfrm>
            <a:off x="1015429" y="4338637"/>
            <a:ext cx="2229985" cy="142875"/>
          </a:xfrm>
          <a:prstGeom prst="rect">
            <a:avLst/>
          </a:prstGeom>
          <a:noFill/>
          <a:ln/>
        </p:spPr>
        <p:txBody>
          <a:bodyPr wrap="none" lIns="0" tIns="0" rIns="0" bIns="0" rtlCol="0" anchor="t"/>
          <a:lstStyle/>
          <a:p>
            <a:pPr algn="l" indent="0" marL="0">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43" name="Text 40"/>
          <p:cNvSpPr/>
          <p:nvPr/>
        </p:nvSpPr>
        <p:spPr>
          <a:xfrm>
            <a:off x="1687222" y="5429250"/>
            <a:ext cx="450343" cy="104775"/>
          </a:xfrm>
          <a:prstGeom prst="rect">
            <a:avLst/>
          </a:prstGeom>
          <a:noFill/>
          <a:ln/>
        </p:spPr>
        <p:txBody>
          <a:bodyPr wrap="none" lIns="0" tIns="0" rIns="0" bIns="0" rtlCol="0" anchor="t"/>
          <a:lstStyle/>
          <a:p>
            <a:pPr algn="l" indent="0" marL="0">
              <a:buNone/>
            </a:pPr>
            <a:r>
              <a:rPr lang="en-US" sz="648" dirty="0">
                <a:solidFill>
                  <a:srgbClr val="333333"/>
                </a:solidFill>
                <a:latin typeface="Raleway" pitchFamily="34" charset="0"/>
                <a:ea typeface="Raleway" pitchFamily="34" charset="-122"/>
                <a:cs typeface="Raleway" pitchFamily="34" charset="-120"/>
              </a:rPr>
              <a:t>— = sin dato</a:t>
            </a:r>
            <a:endParaRPr lang="en-US" sz="648" dirty="0"/>
          </a:p>
        </p:txBody>
      </p:sp>
      <p:sp>
        <p:nvSpPr>
          <p:cNvPr id="44" name="Text 41"/>
          <p:cNvSpPr/>
          <p:nvPr/>
        </p:nvSpPr>
        <p:spPr>
          <a:xfrm>
            <a:off x="1149073" y="5429250"/>
            <a:ext cx="423852" cy="104775"/>
          </a:xfrm>
          <a:prstGeom prst="rect">
            <a:avLst/>
          </a:prstGeom>
          <a:noFill/>
          <a:ln/>
        </p:spPr>
        <p:txBody>
          <a:bodyPr wrap="none" lIns="0" tIns="0" rIns="0" bIns="0" rtlCol="0" anchor="t"/>
          <a:lstStyle/>
          <a:p>
            <a:pPr algn="l" indent="0" marL="0">
              <a:buNone/>
            </a:pPr>
            <a:r>
              <a:rPr lang="en-US" sz="648" dirty="0">
                <a:solidFill>
                  <a:srgbClr val="333333"/>
                </a:solidFill>
                <a:latin typeface="Raleway" pitchFamily="34" charset="0"/>
                <a:ea typeface="Raleway" pitchFamily="34" charset="-122"/>
                <a:cs typeface="Raleway" pitchFamily="34" charset="-120"/>
              </a:rPr>
              <a:t>rojo &lt; meta</a:t>
            </a:r>
            <a:endParaRPr lang="en-US" sz="648" dirty="0"/>
          </a:p>
        </p:txBody>
      </p:sp>
      <p:sp>
        <p:nvSpPr>
          <p:cNvPr id="45" name="Text 42"/>
          <p:cNvSpPr/>
          <p:nvPr/>
        </p:nvSpPr>
        <p:spPr>
          <a:xfrm>
            <a:off x="7963296" y="2712173"/>
            <a:ext cx="710041"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Eventos</a:t>
            </a:r>
            <a:endParaRPr lang="en-US" sz="888" dirty="0"/>
          </a:p>
        </p:txBody>
      </p:sp>
      <p:sp>
        <p:nvSpPr>
          <p:cNvPr id="46" name="Text 43"/>
          <p:cNvSpPr/>
          <p:nvPr/>
        </p:nvSpPr>
        <p:spPr>
          <a:xfrm>
            <a:off x="8673337" y="2712173"/>
            <a:ext cx="2775426"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Detalle</a:t>
            </a:r>
            <a:endParaRPr lang="en-US" sz="888" dirty="0"/>
          </a:p>
        </p:txBody>
      </p:sp>
      <p:sp>
        <p:nvSpPr>
          <p:cNvPr id="47" name="Text 44"/>
          <p:cNvSpPr/>
          <p:nvPr/>
        </p:nvSpPr>
        <p:spPr>
          <a:xfrm>
            <a:off x="1015429" y="1266825"/>
            <a:ext cx="2229985" cy="1905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48" name="Text 45"/>
          <p:cNvSpPr/>
          <p:nvPr/>
        </p:nvSpPr>
        <p:spPr>
          <a:xfrm>
            <a:off x="6328907" y="5243513"/>
            <a:ext cx="624170"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13.917</a:t>
            </a:r>
            <a:endParaRPr lang="en-US" sz="696" dirty="0"/>
          </a:p>
        </p:txBody>
      </p:sp>
      <p:sp>
        <p:nvSpPr>
          <p:cNvPr id="49" name="Text 46"/>
          <p:cNvSpPr/>
          <p:nvPr/>
        </p:nvSpPr>
        <p:spPr>
          <a:xfrm>
            <a:off x="6328907" y="1266825"/>
            <a:ext cx="624170"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50" name="Text 47"/>
          <p:cNvSpPr/>
          <p:nvPr/>
        </p:nvSpPr>
        <p:spPr>
          <a:xfrm>
            <a:off x="6690401" y="1481137"/>
            <a:ext cx="205527"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51" name="Text 48"/>
          <p:cNvSpPr/>
          <p:nvPr/>
        </p:nvSpPr>
        <p:spPr>
          <a:xfrm>
            <a:off x="6695461" y="1633538"/>
            <a:ext cx="200466"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52" name="Text 49"/>
          <p:cNvSpPr/>
          <p:nvPr/>
        </p:nvSpPr>
        <p:spPr>
          <a:xfrm>
            <a:off x="1015429" y="5243513"/>
            <a:ext cx="2229985" cy="147637"/>
          </a:xfrm>
          <a:prstGeom prst="rect">
            <a:avLst/>
          </a:prstGeom>
          <a:noFill/>
          <a:ln/>
        </p:spPr>
        <p:txBody>
          <a:bodyPr wrap="none" lIns="0" tIns="0" rIns="0" bIns="0" rtlCol="0" anchor="t"/>
          <a:lstStyle/>
          <a:p>
            <a:pPr algn="l" indent="0" marL="0">
              <a:buNone/>
            </a:pPr>
            <a:r>
              <a:rPr lang="en-US" sz="696" b="1" dirty="0">
                <a:solidFill>
                  <a:srgbClr val="120180"/>
                </a:solidFill>
                <a:latin typeface="Raleway" pitchFamily="34" charset="0"/>
                <a:ea typeface="Raleway" pitchFamily="34" charset="-122"/>
                <a:cs typeface="Raleway" pitchFamily="34" charset="-120"/>
              </a:rPr>
              <a:t>Total</a:t>
            </a:r>
            <a:endParaRPr lang="en-US" sz="696" dirty="0"/>
          </a:p>
        </p:txBody>
      </p:sp>
      <p:sp>
        <p:nvSpPr>
          <p:cNvPr id="53" name="Text 50"/>
          <p:cNvSpPr/>
          <p:nvPr/>
        </p:nvSpPr>
        <p:spPr>
          <a:xfrm>
            <a:off x="3245414" y="5243513"/>
            <a:ext cx="511807"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2.245</a:t>
            </a:r>
            <a:endParaRPr lang="en-US" sz="696" dirty="0"/>
          </a:p>
        </p:txBody>
      </p:sp>
      <p:sp>
        <p:nvSpPr>
          <p:cNvPr id="54" name="Text 51"/>
          <p:cNvSpPr/>
          <p:nvPr/>
        </p:nvSpPr>
        <p:spPr>
          <a:xfrm>
            <a:off x="3757221" y="5243513"/>
            <a:ext cx="508087"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2.374</a:t>
            </a:r>
            <a:endParaRPr lang="en-US" sz="696" dirty="0"/>
          </a:p>
        </p:txBody>
      </p:sp>
      <p:sp>
        <p:nvSpPr>
          <p:cNvPr id="55" name="Text 52"/>
          <p:cNvSpPr/>
          <p:nvPr/>
        </p:nvSpPr>
        <p:spPr>
          <a:xfrm>
            <a:off x="4265307" y="5243513"/>
            <a:ext cx="508831"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2.431</a:t>
            </a:r>
            <a:endParaRPr lang="en-US" sz="696" dirty="0"/>
          </a:p>
        </p:txBody>
      </p:sp>
      <p:sp>
        <p:nvSpPr>
          <p:cNvPr id="56" name="Text 53"/>
          <p:cNvSpPr/>
          <p:nvPr/>
        </p:nvSpPr>
        <p:spPr>
          <a:xfrm>
            <a:off x="4774138" y="5243513"/>
            <a:ext cx="516718"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2.367</a:t>
            </a:r>
            <a:endParaRPr lang="en-US" sz="696" dirty="0"/>
          </a:p>
        </p:txBody>
      </p:sp>
      <p:sp>
        <p:nvSpPr>
          <p:cNvPr id="57" name="Text 54"/>
          <p:cNvSpPr/>
          <p:nvPr/>
        </p:nvSpPr>
        <p:spPr>
          <a:xfrm>
            <a:off x="5290856" y="5243513"/>
            <a:ext cx="533089"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2.186</a:t>
            </a:r>
            <a:endParaRPr lang="en-US" sz="696" dirty="0"/>
          </a:p>
        </p:txBody>
      </p:sp>
      <p:sp>
        <p:nvSpPr>
          <p:cNvPr id="58" name="Text 55"/>
          <p:cNvSpPr/>
          <p:nvPr/>
        </p:nvSpPr>
        <p:spPr>
          <a:xfrm>
            <a:off x="5823945" y="5243513"/>
            <a:ext cx="504961" cy="147637"/>
          </a:xfrm>
          <a:prstGeom prst="rect">
            <a:avLst/>
          </a:prstGeom>
          <a:noFill/>
          <a:ln/>
        </p:spPr>
        <p:txBody>
          <a:bodyPr wrap="none" lIns="0" tIns="0" rIns="0" bIns="0" rtlCol="0" anchor="t"/>
          <a:lstStyle/>
          <a:p>
            <a:pPr algn="r" indent="0" marL="0">
              <a:buNone/>
            </a:pPr>
            <a:r>
              <a:rPr lang="en-US" sz="696" b="1" dirty="0">
                <a:solidFill>
                  <a:srgbClr val="120180"/>
                </a:solidFill>
                <a:latin typeface="Raleway" pitchFamily="34" charset="0"/>
                <a:ea typeface="Raleway" pitchFamily="34" charset="-122"/>
                <a:cs typeface="Raleway" pitchFamily="34" charset="-120"/>
              </a:rPr>
              <a:t>2.314</a:t>
            </a:r>
            <a:endParaRPr lang="en-US" sz="696" dirty="0"/>
          </a:p>
        </p:txBody>
      </p:sp>
      <p:sp>
        <p:nvSpPr>
          <p:cNvPr id="59" name="Text 56"/>
          <p:cNvSpPr/>
          <p:nvPr/>
        </p:nvSpPr>
        <p:spPr>
          <a:xfrm>
            <a:off x="704832" y="5429250"/>
            <a:ext cx="329944" cy="104775"/>
          </a:xfrm>
          <a:prstGeom prst="rect">
            <a:avLst/>
          </a:prstGeom>
          <a:noFill/>
          <a:ln/>
        </p:spPr>
        <p:txBody>
          <a:bodyPr wrap="none" lIns="0" tIns="0" rIns="0" bIns="0" rtlCol="0" anchor="t"/>
          <a:lstStyle/>
          <a:p>
            <a:pPr algn="l" indent="0" marL="0">
              <a:buNone/>
            </a:pPr>
            <a:r>
              <a:rPr lang="en-US" sz="648" dirty="0">
                <a:solidFill>
                  <a:srgbClr val="333333"/>
                </a:solidFill>
                <a:latin typeface="Raleway" pitchFamily="34" charset="0"/>
                <a:ea typeface="Raleway" pitchFamily="34" charset="-122"/>
                <a:cs typeface="Raleway" pitchFamily="34" charset="-120"/>
              </a:rPr>
              <a:t>Top 5</a:t>
            </a:r>
            <a:endParaRPr lang="en-US" sz="648" dirty="0"/>
          </a:p>
        </p:txBody>
      </p:sp>
      <p:sp>
        <p:nvSpPr>
          <p:cNvPr id="60" name="Text 57"/>
          <p:cNvSpPr/>
          <p:nvPr/>
        </p:nvSpPr>
        <p:spPr>
          <a:xfrm>
            <a:off x="10517867" y="1066800"/>
            <a:ext cx="432037" cy="200025"/>
          </a:xfrm>
          <a:prstGeom prst="rect">
            <a:avLst/>
          </a:prstGeom>
          <a:noFill/>
          <a:ln/>
        </p:spPr>
        <p:txBody>
          <a:bodyPr wrap="none" lIns="0" tIns="0" rIns="0" bIns="0" rtlCol="0" anchor="t"/>
          <a:lstStyle/>
          <a:p>
            <a:pPr algn="ctr" indent="0" marL="0">
              <a:buNone/>
            </a:pPr>
            <a:r>
              <a:rPr lang="en-US" sz="720" b="1" dirty="0">
                <a:solidFill>
                  <a:srgbClr val="9098B0"/>
                </a:solidFill>
                <a:latin typeface="Raleway" pitchFamily="34" charset="0"/>
                <a:ea typeface="Raleway" pitchFamily="34" charset="-122"/>
                <a:cs typeface="Raleway" pitchFamily="34" charset="-120"/>
              </a:rPr>
              <a:t>Vanti</a:t>
            </a:r>
            <a:endParaRPr lang="en-US" sz="720" dirty="0"/>
          </a:p>
        </p:txBody>
      </p:sp>
      <p:sp>
        <p:nvSpPr>
          <p:cNvPr id="61" name="Text 58"/>
          <p:cNvSpPr/>
          <p:nvPr/>
        </p:nvSpPr>
        <p:spPr>
          <a:xfrm>
            <a:off x="7448364" y="4250460"/>
            <a:ext cx="514932" cy="214313"/>
          </a:xfrm>
          <a:prstGeom prst="rect">
            <a:avLst/>
          </a:prstGeom>
          <a:noFill/>
          <a:ln/>
        </p:spPr>
        <p:txBody>
          <a:bodyPr wrap="none" lIns="0" tIns="0" rIns="0" bIns="0" rtlCol="0" anchor="t"/>
          <a:lstStyle/>
          <a:p>
            <a:pPr algn="l" indent="0" marL="0">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62" name="Text 59"/>
          <p:cNvSpPr/>
          <p:nvPr/>
        </p:nvSpPr>
        <p:spPr>
          <a:xfrm>
            <a:off x="10988003" y="1066800"/>
            <a:ext cx="460760" cy="200025"/>
          </a:xfrm>
          <a:prstGeom prst="rect">
            <a:avLst/>
          </a:prstGeom>
          <a:noFill/>
          <a:ln/>
        </p:spPr>
        <p:txBody>
          <a:bodyPr wrap="none" lIns="0" tIns="0" rIns="0" bIns="0" rtlCol="0" anchor="t"/>
          <a:lstStyle/>
          <a:p>
            <a:pPr algn="ctr" indent="0" marL="0">
              <a:buNone/>
            </a:pPr>
            <a:r>
              <a:rPr lang="en-US" sz="720" b="1" dirty="0">
                <a:solidFill>
                  <a:srgbClr val="FFFFFF"/>
                </a:solidFill>
                <a:latin typeface="Raleway" pitchFamily="34" charset="0"/>
                <a:ea typeface="Raleway" pitchFamily="34" charset="-122"/>
                <a:cs typeface="Raleway" pitchFamily="34" charset="-120"/>
              </a:rPr>
              <a:t>Xuma</a:t>
            </a:r>
            <a:endParaRPr lang="en-US" sz="720" dirty="0"/>
          </a:p>
        </p:txBody>
      </p:sp>
      <p:sp>
        <p:nvSpPr>
          <p:cNvPr id="63" name="Text 60"/>
          <p:cNvSpPr/>
          <p:nvPr/>
        </p:nvSpPr>
        <p:spPr>
          <a:xfrm>
            <a:off x="3245414" y="1266825"/>
            <a:ext cx="511807"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64" name="Text 61"/>
          <p:cNvSpPr/>
          <p:nvPr/>
        </p:nvSpPr>
        <p:spPr>
          <a:xfrm>
            <a:off x="3757221" y="1266825"/>
            <a:ext cx="508087"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65" name="Text 62"/>
          <p:cNvSpPr/>
          <p:nvPr/>
        </p:nvSpPr>
        <p:spPr>
          <a:xfrm>
            <a:off x="4265307" y="1266825"/>
            <a:ext cx="508831"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66" name="Text 63"/>
          <p:cNvSpPr/>
          <p:nvPr/>
        </p:nvSpPr>
        <p:spPr>
          <a:xfrm>
            <a:off x="4774138" y="1266825"/>
            <a:ext cx="516718"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67" name="Text 64"/>
          <p:cNvSpPr/>
          <p:nvPr/>
        </p:nvSpPr>
        <p:spPr>
          <a:xfrm>
            <a:off x="5290856" y="1266825"/>
            <a:ext cx="533089"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68" name="Text 65"/>
          <p:cNvSpPr/>
          <p:nvPr/>
        </p:nvSpPr>
        <p:spPr>
          <a:xfrm>
            <a:off x="5823945" y="1266825"/>
            <a:ext cx="504961"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69" name="Text 66"/>
          <p:cNvSpPr/>
          <p:nvPr/>
        </p:nvSpPr>
        <p:spPr>
          <a:xfrm>
            <a:off x="3245414" y="1457325"/>
            <a:ext cx="511807"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70" name="Text 67"/>
          <p:cNvSpPr/>
          <p:nvPr/>
        </p:nvSpPr>
        <p:spPr>
          <a:xfrm>
            <a:off x="3757221" y="1457325"/>
            <a:ext cx="508087"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71" name="Text 68"/>
          <p:cNvSpPr/>
          <p:nvPr/>
        </p:nvSpPr>
        <p:spPr>
          <a:xfrm>
            <a:off x="4265307" y="1457325"/>
            <a:ext cx="508831"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72" name="Text 69"/>
          <p:cNvSpPr/>
          <p:nvPr/>
        </p:nvSpPr>
        <p:spPr>
          <a:xfrm>
            <a:off x="4774138" y="1457325"/>
            <a:ext cx="516718"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73" name="Text 70"/>
          <p:cNvSpPr/>
          <p:nvPr/>
        </p:nvSpPr>
        <p:spPr>
          <a:xfrm>
            <a:off x="5290856" y="1457325"/>
            <a:ext cx="533089"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74" name="Text 71"/>
          <p:cNvSpPr/>
          <p:nvPr/>
        </p:nvSpPr>
        <p:spPr>
          <a:xfrm>
            <a:off x="5823945" y="1457325"/>
            <a:ext cx="504961" cy="147637"/>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75" name="Text 72"/>
          <p:cNvSpPr/>
          <p:nvPr/>
        </p:nvSpPr>
        <p:spPr>
          <a:xfrm>
            <a:off x="3245414" y="1604963"/>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76" name="Text 73"/>
          <p:cNvSpPr/>
          <p:nvPr/>
        </p:nvSpPr>
        <p:spPr>
          <a:xfrm>
            <a:off x="3757221" y="1604963"/>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77" name="Text 74"/>
          <p:cNvSpPr/>
          <p:nvPr/>
        </p:nvSpPr>
        <p:spPr>
          <a:xfrm>
            <a:off x="4265307" y="1604963"/>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78" name="Text 75"/>
          <p:cNvSpPr/>
          <p:nvPr/>
        </p:nvSpPr>
        <p:spPr>
          <a:xfrm>
            <a:off x="4774138" y="1604963"/>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79" name="Text 76"/>
          <p:cNvSpPr/>
          <p:nvPr/>
        </p:nvSpPr>
        <p:spPr>
          <a:xfrm>
            <a:off x="5290856" y="1604963"/>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80" name="Text 77"/>
          <p:cNvSpPr/>
          <p:nvPr/>
        </p:nvSpPr>
        <p:spPr>
          <a:xfrm>
            <a:off x="5823945" y="1604963"/>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1" name="Text 78"/>
          <p:cNvSpPr/>
          <p:nvPr/>
        </p:nvSpPr>
        <p:spPr>
          <a:xfrm>
            <a:off x="3245414" y="1757363"/>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82" name="Text 79"/>
          <p:cNvSpPr/>
          <p:nvPr/>
        </p:nvSpPr>
        <p:spPr>
          <a:xfrm>
            <a:off x="3757221" y="1757363"/>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3" name="Text 80"/>
          <p:cNvSpPr/>
          <p:nvPr/>
        </p:nvSpPr>
        <p:spPr>
          <a:xfrm>
            <a:off x="4265307" y="1757363"/>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84" name="Text 81"/>
          <p:cNvSpPr/>
          <p:nvPr/>
        </p:nvSpPr>
        <p:spPr>
          <a:xfrm>
            <a:off x="4774138" y="1757363"/>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85" name="Text 82"/>
          <p:cNvSpPr/>
          <p:nvPr/>
        </p:nvSpPr>
        <p:spPr>
          <a:xfrm>
            <a:off x="5290856" y="1757363"/>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6" name="Text 83"/>
          <p:cNvSpPr/>
          <p:nvPr/>
        </p:nvSpPr>
        <p:spPr>
          <a:xfrm>
            <a:off x="5823945" y="1757363"/>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87" name="Text 84"/>
          <p:cNvSpPr/>
          <p:nvPr/>
        </p:nvSpPr>
        <p:spPr>
          <a:xfrm>
            <a:off x="6752759" y="1785938"/>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88" name="Text 85"/>
          <p:cNvSpPr/>
          <p:nvPr/>
        </p:nvSpPr>
        <p:spPr>
          <a:xfrm>
            <a:off x="3245414" y="1909762"/>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89" name="Text 86"/>
          <p:cNvSpPr/>
          <p:nvPr/>
        </p:nvSpPr>
        <p:spPr>
          <a:xfrm>
            <a:off x="3757221" y="1909762"/>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90" name="Text 87"/>
          <p:cNvSpPr/>
          <p:nvPr/>
        </p:nvSpPr>
        <p:spPr>
          <a:xfrm>
            <a:off x="4265307" y="1909762"/>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1" name="Text 88"/>
          <p:cNvSpPr/>
          <p:nvPr/>
        </p:nvSpPr>
        <p:spPr>
          <a:xfrm>
            <a:off x="4774138" y="1909762"/>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92" name="Text 89"/>
          <p:cNvSpPr/>
          <p:nvPr/>
        </p:nvSpPr>
        <p:spPr>
          <a:xfrm>
            <a:off x="5290856" y="1909762"/>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93" name="Text 90"/>
          <p:cNvSpPr/>
          <p:nvPr/>
        </p:nvSpPr>
        <p:spPr>
          <a:xfrm>
            <a:off x="5823945" y="1909762"/>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94" name="Text 91"/>
          <p:cNvSpPr/>
          <p:nvPr/>
        </p:nvSpPr>
        <p:spPr>
          <a:xfrm>
            <a:off x="6753205" y="1938337"/>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95" name="Text 92"/>
          <p:cNvSpPr/>
          <p:nvPr/>
        </p:nvSpPr>
        <p:spPr>
          <a:xfrm>
            <a:off x="3245414" y="2062162"/>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96" name="Text 93"/>
          <p:cNvSpPr/>
          <p:nvPr/>
        </p:nvSpPr>
        <p:spPr>
          <a:xfrm>
            <a:off x="3757221" y="2062162"/>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7" name="Text 94"/>
          <p:cNvSpPr/>
          <p:nvPr/>
        </p:nvSpPr>
        <p:spPr>
          <a:xfrm>
            <a:off x="4265307" y="2062162"/>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8" name="Text 95"/>
          <p:cNvSpPr/>
          <p:nvPr/>
        </p:nvSpPr>
        <p:spPr>
          <a:xfrm>
            <a:off x="4774138" y="2062162"/>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9" name="Text 96"/>
          <p:cNvSpPr/>
          <p:nvPr/>
        </p:nvSpPr>
        <p:spPr>
          <a:xfrm>
            <a:off x="5290856" y="2062162"/>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00" name="Text 97"/>
          <p:cNvSpPr/>
          <p:nvPr/>
        </p:nvSpPr>
        <p:spPr>
          <a:xfrm>
            <a:off x="5823945" y="2062162"/>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01" name="Text 98"/>
          <p:cNvSpPr/>
          <p:nvPr/>
        </p:nvSpPr>
        <p:spPr>
          <a:xfrm>
            <a:off x="6752759" y="2090737"/>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102" name="Text 99"/>
          <p:cNvSpPr/>
          <p:nvPr/>
        </p:nvSpPr>
        <p:spPr>
          <a:xfrm>
            <a:off x="3245414" y="2214563"/>
            <a:ext cx="511807"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103" name="Text 100"/>
          <p:cNvSpPr/>
          <p:nvPr/>
        </p:nvSpPr>
        <p:spPr>
          <a:xfrm>
            <a:off x="3757221" y="2214563"/>
            <a:ext cx="508087"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104" name="Text 101"/>
          <p:cNvSpPr/>
          <p:nvPr/>
        </p:nvSpPr>
        <p:spPr>
          <a:xfrm>
            <a:off x="4265307" y="2214563"/>
            <a:ext cx="508831"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105" name="Text 102"/>
          <p:cNvSpPr/>
          <p:nvPr/>
        </p:nvSpPr>
        <p:spPr>
          <a:xfrm>
            <a:off x="4774138" y="2214563"/>
            <a:ext cx="516718"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06" name="Text 103"/>
          <p:cNvSpPr/>
          <p:nvPr/>
        </p:nvSpPr>
        <p:spPr>
          <a:xfrm>
            <a:off x="5823945" y="2214563"/>
            <a:ext cx="504961"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7" name="Text 104"/>
          <p:cNvSpPr/>
          <p:nvPr/>
        </p:nvSpPr>
        <p:spPr>
          <a:xfrm>
            <a:off x="6743680" y="2238375"/>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108" name="Text 105"/>
          <p:cNvSpPr/>
          <p:nvPr/>
        </p:nvSpPr>
        <p:spPr>
          <a:xfrm>
            <a:off x="3245414" y="23574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9" name="Text 106"/>
          <p:cNvSpPr/>
          <p:nvPr/>
        </p:nvSpPr>
        <p:spPr>
          <a:xfrm>
            <a:off x="3757221" y="23574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10" name="Text 107"/>
          <p:cNvSpPr/>
          <p:nvPr/>
        </p:nvSpPr>
        <p:spPr>
          <a:xfrm>
            <a:off x="4265307" y="23574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11" name="Text 108"/>
          <p:cNvSpPr/>
          <p:nvPr/>
        </p:nvSpPr>
        <p:spPr>
          <a:xfrm>
            <a:off x="4774138" y="2357438"/>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12" name="Text 109"/>
          <p:cNvSpPr/>
          <p:nvPr/>
        </p:nvSpPr>
        <p:spPr>
          <a:xfrm>
            <a:off x="5290856" y="23574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13" name="Text 110"/>
          <p:cNvSpPr/>
          <p:nvPr/>
        </p:nvSpPr>
        <p:spPr>
          <a:xfrm>
            <a:off x="5823945" y="23574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14" name="Text 111"/>
          <p:cNvSpPr/>
          <p:nvPr/>
        </p:nvSpPr>
        <p:spPr>
          <a:xfrm>
            <a:off x="6748145" y="23860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115" name="Text 112"/>
          <p:cNvSpPr/>
          <p:nvPr/>
        </p:nvSpPr>
        <p:spPr>
          <a:xfrm>
            <a:off x="3245414" y="25098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6" name="Text 113"/>
          <p:cNvSpPr/>
          <p:nvPr/>
        </p:nvSpPr>
        <p:spPr>
          <a:xfrm>
            <a:off x="3757221" y="25098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17" name="Text 114"/>
          <p:cNvSpPr/>
          <p:nvPr/>
        </p:nvSpPr>
        <p:spPr>
          <a:xfrm>
            <a:off x="4265307" y="25098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18" name="Text 115"/>
          <p:cNvSpPr/>
          <p:nvPr/>
        </p:nvSpPr>
        <p:spPr>
          <a:xfrm>
            <a:off x="4774138" y="2509838"/>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19" name="Text 116"/>
          <p:cNvSpPr/>
          <p:nvPr/>
        </p:nvSpPr>
        <p:spPr>
          <a:xfrm>
            <a:off x="5290856" y="2509838"/>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0" name="Text 117"/>
          <p:cNvSpPr/>
          <p:nvPr/>
        </p:nvSpPr>
        <p:spPr>
          <a:xfrm>
            <a:off x="5823945" y="25098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132</a:t>
            </a:r>
            <a:endParaRPr lang="en-US" sz="696" dirty="0"/>
          </a:p>
        </p:txBody>
      </p:sp>
      <p:sp>
        <p:nvSpPr>
          <p:cNvPr id="121" name="Text 118"/>
          <p:cNvSpPr/>
          <p:nvPr/>
        </p:nvSpPr>
        <p:spPr>
          <a:xfrm>
            <a:off x="6747847" y="25384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122" name="Text 119"/>
          <p:cNvSpPr/>
          <p:nvPr/>
        </p:nvSpPr>
        <p:spPr>
          <a:xfrm>
            <a:off x="3245414" y="2662237"/>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3" name="Text 120"/>
          <p:cNvSpPr/>
          <p:nvPr/>
        </p:nvSpPr>
        <p:spPr>
          <a:xfrm>
            <a:off x="3757221" y="2662237"/>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4" name="Text 121"/>
          <p:cNvSpPr/>
          <p:nvPr/>
        </p:nvSpPr>
        <p:spPr>
          <a:xfrm>
            <a:off x="4265307" y="2662237"/>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25" name="Text 122"/>
          <p:cNvSpPr/>
          <p:nvPr/>
        </p:nvSpPr>
        <p:spPr>
          <a:xfrm>
            <a:off x="4774138" y="2662237"/>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138</a:t>
            </a:r>
            <a:endParaRPr lang="en-US" sz="696" dirty="0"/>
          </a:p>
        </p:txBody>
      </p:sp>
      <p:sp>
        <p:nvSpPr>
          <p:cNvPr id="126" name="Text 123"/>
          <p:cNvSpPr/>
          <p:nvPr/>
        </p:nvSpPr>
        <p:spPr>
          <a:xfrm>
            <a:off x="5290856" y="2662237"/>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7" name="Text 124"/>
          <p:cNvSpPr/>
          <p:nvPr/>
        </p:nvSpPr>
        <p:spPr>
          <a:xfrm>
            <a:off x="5823945" y="2662237"/>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28" name="Text 125"/>
          <p:cNvSpPr/>
          <p:nvPr/>
        </p:nvSpPr>
        <p:spPr>
          <a:xfrm>
            <a:off x="6748591" y="26908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129" name="Text 126"/>
          <p:cNvSpPr/>
          <p:nvPr/>
        </p:nvSpPr>
        <p:spPr>
          <a:xfrm>
            <a:off x="3245414" y="28146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30" name="Text 127"/>
          <p:cNvSpPr/>
          <p:nvPr/>
        </p:nvSpPr>
        <p:spPr>
          <a:xfrm>
            <a:off x="3757221" y="28146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31" name="Text 128"/>
          <p:cNvSpPr/>
          <p:nvPr/>
        </p:nvSpPr>
        <p:spPr>
          <a:xfrm>
            <a:off x="4265307" y="28146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32" name="Text 129"/>
          <p:cNvSpPr/>
          <p:nvPr/>
        </p:nvSpPr>
        <p:spPr>
          <a:xfrm>
            <a:off x="4774138" y="2814638"/>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133" name="Text 130"/>
          <p:cNvSpPr/>
          <p:nvPr/>
        </p:nvSpPr>
        <p:spPr>
          <a:xfrm>
            <a:off x="5290856" y="28146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34" name="Text 131"/>
          <p:cNvSpPr/>
          <p:nvPr/>
        </p:nvSpPr>
        <p:spPr>
          <a:xfrm>
            <a:off x="6748591" y="28432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135" name="Text 132"/>
          <p:cNvSpPr/>
          <p:nvPr/>
        </p:nvSpPr>
        <p:spPr>
          <a:xfrm>
            <a:off x="3245414" y="2967038"/>
            <a:ext cx="51180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131</a:t>
            </a:r>
            <a:endParaRPr lang="en-US" sz="696" dirty="0"/>
          </a:p>
        </p:txBody>
      </p:sp>
      <p:sp>
        <p:nvSpPr>
          <p:cNvPr id="136" name="Text 133"/>
          <p:cNvSpPr/>
          <p:nvPr/>
        </p:nvSpPr>
        <p:spPr>
          <a:xfrm>
            <a:off x="3757221" y="29670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7" name="Text 134"/>
          <p:cNvSpPr/>
          <p:nvPr/>
        </p:nvSpPr>
        <p:spPr>
          <a:xfrm>
            <a:off x="4265307" y="29670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8" name="Text 135"/>
          <p:cNvSpPr/>
          <p:nvPr/>
        </p:nvSpPr>
        <p:spPr>
          <a:xfrm>
            <a:off x="4774138" y="2967038"/>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39" name="Text 136"/>
          <p:cNvSpPr/>
          <p:nvPr/>
        </p:nvSpPr>
        <p:spPr>
          <a:xfrm>
            <a:off x="5290856" y="29670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100</a:t>
            </a:r>
            <a:endParaRPr lang="en-US" sz="696" dirty="0"/>
          </a:p>
        </p:txBody>
      </p:sp>
      <p:sp>
        <p:nvSpPr>
          <p:cNvPr id="140" name="Text 137"/>
          <p:cNvSpPr/>
          <p:nvPr/>
        </p:nvSpPr>
        <p:spPr>
          <a:xfrm>
            <a:off x="6754842" y="29956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141" name="Text 138"/>
          <p:cNvSpPr/>
          <p:nvPr/>
        </p:nvSpPr>
        <p:spPr>
          <a:xfrm>
            <a:off x="3245414" y="3119437"/>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42" name="Text 139"/>
          <p:cNvSpPr/>
          <p:nvPr/>
        </p:nvSpPr>
        <p:spPr>
          <a:xfrm>
            <a:off x="3757221" y="3119437"/>
            <a:ext cx="50808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43" name="Text 140"/>
          <p:cNvSpPr/>
          <p:nvPr/>
        </p:nvSpPr>
        <p:spPr>
          <a:xfrm>
            <a:off x="4774138" y="3119437"/>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135</a:t>
            </a:r>
            <a:endParaRPr lang="en-US" sz="696" dirty="0"/>
          </a:p>
        </p:txBody>
      </p:sp>
      <p:sp>
        <p:nvSpPr>
          <p:cNvPr id="144" name="Text 141"/>
          <p:cNvSpPr/>
          <p:nvPr/>
        </p:nvSpPr>
        <p:spPr>
          <a:xfrm>
            <a:off x="5823945" y="3119437"/>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122</a:t>
            </a:r>
            <a:endParaRPr lang="en-US" sz="696" dirty="0"/>
          </a:p>
        </p:txBody>
      </p:sp>
      <p:sp>
        <p:nvSpPr>
          <p:cNvPr id="145" name="Text 142"/>
          <p:cNvSpPr/>
          <p:nvPr/>
        </p:nvSpPr>
        <p:spPr>
          <a:xfrm>
            <a:off x="6750080" y="31480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146" name="Text 143"/>
          <p:cNvSpPr/>
          <p:nvPr/>
        </p:nvSpPr>
        <p:spPr>
          <a:xfrm>
            <a:off x="3245414" y="32718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7" name="Text 144"/>
          <p:cNvSpPr/>
          <p:nvPr/>
        </p:nvSpPr>
        <p:spPr>
          <a:xfrm>
            <a:off x="3757221" y="32718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48" name="Text 145"/>
          <p:cNvSpPr/>
          <p:nvPr/>
        </p:nvSpPr>
        <p:spPr>
          <a:xfrm>
            <a:off x="4265307" y="32718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9" name="Text 146"/>
          <p:cNvSpPr/>
          <p:nvPr/>
        </p:nvSpPr>
        <p:spPr>
          <a:xfrm>
            <a:off x="6751866" y="33004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150" name="Text 147"/>
          <p:cNvSpPr/>
          <p:nvPr/>
        </p:nvSpPr>
        <p:spPr>
          <a:xfrm>
            <a:off x="3245414" y="3424238"/>
            <a:ext cx="51180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127</a:t>
            </a:r>
            <a:endParaRPr lang="en-US" sz="696" dirty="0"/>
          </a:p>
        </p:txBody>
      </p:sp>
      <p:sp>
        <p:nvSpPr>
          <p:cNvPr id="151" name="Text 148"/>
          <p:cNvSpPr/>
          <p:nvPr/>
        </p:nvSpPr>
        <p:spPr>
          <a:xfrm>
            <a:off x="3757221" y="34242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52" name="Text 149"/>
          <p:cNvSpPr/>
          <p:nvPr/>
        </p:nvSpPr>
        <p:spPr>
          <a:xfrm>
            <a:off x="4774138" y="3424238"/>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139</a:t>
            </a:r>
            <a:endParaRPr lang="en-US" sz="696" dirty="0"/>
          </a:p>
        </p:txBody>
      </p:sp>
      <p:sp>
        <p:nvSpPr>
          <p:cNvPr id="153" name="Text 150"/>
          <p:cNvSpPr/>
          <p:nvPr/>
        </p:nvSpPr>
        <p:spPr>
          <a:xfrm>
            <a:off x="6750377" y="34528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154" name="Text 151"/>
          <p:cNvSpPr/>
          <p:nvPr/>
        </p:nvSpPr>
        <p:spPr>
          <a:xfrm>
            <a:off x="4265307" y="3576637"/>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55" name="Text 152"/>
          <p:cNvSpPr/>
          <p:nvPr/>
        </p:nvSpPr>
        <p:spPr>
          <a:xfrm>
            <a:off x="4774138" y="3576637"/>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56" name="Text 153"/>
          <p:cNvSpPr/>
          <p:nvPr/>
        </p:nvSpPr>
        <p:spPr>
          <a:xfrm>
            <a:off x="5290856" y="3576637"/>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57" name="Text 154"/>
          <p:cNvSpPr/>
          <p:nvPr/>
        </p:nvSpPr>
        <p:spPr>
          <a:xfrm>
            <a:off x="5823945" y="3576637"/>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137</a:t>
            </a:r>
            <a:endParaRPr lang="en-US" sz="696" dirty="0"/>
          </a:p>
        </p:txBody>
      </p:sp>
      <p:sp>
        <p:nvSpPr>
          <p:cNvPr id="158" name="Text 155"/>
          <p:cNvSpPr/>
          <p:nvPr/>
        </p:nvSpPr>
        <p:spPr>
          <a:xfrm>
            <a:off x="6746210" y="36052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159" name="Text 156"/>
          <p:cNvSpPr/>
          <p:nvPr/>
        </p:nvSpPr>
        <p:spPr>
          <a:xfrm>
            <a:off x="4265307" y="3729038"/>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134</a:t>
            </a:r>
            <a:endParaRPr lang="en-US" sz="696" dirty="0"/>
          </a:p>
        </p:txBody>
      </p:sp>
      <p:sp>
        <p:nvSpPr>
          <p:cNvPr id="160" name="Text 157"/>
          <p:cNvSpPr/>
          <p:nvPr/>
        </p:nvSpPr>
        <p:spPr>
          <a:xfrm>
            <a:off x="5290856" y="37290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104</a:t>
            </a:r>
            <a:endParaRPr lang="en-US" sz="696" dirty="0"/>
          </a:p>
        </p:txBody>
      </p:sp>
      <p:sp>
        <p:nvSpPr>
          <p:cNvPr id="161" name="Text 158"/>
          <p:cNvSpPr/>
          <p:nvPr/>
        </p:nvSpPr>
        <p:spPr>
          <a:xfrm>
            <a:off x="5823945" y="37290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105</a:t>
            </a:r>
            <a:endParaRPr lang="en-US" sz="696" dirty="0"/>
          </a:p>
        </p:txBody>
      </p:sp>
      <p:sp>
        <p:nvSpPr>
          <p:cNvPr id="162" name="Text 159"/>
          <p:cNvSpPr/>
          <p:nvPr/>
        </p:nvSpPr>
        <p:spPr>
          <a:xfrm>
            <a:off x="6760200" y="37576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163" name="Text 160"/>
          <p:cNvSpPr/>
          <p:nvPr/>
        </p:nvSpPr>
        <p:spPr>
          <a:xfrm>
            <a:off x="5290856" y="3881437"/>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101</a:t>
            </a:r>
            <a:endParaRPr lang="en-US" sz="696" dirty="0"/>
          </a:p>
        </p:txBody>
      </p:sp>
      <p:sp>
        <p:nvSpPr>
          <p:cNvPr id="164" name="Text 161"/>
          <p:cNvSpPr/>
          <p:nvPr/>
        </p:nvSpPr>
        <p:spPr>
          <a:xfrm>
            <a:off x="5823945" y="3881437"/>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65" name="Text 162"/>
          <p:cNvSpPr/>
          <p:nvPr/>
        </p:nvSpPr>
        <p:spPr>
          <a:xfrm>
            <a:off x="6749782" y="39100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166" name="Text 163"/>
          <p:cNvSpPr/>
          <p:nvPr/>
        </p:nvSpPr>
        <p:spPr>
          <a:xfrm>
            <a:off x="4265307" y="4033837"/>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109</a:t>
            </a:r>
            <a:endParaRPr lang="en-US" sz="696" dirty="0"/>
          </a:p>
        </p:txBody>
      </p:sp>
      <p:sp>
        <p:nvSpPr>
          <p:cNvPr id="167" name="Text 164"/>
          <p:cNvSpPr/>
          <p:nvPr/>
        </p:nvSpPr>
        <p:spPr>
          <a:xfrm>
            <a:off x="6754396" y="4062412"/>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168" name="Text 165"/>
          <p:cNvSpPr/>
          <p:nvPr/>
        </p:nvSpPr>
        <p:spPr>
          <a:xfrm>
            <a:off x="6755140" y="4214813"/>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169" name="Text 166"/>
          <p:cNvSpPr/>
          <p:nvPr/>
        </p:nvSpPr>
        <p:spPr>
          <a:xfrm>
            <a:off x="3245414" y="4338637"/>
            <a:ext cx="511807"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70" name="Text 167"/>
          <p:cNvSpPr/>
          <p:nvPr/>
        </p:nvSpPr>
        <p:spPr>
          <a:xfrm>
            <a:off x="6756777" y="4362450"/>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171" name="Text 168"/>
          <p:cNvSpPr/>
          <p:nvPr/>
        </p:nvSpPr>
        <p:spPr>
          <a:xfrm>
            <a:off x="7448364" y="1813102"/>
            <a:ext cx="266693" cy="104775"/>
          </a:xfrm>
          <a:prstGeom prst="rect">
            <a:avLst/>
          </a:prstGeom>
          <a:noFill/>
          <a:ln/>
        </p:spPr>
        <p:txBody>
          <a:bodyPr wrap="non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Ene</a:t>
            </a:r>
            <a:endParaRPr lang="en-US" sz="696" dirty="0"/>
          </a:p>
        </p:txBody>
      </p:sp>
      <p:sp>
        <p:nvSpPr>
          <p:cNvPr id="172" name="Text 169"/>
          <p:cNvSpPr/>
          <p:nvPr/>
        </p:nvSpPr>
        <p:spPr>
          <a:xfrm>
            <a:off x="7791255" y="1813102"/>
            <a:ext cx="266693" cy="104775"/>
          </a:xfrm>
          <a:prstGeom prst="rect">
            <a:avLst/>
          </a:prstGeom>
          <a:noFill/>
          <a:ln/>
        </p:spPr>
        <p:txBody>
          <a:bodyPr wrap="non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Feb</a:t>
            </a:r>
            <a:endParaRPr lang="en-US" sz="696" dirty="0"/>
          </a:p>
        </p:txBody>
      </p:sp>
      <p:sp>
        <p:nvSpPr>
          <p:cNvPr id="173" name="Text 170"/>
          <p:cNvSpPr/>
          <p:nvPr/>
        </p:nvSpPr>
        <p:spPr>
          <a:xfrm>
            <a:off x="8134147" y="1813102"/>
            <a:ext cx="266693" cy="104775"/>
          </a:xfrm>
          <a:prstGeom prst="rect">
            <a:avLst/>
          </a:prstGeom>
          <a:noFill/>
          <a:ln/>
        </p:spPr>
        <p:txBody>
          <a:bodyPr wrap="non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Mar</a:t>
            </a:r>
            <a:endParaRPr lang="en-US" sz="696" dirty="0"/>
          </a:p>
        </p:txBody>
      </p:sp>
      <p:sp>
        <p:nvSpPr>
          <p:cNvPr id="174" name="Text 171"/>
          <p:cNvSpPr/>
          <p:nvPr/>
        </p:nvSpPr>
        <p:spPr>
          <a:xfrm>
            <a:off x="8477038" y="1813102"/>
            <a:ext cx="266693" cy="104775"/>
          </a:xfrm>
          <a:prstGeom prst="rect">
            <a:avLst/>
          </a:prstGeom>
          <a:noFill/>
          <a:ln/>
        </p:spPr>
        <p:txBody>
          <a:bodyPr wrap="non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Abr</a:t>
            </a:r>
            <a:endParaRPr lang="en-US" sz="696" dirty="0"/>
          </a:p>
        </p:txBody>
      </p:sp>
      <p:sp>
        <p:nvSpPr>
          <p:cNvPr id="175" name="Text 172"/>
          <p:cNvSpPr/>
          <p:nvPr/>
        </p:nvSpPr>
        <p:spPr>
          <a:xfrm>
            <a:off x="8819929" y="1813102"/>
            <a:ext cx="266693" cy="104775"/>
          </a:xfrm>
          <a:prstGeom prst="rect">
            <a:avLst/>
          </a:prstGeom>
          <a:noFill/>
          <a:ln/>
        </p:spPr>
        <p:txBody>
          <a:bodyPr wrap="non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May</a:t>
            </a:r>
            <a:endParaRPr lang="en-US" sz="696" dirty="0"/>
          </a:p>
        </p:txBody>
      </p:sp>
      <p:sp>
        <p:nvSpPr>
          <p:cNvPr id="176" name="Text 173"/>
          <p:cNvSpPr/>
          <p:nvPr/>
        </p:nvSpPr>
        <p:spPr>
          <a:xfrm>
            <a:off x="9162821" y="1813102"/>
            <a:ext cx="266693" cy="104775"/>
          </a:xfrm>
          <a:prstGeom prst="rect">
            <a:avLst/>
          </a:prstGeom>
          <a:noFill/>
          <a:ln/>
        </p:spPr>
        <p:txBody>
          <a:bodyPr wrap="non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Jun</a:t>
            </a:r>
            <a:endParaRPr lang="en-US" sz="696" dirty="0"/>
          </a:p>
        </p:txBody>
      </p:sp>
      <p:sp>
        <p:nvSpPr>
          <p:cNvPr id="177" name="Text 174"/>
          <p:cNvSpPr/>
          <p:nvPr/>
        </p:nvSpPr>
        <p:spPr>
          <a:xfrm>
            <a:off x="7448364" y="2712173"/>
            <a:ext cx="514932"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78" name="Text 175"/>
          <p:cNvSpPr/>
          <p:nvPr/>
        </p:nvSpPr>
        <p:spPr>
          <a:xfrm>
            <a:off x="7562661" y="2978873"/>
            <a:ext cx="203145"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179" name="Text 176"/>
          <p:cNvSpPr/>
          <p:nvPr/>
        </p:nvSpPr>
        <p:spPr>
          <a:xfrm>
            <a:off x="7562661" y="3197948"/>
            <a:ext cx="200466"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180" name="Text 177"/>
          <p:cNvSpPr/>
          <p:nvPr/>
        </p:nvSpPr>
        <p:spPr>
          <a:xfrm>
            <a:off x="7562661" y="3417023"/>
            <a:ext cx="205229"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181" name="Text 178"/>
          <p:cNvSpPr/>
          <p:nvPr/>
        </p:nvSpPr>
        <p:spPr>
          <a:xfrm>
            <a:off x="7562661" y="3636098"/>
            <a:ext cx="190942"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182" name="Text 179"/>
          <p:cNvSpPr/>
          <p:nvPr/>
        </p:nvSpPr>
        <p:spPr>
          <a:xfrm>
            <a:off x="7562661" y="3855173"/>
            <a:ext cx="221451"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83" name="Text 180"/>
          <p:cNvSpPr/>
          <p:nvPr/>
        </p:nvSpPr>
        <p:spPr>
          <a:xfrm>
            <a:off x="7562661" y="4074248"/>
            <a:ext cx="192430"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84" name="Text 181"/>
          <p:cNvSpPr/>
          <p:nvPr/>
        </p:nvSpPr>
        <p:spPr>
          <a:xfrm>
            <a:off x="5290856" y="2214563"/>
            <a:ext cx="533089"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85" name="Text 182"/>
          <p:cNvSpPr/>
          <p:nvPr/>
        </p:nvSpPr>
        <p:spPr>
          <a:xfrm>
            <a:off x="704832" y="2814638"/>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10</a:t>
            </a:r>
            <a:endParaRPr lang="en-US" sz="624" dirty="0"/>
          </a:p>
        </p:txBody>
      </p:sp>
      <p:sp>
        <p:nvSpPr>
          <p:cNvPr id="186" name="Text 183"/>
          <p:cNvSpPr/>
          <p:nvPr/>
        </p:nvSpPr>
        <p:spPr>
          <a:xfrm>
            <a:off x="5823945" y="28146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81</a:t>
            </a:r>
            <a:endParaRPr lang="en-US" sz="696" dirty="0"/>
          </a:p>
        </p:txBody>
      </p:sp>
      <p:sp>
        <p:nvSpPr>
          <p:cNvPr id="187" name="Text 184"/>
          <p:cNvSpPr/>
          <p:nvPr/>
        </p:nvSpPr>
        <p:spPr>
          <a:xfrm>
            <a:off x="704832" y="2967038"/>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11</a:t>
            </a:r>
            <a:endParaRPr lang="en-US" sz="624" dirty="0"/>
          </a:p>
        </p:txBody>
      </p:sp>
      <p:sp>
        <p:nvSpPr>
          <p:cNvPr id="188" name="Text 185"/>
          <p:cNvSpPr/>
          <p:nvPr/>
        </p:nvSpPr>
        <p:spPr>
          <a:xfrm>
            <a:off x="5823945" y="2967038"/>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89" name="Text 186"/>
          <p:cNvSpPr/>
          <p:nvPr/>
        </p:nvSpPr>
        <p:spPr>
          <a:xfrm>
            <a:off x="704832" y="3119437"/>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12</a:t>
            </a:r>
            <a:endParaRPr lang="en-US" sz="624" dirty="0"/>
          </a:p>
        </p:txBody>
      </p:sp>
      <p:sp>
        <p:nvSpPr>
          <p:cNvPr id="190" name="Text 187"/>
          <p:cNvSpPr/>
          <p:nvPr/>
        </p:nvSpPr>
        <p:spPr>
          <a:xfrm>
            <a:off x="4265307" y="3119437"/>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27</a:t>
            </a:r>
            <a:endParaRPr lang="en-US" sz="696" dirty="0"/>
          </a:p>
        </p:txBody>
      </p:sp>
      <p:sp>
        <p:nvSpPr>
          <p:cNvPr id="191" name="Text 188"/>
          <p:cNvSpPr/>
          <p:nvPr/>
        </p:nvSpPr>
        <p:spPr>
          <a:xfrm>
            <a:off x="5290856" y="3119437"/>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92" name="Text 189"/>
          <p:cNvSpPr/>
          <p:nvPr/>
        </p:nvSpPr>
        <p:spPr>
          <a:xfrm>
            <a:off x="704832" y="3271838"/>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13</a:t>
            </a:r>
            <a:endParaRPr lang="en-US" sz="624" dirty="0"/>
          </a:p>
        </p:txBody>
      </p:sp>
      <p:sp>
        <p:nvSpPr>
          <p:cNvPr id="193" name="Text 190"/>
          <p:cNvSpPr/>
          <p:nvPr/>
        </p:nvSpPr>
        <p:spPr>
          <a:xfrm>
            <a:off x="4774138" y="3271838"/>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85</a:t>
            </a:r>
            <a:endParaRPr lang="en-US" sz="696" dirty="0"/>
          </a:p>
        </p:txBody>
      </p:sp>
      <p:sp>
        <p:nvSpPr>
          <p:cNvPr id="194" name="Text 191"/>
          <p:cNvSpPr/>
          <p:nvPr/>
        </p:nvSpPr>
        <p:spPr>
          <a:xfrm>
            <a:off x="5290856" y="32718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78</a:t>
            </a:r>
            <a:endParaRPr lang="en-US" sz="696" dirty="0"/>
          </a:p>
        </p:txBody>
      </p:sp>
      <p:sp>
        <p:nvSpPr>
          <p:cNvPr id="195" name="Text 192"/>
          <p:cNvSpPr/>
          <p:nvPr/>
        </p:nvSpPr>
        <p:spPr>
          <a:xfrm>
            <a:off x="5823945" y="32718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34</a:t>
            </a:r>
            <a:endParaRPr lang="en-US" sz="696" dirty="0"/>
          </a:p>
        </p:txBody>
      </p:sp>
      <p:sp>
        <p:nvSpPr>
          <p:cNvPr id="196" name="Text 193"/>
          <p:cNvSpPr/>
          <p:nvPr/>
        </p:nvSpPr>
        <p:spPr>
          <a:xfrm>
            <a:off x="704832" y="3424238"/>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14</a:t>
            </a:r>
            <a:endParaRPr lang="en-US" sz="624" dirty="0"/>
          </a:p>
        </p:txBody>
      </p:sp>
      <p:sp>
        <p:nvSpPr>
          <p:cNvPr id="197" name="Text 194"/>
          <p:cNvSpPr/>
          <p:nvPr/>
        </p:nvSpPr>
        <p:spPr>
          <a:xfrm>
            <a:off x="4265307" y="3424238"/>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20</a:t>
            </a:r>
            <a:endParaRPr lang="en-US" sz="696" dirty="0"/>
          </a:p>
        </p:txBody>
      </p:sp>
      <p:sp>
        <p:nvSpPr>
          <p:cNvPr id="198" name="Text 195"/>
          <p:cNvSpPr/>
          <p:nvPr/>
        </p:nvSpPr>
        <p:spPr>
          <a:xfrm>
            <a:off x="5290856" y="34242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99" name="Text 196"/>
          <p:cNvSpPr/>
          <p:nvPr/>
        </p:nvSpPr>
        <p:spPr>
          <a:xfrm>
            <a:off x="5823945" y="34242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95</a:t>
            </a:r>
            <a:endParaRPr lang="en-US" sz="696" dirty="0"/>
          </a:p>
        </p:txBody>
      </p:sp>
      <p:sp>
        <p:nvSpPr>
          <p:cNvPr id="200" name="Text 197"/>
          <p:cNvSpPr/>
          <p:nvPr/>
        </p:nvSpPr>
        <p:spPr>
          <a:xfrm>
            <a:off x="704832" y="3576637"/>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15</a:t>
            </a:r>
            <a:endParaRPr lang="en-US" sz="624" dirty="0"/>
          </a:p>
        </p:txBody>
      </p:sp>
      <p:sp>
        <p:nvSpPr>
          <p:cNvPr id="201" name="Text 198"/>
          <p:cNvSpPr/>
          <p:nvPr/>
        </p:nvSpPr>
        <p:spPr>
          <a:xfrm>
            <a:off x="3757221" y="3576637"/>
            <a:ext cx="50808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39</a:t>
            </a:r>
            <a:endParaRPr lang="en-US" sz="696" dirty="0"/>
          </a:p>
        </p:txBody>
      </p:sp>
      <p:sp>
        <p:nvSpPr>
          <p:cNvPr id="202" name="Text 199"/>
          <p:cNvSpPr/>
          <p:nvPr/>
        </p:nvSpPr>
        <p:spPr>
          <a:xfrm>
            <a:off x="704832" y="3729038"/>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16</a:t>
            </a:r>
            <a:endParaRPr lang="en-US" sz="624" dirty="0"/>
          </a:p>
        </p:txBody>
      </p:sp>
      <p:sp>
        <p:nvSpPr>
          <p:cNvPr id="203" name="Text 200"/>
          <p:cNvSpPr/>
          <p:nvPr/>
        </p:nvSpPr>
        <p:spPr>
          <a:xfrm>
            <a:off x="3757221" y="3729038"/>
            <a:ext cx="50808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33</a:t>
            </a:r>
            <a:endParaRPr lang="en-US" sz="696" dirty="0"/>
          </a:p>
        </p:txBody>
      </p:sp>
      <p:sp>
        <p:nvSpPr>
          <p:cNvPr id="204" name="Text 201"/>
          <p:cNvSpPr/>
          <p:nvPr/>
        </p:nvSpPr>
        <p:spPr>
          <a:xfrm>
            <a:off x="4774138" y="3729038"/>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75</a:t>
            </a:r>
            <a:endParaRPr lang="en-US" sz="696" dirty="0"/>
          </a:p>
        </p:txBody>
      </p:sp>
      <p:sp>
        <p:nvSpPr>
          <p:cNvPr id="205" name="Text 202"/>
          <p:cNvSpPr/>
          <p:nvPr/>
        </p:nvSpPr>
        <p:spPr>
          <a:xfrm>
            <a:off x="704832" y="3881437"/>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17</a:t>
            </a:r>
            <a:endParaRPr lang="en-US" sz="624" dirty="0"/>
          </a:p>
        </p:txBody>
      </p:sp>
      <p:sp>
        <p:nvSpPr>
          <p:cNvPr id="206" name="Text 203"/>
          <p:cNvSpPr/>
          <p:nvPr/>
        </p:nvSpPr>
        <p:spPr>
          <a:xfrm>
            <a:off x="704832" y="4033837"/>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18</a:t>
            </a:r>
            <a:endParaRPr lang="en-US" sz="624" dirty="0"/>
          </a:p>
        </p:txBody>
      </p:sp>
      <p:sp>
        <p:nvSpPr>
          <p:cNvPr id="207" name="Text 204"/>
          <p:cNvSpPr/>
          <p:nvPr/>
        </p:nvSpPr>
        <p:spPr>
          <a:xfrm>
            <a:off x="3757221" y="4033837"/>
            <a:ext cx="508087"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30</a:t>
            </a:r>
            <a:endParaRPr lang="en-US" sz="696" dirty="0"/>
          </a:p>
        </p:txBody>
      </p:sp>
      <p:sp>
        <p:nvSpPr>
          <p:cNvPr id="208" name="Text 205"/>
          <p:cNvSpPr/>
          <p:nvPr/>
        </p:nvSpPr>
        <p:spPr>
          <a:xfrm>
            <a:off x="4774138" y="4033837"/>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59</a:t>
            </a:r>
            <a:endParaRPr lang="en-US" sz="696" dirty="0"/>
          </a:p>
        </p:txBody>
      </p:sp>
      <p:sp>
        <p:nvSpPr>
          <p:cNvPr id="209" name="Text 206"/>
          <p:cNvSpPr/>
          <p:nvPr/>
        </p:nvSpPr>
        <p:spPr>
          <a:xfrm>
            <a:off x="704832" y="4186238"/>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19</a:t>
            </a:r>
            <a:endParaRPr lang="en-US" sz="624" dirty="0"/>
          </a:p>
        </p:txBody>
      </p:sp>
      <p:sp>
        <p:nvSpPr>
          <p:cNvPr id="210" name="Text 207"/>
          <p:cNvSpPr/>
          <p:nvPr/>
        </p:nvSpPr>
        <p:spPr>
          <a:xfrm>
            <a:off x="4774138" y="4186238"/>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19</a:t>
            </a:r>
            <a:endParaRPr lang="en-US" sz="696" dirty="0"/>
          </a:p>
        </p:txBody>
      </p:sp>
      <p:sp>
        <p:nvSpPr>
          <p:cNvPr id="211" name="Text 208"/>
          <p:cNvSpPr/>
          <p:nvPr/>
        </p:nvSpPr>
        <p:spPr>
          <a:xfrm>
            <a:off x="5290856" y="4186238"/>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45</a:t>
            </a:r>
            <a:endParaRPr lang="en-US" sz="696" dirty="0"/>
          </a:p>
        </p:txBody>
      </p:sp>
      <p:sp>
        <p:nvSpPr>
          <p:cNvPr id="212" name="Text 209"/>
          <p:cNvSpPr/>
          <p:nvPr/>
        </p:nvSpPr>
        <p:spPr>
          <a:xfrm>
            <a:off x="5823945" y="4186238"/>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76</a:t>
            </a:r>
            <a:endParaRPr lang="en-US" sz="696" dirty="0"/>
          </a:p>
        </p:txBody>
      </p:sp>
      <p:sp>
        <p:nvSpPr>
          <p:cNvPr id="213" name="Text 210"/>
          <p:cNvSpPr/>
          <p:nvPr/>
        </p:nvSpPr>
        <p:spPr>
          <a:xfrm>
            <a:off x="704832" y="4338637"/>
            <a:ext cx="310597" cy="142875"/>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20</a:t>
            </a:r>
            <a:endParaRPr lang="en-US" sz="624" dirty="0"/>
          </a:p>
        </p:txBody>
      </p:sp>
      <p:sp>
        <p:nvSpPr>
          <p:cNvPr id="214" name="Text 211"/>
          <p:cNvSpPr/>
          <p:nvPr/>
        </p:nvSpPr>
        <p:spPr>
          <a:xfrm>
            <a:off x="704832" y="4481512"/>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21</a:t>
            </a:r>
            <a:endParaRPr lang="en-US" sz="624" dirty="0"/>
          </a:p>
        </p:txBody>
      </p:sp>
      <p:sp>
        <p:nvSpPr>
          <p:cNvPr id="215" name="Text 212"/>
          <p:cNvSpPr/>
          <p:nvPr/>
        </p:nvSpPr>
        <p:spPr>
          <a:xfrm>
            <a:off x="4774138" y="4481512"/>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73</a:t>
            </a:r>
            <a:endParaRPr lang="en-US" sz="696" dirty="0"/>
          </a:p>
        </p:txBody>
      </p:sp>
      <p:sp>
        <p:nvSpPr>
          <p:cNvPr id="216" name="Text 213"/>
          <p:cNvSpPr/>
          <p:nvPr/>
        </p:nvSpPr>
        <p:spPr>
          <a:xfrm>
            <a:off x="6798001" y="4510087"/>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17" name="Text 214"/>
          <p:cNvSpPr/>
          <p:nvPr/>
        </p:nvSpPr>
        <p:spPr>
          <a:xfrm>
            <a:off x="704832" y="4633913"/>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22</a:t>
            </a:r>
            <a:endParaRPr lang="en-US" sz="624" dirty="0"/>
          </a:p>
        </p:txBody>
      </p:sp>
      <p:sp>
        <p:nvSpPr>
          <p:cNvPr id="218" name="Text 215"/>
          <p:cNvSpPr/>
          <p:nvPr/>
        </p:nvSpPr>
        <p:spPr>
          <a:xfrm>
            <a:off x="5823945" y="4633913"/>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54</a:t>
            </a:r>
            <a:endParaRPr lang="en-US" sz="696" dirty="0"/>
          </a:p>
        </p:txBody>
      </p:sp>
      <p:sp>
        <p:nvSpPr>
          <p:cNvPr id="219" name="Text 216"/>
          <p:cNvSpPr/>
          <p:nvPr/>
        </p:nvSpPr>
        <p:spPr>
          <a:xfrm>
            <a:off x="6801573" y="4662488"/>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20" name="Text 217"/>
          <p:cNvSpPr/>
          <p:nvPr/>
        </p:nvSpPr>
        <p:spPr>
          <a:xfrm>
            <a:off x="704832" y="4786313"/>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23</a:t>
            </a:r>
            <a:endParaRPr lang="en-US" sz="624" dirty="0"/>
          </a:p>
        </p:txBody>
      </p:sp>
      <p:sp>
        <p:nvSpPr>
          <p:cNvPr id="221" name="Text 218"/>
          <p:cNvSpPr/>
          <p:nvPr/>
        </p:nvSpPr>
        <p:spPr>
          <a:xfrm>
            <a:off x="5290856" y="4786313"/>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18</a:t>
            </a:r>
            <a:endParaRPr lang="en-US" sz="696" dirty="0"/>
          </a:p>
        </p:txBody>
      </p:sp>
      <p:sp>
        <p:nvSpPr>
          <p:cNvPr id="222" name="Text 219"/>
          <p:cNvSpPr/>
          <p:nvPr/>
        </p:nvSpPr>
        <p:spPr>
          <a:xfrm>
            <a:off x="5823945" y="4786313"/>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13</a:t>
            </a:r>
            <a:endParaRPr lang="en-US" sz="696" dirty="0"/>
          </a:p>
        </p:txBody>
      </p:sp>
      <p:sp>
        <p:nvSpPr>
          <p:cNvPr id="223" name="Text 220"/>
          <p:cNvSpPr/>
          <p:nvPr/>
        </p:nvSpPr>
        <p:spPr>
          <a:xfrm>
            <a:off x="6801275" y="4814888"/>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24" name="Text 221"/>
          <p:cNvSpPr/>
          <p:nvPr/>
        </p:nvSpPr>
        <p:spPr>
          <a:xfrm>
            <a:off x="704832" y="4938712"/>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24</a:t>
            </a:r>
            <a:endParaRPr lang="en-US" sz="624" dirty="0"/>
          </a:p>
        </p:txBody>
      </p:sp>
      <p:sp>
        <p:nvSpPr>
          <p:cNvPr id="225" name="Text 222"/>
          <p:cNvSpPr/>
          <p:nvPr/>
        </p:nvSpPr>
        <p:spPr>
          <a:xfrm>
            <a:off x="5823945" y="4938712"/>
            <a:ext cx="50496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21</a:t>
            </a:r>
            <a:endParaRPr lang="en-US" sz="696" dirty="0"/>
          </a:p>
        </p:txBody>
      </p:sp>
      <p:sp>
        <p:nvSpPr>
          <p:cNvPr id="226" name="Text 223"/>
          <p:cNvSpPr/>
          <p:nvPr/>
        </p:nvSpPr>
        <p:spPr>
          <a:xfrm>
            <a:off x="6807228" y="4967287"/>
            <a:ext cx="182880" cy="95250"/>
          </a:xfrm>
          <a:prstGeom prst="rect">
            <a:avLst/>
          </a:prstGeom>
          <a:noFill/>
          <a:ln/>
        </p:spPr>
        <p:txBody>
          <a:bodyPr wrap="none" lIns="0" tIns="0" rIns="0" bIns="0" rtlCol="0" anchor="t"/>
          <a:lstStyle/>
          <a:p>
            <a:pPr algn="r" indent="0" marL="0">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27" name="Text 224"/>
          <p:cNvSpPr/>
          <p:nvPr/>
        </p:nvSpPr>
        <p:spPr>
          <a:xfrm>
            <a:off x="704832" y="5091113"/>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25</a:t>
            </a:r>
            <a:endParaRPr lang="en-US" sz="624" dirty="0"/>
          </a:p>
        </p:txBody>
      </p:sp>
      <p:sp>
        <p:nvSpPr>
          <p:cNvPr id="228" name="Text 225"/>
          <p:cNvSpPr/>
          <p:nvPr/>
        </p:nvSpPr>
        <p:spPr>
          <a:xfrm>
            <a:off x="7448364" y="1527352"/>
            <a:ext cx="266693" cy="266700"/>
          </a:xfrm>
          <a:prstGeom prst="rect">
            <a:avLst/>
          </a:prstGeom>
          <a:noFill/>
          <a:ln/>
        </p:spPr>
        <p:txBody>
          <a:bodyPr wrap="non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15</a:t>
            </a:r>
            <a:endParaRPr lang="en-US" sz="888" dirty="0"/>
          </a:p>
        </p:txBody>
      </p:sp>
      <p:sp>
        <p:nvSpPr>
          <p:cNvPr id="229" name="Text 226"/>
          <p:cNvSpPr/>
          <p:nvPr/>
        </p:nvSpPr>
        <p:spPr>
          <a:xfrm>
            <a:off x="7791255" y="1527352"/>
            <a:ext cx="266693" cy="266700"/>
          </a:xfrm>
          <a:prstGeom prst="rect">
            <a:avLst/>
          </a:prstGeom>
          <a:noFill/>
          <a:ln/>
        </p:spPr>
        <p:txBody>
          <a:bodyPr wrap="non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17</a:t>
            </a:r>
            <a:endParaRPr lang="en-US" sz="888" dirty="0"/>
          </a:p>
        </p:txBody>
      </p:sp>
      <p:sp>
        <p:nvSpPr>
          <p:cNvPr id="230" name="Text 227"/>
          <p:cNvSpPr/>
          <p:nvPr/>
        </p:nvSpPr>
        <p:spPr>
          <a:xfrm>
            <a:off x="8134147" y="1527352"/>
            <a:ext cx="266693" cy="266700"/>
          </a:xfrm>
          <a:prstGeom prst="rect">
            <a:avLst/>
          </a:prstGeom>
          <a:noFill/>
          <a:ln/>
        </p:spPr>
        <p:txBody>
          <a:bodyPr wrap="non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18</a:t>
            </a:r>
            <a:endParaRPr lang="en-US" sz="888" dirty="0"/>
          </a:p>
        </p:txBody>
      </p:sp>
      <p:sp>
        <p:nvSpPr>
          <p:cNvPr id="231" name="Text 228"/>
          <p:cNvSpPr/>
          <p:nvPr/>
        </p:nvSpPr>
        <p:spPr>
          <a:xfrm>
            <a:off x="8477038" y="1527352"/>
            <a:ext cx="266693" cy="266700"/>
          </a:xfrm>
          <a:prstGeom prst="rect">
            <a:avLst/>
          </a:prstGeom>
          <a:noFill/>
          <a:ln/>
        </p:spPr>
        <p:txBody>
          <a:bodyPr wrap="non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20</a:t>
            </a:r>
            <a:endParaRPr lang="en-US" sz="888" dirty="0"/>
          </a:p>
        </p:txBody>
      </p:sp>
      <p:sp>
        <p:nvSpPr>
          <p:cNvPr id="232" name="Text 229"/>
          <p:cNvSpPr/>
          <p:nvPr/>
        </p:nvSpPr>
        <p:spPr>
          <a:xfrm>
            <a:off x="8819929" y="1527352"/>
            <a:ext cx="266693" cy="266700"/>
          </a:xfrm>
          <a:prstGeom prst="rect">
            <a:avLst/>
          </a:prstGeom>
          <a:noFill/>
          <a:ln/>
        </p:spPr>
        <p:txBody>
          <a:bodyPr wrap="non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20</a:t>
            </a:r>
            <a:endParaRPr lang="en-US" sz="888" dirty="0"/>
          </a:p>
        </p:txBody>
      </p:sp>
      <p:sp>
        <p:nvSpPr>
          <p:cNvPr id="233" name="Text 230"/>
          <p:cNvSpPr/>
          <p:nvPr/>
        </p:nvSpPr>
        <p:spPr>
          <a:xfrm>
            <a:off x="9162821" y="1527352"/>
            <a:ext cx="266693" cy="266700"/>
          </a:xfrm>
          <a:prstGeom prst="rect">
            <a:avLst/>
          </a:prstGeom>
          <a:noFill/>
          <a:ln/>
        </p:spPr>
        <p:txBody>
          <a:bodyPr wrap="non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21</a:t>
            </a:r>
            <a:endParaRPr lang="en-US" sz="888" dirty="0"/>
          </a:p>
        </p:txBody>
      </p:sp>
      <p:sp>
        <p:nvSpPr>
          <p:cNvPr id="234" name="Text 231"/>
          <p:cNvSpPr/>
          <p:nvPr/>
        </p:nvSpPr>
        <p:spPr>
          <a:xfrm>
            <a:off x="7963296" y="4250460"/>
            <a:ext cx="710041" cy="214313"/>
          </a:xfrm>
          <a:prstGeom prst="rect">
            <a:avLst/>
          </a:prstGeom>
          <a:noFill/>
          <a:ln/>
        </p:spPr>
        <p:txBody>
          <a:bodyPr wrap="none" lIns="0" tIns="0" rIns="0" bIns="0" rtlCol="0" anchor="t"/>
          <a:lstStyle/>
          <a:p>
            <a:pPr algn="r" indent="0" marL="0">
              <a:buNone/>
            </a:pPr>
            <a:r>
              <a:rPr lang="en-US" sz="888" b="1" dirty="0">
                <a:solidFill>
                  <a:srgbClr val="120180"/>
                </a:solidFill>
                <a:latin typeface="Raleway" pitchFamily="34" charset="0"/>
                <a:ea typeface="Raleway" pitchFamily="34" charset="-122"/>
                <a:cs typeface="Raleway" pitchFamily="34" charset="-120"/>
              </a:rPr>
              <a:t>41</a:t>
            </a:r>
            <a:endParaRPr lang="en-US" sz="888" dirty="0"/>
          </a:p>
        </p:txBody>
      </p:sp>
      <p:sp>
        <p:nvSpPr>
          <p:cNvPr id="235" name="Text 232"/>
          <p:cNvSpPr/>
          <p:nvPr/>
        </p:nvSpPr>
        <p:spPr>
          <a:xfrm>
            <a:off x="704832" y="1266825"/>
            <a:ext cx="310597" cy="1905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t>
            </a:r>
            <a:endParaRPr lang="en-US" sz="888" dirty="0"/>
          </a:p>
        </p:txBody>
      </p:sp>
      <p:sp>
        <p:nvSpPr>
          <p:cNvPr id="236" name="Text 233"/>
          <p:cNvSpPr/>
          <p:nvPr/>
        </p:nvSpPr>
        <p:spPr>
          <a:xfrm>
            <a:off x="704832" y="1457325"/>
            <a:ext cx="310597" cy="147637"/>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1</a:t>
            </a:r>
            <a:endParaRPr lang="en-US" sz="624" dirty="0"/>
          </a:p>
        </p:txBody>
      </p:sp>
      <p:sp>
        <p:nvSpPr>
          <p:cNvPr id="237" name="Text 234"/>
          <p:cNvSpPr/>
          <p:nvPr/>
        </p:nvSpPr>
        <p:spPr>
          <a:xfrm>
            <a:off x="704832" y="1604963"/>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2</a:t>
            </a:r>
            <a:endParaRPr lang="en-US" sz="624" dirty="0"/>
          </a:p>
        </p:txBody>
      </p:sp>
      <p:sp>
        <p:nvSpPr>
          <p:cNvPr id="238" name="Text 235"/>
          <p:cNvSpPr/>
          <p:nvPr/>
        </p:nvSpPr>
        <p:spPr>
          <a:xfrm>
            <a:off x="704832" y="1757363"/>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3</a:t>
            </a:r>
            <a:endParaRPr lang="en-US" sz="624" dirty="0"/>
          </a:p>
        </p:txBody>
      </p:sp>
      <p:sp>
        <p:nvSpPr>
          <p:cNvPr id="239" name="Text 236"/>
          <p:cNvSpPr/>
          <p:nvPr/>
        </p:nvSpPr>
        <p:spPr>
          <a:xfrm>
            <a:off x="704832" y="1909762"/>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4</a:t>
            </a:r>
            <a:endParaRPr lang="en-US" sz="624" dirty="0"/>
          </a:p>
        </p:txBody>
      </p:sp>
      <p:sp>
        <p:nvSpPr>
          <p:cNvPr id="240" name="Text 237"/>
          <p:cNvSpPr/>
          <p:nvPr/>
        </p:nvSpPr>
        <p:spPr>
          <a:xfrm>
            <a:off x="704832" y="2062162"/>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5</a:t>
            </a:r>
            <a:endParaRPr lang="en-US" sz="624" dirty="0"/>
          </a:p>
        </p:txBody>
      </p:sp>
      <p:sp>
        <p:nvSpPr>
          <p:cNvPr id="241" name="Text 238"/>
          <p:cNvSpPr/>
          <p:nvPr/>
        </p:nvSpPr>
        <p:spPr>
          <a:xfrm>
            <a:off x="704832" y="2214563"/>
            <a:ext cx="310597" cy="142875"/>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6</a:t>
            </a:r>
            <a:endParaRPr lang="en-US" sz="624" dirty="0"/>
          </a:p>
        </p:txBody>
      </p:sp>
      <p:sp>
        <p:nvSpPr>
          <p:cNvPr id="242" name="Text 239"/>
          <p:cNvSpPr/>
          <p:nvPr/>
        </p:nvSpPr>
        <p:spPr>
          <a:xfrm>
            <a:off x="704832" y="2357438"/>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7</a:t>
            </a:r>
            <a:endParaRPr lang="en-US" sz="624" dirty="0"/>
          </a:p>
        </p:txBody>
      </p:sp>
      <p:sp>
        <p:nvSpPr>
          <p:cNvPr id="243" name="Text 240"/>
          <p:cNvSpPr/>
          <p:nvPr/>
        </p:nvSpPr>
        <p:spPr>
          <a:xfrm>
            <a:off x="704832" y="2509838"/>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8</a:t>
            </a:r>
            <a:endParaRPr lang="en-US" sz="624" dirty="0"/>
          </a:p>
        </p:txBody>
      </p:sp>
      <p:sp>
        <p:nvSpPr>
          <p:cNvPr id="244" name="Text 241"/>
          <p:cNvSpPr/>
          <p:nvPr/>
        </p:nvSpPr>
        <p:spPr>
          <a:xfrm>
            <a:off x="704832" y="2662237"/>
            <a:ext cx="310597" cy="152400"/>
          </a:xfrm>
          <a:prstGeom prst="rect">
            <a:avLst/>
          </a:prstGeom>
          <a:noFill/>
          <a:ln/>
        </p:spPr>
        <p:txBody>
          <a:bodyPr wrap="none" lIns="0" tIns="0" rIns="0" bIns="0" rtlCol="0" anchor="t"/>
          <a:lstStyle/>
          <a:p>
            <a:pPr algn="r" indent="0" marL="0">
              <a:buNone/>
            </a:pPr>
            <a:r>
              <a:rPr lang="en-US" sz="624" dirty="0">
                <a:solidFill>
                  <a:srgbClr val="333333"/>
                </a:solidFill>
                <a:latin typeface="Raleway" pitchFamily="34" charset="0"/>
                <a:ea typeface="Raleway" pitchFamily="34" charset="-122"/>
                <a:cs typeface="Raleway" pitchFamily="34" charset="-120"/>
              </a:rPr>
              <a:t>9</a:t>
            </a:r>
            <a:endParaRPr lang="en-US" sz="624" dirty="0"/>
          </a:p>
        </p:txBody>
      </p:sp>
      <p:sp>
        <p:nvSpPr>
          <p:cNvPr id="245" name="Text 242"/>
          <p:cNvSpPr/>
          <p:nvPr/>
        </p:nvSpPr>
        <p:spPr>
          <a:xfrm>
            <a:off x="3245414" y="3576637"/>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46" name="Text 243"/>
          <p:cNvSpPr/>
          <p:nvPr/>
        </p:nvSpPr>
        <p:spPr>
          <a:xfrm>
            <a:off x="3245414" y="37290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47" name="Text 244"/>
          <p:cNvSpPr/>
          <p:nvPr/>
        </p:nvSpPr>
        <p:spPr>
          <a:xfrm>
            <a:off x="3245414" y="3881437"/>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48" name="Text 245"/>
          <p:cNvSpPr/>
          <p:nvPr/>
        </p:nvSpPr>
        <p:spPr>
          <a:xfrm>
            <a:off x="3757221" y="3881437"/>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49" name="Text 246"/>
          <p:cNvSpPr/>
          <p:nvPr/>
        </p:nvSpPr>
        <p:spPr>
          <a:xfrm>
            <a:off x="4265307" y="3881437"/>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0" name="Text 247"/>
          <p:cNvSpPr/>
          <p:nvPr/>
        </p:nvSpPr>
        <p:spPr>
          <a:xfrm>
            <a:off x="4774138" y="3881437"/>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1" name="Text 248"/>
          <p:cNvSpPr/>
          <p:nvPr/>
        </p:nvSpPr>
        <p:spPr>
          <a:xfrm>
            <a:off x="3245414" y="4033837"/>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2" name="Text 249"/>
          <p:cNvSpPr/>
          <p:nvPr/>
        </p:nvSpPr>
        <p:spPr>
          <a:xfrm>
            <a:off x="5290856" y="4033837"/>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3" name="Text 250"/>
          <p:cNvSpPr/>
          <p:nvPr/>
        </p:nvSpPr>
        <p:spPr>
          <a:xfrm>
            <a:off x="5823945" y="4033837"/>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4" name="Text 251"/>
          <p:cNvSpPr/>
          <p:nvPr/>
        </p:nvSpPr>
        <p:spPr>
          <a:xfrm>
            <a:off x="3245414" y="4186238"/>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5" name="Text 252"/>
          <p:cNvSpPr/>
          <p:nvPr/>
        </p:nvSpPr>
        <p:spPr>
          <a:xfrm>
            <a:off x="3757221" y="4186238"/>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6" name="Text 253"/>
          <p:cNvSpPr/>
          <p:nvPr/>
        </p:nvSpPr>
        <p:spPr>
          <a:xfrm>
            <a:off x="4265307" y="4186238"/>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7" name="Text 254"/>
          <p:cNvSpPr/>
          <p:nvPr/>
        </p:nvSpPr>
        <p:spPr>
          <a:xfrm>
            <a:off x="3757221" y="4338637"/>
            <a:ext cx="508087"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8" name="Text 255"/>
          <p:cNvSpPr/>
          <p:nvPr/>
        </p:nvSpPr>
        <p:spPr>
          <a:xfrm>
            <a:off x="4265307" y="4338637"/>
            <a:ext cx="508831"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59" name="Text 256"/>
          <p:cNvSpPr/>
          <p:nvPr/>
        </p:nvSpPr>
        <p:spPr>
          <a:xfrm>
            <a:off x="4774138" y="4338637"/>
            <a:ext cx="516718"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60" name="Text 257"/>
          <p:cNvSpPr/>
          <p:nvPr/>
        </p:nvSpPr>
        <p:spPr>
          <a:xfrm>
            <a:off x="5290856" y="4338637"/>
            <a:ext cx="533089"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61" name="Text 258"/>
          <p:cNvSpPr/>
          <p:nvPr/>
        </p:nvSpPr>
        <p:spPr>
          <a:xfrm>
            <a:off x="5823945" y="4338637"/>
            <a:ext cx="504961" cy="142875"/>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62" name="Text 259"/>
          <p:cNvSpPr/>
          <p:nvPr/>
        </p:nvSpPr>
        <p:spPr>
          <a:xfrm>
            <a:off x="3245414" y="4481512"/>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63" name="Text 260"/>
          <p:cNvSpPr/>
          <p:nvPr/>
        </p:nvSpPr>
        <p:spPr>
          <a:xfrm>
            <a:off x="3757221" y="4481512"/>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64" name="Text 261"/>
          <p:cNvSpPr/>
          <p:nvPr/>
        </p:nvSpPr>
        <p:spPr>
          <a:xfrm>
            <a:off x="4265307" y="4481512"/>
            <a:ext cx="508831"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9</a:t>
            </a:r>
            <a:endParaRPr lang="en-US" sz="696" dirty="0"/>
          </a:p>
        </p:txBody>
      </p:sp>
      <p:sp>
        <p:nvSpPr>
          <p:cNvPr id="265" name="Text 262"/>
          <p:cNvSpPr/>
          <p:nvPr/>
        </p:nvSpPr>
        <p:spPr>
          <a:xfrm>
            <a:off x="5290856" y="4481512"/>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66" name="Text 263"/>
          <p:cNvSpPr/>
          <p:nvPr/>
        </p:nvSpPr>
        <p:spPr>
          <a:xfrm>
            <a:off x="5823945" y="4481512"/>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67" name="Text 264"/>
          <p:cNvSpPr/>
          <p:nvPr/>
        </p:nvSpPr>
        <p:spPr>
          <a:xfrm>
            <a:off x="3245414" y="4633913"/>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68" name="Text 265"/>
          <p:cNvSpPr/>
          <p:nvPr/>
        </p:nvSpPr>
        <p:spPr>
          <a:xfrm>
            <a:off x="3757221" y="4633913"/>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69" name="Text 266"/>
          <p:cNvSpPr/>
          <p:nvPr/>
        </p:nvSpPr>
        <p:spPr>
          <a:xfrm>
            <a:off x="4265307" y="4633913"/>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70" name="Text 267"/>
          <p:cNvSpPr/>
          <p:nvPr/>
        </p:nvSpPr>
        <p:spPr>
          <a:xfrm>
            <a:off x="4774138" y="4633913"/>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71" name="Text 268"/>
          <p:cNvSpPr/>
          <p:nvPr/>
        </p:nvSpPr>
        <p:spPr>
          <a:xfrm>
            <a:off x="5290856" y="4633913"/>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72" name="Text 269"/>
          <p:cNvSpPr/>
          <p:nvPr/>
        </p:nvSpPr>
        <p:spPr>
          <a:xfrm>
            <a:off x="3245414" y="4786313"/>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73" name="Text 270"/>
          <p:cNvSpPr/>
          <p:nvPr/>
        </p:nvSpPr>
        <p:spPr>
          <a:xfrm>
            <a:off x="3757221" y="4786313"/>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74" name="Text 271"/>
          <p:cNvSpPr/>
          <p:nvPr/>
        </p:nvSpPr>
        <p:spPr>
          <a:xfrm>
            <a:off x="4265307" y="4786313"/>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75" name="Text 272"/>
          <p:cNvSpPr/>
          <p:nvPr/>
        </p:nvSpPr>
        <p:spPr>
          <a:xfrm>
            <a:off x="4774138" y="4786313"/>
            <a:ext cx="516718"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3</a:t>
            </a:r>
            <a:endParaRPr lang="en-US" sz="696" dirty="0"/>
          </a:p>
        </p:txBody>
      </p:sp>
      <p:sp>
        <p:nvSpPr>
          <p:cNvPr id="276" name="Text 273"/>
          <p:cNvSpPr/>
          <p:nvPr/>
        </p:nvSpPr>
        <p:spPr>
          <a:xfrm>
            <a:off x="3245414" y="4938712"/>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77" name="Text 274"/>
          <p:cNvSpPr/>
          <p:nvPr/>
        </p:nvSpPr>
        <p:spPr>
          <a:xfrm>
            <a:off x="3757221" y="4938712"/>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78" name="Text 275"/>
          <p:cNvSpPr/>
          <p:nvPr/>
        </p:nvSpPr>
        <p:spPr>
          <a:xfrm>
            <a:off x="4265307" y="4938712"/>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79" name="Text 276"/>
          <p:cNvSpPr/>
          <p:nvPr/>
        </p:nvSpPr>
        <p:spPr>
          <a:xfrm>
            <a:off x="4774138" y="4938712"/>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80" name="Text 277"/>
          <p:cNvSpPr/>
          <p:nvPr/>
        </p:nvSpPr>
        <p:spPr>
          <a:xfrm>
            <a:off x="5290856" y="4938712"/>
            <a:ext cx="533089"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81" name="Text 278"/>
          <p:cNvSpPr/>
          <p:nvPr/>
        </p:nvSpPr>
        <p:spPr>
          <a:xfrm>
            <a:off x="3245414" y="5091113"/>
            <a:ext cx="51180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82" name="Text 279"/>
          <p:cNvSpPr/>
          <p:nvPr/>
        </p:nvSpPr>
        <p:spPr>
          <a:xfrm>
            <a:off x="3757221" y="5091113"/>
            <a:ext cx="508087"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83" name="Text 280"/>
          <p:cNvSpPr/>
          <p:nvPr/>
        </p:nvSpPr>
        <p:spPr>
          <a:xfrm>
            <a:off x="4265307" y="5091113"/>
            <a:ext cx="50883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84" name="Text 281"/>
          <p:cNvSpPr/>
          <p:nvPr/>
        </p:nvSpPr>
        <p:spPr>
          <a:xfrm>
            <a:off x="4774138" y="5091113"/>
            <a:ext cx="516718"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85" name="Text 282"/>
          <p:cNvSpPr/>
          <p:nvPr/>
        </p:nvSpPr>
        <p:spPr>
          <a:xfrm>
            <a:off x="5290856" y="5091113"/>
            <a:ext cx="533089" cy="152400"/>
          </a:xfrm>
          <a:prstGeom prst="rect">
            <a:avLst/>
          </a:prstGeom>
          <a:noFill/>
          <a:ln/>
        </p:spPr>
        <p:txBody>
          <a:bodyPr wrap="none" lIns="0" tIns="0" rIns="0" bIns="0" rtlCol="0" anchor="t"/>
          <a:lstStyle/>
          <a:p>
            <a:pPr algn="r" indent="0" marL="0">
              <a:buNone/>
            </a:pPr>
            <a:r>
              <a:rPr lang="en-US" sz="696" dirty="0">
                <a:solidFill>
                  <a:srgbClr val="333333"/>
                </a:solidFill>
                <a:latin typeface="Raleway" pitchFamily="34" charset="0"/>
                <a:ea typeface="Raleway" pitchFamily="34" charset="-122"/>
                <a:cs typeface="Raleway" pitchFamily="34" charset="-120"/>
              </a:rPr>
              <a:t>2</a:t>
            </a:r>
            <a:endParaRPr lang="en-US" sz="696" dirty="0"/>
          </a:p>
        </p:txBody>
      </p:sp>
      <p:sp>
        <p:nvSpPr>
          <p:cNvPr id="286" name="Text 283"/>
          <p:cNvSpPr/>
          <p:nvPr/>
        </p:nvSpPr>
        <p:spPr>
          <a:xfrm>
            <a:off x="5823945" y="5091113"/>
            <a:ext cx="504961" cy="152400"/>
          </a:xfrm>
          <a:prstGeom prst="rect">
            <a:avLst/>
          </a:prstGeom>
          <a:noFill/>
          <a:ln/>
        </p:spPr>
        <p:txBody>
          <a:bodyPr wrap="none" lIns="0" tIns="0" rIns="0" bIns="0" rtlCol="0" anchor="t"/>
          <a:lstStyle/>
          <a:p>
            <a:pPr algn="r" indent="0" marL="0">
              <a:buNone/>
            </a:pPr>
            <a:r>
              <a:rPr lang="en-US" sz="660" dirty="0">
                <a:solidFill>
                  <a:srgbClr val="333333"/>
                </a:solidFill>
                <a:latin typeface="Raleway" pitchFamily="34" charset="0"/>
                <a:ea typeface="Raleway" pitchFamily="34" charset="-122"/>
                <a:cs typeface="Raleway" pitchFamily="34" charset="-120"/>
              </a:rPr>
              <a:t>—</a:t>
            </a:r>
            <a:endParaRPr lang="en-US" sz="660" dirty="0"/>
          </a:p>
        </p:txBody>
      </p:sp>
      <p:sp>
        <p:nvSpPr>
          <p:cNvPr id="287" name="Text 284"/>
          <p:cNvSpPr/>
          <p:nvPr/>
        </p:nvSpPr>
        <p:spPr>
          <a:xfrm>
            <a:off x="7963296" y="2940773"/>
            <a:ext cx="710041" cy="2143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8</a:t>
            </a:r>
            <a:endParaRPr lang="en-US" sz="888" dirty="0"/>
          </a:p>
        </p:txBody>
      </p:sp>
      <p:sp>
        <p:nvSpPr>
          <p:cNvPr id="288" name="Text 285"/>
          <p:cNvSpPr/>
          <p:nvPr/>
        </p:nvSpPr>
        <p:spPr>
          <a:xfrm>
            <a:off x="7963296" y="3155085"/>
            <a:ext cx="710041"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7</a:t>
            </a:r>
            <a:endParaRPr lang="en-US" sz="888" dirty="0"/>
          </a:p>
        </p:txBody>
      </p:sp>
      <p:sp>
        <p:nvSpPr>
          <p:cNvPr id="289" name="Text 286"/>
          <p:cNvSpPr/>
          <p:nvPr/>
        </p:nvSpPr>
        <p:spPr>
          <a:xfrm>
            <a:off x="7963296" y="3374160"/>
            <a:ext cx="710041"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5</a:t>
            </a:r>
            <a:endParaRPr lang="en-US" sz="888" dirty="0"/>
          </a:p>
        </p:txBody>
      </p:sp>
      <p:sp>
        <p:nvSpPr>
          <p:cNvPr id="290" name="Text 287"/>
          <p:cNvSpPr/>
          <p:nvPr/>
        </p:nvSpPr>
        <p:spPr>
          <a:xfrm>
            <a:off x="7963296" y="3593235"/>
            <a:ext cx="710041"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5</a:t>
            </a:r>
            <a:endParaRPr lang="en-US" sz="888" dirty="0"/>
          </a:p>
        </p:txBody>
      </p:sp>
      <p:sp>
        <p:nvSpPr>
          <p:cNvPr id="291" name="Text 288"/>
          <p:cNvSpPr/>
          <p:nvPr/>
        </p:nvSpPr>
        <p:spPr>
          <a:xfrm>
            <a:off x="7963296" y="3812310"/>
            <a:ext cx="710041"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7</a:t>
            </a:r>
            <a:endParaRPr lang="en-US" sz="888" dirty="0"/>
          </a:p>
        </p:txBody>
      </p:sp>
      <p:sp>
        <p:nvSpPr>
          <p:cNvPr id="292" name="Text 289"/>
          <p:cNvSpPr/>
          <p:nvPr/>
        </p:nvSpPr>
        <p:spPr>
          <a:xfrm>
            <a:off x="7963296" y="4031385"/>
            <a:ext cx="710041"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9</a:t>
            </a:r>
            <a:endParaRPr lang="en-US" sz="88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01_Repositorios\13_Presentaciones\dash\televentas\ppt_slides\sk_13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8216595" y="2156520"/>
            <a:ext cx="2984525"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Semana Burger ×2 · Feria Vanti ×2 · Mundialista</a:t>
            </a:r>
            <a:endParaRPr lang="en-US" sz="864" dirty="0"/>
          </a:p>
        </p:txBody>
      </p:sp>
      <p:sp>
        <p:nvSpPr>
          <p:cNvPr id="4" name="Text 1"/>
          <p:cNvSpPr/>
          <p:nvPr/>
        </p:nvSpPr>
        <p:spPr>
          <a:xfrm>
            <a:off x="1028674" y="2156520"/>
            <a:ext cx="2984376"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7 iniciativas comerciales ejecutadas</a:t>
            </a:r>
            <a:endParaRPr lang="en-US" sz="864" dirty="0"/>
          </a:p>
        </p:txBody>
      </p:sp>
      <p:sp>
        <p:nvSpPr>
          <p:cNvPr id="5" name="Text 2"/>
          <p:cNvSpPr/>
          <p:nvPr/>
        </p:nvSpPr>
        <p:spPr>
          <a:xfrm>
            <a:off x="4622635" y="2156520"/>
            <a:ext cx="2984376"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Semanas Ganadoras · La Gran Jugada</a:t>
            </a:r>
            <a:endParaRPr lang="en-US" sz="864" dirty="0"/>
          </a:p>
        </p:txBody>
      </p:sp>
      <p:sp>
        <p:nvSpPr>
          <p:cNvPr id="6" name="Text 3"/>
          <p:cNvSpPr/>
          <p:nvPr/>
        </p:nvSpPr>
        <p:spPr>
          <a:xfrm>
            <a:off x="1213514" y="219075"/>
            <a:ext cx="2677351"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Iniciativas Comerciales · 1S 2026</a:t>
            </a:r>
            <a:endParaRPr lang="en-US" sz="1260" dirty="0"/>
          </a:p>
        </p:txBody>
      </p:sp>
      <p:sp>
        <p:nvSpPr>
          <p:cNvPr id="7" name="Text 4"/>
          <p:cNvSpPr/>
          <p:nvPr/>
        </p:nvSpPr>
        <p:spPr>
          <a:xfrm>
            <a:off x="1028674" y="1657350"/>
            <a:ext cx="2984376"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Ventas en campañas del 1S</a:t>
            </a:r>
            <a:endParaRPr lang="en-US" sz="864" dirty="0"/>
          </a:p>
        </p:txBody>
      </p:sp>
      <p:sp>
        <p:nvSpPr>
          <p:cNvPr id="8" name="Text 5"/>
          <p:cNvSpPr/>
          <p:nvPr/>
        </p:nvSpPr>
        <p:spPr>
          <a:xfrm>
            <a:off x="781030" y="1123950"/>
            <a:ext cx="10629634" cy="24765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Lo ejecutado en el 1S</a:t>
            </a:r>
            <a:endParaRPr lang="en-US" sz="1020" dirty="0"/>
          </a:p>
        </p:txBody>
      </p:sp>
      <p:sp>
        <p:nvSpPr>
          <p:cNvPr id="9" name="Text 6"/>
          <p:cNvSpPr/>
          <p:nvPr/>
        </p:nvSpPr>
        <p:spPr>
          <a:xfrm>
            <a:off x="10082705" y="209550"/>
            <a:ext cx="1537505"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Iniciativas</a:t>
            </a:r>
            <a:endParaRPr lang="en-US" sz="840" dirty="0"/>
          </a:p>
        </p:txBody>
      </p:sp>
      <p:sp>
        <p:nvSpPr>
          <p:cNvPr id="10" name="Text 7"/>
          <p:cNvSpPr/>
          <p:nvPr/>
        </p:nvSpPr>
        <p:spPr>
          <a:xfrm>
            <a:off x="4622635" y="1657350"/>
            <a:ext cx="2984376"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Impulsadas por Vanti</a:t>
            </a:r>
            <a:endParaRPr lang="en-US" sz="864" dirty="0"/>
          </a:p>
        </p:txBody>
      </p:sp>
      <p:sp>
        <p:nvSpPr>
          <p:cNvPr id="11" name="Text 8"/>
          <p:cNvSpPr/>
          <p:nvPr/>
        </p:nvSpPr>
        <p:spPr>
          <a:xfrm>
            <a:off x="8216595" y="1657350"/>
            <a:ext cx="2984525"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Impulsadas por Xuma</a:t>
            </a:r>
            <a:endParaRPr lang="en-US" sz="864" dirty="0"/>
          </a:p>
        </p:txBody>
      </p:sp>
      <p:sp>
        <p:nvSpPr>
          <p:cNvPr id="12" name="Text 9"/>
          <p:cNvSpPr/>
          <p:nvPr/>
        </p:nvSpPr>
        <p:spPr>
          <a:xfrm>
            <a:off x="895328" y="2880420"/>
            <a:ext cx="3257469" cy="144661"/>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Semanas Ganadoras</a:t>
            </a:r>
            <a:endParaRPr lang="en-US" sz="912" dirty="0"/>
          </a:p>
        </p:txBody>
      </p:sp>
      <p:sp>
        <p:nvSpPr>
          <p:cNvPr id="13" name="Text 10"/>
          <p:cNvSpPr/>
          <p:nvPr/>
        </p:nvSpPr>
        <p:spPr>
          <a:xfrm>
            <a:off x="895328" y="4827091"/>
            <a:ext cx="3257469" cy="144661"/>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Feria Mundialista</a:t>
            </a:r>
            <a:endParaRPr lang="en-US" sz="912" dirty="0"/>
          </a:p>
        </p:txBody>
      </p:sp>
      <p:sp>
        <p:nvSpPr>
          <p:cNvPr id="14" name="Text 11"/>
          <p:cNvSpPr/>
          <p:nvPr/>
        </p:nvSpPr>
        <p:spPr>
          <a:xfrm>
            <a:off x="4457589" y="4827091"/>
            <a:ext cx="3257469" cy="144661"/>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Acelerador Mayo</a:t>
            </a:r>
            <a:endParaRPr lang="en-US" sz="912" dirty="0"/>
          </a:p>
        </p:txBody>
      </p:sp>
      <p:sp>
        <p:nvSpPr>
          <p:cNvPr id="15" name="Text 12"/>
          <p:cNvSpPr/>
          <p:nvPr/>
        </p:nvSpPr>
        <p:spPr>
          <a:xfrm>
            <a:off x="8019849" y="2880420"/>
            <a:ext cx="3257469" cy="144661"/>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La Gran Jugada</a:t>
            </a:r>
            <a:endParaRPr lang="en-US" sz="912" dirty="0"/>
          </a:p>
        </p:txBody>
      </p:sp>
      <p:sp>
        <p:nvSpPr>
          <p:cNvPr id="16" name="Text 13"/>
          <p:cNvSpPr/>
          <p:nvPr/>
        </p:nvSpPr>
        <p:spPr>
          <a:xfrm>
            <a:off x="895328" y="3282255"/>
            <a:ext cx="3257469" cy="114300"/>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7" name="Text 14"/>
          <p:cNvSpPr/>
          <p:nvPr/>
        </p:nvSpPr>
        <p:spPr>
          <a:xfrm>
            <a:off x="4457589" y="2880420"/>
            <a:ext cx="3257469" cy="144661"/>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18" name="Text 15"/>
          <p:cNvSpPr/>
          <p:nvPr/>
        </p:nvSpPr>
        <p:spPr>
          <a:xfrm>
            <a:off x="4457589" y="3282255"/>
            <a:ext cx="3257469" cy="114300"/>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9" name="Text 16"/>
          <p:cNvSpPr/>
          <p:nvPr/>
        </p:nvSpPr>
        <p:spPr>
          <a:xfrm>
            <a:off x="8019849" y="3282255"/>
            <a:ext cx="3257469" cy="114300"/>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0" name="Text 17"/>
          <p:cNvSpPr/>
          <p:nvPr/>
        </p:nvSpPr>
        <p:spPr>
          <a:xfrm>
            <a:off x="895328" y="3853755"/>
            <a:ext cx="3257469" cy="144661"/>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21" name="Text 18"/>
          <p:cNvSpPr/>
          <p:nvPr/>
        </p:nvSpPr>
        <p:spPr>
          <a:xfrm>
            <a:off x="895328" y="4255591"/>
            <a:ext cx="3257469" cy="114300"/>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2" name="Text 19"/>
          <p:cNvSpPr/>
          <p:nvPr/>
        </p:nvSpPr>
        <p:spPr>
          <a:xfrm>
            <a:off x="4457589" y="4255591"/>
            <a:ext cx="3257469" cy="114300"/>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3" name="Text 20"/>
          <p:cNvSpPr/>
          <p:nvPr/>
        </p:nvSpPr>
        <p:spPr>
          <a:xfrm>
            <a:off x="8019849" y="4255591"/>
            <a:ext cx="3257469" cy="114300"/>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4" name="Text 21"/>
          <p:cNvSpPr/>
          <p:nvPr/>
        </p:nvSpPr>
        <p:spPr>
          <a:xfrm>
            <a:off x="895328" y="5228927"/>
            <a:ext cx="3257469" cy="114300"/>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5" name="Text 22"/>
          <p:cNvSpPr/>
          <p:nvPr/>
        </p:nvSpPr>
        <p:spPr>
          <a:xfrm>
            <a:off x="4457589" y="5228927"/>
            <a:ext cx="3257469" cy="114300"/>
          </a:xfrm>
          <a:prstGeom prst="rect">
            <a:avLst/>
          </a:prstGeom>
          <a:noFill/>
          <a:ln/>
        </p:spPr>
        <p:txBody>
          <a:bodyPr wrap="non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6" name="Text 23"/>
          <p:cNvSpPr/>
          <p:nvPr/>
        </p:nvSpPr>
        <p:spPr>
          <a:xfrm>
            <a:off x="4457589" y="3853755"/>
            <a:ext cx="3257469" cy="144661"/>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7" name="Text 24"/>
          <p:cNvSpPr/>
          <p:nvPr/>
        </p:nvSpPr>
        <p:spPr>
          <a:xfrm>
            <a:off x="8019849" y="3853755"/>
            <a:ext cx="3257469" cy="144661"/>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8" name="Text 25"/>
          <p:cNvSpPr/>
          <p:nvPr/>
        </p:nvSpPr>
        <p:spPr>
          <a:xfrm>
            <a:off x="7373654" y="2708970"/>
            <a:ext cx="341403"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Febrero</a:t>
            </a:r>
            <a:endParaRPr lang="en-US" sz="744" dirty="0"/>
          </a:p>
        </p:txBody>
      </p:sp>
      <p:sp>
        <p:nvSpPr>
          <p:cNvPr id="29" name="Text 26"/>
          <p:cNvSpPr/>
          <p:nvPr/>
        </p:nvSpPr>
        <p:spPr>
          <a:xfrm>
            <a:off x="10904811" y="2708970"/>
            <a:ext cx="372507"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Mar–Abr</a:t>
            </a:r>
            <a:endParaRPr lang="en-US" sz="744" dirty="0"/>
          </a:p>
        </p:txBody>
      </p:sp>
      <p:sp>
        <p:nvSpPr>
          <p:cNvPr id="30" name="Text 27"/>
          <p:cNvSpPr/>
          <p:nvPr/>
        </p:nvSpPr>
        <p:spPr>
          <a:xfrm>
            <a:off x="8377772" y="3082230"/>
            <a:ext cx="405249" cy="142875"/>
          </a:xfrm>
          <a:prstGeom prst="rect">
            <a:avLst/>
          </a:prstGeom>
          <a:noFill/>
          <a:ln/>
        </p:spPr>
        <p:txBody>
          <a:bodyPr wrap="non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4.200</a:t>
            </a:r>
            <a:endParaRPr lang="en-US" sz="936" dirty="0"/>
          </a:p>
        </p:txBody>
      </p:sp>
      <p:sp>
        <p:nvSpPr>
          <p:cNvPr id="31" name="Text 28"/>
          <p:cNvSpPr/>
          <p:nvPr/>
        </p:nvSpPr>
        <p:spPr>
          <a:xfrm>
            <a:off x="1243874" y="5028902"/>
            <a:ext cx="392450" cy="142875"/>
          </a:xfrm>
          <a:prstGeom prst="rect">
            <a:avLst/>
          </a:prstGeom>
          <a:noFill/>
          <a:ln/>
        </p:spPr>
        <p:txBody>
          <a:bodyPr wrap="non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1.200</a:t>
            </a:r>
            <a:endParaRPr lang="en-US" sz="936" dirty="0"/>
          </a:p>
        </p:txBody>
      </p:sp>
      <p:sp>
        <p:nvSpPr>
          <p:cNvPr id="32" name="Text 29"/>
          <p:cNvSpPr/>
          <p:nvPr/>
        </p:nvSpPr>
        <p:spPr>
          <a:xfrm>
            <a:off x="1028674" y="1828800"/>
            <a:ext cx="2984376"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10.509</a:t>
            </a:r>
            <a:endParaRPr lang="en-US" sz="1600" dirty="0"/>
          </a:p>
        </p:txBody>
      </p:sp>
      <p:sp>
        <p:nvSpPr>
          <p:cNvPr id="33" name="Text 30"/>
          <p:cNvSpPr/>
          <p:nvPr/>
        </p:nvSpPr>
        <p:spPr>
          <a:xfrm>
            <a:off x="895328" y="2689920"/>
            <a:ext cx="374889" cy="142875"/>
          </a:xfrm>
          <a:prstGeom prst="rect">
            <a:avLst/>
          </a:prstGeom>
          <a:noFill/>
          <a:ln/>
        </p:spPr>
        <p:txBody>
          <a:bodyPr wrap="none" lIns="0" tIns="0" rIns="0" bIns="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34" name="Text 31"/>
          <p:cNvSpPr/>
          <p:nvPr/>
        </p:nvSpPr>
        <p:spPr>
          <a:xfrm>
            <a:off x="3897265" y="2708970"/>
            <a:ext cx="255532"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Enero</a:t>
            </a:r>
            <a:endParaRPr lang="en-US" sz="744" dirty="0"/>
          </a:p>
        </p:txBody>
      </p:sp>
      <p:sp>
        <p:nvSpPr>
          <p:cNvPr id="35" name="Text 32"/>
          <p:cNvSpPr/>
          <p:nvPr/>
        </p:nvSpPr>
        <p:spPr>
          <a:xfrm>
            <a:off x="895328" y="3082230"/>
            <a:ext cx="289612" cy="142875"/>
          </a:xfrm>
          <a:prstGeom prst="rect">
            <a:avLst/>
          </a:prstGeom>
          <a:noFill/>
          <a:ln/>
        </p:spPr>
        <p:txBody>
          <a:bodyPr wrap="non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1.292</a:t>
            </a:r>
            <a:endParaRPr lang="en-US" sz="936" dirty="0"/>
          </a:p>
        </p:txBody>
      </p:sp>
      <p:sp>
        <p:nvSpPr>
          <p:cNvPr id="36" name="Text 33"/>
          <p:cNvSpPr/>
          <p:nvPr/>
        </p:nvSpPr>
        <p:spPr>
          <a:xfrm>
            <a:off x="1242088" y="3082230"/>
            <a:ext cx="313573" cy="142875"/>
          </a:xfrm>
          <a:prstGeom prst="rect">
            <a:avLst/>
          </a:prstGeom>
          <a:noFill/>
          <a:ln/>
        </p:spPr>
        <p:txBody>
          <a:bodyPr wrap="non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950</a:t>
            </a:r>
            <a:endParaRPr lang="en-US" sz="936" dirty="0"/>
          </a:p>
        </p:txBody>
      </p:sp>
      <p:sp>
        <p:nvSpPr>
          <p:cNvPr id="37" name="Text 34"/>
          <p:cNvSpPr/>
          <p:nvPr/>
        </p:nvSpPr>
        <p:spPr>
          <a:xfrm>
            <a:off x="1612810" y="3072705"/>
            <a:ext cx="430698" cy="161925"/>
          </a:xfrm>
          <a:prstGeom prst="rect">
            <a:avLst/>
          </a:prstGeom>
          <a:noFill/>
          <a:ln/>
        </p:spPr>
        <p:txBody>
          <a:bodyPr wrap="none" lIns="0" tIns="0" rIns="0" bIns="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136 %</a:t>
            </a:r>
            <a:endParaRPr lang="en-US" sz="816" dirty="0"/>
          </a:p>
        </p:txBody>
      </p:sp>
      <p:sp>
        <p:nvSpPr>
          <p:cNvPr id="38" name="Text 35"/>
          <p:cNvSpPr/>
          <p:nvPr/>
        </p:nvSpPr>
        <p:spPr>
          <a:xfrm>
            <a:off x="4722794" y="3082230"/>
            <a:ext cx="323395" cy="142875"/>
          </a:xfrm>
          <a:prstGeom prst="rect">
            <a:avLst/>
          </a:prstGeom>
          <a:noFill/>
          <a:ln/>
        </p:spPr>
        <p:txBody>
          <a:bodyPr wrap="non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39" name="Text 36"/>
          <p:cNvSpPr/>
          <p:nvPr/>
        </p:nvSpPr>
        <p:spPr>
          <a:xfrm>
            <a:off x="5103338" y="3072705"/>
            <a:ext cx="424745" cy="161925"/>
          </a:xfrm>
          <a:prstGeom prst="rect">
            <a:avLst/>
          </a:prstGeom>
          <a:noFill/>
          <a:ln/>
        </p:spPr>
        <p:txBody>
          <a:bodyPr wrap="none" lIns="0" tIns="0" rIns="0" bIns="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110 %</a:t>
            </a:r>
            <a:endParaRPr lang="en-US" sz="816" dirty="0"/>
          </a:p>
        </p:txBody>
      </p:sp>
      <p:sp>
        <p:nvSpPr>
          <p:cNvPr id="40" name="Text 37"/>
          <p:cNvSpPr/>
          <p:nvPr/>
        </p:nvSpPr>
        <p:spPr>
          <a:xfrm>
            <a:off x="8019849" y="2689920"/>
            <a:ext cx="374889" cy="142875"/>
          </a:xfrm>
          <a:prstGeom prst="rect">
            <a:avLst/>
          </a:prstGeom>
          <a:noFill/>
          <a:ln/>
        </p:spPr>
        <p:txBody>
          <a:bodyPr wrap="none" lIns="0" tIns="0" rIns="0" bIns="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41" name="Text 38"/>
          <p:cNvSpPr/>
          <p:nvPr/>
        </p:nvSpPr>
        <p:spPr>
          <a:xfrm>
            <a:off x="8019849" y="3082230"/>
            <a:ext cx="300774" cy="142875"/>
          </a:xfrm>
          <a:prstGeom prst="rect">
            <a:avLst/>
          </a:prstGeom>
          <a:noFill/>
          <a:ln/>
        </p:spPr>
        <p:txBody>
          <a:bodyPr wrap="non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4.798</a:t>
            </a:r>
            <a:endParaRPr lang="en-US" sz="936" dirty="0"/>
          </a:p>
        </p:txBody>
      </p:sp>
      <p:sp>
        <p:nvSpPr>
          <p:cNvPr id="42" name="Text 39"/>
          <p:cNvSpPr/>
          <p:nvPr/>
        </p:nvSpPr>
        <p:spPr>
          <a:xfrm>
            <a:off x="8840170" y="3072705"/>
            <a:ext cx="420280" cy="161925"/>
          </a:xfrm>
          <a:prstGeom prst="rect">
            <a:avLst/>
          </a:prstGeom>
          <a:noFill/>
          <a:ln/>
        </p:spPr>
        <p:txBody>
          <a:bodyPr wrap="none" lIns="0" tIns="0" rIns="0" bIns="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114 %</a:t>
            </a:r>
            <a:endParaRPr lang="en-US" sz="816" dirty="0"/>
          </a:p>
        </p:txBody>
      </p:sp>
      <p:sp>
        <p:nvSpPr>
          <p:cNvPr id="43" name="Text 40"/>
          <p:cNvSpPr/>
          <p:nvPr/>
        </p:nvSpPr>
        <p:spPr>
          <a:xfrm>
            <a:off x="3951139" y="3682305"/>
            <a:ext cx="201657"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4" name="Text 41"/>
          <p:cNvSpPr/>
          <p:nvPr/>
        </p:nvSpPr>
        <p:spPr>
          <a:xfrm>
            <a:off x="1164402" y="4055566"/>
            <a:ext cx="323395" cy="142875"/>
          </a:xfrm>
          <a:prstGeom prst="rect">
            <a:avLst/>
          </a:prstGeom>
          <a:noFill/>
          <a:ln/>
        </p:spPr>
        <p:txBody>
          <a:bodyPr wrap="non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45" name="Text 42"/>
          <p:cNvSpPr/>
          <p:nvPr/>
        </p:nvSpPr>
        <p:spPr>
          <a:xfrm>
            <a:off x="1544946" y="4046041"/>
            <a:ext cx="424745" cy="161925"/>
          </a:xfrm>
          <a:prstGeom prst="rect">
            <a:avLst/>
          </a:prstGeom>
          <a:noFill/>
          <a:ln/>
        </p:spPr>
        <p:txBody>
          <a:bodyPr wrap="none" lIns="0" tIns="0" rIns="0" bIns="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101 %</a:t>
            </a:r>
            <a:endParaRPr lang="en-US" sz="816" dirty="0"/>
          </a:p>
        </p:txBody>
      </p:sp>
      <p:sp>
        <p:nvSpPr>
          <p:cNvPr id="46" name="Text 43"/>
          <p:cNvSpPr/>
          <p:nvPr/>
        </p:nvSpPr>
        <p:spPr>
          <a:xfrm>
            <a:off x="7513400" y="3682305"/>
            <a:ext cx="201657"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7" name="Text 44"/>
          <p:cNvSpPr/>
          <p:nvPr/>
        </p:nvSpPr>
        <p:spPr>
          <a:xfrm>
            <a:off x="4706125" y="4055566"/>
            <a:ext cx="316550" cy="142875"/>
          </a:xfrm>
          <a:prstGeom prst="rect">
            <a:avLst/>
          </a:prstGeom>
          <a:noFill/>
          <a:ln/>
        </p:spPr>
        <p:txBody>
          <a:bodyPr wrap="non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48" name="Text 45"/>
          <p:cNvSpPr/>
          <p:nvPr/>
        </p:nvSpPr>
        <p:spPr>
          <a:xfrm>
            <a:off x="5079823" y="4046041"/>
            <a:ext cx="431442" cy="161925"/>
          </a:xfrm>
          <a:prstGeom prst="rect">
            <a:avLst/>
          </a:prstGeom>
          <a:noFill/>
          <a:ln/>
        </p:spPr>
        <p:txBody>
          <a:bodyPr wrap="none" lIns="0" tIns="0" rIns="0" bIns="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103 %</a:t>
            </a:r>
            <a:endParaRPr lang="en-US" sz="816" dirty="0"/>
          </a:p>
        </p:txBody>
      </p:sp>
      <p:sp>
        <p:nvSpPr>
          <p:cNvPr id="49" name="Text 46"/>
          <p:cNvSpPr/>
          <p:nvPr/>
        </p:nvSpPr>
        <p:spPr>
          <a:xfrm>
            <a:off x="8280888" y="4055566"/>
            <a:ext cx="316550" cy="142875"/>
          </a:xfrm>
          <a:prstGeom prst="rect">
            <a:avLst/>
          </a:prstGeom>
          <a:noFill/>
          <a:ln/>
        </p:spPr>
        <p:txBody>
          <a:bodyPr wrap="non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50" name="Text 47"/>
          <p:cNvSpPr/>
          <p:nvPr/>
        </p:nvSpPr>
        <p:spPr>
          <a:xfrm>
            <a:off x="8654586" y="4046041"/>
            <a:ext cx="412392" cy="161925"/>
          </a:xfrm>
          <a:prstGeom prst="rect">
            <a:avLst/>
          </a:prstGeom>
          <a:noFill/>
          <a:ln/>
        </p:spPr>
        <p:txBody>
          <a:bodyPr wrap="none" lIns="0" tIns="0" rIns="0" bIns="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111 %</a:t>
            </a:r>
            <a:endParaRPr lang="en-US" sz="816" dirty="0"/>
          </a:p>
        </p:txBody>
      </p:sp>
      <p:sp>
        <p:nvSpPr>
          <p:cNvPr id="51" name="Text 48"/>
          <p:cNvSpPr/>
          <p:nvPr/>
        </p:nvSpPr>
        <p:spPr>
          <a:xfrm>
            <a:off x="3919737" y="4655641"/>
            <a:ext cx="233059"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Junio</a:t>
            </a:r>
            <a:endParaRPr lang="en-US" sz="744" dirty="0"/>
          </a:p>
        </p:txBody>
      </p:sp>
      <p:sp>
        <p:nvSpPr>
          <p:cNvPr id="52" name="Text 49"/>
          <p:cNvSpPr/>
          <p:nvPr/>
        </p:nvSpPr>
        <p:spPr>
          <a:xfrm>
            <a:off x="895328" y="5028902"/>
            <a:ext cx="291398" cy="142875"/>
          </a:xfrm>
          <a:prstGeom prst="rect">
            <a:avLst/>
          </a:prstGeom>
          <a:noFill/>
          <a:ln/>
        </p:spPr>
        <p:txBody>
          <a:bodyPr wrap="non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1.520</a:t>
            </a:r>
            <a:endParaRPr lang="en-US" sz="936" dirty="0"/>
          </a:p>
        </p:txBody>
      </p:sp>
      <p:sp>
        <p:nvSpPr>
          <p:cNvPr id="53" name="Text 50"/>
          <p:cNvSpPr/>
          <p:nvPr/>
        </p:nvSpPr>
        <p:spPr>
          <a:xfrm>
            <a:off x="1693473" y="5019377"/>
            <a:ext cx="426531" cy="161925"/>
          </a:xfrm>
          <a:prstGeom prst="rect">
            <a:avLst/>
          </a:prstGeom>
          <a:noFill/>
          <a:ln/>
        </p:spPr>
        <p:txBody>
          <a:bodyPr wrap="none" lIns="0" tIns="0" rIns="0" bIns="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127 %</a:t>
            </a:r>
            <a:endParaRPr lang="en-US" sz="816" dirty="0"/>
          </a:p>
        </p:txBody>
      </p:sp>
      <p:sp>
        <p:nvSpPr>
          <p:cNvPr id="54" name="Text 51"/>
          <p:cNvSpPr/>
          <p:nvPr/>
        </p:nvSpPr>
        <p:spPr>
          <a:xfrm>
            <a:off x="4457589" y="4636591"/>
            <a:ext cx="374889" cy="142875"/>
          </a:xfrm>
          <a:prstGeom prst="rect">
            <a:avLst/>
          </a:prstGeom>
          <a:noFill/>
          <a:ln/>
        </p:spPr>
        <p:txBody>
          <a:bodyPr wrap="none" lIns="0" tIns="0" rIns="0" bIns="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55" name="Text 52"/>
          <p:cNvSpPr/>
          <p:nvPr/>
        </p:nvSpPr>
        <p:spPr>
          <a:xfrm>
            <a:off x="4725770" y="5028902"/>
            <a:ext cx="315508" cy="142875"/>
          </a:xfrm>
          <a:prstGeom prst="rect">
            <a:avLst/>
          </a:prstGeom>
          <a:noFill/>
          <a:ln/>
        </p:spPr>
        <p:txBody>
          <a:bodyPr wrap="non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650</a:t>
            </a:r>
            <a:endParaRPr lang="en-US" sz="936" dirty="0"/>
          </a:p>
        </p:txBody>
      </p:sp>
      <p:sp>
        <p:nvSpPr>
          <p:cNvPr id="56" name="Text 53"/>
          <p:cNvSpPr/>
          <p:nvPr/>
        </p:nvSpPr>
        <p:spPr>
          <a:xfrm>
            <a:off x="4457589" y="2689920"/>
            <a:ext cx="403612" cy="142875"/>
          </a:xfrm>
          <a:prstGeom prst="rect">
            <a:avLst/>
          </a:prstGeom>
          <a:noFill/>
          <a:ln/>
        </p:spPr>
        <p:txBody>
          <a:bodyPr wrap="non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7" name="Text 54"/>
          <p:cNvSpPr/>
          <p:nvPr/>
        </p:nvSpPr>
        <p:spPr>
          <a:xfrm>
            <a:off x="895328" y="3663255"/>
            <a:ext cx="403612" cy="142875"/>
          </a:xfrm>
          <a:prstGeom prst="rect">
            <a:avLst/>
          </a:prstGeom>
          <a:noFill/>
          <a:ln/>
        </p:spPr>
        <p:txBody>
          <a:bodyPr wrap="non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8" name="Text 55"/>
          <p:cNvSpPr/>
          <p:nvPr/>
        </p:nvSpPr>
        <p:spPr>
          <a:xfrm>
            <a:off x="4457589" y="3663255"/>
            <a:ext cx="403612" cy="142875"/>
          </a:xfrm>
          <a:prstGeom prst="rect">
            <a:avLst/>
          </a:prstGeom>
          <a:noFill/>
          <a:ln/>
        </p:spPr>
        <p:txBody>
          <a:bodyPr wrap="non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9" name="Text 56"/>
          <p:cNvSpPr/>
          <p:nvPr/>
        </p:nvSpPr>
        <p:spPr>
          <a:xfrm>
            <a:off x="8019849" y="3663255"/>
            <a:ext cx="403612" cy="142875"/>
          </a:xfrm>
          <a:prstGeom prst="rect">
            <a:avLst/>
          </a:prstGeom>
          <a:noFill/>
          <a:ln/>
        </p:spPr>
        <p:txBody>
          <a:bodyPr wrap="non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60" name="Text 57"/>
          <p:cNvSpPr/>
          <p:nvPr/>
        </p:nvSpPr>
        <p:spPr>
          <a:xfrm>
            <a:off x="11039199" y="3682305"/>
            <a:ext cx="238119"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1" name="Text 58"/>
          <p:cNvSpPr/>
          <p:nvPr/>
        </p:nvSpPr>
        <p:spPr>
          <a:xfrm>
            <a:off x="895328" y="4636591"/>
            <a:ext cx="403612" cy="142875"/>
          </a:xfrm>
          <a:prstGeom prst="rect">
            <a:avLst/>
          </a:prstGeom>
          <a:noFill/>
          <a:ln/>
        </p:spPr>
        <p:txBody>
          <a:bodyPr wrap="none" lIns="0" tIns="0" rIns="0" bIns="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62" name="Text 59"/>
          <p:cNvSpPr/>
          <p:nvPr/>
        </p:nvSpPr>
        <p:spPr>
          <a:xfrm>
            <a:off x="7476938" y="4655641"/>
            <a:ext cx="238119" cy="104775"/>
          </a:xfrm>
          <a:prstGeom prst="rect">
            <a:avLst/>
          </a:prstGeom>
          <a:noFill/>
          <a:ln/>
        </p:spPr>
        <p:txBody>
          <a:bodyPr wrap="non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3" name="Text 60"/>
          <p:cNvSpPr/>
          <p:nvPr/>
        </p:nvSpPr>
        <p:spPr>
          <a:xfrm>
            <a:off x="5098426" y="5019377"/>
            <a:ext cx="384265" cy="161925"/>
          </a:xfrm>
          <a:prstGeom prst="rect">
            <a:avLst/>
          </a:prstGeom>
          <a:noFill/>
          <a:ln/>
        </p:spPr>
        <p:txBody>
          <a:bodyPr wrap="none" lIns="0" tIns="0" rIns="0" bIns="0" rtlCol="0" anchor="t"/>
          <a:lstStyle/>
          <a:p>
            <a:pPr algn="l" indent="0" marL="0">
              <a:buNone/>
            </a:pPr>
            <a:r>
              <a:rPr lang="en-US" sz="816" b="1" dirty="0">
                <a:solidFill>
                  <a:srgbClr val="8A6200"/>
                </a:solidFill>
                <a:latin typeface="Raleway" pitchFamily="34" charset="0"/>
                <a:ea typeface="Raleway" pitchFamily="34" charset="-122"/>
                <a:cs typeface="Raleway" pitchFamily="34" charset="-120"/>
              </a:rPr>
              <a:t>86 %</a:t>
            </a:r>
            <a:endParaRPr lang="en-US" sz="816" dirty="0"/>
          </a:p>
        </p:txBody>
      </p:sp>
      <p:sp>
        <p:nvSpPr>
          <p:cNvPr id="64" name="Text 61"/>
          <p:cNvSpPr/>
          <p:nvPr/>
        </p:nvSpPr>
        <p:spPr>
          <a:xfrm>
            <a:off x="4457589" y="3082230"/>
            <a:ext cx="208057" cy="142875"/>
          </a:xfrm>
          <a:prstGeom prst="rect">
            <a:avLst/>
          </a:prstGeom>
          <a:noFill/>
          <a:ln/>
        </p:spPr>
        <p:txBody>
          <a:bodyPr wrap="non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659</a:t>
            </a:r>
            <a:endParaRPr lang="en-US" sz="936" dirty="0"/>
          </a:p>
        </p:txBody>
      </p:sp>
      <p:sp>
        <p:nvSpPr>
          <p:cNvPr id="65" name="Text 62"/>
          <p:cNvSpPr/>
          <p:nvPr/>
        </p:nvSpPr>
        <p:spPr>
          <a:xfrm>
            <a:off x="895328" y="4055566"/>
            <a:ext cx="211926" cy="142875"/>
          </a:xfrm>
          <a:prstGeom prst="rect">
            <a:avLst/>
          </a:prstGeom>
          <a:noFill/>
          <a:ln/>
        </p:spPr>
        <p:txBody>
          <a:bodyPr wrap="non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607</a:t>
            </a:r>
            <a:endParaRPr lang="en-US" sz="936" dirty="0"/>
          </a:p>
        </p:txBody>
      </p:sp>
      <p:sp>
        <p:nvSpPr>
          <p:cNvPr id="66" name="Text 63"/>
          <p:cNvSpPr/>
          <p:nvPr/>
        </p:nvSpPr>
        <p:spPr>
          <a:xfrm>
            <a:off x="4457589" y="4055566"/>
            <a:ext cx="191388" cy="142875"/>
          </a:xfrm>
          <a:prstGeom prst="rect">
            <a:avLst/>
          </a:prstGeom>
          <a:noFill/>
          <a:ln/>
        </p:spPr>
        <p:txBody>
          <a:bodyPr wrap="non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517</a:t>
            </a:r>
            <a:endParaRPr lang="en-US" sz="936" dirty="0"/>
          </a:p>
        </p:txBody>
      </p:sp>
      <p:sp>
        <p:nvSpPr>
          <p:cNvPr id="67" name="Text 64"/>
          <p:cNvSpPr/>
          <p:nvPr/>
        </p:nvSpPr>
        <p:spPr>
          <a:xfrm>
            <a:off x="8019849" y="4055566"/>
            <a:ext cx="203889" cy="142875"/>
          </a:xfrm>
          <a:prstGeom prst="rect">
            <a:avLst/>
          </a:prstGeom>
          <a:noFill/>
          <a:ln/>
        </p:spPr>
        <p:txBody>
          <a:bodyPr wrap="non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556</a:t>
            </a:r>
            <a:endParaRPr lang="en-US" sz="936" dirty="0"/>
          </a:p>
        </p:txBody>
      </p:sp>
      <p:sp>
        <p:nvSpPr>
          <p:cNvPr id="68" name="Text 65"/>
          <p:cNvSpPr/>
          <p:nvPr/>
        </p:nvSpPr>
        <p:spPr>
          <a:xfrm>
            <a:off x="4457589" y="5028902"/>
            <a:ext cx="211033" cy="142875"/>
          </a:xfrm>
          <a:prstGeom prst="rect">
            <a:avLst/>
          </a:prstGeom>
          <a:noFill/>
          <a:ln/>
        </p:spPr>
        <p:txBody>
          <a:bodyPr wrap="non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560</a:t>
            </a:r>
            <a:endParaRPr lang="en-US" sz="936" dirty="0"/>
          </a:p>
        </p:txBody>
      </p:sp>
      <p:sp>
        <p:nvSpPr>
          <p:cNvPr id="69" name="Text 66"/>
          <p:cNvSpPr/>
          <p:nvPr/>
        </p:nvSpPr>
        <p:spPr>
          <a:xfrm>
            <a:off x="4622635" y="1828800"/>
            <a:ext cx="2984376"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3</a:t>
            </a:r>
            <a:endParaRPr lang="en-US" sz="1600" dirty="0"/>
          </a:p>
        </p:txBody>
      </p:sp>
      <p:sp>
        <p:nvSpPr>
          <p:cNvPr id="70" name="Text 67"/>
          <p:cNvSpPr/>
          <p:nvPr/>
        </p:nvSpPr>
        <p:spPr>
          <a:xfrm>
            <a:off x="8216595" y="1828800"/>
            <a:ext cx="2984525"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5</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01_Repositorios\13_Presentaciones\dash\televentas\ppt_slides\sk_14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3490081"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Evidencias · Iniciativas Ejecutadas 1S 2026</a:t>
            </a:r>
            <a:endParaRPr lang="en-US" sz="1260" dirty="0"/>
          </a:p>
        </p:txBody>
      </p:sp>
      <p:sp>
        <p:nvSpPr>
          <p:cNvPr id="4" name="Text 1"/>
          <p:cNvSpPr/>
          <p:nvPr/>
        </p:nvSpPr>
        <p:spPr>
          <a:xfrm>
            <a:off x="6514937" y="1086892"/>
            <a:ext cx="4767441" cy="9144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Semana Burger &amp; Feria Vanti · Abril 2026</a:t>
            </a:r>
            <a:endParaRPr lang="en-US" sz="600" dirty="0"/>
          </a:p>
        </p:txBody>
      </p:sp>
      <p:sp>
        <p:nvSpPr>
          <p:cNvPr id="5" name="Text 2"/>
          <p:cNvSpPr/>
          <p:nvPr/>
        </p:nvSpPr>
        <p:spPr>
          <a:xfrm>
            <a:off x="609585" y="6886575"/>
            <a:ext cx="5438639" cy="161925"/>
          </a:xfrm>
          <a:prstGeom prst="rect">
            <a:avLst/>
          </a:prstGeom>
          <a:noFill/>
          <a:ln/>
        </p:spPr>
        <p:txBody>
          <a:bodyPr wrap="none" lIns="0" tIns="0" rIns="0" bIns="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Parte de La Gran Jugada · 114% meta</a:t>
            </a:r>
            <a:endParaRPr lang="en-US" sz="672" dirty="0"/>
          </a:p>
        </p:txBody>
      </p:sp>
      <p:sp>
        <p:nvSpPr>
          <p:cNvPr id="6" name="Text 3"/>
          <p:cNvSpPr/>
          <p:nvPr/>
        </p:nvSpPr>
        <p:spPr>
          <a:xfrm>
            <a:off x="981050" y="1086892"/>
            <a:ext cx="4767441" cy="9144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Semanas Ganadoras · Enero 2026</a:t>
            </a:r>
            <a:endParaRPr lang="en-US" sz="600" dirty="0"/>
          </a:p>
        </p:txBody>
      </p:sp>
      <p:sp>
        <p:nvSpPr>
          <p:cNvPr id="7" name="Text 4"/>
          <p:cNvSpPr/>
          <p:nvPr/>
        </p:nvSpPr>
        <p:spPr>
          <a:xfrm>
            <a:off x="6514937" y="4192042"/>
            <a:ext cx="4767441" cy="9144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Feria Mundialista · Junio 2026</a:t>
            </a:r>
            <a:endParaRPr lang="en-US" sz="600" dirty="0"/>
          </a:p>
        </p:txBody>
      </p:sp>
      <p:sp>
        <p:nvSpPr>
          <p:cNvPr id="8" name="Text 5"/>
          <p:cNvSpPr/>
          <p:nvPr/>
        </p:nvSpPr>
        <p:spPr>
          <a:xfrm>
            <a:off x="6143471" y="6886575"/>
            <a:ext cx="5438639" cy="161925"/>
          </a:xfrm>
          <a:prstGeom prst="rect">
            <a:avLst/>
          </a:prstGeom>
          <a:noFill/>
          <a:ln/>
        </p:spPr>
        <p:txBody>
          <a:bodyPr wrap="none" lIns="0" tIns="0" rIns="0" bIns="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1.520 ventas en dos semanas</a:t>
            </a:r>
            <a:endParaRPr lang="en-US" sz="672" dirty="0"/>
          </a:p>
        </p:txBody>
      </p:sp>
      <p:sp>
        <p:nvSpPr>
          <p:cNvPr id="9" name="Text 6"/>
          <p:cNvSpPr/>
          <p:nvPr/>
        </p:nvSpPr>
        <p:spPr>
          <a:xfrm>
            <a:off x="981050" y="4192042"/>
            <a:ext cx="4767441" cy="91440"/>
          </a:xfrm>
          <a:prstGeom prst="rect">
            <a:avLst/>
          </a:prstGeom>
          <a:noFill/>
          <a:ln/>
        </p:spPr>
        <p:txBody>
          <a:bodyPr wrap="non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Feria Vanti · Mayo 2026</a:t>
            </a:r>
            <a:endParaRPr lang="en-US" sz="600" dirty="0"/>
          </a:p>
        </p:txBody>
      </p:sp>
      <p:sp>
        <p:nvSpPr>
          <p:cNvPr id="10" name="Text 7"/>
          <p:cNvSpPr/>
          <p:nvPr/>
        </p:nvSpPr>
        <p:spPr>
          <a:xfrm>
            <a:off x="609585" y="3781425"/>
            <a:ext cx="5438639" cy="161925"/>
          </a:xfrm>
          <a:prstGeom prst="rect">
            <a:avLst/>
          </a:prstGeom>
          <a:noFill/>
          <a:ln/>
        </p:spPr>
        <p:txBody>
          <a:bodyPr wrap="none" lIns="0" tIns="0" rIns="0" bIns="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1.292 ventas logradas</a:t>
            </a:r>
            <a:endParaRPr lang="en-US" sz="672" dirty="0"/>
          </a:p>
        </p:txBody>
      </p:sp>
      <p:sp>
        <p:nvSpPr>
          <p:cNvPr id="11" name="Text 8"/>
          <p:cNvSpPr/>
          <p:nvPr/>
        </p:nvSpPr>
        <p:spPr>
          <a:xfrm>
            <a:off x="6143471" y="3781425"/>
            <a:ext cx="5438639" cy="161925"/>
          </a:xfrm>
          <a:prstGeom prst="rect">
            <a:avLst/>
          </a:prstGeom>
          <a:noFill/>
          <a:ln/>
        </p:spPr>
        <p:txBody>
          <a:bodyPr wrap="none" lIns="0" tIns="0" rIns="0" bIns="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1.266 ventas logradas</a:t>
            </a:r>
            <a:endParaRPr lang="en-US" sz="672" dirty="0"/>
          </a:p>
        </p:txBody>
      </p:sp>
      <p:sp>
        <p:nvSpPr>
          <p:cNvPr id="12" name="Text 9"/>
          <p:cNvSpPr/>
          <p:nvPr/>
        </p:nvSpPr>
        <p:spPr>
          <a:xfrm>
            <a:off x="10079579" y="209550"/>
            <a:ext cx="1540630"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Evidencias</a:t>
            </a:r>
            <a:endParaRPr lang="en-US" sz="840" dirty="0"/>
          </a:p>
        </p:txBody>
      </p:sp>
      <p:sp>
        <p:nvSpPr>
          <p:cNvPr id="13" name="Text 10"/>
          <p:cNvSpPr/>
          <p:nvPr/>
        </p:nvSpPr>
        <p:spPr>
          <a:xfrm>
            <a:off x="981050" y="978247"/>
            <a:ext cx="4767441" cy="108645"/>
          </a:xfrm>
          <a:prstGeom prst="rect">
            <a:avLst/>
          </a:prstGeom>
          <a:noFill/>
          <a:ln/>
        </p:spPr>
        <p:txBody>
          <a:bodyPr wrap="non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4" name="Text 11"/>
          <p:cNvSpPr/>
          <p:nvPr/>
        </p:nvSpPr>
        <p:spPr>
          <a:xfrm>
            <a:off x="6514937" y="978247"/>
            <a:ext cx="4767441" cy="108645"/>
          </a:xfrm>
          <a:prstGeom prst="rect">
            <a:avLst/>
          </a:prstGeom>
          <a:noFill/>
          <a:ln/>
        </p:spPr>
        <p:txBody>
          <a:bodyPr wrap="non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5" name="Text 12"/>
          <p:cNvSpPr/>
          <p:nvPr/>
        </p:nvSpPr>
        <p:spPr>
          <a:xfrm>
            <a:off x="981050" y="4083397"/>
            <a:ext cx="4767441" cy="108645"/>
          </a:xfrm>
          <a:prstGeom prst="rect">
            <a:avLst/>
          </a:prstGeom>
          <a:noFill/>
          <a:ln/>
        </p:spPr>
        <p:txBody>
          <a:bodyPr wrap="non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6" name="Text 13"/>
          <p:cNvSpPr/>
          <p:nvPr/>
        </p:nvSpPr>
        <p:spPr>
          <a:xfrm>
            <a:off x="6514937" y="4083397"/>
            <a:ext cx="4767441" cy="108645"/>
          </a:xfrm>
          <a:prstGeom prst="rect">
            <a:avLst/>
          </a:prstGeom>
          <a:noFill/>
          <a:ln/>
        </p:spPr>
        <p:txBody>
          <a:bodyPr wrap="non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7" name="Text 14"/>
          <p:cNvSpPr/>
          <p:nvPr/>
        </p:nvSpPr>
        <p:spPr>
          <a:xfrm>
            <a:off x="609585" y="3600450"/>
            <a:ext cx="5438639" cy="18097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8" name="Text 15"/>
          <p:cNvSpPr/>
          <p:nvPr/>
        </p:nvSpPr>
        <p:spPr>
          <a:xfrm>
            <a:off x="6143471" y="3600450"/>
            <a:ext cx="5438639" cy="18097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9" name="Text 16"/>
          <p:cNvSpPr/>
          <p:nvPr/>
        </p:nvSpPr>
        <p:spPr>
          <a:xfrm>
            <a:off x="609585" y="6705600"/>
            <a:ext cx="5438639" cy="18097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20" name="Text 17"/>
          <p:cNvSpPr/>
          <p:nvPr/>
        </p:nvSpPr>
        <p:spPr>
          <a:xfrm>
            <a:off x="6143471" y="6705600"/>
            <a:ext cx="5438639" cy="18097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21" name="Text 18"/>
          <p:cNvSpPr/>
          <p:nvPr/>
        </p:nvSpPr>
        <p:spPr>
          <a:xfrm>
            <a:off x="5815165" y="1014413"/>
            <a:ext cx="182880" cy="123825"/>
          </a:xfrm>
          <a:prstGeom prst="rect">
            <a:avLst/>
          </a:prstGeom>
          <a:noFill/>
          <a:ln/>
        </p:spPr>
        <p:txBody>
          <a:bodyPr wrap="non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2" name="Text 19"/>
          <p:cNvSpPr/>
          <p:nvPr/>
        </p:nvSpPr>
        <p:spPr>
          <a:xfrm>
            <a:off x="11349051" y="1014413"/>
            <a:ext cx="182880" cy="123825"/>
          </a:xfrm>
          <a:prstGeom prst="rect">
            <a:avLst/>
          </a:prstGeom>
          <a:noFill/>
          <a:ln/>
        </p:spPr>
        <p:txBody>
          <a:bodyPr wrap="non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3" name="Text 20"/>
          <p:cNvSpPr/>
          <p:nvPr/>
        </p:nvSpPr>
        <p:spPr>
          <a:xfrm>
            <a:off x="5815165" y="4119562"/>
            <a:ext cx="182880" cy="123825"/>
          </a:xfrm>
          <a:prstGeom prst="rect">
            <a:avLst/>
          </a:prstGeom>
          <a:noFill/>
          <a:ln/>
        </p:spPr>
        <p:txBody>
          <a:bodyPr wrap="non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4" name="Text 21"/>
          <p:cNvSpPr/>
          <p:nvPr/>
        </p:nvSpPr>
        <p:spPr>
          <a:xfrm>
            <a:off x="11349051" y="4119562"/>
            <a:ext cx="182880" cy="123825"/>
          </a:xfrm>
          <a:prstGeom prst="rect">
            <a:avLst/>
          </a:prstGeom>
          <a:noFill/>
          <a:ln/>
        </p:spPr>
        <p:txBody>
          <a:bodyPr wrap="non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01_Repositorios\13_Presentaciones\dash\televentas\ppt_slides\sk_15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5040064"/>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Las objeciones «ya tengo seguro» y «es muy caro» concentran ~40 % de los rechazos en auditoría de calidad. Se entrenaron contraargumentos específicos con casos reales; asesores que aplicaron la técnica mostraron una tasa de reconversión del 12 % sobre objeciones antes perdidas.</a:t>
            </a:r>
            <a:endParaRPr lang="en-US" sz="552" dirty="0"/>
          </a:p>
        </p:txBody>
      </p:sp>
      <p:sp>
        <p:nvSpPr>
          <p:cNvPr id="4" name="Text 1"/>
          <p:cNvSpPr/>
          <p:nvPr/>
        </p:nvSpPr>
        <p:spPr>
          <a:xfrm>
            <a:off x="923902" y="5405735"/>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Se identificaron asesores que modificaban el guion aprobado para acelerar llamadas, afectando la calidad registrada. Se implementó un control de cambios con auditoría semanal que redujo las desviaciones no autorizadas en un 60 % durante el mes.</a:t>
            </a:r>
            <a:endParaRPr lang="en-US" sz="552" dirty="0"/>
          </a:p>
        </p:txBody>
      </p:sp>
      <p:sp>
        <p:nvSpPr>
          <p:cNvPr id="5" name="Text 2"/>
          <p:cNvSpPr/>
          <p:nvPr/>
        </p:nvSpPr>
        <p:spPr>
          <a:xfrm>
            <a:off x="6676858" y="4118223"/>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Se eliminaron las variaciones individuales del discurso comercial. Cada asesor adoptó el mismo argumentario aprobado por Vanti, garantizando consistencia en la comunicación de beneficios y reduciendo desviaciones detectadas en monitoreo.</a:t>
            </a:r>
            <a:endParaRPr lang="en-US" sz="552" dirty="0"/>
          </a:p>
        </p:txBody>
      </p:sp>
      <p:sp>
        <p:nvSpPr>
          <p:cNvPr id="6" name="Text 3"/>
          <p:cNvSpPr/>
          <p:nvPr/>
        </p:nvSpPr>
        <p:spPr>
          <a:xfrm>
            <a:off x="6676858" y="3752552"/>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Se dotó a los asesores de guiones digitales y calculadoras rápidas de prima en pantalla compartida. La medición post-entrenamiento mostró una reducción de ~45 segundos en el tiempo promedio de llamada sin afectar la calidad del cierre.</a:t>
            </a:r>
            <a:endParaRPr lang="en-US" sz="552" dirty="0"/>
          </a:p>
        </p:txBody>
      </p:sp>
      <p:sp>
        <p:nvSpPr>
          <p:cNvPr id="7" name="Text 4"/>
          <p:cNvSpPr/>
          <p:nvPr/>
        </p:nvSpPr>
        <p:spPr>
          <a:xfrm>
            <a:off x="6676858" y="2221111"/>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Abordó la principal fuga del embudo: prospectos que quedaban «en veremos» por falta de un cierre estructurado. La estandarización del paso a paso de cierre redujo llamadas inconclusas y aumentó la tasa de cierre en primera gestión.</a:t>
            </a:r>
            <a:endParaRPr lang="en-US" sz="552" dirty="0"/>
          </a:p>
        </p:txBody>
      </p:sp>
      <p:sp>
        <p:nvSpPr>
          <p:cNvPr id="8" name="Text 5"/>
          <p:cNvSpPr/>
          <p:nvPr/>
        </p:nvSpPr>
        <p:spPr>
          <a:xfrm>
            <a:off x="923902" y="4674394"/>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Con 3.383 pólizas en el semestre (24 % del portafolio), se actualizaron coberturas y ejemplos de siniestro para fortalecer el cierre en este producto de mayor prima mensual. Se incorporaron los nuevos beneficios de la versión 2026.</a:t>
            </a:r>
            <a:endParaRPr lang="en-US" sz="552" dirty="0"/>
          </a:p>
        </p:txBody>
      </p:sp>
      <p:sp>
        <p:nvSpPr>
          <p:cNvPr id="9" name="Text 6"/>
          <p:cNvSpPr/>
          <p:nvPr/>
        </p:nvSpPr>
        <p:spPr>
          <a:xfrm>
            <a:off x="6676858" y="5961906"/>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Cierre del semestre con foco en sostenibilidad operativa. Se reforzaron los estándares de calidad justo cuando el equipo crecía de 15 a 21 asesores, asegurando que la expansión no diluyera la calidad del cierre comercial.</a:t>
            </a:r>
            <a:endParaRPr lang="en-US" sz="552" dirty="0"/>
          </a:p>
        </p:txBody>
      </p:sp>
      <p:sp>
        <p:nvSpPr>
          <p:cNvPr id="10" name="Text 7"/>
          <p:cNvSpPr/>
          <p:nvPr/>
        </p:nvSpPr>
        <p:spPr>
          <a:xfrm>
            <a:off x="923902" y="1611511"/>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Estableció la línea base de calidad comercial unificando criterios entre los 15 asesores activos en enero. Eliminó la dispersión de evaluación que generaba inconsistencias en el cierre y reprocesos en auditoría interna.</a:t>
            </a:r>
            <a:endParaRPr lang="en-US" sz="552" dirty="0"/>
          </a:p>
        </p:txBody>
      </p:sp>
      <p:sp>
        <p:nvSpPr>
          <p:cNvPr id="11" name="Text 8"/>
          <p:cNvSpPr/>
          <p:nvPr/>
        </p:nvSpPr>
        <p:spPr>
          <a:xfrm>
            <a:off x="923902" y="3142952"/>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Errores en la cláusula de cobro generaban rechazos en la etapa de liquidación y reconsumos en calidad. Se unificó el procedimiento de autorización bancaria, asegurando el débito efectivo de la prima en primera cuota.</a:t>
            </a:r>
            <a:endParaRPr lang="en-US" sz="552" dirty="0"/>
          </a:p>
        </p:txBody>
      </p:sp>
      <p:sp>
        <p:nvSpPr>
          <p:cNvPr id="12" name="Text 9"/>
          <p:cNvSpPr/>
          <p:nvPr/>
        </p:nvSpPr>
        <p:spPr>
          <a:xfrm>
            <a:off x="6676858" y="2586782"/>
            <a:ext cx="4771906" cy="196155"/>
          </a:xfrm>
          <a:prstGeom prst="rect">
            <a:avLst/>
          </a:prstGeom>
          <a:noFill/>
          <a:ln/>
        </p:spPr>
        <p:txBody>
          <a:bodyPr wrap="non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Cuota Protegida representa el 76 % de las ventas del semestre (10.534 pólizas). Se capacitaron contraargumentos para objeciones técnicas recurrentes que frenaban la conversión en este producto priorizado.</a:t>
            </a:r>
            <a:endParaRPr lang="en-US" sz="552" dirty="0"/>
          </a:p>
        </p:txBody>
      </p:sp>
      <p:sp>
        <p:nvSpPr>
          <p:cNvPr id="13" name="Text 10"/>
          <p:cNvSpPr/>
          <p:nvPr/>
        </p:nvSpPr>
        <p:spPr>
          <a:xfrm>
            <a:off x="4154880" y="1037779"/>
            <a:ext cx="4167679" cy="118765"/>
          </a:xfrm>
          <a:prstGeom prst="rect">
            <a:avLst/>
          </a:prstGeom>
          <a:noFill/>
          <a:ln/>
        </p:spPr>
        <p:txBody>
          <a:bodyPr wrap="non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ejecutadas por Xuma — al menos una por mes, con análisis de impacto operativo por sesión.</a:t>
            </a:r>
            <a:endParaRPr lang="en-US" sz="624" dirty="0"/>
          </a:p>
        </p:txBody>
      </p:sp>
      <p:sp>
        <p:nvSpPr>
          <p:cNvPr id="14" name="Text 11"/>
          <p:cNvSpPr/>
          <p:nvPr/>
        </p:nvSpPr>
        <p:spPr>
          <a:xfrm>
            <a:off x="6676858" y="5849541"/>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Fortalecimiento del Cumplimiento de Lineamientos Operativos y de Calidad</a:t>
            </a:r>
            <a:endParaRPr lang="en-US" sz="624" dirty="0"/>
          </a:p>
        </p:txBody>
      </p:sp>
      <p:sp>
        <p:nvSpPr>
          <p:cNvPr id="15" name="Text 12"/>
          <p:cNvSpPr/>
          <p:nvPr/>
        </p:nvSpPr>
        <p:spPr>
          <a:xfrm>
            <a:off x="923902" y="5293370"/>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Lineamientos para la Aplicación del Guion y Control de Modificaciones</a:t>
            </a:r>
            <a:endParaRPr lang="en-US" sz="624" dirty="0"/>
          </a:p>
        </p:txBody>
      </p:sp>
      <p:sp>
        <p:nvSpPr>
          <p:cNvPr id="16" name="Text 13"/>
          <p:cNvSpPr/>
          <p:nvPr/>
        </p:nvSpPr>
        <p:spPr>
          <a:xfrm>
            <a:off x="6676858" y="3640187"/>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Implementación de Herramientas de Apoyo para la Gestión Comercial</a:t>
            </a:r>
            <a:endParaRPr lang="en-US" sz="624" dirty="0"/>
          </a:p>
        </p:txBody>
      </p:sp>
      <p:sp>
        <p:nvSpPr>
          <p:cNvPr id="17" name="Text 14"/>
          <p:cNvSpPr/>
          <p:nvPr/>
        </p:nvSpPr>
        <p:spPr>
          <a:xfrm>
            <a:off x="923902" y="1499146"/>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Socialización y Alineación de Estándares de Calidad Comercial</a:t>
            </a:r>
            <a:endParaRPr lang="en-US" sz="624" dirty="0"/>
          </a:p>
        </p:txBody>
      </p:sp>
      <p:sp>
        <p:nvSpPr>
          <p:cNvPr id="18" name="Text 15"/>
          <p:cNvSpPr/>
          <p:nvPr/>
        </p:nvSpPr>
        <p:spPr>
          <a:xfrm>
            <a:off x="6676858" y="2474416"/>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Fortalecimiento de Conocimientos del Producto Cuota Protegida</a:t>
            </a:r>
            <a:endParaRPr lang="en-US" sz="624" dirty="0"/>
          </a:p>
        </p:txBody>
      </p:sp>
      <p:sp>
        <p:nvSpPr>
          <p:cNvPr id="19" name="Text 16"/>
          <p:cNvSpPr/>
          <p:nvPr/>
        </p:nvSpPr>
        <p:spPr>
          <a:xfrm>
            <a:off x="923902" y="3030587"/>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Aplicación Correcta de la Cláusula de Cobro y Autorizaciones</a:t>
            </a:r>
            <a:endParaRPr lang="en-US" sz="624" dirty="0"/>
          </a:p>
        </p:txBody>
      </p:sp>
      <p:sp>
        <p:nvSpPr>
          <p:cNvPr id="20" name="Text 17"/>
          <p:cNvSpPr/>
          <p:nvPr/>
        </p:nvSpPr>
        <p:spPr>
          <a:xfrm>
            <a:off x="923902" y="4927699"/>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Técnicas Efectivas para el Manejo de Objeciones Comerciales</a:t>
            </a:r>
            <a:endParaRPr lang="en-US" sz="624" dirty="0"/>
          </a:p>
        </p:txBody>
      </p:sp>
      <p:sp>
        <p:nvSpPr>
          <p:cNvPr id="21" name="Text 18"/>
          <p:cNvSpPr/>
          <p:nvPr/>
        </p:nvSpPr>
        <p:spPr>
          <a:xfrm>
            <a:off x="923902" y="4562029"/>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Actualización Comercial del Producto Plan Combo Vida</a:t>
            </a:r>
            <a:endParaRPr lang="en-US" sz="624" dirty="0"/>
          </a:p>
        </p:txBody>
      </p:sp>
      <p:sp>
        <p:nvSpPr>
          <p:cNvPr id="22" name="Text 19"/>
          <p:cNvSpPr/>
          <p:nvPr/>
        </p:nvSpPr>
        <p:spPr>
          <a:xfrm>
            <a:off x="6676858" y="2108746"/>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Estandarización del Protocolo de Cierre Comercial</a:t>
            </a:r>
            <a:endParaRPr lang="en-US" sz="624" dirty="0"/>
          </a:p>
        </p:txBody>
      </p:sp>
      <p:sp>
        <p:nvSpPr>
          <p:cNvPr id="23" name="Text 20"/>
          <p:cNvSpPr/>
          <p:nvPr/>
        </p:nvSpPr>
        <p:spPr>
          <a:xfrm>
            <a:off x="1213514" y="219075"/>
            <a:ext cx="3908278"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Capacitaciones del Semestre · Línea de Tiempo</a:t>
            </a:r>
            <a:endParaRPr lang="en-US" sz="1260" dirty="0"/>
          </a:p>
        </p:txBody>
      </p:sp>
      <p:sp>
        <p:nvSpPr>
          <p:cNvPr id="24" name="Text 21"/>
          <p:cNvSpPr/>
          <p:nvPr/>
        </p:nvSpPr>
        <p:spPr>
          <a:xfrm>
            <a:off x="6676858" y="4005858"/>
            <a:ext cx="4771906" cy="102840"/>
          </a:xfrm>
          <a:prstGeom prst="rect">
            <a:avLst/>
          </a:prstGeom>
          <a:noFill/>
          <a:ln/>
        </p:spPr>
        <p:txBody>
          <a:bodyPr wrap="non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Estandarización del Guion Comercial Aprobado</a:t>
            </a:r>
            <a:endParaRPr lang="en-US" sz="624" dirty="0"/>
          </a:p>
        </p:txBody>
      </p:sp>
      <p:sp>
        <p:nvSpPr>
          <p:cNvPr id="25" name="Text 22"/>
          <p:cNvSpPr/>
          <p:nvPr/>
        </p:nvSpPr>
        <p:spPr>
          <a:xfrm>
            <a:off x="9743831" y="209550"/>
            <a:ext cx="1876378"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Capacitaciones</a:t>
            </a:r>
            <a:endParaRPr lang="en-US" sz="840" dirty="0"/>
          </a:p>
        </p:txBody>
      </p:sp>
      <p:sp>
        <p:nvSpPr>
          <p:cNvPr id="26" name="Text 23"/>
          <p:cNvSpPr/>
          <p:nvPr/>
        </p:nvSpPr>
        <p:spPr>
          <a:xfrm>
            <a:off x="6739067" y="1984921"/>
            <a:ext cx="292440" cy="91440"/>
          </a:xfrm>
          <a:prstGeom prst="rect">
            <a:avLst/>
          </a:prstGeom>
          <a:noFill/>
          <a:ln/>
        </p:spPr>
        <p:txBody>
          <a:bodyPr wrap="non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7" name="Text 24"/>
          <p:cNvSpPr/>
          <p:nvPr/>
        </p:nvSpPr>
        <p:spPr>
          <a:xfrm>
            <a:off x="6750675" y="3516362"/>
            <a:ext cx="292440" cy="91440"/>
          </a:xfrm>
          <a:prstGeom prst="rect">
            <a:avLst/>
          </a:prstGeom>
          <a:noFill/>
          <a:ln/>
        </p:spPr>
        <p:txBody>
          <a:bodyPr wrap="non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8" name="Text 25"/>
          <p:cNvSpPr/>
          <p:nvPr/>
        </p:nvSpPr>
        <p:spPr>
          <a:xfrm>
            <a:off x="1003969" y="4438204"/>
            <a:ext cx="293184" cy="91440"/>
          </a:xfrm>
          <a:prstGeom prst="rect">
            <a:avLst/>
          </a:prstGeom>
          <a:noFill/>
          <a:ln/>
        </p:spPr>
        <p:txBody>
          <a:bodyPr wrap="non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3 sesiónes</a:t>
            </a:r>
            <a:endParaRPr lang="en-US" sz="480" dirty="0"/>
          </a:p>
        </p:txBody>
      </p:sp>
      <p:sp>
        <p:nvSpPr>
          <p:cNvPr id="29" name="Text 26"/>
          <p:cNvSpPr/>
          <p:nvPr/>
        </p:nvSpPr>
        <p:spPr>
          <a:xfrm>
            <a:off x="993105" y="1375321"/>
            <a:ext cx="221451" cy="91440"/>
          </a:xfrm>
          <a:prstGeom prst="rect">
            <a:avLst/>
          </a:prstGeom>
          <a:noFill/>
          <a:ln/>
        </p:spPr>
        <p:txBody>
          <a:bodyPr wrap="non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0" name="Text 27"/>
          <p:cNvSpPr/>
          <p:nvPr/>
        </p:nvSpPr>
        <p:spPr>
          <a:xfrm>
            <a:off x="1009476" y="2906762"/>
            <a:ext cx="221451" cy="91440"/>
          </a:xfrm>
          <a:prstGeom prst="rect">
            <a:avLst/>
          </a:prstGeom>
          <a:noFill/>
          <a:ln/>
        </p:spPr>
        <p:txBody>
          <a:bodyPr wrap="non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1" name="Text 28"/>
          <p:cNvSpPr/>
          <p:nvPr/>
        </p:nvSpPr>
        <p:spPr>
          <a:xfrm>
            <a:off x="6749038" y="5725716"/>
            <a:ext cx="221451" cy="91440"/>
          </a:xfrm>
          <a:prstGeom prst="rect">
            <a:avLst/>
          </a:prstGeom>
          <a:noFill/>
          <a:ln/>
        </p:spPr>
        <p:txBody>
          <a:bodyPr wrap="non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2" name="Text 29"/>
          <p:cNvSpPr/>
          <p:nvPr/>
        </p:nvSpPr>
        <p:spPr>
          <a:xfrm>
            <a:off x="742931" y="1365796"/>
            <a:ext cx="182880" cy="91440"/>
          </a:xfrm>
          <a:prstGeom prst="rect">
            <a:avLst/>
          </a:prstGeom>
          <a:noFill/>
          <a:ln/>
        </p:spPr>
        <p:txBody>
          <a:bodyPr wrap="none" lIns="0" tIns="0" rIns="0" bIns="0" rtlCol="0" anchor="t"/>
          <a:lstStyle/>
          <a:p>
            <a:pPr algn="l" indent="0" marL="0">
              <a:buNone/>
            </a:pPr>
            <a:r>
              <a:rPr lang="en-US" sz="528" b="1" dirty="0">
                <a:solidFill>
                  <a:srgbClr val="FF6B35"/>
                </a:solidFill>
                <a:latin typeface="Raleway" pitchFamily="34" charset="0"/>
                <a:ea typeface="Raleway" pitchFamily="34" charset="-122"/>
                <a:cs typeface="Raleway" pitchFamily="34" charset="-120"/>
              </a:rPr>
              <a:t>Ene</a:t>
            </a:r>
            <a:endParaRPr lang="en-US" sz="528" dirty="0"/>
          </a:p>
        </p:txBody>
      </p:sp>
      <p:sp>
        <p:nvSpPr>
          <p:cNvPr id="33" name="Text 30"/>
          <p:cNvSpPr/>
          <p:nvPr/>
        </p:nvSpPr>
        <p:spPr>
          <a:xfrm>
            <a:off x="6495888" y="1975396"/>
            <a:ext cx="182880" cy="91440"/>
          </a:xfrm>
          <a:prstGeom prst="rect">
            <a:avLst/>
          </a:prstGeom>
          <a:noFill/>
          <a:ln/>
        </p:spPr>
        <p:txBody>
          <a:bodyPr wrap="none" lIns="0" tIns="0" rIns="0" bIns="0" rtlCol="0" anchor="t"/>
          <a:lstStyle/>
          <a:p>
            <a:pPr algn="l" indent="0" marL="0">
              <a:buNone/>
            </a:pPr>
            <a:r>
              <a:rPr lang="en-US" sz="528" b="1" dirty="0">
                <a:solidFill>
                  <a:srgbClr val="F5A623"/>
                </a:solidFill>
                <a:latin typeface="Raleway" pitchFamily="34" charset="0"/>
                <a:ea typeface="Raleway" pitchFamily="34" charset="-122"/>
                <a:cs typeface="Raleway" pitchFamily="34" charset="-120"/>
              </a:rPr>
              <a:t>Feb</a:t>
            </a:r>
            <a:endParaRPr lang="en-US" sz="528" dirty="0"/>
          </a:p>
        </p:txBody>
      </p:sp>
      <p:sp>
        <p:nvSpPr>
          <p:cNvPr id="34" name="Text 31"/>
          <p:cNvSpPr/>
          <p:nvPr/>
        </p:nvSpPr>
        <p:spPr>
          <a:xfrm>
            <a:off x="742931" y="2897237"/>
            <a:ext cx="182880" cy="91440"/>
          </a:xfrm>
          <a:prstGeom prst="rect">
            <a:avLst/>
          </a:prstGeom>
          <a:noFill/>
          <a:ln/>
        </p:spPr>
        <p:txBody>
          <a:bodyPr wrap="none" lIns="0" tIns="0" rIns="0" bIns="0" rtlCol="0" anchor="t"/>
          <a:lstStyle/>
          <a:p>
            <a:pPr algn="l" indent="0" marL="0">
              <a:buNone/>
            </a:pPr>
            <a:r>
              <a:rPr lang="en-US" sz="528" b="1" dirty="0">
                <a:solidFill>
                  <a:srgbClr val="F7C948"/>
                </a:solidFill>
                <a:latin typeface="Raleway" pitchFamily="34" charset="0"/>
                <a:ea typeface="Raleway" pitchFamily="34" charset="-122"/>
                <a:cs typeface="Raleway" pitchFamily="34" charset="-120"/>
              </a:rPr>
              <a:t>Mar</a:t>
            </a:r>
            <a:endParaRPr lang="en-US" sz="528" dirty="0"/>
          </a:p>
        </p:txBody>
      </p:sp>
      <p:sp>
        <p:nvSpPr>
          <p:cNvPr id="35" name="Text 32"/>
          <p:cNvSpPr/>
          <p:nvPr/>
        </p:nvSpPr>
        <p:spPr>
          <a:xfrm>
            <a:off x="6495888" y="3506837"/>
            <a:ext cx="182880" cy="91440"/>
          </a:xfrm>
          <a:prstGeom prst="rect">
            <a:avLst/>
          </a:prstGeom>
          <a:noFill/>
          <a:ln/>
        </p:spPr>
        <p:txBody>
          <a:bodyPr wrap="none" lIns="0" tIns="0" rIns="0" bIns="0" rtlCol="0" anchor="t"/>
          <a:lstStyle/>
          <a:p>
            <a:pPr algn="l" indent="0" marL="0">
              <a:buNone/>
            </a:pPr>
            <a:r>
              <a:rPr lang="en-US" sz="528" b="1" dirty="0">
                <a:solidFill>
                  <a:srgbClr val="5AE280"/>
                </a:solidFill>
                <a:latin typeface="Raleway" pitchFamily="34" charset="0"/>
                <a:ea typeface="Raleway" pitchFamily="34" charset="-122"/>
                <a:cs typeface="Raleway" pitchFamily="34" charset="-120"/>
              </a:rPr>
              <a:t>Abr</a:t>
            </a:r>
            <a:endParaRPr lang="en-US" sz="528" dirty="0"/>
          </a:p>
        </p:txBody>
      </p:sp>
      <p:sp>
        <p:nvSpPr>
          <p:cNvPr id="36" name="Text 33"/>
          <p:cNvSpPr/>
          <p:nvPr/>
        </p:nvSpPr>
        <p:spPr>
          <a:xfrm>
            <a:off x="742931" y="4428679"/>
            <a:ext cx="182880" cy="91440"/>
          </a:xfrm>
          <a:prstGeom prst="rect">
            <a:avLst/>
          </a:prstGeom>
          <a:noFill/>
          <a:ln/>
        </p:spPr>
        <p:txBody>
          <a:bodyPr wrap="none" lIns="0" tIns="0" rIns="0" bIns="0" rtlCol="0" anchor="t"/>
          <a:lstStyle/>
          <a:p>
            <a:pPr algn="l" indent="0" marL="0">
              <a:buNone/>
            </a:pPr>
            <a:r>
              <a:rPr lang="en-US" sz="528" b="1" dirty="0">
                <a:solidFill>
                  <a:srgbClr val="00CD93"/>
                </a:solidFill>
                <a:latin typeface="Raleway" pitchFamily="34" charset="0"/>
                <a:ea typeface="Raleway" pitchFamily="34" charset="-122"/>
                <a:cs typeface="Raleway" pitchFamily="34" charset="-120"/>
              </a:rPr>
              <a:t>May</a:t>
            </a:r>
            <a:endParaRPr lang="en-US" sz="528" dirty="0"/>
          </a:p>
        </p:txBody>
      </p:sp>
      <p:sp>
        <p:nvSpPr>
          <p:cNvPr id="37" name="Text 34"/>
          <p:cNvSpPr/>
          <p:nvPr/>
        </p:nvSpPr>
        <p:spPr>
          <a:xfrm>
            <a:off x="6495888" y="5716191"/>
            <a:ext cx="182880" cy="91440"/>
          </a:xfrm>
          <a:prstGeom prst="rect">
            <a:avLst/>
          </a:prstGeom>
          <a:noFill/>
          <a:ln/>
        </p:spPr>
        <p:txBody>
          <a:bodyPr wrap="none" lIns="0" tIns="0" rIns="0" bIns="0" rtlCol="0" anchor="t"/>
          <a:lstStyle/>
          <a:p>
            <a:pPr algn="l" indent="0" marL="0">
              <a:buNone/>
            </a:pPr>
            <a:r>
              <a:rPr lang="en-US" sz="528" b="1" dirty="0">
                <a:solidFill>
                  <a:srgbClr val="5B8DEF"/>
                </a:solidFill>
                <a:latin typeface="Raleway" pitchFamily="34" charset="0"/>
                <a:ea typeface="Raleway" pitchFamily="34" charset="-122"/>
                <a:cs typeface="Raleway" pitchFamily="34" charset="-120"/>
              </a:rPr>
              <a:t>Jun</a:t>
            </a:r>
            <a:endParaRPr lang="en-US" sz="528"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01_Repositorios\13_Presentaciones\dash\televentas\ppt_slides\sk_16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743531" y="3815060"/>
            <a:ext cx="4590935" cy="255687"/>
          </a:xfrm>
          <a:prstGeom prst="rect">
            <a:avLst/>
          </a:prstGeom>
          <a:noFill/>
          <a:ln/>
        </p:spPr>
        <p:txBody>
          <a:bodyPr wrap="non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Cargues priorizados según mayor presencia de ventas por localidad o edad, y barrido de contactos sin respuesta más cambio de DID si el número marca como spam.</a:t>
            </a:r>
            <a:endParaRPr lang="en-US" sz="672" dirty="0"/>
          </a:p>
        </p:txBody>
      </p:sp>
      <p:sp>
        <p:nvSpPr>
          <p:cNvPr id="4" name="Text 1"/>
          <p:cNvSpPr/>
          <p:nvPr/>
        </p:nvSpPr>
        <p:spPr>
          <a:xfrm>
            <a:off x="6743531" y="1619250"/>
            <a:ext cx="4590935" cy="255687"/>
          </a:xfrm>
          <a:prstGeom prst="rect">
            <a:avLst/>
          </a:prstGeom>
          <a:noFill/>
          <a:ln/>
        </p:spPr>
        <p:txBody>
          <a:bodyPr wrap="non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Se ajustaron las exclusiones dando más beneficios y menor tiempo de carencia, con el guion actualizado para incorporar la nueva asistencia.</a:t>
            </a:r>
            <a:endParaRPr lang="en-US" sz="672" dirty="0"/>
          </a:p>
        </p:txBody>
      </p:sp>
      <p:sp>
        <p:nvSpPr>
          <p:cNvPr id="5" name="Text 2"/>
          <p:cNvSpPr/>
          <p:nvPr/>
        </p:nvSpPr>
        <p:spPr>
          <a:xfrm>
            <a:off x="6743531" y="3083123"/>
            <a:ext cx="4590935" cy="255687"/>
          </a:xfrm>
          <a:prstGeom prst="rect">
            <a:avLst/>
          </a:prstGeom>
          <a:noFill/>
          <a:ln/>
        </p:spPr>
        <p:txBody>
          <a:bodyPr wrap="non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Cuando el usuario cree que es solo información, el asesor debe aclarar que se está ofreciendo un seguro, para una venta más transparente.</a:t>
            </a:r>
            <a:endParaRPr lang="en-US" sz="672" dirty="0"/>
          </a:p>
        </p:txBody>
      </p:sp>
      <p:sp>
        <p:nvSpPr>
          <p:cNvPr id="6" name="Text 3"/>
          <p:cNvSpPr/>
          <p:nvPr/>
        </p:nvSpPr>
        <p:spPr>
          <a:xfrm>
            <a:off x="6743531" y="2351187"/>
            <a:ext cx="4590935" cy="255687"/>
          </a:xfrm>
          <a:prstGeom prst="rect">
            <a:avLst/>
          </a:prstGeom>
          <a:noFill/>
          <a:ln/>
        </p:spPr>
        <p:txBody>
          <a:bodyPr wrap="non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Bienvenida exclusiva para clientes que obtuvieron el crédito por autogestión, conociendo cómo perciben esta nueva forma de crédito.</a:t>
            </a:r>
            <a:endParaRPr lang="en-US" sz="672" dirty="0"/>
          </a:p>
        </p:txBody>
      </p:sp>
      <p:sp>
        <p:nvSpPr>
          <p:cNvPr id="7" name="Text 4"/>
          <p:cNvSpPr/>
          <p:nvPr/>
        </p:nvSpPr>
        <p:spPr>
          <a:xfrm>
            <a:off x="1200120" y="2223343"/>
            <a:ext cx="4590935" cy="255687"/>
          </a:xfrm>
          <a:prstGeom prst="rect">
            <a:avLst/>
          </a:prstGeom>
          <a:noFill/>
          <a:ln/>
        </p:spPr>
        <p:txBody>
          <a:bodyPr wrap="non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Auditorías puntuales en algunos meses para verificar que la tipificación registrada coincida con lo que pasó en la llamada.</a:t>
            </a:r>
            <a:endParaRPr lang="en-US" sz="672" dirty="0"/>
          </a:p>
        </p:txBody>
      </p:sp>
      <p:sp>
        <p:nvSpPr>
          <p:cNvPr id="8" name="Text 5"/>
          <p:cNvSpPr/>
          <p:nvPr/>
        </p:nvSpPr>
        <p:spPr>
          <a:xfrm>
            <a:off x="1200120" y="2955280"/>
            <a:ext cx="4590935" cy="255687"/>
          </a:xfrm>
          <a:prstGeom prst="rect">
            <a:avLst/>
          </a:prstGeom>
          <a:noFill/>
          <a:ln/>
        </p:spPr>
        <p:txBody>
          <a:bodyPr wrap="non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Se revisan las llamadas tipificadas "no interesado" para nutrir un manual de objeciones que guía al asesor hacia el cierre.</a:t>
            </a:r>
            <a:endParaRPr lang="en-US" sz="672" dirty="0"/>
          </a:p>
        </p:txBody>
      </p:sp>
      <p:sp>
        <p:nvSpPr>
          <p:cNvPr id="9" name="Text 6"/>
          <p:cNvSpPr/>
          <p:nvPr/>
        </p:nvSpPr>
        <p:spPr>
          <a:xfrm>
            <a:off x="1200120" y="1619250"/>
            <a:ext cx="4347756" cy="127843"/>
          </a:xfrm>
          <a:prstGeom prst="rect">
            <a:avLst/>
          </a:prstGeom>
          <a:noFill/>
          <a:ln/>
        </p:spPr>
        <p:txBody>
          <a:bodyPr wrap="non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Se revisa en vivo cómo el asesor debate objeciones, si tipifica correctamente y se corrigen errores al momento.</a:t>
            </a:r>
            <a:endParaRPr lang="en-US" sz="672" dirty="0"/>
          </a:p>
        </p:txBody>
      </p:sp>
      <p:sp>
        <p:nvSpPr>
          <p:cNvPr id="10" name="Text 7"/>
          <p:cNvSpPr/>
          <p:nvPr/>
        </p:nvSpPr>
        <p:spPr>
          <a:xfrm>
            <a:off x="1200120" y="3687217"/>
            <a:ext cx="3668522" cy="127843"/>
          </a:xfrm>
          <a:prstGeom prst="rect">
            <a:avLst/>
          </a:prstGeom>
          <a:noFill/>
          <a:ln/>
        </p:spPr>
        <p:txBody>
          <a:bodyPr wrap="non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Seguimiento individual: cómo va cada asesor, a qué % se proyecta y qué le falta para su meta.</a:t>
            </a:r>
            <a:endParaRPr lang="en-US" sz="672" dirty="0"/>
          </a:p>
        </p:txBody>
      </p:sp>
      <p:sp>
        <p:nvSpPr>
          <p:cNvPr id="11" name="Text 8"/>
          <p:cNvSpPr/>
          <p:nvPr/>
        </p:nvSpPr>
        <p:spPr>
          <a:xfrm>
            <a:off x="1200120" y="1495425"/>
            <a:ext cx="4347756" cy="95250"/>
          </a:xfrm>
          <a:prstGeom prst="rect">
            <a:avLst/>
          </a:prstGeom>
          <a:noFill/>
          <a:ln/>
        </p:spPr>
        <p:txBody>
          <a:bodyPr wrap="non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Objeciones, tipificación y corrección inmediata</a:t>
            </a:r>
            <a:endParaRPr lang="en-US" sz="672" dirty="0"/>
          </a:p>
        </p:txBody>
      </p:sp>
      <p:sp>
        <p:nvSpPr>
          <p:cNvPr id="12" name="Text 9"/>
          <p:cNvSpPr/>
          <p:nvPr/>
        </p:nvSpPr>
        <p:spPr>
          <a:xfrm>
            <a:off x="6743531" y="2227362"/>
            <a:ext cx="4590935" cy="95250"/>
          </a:xfrm>
          <a:prstGeom prst="rect">
            <a:avLst/>
          </a:prstGeom>
          <a:noFill/>
          <a:ln/>
        </p:spPr>
        <p:txBody>
          <a:bodyPr wrap="non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Trato preferencial y medición de experiencia</a:t>
            </a:r>
            <a:endParaRPr lang="en-US" sz="672" dirty="0"/>
          </a:p>
        </p:txBody>
      </p:sp>
      <p:sp>
        <p:nvSpPr>
          <p:cNvPr id="13" name="Text 10"/>
          <p:cNvSpPr/>
          <p:nvPr/>
        </p:nvSpPr>
        <p:spPr>
          <a:xfrm>
            <a:off x="1200120" y="2099518"/>
            <a:ext cx="4590935" cy="95250"/>
          </a:xfrm>
          <a:prstGeom prst="rect">
            <a:avLst/>
          </a:prstGeom>
          <a:noFill/>
          <a:ln/>
        </p:spPr>
        <p:txBody>
          <a:bodyPr wrap="non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Contrastan tipificación vs. la llamada real</a:t>
            </a:r>
            <a:endParaRPr lang="en-US" sz="672" dirty="0"/>
          </a:p>
        </p:txBody>
      </p:sp>
      <p:sp>
        <p:nvSpPr>
          <p:cNvPr id="14" name="Text 11"/>
          <p:cNvSpPr/>
          <p:nvPr/>
        </p:nvSpPr>
        <p:spPr>
          <a:xfrm>
            <a:off x="1200120" y="2831455"/>
            <a:ext cx="4590935" cy="95250"/>
          </a:xfrm>
          <a:prstGeom prst="rect">
            <a:avLst/>
          </a:prstGeom>
          <a:noFill/>
          <a:ln/>
        </p:spPr>
        <p:txBody>
          <a:bodyPr wrap="non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Manual de objeciones desde "no interesado"</a:t>
            </a:r>
            <a:endParaRPr lang="en-US" sz="672" dirty="0"/>
          </a:p>
        </p:txBody>
      </p:sp>
      <p:sp>
        <p:nvSpPr>
          <p:cNvPr id="15" name="Text 12"/>
          <p:cNvSpPr/>
          <p:nvPr/>
        </p:nvSpPr>
        <p:spPr>
          <a:xfrm>
            <a:off x="6743531" y="2959298"/>
            <a:ext cx="4590935" cy="95250"/>
          </a:xfrm>
          <a:prstGeom prst="rect">
            <a:avLst/>
          </a:prstGeom>
          <a:noFill/>
          <a:ln/>
        </p:spPr>
        <p:txBody>
          <a:bodyPr wrap="non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El asesor deja explícito que es un seguro</a:t>
            </a:r>
            <a:endParaRPr lang="en-US" sz="672" dirty="0"/>
          </a:p>
        </p:txBody>
      </p:sp>
      <p:sp>
        <p:nvSpPr>
          <p:cNvPr id="16" name="Text 13"/>
          <p:cNvSpPr/>
          <p:nvPr/>
        </p:nvSpPr>
        <p:spPr>
          <a:xfrm>
            <a:off x="1213514" y="219075"/>
            <a:ext cx="3460912"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Monitoreo y Cambios de Proceso · 1S 2026</a:t>
            </a:r>
            <a:endParaRPr lang="en-US" sz="1260" dirty="0"/>
          </a:p>
        </p:txBody>
      </p:sp>
      <p:sp>
        <p:nvSpPr>
          <p:cNvPr id="17" name="Text 14"/>
          <p:cNvSpPr/>
          <p:nvPr/>
        </p:nvSpPr>
        <p:spPr>
          <a:xfrm>
            <a:off x="6743531" y="3691235"/>
            <a:ext cx="4590935" cy="95250"/>
          </a:xfrm>
          <a:prstGeom prst="rect">
            <a:avLst/>
          </a:prstGeom>
          <a:noFill/>
          <a:ln/>
        </p:spPr>
        <p:txBody>
          <a:bodyPr wrap="non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Por localidad/edad + control de spam/DID</a:t>
            </a:r>
            <a:endParaRPr lang="en-US" sz="672" dirty="0"/>
          </a:p>
        </p:txBody>
      </p:sp>
      <p:sp>
        <p:nvSpPr>
          <p:cNvPr id="18" name="Text 15"/>
          <p:cNvSpPr/>
          <p:nvPr/>
        </p:nvSpPr>
        <p:spPr>
          <a:xfrm>
            <a:off x="6743531" y="1495425"/>
            <a:ext cx="4590935" cy="95250"/>
          </a:xfrm>
          <a:prstGeom prst="rect">
            <a:avLst/>
          </a:prstGeom>
          <a:noFill/>
          <a:ln/>
        </p:spPr>
        <p:txBody>
          <a:bodyPr wrap="non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Menor carencia + coberturas adicionales</a:t>
            </a:r>
            <a:endParaRPr lang="en-US" sz="672" dirty="0"/>
          </a:p>
        </p:txBody>
      </p:sp>
      <p:sp>
        <p:nvSpPr>
          <p:cNvPr id="19" name="Text 16"/>
          <p:cNvSpPr/>
          <p:nvPr/>
        </p:nvSpPr>
        <p:spPr>
          <a:xfrm>
            <a:off x="1200120" y="3563392"/>
            <a:ext cx="3668522" cy="95250"/>
          </a:xfrm>
          <a:prstGeom prst="rect">
            <a:avLst/>
          </a:prstGeom>
          <a:noFill/>
          <a:ln/>
        </p:spPr>
        <p:txBody>
          <a:bodyPr wrap="non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Avance, proyección y KPI faltante</a:t>
            </a:r>
            <a:endParaRPr lang="en-US" sz="672" dirty="0"/>
          </a:p>
        </p:txBody>
      </p:sp>
      <p:sp>
        <p:nvSpPr>
          <p:cNvPr id="20" name="Text 17"/>
          <p:cNvSpPr/>
          <p:nvPr/>
        </p:nvSpPr>
        <p:spPr>
          <a:xfrm>
            <a:off x="6743531" y="2816423"/>
            <a:ext cx="4590935" cy="133350"/>
          </a:xfrm>
          <a:prstGeom prst="rect">
            <a:avLst/>
          </a:prstGeom>
          <a:noFill/>
          <a:ln/>
        </p:spPr>
        <p:txBody>
          <a:bodyPr wrap="non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Frase de aclaración obligatoria</a:t>
            </a:r>
            <a:endParaRPr lang="en-US" sz="864" dirty="0"/>
          </a:p>
        </p:txBody>
      </p:sp>
      <p:sp>
        <p:nvSpPr>
          <p:cNvPr id="21" name="Text 18"/>
          <p:cNvSpPr/>
          <p:nvPr/>
        </p:nvSpPr>
        <p:spPr>
          <a:xfrm>
            <a:off x="6743531" y="3548360"/>
            <a:ext cx="4590935" cy="133350"/>
          </a:xfrm>
          <a:prstGeom prst="rect">
            <a:avLst/>
          </a:prstGeom>
          <a:noFill/>
          <a:ln/>
        </p:spPr>
        <p:txBody>
          <a:bodyPr wrap="non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Segmentación y contactabilidad</a:t>
            </a:r>
            <a:endParaRPr lang="en-US" sz="864" dirty="0"/>
          </a:p>
        </p:txBody>
      </p:sp>
      <p:sp>
        <p:nvSpPr>
          <p:cNvPr id="22" name="Text 19"/>
          <p:cNvSpPr/>
          <p:nvPr/>
        </p:nvSpPr>
        <p:spPr>
          <a:xfrm>
            <a:off x="1200120" y="3420517"/>
            <a:ext cx="3668522" cy="133350"/>
          </a:xfrm>
          <a:prstGeom prst="rect">
            <a:avLst/>
          </a:prstGeom>
          <a:noFill/>
          <a:ln/>
        </p:spPr>
        <p:txBody>
          <a:bodyPr wrap="non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Revisión semanal por asesor</a:t>
            </a:r>
            <a:endParaRPr lang="en-US" sz="864" dirty="0"/>
          </a:p>
        </p:txBody>
      </p:sp>
      <p:sp>
        <p:nvSpPr>
          <p:cNvPr id="23" name="Text 20"/>
          <p:cNvSpPr/>
          <p:nvPr/>
        </p:nvSpPr>
        <p:spPr>
          <a:xfrm>
            <a:off x="742931" y="1028700"/>
            <a:ext cx="5162421" cy="152400"/>
          </a:xfrm>
          <a:prstGeom prst="rect">
            <a:avLst/>
          </a:prstGeom>
          <a:noFill/>
          <a:ln/>
        </p:spPr>
        <p:txBody>
          <a:bodyPr wrap="none" lIns="0" tIns="0" rIns="0" bIns="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Monitoreo y acompañamiento</a:t>
            </a:r>
            <a:endParaRPr lang="en-US" sz="936" dirty="0"/>
          </a:p>
        </p:txBody>
      </p:sp>
      <p:sp>
        <p:nvSpPr>
          <p:cNvPr id="24" name="Text 21"/>
          <p:cNvSpPr/>
          <p:nvPr/>
        </p:nvSpPr>
        <p:spPr>
          <a:xfrm>
            <a:off x="1200120" y="1352550"/>
            <a:ext cx="4347756" cy="133350"/>
          </a:xfrm>
          <a:prstGeom prst="rect">
            <a:avLst/>
          </a:prstGeom>
          <a:noFill/>
          <a:ln/>
        </p:spPr>
        <p:txBody>
          <a:bodyPr wrap="non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Monitoreo semanal en vivo</a:t>
            </a:r>
            <a:endParaRPr lang="en-US" sz="864" dirty="0"/>
          </a:p>
        </p:txBody>
      </p:sp>
      <p:sp>
        <p:nvSpPr>
          <p:cNvPr id="25" name="Text 22"/>
          <p:cNvSpPr/>
          <p:nvPr/>
        </p:nvSpPr>
        <p:spPr>
          <a:xfrm>
            <a:off x="6286343" y="1028700"/>
            <a:ext cx="5162421" cy="152400"/>
          </a:xfrm>
          <a:prstGeom prst="rect">
            <a:avLst/>
          </a:prstGeom>
          <a:noFill/>
          <a:ln/>
        </p:spPr>
        <p:txBody>
          <a:bodyPr wrap="non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Cambios de proceso (Xuma)</a:t>
            </a:r>
            <a:endParaRPr lang="en-US" sz="936" dirty="0"/>
          </a:p>
        </p:txBody>
      </p:sp>
      <p:sp>
        <p:nvSpPr>
          <p:cNvPr id="26" name="Text 23"/>
          <p:cNvSpPr/>
          <p:nvPr/>
        </p:nvSpPr>
        <p:spPr>
          <a:xfrm>
            <a:off x="1200120" y="1956643"/>
            <a:ext cx="4590935" cy="133350"/>
          </a:xfrm>
          <a:prstGeom prst="rect">
            <a:avLst/>
          </a:prstGeom>
          <a:noFill/>
          <a:ln/>
        </p:spPr>
        <p:txBody>
          <a:bodyPr wrap="non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Monitoreos ocasionales</a:t>
            </a:r>
            <a:endParaRPr lang="en-US" sz="864" dirty="0"/>
          </a:p>
        </p:txBody>
      </p:sp>
      <p:sp>
        <p:nvSpPr>
          <p:cNvPr id="27" name="Text 24"/>
          <p:cNvSpPr/>
          <p:nvPr/>
        </p:nvSpPr>
        <p:spPr>
          <a:xfrm>
            <a:off x="6743531" y="1352550"/>
            <a:ext cx="4590935" cy="133350"/>
          </a:xfrm>
          <a:prstGeom prst="rect">
            <a:avLst/>
          </a:prstGeom>
          <a:noFill/>
          <a:ln/>
        </p:spPr>
        <p:txBody>
          <a:bodyPr wrap="non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Exclusiones del seguro</a:t>
            </a:r>
            <a:endParaRPr lang="en-US" sz="864" dirty="0"/>
          </a:p>
        </p:txBody>
      </p:sp>
      <p:sp>
        <p:nvSpPr>
          <p:cNvPr id="28" name="Text 25"/>
          <p:cNvSpPr/>
          <p:nvPr/>
        </p:nvSpPr>
        <p:spPr>
          <a:xfrm>
            <a:off x="6743531" y="2084487"/>
            <a:ext cx="4590935" cy="133350"/>
          </a:xfrm>
          <a:prstGeom prst="rect">
            <a:avLst/>
          </a:prstGeom>
          <a:noFill/>
          <a:ln/>
        </p:spPr>
        <p:txBody>
          <a:bodyPr wrap="non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Bienvenida autogestión</a:t>
            </a:r>
            <a:endParaRPr lang="en-US" sz="864" dirty="0"/>
          </a:p>
        </p:txBody>
      </p:sp>
      <p:sp>
        <p:nvSpPr>
          <p:cNvPr id="29" name="Text 26"/>
          <p:cNvSpPr/>
          <p:nvPr/>
        </p:nvSpPr>
        <p:spPr>
          <a:xfrm>
            <a:off x="10079877" y="209550"/>
            <a:ext cx="1540333"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Monitoreo</a:t>
            </a:r>
            <a:endParaRPr lang="en-US" sz="840" dirty="0"/>
          </a:p>
        </p:txBody>
      </p:sp>
      <p:sp>
        <p:nvSpPr>
          <p:cNvPr id="30" name="Text 27"/>
          <p:cNvSpPr/>
          <p:nvPr/>
        </p:nvSpPr>
        <p:spPr>
          <a:xfrm>
            <a:off x="1200120" y="2688580"/>
            <a:ext cx="4590935" cy="133350"/>
          </a:xfrm>
          <a:prstGeom prst="rect">
            <a:avLst/>
          </a:prstGeom>
          <a:noFill/>
          <a:ln/>
        </p:spPr>
        <p:txBody>
          <a:bodyPr wrap="non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Kit de emergencia</a:t>
            </a:r>
            <a:endParaRPr lang="en-US" sz="864"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01_Repositorios\13_Presentaciones\dash\televentas\ppt_slides\sk_17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370189"/>
            <a:ext cx="5524362" cy="511969"/>
          </a:xfrm>
          <a:prstGeom prst="rect">
            <a:avLst/>
          </a:prstGeom>
          <a:noFill/>
          <a:ln/>
        </p:spPr>
        <p:txBody>
          <a:bodyPr wrap="none" lIns="0" tIns="0" rIns="0" bIns="0" rtlCol="0" anchor="t"/>
          <a:lstStyle/>
          <a:p>
            <a:pPr algn="l" indent="0" marL="0">
              <a:buNone/>
            </a:pPr>
            <a:r>
              <a:rPr lang="en-US" sz="1260" dirty="0">
                <a:solidFill>
                  <a:srgbClr val="FFFFFF"/>
                </a:solidFill>
                <a:latin typeface="Raleway" pitchFamily="34" charset="0"/>
                <a:ea typeface="Raleway" pitchFamily="34" charset="-122"/>
                <a:cs typeface="Raleway" pitchFamily="34" charset="-120"/>
              </a:rPr>
              <a:t>Contactabilidad, conversión, motivos de rechazo y proyección</a:t>
            </a:r>
            <a:endParaRPr lang="en-US" sz="1260" dirty="0"/>
          </a:p>
          <a:p>
            <a:pPr algn="l" indent="0" marL="0">
              <a:buNone/>
            </a:pPr>
            <a:r>
              <a:rPr lang="en-US" sz="1260" dirty="0">
                <a:solidFill>
                  <a:srgbClr val="FFFFFF"/>
                </a:solidFill>
                <a:latin typeface="Raleway" pitchFamily="34" charset="0"/>
                <a:ea typeface="Raleway" pitchFamily="34" charset="-122"/>
                <a:cs typeface="Raleway" pitchFamily="34" charset="-120"/>
              </a:rPr>
              <a:t>      del volumen necesario para lograr 3.000 ventas/mes en el segundo semestre.</a:t>
            </a:r>
            <a:endParaRPr lang="en-US" sz="1260" dirty="0"/>
          </a:p>
        </p:txBody>
      </p:sp>
      <p:sp>
        <p:nvSpPr>
          <p:cNvPr id="4" name="Text 1"/>
          <p:cNvSpPr/>
          <p:nvPr/>
        </p:nvSpPr>
        <p:spPr>
          <a:xfrm>
            <a:off x="952476" y="3128367"/>
            <a:ext cx="5539244" cy="1051322"/>
          </a:xfrm>
          <a:prstGeom prst="rect">
            <a:avLst/>
          </a:prstGeom>
          <a:noFill/>
          <a:ln/>
        </p:spPr>
        <p:txBody>
          <a:bodyPr wrap="none" lIns="0" tIns="0" rIns="0" bIns="0" rtlCol="0" anchor="t"/>
          <a:lstStyle/>
          <a:p>
            <a:pPr algn="l" indent="0" marL="0">
              <a:buNone/>
            </a:pPr>
            <a:r>
              <a:rPr lang="en-US" sz="1600" b="1" dirty="0">
                <a:solidFill>
                  <a:srgbClr val="FFFFFF"/>
                </a:solidFill>
                <a:latin typeface="Raleway" pitchFamily="34" charset="0"/>
                <a:ea typeface="Raleway" pitchFamily="34" charset="-122"/>
                <a:cs typeface="Raleway" pitchFamily="34" charset="-120"/>
              </a:rPr>
              <a:t>Análisis de Basese Indicadores Operativos</a:t>
            </a:r>
            <a:endParaRPr lang="en-US" sz="1600" dirty="0"/>
          </a:p>
        </p:txBody>
      </p:sp>
      <p:sp>
        <p:nvSpPr>
          <p:cNvPr id="5" name="Text 2"/>
          <p:cNvSpPr/>
          <p:nvPr/>
        </p:nvSpPr>
        <p:spPr>
          <a:xfrm>
            <a:off x="952476" y="2852142"/>
            <a:ext cx="921670" cy="142875"/>
          </a:xfrm>
          <a:prstGeom prst="rect">
            <a:avLst/>
          </a:prstGeom>
          <a:noFill/>
          <a:ln/>
        </p:spPr>
        <p:txBody>
          <a:bodyPr wrap="none" lIns="0" tIns="0" rIns="0" bIns="0" rtlCol="0" anchor="t"/>
          <a:lstStyle/>
          <a:p>
            <a:pPr algn="l" indent="0" marL="0">
              <a:buNone/>
            </a:pPr>
            <a:r>
              <a:rPr lang="en-US" sz="936" b="1" dirty="0">
                <a:solidFill>
                  <a:srgbClr val="5AE280"/>
                </a:solidFill>
                <a:latin typeface="Raleway" pitchFamily="34" charset="0"/>
                <a:ea typeface="Raleway" pitchFamily="34" charset="-122"/>
                <a:cs typeface="Raleway" pitchFamily="34" charset="-120"/>
              </a:rPr>
              <a:t>Capítulo 2</a:t>
            </a:r>
            <a:endParaRPr lang="en-US" sz="936" dirty="0"/>
          </a:p>
        </p:txBody>
      </p:sp>
      <p:sp>
        <p:nvSpPr>
          <p:cNvPr id="6" name="Text 3"/>
          <p:cNvSpPr/>
          <p:nvPr/>
        </p:nvSpPr>
        <p:spPr>
          <a:xfrm>
            <a:off x="952476" y="1975842"/>
            <a:ext cx="1294028" cy="1066800"/>
          </a:xfrm>
          <a:prstGeom prst="rect">
            <a:avLst/>
          </a:prstGeom>
          <a:noFill/>
          <a:ln/>
        </p:spPr>
        <p:txBody>
          <a:bodyPr wrap="none" lIns="0" tIns="0" rIns="0" bIns="0" rtlCol="0" anchor="t"/>
          <a:lstStyle/>
          <a:p>
            <a:pPr algn="l" indent="0" marL="0">
              <a:buNone/>
            </a:pPr>
            <a:r>
              <a:rPr lang="en-US" sz="1600" b="1" dirty="0">
                <a:solidFill>
                  <a:srgbClr val="FFFFFF"/>
                </a:solidFill>
                <a:latin typeface="Raleway" pitchFamily="34" charset="0"/>
                <a:ea typeface="Raleway" pitchFamily="34" charset="-122"/>
                <a:cs typeface="Raleway" pitchFamily="34" charset="-120"/>
              </a:rPr>
              <a:t>02</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01_Repositorios\13_Presentaciones\dash\televentas\ppt_slides\sk_18_M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90575" y="4461570"/>
            <a:ext cx="10496288" cy="548283"/>
          </a:xfrm>
          <a:prstGeom prst="rect">
            <a:avLst/>
          </a:prstGeom>
          <a:noFill/>
          <a:ln/>
        </p:spPr>
        <p:txBody>
          <a:bodyPr wrap="non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entre enero (20 %) y mayo (64 %) triplicamos la contactabilidad sin cambiar quién llamamos, solo . Eso nos trajo 21 % más ventas.  el calendario, horarios y estrategia de llamadas son tan poderosos como la base misma. Febrero y junio bajan porque cambia el mix de campañas (vimos esto arriba). En el 2S, Isaac propone seguir con análisis por franja horaria para identificar ventanas óptimas.</a:t>
            </a:r>
            <a:endParaRPr lang="en-US" sz="960" dirty="0"/>
          </a:p>
        </p:txBody>
      </p:sp>
      <p:sp>
        <p:nvSpPr>
          <p:cNvPr id="4" name="Text 1"/>
          <p:cNvSpPr/>
          <p:nvPr/>
        </p:nvSpPr>
        <p:spPr>
          <a:xfrm>
            <a:off x="1213514" y="219075"/>
            <a:ext cx="3191688"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Contactabilidad y Conversión · 1S 2026</a:t>
            </a:r>
            <a:endParaRPr lang="en-US" sz="1260" dirty="0"/>
          </a:p>
        </p:txBody>
      </p:sp>
      <p:sp>
        <p:nvSpPr>
          <p:cNvPr id="5" name="Text 2"/>
          <p:cNvSpPr/>
          <p:nvPr/>
        </p:nvSpPr>
        <p:spPr>
          <a:xfrm>
            <a:off x="76198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129.696 contactos en el semestre</a:t>
            </a:r>
            <a:endParaRPr lang="en-US" sz="864" dirty="0"/>
          </a:p>
        </p:txBody>
      </p:sp>
      <p:sp>
        <p:nvSpPr>
          <p:cNvPr id="6" name="Text 3"/>
          <p:cNvSpPr/>
          <p:nvPr/>
        </p:nvSpPr>
        <p:spPr>
          <a:xfrm>
            <a:off x="9134247"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Principal causa de no contacto</a:t>
            </a:r>
            <a:endParaRPr lang="en-US" sz="864" dirty="0"/>
          </a:p>
        </p:txBody>
      </p:sp>
      <p:sp>
        <p:nvSpPr>
          <p:cNvPr id="7" name="Text 4"/>
          <p:cNvSpPr/>
          <p:nvPr/>
        </p:nvSpPr>
        <p:spPr>
          <a:xfrm>
            <a:off x="76198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promedio (1S)</a:t>
            </a:r>
            <a:endParaRPr lang="en-US" sz="864" dirty="0"/>
          </a:p>
        </p:txBody>
      </p:sp>
      <p:sp>
        <p:nvSpPr>
          <p:cNvPr id="8" name="Text 5"/>
          <p:cNvSpPr/>
          <p:nvPr/>
        </p:nvSpPr>
        <p:spPr>
          <a:xfrm>
            <a:off x="634349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Promedio ene–jun (6,7–10,3 %)</a:t>
            </a:r>
            <a:endParaRPr lang="en-US" sz="864" dirty="0"/>
          </a:p>
        </p:txBody>
      </p:sp>
      <p:sp>
        <p:nvSpPr>
          <p:cNvPr id="9" name="Text 6"/>
          <p:cNvSpPr/>
          <p:nvPr/>
        </p:nvSpPr>
        <p:spPr>
          <a:xfrm>
            <a:off x="6295868" y="2232720"/>
            <a:ext cx="5171946" cy="219075"/>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Efectividad sobre contactados</a:t>
            </a:r>
            <a:endParaRPr lang="en-US" sz="1020" dirty="0"/>
          </a:p>
        </p:txBody>
      </p:sp>
      <p:sp>
        <p:nvSpPr>
          <p:cNvPr id="10" name="Text 7"/>
          <p:cNvSpPr/>
          <p:nvPr/>
        </p:nvSpPr>
        <p:spPr>
          <a:xfrm>
            <a:off x="3552736"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Jun: 49,1 % (+15 % volumen)</a:t>
            </a:r>
            <a:endParaRPr lang="en-US" sz="864" dirty="0"/>
          </a:p>
        </p:txBody>
      </p:sp>
      <p:sp>
        <p:nvSpPr>
          <p:cNvPr id="11" name="Text 8"/>
          <p:cNvSpPr/>
          <p:nvPr/>
        </p:nvSpPr>
        <p:spPr>
          <a:xfrm>
            <a:off x="634349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Efectividad prom./contacto</a:t>
            </a:r>
            <a:endParaRPr lang="en-US" sz="864" dirty="0"/>
          </a:p>
        </p:txBody>
      </p:sp>
      <p:sp>
        <p:nvSpPr>
          <p:cNvPr id="12" name="Text 9"/>
          <p:cNvSpPr/>
          <p:nvPr/>
        </p:nvSpPr>
        <p:spPr>
          <a:xfrm>
            <a:off x="9637273" y="209550"/>
            <a:ext cx="1982936"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a:t>
            </a:r>
            <a:endParaRPr lang="en-US" sz="840" dirty="0"/>
          </a:p>
        </p:txBody>
      </p:sp>
      <p:sp>
        <p:nvSpPr>
          <p:cNvPr id="13" name="Text 10"/>
          <p:cNvSpPr/>
          <p:nvPr/>
        </p:nvSpPr>
        <p:spPr>
          <a:xfrm>
            <a:off x="723882" y="2232720"/>
            <a:ext cx="5171946" cy="219075"/>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Contactabilidad por mes</a:t>
            </a:r>
            <a:endParaRPr lang="en-US" sz="1020" dirty="0"/>
          </a:p>
        </p:txBody>
      </p:sp>
      <p:sp>
        <p:nvSpPr>
          <p:cNvPr id="14" name="Text 11"/>
          <p:cNvSpPr/>
          <p:nvPr/>
        </p:nvSpPr>
        <p:spPr>
          <a:xfrm>
            <a:off x="9134247"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Contestador (semestre)</a:t>
            </a:r>
            <a:endParaRPr lang="en-US" sz="864" dirty="0"/>
          </a:p>
        </p:txBody>
      </p:sp>
      <p:sp>
        <p:nvSpPr>
          <p:cNvPr id="15" name="Text 12"/>
          <p:cNvSpPr/>
          <p:nvPr/>
        </p:nvSpPr>
        <p:spPr>
          <a:xfrm>
            <a:off x="1515330" y="1794570"/>
            <a:ext cx="1134340"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Por campaña</a:t>
            </a:r>
            <a:endParaRPr lang="en-US" sz="864" dirty="0"/>
          </a:p>
        </p:txBody>
      </p:sp>
      <p:sp>
        <p:nvSpPr>
          <p:cNvPr id="16" name="Text 13"/>
          <p:cNvSpPr/>
          <p:nvPr/>
        </p:nvSpPr>
        <p:spPr>
          <a:xfrm>
            <a:off x="7166193" y="2508945"/>
            <a:ext cx="1833814"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Contactados</a:t>
            </a:r>
            <a:endParaRPr lang="en-US" sz="888" dirty="0"/>
          </a:p>
        </p:txBody>
      </p:sp>
      <p:sp>
        <p:nvSpPr>
          <p:cNvPr id="17" name="Text 14"/>
          <p:cNvSpPr/>
          <p:nvPr/>
        </p:nvSpPr>
        <p:spPr>
          <a:xfrm>
            <a:off x="3552736"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Pico: mayo</a:t>
            </a:r>
            <a:endParaRPr lang="en-US" sz="864" dirty="0"/>
          </a:p>
        </p:txBody>
      </p:sp>
      <p:sp>
        <p:nvSpPr>
          <p:cNvPr id="18" name="Text 15"/>
          <p:cNvSpPr/>
          <p:nvPr/>
        </p:nvSpPr>
        <p:spPr>
          <a:xfrm>
            <a:off x="571486" y="1794570"/>
            <a:ext cx="867646" cy="266700"/>
          </a:xfrm>
          <a:prstGeom prst="rect">
            <a:avLst/>
          </a:prstGeom>
          <a:noFill/>
          <a:ln/>
        </p:spPr>
        <p:txBody>
          <a:bodyPr wrap="none" lIns="0" tIns="0" rIns="0" bIns="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Por mes</a:t>
            </a:r>
            <a:endParaRPr lang="en-US" sz="864" dirty="0"/>
          </a:p>
        </p:txBody>
      </p:sp>
      <p:sp>
        <p:nvSpPr>
          <p:cNvPr id="19" name="Text 16"/>
          <p:cNvSpPr/>
          <p:nvPr/>
        </p:nvSpPr>
        <p:spPr>
          <a:xfrm>
            <a:off x="761981" y="118110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40,4 %</a:t>
            </a:r>
            <a:endParaRPr lang="en-US" sz="1600" dirty="0"/>
          </a:p>
        </p:txBody>
      </p:sp>
      <p:sp>
        <p:nvSpPr>
          <p:cNvPr id="20" name="Text 17"/>
          <p:cNvSpPr/>
          <p:nvPr/>
        </p:nvSpPr>
        <p:spPr>
          <a:xfrm>
            <a:off x="3552736" y="118110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63,8 %</a:t>
            </a:r>
            <a:endParaRPr lang="en-US" sz="1600" dirty="0"/>
          </a:p>
        </p:txBody>
      </p:sp>
      <p:sp>
        <p:nvSpPr>
          <p:cNvPr id="21" name="Text 18"/>
          <p:cNvSpPr/>
          <p:nvPr/>
        </p:nvSpPr>
        <p:spPr>
          <a:xfrm>
            <a:off x="5438639" y="2527995"/>
            <a:ext cx="457189" cy="114300"/>
          </a:xfrm>
          <a:prstGeom prst="rect">
            <a:avLst/>
          </a:prstGeom>
          <a:noFill/>
          <a:ln/>
        </p:spPr>
        <p:txBody>
          <a:bodyPr wrap="non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20,8 %</a:t>
            </a:r>
            <a:endParaRPr lang="en-US" sz="768" dirty="0"/>
          </a:p>
        </p:txBody>
      </p:sp>
      <p:sp>
        <p:nvSpPr>
          <p:cNvPr id="22" name="Text 19"/>
          <p:cNvSpPr/>
          <p:nvPr/>
        </p:nvSpPr>
        <p:spPr>
          <a:xfrm>
            <a:off x="5438639" y="2708970"/>
            <a:ext cx="457189" cy="114300"/>
          </a:xfrm>
          <a:prstGeom prst="rect">
            <a:avLst/>
          </a:prstGeom>
          <a:noFill/>
          <a:ln/>
        </p:spPr>
        <p:txBody>
          <a:bodyPr wrap="non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42,7 %</a:t>
            </a:r>
            <a:endParaRPr lang="en-US" sz="768" dirty="0"/>
          </a:p>
        </p:txBody>
      </p:sp>
      <p:sp>
        <p:nvSpPr>
          <p:cNvPr id="23" name="Text 20"/>
          <p:cNvSpPr/>
          <p:nvPr/>
        </p:nvSpPr>
        <p:spPr>
          <a:xfrm>
            <a:off x="5438639" y="2889945"/>
            <a:ext cx="457189" cy="114300"/>
          </a:xfrm>
          <a:prstGeom prst="rect">
            <a:avLst/>
          </a:prstGeom>
          <a:noFill/>
          <a:ln/>
        </p:spPr>
        <p:txBody>
          <a:bodyPr wrap="non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44,9 %</a:t>
            </a:r>
            <a:endParaRPr lang="en-US" sz="768" dirty="0"/>
          </a:p>
        </p:txBody>
      </p:sp>
      <p:sp>
        <p:nvSpPr>
          <p:cNvPr id="24" name="Text 21"/>
          <p:cNvSpPr/>
          <p:nvPr/>
        </p:nvSpPr>
        <p:spPr>
          <a:xfrm>
            <a:off x="5438639" y="3070920"/>
            <a:ext cx="457189" cy="114300"/>
          </a:xfrm>
          <a:prstGeom prst="rect">
            <a:avLst/>
          </a:prstGeom>
          <a:noFill/>
          <a:ln/>
        </p:spPr>
        <p:txBody>
          <a:bodyPr wrap="non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52,2 %</a:t>
            </a:r>
            <a:endParaRPr lang="en-US" sz="768" dirty="0"/>
          </a:p>
        </p:txBody>
      </p:sp>
      <p:sp>
        <p:nvSpPr>
          <p:cNvPr id="25" name="Text 22"/>
          <p:cNvSpPr/>
          <p:nvPr/>
        </p:nvSpPr>
        <p:spPr>
          <a:xfrm>
            <a:off x="5438639" y="3251895"/>
            <a:ext cx="457189" cy="114300"/>
          </a:xfrm>
          <a:prstGeom prst="rect">
            <a:avLst/>
          </a:prstGeom>
          <a:noFill/>
          <a:ln/>
        </p:spPr>
        <p:txBody>
          <a:bodyPr wrap="non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63,8 %</a:t>
            </a:r>
            <a:endParaRPr lang="en-US" sz="768" dirty="0"/>
          </a:p>
        </p:txBody>
      </p:sp>
      <p:sp>
        <p:nvSpPr>
          <p:cNvPr id="26" name="Text 23"/>
          <p:cNvSpPr/>
          <p:nvPr/>
        </p:nvSpPr>
        <p:spPr>
          <a:xfrm>
            <a:off x="5438639" y="3432870"/>
            <a:ext cx="457189" cy="114300"/>
          </a:xfrm>
          <a:prstGeom prst="rect">
            <a:avLst/>
          </a:prstGeom>
          <a:noFill/>
          <a:ln/>
        </p:spPr>
        <p:txBody>
          <a:bodyPr wrap="non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49,0 %</a:t>
            </a:r>
            <a:endParaRPr lang="en-US" sz="768" dirty="0"/>
          </a:p>
        </p:txBody>
      </p:sp>
      <p:sp>
        <p:nvSpPr>
          <p:cNvPr id="27" name="Text 24"/>
          <p:cNvSpPr/>
          <p:nvPr/>
        </p:nvSpPr>
        <p:spPr>
          <a:xfrm>
            <a:off x="9000007" y="2508945"/>
            <a:ext cx="1178540"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28" name="Text 25"/>
          <p:cNvSpPr/>
          <p:nvPr/>
        </p:nvSpPr>
        <p:spPr>
          <a:xfrm>
            <a:off x="10178547" y="2508945"/>
            <a:ext cx="1289266"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Efect.</a:t>
            </a:r>
            <a:endParaRPr lang="en-US" sz="888" dirty="0"/>
          </a:p>
        </p:txBody>
      </p:sp>
      <p:sp>
        <p:nvSpPr>
          <p:cNvPr id="29" name="Text 26"/>
          <p:cNvSpPr/>
          <p:nvPr/>
        </p:nvSpPr>
        <p:spPr>
          <a:xfrm>
            <a:off x="7166193" y="2737545"/>
            <a:ext cx="1833814"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21.204</a:t>
            </a:r>
            <a:endParaRPr lang="en-US" sz="888" dirty="0"/>
          </a:p>
        </p:txBody>
      </p:sp>
      <p:sp>
        <p:nvSpPr>
          <p:cNvPr id="30" name="Text 27"/>
          <p:cNvSpPr/>
          <p:nvPr/>
        </p:nvSpPr>
        <p:spPr>
          <a:xfrm>
            <a:off x="10892905" y="2775645"/>
            <a:ext cx="460612"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10,6 %</a:t>
            </a:r>
            <a:endParaRPr lang="en-US" sz="816" dirty="0"/>
          </a:p>
        </p:txBody>
      </p:sp>
      <p:sp>
        <p:nvSpPr>
          <p:cNvPr id="31" name="Text 28"/>
          <p:cNvSpPr/>
          <p:nvPr/>
        </p:nvSpPr>
        <p:spPr>
          <a:xfrm>
            <a:off x="7166193" y="2980432"/>
            <a:ext cx="1833814"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19.832</a:t>
            </a:r>
            <a:endParaRPr lang="en-US" sz="888" dirty="0"/>
          </a:p>
        </p:txBody>
      </p:sp>
      <p:sp>
        <p:nvSpPr>
          <p:cNvPr id="32" name="Text 29"/>
          <p:cNvSpPr/>
          <p:nvPr/>
        </p:nvSpPr>
        <p:spPr>
          <a:xfrm>
            <a:off x="10897369" y="3023295"/>
            <a:ext cx="456147"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12,0 %</a:t>
            </a:r>
            <a:endParaRPr lang="en-US" sz="816" dirty="0"/>
          </a:p>
        </p:txBody>
      </p:sp>
      <p:sp>
        <p:nvSpPr>
          <p:cNvPr id="33" name="Text 30"/>
          <p:cNvSpPr/>
          <p:nvPr/>
        </p:nvSpPr>
        <p:spPr>
          <a:xfrm>
            <a:off x="7166193" y="3228082"/>
            <a:ext cx="1833814"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27.138</a:t>
            </a:r>
            <a:endParaRPr lang="en-US" sz="888" dirty="0"/>
          </a:p>
        </p:txBody>
      </p:sp>
      <p:sp>
        <p:nvSpPr>
          <p:cNvPr id="34" name="Text 31"/>
          <p:cNvSpPr/>
          <p:nvPr/>
        </p:nvSpPr>
        <p:spPr>
          <a:xfrm>
            <a:off x="7166193" y="3475732"/>
            <a:ext cx="1833814"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16.200</a:t>
            </a:r>
            <a:endParaRPr lang="en-US" sz="888" dirty="0"/>
          </a:p>
        </p:txBody>
      </p:sp>
      <p:sp>
        <p:nvSpPr>
          <p:cNvPr id="35" name="Text 32"/>
          <p:cNvSpPr/>
          <p:nvPr/>
        </p:nvSpPr>
        <p:spPr>
          <a:xfrm>
            <a:off x="10897369" y="3518595"/>
            <a:ext cx="456147"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14,6 %</a:t>
            </a:r>
            <a:endParaRPr lang="en-US" sz="816" dirty="0"/>
          </a:p>
        </p:txBody>
      </p:sp>
      <p:sp>
        <p:nvSpPr>
          <p:cNvPr id="36" name="Text 33"/>
          <p:cNvSpPr/>
          <p:nvPr/>
        </p:nvSpPr>
        <p:spPr>
          <a:xfrm>
            <a:off x="7166193" y="3723382"/>
            <a:ext cx="1833814"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24.031</a:t>
            </a:r>
            <a:endParaRPr lang="en-US" sz="888" dirty="0"/>
          </a:p>
        </p:txBody>
      </p:sp>
      <p:sp>
        <p:nvSpPr>
          <p:cNvPr id="37" name="Text 34"/>
          <p:cNvSpPr/>
          <p:nvPr/>
        </p:nvSpPr>
        <p:spPr>
          <a:xfrm>
            <a:off x="7166193" y="3971032"/>
            <a:ext cx="1833814"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21.291</a:t>
            </a:r>
            <a:endParaRPr lang="en-US" sz="888" dirty="0"/>
          </a:p>
        </p:txBody>
      </p:sp>
      <p:sp>
        <p:nvSpPr>
          <p:cNvPr id="38" name="Text 35"/>
          <p:cNvSpPr/>
          <p:nvPr/>
        </p:nvSpPr>
        <p:spPr>
          <a:xfrm>
            <a:off x="10894839" y="4013895"/>
            <a:ext cx="458677"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10,9 %</a:t>
            </a:r>
            <a:endParaRPr lang="en-US" sz="816" dirty="0"/>
          </a:p>
        </p:txBody>
      </p:sp>
      <p:sp>
        <p:nvSpPr>
          <p:cNvPr id="39" name="Text 36"/>
          <p:cNvSpPr/>
          <p:nvPr/>
        </p:nvSpPr>
        <p:spPr>
          <a:xfrm>
            <a:off x="6343491" y="118110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8,6 %</a:t>
            </a:r>
            <a:endParaRPr lang="en-US" sz="1600" dirty="0"/>
          </a:p>
        </p:txBody>
      </p:sp>
      <p:sp>
        <p:nvSpPr>
          <p:cNvPr id="40" name="Text 37"/>
          <p:cNvSpPr/>
          <p:nvPr/>
        </p:nvSpPr>
        <p:spPr>
          <a:xfrm>
            <a:off x="9134247" y="1181100"/>
            <a:ext cx="2333567"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~54 %</a:t>
            </a:r>
            <a:endParaRPr lang="en-US" sz="1600" dirty="0"/>
          </a:p>
        </p:txBody>
      </p:sp>
      <p:sp>
        <p:nvSpPr>
          <p:cNvPr id="41" name="Text 38"/>
          <p:cNvSpPr/>
          <p:nvPr/>
        </p:nvSpPr>
        <p:spPr>
          <a:xfrm>
            <a:off x="9000007" y="2737545"/>
            <a:ext cx="1178540"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2.245</a:t>
            </a:r>
            <a:endParaRPr lang="en-US" sz="888" dirty="0"/>
          </a:p>
        </p:txBody>
      </p:sp>
      <p:sp>
        <p:nvSpPr>
          <p:cNvPr id="42" name="Text 39"/>
          <p:cNvSpPr/>
          <p:nvPr/>
        </p:nvSpPr>
        <p:spPr>
          <a:xfrm>
            <a:off x="9000007" y="2980432"/>
            <a:ext cx="1178540"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2.374</a:t>
            </a:r>
            <a:endParaRPr lang="en-US" sz="888" dirty="0"/>
          </a:p>
        </p:txBody>
      </p:sp>
      <p:sp>
        <p:nvSpPr>
          <p:cNvPr id="43" name="Text 40"/>
          <p:cNvSpPr/>
          <p:nvPr/>
        </p:nvSpPr>
        <p:spPr>
          <a:xfrm>
            <a:off x="9000007" y="3228082"/>
            <a:ext cx="1178540"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2.431</a:t>
            </a:r>
            <a:endParaRPr lang="en-US" sz="888" dirty="0"/>
          </a:p>
        </p:txBody>
      </p:sp>
      <p:sp>
        <p:nvSpPr>
          <p:cNvPr id="44" name="Text 41"/>
          <p:cNvSpPr/>
          <p:nvPr/>
        </p:nvSpPr>
        <p:spPr>
          <a:xfrm>
            <a:off x="10946035" y="3270945"/>
            <a:ext cx="407481"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9,0 %</a:t>
            </a:r>
            <a:endParaRPr lang="en-US" sz="816" dirty="0"/>
          </a:p>
        </p:txBody>
      </p:sp>
      <p:sp>
        <p:nvSpPr>
          <p:cNvPr id="45" name="Text 42"/>
          <p:cNvSpPr/>
          <p:nvPr/>
        </p:nvSpPr>
        <p:spPr>
          <a:xfrm>
            <a:off x="9000007" y="3475732"/>
            <a:ext cx="1178540"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2.367</a:t>
            </a:r>
            <a:endParaRPr lang="en-US" sz="888" dirty="0"/>
          </a:p>
        </p:txBody>
      </p:sp>
      <p:sp>
        <p:nvSpPr>
          <p:cNvPr id="46" name="Text 43"/>
          <p:cNvSpPr/>
          <p:nvPr/>
        </p:nvSpPr>
        <p:spPr>
          <a:xfrm>
            <a:off x="9000007" y="3723382"/>
            <a:ext cx="1178540"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2.186</a:t>
            </a:r>
            <a:endParaRPr lang="en-US" sz="888" dirty="0"/>
          </a:p>
        </p:txBody>
      </p:sp>
      <p:sp>
        <p:nvSpPr>
          <p:cNvPr id="47" name="Text 44"/>
          <p:cNvSpPr/>
          <p:nvPr/>
        </p:nvSpPr>
        <p:spPr>
          <a:xfrm>
            <a:off x="10958387" y="3766245"/>
            <a:ext cx="395129"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9,1 %</a:t>
            </a:r>
            <a:endParaRPr lang="en-US" sz="816" dirty="0"/>
          </a:p>
        </p:txBody>
      </p:sp>
      <p:sp>
        <p:nvSpPr>
          <p:cNvPr id="48" name="Text 45"/>
          <p:cNvSpPr/>
          <p:nvPr/>
        </p:nvSpPr>
        <p:spPr>
          <a:xfrm>
            <a:off x="9000007" y="3971032"/>
            <a:ext cx="1178540"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2.314</a:t>
            </a:r>
            <a:endParaRPr lang="en-US" sz="888" dirty="0"/>
          </a:p>
        </p:txBody>
      </p:sp>
      <p:sp>
        <p:nvSpPr>
          <p:cNvPr id="49" name="Text 46"/>
          <p:cNvSpPr/>
          <p:nvPr/>
        </p:nvSpPr>
        <p:spPr>
          <a:xfrm>
            <a:off x="723882" y="2523232"/>
            <a:ext cx="704832" cy="123825"/>
          </a:xfrm>
          <a:prstGeom prst="rect">
            <a:avLst/>
          </a:prstGeom>
          <a:noFill/>
          <a:ln/>
        </p:spPr>
        <p:txBody>
          <a:bodyPr wrap="non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50" name="Text 47"/>
          <p:cNvSpPr/>
          <p:nvPr/>
        </p:nvSpPr>
        <p:spPr>
          <a:xfrm>
            <a:off x="723882" y="2704207"/>
            <a:ext cx="704832" cy="123825"/>
          </a:xfrm>
          <a:prstGeom prst="rect">
            <a:avLst/>
          </a:prstGeom>
          <a:noFill/>
          <a:ln/>
        </p:spPr>
        <p:txBody>
          <a:bodyPr wrap="non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51" name="Text 48"/>
          <p:cNvSpPr/>
          <p:nvPr/>
        </p:nvSpPr>
        <p:spPr>
          <a:xfrm>
            <a:off x="723882" y="2885182"/>
            <a:ext cx="704832" cy="123825"/>
          </a:xfrm>
          <a:prstGeom prst="rect">
            <a:avLst/>
          </a:prstGeom>
          <a:noFill/>
          <a:ln/>
        </p:spPr>
        <p:txBody>
          <a:bodyPr wrap="non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52" name="Text 49"/>
          <p:cNvSpPr/>
          <p:nvPr/>
        </p:nvSpPr>
        <p:spPr>
          <a:xfrm>
            <a:off x="723882" y="3066157"/>
            <a:ext cx="704832" cy="123825"/>
          </a:xfrm>
          <a:prstGeom prst="rect">
            <a:avLst/>
          </a:prstGeom>
          <a:noFill/>
          <a:ln/>
        </p:spPr>
        <p:txBody>
          <a:bodyPr wrap="non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53" name="Text 50"/>
          <p:cNvSpPr/>
          <p:nvPr/>
        </p:nvSpPr>
        <p:spPr>
          <a:xfrm>
            <a:off x="723882" y="3247132"/>
            <a:ext cx="704832" cy="123825"/>
          </a:xfrm>
          <a:prstGeom prst="rect">
            <a:avLst/>
          </a:prstGeom>
          <a:noFill/>
          <a:ln/>
        </p:spPr>
        <p:txBody>
          <a:bodyPr wrap="non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54" name="Text 51"/>
          <p:cNvSpPr/>
          <p:nvPr/>
        </p:nvSpPr>
        <p:spPr>
          <a:xfrm>
            <a:off x="723882" y="3428107"/>
            <a:ext cx="704832" cy="123825"/>
          </a:xfrm>
          <a:prstGeom prst="rect">
            <a:avLst/>
          </a:prstGeom>
          <a:noFill/>
          <a:ln/>
        </p:spPr>
        <p:txBody>
          <a:bodyPr wrap="non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55" name="Text 52"/>
          <p:cNvSpPr/>
          <p:nvPr/>
        </p:nvSpPr>
        <p:spPr>
          <a:xfrm>
            <a:off x="6295868" y="2508945"/>
            <a:ext cx="870325"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56" name="Text 53"/>
          <p:cNvSpPr/>
          <p:nvPr/>
        </p:nvSpPr>
        <p:spPr>
          <a:xfrm>
            <a:off x="6410165" y="2789932"/>
            <a:ext cx="203145"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57" name="Text 54"/>
          <p:cNvSpPr/>
          <p:nvPr/>
        </p:nvSpPr>
        <p:spPr>
          <a:xfrm>
            <a:off x="6410165" y="3037582"/>
            <a:ext cx="200466"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58" name="Text 55"/>
          <p:cNvSpPr/>
          <p:nvPr/>
        </p:nvSpPr>
        <p:spPr>
          <a:xfrm>
            <a:off x="6410165" y="3285232"/>
            <a:ext cx="205229"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59" name="Text 56"/>
          <p:cNvSpPr/>
          <p:nvPr/>
        </p:nvSpPr>
        <p:spPr>
          <a:xfrm>
            <a:off x="6410165" y="3532882"/>
            <a:ext cx="190942"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60" name="Text 57"/>
          <p:cNvSpPr/>
          <p:nvPr/>
        </p:nvSpPr>
        <p:spPr>
          <a:xfrm>
            <a:off x="6410165" y="3780532"/>
            <a:ext cx="221451"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61" name="Text 58"/>
          <p:cNvSpPr/>
          <p:nvPr/>
        </p:nvSpPr>
        <p:spPr>
          <a:xfrm>
            <a:off x="6410165" y="4028182"/>
            <a:ext cx="192430"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01_Repositorios\13_Presentaciones\dash\televentas\ppt_slides\sk_18_Campan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81070" y="3998187"/>
            <a:ext cx="10115297" cy="548283"/>
          </a:xfrm>
          <a:prstGeom prst="rect">
            <a:avLst/>
          </a:prstGeom>
          <a:noFill/>
          <a:ln/>
        </p:spPr>
        <p:txBody>
          <a:bodyPr wrap="non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Los números en el calendario cambian según qué tipo de cliente estamos llamando. Cuando trabajamos con gente que ya nos conoce (CP y Autogestión) los contactamos 4-5 veces mejor (71-79 %) que números nuevos en Masiva Voluntarios (17 %).  mejorar contactabilidad no es solo cuestión de horarios — es el tipo de base. Mejor calidad de números = mejores resultados.</a:t>
            </a:r>
            <a:endParaRPr lang="en-US" sz="960" dirty="0"/>
          </a:p>
        </p:txBody>
      </p:sp>
      <p:sp>
        <p:nvSpPr>
          <p:cNvPr id="4" name="Text 1"/>
          <p:cNvSpPr/>
          <p:nvPr/>
        </p:nvSpPr>
        <p:spPr>
          <a:xfrm>
            <a:off x="723882" y="2274162"/>
            <a:ext cx="10743931" cy="2286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Cruce con campañas: el mix explica gran parte de la mejora</a:t>
            </a:r>
            <a:endParaRPr lang="en-US" sz="1020" dirty="0"/>
          </a:p>
        </p:txBody>
      </p:sp>
      <p:sp>
        <p:nvSpPr>
          <p:cNvPr id="5" name="Text 2"/>
          <p:cNvSpPr/>
          <p:nvPr/>
        </p:nvSpPr>
        <p:spPr>
          <a:xfrm>
            <a:off x="1213514" y="219075"/>
            <a:ext cx="3191688"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Contactabilidad y Conversión · 1S 2026</a:t>
            </a:r>
            <a:endParaRPr lang="en-US" sz="1260" dirty="0"/>
          </a:p>
        </p:txBody>
      </p:sp>
      <p:sp>
        <p:nvSpPr>
          <p:cNvPr id="6" name="Text 3"/>
          <p:cNvSpPr/>
          <p:nvPr/>
        </p:nvSpPr>
        <p:spPr>
          <a:xfrm>
            <a:off x="76198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129.696 contactos en el semestre</a:t>
            </a:r>
            <a:endParaRPr lang="en-US" sz="864" dirty="0"/>
          </a:p>
        </p:txBody>
      </p:sp>
      <p:sp>
        <p:nvSpPr>
          <p:cNvPr id="7" name="Text 4"/>
          <p:cNvSpPr/>
          <p:nvPr/>
        </p:nvSpPr>
        <p:spPr>
          <a:xfrm>
            <a:off x="9134247"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Principal causa de no contacto</a:t>
            </a:r>
            <a:endParaRPr lang="en-US" sz="864" dirty="0"/>
          </a:p>
        </p:txBody>
      </p:sp>
      <p:sp>
        <p:nvSpPr>
          <p:cNvPr id="8" name="Text 5"/>
          <p:cNvSpPr/>
          <p:nvPr/>
        </p:nvSpPr>
        <p:spPr>
          <a:xfrm>
            <a:off x="76198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promedio (1S)</a:t>
            </a:r>
            <a:endParaRPr lang="en-US" sz="864" dirty="0"/>
          </a:p>
        </p:txBody>
      </p:sp>
      <p:sp>
        <p:nvSpPr>
          <p:cNvPr id="9" name="Text 6"/>
          <p:cNvSpPr/>
          <p:nvPr/>
        </p:nvSpPr>
        <p:spPr>
          <a:xfrm>
            <a:off x="634349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Promedio ene–jun (6,7–10,3 %)</a:t>
            </a:r>
            <a:endParaRPr lang="en-US" sz="864" dirty="0"/>
          </a:p>
        </p:txBody>
      </p:sp>
      <p:sp>
        <p:nvSpPr>
          <p:cNvPr id="10" name="Text 7"/>
          <p:cNvSpPr/>
          <p:nvPr/>
        </p:nvSpPr>
        <p:spPr>
          <a:xfrm>
            <a:off x="3552736"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Jun: 49,1 % (+15 % volumen)</a:t>
            </a:r>
            <a:endParaRPr lang="en-US" sz="864" dirty="0"/>
          </a:p>
        </p:txBody>
      </p:sp>
      <p:sp>
        <p:nvSpPr>
          <p:cNvPr id="11" name="Text 8"/>
          <p:cNvSpPr/>
          <p:nvPr/>
        </p:nvSpPr>
        <p:spPr>
          <a:xfrm>
            <a:off x="838179" y="2859949"/>
            <a:ext cx="1562805"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Bienvenidas Cuota Protegida</a:t>
            </a:r>
            <a:endParaRPr lang="en-US" sz="888" dirty="0"/>
          </a:p>
        </p:txBody>
      </p:sp>
      <p:sp>
        <p:nvSpPr>
          <p:cNvPr id="12" name="Text 9"/>
          <p:cNvSpPr/>
          <p:nvPr/>
        </p:nvSpPr>
        <p:spPr>
          <a:xfrm>
            <a:off x="634349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Efectividad prom./contacto</a:t>
            </a:r>
            <a:endParaRPr lang="en-US" sz="864" dirty="0"/>
          </a:p>
        </p:txBody>
      </p:sp>
      <p:sp>
        <p:nvSpPr>
          <p:cNvPr id="13" name="Text 10"/>
          <p:cNvSpPr/>
          <p:nvPr/>
        </p:nvSpPr>
        <p:spPr>
          <a:xfrm>
            <a:off x="9637273" y="209550"/>
            <a:ext cx="1982936"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a:t>
            </a:r>
            <a:endParaRPr lang="en-US" sz="840" dirty="0"/>
          </a:p>
        </p:txBody>
      </p:sp>
      <p:sp>
        <p:nvSpPr>
          <p:cNvPr id="14" name="Text 11"/>
          <p:cNvSpPr/>
          <p:nvPr/>
        </p:nvSpPr>
        <p:spPr>
          <a:xfrm>
            <a:off x="9134247"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Contestador (semestre)</a:t>
            </a:r>
            <a:endParaRPr lang="en-US" sz="864" dirty="0"/>
          </a:p>
        </p:txBody>
      </p:sp>
      <p:sp>
        <p:nvSpPr>
          <p:cNvPr id="15" name="Text 12"/>
          <p:cNvSpPr/>
          <p:nvPr/>
        </p:nvSpPr>
        <p:spPr>
          <a:xfrm>
            <a:off x="838179" y="3355249"/>
            <a:ext cx="1210389"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Cuota Protegida Stock</a:t>
            </a:r>
            <a:endParaRPr lang="en-US" sz="888" dirty="0"/>
          </a:p>
        </p:txBody>
      </p:sp>
      <p:sp>
        <p:nvSpPr>
          <p:cNvPr id="16" name="Text 13"/>
          <p:cNvSpPr/>
          <p:nvPr/>
        </p:nvSpPr>
        <p:spPr>
          <a:xfrm>
            <a:off x="838179" y="3602899"/>
            <a:ext cx="1009178"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Masiva Voluntarios</a:t>
            </a:r>
            <a:endParaRPr lang="en-US" sz="888" dirty="0"/>
          </a:p>
        </p:txBody>
      </p:sp>
      <p:sp>
        <p:nvSpPr>
          <p:cNvPr id="17" name="Text 14"/>
          <p:cNvSpPr/>
          <p:nvPr/>
        </p:nvSpPr>
        <p:spPr>
          <a:xfrm>
            <a:off x="4559533" y="2578962"/>
            <a:ext cx="2529122"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Contactabilidad</a:t>
            </a:r>
            <a:endParaRPr lang="en-US" sz="888" dirty="0"/>
          </a:p>
        </p:txBody>
      </p:sp>
      <p:sp>
        <p:nvSpPr>
          <p:cNvPr id="18" name="Text 15"/>
          <p:cNvSpPr/>
          <p:nvPr/>
        </p:nvSpPr>
        <p:spPr>
          <a:xfrm>
            <a:off x="7088655" y="2578962"/>
            <a:ext cx="2472420"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Conv./contacto</a:t>
            </a:r>
            <a:endParaRPr lang="en-US" sz="888" dirty="0"/>
          </a:p>
        </p:txBody>
      </p:sp>
      <p:sp>
        <p:nvSpPr>
          <p:cNvPr id="19" name="Text 16"/>
          <p:cNvSpPr/>
          <p:nvPr/>
        </p:nvSpPr>
        <p:spPr>
          <a:xfrm>
            <a:off x="1515330" y="1794570"/>
            <a:ext cx="1134340" cy="266700"/>
          </a:xfrm>
          <a:prstGeom prst="rect">
            <a:avLst/>
          </a:prstGeom>
          <a:noFill/>
          <a:ln/>
        </p:spPr>
        <p:txBody>
          <a:bodyPr wrap="none" lIns="0" tIns="0" rIns="0" bIns="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Por campaña</a:t>
            </a:r>
            <a:endParaRPr lang="en-US" sz="864" dirty="0"/>
          </a:p>
        </p:txBody>
      </p:sp>
      <p:sp>
        <p:nvSpPr>
          <p:cNvPr id="20" name="Text 17"/>
          <p:cNvSpPr/>
          <p:nvPr/>
        </p:nvSpPr>
        <p:spPr>
          <a:xfrm>
            <a:off x="838179" y="3107599"/>
            <a:ext cx="658102"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Autogestión</a:t>
            </a:r>
            <a:endParaRPr lang="en-US" sz="888" dirty="0"/>
          </a:p>
        </p:txBody>
      </p:sp>
      <p:sp>
        <p:nvSpPr>
          <p:cNvPr id="21" name="Text 18"/>
          <p:cNvSpPr/>
          <p:nvPr/>
        </p:nvSpPr>
        <p:spPr>
          <a:xfrm>
            <a:off x="3552736"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Pico: mayo</a:t>
            </a:r>
            <a:endParaRPr lang="en-US" sz="864" dirty="0"/>
          </a:p>
        </p:txBody>
      </p:sp>
      <p:sp>
        <p:nvSpPr>
          <p:cNvPr id="22" name="Text 19"/>
          <p:cNvSpPr/>
          <p:nvPr/>
        </p:nvSpPr>
        <p:spPr>
          <a:xfrm>
            <a:off x="10707767" y="2845662"/>
            <a:ext cx="645749"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Excelente</a:t>
            </a:r>
            <a:endParaRPr lang="en-US" sz="816" dirty="0"/>
          </a:p>
        </p:txBody>
      </p:sp>
      <p:sp>
        <p:nvSpPr>
          <p:cNvPr id="23" name="Text 20"/>
          <p:cNvSpPr/>
          <p:nvPr/>
        </p:nvSpPr>
        <p:spPr>
          <a:xfrm>
            <a:off x="10707767" y="3093312"/>
            <a:ext cx="645749"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Excelente</a:t>
            </a:r>
            <a:endParaRPr lang="en-US" sz="816" dirty="0"/>
          </a:p>
        </p:txBody>
      </p:sp>
      <p:sp>
        <p:nvSpPr>
          <p:cNvPr id="24" name="Text 21"/>
          <p:cNvSpPr/>
          <p:nvPr/>
        </p:nvSpPr>
        <p:spPr>
          <a:xfrm>
            <a:off x="10691694" y="3340962"/>
            <a:ext cx="661822"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Moderado</a:t>
            </a:r>
            <a:endParaRPr lang="en-US" sz="816" dirty="0"/>
          </a:p>
        </p:txBody>
      </p:sp>
      <p:sp>
        <p:nvSpPr>
          <p:cNvPr id="25" name="Text 22"/>
          <p:cNvSpPr/>
          <p:nvPr/>
        </p:nvSpPr>
        <p:spPr>
          <a:xfrm>
            <a:off x="571486" y="1794570"/>
            <a:ext cx="867646"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Por mes</a:t>
            </a:r>
            <a:endParaRPr lang="en-US" sz="864" dirty="0"/>
          </a:p>
        </p:txBody>
      </p:sp>
      <p:sp>
        <p:nvSpPr>
          <p:cNvPr id="26" name="Text 23"/>
          <p:cNvSpPr/>
          <p:nvPr/>
        </p:nvSpPr>
        <p:spPr>
          <a:xfrm>
            <a:off x="723882" y="2578962"/>
            <a:ext cx="3835651"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Campaña</a:t>
            </a:r>
            <a:endParaRPr lang="en-US" sz="888" dirty="0"/>
          </a:p>
        </p:txBody>
      </p:sp>
      <p:sp>
        <p:nvSpPr>
          <p:cNvPr id="27" name="Text 24"/>
          <p:cNvSpPr/>
          <p:nvPr/>
        </p:nvSpPr>
        <p:spPr>
          <a:xfrm>
            <a:off x="761981" y="118110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40,4 %</a:t>
            </a:r>
            <a:endParaRPr lang="en-US" sz="1600" dirty="0"/>
          </a:p>
        </p:txBody>
      </p:sp>
      <p:sp>
        <p:nvSpPr>
          <p:cNvPr id="28" name="Text 25"/>
          <p:cNvSpPr/>
          <p:nvPr/>
        </p:nvSpPr>
        <p:spPr>
          <a:xfrm>
            <a:off x="3552736" y="118110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63,8 %</a:t>
            </a:r>
            <a:endParaRPr lang="en-US" sz="1600" dirty="0"/>
          </a:p>
        </p:txBody>
      </p:sp>
      <p:sp>
        <p:nvSpPr>
          <p:cNvPr id="29" name="Text 26"/>
          <p:cNvSpPr/>
          <p:nvPr/>
        </p:nvSpPr>
        <p:spPr>
          <a:xfrm>
            <a:off x="9561075" y="2578962"/>
            <a:ext cx="1906738"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Perfil</a:t>
            </a:r>
            <a:endParaRPr lang="en-US" sz="888" dirty="0"/>
          </a:p>
        </p:txBody>
      </p:sp>
      <p:sp>
        <p:nvSpPr>
          <p:cNvPr id="30" name="Text 27"/>
          <p:cNvSpPr/>
          <p:nvPr/>
        </p:nvSpPr>
        <p:spPr>
          <a:xfrm>
            <a:off x="7088655" y="2807562"/>
            <a:ext cx="2472420"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19,5 %</a:t>
            </a:r>
            <a:endParaRPr lang="en-US" sz="888" dirty="0"/>
          </a:p>
        </p:txBody>
      </p:sp>
      <p:sp>
        <p:nvSpPr>
          <p:cNvPr id="31" name="Text 28"/>
          <p:cNvSpPr/>
          <p:nvPr/>
        </p:nvSpPr>
        <p:spPr>
          <a:xfrm>
            <a:off x="7088655" y="3050449"/>
            <a:ext cx="2472420"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26,6 %</a:t>
            </a:r>
            <a:endParaRPr lang="en-US" sz="888" dirty="0"/>
          </a:p>
        </p:txBody>
      </p:sp>
      <p:sp>
        <p:nvSpPr>
          <p:cNvPr id="32" name="Text 29"/>
          <p:cNvSpPr/>
          <p:nvPr/>
        </p:nvSpPr>
        <p:spPr>
          <a:xfrm>
            <a:off x="6343491" y="118110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8,6 %</a:t>
            </a:r>
            <a:endParaRPr lang="en-US" sz="1600" dirty="0"/>
          </a:p>
        </p:txBody>
      </p:sp>
      <p:sp>
        <p:nvSpPr>
          <p:cNvPr id="33" name="Text 30"/>
          <p:cNvSpPr/>
          <p:nvPr/>
        </p:nvSpPr>
        <p:spPr>
          <a:xfrm>
            <a:off x="9134247" y="1181100"/>
            <a:ext cx="2333567"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~54 %</a:t>
            </a:r>
            <a:endParaRPr lang="en-US" sz="1600" dirty="0"/>
          </a:p>
        </p:txBody>
      </p:sp>
      <p:sp>
        <p:nvSpPr>
          <p:cNvPr id="34" name="Text 31"/>
          <p:cNvSpPr/>
          <p:nvPr/>
        </p:nvSpPr>
        <p:spPr>
          <a:xfrm>
            <a:off x="7088655" y="3298099"/>
            <a:ext cx="2472420" cy="247650"/>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4,6 %</a:t>
            </a:r>
            <a:endParaRPr lang="en-US" sz="888" dirty="0"/>
          </a:p>
        </p:txBody>
      </p:sp>
      <p:sp>
        <p:nvSpPr>
          <p:cNvPr id="35" name="Text 32"/>
          <p:cNvSpPr/>
          <p:nvPr/>
        </p:nvSpPr>
        <p:spPr>
          <a:xfrm>
            <a:off x="7088655" y="3545749"/>
            <a:ext cx="2472420" cy="242888"/>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1,9 %</a:t>
            </a:r>
            <a:endParaRPr lang="en-US" sz="888" dirty="0"/>
          </a:p>
        </p:txBody>
      </p:sp>
      <p:sp>
        <p:nvSpPr>
          <p:cNvPr id="36" name="Text 33"/>
          <p:cNvSpPr/>
          <p:nvPr/>
        </p:nvSpPr>
        <p:spPr>
          <a:xfrm>
            <a:off x="6596344" y="2845662"/>
            <a:ext cx="378014"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79 %</a:t>
            </a:r>
            <a:endParaRPr lang="en-US" sz="816" dirty="0"/>
          </a:p>
        </p:txBody>
      </p:sp>
      <p:sp>
        <p:nvSpPr>
          <p:cNvPr id="37" name="Text 34"/>
          <p:cNvSpPr/>
          <p:nvPr/>
        </p:nvSpPr>
        <p:spPr>
          <a:xfrm>
            <a:off x="6606166" y="3093312"/>
            <a:ext cx="368192"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71 %</a:t>
            </a:r>
            <a:endParaRPr lang="en-US" sz="816" dirty="0"/>
          </a:p>
        </p:txBody>
      </p:sp>
      <p:sp>
        <p:nvSpPr>
          <p:cNvPr id="38" name="Text 35"/>
          <p:cNvSpPr/>
          <p:nvPr/>
        </p:nvSpPr>
        <p:spPr>
          <a:xfrm>
            <a:off x="6595302" y="3340962"/>
            <a:ext cx="379056" cy="161925"/>
          </a:xfrm>
          <a:prstGeom prst="rect">
            <a:avLst/>
          </a:prstGeom>
          <a:noFill/>
          <a:ln/>
        </p:spPr>
        <p:txBody>
          <a:bodyPr wrap="none" lIns="0" tIns="0" rIns="0" bIns="0" rtlCol="0" anchor="t"/>
          <a:lstStyle/>
          <a:p>
            <a:pPr algn="r" indent="0" marL="0">
              <a:buNone/>
            </a:pPr>
            <a:r>
              <a:rPr lang="en-US" sz="816" b="1" dirty="0">
                <a:solidFill>
                  <a:srgbClr val="8A6200"/>
                </a:solidFill>
                <a:latin typeface="Raleway" pitchFamily="34" charset="0"/>
                <a:ea typeface="Raleway" pitchFamily="34" charset="-122"/>
                <a:cs typeface="Raleway" pitchFamily="34" charset="-120"/>
              </a:rPr>
              <a:t>49 %</a:t>
            </a:r>
            <a:endParaRPr lang="en-US" sz="816" dirty="0"/>
          </a:p>
        </p:txBody>
      </p:sp>
      <p:sp>
        <p:nvSpPr>
          <p:cNvPr id="39" name="Text 36"/>
          <p:cNvSpPr/>
          <p:nvPr/>
        </p:nvSpPr>
        <p:spPr>
          <a:xfrm>
            <a:off x="6606166" y="3588612"/>
            <a:ext cx="368192"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17 %</a:t>
            </a:r>
            <a:endParaRPr lang="en-US" sz="816" dirty="0"/>
          </a:p>
        </p:txBody>
      </p:sp>
      <p:sp>
        <p:nvSpPr>
          <p:cNvPr id="40" name="Text 37"/>
          <p:cNvSpPr/>
          <p:nvPr/>
        </p:nvSpPr>
        <p:spPr>
          <a:xfrm>
            <a:off x="10981306" y="3588612"/>
            <a:ext cx="372210"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Bajo</a:t>
            </a:r>
            <a:endParaRPr lang="en-US" sz="816"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01_Repositorios\13_Presentaciones\dash\televentas\ppt_slides\sk_19_Resume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734007" y="4290120"/>
            <a:ext cx="4600460" cy="493365"/>
          </a:xfrm>
          <a:prstGeom prst="rect">
            <a:avLst/>
          </a:prstGeom>
          <a:noFill/>
          <a:ln/>
        </p:spPr>
        <p:txBody>
          <a:bodyPr wrap="non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Del 59,6 % de "no contacto", al menos  nunca se cursaron por fallas de red.  parte de ese insumo termina descartándose luego como "re-enviado" — cruce pendiente de confirmar registro por registro.</a:t>
            </a:r>
            <a:endParaRPr lang="en-US" sz="864" dirty="0"/>
          </a:p>
        </p:txBody>
      </p:sp>
      <p:sp>
        <p:nvSpPr>
          <p:cNvPr id="4" name="Text 1"/>
          <p:cNvSpPr/>
          <p:nvPr/>
        </p:nvSpPr>
        <p:spPr>
          <a:xfrm>
            <a:off x="1142971" y="5061645"/>
            <a:ext cx="4600460" cy="548283"/>
          </a:xfrm>
          <a:prstGeom prst="rect">
            <a:avLst/>
          </a:prstGeom>
          <a:noFill/>
          <a:ln/>
        </p:spPr>
        <p:txBody>
          <a:bodyPr wrap="none" lIns="0" tIns="0" rIns="0" bIns="0" rtlCol="0" anchor="t"/>
          <a:lstStyle/>
          <a:p>
            <a:pPr algn="l" indent="0" marL="0">
              <a:buNone/>
            </a:pPr>
            <a:r>
              <a:rPr lang="en-US" sz="960" b="1" dirty="0">
                <a:solidFill>
                  <a:srgbClr val="7A3010"/>
                </a:solidFill>
                <a:latin typeface="Raleway" pitchFamily="34" charset="0"/>
                <a:ea typeface="Raleway" pitchFamily="34" charset="-122"/>
                <a:cs typeface="Raleway" pitchFamily="34" charset="-120"/>
              </a:rPr>
              <a:t>El  con la red menos estable de las dos: pierde 17 de cada 100 llamadas por congestión o rechazo de troncal, frente a 0,86 % en Tigo.</a:t>
            </a:r>
            <a:endParaRPr lang="en-US" sz="960" dirty="0"/>
          </a:p>
        </p:txBody>
      </p:sp>
      <p:sp>
        <p:nvSpPr>
          <p:cNvPr id="5" name="Text 2"/>
          <p:cNvSpPr/>
          <p:nvPr/>
        </p:nvSpPr>
        <p:spPr>
          <a:xfrm>
            <a:off x="6314917" y="4013895"/>
            <a:ext cx="5152896" cy="104775"/>
          </a:xfrm>
          <a:prstGeom prst="rect">
            <a:avLst/>
          </a:prstGeom>
          <a:noFill/>
          <a:ln/>
        </p:spPr>
        <p:txBody>
          <a:bodyPr wrap="non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Estimación con la efectividad del semestre; validar con Isaac el período de la muestra.</a:t>
            </a:r>
            <a:endParaRPr lang="en-US" sz="720" dirty="0"/>
          </a:p>
        </p:txBody>
      </p:sp>
      <p:sp>
        <p:nvSpPr>
          <p:cNvPr id="6" name="Text 3"/>
          <p:cNvSpPr/>
          <p:nvPr/>
        </p:nvSpPr>
        <p:spPr>
          <a:xfrm>
            <a:off x="6314917" y="5164485"/>
            <a:ext cx="5152896" cy="158948"/>
          </a:xfrm>
          <a:prstGeom prst="rect">
            <a:avLst/>
          </a:prstGeom>
          <a:noFill/>
          <a:ln/>
        </p:spPr>
        <p:txBody>
          <a:bodyPr wrap="none" lIns="0" tIns="0" rIns="0" bIns="0" rtlCol="0" anchor="t"/>
          <a:lstStyle/>
          <a:p>
            <a:pPr algn="l" indent="0" marL="0">
              <a:buNone/>
            </a:pPr>
            <a:r>
              <a:rPr lang="en-US" sz="864" dirty="0">
                <a:solidFill>
                  <a:srgbClr val="333333"/>
                </a:solidFill>
                <a:latin typeface="Raleway" pitchFamily="34" charset="0"/>
                <a:ea typeface="Raleway" pitchFamily="34" charset="-122"/>
                <a:cs typeface="Raleway" pitchFamily="34" charset="-120"/>
              </a:rPr>
              <a:t>Rebalancear troncales hacia Tigo en zonas periféricas (San Cristóbal, Ciudad Bolívar)</a:t>
            </a:r>
            <a:endParaRPr lang="en-US" sz="864" dirty="0"/>
          </a:p>
        </p:txBody>
      </p:sp>
      <p:sp>
        <p:nvSpPr>
          <p:cNvPr id="7" name="Text 4"/>
          <p:cNvSpPr/>
          <p:nvPr/>
        </p:nvSpPr>
        <p:spPr>
          <a:xfrm>
            <a:off x="6314917" y="5577632"/>
            <a:ext cx="5152896" cy="158948"/>
          </a:xfrm>
          <a:prstGeom prst="rect">
            <a:avLst/>
          </a:prstGeom>
          <a:noFill/>
          <a:ln/>
        </p:spPr>
        <p:txBody>
          <a:bodyPr wrap="none" lIns="0" tIns="0" rIns="0" bIns="0" rtlCol="0" anchor="t"/>
          <a:lstStyle/>
          <a:p>
            <a:pPr algn="l" indent="0" marL="0">
              <a:buNone/>
            </a:pPr>
            <a:r>
              <a:rPr lang="en-US" sz="864" dirty="0">
                <a:solidFill>
                  <a:srgbClr val="333333"/>
                </a:solidFill>
                <a:latin typeface="Raleway" pitchFamily="34" charset="0"/>
                <a:ea typeface="Raleway" pitchFamily="34" charset="-122"/>
                <a:cs typeface="Raleway" pitchFamily="34" charset="-120"/>
              </a:rPr>
              <a:t>Enrutamiento dinámico: salida obligada por Tigo donde Movistar falla &gt;17 %</a:t>
            </a:r>
            <a:endParaRPr lang="en-US" sz="864" dirty="0"/>
          </a:p>
        </p:txBody>
      </p:sp>
      <p:sp>
        <p:nvSpPr>
          <p:cNvPr id="8" name="Text 5"/>
          <p:cNvSpPr/>
          <p:nvPr/>
        </p:nvSpPr>
        <p:spPr>
          <a:xfrm>
            <a:off x="6314917" y="5371058"/>
            <a:ext cx="5152896" cy="158948"/>
          </a:xfrm>
          <a:prstGeom prst="rect">
            <a:avLst/>
          </a:prstGeom>
          <a:noFill/>
          <a:ln/>
        </p:spPr>
        <p:txBody>
          <a:bodyPr wrap="none" lIns="0" tIns="0" rIns="0" bIns="0" rtlCol="0" anchor="t"/>
          <a:lstStyle/>
          <a:p>
            <a:pPr algn="l" indent="0" marL="0">
              <a:buNone/>
            </a:pPr>
            <a:r>
              <a:rPr lang="en-US" sz="864" dirty="0">
                <a:solidFill>
                  <a:srgbClr val="333333"/>
                </a:solidFill>
                <a:latin typeface="Raleway" pitchFamily="34" charset="0"/>
                <a:ea typeface="Raleway" pitchFamily="34" charset="-122"/>
                <a:cs typeface="Raleway" pitchFamily="34" charset="-120"/>
              </a:rPr>
              <a:t>Auditoría formal a Movistar: códigos 34 (congestión) y 21 (rechazo)</a:t>
            </a:r>
            <a:endParaRPr lang="en-US" sz="864" dirty="0"/>
          </a:p>
        </p:txBody>
      </p:sp>
      <p:sp>
        <p:nvSpPr>
          <p:cNvPr id="9" name="Text 6"/>
          <p:cNvSpPr/>
          <p:nvPr/>
        </p:nvSpPr>
        <p:spPr>
          <a:xfrm>
            <a:off x="6314917" y="2823270"/>
            <a:ext cx="5152896" cy="219075"/>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Potencial de recuperación (si las caídas se cursan por Tigo)</a:t>
            </a:r>
            <a:endParaRPr lang="en-US" sz="1020" dirty="0"/>
          </a:p>
        </p:txBody>
      </p:sp>
      <p:sp>
        <p:nvSpPr>
          <p:cNvPr id="10" name="Text 7"/>
          <p:cNvSpPr/>
          <p:nvPr/>
        </p:nvSpPr>
        <p:spPr>
          <a:xfrm>
            <a:off x="6343491" y="1527870"/>
            <a:ext cx="2333567" cy="26670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11,1 % de las llamadas se pierden por infraestructura</a:t>
            </a:r>
            <a:endParaRPr lang="en-US" sz="864" dirty="0"/>
          </a:p>
        </p:txBody>
      </p:sp>
      <p:sp>
        <p:nvSpPr>
          <p:cNvPr id="11" name="Text 8"/>
          <p:cNvSpPr/>
          <p:nvPr/>
        </p:nvSpPr>
        <p:spPr>
          <a:xfrm>
            <a:off x="9134247" y="1527870"/>
            <a:ext cx="2333567" cy="26670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Congestión 9,96 % + rechazo 7,13 % (Tigo: 0,86 %)</a:t>
            </a:r>
            <a:endParaRPr lang="en-US" sz="864" dirty="0"/>
          </a:p>
        </p:txBody>
      </p:sp>
      <p:sp>
        <p:nvSpPr>
          <p:cNvPr id="12" name="Text 9"/>
          <p:cNvSpPr/>
          <p:nvPr/>
        </p:nvSpPr>
        <p:spPr>
          <a:xfrm>
            <a:off x="1213514" y="219075"/>
            <a:ext cx="3654830"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Infraestructura Telefónica · Tigo vs. Movistar</a:t>
            </a:r>
            <a:endParaRPr lang="en-US" sz="1260" dirty="0"/>
          </a:p>
        </p:txBody>
      </p:sp>
      <p:sp>
        <p:nvSpPr>
          <p:cNvPr id="13" name="Text 10"/>
          <p:cNvSpPr/>
          <p:nvPr/>
        </p:nvSpPr>
        <p:spPr>
          <a:xfrm>
            <a:off x="723882" y="2823270"/>
            <a:ext cx="5152896" cy="219075"/>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Tigo vs. Movistar · volumen, contacto y caídas</a:t>
            </a:r>
            <a:endParaRPr lang="en-US" sz="1020" dirty="0"/>
          </a:p>
        </p:txBody>
      </p:sp>
      <p:sp>
        <p:nvSpPr>
          <p:cNvPr id="14" name="Text 11"/>
          <p:cNvSpPr/>
          <p:nvPr/>
        </p:nvSpPr>
        <p:spPr>
          <a:xfrm>
            <a:off x="6314917" y="4973985"/>
            <a:ext cx="5152896" cy="13335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ACCIONES PROPUESTAS (frente tecnológico 2S)</a:t>
            </a:r>
            <a:endParaRPr lang="en-US" sz="816" dirty="0"/>
          </a:p>
        </p:txBody>
      </p:sp>
      <p:sp>
        <p:nvSpPr>
          <p:cNvPr id="15" name="Text 12"/>
          <p:cNvSpPr/>
          <p:nvPr/>
        </p:nvSpPr>
        <p:spPr>
          <a:xfrm>
            <a:off x="3552736" y="152787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Consistente con el 40,4 % operativo del 1S</a:t>
            </a:r>
            <a:endParaRPr lang="en-US" sz="864" dirty="0"/>
          </a:p>
        </p:txBody>
      </p:sp>
      <p:sp>
        <p:nvSpPr>
          <p:cNvPr id="16" name="Text 13"/>
          <p:cNvSpPr/>
          <p:nvPr/>
        </p:nvSpPr>
        <p:spPr>
          <a:xfrm>
            <a:off x="10059488" y="3593455"/>
            <a:ext cx="1322602" cy="246459"/>
          </a:xfrm>
          <a:prstGeom prst="rect">
            <a:avLst/>
          </a:prstGeom>
          <a:noFill/>
          <a:ln/>
        </p:spPr>
        <p:txBody>
          <a:bodyPr wrap="non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ventas, a la efectividad histórica (8,6 %)</a:t>
            </a:r>
            <a:endParaRPr lang="en-US" sz="720" dirty="0"/>
          </a:p>
        </p:txBody>
      </p:sp>
      <p:sp>
        <p:nvSpPr>
          <p:cNvPr id="17" name="Text 14"/>
          <p:cNvSpPr/>
          <p:nvPr/>
        </p:nvSpPr>
        <p:spPr>
          <a:xfrm>
            <a:off x="761981" y="152787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13.516 teléfonos · 972 barrios de Bogotá</a:t>
            </a:r>
            <a:endParaRPr lang="en-US" sz="864" dirty="0"/>
          </a:p>
        </p:txBody>
      </p:sp>
      <p:sp>
        <p:nvSpPr>
          <p:cNvPr id="18" name="Text 15"/>
          <p:cNvSpPr/>
          <p:nvPr/>
        </p:nvSpPr>
        <p:spPr>
          <a:xfrm>
            <a:off x="6400640" y="3593455"/>
            <a:ext cx="1322602" cy="246459"/>
          </a:xfrm>
          <a:prstGeom prst="rect">
            <a:avLst/>
          </a:prstGeom>
          <a:noFill/>
          <a:ln/>
        </p:spPr>
        <p:txBody>
          <a:bodyPr wrap="non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caídas de troncal (backup Movistar)</a:t>
            </a:r>
            <a:endParaRPr lang="en-US" sz="720" dirty="0"/>
          </a:p>
        </p:txBody>
      </p:sp>
      <p:sp>
        <p:nvSpPr>
          <p:cNvPr id="19" name="Text 16"/>
          <p:cNvSpPr/>
          <p:nvPr/>
        </p:nvSpPr>
        <p:spPr>
          <a:xfrm>
            <a:off x="8229990" y="3593455"/>
            <a:ext cx="1322751" cy="246459"/>
          </a:xfrm>
          <a:prstGeom prst="rect">
            <a:avLst/>
          </a:prstGeom>
          <a:noFill/>
          <a:ln/>
        </p:spPr>
        <p:txBody>
          <a:bodyPr wrap="non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contactos, a la tasa de Tigo (71 %)</a:t>
            </a:r>
            <a:endParaRPr lang="en-US" sz="720" dirty="0"/>
          </a:p>
        </p:txBody>
      </p:sp>
      <p:sp>
        <p:nvSpPr>
          <p:cNvPr id="20" name="Text 17"/>
          <p:cNvSpPr/>
          <p:nvPr/>
        </p:nvSpPr>
        <p:spPr>
          <a:xfrm>
            <a:off x="9029177" y="209550"/>
            <a:ext cx="2591033"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 técnica</a:t>
            </a:r>
            <a:endParaRPr lang="en-US" sz="840" dirty="0"/>
          </a:p>
        </p:txBody>
      </p:sp>
      <p:sp>
        <p:nvSpPr>
          <p:cNvPr id="21" name="Text 18"/>
          <p:cNvSpPr/>
          <p:nvPr/>
        </p:nvSpPr>
        <p:spPr>
          <a:xfrm>
            <a:off x="3552736"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telefónica</a:t>
            </a:r>
            <a:endParaRPr lang="en-US" sz="864" dirty="0"/>
          </a:p>
        </p:txBody>
      </p:sp>
      <p:sp>
        <p:nvSpPr>
          <p:cNvPr id="22" name="Text 19"/>
          <p:cNvSpPr/>
          <p:nvPr/>
        </p:nvSpPr>
        <p:spPr>
          <a:xfrm>
            <a:off x="1957785" y="2175570"/>
            <a:ext cx="1711481"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Zonas críticas por barrio</a:t>
            </a:r>
            <a:endParaRPr lang="en-US" sz="864" dirty="0"/>
          </a:p>
        </p:txBody>
      </p:sp>
      <p:sp>
        <p:nvSpPr>
          <p:cNvPr id="23" name="Text 20"/>
          <p:cNvSpPr/>
          <p:nvPr/>
        </p:nvSpPr>
        <p:spPr>
          <a:xfrm>
            <a:off x="9134247"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Fallas de red Movistar</a:t>
            </a:r>
            <a:endParaRPr lang="en-US" sz="864" dirty="0"/>
          </a:p>
        </p:txBody>
      </p:sp>
      <p:sp>
        <p:nvSpPr>
          <p:cNvPr id="24" name="Text 21"/>
          <p:cNvSpPr/>
          <p:nvPr/>
        </p:nvSpPr>
        <p:spPr>
          <a:xfrm>
            <a:off x="761981"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Llamadas analizadas</a:t>
            </a:r>
            <a:endParaRPr lang="en-US" sz="864" dirty="0"/>
          </a:p>
        </p:txBody>
      </p:sp>
      <p:sp>
        <p:nvSpPr>
          <p:cNvPr id="25" name="Text 22"/>
          <p:cNvSpPr/>
          <p:nvPr/>
        </p:nvSpPr>
        <p:spPr>
          <a:xfrm>
            <a:off x="6343491"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Caídas de troncal</a:t>
            </a:r>
            <a:endParaRPr lang="en-US" sz="864" dirty="0"/>
          </a:p>
        </p:txBody>
      </p:sp>
      <p:sp>
        <p:nvSpPr>
          <p:cNvPr id="26" name="Text 23"/>
          <p:cNvSpPr/>
          <p:nvPr/>
        </p:nvSpPr>
        <p:spPr>
          <a:xfrm>
            <a:off x="571486" y="2175570"/>
            <a:ext cx="1310101" cy="266700"/>
          </a:xfrm>
          <a:prstGeom prst="rect">
            <a:avLst/>
          </a:prstGeom>
          <a:noFill/>
          <a:ln/>
        </p:spPr>
        <p:txBody>
          <a:bodyPr wrap="none" lIns="0" tIns="0" rIns="0" bIns="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Tigo vs. Movistar</a:t>
            </a:r>
            <a:endParaRPr lang="en-US" sz="864" dirty="0"/>
          </a:p>
        </p:txBody>
      </p:sp>
      <p:sp>
        <p:nvSpPr>
          <p:cNvPr id="27" name="Text 24"/>
          <p:cNvSpPr/>
          <p:nvPr/>
        </p:nvSpPr>
        <p:spPr>
          <a:xfrm>
            <a:off x="5065983" y="3128070"/>
            <a:ext cx="810795" cy="123825"/>
          </a:xfrm>
          <a:prstGeom prst="rect">
            <a:avLst/>
          </a:prstGeom>
          <a:noFill/>
          <a:ln/>
        </p:spPr>
        <p:txBody>
          <a:bodyPr wrap="non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173.548 llamadas</a:t>
            </a:r>
            <a:endParaRPr lang="en-US" sz="816" dirty="0"/>
          </a:p>
        </p:txBody>
      </p:sp>
      <p:sp>
        <p:nvSpPr>
          <p:cNvPr id="28" name="Text 25"/>
          <p:cNvSpPr/>
          <p:nvPr/>
        </p:nvSpPr>
        <p:spPr>
          <a:xfrm>
            <a:off x="5045445" y="4080570"/>
            <a:ext cx="831333" cy="123825"/>
          </a:xfrm>
          <a:prstGeom prst="rect">
            <a:avLst/>
          </a:prstGeom>
          <a:noFill/>
          <a:ln/>
        </p:spPr>
        <p:txBody>
          <a:bodyPr wrap="non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448.057 llamadas</a:t>
            </a:r>
            <a:endParaRPr lang="en-US" sz="816" dirty="0"/>
          </a:p>
        </p:txBody>
      </p:sp>
      <p:sp>
        <p:nvSpPr>
          <p:cNvPr id="29" name="Text 26"/>
          <p:cNvSpPr/>
          <p:nvPr/>
        </p:nvSpPr>
        <p:spPr>
          <a:xfrm>
            <a:off x="1035074" y="3128070"/>
            <a:ext cx="573718" cy="114300"/>
          </a:xfrm>
          <a:prstGeom prst="rect">
            <a:avLst/>
          </a:prstGeom>
          <a:noFill/>
          <a:ln/>
        </p:spPr>
        <p:txBody>
          <a:bodyPr wrap="none" lIns="0" tIns="0" rIns="0" bIns="0" rtlCol="0" anchor="t"/>
          <a:lstStyle/>
          <a:p>
            <a:pPr algn="l" indent="0" marL="0">
              <a:buNone/>
            </a:pPr>
            <a:r>
              <a:rPr lang="en-US" sz="792" b="1" dirty="0">
                <a:solidFill>
                  <a:srgbClr val="9098B0"/>
                </a:solidFill>
                <a:latin typeface="Raleway" pitchFamily="34" charset="0"/>
                <a:ea typeface="Raleway" pitchFamily="34" charset="-122"/>
                <a:cs typeface="Raleway" pitchFamily="34" charset="-120"/>
              </a:rPr>
              <a:t>(principal)</a:t>
            </a:r>
            <a:endParaRPr lang="en-US" sz="792" dirty="0"/>
          </a:p>
        </p:txBody>
      </p:sp>
      <p:sp>
        <p:nvSpPr>
          <p:cNvPr id="30" name="Text 27"/>
          <p:cNvSpPr/>
          <p:nvPr/>
        </p:nvSpPr>
        <p:spPr>
          <a:xfrm>
            <a:off x="8229990" y="3254425"/>
            <a:ext cx="1322751" cy="104775"/>
          </a:xfrm>
          <a:prstGeom prst="rect">
            <a:avLst/>
          </a:prstGeom>
          <a:noFill/>
          <a:ln/>
        </p:spPr>
        <p:txBody>
          <a:bodyPr wrap="non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Recuperable</a:t>
            </a:r>
            <a:endParaRPr lang="en-US" sz="720" dirty="0"/>
          </a:p>
        </p:txBody>
      </p:sp>
      <p:sp>
        <p:nvSpPr>
          <p:cNvPr id="31" name="Text 28"/>
          <p:cNvSpPr/>
          <p:nvPr/>
        </p:nvSpPr>
        <p:spPr>
          <a:xfrm>
            <a:off x="723882" y="3680520"/>
            <a:ext cx="742931" cy="133350"/>
          </a:xfrm>
          <a:prstGeom prst="rect">
            <a:avLst/>
          </a:prstGeom>
          <a:noFill/>
          <a:ln/>
        </p:spPr>
        <p:txBody>
          <a:bodyPr wrap="non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32" name="Text 29"/>
          <p:cNvSpPr/>
          <p:nvPr/>
        </p:nvSpPr>
        <p:spPr>
          <a:xfrm>
            <a:off x="723882" y="4633020"/>
            <a:ext cx="742931" cy="133350"/>
          </a:xfrm>
          <a:prstGeom prst="rect">
            <a:avLst/>
          </a:prstGeom>
          <a:noFill/>
          <a:ln/>
        </p:spPr>
        <p:txBody>
          <a:bodyPr wrap="non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33" name="Text 30"/>
          <p:cNvSpPr/>
          <p:nvPr/>
        </p:nvSpPr>
        <p:spPr>
          <a:xfrm>
            <a:off x="10059488" y="3254425"/>
            <a:ext cx="1322602" cy="104775"/>
          </a:xfrm>
          <a:prstGeom prst="rect">
            <a:avLst/>
          </a:prstGeom>
          <a:noFill/>
          <a:ln/>
        </p:spPr>
        <p:txBody>
          <a:bodyPr wrap="non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Potencial</a:t>
            </a:r>
            <a:endParaRPr lang="en-US" sz="720" dirty="0"/>
          </a:p>
        </p:txBody>
      </p:sp>
      <p:sp>
        <p:nvSpPr>
          <p:cNvPr id="34" name="Text 31"/>
          <p:cNvSpPr/>
          <p:nvPr/>
        </p:nvSpPr>
        <p:spPr>
          <a:xfrm>
            <a:off x="723882" y="3366195"/>
            <a:ext cx="742931" cy="133350"/>
          </a:xfrm>
          <a:prstGeom prst="rect">
            <a:avLst/>
          </a:prstGeom>
          <a:noFill/>
          <a:ln/>
        </p:spPr>
        <p:txBody>
          <a:bodyPr wrap="non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35" name="Text 32"/>
          <p:cNvSpPr/>
          <p:nvPr/>
        </p:nvSpPr>
        <p:spPr>
          <a:xfrm>
            <a:off x="723882" y="4051995"/>
            <a:ext cx="1036116" cy="152400"/>
          </a:xfrm>
          <a:prstGeom prst="rect">
            <a:avLst/>
          </a:prstGeom>
          <a:noFill/>
          <a:ln/>
        </p:spPr>
        <p:txBody>
          <a:bodyPr wrap="non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Movistar</a:t>
            </a:r>
            <a:endParaRPr lang="en-US" sz="1032" dirty="0"/>
          </a:p>
        </p:txBody>
      </p:sp>
      <p:sp>
        <p:nvSpPr>
          <p:cNvPr id="36" name="Text 33"/>
          <p:cNvSpPr/>
          <p:nvPr/>
        </p:nvSpPr>
        <p:spPr>
          <a:xfrm>
            <a:off x="723882" y="4318695"/>
            <a:ext cx="742931" cy="133350"/>
          </a:xfrm>
          <a:prstGeom prst="rect">
            <a:avLst/>
          </a:prstGeom>
          <a:noFill/>
          <a:ln/>
        </p:spPr>
        <p:txBody>
          <a:bodyPr wrap="non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37" name="Text 34"/>
          <p:cNvSpPr/>
          <p:nvPr/>
        </p:nvSpPr>
        <p:spPr>
          <a:xfrm>
            <a:off x="8229990" y="3387775"/>
            <a:ext cx="1322751" cy="167580"/>
          </a:xfrm>
          <a:prstGeom prst="rect">
            <a:avLst/>
          </a:prstGeom>
          <a:noFill/>
          <a:ln/>
        </p:spPr>
        <p:txBody>
          <a:bodyPr wrap="non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49.500</a:t>
            </a:r>
            <a:endParaRPr lang="en-US" sz="1320" dirty="0"/>
          </a:p>
        </p:txBody>
      </p:sp>
      <p:sp>
        <p:nvSpPr>
          <p:cNvPr id="38" name="Text 35"/>
          <p:cNvSpPr/>
          <p:nvPr/>
        </p:nvSpPr>
        <p:spPr>
          <a:xfrm>
            <a:off x="761981" y="120015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628.406</a:t>
            </a:r>
            <a:endParaRPr lang="en-US" sz="1600" dirty="0"/>
          </a:p>
        </p:txBody>
      </p:sp>
      <p:sp>
        <p:nvSpPr>
          <p:cNvPr id="39" name="Text 36"/>
          <p:cNvSpPr/>
          <p:nvPr/>
        </p:nvSpPr>
        <p:spPr>
          <a:xfrm>
            <a:off x="10059488" y="3387775"/>
            <a:ext cx="1322602" cy="167580"/>
          </a:xfrm>
          <a:prstGeom prst="rect">
            <a:avLst/>
          </a:prstGeom>
          <a:noFill/>
          <a:ln/>
        </p:spPr>
        <p:txBody>
          <a:bodyPr wrap="non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4.200</a:t>
            </a:r>
            <a:endParaRPr lang="en-US" sz="1320" dirty="0"/>
          </a:p>
        </p:txBody>
      </p:sp>
      <p:sp>
        <p:nvSpPr>
          <p:cNvPr id="40" name="Text 37"/>
          <p:cNvSpPr/>
          <p:nvPr/>
        </p:nvSpPr>
        <p:spPr>
          <a:xfrm>
            <a:off x="3552736" y="120015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38,9 %</a:t>
            </a:r>
            <a:endParaRPr lang="en-US" sz="1600" dirty="0"/>
          </a:p>
        </p:txBody>
      </p:sp>
      <p:sp>
        <p:nvSpPr>
          <p:cNvPr id="41" name="Text 38"/>
          <p:cNvSpPr/>
          <p:nvPr/>
        </p:nvSpPr>
        <p:spPr>
          <a:xfrm>
            <a:off x="6343491" y="1200150"/>
            <a:ext cx="2333567"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69.740</a:t>
            </a:r>
            <a:endParaRPr lang="en-US" sz="1600" dirty="0"/>
          </a:p>
        </p:txBody>
      </p:sp>
      <p:sp>
        <p:nvSpPr>
          <p:cNvPr id="42" name="Text 39"/>
          <p:cNvSpPr/>
          <p:nvPr/>
        </p:nvSpPr>
        <p:spPr>
          <a:xfrm>
            <a:off x="9134247" y="1200150"/>
            <a:ext cx="2333567"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17,1 %</a:t>
            </a:r>
            <a:endParaRPr lang="en-US" sz="1600" dirty="0"/>
          </a:p>
        </p:txBody>
      </p:sp>
      <p:sp>
        <p:nvSpPr>
          <p:cNvPr id="43" name="Text 40"/>
          <p:cNvSpPr/>
          <p:nvPr/>
        </p:nvSpPr>
        <p:spPr>
          <a:xfrm>
            <a:off x="5419590" y="3366195"/>
            <a:ext cx="457189" cy="133350"/>
          </a:xfrm>
          <a:prstGeom prst="rect">
            <a:avLst/>
          </a:prstGeom>
          <a:noFill/>
          <a:ln/>
        </p:spPr>
        <p:txBody>
          <a:bodyPr wrap="non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71,0 %</a:t>
            </a:r>
            <a:endParaRPr lang="en-US" sz="864" dirty="0"/>
          </a:p>
        </p:txBody>
      </p:sp>
      <p:sp>
        <p:nvSpPr>
          <p:cNvPr id="44" name="Text 41"/>
          <p:cNvSpPr/>
          <p:nvPr/>
        </p:nvSpPr>
        <p:spPr>
          <a:xfrm>
            <a:off x="5419590" y="4318695"/>
            <a:ext cx="457189" cy="133350"/>
          </a:xfrm>
          <a:prstGeom prst="rect">
            <a:avLst/>
          </a:prstGeom>
          <a:noFill/>
          <a:ln/>
        </p:spPr>
        <p:txBody>
          <a:bodyPr wrap="non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25,6 %</a:t>
            </a:r>
            <a:endParaRPr lang="en-US" sz="864" dirty="0"/>
          </a:p>
        </p:txBody>
      </p:sp>
      <p:sp>
        <p:nvSpPr>
          <p:cNvPr id="45" name="Text 42"/>
          <p:cNvSpPr/>
          <p:nvPr/>
        </p:nvSpPr>
        <p:spPr>
          <a:xfrm>
            <a:off x="5419590" y="4633020"/>
            <a:ext cx="457189" cy="133350"/>
          </a:xfrm>
          <a:prstGeom prst="rect">
            <a:avLst/>
          </a:prstGeom>
          <a:noFill/>
          <a:ln/>
        </p:spPr>
        <p:txBody>
          <a:bodyPr wrap="non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15,1 %</a:t>
            </a:r>
            <a:endParaRPr lang="en-US" sz="864" dirty="0"/>
          </a:p>
        </p:txBody>
      </p:sp>
      <p:sp>
        <p:nvSpPr>
          <p:cNvPr id="46" name="Text 43"/>
          <p:cNvSpPr/>
          <p:nvPr/>
        </p:nvSpPr>
        <p:spPr>
          <a:xfrm>
            <a:off x="6400640" y="3387775"/>
            <a:ext cx="1322602" cy="167580"/>
          </a:xfrm>
          <a:prstGeom prst="rect">
            <a:avLst/>
          </a:prstGeom>
          <a:noFill/>
          <a:ln/>
        </p:spPr>
        <p:txBody>
          <a:bodyPr wrap="non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69.740</a:t>
            </a:r>
            <a:endParaRPr lang="en-US" sz="1320" dirty="0"/>
          </a:p>
        </p:txBody>
      </p:sp>
      <p:sp>
        <p:nvSpPr>
          <p:cNvPr id="47" name="Text 44"/>
          <p:cNvSpPr/>
          <p:nvPr/>
        </p:nvSpPr>
        <p:spPr>
          <a:xfrm>
            <a:off x="5419590" y="3680520"/>
            <a:ext cx="457189" cy="133350"/>
          </a:xfrm>
          <a:prstGeom prst="rect">
            <a:avLst/>
          </a:prstGeom>
          <a:noFill/>
          <a:ln/>
        </p:spPr>
        <p:txBody>
          <a:bodyPr wrap="non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1,3 %</a:t>
            </a:r>
            <a:endParaRPr lang="en-US" sz="864" dirty="0"/>
          </a:p>
        </p:txBody>
      </p:sp>
      <p:sp>
        <p:nvSpPr>
          <p:cNvPr id="48" name="Text 45"/>
          <p:cNvSpPr/>
          <p:nvPr/>
        </p:nvSpPr>
        <p:spPr>
          <a:xfrm>
            <a:off x="723882" y="3099495"/>
            <a:ext cx="884910" cy="152400"/>
          </a:xfrm>
          <a:prstGeom prst="rect">
            <a:avLst/>
          </a:prstGeom>
          <a:noFill/>
          <a:ln/>
        </p:spPr>
        <p:txBody>
          <a:bodyPr wrap="non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Tigo</a:t>
            </a:r>
            <a:endParaRPr lang="en-US" sz="1032" dirty="0"/>
          </a:p>
        </p:txBody>
      </p:sp>
      <p:sp>
        <p:nvSpPr>
          <p:cNvPr id="49" name="Text 46"/>
          <p:cNvSpPr/>
          <p:nvPr/>
        </p:nvSpPr>
        <p:spPr>
          <a:xfrm>
            <a:off x="6400640" y="3254425"/>
            <a:ext cx="1322602" cy="104775"/>
          </a:xfrm>
          <a:prstGeom prst="rect">
            <a:avLst/>
          </a:prstGeom>
          <a:noFill/>
          <a:ln/>
        </p:spPr>
        <p:txBody>
          <a:bodyPr wrap="non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Hoy</a:t>
            </a:r>
            <a:endParaRPr lang="en-US" sz="720" dirty="0"/>
          </a:p>
        </p:txBody>
      </p:sp>
      <p:sp>
        <p:nvSpPr>
          <p:cNvPr id="50" name="Text 47"/>
          <p:cNvSpPr/>
          <p:nvPr/>
        </p:nvSpPr>
        <p:spPr>
          <a:xfrm>
            <a:off x="7885163" y="3418582"/>
            <a:ext cx="182905" cy="257175"/>
          </a:xfrm>
          <a:prstGeom prst="rect">
            <a:avLst/>
          </a:prstGeom>
          <a:noFill/>
          <a:ln/>
        </p:spPr>
        <p:txBody>
          <a:bodyPr wrap="none" lIns="0" tIns="0" rIns="0" bIns="0" rtlCol="0" anchor="t"/>
          <a:lstStyle/>
          <a:p>
            <a:pPr algn="l" indent="0" marL="0">
              <a:buNone/>
            </a:pPr>
            <a:r>
              <a:rPr lang="en-US" sz="1440" b="1" dirty="0">
                <a:solidFill>
                  <a:srgbClr val="00CD93"/>
                </a:solidFill>
                <a:latin typeface="Raleway" pitchFamily="34" charset="0"/>
                <a:ea typeface="Raleway" pitchFamily="34" charset="-122"/>
                <a:cs typeface="Raleway" pitchFamily="34" charset="-120"/>
              </a:rPr>
              <a:t>→</a:t>
            </a:r>
            <a:endParaRPr lang="en-US" sz="1440" dirty="0"/>
          </a:p>
        </p:txBody>
      </p:sp>
      <p:sp>
        <p:nvSpPr>
          <p:cNvPr id="51" name="Text 48"/>
          <p:cNvSpPr/>
          <p:nvPr/>
        </p:nvSpPr>
        <p:spPr>
          <a:xfrm>
            <a:off x="9714662" y="3418582"/>
            <a:ext cx="182905" cy="257175"/>
          </a:xfrm>
          <a:prstGeom prst="rect">
            <a:avLst/>
          </a:prstGeom>
          <a:noFill/>
          <a:ln/>
        </p:spPr>
        <p:txBody>
          <a:bodyPr wrap="none" lIns="0" tIns="0" rIns="0" bIns="0" rtlCol="0" anchor="t"/>
          <a:lstStyle/>
          <a:p>
            <a:pPr algn="l" indent="0" marL="0">
              <a:buNone/>
            </a:pPr>
            <a:r>
              <a:rPr lang="en-US" sz="1440" b="1" dirty="0">
                <a:solidFill>
                  <a:srgbClr val="00CD93"/>
                </a:solidFill>
                <a:latin typeface="Raleway" pitchFamily="34" charset="0"/>
                <a:ea typeface="Raleway" pitchFamily="34" charset="-122"/>
                <a:cs typeface="Raleway" pitchFamily="34" charset="-120"/>
              </a:rPr>
              <a:t>→</a:t>
            </a:r>
            <a:endParaRPr lang="en-US" sz="14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01_Repositorios\13_Presentaciones\dash\televentas\ppt_slides\sk_19_Zon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343491" y="1527870"/>
            <a:ext cx="2333567" cy="26670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11,1 % de las llamadas se pierden por infraestructura</a:t>
            </a:r>
            <a:endParaRPr lang="en-US" sz="864" dirty="0"/>
          </a:p>
        </p:txBody>
      </p:sp>
      <p:sp>
        <p:nvSpPr>
          <p:cNvPr id="4" name="Text 1"/>
          <p:cNvSpPr/>
          <p:nvPr/>
        </p:nvSpPr>
        <p:spPr>
          <a:xfrm>
            <a:off x="781030" y="2901295"/>
            <a:ext cx="10629634" cy="24765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Zonas críticas de Bogotá · fallas de red por barrio</a:t>
            </a:r>
            <a:endParaRPr lang="en-US" sz="1020" dirty="0"/>
          </a:p>
        </p:txBody>
      </p:sp>
      <p:sp>
        <p:nvSpPr>
          <p:cNvPr id="5" name="Text 2"/>
          <p:cNvSpPr/>
          <p:nvPr/>
        </p:nvSpPr>
        <p:spPr>
          <a:xfrm>
            <a:off x="9134247" y="1527870"/>
            <a:ext cx="2333567" cy="26670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Congestión 9,96 % + rechazo 7,13 % (Tigo: 0,86 %)</a:t>
            </a:r>
            <a:endParaRPr lang="en-US" sz="864" dirty="0"/>
          </a:p>
        </p:txBody>
      </p:sp>
      <p:sp>
        <p:nvSpPr>
          <p:cNvPr id="6" name="Text 3"/>
          <p:cNvSpPr/>
          <p:nvPr/>
        </p:nvSpPr>
        <p:spPr>
          <a:xfrm>
            <a:off x="2528080" y="3282295"/>
            <a:ext cx="2458728" cy="133350"/>
          </a:xfrm>
          <a:prstGeom prst="rect">
            <a:avLst/>
          </a:prstGeom>
          <a:noFill/>
          <a:ln/>
        </p:spPr>
        <p:txBody>
          <a:bodyPr wrap="none" lIns="0" tIns="0" rIns="0" bIns="0" rtlCol="0" anchor="t"/>
          <a:lstStyle/>
          <a:p>
            <a:pPr algn="l" indent="0" marL="0">
              <a:buNone/>
            </a:pPr>
            <a:r>
              <a:rPr lang="en-US" sz="864" b="1" dirty="0">
                <a:solidFill>
                  <a:srgbClr val="333333"/>
                </a:solidFill>
                <a:latin typeface="Raleway" pitchFamily="34" charset="0"/>
                <a:ea typeface="Raleway" pitchFamily="34" charset="-122"/>
                <a:cs typeface="Raleway" pitchFamily="34" charset="-120"/>
              </a:rPr>
              <a:t>(Tigo 71,9 % contacto · Movistar 24,1 % contacto)</a:t>
            </a:r>
            <a:endParaRPr lang="en-US" sz="864" dirty="0"/>
          </a:p>
        </p:txBody>
      </p:sp>
      <p:sp>
        <p:nvSpPr>
          <p:cNvPr id="7" name="Text 4"/>
          <p:cNvSpPr/>
          <p:nvPr/>
        </p:nvSpPr>
        <p:spPr>
          <a:xfrm>
            <a:off x="7997972" y="3282295"/>
            <a:ext cx="2469146" cy="133350"/>
          </a:xfrm>
          <a:prstGeom prst="rect">
            <a:avLst/>
          </a:prstGeom>
          <a:noFill/>
          <a:ln/>
        </p:spPr>
        <p:txBody>
          <a:bodyPr wrap="none" lIns="0" tIns="0" rIns="0" bIns="0" rtlCol="0" anchor="t"/>
          <a:lstStyle/>
          <a:p>
            <a:pPr algn="l" indent="0" marL="0">
              <a:buNone/>
            </a:pPr>
            <a:r>
              <a:rPr lang="en-US" sz="864" b="1" dirty="0">
                <a:solidFill>
                  <a:srgbClr val="333333"/>
                </a:solidFill>
                <a:latin typeface="Raleway" pitchFamily="34" charset="0"/>
                <a:ea typeface="Raleway" pitchFamily="34" charset="-122"/>
                <a:cs typeface="Raleway" pitchFamily="34" charset="-120"/>
              </a:rPr>
              <a:t>(Tigo 72,4 % contacto · Movistar 25,7 % contacto)</a:t>
            </a:r>
            <a:endParaRPr lang="en-US" sz="864" dirty="0"/>
          </a:p>
        </p:txBody>
      </p:sp>
      <p:sp>
        <p:nvSpPr>
          <p:cNvPr id="8" name="Text 5"/>
          <p:cNvSpPr/>
          <p:nvPr/>
        </p:nvSpPr>
        <p:spPr>
          <a:xfrm>
            <a:off x="1213514" y="219075"/>
            <a:ext cx="3654830"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Infraestructura Telefónica · Tigo vs. Movistar</a:t>
            </a:r>
            <a:endParaRPr lang="en-US" sz="1260" dirty="0"/>
          </a:p>
        </p:txBody>
      </p:sp>
      <p:sp>
        <p:nvSpPr>
          <p:cNvPr id="9" name="Text 6"/>
          <p:cNvSpPr/>
          <p:nvPr/>
        </p:nvSpPr>
        <p:spPr>
          <a:xfrm>
            <a:off x="3552736" y="152787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Consistente con el 40,4 % operativo del 1S</a:t>
            </a:r>
            <a:endParaRPr lang="en-US" sz="864" dirty="0"/>
          </a:p>
        </p:txBody>
      </p:sp>
      <p:sp>
        <p:nvSpPr>
          <p:cNvPr id="10" name="Text 7"/>
          <p:cNvSpPr/>
          <p:nvPr/>
        </p:nvSpPr>
        <p:spPr>
          <a:xfrm>
            <a:off x="761981" y="152787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13.516 teléfonos · 972 barrios de Bogotá</a:t>
            </a:r>
            <a:endParaRPr lang="en-US" sz="864" dirty="0"/>
          </a:p>
        </p:txBody>
      </p:sp>
      <p:sp>
        <p:nvSpPr>
          <p:cNvPr id="11" name="Text 8"/>
          <p:cNvSpPr/>
          <p:nvPr/>
        </p:nvSpPr>
        <p:spPr>
          <a:xfrm>
            <a:off x="9029177" y="209550"/>
            <a:ext cx="2591033"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 técnica</a:t>
            </a:r>
            <a:endParaRPr lang="en-US" sz="840" dirty="0"/>
          </a:p>
        </p:txBody>
      </p:sp>
      <p:sp>
        <p:nvSpPr>
          <p:cNvPr id="12" name="Text 9"/>
          <p:cNvSpPr/>
          <p:nvPr/>
        </p:nvSpPr>
        <p:spPr>
          <a:xfrm>
            <a:off x="6172046" y="3282295"/>
            <a:ext cx="5238619" cy="133350"/>
          </a:xfrm>
          <a:prstGeom prst="rect">
            <a:avLst/>
          </a:prstGeom>
          <a:noFill/>
          <a:ln/>
        </p:spPr>
        <p:txBody>
          <a:bodyPr wrap="none" lIns="0" tIns="0" rIns="0" bIns="0" rtlCol="0" anchor="t"/>
          <a:lstStyle/>
          <a:p>
            <a:pPr algn="l" indent="0" marL="0">
              <a:buNone/>
            </a:pPr>
            <a:r>
              <a:rPr lang="en-US" sz="864" b="1" dirty="0">
                <a:solidFill>
                  <a:srgbClr val="333333"/>
                </a:solidFill>
                <a:latin typeface="Raleway" pitchFamily="34" charset="0"/>
                <a:ea typeface="Raleway" pitchFamily="34" charset="-122"/>
                <a:cs typeface="Raleway" pitchFamily="34" charset="-120"/>
              </a:rPr>
              <a:t>Ciudad Bolívar — 28.819 llamadas</a:t>
            </a:r>
            <a:endParaRPr lang="en-US" sz="864" dirty="0"/>
          </a:p>
        </p:txBody>
      </p:sp>
      <p:sp>
        <p:nvSpPr>
          <p:cNvPr id="13" name="Text 10"/>
          <p:cNvSpPr/>
          <p:nvPr/>
        </p:nvSpPr>
        <p:spPr>
          <a:xfrm>
            <a:off x="781030" y="3282295"/>
            <a:ext cx="5238619" cy="133350"/>
          </a:xfrm>
          <a:prstGeom prst="rect">
            <a:avLst/>
          </a:prstGeom>
          <a:noFill/>
          <a:ln/>
        </p:spPr>
        <p:txBody>
          <a:bodyPr wrap="none" lIns="0" tIns="0" rIns="0" bIns="0" rtlCol="0" anchor="t"/>
          <a:lstStyle/>
          <a:p>
            <a:pPr algn="l" indent="0" marL="0">
              <a:buNone/>
            </a:pPr>
            <a:r>
              <a:rPr lang="en-US" sz="864" b="1" dirty="0">
                <a:solidFill>
                  <a:srgbClr val="333333"/>
                </a:solidFill>
                <a:latin typeface="Raleway" pitchFamily="34" charset="0"/>
                <a:ea typeface="Raleway" pitchFamily="34" charset="-122"/>
                <a:cs typeface="Raleway" pitchFamily="34" charset="-120"/>
              </a:rPr>
              <a:t>San Cristóbal — 32.619 llamadas</a:t>
            </a:r>
            <a:endParaRPr lang="en-US" sz="864" dirty="0"/>
          </a:p>
        </p:txBody>
      </p:sp>
      <p:sp>
        <p:nvSpPr>
          <p:cNvPr id="14" name="Text 11"/>
          <p:cNvSpPr/>
          <p:nvPr/>
        </p:nvSpPr>
        <p:spPr>
          <a:xfrm>
            <a:off x="3552736"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telefónica</a:t>
            </a:r>
            <a:endParaRPr lang="en-US" sz="864" dirty="0"/>
          </a:p>
        </p:txBody>
      </p:sp>
      <p:sp>
        <p:nvSpPr>
          <p:cNvPr id="15" name="Text 12"/>
          <p:cNvSpPr/>
          <p:nvPr/>
        </p:nvSpPr>
        <p:spPr>
          <a:xfrm>
            <a:off x="1957785" y="2175570"/>
            <a:ext cx="1711481" cy="266700"/>
          </a:xfrm>
          <a:prstGeom prst="rect">
            <a:avLst/>
          </a:prstGeom>
          <a:noFill/>
          <a:ln/>
        </p:spPr>
        <p:txBody>
          <a:bodyPr wrap="none" lIns="0" tIns="0" rIns="0" bIns="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Zonas críticas por barrio</a:t>
            </a:r>
            <a:endParaRPr lang="en-US" sz="864" dirty="0"/>
          </a:p>
        </p:txBody>
      </p:sp>
      <p:sp>
        <p:nvSpPr>
          <p:cNvPr id="16" name="Text 13"/>
          <p:cNvSpPr/>
          <p:nvPr/>
        </p:nvSpPr>
        <p:spPr>
          <a:xfrm>
            <a:off x="9134247"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Fallas de red Movistar</a:t>
            </a:r>
            <a:endParaRPr lang="en-US" sz="864" dirty="0"/>
          </a:p>
        </p:txBody>
      </p:sp>
      <p:sp>
        <p:nvSpPr>
          <p:cNvPr id="17" name="Text 14"/>
          <p:cNvSpPr/>
          <p:nvPr/>
        </p:nvSpPr>
        <p:spPr>
          <a:xfrm>
            <a:off x="781030" y="3796645"/>
            <a:ext cx="1725024" cy="338137"/>
          </a:xfrm>
          <a:prstGeom prst="rect">
            <a:avLst/>
          </a:prstGeom>
          <a:noFill/>
          <a:ln/>
        </p:spPr>
        <p:txBody>
          <a:bodyPr wrap="none" lIns="0" tIns="0" rIns="0" bIns="0" rtlCol="0" anchor="t"/>
          <a:lstStyle/>
          <a:p>
            <a:pPr algn="l" indent="0" marL="0">
              <a:buNone/>
            </a:pPr>
            <a:r>
              <a:rPr lang="en-US" sz="840" dirty="0">
                <a:solidFill>
                  <a:srgbClr val="333333"/>
                </a:solidFill>
                <a:latin typeface="Raleway" pitchFamily="34" charset="0"/>
                <a:ea typeface="Raleway" pitchFamily="34" charset="-122"/>
                <a:cs typeface="Raleway" pitchFamily="34" charset="-120"/>
              </a:rPr>
              <a:t>La Gloria Occidental</a:t>
            </a:r>
            <a:endParaRPr lang="en-US" sz="840" dirty="0"/>
          </a:p>
        </p:txBody>
      </p:sp>
      <p:sp>
        <p:nvSpPr>
          <p:cNvPr id="18" name="Text 15"/>
          <p:cNvSpPr/>
          <p:nvPr/>
        </p:nvSpPr>
        <p:spPr>
          <a:xfrm>
            <a:off x="761981"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Llamadas analizadas</a:t>
            </a:r>
            <a:endParaRPr lang="en-US" sz="864" dirty="0"/>
          </a:p>
        </p:txBody>
      </p:sp>
      <p:sp>
        <p:nvSpPr>
          <p:cNvPr id="19" name="Text 16"/>
          <p:cNvSpPr/>
          <p:nvPr/>
        </p:nvSpPr>
        <p:spPr>
          <a:xfrm>
            <a:off x="6343491" y="102870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Caídas de troncal</a:t>
            </a:r>
            <a:endParaRPr lang="en-US" sz="864" dirty="0"/>
          </a:p>
        </p:txBody>
      </p:sp>
      <p:sp>
        <p:nvSpPr>
          <p:cNvPr id="20" name="Text 17"/>
          <p:cNvSpPr/>
          <p:nvPr/>
        </p:nvSpPr>
        <p:spPr>
          <a:xfrm>
            <a:off x="571486" y="2175570"/>
            <a:ext cx="1310101"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Tigo vs. Movistar</a:t>
            </a:r>
            <a:endParaRPr lang="en-US" sz="864" dirty="0"/>
          </a:p>
        </p:txBody>
      </p:sp>
      <p:sp>
        <p:nvSpPr>
          <p:cNvPr id="21" name="Text 18"/>
          <p:cNvSpPr/>
          <p:nvPr/>
        </p:nvSpPr>
        <p:spPr>
          <a:xfrm>
            <a:off x="6172046" y="3796645"/>
            <a:ext cx="1591677" cy="338137"/>
          </a:xfrm>
          <a:prstGeom prst="rect">
            <a:avLst/>
          </a:prstGeom>
          <a:noFill/>
          <a:ln/>
        </p:spPr>
        <p:txBody>
          <a:bodyPr wrap="none" lIns="0" tIns="0" rIns="0" bIns="0" rtlCol="0" anchor="t"/>
          <a:lstStyle/>
          <a:p>
            <a:pPr algn="l" indent="0" marL="0">
              <a:buNone/>
            </a:pPr>
            <a:r>
              <a:rPr lang="en-US" sz="840" dirty="0">
                <a:solidFill>
                  <a:srgbClr val="333333"/>
                </a:solidFill>
                <a:latin typeface="Raleway" pitchFamily="34" charset="0"/>
                <a:ea typeface="Raleway" pitchFamily="34" charset="-122"/>
                <a:cs typeface="Raleway" pitchFamily="34" charset="-120"/>
              </a:rPr>
              <a:t>Arborizadora Alta</a:t>
            </a:r>
            <a:endParaRPr lang="en-US" sz="840" dirty="0"/>
          </a:p>
        </p:txBody>
      </p:sp>
      <p:sp>
        <p:nvSpPr>
          <p:cNvPr id="22" name="Text 19"/>
          <p:cNvSpPr/>
          <p:nvPr/>
        </p:nvSpPr>
        <p:spPr>
          <a:xfrm>
            <a:off x="781030" y="4134783"/>
            <a:ext cx="1725024" cy="342900"/>
          </a:xfrm>
          <a:prstGeom prst="rect">
            <a:avLst/>
          </a:prstGeom>
          <a:noFill/>
          <a:ln/>
        </p:spPr>
        <p:txBody>
          <a:bodyPr wrap="none" lIns="0" tIns="0" rIns="0" bIns="0" rtlCol="0" anchor="t"/>
          <a:lstStyle/>
          <a:p>
            <a:pPr algn="l" indent="0" marL="0">
              <a:buNone/>
            </a:pPr>
            <a:r>
              <a:rPr lang="en-US" sz="840" dirty="0">
                <a:solidFill>
                  <a:srgbClr val="333333"/>
                </a:solidFill>
                <a:latin typeface="Raleway" pitchFamily="34" charset="0"/>
                <a:ea typeface="Raleway" pitchFamily="34" charset="-122"/>
                <a:cs typeface="Raleway" pitchFamily="34" charset="-120"/>
              </a:rPr>
              <a:t>Bello Horizonte</a:t>
            </a:r>
            <a:endParaRPr lang="en-US" sz="840" dirty="0"/>
          </a:p>
        </p:txBody>
      </p:sp>
      <p:sp>
        <p:nvSpPr>
          <p:cNvPr id="23" name="Text 20"/>
          <p:cNvSpPr/>
          <p:nvPr/>
        </p:nvSpPr>
        <p:spPr>
          <a:xfrm>
            <a:off x="4498664" y="3472795"/>
            <a:ext cx="1520985"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Movistar caída</a:t>
            </a:r>
            <a:endParaRPr lang="en-US" sz="888" dirty="0"/>
          </a:p>
        </p:txBody>
      </p:sp>
      <p:sp>
        <p:nvSpPr>
          <p:cNvPr id="24" name="Text 21"/>
          <p:cNvSpPr/>
          <p:nvPr/>
        </p:nvSpPr>
        <p:spPr>
          <a:xfrm>
            <a:off x="9832084" y="3472795"/>
            <a:ext cx="1578580"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Movistar caída</a:t>
            </a:r>
            <a:endParaRPr lang="en-US" sz="888" dirty="0"/>
          </a:p>
        </p:txBody>
      </p:sp>
      <p:sp>
        <p:nvSpPr>
          <p:cNvPr id="25" name="Text 22"/>
          <p:cNvSpPr/>
          <p:nvPr/>
        </p:nvSpPr>
        <p:spPr>
          <a:xfrm>
            <a:off x="6172046" y="4134783"/>
            <a:ext cx="1591677" cy="342900"/>
          </a:xfrm>
          <a:prstGeom prst="rect">
            <a:avLst/>
          </a:prstGeom>
          <a:noFill/>
          <a:ln/>
        </p:spPr>
        <p:txBody>
          <a:bodyPr wrap="none" lIns="0" tIns="0" rIns="0" bIns="0" rtlCol="0" anchor="t"/>
          <a:lstStyle/>
          <a:p>
            <a:pPr algn="l" indent="0" marL="0">
              <a:buNone/>
            </a:pPr>
            <a:r>
              <a:rPr lang="en-US" sz="840" dirty="0">
                <a:solidFill>
                  <a:srgbClr val="333333"/>
                </a:solidFill>
                <a:latin typeface="Raleway" pitchFamily="34" charset="0"/>
                <a:ea typeface="Raleway" pitchFamily="34" charset="-122"/>
                <a:cs typeface="Raleway" pitchFamily="34" charset="-120"/>
              </a:rPr>
              <a:t>El Mochuelo</a:t>
            </a:r>
            <a:endParaRPr lang="en-US" sz="840" dirty="0"/>
          </a:p>
        </p:txBody>
      </p:sp>
      <p:sp>
        <p:nvSpPr>
          <p:cNvPr id="26" name="Text 23"/>
          <p:cNvSpPr/>
          <p:nvPr/>
        </p:nvSpPr>
        <p:spPr>
          <a:xfrm>
            <a:off x="3305539" y="3472795"/>
            <a:ext cx="1193125"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Tigo caída</a:t>
            </a:r>
            <a:endParaRPr lang="en-US" sz="888" dirty="0"/>
          </a:p>
        </p:txBody>
      </p:sp>
      <p:sp>
        <p:nvSpPr>
          <p:cNvPr id="27" name="Text 24"/>
          <p:cNvSpPr/>
          <p:nvPr/>
        </p:nvSpPr>
        <p:spPr>
          <a:xfrm>
            <a:off x="8593568" y="3472795"/>
            <a:ext cx="1238517"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Tigo caída</a:t>
            </a:r>
            <a:endParaRPr lang="en-US" sz="888" dirty="0"/>
          </a:p>
        </p:txBody>
      </p:sp>
      <p:sp>
        <p:nvSpPr>
          <p:cNvPr id="28" name="Text 25"/>
          <p:cNvSpPr/>
          <p:nvPr/>
        </p:nvSpPr>
        <p:spPr>
          <a:xfrm>
            <a:off x="781030" y="4477683"/>
            <a:ext cx="1725024" cy="338137"/>
          </a:xfrm>
          <a:prstGeom prst="rect">
            <a:avLst/>
          </a:prstGeom>
          <a:noFill/>
          <a:ln/>
        </p:spPr>
        <p:txBody>
          <a:bodyPr wrap="none" lIns="0" tIns="0" rIns="0" bIns="0" rtlCol="0" anchor="t"/>
          <a:lstStyle/>
          <a:p>
            <a:pPr algn="l" indent="0" marL="0">
              <a:buNone/>
            </a:pPr>
            <a:r>
              <a:rPr lang="en-US" sz="840" dirty="0">
                <a:solidFill>
                  <a:srgbClr val="333333"/>
                </a:solidFill>
                <a:latin typeface="Raleway" pitchFamily="34" charset="0"/>
                <a:ea typeface="Raleway" pitchFamily="34" charset="-122"/>
                <a:cs typeface="Raleway" pitchFamily="34" charset="-120"/>
              </a:rPr>
              <a:t>Calvo Sur</a:t>
            </a:r>
            <a:endParaRPr lang="en-US" sz="840" dirty="0"/>
          </a:p>
        </p:txBody>
      </p:sp>
      <p:sp>
        <p:nvSpPr>
          <p:cNvPr id="29" name="Text 26"/>
          <p:cNvSpPr/>
          <p:nvPr/>
        </p:nvSpPr>
        <p:spPr>
          <a:xfrm>
            <a:off x="6172046" y="4477683"/>
            <a:ext cx="1591677" cy="338137"/>
          </a:xfrm>
          <a:prstGeom prst="rect">
            <a:avLst/>
          </a:prstGeom>
          <a:noFill/>
          <a:ln/>
        </p:spPr>
        <p:txBody>
          <a:bodyPr wrap="none" lIns="0" tIns="0" rIns="0" bIns="0" rtlCol="0" anchor="t"/>
          <a:lstStyle/>
          <a:p>
            <a:pPr algn="l" indent="0" marL="0">
              <a:buNone/>
            </a:pPr>
            <a:r>
              <a:rPr lang="en-US" sz="840" dirty="0">
                <a:solidFill>
                  <a:srgbClr val="333333"/>
                </a:solidFill>
                <a:latin typeface="Raleway" pitchFamily="34" charset="0"/>
                <a:ea typeface="Raleway" pitchFamily="34" charset="-122"/>
                <a:cs typeface="Raleway" pitchFamily="34" charset="-120"/>
              </a:rPr>
              <a:t>El Tesoro</a:t>
            </a:r>
            <a:endParaRPr lang="en-US" sz="840" dirty="0"/>
          </a:p>
        </p:txBody>
      </p:sp>
      <p:sp>
        <p:nvSpPr>
          <p:cNvPr id="30" name="Text 27"/>
          <p:cNvSpPr/>
          <p:nvPr/>
        </p:nvSpPr>
        <p:spPr>
          <a:xfrm>
            <a:off x="761981" y="120015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628.406</a:t>
            </a:r>
            <a:endParaRPr lang="en-US" sz="1600" dirty="0"/>
          </a:p>
        </p:txBody>
      </p:sp>
      <p:sp>
        <p:nvSpPr>
          <p:cNvPr id="31" name="Text 28"/>
          <p:cNvSpPr/>
          <p:nvPr/>
        </p:nvSpPr>
        <p:spPr>
          <a:xfrm>
            <a:off x="3552736" y="120015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38,9 %</a:t>
            </a:r>
            <a:endParaRPr lang="en-US" sz="1600" dirty="0"/>
          </a:p>
        </p:txBody>
      </p:sp>
      <p:sp>
        <p:nvSpPr>
          <p:cNvPr id="32" name="Text 29"/>
          <p:cNvSpPr/>
          <p:nvPr/>
        </p:nvSpPr>
        <p:spPr>
          <a:xfrm>
            <a:off x="6343491" y="1200150"/>
            <a:ext cx="2333567"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69.740</a:t>
            </a:r>
            <a:endParaRPr lang="en-US" sz="1600" dirty="0"/>
          </a:p>
        </p:txBody>
      </p:sp>
      <p:sp>
        <p:nvSpPr>
          <p:cNvPr id="33" name="Text 30"/>
          <p:cNvSpPr/>
          <p:nvPr/>
        </p:nvSpPr>
        <p:spPr>
          <a:xfrm>
            <a:off x="9134247" y="1200150"/>
            <a:ext cx="2333567"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17,1 %</a:t>
            </a:r>
            <a:endParaRPr lang="en-US" sz="1600" dirty="0"/>
          </a:p>
        </p:txBody>
      </p:sp>
      <p:sp>
        <p:nvSpPr>
          <p:cNvPr id="34" name="Text 31"/>
          <p:cNvSpPr/>
          <p:nvPr/>
        </p:nvSpPr>
        <p:spPr>
          <a:xfrm>
            <a:off x="781030" y="3472795"/>
            <a:ext cx="1725024" cy="3238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Barrio</a:t>
            </a:r>
            <a:endParaRPr lang="en-US" sz="888" dirty="0"/>
          </a:p>
        </p:txBody>
      </p:sp>
      <p:sp>
        <p:nvSpPr>
          <p:cNvPr id="35" name="Text 32"/>
          <p:cNvSpPr/>
          <p:nvPr/>
        </p:nvSpPr>
        <p:spPr>
          <a:xfrm>
            <a:off x="5431942" y="3882370"/>
            <a:ext cx="454361"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15,6 %</a:t>
            </a:r>
            <a:endParaRPr lang="en-US" sz="816" dirty="0"/>
          </a:p>
        </p:txBody>
      </p:sp>
      <p:sp>
        <p:nvSpPr>
          <p:cNvPr id="36" name="Text 33"/>
          <p:cNvSpPr/>
          <p:nvPr/>
        </p:nvSpPr>
        <p:spPr>
          <a:xfrm>
            <a:off x="5437002" y="4225270"/>
            <a:ext cx="449301"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17,6 %</a:t>
            </a:r>
            <a:endParaRPr lang="en-US" sz="816" dirty="0"/>
          </a:p>
        </p:txBody>
      </p:sp>
      <p:sp>
        <p:nvSpPr>
          <p:cNvPr id="37" name="Text 34"/>
          <p:cNvSpPr/>
          <p:nvPr/>
        </p:nvSpPr>
        <p:spPr>
          <a:xfrm>
            <a:off x="5427626" y="4568170"/>
            <a:ext cx="458677"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19,0 %</a:t>
            </a:r>
            <a:endParaRPr lang="en-US" sz="816" dirty="0"/>
          </a:p>
        </p:txBody>
      </p:sp>
      <p:sp>
        <p:nvSpPr>
          <p:cNvPr id="38" name="Text 35"/>
          <p:cNvSpPr/>
          <p:nvPr/>
        </p:nvSpPr>
        <p:spPr>
          <a:xfrm>
            <a:off x="6172046" y="3472795"/>
            <a:ext cx="1591677" cy="3238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Barrio</a:t>
            </a:r>
            <a:endParaRPr lang="en-US" sz="888" dirty="0"/>
          </a:p>
        </p:txBody>
      </p:sp>
      <p:sp>
        <p:nvSpPr>
          <p:cNvPr id="39" name="Text 36"/>
          <p:cNvSpPr/>
          <p:nvPr/>
        </p:nvSpPr>
        <p:spPr>
          <a:xfrm>
            <a:off x="10822213" y="3882370"/>
            <a:ext cx="455105"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15,0 %</a:t>
            </a:r>
            <a:endParaRPr lang="en-US" sz="816" dirty="0"/>
          </a:p>
        </p:txBody>
      </p:sp>
      <p:sp>
        <p:nvSpPr>
          <p:cNvPr id="40" name="Text 37"/>
          <p:cNvSpPr/>
          <p:nvPr/>
        </p:nvSpPr>
        <p:spPr>
          <a:xfrm>
            <a:off x="10811349" y="4225270"/>
            <a:ext cx="465969"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20,9 %</a:t>
            </a:r>
            <a:endParaRPr lang="en-US" sz="816" dirty="0"/>
          </a:p>
        </p:txBody>
      </p:sp>
      <p:sp>
        <p:nvSpPr>
          <p:cNvPr id="41" name="Text 38"/>
          <p:cNvSpPr/>
          <p:nvPr/>
        </p:nvSpPr>
        <p:spPr>
          <a:xfrm>
            <a:off x="10823106" y="4568170"/>
            <a:ext cx="454212" cy="161925"/>
          </a:xfrm>
          <a:prstGeom prst="rect">
            <a:avLst/>
          </a:prstGeom>
          <a:noFill/>
          <a:ln/>
        </p:spPr>
        <p:txBody>
          <a:bodyPr wrap="none" lIns="0" tIns="0" rIns="0" bIns="0" rtlCol="0" anchor="t"/>
          <a:lstStyle/>
          <a:p>
            <a:pPr algn="r" indent="0" marL="0">
              <a:buNone/>
            </a:pPr>
            <a:r>
              <a:rPr lang="en-US" sz="816" b="1" dirty="0">
                <a:solidFill>
                  <a:srgbClr val="C44A1A"/>
                </a:solidFill>
                <a:latin typeface="Raleway" pitchFamily="34" charset="0"/>
                <a:ea typeface="Raleway" pitchFamily="34" charset="-122"/>
                <a:cs typeface="Raleway" pitchFamily="34" charset="-120"/>
              </a:rPr>
              <a:t>19,4 %</a:t>
            </a:r>
            <a:endParaRPr lang="en-US" sz="816" dirty="0"/>
          </a:p>
        </p:txBody>
      </p:sp>
      <p:sp>
        <p:nvSpPr>
          <p:cNvPr id="42" name="Text 39"/>
          <p:cNvSpPr/>
          <p:nvPr/>
        </p:nvSpPr>
        <p:spPr>
          <a:xfrm>
            <a:off x="2506054" y="3472795"/>
            <a:ext cx="799485"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Llam.</a:t>
            </a:r>
            <a:endParaRPr lang="en-US" sz="888" dirty="0"/>
          </a:p>
        </p:txBody>
      </p:sp>
      <p:sp>
        <p:nvSpPr>
          <p:cNvPr id="43" name="Text 40"/>
          <p:cNvSpPr/>
          <p:nvPr/>
        </p:nvSpPr>
        <p:spPr>
          <a:xfrm>
            <a:off x="2506054" y="3796645"/>
            <a:ext cx="799485" cy="338137"/>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3.346</a:t>
            </a:r>
            <a:endParaRPr lang="en-US" sz="840" dirty="0"/>
          </a:p>
        </p:txBody>
      </p:sp>
      <p:sp>
        <p:nvSpPr>
          <p:cNvPr id="44" name="Text 41"/>
          <p:cNvSpPr/>
          <p:nvPr/>
        </p:nvSpPr>
        <p:spPr>
          <a:xfrm>
            <a:off x="3305539" y="3796645"/>
            <a:ext cx="1193125" cy="338137"/>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4,1 %</a:t>
            </a:r>
            <a:endParaRPr lang="en-US" sz="840" dirty="0"/>
          </a:p>
        </p:txBody>
      </p:sp>
      <p:sp>
        <p:nvSpPr>
          <p:cNvPr id="45" name="Text 42"/>
          <p:cNvSpPr/>
          <p:nvPr/>
        </p:nvSpPr>
        <p:spPr>
          <a:xfrm>
            <a:off x="2506054" y="4134783"/>
            <a:ext cx="799485" cy="34290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2.384</a:t>
            </a:r>
            <a:endParaRPr lang="en-US" sz="840" dirty="0"/>
          </a:p>
        </p:txBody>
      </p:sp>
      <p:sp>
        <p:nvSpPr>
          <p:cNvPr id="46" name="Text 43"/>
          <p:cNvSpPr/>
          <p:nvPr/>
        </p:nvSpPr>
        <p:spPr>
          <a:xfrm>
            <a:off x="3305539" y="4134783"/>
            <a:ext cx="1193125" cy="34290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0,3 %</a:t>
            </a:r>
            <a:endParaRPr lang="en-US" sz="840" dirty="0"/>
          </a:p>
        </p:txBody>
      </p:sp>
      <p:sp>
        <p:nvSpPr>
          <p:cNvPr id="47" name="Text 44"/>
          <p:cNvSpPr/>
          <p:nvPr/>
        </p:nvSpPr>
        <p:spPr>
          <a:xfrm>
            <a:off x="2506054" y="4477683"/>
            <a:ext cx="799485" cy="338137"/>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1.021</a:t>
            </a:r>
            <a:endParaRPr lang="en-US" sz="840" dirty="0"/>
          </a:p>
        </p:txBody>
      </p:sp>
      <p:sp>
        <p:nvSpPr>
          <p:cNvPr id="48" name="Text 45"/>
          <p:cNvSpPr/>
          <p:nvPr/>
        </p:nvSpPr>
        <p:spPr>
          <a:xfrm>
            <a:off x="3305539" y="4477683"/>
            <a:ext cx="1193125" cy="338137"/>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1,3 %</a:t>
            </a:r>
            <a:endParaRPr lang="en-US" sz="840" dirty="0"/>
          </a:p>
        </p:txBody>
      </p:sp>
      <p:sp>
        <p:nvSpPr>
          <p:cNvPr id="49" name="Text 46"/>
          <p:cNvSpPr/>
          <p:nvPr/>
        </p:nvSpPr>
        <p:spPr>
          <a:xfrm>
            <a:off x="7763723" y="3472795"/>
            <a:ext cx="829845"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Llam.</a:t>
            </a:r>
            <a:endParaRPr lang="en-US" sz="888" dirty="0"/>
          </a:p>
        </p:txBody>
      </p:sp>
      <p:sp>
        <p:nvSpPr>
          <p:cNvPr id="50" name="Text 47"/>
          <p:cNvSpPr/>
          <p:nvPr/>
        </p:nvSpPr>
        <p:spPr>
          <a:xfrm>
            <a:off x="7763723" y="3796645"/>
            <a:ext cx="829845" cy="338137"/>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4.546</a:t>
            </a:r>
            <a:endParaRPr lang="en-US" sz="840" dirty="0"/>
          </a:p>
        </p:txBody>
      </p:sp>
      <p:sp>
        <p:nvSpPr>
          <p:cNvPr id="51" name="Text 48"/>
          <p:cNvSpPr/>
          <p:nvPr/>
        </p:nvSpPr>
        <p:spPr>
          <a:xfrm>
            <a:off x="8593568" y="3796645"/>
            <a:ext cx="1238517" cy="338137"/>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1,4 %</a:t>
            </a:r>
            <a:endParaRPr lang="en-US" sz="840" dirty="0"/>
          </a:p>
        </p:txBody>
      </p:sp>
      <p:sp>
        <p:nvSpPr>
          <p:cNvPr id="52" name="Text 49"/>
          <p:cNvSpPr/>
          <p:nvPr/>
        </p:nvSpPr>
        <p:spPr>
          <a:xfrm>
            <a:off x="8593568" y="4134783"/>
            <a:ext cx="1238517" cy="34290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1,4 %</a:t>
            </a:r>
            <a:endParaRPr lang="en-US" sz="840" dirty="0"/>
          </a:p>
        </p:txBody>
      </p:sp>
      <p:sp>
        <p:nvSpPr>
          <p:cNvPr id="53" name="Text 50"/>
          <p:cNvSpPr/>
          <p:nvPr/>
        </p:nvSpPr>
        <p:spPr>
          <a:xfrm>
            <a:off x="8593568" y="4477683"/>
            <a:ext cx="1238517" cy="338137"/>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0,0 %</a:t>
            </a:r>
            <a:endParaRPr lang="en-US" sz="840" dirty="0"/>
          </a:p>
        </p:txBody>
      </p:sp>
      <p:sp>
        <p:nvSpPr>
          <p:cNvPr id="54" name="Text 51"/>
          <p:cNvSpPr/>
          <p:nvPr/>
        </p:nvSpPr>
        <p:spPr>
          <a:xfrm>
            <a:off x="7763723" y="4134783"/>
            <a:ext cx="829845" cy="342900"/>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531</a:t>
            </a:r>
            <a:endParaRPr lang="en-US" sz="840" dirty="0"/>
          </a:p>
        </p:txBody>
      </p:sp>
      <p:sp>
        <p:nvSpPr>
          <p:cNvPr id="55" name="Text 52"/>
          <p:cNvSpPr/>
          <p:nvPr/>
        </p:nvSpPr>
        <p:spPr>
          <a:xfrm>
            <a:off x="7763723" y="4477683"/>
            <a:ext cx="829845" cy="338137"/>
          </a:xfrm>
          <a:prstGeom prst="rect">
            <a:avLst/>
          </a:prstGeom>
          <a:noFill/>
          <a:ln/>
        </p:spPr>
        <p:txBody>
          <a:bodyPr wrap="none" lIns="0" tIns="0" rIns="0" bIns="0" rtlCol="0" anchor="t"/>
          <a:lstStyle/>
          <a:p>
            <a:pPr algn="r" indent="0" marL="0">
              <a:buNone/>
            </a:pPr>
            <a:r>
              <a:rPr lang="en-US" sz="840" dirty="0">
                <a:solidFill>
                  <a:srgbClr val="333333"/>
                </a:solidFill>
                <a:latin typeface="Raleway" pitchFamily="34" charset="0"/>
                <a:ea typeface="Raleway" pitchFamily="34" charset="-122"/>
                <a:cs typeface="Raleway" pitchFamily="34" charset="-120"/>
              </a:rPr>
              <a:t>566</a:t>
            </a:r>
            <a:endParaRPr lang="en-US" sz="8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01_Repositorios\13_Presentaciones\dash\televentas\ppt_slides\sk_20_Calcul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2931" y="2632770"/>
            <a:ext cx="10705832" cy="2286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Cálculo con indicadores históricos (semestre ene–jun)</a:t>
            </a:r>
            <a:endParaRPr lang="en-US" sz="1020" dirty="0"/>
          </a:p>
        </p:txBody>
      </p:sp>
      <p:sp>
        <p:nvSpPr>
          <p:cNvPr id="4" name="Text 1"/>
          <p:cNvSpPr/>
          <p:nvPr/>
        </p:nvSpPr>
        <p:spPr>
          <a:xfrm>
            <a:off x="1213514" y="219075"/>
            <a:ext cx="4480805"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Proyección · ¿Qué se necesita para 3.000 ventas/mes?</a:t>
            </a:r>
            <a:endParaRPr lang="en-US" sz="1260" dirty="0"/>
          </a:p>
        </p:txBody>
      </p:sp>
      <p:sp>
        <p:nvSpPr>
          <p:cNvPr id="5" name="Text 2"/>
          <p:cNvSpPr/>
          <p:nvPr/>
        </p:nvSpPr>
        <p:spPr>
          <a:xfrm>
            <a:off x="2791946" y="5690295"/>
            <a:ext cx="2344728" cy="114300"/>
          </a:xfrm>
          <a:prstGeom prst="rect">
            <a:avLst/>
          </a:prstGeom>
          <a:noFill/>
          <a:ln/>
        </p:spPr>
        <p:txBody>
          <a:bodyPr wrap="non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Metas diferenciadas: top performers a 150 pólizas</a:t>
            </a:r>
            <a:endParaRPr lang="en-US" sz="768" dirty="0"/>
          </a:p>
        </p:txBody>
      </p:sp>
      <p:sp>
        <p:nvSpPr>
          <p:cNvPr id="6" name="Text 3"/>
          <p:cNvSpPr/>
          <p:nvPr/>
        </p:nvSpPr>
        <p:spPr>
          <a:xfrm>
            <a:off x="2791946" y="5328345"/>
            <a:ext cx="2179385" cy="114300"/>
          </a:xfrm>
          <a:prstGeom prst="rect">
            <a:avLst/>
          </a:prstGeom>
          <a:noFill/>
          <a:ln/>
        </p:spPr>
        <p:txBody>
          <a:bodyPr wrap="non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 sube 3,7 % — equipo llega a 20 asesores</a:t>
            </a:r>
            <a:endParaRPr lang="en-US" sz="768" dirty="0"/>
          </a:p>
        </p:txBody>
      </p:sp>
      <p:sp>
        <p:nvSpPr>
          <p:cNvPr id="7" name="Text 4"/>
          <p:cNvSpPr/>
          <p:nvPr/>
        </p:nvSpPr>
        <p:spPr>
          <a:xfrm>
            <a:off x="3671200" y="5509320"/>
            <a:ext cx="1976388" cy="114300"/>
          </a:xfrm>
          <a:prstGeom prst="rect">
            <a:avLst/>
          </a:prstGeom>
          <a:noFill/>
          <a:ln/>
        </p:spPr>
        <p:txBody>
          <a:bodyPr wrap="non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 Volante: +Bono por 120 pólizas extra</a:t>
            </a:r>
            <a:endParaRPr lang="en-US" sz="768" dirty="0"/>
          </a:p>
        </p:txBody>
      </p:sp>
      <p:sp>
        <p:nvSpPr>
          <p:cNvPr id="8" name="Text 5"/>
          <p:cNvSpPr/>
          <p:nvPr/>
        </p:nvSpPr>
        <p:spPr>
          <a:xfrm>
            <a:off x="634349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Reducir rechazo del 60 % del semestre</a:t>
            </a:r>
            <a:endParaRPr lang="en-US" sz="864" dirty="0"/>
          </a:p>
        </p:txBody>
      </p:sp>
      <p:sp>
        <p:nvSpPr>
          <p:cNvPr id="9" name="Text 6"/>
          <p:cNvSpPr/>
          <p:nvPr/>
        </p:nvSpPr>
        <p:spPr>
          <a:xfrm>
            <a:off x="9134247"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18 asesores activos · E1 diferenciada</a:t>
            </a:r>
            <a:endParaRPr lang="en-US" sz="864" dirty="0"/>
          </a:p>
        </p:txBody>
      </p:sp>
      <p:sp>
        <p:nvSpPr>
          <p:cNvPr id="10" name="Text 7"/>
          <p:cNvSpPr/>
          <p:nvPr/>
        </p:nvSpPr>
        <p:spPr>
          <a:xfrm>
            <a:off x="3552736"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 indicadores históricos ene–jun</a:t>
            </a:r>
            <a:endParaRPr lang="en-US" sz="864" dirty="0"/>
          </a:p>
        </p:txBody>
      </p:sp>
      <p:sp>
        <p:nvSpPr>
          <p:cNvPr id="11" name="Text 8"/>
          <p:cNvSpPr/>
          <p:nvPr/>
        </p:nvSpPr>
        <p:spPr>
          <a:xfrm>
            <a:off x="742931" y="4585395"/>
            <a:ext cx="10705832" cy="133350"/>
          </a:xfrm>
          <a:prstGeom prst="rect">
            <a:avLst/>
          </a:prstGeom>
          <a:noFill/>
          <a:ln/>
        </p:spPr>
        <p:txBody>
          <a:bodyPr wrap="non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ESQUEMA COMISIONES 1S — EVOLUCIÓN</a:t>
            </a:r>
            <a:endParaRPr lang="en-US" sz="840" dirty="0"/>
          </a:p>
        </p:txBody>
      </p:sp>
      <p:sp>
        <p:nvSpPr>
          <p:cNvPr id="12" name="Text 9"/>
          <p:cNvSpPr/>
          <p:nvPr/>
        </p:nvSpPr>
        <p:spPr>
          <a:xfrm>
            <a:off x="742931" y="4256782"/>
            <a:ext cx="6437846" cy="233362"/>
          </a:xfrm>
          <a:prstGeom prst="rect">
            <a:avLst/>
          </a:prstGeom>
          <a:noFill/>
          <a:ln/>
        </p:spPr>
        <p:txBody>
          <a:bodyPr wrap="none" lIns="0" tIns="0" rIns="0" bIns="0" rtlCol="0" anchor="t"/>
          <a:lstStyle/>
          <a:p>
            <a:pPr algn="l" indent="0" marL="0">
              <a:buNone/>
            </a:pPr>
            <a:r>
              <a:rPr lang="en-US" sz="888" b="1" dirty="0">
                <a:solidFill>
                  <a:srgbClr val="120180"/>
                </a:solidFill>
                <a:latin typeface="Raleway" pitchFamily="34" charset="0"/>
                <a:ea typeface="Raleway" pitchFamily="34" charset="-122"/>
                <a:cs typeface="Raleway" pitchFamily="34" charset="-120"/>
              </a:rPr>
              <a:t>Registros mínimos requeridos/mes</a:t>
            </a:r>
            <a:endParaRPr lang="en-US" sz="888" dirty="0"/>
          </a:p>
        </p:txBody>
      </p:sp>
      <p:sp>
        <p:nvSpPr>
          <p:cNvPr id="13" name="Text 10"/>
          <p:cNvSpPr/>
          <p:nvPr/>
        </p:nvSpPr>
        <p:spPr>
          <a:xfrm>
            <a:off x="3552736"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requeridos (estimado)</a:t>
            </a:r>
            <a:endParaRPr lang="en-US" sz="864" dirty="0"/>
          </a:p>
        </p:txBody>
      </p:sp>
      <p:sp>
        <p:nvSpPr>
          <p:cNvPr id="14" name="Text 11"/>
          <p:cNvSpPr/>
          <p:nvPr/>
        </p:nvSpPr>
        <p:spPr>
          <a:xfrm>
            <a:off x="1142971" y="4785420"/>
            <a:ext cx="1565186" cy="12382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5" name="Text 12"/>
          <p:cNvSpPr/>
          <p:nvPr/>
        </p:nvSpPr>
        <p:spPr>
          <a:xfrm>
            <a:off x="1142971" y="4966395"/>
            <a:ext cx="1565186" cy="12382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6" name="Text 13"/>
          <p:cNvSpPr/>
          <p:nvPr/>
        </p:nvSpPr>
        <p:spPr>
          <a:xfrm>
            <a:off x="1142971" y="5147370"/>
            <a:ext cx="1565186" cy="12382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7" name="Text 14"/>
          <p:cNvSpPr/>
          <p:nvPr/>
        </p:nvSpPr>
        <p:spPr>
          <a:xfrm>
            <a:off x="1142971" y="5328345"/>
            <a:ext cx="1572776" cy="12382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8" name="Text 15"/>
          <p:cNvSpPr/>
          <p:nvPr/>
        </p:nvSpPr>
        <p:spPr>
          <a:xfrm>
            <a:off x="1142971" y="5509320"/>
            <a:ext cx="2452031" cy="12382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9" name="Text 16"/>
          <p:cNvSpPr/>
          <p:nvPr/>
        </p:nvSpPr>
        <p:spPr>
          <a:xfrm>
            <a:off x="1142971" y="5690295"/>
            <a:ext cx="1572776" cy="123825"/>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20" name="Text 17"/>
          <p:cNvSpPr/>
          <p:nvPr/>
        </p:nvSpPr>
        <p:spPr>
          <a:xfrm>
            <a:off x="742931" y="3380482"/>
            <a:ext cx="3836544" cy="219075"/>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Efectividad / contactados</a:t>
            </a:r>
            <a:endParaRPr lang="en-US" sz="888" dirty="0"/>
          </a:p>
        </p:txBody>
      </p:sp>
      <p:sp>
        <p:nvSpPr>
          <p:cNvPr id="21" name="Text 18"/>
          <p:cNvSpPr/>
          <p:nvPr/>
        </p:nvSpPr>
        <p:spPr>
          <a:xfrm>
            <a:off x="2784356" y="4785420"/>
            <a:ext cx="1131661" cy="114300"/>
          </a:xfrm>
          <a:prstGeom prst="rect">
            <a:avLst/>
          </a:prstGeom>
          <a:noFill/>
          <a:ln/>
        </p:spPr>
        <p:txBody>
          <a:bodyPr wrap="non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 inicial del equipo</a:t>
            </a:r>
            <a:endParaRPr lang="en-US" sz="768" dirty="0"/>
          </a:p>
        </p:txBody>
      </p:sp>
      <p:sp>
        <p:nvSpPr>
          <p:cNvPr id="22" name="Text 19"/>
          <p:cNvSpPr/>
          <p:nvPr/>
        </p:nvSpPr>
        <p:spPr>
          <a:xfrm>
            <a:off x="9134247"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agregada equipo Jun</a:t>
            </a:r>
            <a:endParaRPr lang="en-US" sz="864" dirty="0"/>
          </a:p>
        </p:txBody>
      </p:sp>
      <p:sp>
        <p:nvSpPr>
          <p:cNvPr id="23" name="Text 20"/>
          <p:cNvSpPr/>
          <p:nvPr/>
        </p:nvSpPr>
        <p:spPr>
          <a:xfrm>
            <a:off x="7180778" y="3599557"/>
            <a:ext cx="4267986"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 40,4 % =  gestionados</a:t>
            </a:r>
            <a:endParaRPr lang="en-US" sz="888" dirty="0"/>
          </a:p>
        </p:txBody>
      </p:sp>
      <p:sp>
        <p:nvSpPr>
          <p:cNvPr id="24" name="Text 21"/>
          <p:cNvSpPr/>
          <p:nvPr/>
        </p:nvSpPr>
        <p:spPr>
          <a:xfrm>
            <a:off x="76198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mensual objetivo</a:t>
            </a:r>
            <a:endParaRPr lang="en-US" sz="864" dirty="0"/>
          </a:p>
        </p:txBody>
      </p:sp>
      <p:sp>
        <p:nvSpPr>
          <p:cNvPr id="25" name="Text 22"/>
          <p:cNvSpPr/>
          <p:nvPr/>
        </p:nvSpPr>
        <p:spPr>
          <a:xfrm>
            <a:off x="1977876" y="1985070"/>
            <a:ext cx="1725470"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Escenario recomendado</a:t>
            </a:r>
            <a:endParaRPr lang="en-US" sz="864" dirty="0"/>
          </a:p>
        </p:txBody>
      </p:sp>
      <p:sp>
        <p:nvSpPr>
          <p:cNvPr id="26" name="Text 23"/>
          <p:cNvSpPr/>
          <p:nvPr/>
        </p:nvSpPr>
        <p:spPr>
          <a:xfrm>
            <a:off x="7180778" y="3380482"/>
            <a:ext cx="4267986"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 8,59 % =  contactos</a:t>
            </a:r>
            <a:endParaRPr lang="en-US" sz="888" dirty="0"/>
          </a:p>
        </p:txBody>
      </p:sp>
      <p:sp>
        <p:nvSpPr>
          <p:cNvPr id="27" name="Text 24"/>
          <p:cNvSpPr/>
          <p:nvPr/>
        </p:nvSpPr>
        <p:spPr>
          <a:xfrm>
            <a:off x="742931" y="3818632"/>
            <a:ext cx="3836544" cy="219075"/>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 Gestión sobre aptos</a:t>
            </a:r>
            <a:endParaRPr lang="en-US" sz="888" dirty="0"/>
          </a:p>
        </p:txBody>
      </p:sp>
      <p:sp>
        <p:nvSpPr>
          <p:cNvPr id="28" name="Text 25"/>
          <p:cNvSpPr/>
          <p:nvPr/>
        </p:nvSpPr>
        <p:spPr>
          <a:xfrm>
            <a:off x="7180778" y="4037707"/>
            <a:ext cx="4267986"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 39,9 % =  recibidos</a:t>
            </a:r>
            <a:endParaRPr lang="en-US" sz="888" dirty="0"/>
          </a:p>
        </p:txBody>
      </p:sp>
      <p:sp>
        <p:nvSpPr>
          <p:cNvPr id="29" name="Text 26"/>
          <p:cNvSpPr/>
          <p:nvPr/>
        </p:nvSpPr>
        <p:spPr>
          <a:xfrm>
            <a:off x="10016775" y="209550"/>
            <a:ext cx="1603434"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Proyección</a:t>
            </a:r>
            <a:endParaRPr lang="en-US" sz="840" dirty="0"/>
          </a:p>
        </p:txBody>
      </p:sp>
      <p:sp>
        <p:nvSpPr>
          <p:cNvPr id="30" name="Text 27"/>
          <p:cNvSpPr/>
          <p:nvPr/>
        </p:nvSpPr>
        <p:spPr>
          <a:xfrm>
            <a:off x="742931" y="4037707"/>
            <a:ext cx="3836544" cy="219075"/>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 Aptos (1–rechazo)</a:t>
            </a:r>
            <a:endParaRPr lang="en-US" sz="888" dirty="0"/>
          </a:p>
        </p:txBody>
      </p:sp>
      <p:sp>
        <p:nvSpPr>
          <p:cNvPr id="31" name="Text 28"/>
          <p:cNvSpPr/>
          <p:nvPr/>
        </p:nvSpPr>
        <p:spPr>
          <a:xfrm>
            <a:off x="634349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Palanca principal</a:t>
            </a:r>
            <a:endParaRPr lang="en-US" sz="864" dirty="0"/>
          </a:p>
        </p:txBody>
      </p:sp>
      <p:sp>
        <p:nvSpPr>
          <p:cNvPr id="32" name="Text 29"/>
          <p:cNvSpPr/>
          <p:nvPr/>
        </p:nvSpPr>
        <p:spPr>
          <a:xfrm>
            <a:off x="571486" y="1985070"/>
            <a:ext cx="1330193" cy="266700"/>
          </a:xfrm>
          <a:prstGeom prst="rect">
            <a:avLst/>
          </a:prstGeom>
          <a:noFill/>
          <a:ln/>
        </p:spPr>
        <p:txBody>
          <a:bodyPr wrap="none" lIns="0" tIns="0" rIns="0" bIns="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Cálculo histórico</a:t>
            </a:r>
            <a:endParaRPr lang="en-US" sz="864" dirty="0"/>
          </a:p>
        </p:txBody>
      </p:sp>
      <p:sp>
        <p:nvSpPr>
          <p:cNvPr id="33" name="Text 30"/>
          <p:cNvSpPr/>
          <p:nvPr/>
        </p:nvSpPr>
        <p:spPr>
          <a:xfrm>
            <a:off x="7180778" y="2937570"/>
            <a:ext cx="4267986"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Insumo para 3.000</a:t>
            </a:r>
            <a:endParaRPr lang="en-US" sz="888" dirty="0"/>
          </a:p>
        </p:txBody>
      </p:sp>
      <p:sp>
        <p:nvSpPr>
          <p:cNvPr id="34" name="Text 31"/>
          <p:cNvSpPr/>
          <p:nvPr/>
        </p:nvSpPr>
        <p:spPr>
          <a:xfrm>
            <a:off x="7180778" y="3818632"/>
            <a:ext cx="4267986"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 88,3 % =  aptos</a:t>
            </a:r>
            <a:endParaRPr lang="en-US" sz="888" dirty="0"/>
          </a:p>
        </p:txBody>
      </p:sp>
      <p:sp>
        <p:nvSpPr>
          <p:cNvPr id="35" name="Text 32"/>
          <p:cNvSpPr/>
          <p:nvPr/>
        </p:nvSpPr>
        <p:spPr>
          <a:xfrm>
            <a:off x="4579476" y="2937570"/>
            <a:ext cx="2601302"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Valor histórico</a:t>
            </a:r>
            <a:endParaRPr lang="en-US" sz="888" dirty="0"/>
          </a:p>
        </p:txBody>
      </p:sp>
      <p:sp>
        <p:nvSpPr>
          <p:cNvPr id="36" name="Text 33"/>
          <p:cNvSpPr/>
          <p:nvPr/>
        </p:nvSpPr>
        <p:spPr>
          <a:xfrm>
            <a:off x="742931" y="3166170"/>
            <a:ext cx="3836544" cy="214313"/>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Meta ventas/mes</a:t>
            </a:r>
            <a:endParaRPr lang="en-US" sz="888" dirty="0"/>
          </a:p>
        </p:txBody>
      </p:sp>
      <p:sp>
        <p:nvSpPr>
          <p:cNvPr id="37" name="Text 34"/>
          <p:cNvSpPr/>
          <p:nvPr/>
        </p:nvSpPr>
        <p:spPr>
          <a:xfrm>
            <a:off x="742931" y="3599557"/>
            <a:ext cx="3836544" cy="219075"/>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Contactabilidad</a:t>
            </a:r>
            <a:endParaRPr lang="en-US" sz="888" dirty="0"/>
          </a:p>
        </p:txBody>
      </p:sp>
      <p:sp>
        <p:nvSpPr>
          <p:cNvPr id="38" name="Text 35"/>
          <p:cNvSpPr/>
          <p:nvPr/>
        </p:nvSpPr>
        <p:spPr>
          <a:xfrm>
            <a:off x="7180778" y="4256782"/>
            <a:ext cx="4267986" cy="233362"/>
          </a:xfrm>
          <a:prstGeom prst="rect">
            <a:avLst/>
          </a:prstGeom>
          <a:noFill/>
          <a:ln/>
        </p:spPr>
        <p:txBody>
          <a:bodyPr wrap="none" lIns="0" tIns="0" rIns="0" bIns="0" rtlCol="0" anchor="t"/>
          <a:lstStyle/>
          <a:p>
            <a:pPr algn="r" indent="0" marL="0">
              <a:buNone/>
            </a:pPr>
            <a:r>
              <a:rPr lang="en-US" sz="888" b="1" dirty="0">
                <a:solidFill>
                  <a:srgbClr val="120180"/>
                </a:solidFill>
                <a:latin typeface="Raleway" pitchFamily="34" charset="0"/>
                <a:ea typeface="Raleway" pitchFamily="34" charset="-122"/>
                <a:cs typeface="Raleway" pitchFamily="34" charset="-120"/>
              </a:rPr>
              <a:t>235.000–260.000</a:t>
            </a:r>
            <a:endParaRPr lang="en-US" sz="888" dirty="0"/>
          </a:p>
        </p:txBody>
      </p:sp>
      <p:sp>
        <p:nvSpPr>
          <p:cNvPr id="39" name="Text 36"/>
          <p:cNvSpPr/>
          <p:nvPr/>
        </p:nvSpPr>
        <p:spPr>
          <a:xfrm>
            <a:off x="76198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Pólizas / mes</a:t>
            </a:r>
            <a:endParaRPr lang="en-US" sz="864" dirty="0"/>
          </a:p>
        </p:txBody>
      </p:sp>
      <p:sp>
        <p:nvSpPr>
          <p:cNvPr id="40" name="Text 37"/>
          <p:cNvSpPr/>
          <p:nvPr/>
        </p:nvSpPr>
        <p:spPr>
          <a:xfrm>
            <a:off x="6343491" y="118110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Base limpia</a:t>
            </a:r>
            <a:endParaRPr lang="en-US" sz="1600" dirty="0"/>
          </a:p>
        </p:txBody>
      </p:sp>
      <p:sp>
        <p:nvSpPr>
          <p:cNvPr id="41" name="Text 38"/>
          <p:cNvSpPr/>
          <p:nvPr/>
        </p:nvSpPr>
        <p:spPr>
          <a:xfrm>
            <a:off x="742931" y="2937570"/>
            <a:ext cx="3836544"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Parámetro</a:t>
            </a:r>
            <a:endParaRPr lang="en-US" sz="888" dirty="0"/>
          </a:p>
        </p:txBody>
      </p:sp>
      <p:sp>
        <p:nvSpPr>
          <p:cNvPr id="42" name="Text 39"/>
          <p:cNvSpPr/>
          <p:nvPr/>
        </p:nvSpPr>
        <p:spPr>
          <a:xfrm>
            <a:off x="4579476" y="3380482"/>
            <a:ext cx="2601302"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8,59 %</a:t>
            </a:r>
            <a:endParaRPr lang="en-US" sz="888" dirty="0"/>
          </a:p>
        </p:txBody>
      </p:sp>
      <p:sp>
        <p:nvSpPr>
          <p:cNvPr id="43" name="Text 40"/>
          <p:cNvSpPr/>
          <p:nvPr/>
        </p:nvSpPr>
        <p:spPr>
          <a:xfrm>
            <a:off x="4579476" y="3599557"/>
            <a:ext cx="2601302"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40,4 %</a:t>
            </a:r>
            <a:endParaRPr lang="en-US" sz="888" dirty="0"/>
          </a:p>
        </p:txBody>
      </p:sp>
      <p:sp>
        <p:nvSpPr>
          <p:cNvPr id="44" name="Text 41"/>
          <p:cNvSpPr/>
          <p:nvPr/>
        </p:nvSpPr>
        <p:spPr>
          <a:xfrm>
            <a:off x="4579476" y="3818632"/>
            <a:ext cx="2601302"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88,3 %</a:t>
            </a:r>
            <a:endParaRPr lang="en-US" sz="888" dirty="0"/>
          </a:p>
        </p:txBody>
      </p:sp>
      <p:sp>
        <p:nvSpPr>
          <p:cNvPr id="45" name="Text 42"/>
          <p:cNvSpPr/>
          <p:nvPr/>
        </p:nvSpPr>
        <p:spPr>
          <a:xfrm>
            <a:off x="4579476" y="4037707"/>
            <a:ext cx="2601302" cy="2190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39,9 %</a:t>
            </a:r>
            <a:endParaRPr lang="en-US" sz="888" dirty="0"/>
          </a:p>
        </p:txBody>
      </p:sp>
      <p:sp>
        <p:nvSpPr>
          <p:cNvPr id="46" name="Text 43"/>
          <p:cNvSpPr/>
          <p:nvPr/>
        </p:nvSpPr>
        <p:spPr>
          <a:xfrm>
            <a:off x="761981" y="118110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3.000</a:t>
            </a:r>
            <a:endParaRPr lang="en-US" sz="1600" dirty="0"/>
          </a:p>
        </p:txBody>
      </p:sp>
      <p:sp>
        <p:nvSpPr>
          <p:cNvPr id="47" name="Text 44"/>
          <p:cNvSpPr/>
          <p:nvPr/>
        </p:nvSpPr>
        <p:spPr>
          <a:xfrm>
            <a:off x="3552736" y="1181100"/>
            <a:ext cx="2333567"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~245K</a:t>
            </a:r>
            <a:endParaRPr lang="en-US" sz="1600" dirty="0"/>
          </a:p>
        </p:txBody>
      </p:sp>
      <p:sp>
        <p:nvSpPr>
          <p:cNvPr id="48" name="Text 45"/>
          <p:cNvSpPr/>
          <p:nvPr/>
        </p:nvSpPr>
        <p:spPr>
          <a:xfrm>
            <a:off x="9134247" y="118110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2.407</a:t>
            </a:r>
            <a:endParaRPr lang="en-US" sz="1600" dirty="0"/>
          </a:p>
        </p:txBody>
      </p:sp>
      <p:sp>
        <p:nvSpPr>
          <p:cNvPr id="49" name="Text 46"/>
          <p:cNvSpPr/>
          <p:nvPr/>
        </p:nvSpPr>
        <p:spPr>
          <a:xfrm>
            <a:off x="11038306" y="3204270"/>
            <a:ext cx="296161" cy="133350"/>
          </a:xfrm>
          <a:prstGeom prst="rect">
            <a:avLst/>
          </a:prstGeom>
          <a:noFill/>
          <a:ln/>
        </p:spPr>
        <p:txBody>
          <a:bodyPr wrap="none" lIns="0" tIns="0" rIns="0" bIns="0" rtlCol="0" anchor="t"/>
          <a:lstStyle/>
          <a:p>
            <a:pPr algn="r" indent="0" marL="0">
              <a:buNone/>
            </a:pPr>
            <a:r>
              <a:rPr lang="en-US" sz="888" b="1" dirty="0">
                <a:solidFill>
                  <a:srgbClr val="333333"/>
                </a:solidFill>
                <a:latin typeface="Raleway" pitchFamily="34" charset="0"/>
                <a:ea typeface="Raleway" pitchFamily="34" charset="-122"/>
                <a:cs typeface="Raleway" pitchFamily="34" charset="-120"/>
              </a:rPr>
              <a:t>3.000</a:t>
            </a:r>
            <a:endParaRPr lang="en-US" sz="888" dirty="0"/>
          </a:p>
        </p:txBody>
      </p:sp>
      <p:sp>
        <p:nvSpPr>
          <p:cNvPr id="50" name="Text 47"/>
          <p:cNvSpPr/>
          <p:nvPr/>
        </p:nvSpPr>
        <p:spPr>
          <a:xfrm>
            <a:off x="800080" y="4785420"/>
            <a:ext cx="266693" cy="123825"/>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Ene</a:t>
            </a:r>
            <a:endParaRPr lang="en-US" sz="816" dirty="0"/>
          </a:p>
        </p:txBody>
      </p:sp>
      <p:sp>
        <p:nvSpPr>
          <p:cNvPr id="51" name="Text 48"/>
          <p:cNvSpPr/>
          <p:nvPr/>
        </p:nvSpPr>
        <p:spPr>
          <a:xfrm>
            <a:off x="800080" y="4966395"/>
            <a:ext cx="266693" cy="123825"/>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Feb</a:t>
            </a:r>
            <a:endParaRPr lang="en-US" sz="816" dirty="0"/>
          </a:p>
        </p:txBody>
      </p:sp>
      <p:sp>
        <p:nvSpPr>
          <p:cNvPr id="52" name="Text 49"/>
          <p:cNvSpPr/>
          <p:nvPr/>
        </p:nvSpPr>
        <p:spPr>
          <a:xfrm>
            <a:off x="800080" y="5147370"/>
            <a:ext cx="266693" cy="123825"/>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Mar</a:t>
            </a:r>
            <a:endParaRPr lang="en-US" sz="816" dirty="0"/>
          </a:p>
        </p:txBody>
      </p:sp>
      <p:sp>
        <p:nvSpPr>
          <p:cNvPr id="53" name="Text 50"/>
          <p:cNvSpPr/>
          <p:nvPr/>
        </p:nvSpPr>
        <p:spPr>
          <a:xfrm>
            <a:off x="800080" y="5328345"/>
            <a:ext cx="266693" cy="123825"/>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Abr</a:t>
            </a:r>
            <a:endParaRPr lang="en-US" sz="816" dirty="0"/>
          </a:p>
        </p:txBody>
      </p:sp>
      <p:sp>
        <p:nvSpPr>
          <p:cNvPr id="54" name="Text 51"/>
          <p:cNvSpPr/>
          <p:nvPr/>
        </p:nvSpPr>
        <p:spPr>
          <a:xfrm>
            <a:off x="800080" y="5509320"/>
            <a:ext cx="266693" cy="123825"/>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May</a:t>
            </a:r>
            <a:endParaRPr lang="en-US" sz="816" dirty="0"/>
          </a:p>
        </p:txBody>
      </p:sp>
      <p:sp>
        <p:nvSpPr>
          <p:cNvPr id="55" name="Text 52"/>
          <p:cNvSpPr/>
          <p:nvPr/>
        </p:nvSpPr>
        <p:spPr>
          <a:xfrm>
            <a:off x="800080" y="5690295"/>
            <a:ext cx="266693" cy="123825"/>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Jun</a:t>
            </a:r>
            <a:endParaRPr lang="en-US" sz="816" dirty="0"/>
          </a:p>
        </p:txBody>
      </p:sp>
      <p:sp>
        <p:nvSpPr>
          <p:cNvPr id="56" name="Text 53"/>
          <p:cNvSpPr/>
          <p:nvPr/>
        </p:nvSpPr>
        <p:spPr>
          <a:xfrm>
            <a:off x="4579476" y="3166170"/>
            <a:ext cx="2601302" cy="2143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01_Repositorios\13_Presentaciones\dash\televentas\ppt_slides\sk_20_Escenari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23882" y="3521939"/>
            <a:ext cx="10743931" cy="150168"/>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la deduplicación en origen es viable (registro del distribuidor + validación de fuentes). Su meta de corto plazo: rechazo  como escalón intermedio hacia el 35 %.</a:t>
            </a:r>
            <a:endParaRPr lang="en-US" sz="816" dirty="0"/>
          </a:p>
        </p:txBody>
      </p:sp>
      <p:sp>
        <p:nvSpPr>
          <p:cNvPr id="4" name="Text 1"/>
          <p:cNvSpPr/>
          <p:nvPr/>
        </p:nvSpPr>
        <p:spPr>
          <a:xfrm>
            <a:off x="1142971" y="5553592"/>
            <a:ext cx="9494402" cy="159990"/>
          </a:xfrm>
          <a:prstGeom prst="rect">
            <a:avLst/>
          </a:prstGeom>
          <a:noFill/>
          <a:ln/>
        </p:spPr>
        <p:txBody>
          <a:bodyPr wrap="non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El camino a 3.000 pasa más por  que por aumentar el volumen bruto de registros. Cálculo con el semestre completo (ene–jun), liquidación de junio ya incluida.</a:t>
            </a:r>
            <a:endParaRPr lang="en-US" sz="840" dirty="0"/>
          </a:p>
        </p:txBody>
      </p:sp>
      <p:sp>
        <p:nvSpPr>
          <p:cNvPr id="5" name="Text 2"/>
          <p:cNvSpPr/>
          <p:nvPr/>
        </p:nvSpPr>
        <p:spPr>
          <a:xfrm>
            <a:off x="723882" y="3398114"/>
            <a:ext cx="10743931" cy="104775"/>
          </a:xfrm>
          <a:prstGeom prst="rect">
            <a:avLst/>
          </a:prstGeom>
          <a:noFill/>
          <a:ln/>
        </p:spPr>
        <p:txBody>
          <a:bodyPr wrap="none" lIns="0" tIns="0" rIns="0" bIns="0" rtlCol="0" anchor="t"/>
          <a:lstStyle/>
          <a:p>
            <a:pPr algn="ctr" indent="0" marL="0">
              <a:buNone/>
            </a:pPr>
            <a:r>
              <a:rPr lang="en-US" sz="720" dirty="0">
                <a:solidFill>
                  <a:srgbClr val="333333"/>
                </a:solidFill>
                <a:latin typeface="Raleway" pitchFamily="34" charset="0"/>
                <a:ea typeface="Raleway" pitchFamily="34" charset="-122"/>
                <a:cs typeface="Raleway" pitchFamily="34" charset="-120"/>
              </a:rPr>
              <a:t>Premisas del cálculo: 88 % gestión · 45 % contactabilidad · 8,6 % conversión (históricos 1S)</a:t>
            </a:r>
            <a:endParaRPr lang="en-US" sz="720" dirty="0"/>
          </a:p>
        </p:txBody>
      </p:sp>
      <p:sp>
        <p:nvSpPr>
          <p:cNvPr id="6" name="Text 3"/>
          <p:cNvSpPr/>
          <p:nvPr/>
        </p:nvSpPr>
        <p:spPr>
          <a:xfrm>
            <a:off x="723882" y="3681632"/>
            <a:ext cx="10743931" cy="150168"/>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Priorizar  y  (conversión 17–33 % sobre contacto) reduce el volumen necesario a la mitad.</a:t>
            </a:r>
            <a:endParaRPr lang="en-US" sz="816" dirty="0"/>
          </a:p>
        </p:txBody>
      </p:sp>
      <p:sp>
        <p:nvSpPr>
          <p:cNvPr id="7" name="Text 4"/>
          <p:cNvSpPr/>
          <p:nvPr/>
        </p:nvSpPr>
        <p:spPr>
          <a:xfrm>
            <a:off x="723882" y="3841324"/>
            <a:ext cx="10743931" cy="150168"/>
          </a:xfrm>
          <a:prstGeom prst="rect">
            <a:avLst/>
          </a:prstGeom>
          <a:noFill/>
          <a:ln/>
        </p:spPr>
        <p:txBody>
          <a:bodyPr wrap="non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Capacidad del equipo: meta agregada jun =  (18 asesores, 134 pol/asesor). Para 3.000 → .</a:t>
            </a:r>
            <a:endParaRPr lang="en-US" sz="816" dirty="0"/>
          </a:p>
        </p:txBody>
      </p:sp>
      <p:sp>
        <p:nvSpPr>
          <p:cNvPr id="8" name="Text 5"/>
          <p:cNvSpPr/>
          <p:nvPr/>
        </p:nvSpPr>
        <p:spPr>
          <a:xfrm>
            <a:off x="1213514" y="219075"/>
            <a:ext cx="4480805"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Proyección · ¿Qué se necesita para 3.000 ventas/mes?</a:t>
            </a:r>
            <a:endParaRPr lang="en-US" sz="1260" dirty="0"/>
          </a:p>
        </p:txBody>
      </p:sp>
      <p:sp>
        <p:nvSpPr>
          <p:cNvPr id="9" name="Text 6"/>
          <p:cNvSpPr/>
          <p:nvPr/>
        </p:nvSpPr>
        <p:spPr>
          <a:xfrm>
            <a:off x="828654" y="3165198"/>
            <a:ext cx="3158352" cy="110430"/>
          </a:xfrm>
          <a:prstGeom prst="rect">
            <a:avLst/>
          </a:prstGeom>
          <a:noFill/>
          <a:ln/>
        </p:spPr>
        <p:txBody>
          <a:bodyPr wrap="none" lIns="0" tIns="0" rIns="0" bIns="0" rtlCol="0" anchor="t"/>
          <a:lstStyle/>
          <a:p>
            <a:pPr algn="ctr" indent="0" marL="0">
              <a:buNone/>
            </a:pPr>
            <a:r>
              <a:rPr lang="en-US" sz="696" dirty="0">
                <a:solidFill>
                  <a:srgbClr val="333333"/>
                </a:solidFill>
                <a:latin typeface="Raleway" pitchFamily="34" charset="0"/>
                <a:ea typeface="Raleway" pitchFamily="34" charset="-122"/>
                <a:cs typeface="Raleway" pitchFamily="34" charset="-120"/>
              </a:rPr>
              <a:t>de rechazo, excluyendo re-envíos y producto activo</a:t>
            </a:r>
            <a:endParaRPr lang="en-US" sz="696" dirty="0"/>
          </a:p>
        </p:txBody>
      </p:sp>
      <p:sp>
        <p:nvSpPr>
          <p:cNvPr id="10" name="Text 7"/>
          <p:cNvSpPr/>
          <p:nvPr/>
        </p:nvSpPr>
        <p:spPr>
          <a:xfrm>
            <a:off x="4516672" y="3165198"/>
            <a:ext cx="3158352" cy="110430"/>
          </a:xfrm>
          <a:prstGeom prst="rect">
            <a:avLst/>
          </a:prstGeom>
          <a:noFill/>
          <a:ln/>
        </p:spPr>
        <p:txBody>
          <a:bodyPr wrap="none" lIns="0" tIns="0" rIns="0" bIns="0" rtlCol="0" anchor="t"/>
          <a:lstStyle/>
          <a:p>
            <a:pPr algn="ctr" indent="0" marL="0">
              <a:buNone/>
            </a:pPr>
            <a:r>
              <a:rPr lang="en-US" sz="696" dirty="0">
                <a:solidFill>
                  <a:srgbClr val="333333"/>
                </a:solidFill>
                <a:latin typeface="Raleway" pitchFamily="34" charset="0"/>
                <a:ea typeface="Raleway" pitchFamily="34" charset="-122"/>
                <a:cs typeface="Raleway" pitchFamily="34" charset="-120"/>
              </a:rPr>
              <a:t>registros aptos/mes con los mismos ~170K recibidos</a:t>
            </a:r>
            <a:endParaRPr lang="en-US" sz="696" dirty="0"/>
          </a:p>
        </p:txBody>
      </p:sp>
      <p:sp>
        <p:nvSpPr>
          <p:cNvPr id="11" name="Text 8"/>
          <p:cNvSpPr/>
          <p:nvPr/>
        </p:nvSpPr>
        <p:spPr>
          <a:xfrm>
            <a:off x="8204689" y="3165198"/>
            <a:ext cx="3158352" cy="110430"/>
          </a:xfrm>
          <a:prstGeom prst="rect">
            <a:avLst/>
          </a:prstGeom>
          <a:noFill/>
          <a:ln/>
        </p:spPr>
        <p:txBody>
          <a:bodyPr wrap="none" lIns="0" tIns="0" rIns="0" bIns="0" rtlCol="0" anchor="t"/>
          <a:lstStyle/>
          <a:p>
            <a:pPr algn="ctr" indent="0" marL="0">
              <a:buNone/>
            </a:pPr>
            <a:r>
              <a:rPr lang="en-US" sz="696" dirty="0">
                <a:solidFill>
                  <a:srgbClr val="333333"/>
                </a:solidFill>
                <a:latin typeface="Raleway" pitchFamily="34" charset="0"/>
                <a:ea typeface="Raleway" pitchFamily="34" charset="-122"/>
                <a:cs typeface="Raleway" pitchFamily="34" charset="-120"/>
              </a:rPr>
              <a:t>ventas/mes potenciales — supera la meta de 3.000</a:t>
            </a:r>
            <a:endParaRPr lang="en-US" sz="696" dirty="0"/>
          </a:p>
        </p:txBody>
      </p:sp>
      <p:sp>
        <p:nvSpPr>
          <p:cNvPr id="12" name="Text 9"/>
          <p:cNvSpPr/>
          <p:nvPr/>
        </p:nvSpPr>
        <p:spPr>
          <a:xfrm>
            <a:off x="723882" y="2559914"/>
            <a:ext cx="10743931" cy="1905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Escenario con base depurada (recomendado)</a:t>
            </a:r>
            <a:endParaRPr lang="en-US" sz="1020" dirty="0"/>
          </a:p>
        </p:txBody>
      </p:sp>
      <p:sp>
        <p:nvSpPr>
          <p:cNvPr id="13" name="Text 10"/>
          <p:cNvSpPr/>
          <p:nvPr/>
        </p:nvSpPr>
        <p:spPr>
          <a:xfrm>
            <a:off x="723882" y="4029592"/>
            <a:ext cx="10743931" cy="133350"/>
          </a:xfrm>
          <a:prstGeom prst="rect">
            <a:avLst/>
          </a:prstGeom>
          <a:noFill/>
          <a:ln/>
        </p:spPr>
        <p:txBody>
          <a:bodyPr wrap="none" lIns="0" tIns="0" rIns="0" bIns="0" rtlCol="0" anchor="t"/>
          <a:lstStyle/>
          <a:p>
            <a:pPr algn="l" indent="0" marL="0">
              <a:buNone/>
            </a:pPr>
            <a:r>
              <a:rPr lang="en-US" sz="768" b="1" dirty="0">
                <a:solidFill>
                  <a:srgbClr val="333333"/>
                </a:solidFill>
                <a:latin typeface="Raleway" pitchFamily="34" charset="0"/>
                <a:ea typeface="Raleway" pitchFamily="34" charset="-122"/>
                <a:cs typeface="Raleway" pitchFamily="34" charset="-120"/>
              </a:rPr>
              <a:t>KPIs PROPUESTOS PARA EL SEGUIMIENTO 2S</a:t>
            </a:r>
            <a:endParaRPr lang="en-US" sz="768" dirty="0"/>
          </a:p>
        </p:txBody>
      </p:sp>
      <p:sp>
        <p:nvSpPr>
          <p:cNvPr id="14" name="Text 11"/>
          <p:cNvSpPr/>
          <p:nvPr/>
        </p:nvSpPr>
        <p:spPr>
          <a:xfrm>
            <a:off x="634349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Reducir rechazo del 60 % del semestre</a:t>
            </a:r>
            <a:endParaRPr lang="en-US" sz="864" dirty="0"/>
          </a:p>
        </p:txBody>
      </p:sp>
      <p:sp>
        <p:nvSpPr>
          <p:cNvPr id="15" name="Text 12"/>
          <p:cNvSpPr/>
          <p:nvPr/>
        </p:nvSpPr>
        <p:spPr>
          <a:xfrm>
            <a:off x="9134247"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18 asesores activos · E1 diferenciada</a:t>
            </a:r>
            <a:endParaRPr lang="en-US" sz="864" dirty="0"/>
          </a:p>
        </p:txBody>
      </p:sp>
      <p:sp>
        <p:nvSpPr>
          <p:cNvPr id="16" name="Text 13"/>
          <p:cNvSpPr/>
          <p:nvPr/>
        </p:nvSpPr>
        <p:spPr>
          <a:xfrm>
            <a:off x="3552736"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 indicadores históricos ene–jun</a:t>
            </a:r>
            <a:endParaRPr lang="en-US" sz="864" dirty="0"/>
          </a:p>
        </p:txBody>
      </p:sp>
      <p:sp>
        <p:nvSpPr>
          <p:cNvPr id="17" name="Text 14"/>
          <p:cNvSpPr/>
          <p:nvPr/>
        </p:nvSpPr>
        <p:spPr>
          <a:xfrm>
            <a:off x="3552736"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requeridos (estimado)</a:t>
            </a:r>
            <a:endParaRPr lang="en-US" sz="864" dirty="0"/>
          </a:p>
        </p:txBody>
      </p:sp>
      <p:sp>
        <p:nvSpPr>
          <p:cNvPr id="18" name="Text 15"/>
          <p:cNvSpPr/>
          <p:nvPr/>
        </p:nvSpPr>
        <p:spPr>
          <a:xfrm>
            <a:off x="4377968" y="4410592"/>
            <a:ext cx="4660883" cy="214313"/>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Total ventas (liquidación)</a:t>
            </a:r>
            <a:endParaRPr lang="en-US" sz="888" dirty="0"/>
          </a:p>
        </p:txBody>
      </p:sp>
      <p:sp>
        <p:nvSpPr>
          <p:cNvPr id="19" name="Text 16"/>
          <p:cNvSpPr/>
          <p:nvPr/>
        </p:nvSpPr>
        <p:spPr>
          <a:xfrm>
            <a:off x="4377968" y="5282129"/>
            <a:ext cx="4660883" cy="214313"/>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Contactados / gestionados</a:t>
            </a:r>
            <a:endParaRPr lang="en-US" sz="888" dirty="0"/>
          </a:p>
        </p:txBody>
      </p:sp>
      <p:sp>
        <p:nvSpPr>
          <p:cNvPr id="20" name="Text 17"/>
          <p:cNvSpPr/>
          <p:nvPr/>
        </p:nvSpPr>
        <p:spPr>
          <a:xfrm>
            <a:off x="9134247"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agregada equipo Jun</a:t>
            </a:r>
            <a:endParaRPr lang="en-US" sz="864" dirty="0"/>
          </a:p>
        </p:txBody>
      </p:sp>
      <p:sp>
        <p:nvSpPr>
          <p:cNvPr id="21" name="Text 18"/>
          <p:cNvSpPr/>
          <p:nvPr/>
        </p:nvSpPr>
        <p:spPr>
          <a:xfrm>
            <a:off x="4377968" y="4624904"/>
            <a:ext cx="4660883" cy="219075"/>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Asesores ≥ meta / total</a:t>
            </a:r>
            <a:endParaRPr lang="en-US" sz="888" dirty="0"/>
          </a:p>
        </p:txBody>
      </p:sp>
      <p:sp>
        <p:nvSpPr>
          <p:cNvPr id="22" name="Text 19"/>
          <p:cNvSpPr/>
          <p:nvPr/>
        </p:nvSpPr>
        <p:spPr>
          <a:xfrm>
            <a:off x="4377968" y="4843979"/>
            <a:ext cx="4660883" cy="219075"/>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Pólizas / asesor activo</a:t>
            </a:r>
            <a:endParaRPr lang="en-US" sz="888" dirty="0"/>
          </a:p>
        </p:txBody>
      </p:sp>
      <p:sp>
        <p:nvSpPr>
          <p:cNvPr id="23" name="Text 20"/>
          <p:cNvSpPr/>
          <p:nvPr/>
        </p:nvSpPr>
        <p:spPr>
          <a:xfrm>
            <a:off x="4377968" y="5063054"/>
            <a:ext cx="4660883" cy="219075"/>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Rechazados / recibidos</a:t>
            </a:r>
            <a:endParaRPr lang="en-US" sz="888" dirty="0"/>
          </a:p>
        </p:txBody>
      </p:sp>
      <p:sp>
        <p:nvSpPr>
          <p:cNvPr id="24" name="Text 21"/>
          <p:cNvSpPr/>
          <p:nvPr/>
        </p:nvSpPr>
        <p:spPr>
          <a:xfrm>
            <a:off x="76198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mensual objetivo</a:t>
            </a:r>
            <a:endParaRPr lang="en-US" sz="864" dirty="0"/>
          </a:p>
        </p:txBody>
      </p:sp>
      <p:sp>
        <p:nvSpPr>
          <p:cNvPr id="25" name="Text 22"/>
          <p:cNvSpPr/>
          <p:nvPr/>
        </p:nvSpPr>
        <p:spPr>
          <a:xfrm>
            <a:off x="1977876" y="1985070"/>
            <a:ext cx="1725470" cy="266700"/>
          </a:xfrm>
          <a:prstGeom prst="rect">
            <a:avLst/>
          </a:prstGeom>
          <a:noFill/>
          <a:ln/>
        </p:spPr>
        <p:txBody>
          <a:bodyPr wrap="none" lIns="0" tIns="0" rIns="0" bIns="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Escenario recomendado</a:t>
            </a:r>
            <a:endParaRPr lang="en-US" sz="864" dirty="0"/>
          </a:p>
        </p:txBody>
      </p:sp>
      <p:sp>
        <p:nvSpPr>
          <p:cNvPr id="26" name="Text 23"/>
          <p:cNvSpPr/>
          <p:nvPr/>
        </p:nvSpPr>
        <p:spPr>
          <a:xfrm>
            <a:off x="10016775" y="209550"/>
            <a:ext cx="1603434"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Proyección</a:t>
            </a:r>
            <a:endParaRPr lang="en-US" sz="840" dirty="0"/>
          </a:p>
        </p:txBody>
      </p:sp>
      <p:sp>
        <p:nvSpPr>
          <p:cNvPr id="27" name="Text 24"/>
          <p:cNvSpPr/>
          <p:nvPr/>
        </p:nvSpPr>
        <p:spPr>
          <a:xfrm>
            <a:off x="838179" y="4448692"/>
            <a:ext cx="1085079"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Pólizas equipo/mes</a:t>
            </a:r>
            <a:endParaRPr lang="en-US" sz="888" dirty="0"/>
          </a:p>
        </p:txBody>
      </p:sp>
      <p:sp>
        <p:nvSpPr>
          <p:cNvPr id="28" name="Text 25"/>
          <p:cNvSpPr/>
          <p:nvPr/>
        </p:nvSpPr>
        <p:spPr>
          <a:xfrm>
            <a:off x="6343491" y="1009650"/>
            <a:ext cx="2333567" cy="133350"/>
          </a:xfrm>
          <a:prstGeom prst="rect">
            <a:avLst/>
          </a:prstGeom>
          <a:noFill/>
          <a:ln/>
        </p:spPr>
        <p:txBody>
          <a:bodyPr wrap="non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Palanca principal</a:t>
            </a:r>
            <a:endParaRPr lang="en-US" sz="864" dirty="0"/>
          </a:p>
        </p:txBody>
      </p:sp>
      <p:sp>
        <p:nvSpPr>
          <p:cNvPr id="29" name="Text 26"/>
          <p:cNvSpPr/>
          <p:nvPr/>
        </p:nvSpPr>
        <p:spPr>
          <a:xfrm>
            <a:off x="571486" y="1985070"/>
            <a:ext cx="1330193"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Cálculo histórico</a:t>
            </a:r>
            <a:endParaRPr lang="en-US" sz="864" dirty="0"/>
          </a:p>
        </p:txBody>
      </p:sp>
      <p:sp>
        <p:nvSpPr>
          <p:cNvPr id="30" name="Text 27"/>
          <p:cNvSpPr/>
          <p:nvPr/>
        </p:nvSpPr>
        <p:spPr>
          <a:xfrm>
            <a:off x="828654" y="2872900"/>
            <a:ext cx="3158352" cy="104775"/>
          </a:xfrm>
          <a:prstGeom prst="rect">
            <a:avLst/>
          </a:prstGeom>
          <a:noFill/>
          <a:ln/>
        </p:spPr>
        <p:txBody>
          <a:bodyPr wrap="non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Paso 1 · Depurar</a:t>
            </a:r>
            <a:endParaRPr lang="en-US" sz="696" dirty="0"/>
          </a:p>
        </p:txBody>
      </p:sp>
      <p:sp>
        <p:nvSpPr>
          <p:cNvPr id="31" name="Text 28"/>
          <p:cNvSpPr/>
          <p:nvPr/>
        </p:nvSpPr>
        <p:spPr>
          <a:xfrm>
            <a:off x="8204689" y="2872900"/>
            <a:ext cx="3158352" cy="104775"/>
          </a:xfrm>
          <a:prstGeom prst="rect">
            <a:avLst/>
          </a:prstGeom>
          <a:noFill/>
          <a:ln/>
        </p:spPr>
        <p:txBody>
          <a:bodyPr wrap="non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Paso 3 · Ventas</a:t>
            </a:r>
            <a:endParaRPr lang="en-US" sz="696" dirty="0"/>
          </a:p>
        </p:txBody>
      </p:sp>
      <p:sp>
        <p:nvSpPr>
          <p:cNvPr id="32" name="Text 29"/>
          <p:cNvSpPr/>
          <p:nvPr/>
        </p:nvSpPr>
        <p:spPr>
          <a:xfrm>
            <a:off x="838179" y="4667767"/>
            <a:ext cx="918693"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Cumplimiento E1</a:t>
            </a:r>
            <a:endParaRPr lang="en-US" sz="888" dirty="0"/>
          </a:p>
        </p:txBody>
      </p:sp>
      <p:sp>
        <p:nvSpPr>
          <p:cNvPr id="33" name="Text 30"/>
          <p:cNvSpPr/>
          <p:nvPr/>
        </p:nvSpPr>
        <p:spPr>
          <a:xfrm>
            <a:off x="838179" y="5324992"/>
            <a:ext cx="867944"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Contactabilidad</a:t>
            </a:r>
            <a:endParaRPr lang="en-US" sz="888" dirty="0"/>
          </a:p>
        </p:txBody>
      </p:sp>
      <p:sp>
        <p:nvSpPr>
          <p:cNvPr id="34" name="Text 31"/>
          <p:cNvSpPr/>
          <p:nvPr/>
        </p:nvSpPr>
        <p:spPr>
          <a:xfrm>
            <a:off x="4516672" y="2872900"/>
            <a:ext cx="3158352" cy="104775"/>
          </a:xfrm>
          <a:prstGeom prst="rect">
            <a:avLst/>
          </a:prstGeom>
          <a:noFill/>
          <a:ln/>
        </p:spPr>
        <p:txBody>
          <a:bodyPr wrap="non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Paso 2 · Aptos</a:t>
            </a:r>
            <a:endParaRPr lang="en-US" sz="696" dirty="0"/>
          </a:p>
        </p:txBody>
      </p:sp>
      <p:sp>
        <p:nvSpPr>
          <p:cNvPr id="35" name="Text 32"/>
          <p:cNvSpPr/>
          <p:nvPr/>
        </p:nvSpPr>
        <p:spPr>
          <a:xfrm>
            <a:off x="838179" y="5105917"/>
            <a:ext cx="862289"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 Rechazo base</a:t>
            </a:r>
            <a:endParaRPr lang="en-US" sz="888" dirty="0"/>
          </a:p>
        </p:txBody>
      </p:sp>
      <p:sp>
        <p:nvSpPr>
          <p:cNvPr id="36" name="Text 33"/>
          <p:cNvSpPr/>
          <p:nvPr/>
        </p:nvSpPr>
        <p:spPr>
          <a:xfrm>
            <a:off x="761981" y="1508820"/>
            <a:ext cx="2333567" cy="133350"/>
          </a:xfrm>
          <a:prstGeom prst="rect">
            <a:avLst/>
          </a:prstGeom>
          <a:noFill/>
          <a:ln/>
        </p:spPr>
        <p:txBody>
          <a:bodyPr wrap="non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Pólizas / mes</a:t>
            </a:r>
            <a:endParaRPr lang="en-US" sz="864" dirty="0"/>
          </a:p>
        </p:txBody>
      </p:sp>
      <p:sp>
        <p:nvSpPr>
          <p:cNvPr id="37" name="Text 34"/>
          <p:cNvSpPr/>
          <p:nvPr/>
        </p:nvSpPr>
        <p:spPr>
          <a:xfrm>
            <a:off x="10708958" y="4448692"/>
            <a:ext cx="644558" cy="133350"/>
          </a:xfrm>
          <a:prstGeom prst="rect">
            <a:avLst/>
          </a:prstGeom>
          <a:noFill/>
          <a:ln/>
        </p:spPr>
        <p:txBody>
          <a:bodyPr wrap="none" lIns="0" tIns="0" rIns="0" bIns="0" rtlCol="0" anchor="t"/>
          <a:lstStyle/>
          <a:p>
            <a:pPr algn="r" indent="0" marL="0">
              <a:buNone/>
            </a:pPr>
            <a:r>
              <a:rPr lang="en-US" sz="888" b="1" dirty="0">
                <a:solidFill>
                  <a:srgbClr val="333333"/>
                </a:solidFill>
                <a:latin typeface="Raleway" pitchFamily="34" charset="0"/>
                <a:ea typeface="Raleway" pitchFamily="34" charset="-122"/>
                <a:cs typeface="Raleway" pitchFamily="34" charset="-120"/>
              </a:rPr>
              <a:t>≥ 3.000 (dic)</a:t>
            </a:r>
            <a:endParaRPr lang="en-US" sz="888" dirty="0"/>
          </a:p>
        </p:txBody>
      </p:sp>
      <p:sp>
        <p:nvSpPr>
          <p:cNvPr id="38" name="Text 35"/>
          <p:cNvSpPr/>
          <p:nvPr/>
        </p:nvSpPr>
        <p:spPr>
          <a:xfrm>
            <a:off x="838179" y="4886842"/>
            <a:ext cx="760642"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Productividad</a:t>
            </a:r>
            <a:endParaRPr lang="en-US" sz="888" dirty="0"/>
          </a:p>
        </p:txBody>
      </p:sp>
      <p:sp>
        <p:nvSpPr>
          <p:cNvPr id="39" name="Text 36"/>
          <p:cNvSpPr/>
          <p:nvPr/>
        </p:nvSpPr>
        <p:spPr>
          <a:xfrm>
            <a:off x="6343491" y="1181100"/>
            <a:ext cx="2333567" cy="289620"/>
          </a:xfrm>
          <a:prstGeom prst="rect">
            <a:avLst/>
          </a:prstGeom>
          <a:noFill/>
          <a:ln/>
        </p:spPr>
        <p:txBody>
          <a:bodyPr wrap="none" lIns="0" tIns="0" rIns="0" bIns="0" rtlCol="0" anchor="t"/>
          <a:lstStyle/>
          <a:p>
            <a:pPr algn="l" indent="0" marL="0">
              <a:buNone/>
            </a:pPr>
            <a:r>
              <a:rPr lang="en-US" sz="1600" b="1" dirty="0">
                <a:solidFill>
                  <a:srgbClr val="00CD93"/>
                </a:solidFill>
                <a:latin typeface="Raleway" pitchFamily="34" charset="0"/>
                <a:ea typeface="Raleway" pitchFamily="34" charset="-122"/>
                <a:cs typeface="Raleway" pitchFamily="34" charset="-120"/>
              </a:rPr>
              <a:t>Base limpia</a:t>
            </a:r>
            <a:endParaRPr lang="en-US" sz="1600" dirty="0"/>
          </a:p>
        </p:txBody>
      </p:sp>
      <p:sp>
        <p:nvSpPr>
          <p:cNvPr id="40" name="Text 37"/>
          <p:cNvSpPr/>
          <p:nvPr/>
        </p:nvSpPr>
        <p:spPr>
          <a:xfrm>
            <a:off x="828654" y="2996725"/>
            <a:ext cx="3158352" cy="149423"/>
          </a:xfrm>
          <a:prstGeom prst="rect">
            <a:avLst/>
          </a:prstGeom>
          <a:noFill/>
          <a:ln/>
        </p:spPr>
        <p:txBody>
          <a:bodyPr wrap="none" lIns="0" tIns="0" rIns="0" bIns="0" rtlCol="0" anchor="t"/>
          <a:lstStyle/>
          <a:p>
            <a:pPr algn="ctr" indent="0" marL="0">
              <a:buNone/>
            </a:pPr>
            <a:r>
              <a:rPr lang="en-US" sz="1176" b="1" dirty="0">
                <a:solidFill>
                  <a:srgbClr val="333333"/>
                </a:solidFill>
                <a:latin typeface="Raleway" pitchFamily="34" charset="0"/>
                <a:ea typeface="Raleway" pitchFamily="34" charset="-122"/>
                <a:cs typeface="Raleway" pitchFamily="34" charset="-120"/>
              </a:rPr>
              <a:t>60 % → 35 %</a:t>
            </a:r>
            <a:endParaRPr lang="en-US" sz="1176" dirty="0"/>
          </a:p>
        </p:txBody>
      </p:sp>
      <p:sp>
        <p:nvSpPr>
          <p:cNvPr id="41" name="Text 38"/>
          <p:cNvSpPr/>
          <p:nvPr/>
        </p:nvSpPr>
        <p:spPr>
          <a:xfrm>
            <a:off x="4516672" y="2996725"/>
            <a:ext cx="3158352" cy="149423"/>
          </a:xfrm>
          <a:prstGeom prst="rect">
            <a:avLst/>
          </a:prstGeom>
          <a:noFill/>
          <a:ln/>
        </p:spPr>
        <p:txBody>
          <a:bodyPr wrap="none" lIns="0" tIns="0" rIns="0" bIns="0" rtlCol="0" anchor="t"/>
          <a:lstStyle/>
          <a:p>
            <a:pPr algn="ctr" indent="0" marL="0">
              <a:buNone/>
            </a:pPr>
            <a:r>
              <a:rPr lang="en-US" sz="1176" b="1" dirty="0">
                <a:solidFill>
                  <a:srgbClr val="333333"/>
                </a:solidFill>
                <a:latin typeface="Raleway" pitchFamily="34" charset="0"/>
                <a:ea typeface="Raleway" pitchFamily="34" charset="-122"/>
                <a:cs typeface="Raleway" pitchFamily="34" charset="-120"/>
              </a:rPr>
              <a:t>64K → 110K</a:t>
            </a:r>
            <a:endParaRPr lang="en-US" sz="1176" dirty="0"/>
          </a:p>
        </p:txBody>
      </p:sp>
      <p:sp>
        <p:nvSpPr>
          <p:cNvPr id="42" name="Text 39"/>
          <p:cNvSpPr/>
          <p:nvPr/>
        </p:nvSpPr>
        <p:spPr>
          <a:xfrm>
            <a:off x="8204689" y="2996725"/>
            <a:ext cx="3158352" cy="149423"/>
          </a:xfrm>
          <a:prstGeom prst="rect">
            <a:avLst/>
          </a:prstGeom>
          <a:noFill/>
          <a:ln/>
        </p:spPr>
        <p:txBody>
          <a:bodyPr wrap="none" lIns="0" tIns="0" rIns="0" bIns="0" rtlCol="0" anchor="t"/>
          <a:lstStyle/>
          <a:p>
            <a:pPr algn="ctr" indent="0" marL="0">
              <a:buNone/>
            </a:pPr>
            <a:r>
              <a:rPr lang="en-US" sz="1176" b="1" dirty="0">
                <a:solidFill>
                  <a:srgbClr val="333333"/>
                </a:solidFill>
                <a:latin typeface="Raleway" pitchFamily="34" charset="0"/>
                <a:ea typeface="Raleway" pitchFamily="34" charset="-122"/>
                <a:cs typeface="Raleway" pitchFamily="34" charset="-120"/>
              </a:rPr>
              <a:t>≈ 3.760</a:t>
            </a:r>
            <a:endParaRPr lang="en-US" sz="1176" dirty="0"/>
          </a:p>
        </p:txBody>
      </p:sp>
      <p:sp>
        <p:nvSpPr>
          <p:cNvPr id="43" name="Text 40"/>
          <p:cNvSpPr/>
          <p:nvPr/>
        </p:nvSpPr>
        <p:spPr>
          <a:xfrm>
            <a:off x="4377968" y="4181992"/>
            <a:ext cx="4660883"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Fórmula</a:t>
            </a:r>
            <a:endParaRPr lang="en-US" sz="888" dirty="0"/>
          </a:p>
        </p:txBody>
      </p:sp>
      <p:sp>
        <p:nvSpPr>
          <p:cNvPr id="44" name="Text 41"/>
          <p:cNvSpPr/>
          <p:nvPr/>
        </p:nvSpPr>
        <p:spPr>
          <a:xfrm>
            <a:off x="9038850" y="4181992"/>
            <a:ext cx="2428963" cy="22860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Meta 2S</a:t>
            </a:r>
            <a:endParaRPr lang="en-US" sz="888" dirty="0"/>
          </a:p>
        </p:txBody>
      </p:sp>
      <p:sp>
        <p:nvSpPr>
          <p:cNvPr id="45" name="Text 42"/>
          <p:cNvSpPr/>
          <p:nvPr/>
        </p:nvSpPr>
        <p:spPr>
          <a:xfrm>
            <a:off x="11013155" y="4667767"/>
            <a:ext cx="340361" cy="133350"/>
          </a:xfrm>
          <a:prstGeom prst="rect">
            <a:avLst/>
          </a:prstGeom>
          <a:noFill/>
          <a:ln/>
        </p:spPr>
        <p:txBody>
          <a:bodyPr wrap="none" lIns="0" tIns="0" rIns="0" bIns="0" rtlCol="0" anchor="t"/>
          <a:lstStyle/>
          <a:p>
            <a:pPr algn="r" indent="0" marL="0">
              <a:buNone/>
            </a:pPr>
            <a:r>
              <a:rPr lang="en-US" sz="888" b="1" dirty="0">
                <a:solidFill>
                  <a:srgbClr val="333333"/>
                </a:solidFill>
                <a:latin typeface="Raleway" pitchFamily="34" charset="0"/>
                <a:ea typeface="Raleway" pitchFamily="34" charset="-122"/>
                <a:cs typeface="Raleway" pitchFamily="34" charset="-120"/>
              </a:rPr>
              <a:t>≥ 90 %</a:t>
            </a:r>
            <a:endParaRPr lang="en-US" sz="888" dirty="0"/>
          </a:p>
        </p:txBody>
      </p:sp>
      <p:sp>
        <p:nvSpPr>
          <p:cNvPr id="46" name="Text 43"/>
          <p:cNvSpPr/>
          <p:nvPr/>
        </p:nvSpPr>
        <p:spPr>
          <a:xfrm>
            <a:off x="11018959" y="5105917"/>
            <a:ext cx="334557" cy="133350"/>
          </a:xfrm>
          <a:prstGeom prst="rect">
            <a:avLst/>
          </a:prstGeom>
          <a:noFill/>
          <a:ln/>
        </p:spPr>
        <p:txBody>
          <a:bodyPr wrap="none" lIns="0" tIns="0" rIns="0" bIns="0" rtlCol="0" anchor="t"/>
          <a:lstStyle/>
          <a:p>
            <a:pPr algn="r" indent="0" marL="0">
              <a:buNone/>
            </a:pPr>
            <a:r>
              <a:rPr lang="en-US" sz="888" b="1" dirty="0">
                <a:solidFill>
                  <a:srgbClr val="333333"/>
                </a:solidFill>
                <a:latin typeface="Raleway" pitchFamily="34" charset="0"/>
                <a:ea typeface="Raleway" pitchFamily="34" charset="-122"/>
                <a:cs typeface="Raleway" pitchFamily="34" charset="-120"/>
              </a:rPr>
              <a:t>&lt; 40 %</a:t>
            </a:r>
            <a:endParaRPr lang="en-US" sz="888" dirty="0"/>
          </a:p>
        </p:txBody>
      </p:sp>
      <p:sp>
        <p:nvSpPr>
          <p:cNvPr id="47" name="Text 44"/>
          <p:cNvSpPr/>
          <p:nvPr/>
        </p:nvSpPr>
        <p:spPr>
          <a:xfrm>
            <a:off x="11023870" y="5324992"/>
            <a:ext cx="329646" cy="133350"/>
          </a:xfrm>
          <a:prstGeom prst="rect">
            <a:avLst/>
          </a:prstGeom>
          <a:noFill/>
          <a:ln/>
        </p:spPr>
        <p:txBody>
          <a:bodyPr wrap="none" lIns="0" tIns="0" rIns="0" bIns="0" rtlCol="0" anchor="t"/>
          <a:lstStyle/>
          <a:p>
            <a:pPr algn="r" indent="0" marL="0">
              <a:buNone/>
            </a:pPr>
            <a:r>
              <a:rPr lang="en-US" sz="888" b="1" dirty="0">
                <a:solidFill>
                  <a:srgbClr val="333333"/>
                </a:solidFill>
                <a:latin typeface="Raleway" pitchFamily="34" charset="0"/>
                <a:ea typeface="Raleway" pitchFamily="34" charset="-122"/>
                <a:cs typeface="Raleway" pitchFamily="34" charset="-120"/>
              </a:rPr>
              <a:t>≥ 55 %</a:t>
            </a:r>
            <a:endParaRPr lang="en-US" sz="888" dirty="0"/>
          </a:p>
        </p:txBody>
      </p:sp>
      <p:sp>
        <p:nvSpPr>
          <p:cNvPr id="48" name="Text 45"/>
          <p:cNvSpPr/>
          <p:nvPr/>
        </p:nvSpPr>
        <p:spPr>
          <a:xfrm>
            <a:off x="761981" y="118110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3.000</a:t>
            </a:r>
            <a:endParaRPr lang="en-US" sz="1600" dirty="0"/>
          </a:p>
        </p:txBody>
      </p:sp>
      <p:sp>
        <p:nvSpPr>
          <p:cNvPr id="49" name="Text 46"/>
          <p:cNvSpPr/>
          <p:nvPr/>
        </p:nvSpPr>
        <p:spPr>
          <a:xfrm>
            <a:off x="3552736" y="1181100"/>
            <a:ext cx="2333567" cy="289620"/>
          </a:xfrm>
          <a:prstGeom prst="rect">
            <a:avLst/>
          </a:prstGeom>
          <a:noFill/>
          <a:ln/>
        </p:spPr>
        <p:txBody>
          <a:bodyPr wrap="none" lIns="0" tIns="0" rIns="0" bIns="0" rtlCol="0" anchor="t"/>
          <a:lstStyle/>
          <a:p>
            <a:pPr algn="l" indent="0" marL="0">
              <a:buNone/>
            </a:pPr>
            <a:r>
              <a:rPr lang="en-US" sz="1600" b="1" dirty="0">
                <a:solidFill>
                  <a:srgbClr val="FF6B35"/>
                </a:solidFill>
                <a:latin typeface="Raleway" pitchFamily="34" charset="0"/>
                <a:ea typeface="Raleway" pitchFamily="34" charset="-122"/>
                <a:cs typeface="Raleway" pitchFamily="34" charset="-120"/>
              </a:rPr>
              <a:t>~245K</a:t>
            </a:r>
            <a:endParaRPr lang="en-US" sz="1600" dirty="0"/>
          </a:p>
        </p:txBody>
      </p:sp>
      <p:sp>
        <p:nvSpPr>
          <p:cNvPr id="50" name="Text 47"/>
          <p:cNvSpPr/>
          <p:nvPr/>
        </p:nvSpPr>
        <p:spPr>
          <a:xfrm>
            <a:off x="9134247" y="1181100"/>
            <a:ext cx="2333567" cy="289620"/>
          </a:xfrm>
          <a:prstGeom prst="rect">
            <a:avLst/>
          </a:prstGeom>
          <a:noFill/>
          <a:ln/>
        </p:spPr>
        <p:txBody>
          <a:bodyPr wrap="none" lIns="0" tIns="0" rIns="0" bIns="0" rtlCol="0" anchor="t"/>
          <a:lstStyle/>
          <a:p>
            <a:pPr algn="l" indent="0" marL="0">
              <a:buNone/>
            </a:pPr>
            <a:r>
              <a:rPr lang="en-US" sz="1600" b="1" dirty="0">
                <a:solidFill>
                  <a:srgbClr val="120180"/>
                </a:solidFill>
                <a:latin typeface="Raleway" pitchFamily="34" charset="0"/>
                <a:ea typeface="Raleway" pitchFamily="34" charset="-122"/>
                <a:cs typeface="Raleway" pitchFamily="34" charset="-120"/>
              </a:rPr>
              <a:t>2.407</a:t>
            </a:r>
            <a:endParaRPr lang="en-US" sz="1600" dirty="0"/>
          </a:p>
        </p:txBody>
      </p:sp>
      <p:sp>
        <p:nvSpPr>
          <p:cNvPr id="51" name="Text 48"/>
          <p:cNvSpPr/>
          <p:nvPr/>
        </p:nvSpPr>
        <p:spPr>
          <a:xfrm>
            <a:off x="11075066" y="4886842"/>
            <a:ext cx="278450" cy="133350"/>
          </a:xfrm>
          <a:prstGeom prst="rect">
            <a:avLst/>
          </a:prstGeom>
          <a:noFill/>
          <a:ln/>
        </p:spPr>
        <p:txBody>
          <a:bodyPr wrap="none" lIns="0" tIns="0" rIns="0" bIns="0" rtlCol="0" anchor="t"/>
          <a:lstStyle/>
          <a:p>
            <a:pPr algn="r" indent="0" marL="0">
              <a:buNone/>
            </a:pPr>
            <a:r>
              <a:rPr lang="en-US" sz="888" b="1" dirty="0">
                <a:solidFill>
                  <a:srgbClr val="333333"/>
                </a:solidFill>
                <a:latin typeface="Raleway" pitchFamily="34" charset="0"/>
                <a:ea typeface="Raleway" pitchFamily="34" charset="-122"/>
                <a:cs typeface="Raleway" pitchFamily="34" charset="-120"/>
              </a:rPr>
              <a:t>≥ 140</a:t>
            </a:r>
            <a:endParaRPr lang="en-US" sz="888" dirty="0"/>
          </a:p>
        </p:txBody>
      </p:sp>
      <p:sp>
        <p:nvSpPr>
          <p:cNvPr id="52" name="Text 49"/>
          <p:cNvSpPr/>
          <p:nvPr/>
        </p:nvSpPr>
        <p:spPr>
          <a:xfrm>
            <a:off x="723882" y="4181992"/>
            <a:ext cx="3654086" cy="22860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KPI</a:t>
            </a:r>
            <a:endParaRPr lang="en-US" sz="888" dirty="0"/>
          </a:p>
        </p:txBody>
      </p:sp>
      <p:sp>
        <p:nvSpPr>
          <p:cNvPr id="53" name="Text 50"/>
          <p:cNvSpPr/>
          <p:nvPr/>
        </p:nvSpPr>
        <p:spPr>
          <a:xfrm>
            <a:off x="4167976" y="2959964"/>
            <a:ext cx="182880" cy="228600"/>
          </a:xfrm>
          <a:prstGeom prst="rect">
            <a:avLst/>
          </a:prstGeom>
          <a:noFill/>
          <a:ln/>
        </p:spPr>
        <p:txBody>
          <a:bodyPr wrap="none" lIns="0" tIns="0" rIns="0" bIns="0" rtlCol="0" anchor="t"/>
          <a:lstStyle/>
          <a:p>
            <a:pPr algn="l" indent="0" marL="0">
              <a:buNone/>
            </a:pPr>
            <a:r>
              <a:rPr lang="en-US" sz="1320" b="1" dirty="0">
                <a:solidFill>
                  <a:srgbClr val="333333"/>
                </a:solidFill>
                <a:latin typeface="Raleway" pitchFamily="34" charset="0"/>
                <a:ea typeface="Raleway" pitchFamily="34" charset="-122"/>
                <a:cs typeface="Raleway" pitchFamily="34" charset="-120"/>
              </a:rPr>
              <a:t>→</a:t>
            </a:r>
            <a:endParaRPr lang="en-US" sz="1320" dirty="0"/>
          </a:p>
        </p:txBody>
      </p:sp>
      <p:sp>
        <p:nvSpPr>
          <p:cNvPr id="54" name="Text 51"/>
          <p:cNvSpPr/>
          <p:nvPr/>
        </p:nvSpPr>
        <p:spPr>
          <a:xfrm>
            <a:off x="7855994" y="2959964"/>
            <a:ext cx="182880" cy="228600"/>
          </a:xfrm>
          <a:prstGeom prst="rect">
            <a:avLst/>
          </a:prstGeom>
          <a:noFill/>
          <a:ln/>
        </p:spPr>
        <p:txBody>
          <a:bodyPr wrap="none" lIns="0" tIns="0" rIns="0" bIns="0" rtlCol="0" anchor="t"/>
          <a:lstStyle/>
          <a:p>
            <a:pPr algn="l" indent="0" marL="0">
              <a:buNone/>
            </a:pPr>
            <a:r>
              <a:rPr lang="en-US" sz="1320" b="1" dirty="0">
                <a:solidFill>
                  <a:srgbClr val="333333"/>
                </a:solidFill>
                <a:latin typeface="Raleway" pitchFamily="34" charset="0"/>
                <a:ea typeface="Raleway" pitchFamily="34" charset="-122"/>
                <a:cs typeface="Raleway" pitchFamily="34" charset="-120"/>
              </a:rPr>
              <a:t>→</a:t>
            </a:r>
            <a:endParaRPr lang="en-US" sz="13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01_Repositorios\13_Presentaciones\dash\televentas\ppt_slides\sk_21_Iniciativ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1933575"/>
            <a:ext cx="10343891" cy="254943"/>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Diagnóstico individual de dificultades, talleres guiados en la Universidad ILAO y seguimiento cercano por asesor.</a:t>
            </a:r>
            <a:endParaRPr lang="en-US" sz="888" dirty="0"/>
          </a:p>
        </p:txBody>
      </p:sp>
      <p:sp>
        <p:nvSpPr>
          <p:cNvPr id="4" name="Text 1"/>
          <p:cNvSpPr/>
          <p:nvPr/>
        </p:nvSpPr>
        <p:spPr>
          <a:xfrm>
            <a:off x="1213514" y="219075"/>
            <a:ext cx="4392999"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5" name="Text 2"/>
          <p:cNvSpPr/>
          <p:nvPr/>
        </p:nvSpPr>
        <p:spPr>
          <a:xfrm>
            <a:off x="1304892" y="1762125"/>
            <a:ext cx="9762881" cy="133350"/>
          </a:xfrm>
          <a:prstGeom prst="rect">
            <a:avLst/>
          </a:prstGeom>
          <a:noFill/>
          <a:ln/>
        </p:spPr>
        <p:txBody>
          <a:bodyPr wrap="non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Acompañamiento 1-a-1 para baja conversión en CP.</a:t>
            </a:r>
            <a:endParaRPr lang="en-US" sz="840" dirty="0"/>
          </a:p>
        </p:txBody>
      </p:sp>
      <p:sp>
        <p:nvSpPr>
          <p:cNvPr id="6" name="Text 3"/>
          <p:cNvSpPr/>
          <p:nvPr/>
        </p:nvSpPr>
        <p:spPr>
          <a:xfrm>
            <a:off x="1304892" y="2626668"/>
            <a:ext cx="9762881" cy="133350"/>
          </a:xfrm>
          <a:prstGeom prst="rect">
            <a:avLst/>
          </a:prstGeom>
          <a:noFill/>
          <a:ln/>
        </p:spPr>
        <p:txBody>
          <a:bodyPr wrap="non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Replicar las técnicas de Jesús, Melissa y Luisa.</a:t>
            </a:r>
            <a:endParaRPr lang="en-US" sz="840" dirty="0"/>
          </a:p>
        </p:txBody>
      </p:sp>
      <p:sp>
        <p:nvSpPr>
          <p:cNvPr id="7" name="Text 4"/>
          <p:cNvSpPr/>
          <p:nvPr/>
        </p:nvSpPr>
        <p:spPr>
          <a:xfrm>
            <a:off x="5663662" y="3845868"/>
            <a:ext cx="2670059" cy="24765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Bases limpias contra producto ya activo (Vanti)</a:t>
            </a:r>
            <a:endParaRPr lang="en-US" sz="816" dirty="0"/>
          </a:p>
        </p:txBody>
      </p:sp>
      <p:sp>
        <p:nvSpPr>
          <p:cNvPr id="8" name="Text 5"/>
          <p:cNvSpPr/>
          <p:nvPr/>
        </p:nvSpPr>
        <p:spPr>
          <a:xfrm>
            <a:off x="781030" y="3845868"/>
            <a:ext cx="2637913" cy="24765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asesores nuevos en julio (→23 en operación)</a:t>
            </a:r>
            <a:endParaRPr lang="en-US" sz="816" dirty="0"/>
          </a:p>
        </p:txBody>
      </p:sp>
      <p:sp>
        <p:nvSpPr>
          <p:cNvPr id="9" name="Text 6"/>
          <p:cNvSpPr/>
          <p:nvPr/>
        </p:nvSpPr>
        <p:spPr>
          <a:xfrm>
            <a:off x="1304892" y="3198168"/>
            <a:ext cx="9762881" cy="133350"/>
          </a:xfrm>
          <a:prstGeom prst="rect">
            <a:avLst/>
          </a:prstGeom>
          <a:noFill/>
          <a:ln/>
        </p:spPr>
        <p:txBody>
          <a:bodyPr wrap="non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Resiliencia y manejo del estrés del equipo.</a:t>
            </a:r>
            <a:endParaRPr lang="en-US" sz="840" dirty="0"/>
          </a:p>
        </p:txBody>
      </p:sp>
      <p:sp>
        <p:nvSpPr>
          <p:cNvPr id="10" name="Text 7"/>
          <p:cNvSpPr/>
          <p:nvPr/>
        </p:nvSpPr>
        <p:spPr>
          <a:xfrm>
            <a:off x="1304892" y="3045768"/>
            <a:ext cx="9762881" cy="142875"/>
          </a:xfrm>
          <a:prstGeom prst="rect">
            <a:avLst/>
          </a:prstGeom>
          <a:noFill/>
          <a:ln/>
        </p:spPr>
        <p:txBody>
          <a:bodyPr wrap="none" lIns="0" tIns="0" rIns="0" bIns="0" rtlCol="0" anchor="t"/>
          <a:lstStyle/>
          <a:p>
            <a:pPr algn="l" indent="0" marL="0">
              <a:buNone/>
            </a:pPr>
            <a:r>
              <a:rPr lang="en-US" sz="984" b="1" dirty="0">
                <a:solidFill>
                  <a:srgbClr val="333333"/>
                </a:solidFill>
                <a:latin typeface="Raleway" pitchFamily="34" charset="0"/>
                <a:ea typeface="Raleway" pitchFamily="34" charset="-122"/>
                <a:cs typeface="Raleway" pitchFamily="34" charset="-120"/>
              </a:rPr>
              <a:t>Desarrollo Emocional (Gestión Humana)</a:t>
            </a:r>
            <a:endParaRPr lang="en-US" sz="984" dirty="0"/>
          </a:p>
        </p:txBody>
      </p:sp>
      <p:sp>
        <p:nvSpPr>
          <p:cNvPr id="11" name="Text 8"/>
          <p:cNvSpPr/>
          <p:nvPr/>
        </p:nvSpPr>
        <p:spPr>
          <a:xfrm>
            <a:off x="3495141" y="3845868"/>
            <a:ext cx="2092322" cy="24765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CRM con validaciones automáticas</a:t>
            </a:r>
            <a:endParaRPr lang="en-US" sz="816" dirty="0"/>
          </a:p>
        </p:txBody>
      </p:sp>
      <p:sp>
        <p:nvSpPr>
          <p:cNvPr id="12" name="Text 9"/>
          <p:cNvSpPr/>
          <p:nvPr/>
        </p:nvSpPr>
        <p:spPr>
          <a:xfrm>
            <a:off x="781030" y="1181100"/>
            <a:ext cx="1996628" cy="1524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Estrategia Comercial 2S 2026</a:t>
            </a:r>
            <a:endParaRPr lang="en-US" sz="1020" dirty="0"/>
          </a:p>
        </p:txBody>
      </p:sp>
      <p:sp>
        <p:nvSpPr>
          <p:cNvPr id="13" name="Text 10"/>
          <p:cNvSpPr/>
          <p:nvPr/>
        </p:nvSpPr>
        <p:spPr>
          <a:xfrm>
            <a:off x="1304892" y="2474268"/>
            <a:ext cx="9762881" cy="142875"/>
          </a:xfrm>
          <a:prstGeom prst="rect">
            <a:avLst/>
          </a:prstGeom>
          <a:noFill/>
          <a:ln/>
        </p:spPr>
        <p:txBody>
          <a:bodyPr wrap="none" lIns="0" tIns="0" rIns="0" bIns="0" rtlCol="0" anchor="t"/>
          <a:lstStyle/>
          <a:p>
            <a:pPr algn="l" indent="0" marL="0">
              <a:buNone/>
            </a:pPr>
            <a:r>
              <a:rPr lang="en-US" sz="984" b="1" dirty="0">
                <a:solidFill>
                  <a:srgbClr val="333333"/>
                </a:solidFill>
                <a:latin typeface="Raleway" pitchFamily="34" charset="0"/>
                <a:ea typeface="Raleway" pitchFamily="34" charset="-122"/>
                <a:cs typeface="Raleway" pitchFamily="34" charset="-120"/>
              </a:rPr>
              <a:t>Modelado de Top Performers</a:t>
            </a:r>
            <a:endParaRPr lang="en-US" sz="984" dirty="0"/>
          </a:p>
        </p:txBody>
      </p:sp>
      <p:sp>
        <p:nvSpPr>
          <p:cNvPr id="14" name="Text 11"/>
          <p:cNvSpPr/>
          <p:nvPr/>
        </p:nvSpPr>
        <p:spPr>
          <a:xfrm>
            <a:off x="781030" y="3655368"/>
            <a:ext cx="10629634" cy="133350"/>
          </a:xfrm>
          <a:prstGeom prst="rect">
            <a:avLst/>
          </a:prstGeom>
          <a:noFill/>
          <a:ln/>
        </p:spPr>
        <p:txBody>
          <a:bodyPr wrap="non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Recursos clave requeridos</a:t>
            </a:r>
            <a:endParaRPr lang="en-US" sz="816" dirty="0"/>
          </a:p>
        </p:txBody>
      </p:sp>
      <p:sp>
        <p:nvSpPr>
          <p:cNvPr id="15" name="Text 12"/>
          <p:cNvSpPr/>
          <p:nvPr/>
        </p:nvSpPr>
        <p:spPr>
          <a:xfrm>
            <a:off x="1304892" y="1609725"/>
            <a:ext cx="9762881" cy="142875"/>
          </a:xfrm>
          <a:prstGeom prst="rect">
            <a:avLst/>
          </a:prstGeom>
          <a:noFill/>
          <a:ln/>
        </p:spPr>
        <p:txBody>
          <a:bodyPr wrap="none" lIns="0" tIns="0" rIns="0" bIns="0" rtlCol="0" anchor="t"/>
          <a:lstStyle/>
          <a:p>
            <a:pPr algn="l" indent="0" marL="0">
              <a:buNone/>
            </a:pPr>
            <a:r>
              <a:rPr lang="en-US" sz="984" b="1" dirty="0">
                <a:solidFill>
                  <a:srgbClr val="333333"/>
                </a:solidFill>
                <a:latin typeface="Raleway" pitchFamily="34" charset="0"/>
                <a:ea typeface="Raleway" pitchFamily="34" charset="-122"/>
                <a:cs typeface="Raleway" pitchFamily="34" charset="-120"/>
              </a:rPr>
              <a:t>School Master Comercial</a:t>
            </a:r>
            <a:endParaRPr lang="en-US" sz="984" dirty="0"/>
          </a:p>
        </p:txBody>
      </p:sp>
      <p:sp>
        <p:nvSpPr>
          <p:cNvPr id="16" name="Text 13"/>
          <p:cNvSpPr/>
          <p:nvPr/>
        </p:nvSpPr>
        <p:spPr>
          <a:xfrm>
            <a:off x="9872713" y="209550"/>
            <a:ext cx="1747496"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17" name="Text 14"/>
          <p:cNvSpPr/>
          <p:nvPr/>
        </p:nvSpPr>
        <p:spPr>
          <a:xfrm>
            <a:off x="8552939" y="1123950"/>
            <a:ext cx="969591" cy="266700"/>
          </a:xfrm>
          <a:prstGeom prst="rect">
            <a:avLst/>
          </a:prstGeom>
          <a:noFill/>
          <a:ln/>
        </p:spPr>
        <p:txBody>
          <a:bodyPr wrap="none" lIns="0" tIns="0" rIns="0" bIns="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Iniciativas</a:t>
            </a:r>
            <a:endParaRPr lang="en-US" sz="864" dirty="0"/>
          </a:p>
        </p:txBody>
      </p:sp>
      <p:sp>
        <p:nvSpPr>
          <p:cNvPr id="18" name="Text 15"/>
          <p:cNvSpPr/>
          <p:nvPr/>
        </p:nvSpPr>
        <p:spPr>
          <a:xfrm>
            <a:off x="9579678" y="1123950"/>
            <a:ext cx="1101598"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Cronograma</a:t>
            </a:r>
            <a:endParaRPr lang="en-US" sz="864" dirty="0"/>
          </a:p>
        </p:txBody>
      </p:sp>
      <p:sp>
        <p:nvSpPr>
          <p:cNvPr id="19" name="Text 16"/>
          <p:cNvSpPr/>
          <p:nvPr/>
        </p:nvSpPr>
        <p:spPr>
          <a:xfrm>
            <a:off x="10738425" y="1123950"/>
            <a:ext cx="672240"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KPIs</a:t>
            </a:r>
            <a:endParaRPr lang="en-US" sz="864" dirty="0"/>
          </a:p>
        </p:txBody>
      </p:sp>
      <p:sp>
        <p:nvSpPr>
          <p:cNvPr id="20" name="Text 17"/>
          <p:cNvSpPr/>
          <p:nvPr/>
        </p:nvSpPr>
        <p:spPr>
          <a:xfrm>
            <a:off x="11163021" y="1676400"/>
            <a:ext cx="182880" cy="152400"/>
          </a:xfrm>
          <a:prstGeom prst="rect">
            <a:avLst/>
          </a:prstGeom>
          <a:noFill/>
          <a:ln/>
        </p:spPr>
        <p:txBody>
          <a:bodyPr wrap="non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
        <p:nvSpPr>
          <p:cNvPr id="21" name="Text 18"/>
          <p:cNvSpPr/>
          <p:nvPr/>
        </p:nvSpPr>
        <p:spPr>
          <a:xfrm>
            <a:off x="11163021" y="2540943"/>
            <a:ext cx="182880" cy="152400"/>
          </a:xfrm>
          <a:prstGeom prst="rect">
            <a:avLst/>
          </a:prstGeom>
          <a:noFill/>
          <a:ln/>
        </p:spPr>
        <p:txBody>
          <a:bodyPr wrap="non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
        <p:nvSpPr>
          <p:cNvPr id="22" name="Text 19"/>
          <p:cNvSpPr/>
          <p:nvPr/>
        </p:nvSpPr>
        <p:spPr>
          <a:xfrm>
            <a:off x="11163021" y="3112443"/>
            <a:ext cx="182880" cy="152400"/>
          </a:xfrm>
          <a:prstGeom prst="rect">
            <a:avLst/>
          </a:prstGeom>
          <a:noFill/>
          <a:ln/>
        </p:spPr>
        <p:txBody>
          <a:bodyPr wrap="none" lIns="0" tIns="0" rIns="0" bIns="0" rtlCol="0" anchor="t"/>
          <a:lstStyle/>
          <a:p>
            <a:pPr algn="l" indent="0" marL="0">
              <a:buNone/>
            </a:pPr>
            <a:r>
              <a:rPr lang="en-US" sz="960" dirty="0">
                <a:solidFill>
                  <a:srgbClr val="9098B0"/>
                </a:solidFill>
                <a:latin typeface="Raleway" pitchFamily="34" charset="0"/>
                <a:ea typeface="Raleway" pitchFamily="34" charset="-122"/>
                <a:cs typeface="Raleway" pitchFamily="34" charset="-120"/>
              </a:rPr>
              <a:t>▾</a:t>
            </a:r>
            <a:endParaRPr lang="en-US" sz="9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C:\01_Repositorios\13_Presentaciones\dash\televentas\ppt_slides\sk_21_Cronogra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4392999"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4" name="Text 1"/>
          <p:cNvSpPr/>
          <p:nvPr/>
        </p:nvSpPr>
        <p:spPr>
          <a:xfrm>
            <a:off x="781030" y="1181100"/>
            <a:ext cx="1996628" cy="1524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Estrategia Comercial 2S 2026</a:t>
            </a:r>
            <a:endParaRPr lang="en-US" sz="1020" dirty="0"/>
          </a:p>
        </p:txBody>
      </p:sp>
      <p:sp>
        <p:nvSpPr>
          <p:cNvPr id="5" name="Text 2"/>
          <p:cNvSpPr/>
          <p:nvPr/>
        </p:nvSpPr>
        <p:spPr>
          <a:xfrm>
            <a:off x="914377" y="2260765"/>
            <a:ext cx="1586022"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Plan de desarrollo emocional</a:t>
            </a:r>
            <a:endParaRPr lang="en-US" sz="888" dirty="0"/>
          </a:p>
        </p:txBody>
      </p:sp>
      <p:sp>
        <p:nvSpPr>
          <p:cNvPr id="6" name="Text 3"/>
          <p:cNvSpPr/>
          <p:nvPr/>
        </p:nvSpPr>
        <p:spPr>
          <a:xfrm>
            <a:off x="914377" y="2594140"/>
            <a:ext cx="1532147"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Bases limpias y actualizadas</a:t>
            </a:r>
            <a:endParaRPr lang="en-US" sz="888" dirty="0"/>
          </a:p>
        </p:txBody>
      </p:sp>
      <p:sp>
        <p:nvSpPr>
          <p:cNvPr id="7" name="Text 4"/>
          <p:cNvSpPr/>
          <p:nvPr/>
        </p:nvSpPr>
        <p:spPr>
          <a:xfrm>
            <a:off x="914377" y="2927515"/>
            <a:ext cx="1512502"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Optimización de equipos PC</a:t>
            </a:r>
            <a:endParaRPr lang="en-US" sz="888" dirty="0"/>
          </a:p>
        </p:txBody>
      </p:sp>
      <p:sp>
        <p:nvSpPr>
          <p:cNvPr id="8" name="Text 5"/>
          <p:cNvSpPr/>
          <p:nvPr/>
        </p:nvSpPr>
        <p:spPr>
          <a:xfrm>
            <a:off x="9872713" y="209550"/>
            <a:ext cx="1747496"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9" name="Text 6"/>
          <p:cNvSpPr/>
          <p:nvPr/>
        </p:nvSpPr>
        <p:spPr>
          <a:xfrm>
            <a:off x="914377" y="1927390"/>
            <a:ext cx="1035223" cy="133350"/>
          </a:xfrm>
          <a:prstGeom prst="rect">
            <a:avLst/>
          </a:prstGeom>
          <a:noFill/>
          <a:ln/>
        </p:spPr>
        <p:txBody>
          <a:bodyPr wrap="none" lIns="0" tIns="0" rIns="0" bIns="0" rtlCol="0" anchor="t"/>
          <a:lstStyle/>
          <a:p>
            <a:pPr algn="l" indent="0" marL="0">
              <a:buNone/>
            </a:pPr>
            <a:r>
              <a:rPr lang="en-US" sz="888" b="1" dirty="0">
                <a:solidFill>
                  <a:srgbClr val="333333"/>
                </a:solidFill>
                <a:latin typeface="Raleway" pitchFamily="34" charset="0"/>
                <a:ea typeface="Raleway" pitchFamily="34" charset="-122"/>
                <a:cs typeface="Raleway" pitchFamily="34" charset="-120"/>
              </a:rPr>
              <a:t>Control de tiempos</a:t>
            </a:r>
            <a:endParaRPr lang="en-US" sz="888" dirty="0"/>
          </a:p>
        </p:txBody>
      </p:sp>
      <p:sp>
        <p:nvSpPr>
          <p:cNvPr id="10" name="Text 7"/>
          <p:cNvSpPr/>
          <p:nvPr/>
        </p:nvSpPr>
        <p:spPr>
          <a:xfrm>
            <a:off x="781030" y="1508290"/>
            <a:ext cx="3428765" cy="3238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Frente / Acción</a:t>
            </a:r>
            <a:endParaRPr lang="en-US" sz="888" dirty="0"/>
          </a:p>
        </p:txBody>
      </p:sp>
      <p:sp>
        <p:nvSpPr>
          <p:cNvPr id="11" name="Text 8"/>
          <p:cNvSpPr/>
          <p:nvPr/>
        </p:nvSpPr>
        <p:spPr>
          <a:xfrm>
            <a:off x="4209796" y="2160753"/>
            <a:ext cx="1902869" cy="333375"/>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GH / Líderes</a:t>
            </a:r>
            <a:endParaRPr lang="en-US" sz="888" dirty="0"/>
          </a:p>
        </p:txBody>
      </p:sp>
      <p:sp>
        <p:nvSpPr>
          <p:cNvPr id="12" name="Text 9"/>
          <p:cNvSpPr/>
          <p:nvPr/>
        </p:nvSpPr>
        <p:spPr>
          <a:xfrm>
            <a:off x="8552939" y="1123950"/>
            <a:ext cx="969591"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Iniciativas</a:t>
            </a:r>
            <a:endParaRPr lang="en-US" sz="864" dirty="0"/>
          </a:p>
        </p:txBody>
      </p:sp>
      <p:sp>
        <p:nvSpPr>
          <p:cNvPr id="13" name="Text 10"/>
          <p:cNvSpPr/>
          <p:nvPr/>
        </p:nvSpPr>
        <p:spPr>
          <a:xfrm>
            <a:off x="4209796" y="1508290"/>
            <a:ext cx="1902869" cy="3238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Responsable</a:t>
            </a:r>
            <a:endParaRPr lang="en-US" sz="888" dirty="0"/>
          </a:p>
        </p:txBody>
      </p:sp>
      <p:sp>
        <p:nvSpPr>
          <p:cNvPr id="14" name="Text 11"/>
          <p:cNvSpPr/>
          <p:nvPr/>
        </p:nvSpPr>
        <p:spPr>
          <a:xfrm>
            <a:off x="9579678" y="1123950"/>
            <a:ext cx="1101598" cy="266700"/>
          </a:xfrm>
          <a:prstGeom prst="rect">
            <a:avLst/>
          </a:prstGeom>
          <a:noFill/>
          <a:ln/>
        </p:spPr>
        <p:txBody>
          <a:bodyPr wrap="none" lIns="0" tIns="0" rIns="0" bIns="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Cronograma</a:t>
            </a:r>
            <a:endParaRPr lang="en-US" sz="864" dirty="0"/>
          </a:p>
        </p:txBody>
      </p:sp>
      <p:sp>
        <p:nvSpPr>
          <p:cNvPr id="15" name="Text 12"/>
          <p:cNvSpPr/>
          <p:nvPr/>
        </p:nvSpPr>
        <p:spPr>
          <a:xfrm>
            <a:off x="4209796" y="2827503"/>
            <a:ext cx="1902869" cy="328613"/>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Tecnología</a:t>
            </a:r>
            <a:endParaRPr lang="en-US" sz="888" dirty="0"/>
          </a:p>
        </p:txBody>
      </p:sp>
      <p:sp>
        <p:nvSpPr>
          <p:cNvPr id="16" name="Text 13"/>
          <p:cNvSpPr/>
          <p:nvPr/>
        </p:nvSpPr>
        <p:spPr>
          <a:xfrm>
            <a:off x="4209796" y="1832140"/>
            <a:ext cx="1902869" cy="328613"/>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Isaac</a:t>
            </a:r>
            <a:endParaRPr lang="en-US" sz="888" dirty="0"/>
          </a:p>
        </p:txBody>
      </p:sp>
      <p:sp>
        <p:nvSpPr>
          <p:cNvPr id="17" name="Text 14"/>
          <p:cNvSpPr/>
          <p:nvPr/>
        </p:nvSpPr>
        <p:spPr>
          <a:xfrm>
            <a:off x="4209796" y="2494128"/>
            <a:ext cx="1902869" cy="333375"/>
          </a:xfrm>
          <a:prstGeom prst="rect">
            <a:avLst/>
          </a:prstGeom>
          <a:noFill/>
          <a:ln/>
        </p:spPr>
        <p:txBody>
          <a:bodyPr wrap="none" lIns="0" tIns="0" rIns="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Vanti</a:t>
            </a:r>
            <a:endParaRPr lang="en-US" sz="888" dirty="0"/>
          </a:p>
        </p:txBody>
      </p:sp>
      <p:sp>
        <p:nvSpPr>
          <p:cNvPr id="18" name="Text 15"/>
          <p:cNvSpPr/>
          <p:nvPr/>
        </p:nvSpPr>
        <p:spPr>
          <a:xfrm>
            <a:off x="10738425" y="1123950"/>
            <a:ext cx="672240"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KPIs</a:t>
            </a:r>
            <a:endParaRPr lang="en-US" sz="864" dirty="0"/>
          </a:p>
        </p:txBody>
      </p:sp>
      <p:sp>
        <p:nvSpPr>
          <p:cNvPr id="19" name="Text 16"/>
          <p:cNvSpPr/>
          <p:nvPr/>
        </p:nvSpPr>
        <p:spPr>
          <a:xfrm>
            <a:off x="6112665" y="1508290"/>
            <a:ext cx="820915"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Jul</a:t>
            </a:r>
            <a:endParaRPr lang="en-US" sz="888" dirty="0"/>
          </a:p>
        </p:txBody>
      </p:sp>
      <p:sp>
        <p:nvSpPr>
          <p:cNvPr id="20" name="Text 17"/>
          <p:cNvSpPr/>
          <p:nvPr/>
        </p:nvSpPr>
        <p:spPr>
          <a:xfrm>
            <a:off x="6933580" y="1508290"/>
            <a:ext cx="920925"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Ago</a:t>
            </a:r>
            <a:endParaRPr lang="en-US" sz="888" dirty="0"/>
          </a:p>
        </p:txBody>
      </p:sp>
      <p:sp>
        <p:nvSpPr>
          <p:cNvPr id="21" name="Text 18"/>
          <p:cNvSpPr/>
          <p:nvPr/>
        </p:nvSpPr>
        <p:spPr>
          <a:xfrm>
            <a:off x="7854506" y="1508290"/>
            <a:ext cx="910210"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Sep</a:t>
            </a:r>
            <a:endParaRPr lang="en-US" sz="888" dirty="0"/>
          </a:p>
        </p:txBody>
      </p:sp>
      <p:sp>
        <p:nvSpPr>
          <p:cNvPr id="22" name="Text 19"/>
          <p:cNvSpPr/>
          <p:nvPr/>
        </p:nvSpPr>
        <p:spPr>
          <a:xfrm>
            <a:off x="8764716" y="1508290"/>
            <a:ext cx="880445"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Oct</a:t>
            </a:r>
            <a:endParaRPr lang="en-US" sz="888" dirty="0"/>
          </a:p>
        </p:txBody>
      </p:sp>
      <p:sp>
        <p:nvSpPr>
          <p:cNvPr id="23" name="Text 20"/>
          <p:cNvSpPr/>
          <p:nvPr/>
        </p:nvSpPr>
        <p:spPr>
          <a:xfrm>
            <a:off x="9645161" y="1508290"/>
            <a:ext cx="919884"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Nov</a:t>
            </a:r>
            <a:endParaRPr lang="en-US" sz="888" dirty="0"/>
          </a:p>
        </p:txBody>
      </p:sp>
      <p:sp>
        <p:nvSpPr>
          <p:cNvPr id="24" name="Text 21"/>
          <p:cNvSpPr/>
          <p:nvPr/>
        </p:nvSpPr>
        <p:spPr>
          <a:xfrm>
            <a:off x="10565044" y="1508290"/>
            <a:ext cx="845620"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Dic</a:t>
            </a:r>
            <a:endParaRPr lang="en-US" sz="888" dirty="0"/>
          </a:p>
        </p:txBody>
      </p:sp>
      <p:sp>
        <p:nvSpPr>
          <p:cNvPr id="25" name="Text 22"/>
          <p:cNvSpPr/>
          <p:nvPr/>
        </p:nvSpPr>
        <p:spPr>
          <a:xfrm>
            <a:off x="6112665" y="1832140"/>
            <a:ext cx="820915"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26" name="Text 23"/>
          <p:cNvSpPr/>
          <p:nvPr/>
        </p:nvSpPr>
        <p:spPr>
          <a:xfrm>
            <a:off x="6933580" y="1832140"/>
            <a:ext cx="920925"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27" name="Text 24"/>
          <p:cNvSpPr/>
          <p:nvPr/>
        </p:nvSpPr>
        <p:spPr>
          <a:xfrm>
            <a:off x="7854506" y="1832140"/>
            <a:ext cx="910210"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28" name="Text 25"/>
          <p:cNvSpPr/>
          <p:nvPr/>
        </p:nvSpPr>
        <p:spPr>
          <a:xfrm>
            <a:off x="8764716" y="1832140"/>
            <a:ext cx="880445"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29" name="Text 26"/>
          <p:cNvSpPr/>
          <p:nvPr/>
        </p:nvSpPr>
        <p:spPr>
          <a:xfrm>
            <a:off x="9645161" y="1832140"/>
            <a:ext cx="919884"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0" name="Text 27"/>
          <p:cNvSpPr/>
          <p:nvPr/>
        </p:nvSpPr>
        <p:spPr>
          <a:xfrm>
            <a:off x="10565044" y="1832140"/>
            <a:ext cx="845620"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1" name="Text 28"/>
          <p:cNvSpPr/>
          <p:nvPr/>
        </p:nvSpPr>
        <p:spPr>
          <a:xfrm>
            <a:off x="6112665" y="2160753"/>
            <a:ext cx="820915"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2" name="Text 29"/>
          <p:cNvSpPr/>
          <p:nvPr/>
        </p:nvSpPr>
        <p:spPr>
          <a:xfrm>
            <a:off x="6933580" y="2160753"/>
            <a:ext cx="920925"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3" name="Text 30"/>
          <p:cNvSpPr/>
          <p:nvPr/>
        </p:nvSpPr>
        <p:spPr>
          <a:xfrm>
            <a:off x="7854506" y="2160753"/>
            <a:ext cx="910210"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4" name="Text 31"/>
          <p:cNvSpPr/>
          <p:nvPr/>
        </p:nvSpPr>
        <p:spPr>
          <a:xfrm>
            <a:off x="8764716" y="2160753"/>
            <a:ext cx="880445"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5" name="Text 32"/>
          <p:cNvSpPr/>
          <p:nvPr/>
        </p:nvSpPr>
        <p:spPr>
          <a:xfrm>
            <a:off x="9645161" y="2160753"/>
            <a:ext cx="919884"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6" name="Text 33"/>
          <p:cNvSpPr/>
          <p:nvPr/>
        </p:nvSpPr>
        <p:spPr>
          <a:xfrm>
            <a:off x="10565044" y="2160753"/>
            <a:ext cx="845620"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7" name="Text 34"/>
          <p:cNvSpPr/>
          <p:nvPr/>
        </p:nvSpPr>
        <p:spPr>
          <a:xfrm>
            <a:off x="6112665" y="2494128"/>
            <a:ext cx="820915"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8" name="Text 35"/>
          <p:cNvSpPr/>
          <p:nvPr/>
        </p:nvSpPr>
        <p:spPr>
          <a:xfrm>
            <a:off x="6933580" y="2494128"/>
            <a:ext cx="920925"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39" name="Text 36"/>
          <p:cNvSpPr/>
          <p:nvPr/>
        </p:nvSpPr>
        <p:spPr>
          <a:xfrm>
            <a:off x="7854506" y="2494128"/>
            <a:ext cx="910210"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40" name="Text 37"/>
          <p:cNvSpPr/>
          <p:nvPr/>
        </p:nvSpPr>
        <p:spPr>
          <a:xfrm>
            <a:off x="8764716" y="2494128"/>
            <a:ext cx="880445"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41" name="Text 38"/>
          <p:cNvSpPr/>
          <p:nvPr/>
        </p:nvSpPr>
        <p:spPr>
          <a:xfrm>
            <a:off x="9645161" y="2494128"/>
            <a:ext cx="919884"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42" name="Text 39"/>
          <p:cNvSpPr/>
          <p:nvPr/>
        </p:nvSpPr>
        <p:spPr>
          <a:xfrm>
            <a:off x="10565044" y="2494128"/>
            <a:ext cx="845620" cy="333375"/>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43" name="Text 40"/>
          <p:cNvSpPr/>
          <p:nvPr/>
        </p:nvSpPr>
        <p:spPr>
          <a:xfrm>
            <a:off x="6112665" y="2827503"/>
            <a:ext cx="820915"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44" name="Text 41"/>
          <p:cNvSpPr/>
          <p:nvPr/>
        </p:nvSpPr>
        <p:spPr>
          <a:xfrm>
            <a:off x="6933580" y="2827503"/>
            <a:ext cx="920925"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45" name="Text 42"/>
          <p:cNvSpPr/>
          <p:nvPr/>
        </p:nvSpPr>
        <p:spPr>
          <a:xfrm>
            <a:off x="7854506" y="2827503"/>
            <a:ext cx="910210"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46" name="Text 43"/>
          <p:cNvSpPr/>
          <p:nvPr/>
        </p:nvSpPr>
        <p:spPr>
          <a:xfrm>
            <a:off x="8764716" y="2827503"/>
            <a:ext cx="880445"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47" name="Text 44"/>
          <p:cNvSpPr/>
          <p:nvPr/>
        </p:nvSpPr>
        <p:spPr>
          <a:xfrm>
            <a:off x="9645161" y="2827503"/>
            <a:ext cx="919884"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
        <p:nvSpPr>
          <p:cNvPr id="48" name="Text 45"/>
          <p:cNvSpPr/>
          <p:nvPr/>
        </p:nvSpPr>
        <p:spPr>
          <a:xfrm>
            <a:off x="10565044" y="2827503"/>
            <a:ext cx="845620" cy="328613"/>
          </a:xfrm>
          <a:prstGeom prst="rect">
            <a:avLst/>
          </a:prstGeom>
          <a:noFill/>
          <a:ln/>
        </p:spPr>
        <p:txBody>
          <a:bodyPr wrap="none" lIns="0" tIns="0" rIns="0" bIns="0" rtlCol="0" anchor="t"/>
          <a:lstStyle/>
          <a:p>
            <a:pPr algn="r" indent="0" marL="0">
              <a:buNone/>
            </a:pPr>
            <a:r>
              <a:rPr lang="en-US" sz="888" dirty="0">
                <a:solidFill>
                  <a:srgbClr val="333333"/>
                </a:solidFill>
                <a:latin typeface="Raleway" pitchFamily="34" charset="0"/>
                <a:ea typeface="Raleway" pitchFamily="34" charset="-122"/>
                <a:cs typeface="Raleway" pitchFamily="34" charset="-120"/>
              </a:rPr>
              <a:t>—</a:t>
            </a:r>
            <a:endParaRPr lang="en-US" sz="888"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01_Repositorios\13_Presentaciones\dash\televentas\ppt_slides\sk_21_KPI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4392999" cy="190500"/>
          </a:xfrm>
          <a:prstGeom prst="rect">
            <a:avLst/>
          </a:prstGeom>
          <a:noFill/>
          <a:ln/>
        </p:spPr>
        <p:txBody>
          <a:bodyPr wrap="non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4" name="Text 1"/>
          <p:cNvSpPr/>
          <p:nvPr/>
        </p:nvSpPr>
        <p:spPr>
          <a:xfrm>
            <a:off x="4681569" y="2170290"/>
            <a:ext cx="4902574" cy="342900"/>
          </a:xfrm>
          <a:prstGeom prst="rect">
            <a:avLst/>
          </a:prstGeom>
          <a:noFill/>
          <a:ln/>
        </p:spPr>
        <p:txBody>
          <a:bodyPr wrap="none" lIns="0" tIns="0" rIns="0" bIns="0" rtlCol="0" anchor="t"/>
          <a:lstStyle/>
          <a:p>
            <a:pPr algn="l" indent="0" marL="0">
              <a:buNone/>
            </a:pPr>
            <a:r>
              <a:rPr lang="en-US" sz="912" dirty="0">
                <a:solidFill>
                  <a:srgbClr val="333333"/>
                </a:solidFill>
                <a:latin typeface="Raleway" pitchFamily="34" charset="0"/>
                <a:ea typeface="Raleway" pitchFamily="34" charset="-122"/>
                <a:cs typeface="Raleway" pitchFamily="34" charset="-120"/>
              </a:rPr>
              <a:t>Ventas / contactos en Autogestión</a:t>
            </a:r>
            <a:endParaRPr lang="en-US" sz="912" dirty="0"/>
          </a:p>
        </p:txBody>
      </p:sp>
      <p:sp>
        <p:nvSpPr>
          <p:cNvPr id="5" name="Text 2"/>
          <p:cNvSpPr/>
          <p:nvPr/>
        </p:nvSpPr>
        <p:spPr>
          <a:xfrm>
            <a:off x="4681569" y="2513190"/>
            <a:ext cx="4902574" cy="342900"/>
          </a:xfrm>
          <a:prstGeom prst="rect">
            <a:avLst/>
          </a:prstGeom>
          <a:noFill/>
          <a:ln/>
        </p:spPr>
        <p:txBody>
          <a:bodyPr wrap="none" lIns="0" tIns="0" rIns="0" bIns="0" rtlCol="0" anchor="t"/>
          <a:lstStyle/>
          <a:p>
            <a:pPr algn="l" indent="0" marL="0">
              <a:buNone/>
            </a:pPr>
            <a:r>
              <a:rPr lang="en-US" sz="912" dirty="0">
                <a:solidFill>
                  <a:srgbClr val="333333"/>
                </a:solidFill>
                <a:latin typeface="Raleway" pitchFamily="34" charset="0"/>
                <a:ea typeface="Raleway" pitchFamily="34" charset="-122"/>
                <a:cs typeface="Raleway" pitchFamily="34" charset="-120"/>
              </a:rPr>
              <a:t>Ventas / contactos en Bienvenida</a:t>
            </a:r>
            <a:endParaRPr lang="en-US" sz="912" dirty="0"/>
          </a:p>
        </p:txBody>
      </p:sp>
      <p:sp>
        <p:nvSpPr>
          <p:cNvPr id="6" name="Text 3"/>
          <p:cNvSpPr/>
          <p:nvPr/>
        </p:nvSpPr>
        <p:spPr>
          <a:xfrm>
            <a:off x="4681569" y="2856090"/>
            <a:ext cx="4902574" cy="338137"/>
          </a:xfrm>
          <a:prstGeom prst="rect">
            <a:avLst/>
          </a:prstGeom>
          <a:noFill/>
          <a:ln/>
        </p:spPr>
        <p:txBody>
          <a:bodyPr wrap="none" lIns="0" tIns="0" rIns="0" bIns="0" rtlCol="0" anchor="t"/>
          <a:lstStyle/>
          <a:p>
            <a:pPr algn="l" indent="0" marL="0">
              <a:buNone/>
            </a:pPr>
            <a:r>
              <a:rPr lang="en-US" sz="912" dirty="0">
                <a:solidFill>
                  <a:srgbClr val="333333"/>
                </a:solidFill>
                <a:latin typeface="Raleway" pitchFamily="34" charset="0"/>
                <a:ea typeface="Raleway" pitchFamily="34" charset="-122"/>
                <a:cs typeface="Raleway" pitchFamily="34" charset="-120"/>
              </a:rPr>
              <a:t>Sesiones individuales / asesor</a:t>
            </a:r>
            <a:endParaRPr lang="en-US" sz="912" dirty="0"/>
          </a:p>
        </p:txBody>
      </p:sp>
      <p:sp>
        <p:nvSpPr>
          <p:cNvPr id="7" name="Text 4"/>
          <p:cNvSpPr/>
          <p:nvPr/>
        </p:nvSpPr>
        <p:spPr>
          <a:xfrm>
            <a:off x="4681569" y="1832152"/>
            <a:ext cx="4902574" cy="338137"/>
          </a:xfrm>
          <a:prstGeom prst="rect">
            <a:avLst/>
          </a:prstGeom>
          <a:noFill/>
          <a:ln/>
        </p:spPr>
        <p:txBody>
          <a:bodyPr wrap="none" lIns="0" tIns="0" rIns="0" bIns="0" rtlCol="0" anchor="t"/>
          <a:lstStyle/>
          <a:p>
            <a:pPr algn="l" indent="0" marL="0">
              <a:buNone/>
            </a:pPr>
            <a:r>
              <a:rPr lang="en-US" sz="912" dirty="0">
                <a:solidFill>
                  <a:srgbClr val="333333"/>
                </a:solidFill>
                <a:latin typeface="Raleway" pitchFamily="34" charset="0"/>
                <a:ea typeface="Raleway" pitchFamily="34" charset="-122"/>
                <a:cs typeface="Raleway" pitchFamily="34" charset="-120"/>
              </a:rPr>
              <a:t>Ventas liquidadas totales/mes</a:t>
            </a:r>
            <a:endParaRPr lang="en-US" sz="912" dirty="0"/>
          </a:p>
        </p:txBody>
      </p:sp>
      <p:sp>
        <p:nvSpPr>
          <p:cNvPr id="8" name="Text 5"/>
          <p:cNvSpPr/>
          <p:nvPr/>
        </p:nvSpPr>
        <p:spPr>
          <a:xfrm>
            <a:off x="781030" y="1181100"/>
            <a:ext cx="1996628" cy="152400"/>
          </a:xfrm>
          <a:prstGeom prst="rect">
            <a:avLst/>
          </a:prstGeom>
          <a:noFill/>
          <a:ln/>
        </p:spPr>
        <p:txBody>
          <a:bodyPr wrap="non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Estrategia Comercial 2S 2026</a:t>
            </a:r>
            <a:endParaRPr lang="en-US" sz="1020" dirty="0"/>
          </a:p>
        </p:txBody>
      </p:sp>
      <p:sp>
        <p:nvSpPr>
          <p:cNvPr id="9" name="Text 6"/>
          <p:cNvSpPr/>
          <p:nvPr/>
        </p:nvSpPr>
        <p:spPr>
          <a:xfrm>
            <a:off x="914377" y="2617965"/>
            <a:ext cx="1446424" cy="133350"/>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Conversión Bienvenida CP</a:t>
            </a:r>
            <a:endParaRPr lang="en-US" sz="912" dirty="0"/>
          </a:p>
        </p:txBody>
      </p:sp>
      <p:sp>
        <p:nvSpPr>
          <p:cNvPr id="10" name="Text 7"/>
          <p:cNvSpPr/>
          <p:nvPr/>
        </p:nvSpPr>
        <p:spPr>
          <a:xfrm>
            <a:off x="9872713" y="209550"/>
            <a:ext cx="1747496" cy="209550"/>
          </a:xfrm>
          <a:prstGeom prst="rect">
            <a:avLst/>
          </a:prstGeom>
          <a:noFill/>
          <a:ln/>
        </p:spPr>
        <p:txBody>
          <a:bodyPr wrap="none" lIns="0" tIns="0" rIns="0" bIns="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11" name="Text 8"/>
          <p:cNvSpPr/>
          <p:nvPr/>
        </p:nvSpPr>
        <p:spPr>
          <a:xfrm>
            <a:off x="914377" y="2275065"/>
            <a:ext cx="1321114" cy="133350"/>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Conversión Autogestión</a:t>
            </a:r>
            <a:endParaRPr lang="en-US" sz="912" dirty="0"/>
          </a:p>
        </p:txBody>
      </p:sp>
      <p:sp>
        <p:nvSpPr>
          <p:cNvPr id="12" name="Text 9"/>
          <p:cNvSpPr/>
          <p:nvPr/>
        </p:nvSpPr>
        <p:spPr>
          <a:xfrm>
            <a:off x="914377" y="1932165"/>
            <a:ext cx="1061416" cy="133350"/>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Volumen de ventas</a:t>
            </a:r>
            <a:endParaRPr lang="en-US" sz="912" dirty="0"/>
          </a:p>
        </p:txBody>
      </p:sp>
      <p:sp>
        <p:nvSpPr>
          <p:cNvPr id="13" name="Text 10"/>
          <p:cNvSpPr/>
          <p:nvPr/>
        </p:nvSpPr>
        <p:spPr>
          <a:xfrm>
            <a:off x="914377" y="2960865"/>
            <a:ext cx="1001588" cy="133350"/>
          </a:xfrm>
          <a:prstGeom prst="rect">
            <a:avLst/>
          </a:prstGeom>
          <a:noFill/>
          <a:ln/>
        </p:spPr>
        <p:txBody>
          <a:bodyPr wrap="non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Escuela de ventas</a:t>
            </a:r>
            <a:endParaRPr lang="en-US" sz="912" dirty="0"/>
          </a:p>
        </p:txBody>
      </p:sp>
      <p:sp>
        <p:nvSpPr>
          <p:cNvPr id="14" name="Text 11"/>
          <p:cNvSpPr/>
          <p:nvPr/>
        </p:nvSpPr>
        <p:spPr>
          <a:xfrm>
            <a:off x="8552939" y="1123950"/>
            <a:ext cx="969591"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Iniciativas</a:t>
            </a:r>
            <a:endParaRPr lang="en-US" sz="864" dirty="0"/>
          </a:p>
        </p:txBody>
      </p:sp>
      <p:sp>
        <p:nvSpPr>
          <p:cNvPr id="15" name="Text 12"/>
          <p:cNvSpPr/>
          <p:nvPr/>
        </p:nvSpPr>
        <p:spPr>
          <a:xfrm>
            <a:off x="9579678" y="1123950"/>
            <a:ext cx="1101598" cy="266700"/>
          </a:xfrm>
          <a:prstGeom prst="rect">
            <a:avLst/>
          </a:prstGeom>
          <a:noFill/>
          <a:ln/>
        </p:spPr>
        <p:txBody>
          <a:bodyPr wrap="none" lIns="0" tIns="0" rIns="0" bIns="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Cronograma</a:t>
            </a:r>
            <a:endParaRPr lang="en-US" sz="864" dirty="0"/>
          </a:p>
        </p:txBody>
      </p:sp>
      <p:sp>
        <p:nvSpPr>
          <p:cNvPr id="16" name="Text 13"/>
          <p:cNvSpPr/>
          <p:nvPr/>
        </p:nvSpPr>
        <p:spPr>
          <a:xfrm>
            <a:off x="4681569" y="1508302"/>
            <a:ext cx="4902574" cy="3238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Definición</a:t>
            </a:r>
            <a:endParaRPr lang="en-US" sz="888" dirty="0"/>
          </a:p>
        </p:txBody>
      </p:sp>
      <p:sp>
        <p:nvSpPr>
          <p:cNvPr id="17" name="Text 14"/>
          <p:cNvSpPr/>
          <p:nvPr/>
        </p:nvSpPr>
        <p:spPr>
          <a:xfrm>
            <a:off x="781030" y="1508302"/>
            <a:ext cx="3900539" cy="323850"/>
          </a:xfrm>
          <a:prstGeom prst="rect">
            <a:avLst/>
          </a:prstGeom>
          <a:noFill/>
          <a:ln/>
        </p:spPr>
        <p:txBody>
          <a:bodyPr wrap="none" lIns="0" tIns="0" rIns="0" bIns="0" rtlCol="0" anchor="t"/>
          <a:lstStyle/>
          <a:p>
            <a:pPr algn="l" indent="0" marL="0">
              <a:buNone/>
            </a:pPr>
            <a:r>
              <a:rPr lang="en-US" sz="888" b="1" dirty="0">
                <a:solidFill>
                  <a:srgbClr val="FFFFFF"/>
                </a:solidFill>
                <a:latin typeface="Raleway" pitchFamily="34" charset="0"/>
                <a:ea typeface="Raleway" pitchFamily="34" charset="-122"/>
                <a:cs typeface="Raleway" pitchFamily="34" charset="-120"/>
              </a:rPr>
              <a:t>Métrica</a:t>
            </a:r>
            <a:endParaRPr lang="en-US" sz="888" dirty="0"/>
          </a:p>
        </p:txBody>
      </p:sp>
      <p:sp>
        <p:nvSpPr>
          <p:cNvPr id="18" name="Text 15"/>
          <p:cNvSpPr/>
          <p:nvPr/>
        </p:nvSpPr>
        <p:spPr>
          <a:xfrm>
            <a:off x="9584143" y="1508302"/>
            <a:ext cx="1826522" cy="323850"/>
          </a:xfrm>
          <a:prstGeom prst="rect">
            <a:avLst/>
          </a:prstGeom>
          <a:noFill/>
          <a:ln/>
        </p:spPr>
        <p:txBody>
          <a:bodyPr wrap="none" lIns="0" tIns="0" rIns="0" bIns="0" rtlCol="0" anchor="t"/>
          <a:lstStyle/>
          <a:p>
            <a:pPr algn="r" indent="0" marL="0">
              <a:buNone/>
            </a:pPr>
            <a:r>
              <a:rPr lang="en-US" sz="888" b="1" dirty="0">
                <a:solidFill>
                  <a:srgbClr val="FFFFFF"/>
                </a:solidFill>
                <a:latin typeface="Raleway" pitchFamily="34" charset="0"/>
                <a:ea typeface="Raleway" pitchFamily="34" charset="-122"/>
                <a:cs typeface="Raleway" pitchFamily="34" charset="-120"/>
              </a:rPr>
              <a:t>Meta 2S</a:t>
            </a:r>
            <a:endParaRPr lang="en-US" sz="888" dirty="0"/>
          </a:p>
        </p:txBody>
      </p:sp>
      <p:sp>
        <p:nvSpPr>
          <p:cNvPr id="19" name="Text 16"/>
          <p:cNvSpPr/>
          <p:nvPr/>
        </p:nvSpPr>
        <p:spPr>
          <a:xfrm>
            <a:off x="10771017" y="1917877"/>
            <a:ext cx="506301"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 3.000</a:t>
            </a:r>
            <a:endParaRPr lang="en-US" sz="816" dirty="0"/>
          </a:p>
        </p:txBody>
      </p:sp>
      <p:sp>
        <p:nvSpPr>
          <p:cNvPr id="20" name="Text 17"/>
          <p:cNvSpPr/>
          <p:nvPr/>
        </p:nvSpPr>
        <p:spPr>
          <a:xfrm>
            <a:off x="10741848" y="2946577"/>
            <a:ext cx="53547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1 / mes</a:t>
            </a:r>
            <a:endParaRPr lang="en-US" sz="816" dirty="0"/>
          </a:p>
        </p:txBody>
      </p:sp>
      <p:sp>
        <p:nvSpPr>
          <p:cNvPr id="21" name="Text 18"/>
          <p:cNvSpPr/>
          <p:nvPr/>
        </p:nvSpPr>
        <p:spPr>
          <a:xfrm>
            <a:off x="10814028" y="2260777"/>
            <a:ext cx="463290"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 40 %</a:t>
            </a:r>
            <a:endParaRPr lang="en-US" sz="816" dirty="0"/>
          </a:p>
        </p:txBody>
      </p:sp>
      <p:sp>
        <p:nvSpPr>
          <p:cNvPr id="22" name="Text 19"/>
          <p:cNvSpPr/>
          <p:nvPr/>
        </p:nvSpPr>
        <p:spPr>
          <a:xfrm>
            <a:off x="10815367" y="2603677"/>
            <a:ext cx="461951" cy="161925"/>
          </a:xfrm>
          <a:prstGeom prst="rect">
            <a:avLst/>
          </a:prstGeom>
          <a:noFill/>
          <a:ln/>
        </p:spPr>
        <p:txBody>
          <a:bodyPr wrap="none" lIns="0" tIns="0" rIns="0" bIns="0" rtlCol="0" anchor="t"/>
          <a:lstStyle/>
          <a:p>
            <a:pPr algn="r" indent="0" marL="0">
              <a:buNone/>
            </a:pPr>
            <a:r>
              <a:rPr lang="en-US" sz="816" b="1" dirty="0">
                <a:solidFill>
                  <a:srgbClr val="008060"/>
                </a:solidFill>
                <a:latin typeface="Raleway" pitchFamily="34" charset="0"/>
                <a:ea typeface="Raleway" pitchFamily="34" charset="-122"/>
                <a:cs typeface="Raleway" pitchFamily="34" charset="-120"/>
              </a:rPr>
              <a:t>≥ 30 %</a:t>
            </a:r>
            <a:endParaRPr lang="en-US" sz="816" dirty="0"/>
          </a:p>
        </p:txBody>
      </p:sp>
      <p:sp>
        <p:nvSpPr>
          <p:cNvPr id="23" name="Text 20"/>
          <p:cNvSpPr/>
          <p:nvPr/>
        </p:nvSpPr>
        <p:spPr>
          <a:xfrm>
            <a:off x="10738425" y="1123950"/>
            <a:ext cx="672240" cy="266700"/>
          </a:xfrm>
          <a:prstGeom prst="rect">
            <a:avLst/>
          </a:prstGeom>
          <a:noFill/>
          <a:ln/>
        </p:spPr>
        <p:txBody>
          <a:bodyPr wrap="none" lIns="0" tIns="0" rIns="0" bIns="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KPIs</a:t>
            </a:r>
            <a:endParaRPr lang="en-US" sz="864"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01_Repositorios\13_Presentaciones\dash\televentas\ppt_slides\sk_22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826198"/>
            <a:ext cx="7810305" cy="923925"/>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Se ratifica el uso de las cifras de Liquidación (Martha) como el número oficial de resultados del canal y el Tablero OCM (Isaac) como el indicador diario intra-mes. A pesar de los retos de bases repetidas, el esfuerzo del equipo ha sostenido la meta.</a:t>
            </a:r>
            <a:endParaRPr lang="en-US" sz="984" dirty="0"/>
          </a:p>
        </p:txBody>
      </p:sp>
      <p:sp>
        <p:nvSpPr>
          <p:cNvPr id="4" name="Text 1"/>
          <p:cNvSpPr/>
          <p:nvPr/>
        </p:nvSpPr>
        <p:spPr>
          <a:xfrm>
            <a:off x="5190995" y="3578423"/>
            <a:ext cx="3333667" cy="285750"/>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Meta de 23 asesores activos en operación.</a:t>
            </a:r>
            <a:endParaRPr lang="en-US" sz="984" dirty="0"/>
          </a:p>
        </p:txBody>
      </p:sp>
      <p:sp>
        <p:nvSpPr>
          <p:cNvPr id="5" name="Text 2"/>
          <p:cNvSpPr/>
          <p:nvPr/>
        </p:nvSpPr>
        <p:spPr>
          <a:xfrm>
            <a:off x="5190995" y="3140273"/>
            <a:ext cx="3333667" cy="361950"/>
          </a:xfrm>
          <a:prstGeom prst="rect">
            <a:avLst/>
          </a:prstGeom>
          <a:noFill/>
          <a:ln/>
        </p:spPr>
        <p:txBody>
          <a:bodyPr wrap="none" lIns="0" tIns="0" rIns="0" bIns="0" rtlCol="0" anchor="t"/>
          <a:lstStyle/>
          <a:p>
            <a:pPr algn="l" indent="0" marL="0">
              <a:buNone/>
            </a:pPr>
            <a:r>
              <a:rPr lang="en-US" sz="1200" dirty="0">
                <a:solidFill>
                  <a:srgbClr val="FFFFFF"/>
                </a:solidFill>
                <a:latin typeface="Raleway" pitchFamily="34" charset="0"/>
                <a:ea typeface="Raleway" pitchFamily="34" charset="-122"/>
                <a:cs typeface="Raleway" pitchFamily="34" charset="-120"/>
              </a:rPr>
              <a:t>Replicar técnicas de mejores vendedores.</a:t>
            </a:r>
            <a:endParaRPr lang="en-US" sz="1200" dirty="0"/>
          </a:p>
        </p:txBody>
      </p:sp>
      <p:sp>
        <p:nvSpPr>
          <p:cNvPr id="6" name="Text 3"/>
          <p:cNvSpPr/>
          <p:nvPr/>
        </p:nvSpPr>
        <p:spPr>
          <a:xfrm>
            <a:off x="1190595" y="4016573"/>
            <a:ext cx="3333667" cy="285750"/>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ejecutadas por Xuma (al menos 1/mes).</a:t>
            </a:r>
            <a:endParaRPr lang="en-US" sz="984" dirty="0"/>
          </a:p>
        </p:txBody>
      </p:sp>
      <p:sp>
        <p:nvSpPr>
          <p:cNvPr id="7" name="Text 4"/>
          <p:cNvSpPr/>
          <p:nvPr/>
        </p:nvSpPr>
        <p:spPr>
          <a:xfrm>
            <a:off x="952476" y="774502"/>
            <a:ext cx="6667333" cy="1051322"/>
          </a:xfrm>
          <a:prstGeom prst="rect">
            <a:avLst/>
          </a:prstGeom>
          <a:noFill/>
          <a:ln/>
        </p:spPr>
        <p:txBody>
          <a:bodyPr wrap="none" lIns="0" tIns="0" rIns="0" bIns="0" rtlCol="0" anchor="t"/>
          <a:lstStyle/>
          <a:p>
            <a:pPr algn="l" indent="0" marL="0">
              <a:buNone/>
            </a:pPr>
            <a:r>
              <a:rPr lang="en-US" sz="1600" b="1" dirty="0">
                <a:solidFill>
                  <a:srgbClr val="FFFFFF"/>
                </a:solidFill>
                <a:latin typeface="Raleway" pitchFamily="34" charset="0"/>
                <a:ea typeface="Raleway" pitchFamily="34" charset="-122"/>
                <a:cs typeface="Raleway" pitchFamily="34" charset="-120"/>
              </a:rPr>
              <a:t>Hitos Consolidados del 1S y Plan 2S</a:t>
            </a:r>
            <a:endParaRPr lang="en-US" sz="1600" dirty="0"/>
          </a:p>
        </p:txBody>
      </p:sp>
      <p:sp>
        <p:nvSpPr>
          <p:cNvPr id="8" name="Text 5"/>
          <p:cNvSpPr/>
          <p:nvPr/>
        </p:nvSpPr>
        <p:spPr>
          <a:xfrm>
            <a:off x="5190995" y="2778323"/>
            <a:ext cx="3333667" cy="285750"/>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Refuerzo 1-a-1 de baja conversión.</a:t>
            </a:r>
            <a:endParaRPr lang="en-US" sz="984" dirty="0"/>
          </a:p>
        </p:txBody>
      </p:sp>
      <p:sp>
        <p:nvSpPr>
          <p:cNvPr id="9" name="Text 6"/>
          <p:cNvSpPr/>
          <p:nvPr/>
        </p:nvSpPr>
        <p:spPr>
          <a:xfrm>
            <a:off x="1190595" y="3635573"/>
            <a:ext cx="3333667" cy="304800"/>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1.520 ventas en dos semanas.</a:t>
            </a:r>
            <a:endParaRPr lang="en-US" sz="984" dirty="0"/>
          </a:p>
        </p:txBody>
      </p:sp>
      <p:sp>
        <p:nvSpPr>
          <p:cNvPr id="10" name="Text 7"/>
          <p:cNvSpPr/>
          <p:nvPr/>
        </p:nvSpPr>
        <p:spPr>
          <a:xfrm>
            <a:off x="5190995" y="2559248"/>
            <a:ext cx="3333667" cy="142875"/>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liquidadas en el primer semestre.</a:t>
            </a:r>
            <a:endParaRPr lang="en-US" sz="984" dirty="0"/>
          </a:p>
        </p:txBody>
      </p:sp>
      <p:sp>
        <p:nvSpPr>
          <p:cNvPr id="11" name="Text 8"/>
          <p:cNvSpPr/>
          <p:nvPr/>
        </p:nvSpPr>
        <p:spPr>
          <a:xfrm>
            <a:off x="1190595" y="3016448"/>
            <a:ext cx="3333667" cy="304800"/>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4.798 ventas (114% meta).</a:t>
            </a:r>
            <a:endParaRPr lang="en-US" sz="984" dirty="0"/>
          </a:p>
        </p:txBody>
      </p:sp>
      <p:sp>
        <p:nvSpPr>
          <p:cNvPr id="12" name="Text 9"/>
          <p:cNvSpPr/>
          <p:nvPr/>
        </p:nvSpPr>
        <p:spPr>
          <a:xfrm>
            <a:off x="1190595" y="2311598"/>
            <a:ext cx="3333667" cy="133350"/>
          </a:xfrm>
          <a:prstGeom prst="rect">
            <a:avLst/>
          </a:prstGeom>
          <a:noFill/>
          <a:ln/>
        </p:spPr>
        <p:txBody>
          <a:bodyPr wrap="none" lIns="0" tIns="0" rIns="0" bIns="0" rtlCol="0" anchor="t"/>
          <a:lstStyle/>
          <a:p>
            <a:pPr algn="l" indent="0" marL="0">
              <a:buNone/>
            </a:pPr>
            <a:r>
              <a:rPr lang="en-US" sz="864" b="1" dirty="0">
                <a:solidFill>
                  <a:srgbClr val="5AE280"/>
                </a:solidFill>
                <a:latin typeface="Raleway" pitchFamily="34" charset="0"/>
                <a:ea typeface="Raleway" pitchFamily="34" charset="-122"/>
                <a:cs typeface="Raleway" pitchFamily="34" charset="-120"/>
              </a:rPr>
              <a:t>Iniciativas 1S Ejecutadas</a:t>
            </a:r>
            <a:endParaRPr lang="en-US" sz="864" dirty="0"/>
          </a:p>
        </p:txBody>
      </p:sp>
      <p:sp>
        <p:nvSpPr>
          <p:cNvPr id="13" name="Text 10"/>
          <p:cNvSpPr/>
          <p:nvPr/>
        </p:nvSpPr>
        <p:spPr>
          <a:xfrm>
            <a:off x="1394187" y="2797373"/>
            <a:ext cx="1610280" cy="142875"/>
          </a:xfrm>
          <a:prstGeom prst="rect">
            <a:avLst/>
          </a:prstGeom>
          <a:noFill/>
          <a:ln/>
        </p:spPr>
        <p:txBody>
          <a:bodyPr wrap="non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Semana Burger (Feb &amp; Abr)</a:t>
            </a:r>
            <a:endParaRPr lang="en-US" sz="984" dirty="0"/>
          </a:p>
        </p:txBody>
      </p:sp>
      <p:sp>
        <p:nvSpPr>
          <p:cNvPr id="14" name="Text 11"/>
          <p:cNvSpPr/>
          <p:nvPr/>
        </p:nvSpPr>
        <p:spPr>
          <a:xfrm>
            <a:off x="5190995" y="2311598"/>
            <a:ext cx="3333667" cy="133350"/>
          </a:xfrm>
          <a:prstGeom prst="rect">
            <a:avLst/>
          </a:prstGeom>
          <a:noFill/>
          <a:ln/>
        </p:spPr>
        <p:txBody>
          <a:bodyPr wrap="none" lIns="0" tIns="0" rIns="0" bIns="0" rtlCol="0" anchor="t"/>
          <a:lstStyle/>
          <a:p>
            <a:pPr algn="l" indent="0" marL="0">
              <a:buNone/>
            </a:pPr>
            <a:r>
              <a:rPr lang="en-US" sz="864" b="1" dirty="0">
                <a:solidFill>
                  <a:srgbClr val="00CD93"/>
                </a:solidFill>
                <a:latin typeface="Raleway" pitchFamily="34" charset="0"/>
                <a:ea typeface="Raleway" pitchFamily="34" charset="-122"/>
                <a:cs typeface="Raleway" pitchFamily="34" charset="-120"/>
              </a:rPr>
              <a:t>Hitos y Plan Comercial 2S</a:t>
            </a:r>
            <a:endParaRPr lang="en-US" sz="864" dirty="0"/>
          </a:p>
        </p:txBody>
      </p:sp>
      <p:sp>
        <p:nvSpPr>
          <p:cNvPr id="15" name="Text 12"/>
          <p:cNvSpPr/>
          <p:nvPr/>
        </p:nvSpPr>
        <p:spPr>
          <a:xfrm>
            <a:off x="1355939" y="2559248"/>
            <a:ext cx="1556108" cy="142875"/>
          </a:xfrm>
          <a:prstGeom prst="rect">
            <a:avLst/>
          </a:prstGeom>
          <a:noFill/>
          <a:ln/>
        </p:spPr>
        <p:txBody>
          <a:bodyPr wrap="non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Semanas Ganadoras (Ene)</a:t>
            </a:r>
            <a:endParaRPr lang="en-US" sz="984" dirty="0"/>
          </a:p>
        </p:txBody>
      </p:sp>
      <p:sp>
        <p:nvSpPr>
          <p:cNvPr id="16" name="Text 13"/>
          <p:cNvSpPr/>
          <p:nvPr/>
        </p:nvSpPr>
        <p:spPr>
          <a:xfrm>
            <a:off x="1394187" y="3416498"/>
            <a:ext cx="1299535" cy="142875"/>
          </a:xfrm>
          <a:prstGeom prst="rect">
            <a:avLst/>
          </a:prstGeom>
          <a:noFill/>
          <a:ln/>
        </p:spPr>
        <p:txBody>
          <a:bodyPr wrap="non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Ferias Vanti (Abr-May)</a:t>
            </a:r>
            <a:endParaRPr lang="en-US" sz="984" dirty="0"/>
          </a:p>
        </p:txBody>
      </p:sp>
      <p:sp>
        <p:nvSpPr>
          <p:cNvPr id="17" name="Text 14"/>
          <p:cNvSpPr/>
          <p:nvPr/>
        </p:nvSpPr>
        <p:spPr>
          <a:xfrm>
            <a:off x="1190595" y="2778323"/>
            <a:ext cx="3333667" cy="161925"/>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1.266 ventas.</a:t>
            </a:r>
            <a:endParaRPr lang="en-US" sz="984" dirty="0"/>
          </a:p>
        </p:txBody>
      </p:sp>
      <p:sp>
        <p:nvSpPr>
          <p:cNvPr id="18" name="Text 15"/>
          <p:cNvSpPr/>
          <p:nvPr/>
        </p:nvSpPr>
        <p:spPr>
          <a:xfrm>
            <a:off x="1190595" y="3397448"/>
            <a:ext cx="3333667" cy="161925"/>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1.073 ventas.</a:t>
            </a:r>
            <a:endParaRPr lang="en-US" sz="984" dirty="0"/>
          </a:p>
        </p:txBody>
      </p:sp>
      <p:sp>
        <p:nvSpPr>
          <p:cNvPr id="19" name="Text 16"/>
          <p:cNvSpPr/>
          <p:nvPr/>
        </p:nvSpPr>
        <p:spPr>
          <a:xfrm>
            <a:off x="952476" y="498277"/>
            <a:ext cx="1658797" cy="142875"/>
          </a:xfrm>
          <a:prstGeom prst="rect">
            <a:avLst/>
          </a:prstGeom>
          <a:noFill/>
          <a:ln/>
        </p:spPr>
        <p:txBody>
          <a:bodyPr wrap="none" lIns="0" tIns="0" rIns="0" bIns="0" rtlCol="0" anchor="t"/>
          <a:lstStyle/>
          <a:p>
            <a:pPr algn="l" indent="0" marL="0">
              <a:buNone/>
            </a:pPr>
            <a:r>
              <a:rPr lang="en-US" sz="936" b="1" dirty="0">
                <a:solidFill>
                  <a:srgbClr val="5AE280"/>
                </a:solidFill>
                <a:latin typeface="Raleway" pitchFamily="34" charset="0"/>
                <a:ea typeface="Raleway" pitchFamily="34" charset="-122"/>
                <a:cs typeface="Raleway" pitchFamily="34" charset="-120"/>
              </a:rPr>
              <a:t>Cierre del Informe</a:t>
            </a:r>
            <a:endParaRPr lang="en-US" sz="936" dirty="0"/>
          </a:p>
        </p:txBody>
      </p:sp>
      <p:sp>
        <p:nvSpPr>
          <p:cNvPr id="20" name="Text 17"/>
          <p:cNvSpPr/>
          <p:nvPr/>
        </p:nvSpPr>
        <p:spPr>
          <a:xfrm>
            <a:off x="1190595" y="2559248"/>
            <a:ext cx="3333667" cy="142875"/>
          </a:xfrm>
          <a:prstGeom prst="rect">
            <a:avLst/>
          </a:prstGeom>
          <a:noFill/>
          <a:ln/>
        </p:spPr>
        <p:txBody>
          <a:bodyPr wrap="non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1.292 ventas.</a:t>
            </a:r>
            <a:endParaRPr lang="en-US" sz="9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2026-07-15T19:06:32Z</dcterms:created>
  <dcterms:modified xsi:type="dcterms:W3CDTF">2026-07-15T19:06:32Z</dcterms:modified>
</cp:coreProperties>
</file>