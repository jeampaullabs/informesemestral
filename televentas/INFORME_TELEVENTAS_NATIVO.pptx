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912054" cy="5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914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415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6314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52539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9671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63145" cy="20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7323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412485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732304" cy="2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3309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304936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3049367" cy="190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142545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5900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00599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88"/>
          <a:ext cx="10058400" cy="2181225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1.695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1.391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9.444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2.132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11.643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14.572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142971" y="5452170"/>
            <a:ext cx="9045592" cy="1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8203945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7" name="Text 2"/>
          <p:cNvSpPr/>
          <p:nvPr/>
        </p:nvSpPr>
        <p:spPr>
          <a:xfrm>
            <a:off x="1213514" y="219075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8" name="Text 3"/>
          <p:cNvSpPr/>
          <p:nvPr/>
        </p:nvSpPr>
        <p:spPr>
          <a:xfrm>
            <a:off x="761981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4482889" y="148977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8203945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761981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4482889" y="99060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3" name="Text 8"/>
          <p:cNvSpPr/>
          <p:nvPr/>
        </p:nvSpPr>
        <p:spPr>
          <a:xfrm>
            <a:off x="10362941" y="209550"/>
            <a:ext cx="132013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4482889" y="1162050"/>
            <a:ext cx="34270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1981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03945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378419" y="1908870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10935468" y="1908870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1.695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1.391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2.194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9.444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177389"/>
          <a:ext cx="10058400" cy="2181225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(CP)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Combo Vida (VOL)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General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1.689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2.132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111,0 %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1.901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112,0 %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1.816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1.568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618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1.741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115,0 %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2.500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23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10.534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11.643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3.383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2.929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14.572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1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96,0 %</a:t>
                      </a:r>
                      <a:endParaRPr lang="en-US" sz="81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142971" y="5452170"/>
            <a:ext cx="9362186" cy="1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8203945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7" name="Text 2"/>
          <p:cNvSpPr/>
          <p:nvPr/>
        </p:nvSpPr>
        <p:spPr>
          <a:xfrm>
            <a:off x="1213514" y="219075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8" name="Text 3"/>
          <p:cNvSpPr/>
          <p:nvPr/>
        </p:nvSpPr>
        <p:spPr>
          <a:xfrm>
            <a:off x="761981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4482889" y="148977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8203945" y="99060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761981" y="1489770"/>
            <a:ext cx="342690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4482889" y="990600"/>
            <a:ext cx="342706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3" name="Text 8"/>
          <p:cNvSpPr/>
          <p:nvPr/>
        </p:nvSpPr>
        <p:spPr>
          <a:xfrm>
            <a:off x="10362941" y="209550"/>
            <a:ext cx="132013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4482889" y="1162050"/>
            <a:ext cx="3427061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61981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203945" y="1162050"/>
            <a:ext cx="342690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0378419" y="1908870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10935468" y="1908870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232720"/>
          <a:ext cx="4572000" cy="1924050"/>
        </p:xfrm>
        <a:graphic>
          <a:graphicData uri="http://schemas.openxmlformats.org/drawingml/2006/table">
            <a:tbl>
              <a:tblPr/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050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4" name="Text 0"/>
          <p:cNvSpPr/>
          <p:nvPr/>
        </p:nvSpPr>
        <p:spPr>
          <a:xfrm>
            <a:off x="990575" y="5452170"/>
            <a:ext cx="10987817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840" dirty="0"/>
          </a:p>
        </p:txBody>
      </p:sp>
      <p:sp>
        <p:nvSpPr>
          <p:cNvPr id="5" name="Text 1"/>
          <p:cNvSpPr/>
          <p:nvPr/>
        </p:nvSpPr>
        <p:spPr>
          <a:xfrm>
            <a:off x="6314917" y="4956870"/>
            <a:ext cx="54105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48" dirty="0"/>
          </a:p>
        </p:txBody>
      </p:sp>
      <p:sp>
        <p:nvSpPr>
          <p:cNvPr id="6" name="Text 2"/>
          <p:cNvSpPr/>
          <p:nvPr/>
        </p:nvSpPr>
        <p:spPr>
          <a:xfrm>
            <a:off x="6314917" y="3544342"/>
            <a:ext cx="1605160" cy="21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672" dirty="0"/>
          </a:p>
        </p:txBody>
      </p:sp>
      <p:sp>
        <p:nvSpPr>
          <p:cNvPr id="7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8" name="Text 4"/>
          <p:cNvSpPr/>
          <p:nvPr/>
        </p:nvSpPr>
        <p:spPr>
          <a:xfrm>
            <a:off x="6314917" y="25285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672" dirty="0"/>
          </a:p>
        </p:txBody>
      </p:sp>
      <p:sp>
        <p:nvSpPr>
          <p:cNvPr id="9" name="Text 5"/>
          <p:cNvSpPr/>
          <p:nvPr/>
        </p:nvSpPr>
        <p:spPr>
          <a:xfrm>
            <a:off x="1213514" y="219075"/>
            <a:ext cx="3020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10" name="Text 6"/>
          <p:cNvSpPr/>
          <p:nvPr/>
        </p:nvSpPr>
        <p:spPr>
          <a:xfrm>
            <a:off x="6314917" y="41287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672" dirty="0"/>
          </a:p>
        </p:txBody>
      </p:sp>
      <p:sp>
        <p:nvSpPr>
          <p:cNvPr id="11" name="Text 7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2" name="Text 8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3" name="Text 9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4" name="Text 10"/>
          <p:cNvSpPr/>
          <p:nvPr/>
        </p:nvSpPr>
        <p:spPr>
          <a:xfrm>
            <a:off x="6314917" y="30619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672" dirty="0"/>
          </a:p>
        </p:txBody>
      </p:sp>
      <p:sp>
        <p:nvSpPr>
          <p:cNvPr id="15" name="Text 11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864" dirty="0"/>
          </a:p>
        </p:txBody>
      </p:sp>
      <p:sp>
        <p:nvSpPr>
          <p:cNvPr id="16" name="Text 12"/>
          <p:cNvSpPr/>
          <p:nvPr/>
        </p:nvSpPr>
        <p:spPr>
          <a:xfrm>
            <a:off x="9939089" y="24660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7" name="Text 13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864" dirty="0"/>
          </a:p>
        </p:txBody>
      </p:sp>
      <p:sp>
        <p:nvSpPr>
          <p:cNvPr id="18" name="Text 14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9" name="Text 1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864" dirty="0"/>
          </a:p>
        </p:txBody>
      </p:sp>
      <p:sp>
        <p:nvSpPr>
          <p:cNvPr id="20" name="Text 16"/>
          <p:cNvSpPr/>
          <p:nvPr/>
        </p:nvSpPr>
        <p:spPr>
          <a:xfrm>
            <a:off x="6314917" y="24059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1" name="Text 17"/>
          <p:cNvSpPr/>
          <p:nvPr/>
        </p:nvSpPr>
        <p:spPr>
          <a:xfrm>
            <a:off x="6314917" y="29393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2" name="Text 18"/>
          <p:cNvSpPr/>
          <p:nvPr/>
        </p:nvSpPr>
        <p:spPr>
          <a:xfrm>
            <a:off x="9939089" y="29994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3" name="Text 19"/>
          <p:cNvSpPr/>
          <p:nvPr/>
        </p:nvSpPr>
        <p:spPr>
          <a:xfrm>
            <a:off x="9939089" y="35328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4" name="Text 20"/>
          <p:cNvSpPr/>
          <p:nvPr/>
        </p:nvSpPr>
        <p:spPr>
          <a:xfrm>
            <a:off x="9939089" y="40662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5" name="Text 21"/>
          <p:cNvSpPr/>
          <p:nvPr/>
        </p:nvSpPr>
        <p:spPr>
          <a:xfrm>
            <a:off x="9939089" y="4599682"/>
            <a:ext cx="16051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6" name="Text 22"/>
          <p:cNvSpPr/>
          <p:nvPr/>
        </p:nvSpPr>
        <p:spPr>
          <a:xfrm>
            <a:off x="10451640" y="209550"/>
            <a:ext cx="1226998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840" dirty="0"/>
          </a:p>
        </p:txBody>
      </p:sp>
      <p:sp>
        <p:nvSpPr>
          <p:cNvPr id="27" name="Text 23"/>
          <p:cNvSpPr/>
          <p:nvPr/>
        </p:nvSpPr>
        <p:spPr>
          <a:xfrm>
            <a:off x="6314917" y="4662190"/>
            <a:ext cx="1605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672" dirty="0"/>
          </a:p>
        </p:txBody>
      </p:sp>
      <p:sp>
        <p:nvSpPr>
          <p:cNvPr id="28" name="Text 24"/>
          <p:cNvSpPr/>
          <p:nvPr/>
        </p:nvSpPr>
        <p:spPr>
          <a:xfrm>
            <a:off x="6314917" y="3421707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6314917" y="40061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30" name="Text 26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7938889" y="22517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912" dirty="0"/>
          </a:p>
        </p:txBody>
      </p:sp>
      <p:sp>
        <p:nvSpPr>
          <p:cNvPr id="33" name="Text 29"/>
          <p:cNvSpPr/>
          <p:nvPr/>
        </p:nvSpPr>
        <p:spPr>
          <a:xfrm>
            <a:off x="7938889" y="27851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912" dirty="0"/>
          </a:p>
        </p:txBody>
      </p:sp>
      <p:sp>
        <p:nvSpPr>
          <p:cNvPr id="34" name="Text 30"/>
          <p:cNvSpPr/>
          <p:nvPr/>
        </p:nvSpPr>
        <p:spPr>
          <a:xfrm>
            <a:off x="7938889" y="33185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912" dirty="0"/>
          </a:p>
        </p:txBody>
      </p:sp>
      <p:sp>
        <p:nvSpPr>
          <p:cNvPr id="35" name="Text 31"/>
          <p:cNvSpPr/>
          <p:nvPr/>
        </p:nvSpPr>
        <p:spPr>
          <a:xfrm>
            <a:off x="7938889" y="38519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912" dirty="0"/>
          </a:p>
        </p:txBody>
      </p:sp>
      <p:sp>
        <p:nvSpPr>
          <p:cNvPr id="36" name="Text 32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7938889" y="4385370"/>
            <a:ext cx="20002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38" name="Text 34"/>
          <p:cNvSpPr/>
          <p:nvPr/>
        </p:nvSpPr>
        <p:spPr>
          <a:xfrm>
            <a:off x="6314917" y="4539555"/>
            <a:ext cx="1605160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40" dirty="0"/>
          </a:p>
        </p:txBody>
      </p:sp>
      <p:sp>
        <p:nvSpPr>
          <p:cNvPr id="39" name="Text 35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2044005"/>
          <a:ext cx="4572000" cy="1647825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CP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Stock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CP Clientes Satisf.*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9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79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354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910.820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11.142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8,6 %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4110930"/>
          <a:ext cx="4572000" cy="16287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Conv.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102.168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46.733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46.426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73.899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60.402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38.988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31.039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37.642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64.283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43.410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363.715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321.087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129.696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343" y="2015430"/>
          <a:ext cx="4572000" cy="16287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201.409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99.241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49,3 %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94.918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48.185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50,8 %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134.897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60.998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45,2 %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153.111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114.123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74,5 %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154.335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116.691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75,6 %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173.413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109.130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7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62,9 %</a:t>
                      </a:r>
                      <a:endParaRPr lang="en-US" sz="67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035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912.083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548.368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60,1 %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6667333" y="4853880"/>
            <a:ext cx="4960496" cy="69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696" dirty="0"/>
          </a:p>
        </p:txBody>
      </p:sp>
      <p:sp>
        <p:nvSpPr>
          <p:cNvPr id="7" name="Text 1"/>
          <p:cNvSpPr/>
          <p:nvPr/>
        </p:nvSpPr>
        <p:spPr>
          <a:xfrm>
            <a:off x="704832" y="372040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600" dirty="0"/>
          </a:p>
        </p:txBody>
      </p:sp>
      <p:sp>
        <p:nvSpPr>
          <p:cNvPr id="8" name="Text 2"/>
          <p:cNvSpPr/>
          <p:nvPr/>
        </p:nvSpPr>
        <p:spPr>
          <a:xfrm>
            <a:off x="9067573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600" dirty="0"/>
          </a:p>
        </p:txBody>
      </p:sp>
      <p:sp>
        <p:nvSpPr>
          <p:cNvPr id="9" name="Text 3"/>
          <p:cNvSpPr/>
          <p:nvPr/>
        </p:nvSpPr>
        <p:spPr>
          <a:xfrm>
            <a:off x="3505112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600" dirty="0"/>
          </a:p>
        </p:txBody>
      </p:sp>
      <p:sp>
        <p:nvSpPr>
          <p:cNvPr id="10" name="Text 4"/>
          <p:cNvSpPr/>
          <p:nvPr/>
        </p:nvSpPr>
        <p:spPr>
          <a:xfrm>
            <a:off x="6286343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600" dirty="0"/>
          </a:p>
        </p:txBody>
      </p:sp>
      <p:sp>
        <p:nvSpPr>
          <p:cNvPr id="11" name="Text 5"/>
          <p:cNvSpPr/>
          <p:nvPr/>
        </p:nvSpPr>
        <p:spPr>
          <a:xfrm>
            <a:off x="6286343" y="465385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12" name="Text 6"/>
          <p:cNvSpPr/>
          <p:nvPr/>
        </p:nvSpPr>
        <p:spPr>
          <a:xfrm>
            <a:off x="723882" y="1282005"/>
            <a:ext cx="25602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600" dirty="0"/>
          </a:p>
        </p:txBody>
      </p:sp>
      <p:sp>
        <p:nvSpPr>
          <p:cNvPr id="13" name="Text 7"/>
          <p:cNvSpPr/>
          <p:nvPr/>
        </p:nvSpPr>
        <p:spPr>
          <a:xfrm>
            <a:off x="704832" y="5758755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4" name="Text 8"/>
          <p:cNvSpPr/>
          <p:nvPr/>
        </p:nvSpPr>
        <p:spPr>
          <a:xfrm>
            <a:off x="6286343" y="3720405"/>
            <a:ext cx="546054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5" name="Text 9"/>
          <p:cNvSpPr/>
          <p:nvPr/>
        </p:nvSpPr>
        <p:spPr>
          <a:xfrm>
            <a:off x="6286343" y="392043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0"/>
          <p:cNvSpPr/>
          <p:nvPr/>
        </p:nvSpPr>
        <p:spPr>
          <a:xfrm>
            <a:off x="6286343" y="402520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7" name="Text 11"/>
          <p:cNvSpPr/>
          <p:nvPr/>
        </p:nvSpPr>
        <p:spPr>
          <a:xfrm>
            <a:off x="6286343" y="412998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8" name="Text 12"/>
          <p:cNvSpPr/>
          <p:nvPr/>
        </p:nvSpPr>
        <p:spPr>
          <a:xfrm>
            <a:off x="6286343" y="423475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9" name="Text 13"/>
          <p:cNvSpPr/>
          <p:nvPr/>
        </p:nvSpPr>
        <p:spPr>
          <a:xfrm>
            <a:off x="1213514" y="219075"/>
            <a:ext cx="2230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20" name="Text 14"/>
          <p:cNvSpPr/>
          <p:nvPr/>
        </p:nvSpPr>
        <p:spPr>
          <a:xfrm>
            <a:off x="9067573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21" name="Text 15"/>
          <p:cNvSpPr/>
          <p:nvPr/>
        </p:nvSpPr>
        <p:spPr>
          <a:xfrm>
            <a:off x="10153843" y="209550"/>
            <a:ext cx="15396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840" dirty="0"/>
          </a:p>
        </p:txBody>
      </p:sp>
      <p:sp>
        <p:nvSpPr>
          <p:cNvPr id="22" name="Text 16"/>
          <p:cNvSpPr/>
          <p:nvPr/>
        </p:nvSpPr>
        <p:spPr>
          <a:xfrm>
            <a:off x="6286343" y="444430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3" name="Text 17"/>
          <p:cNvSpPr/>
          <p:nvPr/>
        </p:nvSpPr>
        <p:spPr>
          <a:xfrm>
            <a:off x="723882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4" name="Text 18"/>
          <p:cNvSpPr/>
          <p:nvPr/>
        </p:nvSpPr>
        <p:spPr>
          <a:xfrm>
            <a:off x="3505112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5" name="Text 19"/>
          <p:cNvSpPr/>
          <p:nvPr/>
        </p:nvSpPr>
        <p:spPr>
          <a:xfrm>
            <a:off x="6286343" y="433953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26" name="Text 20"/>
          <p:cNvSpPr/>
          <p:nvPr/>
        </p:nvSpPr>
        <p:spPr>
          <a:xfrm>
            <a:off x="6286343" y="971550"/>
            <a:ext cx="2560256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27" name="Text 21"/>
          <p:cNvSpPr/>
          <p:nvPr/>
        </p:nvSpPr>
        <p:spPr>
          <a:xfrm>
            <a:off x="1088204" y="11430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3505112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20" dirty="0"/>
          </a:p>
        </p:txBody>
      </p:sp>
      <p:sp>
        <p:nvSpPr>
          <p:cNvPr id="29" name="Text 23"/>
          <p:cNvSpPr/>
          <p:nvPr/>
        </p:nvSpPr>
        <p:spPr>
          <a:xfrm>
            <a:off x="6649177" y="11430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0" name="Text 24"/>
          <p:cNvSpPr/>
          <p:nvPr/>
        </p:nvSpPr>
        <p:spPr>
          <a:xfrm>
            <a:off x="9317301" y="11430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31" name="Text 25"/>
          <p:cNvSpPr/>
          <p:nvPr/>
        </p:nvSpPr>
        <p:spPr>
          <a:xfrm>
            <a:off x="723882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20" dirty="0"/>
          </a:p>
        </p:txBody>
      </p:sp>
      <p:sp>
        <p:nvSpPr>
          <p:cNvPr id="32" name="Text 26"/>
          <p:cNvSpPr/>
          <p:nvPr/>
        </p:nvSpPr>
        <p:spPr>
          <a:xfrm>
            <a:off x="6286343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20" dirty="0"/>
          </a:p>
        </p:txBody>
      </p:sp>
      <p:sp>
        <p:nvSpPr>
          <p:cNvPr id="33" name="Text 27"/>
          <p:cNvSpPr/>
          <p:nvPr/>
        </p:nvSpPr>
        <p:spPr>
          <a:xfrm>
            <a:off x="6286343" y="454908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34" name="Text 28"/>
          <p:cNvSpPr/>
          <p:nvPr/>
        </p:nvSpPr>
        <p:spPr>
          <a:xfrm>
            <a:off x="9067573" y="1114425"/>
            <a:ext cx="2560256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20" dirty="0"/>
          </a:p>
        </p:txBody>
      </p:sp>
      <p:sp>
        <p:nvSpPr>
          <p:cNvPr id="35" name="Text 29"/>
          <p:cNvSpPr/>
          <p:nvPr/>
        </p:nvSpPr>
        <p:spPr>
          <a:xfrm>
            <a:off x="11220169" y="392043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36" name="Text 30"/>
          <p:cNvSpPr/>
          <p:nvPr/>
        </p:nvSpPr>
        <p:spPr>
          <a:xfrm>
            <a:off x="11220169" y="402520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37" name="Text 31"/>
          <p:cNvSpPr/>
          <p:nvPr/>
        </p:nvSpPr>
        <p:spPr>
          <a:xfrm>
            <a:off x="11220169" y="412998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8" name="Text 32"/>
          <p:cNvSpPr/>
          <p:nvPr/>
        </p:nvSpPr>
        <p:spPr>
          <a:xfrm>
            <a:off x="11220169" y="423475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39" name="Text 33"/>
          <p:cNvSpPr/>
          <p:nvPr/>
        </p:nvSpPr>
        <p:spPr>
          <a:xfrm>
            <a:off x="11220169" y="433953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0" name="Text 34"/>
          <p:cNvSpPr/>
          <p:nvPr/>
        </p:nvSpPr>
        <p:spPr>
          <a:xfrm>
            <a:off x="11220169" y="444430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41" name="Text 35"/>
          <p:cNvSpPr/>
          <p:nvPr/>
        </p:nvSpPr>
        <p:spPr>
          <a:xfrm>
            <a:off x="11220169" y="454908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470845"/>
          <a:ext cx="4572000" cy="1952625"/>
        </p:xfrm>
        <a:graphic>
          <a:graphicData uri="http://schemas.openxmlformats.org/drawingml/2006/table">
            <a:tbl>
              <a:tblPr/>
              <a:tblGrid>
                <a:gridCol w="653143"/>
                <a:gridCol w="653143"/>
                <a:gridCol w="653143"/>
                <a:gridCol w="653143"/>
                <a:gridCol w="653143"/>
                <a:gridCol w="653143"/>
                <a:gridCol w="653143"/>
              </a:tblGrid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1.189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1.950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2.203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4.968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3.447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29,2 %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407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11.686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7.460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63,8 %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737795"/>
          <a:ext cx="4572000" cy="1287661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Jesús D. Cortés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Melissa P. Orozco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Luisa L. Percy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4ª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-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461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4 asesores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204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266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44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605</a:t>
                      </a:r>
                      <a:endParaRPr lang="en-US" sz="74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648284" y="5367784"/>
            <a:ext cx="4960496" cy="417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696" dirty="0"/>
          </a:p>
        </p:txBody>
      </p:sp>
      <p:sp>
        <p:nvSpPr>
          <p:cNvPr id="6" name="Text 1"/>
          <p:cNvSpPr/>
          <p:nvPr/>
        </p:nvSpPr>
        <p:spPr>
          <a:xfrm>
            <a:off x="6314917" y="3575745"/>
            <a:ext cx="541054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744" dirty="0"/>
          </a:p>
        </p:txBody>
      </p:sp>
      <p:sp>
        <p:nvSpPr>
          <p:cNvPr id="7" name="Text 2"/>
          <p:cNvSpPr/>
          <p:nvPr/>
        </p:nvSpPr>
        <p:spPr>
          <a:xfrm>
            <a:off x="6314917" y="4537770"/>
            <a:ext cx="54105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8" name="Text 3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6777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10" name="Text 5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634349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6314917" y="38519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13" name="Text 8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6314917" y="40805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15" name="Text 10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6314917" y="37376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9936261" y="209550"/>
            <a:ext cx="176814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840" dirty="0"/>
          </a:p>
        </p:txBody>
      </p:sp>
      <p:sp>
        <p:nvSpPr>
          <p:cNvPr id="18" name="Text 13"/>
          <p:cNvSpPr/>
          <p:nvPr/>
        </p:nvSpPr>
        <p:spPr>
          <a:xfrm>
            <a:off x="6314917" y="43091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19" name="Text 14"/>
          <p:cNvSpPr/>
          <p:nvPr/>
        </p:nvSpPr>
        <p:spPr>
          <a:xfrm>
            <a:off x="8988548" y="5099745"/>
            <a:ext cx="118449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24" dirty="0"/>
          </a:p>
        </p:txBody>
      </p:sp>
      <p:sp>
        <p:nvSpPr>
          <p:cNvPr id="20" name="Text 15"/>
          <p:cNvSpPr/>
          <p:nvPr/>
        </p:nvSpPr>
        <p:spPr>
          <a:xfrm>
            <a:off x="6314917" y="39662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6314917" y="41948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22" name="Text 17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3" name="Text 18"/>
          <p:cNvSpPr/>
          <p:nvPr/>
        </p:nvSpPr>
        <p:spPr>
          <a:xfrm>
            <a:off x="7665945" y="5099745"/>
            <a:ext cx="11846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24" dirty="0"/>
          </a:p>
        </p:txBody>
      </p:sp>
      <p:sp>
        <p:nvSpPr>
          <p:cNvPr id="24" name="Text 19"/>
          <p:cNvSpPr/>
          <p:nvPr/>
        </p:nvSpPr>
        <p:spPr>
          <a:xfrm>
            <a:off x="6314917" y="4423470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25" name="Text 20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26" name="Text 21"/>
          <p:cNvSpPr/>
          <p:nvPr/>
        </p:nvSpPr>
        <p:spPr>
          <a:xfrm>
            <a:off x="6343491" y="5099745"/>
            <a:ext cx="118449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24" dirty="0"/>
          </a:p>
        </p:txBody>
      </p:sp>
      <p:sp>
        <p:nvSpPr>
          <p:cNvPr id="27" name="Text 22"/>
          <p:cNvSpPr/>
          <p:nvPr/>
        </p:nvSpPr>
        <p:spPr>
          <a:xfrm>
            <a:off x="10311001" y="5099745"/>
            <a:ext cx="118465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24" dirty="0"/>
          </a:p>
        </p:txBody>
      </p:sp>
      <p:sp>
        <p:nvSpPr>
          <p:cNvPr id="28" name="Text 23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29" name="Text 24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11182070" y="37376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32" name="Text 27"/>
          <p:cNvSpPr/>
          <p:nvPr/>
        </p:nvSpPr>
        <p:spPr>
          <a:xfrm>
            <a:off x="11182070" y="38519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33" name="Text 28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8392059" y="294620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504" dirty="0"/>
          </a:p>
        </p:txBody>
      </p:sp>
      <p:sp>
        <p:nvSpPr>
          <p:cNvPr id="35" name="Text 30"/>
          <p:cNvSpPr/>
          <p:nvPr/>
        </p:nvSpPr>
        <p:spPr>
          <a:xfrm>
            <a:off x="9240656" y="2831009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504" dirty="0"/>
          </a:p>
        </p:txBody>
      </p:sp>
      <p:sp>
        <p:nvSpPr>
          <p:cNvPr id="36" name="Text 31"/>
          <p:cNvSpPr/>
          <p:nvPr/>
        </p:nvSpPr>
        <p:spPr>
          <a:xfrm>
            <a:off x="10085532" y="253365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504" dirty="0"/>
          </a:p>
        </p:txBody>
      </p:sp>
      <p:sp>
        <p:nvSpPr>
          <p:cNvPr id="37" name="Text 32"/>
          <p:cNvSpPr/>
          <p:nvPr/>
        </p:nvSpPr>
        <p:spPr>
          <a:xfrm>
            <a:off x="10935320" y="253365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504" dirty="0"/>
          </a:p>
        </p:txBody>
      </p:sp>
      <p:sp>
        <p:nvSpPr>
          <p:cNvPr id="38" name="Text 33"/>
          <p:cNvSpPr/>
          <p:nvPr/>
        </p:nvSpPr>
        <p:spPr>
          <a:xfrm>
            <a:off x="11182070" y="39662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39" name="Text 34"/>
          <p:cNvSpPr/>
          <p:nvPr/>
        </p:nvSpPr>
        <p:spPr>
          <a:xfrm>
            <a:off x="11182070" y="40805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40" name="Text 35"/>
          <p:cNvSpPr/>
          <p:nvPr/>
        </p:nvSpPr>
        <p:spPr>
          <a:xfrm>
            <a:off x="11182070" y="41948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41" name="Text 36"/>
          <p:cNvSpPr/>
          <p:nvPr/>
        </p:nvSpPr>
        <p:spPr>
          <a:xfrm>
            <a:off x="11182070" y="43091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42" name="Text 37"/>
          <p:cNvSpPr/>
          <p:nvPr/>
        </p:nvSpPr>
        <p:spPr>
          <a:xfrm>
            <a:off x="11182070" y="4423470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43" name="Text 38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400" dirty="0"/>
          </a:p>
        </p:txBody>
      </p:sp>
      <p:sp>
        <p:nvSpPr>
          <p:cNvPr id="44" name="Text 39"/>
          <p:cNvSpPr/>
          <p:nvPr/>
        </p:nvSpPr>
        <p:spPr>
          <a:xfrm>
            <a:off x="6703349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45" name="Text 40"/>
          <p:cNvSpPr/>
          <p:nvPr/>
        </p:nvSpPr>
        <p:spPr>
          <a:xfrm>
            <a:off x="7563405" y="310336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504" dirty="0"/>
          </a:p>
        </p:txBody>
      </p:sp>
      <p:sp>
        <p:nvSpPr>
          <p:cNvPr id="46" name="Text 41"/>
          <p:cNvSpPr/>
          <p:nvPr/>
        </p:nvSpPr>
        <p:spPr>
          <a:xfrm>
            <a:off x="7552094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47" name="Text 42"/>
          <p:cNvSpPr/>
          <p:nvPr/>
        </p:nvSpPr>
        <p:spPr>
          <a:xfrm>
            <a:off x="8398161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48" name="Text 43"/>
          <p:cNvSpPr/>
          <p:nvPr/>
        </p:nvSpPr>
        <p:spPr>
          <a:xfrm>
            <a:off x="9241400" y="2730103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720" dirty="0"/>
          </a:p>
        </p:txBody>
      </p:sp>
      <p:sp>
        <p:nvSpPr>
          <p:cNvPr id="49" name="Text 44"/>
          <p:cNvSpPr/>
          <p:nvPr/>
        </p:nvSpPr>
        <p:spPr>
          <a:xfrm>
            <a:off x="9250627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50" name="Text 45"/>
          <p:cNvSpPr/>
          <p:nvPr/>
        </p:nvSpPr>
        <p:spPr>
          <a:xfrm>
            <a:off x="10084937" y="24327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20" dirty="0"/>
          </a:p>
        </p:txBody>
      </p:sp>
      <p:sp>
        <p:nvSpPr>
          <p:cNvPr id="51" name="Text 46"/>
          <p:cNvSpPr/>
          <p:nvPr/>
        </p:nvSpPr>
        <p:spPr>
          <a:xfrm>
            <a:off x="10088062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52" name="Text 47"/>
          <p:cNvSpPr/>
          <p:nvPr/>
        </p:nvSpPr>
        <p:spPr>
          <a:xfrm>
            <a:off x="10932641" y="24327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720" dirty="0"/>
          </a:p>
        </p:txBody>
      </p:sp>
      <p:sp>
        <p:nvSpPr>
          <p:cNvPr id="53" name="Text 48"/>
          <p:cNvSpPr/>
          <p:nvPr/>
        </p:nvSpPr>
        <p:spPr>
          <a:xfrm>
            <a:off x="10945588" y="338524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54" name="Text 49"/>
          <p:cNvSpPr/>
          <p:nvPr/>
        </p:nvSpPr>
        <p:spPr>
          <a:xfrm>
            <a:off x="6719571" y="3012877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55" name="Text 50"/>
          <p:cNvSpPr/>
          <p:nvPr/>
        </p:nvSpPr>
        <p:spPr>
          <a:xfrm>
            <a:off x="7567870" y="3002459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56" name="Text 51"/>
          <p:cNvSpPr/>
          <p:nvPr/>
        </p:nvSpPr>
        <p:spPr>
          <a:xfrm>
            <a:off x="8413341" y="28452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14.772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21.421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19.096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20.067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19.767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114.696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4.318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6.863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6.719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35.758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Contrato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4.624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con Localidad Errónea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Cédula/Teléfono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11.134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13.486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13.166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13.203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70.266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8.439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7.935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6.901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44.430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5.413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7.149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5.651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38.250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 (CP + Autogestión)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1.434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7.672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4.822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10.362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1.221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6.837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856238"/>
            <a:ext cx="7441057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6002685"/>
            <a:ext cx="7441057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493602" y="5719316"/>
            <a:ext cx="247540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1213514" y="219075"/>
            <a:ext cx="3868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11" name="Text 4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445141" y="209550"/>
            <a:ext cx="228382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20.864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50.266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69.741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82.833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114.104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420.641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9.346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15.354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19.655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27.509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96.218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17.457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85.455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4.299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21.047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Dirección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3.117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3.990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5.585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19.533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2.786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3.898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13.637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Repetido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1.126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2.018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7.059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Repetida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5.053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(&gt;80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2.617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9.154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25.419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41.761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53.460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74.819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261.700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8.083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24.847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27.980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29.373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39.285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158.941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20288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10.540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11.869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12.460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16.662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67.420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3.908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6.179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24.996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2.653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14.356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1.454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5.881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1.298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7.026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3.063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6.214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3.506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10.777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12.740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17.041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68.940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2.885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8.867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9.986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10.483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14.019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56.723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1.513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8.594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2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6002685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56238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336741" y="5719316"/>
            <a:ext cx="256228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298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601853" y="209550"/>
            <a:ext cx="211927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3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55.557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24.673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41.870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49.232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34.574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255.138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13620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3.237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8.732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13.532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103.678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Recibido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4.056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1.470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11.261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Supera edad para Microseguro (69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5.948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Excede límite de edad (&gt;69 años)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4.495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Seguro Voluntario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839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2.330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2.145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1.633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2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4.225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11.397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4.562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48.734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17.661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135.313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51.332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13.276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37.308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16.913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119.825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7.252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1.875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5.270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16.926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6.037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4.035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precio / datos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9.184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25.810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11.700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82.895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34.600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8.949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25.148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80.769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511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1.640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7753744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7753744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1586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10" name="Text 3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579176" y="5585966"/>
            <a:ext cx="198019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744" dirty="0"/>
          </a:p>
        </p:txBody>
      </p:sp>
      <p:sp>
        <p:nvSpPr>
          <p:cNvPr id="12" name="Text 5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794481" y="209550"/>
            <a:ext cx="296701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16" name="Text 9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837984" y="5585966"/>
            <a:ext cx="36472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744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380" dirty="0"/>
          </a:p>
        </p:txBody>
      </p:sp>
      <p:sp>
        <p:nvSpPr>
          <p:cNvPr id="22" name="Text 15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3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108.659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43.210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Activa / Producto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Errado / Sin Teléfono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4.120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 / No apto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2.980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1.016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73.431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35.228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2287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3.210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28.692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22.104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652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6.588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056138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202585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1213514" y="219075"/>
            <a:ext cx="4575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10" name="Text 3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8681672" y="209550"/>
            <a:ext cx="308546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840" dirty="0"/>
          </a:p>
        </p:txBody>
      </p:sp>
      <p:sp>
        <p:nvSpPr>
          <p:cNvPr id="14" name="Text 7"/>
          <p:cNvSpPr/>
          <p:nvPr/>
        </p:nvSpPr>
        <p:spPr>
          <a:xfrm>
            <a:off x="1138953" y="4919216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0,4 %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0,1 %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9.397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6953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 / Ya Posee el Producto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90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87,9 %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1.571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85,2 %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1.143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17,5 %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1.862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17,8 %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1.704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211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14,3 %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9.378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78,9 %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89547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1.076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1.468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1.345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7.400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1.309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2.508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cumple requisito de edad (&gt;69 años)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Agendado / llamada posterior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287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366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359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1.978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1.244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Teléfono apagado / fuera de servicio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29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3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722888"/>
            <a:ext cx="663160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685783" y="5869335"/>
            <a:ext cx="663160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744" dirty="0"/>
          </a:p>
        </p:txBody>
      </p:sp>
      <p:sp>
        <p:nvSpPr>
          <p:cNvPr id="9" name="Text 2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11" name="Text 4"/>
          <p:cNvSpPr/>
          <p:nvPr/>
        </p:nvSpPr>
        <p:spPr>
          <a:xfrm>
            <a:off x="1213514" y="219075"/>
            <a:ext cx="3616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12" name="Text 5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3" name="Text 6"/>
          <p:cNvSpPr/>
          <p:nvPr/>
        </p:nvSpPr>
        <p:spPr>
          <a:xfrm>
            <a:off x="2227455" y="5585966"/>
            <a:ext cx="15609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744" dirty="0"/>
          </a:p>
        </p:txBody>
      </p:sp>
      <p:sp>
        <p:nvSpPr>
          <p:cNvPr id="14" name="Text 7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8"/>
          <p:cNvSpPr/>
          <p:nvPr/>
        </p:nvSpPr>
        <p:spPr>
          <a:xfrm>
            <a:off x="9287536" y="209550"/>
            <a:ext cx="244930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840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21" name="Text 14"/>
          <p:cNvSpPr/>
          <p:nvPr/>
        </p:nvSpPr>
        <p:spPr>
          <a:xfrm>
            <a:off x="8216595" y="97155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288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1.263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4812" y="3248769"/>
          <a:ext cx="4572000" cy="9620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Microseguro Activo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67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NIT de empresa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 Enviado Anteriormente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Cédula Errada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Nombre Vacío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74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7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57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57769" y="1810494"/>
          <a:ext cx="4572000" cy="116205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 / Ctto.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Febrero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Marzo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Abril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Junio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452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1.065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53,0 %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0,7 %</a:t>
                      </a:r>
                      <a:endParaRPr lang="en-US" sz="63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7293" y="3248769"/>
          <a:ext cx="4572000" cy="1495425"/>
        </p:xfrm>
        <a:graphic>
          <a:graphicData uri="http://schemas.openxmlformats.org/drawingml/2006/table">
            <a:tbl>
              <a:tblPr/>
              <a:tblGrid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Tipificación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CONTACTO EFECTIVO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 exitosa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interesado por el producto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Datos errados / experiencia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Cuelga la llamada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90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es responsable del pago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68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Otros motivos menores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CONTACTO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501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Contestador automático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455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359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 contesta / apagado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552" b="1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46</a:t>
                      </a:r>
                      <a:endParaRPr lang="en-US" sz="55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7" name="Text 0"/>
          <p:cNvSpPr/>
          <p:nvPr/>
        </p:nvSpPr>
        <p:spPr>
          <a:xfrm>
            <a:off x="685783" y="5322838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8" name="Text 1"/>
          <p:cNvSpPr/>
          <p:nvPr/>
        </p:nvSpPr>
        <p:spPr>
          <a:xfrm>
            <a:off x="1213514" y="219075"/>
            <a:ext cx="4834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9" name="Text 2"/>
          <p:cNvSpPr/>
          <p:nvPr/>
        </p:nvSpPr>
        <p:spPr>
          <a:xfrm>
            <a:off x="533387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10" name="Text 3"/>
          <p:cNvSpPr/>
          <p:nvPr/>
        </p:nvSpPr>
        <p:spPr>
          <a:xfrm>
            <a:off x="685783" y="5469285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11" name="Text 4"/>
          <p:cNvSpPr/>
          <p:nvPr/>
        </p:nvSpPr>
        <p:spPr>
          <a:xfrm>
            <a:off x="4374991" y="121994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12" name="Text 5"/>
          <p:cNvSpPr/>
          <p:nvPr/>
        </p:nvSpPr>
        <p:spPr>
          <a:xfrm>
            <a:off x="1138953" y="5185916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3" name="Text 6"/>
          <p:cNvSpPr/>
          <p:nvPr/>
        </p:nvSpPr>
        <p:spPr>
          <a:xfrm>
            <a:off x="8216595" y="121994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4" name="Text 7"/>
          <p:cNvSpPr/>
          <p:nvPr/>
        </p:nvSpPr>
        <p:spPr>
          <a:xfrm>
            <a:off x="9150320" y="209550"/>
            <a:ext cx="2593384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840" dirty="0"/>
          </a:p>
        </p:txBody>
      </p:sp>
      <p:sp>
        <p:nvSpPr>
          <p:cNvPr id="15" name="Text 8"/>
          <p:cNvSpPr/>
          <p:nvPr/>
        </p:nvSpPr>
        <p:spPr>
          <a:xfrm>
            <a:off x="495288" y="30296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9"/>
          <p:cNvSpPr/>
          <p:nvPr/>
        </p:nvSpPr>
        <p:spPr>
          <a:xfrm>
            <a:off x="533387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7" name="Text 10"/>
          <p:cNvSpPr/>
          <p:nvPr/>
        </p:nvSpPr>
        <p:spPr>
          <a:xfrm>
            <a:off x="4374991" y="82867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18" name="Text 11"/>
          <p:cNvSpPr/>
          <p:nvPr/>
        </p:nvSpPr>
        <p:spPr>
          <a:xfrm>
            <a:off x="8216595" y="82867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19" name="Text 12"/>
          <p:cNvSpPr/>
          <p:nvPr/>
        </p:nvSpPr>
        <p:spPr>
          <a:xfrm>
            <a:off x="533387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20" name="Text 13"/>
          <p:cNvSpPr/>
          <p:nvPr/>
        </p:nvSpPr>
        <p:spPr>
          <a:xfrm>
            <a:off x="4374991" y="97155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042071"/>
          <a:ext cx="3657600" cy="1304925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Semanas Ganadoras: 1.292/950 ventas (136 %) · Bono $100K/semana × trío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Gran Jugada: 4.798/4.200 ventas (114 %) · $7.000.000 al equipo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Acelerador Mayo: 560/650 ventas (86 %) · Bono $300.000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609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 eventos de incentivo Vanti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en torneo + varios incentivos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destacado + varios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medio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Patrón similar a marzo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+ Meta Volante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por cumplimiento de metas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 eventos de incentivo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7629334" y="4898827"/>
            <a:ext cx="3880388" cy="53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7" name="Text 1"/>
          <p:cNvSpPr/>
          <p:nvPr/>
        </p:nvSpPr>
        <p:spPr>
          <a:xfrm>
            <a:off x="1213514" y="219075"/>
            <a:ext cx="3276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2"/>
          <p:cNvSpPr/>
          <p:nvPr/>
        </p:nvSpPr>
        <p:spPr>
          <a:xfrm>
            <a:off x="7867453" y="1419225"/>
            <a:ext cx="2975297" cy="19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9" name="Text 3"/>
          <p:cNvSpPr/>
          <p:nvPr/>
        </p:nvSpPr>
        <p:spPr>
          <a:xfrm>
            <a:off x="10196555" y="209550"/>
            <a:ext cx="149483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10" name="Text 4"/>
          <p:cNvSpPr/>
          <p:nvPr/>
        </p:nvSpPr>
        <p:spPr>
          <a:xfrm>
            <a:off x="1687222" y="5429250"/>
            <a:ext cx="4728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1" name="Text 5"/>
          <p:cNvSpPr/>
          <p:nvPr/>
        </p:nvSpPr>
        <p:spPr>
          <a:xfrm>
            <a:off x="1149073" y="5429250"/>
            <a:ext cx="44504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2" name="Text 6"/>
          <p:cNvSpPr/>
          <p:nvPr/>
        </p:nvSpPr>
        <p:spPr>
          <a:xfrm>
            <a:off x="10517867" y="1066800"/>
            <a:ext cx="453639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3" name="Text 7"/>
          <p:cNvSpPr/>
          <p:nvPr/>
        </p:nvSpPr>
        <p:spPr>
          <a:xfrm>
            <a:off x="10988003" y="1066800"/>
            <a:ext cx="483798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832" y="1266825"/>
          <a:ext cx="5486400" cy="4124325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#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JesúS David CortéS Ortega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1.276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Melissa Paola Orozco Jinete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Luisa L. Percy Jaraba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Dayana D. Guerrero HernáNdez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⭐ Anderson Monterrosa Castilla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925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Joelis J. Barros B.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Yulieth Pacheco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Alan José HernáNdez Loaiza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865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Santiago Elí CháVez Carmona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Julithza Milagros Padilla MejíA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Nohelia H. Salas Monterrosa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Isabella SofíA Rueda Caserta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Laura L. Herrera Palomino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149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633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Valentina Orozco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622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Rhoymar HernáNdez AlbarráN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157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602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CéSar Barrera PáJaro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Jean J. GuzmáN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Josué Zabaleta Bethel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30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198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Yannecce MejíA GóMez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140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Silvana Otero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136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Nayerlis Polo Marrugo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22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Karina Yisell Marquez Hernandez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Ruddy Olmos Simanca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18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34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Rosalinda Rivera Senior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4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25</a:t>
                      </a:r>
                      <a:endParaRPr lang="en-US" sz="624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Michelle Paola Robles Becerra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6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</a:t>
                      </a:r>
                      <a:endParaRPr lang="en-US" sz="66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52753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96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13.917</a:t>
                      </a:r>
                      <a:endParaRPr lang="en-US" sz="696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Semanas Ganadoras: 1.292/950 ventas (136 %) · Bono $100K/semana × trío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Gran Jugada: 4.798/4.200 ventas (114 %) · $7.000.000 al equipo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Acelerador Mayo: 560/650 ventas (86 %) · Bono $300.000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 eventos de incentivo Vanti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48364" y="2712164"/>
          <a:ext cx="3657600" cy="1752600"/>
        </p:xfrm>
        <a:graphic>
          <a:graphicData uri="http://schemas.openxmlformats.org/drawingml/2006/table">
            <a:tbl>
              <a:tblPr/>
              <a:tblGrid>
                <a:gridCol w="1219200"/>
                <a:gridCol w="1219200"/>
                <a:gridCol w="12192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Eventos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Detalle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en torneo + varios incentivos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destacado + varios menores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medio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Patrón similar a marzo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 destacado + Meta Volante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Incentivos de rendimiento por cumplimiento de metas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20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41 eventos de incentivo en el semestre</a:t>
                      </a:r>
                      <a:endParaRPr lang="en-US" sz="72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sp>
        <p:nvSpPr>
          <p:cNvPr id="6" name="Text 0"/>
          <p:cNvSpPr/>
          <p:nvPr/>
        </p:nvSpPr>
        <p:spPr>
          <a:xfrm>
            <a:off x="7629334" y="4898827"/>
            <a:ext cx="3880388" cy="536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7" name="Text 1"/>
          <p:cNvSpPr/>
          <p:nvPr/>
        </p:nvSpPr>
        <p:spPr>
          <a:xfrm>
            <a:off x="1213514" y="219075"/>
            <a:ext cx="3276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8" name="Text 2"/>
          <p:cNvSpPr/>
          <p:nvPr/>
        </p:nvSpPr>
        <p:spPr>
          <a:xfrm>
            <a:off x="7867453" y="2085975"/>
            <a:ext cx="2975297" cy="191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9" name="Text 3"/>
          <p:cNvSpPr/>
          <p:nvPr/>
        </p:nvSpPr>
        <p:spPr>
          <a:xfrm>
            <a:off x="10196555" y="209550"/>
            <a:ext cx="149483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10" name="Text 4"/>
          <p:cNvSpPr/>
          <p:nvPr/>
        </p:nvSpPr>
        <p:spPr>
          <a:xfrm>
            <a:off x="1687222" y="5429250"/>
            <a:ext cx="47286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11" name="Text 5"/>
          <p:cNvSpPr/>
          <p:nvPr/>
        </p:nvSpPr>
        <p:spPr>
          <a:xfrm>
            <a:off x="1149073" y="5429250"/>
            <a:ext cx="445044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12" name="Text 6"/>
          <p:cNvSpPr/>
          <p:nvPr/>
        </p:nvSpPr>
        <p:spPr>
          <a:xfrm>
            <a:off x="10517867" y="1066800"/>
            <a:ext cx="453639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13" name="Text 7"/>
          <p:cNvSpPr/>
          <p:nvPr/>
        </p:nvSpPr>
        <p:spPr>
          <a:xfrm>
            <a:off x="10988003" y="1066800"/>
            <a:ext cx="483798" cy="210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14" name="Text 8"/>
          <p:cNvSpPr/>
          <p:nvPr/>
        </p:nvSpPr>
        <p:spPr>
          <a:xfrm>
            <a:off x="7448364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5" name="Text 9"/>
          <p:cNvSpPr/>
          <p:nvPr/>
        </p:nvSpPr>
        <p:spPr>
          <a:xfrm>
            <a:off x="7791255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6" name="Text 10"/>
          <p:cNvSpPr/>
          <p:nvPr/>
        </p:nvSpPr>
        <p:spPr>
          <a:xfrm>
            <a:off x="8134147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7" name="Text 11"/>
          <p:cNvSpPr/>
          <p:nvPr/>
        </p:nvSpPr>
        <p:spPr>
          <a:xfrm>
            <a:off x="8477038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8" name="Text 12"/>
          <p:cNvSpPr/>
          <p:nvPr/>
        </p:nvSpPr>
        <p:spPr>
          <a:xfrm>
            <a:off x="8819929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9" name="Text 13"/>
          <p:cNvSpPr/>
          <p:nvPr/>
        </p:nvSpPr>
        <p:spPr>
          <a:xfrm>
            <a:off x="9162821" y="1810533"/>
            <a:ext cx="2800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20" name="Text 14"/>
          <p:cNvSpPr/>
          <p:nvPr/>
        </p:nvSpPr>
        <p:spPr>
          <a:xfrm>
            <a:off x="7448364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88" dirty="0"/>
          </a:p>
        </p:txBody>
      </p:sp>
      <p:sp>
        <p:nvSpPr>
          <p:cNvPr id="21" name="Text 15"/>
          <p:cNvSpPr/>
          <p:nvPr/>
        </p:nvSpPr>
        <p:spPr>
          <a:xfrm>
            <a:off x="7791255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88" dirty="0"/>
          </a:p>
        </p:txBody>
      </p:sp>
      <p:sp>
        <p:nvSpPr>
          <p:cNvPr id="22" name="Text 16"/>
          <p:cNvSpPr/>
          <p:nvPr/>
        </p:nvSpPr>
        <p:spPr>
          <a:xfrm>
            <a:off x="8134147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88" dirty="0"/>
          </a:p>
        </p:txBody>
      </p:sp>
      <p:sp>
        <p:nvSpPr>
          <p:cNvPr id="23" name="Text 17"/>
          <p:cNvSpPr/>
          <p:nvPr/>
        </p:nvSpPr>
        <p:spPr>
          <a:xfrm>
            <a:off x="8477038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4" name="Text 18"/>
          <p:cNvSpPr/>
          <p:nvPr/>
        </p:nvSpPr>
        <p:spPr>
          <a:xfrm>
            <a:off x="8819929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5" name="Text 19"/>
          <p:cNvSpPr/>
          <p:nvPr/>
        </p:nvSpPr>
        <p:spPr>
          <a:xfrm>
            <a:off x="9162821" y="1524783"/>
            <a:ext cx="280028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6595" y="2156520"/>
            <a:ext cx="313375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28674" y="215652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4622635" y="215652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28112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1028674" y="165735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0082705" y="209550"/>
            <a:ext cx="1614380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622635" y="1657350"/>
            <a:ext cx="313359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216595" y="1657350"/>
            <a:ext cx="3133751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95328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895328" y="4827091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4457589" y="4827091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8019849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912" dirty="0"/>
          </a:p>
        </p:txBody>
      </p:sp>
      <p:sp>
        <p:nvSpPr>
          <p:cNvPr id="15" name="Text 12"/>
          <p:cNvSpPr/>
          <p:nvPr/>
        </p:nvSpPr>
        <p:spPr>
          <a:xfrm>
            <a:off x="895328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4457589" y="2880420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17" name="Text 14"/>
          <p:cNvSpPr/>
          <p:nvPr/>
        </p:nvSpPr>
        <p:spPr>
          <a:xfrm>
            <a:off x="4457589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019849" y="3282255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895328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20" name="Text 17"/>
          <p:cNvSpPr/>
          <p:nvPr/>
        </p:nvSpPr>
        <p:spPr>
          <a:xfrm>
            <a:off x="895328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457589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019849" y="4255591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95328" y="5228927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4457589" y="5228927"/>
            <a:ext cx="3420342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457589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6" name="Text 23"/>
          <p:cNvSpPr/>
          <p:nvPr/>
        </p:nvSpPr>
        <p:spPr>
          <a:xfrm>
            <a:off x="8019849" y="3853755"/>
            <a:ext cx="3420342" cy="151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7" name="Text 24"/>
          <p:cNvSpPr/>
          <p:nvPr/>
        </p:nvSpPr>
        <p:spPr>
          <a:xfrm>
            <a:off x="7373654" y="2708970"/>
            <a:ext cx="35847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744" dirty="0"/>
          </a:p>
        </p:txBody>
      </p:sp>
      <p:sp>
        <p:nvSpPr>
          <p:cNvPr id="28" name="Text 25"/>
          <p:cNvSpPr/>
          <p:nvPr/>
        </p:nvSpPr>
        <p:spPr>
          <a:xfrm>
            <a:off x="10904811" y="2708970"/>
            <a:ext cx="3911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8377772" y="3082230"/>
            <a:ext cx="42551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1243874" y="5028902"/>
            <a:ext cx="41207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1028674" y="1828800"/>
            <a:ext cx="313359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5328" y="2689920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897265" y="2708970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744" dirty="0"/>
          </a:p>
        </p:txBody>
      </p:sp>
      <p:sp>
        <p:nvSpPr>
          <p:cNvPr id="34" name="Text 31"/>
          <p:cNvSpPr/>
          <p:nvPr/>
        </p:nvSpPr>
        <p:spPr>
          <a:xfrm>
            <a:off x="895328" y="3082230"/>
            <a:ext cx="30409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1242088" y="3082230"/>
            <a:ext cx="32925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1612810" y="3072705"/>
            <a:ext cx="45223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722794" y="3082230"/>
            <a:ext cx="3395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5103338" y="3072705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019849" y="2689920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8019849" y="3082230"/>
            <a:ext cx="31581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936" dirty="0"/>
          </a:p>
        </p:txBody>
      </p:sp>
      <p:sp>
        <p:nvSpPr>
          <p:cNvPr id="41" name="Text 38"/>
          <p:cNvSpPr/>
          <p:nvPr/>
        </p:nvSpPr>
        <p:spPr>
          <a:xfrm>
            <a:off x="8840170" y="3072705"/>
            <a:ext cx="4412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951139" y="3682305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3" name="Text 40"/>
          <p:cNvSpPr/>
          <p:nvPr/>
        </p:nvSpPr>
        <p:spPr>
          <a:xfrm>
            <a:off x="1164402" y="4055566"/>
            <a:ext cx="33956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44" name="Text 41"/>
          <p:cNvSpPr/>
          <p:nvPr/>
        </p:nvSpPr>
        <p:spPr>
          <a:xfrm>
            <a:off x="1544946" y="4046041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7513400" y="3682305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6" name="Text 43"/>
          <p:cNvSpPr/>
          <p:nvPr/>
        </p:nvSpPr>
        <p:spPr>
          <a:xfrm>
            <a:off x="4706125" y="4055566"/>
            <a:ext cx="3323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7" name="Text 44"/>
          <p:cNvSpPr/>
          <p:nvPr/>
        </p:nvSpPr>
        <p:spPr>
          <a:xfrm>
            <a:off x="5079823" y="4046041"/>
            <a:ext cx="45301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280888" y="4055566"/>
            <a:ext cx="33237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8654586" y="4046041"/>
            <a:ext cx="4330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919737" y="4655641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744" dirty="0"/>
          </a:p>
        </p:txBody>
      </p:sp>
      <p:sp>
        <p:nvSpPr>
          <p:cNvPr id="51" name="Text 48"/>
          <p:cNvSpPr/>
          <p:nvPr/>
        </p:nvSpPr>
        <p:spPr>
          <a:xfrm>
            <a:off x="895328" y="5028902"/>
            <a:ext cx="30596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936" dirty="0"/>
          </a:p>
        </p:txBody>
      </p:sp>
      <p:sp>
        <p:nvSpPr>
          <p:cNvPr id="52" name="Text 49"/>
          <p:cNvSpPr/>
          <p:nvPr/>
        </p:nvSpPr>
        <p:spPr>
          <a:xfrm>
            <a:off x="1693473" y="5019377"/>
            <a:ext cx="44785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4457589" y="4636591"/>
            <a:ext cx="3936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4725770" y="5028902"/>
            <a:ext cx="33128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4457589" y="2689920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895328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4457589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8019849" y="3663255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1039199" y="3682305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0" name="Text 57"/>
          <p:cNvSpPr/>
          <p:nvPr/>
        </p:nvSpPr>
        <p:spPr>
          <a:xfrm>
            <a:off x="895328" y="4636591"/>
            <a:ext cx="42379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7476938" y="4655641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2" name="Text 59"/>
          <p:cNvSpPr/>
          <p:nvPr/>
        </p:nvSpPr>
        <p:spPr>
          <a:xfrm>
            <a:off x="5098426" y="5019377"/>
            <a:ext cx="40347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4457589" y="3082230"/>
            <a:ext cx="27432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936" dirty="0"/>
          </a:p>
        </p:txBody>
      </p:sp>
      <p:sp>
        <p:nvSpPr>
          <p:cNvPr id="64" name="Text 61"/>
          <p:cNvSpPr/>
          <p:nvPr/>
        </p:nvSpPr>
        <p:spPr>
          <a:xfrm>
            <a:off x="895328" y="4055566"/>
            <a:ext cx="27432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936" dirty="0"/>
          </a:p>
        </p:txBody>
      </p:sp>
      <p:sp>
        <p:nvSpPr>
          <p:cNvPr id="65" name="Text 62"/>
          <p:cNvSpPr/>
          <p:nvPr/>
        </p:nvSpPr>
        <p:spPr>
          <a:xfrm>
            <a:off x="4457589" y="4055566"/>
            <a:ext cx="27432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936" dirty="0"/>
          </a:p>
        </p:txBody>
      </p:sp>
      <p:sp>
        <p:nvSpPr>
          <p:cNvPr id="66" name="Text 63"/>
          <p:cNvSpPr/>
          <p:nvPr/>
        </p:nvSpPr>
        <p:spPr>
          <a:xfrm>
            <a:off x="8019849" y="4055566"/>
            <a:ext cx="27432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4457589" y="5028902"/>
            <a:ext cx="27432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3664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6514937" y="108689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9585" y="68865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81050" y="108689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514937" y="41920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43471" y="68865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981050" y="41920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585" y="378142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6143471" y="378142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10079579" y="209550"/>
            <a:ext cx="1617662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81050" y="97824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514937" y="97824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81050" y="40833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514937" y="40833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09585" y="360045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143471" y="360045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09585" y="67056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143471" y="67056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5815165" y="1014413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1349051" y="1014413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815165" y="4119562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1349051" y="4119562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4880" y="1037779"/>
            <a:ext cx="4376063" cy="1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62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1036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743831" y="209550"/>
            <a:ext cx="1970197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6739067" y="1984921"/>
            <a:ext cx="3070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6750675" y="3516362"/>
            <a:ext cx="30706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8" name="Text 5"/>
          <p:cNvSpPr/>
          <p:nvPr/>
        </p:nvSpPr>
        <p:spPr>
          <a:xfrm>
            <a:off x="1003969" y="4438204"/>
            <a:ext cx="3078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993105" y="1375321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1009476" y="290676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6749038" y="572571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742931" y="13657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28" dirty="0"/>
          </a:p>
        </p:txBody>
      </p:sp>
      <p:sp>
        <p:nvSpPr>
          <p:cNvPr id="13" name="Text 10"/>
          <p:cNvSpPr/>
          <p:nvPr/>
        </p:nvSpPr>
        <p:spPr>
          <a:xfrm>
            <a:off x="6495888" y="197539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28" dirty="0"/>
          </a:p>
        </p:txBody>
      </p:sp>
      <p:sp>
        <p:nvSpPr>
          <p:cNvPr id="14" name="Text 11"/>
          <p:cNvSpPr/>
          <p:nvPr/>
        </p:nvSpPr>
        <p:spPr>
          <a:xfrm>
            <a:off x="742931" y="2897237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28" dirty="0"/>
          </a:p>
        </p:txBody>
      </p:sp>
      <p:sp>
        <p:nvSpPr>
          <p:cNvPr id="15" name="Text 12"/>
          <p:cNvSpPr/>
          <p:nvPr/>
        </p:nvSpPr>
        <p:spPr>
          <a:xfrm>
            <a:off x="6495888" y="3506837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28" dirty="0"/>
          </a:p>
        </p:txBody>
      </p:sp>
      <p:sp>
        <p:nvSpPr>
          <p:cNvPr id="16" name="Text 13"/>
          <p:cNvSpPr/>
          <p:nvPr/>
        </p:nvSpPr>
        <p:spPr>
          <a:xfrm>
            <a:off x="742931" y="4428679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28" dirty="0"/>
          </a:p>
        </p:txBody>
      </p:sp>
      <p:sp>
        <p:nvSpPr>
          <p:cNvPr id="17" name="Text 14"/>
          <p:cNvSpPr/>
          <p:nvPr/>
        </p:nvSpPr>
        <p:spPr>
          <a:xfrm>
            <a:off x="6495888" y="5716191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381506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61925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308312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2351187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222334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295528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619250"/>
            <a:ext cx="4565144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3687217"/>
            <a:ext cx="3851948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495425"/>
            <a:ext cx="4565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2227362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209951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283145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295929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633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369123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49542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3563392"/>
            <a:ext cx="38519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281642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354836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3420517"/>
            <a:ext cx="38519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200120" y="1352550"/>
            <a:ext cx="456514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200120" y="195664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743531" y="135255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743531" y="2084487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079877" y="209550"/>
            <a:ext cx="1617349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200120" y="268858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816207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677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5873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5868" y="2508945"/>
          <a:ext cx="4572000" cy="170497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35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Perfil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Cuota Protegida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Stock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Moderado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Bajo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990575" y="4461570"/>
            <a:ext cx="1102110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7" name="Text 2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8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3" name="Text 8"/>
          <p:cNvSpPr/>
          <p:nvPr/>
        </p:nvSpPr>
        <p:spPr>
          <a:xfrm>
            <a:off x="9637273" y="209550"/>
            <a:ext cx="2082083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38639" y="252799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768" dirty="0"/>
          </a:p>
        </p:txBody>
      </p:sp>
      <p:sp>
        <p:nvSpPr>
          <p:cNvPr id="19" name="Text 14"/>
          <p:cNvSpPr/>
          <p:nvPr/>
        </p:nvSpPr>
        <p:spPr>
          <a:xfrm>
            <a:off x="5438639" y="270897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768" dirty="0"/>
          </a:p>
        </p:txBody>
      </p:sp>
      <p:sp>
        <p:nvSpPr>
          <p:cNvPr id="20" name="Text 15"/>
          <p:cNvSpPr/>
          <p:nvPr/>
        </p:nvSpPr>
        <p:spPr>
          <a:xfrm>
            <a:off x="5438639" y="288994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768" dirty="0"/>
          </a:p>
        </p:txBody>
      </p:sp>
      <p:sp>
        <p:nvSpPr>
          <p:cNvPr id="21" name="Text 16"/>
          <p:cNvSpPr/>
          <p:nvPr/>
        </p:nvSpPr>
        <p:spPr>
          <a:xfrm>
            <a:off x="5438639" y="307092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768" dirty="0"/>
          </a:p>
        </p:txBody>
      </p:sp>
      <p:sp>
        <p:nvSpPr>
          <p:cNvPr id="22" name="Text 17"/>
          <p:cNvSpPr/>
          <p:nvPr/>
        </p:nvSpPr>
        <p:spPr>
          <a:xfrm>
            <a:off x="5438639" y="325189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768" dirty="0"/>
          </a:p>
        </p:txBody>
      </p:sp>
      <p:sp>
        <p:nvSpPr>
          <p:cNvPr id="23" name="Text 18"/>
          <p:cNvSpPr/>
          <p:nvPr/>
        </p:nvSpPr>
        <p:spPr>
          <a:xfrm>
            <a:off x="5438639" y="343287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768" dirty="0"/>
          </a:p>
        </p:txBody>
      </p:sp>
      <p:sp>
        <p:nvSpPr>
          <p:cNvPr id="24" name="Text 19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723882" y="252323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27" name="Text 22"/>
          <p:cNvSpPr/>
          <p:nvPr/>
        </p:nvSpPr>
        <p:spPr>
          <a:xfrm>
            <a:off x="723882" y="270420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28" name="Text 23"/>
          <p:cNvSpPr/>
          <p:nvPr/>
        </p:nvSpPr>
        <p:spPr>
          <a:xfrm>
            <a:off x="723882" y="288518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29" name="Text 24"/>
          <p:cNvSpPr/>
          <p:nvPr/>
        </p:nvSpPr>
        <p:spPr>
          <a:xfrm>
            <a:off x="723882" y="306615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30" name="Text 25"/>
          <p:cNvSpPr/>
          <p:nvPr/>
        </p:nvSpPr>
        <p:spPr>
          <a:xfrm>
            <a:off x="723882" y="324713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1" name="Text 26"/>
          <p:cNvSpPr/>
          <p:nvPr/>
        </p:nvSpPr>
        <p:spPr>
          <a:xfrm>
            <a:off x="723882" y="342810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Ene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21.204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2.245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Feb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19.832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2.374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12,0 %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27.138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2.431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Abr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16.200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2.367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May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24.031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2.186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9,1 %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21.291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2.314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10,9 %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2578973"/>
          <a:ext cx="10058400" cy="1209675"/>
        </p:xfrm>
        <a:graphic>
          <a:graphicData uri="http://schemas.openxmlformats.org/drawingml/2006/table">
            <a:tbl>
              <a:tblPr/>
              <a:tblGrid>
                <a:gridCol w="2514600"/>
                <a:gridCol w="2514600"/>
                <a:gridCol w="2514600"/>
                <a:gridCol w="2514600"/>
              </a:tblGrid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Campaña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Conv./contacto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Perfil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Bienvenidas Cuota Protegida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Autogestión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71 %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26,6 %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Excelente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Cuota Protegida Stock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4,6 %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Moderado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193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Masiva Voluntarios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Bajo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181070" y="3998198"/>
            <a:ext cx="1062106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7" name="Text 2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8" name="Text 3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3" name="Text 8"/>
          <p:cNvSpPr/>
          <p:nvPr/>
        </p:nvSpPr>
        <p:spPr>
          <a:xfrm>
            <a:off x="9637273" y="209550"/>
            <a:ext cx="2082083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4" name="Text 9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Gloria Occidental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Bello Horizonte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Calvo Sur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Arborizadora Alta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Mochuelo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Tesoro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734007" y="4290120"/>
            <a:ext cx="4830483" cy="51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1142971" y="5061645"/>
            <a:ext cx="4830483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7" name="Text 2"/>
          <p:cNvSpPr/>
          <p:nvPr/>
        </p:nvSpPr>
        <p:spPr>
          <a:xfrm>
            <a:off x="6314917" y="4013895"/>
            <a:ext cx="5410541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8" name="Text 3"/>
          <p:cNvSpPr/>
          <p:nvPr/>
        </p:nvSpPr>
        <p:spPr>
          <a:xfrm>
            <a:off x="6314917" y="5164485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6314917" y="5577632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6314917" y="5371058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6343491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3" name="Text 8"/>
          <p:cNvSpPr/>
          <p:nvPr/>
        </p:nvSpPr>
        <p:spPr>
          <a:xfrm>
            <a:off x="1213514" y="219075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4" name="Text 9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10059488" y="359345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720" dirty="0"/>
          </a:p>
        </p:txBody>
      </p:sp>
      <p:sp>
        <p:nvSpPr>
          <p:cNvPr id="16" name="Text 11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7" name="Text 12"/>
          <p:cNvSpPr/>
          <p:nvPr/>
        </p:nvSpPr>
        <p:spPr>
          <a:xfrm>
            <a:off x="6400640" y="359345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18" name="Text 13"/>
          <p:cNvSpPr/>
          <p:nvPr/>
        </p:nvSpPr>
        <p:spPr>
          <a:xfrm>
            <a:off x="8229990" y="3593455"/>
            <a:ext cx="1388889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19" name="Text 14"/>
          <p:cNvSpPr/>
          <p:nvPr/>
        </p:nvSpPr>
        <p:spPr>
          <a:xfrm>
            <a:off x="9029177" y="209550"/>
            <a:ext cx="27205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20" name="Text 15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21" name="Text 16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2" name="Text 17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3" name="Text 18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4" name="Text 19"/>
          <p:cNvSpPr/>
          <p:nvPr/>
        </p:nvSpPr>
        <p:spPr>
          <a:xfrm>
            <a:off x="5065983" y="3128070"/>
            <a:ext cx="85133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25" name="Text 20"/>
          <p:cNvSpPr/>
          <p:nvPr/>
        </p:nvSpPr>
        <p:spPr>
          <a:xfrm>
            <a:off x="5045445" y="4080570"/>
            <a:ext cx="8729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26" name="Text 21"/>
          <p:cNvSpPr/>
          <p:nvPr/>
        </p:nvSpPr>
        <p:spPr>
          <a:xfrm>
            <a:off x="1035074" y="3128070"/>
            <a:ext cx="6024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27" name="Text 22"/>
          <p:cNvSpPr/>
          <p:nvPr/>
        </p:nvSpPr>
        <p:spPr>
          <a:xfrm>
            <a:off x="8229990" y="3254425"/>
            <a:ext cx="138888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8" name="Text 23"/>
          <p:cNvSpPr/>
          <p:nvPr/>
        </p:nvSpPr>
        <p:spPr>
          <a:xfrm>
            <a:off x="723882" y="368052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723882" y="463302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10059488" y="325442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31" name="Text 26"/>
          <p:cNvSpPr/>
          <p:nvPr/>
        </p:nvSpPr>
        <p:spPr>
          <a:xfrm>
            <a:off x="723882" y="336619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723882" y="4051995"/>
            <a:ext cx="108792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33" name="Text 28"/>
          <p:cNvSpPr/>
          <p:nvPr/>
        </p:nvSpPr>
        <p:spPr>
          <a:xfrm>
            <a:off x="723882" y="431869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8229990" y="3387775"/>
            <a:ext cx="1388889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5" name="Text 30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36" name="Text 31"/>
          <p:cNvSpPr/>
          <p:nvPr/>
        </p:nvSpPr>
        <p:spPr>
          <a:xfrm>
            <a:off x="10059488" y="338777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320" dirty="0"/>
          </a:p>
        </p:txBody>
      </p:sp>
      <p:sp>
        <p:nvSpPr>
          <p:cNvPr id="37" name="Text 32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9" name="Text 34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40" name="Text 35"/>
          <p:cNvSpPr/>
          <p:nvPr/>
        </p:nvSpPr>
        <p:spPr>
          <a:xfrm>
            <a:off x="5419590" y="336619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41" name="Text 36"/>
          <p:cNvSpPr/>
          <p:nvPr/>
        </p:nvSpPr>
        <p:spPr>
          <a:xfrm>
            <a:off x="5419590" y="431869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2" name="Text 37"/>
          <p:cNvSpPr/>
          <p:nvPr/>
        </p:nvSpPr>
        <p:spPr>
          <a:xfrm>
            <a:off x="5419590" y="463302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3" name="Text 38"/>
          <p:cNvSpPr/>
          <p:nvPr/>
        </p:nvSpPr>
        <p:spPr>
          <a:xfrm>
            <a:off x="6400640" y="338777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4" name="Text 39"/>
          <p:cNvSpPr/>
          <p:nvPr/>
        </p:nvSpPr>
        <p:spPr>
          <a:xfrm>
            <a:off x="5419590" y="368052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5" name="Text 40"/>
          <p:cNvSpPr/>
          <p:nvPr/>
        </p:nvSpPr>
        <p:spPr>
          <a:xfrm>
            <a:off x="723882" y="3099495"/>
            <a:ext cx="92915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46" name="Text 41"/>
          <p:cNvSpPr/>
          <p:nvPr/>
        </p:nvSpPr>
        <p:spPr>
          <a:xfrm>
            <a:off x="6400640" y="325442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3474317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La Gloria Occidental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3.346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4,1 %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Bello Horizonte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2.384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17,6 %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Calvo Sur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1.021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1,3 %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046" y="3474317"/>
          <a:ext cx="4572000" cy="1343025"/>
        </p:xfrm>
        <a:graphic>
          <a:graphicData uri="http://schemas.openxmlformats.org/drawingml/2006/table">
            <a:tbl>
              <a:tblPr/>
              <a:tblGrid>
                <a:gridCol w="1143000"/>
                <a:gridCol w="1143000"/>
                <a:gridCol w="1143000"/>
                <a:gridCol w="1143000"/>
              </a:tblGrid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Barrio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Llam.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Tigo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Movistar caída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Arborizadora Alta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4.546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15,0 %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Mochuelo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531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20,9 %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57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El Tesoro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566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0,0 %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40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19,4 %</a:t>
                      </a:r>
                      <a:endParaRPr lang="en-US" sz="840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6343491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6" name="Text 1"/>
          <p:cNvSpPr/>
          <p:nvPr/>
        </p:nvSpPr>
        <p:spPr>
          <a:xfrm>
            <a:off x="9134247" y="152787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7" name="Text 2"/>
          <p:cNvSpPr/>
          <p:nvPr/>
        </p:nvSpPr>
        <p:spPr>
          <a:xfrm>
            <a:off x="2528080" y="3283817"/>
            <a:ext cx="258166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8" name="Text 3"/>
          <p:cNvSpPr/>
          <p:nvPr/>
        </p:nvSpPr>
        <p:spPr>
          <a:xfrm>
            <a:off x="7997972" y="3283817"/>
            <a:ext cx="259260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9" name="Text 4"/>
          <p:cNvSpPr/>
          <p:nvPr/>
        </p:nvSpPr>
        <p:spPr>
          <a:xfrm>
            <a:off x="1213514" y="219075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0" name="Text 5"/>
          <p:cNvSpPr/>
          <p:nvPr/>
        </p:nvSpPr>
        <p:spPr>
          <a:xfrm>
            <a:off x="3552736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761981" y="15278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9029177" y="209550"/>
            <a:ext cx="2720585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3" name="Text 8"/>
          <p:cNvSpPr/>
          <p:nvPr/>
        </p:nvSpPr>
        <p:spPr>
          <a:xfrm>
            <a:off x="6172046" y="3283817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781030" y="3283817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3552736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9134247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7" name="Text 12"/>
          <p:cNvSpPr/>
          <p:nvPr/>
        </p:nvSpPr>
        <p:spPr>
          <a:xfrm>
            <a:off x="76198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8" name="Text 13"/>
          <p:cNvSpPr/>
          <p:nvPr/>
        </p:nvSpPr>
        <p:spPr>
          <a:xfrm>
            <a:off x="6343491" y="10287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9" name="Text 14"/>
          <p:cNvSpPr/>
          <p:nvPr/>
        </p:nvSpPr>
        <p:spPr>
          <a:xfrm>
            <a:off x="76198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552736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343491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134247" y="12001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2931" y="2937570"/>
          <a:ext cx="10058400" cy="155257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Parámetro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Valor histórico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Insumo para 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ventas/mes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Efectividad / 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8,59 %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8,59 % = 34.908 contactos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40,4 % = 86.427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Gestión sobre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88,3 % = 97.902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Aptos (1–rechazo)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39,9 % = ~245.500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217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 mínimos requeridos/mes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235.000–260.000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KPI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Fórmula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equipo/mes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ventas (liquidación)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 (dic)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 E1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 ≥ meta / 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90 %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Productividad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/ asesor activo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140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 base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 /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&lt; 40 %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 /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55 %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213514" y="219075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6" name="Text 1"/>
          <p:cNvSpPr/>
          <p:nvPr/>
        </p:nvSpPr>
        <p:spPr>
          <a:xfrm>
            <a:off x="2791946" y="5690295"/>
            <a:ext cx="246196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7" name="Text 2"/>
          <p:cNvSpPr/>
          <p:nvPr/>
        </p:nvSpPr>
        <p:spPr>
          <a:xfrm>
            <a:off x="2791946" y="5328345"/>
            <a:ext cx="228835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8" name="Text 3"/>
          <p:cNvSpPr/>
          <p:nvPr/>
        </p:nvSpPr>
        <p:spPr>
          <a:xfrm>
            <a:off x="3671200" y="5509320"/>
            <a:ext cx="207520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9" name="Text 4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0" name="Text 5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1" name="Text 6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2" name="Text 7"/>
          <p:cNvSpPr/>
          <p:nvPr/>
        </p:nvSpPr>
        <p:spPr>
          <a:xfrm>
            <a:off x="742931" y="4585395"/>
            <a:ext cx="1124112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3" name="Text 8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4" name="Text 9"/>
          <p:cNvSpPr/>
          <p:nvPr/>
        </p:nvSpPr>
        <p:spPr>
          <a:xfrm>
            <a:off x="1142971" y="478542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5" name="Text 10"/>
          <p:cNvSpPr/>
          <p:nvPr/>
        </p:nvSpPr>
        <p:spPr>
          <a:xfrm>
            <a:off x="1142971" y="4966395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6" name="Text 11"/>
          <p:cNvSpPr/>
          <p:nvPr/>
        </p:nvSpPr>
        <p:spPr>
          <a:xfrm>
            <a:off x="1142971" y="514737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7" name="Text 12"/>
          <p:cNvSpPr/>
          <p:nvPr/>
        </p:nvSpPr>
        <p:spPr>
          <a:xfrm>
            <a:off x="1142971" y="532834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8" name="Text 13"/>
          <p:cNvSpPr/>
          <p:nvPr/>
        </p:nvSpPr>
        <p:spPr>
          <a:xfrm>
            <a:off x="1142971" y="5509320"/>
            <a:ext cx="2574632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9" name="Text 14"/>
          <p:cNvSpPr/>
          <p:nvPr/>
        </p:nvSpPr>
        <p:spPr>
          <a:xfrm>
            <a:off x="1142971" y="569029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20" name="Text 15"/>
          <p:cNvSpPr/>
          <p:nvPr/>
        </p:nvSpPr>
        <p:spPr>
          <a:xfrm>
            <a:off x="2784356" y="4785420"/>
            <a:ext cx="118824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21" name="Text 16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2" name="Text 17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3" name="Text 18"/>
          <p:cNvSpPr/>
          <p:nvPr/>
        </p:nvSpPr>
        <p:spPr>
          <a:xfrm>
            <a:off x="10016775" y="209550"/>
            <a:ext cx="168360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4" name="Text 19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5" name="Text 20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6" name="Text 21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800080" y="478542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31" name="Text 26"/>
          <p:cNvSpPr/>
          <p:nvPr/>
        </p:nvSpPr>
        <p:spPr>
          <a:xfrm>
            <a:off x="800080" y="496639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32" name="Text 27"/>
          <p:cNvSpPr/>
          <p:nvPr/>
        </p:nvSpPr>
        <p:spPr>
          <a:xfrm>
            <a:off x="800080" y="514737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33" name="Text 28"/>
          <p:cNvSpPr/>
          <p:nvPr/>
        </p:nvSpPr>
        <p:spPr>
          <a:xfrm>
            <a:off x="800080" y="532834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34" name="Text 29"/>
          <p:cNvSpPr/>
          <p:nvPr/>
        </p:nvSpPr>
        <p:spPr>
          <a:xfrm>
            <a:off x="800080" y="550932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35" name="Text 30"/>
          <p:cNvSpPr/>
          <p:nvPr/>
        </p:nvSpPr>
        <p:spPr>
          <a:xfrm>
            <a:off x="800080" y="569029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Parámetro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Valor histórico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Insumo para 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ventas/mes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Efectividad / contactados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8,59 %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8,59 % = 34.908 contactos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40,4 %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40,4 % = 86.427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Gestión sobre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88,3 %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88,3 % = 97.902 aptos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Aptos (1–rechazo)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39,9 %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÷ 39,9 % = ~245.500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Registros mínimos requeridos/mes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12018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235.000–260.000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D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882" y="4184072"/>
          <a:ext cx="10058400" cy="131445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KPI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Fórmula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equipo/mes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Total ventas (liquidación)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 (dic)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Cumplimiento E1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Asesores ≥ meta / total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90 %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Productividad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Pólizas / asesor activo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140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% Rechazo base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Rechazados / recibidos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&lt; 40 %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Contactabilidad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Contactados / gestionados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55 %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723882" y="3524019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6" name="Text 1"/>
          <p:cNvSpPr/>
          <p:nvPr/>
        </p:nvSpPr>
        <p:spPr>
          <a:xfrm>
            <a:off x="1142971" y="5555671"/>
            <a:ext cx="9969122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7" name="Text 2"/>
          <p:cNvSpPr/>
          <p:nvPr/>
        </p:nvSpPr>
        <p:spPr>
          <a:xfrm>
            <a:off x="723882" y="3400194"/>
            <a:ext cx="112811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720" dirty="0"/>
          </a:p>
        </p:txBody>
      </p:sp>
      <p:sp>
        <p:nvSpPr>
          <p:cNvPr id="8" name="Text 3"/>
          <p:cNvSpPr/>
          <p:nvPr/>
        </p:nvSpPr>
        <p:spPr>
          <a:xfrm>
            <a:off x="723882" y="3683711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9" name="Text 4"/>
          <p:cNvSpPr/>
          <p:nvPr/>
        </p:nvSpPr>
        <p:spPr>
          <a:xfrm>
            <a:off x="723882" y="3843404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10" name="Text 5"/>
          <p:cNvSpPr/>
          <p:nvPr/>
        </p:nvSpPr>
        <p:spPr>
          <a:xfrm>
            <a:off x="1213514" y="219075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11" name="Text 6"/>
          <p:cNvSpPr/>
          <p:nvPr/>
        </p:nvSpPr>
        <p:spPr>
          <a:xfrm>
            <a:off x="828654" y="3167278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2" name="Text 7"/>
          <p:cNvSpPr/>
          <p:nvPr/>
        </p:nvSpPr>
        <p:spPr>
          <a:xfrm>
            <a:off x="4516672" y="3167278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3" name="Text 8"/>
          <p:cNvSpPr/>
          <p:nvPr/>
        </p:nvSpPr>
        <p:spPr>
          <a:xfrm>
            <a:off x="8204689" y="3167278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4" name="Text 9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5" name="Text 10"/>
          <p:cNvSpPr/>
          <p:nvPr/>
        </p:nvSpPr>
        <p:spPr>
          <a:xfrm>
            <a:off x="9134247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6" name="Text 11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7" name="Text 12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8" name="Text 13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19" name="Text 1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0" name="Text 15"/>
          <p:cNvSpPr/>
          <p:nvPr/>
        </p:nvSpPr>
        <p:spPr>
          <a:xfrm>
            <a:off x="10016775" y="209550"/>
            <a:ext cx="1683606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1" name="Text 16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2" name="Text 17"/>
          <p:cNvSpPr/>
          <p:nvPr/>
        </p:nvSpPr>
        <p:spPr>
          <a:xfrm>
            <a:off x="828654" y="287497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3" name="Text 18"/>
          <p:cNvSpPr/>
          <p:nvPr/>
        </p:nvSpPr>
        <p:spPr>
          <a:xfrm>
            <a:off x="8204689" y="287497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24" name="Text 19"/>
          <p:cNvSpPr/>
          <p:nvPr/>
        </p:nvSpPr>
        <p:spPr>
          <a:xfrm>
            <a:off x="4516672" y="2874979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25" name="Text 20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26" name="Text 21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828654" y="299880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28" name="Text 23"/>
          <p:cNvSpPr/>
          <p:nvPr/>
        </p:nvSpPr>
        <p:spPr>
          <a:xfrm>
            <a:off x="4516672" y="299880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176" dirty="0"/>
          </a:p>
        </p:txBody>
      </p:sp>
      <p:sp>
        <p:nvSpPr>
          <p:cNvPr id="29" name="Text 24"/>
          <p:cNvSpPr/>
          <p:nvPr/>
        </p:nvSpPr>
        <p:spPr>
          <a:xfrm>
            <a:off x="8204689" y="2998804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176" dirty="0"/>
          </a:p>
        </p:txBody>
      </p:sp>
      <p:sp>
        <p:nvSpPr>
          <p:cNvPr id="30" name="Text 25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00CD9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DDE0EA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9098B0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923902" y="1933575"/>
            <a:ext cx="10861086" cy="2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6" name="Text 1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7" name="Text 2"/>
          <p:cNvSpPr/>
          <p:nvPr/>
        </p:nvSpPr>
        <p:spPr>
          <a:xfrm>
            <a:off x="1304892" y="1762125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8" name="Text 3"/>
          <p:cNvSpPr/>
          <p:nvPr/>
        </p:nvSpPr>
        <p:spPr>
          <a:xfrm>
            <a:off x="1304892" y="262666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9" name="Text 4"/>
          <p:cNvSpPr/>
          <p:nvPr/>
        </p:nvSpPr>
        <p:spPr>
          <a:xfrm>
            <a:off x="1304892" y="319816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10" name="Text 5"/>
          <p:cNvSpPr/>
          <p:nvPr/>
        </p:nvSpPr>
        <p:spPr>
          <a:xfrm>
            <a:off x="1304892" y="304576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11" name="Text 6"/>
          <p:cNvSpPr/>
          <p:nvPr/>
        </p:nvSpPr>
        <p:spPr>
          <a:xfrm>
            <a:off x="1304892" y="247426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2" name="Text 7"/>
          <p:cNvSpPr/>
          <p:nvPr/>
        </p:nvSpPr>
        <p:spPr>
          <a:xfrm>
            <a:off x="1304892" y="1609725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3" name="Text 8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8294"/>
          <a:ext cx="10058400" cy="1647825"/>
        </p:xfrm>
        <a:graphic>
          <a:graphicData uri="http://schemas.openxmlformats.org/drawingml/2006/table">
            <a:tbl>
              <a:tblPr/>
              <a:tblGrid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  <a:gridCol w="1257300"/>
              </a:tblGrid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6" name="Text 1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0" y="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Frente / Acción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Responsable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Jul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Ago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Sep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Oct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Nov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Dic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Control de tiempos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Isaac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Plan de desarrollo emocional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GH / Líderes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Bases limpias y actualizadas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Vanti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Optimización de equipos PC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Tecnología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✓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—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1030" y="1506769"/>
          <a:ext cx="10058400" cy="1685925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Métrica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Definición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88" b="1" dirty="0">
                          <a:solidFill>
                            <a:srgbClr val="FFFFFF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Meta 2S</a:t>
                      </a:r>
                      <a:endParaRPr lang="en-US" sz="888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018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Volumen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liquidadas totales/mes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3.000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Autogestión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40 %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Conversión Bienvenida CP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Ventas / contactos en Bienvenida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≥ 30 %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Escuela de ventas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Sesiones individuales / asesor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12" dirty="0">
                          <a:solidFill>
                            <a:srgbClr val="333333"/>
                          </a:solidFill>
                          <a:latin typeface="Raleway" pitchFamily="34" charset="0"/>
                          <a:ea typeface="Raleway" pitchFamily="34" charset="-122"/>
                          <a:cs typeface="Raleway" pitchFamily="34" charset="-120"/>
                        </a:rPr>
                        <a:t>1 / mes</a:t>
                      </a:r>
                      <a:endParaRPr lang="en-US" sz="912" dirty="0">
                        <a:latin typeface="Raleway" charset="0"/>
                        <a:ea typeface="Raleway" charset="0"/>
                        <a:cs typeface="Raleway" charset="0"/>
                      </a:endParaRPr>
                    </a:p>
                  </a:txBody>
                  <a:tcPr marL="76200" marR="76200" marT="50800" marB="508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/>
        </p:nvSpPr>
        <p:spPr>
          <a:xfrm>
            <a:off x="1213514" y="219075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6" name="Text 1"/>
          <p:cNvSpPr/>
          <p:nvPr/>
        </p:nvSpPr>
        <p:spPr>
          <a:xfrm>
            <a:off x="9872713" y="209550"/>
            <a:ext cx="1834871" cy="220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7000700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907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6451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4173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30738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5597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2026-07-15T20:16:32Z</dcterms:created>
  <dcterms:modified xsi:type="dcterms:W3CDTF">2026-07-15T20:16:32Z</dcterms:modified>
</cp:coreProperties>
</file>