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074616"/>
            <a:ext cx="5110898" cy="48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se construyó en el primer semestre y qué sigue para el segundo — capa transversal a los </a:t>
            </a:r>
            <a:pPr algn="l" indent="0" marL="0">
              <a:buNone/>
            </a:pPr>
            <a:r>
              <a:rPr lang="en-US" sz="13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canales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3004616" y="4836914"/>
            <a:ext cx="2865588" cy="59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</a:t>
            </a:r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Reglas de Negocio, Lógica OCM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Kevin Guzmán </a:t>
            </a:r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Criterios de Auditoría</a:t>
            </a:r>
            <a:endParaRPr lang="en-US" sz="768" dirty="0"/>
          </a:p>
        </p:txBody>
      </p:sp>
      <p:sp>
        <p:nvSpPr>
          <p:cNvPr id="5" name="Text 2"/>
          <p:cNvSpPr/>
          <p:nvPr/>
        </p:nvSpPr>
        <p:spPr>
          <a:xfrm>
            <a:off x="1133447" y="5945981"/>
            <a:ext cx="440952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Jul 2026 Vanti · Xuma 13 proyectos técnicos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750219"/>
            <a:ext cx="411168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Innovación &amp; Tecnología</a:t>
            </a:r>
            <a:endParaRPr lang="en-US" sz="936" dirty="0"/>
          </a:p>
        </p:txBody>
      </p:sp>
      <p:sp>
        <p:nvSpPr>
          <p:cNvPr id="7" name="Text 4"/>
          <p:cNvSpPr/>
          <p:nvPr/>
        </p:nvSpPr>
        <p:spPr>
          <a:xfrm>
            <a:off x="952476" y="4836914"/>
            <a:ext cx="1618070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Construcción técnica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Arcón Solano</a:t>
            </a:r>
            <a:endParaRPr lang="en-US" sz="768" dirty="0"/>
          </a:p>
        </p:txBody>
      </p:sp>
      <p:sp>
        <p:nvSpPr>
          <p:cNvPr id="8" name="Text 5"/>
          <p:cNvSpPr/>
          <p:nvPr/>
        </p:nvSpPr>
        <p:spPr>
          <a:xfrm>
            <a:off x="952476" y="2045494"/>
            <a:ext cx="3681806" cy="190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pPr algn="l" indent="0" marL="0">
              <a:buNone/>
            </a:pPr>
            <a:r>
              <a:rPr lang="en-US" sz="43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&amp; Tecnología</a:t>
            </a:r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</a:t>
            </a:r>
            <a:endParaRPr lang="en-US" sz="4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030" y="4436864"/>
            <a:ext cx="5172580" cy="97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Construcción de </a:t>
            </a:r>
            <a:pPr algn="l" indent="0" marL="0">
              <a:buNone/>
            </a:pPr>
            <a:r>
              <a:rPr lang="en-US" sz="9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de datos</a:t>
            </a:r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prueba de conceptos analíticos con datos reales — con una automatización que ya llegó a producción real dentro del propio semestre: OCM Vanti (23 Jun). El resto de automatizaciones de producción se consolidaron en el 2S. Cada cifra de arriba viene de una carga o un cruce ya ejecutado, no de una proyección.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4552836" y="1623120"/>
            <a:ext cx="3263443" cy="41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Todo el portafolio salvo Depuración (100 % 2S) se ideó antes del 01 Jul — incluidos 4 de los 5 que hoy están en producción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819130" y="1623120"/>
            <a:ext cx="3145443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(23 Jun) — el resto que hoy está en producción (AutoReport_Ilio, actiXuma) llegó ya en el 2S (08–09 Jul)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8286543" y="1623120"/>
            <a:ext cx="3179833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 completa (schemas + 4 ETLs) — la VM ya está montada y corriendo desde el 18 Jun, no solo en el papel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591135" y="4624387"/>
            <a:ext cx="5054422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(VM):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montada y corriendo desde el 18 Jun — seguridad, PostgreSQL 16 y acceso remoto (Tailscale)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591135" y="5403056"/>
            <a:ext cx="4874425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12.825 clientes × 3.021.403 llamadas · brecha Tigo 71 % vs. Movistar 25 %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591135" y="4989909"/>
            <a:ext cx="490171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23.582.745 filas históricas (100 % completitud) · producción real desde el 23 Jun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286543" y="3055739"/>
            <a:ext cx="3228106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Seguridad (UFW, Fail2ban), PostgreSQL 16 y acceso remoto seguro (Tailscale VPN) ya montados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591135" y="4417814"/>
            <a:ext cx="465088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(diseño):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8 fuentes de datos, 4 ETLs · proyección 5,31 → 14,09 GB a 3 años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591135" y="5768578"/>
            <a:ext cx="449155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8 módulos en producción manual · 6 fuentes cruzadas por corte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6591135" y="5196483"/>
            <a:ext cx="38097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13.571 direcciones · 94,5 % de efectividad (desde 62 % inicial)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4552836" y="3055739"/>
            <a:ext cx="324971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 12.825 clientes de Bogotá (Mapa de Contactabilidad, ene–may)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819130" y="3055739"/>
            <a:ext cx="30093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completo (7 tablas), carga ejecutada el 23 Jun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463795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Ejecutivo · De la Fundación a la Producción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981050" y="1123950"/>
            <a:ext cx="25762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 real alcanzada en el 1S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8286543" y="2556570"/>
            <a:ext cx="231881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Fases del plan maestro en la VM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8286543" y="1123950"/>
            <a:ext cx="236203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del DataCenter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4552836" y="1123950"/>
            <a:ext cx="193547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Proyectos nacidos en el 1S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553036" y="4027289"/>
            <a:ext cx="154976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cifras · por proyecto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933427" y="4027289"/>
            <a:ext cx="149376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 del 1er semestre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9920932" y="247650"/>
            <a:ext cx="16983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Resumen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819130" y="2556570"/>
            <a:ext cx="1409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Filas OCM cargadas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4552836" y="2556570"/>
            <a:ext cx="14126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cruzadas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8286543" y="1266825"/>
            <a:ext cx="141898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fuentes</a:t>
            </a:r>
            <a:endParaRPr lang="en-US" sz="2280" dirty="0"/>
          </a:p>
        </p:txBody>
      </p:sp>
      <p:sp>
        <p:nvSpPr>
          <p:cNvPr id="27" name="Text 24"/>
          <p:cNvSpPr/>
          <p:nvPr/>
        </p:nvSpPr>
        <p:spPr>
          <a:xfrm>
            <a:off x="4552836" y="1266825"/>
            <a:ext cx="121816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de 13</a:t>
            </a:r>
            <a:endParaRPr lang="en-US" sz="2280" dirty="0"/>
          </a:p>
        </p:txBody>
      </p:sp>
      <p:sp>
        <p:nvSpPr>
          <p:cNvPr id="28" name="Text 25"/>
          <p:cNvSpPr/>
          <p:nvPr/>
        </p:nvSpPr>
        <p:spPr>
          <a:xfrm>
            <a:off x="819130" y="1266825"/>
            <a:ext cx="104006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de 13</a:t>
            </a:r>
            <a:endParaRPr lang="en-US" sz="2280" dirty="0"/>
          </a:p>
        </p:txBody>
      </p:sp>
      <p:sp>
        <p:nvSpPr>
          <p:cNvPr id="29" name="Text 26"/>
          <p:cNvSpPr/>
          <p:nvPr/>
        </p:nvSpPr>
        <p:spPr>
          <a:xfrm>
            <a:off x="819130" y="2699445"/>
            <a:ext cx="1138656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23,58 M</a:t>
            </a:r>
            <a:endParaRPr lang="en-US" sz="2280" dirty="0"/>
          </a:p>
        </p:txBody>
      </p:sp>
      <p:sp>
        <p:nvSpPr>
          <p:cNvPr id="30" name="Text 27"/>
          <p:cNvSpPr/>
          <p:nvPr/>
        </p:nvSpPr>
        <p:spPr>
          <a:xfrm>
            <a:off x="8286543" y="2699445"/>
            <a:ext cx="106435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de 16</a:t>
            </a:r>
            <a:endParaRPr lang="en-US" sz="2280" dirty="0"/>
          </a:p>
        </p:txBody>
      </p:sp>
      <p:sp>
        <p:nvSpPr>
          <p:cNvPr id="31" name="Text 28"/>
          <p:cNvSpPr/>
          <p:nvPr/>
        </p:nvSpPr>
        <p:spPr>
          <a:xfrm>
            <a:off x="4552836" y="2699445"/>
            <a:ext cx="96954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3,02 M</a:t>
            </a:r>
            <a:endParaRPr lang="en-US" sz="2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25" y="6479977"/>
            <a:ext cx="10933120" cy="27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0F5C3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del portafolio: 12 de los 13 proyectos nacieron en el 1S y hoy 5 automatizaciones operan con datos reales — 3 de ellas dentro del DataCenter (VM bdvanti), que ya sostiene la capa técnica de los 3 canales; los 4 proyectos en pausa quedaron validados y solo esperan retomarse en el 2S.</a:t>
            </a:r>
            <a:endParaRPr lang="en-US" sz="792" dirty="0"/>
          </a:p>
        </p:txBody>
      </p:sp>
      <p:sp>
        <p:nvSpPr>
          <p:cNvPr id="4" name="Text 1"/>
          <p:cNvSpPr/>
          <p:nvPr/>
        </p:nvSpPr>
        <p:spPr>
          <a:xfrm>
            <a:off x="723882" y="3741837"/>
            <a:ext cx="1317076" cy="20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en curso y piezas terminadas listas para activar</a:t>
            </a:r>
            <a:endParaRPr lang="en-US" sz="636" dirty="0"/>
          </a:p>
        </p:txBody>
      </p:sp>
      <p:sp>
        <p:nvSpPr>
          <p:cNvPr id="5" name="Text 2"/>
          <p:cNvSpPr/>
          <p:nvPr/>
        </p:nvSpPr>
        <p:spPr>
          <a:xfrm>
            <a:off x="723882" y="5506492"/>
            <a:ext cx="1212643" cy="31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Validados con datos reales — solo esperan reactivarse en el 2S</a:t>
            </a:r>
            <a:endParaRPr lang="en-US" sz="636" dirty="0"/>
          </a:p>
        </p:txBody>
      </p:sp>
      <p:sp>
        <p:nvSpPr>
          <p:cNvPr id="6" name="Text 3"/>
          <p:cNvSpPr/>
          <p:nvPr/>
        </p:nvSpPr>
        <p:spPr>
          <a:xfrm>
            <a:off x="4648084" y="3150394"/>
            <a:ext cx="211389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Plano completo cerrado en v2.0 — ya se construye sobre él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2266893" y="1333351"/>
            <a:ext cx="169221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 las llamadas solo, en la VM del DataCenter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432481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Estado del Portafolio · 13 Proyectos de un Vistazo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7981750" y="1333351"/>
            <a:ext cx="175058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Limpieza diaria de bases nuevas (corre en local)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9886703" y="1333351"/>
            <a:ext cx="168905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Reportes "Como Vamos" por corte (corre en local)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9410465" y="3150394"/>
            <a:ext cx="19927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 y material listos para usar en NotebookLM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2266893" y="4967585"/>
            <a:ext cx="1958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Falta terminar el lote masivo de 250 K registros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9410465" y="4967585"/>
            <a:ext cx="1982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Instalación quedó a medias (falta reiniciar WSL)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723882" y="1867942"/>
            <a:ext cx="1307295" cy="20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Automatizaciones corriendo hoy con datos reales</a:t>
            </a:r>
            <a:endParaRPr lang="en-US" sz="636" dirty="0"/>
          </a:p>
        </p:txBody>
      </p:sp>
      <p:sp>
        <p:nvSpPr>
          <p:cNvPr id="15" name="Text 12"/>
          <p:cNvSpPr/>
          <p:nvPr/>
        </p:nvSpPr>
        <p:spPr>
          <a:xfrm>
            <a:off x="4648084" y="4967585"/>
            <a:ext cx="20405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corte del 30 Jun quedó pendiente de procesar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2266893" y="3150394"/>
            <a:ext cx="17957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de 16 fases; faltan 7 fuentes por conectar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4171846" y="1333351"/>
            <a:ext cx="161523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Descarga y carga Ilio automático, en la VM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7029274" y="3150394"/>
            <a:ext cx="16381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Funcional, listo para desplegar en línea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7029274" y="4967585"/>
            <a:ext cx="1680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Falta probar la evaluación con IA (Qwen)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6076798" y="1333351"/>
            <a:ext cx="1616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Portal de consulta de pólizas, en la VM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4648084" y="4305746"/>
            <a:ext cx="22596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✔ Diseño completado </a:t>
            </a:r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cerrado 18 Jun</a:t>
            </a:r>
            <a:endParaRPr lang="en-US" sz="624" dirty="0"/>
          </a:p>
        </p:txBody>
      </p:sp>
      <p:sp>
        <p:nvSpPr>
          <p:cNvPr id="22" name="Text 19"/>
          <p:cNvSpPr/>
          <p:nvPr/>
        </p:nvSpPr>
        <p:spPr>
          <a:xfrm>
            <a:off x="7029274" y="3007668"/>
            <a:ext cx="15688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12.825 clientes × 3,02 M llamadas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2266893" y="1190625"/>
            <a:ext cx="14585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23,58 M filas · sync cada 10 min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4171846" y="1190625"/>
            <a:ext cx="14404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197.142 filas · cron cada 15 min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266893" y="4824859"/>
            <a:ext cx="139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94,5 % efectividad · 13.571 dir.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029274" y="4824859"/>
            <a:ext cx="15697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Transcripción validada (Whisper)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9886703" y="1190625"/>
            <a:ext cx="14767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módulos · 6 fuentes por corte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9273546" y="247650"/>
            <a:ext cx="23845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Estado ejecutivo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6076798" y="1190625"/>
            <a:ext cx="13442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 usuarios · 226.963 activos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9410465" y="4824859"/>
            <a:ext cx="13740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Twenty elegido (self-hosted)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2438339" y="2861965"/>
            <a:ext cx="14705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Implementación</a:t>
            </a:r>
            <a:endParaRPr lang="en-US" sz="756" dirty="0"/>
          </a:p>
        </p:txBody>
      </p:sp>
      <p:sp>
        <p:nvSpPr>
          <p:cNvPr id="32" name="Text 29"/>
          <p:cNvSpPr/>
          <p:nvPr/>
        </p:nvSpPr>
        <p:spPr>
          <a:xfrm>
            <a:off x="2266893" y="3007668"/>
            <a:ext cx="12460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servicios reales en la VM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723882" y="3495973"/>
            <a:ext cx="945565" cy="22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Desarrollo · Construido</a:t>
            </a:r>
            <a:endParaRPr lang="en-US" sz="744" dirty="0"/>
          </a:p>
        </p:txBody>
      </p:sp>
      <p:sp>
        <p:nvSpPr>
          <p:cNvPr id="34" name="Text 31"/>
          <p:cNvSpPr/>
          <p:nvPr/>
        </p:nvSpPr>
        <p:spPr>
          <a:xfrm>
            <a:off x="4648084" y="4824859"/>
            <a:ext cx="11892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cortes reales validados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723882" y="5260628"/>
            <a:ext cx="830405" cy="22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Pausa · Por Retomar</a:t>
            </a:r>
            <a:endParaRPr lang="en-US" sz="744" dirty="0"/>
          </a:p>
        </p:txBody>
      </p:sp>
      <p:sp>
        <p:nvSpPr>
          <p:cNvPr id="36" name="Text 33"/>
          <p:cNvSpPr/>
          <p:nvPr/>
        </p:nvSpPr>
        <p:spPr>
          <a:xfrm>
            <a:off x="7981750" y="1190625"/>
            <a:ext cx="9498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1,5–3 h a ~30 seg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7200720" y="2861965"/>
            <a:ext cx="11132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</a:t>
            </a:r>
            <a:endParaRPr lang="en-US" sz="756" dirty="0"/>
          </a:p>
        </p:txBody>
      </p:sp>
      <p:sp>
        <p:nvSpPr>
          <p:cNvPr id="38" name="Text 35"/>
          <p:cNvSpPr/>
          <p:nvPr/>
        </p:nvSpPr>
        <p:spPr>
          <a:xfrm>
            <a:off x="4819530" y="2861965"/>
            <a:ext cx="9913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Diseño</a:t>
            </a:r>
            <a:endParaRPr lang="en-US" sz="756" dirty="0"/>
          </a:p>
        </p:txBody>
      </p:sp>
      <p:sp>
        <p:nvSpPr>
          <p:cNvPr id="39" name="Text 36"/>
          <p:cNvSpPr/>
          <p:nvPr/>
        </p:nvSpPr>
        <p:spPr>
          <a:xfrm>
            <a:off x="9410465" y="3007668"/>
            <a:ext cx="1023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documentos fuente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4648084" y="3007668"/>
            <a:ext cx="83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fuentes · 4 ETLs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4819530" y="4679156"/>
            <a:ext cx="854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756" dirty="0"/>
          </a:p>
        </p:txBody>
      </p:sp>
      <p:sp>
        <p:nvSpPr>
          <p:cNvPr id="42" name="Text 39"/>
          <p:cNvSpPr/>
          <p:nvPr/>
        </p:nvSpPr>
        <p:spPr>
          <a:xfrm>
            <a:off x="4343291" y="1044922"/>
            <a:ext cx="7881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</a:t>
            </a:r>
            <a:endParaRPr lang="en-US" sz="756" dirty="0"/>
          </a:p>
        </p:txBody>
      </p:sp>
      <p:sp>
        <p:nvSpPr>
          <p:cNvPr id="43" name="Text 40"/>
          <p:cNvSpPr/>
          <p:nvPr/>
        </p:nvSpPr>
        <p:spPr>
          <a:xfrm>
            <a:off x="723882" y="1735485"/>
            <a:ext cx="900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Producción</a:t>
            </a:r>
            <a:endParaRPr lang="en-US" sz="744" dirty="0"/>
          </a:p>
        </p:txBody>
      </p:sp>
      <p:sp>
        <p:nvSpPr>
          <p:cNvPr id="44" name="Text 41"/>
          <p:cNvSpPr/>
          <p:nvPr/>
        </p:nvSpPr>
        <p:spPr>
          <a:xfrm>
            <a:off x="10058149" y="1044922"/>
            <a:ext cx="853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756" dirty="0"/>
          </a:p>
        </p:txBody>
      </p:sp>
      <p:sp>
        <p:nvSpPr>
          <p:cNvPr id="45" name="Text 42"/>
          <p:cNvSpPr/>
          <p:nvPr/>
        </p:nvSpPr>
        <p:spPr>
          <a:xfrm>
            <a:off x="3408823" y="2493318"/>
            <a:ext cx="5443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23 Jun</a:t>
            </a:r>
            <a:endParaRPr lang="en-US" sz="624" dirty="0"/>
          </a:p>
        </p:txBody>
      </p:sp>
      <p:sp>
        <p:nvSpPr>
          <p:cNvPr id="46" name="Text 43"/>
          <p:cNvSpPr/>
          <p:nvPr/>
        </p:nvSpPr>
        <p:spPr>
          <a:xfrm>
            <a:off x="5328955" y="2493318"/>
            <a:ext cx="52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08 Jul</a:t>
            </a:r>
            <a:endParaRPr lang="en-US" sz="624" dirty="0"/>
          </a:p>
        </p:txBody>
      </p:sp>
      <p:sp>
        <p:nvSpPr>
          <p:cNvPr id="47" name="Text 44"/>
          <p:cNvSpPr/>
          <p:nvPr/>
        </p:nvSpPr>
        <p:spPr>
          <a:xfrm>
            <a:off x="7235098" y="2493318"/>
            <a:ext cx="5270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09 Jul</a:t>
            </a:r>
            <a:endParaRPr lang="en-US" sz="624" dirty="0"/>
          </a:p>
        </p:txBody>
      </p:sp>
      <p:sp>
        <p:nvSpPr>
          <p:cNvPr id="48" name="Text 45"/>
          <p:cNvSpPr/>
          <p:nvPr/>
        </p:nvSpPr>
        <p:spPr>
          <a:xfrm>
            <a:off x="9142134" y="2493318"/>
            <a:ext cx="5248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07 Jul</a:t>
            </a:r>
            <a:endParaRPr lang="en-US" sz="624" dirty="0"/>
          </a:p>
        </p:txBody>
      </p:sp>
      <p:sp>
        <p:nvSpPr>
          <p:cNvPr id="49" name="Text 46"/>
          <p:cNvSpPr/>
          <p:nvPr/>
        </p:nvSpPr>
        <p:spPr>
          <a:xfrm>
            <a:off x="11030567" y="2493318"/>
            <a:ext cx="5423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18 Jun</a:t>
            </a:r>
            <a:endParaRPr lang="en-US" sz="624" dirty="0"/>
          </a:p>
        </p:txBody>
      </p:sp>
      <p:sp>
        <p:nvSpPr>
          <p:cNvPr id="50" name="Text 47"/>
          <p:cNvSpPr/>
          <p:nvPr/>
        </p:nvSpPr>
        <p:spPr>
          <a:xfrm>
            <a:off x="2676458" y="4310509"/>
            <a:ext cx="5606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Construcción</a:t>
            </a:r>
            <a:endParaRPr lang="en-US" sz="624" dirty="0"/>
          </a:p>
        </p:txBody>
      </p:sp>
      <p:sp>
        <p:nvSpPr>
          <p:cNvPr id="51" name="Text 48"/>
          <p:cNvSpPr/>
          <p:nvPr/>
        </p:nvSpPr>
        <p:spPr>
          <a:xfrm>
            <a:off x="9581910" y="2861965"/>
            <a:ext cx="7037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notebooKevin</a:t>
            </a:r>
            <a:endParaRPr lang="en-US" sz="756" dirty="0"/>
          </a:p>
        </p:txBody>
      </p:sp>
      <p:sp>
        <p:nvSpPr>
          <p:cNvPr id="52" name="Text 49"/>
          <p:cNvSpPr/>
          <p:nvPr/>
        </p:nvSpPr>
        <p:spPr>
          <a:xfrm>
            <a:off x="11103045" y="4310509"/>
            <a:ext cx="46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listo 25 Jun</a:t>
            </a:r>
            <a:endParaRPr lang="en-US" sz="624" dirty="0"/>
          </a:p>
        </p:txBody>
      </p:sp>
      <p:sp>
        <p:nvSpPr>
          <p:cNvPr id="53" name="Text 50"/>
          <p:cNvSpPr/>
          <p:nvPr/>
        </p:nvSpPr>
        <p:spPr>
          <a:xfrm>
            <a:off x="3891014" y="6127552"/>
            <a:ext cx="5380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pausa 24 Jun</a:t>
            </a:r>
            <a:endParaRPr lang="en-US" sz="624" dirty="0"/>
          </a:p>
        </p:txBody>
      </p:sp>
      <p:sp>
        <p:nvSpPr>
          <p:cNvPr id="54" name="Text 51"/>
          <p:cNvSpPr/>
          <p:nvPr/>
        </p:nvSpPr>
        <p:spPr>
          <a:xfrm>
            <a:off x="6269228" y="6127552"/>
            <a:ext cx="5412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pausa 30 Jun</a:t>
            </a:r>
            <a:endParaRPr lang="en-US" sz="624" dirty="0"/>
          </a:p>
        </p:txBody>
      </p:sp>
      <p:sp>
        <p:nvSpPr>
          <p:cNvPr id="55" name="Text 52"/>
          <p:cNvSpPr/>
          <p:nvPr/>
        </p:nvSpPr>
        <p:spPr>
          <a:xfrm>
            <a:off x="8657413" y="6127552"/>
            <a:ext cx="5338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pausa 19 Jun</a:t>
            </a:r>
            <a:endParaRPr lang="en-US" sz="624" dirty="0"/>
          </a:p>
        </p:txBody>
      </p:sp>
      <p:sp>
        <p:nvSpPr>
          <p:cNvPr id="56" name="Text 53"/>
          <p:cNvSpPr/>
          <p:nvPr/>
        </p:nvSpPr>
        <p:spPr>
          <a:xfrm>
            <a:off x="9820029" y="6127552"/>
            <a:ext cx="5606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Construcción</a:t>
            </a:r>
            <a:endParaRPr lang="en-US" sz="624" dirty="0"/>
          </a:p>
        </p:txBody>
      </p:sp>
      <p:sp>
        <p:nvSpPr>
          <p:cNvPr id="57" name="Text 54"/>
          <p:cNvSpPr/>
          <p:nvPr/>
        </p:nvSpPr>
        <p:spPr>
          <a:xfrm>
            <a:off x="11040687" y="6127552"/>
            <a:ext cx="53161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pausa 12 Jun</a:t>
            </a:r>
            <a:endParaRPr lang="en-US" sz="624" dirty="0"/>
          </a:p>
        </p:txBody>
      </p:sp>
      <p:sp>
        <p:nvSpPr>
          <p:cNvPr id="58" name="Text 55"/>
          <p:cNvSpPr/>
          <p:nvPr/>
        </p:nvSpPr>
        <p:spPr>
          <a:xfrm>
            <a:off x="3999209" y="4310509"/>
            <a:ext cx="42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act. 09 Jul</a:t>
            </a:r>
            <a:endParaRPr lang="en-US" sz="624" dirty="0"/>
          </a:p>
        </p:txBody>
      </p:sp>
      <p:sp>
        <p:nvSpPr>
          <p:cNvPr id="59" name="Text 56"/>
          <p:cNvSpPr/>
          <p:nvPr/>
        </p:nvSpPr>
        <p:spPr>
          <a:xfrm>
            <a:off x="8745666" y="4310509"/>
            <a:ext cx="4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act. 25 Jun</a:t>
            </a:r>
            <a:endParaRPr lang="en-US" sz="624" dirty="0"/>
          </a:p>
        </p:txBody>
      </p:sp>
      <p:sp>
        <p:nvSpPr>
          <p:cNvPr id="60" name="Text 57"/>
          <p:cNvSpPr/>
          <p:nvPr/>
        </p:nvSpPr>
        <p:spPr>
          <a:xfrm>
            <a:off x="2676458" y="2493318"/>
            <a:ext cx="48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</a:t>
            </a:r>
            <a:endParaRPr lang="en-US" sz="624" dirty="0"/>
          </a:p>
        </p:txBody>
      </p:sp>
      <p:sp>
        <p:nvSpPr>
          <p:cNvPr id="61" name="Text 58"/>
          <p:cNvSpPr/>
          <p:nvPr/>
        </p:nvSpPr>
        <p:spPr>
          <a:xfrm>
            <a:off x="4581410" y="2493318"/>
            <a:ext cx="48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</a:t>
            </a:r>
            <a:endParaRPr lang="en-US" sz="624" dirty="0"/>
          </a:p>
        </p:txBody>
      </p:sp>
      <p:sp>
        <p:nvSpPr>
          <p:cNvPr id="62" name="Text 59"/>
          <p:cNvSpPr/>
          <p:nvPr/>
        </p:nvSpPr>
        <p:spPr>
          <a:xfrm>
            <a:off x="6486363" y="2493318"/>
            <a:ext cx="48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</a:t>
            </a:r>
            <a:endParaRPr lang="en-US" sz="624" dirty="0"/>
          </a:p>
        </p:txBody>
      </p:sp>
      <p:sp>
        <p:nvSpPr>
          <p:cNvPr id="63" name="Text 60"/>
          <p:cNvSpPr/>
          <p:nvPr/>
        </p:nvSpPr>
        <p:spPr>
          <a:xfrm>
            <a:off x="8153196" y="1044922"/>
            <a:ext cx="591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</a:t>
            </a:r>
            <a:endParaRPr lang="en-US" sz="756" dirty="0"/>
          </a:p>
        </p:txBody>
      </p:sp>
      <p:sp>
        <p:nvSpPr>
          <p:cNvPr id="64" name="Text 61"/>
          <p:cNvSpPr/>
          <p:nvPr/>
        </p:nvSpPr>
        <p:spPr>
          <a:xfrm>
            <a:off x="7200720" y="4679156"/>
            <a:ext cx="5068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</a:t>
            </a:r>
            <a:endParaRPr lang="en-US" sz="756" dirty="0"/>
          </a:p>
        </p:txBody>
      </p:sp>
      <p:sp>
        <p:nvSpPr>
          <p:cNvPr id="65" name="Text 62"/>
          <p:cNvSpPr/>
          <p:nvPr/>
        </p:nvSpPr>
        <p:spPr>
          <a:xfrm>
            <a:off x="9581910" y="4679156"/>
            <a:ext cx="6299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</a:t>
            </a:r>
            <a:endParaRPr lang="en-US" sz="756" dirty="0"/>
          </a:p>
        </p:txBody>
      </p:sp>
      <p:sp>
        <p:nvSpPr>
          <p:cNvPr id="66" name="Text 63"/>
          <p:cNvSpPr/>
          <p:nvPr/>
        </p:nvSpPr>
        <p:spPr>
          <a:xfrm>
            <a:off x="2438339" y="1044922"/>
            <a:ext cx="526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endParaRPr lang="en-US" sz="756" dirty="0"/>
          </a:p>
        </p:txBody>
      </p:sp>
      <p:sp>
        <p:nvSpPr>
          <p:cNvPr id="67" name="Text 64"/>
          <p:cNvSpPr/>
          <p:nvPr/>
        </p:nvSpPr>
        <p:spPr>
          <a:xfrm>
            <a:off x="6248244" y="1044922"/>
            <a:ext cx="4869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</a:t>
            </a:r>
            <a:endParaRPr lang="en-US" sz="756" dirty="0"/>
          </a:p>
        </p:txBody>
      </p:sp>
      <p:sp>
        <p:nvSpPr>
          <p:cNvPr id="68" name="Text 65"/>
          <p:cNvSpPr/>
          <p:nvPr/>
        </p:nvSpPr>
        <p:spPr>
          <a:xfrm>
            <a:off x="2438339" y="4679156"/>
            <a:ext cx="4443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</a:t>
            </a:r>
            <a:endParaRPr lang="en-US" sz="756" dirty="0"/>
          </a:p>
        </p:txBody>
      </p:sp>
      <p:sp>
        <p:nvSpPr>
          <p:cNvPr id="69" name="Text 66"/>
          <p:cNvSpPr/>
          <p:nvPr/>
        </p:nvSpPr>
        <p:spPr>
          <a:xfrm>
            <a:off x="8391315" y="24933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0" name="Text 67"/>
          <p:cNvSpPr/>
          <p:nvPr/>
        </p:nvSpPr>
        <p:spPr>
          <a:xfrm>
            <a:off x="10296268" y="24933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1" name="Text 68"/>
          <p:cNvSpPr/>
          <p:nvPr/>
        </p:nvSpPr>
        <p:spPr>
          <a:xfrm>
            <a:off x="7438839" y="43105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2" name="Text 69"/>
          <p:cNvSpPr/>
          <p:nvPr/>
        </p:nvSpPr>
        <p:spPr>
          <a:xfrm>
            <a:off x="9820029" y="43105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3" name="Text 70"/>
          <p:cNvSpPr/>
          <p:nvPr/>
        </p:nvSpPr>
        <p:spPr>
          <a:xfrm>
            <a:off x="2676458" y="61275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4" name="Text 71"/>
          <p:cNvSpPr/>
          <p:nvPr/>
        </p:nvSpPr>
        <p:spPr>
          <a:xfrm>
            <a:off x="5057649" y="61275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5" name="Text 72"/>
          <p:cNvSpPr/>
          <p:nvPr/>
        </p:nvSpPr>
        <p:spPr>
          <a:xfrm>
            <a:off x="7438839" y="61275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624" dirty="0"/>
          </a:p>
        </p:txBody>
      </p:sp>
      <p:sp>
        <p:nvSpPr>
          <p:cNvPr id="76" name="Text 73"/>
          <p:cNvSpPr/>
          <p:nvPr/>
        </p:nvSpPr>
        <p:spPr>
          <a:xfrm>
            <a:off x="923902" y="1491704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20" dirty="0"/>
          </a:p>
        </p:txBody>
      </p:sp>
      <p:sp>
        <p:nvSpPr>
          <p:cNvPr id="77" name="Text 74"/>
          <p:cNvSpPr/>
          <p:nvPr/>
        </p:nvSpPr>
        <p:spPr>
          <a:xfrm>
            <a:off x="923902" y="3252192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20" dirty="0"/>
          </a:p>
        </p:txBody>
      </p:sp>
      <p:sp>
        <p:nvSpPr>
          <p:cNvPr id="78" name="Text 75"/>
          <p:cNvSpPr/>
          <p:nvPr/>
        </p:nvSpPr>
        <p:spPr>
          <a:xfrm>
            <a:off x="923902" y="5016847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25" y="6479977"/>
            <a:ext cx="10838468" cy="27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0F5C3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resumen: 5 herramientas ya trabajan solas todos los días ahorrando horas de trabajo manual, 4 más están en obra o listas para encender, y 4 ya demostraron que funcionan y solo esperan su turno en el segundo semestre.</a:t>
            </a:r>
            <a:endParaRPr lang="en-US" sz="792" dirty="0"/>
          </a:p>
        </p:txBody>
      </p:sp>
      <p:sp>
        <p:nvSpPr>
          <p:cNvPr id="4" name="Text 1"/>
          <p:cNvSpPr/>
          <p:nvPr/>
        </p:nvSpPr>
        <p:spPr>
          <a:xfrm>
            <a:off x="2276418" y="3036243"/>
            <a:ext cx="2157115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"casa" donde vive toda la información de Vanti ya funciona y sostiene 3 sistemas; faltan fuentes por mudar.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2276418" y="4853434"/>
            <a:ext cx="2143233" cy="23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ubica en el mapa 9 de cada 10 direcciones de clientes sin ayuda; falta aplicarlo a toda la base.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9419989" y="3036243"/>
            <a:ext cx="2139289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asistente que responde dudas sobre los guiones de venta está listo para que el equipo lo use.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2276418" y="1219200"/>
            <a:ext cx="1729129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información de llamadas se actualiza sola cada 10 minutos — nadie tiene que hacerlo a mano.</a:t>
            </a:r>
            <a:endParaRPr lang="en-US" sz="696" dirty="0"/>
          </a:p>
        </p:txBody>
      </p:sp>
      <p:sp>
        <p:nvSpPr>
          <p:cNvPr id="8" name="Text 5"/>
          <p:cNvSpPr/>
          <p:nvPr/>
        </p:nvSpPr>
        <p:spPr>
          <a:xfrm>
            <a:off x="7991275" y="1219200"/>
            <a:ext cx="1719663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limpieza de bases nuevas pasó de 3 horas de trabajo manual a 30 segundos — se usa a diario.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4657609" y="3036243"/>
            <a:ext cx="2072559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plano completo de esa casa de datos quedó terminado: dónde va cada dato y cómo se conecta.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7038799" y="4853434"/>
            <a:ext cx="2153802" cy="23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convierte las llamadas de venta en texto; falta encender la parte que las califica con IA.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7038799" y="3036243"/>
            <a:ext cx="2064987" cy="23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mapa que muestra en qué barrios contestan mejor los clientes está listo para publicarse.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4181370" y="1219200"/>
            <a:ext cx="1601664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reportes de Ilio se descargan y organizan solos cada 15 minutos, sin entrar al portal.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9419989" y="4853434"/>
            <a:ext cx="2085968" cy="23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herramienta para que los agentes gestionen sus clientes quedó a un paso de instalarse.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4657609" y="4853434"/>
            <a:ext cx="2212960" cy="23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confirmación automática de ventas cerradas ya se probó con éxito dos veces seguidas.</a:t>
            </a:r>
            <a:endParaRPr lang="en-US" sz="696" dirty="0"/>
          </a:p>
        </p:txBody>
      </p:sp>
      <p:sp>
        <p:nvSpPr>
          <p:cNvPr id="15" name="Text 12"/>
          <p:cNvSpPr/>
          <p:nvPr/>
        </p:nvSpPr>
        <p:spPr>
          <a:xfrm>
            <a:off x="9896228" y="1219200"/>
            <a:ext cx="1707516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reportes "Como Vamos" ya no se arman a mano en Excel: salen solos en cada corte.</a:t>
            </a:r>
            <a:endParaRPr lang="en-US" sz="696" dirty="0"/>
          </a:p>
        </p:txBody>
      </p:sp>
      <p:sp>
        <p:nvSpPr>
          <p:cNvPr id="16" name="Text 13"/>
          <p:cNvSpPr/>
          <p:nvPr/>
        </p:nvSpPr>
        <p:spPr>
          <a:xfrm>
            <a:off x="6086323" y="1219200"/>
            <a:ext cx="1689059" cy="36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 personas ya consultan el estado de las pólizas en un portal web propio de Xuma.</a:t>
            </a:r>
            <a:endParaRPr lang="en-US" sz="696" dirty="0"/>
          </a:p>
        </p:txBody>
      </p:sp>
      <p:sp>
        <p:nvSpPr>
          <p:cNvPr id="17" name="Text 14"/>
          <p:cNvSpPr/>
          <p:nvPr/>
        </p:nvSpPr>
        <p:spPr>
          <a:xfrm>
            <a:off x="723882" y="5558879"/>
            <a:ext cx="1319915" cy="20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demostraron que funcionan — solo esperan su turno en el 2S</a:t>
            </a:r>
            <a:endParaRPr lang="en-US" sz="636" dirty="0"/>
          </a:p>
        </p:txBody>
      </p:sp>
      <p:sp>
        <p:nvSpPr>
          <p:cNvPr id="18" name="Text 15"/>
          <p:cNvSpPr/>
          <p:nvPr/>
        </p:nvSpPr>
        <p:spPr>
          <a:xfrm>
            <a:off x="723882" y="3689300"/>
            <a:ext cx="967020" cy="31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obra ahora mismo, o terminados y listos para encender</a:t>
            </a:r>
            <a:endParaRPr lang="en-US" sz="636" dirty="0"/>
          </a:p>
        </p:txBody>
      </p:sp>
      <p:sp>
        <p:nvSpPr>
          <p:cNvPr id="19" name="Text 16"/>
          <p:cNvSpPr/>
          <p:nvPr/>
        </p:nvSpPr>
        <p:spPr>
          <a:xfrm>
            <a:off x="1213514" y="219075"/>
            <a:ext cx="43592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Vamos? · El Portafolio en Palabras Simples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23882" y="1867942"/>
            <a:ext cx="1201600" cy="20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Trabajan solos, todos los días, con datos reales</a:t>
            </a:r>
            <a:endParaRPr lang="en-US" sz="636" dirty="0"/>
          </a:p>
        </p:txBody>
      </p:sp>
      <p:sp>
        <p:nvSpPr>
          <p:cNvPr id="21" name="Text 18"/>
          <p:cNvSpPr/>
          <p:nvPr/>
        </p:nvSpPr>
        <p:spPr>
          <a:xfrm>
            <a:off x="9376384" y="247650"/>
            <a:ext cx="227558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Vista comercial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723882" y="5313015"/>
            <a:ext cx="1194816" cy="22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pausa, listo para retomar</a:t>
            </a:r>
            <a:endParaRPr lang="en-US" sz="744" dirty="0"/>
          </a:p>
        </p:txBody>
      </p:sp>
      <p:sp>
        <p:nvSpPr>
          <p:cNvPr id="23" name="Text 20"/>
          <p:cNvSpPr/>
          <p:nvPr/>
        </p:nvSpPr>
        <p:spPr>
          <a:xfrm>
            <a:off x="2447864" y="2871490"/>
            <a:ext cx="14705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Implementación</a:t>
            </a:r>
            <a:endParaRPr lang="en-US" sz="756" dirty="0"/>
          </a:p>
        </p:txBody>
      </p:sp>
      <p:sp>
        <p:nvSpPr>
          <p:cNvPr id="24" name="Text 21"/>
          <p:cNvSpPr/>
          <p:nvPr/>
        </p:nvSpPr>
        <p:spPr>
          <a:xfrm>
            <a:off x="723882" y="3443436"/>
            <a:ext cx="902025" cy="22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está construyendo</a:t>
            </a:r>
            <a:endParaRPr lang="en-US" sz="744" dirty="0"/>
          </a:p>
        </p:txBody>
      </p:sp>
      <p:sp>
        <p:nvSpPr>
          <p:cNvPr id="25" name="Text 22"/>
          <p:cNvSpPr/>
          <p:nvPr/>
        </p:nvSpPr>
        <p:spPr>
          <a:xfrm>
            <a:off x="7210245" y="2871490"/>
            <a:ext cx="11132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</a:t>
            </a:r>
            <a:endParaRPr lang="en-US" sz="756" dirty="0"/>
          </a:p>
        </p:txBody>
      </p:sp>
      <p:sp>
        <p:nvSpPr>
          <p:cNvPr id="26" name="Text 23"/>
          <p:cNvSpPr/>
          <p:nvPr/>
        </p:nvSpPr>
        <p:spPr>
          <a:xfrm>
            <a:off x="723882" y="1735485"/>
            <a:ext cx="1255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está funcionando</a:t>
            </a:r>
            <a:endParaRPr lang="en-US" sz="744" dirty="0"/>
          </a:p>
        </p:txBody>
      </p:sp>
      <p:sp>
        <p:nvSpPr>
          <p:cNvPr id="27" name="Text 24"/>
          <p:cNvSpPr/>
          <p:nvPr/>
        </p:nvSpPr>
        <p:spPr>
          <a:xfrm>
            <a:off x="4829054" y="2871490"/>
            <a:ext cx="9913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Diseño</a:t>
            </a:r>
            <a:endParaRPr lang="en-US" sz="756" dirty="0"/>
          </a:p>
        </p:txBody>
      </p:sp>
      <p:sp>
        <p:nvSpPr>
          <p:cNvPr id="28" name="Text 25"/>
          <p:cNvSpPr/>
          <p:nvPr/>
        </p:nvSpPr>
        <p:spPr>
          <a:xfrm>
            <a:off x="8338074" y="4300984"/>
            <a:ext cx="7961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Listo para publicar</a:t>
            </a:r>
            <a:endParaRPr lang="en-US" sz="636" dirty="0"/>
          </a:p>
        </p:txBody>
      </p:sp>
      <p:sp>
        <p:nvSpPr>
          <p:cNvPr id="29" name="Text 26"/>
          <p:cNvSpPr/>
          <p:nvPr/>
        </p:nvSpPr>
        <p:spPr>
          <a:xfrm>
            <a:off x="3603300" y="6118027"/>
            <a:ext cx="768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Probado con éxito</a:t>
            </a:r>
            <a:endParaRPr lang="en-US" sz="636" dirty="0"/>
          </a:p>
        </p:txBody>
      </p:sp>
      <p:sp>
        <p:nvSpPr>
          <p:cNvPr id="30" name="Text 27"/>
          <p:cNvSpPr/>
          <p:nvPr/>
        </p:nvSpPr>
        <p:spPr>
          <a:xfrm>
            <a:off x="5984491" y="6118027"/>
            <a:ext cx="768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Probado con éxito</a:t>
            </a:r>
            <a:endParaRPr lang="en-US" sz="636" dirty="0"/>
          </a:p>
        </p:txBody>
      </p:sp>
      <p:sp>
        <p:nvSpPr>
          <p:cNvPr id="31" name="Text 28"/>
          <p:cNvSpPr/>
          <p:nvPr/>
        </p:nvSpPr>
        <p:spPr>
          <a:xfrm>
            <a:off x="8343911" y="6118027"/>
            <a:ext cx="7903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mitad de camino</a:t>
            </a:r>
            <a:endParaRPr lang="en-US" sz="636" dirty="0"/>
          </a:p>
        </p:txBody>
      </p:sp>
      <p:sp>
        <p:nvSpPr>
          <p:cNvPr id="32" name="Text 29"/>
          <p:cNvSpPr/>
          <p:nvPr/>
        </p:nvSpPr>
        <p:spPr>
          <a:xfrm>
            <a:off x="4829054" y="4688681"/>
            <a:ext cx="854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756" dirty="0"/>
          </a:p>
        </p:txBody>
      </p:sp>
      <p:sp>
        <p:nvSpPr>
          <p:cNvPr id="33" name="Text 30"/>
          <p:cNvSpPr/>
          <p:nvPr/>
        </p:nvSpPr>
        <p:spPr>
          <a:xfrm>
            <a:off x="4352816" y="1054447"/>
            <a:ext cx="7881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</a:t>
            </a:r>
            <a:endParaRPr lang="en-US" sz="756" dirty="0"/>
          </a:p>
        </p:txBody>
      </p:sp>
      <p:sp>
        <p:nvSpPr>
          <p:cNvPr id="34" name="Text 31"/>
          <p:cNvSpPr/>
          <p:nvPr/>
        </p:nvSpPr>
        <p:spPr>
          <a:xfrm>
            <a:off x="10886799" y="4300984"/>
            <a:ext cx="6286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Listo para usar</a:t>
            </a:r>
            <a:endParaRPr lang="en-US" sz="636" dirty="0"/>
          </a:p>
        </p:txBody>
      </p:sp>
      <p:sp>
        <p:nvSpPr>
          <p:cNvPr id="35" name="Text 32"/>
          <p:cNvSpPr/>
          <p:nvPr/>
        </p:nvSpPr>
        <p:spPr>
          <a:xfrm>
            <a:off x="10067673" y="1054447"/>
            <a:ext cx="853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756" dirty="0"/>
          </a:p>
        </p:txBody>
      </p:sp>
      <p:sp>
        <p:nvSpPr>
          <p:cNvPr id="36" name="Text 33"/>
          <p:cNvSpPr/>
          <p:nvPr/>
        </p:nvSpPr>
        <p:spPr>
          <a:xfrm>
            <a:off x="9591435" y="2871490"/>
            <a:ext cx="7037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notebooKevin</a:t>
            </a:r>
            <a:endParaRPr lang="en-US" sz="756" dirty="0"/>
          </a:p>
        </p:txBody>
      </p:sp>
      <p:sp>
        <p:nvSpPr>
          <p:cNvPr id="37" name="Text 34"/>
          <p:cNvSpPr/>
          <p:nvPr/>
        </p:nvSpPr>
        <p:spPr>
          <a:xfrm>
            <a:off x="3337033" y="2483793"/>
            <a:ext cx="558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5241985" y="2483793"/>
            <a:ext cx="558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7146937" y="2483793"/>
            <a:ext cx="558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9051890" y="2483793"/>
            <a:ext cx="558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10956842" y="2483793"/>
            <a:ext cx="5585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8162721" y="1054447"/>
            <a:ext cx="591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</a:t>
            </a:r>
            <a:endParaRPr lang="en-US" sz="756" dirty="0"/>
          </a:p>
        </p:txBody>
      </p:sp>
      <p:sp>
        <p:nvSpPr>
          <p:cNvPr id="43" name="Text 40"/>
          <p:cNvSpPr/>
          <p:nvPr/>
        </p:nvSpPr>
        <p:spPr>
          <a:xfrm>
            <a:off x="7210245" y="4688681"/>
            <a:ext cx="5068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</a:t>
            </a:r>
            <a:endParaRPr lang="en-US" sz="756" dirty="0"/>
          </a:p>
        </p:txBody>
      </p:sp>
      <p:sp>
        <p:nvSpPr>
          <p:cNvPr id="44" name="Text 41"/>
          <p:cNvSpPr/>
          <p:nvPr/>
        </p:nvSpPr>
        <p:spPr>
          <a:xfrm>
            <a:off x="9591435" y="4688681"/>
            <a:ext cx="6299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</a:t>
            </a:r>
            <a:endParaRPr lang="en-US" sz="756" dirty="0"/>
          </a:p>
        </p:txBody>
      </p:sp>
      <p:sp>
        <p:nvSpPr>
          <p:cNvPr id="45" name="Text 42"/>
          <p:cNvSpPr/>
          <p:nvPr/>
        </p:nvSpPr>
        <p:spPr>
          <a:xfrm>
            <a:off x="11010005" y="6118027"/>
            <a:ext cx="505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Arrancando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2447864" y="1054447"/>
            <a:ext cx="526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endParaRPr lang="en-US" sz="756" dirty="0"/>
          </a:p>
        </p:txBody>
      </p:sp>
      <p:sp>
        <p:nvSpPr>
          <p:cNvPr id="47" name="Text 44"/>
          <p:cNvSpPr/>
          <p:nvPr/>
        </p:nvSpPr>
        <p:spPr>
          <a:xfrm>
            <a:off x="6290060" y="4300984"/>
            <a:ext cx="4629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Terminado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6257769" y="1054447"/>
            <a:ext cx="4869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</a:t>
            </a:r>
            <a:endParaRPr lang="en-US" sz="756" dirty="0"/>
          </a:p>
        </p:txBody>
      </p:sp>
      <p:sp>
        <p:nvSpPr>
          <p:cNvPr id="49" name="Text 46"/>
          <p:cNvSpPr/>
          <p:nvPr/>
        </p:nvSpPr>
        <p:spPr>
          <a:xfrm>
            <a:off x="4039332" y="4300984"/>
            <a:ext cx="3325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obra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2447864" y="4688681"/>
            <a:ext cx="4443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</a:t>
            </a:r>
            <a:endParaRPr lang="en-US" sz="756" dirty="0"/>
          </a:p>
        </p:txBody>
      </p:sp>
      <p:sp>
        <p:nvSpPr>
          <p:cNvPr id="51" name="Text 48"/>
          <p:cNvSpPr/>
          <p:nvPr/>
        </p:nvSpPr>
        <p:spPr>
          <a:xfrm>
            <a:off x="923902" y="1491704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20" dirty="0"/>
          </a:p>
        </p:txBody>
      </p:sp>
      <p:sp>
        <p:nvSpPr>
          <p:cNvPr id="52" name="Text 49"/>
          <p:cNvSpPr/>
          <p:nvPr/>
        </p:nvSpPr>
        <p:spPr>
          <a:xfrm>
            <a:off x="923902" y="3199656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20" dirty="0"/>
          </a:p>
        </p:txBody>
      </p:sp>
      <p:sp>
        <p:nvSpPr>
          <p:cNvPr id="53" name="Text 50"/>
          <p:cNvSpPr/>
          <p:nvPr/>
        </p:nvSpPr>
        <p:spPr>
          <a:xfrm>
            <a:off x="923902" y="5069235"/>
            <a:ext cx="274320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4216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Línea de Tiempo · De la Fundación a la Producción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079777" y="247650"/>
            <a:ext cx="258999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Proyectos técnicos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523862" y="5947767"/>
            <a:ext cx="15041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 May · criterios de negocio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3688613" y="857250"/>
            <a:ext cx="13964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 · en el DataCenter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42911" y="857250"/>
            <a:ext cx="10621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Iniciación / Fundación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23862" y="5842992"/>
            <a:ext cx="12197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↓ Inicio de registros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4411081" y="6492032"/>
            <a:ext cx="696945" cy="2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0835012" y="3141613"/>
            <a:ext cx="941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Inicio 2S · 01 Jul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7949449" y="6492032"/>
            <a:ext cx="7471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7949449" y="6492032"/>
            <a:ext cx="7471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5301948" y="6492032"/>
            <a:ext cx="6967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784851" y="857250"/>
            <a:ext cx="7747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Construcción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2755633" y="857250"/>
            <a:ext cx="734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 / Prueba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3492462" y="6492032"/>
            <a:ext cx="7521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3492462" y="6492032"/>
            <a:ext cx="7521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1487649" y="3429149"/>
            <a:ext cx="5625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B47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 · 23 Jun</a:t>
            </a:r>
            <a:endParaRPr lang="en-US" sz="696" dirty="0"/>
          </a:p>
        </p:txBody>
      </p:sp>
      <p:sp>
        <p:nvSpPr>
          <p:cNvPr id="19" name="Text 16"/>
          <p:cNvSpPr/>
          <p:nvPr/>
        </p:nvSpPr>
        <p:spPr>
          <a:xfrm>
            <a:off x="5069257" y="2725192"/>
            <a:ext cx="5432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B47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 · 08 Jul</a:t>
            </a:r>
            <a:endParaRPr lang="en-US" sz="696" dirty="0"/>
          </a:p>
        </p:txBody>
      </p:sp>
      <p:sp>
        <p:nvSpPr>
          <p:cNvPr id="20" name="Text 17"/>
          <p:cNvSpPr/>
          <p:nvPr/>
        </p:nvSpPr>
        <p:spPr>
          <a:xfrm>
            <a:off x="5961757" y="2682180"/>
            <a:ext cx="5417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B47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 · 09 Jul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11098133" y="2215009"/>
            <a:ext cx="6625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 · 21 Jul</a:t>
            </a:r>
            <a:endParaRPr lang="en-US" sz="672" dirty="0"/>
          </a:p>
        </p:txBody>
      </p:sp>
      <p:sp>
        <p:nvSpPr>
          <p:cNvPr id="22" name="Text 19"/>
          <p:cNvSpPr/>
          <p:nvPr/>
        </p:nvSpPr>
        <p:spPr>
          <a:xfrm>
            <a:off x="9793966" y="6492032"/>
            <a:ext cx="6213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notebooKevin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945445" y="6492032"/>
            <a:ext cx="5010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7174067" y="6492032"/>
            <a:ext cx="5160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8986077" y="6492032"/>
            <a:ext cx="455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10718272" y="6492032"/>
            <a:ext cx="5544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1851453" y="6492032"/>
            <a:ext cx="4707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6330999" y="6492032"/>
            <a:ext cx="42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2777495" y="6492032"/>
            <a:ext cx="400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11368845" y="6014442"/>
            <a:ext cx="3756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May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11381197" y="4577953"/>
            <a:ext cx="362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Jun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11371077" y="1705273"/>
            <a:ext cx="3732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Ago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15584583" y="914400"/>
            <a:ext cx="27432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✕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6753" y="6147495"/>
            <a:ext cx="2131401" cy="4578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 por schemas separados + particionadoExploración + carga histórica por checkpoint + sincronización incremental (watermark por ID)Orquestación por checkpoints y consolidación en cascadaMódulos por checkpoint, reglas de negocio 100 % parametrizadas en YAMLCruce geoespacial de base de clientes vs. logs de llamadasRPA/web scraping + pruebas automatizadas (TDD)Despliegue en VM con saneamiento de seguridad12 reglas Fase I + 4 cruces Fase II + informativos + cobertura11 pasos de validación secuencial, arquitectura modularSistema de puntaje: 100 pts, 10 criterios, 4 causales de rechazoPersona de IA con respuestas ancladas estrictamente a documentos fuenteEvaluación comparativa de opciones (Twenty vs. SuiteCRM/Odoo/EspoCRM)Ejecución del plan maestro por fases (16 fases documentadas)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8876390" y="2595860"/>
            <a:ext cx="2480195" cy="33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Haz clic en un proyecto para ver su estado (explicado simple), tecnología y metodología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866753" y="5233095"/>
            <a:ext cx="2102532" cy="55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WhisperOllama/QwenNotebookLMNginxDockerNetlifyMetabasesystemd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3690994" y="2423220"/>
            <a:ext cx="36829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Todos (13) </a:t>
            </a:r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Fundación (4) Producción (5) Desarrollo (4)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451301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de Proyectos · Portafolio Completo (1S + 2S)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66753" y="3651945"/>
            <a:ext cx="2008826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PostgreSQLPostgreSQL 16Pandasopenpyxlpg_cron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761981" y="1527870"/>
            <a:ext cx="21817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 fundación · 5 producción · 4 desarrollo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66753" y="4633020"/>
            <a:ext cx="1681329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PlaywrightYAML (config-driven)PyYAML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3562261" y="1527870"/>
            <a:ext cx="190833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+ Ilio + actiXuma + Depuración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9162821" y="1527870"/>
            <a:ext cx="183971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enfoque por tipo de problema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866753" y="2508945"/>
            <a:ext cx="179869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PythonPython 3.12TypeScript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010805" y="6064300"/>
            <a:ext cx="731651" cy="2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Implementación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9550211" y="247650"/>
            <a:ext cx="209133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Ficha técnica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3562261" y="1028700"/>
            <a:ext cx="19457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Filas de datos gestionadas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866753" y="4252020"/>
            <a:ext cx="17736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ArcGIS APINominatimLeaflet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66753" y="2889945"/>
            <a:ext cx="191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ReactReact 18ViteElectron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9162821" y="1028700"/>
            <a:ext cx="170735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Metodologías distintas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6362541" y="1028700"/>
            <a:ext cx="15978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Tecnologías distintas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866753" y="3270945"/>
            <a:ext cx="15701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FastAPINestJSpsycopg2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781030" y="5061645"/>
            <a:ext cx="9682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 &amp; Infraestructura</a:t>
            </a:r>
            <a:endParaRPr lang="en-US" sz="696" dirty="0"/>
          </a:p>
        </p:txBody>
      </p:sp>
      <p:sp>
        <p:nvSpPr>
          <p:cNvPr id="23" name="Text 20"/>
          <p:cNvSpPr/>
          <p:nvPr/>
        </p:nvSpPr>
        <p:spPr>
          <a:xfrm>
            <a:off x="6771531" y="3842147"/>
            <a:ext cx="714614" cy="2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362541" y="1527870"/>
            <a:ext cx="106151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los 13 proyectos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356085" y="6064300"/>
            <a:ext cx="554336" cy="2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Diseño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761981" y="1028700"/>
            <a:ext cx="13519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Proyectos totales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904852" y="5909370"/>
            <a:ext cx="12151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Metodologías (13)</a:t>
            </a:r>
            <a:endParaRPr lang="en-US" sz="792" dirty="0"/>
          </a:p>
        </p:txBody>
      </p:sp>
      <p:sp>
        <p:nvSpPr>
          <p:cNvPr id="28" name="Text 25"/>
          <p:cNvSpPr/>
          <p:nvPr/>
        </p:nvSpPr>
        <p:spPr>
          <a:xfrm>
            <a:off x="904852" y="2137470"/>
            <a:ext cx="11198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Tecnologías (29)</a:t>
            </a:r>
            <a:endParaRPr lang="en-US" sz="792" dirty="0"/>
          </a:p>
        </p:txBody>
      </p:sp>
      <p:sp>
        <p:nvSpPr>
          <p:cNvPr id="29" name="Text 26"/>
          <p:cNvSpPr/>
          <p:nvPr/>
        </p:nvSpPr>
        <p:spPr>
          <a:xfrm>
            <a:off x="3719568" y="2137470"/>
            <a:ext cx="120160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 de Proyectos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7002838" y="4953298"/>
            <a:ext cx="747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4800539" y="4953298"/>
            <a:ext cx="692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781030" y="3099495"/>
            <a:ext cx="7668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&amp; APIs</a:t>
            </a:r>
            <a:endParaRPr lang="en-US" sz="696" dirty="0"/>
          </a:p>
        </p:txBody>
      </p:sp>
      <p:sp>
        <p:nvSpPr>
          <p:cNvPr id="33" name="Text 30"/>
          <p:cNvSpPr/>
          <p:nvPr/>
        </p:nvSpPr>
        <p:spPr>
          <a:xfrm>
            <a:off x="781030" y="4461570"/>
            <a:ext cx="77329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Automatización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5513392" y="3842147"/>
            <a:ext cx="7532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672" dirty="0"/>
          </a:p>
        </p:txBody>
      </p:sp>
      <p:sp>
        <p:nvSpPr>
          <p:cNvPr id="35" name="Text 32"/>
          <p:cNvSpPr/>
          <p:nvPr/>
        </p:nvSpPr>
        <p:spPr>
          <a:xfrm>
            <a:off x="4836980" y="6064300"/>
            <a:ext cx="6193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notebooKevin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781030" y="4080570"/>
            <a:ext cx="6161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Geoespacial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781030" y="3480495"/>
            <a:ext cx="55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&amp; BD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3681469" y="4710410"/>
            <a:ext cx="7392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Producción</a:t>
            </a:r>
            <a:endParaRPr lang="en-US" sz="696" dirty="0"/>
          </a:p>
        </p:txBody>
      </p:sp>
      <p:sp>
        <p:nvSpPr>
          <p:cNvPr id="39" name="Text 36"/>
          <p:cNvSpPr/>
          <p:nvPr/>
        </p:nvSpPr>
        <p:spPr>
          <a:xfrm>
            <a:off x="3681469" y="5821412"/>
            <a:ext cx="7299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6372807" y="4953298"/>
            <a:ext cx="520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</a:t>
            </a:r>
            <a:endParaRPr lang="en-US" sz="672" dirty="0"/>
          </a:p>
        </p:txBody>
      </p:sp>
      <p:sp>
        <p:nvSpPr>
          <p:cNvPr id="41" name="Text 38"/>
          <p:cNvSpPr/>
          <p:nvPr/>
        </p:nvSpPr>
        <p:spPr>
          <a:xfrm>
            <a:off x="4180288" y="6064300"/>
            <a:ext cx="4459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</a:t>
            </a:r>
            <a:endParaRPr lang="en-US" sz="672" dirty="0"/>
          </a:p>
        </p:txBody>
      </p:sp>
      <p:sp>
        <p:nvSpPr>
          <p:cNvPr id="42" name="Text 39"/>
          <p:cNvSpPr/>
          <p:nvPr/>
        </p:nvSpPr>
        <p:spPr>
          <a:xfrm>
            <a:off x="5611751" y="6064300"/>
            <a:ext cx="55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</a:t>
            </a:r>
            <a:endParaRPr lang="en-US" sz="672" dirty="0"/>
          </a:p>
        </p:txBody>
      </p:sp>
      <p:sp>
        <p:nvSpPr>
          <p:cNvPr id="43" name="Text 40"/>
          <p:cNvSpPr/>
          <p:nvPr/>
        </p:nvSpPr>
        <p:spPr>
          <a:xfrm>
            <a:off x="781030" y="2337495"/>
            <a:ext cx="5171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Lenguajes</a:t>
            </a:r>
            <a:endParaRPr lang="en-US" sz="696" dirty="0"/>
          </a:p>
        </p:txBody>
      </p:sp>
      <p:sp>
        <p:nvSpPr>
          <p:cNvPr id="44" name="Text 41"/>
          <p:cNvSpPr/>
          <p:nvPr/>
        </p:nvSpPr>
        <p:spPr>
          <a:xfrm>
            <a:off x="3681469" y="3599259"/>
            <a:ext cx="65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Fundación</a:t>
            </a:r>
            <a:endParaRPr lang="en-US" sz="696" dirty="0"/>
          </a:p>
        </p:txBody>
      </p:sp>
      <p:sp>
        <p:nvSpPr>
          <p:cNvPr id="45" name="Text 42"/>
          <p:cNvSpPr/>
          <p:nvPr/>
        </p:nvSpPr>
        <p:spPr>
          <a:xfrm>
            <a:off x="4170350" y="4953298"/>
            <a:ext cx="4658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endParaRPr lang="en-US" sz="672" dirty="0"/>
          </a:p>
        </p:txBody>
      </p:sp>
      <p:sp>
        <p:nvSpPr>
          <p:cNvPr id="46" name="Text 43"/>
          <p:cNvSpPr/>
          <p:nvPr/>
        </p:nvSpPr>
        <p:spPr>
          <a:xfrm>
            <a:off x="781030" y="2718495"/>
            <a:ext cx="457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696" dirty="0"/>
          </a:p>
        </p:txBody>
      </p:sp>
      <p:sp>
        <p:nvSpPr>
          <p:cNvPr id="47" name="Text 44"/>
          <p:cNvSpPr/>
          <p:nvPr/>
        </p:nvSpPr>
        <p:spPr>
          <a:xfrm>
            <a:off x="5676273" y="4953298"/>
            <a:ext cx="4275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</a:t>
            </a:r>
            <a:endParaRPr lang="en-US" sz="672" dirty="0"/>
          </a:p>
        </p:txBody>
      </p:sp>
      <p:sp>
        <p:nvSpPr>
          <p:cNvPr id="48" name="Text 45"/>
          <p:cNvSpPr/>
          <p:nvPr/>
        </p:nvSpPr>
        <p:spPr>
          <a:xfrm>
            <a:off x="3562261" y="1171575"/>
            <a:ext cx="112303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~24,1 M</a:t>
            </a:r>
            <a:endParaRPr lang="en-US" sz="2280" dirty="0"/>
          </a:p>
        </p:txBody>
      </p:sp>
      <p:sp>
        <p:nvSpPr>
          <p:cNvPr id="49" name="Text 46"/>
          <p:cNvSpPr/>
          <p:nvPr/>
        </p:nvSpPr>
        <p:spPr>
          <a:xfrm>
            <a:off x="4454899" y="3842147"/>
            <a:ext cx="3923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</a:t>
            </a:r>
            <a:endParaRPr lang="en-US" sz="672" dirty="0"/>
          </a:p>
        </p:txBody>
      </p:sp>
      <p:sp>
        <p:nvSpPr>
          <p:cNvPr id="50" name="Text 47"/>
          <p:cNvSpPr/>
          <p:nvPr/>
        </p:nvSpPr>
        <p:spPr>
          <a:xfrm>
            <a:off x="761981" y="1171575"/>
            <a:ext cx="35193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2280" dirty="0"/>
          </a:p>
        </p:txBody>
      </p:sp>
      <p:sp>
        <p:nvSpPr>
          <p:cNvPr id="51" name="Text 48"/>
          <p:cNvSpPr/>
          <p:nvPr/>
        </p:nvSpPr>
        <p:spPr>
          <a:xfrm>
            <a:off x="6362541" y="1171575"/>
            <a:ext cx="37717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2280" dirty="0"/>
          </a:p>
        </p:txBody>
      </p:sp>
      <p:sp>
        <p:nvSpPr>
          <p:cNvPr id="52" name="Text 49"/>
          <p:cNvSpPr/>
          <p:nvPr/>
        </p:nvSpPr>
        <p:spPr>
          <a:xfrm>
            <a:off x="9162821" y="1171575"/>
            <a:ext cx="35193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2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030" y="1524000"/>
            <a:ext cx="11197989" cy="34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patrón que se repite en casi todos los proyectos: alguien del equipo aporta el conocimiento operativo del negocio (qué datos importan, qué reglas aplican) y </a:t>
            </a:r>
            <a:pPr algn="l" indent="0" marL="0">
              <a:buNone/>
            </a:pPr>
            <a:r>
              <a:rPr lang="en-US" sz="9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convierte ese conocimiento en el sistema real</a:t>
            </a:r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arquitectura, código, automatización, despliegue. La única excepción es la lógica OCM de seguimiento operativo, que Isaac construye y opera él mismo.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895328" y="3365302"/>
            <a:ext cx="3131245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Responsable directo: construye y opera él mismo el análisis de la operación telefónica — la única iniciativa donde su rol no es solo de reglas de negocio.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895328" y="4779615"/>
            <a:ext cx="3436657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el pipeline y ajusta las reglas por ingeniería inversa (prueba y error) para capturar mejoras del sistema que no estaban documentadas.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4457589" y="3365302"/>
            <a:ext cx="3142446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Redacta parte de la narrativa ejecutiva del canal: migración a PostgreSQL, evolución de Power BI, indicadores de productividad.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8019849" y="3930104"/>
            <a:ext cx="3418830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el sistema de transcripción + evaluación con IA (Auditor de Llamadas) y el asistente de guiones (notebooKevin).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8019849" y="3080593"/>
            <a:ext cx="3401793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el pipeline Python (12 reglas Fase I + 4 cruces Fase II), lo valida contra el proceso manual y lo despliega.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895328" y="4214813"/>
            <a:ext cx="3445806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Ing. Sindy Molina: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Definió las reglas originales del proceso de posventa (Base Bienvenida CP + RS) — qué confirma una venta como válida.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4457589" y="2911376"/>
            <a:ext cx="3261550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el orquestador de geocodificación (ArcGIS/Nominatim), 94,5 % de efectividad sobre 13.571 direcciones.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8019849" y="3365302"/>
            <a:ext cx="3460793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Kevin Guzmán: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Aporta los guiones comerciales y los criterios de auditoría de calidad — qué se evalúa y cómo se califica una llamada.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8019849" y="2515791"/>
            <a:ext cx="3430504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Define las reglas de negocio: qué constituye un registro válido para depurar y las ventanas de tiempo aceptadas.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457589" y="3930104"/>
            <a:ext cx="3310296" cy="48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la infraestructura de datos que esas narrativas describen (DataCenter, ETLs, automatizaciones).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895328" y="2515791"/>
            <a:ext cx="3375764" cy="31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Co-creador: aporta conocimiento operativo de troncales y llamadas, participa en la creación conjunta.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895328" y="2911376"/>
            <a:ext cx="3373240" cy="31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construye: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Construye el mapa interactivo (React + Vite + Leaflet), el cruce geoespacial y el despliegue.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4457589" y="2515791"/>
            <a:ext cx="3467103" cy="31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Entrega la base de direcciones a geocodificar — conocimiento de qué datos existen y dónde.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81030" y="4557713"/>
            <a:ext cx="49741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PERFILES_Y_ATRIBUCION_INNOVACION.md (2026-07-12), confirmado directamente por Jeam Paul.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895328" y="3930104"/>
            <a:ext cx="3255713" cy="31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Paul: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interviene en la construcción de esta lógica específica.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33427" y="1123950"/>
            <a:ext cx="467281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se construye — conocimiento de negocio + construcción técnica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895328" y="3163491"/>
            <a:ext cx="30124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Lógica OCM — seguimiento operativo de llamadas</a:t>
            </a:r>
            <a:endParaRPr lang="en-US" sz="912" dirty="0"/>
          </a:p>
        </p:txBody>
      </p:sp>
      <p:sp>
        <p:nvSpPr>
          <p:cNvPr id="21" name="Text 18"/>
          <p:cNvSpPr/>
          <p:nvPr/>
        </p:nvSpPr>
        <p:spPr>
          <a:xfrm>
            <a:off x="1213514" y="219075"/>
            <a:ext cx="388341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Trabajo Conjunto · Isaac Álvarez y Jeam Paul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8019849" y="2313980"/>
            <a:ext cx="21105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 (pre-venta, Televentas)</a:t>
            </a:r>
            <a:endParaRPr lang="en-US" sz="912" dirty="0"/>
          </a:p>
        </p:txBody>
      </p:sp>
      <p:sp>
        <p:nvSpPr>
          <p:cNvPr id="23" name="Text 20"/>
          <p:cNvSpPr/>
          <p:nvPr/>
        </p:nvSpPr>
        <p:spPr>
          <a:xfrm>
            <a:off x="4457589" y="2313980"/>
            <a:ext cx="205220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 (geocodificación Bogotá)</a:t>
            </a:r>
            <a:endParaRPr lang="en-US" sz="912" dirty="0"/>
          </a:p>
        </p:txBody>
      </p:sp>
      <p:sp>
        <p:nvSpPr>
          <p:cNvPr id="24" name="Text 21"/>
          <p:cNvSpPr/>
          <p:nvPr/>
        </p:nvSpPr>
        <p:spPr>
          <a:xfrm>
            <a:off x="990575" y="3822502"/>
            <a:ext cx="32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Ing. Sindy Molina </a:t>
            </a:r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990575" y="2123480"/>
            <a:ext cx="32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Jeam Paul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895328" y="2313980"/>
            <a:ext cx="15221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de Contactabilidad</a:t>
            </a:r>
            <a:endParaRPr lang="en-US" sz="912" dirty="0"/>
          </a:p>
        </p:txBody>
      </p:sp>
      <p:sp>
        <p:nvSpPr>
          <p:cNvPr id="27" name="Text 24"/>
          <p:cNvSpPr/>
          <p:nvPr/>
        </p:nvSpPr>
        <p:spPr>
          <a:xfrm>
            <a:off x="4552836" y="2123480"/>
            <a:ext cx="32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Jeam Paul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8115097" y="2123480"/>
            <a:ext cx="32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Jeam Paul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8115097" y="2972991"/>
            <a:ext cx="32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Kevin Guzmán </a:t>
            </a:r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0054279" y="247650"/>
            <a:ext cx="15570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Equipo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5152132"/>
            <a:ext cx="10909773" cy="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 se cumple este plan: 4 proyectos en pausa (autoGPS, autoConciliación, Auditor IA, CRM Twenty) vuelven a estar activos; el DataCenter pasa de sostener 3 servicios reales a las 8 fuentes planeadas; AutoReport_Ilio y el DataCenter cierran sus hallazgos de mayor prioridad; y arrancan las 6 líneas estratégicas que Isaac declaró para el canal.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5870079"/>
            <a:ext cx="5853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2S </a:t>
            </a:r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Jeam Paul Arcón Solano · construcción </a:t>
            </a:r>
            <a:pPr algn="l" indent="0" marL="0">
              <a:buNone/>
            </a:pPr>
            <a:r>
              <a:rPr lang="en-US" sz="816" b="1" dirty="0">
                <a:solidFill>
                  <a:srgbClr val="1A7A3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· líneas estratégicas y reglas OCM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4635285" y="4380607"/>
            <a:ext cx="3293732" cy="30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Implementación: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Cargar las 7 fuentes de datos que aún faltan </a:t>
            </a:r>
            <a:pPr algn="l" indent="0" marL="0">
              <a:buNone/>
            </a:pPr>
            <a:r>
              <a:rPr lang="en-US" sz="792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prioridad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4635285" y="3259038"/>
            <a:ext cx="2945727" cy="30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Resolver 3 hallazgos técnicos de alta prioridad </a:t>
            </a:r>
            <a:pPr algn="l" indent="0" marL="0">
              <a:buNone/>
            </a:pPr>
            <a:r>
              <a:rPr lang="en-US" sz="792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prioridad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4635285" y="2893516"/>
            <a:ext cx="3082341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Migrar la ejecución al DataCenter (hoy corre en local)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4635285" y="3649563"/>
            <a:ext cx="3176520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Habilitar Retail/Tradicional y acceso fuera de la oficina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14377" y="3465612"/>
            <a:ext cx="2861170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Reiniciar la máquina y levantar el stack (WSL/Docker)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4377" y="2893516"/>
            <a:ext cx="3178887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Procesar el corte pendiente desde el 30 Jun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4635285" y="4015085"/>
            <a:ext cx="3158694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Automatizar envío de correo y carga al motor OCM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914377" y="2527995"/>
            <a:ext cx="2825045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Retomar el procesamiento masivo (quedó incompleto)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4635285" y="2527995"/>
            <a:ext cx="2822205" cy="3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Generar dashboards y ajustar índices de consulta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14377" y="3259038"/>
            <a:ext cx="30657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IA:</a:t>
            </a:r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Ejecutar por primera vez la evaluación con IA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343491" y="1527870"/>
            <a:ext cx="230666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Declaradas por Isaac Álvarez para el canal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77330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y Puntos Abiertos · Segundo Semestre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8356341" y="2527995"/>
            <a:ext cx="21782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Tablero ejecutivo consolidado del canal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8356341" y="3354288"/>
            <a:ext cx="229909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Gobierno de datos por estación/campaña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761981" y="1527870"/>
            <a:ext cx="20361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Proyectos ya validados, hoy en pausa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8356341" y="2941141"/>
            <a:ext cx="21526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Proyecciones mensuales y semestrales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8356341" y="3560862"/>
            <a:ext cx="211357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de nuevos CRM y troncales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8165846" y="2366070"/>
            <a:ext cx="16021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reporte_isaac.md · canal Televentas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356341" y="3147715"/>
            <a:ext cx="19149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Automatización de cargues y flujos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8356341" y="2734568"/>
            <a:ext cx="183829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Reportería especializada por área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23882" y="2366070"/>
            <a:ext cx="1495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Proyectos ya validados, en pausa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9134247" y="1527870"/>
            <a:ext cx="15966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 y DataCenter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3552736" y="1527870"/>
            <a:ext cx="14760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activos o en producción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4444790" y="2366070"/>
            <a:ext cx="1171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activo o en producción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9751719" y="247650"/>
            <a:ext cx="18777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Estrategia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8318242" y="2118420"/>
            <a:ext cx="142403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Nuevas líneas (Isaac)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9296168" y="1028700"/>
            <a:ext cx="10367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prioridad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6505412" y="1028700"/>
            <a:ext cx="101261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Líneas nuevas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923902" y="1028700"/>
            <a:ext cx="74537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retomar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3714657" y="1028700"/>
            <a:ext cx="6942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ajustar</a:t>
            </a:r>
            <a:endParaRPr lang="en-US" sz="864" dirty="0"/>
          </a:p>
        </p:txBody>
      </p:sp>
      <p:sp>
        <p:nvSpPr>
          <p:cNvPr id="35" name="Text 32"/>
          <p:cNvSpPr/>
          <p:nvPr/>
        </p:nvSpPr>
        <p:spPr>
          <a:xfrm>
            <a:off x="876278" y="2118420"/>
            <a:ext cx="61649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Retomar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4597186" y="2118420"/>
            <a:ext cx="512215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Ajustar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61981" y="1171575"/>
            <a:ext cx="27432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3552736" y="1171575"/>
            <a:ext cx="27432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280" dirty="0"/>
          </a:p>
        </p:txBody>
      </p:sp>
      <p:sp>
        <p:nvSpPr>
          <p:cNvPr id="39" name="Text 36"/>
          <p:cNvSpPr/>
          <p:nvPr/>
        </p:nvSpPr>
        <p:spPr>
          <a:xfrm>
            <a:off x="6343491" y="1171575"/>
            <a:ext cx="27432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280" dirty="0"/>
          </a:p>
        </p:txBody>
      </p:sp>
      <p:sp>
        <p:nvSpPr>
          <p:cNvPr id="40" name="Text 37"/>
          <p:cNvSpPr/>
          <p:nvPr/>
        </p:nvSpPr>
        <p:spPr>
          <a:xfrm>
            <a:off x="9134247" y="1171575"/>
            <a:ext cx="27432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665" y="3291929"/>
            <a:ext cx="6852974" cy="6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sistemas corren hoy en producción real dentro del DataCenter (OCM Vanti, AutoReport_Ilio, actiXuma) — más 2 automatizaciones diarias reales que aún operan en local (Depuración activa; autoConciliación validada, en pausa desde el 30 Jun).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1409665" y="4569768"/>
            <a:ext cx="7111217" cy="6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2S: retomar 4 proyectos validados en pausa, cerrar los hallazgos de mayor prioridad (36 de Ilio, 7 fuentes que faltan en el DataCenter), y arrancar las 6 líneas estratégicas que Isaac Álvarez declaró para el canal.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1409665" y="2548086"/>
            <a:ext cx="6929958" cy="6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de 13 proyectos nacieron en el 1S — pero </a:t>
            </a:r>
            <a:pPr algn="l" indent="0" marL="0">
              <a:buNone/>
            </a:pPr>
            <a:r>
              <a:rPr lang="en-US" sz="11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OCM Vanti llegó a producción real dentro del propio semestre</a:t>
            </a:r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(23 Jun); el resto de las automatizaciones de producción se consolidaron ya en julio (2S).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409665" y="4035772"/>
            <a:ext cx="7013095" cy="39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 proyectos en desarrollo activo: implementación del DataCenter (ya aloja esos 3 servicios reales), Auditor de Llamadas con IA, notebooKevin y CRM Twenty.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952476" y="953839"/>
            <a:ext cx="6155387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como Base del Canal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52476" y="687139"/>
            <a:ext cx="17766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2026-07-21T21:56:20Z</dcterms:created>
  <dcterms:modified xsi:type="dcterms:W3CDTF">2026-07-21T21:56:20Z</dcterms:modified>
</cp:coreProperties>
</file>