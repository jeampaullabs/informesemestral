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innovacion\ppt_slides\sk_00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2476" y="4074616"/>
            <a:ext cx="5110898" cy="48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dirty="0">
                <a:solidFill>
                  <a:srgbClr val="55555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Qué se construyó en el primer semestre y qué sigue para el segundo — capa transversal a los </a:t>
            </a:r>
            <a:pPr algn="l" indent="0" marL="0">
              <a:buNone/>
            </a:pPr>
            <a:r>
              <a:rPr lang="en-US" sz="13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canales</a:t>
            </a:r>
            <a:endParaRPr lang="en-US" sz="1380" dirty="0"/>
          </a:p>
        </p:txBody>
      </p:sp>
      <p:sp>
        <p:nvSpPr>
          <p:cNvPr id="4" name="Text 1"/>
          <p:cNvSpPr/>
          <p:nvPr/>
        </p:nvSpPr>
        <p:spPr>
          <a:xfrm>
            <a:off x="3004616" y="4836914"/>
            <a:ext cx="2865588" cy="59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Contribuyentes </a:t>
            </a:r>
            <a:pPr algn="l" indent="0" marL="0">
              <a:buNone/>
            </a:pPr>
            <a:r>
              <a:rPr lang="en-US" sz="103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Isaac Álvarez </a:t>
            </a:r>
            <a:pPr algn="l" indent="0" marL="0">
              <a:buNone/>
            </a:pPr>
            <a:r>
              <a:rPr lang="en-US" sz="93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Reglas de Negocio, Lógica OCM </a:t>
            </a:r>
            <a:pPr algn="l" indent="0" marL="0">
              <a:buNone/>
            </a:pPr>
            <a:r>
              <a:rPr lang="en-US" sz="103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Kevin Guzmán </a:t>
            </a:r>
            <a:pPr algn="l" indent="0" marL="0">
              <a:buNone/>
            </a:pPr>
            <a:r>
              <a:rPr lang="en-US" sz="93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Criterios de Auditoría</a:t>
            </a:r>
            <a:endParaRPr lang="en-US" sz="768" dirty="0"/>
          </a:p>
        </p:txBody>
      </p:sp>
      <p:sp>
        <p:nvSpPr>
          <p:cNvPr id="5" name="Text 2"/>
          <p:cNvSpPr/>
          <p:nvPr/>
        </p:nvSpPr>
        <p:spPr>
          <a:xfrm>
            <a:off x="1133447" y="5945981"/>
            <a:ext cx="4409525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 – Jul 2026 Vanti · Xuma 13 proyectos técnicos</a:t>
            </a:r>
            <a:endParaRPr lang="en-US" sz="936" dirty="0"/>
          </a:p>
        </p:txBody>
      </p:sp>
      <p:sp>
        <p:nvSpPr>
          <p:cNvPr id="6" name="Text 3"/>
          <p:cNvSpPr/>
          <p:nvPr/>
        </p:nvSpPr>
        <p:spPr>
          <a:xfrm>
            <a:off x="952476" y="1750219"/>
            <a:ext cx="4111685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Informe Ejecutivo · Innovación &amp; Tecnología</a:t>
            </a:r>
            <a:endParaRPr lang="en-US" sz="936" dirty="0"/>
          </a:p>
        </p:txBody>
      </p:sp>
      <p:sp>
        <p:nvSpPr>
          <p:cNvPr id="7" name="Text 4"/>
          <p:cNvSpPr/>
          <p:nvPr/>
        </p:nvSpPr>
        <p:spPr>
          <a:xfrm>
            <a:off x="952476" y="4836914"/>
            <a:ext cx="1618070" cy="343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Construcción técnica </a:t>
            </a:r>
            <a:pPr algn="l" indent="0" marL="0">
              <a:buNone/>
            </a:pPr>
            <a:r>
              <a:rPr lang="en-US" sz="103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Jeam Paul Arcón Solano</a:t>
            </a:r>
            <a:endParaRPr lang="en-US" sz="768" dirty="0"/>
          </a:p>
        </p:txBody>
      </p:sp>
      <p:sp>
        <p:nvSpPr>
          <p:cNvPr id="8" name="Text 5"/>
          <p:cNvSpPr/>
          <p:nvPr/>
        </p:nvSpPr>
        <p:spPr>
          <a:xfrm>
            <a:off x="952476" y="2045494"/>
            <a:ext cx="3681806" cy="1900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Innovación</a:t>
            </a:r>
            <a:pPr algn="l" indent="0" marL="0">
              <a:buNone/>
            </a:pPr>
            <a:r>
              <a:rPr lang="en-US" sz="43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&amp; Tecnología</a:t>
            </a:r>
            <a:pPr algn="l" indent="0" marL="0">
              <a:buNone/>
            </a:pPr>
            <a:r>
              <a:rPr lang="en-US" sz="4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2026</a:t>
            </a:r>
            <a:endParaRPr lang="en-US" sz="43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innovacion\ppt_slides\sk_0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1030" y="4436864"/>
            <a:ext cx="5172580" cy="9755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Construcción de </a:t>
            </a:r>
            <a:pPr algn="l" indent="0" marL="0">
              <a:buNone/>
            </a:pPr>
            <a:r>
              <a:rPr lang="en-US" sz="9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infraestructura de datos</a:t>
            </a:r>
            <a:pPr algn="l" indent="0" marL="0">
              <a:buNone/>
            </a:pPr>
            <a:r>
              <a:rPr lang="en-US" sz="9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y prueba de conceptos analíticos con datos reales — con una automatización que ya llegó a producción real dentro del propio semestre: OCM Vanti (23 Jun). El resto de automatizaciones de producción se consolidaron en el 2S. Cada cifra de arriba viene de una carga o un cruce ya ejecutado, no de una proyección.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4552836" y="1623120"/>
            <a:ext cx="3263443" cy="412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el portafolio salvo Depuración (100 % 2S) se ideó antes del 01 Jul — incluidos 4 de los 5 que hoy están en producción</a:t>
            </a:r>
            <a:endParaRPr lang="en-US" sz="864" dirty="0"/>
          </a:p>
        </p:txBody>
      </p:sp>
      <p:sp>
        <p:nvSpPr>
          <p:cNvPr id="5" name="Text 2"/>
          <p:cNvSpPr/>
          <p:nvPr/>
        </p:nvSpPr>
        <p:spPr>
          <a:xfrm>
            <a:off x="819130" y="1623120"/>
            <a:ext cx="3145443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OCM Vanti</a:t>
            </a:r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(23 Jun) — el resto que hoy está en producción (AutoReport_Ilio, actiXuma) llegó ya en el 2S (08–09 Jul)</a:t>
            </a:r>
            <a:endParaRPr lang="en-US" sz="864" dirty="0"/>
          </a:p>
        </p:txBody>
      </p:sp>
      <p:sp>
        <p:nvSpPr>
          <p:cNvPr id="6" name="Text 3"/>
          <p:cNvSpPr/>
          <p:nvPr/>
        </p:nvSpPr>
        <p:spPr>
          <a:xfrm>
            <a:off x="8286543" y="1623120"/>
            <a:ext cx="3179833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Arquitectura completa (schemas + 4 ETLs) — la VM ya está montada y corriendo desde el 18 Jun, no solo en el papel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6591135" y="4624387"/>
            <a:ext cx="5054422" cy="301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DataCenter (VM):</a:t>
            </a:r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montada y corriendo desde el 18 Jun — seguridad, PostgreSQL 16 y acceso remoto (Tailscale)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6591135" y="5403056"/>
            <a:ext cx="4874425" cy="301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Mapa Contactabilidad:</a:t>
            </a:r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12.825 clientes × 3.021.403 llamadas · brecha Tigo 71 % vs. Movistar 25 %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6591135" y="4989909"/>
            <a:ext cx="490171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OCM Vanti:</a:t>
            </a:r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23.582.745 filas históricas (100 % completitud) · producción real desde el 23 Jun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8286543" y="3055739"/>
            <a:ext cx="3228106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Seguridad (UFW, Fail2ban), PostgreSQL 16 y acceso remoto seguro (Tailscale VPN) ya montados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6591135" y="4417814"/>
            <a:ext cx="465088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DataCenter (diseño):</a:t>
            </a:r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8 fuentes de datos, 4 ETLs · proyección 5,31 → 14,09 GB a 3 años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6591135" y="5768578"/>
            <a:ext cx="449155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autoComovamos:</a:t>
            </a:r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8 módulos en producción manual · 6 fuentes cruzadas por corte</a:t>
            </a:r>
            <a:endParaRPr lang="en-US" sz="864" dirty="0"/>
          </a:p>
        </p:txBody>
      </p:sp>
      <p:sp>
        <p:nvSpPr>
          <p:cNvPr id="13" name="Text 10"/>
          <p:cNvSpPr/>
          <p:nvPr/>
        </p:nvSpPr>
        <p:spPr>
          <a:xfrm>
            <a:off x="6591135" y="5196483"/>
            <a:ext cx="380974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autoGPS:</a:t>
            </a:r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13.571 direcciones · 94,5 % de efectividad (desde 62 % inicial)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4552836" y="3055739"/>
            <a:ext cx="3249718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 12.825 clientes de Bogotá (Mapa de Contactabilidad, ene–may)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819130" y="3055739"/>
            <a:ext cx="300930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Histórico completo (7 tablas), carga ejecutada el 23 Jun</a:t>
            </a:r>
            <a:endParaRPr lang="en-US" sz="864" dirty="0"/>
          </a:p>
        </p:txBody>
      </p:sp>
      <p:sp>
        <p:nvSpPr>
          <p:cNvPr id="16" name="Text 13"/>
          <p:cNvSpPr/>
          <p:nvPr/>
        </p:nvSpPr>
        <p:spPr>
          <a:xfrm>
            <a:off x="1213514" y="219075"/>
            <a:ext cx="463795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Resumen Ejecutivo · De la Fundación a la Producción</a:t>
            </a:r>
            <a:endParaRPr lang="en-US" sz="1260" dirty="0"/>
          </a:p>
        </p:txBody>
      </p:sp>
      <p:sp>
        <p:nvSpPr>
          <p:cNvPr id="17" name="Text 14"/>
          <p:cNvSpPr/>
          <p:nvPr/>
        </p:nvSpPr>
        <p:spPr>
          <a:xfrm>
            <a:off x="981050" y="1123950"/>
            <a:ext cx="257626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Producción real alcanzada en el 1S</a:t>
            </a:r>
            <a:endParaRPr lang="en-US" sz="864" dirty="0"/>
          </a:p>
        </p:txBody>
      </p:sp>
      <p:sp>
        <p:nvSpPr>
          <p:cNvPr id="18" name="Text 15"/>
          <p:cNvSpPr/>
          <p:nvPr/>
        </p:nvSpPr>
        <p:spPr>
          <a:xfrm>
            <a:off x="8286543" y="2556570"/>
            <a:ext cx="231881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Fases del plan maestro en la VM</a:t>
            </a:r>
            <a:endParaRPr lang="en-US" sz="864" dirty="0"/>
          </a:p>
        </p:txBody>
      </p:sp>
      <p:sp>
        <p:nvSpPr>
          <p:cNvPr id="19" name="Text 16"/>
          <p:cNvSpPr/>
          <p:nvPr/>
        </p:nvSpPr>
        <p:spPr>
          <a:xfrm>
            <a:off x="8286543" y="1123950"/>
            <a:ext cx="236203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Infraestructura del DataCenter</a:t>
            </a:r>
            <a:endParaRPr lang="en-US" sz="864" dirty="0"/>
          </a:p>
        </p:txBody>
      </p:sp>
      <p:sp>
        <p:nvSpPr>
          <p:cNvPr id="20" name="Text 17"/>
          <p:cNvSpPr/>
          <p:nvPr/>
        </p:nvSpPr>
        <p:spPr>
          <a:xfrm>
            <a:off x="4552836" y="1123950"/>
            <a:ext cx="193547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Proyectos nacidos en el 1S</a:t>
            </a:r>
            <a:endParaRPr lang="en-US" sz="864" dirty="0"/>
          </a:p>
        </p:txBody>
      </p:sp>
      <p:sp>
        <p:nvSpPr>
          <p:cNvPr id="21" name="Text 18"/>
          <p:cNvSpPr/>
          <p:nvPr/>
        </p:nvSpPr>
        <p:spPr>
          <a:xfrm>
            <a:off x="6553036" y="4027289"/>
            <a:ext cx="1549763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 cifras · por proyecto</a:t>
            </a:r>
            <a:endParaRPr lang="en-US" sz="1020" dirty="0"/>
          </a:p>
        </p:txBody>
      </p:sp>
      <p:sp>
        <p:nvSpPr>
          <p:cNvPr id="22" name="Text 19"/>
          <p:cNvSpPr/>
          <p:nvPr/>
        </p:nvSpPr>
        <p:spPr>
          <a:xfrm>
            <a:off x="933427" y="4027289"/>
            <a:ext cx="149376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Foco del 1er semestre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9920932" y="247650"/>
            <a:ext cx="169836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Innovación · Resumen</a:t>
            </a:r>
            <a:endParaRPr lang="en-US" sz="840" dirty="0"/>
          </a:p>
        </p:txBody>
      </p:sp>
      <p:sp>
        <p:nvSpPr>
          <p:cNvPr id="24" name="Text 21"/>
          <p:cNvSpPr/>
          <p:nvPr/>
        </p:nvSpPr>
        <p:spPr>
          <a:xfrm>
            <a:off x="819130" y="2556570"/>
            <a:ext cx="1409362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Filas OCM cargadas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4552836" y="2556570"/>
            <a:ext cx="14126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Llamadas cruzadas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8286543" y="1266825"/>
            <a:ext cx="1418985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 fuentes</a:t>
            </a:r>
            <a:endParaRPr lang="en-US" sz="2280" dirty="0"/>
          </a:p>
        </p:txBody>
      </p:sp>
      <p:sp>
        <p:nvSpPr>
          <p:cNvPr id="27" name="Text 24"/>
          <p:cNvSpPr/>
          <p:nvPr/>
        </p:nvSpPr>
        <p:spPr>
          <a:xfrm>
            <a:off x="4552836" y="1266825"/>
            <a:ext cx="1218164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 de 13</a:t>
            </a:r>
            <a:endParaRPr lang="en-US" sz="2280" dirty="0"/>
          </a:p>
        </p:txBody>
      </p:sp>
      <p:sp>
        <p:nvSpPr>
          <p:cNvPr id="28" name="Text 25"/>
          <p:cNvSpPr/>
          <p:nvPr/>
        </p:nvSpPr>
        <p:spPr>
          <a:xfrm>
            <a:off x="819130" y="1266825"/>
            <a:ext cx="1040060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de 13</a:t>
            </a:r>
            <a:endParaRPr lang="en-US" sz="2280" dirty="0"/>
          </a:p>
        </p:txBody>
      </p:sp>
      <p:sp>
        <p:nvSpPr>
          <p:cNvPr id="29" name="Text 26"/>
          <p:cNvSpPr/>
          <p:nvPr/>
        </p:nvSpPr>
        <p:spPr>
          <a:xfrm>
            <a:off x="819130" y="2699445"/>
            <a:ext cx="1138656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23,58 M</a:t>
            </a:r>
            <a:endParaRPr lang="en-US" sz="2280" dirty="0"/>
          </a:p>
        </p:txBody>
      </p:sp>
      <p:sp>
        <p:nvSpPr>
          <p:cNvPr id="30" name="Text 27"/>
          <p:cNvSpPr/>
          <p:nvPr/>
        </p:nvSpPr>
        <p:spPr>
          <a:xfrm>
            <a:off x="8286543" y="2699445"/>
            <a:ext cx="1064354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 de 16</a:t>
            </a:r>
            <a:endParaRPr lang="en-US" sz="2280" dirty="0"/>
          </a:p>
        </p:txBody>
      </p:sp>
      <p:sp>
        <p:nvSpPr>
          <p:cNvPr id="31" name="Text 28"/>
          <p:cNvSpPr/>
          <p:nvPr/>
        </p:nvSpPr>
        <p:spPr>
          <a:xfrm>
            <a:off x="4552836" y="2699445"/>
            <a:ext cx="969544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3,02 M</a:t>
            </a:r>
            <a:endParaRPr lang="en-US" sz="22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innovacion\ppt_slides\sk_02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9625" y="6443960"/>
            <a:ext cx="10837522" cy="316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0F5C3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del portafolio: 12 de los 13 proyectos nacieron en el 1S y hoy 5 automatizaciones operan con datos reales — 3 de ellas dentro del DataCenter (VM bdvanti), que ya sostiene la capa técnica de los 3 canales; los 4 proyectos en pausa quedaron validados y solo esperan retomarse en el 2S.</a:t>
            </a:r>
            <a:endParaRPr lang="en-US" sz="912" dirty="0"/>
          </a:p>
        </p:txBody>
      </p:sp>
      <p:sp>
        <p:nvSpPr>
          <p:cNvPr id="4" name="Text 1"/>
          <p:cNvSpPr/>
          <p:nvPr/>
        </p:nvSpPr>
        <p:spPr>
          <a:xfrm>
            <a:off x="723882" y="3680668"/>
            <a:ext cx="1216271" cy="360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Infraestructura en curso y piezas terminadas listas para activar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723882" y="5482679"/>
            <a:ext cx="1279846" cy="360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Validados con datos reales — solo esperan reactivarse en el 2S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4648084" y="3173462"/>
            <a:ext cx="1949038" cy="25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Plano completo cerrado en v2.0 — ya se construye sobre él</a:t>
            </a:r>
            <a:endParaRPr lang="en-US" sz="768" dirty="0"/>
          </a:p>
        </p:txBody>
      </p:sp>
      <p:sp>
        <p:nvSpPr>
          <p:cNvPr id="7" name="Text 4"/>
          <p:cNvSpPr/>
          <p:nvPr/>
        </p:nvSpPr>
        <p:spPr>
          <a:xfrm>
            <a:off x="2266893" y="1371600"/>
            <a:ext cx="1604030" cy="25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Actualiza las llamadas solo, en la VM del DataCenter</a:t>
            </a:r>
            <a:endParaRPr lang="en-US" sz="768" dirty="0"/>
          </a:p>
        </p:txBody>
      </p:sp>
      <p:sp>
        <p:nvSpPr>
          <p:cNvPr id="8" name="Text 5"/>
          <p:cNvSpPr/>
          <p:nvPr/>
        </p:nvSpPr>
        <p:spPr>
          <a:xfrm>
            <a:off x="1213514" y="219075"/>
            <a:ext cx="4324811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Estado del Portafolio · 13 Proyectos de un Vistazo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7981750" y="1371600"/>
            <a:ext cx="1578947" cy="25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Limpieza diaria de bases nuevas (corre en local)</a:t>
            </a:r>
            <a:endParaRPr lang="en-US" sz="768" dirty="0"/>
          </a:p>
        </p:txBody>
      </p:sp>
      <p:sp>
        <p:nvSpPr>
          <p:cNvPr id="10" name="Text 7"/>
          <p:cNvSpPr/>
          <p:nvPr/>
        </p:nvSpPr>
        <p:spPr>
          <a:xfrm>
            <a:off x="9886703" y="1371600"/>
            <a:ext cx="1655615" cy="25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Reportes "Como Vamos" por corte (corre en local)</a:t>
            </a:r>
            <a:endParaRPr lang="en-US" sz="768" dirty="0"/>
          </a:p>
        </p:txBody>
      </p:sp>
      <p:sp>
        <p:nvSpPr>
          <p:cNvPr id="11" name="Text 8"/>
          <p:cNvSpPr/>
          <p:nvPr/>
        </p:nvSpPr>
        <p:spPr>
          <a:xfrm>
            <a:off x="9410465" y="3173462"/>
            <a:ext cx="1658455" cy="25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Perfil y material listos para usar en NotebookLM</a:t>
            </a:r>
            <a:endParaRPr lang="en-US" sz="768" dirty="0"/>
          </a:p>
        </p:txBody>
      </p:sp>
      <p:sp>
        <p:nvSpPr>
          <p:cNvPr id="12" name="Text 9"/>
          <p:cNvSpPr/>
          <p:nvPr/>
        </p:nvSpPr>
        <p:spPr>
          <a:xfrm>
            <a:off x="2266893" y="4975473"/>
            <a:ext cx="1828987" cy="25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Falta terminar el lote masivo de 250 K registros</a:t>
            </a:r>
            <a:endParaRPr lang="en-US" sz="768" dirty="0"/>
          </a:p>
        </p:txBody>
      </p:sp>
      <p:sp>
        <p:nvSpPr>
          <p:cNvPr id="13" name="Text 10"/>
          <p:cNvSpPr/>
          <p:nvPr/>
        </p:nvSpPr>
        <p:spPr>
          <a:xfrm>
            <a:off x="9410465" y="4975473"/>
            <a:ext cx="2021604" cy="25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Instalación quedó a medias (falta reiniciar WSL)</a:t>
            </a:r>
            <a:endParaRPr lang="en-US" sz="768" dirty="0"/>
          </a:p>
        </p:txBody>
      </p:sp>
      <p:sp>
        <p:nvSpPr>
          <p:cNvPr id="14" name="Text 11"/>
          <p:cNvSpPr/>
          <p:nvPr/>
        </p:nvSpPr>
        <p:spPr>
          <a:xfrm>
            <a:off x="723882" y="1811089"/>
            <a:ext cx="1150961" cy="360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Automatizaciones corriendo hoy con datos reales</a:t>
            </a:r>
            <a:endParaRPr lang="en-US" sz="744" dirty="0"/>
          </a:p>
        </p:txBody>
      </p:sp>
      <p:sp>
        <p:nvSpPr>
          <p:cNvPr id="15" name="Text 12"/>
          <p:cNvSpPr/>
          <p:nvPr/>
        </p:nvSpPr>
        <p:spPr>
          <a:xfrm>
            <a:off x="4648084" y="4975473"/>
            <a:ext cx="1919538" cy="25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corte del 30 Jun quedó pendiente de procesar</a:t>
            </a:r>
            <a:endParaRPr lang="en-US" sz="768" dirty="0"/>
          </a:p>
        </p:txBody>
      </p:sp>
      <p:sp>
        <p:nvSpPr>
          <p:cNvPr id="16" name="Text 13"/>
          <p:cNvSpPr/>
          <p:nvPr/>
        </p:nvSpPr>
        <p:spPr>
          <a:xfrm>
            <a:off x="2266893" y="3173462"/>
            <a:ext cx="208659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 de 16 fases; faltan 7 fuentes por conectar</a:t>
            </a:r>
            <a:endParaRPr lang="en-US" sz="768" dirty="0"/>
          </a:p>
        </p:txBody>
      </p:sp>
      <p:sp>
        <p:nvSpPr>
          <p:cNvPr id="17" name="Text 14"/>
          <p:cNvSpPr/>
          <p:nvPr/>
        </p:nvSpPr>
        <p:spPr>
          <a:xfrm>
            <a:off x="4171846" y="1371600"/>
            <a:ext cx="1615388" cy="25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Descarga y carga Ilio automático, en la VM</a:t>
            </a:r>
            <a:endParaRPr lang="en-US" sz="768" dirty="0"/>
          </a:p>
        </p:txBody>
      </p:sp>
      <p:sp>
        <p:nvSpPr>
          <p:cNvPr id="18" name="Text 15"/>
          <p:cNvSpPr/>
          <p:nvPr/>
        </p:nvSpPr>
        <p:spPr>
          <a:xfrm>
            <a:off x="7029274" y="3173462"/>
            <a:ext cx="190313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Funcional, listo para desplegar en línea</a:t>
            </a:r>
            <a:endParaRPr lang="en-US" sz="768" dirty="0"/>
          </a:p>
        </p:txBody>
      </p:sp>
      <p:sp>
        <p:nvSpPr>
          <p:cNvPr id="19" name="Text 16"/>
          <p:cNvSpPr/>
          <p:nvPr/>
        </p:nvSpPr>
        <p:spPr>
          <a:xfrm>
            <a:off x="7029274" y="4975473"/>
            <a:ext cx="19528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Falta probar la evaluación con IA (Qwen)</a:t>
            </a:r>
            <a:endParaRPr lang="en-US" sz="768" dirty="0"/>
          </a:p>
        </p:txBody>
      </p:sp>
      <p:sp>
        <p:nvSpPr>
          <p:cNvPr id="20" name="Text 17"/>
          <p:cNvSpPr/>
          <p:nvPr/>
        </p:nvSpPr>
        <p:spPr>
          <a:xfrm>
            <a:off x="6076798" y="1371600"/>
            <a:ext cx="1695212" cy="25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Portal de consulta de pólizas, en la VM</a:t>
            </a:r>
            <a:endParaRPr lang="en-US" sz="768" dirty="0"/>
          </a:p>
        </p:txBody>
      </p:sp>
      <p:sp>
        <p:nvSpPr>
          <p:cNvPr id="21" name="Text 18"/>
          <p:cNvSpPr/>
          <p:nvPr/>
        </p:nvSpPr>
        <p:spPr>
          <a:xfrm>
            <a:off x="4648084" y="4265861"/>
            <a:ext cx="225965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8A4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✔ Diseño completado </a:t>
            </a:r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cerrado 18 Jun</a:t>
            </a:r>
            <a:endParaRPr lang="en-US" sz="720" dirty="0"/>
          </a:p>
        </p:txBody>
      </p:sp>
      <p:sp>
        <p:nvSpPr>
          <p:cNvPr id="22" name="Text 19"/>
          <p:cNvSpPr/>
          <p:nvPr/>
        </p:nvSpPr>
        <p:spPr>
          <a:xfrm>
            <a:off x="7029274" y="3011537"/>
            <a:ext cx="1827252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12.825 clientes × 3,02 M llamadas</a:t>
            </a:r>
            <a:endParaRPr lang="en-US" sz="840" dirty="0"/>
          </a:p>
        </p:txBody>
      </p:sp>
      <p:sp>
        <p:nvSpPr>
          <p:cNvPr id="23" name="Text 20"/>
          <p:cNvSpPr/>
          <p:nvPr/>
        </p:nvSpPr>
        <p:spPr>
          <a:xfrm>
            <a:off x="2266893" y="1209675"/>
            <a:ext cx="169852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23,58 M filas · sync cada 10 min</a:t>
            </a:r>
            <a:endParaRPr lang="en-US" sz="840" dirty="0"/>
          </a:p>
        </p:txBody>
      </p:sp>
      <p:sp>
        <p:nvSpPr>
          <p:cNvPr id="24" name="Text 21"/>
          <p:cNvSpPr/>
          <p:nvPr/>
        </p:nvSpPr>
        <p:spPr>
          <a:xfrm>
            <a:off x="4171846" y="1209675"/>
            <a:ext cx="167754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197.142 filas · cron cada 15 min</a:t>
            </a:r>
            <a:endParaRPr lang="en-US" sz="840" dirty="0"/>
          </a:p>
        </p:txBody>
      </p:sp>
      <p:sp>
        <p:nvSpPr>
          <p:cNvPr id="25" name="Text 22"/>
          <p:cNvSpPr/>
          <p:nvPr/>
        </p:nvSpPr>
        <p:spPr>
          <a:xfrm>
            <a:off x="2266893" y="4813548"/>
            <a:ext cx="1622172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94,5 % efectividad · 13.571 dir.</a:t>
            </a:r>
            <a:endParaRPr lang="en-US" sz="840" dirty="0"/>
          </a:p>
        </p:txBody>
      </p:sp>
      <p:sp>
        <p:nvSpPr>
          <p:cNvPr id="26" name="Text 23"/>
          <p:cNvSpPr/>
          <p:nvPr/>
        </p:nvSpPr>
        <p:spPr>
          <a:xfrm>
            <a:off x="7029274" y="4813548"/>
            <a:ext cx="182835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Transcripción validada (Whisper)</a:t>
            </a:r>
            <a:endParaRPr lang="en-US" sz="840" dirty="0"/>
          </a:p>
        </p:txBody>
      </p:sp>
      <p:sp>
        <p:nvSpPr>
          <p:cNvPr id="27" name="Text 24"/>
          <p:cNvSpPr/>
          <p:nvPr/>
        </p:nvSpPr>
        <p:spPr>
          <a:xfrm>
            <a:off x="9886703" y="1209675"/>
            <a:ext cx="171982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 módulos · 6 fuentes por corte</a:t>
            </a:r>
            <a:endParaRPr lang="en-US" sz="840" dirty="0"/>
          </a:p>
        </p:txBody>
      </p:sp>
      <p:sp>
        <p:nvSpPr>
          <p:cNvPr id="28" name="Text 25"/>
          <p:cNvSpPr/>
          <p:nvPr/>
        </p:nvSpPr>
        <p:spPr>
          <a:xfrm>
            <a:off x="9273546" y="247650"/>
            <a:ext cx="238459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Innovación · Estado ejecutivo</a:t>
            </a:r>
            <a:endParaRPr lang="en-US" sz="840" dirty="0"/>
          </a:p>
        </p:txBody>
      </p:sp>
      <p:sp>
        <p:nvSpPr>
          <p:cNvPr id="29" name="Text 26"/>
          <p:cNvSpPr/>
          <p:nvPr/>
        </p:nvSpPr>
        <p:spPr>
          <a:xfrm>
            <a:off x="6076798" y="1209675"/>
            <a:ext cx="156506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 usuarios · 226.963 activos</a:t>
            </a:r>
            <a:endParaRPr lang="en-US" sz="840" dirty="0"/>
          </a:p>
        </p:txBody>
      </p:sp>
      <p:sp>
        <p:nvSpPr>
          <p:cNvPr id="30" name="Text 27"/>
          <p:cNvSpPr/>
          <p:nvPr/>
        </p:nvSpPr>
        <p:spPr>
          <a:xfrm>
            <a:off x="9410465" y="4813548"/>
            <a:ext cx="159992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Twenty elegido (self-hosted)</a:t>
            </a:r>
            <a:endParaRPr lang="en-US" sz="840" dirty="0"/>
          </a:p>
        </p:txBody>
      </p:sp>
      <p:sp>
        <p:nvSpPr>
          <p:cNvPr id="31" name="Text 28"/>
          <p:cNvSpPr/>
          <p:nvPr/>
        </p:nvSpPr>
        <p:spPr>
          <a:xfrm>
            <a:off x="2457389" y="2837111"/>
            <a:ext cx="172408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DataCenter · Implementación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2266893" y="3011537"/>
            <a:ext cx="145085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servicios reales en la VM</a:t>
            </a:r>
            <a:endParaRPr lang="en-US" sz="840" dirty="0"/>
          </a:p>
        </p:txBody>
      </p:sp>
      <p:sp>
        <p:nvSpPr>
          <p:cNvPr id="33" name="Text 30"/>
          <p:cNvSpPr/>
          <p:nvPr/>
        </p:nvSpPr>
        <p:spPr>
          <a:xfrm>
            <a:off x="723882" y="3391049"/>
            <a:ext cx="1124931" cy="27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 Desarrollo · Construido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4648084" y="4813548"/>
            <a:ext cx="138443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cortes reales validados</a:t>
            </a:r>
            <a:endParaRPr lang="en-US" sz="840" dirty="0"/>
          </a:p>
        </p:txBody>
      </p:sp>
      <p:sp>
        <p:nvSpPr>
          <p:cNvPr id="35" name="Text 32"/>
          <p:cNvSpPr/>
          <p:nvPr/>
        </p:nvSpPr>
        <p:spPr>
          <a:xfrm>
            <a:off x="723882" y="5193060"/>
            <a:ext cx="987528" cy="27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 Pausa · Por Retomar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7981750" y="1209675"/>
            <a:ext cx="110505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1,5–3 h a ~30 seg</a:t>
            </a:r>
            <a:endParaRPr lang="en-US" sz="840" dirty="0"/>
          </a:p>
        </p:txBody>
      </p:sp>
      <p:sp>
        <p:nvSpPr>
          <p:cNvPr id="37" name="Text 34"/>
          <p:cNvSpPr/>
          <p:nvPr/>
        </p:nvSpPr>
        <p:spPr>
          <a:xfrm>
            <a:off x="7219770" y="2837111"/>
            <a:ext cx="130429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Mapa Contactabilidad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4838579" y="2837111"/>
            <a:ext cx="116121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DataCenter · Diseño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9410465" y="3011537"/>
            <a:ext cx="119150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documentos fuente</a:t>
            </a:r>
            <a:endParaRPr lang="en-US" sz="840" dirty="0"/>
          </a:p>
        </p:txBody>
      </p:sp>
      <p:sp>
        <p:nvSpPr>
          <p:cNvPr id="40" name="Text 37"/>
          <p:cNvSpPr/>
          <p:nvPr/>
        </p:nvSpPr>
        <p:spPr>
          <a:xfrm>
            <a:off x="4648084" y="3011537"/>
            <a:ext cx="96607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 fuentes · 4 ETLs</a:t>
            </a:r>
            <a:endParaRPr lang="en-US" sz="840" dirty="0"/>
          </a:p>
        </p:txBody>
      </p:sp>
      <p:sp>
        <p:nvSpPr>
          <p:cNvPr id="41" name="Text 38"/>
          <p:cNvSpPr/>
          <p:nvPr/>
        </p:nvSpPr>
        <p:spPr>
          <a:xfrm>
            <a:off x="4838579" y="4639121"/>
            <a:ext cx="100046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autoConciliación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4362341" y="1035248"/>
            <a:ext cx="92253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AutoReport_Ilio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723882" y="1656755"/>
            <a:ext cx="107098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 Producción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10077198" y="1035248"/>
            <a:ext cx="99935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autoComovamos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3351526" y="2468612"/>
            <a:ext cx="6051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desde 23 Jun</a:t>
            </a:r>
            <a:endParaRPr lang="en-US" sz="696" dirty="0"/>
          </a:p>
        </p:txBody>
      </p:sp>
      <p:sp>
        <p:nvSpPr>
          <p:cNvPr id="46" name="Text 43"/>
          <p:cNvSpPr/>
          <p:nvPr/>
        </p:nvSpPr>
        <p:spPr>
          <a:xfrm>
            <a:off x="5273295" y="2468612"/>
            <a:ext cx="58730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desde 08 Jul</a:t>
            </a:r>
            <a:endParaRPr lang="en-US" sz="696" dirty="0"/>
          </a:p>
        </p:txBody>
      </p:sp>
      <p:sp>
        <p:nvSpPr>
          <p:cNvPr id="47" name="Text 44"/>
          <p:cNvSpPr/>
          <p:nvPr/>
        </p:nvSpPr>
        <p:spPr>
          <a:xfrm>
            <a:off x="7179587" y="2468612"/>
            <a:ext cx="58588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desde 09 Jul</a:t>
            </a:r>
            <a:endParaRPr lang="en-US" sz="696" dirty="0"/>
          </a:p>
        </p:txBody>
      </p:sp>
      <p:sp>
        <p:nvSpPr>
          <p:cNvPr id="48" name="Text 45"/>
          <p:cNvSpPr/>
          <p:nvPr/>
        </p:nvSpPr>
        <p:spPr>
          <a:xfrm>
            <a:off x="9087069" y="2468612"/>
            <a:ext cx="58320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desde 07 Jul</a:t>
            </a:r>
            <a:endParaRPr lang="en-US" sz="696" dirty="0"/>
          </a:p>
        </p:txBody>
      </p:sp>
      <p:sp>
        <p:nvSpPr>
          <p:cNvPr id="49" name="Text 46"/>
          <p:cNvSpPr/>
          <p:nvPr/>
        </p:nvSpPr>
        <p:spPr>
          <a:xfrm>
            <a:off x="10973419" y="2468612"/>
            <a:ext cx="6029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desde 18 Jun</a:t>
            </a:r>
            <a:endParaRPr lang="en-US" sz="696" dirty="0"/>
          </a:p>
        </p:txBody>
      </p:sp>
      <p:sp>
        <p:nvSpPr>
          <p:cNvPr id="50" name="Text 47"/>
          <p:cNvSpPr/>
          <p:nvPr/>
        </p:nvSpPr>
        <p:spPr>
          <a:xfrm>
            <a:off x="2714557" y="4270623"/>
            <a:ext cx="64409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Construcción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9600960" y="2837111"/>
            <a:ext cx="82346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notebooKevin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11054379" y="4270623"/>
            <a:ext cx="51710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listo 25 Jun</a:t>
            </a:r>
            <a:endParaRPr lang="en-US" sz="696" dirty="0"/>
          </a:p>
        </p:txBody>
      </p:sp>
      <p:sp>
        <p:nvSpPr>
          <p:cNvPr id="53" name="Text 50"/>
          <p:cNvSpPr/>
          <p:nvPr/>
        </p:nvSpPr>
        <p:spPr>
          <a:xfrm>
            <a:off x="3834461" y="6072485"/>
            <a:ext cx="59803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pausa 24 Jun</a:t>
            </a:r>
            <a:endParaRPr lang="en-US" sz="696" dirty="0"/>
          </a:p>
        </p:txBody>
      </p:sp>
      <p:sp>
        <p:nvSpPr>
          <p:cNvPr id="54" name="Text 51"/>
          <p:cNvSpPr/>
          <p:nvPr/>
        </p:nvSpPr>
        <p:spPr>
          <a:xfrm>
            <a:off x="6212377" y="6072485"/>
            <a:ext cx="6015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pausa 30 Jun</a:t>
            </a:r>
            <a:endParaRPr lang="en-US" sz="696" dirty="0"/>
          </a:p>
        </p:txBody>
      </p:sp>
      <p:sp>
        <p:nvSpPr>
          <p:cNvPr id="55" name="Text 52"/>
          <p:cNvSpPr/>
          <p:nvPr/>
        </p:nvSpPr>
        <p:spPr>
          <a:xfrm>
            <a:off x="8601306" y="6072485"/>
            <a:ext cx="59330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pausa 19 Jun</a:t>
            </a:r>
            <a:endParaRPr lang="en-US" sz="696" dirty="0"/>
          </a:p>
        </p:txBody>
      </p:sp>
      <p:sp>
        <p:nvSpPr>
          <p:cNvPr id="56" name="Text 53"/>
          <p:cNvSpPr/>
          <p:nvPr/>
        </p:nvSpPr>
        <p:spPr>
          <a:xfrm>
            <a:off x="9858129" y="6072485"/>
            <a:ext cx="64409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Construcción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10984729" y="6072485"/>
            <a:ext cx="59093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pausa 12 Jun</a:t>
            </a:r>
            <a:endParaRPr lang="en-US" sz="696" dirty="0"/>
          </a:p>
        </p:txBody>
      </p:sp>
      <p:sp>
        <p:nvSpPr>
          <p:cNvPr id="58" name="Text 55"/>
          <p:cNvSpPr/>
          <p:nvPr/>
        </p:nvSpPr>
        <p:spPr>
          <a:xfrm>
            <a:off x="3955157" y="4270623"/>
            <a:ext cx="47009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act. 09 Jul</a:t>
            </a:r>
            <a:endParaRPr lang="en-US" sz="696" dirty="0"/>
          </a:p>
        </p:txBody>
      </p:sp>
      <p:sp>
        <p:nvSpPr>
          <p:cNvPr id="59" name="Text 56"/>
          <p:cNvSpPr/>
          <p:nvPr/>
        </p:nvSpPr>
        <p:spPr>
          <a:xfrm>
            <a:off x="8699679" y="4270623"/>
            <a:ext cx="48902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act. 25 Jun</a:t>
            </a:r>
            <a:endParaRPr lang="en-US" sz="696" dirty="0"/>
          </a:p>
        </p:txBody>
      </p:sp>
      <p:sp>
        <p:nvSpPr>
          <p:cNvPr id="60" name="Text 57"/>
          <p:cNvSpPr/>
          <p:nvPr/>
        </p:nvSpPr>
        <p:spPr>
          <a:xfrm>
            <a:off x="2714557" y="2468612"/>
            <a:ext cx="5551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8A4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Producción</a:t>
            </a:r>
            <a:endParaRPr lang="en-US" sz="720" dirty="0"/>
          </a:p>
        </p:txBody>
      </p:sp>
      <p:sp>
        <p:nvSpPr>
          <p:cNvPr id="61" name="Text 58"/>
          <p:cNvSpPr/>
          <p:nvPr/>
        </p:nvSpPr>
        <p:spPr>
          <a:xfrm>
            <a:off x="4619510" y="2468612"/>
            <a:ext cx="5551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8A4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Producción</a:t>
            </a:r>
            <a:endParaRPr lang="en-US" sz="720" dirty="0"/>
          </a:p>
        </p:txBody>
      </p:sp>
      <p:sp>
        <p:nvSpPr>
          <p:cNvPr id="62" name="Text 59"/>
          <p:cNvSpPr/>
          <p:nvPr/>
        </p:nvSpPr>
        <p:spPr>
          <a:xfrm>
            <a:off x="6524462" y="2468612"/>
            <a:ext cx="5551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8A4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Producción</a:t>
            </a:r>
            <a:endParaRPr lang="en-US" sz="720" dirty="0"/>
          </a:p>
        </p:txBody>
      </p:sp>
      <p:sp>
        <p:nvSpPr>
          <p:cNvPr id="63" name="Text 60"/>
          <p:cNvSpPr/>
          <p:nvPr/>
        </p:nvSpPr>
        <p:spPr>
          <a:xfrm>
            <a:off x="8172246" y="1035248"/>
            <a:ext cx="69142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Depuración</a:t>
            </a:r>
            <a:endParaRPr lang="en-US" sz="888" dirty="0"/>
          </a:p>
        </p:txBody>
      </p:sp>
      <p:sp>
        <p:nvSpPr>
          <p:cNvPr id="64" name="Text 61"/>
          <p:cNvSpPr/>
          <p:nvPr/>
        </p:nvSpPr>
        <p:spPr>
          <a:xfrm>
            <a:off x="7219770" y="4639121"/>
            <a:ext cx="59219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Auditor IA</a:t>
            </a:r>
            <a:endParaRPr lang="en-US" sz="888" dirty="0"/>
          </a:p>
        </p:txBody>
      </p:sp>
      <p:sp>
        <p:nvSpPr>
          <p:cNvPr id="65" name="Text 62"/>
          <p:cNvSpPr/>
          <p:nvPr/>
        </p:nvSpPr>
        <p:spPr>
          <a:xfrm>
            <a:off x="9600960" y="4639121"/>
            <a:ext cx="73669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CRM Twenty</a:t>
            </a:r>
            <a:endParaRPr lang="en-US" sz="888" dirty="0"/>
          </a:p>
        </p:txBody>
      </p:sp>
      <p:sp>
        <p:nvSpPr>
          <p:cNvPr id="66" name="Text 63"/>
          <p:cNvSpPr/>
          <p:nvPr/>
        </p:nvSpPr>
        <p:spPr>
          <a:xfrm>
            <a:off x="2457389" y="1035248"/>
            <a:ext cx="61491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OCM Vanti</a:t>
            </a:r>
            <a:endParaRPr lang="en-US" sz="888" dirty="0"/>
          </a:p>
        </p:txBody>
      </p:sp>
      <p:sp>
        <p:nvSpPr>
          <p:cNvPr id="67" name="Text 64"/>
          <p:cNvSpPr/>
          <p:nvPr/>
        </p:nvSpPr>
        <p:spPr>
          <a:xfrm>
            <a:off x="6267293" y="1035248"/>
            <a:ext cx="56869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actiXuma</a:t>
            </a:r>
            <a:endParaRPr lang="en-US" sz="888" dirty="0"/>
          </a:p>
        </p:txBody>
      </p:sp>
      <p:sp>
        <p:nvSpPr>
          <p:cNvPr id="68" name="Text 65"/>
          <p:cNvSpPr/>
          <p:nvPr/>
        </p:nvSpPr>
        <p:spPr>
          <a:xfrm>
            <a:off x="2457389" y="4639121"/>
            <a:ext cx="51868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autoGPS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8429414" y="2468612"/>
            <a:ext cx="2932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Piloto</a:t>
            </a:r>
            <a:endParaRPr lang="en-US" sz="720" dirty="0"/>
          </a:p>
        </p:txBody>
      </p:sp>
      <p:sp>
        <p:nvSpPr>
          <p:cNvPr id="70" name="Text 67"/>
          <p:cNvSpPr/>
          <p:nvPr/>
        </p:nvSpPr>
        <p:spPr>
          <a:xfrm>
            <a:off x="10334367" y="2468612"/>
            <a:ext cx="2932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Piloto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7476938" y="4270623"/>
            <a:ext cx="2932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Piloto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9858129" y="4270623"/>
            <a:ext cx="2932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Piloto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2714557" y="6072485"/>
            <a:ext cx="2932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Piloto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5095748" y="6072485"/>
            <a:ext cx="2932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Piloto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7476938" y="6072485"/>
            <a:ext cx="2932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Piloto</a:t>
            </a:r>
            <a:endParaRPr lang="en-US" sz="720" dirty="0"/>
          </a:p>
        </p:txBody>
      </p:sp>
      <p:sp>
        <p:nvSpPr>
          <p:cNvPr id="76" name="Text 73"/>
          <p:cNvSpPr/>
          <p:nvPr/>
        </p:nvSpPr>
        <p:spPr>
          <a:xfrm>
            <a:off x="952476" y="1365349"/>
            <a:ext cx="274320" cy="294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20" b="1" dirty="0">
                <a:solidFill>
                  <a:srgbClr val="0F8A4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920" dirty="0"/>
          </a:p>
        </p:txBody>
      </p:sp>
      <p:sp>
        <p:nvSpPr>
          <p:cNvPr id="77" name="Text 74"/>
          <p:cNvSpPr/>
          <p:nvPr/>
        </p:nvSpPr>
        <p:spPr>
          <a:xfrm>
            <a:off x="952476" y="3099643"/>
            <a:ext cx="274320" cy="294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20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920" dirty="0"/>
          </a:p>
        </p:txBody>
      </p:sp>
      <p:sp>
        <p:nvSpPr>
          <p:cNvPr id="78" name="Text 75"/>
          <p:cNvSpPr/>
          <p:nvPr/>
        </p:nvSpPr>
        <p:spPr>
          <a:xfrm>
            <a:off x="952476" y="4901654"/>
            <a:ext cx="274320" cy="294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20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9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innovacion\ppt_slides\sk_03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9625" y="6443960"/>
            <a:ext cx="10612565" cy="316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0F5C3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 resumen: 5 herramientas ya trabajan solas todos los días ahorrando horas de trabajo manual, 4 más están en obra o listas para encender, y 4 ya demostraron que funcionan y solo esperan su turno en el segundo semestre.</a:t>
            </a:r>
            <a:endParaRPr lang="en-US" sz="912" dirty="0"/>
          </a:p>
        </p:txBody>
      </p:sp>
      <p:sp>
        <p:nvSpPr>
          <p:cNvPr id="4" name="Text 1"/>
          <p:cNvSpPr/>
          <p:nvPr/>
        </p:nvSpPr>
        <p:spPr>
          <a:xfrm>
            <a:off x="2276418" y="3040112"/>
            <a:ext cx="2183775" cy="430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"casa" donde vive toda la información de Vanti ya funciona y sostiene 3 sistemas; faltan fuentes por mudar.</a:t>
            </a:r>
            <a:endParaRPr lang="en-US" sz="816" dirty="0"/>
          </a:p>
        </p:txBody>
      </p:sp>
      <p:sp>
        <p:nvSpPr>
          <p:cNvPr id="5" name="Text 2"/>
          <p:cNvSpPr/>
          <p:nvPr/>
        </p:nvSpPr>
        <p:spPr>
          <a:xfrm>
            <a:off x="2276418" y="4842123"/>
            <a:ext cx="2000150" cy="430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Ya ubica en el mapa 9 de cada 10 direcciones de clientes sin ayuda; falta aplicarlo a toda la base.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9419989" y="3040112"/>
            <a:ext cx="2193241" cy="430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asistente que responde dudas sobre los guiones de venta está listo para que el equipo lo use.</a:t>
            </a:r>
            <a:endParaRPr lang="en-US" sz="816" dirty="0"/>
          </a:p>
        </p:txBody>
      </p:sp>
      <p:sp>
        <p:nvSpPr>
          <p:cNvPr id="7" name="Text 4"/>
          <p:cNvSpPr/>
          <p:nvPr/>
        </p:nvSpPr>
        <p:spPr>
          <a:xfrm>
            <a:off x="2276418" y="1238250"/>
            <a:ext cx="1711460" cy="430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información de llamadas se actualiza sola cada 10 minutos — nadie tiene que hacerlo a mano.</a:t>
            </a:r>
            <a:endParaRPr lang="en-US" sz="816" dirty="0"/>
          </a:p>
        </p:txBody>
      </p:sp>
      <p:sp>
        <p:nvSpPr>
          <p:cNvPr id="8" name="Text 5"/>
          <p:cNvSpPr/>
          <p:nvPr/>
        </p:nvSpPr>
        <p:spPr>
          <a:xfrm>
            <a:off x="7991275" y="1238250"/>
            <a:ext cx="1660348" cy="581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limpieza de bases nuevas pasó de 3 horas de trabajo manual a 30 segundos — se usa a diario.</a:t>
            </a:r>
            <a:endParaRPr lang="en-US" sz="816" dirty="0"/>
          </a:p>
        </p:txBody>
      </p:sp>
      <p:sp>
        <p:nvSpPr>
          <p:cNvPr id="9" name="Text 6"/>
          <p:cNvSpPr/>
          <p:nvPr/>
        </p:nvSpPr>
        <p:spPr>
          <a:xfrm>
            <a:off x="4657609" y="3040112"/>
            <a:ext cx="2064671" cy="430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plano completo de esa casa de datos quedó terminado: dónde va cada dato y cómo se conecta.</a:t>
            </a:r>
            <a:endParaRPr lang="en-US" sz="816" dirty="0"/>
          </a:p>
        </p:txBody>
      </p:sp>
      <p:sp>
        <p:nvSpPr>
          <p:cNvPr id="10" name="Text 7"/>
          <p:cNvSpPr/>
          <p:nvPr/>
        </p:nvSpPr>
        <p:spPr>
          <a:xfrm>
            <a:off x="7038799" y="4842123"/>
            <a:ext cx="1951877" cy="430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Ya convierte las llamadas de venta en texto; falta encender la parte que las califica con IA.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7038799" y="3040112"/>
            <a:ext cx="2207912" cy="430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mapa que muestra en qué barrios contestan mejor los clientes está listo para publicarse.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4181370" y="1238250"/>
            <a:ext cx="1720137" cy="430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Los reportes de Ilio se descargan y organizan solos cada 15 minutos, sin entrar al portal.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9419989" y="4842123"/>
            <a:ext cx="2209331" cy="430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herramienta para que los agentes gestionen sus clientes quedó a un paso de instalarse.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4657609" y="4842123"/>
            <a:ext cx="2129508" cy="430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confirmación automática de ventas cerradas ya se probó con éxito dos veces seguidas.</a:t>
            </a:r>
            <a:endParaRPr lang="en-US" sz="816" dirty="0"/>
          </a:p>
        </p:txBody>
      </p:sp>
      <p:sp>
        <p:nvSpPr>
          <p:cNvPr id="15" name="Text 12"/>
          <p:cNvSpPr/>
          <p:nvPr/>
        </p:nvSpPr>
        <p:spPr>
          <a:xfrm>
            <a:off x="9896228" y="1238250"/>
            <a:ext cx="1584942" cy="430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Los reportes "Como Vamos" ya no se arman a mano en Excel: salen solos en cada corte.</a:t>
            </a:r>
            <a:endParaRPr lang="en-US" sz="816" dirty="0"/>
          </a:p>
        </p:txBody>
      </p:sp>
      <p:sp>
        <p:nvSpPr>
          <p:cNvPr id="16" name="Text 13"/>
          <p:cNvSpPr/>
          <p:nvPr/>
        </p:nvSpPr>
        <p:spPr>
          <a:xfrm>
            <a:off x="6086323" y="1238250"/>
            <a:ext cx="1434444" cy="430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 personas ya consultan el estado de las pólizas en un portal web propio de Xuma.</a:t>
            </a:r>
            <a:endParaRPr lang="en-US" sz="816" dirty="0"/>
          </a:p>
        </p:txBody>
      </p:sp>
      <p:sp>
        <p:nvSpPr>
          <p:cNvPr id="17" name="Text 14"/>
          <p:cNvSpPr/>
          <p:nvPr/>
        </p:nvSpPr>
        <p:spPr>
          <a:xfrm>
            <a:off x="723882" y="5482679"/>
            <a:ext cx="1229522" cy="360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Ya demostraron que funcionan — solo esperan su turno en el 2S</a:t>
            </a:r>
            <a:endParaRPr lang="en-US" sz="744" dirty="0"/>
          </a:p>
        </p:txBody>
      </p:sp>
      <p:sp>
        <p:nvSpPr>
          <p:cNvPr id="18" name="Text 15"/>
          <p:cNvSpPr/>
          <p:nvPr/>
        </p:nvSpPr>
        <p:spPr>
          <a:xfrm>
            <a:off x="723882" y="3680668"/>
            <a:ext cx="1129348" cy="360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 obra ahora mismo, o terminados y listos para encender</a:t>
            </a:r>
            <a:endParaRPr lang="en-US" sz="744" dirty="0"/>
          </a:p>
        </p:txBody>
      </p:sp>
      <p:sp>
        <p:nvSpPr>
          <p:cNvPr id="19" name="Text 16"/>
          <p:cNvSpPr/>
          <p:nvPr/>
        </p:nvSpPr>
        <p:spPr>
          <a:xfrm>
            <a:off x="1213514" y="219075"/>
            <a:ext cx="4359201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Vamos? · El Portafolio en Palabras Simples</a:t>
            </a:r>
            <a:endParaRPr lang="en-US" sz="1260" dirty="0"/>
          </a:p>
        </p:txBody>
      </p:sp>
      <p:sp>
        <p:nvSpPr>
          <p:cNvPr id="20" name="Text 17"/>
          <p:cNvSpPr/>
          <p:nvPr/>
        </p:nvSpPr>
        <p:spPr>
          <a:xfrm>
            <a:off x="723882" y="1940123"/>
            <a:ext cx="1167209" cy="234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Trabajan solos, todos los días, con datos reales</a:t>
            </a:r>
            <a:endParaRPr lang="en-US" sz="744" dirty="0"/>
          </a:p>
        </p:txBody>
      </p:sp>
      <p:sp>
        <p:nvSpPr>
          <p:cNvPr id="21" name="Text 18"/>
          <p:cNvSpPr/>
          <p:nvPr/>
        </p:nvSpPr>
        <p:spPr>
          <a:xfrm>
            <a:off x="9376384" y="247650"/>
            <a:ext cx="227558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Innovación · Vista comercial</a:t>
            </a:r>
            <a:endParaRPr lang="en-US" sz="840" dirty="0"/>
          </a:p>
        </p:txBody>
      </p:sp>
      <p:sp>
        <p:nvSpPr>
          <p:cNvPr id="22" name="Text 19"/>
          <p:cNvSpPr/>
          <p:nvPr/>
        </p:nvSpPr>
        <p:spPr>
          <a:xfrm>
            <a:off x="723882" y="5193060"/>
            <a:ext cx="1065931" cy="27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 pausa, listo para retomar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2466913" y="2846636"/>
            <a:ext cx="172408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DataCenter · Implementación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723882" y="3391049"/>
            <a:ext cx="1073030" cy="27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está construyendo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7229294" y="2846636"/>
            <a:ext cx="130429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Mapa Contactabilidad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723882" y="1650504"/>
            <a:ext cx="965915" cy="27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Ya está funcionando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4848104" y="2846636"/>
            <a:ext cx="116121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DataCenter · Diseño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8204930" y="4261098"/>
            <a:ext cx="92931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44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Listo para publicar</a:t>
            </a:r>
            <a:endParaRPr lang="en-US" sz="744" dirty="0"/>
          </a:p>
        </p:txBody>
      </p:sp>
      <p:sp>
        <p:nvSpPr>
          <p:cNvPr id="29" name="Text 26"/>
          <p:cNvSpPr/>
          <p:nvPr/>
        </p:nvSpPr>
        <p:spPr>
          <a:xfrm>
            <a:off x="3474731" y="6062960"/>
            <a:ext cx="89713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44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Probado con éxito</a:t>
            </a:r>
            <a:endParaRPr lang="en-US" sz="744" dirty="0"/>
          </a:p>
        </p:txBody>
      </p:sp>
      <p:sp>
        <p:nvSpPr>
          <p:cNvPr id="30" name="Text 27"/>
          <p:cNvSpPr/>
          <p:nvPr/>
        </p:nvSpPr>
        <p:spPr>
          <a:xfrm>
            <a:off x="5855921" y="6062960"/>
            <a:ext cx="89713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44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Probado con éxito</a:t>
            </a:r>
            <a:endParaRPr lang="en-US" sz="744" dirty="0"/>
          </a:p>
        </p:txBody>
      </p:sp>
      <p:sp>
        <p:nvSpPr>
          <p:cNvPr id="31" name="Text 28"/>
          <p:cNvSpPr/>
          <p:nvPr/>
        </p:nvSpPr>
        <p:spPr>
          <a:xfrm>
            <a:off x="8211871" y="6062960"/>
            <a:ext cx="92237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44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mitad de camino</a:t>
            </a:r>
            <a:endParaRPr lang="en-US" sz="744" dirty="0"/>
          </a:p>
        </p:txBody>
      </p:sp>
      <p:sp>
        <p:nvSpPr>
          <p:cNvPr id="32" name="Text 29"/>
          <p:cNvSpPr/>
          <p:nvPr/>
        </p:nvSpPr>
        <p:spPr>
          <a:xfrm>
            <a:off x="4848104" y="4648646"/>
            <a:ext cx="100046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autoConciliación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4371866" y="1044773"/>
            <a:ext cx="92253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AutoReport_Ilio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10782209" y="4261098"/>
            <a:ext cx="73322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44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Listo para usar</a:t>
            </a:r>
            <a:endParaRPr lang="en-US" sz="744" dirty="0"/>
          </a:p>
        </p:txBody>
      </p:sp>
      <p:sp>
        <p:nvSpPr>
          <p:cNvPr id="35" name="Text 32"/>
          <p:cNvSpPr/>
          <p:nvPr/>
        </p:nvSpPr>
        <p:spPr>
          <a:xfrm>
            <a:off x="10086723" y="1044773"/>
            <a:ext cx="99935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autoComovamos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9610485" y="2846636"/>
            <a:ext cx="82346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notebooKevin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3244589" y="2459087"/>
            <a:ext cx="65103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44" b="1" dirty="0">
                <a:solidFill>
                  <a:srgbClr val="0F8A4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Funcionando</a:t>
            </a:r>
            <a:endParaRPr lang="en-US" sz="744" dirty="0"/>
          </a:p>
        </p:txBody>
      </p:sp>
      <p:sp>
        <p:nvSpPr>
          <p:cNvPr id="38" name="Text 35"/>
          <p:cNvSpPr/>
          <p:nvPr/>
        </p:nvSpPr>
        <p:spPr>
          <a:xfrm>
            <a:off x="5149541" y="2459087"/>
            <a:ext cx="65103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44" b="1" dirty="0">
                <a:solidFill>
                  <a:srgbClr val="0F8A4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Funcionando</a:t>
            </a:r>
            <a:endParaRPr lang="en-US" sz="744" dirty="0"/>
          </a:p>
        </p:txBody>
      </p:sp>
      <p:sp>
        <p:nvSpPr>
          <p:cNvPr id="39" name="Text 36"/>
          <p:cNvSpPr/>
          <p:nvPr/>
        </p:nvSpPr>
        <p:spPr>
          <a:xfrm>
            <a:off x="7054494" y="2459087"/>
            <a:ext cx="65103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44" b="1" dirty="0">
                <a:solidFill>
                  <a:srgbClr val="0F8A4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Funcionando</a:t>
            </a:r>
            <a:endParaRPr lang="en-US" sz="744" dirty="0"/>
          </a:p>
        </p:txBody>
      </p:sp>
      <p:sp>
        <p:nvSpPr>
          <p:cNvPr id="40" name="Text 37"/>
          <p:cNvSpPr/>
          <p:nvPr/>
        </p:nvSpPr>
        <p:spPr>
          <a:xfrm>
            <a:off x="8959446" y="2459087"/>
            <a:ext cx="65103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44" b="1" dirty="0">
                <a:solidFill>
                  <a:srgbClr val="0F8A4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Funcionando</a:t>
            </a:r>
            <a:endParaRPr lang="en-US" sz="744" dirty="0"/>
          </a:p>
        </p:txBody>
      </p:sp>
      <p:sp>
        <p:nvSpPr>
          <p:cNvPr id="41" name="Text 38"/>
          <p:cNvSpPr/>
          <p:nvPr/>
        </p:nvSpPr>
        <p:spPr>
          <a:xfrm>
            <a:off x="10864398" y="2459087"/>
            <a:ext cx="65103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44" b="1" dirty="0">
                <a:solidFill>
                  <a:srgbClr val="0F8A4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Funcionando</a:t>
            </a:r>
            <a:endParaRPr lang="en-US" sz="744" dirty="0"/>
          </a:p>
        </p:txBody>
      </p:sp>
      <p:sp>
        <p:nvSpPr>
          <p:cNvPr id="42" name="Text 39"/>
          <p:cNvSpPr/>
          <p:nvPr/>
        </p:nvSpPr>
        <p:spPr>
          <a:xfrm>
            <a:off x="8181770" y="1044773"/>
            <a:ext cx="69142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Depuración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7229294" y="4648646"/>
            <a:ext cx="59219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Auditor IA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9610485" y="4648646"/>
            <a:ext cx="73669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CRM Twenty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10926553" y="6062960"/>
            <a:ext cx="5888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44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Arrancando</a:t>
            </a:r>
            <a:endParaRPr lang="en-US" sz="744" dirty="0"/>
          </a:p>
        </p:txBody>
      </p:sp>
      <p:sp>
        <p:nvSpPr>
          <p:cNvPr id="46" name="Text 43"/>
          <p:cNvSpPr/>
          <p:nvPr/>
        </p:nvSpPr>
        <p:spPr>
          <a:xfrm>
            <a:off x="2466913" y="1044773"/>
            <a:ext cx="61491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OCM Vanti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6213865" y="4261098"/>
            <a:ext cx="53919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44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Terminado</a:t>
            </a:r>
            <a:endParaRPr lang="en-US" sz="744" dirty="0"/>
          </a:p>
        </p:txBody>
      </p:sp>
      <p:sp>
        <p:nvSpPr>
          <p:cNvPr id="48" name="Text 45"/>
          <p:cNvSpPr/>
          <p:nvPr/>
        </p:nvSpPr>
        <p:spPr>
          <a:xfrm>
            <a:off x="6276818" y="1044773"/>
            <a:ext cx="56869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actiXuma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3985538" y="4261098"/>
            <a:ext cx="386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44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 obra</a:t>
            </a:r>
            <a:endParaRPr lang="en-US" sz="744" dirty="0"/>
          </a:p>
        </p:txBody>
      </p:sp>
      <p:sp>
        <p:nvSpPr>
          <p:cNvPr id="50" name="Text 47"/>
          <p:cNvSpPr/>
          <p:nvPr/>
        </p:nvSpPr>
        <p:spPr>
          <a:xfrm>
            <a:off x="2466913" y="4648646"/>
            <a:ext cx="51868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autoGPS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952476" y="1359098"/>
            <a:ext cx="274320" cy="294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20" b="1" dirty="0">
                <a:solidFill>
                  <a:srgbClr val="0F8A4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920" dirty="0"/>
          </a:p>
        </p:txBody>
      </p:sp>
      <p:sp>
        <p:nvSpPr>
          <p:cNvPr id="52" name="Text 49"/>
          <p:cNvSpPr/>
          <p:nvPr/>
        </p:nvSpPr>
        <p:spPr>
          <a:xfrm>
            <a:off x="952476" y="3099643"/>
            <a:ext cx="274320" cy="294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20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920" dirty="0"/>
          </a:p>
        </p:txBody>
      </p:sp>
      <p:sp>
        <p:nvSpPr>
          <p:cNvPr id="53" name="Text 50"/>
          <p:cNvSpPr/>
          <p:nvPr/>
        </p:nvSpPr>
        <p:spPr>
          <a:xfrm>
            <a:off x="952476" y="4901654"/>
            <a:ext cx="274320" cy="294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20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innovacion\ppt_slides\sk_04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13514" y="219075"/>
            <a:ext cx="442167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Línea de Tiempo · De la Fundación a la Producción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9079777" y="247650"/>
            <a:ext cx="2589992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Innovación · Proyectos técnicos</a:t>
            </a:r>
            <a:endParaRPr lang="en-US" sz="840" dirty="0"/>
          </a:p>
        </p:txBody>
      </p:sp>
      <p:sp>
        <p:nvSpPr>
          <p:cNvPr id="5" name="Text 2"/>
          <p:cNvSpPr/>
          <p:nvPr/>
        </p:nvSpPr>
        <p:spPr>
          <a:xfrm>
            <a:off x="523862" y="5947767"/>
            <a:ext cx="15041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 May · criterios de negocio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3688613" y="857250"/>
            <a:ext cx="139642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Producción · en el DataCenter</a:t>
            </a:r>
            <a:endParaRPr lang="en-US" sz="720" dirty="0"/>
          </a:p>
        </p:txBody>
      </p:sp>
      <p:sp>
        <p:nvSpPr>
          <p:cNvPr id="7" name="Text 4"/>
          <p:cNvSpPr/>
          <p:nvPr/>
        </p:nvSpPr>
        <p:spPr>
          <a:xfrm>
            <a:off x="542911" y="857250"/>
            <a:ext cx="106214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Iniciación / Fundación</a:t>
            </a:r>
            <a:endParaRPr lang="en-US" sz="720" dirty="0"/>
          </a:p>
        </p:txBody>
      </p:sp>
      <p:sp>
        <p:nvSpPr>
          <p:cNvPr id="8" name="Text 5"/>
          <p:cNvSpPr/>
          <p:nvPr/>
        </p:nvSpPr>
        <p:spPr>
          <a:xfrm>
            <a:off x="523862" y="5842992"/>
            <a:ext cx="121974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↓ Inicio de registros</a:t>
            </a:r>
            <a:endParaRPr lang="en-US" sz="672" dirty="0"/>
          </a:p>
        </p:txBody>
      </p:sp>
      <p:sp>
        <p:nvSpPr>
          <p:cNvPr id="9" name="Text 6"/>
          <p:cNvSpPr/>
          <p:nvPr/>
        </p:nvSpPr>
        <p:spPr>
          <a:xfrm>
            <a:off x="4411081" y="6492032"/>
            <a:ext cx="696945" cy="20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Mapa Contactabilidad</a:t>
            </a:r>
            <a:endParaRPr lang="en-US" sz="672" dirty="0"/>
          </a:p>
        </p:txBody>
      </p:sp>
      <p:sp>
        <p:nvSpPr>
          <p:cNvPr id="10" name="Text 7"/>
          <p:cNvSpPr/>
          <p:nvPr/>
        </p:nvSpPr>
        <p:spPr>
          <a:xfrm>
            <a:off x="10835012" y="3141613"/>
            <a:ext cx="9414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Inicio 2S · 01 Jul</a:t>
            </a:r>
            <a:endParaRPr lang="en-US" sz="672" dirty="0"/>
          </a:p>
        </p:txBody>
      </p:sp>
      <p:sp>
        <p:nvSpPr>
          <p:cNvPr id="11" name="Text 8"/>
          <p:cNvSpPr/>
          <p:nvPr/>
        </p:nvSpPr>
        <p:spPr>
          <a:xfrm>
            <a:off x="7949449" y="6492032"/>
            <a:ext cx="74711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autoConciliación</a:t>
            </a:r>
            <a:endParaRPr lang="en-US" sz="672" dirty="0"/>
          </a:p>
        </p:txBody>
      </p:sp>
      <p:sp>
        <p:nvSpPr>
          <p:cNvPr id="12" name="Text 9"/>
          <p:cNvSpPr/>
          <p:nvPr/>
        </p:nvSpPr>
        <p:spPr>
          <a:xfrm>
            <a:off x="7949449" y="6492032"/>
            <a:ext cx="74711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autoConciliación</a:t>
            </a:r>
            <a:endParaRPr lang="en-US" sz="672" dirty="0"/>
          </a:p>
        </p:txBody>
      </p:sp>
      <p:sp>
        <p:nvSpPr>
          <p:cNvPr id="13" name="Text 10"/>
          <p:cNvSpPr/>
          <p:nvPr/>
        </p:nvSpPr>
        <p:spPr>
          <a:xfrm>
            <a:off x="5301948" y="6492032"/>
            <a:ext cx="69678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AutoReport_Ilio</a:t>
            </a:r>
            <a:endParaRPr lang="en-US" sz="672" dirty="0"/>
          </a:p>
        </p:txBody>
      </p:sp>
      <p:sp>
        <p:nvSpPr>
          <p:cNvPr id="14" name="Text 11"/>
          <p:cNvSpPr/>
          <p:nvPr/>
        </p:nvSpPr>
        <p:spPr>
          <a:xfrm>
            <a:off x="1784851" y="857250"/>
            <a:ext cx="7747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 Construcción</a:t>
            </a:r>
            <a:endParaRPr lang="en-US" sz="720" dirty="0"/>
          </a:p>
        </p:txBody>
      </p:sp>
      <p:sp>
        <p:nvSpPr>
          <p:cNvPr id="15" name="Text 12"/>
          <p:cNvSpPr/>
          <p:nvPr/>
        </p:nvSpPr>
        <p:spPr>
          <a:xfrm>
            <a:off x="2755633" y="857250"/>
            <a:ext cx="7346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Piloto / Prueba</a:t>
            </a:r>
            <a:endParaRPr lang="en-US" sz="720" dirty="0"/>
          </a:p>
        </p:txBody>
      </p:sp>
      <p:sp>
        <p:nvSpPr>
          <p:cNvPr id="16" name="Text 13"/>
          <p:cNvSpPr/>
          <p:nvPr/>
        </p:nvSpPr>
        <p:spPr>
          <a:xfrm>
            <a:off x="3492462" y="6492032"/>
            <a:ext cx="75215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autoComovamos</a:t>
            </a:r>
            <a:endParaRPr lang="en-US" sz="672" dirty="0"/>
          </a:p>
        </p:txBody>
      </p:sp>
      <p:sp>
        <p:nvSpPr>
          <p:cNvPr id="17" name="Text 14"/>
          <p:cNvSpPr/>
          <p:nvPr/>
        </p:nvSpPr>
        <p:spPr>
          <a:xfrm>
            <a:off x="3492462" y="6492032"/>
            <a:ext cx="75215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autoComovamos</a:t>
            </a:r>
            <a:endParaRPr lang="en-US" sz="672" dirty="0"/>
          </a:p>
        </p:txBody>
      </p:sp>
      <p:sp>
        <p:nvSpPr>
          <p:cNvPr id="18" name="Text 15"/>
          <p:cNvSpPr/>
          <p:nvPr/>
        </p:nvSpPr>
        <p:spPr>
          <a:xfrm>
            <a:off x="1487649" y="3429149"/>
            <a:ext cx="56253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FFB47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Hito · 23 Jun</a:t>
            </a:r>
            <a:endParaRPr lang="en-US" sz="696" dirty="0"/>
          </a:p>
        </p:txBody>
      </p:sp>
      <p:sp>
        <p:nvSpPr>
          <p:cNvPr id="19" name="Text 16"/>
          <p:cNvSpPr/>
          <p:nvPr/>
        </p:nvSpPr>
        <p:spPr>
          <a:xfrm>
            <a:off x="5069257" y="2725192"/>
            <a:ext cx="5432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FFB47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Hito · 08 Jul</a:t>
            </a:r>
            <a:endParaRPr lang="en-US" sz="696" dirty="0"/>
          </a:p>
        </p:txBody>
      </p:sp>
      <p:sp>
        <p:nvSpPr>
          <p:cNvPr id="20" name="Text 17"/>
          <p:cNvSpPr/>
          <p:nvPr/>
        </p:nvSpPr>
        <p:spPr>
          <a:xfrm>
            <a:off x="5961757" y="2682180"/>
            <a:ext cx="54171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FFB47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Hito · 09 Jul</a:t>
            </a:r>
            <a:endParaRPr lang="en-US" sz="696" dirty="0"/>
          </a:p>
        </p:txBody>
      </p:sp>
      <p:sp>
        <p:nvSpPr>
          <p:cNvPr id="21" name="Text 18"/>
          <p:cNvSpPr/>
          <p:nvPr/>
        </p:nvSpPr>
        <p:spPr>
          <a:xfrm>
            <a:off x="11098133" y="2215009"/>
            <a:ext cx="66255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Hoy · 21 Jul</a:t>
            </a:r>
            <a:endParaRPr lang="en-US" sz="672" dirty="0"/>
          </a:p>
        </p:txBody>
      </p:sp>
      <p:sp>
        <p:nvSpPr>
          <p:cNvPr id="22" name="Text 19"/>
          <p:cNvSpPr/>
          <p:nvPr/>
        </p:nvSpPr>
        <p:spPr>
          <a:xfrm>
            <a:off x="9793966" y="6492032"/>
            <a:ext cx="62138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notebooKevin</a:t>
            </a:r>
            <a:endParaRPr lang="en-US" sz="672" dirty="0"/>
          </a:p>
        </p:txBody>
      </p:sp>
      <p:sp>
        <p:nvSpPr>
          <p:cNvPr id="23" name="Text 20"/>
          <p:cNvSpPr/>
          <p:nvPr/>
        </p:nvSpPr>
        <p:spPr>
          <a:xfrm>
            <a:off x="945445" y="6492032"/>
            <a:ext cx="50101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DataCenter</a:t>
            </a:r>
            <a:endParaRPr lang="en-US" sz="672" dirty="0"/>
          </a:p>
        </p:txBody>
      </p:sp>
      <p:sp>
        <p:nvSpPr>
          <p:cNvPr id="24" name="Text 21"/>
          <p:cNvSpPr/>
          <p:nvPr/>
        </p:nvSpPr>
        <p:spPr>
          <a:xfrm>
            <a:off x="7174067" y="6492032"/>
            <a:ext cx="51600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Depuración</a:t>
            </a:r>
            <a:endParaRPr lang="en-US" sz="672" dirty="0"/>
          </a:p>
        </p:txBody>
      </p:sp>
      <p:sp>
        <p:nvSpPr>
          <p:cNvPr id="25" name="Text 22"/>
          <p:cNvSpPr/>
          <p:nvPr/>
        </p:nvSpPr>
        <p:spPr>
          <a:xfrm>
            <a:off x="8986077" y="6492032"/>
            <a:ext cx="4555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Auditor IA</a:t>
            </a:r>
            <a:endParaRPr lang="en-US" sz="672" dirty="0"/>
          </a:p>
        </p:txBody>
      </p:sp>
      <p:sp>
        <p:nvSpPr>
          <p:cNvPr id="26" name="Text 23"/>
          <p:cNvSpPr/>
          <p:nvPr/>
        </p:nvSpPr>
        <p:spPr>
          <a:xfrm>
            <a:off x="10718272" y="6492032"/>
            <a:ext cx="5544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CRM Twenty</a:t>
            </a:r>
            <a:endParaRPr lang="en-US" sz="672" dirty="0"/>
          </a:p>
        </p:txBody>
      </p:sp>
      <p:sp>
        <p:nvSpPr>
          <p:cNvPr id="27" name="Text 24"/>
          <p:cNvSpPr/>
          <p:nvPr/>
        </p:nvSpPr>
        <p:spPr>
          <a:xfrm>
            <a:off x="1851453" y="6492032"/>
            <a:ext cx="47072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OCM Vanti</a:t>
            </a:r>
            <a:endParaRPr lang="en-US" sz="672" dirty="0"/>
          </a:p>
        </p:txBody>
      </p:sp>
      <p:sp>
        <p:nvSpPr>
          <p:cNvPr id="28" name="Text 25"/>
          <p:cNvSpPr/>
          <p:nvPr/>
        </p:nvSpPr>
        <p:spPr>
          <a:xfrm>
            <a:off x="6330999" y="6492032"/>
            <a:ext cx="420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actiXuma</a:t>
            </a:r>
            <a:endParaRPr lang="en-US" sz="672" dirty="0"/>
          </a:p>
        </p:txBody>
      </p:sp>
      <p:sp>
        <p:nvSpPr>
          <p:cNvPr id="29" name="Text 26"/>
          <p:cNvSpPr/>
          <p:nvPr/>
        </p:nvSpPr>
        <p:spPr>
          <a:xfrm>
            <a:off x="2777495" y="6492032"/>
            <a:ext cx="400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autoGPS</a:t>
            </a:r>
            <a:endParaRPr lang="en-US" sz="672" dirty="0"/>
          </a:p>
        </p:txBody>
      </p:sp>
      <p:sp>
        <p:nvSpPr>
          <p:cNvPr id="30" name="Text 27"/>
          <p:cNvSpPr/>
          <p:nvPr/>
        </p:nvSpPr>
        <p:spPr>
          <a:xfrm>
            <a:off x="11368845" y="6014442"/>
            <a:ext cx="37560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 May</a:t>
            </a:r>
            <a:endParaRPr lang="en-US" sz="672" dirty="0"/>
          </a:p>
        </p:txBody>
      </p:sp>
      <p:sp>
        <p:nvSpPr>
          <p:cNvPr id="31" name="Text 28"/>
          <p:cNvSpPr/>
          <p:nvPr/>
        </p:nvSpPr>
        <p:spPr>
          <a:xfrm>
            <a:off x="11381197" y="4577953"/>
            <a:ext cx="3625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 Jun</a:t>
            </a:r>
            <a:endParaRPr lang="en-US" sz="672" dirty="0"/>
          </a:p>
        </p:txBody>
      </p:sp>
      <p:sp>
        <p:nvSpPr>
          <p:cNvPr id="32" name="Text 29"/>
          <p:cNvSpPr/>
          <p:nvPr/>
        </p:nvSpPr>
        <p:spPr>
          <a:xfrm>
            <a:off x="11371077" y="1705273"/>
            <a:ext cx="37323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 Ago</a:t>
            </a:r>
            <a:endParaRPr lang="en-US" sz="672" dirty="0"/>
          </a:p>
        </p:txBody>
      </p:sp>
      <p:sp>
        <p:nvSpPr>
          <p:cNvPr id="33" name="Text 30"/>
          <p:cNvSpPr/>
          <p:nvPr/>
        </p:nvSpPr>
        <p:spPr>
          <a:xfrm>
            <a:off x="15584583" y="914400"/>
            <a:ext cx="274320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2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✕</a:t>
            </a:r>
            <a:endParaRPr lang="en-US" sz="13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innovacion\ppt_slides\sk_05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6753" y="6147495"/>
            <a:ext cx="2131401" cy="4578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Arquitectura por schemas separados + particionadoExploración + carga histórica por checkpoint + sincronización incremental (watermark por ID)Orquestación por checkpoints y consolidación en cascadaMódulos por checkpoint, reglas de negocio 100 % parametrizadas en YAMLCruce geoespacial de base de clientes vs. logs de llamadasRPA/web scraping + pruebas automatizadas (TDD)Despliegue en VM con saneamiento de seguridad12 reglas Fase I + 4 cruces Fase II + informativos + cobertura11 pasos de validación secuencial, arquitectura modularSistema de puntaje: 100 pts, 10 criterios, 4 causales de rechazoPersona de IA con respuestas ancladas estrictamente a documentos fuenteEvaluación comparativa de opciones (Twenty vs. SuiteCRM/Odoo/EspoCRM)Ejecución del plan maestro por fases (16 fases documentadas)</a:t>
            </a:r>
            <a:endParaRPr lang="en-US" sz="720" dirty="0"/>
          </a:p>
        </p:txBody>
      </p:sp>
      <p:sp>
        <p:nvSpPr>
          <p:cNvPr id="4" name="Text 1"/>
          <p:cNvSpPr/>
          <p:nvPr/>
        </p:nvSpPr>
        <p:spPr>
          <a:xfrm>
            <a:off x="8876390" y="2595860"/>
            <a:ext cx="2480195" cy="33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Haz clic en un proyecto para ver su estado (explicado simple), tecnología y metodología</a:t>
            </a:r>
            <a:endParaRPr lang="en-US" sz="888" dirty="0"/>
          </a:p>
        </p:txBody>
      </p:sp>
      <p:sp>
        <p:nvSpPr>
          <p:cNvPr id="5" name="Text 2"/>
          <p:cNvSpPr/>
          <p:nvPr/>
        </p:nvSpPr>
        <p:spPr>
          <a:xfrm>
            <a:off x="866753" y="5233095"/>
            <a:ext cx="2102532" cy="559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WhisperOllama/QwenNotebookLMNginxDockerNetlifyMetabasesystemd</a:t>
            </a:r>
            <a:endParaRPr lang="en-US" sz="720" dirty="0"/>
          </a:p>
        </p:txBody>
      </p:sp>
      <p:sp>
        <p:nvSpPr>
          <p:cNvPr id="6" name="Text 3"/>
          <p:cNvSpPr/>
          <p:nvPr/>
        </p:nvSpPr>
        <p:spPr>
          <a:xfrm>
            <a:off x="3690994" y="2423220"/>
            <a:ext cx="368291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Todos (13) </a:t>
            </a:r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Fundación (4) Producción (5) Desarrollo (4)</a:t>
            </a:r>
            <a:endParaRPr lang="en-US" sz="816" dirty="0"/>
          </a:p>
        </p:txBody>
      </p:sp>
      <p:sp>
        <p:nvSpPr>
          <p:cNvPr id="7" name="Text 4"/>
          <p:cNvSpPr/>
          <p:nvPr/>
        </p:nvSpPr>
        <p:spPr>
          <a:xfrm>
            <a:off x="1213514" y="219075"/>
            <a:ext cx="4513011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de Proyectos · Portafolio Completo (1S + 2S)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866753" y="3651945"/>
            <a:ext cx="2008826" cy="333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PostgreSQLPostgreSQL 16Pandasopenpyxlpg_cron</a:t>
            </a:r>
            <a:endParaRPr lang="en-US" sz="720" dirty="0"/>
          </a:p>
        </p:txBody>
      </p:sp>
      <p:sp>
        <p:nvSpPr>
          <p:cNvPr id="9" name="Text 6"/>
          <p:cNvSpPr/>
          <p:nvPr/>
        </p:nvSpPr>
        <p:spPr>
          <a:xfrm>
            <a:off x="761981" y="1527870"/>
            <a:ext cx="218172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 fundación · 5 producción · 4 desarrollo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866753" y="4633020"/>
            <a:ext cx="1681329" cy="333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PlaywrightYAML (config-driven)PyYAML</a:t>
            </a:r>
            <a:endParaRPr lang="en-US" sz="720" dirty="0"/>
          </a:p>
        </p:txBody>
      </p:sp>
      <p:sp>
        <p:nvSpPr>
          <p:cNvPr id="11" name="Text 8"/>
          <p:cNvSpPr/>
          <p:nvPr/>
        </p:nvSpPr>
        <p:spPr>
          <a:xfrm>
            <a:off x="3562261" y="1527870"/>
            <a:ext cx="190833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OCM + Ilio + actiXuma + Depuración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9162821" y="1527870"/>
            <a:ext cx="183971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 enfoque por tipo de problema</a:t>
            </a:r>
            <a:endParaRPr lang="en-US" sz="864" dirty="0"/>
          </a:p>
        </p:txBody>
      </p:sp>
      <p:sp>
        <p:nvSpPr>
          <p:cNvPr id="13" name="Text 10"/>
          <p:cNvSpPr/>
          <p:nvPr/>
        </p:nvSpPr>
        <p:spPr>
          <a:xfrm>
            <a:off x="866753" y="2508945"/>
            <a:ext cx="179869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PythonPython 3.12TypeScript</a:t>
            </a:r>
            <a:endParaRPr lang="en-US" sz="720" dirty="0"/>
          </a:p>
        </p:txBody>
      </p:sp>
      <p:sp>
        <p:nvSpPr>
          <p:cNvPr id="14" name="Text 11"/>
          <p:cNvSpPr/>
          <p:nvPr/>
        </p:nvSpPr>
        <p:spPr>
          <a:xfrm>
            <a:off x="7010805" y="6064300"/>
            <a:ext cx="731651" cy="20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DataCenter · Implementación</a:t>
            </a:r>
            <a:endParaRPr lang="en-US" sz="672" dirty="0"/>
          </a:p>
        </p:txBody>
      </p:sp>
      <p:sp>
        <p:nvSpPr>
          <p:cNvPr id="15" name="Text 12"/>
          <p:cNvSpPr/>
          <p:nvPr/>
        </p:nvSpPr>
        <p:spPr>
          <a:xfrm>
            <a:off x="9550211" y="247650"/>
            <a:ext cx="2091332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Innovación · Ficha técnica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3562261" y="1028700"/>
            <a:ext cx="194572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Filas de datos gestionadas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866753" y="4252020"/>
            <a:ext cx="177361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ArcGIS APINominatimLeaflet</a:t>
            </a:r>
            <a:endParaRPr lang="en-US" sz="720" dirty="0"/>
          </a:p>
        </p:txBody>
      </p:sp>
      <p:sp>
        <p:nvSpPr>
          <p:cNvPr id="18" name="Text 15"/>
          <p:cNvSpPr/>
          <p:nvPr/>
        </p:nvSpPr>
        <p:spPr>
          <a:xfrm>
            <a:off x="866753" y="2889945"/>
            <a:ext cx="1910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ReactReact 18ViteElectron</a:t>
            </a:r>
            <a:endParaRPr lang="en-US" sz="720" dirty="0"/>
          </a:p>
        </p:txBody>
      </p:sp>
      <p:sp>
        <p:nvSpPr>
          <p:cNvPr id="19" name="Text 16"/>
          <p:cNvSpPr/>
          <p:nvPr/>
        </p:nvSpPr>
        <p:spPr>
          <a:xfrm>
            <a:off x="9162821" y="1028700"/>
            <a:ext cx="170735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Metodologías distintas</a:t>
            </a:r>
            <a:endParaRPr lang="en-US" sz="864" dirty="0"/>
          </a:p>
        </p:txBody>
      </p:sp>
      <p:sp>
        <p:nvSpPr>
          <p:cNvPr id="20" name="Text 17"/>
          <p:cNvSpPr/>
          <p:nvPr/>
        </p:nvSpPr>
        <p:spPr>
          <a:xfrm>
            <a:off x="6362541" y="1028700"/>
            <a:ext cx="159787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Tecnologías distintas</a:t>
            </a:r>
            <a:endParaRPr lang="en-US" sz="864" dirty="0"/>
          </a:p>
        </p:txBody>
      </p:sp>
      <p:sp>
        <p:nvSpPr>
          <p:cNvPr id="21" name="Text 18"/>
          <p:cNvSpPr/>
          <p:nvPr/>
        </p:nvSpPr>
        <p:spPr>
          <a:xfrm>
            <a:off x="866753" y="3270945"/>
            <a:ext cx="157011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FastAPINestJSpsycopg2</a:t>
            </a:r>
            <a:endParaRPr lang="en-US" sz="720" dirty="0"/>
          </a:p>
        </p:txBody>
      </p:sp>
      <p:sp>
        <p:nvSpPr>
          <p:cNvPr id="22" name="Text 19"/>
          <p:cNvSpPr/>
          <p:nvPr/>
        </p:nvSpPr>
        <p:spPr>
          <a:xfrm>
            <a:off x="781030" y="5061645"/>
            <a:ext cx="9682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IA &amp; Infraestructura</a:t>
            </a:r>
            <a:endParaRPr lang="en-US" sz="696" dirty="0"/>
          </a:p>
        </p:txBody>
      </p:sp>
      <p:sp>
        <p:nvSpPr>
          <p:cNvPr id="23" name="Text 20"/>
          <p:cNvSpPr/>
          <p:nvPr/>
        </p:nvSpPr>
        <p:spPr>
          <a:xfrm>
            <a:off x="6771531" y="3842147"/>
            <a:ext cx="714614" cy="20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Mapa Contactabilidad</a:t>
            </a:r>
            <a:endParaRPr lang="en-US" sz="672" dirty="0"/>
          </a:p>
        </p:txBody>
      </p:sp>
      <p:sp>
        <p:nvSpPr>
          <p:cNvPr id="24" name="Text 21"/>
          <p:cNvSpPr/>
          <p:nvPr/>
        </p:nvSpPr>
        <p:spPr>
          <a:xfrm>
            <a:off x="6362541" y="1527870"/>
            <a:ext cx="106151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 los 13 proyectos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6356085" y="6064300"/>
            <a:ext cx="554336" cy="20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DataCenter · Diseño</a:t>
            </a:r>
            <a:endParaRPr lang="en-US" sz="672" dirty="0"/>
          </a:p>
        </p:txBody>
      </p:sp>
      <p:sp>
        <p:nvSpPr>
          <p:cNvPr id="26" name="Text 23"/>
          <p:cNvSpPr/>
          <p:nvPr/>
        </p:nvSpPr>
        <p:spPr>
          <a:xfrm>
            <a:off x="761981" y="1028700"/>
            <a:ext cx="135193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Proyectos totales</a:t>
            </a:r>
            <a:endParaRPr lang="en-US" sz="864" dirty="0"/>
          </a:p>
        </p:txBody>
      </p:sp>
      <p:sp>
        <p:nvSpPr>
          <p:cNvPr id="27" name="Text 24"/>
          <p:cNvSpPr/>
          <p:nvPr/>
        </p:nvSpPr>
        <p:spPr>
          <a:xfrm>
            <a:off x="904852" y="5909370"/>
            <a:ext cx="121516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Metodologías (13)</a:t>
            </a:r>
            <a:endParaRPr lang="en-US" sz="792" dirty="0"/>
          </a:p>
        </p:txBody>
      </p:sp>
      <p:sp>
        <p:nvSpPr>
          <p:cNvPr id="28" name="Text 25"/>
          <p:cNvSpPr/>
          <p:nvPr/>
        </p:nvSpPr>
        <p:spPr>
          <a:xfrm>
            <a:off x="904852" y="2137470"/>
            <a:ext cx="111988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Tecnologías (29)</a:t>
            </a:r>
            <a:endParaRPr lang="en-US" sz="792" dirty="0"/>
          </a:p>
        </p:txBody>
      </p:sp>
      <p:sp>
        <p:nvSpPr>
          <p:cNvPr id="29" name="Text 26"/>
          <p:cNvSpPr/>
          <p:nvPr/>
        </p:nvSpPr>
        <p:spPr>
          <a:xfrm>
            <a:off x="3719568" y="2137470"/>
            <a:ext cx="120160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Red de Proyectos</a:t>
            </a:r>
            <a:endParaRPr lang="en-US" sz="1020" dirty="0"/>
          </a:p>
        </p:txBody>
      </p:sp>
      <p:sp>
        <p:nvSpPr>
          <p:cNvPr id="30" name="Text 27"/>
          <p:cNvSpPr/>
          <p:nvPr/>
        </p:nvSpPr>
        <p:spPr>
          <a:xfrm>
            <a:off x="7002838" y="4953298"/>
            <a:ext cx="7475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autoConciliación</a:t>
            </a:r>
            <a:endParaRPr lang="en-US" sz="672" dirty="0"/>
          </a:p>
        </p:txBody>
      </p:sp>
      <p:sp>
        <p:nvSpPr>
          <p:cNvPr id="31" name="Text 28"/>
          <p:cNvSpPr/>
          <p:nvPr/>
        </p:nvSpPr>
        <p:spPr>
          <a:xfrm>
            <a:off x="4800539" y="4953298"/>
            <a:ext cx="69221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AutoReport_Ilio</a:t>
            </a:r>
            <a:endParaRPr lang="en-US" sz="672" dirty="0"/>
          </a:p>
        </p:txBody>
      </p:sp>
      <p:sp>
        <p:nvSpPr>
          <p:cNvPr id="32" name="Text 29"/>
          <p:cNvSpPr/>
          <p:nvPr/>
        </p:nvSpPr>
        <p:spPr>
          <a:xfrm>
            <a:off x="781030" y="3099495"/>
            <a:ext cx="76683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Backend &amp; APIs</a:t>
            </a:r>
            <a:endParaRPr lang="en-US" sz="696" dirty="0"/>
          </a:p>
        </p:txBody>
      </p:sp>
      <p:sp>
        <p:nvSpPr>
          <p:cNvPr id="33" name="Text 30"/>
          <p:cNvSpPr/>
          <p:nvPr/>
        </p:nvSpPr>
        <p:spPr>
          <a:xfrm>
            <a:off x="781030" y="4461570"/>
            <a:ext cx="77329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Automatización</a:t>
            </a:r>
            <a:endParaRPr lang="en-US" sz="696" dirty="0"/>
          </a:p>
        </p:txBody>
      </p:sp>
      <p:sp>
        <p:nvSpPr>
          <p:cNvPr id="34" name="Text 31"/>
          <p:cNvSpPr/>
          <p:nvPr/>
        </p:nvSpPr>
        <p:spPr>
          <a:xfrm>
            <a:off x="5513392" y="3842147"/>
            <a:ext cx="7532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autoComovamos</a:t>
            </a:r>
            <a:endParaRPr lang="en-US" sz="672" dirty="0"/>
          </a:p>
        </p:txBody>
      </p:sp>
      <p:sp>
        <p:nvSpPr>
          <p:cNvPr id="35" name="Text 32"/>
          <p:cNvSpPr/>
          <p:nvPr/>
        </p:nvSpPr>
        <p:spPr>
          <a:xfrm>
            <a:off x="4836980" y="6064300"/>
            <a:ext cx="61933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notebooKevin</a:t>
            </a:r>
            <a:endParaRPr lang="en-US" sz="672" dirty="0"/>
          </a:p>
        </p:txBody>
      </p:sp>
      <p:sp>
        <p:nvSpPr>
          <p:cNvPr id="36" name="Text 33"/>
          <p:cNvSpPr/>
          <p:nvPr/>
        </p:nvSpPr>
        <p:spPr>
          <a:xfrm>
            <a:off x="781030" y="4080570"/>
            <a:ext cx="61617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Geoespacial</a:t>
            </a:r>
            <a:endParaRPr lang="en-US" sz="696" dirty="0"/>
          </a:p>
        </p:txBody>
      </p:sp>
      <p:sp>
        <p:nvSpPr>
          <p:cNvPr id="37" name="Text 34"/>
          <p:cNvSpPr/>
          <p:nvPr/>
        </p:nvSpPr>
        <p:spPr>
          <a:xfrm>
            <a:off x="781030" y="3480495"/>
            <a:ext cx="5565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&amp; BD</a:t>
            </a:r>
            <a:endParaRPr lang="en-US" sz="696" dirty="0"/>
          </a:p>
        </p:txBody>
      </p:sp>
      <p:sp>
        <p:nvSpPr>
          <p:cNvPr id="38" name="Text 35"/>
          <p:cNvSpPr/>
          <p:nvPr/>
        </p:nvSpPr>
        <p:spPr>
          <a:xfrm>
            <a:off x="3681469" y="4710410"/>
            <a:ext cx="7392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Producción</a:t>
            </a:r>
            <a:endParaRPr lang="en-US" sz="696" dirty="0"/>
          </a:p>
        </p:txBody>
      </p:sp>
      <p:sp>
        <p:nvSpPr>
          <p:cNvPr id="39" name="Text 36"/>
          <p:cNvSpPr/>
          <p:nvPr/>
        </p:nvSpPr>
        <p:spPr>
          <a:xfrm>
            <a:off x="3681469" y="5821412"/>
            <a:ext cx="7299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Desarrollo</a:t>
            </a:r>
            <a:endParaRPr lang="en-US" sz="696" dirty="0"/>
          </a:p>
        </p:txBody>
      </p:sp>
      <p:sp>
        <p:nvSpPr>
          <p:cNvPr id="40" name="Text 37"/>
          <p:cNvSpPr/>
          <p:nvPr/>
        </p:nvSpPr>
        <p:spPr>
          <a:xfrm>
            <a:off x="6372807" y="4953298"/>
            <a:ext cx="5208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Depuración</a:t>
            </a:r>
            <a:endParaRPr lang="en-US" sz="672" dirty="0"/>
          </a:p>
        </p:txBody>
      </p:sp>
      <p:sp>
        <p:nvSpPr>
          <p:cNvPr id="41" name="Text 38"/>
          <p:cNvSpPr/>
          <p:nvPr/>
        </p:nvSpPr>
        <p:spPr>
          <a:xfrm>
            <a:off x="4180288" y="6064300"/>
            <a:ext cx="44595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Auditor IA</a:t>
            </a:r>
            <a:endParaRPr lang="en-US" sz="672" dirty="0"/>
          </a:p>
        </p:txBody>
      </p:sp>
      <p:sp>
        <p:nvSpPr>
          <p:cNvPr id="42" name="Text 39"/>
          <p:cNvSpPr/>
          <p:nvPr/>
        </p:nvSpPr>
        <p:spPr>
          <a:xfrm>
            <a:off x="5611751" y="6064300"/>
            <a:ext cx="5565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CRM Twenty</a:t>
            </a:r>
            <a:endParaRPr lang="en-US" sz="672" dirty="0"/>
          </a:p>
        </p:txBody>
      </p:sp>
      <p:sp>
        <p:nvSpPr>
          <p:cNvPr id="43" name="Text 40"/>
          <p:cNvSpPr/>
          <p:nvPr/>
        </p:nvSpPr>
        <p:spPr>
          <a:xfrm>
            <a:off x="781030" y="2337495"/>
            <a:ext cx="51710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Lenguajes</a:t>
            </a:r>
            <a:endParaRPr lang="en-US" sz="696" dirty="0"/>
          </a:p>
        </p:txBody>
      </p:sp>
      <p:sp>
        <p:nvSpPr>
          <p:cNvPr id="44" name="Text 41"/>
          <p:cNvSpPr/>
          <p:nvPr/>
        </p:nvSpPr>
        <p:spPr>
          <a:xfrm>
            <a:off x="3681469" y="3599259"/>
            <a:ext cx="656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Fundación</a:t>
            </a:r>
            <a:endParaRPr lang="en-US" sz="696" dirty="0"/>
          </a:p>
        </p:txBody>
      </p:sp>
      <p:sp>
        <p:nvSpPr>
          <p:cNvPr id="45" name="Text 42"/>
          <p:cNvSpPr/>
          <p:nvPr/>
        </p:nvSpPr>
        <p:spPr>
          <a:xfrm>
            <a:off x="4170350" y="4953298"/>
            <a:ext cx="4658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OCM Vanti</a:t>
            </a:r>
            <a:endParaRPr lang="en-US" sz="672" dirty="0"/>
          </a:p>
        </p:txBody>
      </p:sp>
      <p:sp>
        <p:nvSpPr>
          <p:cNvPr id="46" name="Text 43"/>
          <p:cNvSpPr/>
          <p:nvPr/>
        </p:nvSpPr>
        <p:spPr>
          <a:xfrm>
            <a:off x="781030" y="2718495"/>
            <a:ext cx="4570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Frontend</a:t>
            </a:r>
            <a:endParaRPr lang="en-US" sz="696" dirty="0"/>
          </a:p>
        </p:txBody>
      </p:sp>
      <p:sp>
        <p:nvSpPr>
          <p:cNvPr id="47" name="Text 44"/>
          <p:cNvSpPr/>
          <p:nvPr/>
        </p:nvSpPr>
        <p:spPr>
          <a:xfrm>
            <a:off x="5676273" y="4953298"/>
            <a:ext cx="4275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actiXuma</a:t>
            </a:r>
            <a:endParaRPr lang="en-US" sz="672" dirty="0"/>
          </a:p>
        </p:txBody>
      </p:sp>
      <p:sp>
        <p:nvSpPr>
          <p:cNvPr id="48" name="Text 45"/>
          <p:cNvSpPr/>
          <p:nvPr/>
        </p:nvSpPr>
        <p:spPr>
          <a:xfrm>
            <a:off x="3562261" y="1171575"/>
            <a:ext cx="1123038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~24,1 M</a:t>
            </a:r>
            <a:endParaRPr lang="en-US" sz="2280" dirty="0"/>
          </a:p>
        </p:txBody>
      </p:sp>
      <p:sp>
        <p:nvSpPr>
          <p:cNvPr id="49" name="Text 46"/>
          <p:cNvSpPr/>
          <p:nvPr/>
        </p:nvSpPr>
        <p:spPr>
          <a:xfrm>
            <a:off x="4454899" y="3842147"/>
            <a:ext cx="39232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autoGPS</a:t>
            </a:r>
            <a:endParaRPr lang="en-US" sz="672" dirty="0"/>
          </a:p>
        </p:txBody>
      </p:sp>
      <p:sp>
        <p:nvSpPr>
          <p:cNvPr id="50" name="Text 47"/>
          <p:cNvSpPr/>
          <p:nvPr/>
        </p:nvSpPr>
        <p:spPr>
          <a:xfrm>
            <a:off x="761981" y="1171575"/>
            <a:ext cx="351937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2280" dirty="0"/>
          </a:p>
        </p:txBody>
      </p:sp>
      <p:sp>
        <p:nvSpPr>
          <p:cNvPr id="51" name="Text 48"/>
          <p:cNvSpPr/>
          <p:nvPr/>
        </p:nvSpPr>
        <p:spPr>
          <a:xfrm>
            <a:off x="6362541" y="1171575"/>
            <a:ext cx="377178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</a:t>
            </a:r>
            <a:endParaRPr lang="en-US" sz="2280" dirty="0"/>
          </a:p>
        </p:txBody>
      </p:sp>
      <p:sp>
        <p:nvSpPr>
          <p:cNvPr id="52" name="Text 49"/>
          <p:cNvSpPr/>
          <p:nvPr/>
        </p:nvSpPr>
        <p:spPr>
          <a:xfrm>
            <a:off x="9162821" y="1171575"/>
            <a:ext cx="351937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22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innovacion\ppt_slides\sk_06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1030" y="1524000"/>
            <a:ext cx="11197989" cy="34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patrón que se repite en casi todos los proyectos: alguien del equipo aporta el conocimiento operativo del negocio (qué datos importan, qué reglas aplican) y </a:t>
            </a:r>
            <a:pPr algn="l" indent="0" marL="0">
              <a:buNone/>
            </a:pPr>
            <a:r>
              <a:rPr lang="en-US" sz="9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Jeam Paul convierte ese conocimiento en el sistema real</a:t>
            </a:r>
            <a:pPr algn="l" indent="0" marL="0">
              <a:buNone/>
            </a:pPr>
            <a:r>
              <a:rPr lang="en-US" sz="9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— arquitectura, código, automatización, despliegue. La única excepción es la lógica OCM de seguimiento operativo, que Isaac construye y opera él mismo.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895328" y="3365302"/>
            <a:ext cx="3131245" cy="485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Isaac Álvarez:</a:t>
            </a:r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Responsable directo: construye y opera él mismo el análisis de la operación telefónica — la única iniciativa donde su rol no es solo de reglas de negocio.</a:t>
            </a:r>
            <a:endParaRPr lang="en-US" sz="888" dirty="0"/>
          </a:p>
        </p:txBody>
      </p:sp>
      <p:sp>
        <p:nvSpPr>
          <p:cNvPr id="5" name="Text 2"/>
          <p:cNvSpPr/>
          <p:nvPr/>
        </p:nvSpPr>
        <p:spPr>
          <a:xfrm>
            <a:off x="895328" y="4779615"/>
            <a:ext cx="3436657" cy="485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Jeam Paul construye:</a:t>
            </a:r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Construye el pipeline y ajusta las reglas por ingeniería inversa (prueba y error) para capturar mejoras del sistema que no estaban documentadas.</a:t>
            </a:r>
            <a:endParaRPr lang="en-US" sz="888" dirty="0"/>
          </a:p>
        </p:txBody>
      </p:sp>
      <p:sp>
        <p:nvSpPr>
          <p:cNvPr id="6" name="Text 3"/>
          <p:cNvSpPr/>
          <p:nvPr/>
        </p:nvSpPr>
        <p:spPr>
          <a:xfrm>
            <a:off x="4457589" y="3365302"/>
            <a:ext cx="3142446" cy="485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Isaac Álvarez:</a:t>
            </a:r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Redacta parte de la narrativa ejecutiva del canal: migración a PostgreSQL, evolución de Power BI, indicadores de productividad.</a:t>
            </a:r>
            <a:endParaRPr lang="en-US" sz="888" dirty="0"/>
          </a:p>
        </p:txBody>
      </p:sp>
      <p:sp>
        <p:nvSpPr>
          <p:cNvPr id="7" name="Text 4"/>
          <p:cNvSpPr/>
          <p:nvPr/>
        </p:nvSpPr>
        <p:spPr>
          <a:xfrm>
            <a:off x="8019849" y="3930104"/>
            <a:ext cx="3418830" cy="485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Jeam Paul construye:</a:t>
            </a:r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Construye el sistema de transcripción + evaluación con IA (Auditor de Llamadas) y el asistente de guiones (notebooKevin).</a:t>
            </a:r>
            <a:endParaRPr lang="en-US" sz="888" dirty="0"/>
          </a:p>
        </p:txBody>
      </p:sp>
      <p:sp>
        <p:nvSpPr>
          <p:cNvPr id="8" name="Text 5"/>
          <p:cNvSpPr/>
          <p:nvPr/>
        </p:nvSpPr>
        <p:spPr>
          <a:xfrm>
            <a:off x="8019849" y="3080593"/>
            <a:ext cx="3401793" cy="485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Jeam Paul construye:</a:t>
            </a:r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Construye el pipeline Python (12 reglas Fase I + 4 cruces Fase II), lo valida contra el proceso manual y lo despliega.</a:t>
            </a:r>
            <a:endParaRPr lang="en-US" sz="888" dirty="0"/>
          </a:p>
        </p:txBody>
      </p:sp>
      <p:sp>
        <p:nvSpPr>
          <p:cNvPr id="9" name="Text 6"/>
          <p:cNvSpPr/>
          <p:nvPr/>
        </p:nvSpPr>
        <p:spPr>
          <a:xfrm>
            <a:off x="895328" y="4214813"/>
            <a:ext cx="3445806" cy="485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Ing. Sindy Molina:</a:t>
            </a:r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Definió las reglas originales del proceso de posventa (Base Bienvenida CP + RS) — qué confirma una venta como válida.</a:t>
            </a:r>
            <a:endParaRPr lang="en-US" sz="888" dirty="0"/>
          </a:p>
        </p:txBody>
      </p:sp>
      <p:sp>
        <p:nvSpPr>
          <p:cNvPr id="10" name="Text 7"/>
          <p:cNvSpPr/>
          <p:nvPr/>
        </p:nvSpPr>
        <p:spPr>
          <a:xfrm>
            <a:off x="4457589" y="2911376"/>
            <a:ext cx="3261550" cy="485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Jeam Paul construye:</a:t>
            </a:r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Construye el orquestador de geocodificación (ArcGIS/Nominatim), 94,5 % de efectividad sobre 13.571 direcciones.</a:t>
            </a:r>
            <a:endParaRPr lang="en-US" sz="888" dirty="0"/>
          </a:p>
        </p:txBody>
      </p:sp>
      <p:sp>
        <p:nvSpPr>
          <p:cNvPr id="11" name="Text 8"/>
          <p:cNvSpPr/>
          <p:nvPr/>
        </p:nvSpPr>
        <p:spPr>
          <a:xfrm>
            <a:off x="8019849" y="3365302"/>
            <a:ext cx="3460793" cy="485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Kevin Guzmán:</a:t>
            </a:r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Aporta los guiones comerciales y los criterios de auditoría de calidad — qué se evalúa y cómo se califica una llamada.</a:t>
            </a:r>
            <a:endParaRPr lang="en-US" sz="888" dirty="0"/>
          </a:p>
        </p:txBody>
      </p:sp>
      <p:sp>
        <p:nvSpPr>
          <p:cNvPr id="12" name="Text 9"/>
          <p:cNvSpPr/>
          <p:nvPr/>
        </p:nvSpPr>
        <p:spPr>
          <a:xfrm>
            <a:off x="8019849" y="2515791"/>
            <a:ext cx="3430504" cy="485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Isaac Álvarez:</a:t>
            </a:r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Define las reglas de negocio: qué constituye un registro válido para depurar y las ventanas de tiempo aceptadas.</a:t>
            </a:r>
            <a:endParaRPr lang="en-US" sz="888" dirty="0"/>
          </a:p>
        </p:txBody>
      </p:sp>
      <p:sp>
        <p:nvSpPr>
          <p:cNvPr id="13" name="Text 10"/>
          <p:cNvSpPr/>
          <p:nvPr/>
        </p:nvSpPr>
        <p:spPr>
          <a:xfrm>
            <a:off x="4457589" y="3930104"/>
            <a:ext cx="3310296" cy="485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Jeam Paul construye:</a:t>
            </a:r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Construye la infraestructura de datos que esas narrativas describen (DataCenter, ETLs, automatizaciones).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895328" y="2515791"/>
            <a:ext cx="3375764" cy="31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Isaac Álvarez:</a:t>
            </a:r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Co-creador: aporta conocimiento operativo de troncales y llamadas, participa en la creación conjunta.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895328" y="2911376"/>
            <a:ext cx="3373240" cy="31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Jeam Paul construye:</a:t>
            </a:r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Construye el mapa interactivo (React + Vite + Leaflet), el cruce geoespacial y el despliegue.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4457589" y="2515791"/>
            <a:ext cx="3467103" cy="31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Isaac Álvarez:</a:t>
            </a:r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Entrega la base de direcciones a geocodificar — conocimiento de qué datos existen y dónde.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781030" y="4557713"/>
            <a:ext cx="497412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Fuente: PERFILES_Y_ATRIBUCION_INNOVACION.md (2026-07-12), confirmado directamente por Jeam Paul.</a:t>
            </a:r>
            <a:endParaRPr lang="en-US" sz="744" dirty="0"/>
          </a:p>
        </p:txBody>
      </p:sp>
      <p:sp>
        <p:nvSpPr>
          <p:cNvPr id="18" name="Text 15"/>
          <p:cNvSpPr/>
          <p:nvPr/>
        </p:nvSpPr>
        <p:spPr>
          <a:xfrm>
            <a:off x="895328" y="3930104"/>
            <a:ext cx="3255713" cy="31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Jeam Paul:</a:t>
            </a:r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No interviene en la construcción de esta lógica específica.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933427" y="1123950"/>
            <a:ext cx="4672816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Cómo se construye — conocimiento de negocio + construcción técnica</a:t>
            </a:r>
            <a:endParaRPr lang="en-US" sz="1020" dirty="0"/>
          </a:p>
        </p:txBody>
      </p:sp>
      <p:sp>
        <p:nvSpPr>
          <p:cNvPr id="20" name="Text 17"/>
          <p:cNvSpPr/>
          <p:nvPr/>
        </p:nvSpPr>
        <p:spPr>
          <a:xfrm>
            <a:off x="895328" y="3163491"/>
            <a:ext cx="301245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Lógica OCM — seguimiento operativo de llamadas</a:t>
            </a:r>
            <a:endParaRPr lang="en-US" sz="912" dirty="0"/>
          </a:p>
        </p:txBody>
      </p:sp>
      <p:sp>
        <p:nvSpPr>
          <p:cNvPr id="21" name="Text 18"/>
          <p:cNvSpPr/>
          <p:nvPr/>
        </p:nvSpPr>
        <p:spPr>
          <a:xfrm>
            <a:off x="1213514" y="219075"/>
            <a:ext cx="3883416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Trabajo Conjunto · Isaac Álvarez y Jeam Paul</a:t>
            </a:r>
            <a:endParaRPr lang="en-US" sz="1260" dirty="0"/>
          </a:p>
        </p:txBody>
      </p:sp>
      <p:sp>
        <p:nvSpPr>
          <p:cNvPr id="22" name="Text 19"/>
          <p:cNvSpPr/>
          <p:nvPr/>
        </p:nvSpPr>
        <p:spPr>
          <a:xfrm>
            <a:off x="8019849" y="2313980"/>
            <a:ext cx="211057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Depuración (pre-venta, Televentas)</a:t>
            </a:r>
            <a:endParaRPr lang="en-US" sz="912" dirty="0"/>
          </a:p>
        </p:txBody>
      </p:sp>
      <p:sp>
        <p:nvSpPr>
          <p:cNvPr id="23" name="Text 20"/>
          <p:cNvSpPr/>
          <p:nvPr/>
        </p:nvSpPr>
        <p:spPr>
          <a:xfrm>
            <a:off x="4457589" y="2313980"/>
            <a:ext cx="205220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autoGPS (geocodificación Bogotá)</a:t>
            </a:r>
            <a:endParaRPr lang="en-US" sz="912" dirty="0"/>
          </a:p>
        </p:txBody>
      </p:sp>
      <p:sp>
        <p:nvSpPr>
          <p:cNvPr id="24" name="Text 21"/>
          <p:cNvSpPr/>
          <p:nvPr/>
        </p:nvSpPr>
        <p:spPr>
          <a:xfrm>
            <a:off x="990575" y="3822502"/>
            <a:ext cx="3269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Ing. Sindy Molina </a:t>
            </a:r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Jeam Paul</a:t>
            </a:r>
            <a:endParaRPr lang="en-US" sz="720" dirty="0"/>
          </a:p>
        </p:txBody>
      </p:sp>
      <p:sp>
        <p:nvSpPr>
          <p:cNvPr id="25" name="Text 22"/>
          <p:cNvSpPr/>
          <p:nvPr/>
        </p:nvSpPr>
        <p:spPr>
          <a:xfrm>
            <a:off x="990575" y="2123480"/>
            <a:ext cx="3269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Isaac Álvarez Jeam Paul</a:t>
            </a:r>
            <a:endParaRPr lang="en-US" sz="720" dirty="0"/>
          </a:p>
        </p:txBody>
      </p:sp>
      <p:sp>
        <p:nvSpPr>
          <p:cNvPr id="26" name="Text 23"/>
          <p:cNvSpPr/>
          <p:nvPr/>
        </p:nvSpPr>
        <p:spPr>
          <a:xfrm>
            <a:off x="895328" y="2313980"/>
            <a:ext cx="152215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Mapa de Contactabilidad</a:t>
            </a:r>
            <a:endParaRPr lang="en-US" sz="912" dirty="0"/>
          </a:p>
        </p:txBody>
      </p:sp>
      <p:sp>
        <p:nvSpPr>
          <p:cNvPr id="27" name="Text 24"/>
          <p:cNvSpPr/>
          <p:nvPr/>
        </p:nvSpPr>
        <p:spPr>
          <a:xfrm>
            <a:off x="4552836" y="2123480"/>
            <a:ext cx="3269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Isaac Álvarez Jeam Paul</a:t>
            </a:r>
            <a:endParaRPr lang="en-US" sz="720" dirty="0"/>
          </a:p>
        </p:txBody>
      </p:sp>
      <p:sp>
        <p:nvSpPr>
          <p:cNvPr id="28" name="Text 25"/>
          <p:cNvSpPr/>
          <p:nvPr/>
        </p:nvSpPr>
        <p:spPr>
          <a:xfrm>
            <a:off x="8115097" y="2123480"/>
            <a:ext cx="3269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Isaac Álvarez Jeam Paul</a:t>
            </a:r>
            <a:endParaRPr lang="en-US" sz="720" dirty="0"/>
          </a:p>
        </p:txBody>
      </p:sp>
      <p:sp>
        <p:nvSpPr>
          <p:cNvPr id="29" name="Text 26"/>
          <p:cNvSpPr/>
          <p:nvPr/>
        </p:nvSpPr>
        <p:spPr>
          <a:xfrm>
            <a:off x="8115097" y="2972991"/>
            <a:ext cx="3269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Kevin Guzmán </a:t>
            </a:r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Jeam Paul</a:t>
            </a:r>
            <a:endParaRPr lang="en-US" sz="720" dirty="0"/>
          </a:p>
        </p:txBody>
      </p:sp>
      <p:sp>
        <p:nvSpPr>
          <p:cNvPr id="30" name="Text 27"/>
          <p:cNvSpPr/>
          <p:nvPr/>
        </p:nvSpPr>
        <p:spPr>
          <a:xfrm>
            <a:off x="10054279" y="247650"/>
            <a:ext cx="155701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Innovación · Equipo</a:t>
            </a:r>
            <a:endParaRPr lang="en-US" sz="8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innovacion\ppt_slides\sk_07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90575" y="5152132"/>
            <a:ext cx="10909773" cy="335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 se cumple este plan: 4 proyectos en pausa (autoGPS, autoConciliación, Auditor IA, CRM Twenty) vuelven a estar activos; el DataCenter pasa de sostener 3 servicios reales a las 8 fuentes planeadas; AutoReport_Ilio y el DataCenter cierran sus hallazgos de mayor prioridad; y arrancan las 6 líneas estratégicas que Isaac declaró para el canal.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571486" y="5870079"/>
            <a:ext cx="58536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Ejecución 2S </a:t>
            </a:r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Jeam Paul Arcón Solano · construcción </a:t>
            </a:r>
            <a:pPr algn="l" indent="0" marL="0">
              <a:buNone/>
            </a:pPr>
            <a:r>
              <a:rPr lang="en-US" sz="816" b="1" dirty="0">
                <a:solidFill>
                  <a:srgbClr val="1A7A3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Isaac Álvarez · líneas estratégicas y reglas OCM</a:t>
            </a:r>
            <a:endParaRPr lang="en-US" sz="816" dirty="0"/>
          </a:p>
        </p:txBody>
      </p:sp>
      <p:sp>
        <p:nvSpPr>
          <p:cNvPr id="5" name="Text 2"/>
          <p:cNvSpPr/>
          <p:nvPr/>
        </p:nvSpPr>
        <p:spPr>
          <a:xfrm>
            <a:off x="4635285" y="4380607"/>
            <a:ext cx="3293732" cy="307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DataCenter · Implementación:</a:t>
            </a:r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Cargar las 7 fuentes de datos que aún faltan </a:t>
            </a:r>
            <a:pPr algn="l" indent="0" marL="0">
              <a:buNone/>
            </a:pPr>
            <a:r>
              <a:rPr lang="en-US" sz="792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alta prioridad</a:t>
            </a:r>
            <a:endParaRPr lang="en-US" sz="864" dirty="0"/>
          </a:p>
        </p:txBody>
      </p:sp>
      <p:sp>
        <p:nvSpPr>
          <p:cNvPr id="6" name="Text 3"/>
          <p:cNvSpPr/>
          <p:nvPr/>
        </p:nvSpPr>
        <p:spPr>
          <a:xfrm>
            <a:off x="4635285" y="3259038"/>
            <a:ext cx="2945727" cy="307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AutoReport_Ilio:</a:t>
            </a:r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Resolver 3 hallazgos técnicos de alta prioridad </a:t>
            </a:r>
            <a:pPr algn="l" indent="0" marL="0">
              <a:buNone/>
            </a:pPr>
            <a:r>
              <a:rPr lang="en-US" sz="792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alta prioridad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4635285" y="2893516"/>
            <a:ext cx="3082341" cy="301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autoComovamos:</a:t>
            </a:r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Migrar la ejecución al DataCenter (hoy corre en local)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4635285" y="3649563"/>
            <a:ext cx="3176520" cy="301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actiXuma:</a:t>
            </a:r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Habilitar Retail/Tradicional y acceso fuera de la oficina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914377" y="3465612"/>
            <a:ext cx="2861170" cy="301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CRM Twenty:</a:t>
            </a:r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Reiniciar la máquina y levantar el stack (WSL/Docker)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914377" y="2893516"/>
            <a:ext cx="3178887" cy="301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autoConciliación:</a:t>
            </a:r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Procesar el corte pendiente desde el 30 Jun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4635285" y="4015085"/>
            <a:ext cx="3158694" cy="301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Depuración:</a:t>
            </a:r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Automatizar envío de correo y carga al motor OCM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914377" y="2527995"/>
            <a:ext cx="2825045" cy="301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autoGPS:</a:t>
            </a:r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Retomar el procesamiento masivo (quedó incompleto)</a:t>
            </a:r>
            <a:endParaRPr lang="en-US" sz="864" dirty="0"/>
          </a:p>
        </p:txBody>
      </p:sp>
      <p:sp>
        <p:nvSpPr>
          <p:cNvPr id="13" name="Text 10"/>
          <p:cNvSpPr/>
          <p:nvPr/>
        </p:nvSpPr>
        <p:spPr>
          <a:xfrm>
            <a:off x="4635285" y="2527995"/>
            <a:ext cx="2822205" cy="301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OCM Vanti:</a:t>
            </a:r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Generar dashboards y ajustar índices de consulta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914377" y="3259038"/>
            <a:ext cx="306577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Auditor IA:</a:t>
            </a:r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Ejecutar por primera vez la evaluación con IA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6343491" y="1527870"/>
            <a:ext cx="230666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Declaradas por Isaac Álvarez para el canal</a:t>
            </a:r>
            <a:endParaRPr lang="en-US" sz="864" dirty="0"/>
          </a:p>
        </p:txBody>
      </p:sp>
      <p:sp>
        <p:nvSpPr>
          <p:cNvPr id="16" name="Text 13"/>
          <p:cNvSpPr/>
          <p:nvPr/>
        </p:nvSpPr>
        <p:spPr>
          <a:xfrm>
            <a:off x="1213514" y="219075"/>
            <a:ext cx="3773303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y Puntos Abiertos · Segundo Semestre</a:t>
            </a:r>
            <a:endParaRPr lang="en-US" sz="1260" dirty="0"/>
          </a:p>
        </p:txBody>
      </p:sp>
      <p:sp>
        <p:nvSpPr>
          <p:cNvPr id="17" name="Text 14"/>
          <p:cNvSpPr/>
          <p:nvPr/>
        </p:nvSpPr>
        <p:spPr>
          <a:xfrm>
            <a:off x="8356341" y="2527995"/>
            <a:ext cx="217825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Tablero ejecutivo consolidado del canal</a:t>
            </a:r>
            <a:endParaRPr lang="en-US" sz="864" dirty="0"/>
          </a:p>
        </p:txBody>
      </p:sp>
      <p:sp>
        <p:nvSpPr>
          <p:cNvPr id="18" name="Text 15"/>
          <p:cNvSpPr/>
          <p:nvPr/>
        </p:nvSpPr>
        <p:spPr>
          <a:xfrm>
            <a:off x="8356341" y="3354288"/>
            <a:ext cx="229909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Gobierno de datos por estación/campaña</a:t>
            </a:r>
            <a:endParaRPr lang="en-US" sz="864" dirty="0"/>
          </a:p>
        </p:txBody>
      </p:sp>
      <p:sp>
        <p:nvSpPr>
          <p:cNvPr id="19" name="Text 16"/>
          <p:cNvSpPr/>
          <p:nvPr/>
        </p:nvSpPr>
        <p:spPr>
          <a:xfrm>
            <a:off x="761981" y="1527870"/>
            <a:ext cx="203611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Proyectos ya validados, hoy en pausa</a:t>
            </a:r>
            <a:endParaRPr lang="en-US" sz="864" dirty="0"/>
          </a:p>
        </p:txBody>
      </p:sp>
      <p:sp>
        <p:nvSpPr>
          <p:cNvPr id="20" name="Text 17"/>
          <p:cNvSpPr/>
          <p:nvPr/>
        </p:nvSpPr>
        <p:spPr>
          <a:xfrm>
            <a:off x="8356341" y="2941141"/>
            <a:ext cx="215269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Proyecciones mensuales y semestrales</a:t>
            </a:r>
            <a:endParaRPr lang="en-US" sz="864" dirty="0"/>
          </a:p>
        </p:txBody>
      </p:sp>
      <p:sp>
        <p:nvSpPr>
          <p:cNvPr id="21" name="Text 18"/>
          <p:cNvSpPr/>
          <p:nvPr/>
        </p:nvSpPr>
        <p:spPr>
          <a:xfrm>
            <a:off x="8356341" y="3560862"/>
            <a:ext cx="211357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Evaluación de nuevos CRM y troncales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8165846" y="2366070"/>
            <a:ext cx="160213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reporte_isaac.md · canal Televentas</a:t>
            </a:r>
            <a:endParaRPr lang="en-US" sz="720" dirty="0"/>
          </a:p>
        </p:txBody>
      </p:sp>
      <p:sp>
        <p:nvSpPr>
          <p:cNvPr id="23" name="Text 20"/>
          <p:cNvSpPr/>
          <p:nvPr/>
        </p:nvSpPr>
        <p:spPr>
          <a:xfrm>
            <a:off x="8356341" y="3147715"/>
            <a:ext cx="191496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Automatización de cargues y flujos</a:t>
            </a:r>
            <a:endParaRPr lang="en-US" sz="864" dirty="0"/>
          </a:p>
        </p:txBody>
      </p:sp>
      <p:sp>
        <p:nvSpPr>
          <p:cNvPr id="24" name="Text 21"/>
          <p:cNvSpPr/>
          <p:nvPr/>
        </p:nvSpPr>
        <p:spPr>
          <a:xfrm>
            <a:off x="8356341" y="2734568"/>
            <a:ext cx="183829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Reportería especializada por área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723882" y="2366070"/>
            <a:ext cx="14951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Proyectos ya validados, en pausa</a:t>
            </a:r>
            <a:endParaRPr lang="en-US" sz="720" dirty="0"/>
          </a:p>
        </p:txBody>
      </p:sp>
      <p:sp>
        <p:nvSpPr>
          <p:cNvPr id="26" name="Text 23"/>
          <p:cNvSpPr/>
          <p:nvPr/>
        </p:nvSpPr>
        <p:spPr>
          <a:xfrm>
            <a:off x="9134247" y="1527870"/>
            <a:ext cx="159661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AutoReport_Ilio y DataCenter</a:t>
            </a:r>
            <a:endParaRPr lang="en-US" sz="864" dirty="0"/>
          </a:p>
        </p:txBody>
      </p:sp>
      <p:sp>
        <p:nvSpPr>
          <p:cNvPr id="27" name="Text 24"/>
          <p:cNvSpPr/>
          <p:nvPr/>
        </p:nvSpPr>
        <p:spPr>
          <a:xfrm>
            <a:off x="3552736" y="1527870"/>
            <a:ext cx="147609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Ya activos o en producción</a:t>
            </a:r>
            <a:endParaRPr lang="en-US" sz="864" dirty="0"/>
          </a:p>
        </p:txBody>
      </p:sp>
      <p:sp>
        <p:nvSpPr>
          <p:cNvPr id="28" name="Text 25"/>
          <p:cNvSpPr/>
          <p:nvPr/>
        </p:nvSpPr>
        <p:spPr>
          <a:xfrm>
            <a:off x="4444790" y="2366070"/>
            <a:ext cx="11717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Ya activo o en producción</a:t>
            </a:r>
            <a:endParaRPr lang="en-US" sz="720" dirty="0"/>
          </a:p>
        </p:txBody>
      </p:sp>
      <p:sp>
        <p:nvSpPr>
          <p:cNvPr id="29" name="Text 26"/>
          <p:cNvSpPr/>
          <p:nvPr/>
        </p:nvSpPr>
        <p:spPr>
          <a:xfrm>
            <a:off x="9751719" y="247650"/>
            <a:ext cx="187773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Innovación · Estrategia</a:t>
            </a:r>
            <a:endParaRPr lang="en-US" sz="840" dirty="0"/>
          </a:p>
        </p:txBody>
      </p:sp>
      <p:sp>
        <p:nvSpPr>
          <p:cNvPr id="30" name="Text 27"/>
          <p:cNvSpPr/>
          <p:nvPr/>
        </p:nvSpPr>
        <p:spPr>
          <a:xfrm>
            <a:off x="8318242" y="2118420"/>
            <a:ext cx="1424033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Nuevas líneas (Isaac)</a:t>
            </a:r>
            <a:endParaRPr lang="en-US" sz="1020" dirty="0"/>
          </a:p>
        </p:txBody>
      </p:sp>
      <p:sp>
        <p:nvSpPr>
          <p:cNvPr id="31" name="Text 28"/>
          <p:cNvSpPr/>
          <p:nvPr/>
        </p:nvSpPr>
        <p:spPr>
          <a:xfrm>
            <a:off x="9296168" y="1028700"/>
            <a:ext cx="103674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Alta prioridad</a:t>
            </a:r>
            <a:endParaRPr lang="en-US" sz="864" dirty="0"/>
          </a:p>
        </p:txBody>
      </p:sp>
      <p:sp>
        <p:nvSpPr>
          <p:cNvPr id="32" name="Text 29"/>
          <p:cNvSpPr/>
          <p:nvPr/>
        </p:nvSpPr>
        <p:spPr>
          <a:xfrm>
            <a:off x="6505412" y="1028700"/>
            <a:ext cx="101261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Líneas nuevas</a:t>
            </a:r>
            <a:endParaRPr lang="en-US" sz="864" dirty="0"/>
          </a:p>
        </p:txBody>
      </p:sp>
      <p:sp>
        <p:nvSpPr>
          <p:cNvPr id="33" name="Text 30"/>
          <p:cNvSpPr/>
          <p:nvPr/>
        </p:nvSpPr>
        <p:spPr>
          <a:xfrm>
            <a:off x="923902" y="1028700"/>
            <a:ext cx="74537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retomar</a:t>
            </a:r>
            <a:endParaRPr lang="en-US" sz="864" dirty="0"/>
          </a:p>
        </p:txBody>
      </p:sp>
      <p:sp>
        <p:nvSpPr>
          <p:cNvPr id="34" name="Text 31"/>
          <p:cNvSpPr/>
          <p:nvPr/>
        </p:nvSpPr>
        <p:spPr>
          <a:xfrm>
            <a:off x="3714657" y="1028700"/>
            <a:ext cx="69426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ajustar</a:t>
            </a:r>
            <a:endParaRPr lang="en-US" sz="864" dirty="0"/>
          </a:p>
        </p:txBody>
      </p:sp>
      <p:sp>
        <p:nvSpPr>
          <p:cNvPr id="35" name="Text 32"/>
          <p:cNvSpPr/>
          <p:nvPr/>
        </p:nvSpPr>
        <p:spPr>
          <a:xfrm>
            <a:off x="876278" y="2118420"/>
            <a:ext cx="616491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Retomar</a:t>
            </a:r>
            <a:endParaRPr lang="en-US" sz="1020" dirty="0"/>
          </a:p>
        </p:txBody>
      </p:sp>
      <p:sp>
        <p:nvSpPr>
          <p:cNvPr id="36" name="Text 33"/>
          <p:cNvSpPr/>
          <p:nvPr/>
        </p:nvSpPr>
        <p:spPr>
          <a:xfrm>
            <a:off x="4597186" y="2118420"/>
            <a:ext cx="512215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Ajustar</a:t>
            </a:r>
            <a:endParaRPr lang="en-US" sz="1020" dirty="0"/>
          </a:p>
        </p:txBody>
      </p:sp>
      <p:sp>
        <p:nvSpPr>
          <p:cNvPr id="37" name="Text 34"/>
          <p:cNvSpPr/>
          <p:nvPr/>
        </p:nvSpPr>
        <p:spPr>
          <a:xfrm>
            <a:off x="761981" y="1171575"/>
            <a:ext cx="274320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2280" dirty="0"/>
          </a:p>
        </p:txBody>
      </p:sp>
      <p:sp>
        <p:nvSpPr>
          <p:cNvPr id="38" name="Text 35"/>
          <p:cNvSpPr/>
          <p:nvPr/>
        </p:nvSpPr>
        <p:spPr>
          <a:xfrm>
            <a:off x="3552736" y="1171575"/>
            <a:ext cx="274320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2280" dirty="0"/>
          </a:p>
        </p:txBody>
      </p:sp>
      <p:sp>
        <p:nvSpPr>
          <p:cNvPr id="39" name="Text 36"/>
          <p:cNvSpPr/>
          <p:nvPr/>
        </p:nvSpPr>
        <p:spPr>
          <a:xfrm>
            <a:off x="6343491" y="1171575"/>
            <a:ext cx="274320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2280" dirty="0"/>
          </a:p>
        </p:txBody>
      </p:sp>
      <p:sp>
        <p:nvSpPr>
          <p:cNvPr id="40" name="Text 37"/>
          <p:cNvSpPr/>
          <p:nvPr/>
        </p:nvSpPr>
        <p:spPr>
          <a:xfrm>
            <a:off x="9134247" y="1171575"/>
            <a:ext cx="274320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22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innovacion\ppt_slides\sk_08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09665" y="3291929"/>
            <a:ext cx="6852974" cy="60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4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sistemas corren hoy en producción real dentro del DataCenter (OCM Vanti, AutoReport_Ilio, actiXuma) — más 2 automatizaciones diarias reales que aún operan en local (Depuración activa; autoConciliación validada, en pausa desde el 30 Jun).</a:t>
            </a:r>
            <a:endParaRPr lang="en-US" sz="1140" dirty="0"/>
          </a:p>
        </p:txBody>
      </p:sp>
      <p:sp>
        <p:nvSpPr>
          <p:cNvPr id="4" name="Text 1"/>
          <p:cNvSpPr/>
          <p:nvPr/>
        </p:nvSpPr>
        <p:spPr>
          <a:xfrm>
            <a:off x="1409665" y="4569768"/>
            <a:ext cx="7111217" cy="60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4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2S: retomar 4 proyectos validados en pausa, cerrar los hallazgos de mayor prioridad (36 de Ilio, 7 fuentes que faltan en el DataCenter), y arrancar las 6 líneas estratégicas que Isaac Álvarez declaró para el canal.</a:t>
            </a:r>
            <a:endParaRPr lang="en-US" sz="1140" dirty="0"/>
          </a:p>
        </p:txBody>
      </p:sp>
      <p:sp>
        <p:nvSpPr>
          <p:cNvPr id="5" name="Text 2"/>
          <p:cNvSpPr/>
          <p:nvPr/>
        </p:nvSpPr>
        <p:spPr>
          <a:xfrm>
            <a:off x="1409665" y="2548086"/>
            <a:ext cx="6929958" cy="60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4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 de 13 proyectos nacieron en el 1S — pero </a:t>
            </a:r>
            <a:pPr algn="l" indent="0" marL="0">
              <a:buNone/>
            </a:pPr>
            <a:r>
              <a:rPr lang="en-US" sz="11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solo OCM Vanti llegó a producción real dentro del propio semestre</a:t>
            </a:r>
            <a:pPr algn="l" indent="0" marL="0">
              <a:buNone/>
            </a:pPr>
            <a:r>
              <a:rPr lang="en-US" sz="114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(23 Jun); el resto de las automatizaciones de producción se consolidaron ya en julio (2S).</a:t>
            </a:r>
            <a:endParaRPr lang="en-US" sz="1140" dirty="0"/>
          </a:p>
        </p:txBody>
      </p:sp>
      <p:sp>
        <p:nvSpPr>
          <p:cNvPr id="6" name="Text 3"/>
          <p:cNvSpPr/>
          <p:nvPr/>
        </p:nvSpPr>
        <p:spPr>
          <a:xfrm>
            <a:off x="1409665" y="4035772"/>
            <a:ext cx="7013095" cy="392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4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 proyectos en desarrollo activo: implementación del DataCenter (ya aloja esos 3 servicios reales), Auditor de Llamadas con IA, notebooKevin y CRM Twenty.</a:t>
            </a:r>
            <a:endParaRPr lang="en-US" sz="1140" dirty="0"/>
          </a:p>
        </p:txBody>
      </p:sp>
      <p:sp>
        <p:nvSpPr>
          <p:cNvPr id="7" name="Text 4"/>
          <p:cNvSpPr/>
          <p:nvPr/>
        </p:nvSpPr>
        <p:spPr>
          <a:xfrm>
            <a:off x="952476" y="953839"/>
            <a:ext cx="6155387" cy="1090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Innovación como Base del Canal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952476" y="687139"/>
            <a:ext cx="1776613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Cierre del Informe</a:t>
            </a:r>
            <a:endParaRPr lang="en-US" sz="93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2026-07-21T22:13:42Z</dcterms:created>
  <dcterms:modified xsi:type="dcterms:W3CDTF">2026-07-21T22:13:42Z</dcterms:modified>
</cp:coreProperties>
</file>