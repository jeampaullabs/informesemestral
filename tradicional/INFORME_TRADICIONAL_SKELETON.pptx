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radicional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6278" y="6217741"/>
            <a:ext cx="11101917" cy="29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Semestral: El canal Tradicional concentró un esfuerzo récord de formación en marzo (148 visitas y 93 asesores capacitados). Con la posterior consolidación y el empalme con Retail, el canal centró su capacidad y cobertura promedio del semestre alcanzó un 7,5%, identificando grandes oportunidades de crecimiento en los aliados de mayor volumen.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6314917" y="5417790"/>
            <a:ext cx="42530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concentración de visitas en marzo estableció la base operativa del canal en el primer semestre.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723882" y="5417790"/>
            <a:ext cx="272140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Asesores únicos con al menos una visita registrada en el mes.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6362541" y="1421160"/>
            <a:ext cx="25007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promedio del canal Tradicional en el semestre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781030" y="1421160"/>
            <a:ext cx="207492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formación acumulada (Ene - Jun 2026)</a:t>
            </a:r>
            <a:endParaRPr lang="en-US" sz="696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381731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de Visitas de Formación · 1S 2026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876278" y="2049810"/>
            <a:ext cx="1920011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Visitas, asesores y PDV por mes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6467313" y="2049810"/>
            <a:ext cx="175058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 visitas por mes</a:t>
            </a:r>
            <a:endParaRPr lang="en-US" sz="936" dirty="0"/>
          </a:p>
        </p:txBody>
      </p:sp>
      <p:sp>
        <p:nvSpPr>
          <p:cNvPr id="11" name="Text 8"/>
          <p:cNvSpPr/>
          <p:nvPr/>
        </p:nvSpPr>
        <p:spPr>
          <a:xfrm>
            <a:off x="781030" y="1009650"/>
            <a:ext cx="13372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Realizadas 1S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2361894" y="2364135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Capacitados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362541" y="1009650"/>
            <a:ext cx="141235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PDV Activo</a:t>
            </a:r>
            <a:endParaRPr lang="en-US" sz="780" dirty="0"/>
          </a:p>
        </p:txBody>
      </p:sp>
      <p:sp>
        <p:nvSpPr>
          <p:cNvPr id="14" name="Text 11"/>
          <p:cNvSpPr/>
          <p:nvPr/>
        </p:nvSpPr>
        <p:spPr>
          <a:xfrm>
            <a:off x="4438773" y="2364135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723882" y="3897660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1S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1564573" y="2364135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362541" y="1143000"/>
            <a:ext cx="574686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7,5 %</a:t>
            </a:r>
            <a:endParaRPr lang="en-US" sz="1740" dirty="0"/>
          </a:p>
        </p:txBody>
      </p:sp>
      <p:sp>
        <p:nvSpPr>
          <p:cNvPr id="18" name="Text 15"/>
          <p:cNvSpPr/>
          <p:nvPr/>
        </p:nvSpPr>
        <p:spPr>
          <a:xfrm>
            <a:off x="723882" y="2364135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23882" y="2583210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723882" y="2802285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723882" y="3021360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564573" y="3021360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23882" y="3240435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723882" y="3459510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23882" y="3678585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1564573" y="3897660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463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2361894" y="3897660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388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4438773" y="3897660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165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781030" y="1143000"/>
            <a:ext cx="427502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463</a:t>
            </a:r>
            <a:endParaRPr lang="en-US" sz="1740" dirty="0"/>
          </a:p>
        </p:txBody>
      </p:sp>
      <p:sp>
        <p:nvSpPr>
          <p:cNvPr id="30" name="Text 27"/>
          <p:cNvSpPr/>
          <p:nvPr/>
        </p:nvSpPr>
        <p:spPr>
          <a:xfrm>
            <a:off x="6440849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80" dirty="0"/>
          </a:p>
        </p:txBody>
      </p:sp>
      <p:sp>
        <p:nvSpPr>
          <p:cNvPr id="31" name="Text 28"/>
          <p:cNvSpPr/>
          <p:nvPr/>
        </p:nvSpPr>
        <p:spPr>
          <a:xfrm>
            <a:off x="6443373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80" dirty="0"/>
          </a:p>
        </p:txBody>
      </p:sp>
      <p:sp>
        <p:nvSpPr>
          <p:cNvPr id="32" name="Text 29"/>
          <p:cNvSpPr/>
          <p:nvPr/>
        </p:nvSpPr>
        <p:spPr>
          <a:xfrm>
            <a:off x="6438798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11270632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780" dirty="0"/>
          </a:p>
        </p:txBody>
      </p:sp>
      <p:sp>
        <p:nvSpPr>
          <p:cNvPr id="34" name="Text 31"/>
          <p:cNvSpPr/>
          <p:nvPr/>
        </p:nvSpPr>
        <p:spPr>
          <a:xfrm>
            <a:off x="645220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6423811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80" dirty="0"/>
          </a:p>
        </p:txBody>
      </p:sp>
      <p:sp>
        <p:nvSpPr>
          <p:cNvPr id="36" name="Text 33"/>
          <p:cNvSpPr/>
          <p:nvPr/>
        </p:nvSpPr>
        <p:spPr>
          <a:xfrm>
            <a:off x="6450787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80" dirty="0"/>
          </a:p>
        </p:txBody>
      </p:sp>
      <p:sp>
        <p:nvSpPr>
          <p:cNvPr id="37" name="Text 34"/>
          <p:cNvSpPr/>
          <p:nvPr/>
        </p:nvSpPr>
        <p:spPr>
          <a:xfrm>
            <a:off x="1564573" y="2583210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864" dirty="0"/>
          </a:p>
        </p:txBody>
      </p:sp>
      <p:sp>
        <p:nvSpPr>
          <p:cNvPr id="38" name="Text 35"/>
          <p:cNvSpPr/>
          <p:nvPr/>
        </p:nvSpPr>
        <p:spPr>
          <a:xfrm>
            <a:off x="2361894" y="2583210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864" dirty="0"/>
          </a:p>
        </p:txBody>
      </p:sp>
      <p:sp>
        <p:nvSpPr>
          <p:cNvPr id="39" name="Text 36"/>
          <p:cNvSpPr/>
          <p:nvPr/>
        </p:nvSpPr>
        <p:spPr>
          <a:xfrm>
            <a:off x="4438773" y="2583210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64" dirty="0"/>
          </a:p>
        </p:txBody>
      </p:sp>
      <p:sp>
        <p:nvSpPr>
          <p:cNvPr id="40" name="Text 37"/>
          <p:cNvSpPr/>
          <p:nvPr/>
        </p:nvSpPr>
        <p:spPr>
          <a:xfrm>
            <a:off x="1564573" y="2802285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41" name="Text 38"/>
          <p:cNvSpPr/>
          <p:nvPr/>
        </p:nvSpPr>
        <p:spPr>
          <a:xfrm>
            <a:off x="2361894" y="2802285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4438773" y="2802285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864" dirty="0"/>
          </a:p>
        </p:txBody>
      </p:sp>
      <p:sp>
        <p:nvSpPr>
          <p:cNvPr id="43" name="Text 40"/>
          <p:cNvSpPr/>
          <p:nvPr/>
        </p:nvSpPr>
        <p:spPr>
          <a:xfrm>
            <a:off x="2361894" y="3021360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64" dirty="0"/>
          </a:p>
        </p:txBody>
      </p:sp>
      <p:sp>
        <p:nvSpPr>
          <p:cNvPr id="44" name="Text 41"/>
          <p:cNvSpPr/>
          <p:nvPr/>
        </p:nvSpPr>
        <p:spPr>
          <a:xfrm>
            <a:off x="4438773" y="3021360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64" dirty="0"/>
          </a:p>
        </p:txBody>
      </p:sp>
      <p:sp>
        <p:nvSpPr>
          <p:cNvPr id="45" name="Text 42"/>
          <p:cNvSpPr/>
          <p:nvPr/>
        </p:nvSpPr>
        <p:spPr>
          <a:xfrm>
            <a:off x="1564573" y="3240435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46" name="Text 43"/>
          <p:cNvSpPr/>
          <p:nvPr/>
        </p:nvSpPr>
        <p:spPr>
          <a:xfrm>
            <a:off x="2361894" y="3240435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47" name="Text 44"/>
          <p:cNvSpPr/>
          <p:nvPr/>
        </p:nvSpPr>
        <p:spPr>
          <a:xfrm>
            <a:off x="4438773" y="3240435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864" dirty="0"/>
          </a:p>
        </p:txBody>
      </p:sp>
      <p:sp>
        <p:nvSpPr>
          <p:cNvPr id="48" name="Text 45"/>
          <p:cNvSpPr/>
          <p:nvPr/>
        </p:nvSpPr>
        <p:spPr>
          <a:xfrm>
            <a:off x="1564573" y="3459510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864" dirty="0"/>
          </a:p>
        </p:txBody>
      </p:sp>
      <p:sp>
        <p:nvSpPr>
          <p:cNvPr id="49" name="Text 46"/>
          <p:cNvSpPr/>
          <p:nvPr/>
        </p:nvSpPr>
        <p:spPr>
          <a:xfrm>
            <a:off x="2361894" y="3459510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64" dirty="0"/>
          </a:p>
        </p:txBody>
      </p:sp>
      <p:sp>
        <p:nvSpPr>
          <p:cNvPr id="50" name="Text 47"/>
          <p:cNvSpPr/>
          <p:nvPr/>
        </p:nvSpPr>
        <p:spPr>
          <a:xfrm>
            <a:off x="4438773" y="3459510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864" dirty="0"/>
          </a:p>
        </p:txBody>
      </p:sp>
      <p:sp>
        <p:nvSpPr>
          <p:cNvPr id="51" name="Text 48"/>
          <p:cNvSpPr/>
          <p:nvPr/>
        </p:nvSpPr>
        <p:spPr>
          <a:xfrm>
            <a:off x="1564573" y="3678585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64" dirty="0"/>
          </a:p>
        </p:txBody>
      </p:sp>
      <p:sp>
        <p:nvSpPr>
          <p:cNvPr id="52" name="Text 49"/>
          <p:cNvSpPr/>
          <p:nvPr/>
        </p:nvSpPr>
        <p:spPr>
          <a:xfrm>
            <a:off x="2361894" y="3678585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864" dirty="0"/>
          </a:p>
        </p:txBody>
      </p:sp>
      <p:sp>
        <p:nvSpPr>
          <p:cNvPr id="53" name="Text 50"/>
          <p:cNvSpPr/>
          <p:nvPr/>
        </p:nvSpPr>
        <p:spPr>
          <a:xfrm>
            <a:off x="4438773" y="3678585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64" dirty="0"/>
          </a:p>
        </p:txBody>
      </p:sp>
      <p:sp>
        <p:nvSpPr>
          <p:cNvPr id="54" name="Text 51"/>
          <p:cNvSpPr/>
          <p:nvPr/>
        </p:nvSpPr>
        <p:spPr>
          <a:xfrm>
            <a:off x="11324742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11325057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56" name="Text 53"/>
          <p:cNvSpPr/>
          <p:nvPr/>
        </p:nvSpPr>
        <p:spPr>
          <a:xfrm>
            <a:off x="113250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57" name="Text 54"/>
          <p:cNvSpPr/>
          <p:nvPr/>
        </p:nvSpPr>
        <p:spPr>
          <a:xfrm>
            <a:off x="11327108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780" dirty="0"/>
          </a:p>
        </p:txBody>
      </p:sp>
      <p:sp>
        <p:nvSpPr>
          <p:cNvPr id="58" name="Text 55"/>
          <p:cNvSpPr/>
          <p:nvPr/>
        </p:nvSpPr>
        <p:spPr>
          <a:xfrm>
            <a:off x="11329001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radicional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4832" y="1238250"/>
            <a:ext cx="35114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que financiaron en conciliaciones vs capacitados (cruzados por cédula).</a:t>
            </a:r>
            <a:endParaRPr lang="en-US" sz="696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534374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por Aliado y Distribución Geográfica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57229" y="1028700"/>
            <a:ext cx="293200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por Aliado (Ene-Jun 2026)</a:t>
            </a:r>
            <a:endParaRPr lang="en-US" sz="888" dirty="0"/>
          </a:p>
        </p:txBody>
      </p:sp>
      <p:sp>
        <p:nvSpPr>
          <p:cNvPr id="6" name="Text 3"/>
          <p:cNvSpPr/>
          <p:nvPr/>
        </p:nvSpPr>
        <p:spPr>
          <a:xfrm>
            <a:off x="7707616" y="1028700"/>
            <a:ext cx="176146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por Mes (Semestre)</a:t>
            </a:r>
            <a:endParaRPr lang="en-US" sz="888" dirty="0"/>
          </a:p>
        </p:txBody>
      </p:sp>
      <p:sp>
        <p:nvSpPr>
          <p:cNvPr id="7" name="Text 4"/>
          <p:cNvSpPr/>
          <p:nvPr/>
        </p:nvSpPr>
        <p:spPr>
          <a:xfrm>
            <a:off x="7707616" y="3505200"/>
            <a:ext cx="144627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Municipios Visitados (1S)</a:t>
            </a:r>
            <a:endParaRPr lang="en-US" sz="888" dirty="0"/>
          </a:p>
        </p:txBody>
      </p:sp>
      <p:sp>
        <p:nvSpPr>
          <p:cNvPr id="8" name="Text 5"/>
          <p:cNvSpPr/>
          <p:nvPr/>
        </p:nvSpPr>
        <p:spPr>
          <a:xfrm>
            <a:off x="4006204" y="34706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 La Boyaca</a:t>
            </a:r>
            <a:endParaRPr lang="en-US" sz="720" dirty="0"/>
          </a:p>
        </p:txBody>
      </p:sp>
      <p:sp>
        <p:nvSpPr>
          <p:cNvPr id="9" name="Text 6"/>
          <p:cNvSpPr/>
          <p:nvPr/>
        </p:nvSpPr>
        <p:spPr>
          <a:xfrm>
            <a:off x="4006204" y="42136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Del Tropico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7555220" y="39433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Occidente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704832" y="27277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M&amp;F Super Gas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704832" y="34706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Carrera Motos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704832" y="42136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Planeta Motos</a:t>
            </a:r>
            <a:endParaRPr lang="en-US" sz="720" dirty="0"/>
          </a:p>
        </p:txBody>
      </p:sp>
      <p:sp>
        <p:nvSpPr>
          <p:cNvPr id="14" name="Text 11"/>
          <p:cNvSpPr/>
          <p:nvPr/>
        </p:nvSpPr>
        <p:spPr>
          <a:xfrm>
            <a:off x="4006204" y="19847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Del Sur</a:t>
            </a:r>
            <a:endParaRPr lang="en-US" sz="720" dirty="0"/>
          </a:p>
        </p:txBody>
      </p:sp>
      <p:sp>
        <p:nvSpPr>
          <p:cNvPr id="15" name="Text 12"/>
          <p:cNvSpPr/>
          <p:nvPr/>
        </p:nvSpPr>
        <p:spPr>
          <a:xfrm>
            <a:off x="7555220" y="37623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Centro</a:t>
            </a:r>
            <a:endParaRPr lang="en-US" sz="672" dirty="0"/>
          </a:p>
        </p:txBody>
      </p:sp>
      <p:sp>
        <p:nvSpPr>
          <p:cNvPr id="16" name="Text 13"/>
          <p:cNvSpPr/>
          <p:nvPr/>
        </p:nvSpPr>
        <p:spPr>
          <a:xfrm>
            <a:off x="704832" y="17371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Multintegral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704832" y="24800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Grupo Merpes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04832" y="32230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Electroferia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4006204" y="37183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Punto Center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704832" y="22324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Maximuebles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4006204" y="24800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 Market</a:t>
            </a:r>
            <a:endParaRPr lang="en-US" sz="720" dirty="0"/>
          </a:p>
        </p:txBody>
      </p:sp>
      <p:sp>
        <p:nvSpPr>
          <p:cNvPr id="22" name="Text 19"/>
          <p:cNvSpPr/>
          <p:nvPr/>
        </p:nvSpPr>
        <p:spPr>
          <a:xfrm>
            <a:off x="4006204" y="29753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Distrimotos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9587715" y="430530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Bucaramanga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704832" y="37183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Casa Bajaj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4006204" y="22324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Distritodo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4006204" y="27277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Credimovil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7555220" y="412432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Sur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9587715" y="412432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Facatativá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4006204" y="32230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Grupo Uma</a:t>
            </a:r>
            <a:endParaRPr lang="en-US" sz="720" dirty="0"/>
          </a:p>
        </p:txBody>
      </p:sp>
      <p:sp>
        <p:nvSpPr>
          <p:cNvPr id="30" name="Text 27"/>
          <p:cNvSpPr/>
          <p:nvPr/>
        </p:nvSpPr>
        <p:spPr>
          <a:xfrm>
            <a:off x="9587715" y="44862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Zipaquirá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704832" y="29753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 Red</a:t>
            </a:r>
            <a:endParaRPr lang="en-US" sz="720" dirty="0"/>
          </a:p>
        </p:txBody>
      </p:sp>
      <p:sp>
        <p:nvSpPr>
          <p:cNvPr id="32" name="Text 29"/>
          <p:cNvSpPr/>
          <p:nvPr/>
        </p:nvSpPr>
        <p:spPr>
          <a:xfrm>
            <a:off x="704832" y="39659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Dismerca</a:t>
            </a:r>
            <a:endParaRPr lang="en-US" sz="720" dirty="0"/>
          </a:p>
        </p:txBody>
      </p:sp>
      <p:sp>
        <p:nvSpPr>
          <p:cNvPr id="33" name="Text 30"/>
          <p:cNvSpPr/>
          <p:nvPr/>
        </p:nvSpPr>
        <p:spPr>
          <a:xfrm>
            <a:off x="4006204" y="39659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Janmotor</a:t>
            </a:r>
            <a:endParaRPr lang="en-US" sz="720" dirty="0"/>
          </a:p>
        </p:txBody>
      </p:sp>
      <p:sp>
        <p:nvSpPr>
          <p:cNvPr id="34" name="Text 31"/>
          <p:cNvSpPr/>
          <p:nvPr/>
        </p:nvSpPr>
        <p:spPr>
          <a:xfrm>
            <a:off x="7555220" y="300990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Prom. 1S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9587715" y="37623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Sogamoso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9587715" y="39433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Mosquera</a:t>
            </a:r>
            <a:endParaRPr lang="en-US" sz="672" dirty="0"/>
          </a:p>
        </p:txBody>
      </p:sp>
      <p:sp>
        <p:nvSpPr>
          <p:cNvPr id="37" name="Text 34"/>
          <p:cNvSpPr/>
          <p:nvPr/>
        </p:nvSpPr>
        <p:spPr>
          <a:xfrm>
            <a:off x="704832" y="19847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Diverxa</a:t>
            </a:r>
            <a:endParaRPr lang="en-US" sz="720" dirty="0"/>
          </a:p>
        </p:txBody>
      </p:sp>
      <p:sp>
        <p:nvSpPr>
          <p:cNvPr id="38" name="Text 35"/>
          <p:cNvSpPr/>
          <p:nvPr/>
        </p:nvSpPr>
        <p:spPr>
          <a:xfrm>
            <a:off x="8283129" y="1276350"/>
            <a:ext cx="82745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704832" y="1489472"/>
            <a:ext cx="15568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4006204" y="1489472"/>
            <a:ext cx="15568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9087287" y="1276350"/>
            <a:ext cx="7998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Capac.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10643313" y="1276350"/>
            <a:ext cx="84355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 %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7555220" y="44862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Soacha</a:t>
            </a:r>
            <a:endParaRPr lang="en-US" sz="672" dirty="0"/>
          </a:p>
        </p:txBody>
      </p:sp>
      <p:sp>
        <p:nvSpPr>
          <p:cNvPr id="44" name="Text 41"/>
          <p:cNvSpPr/>
          <p:nvPr/>
        </p:nvSpPr>
        <p:spPr>
          <a:xfrm>
            <a:off x="9587715" y="46672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Madrid</a:t>
            </a:r>
            <a:endParaRPr lang="en-US" sz="672" dirty="0"/>
          </a:p>
        </p:txBody>
      </p:sp>
      <p:sp>
        <p:nvSpPr>
          <p:cNvPr id="45" name="Text 42"/>
          <p:cNvSpPr/>
          <p:nvPr/>
        </p:nvSpPr>
        <p:spPr>
          <a:xfrm>
            <a:off x="4006204" y="17371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Asyco</a:t>
            </a:r>
            <a:endParaRPr lang="en-US" sz="720" dirty="0"/>
          </a:p>
        </p:txBody>
      </p:sp>
      <p:sp>
        <p:nvSpPr>
          <p:cNvPr id="46" name="Text 43"/>
          <p:cNvSpPr/>
          <p:nvPr/>
        </p:nvSpPr>
        <p:spPr>
          <a:xfrm>
            <a:off x="9863727" y="1276350"/>
            <a:ext cx="80415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Ambos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10643313" y="151447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15,0%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10643313" y="200977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10643313" y="275272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10643313" y="300037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10,8%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7555220" y="430530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Tunja</a:t>
            </a:r>
            <a:endParaRPr lang="en-US" sz="672" dirty="0"/>
          </a:p>
        </p:txBody>
      </p:sp>
      <p:sp>
        <p:nvSpPr>
          <p:cNvPr id="52" name="Text 49"/>
          <p:cNvSpPr/>
          <p:nvPr/>
        </p:nvSpPr>
        <p:spPr>
          <a:xfrm>
            <a:off x="2203068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Fin.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2643886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3075252" y="1489472"/>
            <a:ext cx="77855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5504440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Fin.</a:t>
            </a:r>
            <a:endParaRPr lang="en-US" sz="888" dirty="0"/>
          </a:p>
        </p:txBody>
      </p:sp>
      <p:sp>
        <p:nvSpPr>
          <p:cNvPr id="56" name="Text 53"/>
          <p:cNvSpPr/>
          <p:nvPr/>
        </p:nvSpPr>
        <p:spPr>
          <a:xfrm>
            <a:off x="5945258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</a:t>
            </a:r>
            <a:endParaRPr lang="en-US" sz="888" dirty="0"/>
          </a:p>
        </p:txBody>
      </p:sp>
      <p:sp>
        <p:nvSpPr>
          <p:cNvPr id="57" name="Text 54"/>
          <p:cNvSpPr/>
          <p:nvPr/>
        </p:nvSpPr>
        <p:spPr>
          <a:xfrm>
            <a:off x="6376624" y="1489472"/>
            <a:ext cx="77855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</a:t>
            </a:r>
            <a:endParaRPr lang="en-US" sz="888" dirty="0"/>
          </a:p>
        </p:txBody>
      </p:sp>
      <p:sp>
        <p:nvSpPr>
          <p:cNvPr id="58" name="Text 55"/>
          <p:cNvSpPr/>
          <p:nvPr/>
        </p:nvSpPr>
        <p:spPr>
          <a:xfrm>
            <a:off x="6376624" y="24705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10643313" y="176212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10643313" y="225742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7,9%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10643313" y="250507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8,3%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7555220" y="46672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Chía</a:t>
            </a:r>
            <a:endParaRPr lang="en-US" sz="672" dirty="0"/>
          </a:p>
        </p:txBody>
      </p:sp>
      <p:sp>
        <p:nvSpPr>
          <p:cNvPr id="63" name="Text 60"/>
          <p:cNvSpPr/>
          <p:nvPr/>
        </p:nvSpPr>
        <p:spPr>
          <a:xfrm>
            <a:off x="3075252" y="19752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53%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3075252" y="22228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3075252" y="24705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21%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3075252" y="27181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69%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3075252" y="32134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78%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3075252" y="34611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43%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3075252" y="39564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25%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3075252" y="42040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25%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6376624" y="19752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67%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6376624" y="22228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50%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6376624" y="39564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6376624" y="42040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7555220" y="1276350"/>
            <a:ext cx="77457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7555220" y="152400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20" dirty="0"/>
          </a:p>
        </p:txBody>
      </p:sp>
      <p:sp>
        <p:nvSpPr>
          <p:cNvPr id="77" name="Text 74"/>
          <p:cNvSpPr/>
          <p:nvPr/>
        </p:nvSpPr>
        <p:spPr>
          <a:xfrm>
            <a:off x="7555220" y="177165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20" dirty="0"/>
          </a:p>
        </p:txBody>
      </p:sp>
      <p:sp>
        <p:nvSpPr>
          <p:cNvPr id="78" name="Text 75"/>
          <p:cNvSpPr/>
          <p:nvPr/>
        </p:nvSpPr>
        <p:spPr>
          <a:xfrm>
            <a:off x="7555220" y="201930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7555220" y="226695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7555220" y="251460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7555220" y="276225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8965222" y="37623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209</a:t>
            </a:r>
            <a:endParaRPr lang="en-US" sz="672" dirty="0"/>
          </a:p>
        </p:txBody>
      </p:sp>
      <p:sp>
        <p:nvSpPr>
          <p:cNvPr id="83" name="Text 80"/>
          <p:cNvSpPr/>
          <p:nvPr/>
        </p:nvSpPr>
        <p:spPr>
          <a:xfrm>
            <a:off x="8965222" y="39433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117</a:t>
            </a:r>
            <a:endParaRPr lang="en-US" sz="672" dirty="0"/>
          </a:p>
        </p:txBody>
      </p:sp>
      <p:sp>
        <p:nvSpPr>
          <p:cNvPr id="84" name="Text 81"/>
          <p:cNvSpPr/>
          <p:nvPr/>
        </p:nvSpPr>
        <p:spPr>
          <a:xfrm>
            <a:off x="2203068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</a:t>
            </a:r>
            <a:endParaRPr lang="en-US" sz="720" dirty="0"/>
          </a:p>
        </p:txBody>
      </p:sp>
      <p:sp>
        <p:nvSpPr>
          <p:cNvPr id="85" name="Text 82"/>
          <p:cNvSpPr/>
          <p:nvPr/>
        </p:nvSpPr>
        <p:spPr>
          <a:xfrm>
            <a:off x="2643886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3075252" y="17275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816" dirty="0"/>
          </a:p>
        </p:txBody>
      </p:sp>
      <p:sp>
        <p:nvSpPr>
          <p:cNvPr id="87" name="Text 84"/>
          <p:cNvSpPr/>
          <p:nvPr/>
        </p:nvSpPr>
        <p:spPr>
          <a:xfrm>
            <a:off x="2203068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2643886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2203068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2643886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20" dirty="0"/>
          </a:p>
        </p:txBody>
      </p:sp>
      <p:sp>
        <p:nvSpPr>
          <p:cNvPr id="91" name="Text 88"/>
          <p:cNvSpPr/>
          <p:nvPr/>
        </p:nvSpPr>
        <p:spPr>
          <a:xfrm>
            <a:off x="2203068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720" dirty="0"/>
          </a:p>
        </p:txBody>
      </p:sp>
      <p:sp>
        <p:nvSpPr>
          <p:cNvPr id="92" name="Text 89"/>
          <p:cNvSpPr/>
          <p:nvPr/>
        </p:nvSpPr>
        <p:spPr>
          <a:xfrm>
            <a:off x="2203068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93" name="Text 90"/>
          <p:cNvSpPr/>
          <p:nvPr/>
        </p:nvSpPr>
        <p:spPr>
          <a:xfrm>
            <a:off x="2643886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94" name="Text 91"/>
          <p:cNvSpPr/>
          <p:nvPr/>
        </p:nvSpPr>
        <p:spPr>
          <a:xfrm>
            <a:off x="2203068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20" dirty="0"/>
          </a:p>
        </p:txBody>
      </p:sp>
      <p:sp>
        <p:nvSpPr>
          <p:cNvPr id="95" name="Text 92"/>
          <p:cNvSpPr/>
          <p:nvPr/>
        </p:nvSpPr>
        <p:spPr>
          <a:xfrm>
            <a:off x="2643886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720" dirty="0"/>
          </a:p>
        </p:txBody>
      </p:sp>
      <p:sp>
        <p:nvSpPr>
          <p:cNvPr id="96" name="Text 93"/>
          <p:cNvSpPr/>
          <p:nvPr/>
        </p:nvSpPr>
        <p:spPr>
          <a:xfrm>
            <a:off x="3075252" y="29658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2643886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720" dirty="0"/>
          </a:p>
        </p:txBody>
      </p:sp>
      <p:sp>
        <p:nvSpPr>
          <p:cNvPr id="98" name="Text 95"/>
          <p:cNvSpPr/>
          <p:nvPr/>
        </p:nvSpPr>
        <p:spPr>
          <a:xfrm>
            <a:off x="2643886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720" dirty="0"/>
          </a:p>
        </p:txBody>
      </p:sp>
      <p:sp>
        <p:nvSpPr>
          <p:cNvPr id="99" name="Text 96"/>
          <p:cNvSpPr/>
          <p:nvPr/>
        </p:nvSpPr>
        <p:spPr>
          <a:xfrm>
            <a:off x="3075252" y="37087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6376624" y="17275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5945258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720" dirty="0"/>
          </a:p>
        </p:txBody>
      </p:sp>
      <p:sp>
        <p:nvSpPr>
          <p:cNvPr id="102" name="Text 99"/>
          <p:cNvSpPr/>
          <p:nvPr/>
        </p:nvSpPr>
        <p:spPr>
          <a:xfrm>
            <a:off x="5945258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720" dirty="0"/>
          </a:p>
        </p:txBody>
      </p:sp>
      <p:sp>
        <p:nvSpPr>
          <p:cNvPr id="103" name="Text 100"/>
          <p:cNvSpPr/>
          <p:nvPr/>
        </p:nvSpPr>
        <p:spPr>
          <a:xfrm>
            <a:off x="6376624" y="27181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6376624" y="29658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5945258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720" dirty="0"/>
          </a:p>
        </p:txBody>
      </p:sp>
      <p:sp>
        <p:nvSpPr>
          <p:cNvPr id="106" name="Text 103"/>
          <p:cNvSpPr/>
          <p:nvPr/>
        </p:nvSpPr>
        <p:spPr>
          <a:xfrm>
            <a:off x="6376624" y="32134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6376624" y="34611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6376624" y="37087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9" name="Text 106"/>
          <p:cNvSpPr/>
          <p:nvPr/>
        </p:nvSpPr>
        <p:spPr>
          <a:xfrm>
            <a:off x="8283129" y="152400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</a:t>
            </a:r>
            <a:endParaRPr lang="en-US" sz="720" dirty="0"/>
          </a:p>
        </p:txBody>
      </p:sp>
      <p:sp>
        <p:nvSpPr>
          <p:cNvPr id="110" name="Text 107"/>
          <p:cNvSpPr/>
          <p:nvPr/>
        </p:nvSpPr>
        <p:spPr>
          <a:xfrm>
            <a:off x="9087287" y="152400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720" dirty="0"/>
          </a:p>
        </p:txBody>
      </p:sp>
      <p:sp>
        <p:nvSpPr>
          <p:cNvPr id="111" name="Text 108"/>
          <p:cNvSpPr/>
          <p:nvPr/>
        </p:nvSpPr>
        <p:spPr>
          <a:xfrm>
            <a:off x="8283129" y="177165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720" dirty="0"/>
          </a:p>
        </p:txBody>
      </p:sp>
      <p:sp>
        <p:nvSpPr>
          <p:cNvPr id="112" name="Text 109"/>
          <p:cNvSpPr/>
          <p:nvPr/>
        </p:nvSpPr>
        <p:spPr>
          <a:xfrm>
            <a:off x="9087287" y="177165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720" dirty="0"/>
          </a:p>
        </p:txBody>
      </p:sp>
      <p:sp>
        <p:nvSpPr>
          <p:cNvPr id="113" name="Text 110"/>
          <p:cNvSpPr/>
          <p:nvPr/>
        </p:nvSpPr>
        <p:spPr>
          <a:xfrm>
            <a:off x="8283129" y="201930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20" dirty="0"/>
          </a:p>
        </p:txBody>
      </p:sp>
      <p:sp>
        <p:nvSpPr>
          <p:cNvPr id="114" name="Text 111"/>
          <p:cNvSpPr/>
          <p:nvPr/>
        </p:nvSpPr>
        <p:spPr>
          <a:xfrm>
            <a:off x="9087287" y="201930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720" dirty="0"/>
          </a:p>
        </p:txBody>
      </p:sp>
      <p:sp>
        <p:nvSpPr>
          <p:cNvPr id="115" name="Text 112"/>
          <p:cNvSpPr/>
          <p:nvPr/>
        </p:nvSpPr>
        <p:spPr>
          <a:xfrm>
            <a:off x="8283129" y="226695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16" name="Text 113"/>
          <p:cNvSpPr/>
          <p:nvPr/>
        </p:nvSpPr>
        <p:spPr>
          <a:xfrm>
            <a:off x="9087287" y="226695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17" name="Text 114"/>
          <p:cNvSpPr/>
          <p:nvPr/>
        </p:nvSpPr>
        <p:spPr>
          <a:xfrm>
            <a:off x="8283129" y="251460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720" dirty="0"/>
          </a:p>
        </p:txBody>
      </p:sp>
      <p:sp>
        <p:nvSpPr>
          <p:cNvPr id="118" name="Text 115"/>
          <p:cNvSpPr/>
          <p:nvPr/>
        </p:nvSpPr>
        <p:spPr>
          <a:xfrm>
            <a:off x="9087287" y="251460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720" dirty="0"/>
          </a:p>
        </p:txBody>
      </p:sp>
      <p:sp>
        <p:nvSpPr>
          <p:cNvPr id="119" name="Text 116"/>
          <p:cNvSpPr/>
          <p:nvPr/>
        </p:nvSpPr>
        <p:spPr>
          <a:xfrm>
            <a:off x="8283129" y="276225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720" dirty="0"/>
          </a:p>
        </p:txBody>
      </p:sp>
      <p:sp>
        <p:nvSpPr>
          <p:cNvPr id="120" name="Text 117"/>
          <p:cNvSpPr/>
          <p:nvPr/>
        </p:nvSpPr>
        <p:spPr>
          <a:xfrm>
            <a:off x="9087287" y="276225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720" dirty="0"/>
          </a:p>
        </p:txBody>
      </p:sp>
      <p:sp>
        <p:nvSpPr>
          <p:cNvPr id="121" name="Text 118"/>
          <p:cNvSpPr/>
          <p:nvPr/>
        </p:nvSpPr>
        <p:spPr>
          <a:xfrm>
            <a:off x="8283129" y="300990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</a:t>
            </a:r>
            <a:endParaRPr lang="en-US" sz="720" dirty="0"/>
          </a:p>
        </p:txBody>
      </p:sp>
      <p:sp>
        <p:nvSpPr>
          <p:cNvPr id="122" name="Text 119"/>
          <p:cNvSpPr/>
          <p:nvPr/>
        </p:nvSpPr>
        <p:spPr>
          <a:xfrm>
            <a:off x="9087287" y="300990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720" dirty="0"/>
          </a:p>
        </p:txBody>
      </p:sp>
      <p:sp>
        <p:nvSpPr>
          <p:cNvPr id="123" name="Text 120"/>
          <p:cNvSpPr/>
          <p:nvPr/>
        </p:nvSpPr>
        <p:spPr>
          <a:xfrm>
            <a:off x="8965222" y="412432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24" name="Text 121"/>
          <p:cNvSpPr/>
          <p:nvPr/>
        </p:nvSpPr>
        <p:spPr>
          <a:xfrm>
            <a:off x="8965222" y="430530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25" name="Text 122"/>
          <p:cNvSpPr/>
          <p:nvPr/>
        </p:nvSpPr>
        <p:spPr>
          <a:xfrm>
            <a:off x="8965222" y="44862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672" dirty="0"/>
          </a:p>
        </p:txBody>
      </p:sp>
      <p:sp>
        <p:nvSpPr>
          <p:cNvPr id="126" name="Text 123"/>
          <p:cNvSpPr/>
          <p:nvPr/>
        </p:nvSpPr>
        <p:spPr>
          <a:xfrm>
            <a:off x="8965222" y="46672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72" dirty="0"/>
          </a:p>
        </p:txBody>
      </p:sp>
      <p:sp>
        <p:nvSpPr>
          <p:cNvPr id="127" name="Text 124"/>
          <p:cNvSpPr/>
          <p:nvPr/>
        </p:nvSpPr>
        <p:spPr>
          <a:xfrm>
            <a:off x="10997717" y="37623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72" dirty="0"/>
          </a:p>
        </p:txBody>
      </p:sp>
      <p:sp>
        <p:nvSpPr>
          <p:cNvPr id="128" name="Text 125"/>
          <p:cNvSpPr/>
          <p:nvPr/>
        </p:nvSpPr>
        <p:spPr>
          <a:xfrm>
            <a:off x="2643886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29" name="Text 126"/>
          <p:cNvSpPr/>
          <p:nvPr/>
        </p:nvSpPr>
        <p:spPr>
          <a:xfrm>
            <a:off x="2203068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30" name="Text 127"/>
          <p:cNvSpPr/>
          <p:nvPr/>
        </p:nvSpPr>
        <p:spPr>
          <a:xfrm>
            <a:off x="2203068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20" dirty="0"/>
          </a:p>
        </p:txBody>
      </p:sp>
      <p:sp>
        <p:nvSpPr>
          <p:cNvPr id="131" name="Text 128"/>
          <p:cNvSpPr/>
          <p:nvPr/>
        </p:nvSpPr>
        <p:spPr>
          <a:xfrm>
            <a:off x="2203068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32" name="Text 129"/>
          <p:cNvSpPr/>
          <p:nvPr/>
        </p:nvSpPr>
        <p:spPr>
          <a:xfrm>
            <a:off x="2643886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33" name="Text 130"/>
          <p:cNvSpPr/>
          <p:nvPr/>
        </p:nvSpPr>
        <p:spPr>
          <a:xfrm>
            <a:off x="2203068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34" name="Text 131"/>
          <p:cNvSpPr/>
          <p:nvPr/>
        </p:nvSpPr>
        <p:spPr>
          <a:xfrm>
            <a:off x="2643886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35" name="Text 132"/>
          <p:cNvSpPr/>
          <p:nvPr/>
        </p:nvSpPr>
        <p:spPr>
          <a:xfrm>
            <a:off x="2203068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36" name="Text 133"/>
          <p:cNvSpPr/>
          <p:nvPr/>
        </p:nvSpPr>
        <p:spPr>
          <a:xfrm>
            <a:off x="2643886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37" name="Text 134"/>
          <p:cNvSpPr/>
          <p:nvPr/>
        </p:nvSpPr>
        <p:spPr>
          <a:xfrm>
            <a:off x="5504440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38" name="Text 135"/>
          <p:cNvSpPr/>
          <p:nvPr/>
        </p:nvSpPr>
        <p:spPr>
          <a:xfrm>
            <a:off x="5945258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39" name="Text 136"/>
          <p:cNvSpPr/>
          <p:nvPr/>
        </p:nvSpPr>
        <p:spPr>
          <a:xfrm>
            <a:off x="5504440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40" name="Text 137"/>
          <p:cNvSpPr/>
          <p:nvPr/>
        </p:nvSpPr>
        <p:spPr>
          <a:xfrm>
            <a:off x="5945258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20" dirty="0"/>
          </a:p>
        </p:txBody>
      </p:sp>
      <p:sp>
        <p:nvSpPr>
          <p:cNvPr id="141" name="Text 138"/>
          <p:cNvSpPr/>
          <p:nvPr/>
        </p:nvSpPr>
        <p:spPr>
          <a:xfrm>
            <a:off x="5504440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42" name="Text 139"/>
          <p:cNvSpPr/>
          <p:nvPr/>
        </p:nvSpPr>
        <p:spPr>
          <a:xfrm>
            <a:off x="5945258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3" name="Text 140"/>
          <p:cNvSpPr/>
          <p:nvPr/>
        </p:nvSpPr>
        <p:spPr>
          <a:xfrm>
            <a:off x="5504440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44" name="Text 141"/>
          <p:cNvSpPr/>
          <p:nvPr/>
        </p:nvSpPr>
        <p:spPr>
          <a:xfrm>
            <a:off x="5504440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5" name="Text 142"/>
          <p:cNvSpPr/>
          <p:nvPr/>
        </p:nvSpPr>
        <p:spPr>
          <a:xfrm>
            <a:off x="5504440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6" name="Text 143"/>
          <p:cNvSpPr/>
          <p:nvPr/>
        </p:nvSpPr>
        <p:spPr>
          <a:xfrm>
            <a:off x="5945258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47" name="Text 144"/>
          <p:cNvSpPr/>
          <p:nvPr/>
        </p:nvSpPr>
        <p:spPr>
          <a:xfrm>
            <a:off x="5504440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8" name="Text 145"/>
          <p:cNvSpPr/>
          <p:nvPr/>
        </p:nvSpPr>
        <p:spPr>
          <a:xfrm>
            <a:off x="5504440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9" name="Text 146"/>
          <p:cNvSpPr/>
          <p:nvPr/>
        </p:nvSpPr>
        <p:spPr>
          <a:xfrm>
            <a:off x="5945258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50" name="Text 147"/>
          <p:cNvSpPr/>
          <p:nvPr/>
        </p:nvSpPr>
        <p:spPr>
          <a:xfrm>
            <a:off x="5504440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1" name="Text 148"/>
          <p:cNvSpPr/>
          <p:nvPr/>
        </p:nvSpPr>
        <p:spPr>
          <a:xfrm>
            <a:off x="5945258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52" name="Text 149"/>
          <p:cNvSpPr/>
          <p:nvPr/>
        </p:nvSpPr>
        <p:spPr>
          <a:xfrm>
            <a:off x="5504440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53" name="Text 150"/>
          <p:cNvSpPr/>
          <p:nvPr/>
        </p:nvSpPr>
        <p:spPr>
          <a:xfrm>
            <a:off x="5945258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54" name="Text 151"/>
          <p:cNvSpPr/>
          <p:nvPr/>
        </p:nvSpPr>
        <p:spPr>
          <a:xfrm>
            <a:off x="5504440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55" name="Text 152"/>
          <p:cNvSpPr/>
          <p:nvPr/>
        </p:nvSpPr>
        <p:spPr>
          <a:xfrm>
            <a:off x="5945258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56" name="Text 153"/>
          <p:cNvSpPr/>
          <p:nvPr/>
        </p:nvSpPr>
        <p:spPr>
          <a:xfrm>
            <a:off x="9863727" y="152400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57" name="Text 154"/>
          <p:cNvSpPr/>
          <p:nvPr/>
        </p:nvSpPr>
        <p:spPr>
          <a:xfrm>
            <a:off x="9863727" y="177165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58" name="Text 155"/>
          <p:cNvSpPr/>
          <p:nvPr/>
        </p:nvSpPr>
        <p:spPr>
          <a:xfrm>
            <a:off x="9863727" y="201930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59" name="Text 156"/>
          <p:cNvSpPr/>
          <p:nvPr/>
        </p:nvSpPr>
        <p:spPr>
          <a:xfrm>
            <a:off x="9863727" y="226695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20" dirty="0"/>
          </a:p>
        </p:txBody>
      </p:sp>
      <p:sp>
        <p:nvSpPr>
          <p:cNvPr id="160" name="Text 157"/>
          <p:cNvSpPr/>
          <p:nvPr/>
        </p:nvSpPr>
        <p:spPr>
          <a:xfrm>
            <a:off x="9863727" y="251460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61" name="Text 158"/>
          <p:cNvSpPr/>
          <p:nvPr/>
        </p:nvSpPr>
        <p:spPr>
          <a:xfrm>
            <a:off x="9863727" y="276225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62" name="Text 159"/>
          <p:cNvSpPr/>
          <p:nvPr/>
        </p:nvSpPr>
        <p:spPr>
          <a:xfrm>
            <a:off x="9863727" y="300990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20" dirty="0"/>
          </a:p>
        </p:txBody>
      </p:sp>
      <p:sp>
        <p:nvSpPr>
          <p:cNvPr id="163" name="Text 160"/>
          <p:cNvSpPr/>
          <p:nvPr/>
        </p:nvSpPr>
        <p:spPr>
          <a:xfrm>
            <a:off x="10997717" y="39433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64" name="Text 161"/>
          <p:cNvSpPr/>
          <p:nvPr/>
        </p:nvSpPr>
        <p:spPr>
          <a:xfrm>
            <a:off x="10997717" y="412432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65" name="Text 162"/>
          <p:cNvSpPr/>
          <p:nvPr/>
        </p:nvSpPr>
        <p:spPr>
          <a:xfrm>
            <a:off x="10997717" y="430530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72" dirty="0"/>
          </a:p>
        </p:txBody>
      </p:sp>
      <p:sp>
        <p:nvSpPr>
          <p:cNvPr id="166" name="Text 163"/>
          <p:cNvSpPr/>
          <p:nvPr/>
        </p:nvSpPr>
        <p:spPr>
          <a:xfrm>
            <a:off x="10997717" y="44862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72" dirty="0"/>
          </a:p>
        </p:txBody>
      </p:sp>
      <p:sp>
        <p:nvSpPr>
          <p:cNvPr id="167" name="Text 164"/>
          <p:cNvSpPr/>
          <p:nvPr/>
        </p:nvSpPr>
        <p:spPr>
          <a:xfrm>
            <a:off x="10997717" y="46672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67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radicional\ppt_slides\sk_0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463308"/>
            <a:ext cx="10993698" cy="27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Comercial: el canal Tradicional cerró el semestre con 734 ventas positivas entre Cuota Protegida y Rueda Seguro, y junio marcó el mayor volumen de financiaciones del 1S (5.605 en CP y 1.395 en RS) con la red de aliados más amplia del semestre — una base sólida para acelerar la conversión en el 2S.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6006108"/>
            <a:ext cx="45855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Aliados y Gestores en la fila de total corresponden al promedio mensual de la estructura activa del canal.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257769" y="5606058"/>
            <a:ext cx="37613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 muestra un repunte de financiaciones de motocicletas (1.395) con 25 aliados activos.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85783" y="5606058"/>
            <a:ext cx="3548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cierre de junio registra un incremento en financiaciones (5.605) y 12 aliados activos.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446221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del Canal · Cuota Protegida y Rueda Seguro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38179" y="1786830"/>
            <a:ext cx="15104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Tradicional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723882" y="1272480"/>
            <a:ext cx="104274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730 cantadas · 124,6% meta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3505112" y="1272480"/>
            <a:ext cx="100077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283 cantadas · 88,1% meta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6410165" y="1786830"/>
            <a:ext cx="14003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Rueda Seguro Tradicional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723882" y="962025"/>
            <a:ext cx="12681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positivas 1S</a:t>
            </a:r>
            <a:endParaRPr lang="en-US" sz="696" dirty="0"/>
          </a:p>
        </p:txBody>
      </p:sp>
      <p:sp>
        <p:nvSpPr>
          <p:cNvPr id="13" name="Text 10"/>
          <p:cNvSpPr/>
          <p:nvPr/>
        </p:nvSpPr>
        <p:spPr>
          <a:xfrm>
            <a:off x="3505112" y="962025"/>
            <a:ext cx="126722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RS positivas 1S</a:t>
            </a:r>
            <a:endParaRPr lang="en-US" sz="696" dirty="0"/>
          </a:p>
        </p:txBody>
      </p:sp>
      <p:sp>
        <p:nvSpPr>
          <p:cNvPr id="14" name="Text 11"/>
          <p:cNvSpPr/>
          <p:nvPr/>
        </p:nvSpPr>
        <p:spPr>
          <a:xfrm>
            <a:off x="6286343" y="1272480"/>
            <a:ext cx="67501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 aliados activos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9067573" y="1272480"/>
            <a:ext cx="6829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 aliados activos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286343" y="962025"/>
            <a:ext cx="10421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Financiaciones CP</a:t>
            </a:r>
            <a:endParaRPr lang="en-US" sz="696" dirty="0"/>
          </a:p>
        </p:txBody>
      </p:sp>
      <p:sp>
        <p:nvSpPr>
          <p:cNvPr id="17" name="Text 14"/>
          <p:cNvSpPr/>
          <p:nvPr/>
        </p:nvSpPr>
        <p:spPr>
          <a:xfrm>
            <a:off x="9067573" y="962025"/>
            <a:ext cx="10389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Financiaciones RS</a:t>
            </a:r>
            <a:endParaRPr lang="en-US" sz="696" dirty="0"/>
          </a:p>
        </p:txBody>
      </p:sp>
      <p:sp>
        <p:nvSpPr>
          <p:cNvPr id="18" name="Text 15"/>
          <p:cNvSpPr/>
          <p:nvPr/>
        </p:nvSpPr>
        <p:spPr>
          <a:xfrm>
            <a:off x="4260697" y="2044005"/>
            <a:ext cx="83787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Positivas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9832683" y="2044005"/>
            <a:ext cx="83787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Positivas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896428" y="2044005"/>
            <a:ext cx="83941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413192" y="2044005"/>
            <a:ext cx="871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5073515" y="2044005"/>
            <a:ext cx="8604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Cumpl.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468413" y="2044005"/>
            <a:ext cx="83941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8985178" y="2044005"/>
            <a:ext cx="871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10645500" y="2044005"/>
            <a:ext cx="8604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Cumpl.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1176964" y="2044005"/>
            <a:ext cx="7439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2714757" y="2044005"/>
            <a:ext cx="7238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6748950" y="2044005"/>
            <a:ext cx="7439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Aliados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286742" y="2044005"/>
            <a:ext cx="7238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5073515" y="2874020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101,0%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2714757" y="527744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19.280</a:t>
            </a:r>
            <a:endParaRPr lang="en-US" sz="792" dirty="0"/>
          </a:p>
        </p:txBody>
      </p:sp>
      <p:sp>
        <p:nvSpPr>
          <p:cNvPr id="32" name="Text 29"/>
          <p:cNvSpPr/>
          <p:nvPr/>
        </p:nvSpPr>
        <p:spPr>
          <a:xfrm>
            <a:off x="5073515" y="5272683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124,6%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6286343" y="1085850"/>
            <a:ext cx="45053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19.280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2714757" y="240089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2.074</a:t>
            </a:r>
            <a:endParaRPr lang="en-US" sz="792" dirty="0"/>
          </a:p>
        </p:txBody>
      </p:sp>
      <p:sp>
        <p:nvSpPr>
          <p:cNvPr id="35" name="Text 32"/>
          <p:cNvSpPr/>
          <p:nvPr/>
        </p:nvSpPr>
        <p:spPr>
          <a:xfrm>
            <a:off x="5073515" y="2396133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81,2%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2714757" y="287878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2.999</a:t>
            </a:r>
            <a:endParaRPr lang="en-US" sz="792" dirty="0"/>
          </a:p>
        </p:txBody>
      </p:sp>
      <p:sp>
        <p:nvSpPr>
          <p:cNvPr id="37" name="Text 34"/>
          <p:cNvSpPr/>
          <p:nvPr/>
        </p:nvSpPr>
        <p:spPr>
          <a:xfrm>
            <a:off x="2714757" y="335890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3.127</a:t>
            </a:r>
            <a:endParaRPr lang="en-US" sz="792" dirty="0"/>
          </a:p>
        </p:txBody>
      </p:sp>
      <p:sp>
        <p:nvSpPr>
          <p:cNvPr id="38" name="Text 35"/>
          <p:cNvSpPr/>
          <p:nvPr/>
        </p:nvSpPr>
        <p:spPr>
          <a:xfrm>
            <a:off x="5073515" y="335413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74,4%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2714757" y="383902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3.076</a:t>
            </a:r>
            <a:endParaRPr lang="en-US" sz="792" dirty="0"/>
          </a:p>
        </p:txBody>
      </p:sp>
      <p:sp>
        <p:nvSpPr>
          <p:cNvPr id="40" name="Text 37"/>
          <p:cNvSpPr/>
          <p:nvPr/>
        </p:nvSpPr>
        <p:spPr>
          <a:xfrm>
            <a:off x="5073515" y="383425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76,9%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714757" y="431914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2.399</a:t>
            </a:r>
            <a:endParaRPr lang="en-US" sz="792" dirty="0"/>
          </a:p>
        </p:txBody>
      </p:sp>
      <p:sp>
        <p:nvSpPr>
          <p:cNvPr id="42" name="Text 39"/>
          <p:cNvSpPr/>
          <p:nvPr/>
        </p:nvSpPr>
        <p:spPr>
          <a:xfrm>
            <a:off x="2714757" y="479926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5.605</a:t>
            </a:r>
            <a:endParaRPr lang="en-US" sz="792" dirty="0"/>
          </a:p>
        </p:txBody>
      </p:sp>
      <p:sp>
        <p:nvSpPr>
          <p:cNvPr id="43" name="Text 40"/>
          <p:cNvSpPr/>
          <p:nvPr/>
        </p:nvSpPr>
        <p:spPr>
          <a:xfrm>
            <a:off x="685783" y="527744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92" dirty="0"/>
          </a:p>
        </p:txBody>
      </p:sp>
      <p:sp>
        <p:nvSpPr>
          <p:cNvPr id="44" name="Text 41"/>
          <p:cNvSpPr/>
          <p:nvPr/>
        </p:nvSpPr>
        <p:spPr>
          <a:xfrm>
            <a:off x="10645500" y="2396133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47,1%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10645500" y="2874020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28,6%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10645500" y="335413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48,2%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8286742" y="479926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1.395</a:t>
            </a:r>
            <a:endParaRPr lang="en-US" sz="792" dirty="0"/>
          </a:p>
        </p:txBody>
      </p:sp>
      <p:sp>
        <p:nvSpPr>
          <p:cNvPr id="48" name="Text 45"/>
          <p:cNvSpPr/>
          <p:nvPr/>
        </p:nvSpPr>
        <p:spPr>
          <a:xfrm>
            <a:off x="6257769" y="527744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92" dirty="0"/>
          </a:p>
        </p:txBody>
      </p:sp>
      <p:sp>
        <p:nvSpPr>
          <p:cNvPr id="49" name="Text 46"/>
          <p:cNvSpPr/>
          <p:nvPr/>
        </p:nvSpPr>
        <p:spPr>
          <a:xfrm>
            <a:off x="8286742" y="527744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4.459</a:t>
            </a:r>
            <a:endParaRPr lang="en-US" sz="792" dirty="0"/>
          </a:p>
        </p:txBody>
      </p:sp>
      <p:sp>
        <p:nvSpPr>
          <p:cNvPr id="50" name="Text 47"/>
          <p:cNvSpPr/>
          <p:nvPr/>
        </p:nvSpPr>
        <p:spPr>
          <a:xfrm>
            <a:off x="10645500" y="5272683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88,1%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9067573" y="1085850"/>
            <a:ext cx="36739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4.459</a:t>
            </a:r>
            <a:endParaRPr lang="en-US" sz="1020" dirty="0"/>
          </a:p>
        </p:txBody>
      </p:sp>
      <p:sp>
        <p:nvSpPr>
          <p:cNvPr id="52" name="Text 49"/>
          <p:cNvSpPr/>
          <p:nvPr/>
        </p:nvSpPr>
        <p:spPr>
          <a:xfrm>
            <a:off x="685783" y="2044005"/>
            <a:ext cx="52823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685783" y="240089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92" dirty="0"/>
          </a:p>
        </p:txBody>
      </p:sp>
      <p:sp>
        <p:nvSpPr>
          <p:cNvPr id="54" name="Text 51"/>
          <p:cNvSpPr/>
          <p:nvPr/>
        </p:nvSpPr>
        <p:spPr>
          <a:xfrm>
            <a:off x="685783" y="287878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92" dirty="0"/>
          </a:p>
        </p:txBody>
      </p:sp>
      <p:sp>
        <p:nvSpPr>
          <p:cNvPr id="55" name="Text 52"/>
          <p:cNvSpPr/>
          <p:nvPr/>
        </p:nvSpPr>
        <p:spPr>
          <a:xfrm>
            <a:off x="3413192" y="287878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792" dirty="0"/>
          </a:p>
        </p:txBody>
      </p:sp>
      <p:sp>
        <p:nvSpPr>
          <p:cNvPr id="56" name="Text 53"/>
          <p:cNvSpPr/>
          <p:nvPr/>
        </p:nvSpPr>
        <p:spPr>
          <a:xfrm>
            <a:off x="4260697" y="2854970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792" dirty="0"/>
          </a:p>
        </p:txBody>
      </p:sp>
      <p:sp>
        <p:nvSpPr>
          <p:cNvPr id="57" name="Text 54"/>
          <p:cNvSpPr/>
          <p:nvPr/>
        </p:nvSpPr>
        <p:spPr>
          <a:xfrm>
            <a:off x="685783" y="335890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92" dirty="0"/>
          </a:p>
        </p:txBody>
      </p:sp>
      <p:sp>
        <p:nvSpPr>
          <p:cNvPr id="58" name="Text 55"/>
          <p:cNvSpPr/>
          <p:nvPr/>
        </p:nvSpPr>
        <p:spPr>
          <a:xfrm>
            <a:off x="3413192" y="335890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792" dirty="0"/>
          </a:p>
        </p:txBody>
      </p:sp>
      <p:sp>
        <p:nvSpPr>
          <p:cNvPr id="59" name="Text 56"/>
          <p:cNvSpPr/>
          <p:nvPr/>
        </p:nvSpPr>
        <p:spPr>
          <a:xfrm>
            <a:off x="685783" y="383902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92" dirty="0"/>
          </a:p>
        </p:txBody>
      </p:sp>
      <p:sp>
        <p:nvSpPr>
          <p:cNvPr id="60" name="Text 57"/>
          <p:cNvSpPr/>
          <p:nvPr/>
        </p:nvSpPr>
        <p:spPr>
          <a:xfrm>
            <a:off x="3413192" y="383902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125</a:t>
            </a:r>
            <a:endParaRPr lang="en-US" sz="792" dirty="0"/>
          </a:p>
        </p:txBody>
      </p:sp>
      <p:sp>
        <p:nvSpPr>
          <p:cNvPr id="61" name="Text 58"/>
          <p:cNvSpPr/>
          <p:nvPr/>
        </p:nvSpPr>
        <p:spPr>
          <a:xfrm>
            <a:off x="4260697" y="381520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792" dirty="0"/>
          </a:p>
        </p:txBody>
      </p:sp>
      <p:sp>
        <p:nvSpPr>
          <p:cNvPr id="62" name="Text 59"/>
          <p:cNvSpPr/>
          <p:nvPr/>
        </p:nvSpPr>
        <p:spPr>
          <a:xfrm>
            <a:off x="685783" y="431914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92" dirty="0"/>
          </a:p>
        </p:txBody>
      </p:sp>
      <p:sp>
        <p:nvSpPr>
          <p:cNvPr id="63" name="Text 60"/>
          <p:cNvSpPr/>
          <p:nvPr/>
        </p:nvSpPr>
        <p:spPr>
          <a:xfrm>
            <a:off x="3413192" y="431914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</a:t>
            </a:r>
            <a:endParaRPr lang="en-US" sz="792" dirty="0"/>
          </a:p>
        </p:txBody>
      </p:sp>
      <p:sp>
        <p:nvSpPr>
          <p:cNvPr id="64" name="Text 61"/>
          <p:cNvSpPr/>
          <p:nvPr/>
        </p:nvSpPr>
        <p:spPr>
          <a:xfrm>
            <a:off x="5073515" y="431437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685783" y="479926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92" dirty="0"/>
          </a:p>
        </p:txBody>
      </p:sp>
      <p:sp>
        <p:nvSpPr>
          <p:cNvPr id="66" name="Text 63"/>
          <p:cNvSpPr/>
          <p:nvPr/>
        </p:nvSpPr>
        <p:spPr>
          <a:xfrm>
            <a:off x="3413192" y="479926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</a:t>
            </a:r>
            <a:endParaRPr lang="en-US" sz="792" dirty="0"/>
          </a:p>
        </p:txBody>
      </p:sp>
      <p:sp>
        <p:nvSpPr>
          <p:cNvPr id="67" name="Text 64"/>
          <p:cNvSpPr/>
          <p:nvPr/>
        </p:nvSpPr>
        <p:spPr>
          <a:xfrm>
            <a:off x="5073515" y="4794498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1896428" y="527744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28*</a:t>
            </a:r>
            <a:endParaRPr lang="en-US" sz="792" dirty="0"/>
          </a:p>
        </p:txBody>
      </p:sp>
      <p:sp>
        <p:nvSpPr>
          <p:cNvPr id="69" name="Text 66"/>
          <p:cNvSpPr/>
          <p:nvPr/>
        </p:nvSpPr>
        <p:spPr>
          <a:xfrm>
            <a:off x="3413192" y="527744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730</a:t>
            </a:r>
            <a:endParaRPr lang="en-US" sz="792" dirty="0"/>
          </a:p>
        </p:txBody>
      </p:sp>
      <p:sp>
        <p:nvSpPr>
          <p:cNvPr id="70" name="Text 67"/>
          <p:cNvSpPr/>
          <p:nvPr/>
        </p:nvSpPr>
        <p:spPr>
          <a:xfrm>
            <a:off x="4260697" y="5277445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563</a:t>
            </a:r>
            <a:endParaRPr lang="en-US" sz="792" dirty="0"/>
          </a:p>
        </p:txBody>
      </p:sp>
      <p:sp>
        <p:nvSpPr>
          <p:cNvPr id="71" name="Text 68"/>
          <p:cNvSpPr/>
          <p:nvPr/>
        </p:nvSpPr>
        <p:spPr>
          <a:xfrm>
            <a:off x="6257769" y="2044005"/>
            <a:ext cx="52823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6257769" y="240089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92" dirty="0"/>
          </a:p>
        </p:txBody>
      </p:sp>
      <p:sp>
        <p:nvSpPr>
          <p:cNvPr id="73" name="Text 70"/>
          <p:cNvSpPr/>
          <p:nvPr/>
        </p:nvSpPr>
        <p:spPr>
          <a:xfrm>
            <a:off x="8286742" y="240089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783</a:t>
            </a:r>
            <a:endParaRPr lang="en-US" sz="792" dirty="0"/>
          </a:p>
        </p:txBody>
      </p:sp>
      <p:sp>
        <p:nvSpPr>
          <p:cNvPr id="74" name="Text 71"/>
          <p:cNvSpPr/>
          <p:nvPr/>
        </p:nvSpPr>
        <p:spPr>
          <a:xfrm>
            <a:off x="6257769" y="287878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92" dirty="0"/>
          </a:p>
        </p:txBody>
      </p:sp>
      <p:sp>
        <p:nvSpPr>
          <p:cNvPr id="75" name="Text 72"/>
          <p:cNvSpPr/>
          <p:nvPr/>
        </p:nvSpPr>
        <p:spPr>
          <a:xfrm>
            <a:off x="8286742" y="287878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743</a:t>
            </a:r>
            <a:endParaRPr lang="en-US" sz="792" dirty="0"/>
          </a:p>
        </p:txBody>
      </p:sp>
      <p:sp>
        <p:nvSpPr>
          <p:cNvPr id="76" name="Text 73"/>
          <p:cNvSpPr/>
          <p:nvPr/>
        </p:nvSpPr>
        <p:spPr>
          <a:xfrm>
            <a:off x="6257769" y="335890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92" dirty="0"/>
          </a:p>
        </p:txBody>
      </p:sp>
      <p:sp>
        <p:nvSpPr>
          <p:cNvPr id="77" name="Text 74"/>
          <p:cNvSpPr/>
          <p:nvPr/>
        </p:nvSpPr>
        <p:spPr>
          <a:xfrm>
            <a:off x="8286742" y="335890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391</a:t>
            </a:r>
            <a:endParaRPr lang="en-US" sz="792" dirty="0"/>
          </a:p>
        </p:txBody>
      </p:sp>
      <p:sp>
        <p:nvSpPr>
          <p:cNvPr id="78" name="Text 75"/>
          <p:cNvSpPr/>
          <p:nvPr/>
        </p:nvSpPr>
        <p:spPr>
          <a:xfrm>
            <a:off x="6257769" y="383902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92" dirty="0"/>
          </a:p>
        </p:txBody>
      </p:sp>
      <p:sp>
        <p:nvSpPr>
          <p:cNvPr id="79" name="Text 76"/>
          <p:cNvSpPr/>
          <p:nvPr/>
        </p:nvSpPr>
        <p:spPr>
          <a:xfrm>
            <a:off x="8286742" y="383902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329</a:t>
            </a:r>
            <a:endParaRPr lang="en-US" sz="792" dirty="0"/>
          </a:p>
        </p:txBody>
      </p:sp>
      <p:sp>
        <p:nvSpPr>
          <p:cNvPr id="80" name="Text 77"/>
          <p:cNvSpPr/>
          <p:nvPr/>
        </p:nvSpPr>
        <p:spPr>
          <a:xfrm>
            <a:off x="10645500" y="383425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1" name="Text 78"/>
          <p:cNvSpPr/>
          <p:nvPr/>
        </p:nvSpPr>
        <p:spPr>
          <a:xfrm>
            <a:off x="6257769" y="431914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92" dirty="0"/>
          </a:p>
        </p:txBody>
      </p:sp>
      <p:sp>
        <p:nvSpPr>
          <p:cNvPr id="82" name="Text 79"/>
          <p:cNvSpPr/>
          <p:nvPr/>
        </p:nvSpPr>
        <p:spPr>
          <a:xfrm>
            <a:off x="8286742" y="431914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818</a:t>
            </a:r>
            <a:endParaRPr lang="en-US" sz="792" dirty="0"/>
          </a:p>
        </p:txBody>
      </p:sp>
      <p:sp>
        <p:nvSpPr>
          <p:cNvPr id="83" name="Text 80"/>
          <p:cNvSpPr/>
          <p:nvPr/>
        </p:nvSpPr>
        <p:spPr>
          <a:xfrm>
            <a:off x="10645500" y="431437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4" name="Text 81"/>
          <p:cNvSpPr/>
          <p:nvPr/>
        </p:nvSpPr>
        <p:spPr>
          <a:xfrm>
            <a:off x="6257769" y="479926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92" dirty="0"/>
          </a:p>
        </p:txBody>
      </p:sp>
      <p:sp>
        <p:nvSpPr>
          <p:cNvPr id="85" name="Text 82"/>
          <p:cNvSpPr/>
          <p:nvPr/>
        </p:nvSpPr>
        <p:spPr>
          <a:xfrm>
            <a:off x="10645500" y="4794498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6" name="Text 83"/>
          <p:cNvSpPr/>
          <p:nvPr/>
        </p:nvSpPr>
        <p:spPr>
          <a:xfrm>
            <a:off x="6748950" y="527744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13*</a:t>
            </a:r>
            <a:endParaRPr lang="en-US" sz="792" dirty="0"/>
          </a:p>
        </p:txBody>
      </p:sp>
      <p:sp>
        <p:nvSpPr>
          <p:cNvPr id="87" name="Text 84"/>
          <p:cNvSpPr/>
          <p:nvPr/>
        </p:nvSpPr>
        <p:spPr>
          <a:xfrm>
            <a:off x="7468413" y="527744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35*</a:t>
            </a:r>
            <a:endParaRPr lang="en-US" sz="792" dirty="0"/>
          </a:p>
        </p:txBody>
      </p:sp>
      <p:sp>
        <p:nvSpPr>
          <p:cNvPr id="88" name="Text 85"/>
          <p:cNvSpPr/>
          <p:nvPr/>
        </p:nvSpPr>
        <p:spPr>
          <a:xfrm>
            <a:off x="8985178" y="527744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283</a:t>
            </a:r>
            <a:endParaRPr lang="en-US" sz="792" dirty="0"/>
          </a:p>
        </p:txBody>
      </p:sp>
      <p:sp>
        <p:nvSpPr>
          <p:cNvPr id="89" name="Text 86"/>
          <p:cNvSpPr/>
          <p:nvPr/>
        </p:nvSpPr>
        <p:spPr>
          <a:xfrm>
            <a:off x="9832683" y="5277445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</a:t>
            </a:r>
            <a:endParaRPr lang="en-US" sz="792" dirty="0"/>
          </a:p>
        </p:txBody>
      </p:sp>
      <p:sp>
        <p:nvSpPr>
          <p:cNvPr id="90" name="Text 87"/>
          <p:cNvSpPr/>
          <p:nvPr/>
        </p:nvSpPr>
        <p:spPr>
          <a:xfrm>
            <a:off x="72388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563</a:t>
            </a:r>
            <a:endParaRPr lang="en-US" sz="1020" dirty="0"/>
          </a:p>
        </p:txBody>
      </p:sp>
      <p:sp>
        <p:nvSpPr>
          <p:cNvPr id="91" name="Text 88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</a:t>
            </a:r>
            <a:endParaRPr lang="en-US" sz="1020" dirty="0"/>
          </a:p>
        </p:txBody>
      </p:sp>
      <p:sp>
        <p:nvSpPr>
          <p:cNvPr id="92" name="Text 89"/>
          <p:cNvSpPr/>
          <p:nvPr/>
        </p:nvSpPr>
        <p:spPr>
          <a:xfrm>
            <a:off x="1896428" y="240089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</a:t>
            </a:r>
            <a:endParaRPr lang="en-US" sz="792" dirty="0"/>
          </a:p>
        </p:txBody>
      </p:sp>
      <p:sp>
        <p:nvSpPr>
          <p:cNvPr id="93" name="Text 90"/>
          <p:cNvSpPr/>
          <p:nvPr/>
        </p:nvSpPr>
        <p:spPr>
          <a:xfrm>
            <a:off x="3413192" y="240089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</a:t>
            </a:r>
            <a:endParaRPr lang="en-US" sz="792" dirty="0"/>
          </a:p>
        </p:txBody>
      </p:sp>
      <p:sp>
        <p:nvSpPr>
          <p:cNvPr id="94" name="Text 91"/>
          <p:cNvSpPr/>
          <p:nvPr/>
        </p:nvSpPr>
        <p:spPr>
          <a:xfrm>
            <a:off x="4260697" y="2377083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</a:t>
            </a:r>
            <a:endParaRPr lang="en-US" sz="792" dirty="0"/>
          </a:p>
        </p:txBody>
      </p:sp>
      <p:sp>
        <p:nvSpPr>
          <p:cNvPr id="95" name="Text 92"/>
          <p:cNvSpPr/>
          <p:nvPr/>
        </p:nvSpPr>
        <p:spPr>
          <a:xfrm>
            <a:off x="1896428" y="287878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792" dirty="0"/>
          </a:p>
        </p:txBody>
      </p:sp>
      <p:sp>
        <p:nvSpPr>
          <p:cNvPr id="96" name="Text 93"/>
          <p:cNvSpPr/>
          <p:nvPr/>
        </p:nvSpPr>
        <p:spPr>
          <a:xfrm>
            <a:off x="1896428" y="335890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97" name="Text 94"/>
          <p:cNvSpPr/>
          <p:nvPr/>
        </p:nvSpPr>
        <p:spPr>
          <a:xfrm>
            <a:off x="4260697" y="333508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792" dirty="0"/>
          </a:p>
        </p:txBody>
      </p:sp>
      <p:sp>
        <p:nvSpPr>
          <p:cNvPr id="98" name="Text 95"/>
          <p:cNvSpPr/>
          <p:nvPr/>
        </p:nvSpPr>
        <p:spPr>
          <a:xfrm>
            <a:off x="1896428" y="383902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99" name="Text 96"/>
          <p:cNvSpPr/>
          <p:nvPr/>
        </p:nvSpPr>
        <p:spPr>
          <a:xfrm>
            <a:off x="1176964" y="431914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792" dirty="0"/>
          </a:p>
        </p:txBody>
      </p:sp>
      <p:sp>
        <p:nvSpPr>
          <p:cNvPr id="100" name="Text 97"/>
          <p:cNvSpPr/>
          <p:nvPr/>
        </p:nvSpPr>
        <p:spPr>
          <a:xfrm>
            <a:off x="1896428" y="431914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101" name="Text 98"/>
          <p:cNvSpPr/>
          <p:nvPr/>
        </p:nvSpPr>
        <p:spPr>
          <a:xfrm>
            <a:off x="4260697" y="429532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792" dirty="0"/>
          </a:p>
        </p:txBody>
      </p:sp>
      <p:sp>
        <p:nvSpPr>
          <p:cNvPr id="102" name="Text 99"/>
          <p:cNvSpPr/>
          <p:nvPr/>
        </p:nvSpPr>
        <p:spPr>
          <a:xfrm>
            <a:off x="1176964" y="479926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92" dirty="0"/>
          </a:p>
        </p:txBody>
      </p:sp>
      <p:sp>
        <p:nvSpPr>
          <p:cNvPr id="103" name="Text 100"/>
          <p:cNvSpPr/>
          <p:nvPr/>
        </p:nvSpPr>
        <p:spPr>
          <a:xfrm>
            <a:off x="1896428" y="479926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92" dirty="0"/>
          </a:p>
        </p:txBody>
      </p:sp>
      <p:sp>
        <p:nvSpPr>
          <p:cNvPr id="104" name="Text 101"/>
          <p:cNvSpPr/>
          <p:nvPr/>
        </p:nvSpPr>
        <p:spPr>
          <a:xfrm>
            <a:off x="4260697" y="4775448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792" dirty="0"/>
          </a:p>
        </p:txBody>
      </p:sp>
      <p:sp>
        <p:nvSpPr>
          <p:cNvPr id="105" name="Text 102"/>
          <p:cNvSpPr/>
          <p:nvPr/>
        </p:nvSpPr>
        <p:spPr>
          <a:xfrm>
            <a:off x="1176964" y="527744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8*</a:t>
            </a:r>
            <a:endParaRPr lang="en-US" sz="792" dirty="0"/>
          </a:p>
        </p:txBody>
      </p:sp>
      <p:sp>
        <p:nvSpPr>
          <p:cNvPr id="106" name="Text 103"/>
          <p:cNvSpPr/>
          <p:nvPr/>
        </p:nvSpPr>
        <p:spPr>
          <a:xfrm>
            <a:off x="7468413" y="240089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792" dirty="0"/>
          </a:p>
        </p:txBody>
      </p:sp>
      <p:sp>
        <p:nvSpPr>
          <p:cNvPr id="107" name="Text 104"/>
          <p:cNvSpPr/>
          <p:nvPr/>
        </p:nvSpPr>
        <p:spPr>
          <a:xfrm>
            <a:off x="8985178" y="240089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08" name="Text 105"/>
          <p:cNvSpPr/>
          <p:nvPr/>
        </p:nvSpPr>
        <p:spPr>
          <a:xfrm>
            <a:off x="9832683" y="2377083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92" dirty="0"/>
          </a:p>
        </p:txBody>
      </p:sp>
      <p:sp>
        <p:nvSpPr>
          <p:cNvPr id="109" name="Text 106"/>
          <p:cNvSpPr/>
          <p:nvPr/>
        </p:nvSpPr>
        <p:spPr>
          <a:xfrm>
            <a:off x="7468413" y="287878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</a:t>
            </a:r>
            <a:endParaRPr lang="en-US" sz="792" dirty="0"/>
          </a:p>
        </p:txBody>
      </p:sp>
      <p:sp>
        <p:nvSpPr>
          <p:cNvPr id="110" name="Text 107"/>
          <p:cNvSpPr/>
          <p:nvPr/>
        </p:nvSpPr>
        <p:spPr>
          <a:xfrm>
            <a:off x="8985178" y="287878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</a:t>
            </a:r>
            <a:endParaRPr lang="en-US" sz="792" dirty="0"/>
          </a:p>
        </p:txBody>
      </p:sp>
      <p:sp>
        <p:nvSpPr>
          <p:cNvPr id="111" name="Text 108"/>
          <p:cNvSpPr/>
          <p:nvPr/>
        </p:nvSpPr>
        <p:spPr>
          <a:xfrm>
            <a:off x="9832683" y="2854970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12" name="Text 109"/>
          <p:cNvSpPr/>
          <p:nvPr/>
        </p:nvSpPr>
        <p:spPr>
          <a:xfrm>
            <a:off x="7468413" y="335890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13" name="Text 110"/>
          <p:cNvSpPr/>
          <p:nvPr/>
        </p:nvSpPr>
        <p:spPr>
          <a:xfrm>
            <a:off x="8985178" y="335890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792" dirty="0"/>
          </a:p>
        </p:txBody>
      </p:sp>
      <p:sp>
        <p:nvSpPr>
          <p:cNvPr id="114" name="Text 111"/>
          <p:cNvSpPr/>
          <p:nvPr/>
        </p:nvSpPr>
        <p:spPr>
          <a:xfrm>
            <a:off x="9832683" y="333508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15" name="Text 112"/>
          <p:cNvSpPr/>
          <p:nvPr/>
        </p:nvSpPr>
        <p:spPr>
          <a:xfrm>
            <a:off x="7468413" y="383902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</a:t>
            </a:r>
            <a:endParaRPr lang="en-US" sz="792" dirty="0"/>
          </a:p>
        </p:txBody>
      </p:sp>
      <p:sp>
        <p:nvSpPr>
          <p:cNvPr id="116" name="Text 113"/>
          <p:cNvSpPr/>
          <p:nvPr/>
        </p:nvSpPr>
        <p:spPr>
          <a:xfrm>
            <a:off x="8985178" y="383902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792" dirty="0"/>
          </a:p>
        </p:txBody>
      </p:sp>
      <p:sp>
        <p:nvSpPr>
          <p:cNvPr id="117" name="Text 114"/>
          <p:cNvSpPr/>
          <p:nvPr/>
        </p:nvSpPr>
        <p:spPr>
          <a:xfrm>
            <a:off x="9832683" y="381520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18" name="Text 115"/>
          <p:cNvSpPr/>
          <p:nvPr/>
        </p:nvSpPr>
        <p:spPr>
          <a:xfrm>
            <a:off x="6748950" y="431914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19" name="Text 116"/>
          <p:cNvSpPr/>
          <p:nvPr/>
        </p:nvSpPr>
        <p:spPr>
          <a:xfrm>
            <a:off x="8985178" y="431914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20" name="Text 117"/>
          <p:cNvSpPr/>
          <p:nvPr/>
        </p:nvSpPr>
        <p:spPr>
          <a:xfrm>
            <a:off x="9832683" y="429532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792" dirty="0"/>
          </a:p>
        </p:txBody>
      </p:sp>
      <p:sp>
        <p:nvSpPr>
          <p:cNvPr id="121" name="Text 118"/>
          <p:cNvSpPr/>
          <p:nvPr/>
        </p:nvSpPr>
        <p:spPr>
          <a:xfrm>
            <a:off x="6748950" y="479926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792" dirty="0"/>
          </a:p>
        </p:txBody>
      </p:sp>
      <p:sp>
        <p:nvSpPr>
          <p:cNvPr id="122" name="Text 119"/>
          <p:cNvSpPr/>
          <p:nvPr/>
        </p:nvSpPr>
        <p:spPr>
          <a:xfrm>
            <a:off x="7468413" y="479926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23" name="Text 120"/>
          <p:cNvSpPr/>
          <p:nvPr/>
        </p:nvSpPr>
        <p:spPr>
          <a:xfrm>
            <a:off x="8985178" y="479926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</a:t>
            </a:r>
            <a:endParaRPr lang="en-US" sz="792" dirty="0"/>
          </a:p>
        </p:txBody>
      </p:sp>
      <p:sp>
        <p:nvSpPr>
          <p:cNvPr id="124" name="Text 121"/>
          <p:cNvSpPr/>
          <p:nvPr/>
        </p:nvSpPr>
        <p:spPr>
          <a:xfrm>
            <a:off x="9832683" y="4775448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792" dirty="0"/>
          </a:p>
        </p:txBody>
      </p:sp>
      <p:sp>
        <p:nvSpPr>
          <p:cNvPr id="125" name="Text 122"/>
          <p:cNvSpPr/>
          <p:nvPr/>
        </p:nvSpPr>
        <p:spPr>
          <a:xfrm>
            <a:off x="1176964" y="240089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26" name="Text 123"/>
          <p:cNvSpPr/>
          <p:nvPr/>
        </p:nvSpPr>
        <p:spPr>
          <a:xfrm>
            <a:off x="1176964" y="287878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27" name="Text 124"/>
          <p:cNvSpPr/>
          <p:nvPr/>
        </p:nvSpPr>
        <p:spPr>
          <a:xfrm>
            <a:off x="1176964" y="335890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28" name="Text 125"/>
          <p:cNvSpPr/>
          <p:nvPr/>
        </p:nvSpPr>
        <p:spPr>
          <a:xfrm>
            <a:off x="1176964" y="383902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29" name="Text 126"/>
          <p:cNvSpPr/>
          <p:nvPr/>
        </p:nvSpPr>
        <p:spPr>
          <a:xfrm>
            <a:off x="6748950" y="240089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92" dirty="0"/>
          </a:p>
        </p:txBody>
      </p:sp>
      <p:sp>
        <p:nvSpPr>
          <p:cNvPr id="130" name="Text 127"/>
          <p:cNvSpPr/>
          <p:nvPr/>
        </p:nvSpPr>
        <p:spPr>
          <a:xfrm>
            <a:off x="6748950" y="287878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31" name="Text 128"/>
          <p:cNvSpPr/>
          <p:nvPr/>
        </p:nvSpPr>
        <p:spPr>
          <a:xfrm>
            <a:off x="6748950" y="335890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32" name="Text 129"/>
          <p:cNvSpPr/>
          <p:nvPr/>
        </p:nvSpPr>
        <p:spPr>
          <a:xfrm>
            <a:off x="6748950" y="383902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33" name="Text 130"/>
          <p:cNvSpPr/>
          <p:nvPr/>
        </p:nvSpPr>
        <p:spPr>
          <a:xfrm>
            <a:off x="7468413" y="431914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2026-07-19T18:02:15Z</dcterms:created>
  <dcterms:modified xsi:type="dcterms:W3CDTF">2026-07-19T18:02:15Z</dcterms:modified>
</cp:coreProperties>
</file>