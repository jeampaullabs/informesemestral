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01_Repositorios\13_Presentaciones\dash\tradicional\ppt_slides\sk_00_ma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76278" y="6217741"/>
            <a:ext cx="11101917" cy="2953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Logro Semestral: El canal Tradicional concentró un esfuerzo récord de formación en marzo (148 visitas y 93 asesores capacitados). Con la posterior consolidación y el empalme con Retail, el canal centró su capacidad y cobertura promedio del semestre alcanzó un 7,5%, identificando grandes oportunidades de crecimiento en los aliados de mayor volumen.</a:t>
            </a:r>
            <a:endParaRPr lang="en-US" sz="864" dirty="0"/>
          </a:p>
        </p:txBody>
      </p:sp>
      <p:sp>
        <p:nvSpPr>
          <p:cNvPr id="4" name="Text 1"/>
          <p:cNvSpPr/>
          <p:nvPr/>
        </p:nvSpPr>
        <p:spPr>
          <a:xfrm>
            <a:off x="6314917" y="5417790"/>
            <a:ext cx="4253033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6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La concentración de visitas en marzo estableció la base operativa del canal en el primer semestre.</a:t>
            </a:r>
            <a:endParaRPr lang="en-US" sz="696" dirty="0"/>
          </a:p>
        </p:txBody>
      </p:sp>
      <p:sp>
        <p:nvSpPr>
          <p:cNvPr id="5" name="Text 2"/>
          <p:cNvSpPr/>
          <p:nvPr/>
        </p:nvSpPr>
        <p:spPr>
          <a:xfrm>
            <a:off x="723882" y="5417790"/>
            <a:ext cx="2721401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6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* Asesores únicos con al menos una visita registrada en el mes.</a:t>
            </a:r>
            <a:endParaRPr lang="en-US" sz="696" dirty="0"/>
          </a:p>
        </p:txBody>
      </p:sp>
      <p:sp>
        <p:nvSpPr>
          <p:cNvPr id="6" name="Text 3"/>
          <p:cNvSpPr/>
          <p:nvPr/>
        </p:nvSpPr>
        <p:spPr>
          <a:xfrm>
            <a:off x="6362541" y="1421160"/>
            <a:ext cx="2500703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6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Cobertura promedio del canal Tradicional en el semestre</a:t>
            </a:r>
            <a:endParaRPr lang="en-US" sz="696" dirty="0"/>
          </a:p>
        </p:txBody>
      </p:sp>
      <p:sp>
        <p:nvSpPr>
          <p:cNvPr id="7" name="Text 4"/>
          <p:cNvSpPr/>
          <p:nvPr/>
        </p:nvSpPr>
        <p:spPr>
          <a:xfrm>
            <a:off x="781030" y="1421160"/>
            <a:ext cx="2074925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6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Total de formación acumulada (Ene - Jun 2026)</a:t>
            </a:r>
            <a:endParaRPr lang="en-US" sz="696" dirty="0"/>
          </a:p>
        </p:txBody>
      </p:sp>
      <p:sp>
        <p:nvSpPr>
          <p:cNvPr id="8" name="Text 5"/>
          <p:cNvSpPr/>
          <p:nvPr/>
        </p:nvSpPr>
        <p:spPr>
          <a:xfrm>
            <a:off x="571486" y="209550"/>
            <a:ext cx="3817317" cy="1962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6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Ejecución de Visitas de Formación · 1S 2026</a:t>
            </a:r>
            <a:endParaRPr lang="en-US" sz="1260" dirty="0"/>
          </a:p>
        </p:txBody>
      </p:sp>
      <p:sp>
        <p:nvSpPr>
          <p:cNvPr id="9" name="Text 6"/>
          <p:cNvSpPr/>
          <p:nvPr/>
        </p:nvSpPr>
        <p:spPr>
          <a:xfrm>
            <a:off x="876278" y="2049810"/>
            <a:ext cx="1920011" cy="147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3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Visitas, asesores y PDV por mes</a:t>
            </a:r>
            <a:endParaRPr lang="en-US" sz="936" dirty="0"/>
          </a:p>
        </p:txBody>
      </p:sp>
      <p:sp>
        <p:nvSpPr>
          <p:cNvPr id="10" name="Text 7"/>
          <p:cNvSpPr/>
          <p:nvPr/>
        </p:nvSpPr>
        <p:spPr>
          <a:xfrm>
            <a:off x="6467313" y="2049810"/>
            <a:ext cx="1750583" cy="147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3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Evolución de visitas por mes</a:t>
            </a:r>
            <a:endParaRPr lang="en-US" sz="936" dirty="0"/>
          </a:p>
        </p:txBody>
      </p:sp>
      <p:sp>
        <p:nvSpPr>
          <p:cNvPr id="11" name="Text 8"/>
          <p:cNvSpPr/>
          <p:nvPr/>
        </p:nvSpPr>
        <p:spPr>
          <a:xfrm>
            <a:off x="781030" y="1009650"/>
            <a:ext cx="133726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Visitas Realizadas 1S</a:t>
            </a:r>
            <a:endParaRPr lang="en-US" sz="780" dirty="0"/>
          </a:p>
        </p:txBody>
      </p:sp>
      <p:sp>
        <p:nvSpPr>
          <p:cNvPr id="12" name="Text 9"/>
          <p:cNvSpPr/>
          <p:nvPr/>
        </p:nvSpPr>
        <p:spPr>
          <a:xfrm>
            <a:off x="2361894" y="2302245"/>
            <a:ext cx="2118762" cy="228600"/>
          </a:xfrm>
          <a:prstGeom prst="rect">
            <a:avLst/>
          </a:prstGeom>
          <a:noFill/>
          <a:ln/>
        </p:spPr>
        <p:txBody>
          <a:bodyPr wrap="square" lIns="47625" tIns="114300" rIns="114300" bIns="47625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Asesores Capacitados</a:t>
            </a:r>
            <a:endParaRPr lang="en-US" sz="888" dirty="0"/>
          </a:p>
        </p:txBody>
      </p:sp>
      <p:sp>
        <p:nvSpPr>
          <p:cNvPr id="13" name="Text 10"/>
          <p:cNvSpPr/>
          <p:nvPr/>
        </p:nvSpPr>
        <p:spPr>
          <a:xfrm>
            <a:off x="6362541" y="1009650"/>
            <a:ext cx="1412359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Cobertura PDV Activo</a:t>
            </a:r>
            <a:endParaRPr lang="en-US" sz="780" dirty="0"/>
          </a:p>
        </p:txBody>
      </p:sp>
      <p:sp>
        <p:nvSpPr>
          <p:cNvPr id="14" name="Text 11"/>
          <p:cNvSpPr/>
          <p:nvPr/>
        </p:nvSpPr>
        <p:spPr>
          <a:xfrm>
            <a:off x="4438773" y="2302245"/>
            <a:ext cx="1438005" cy="228600"/>
          </a:xfrm>
          <a:prstGeom prst="rect">
            <a:avLst/>
          </a:prstGeom>
          <a:noFill/>
          <a:ln/>
        </p:spPr>
        <p:txBody>
          <a:bodyPr wrap="square" lIns="47625" tIns="114300" rIns="114300" bIns="47625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PDV Visitados</a:t>
            </a:r>
            <a:endParaRPr lang="en-US" sz="888" dirty="0"/>
          </a:p>
        </p:txBody>
      </p:sp>
      <p:sp>
        <p:nvSpPr>
          <p:cNvPr id="15" name="Text 12"/>
          <p:cNvSpPr/>
          <p:nvPr/>
        </p:nvSpPr>
        <p:spPr>
          <a:xfrm>
            <a:off x="723882" y="3840533"/>
            <a:ext cx="891683" cy="214313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Total 1S</a:t>
            </a:r>
            <a:endParaRPr lang="en-US" sz="864" dirty="0"/>
          </a:p>
        </p:txBody>
      </p:sp>
      <p:sp>
        <p:nvSpPr>
          <p:cNvPr id="16" name="Text 13"/>
          <p:cNvSpPr/>
          <p:nvPr/>
        </p:nvSpPr>
        <p:spPr>
          <a:xfrm>
            <a:off x="1564573" y="2302245"/>
            <a:ext cx="859032" cy="228600"/>
          </a:xfrm>
          <a:prstGeom prst="rect">
            <a:avLst/>
          </a:prstGeom>
          <a:noFill/>
          <a:ln/>
        </p:spPr>
        <p:txBody>
          <a:bodyPr wrap="square" lIns="47625" tIns="114300" rIns="114300" bIns="47625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Visitas</a:t>
            </a:r>
            <a:endParaRPr lang="en-US" sz="888" dirty="0"/>
          </a:p>
        </p:txBody>
      </p:sp>
      <p:sp>
        <p:nvSpPr>
          <p:cNvPr id="17" name="Text 14"/>
          <p:cNvSpPr/>
          <p:nvPr/>
        </p:nvSpPr>
        <p:spPr>
          <a:xfrm>
            <a:off x="6362541" y="1143000"/>
            <a:ext cx="574686" cy="2648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40" b="1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7,5 %</a:t>
            </a:r>
            <a:endParaRPr lang="en-US" sz="1740" dirty="0"/>
          </a:p>
        </p:txBody>
      </p:sp>
      <p:sp>
        <p:nvSpPr>
          <p:cNvPr id="18" name="Text 15"/>
          <p:cNvSpPr/>
          <p:nvPr/>
        </p:nvSpPr>
        <p:spPr>
          <a:xfrm>
            <a:off x="723882" y="2302245"/>
            <a:ext cx="891683" cy="228600"/>
          </a:xfrm>
          <a:prstGeom prst="rect">
            <a:avLst/>
          </a:prstGeom>
          <a:noFill/>
          <a:ln/>
        </p:spPr>
        <p:txBody>
          <a:bodyPr wrap="square" lIns="47625" tIns="114300" rIns="114300" bIns="47625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Mes</a:t>
            </a:r>
            <a:endParaRPr lang="en-US" sz="888" dirty="0"/>
          </a:p>
        </p:txBody>
      </p:sp>
      <p:sp>
        <p:nvSpPr>
          <p:cNvPr id="19" name="Text 16"/>
          <p:cNvSpPr/>
          <p:nvPr/>
        </p:nvSpPr>
        <p:spPr>
          <a:xfrm>
            <a:off x="723882" y="2530845"/>
            <a:ext cx="891683" cy="214313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Ene</a:t>
            </a:r>
            <a:endParaRPr lang="en-US" sz="864" dirty="0"/>
          </a:p>
        </p:txBody>
      </p:sp>
      <p:sp>
        <p:nvSpPr>
          <p:cNvPr id="20" name="Text 17"/>
          <p:cNvSpPr/>
          <p:nvPr/>
        </p:nvSpPr>
        <p:spPr>
          <a:xfrm>
            <a:off x="723882" y="2745158"/>
            <a:ext cx="891683" cy="219075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Feb</a:t>
            </a:r>
            <a:endParaRPr lang="en-US" sz="864" dirty="0"/>
          </a:p>
        </p:txBody>
      </p:sp>
      <p:sp>
        <p:nvSpPr>
          <p:cNvPr id="21" name="Text 18"/>
          <p:cNvSpPr/>
          <p:nvPr/>
        </p:nvSpPr>
        <p:spPr>
          <a:xfrm>
            <a:off x="723882" y="2964233"/>
            <a:ext cx="891683" cy="219075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Mar</a:t>
            </a:r>
            <a:endParaRPr lang="en-US" sz="864" dirty="0"/>
          </a:p>
        </p:txBody>
      </p:sp>
      <p:sp>
        <p:nvSpPr>
          <p:cNvPr id="22" name="Text 19"/>
          <p:cNvSpPr/>
          <p:nvPr/>
        </p:nvSpPr>
        <p:spPr>
          <a:xfrm>
            <a:off x="1564573" y="2964233"/>
            <a:ext cx="859032" cy="219075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64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148</a:t>
            </a:r>
            <a:endParaRPr lang="en-US" sz="864" dirty="0"/>
          </a:p>
        </p:txBody>
      </p:sp>
      <p:sp>
        <p:nvSpPr>
          <p:cNvPr id="23" name="Text 20"/>
          <p:cNvSpPr/>
          <p:nvPr/>
        </p:nvSpPr>
        <p:spPr>
          <a:xfrm>
            <a:off x="723882" y="3183308"/>
            <a:ext cx="891683" cy="219075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Abr</a:t>
            </a:r>
            <a:endParaRPr lang="en-US" sz="864" dirty="0"/>
          </a:p>
        </p:txBody>
      </p:sp>
      <p:sp>
        <p:nvSpPr>
          <p:cNvPr id="24" name="Text 21"/>
          <p:cNvSpPr/>
          <p:nvPr/>
        </p:nvSpPr>
        <p:spPr>
          <a:xfrm>
            <a:off x="723882" y="3402383"/>
            <a:ext cx="891683" cy="219075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May</a:t>
            </a:r>
            <a:endParaRPr lang="en-US" sz="864" dirty="0"/>
          </a:p>
        </p:txBody>
      </p:sp>
      <p:sp>
        <p:nvSpPr>
          <p:cNvPr id="25" name="Text 22"/>
          <p:cNvSpPr/>
          <p:nvPr/>
        </p:nvSpPr>
        <p:spPr>
          <a:xfrm>
            <a:off x="723882" y="3621458"/>
            <a:ext cx="891683" cy="219075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Jun</a:t>
            </a:r>
            <a:endParaRPr lang="en-US" sz="864" dirty="0"/>
          </a:p>
        </p:txBody>
      </p:sp>
      <p:sp>
        <p:nvSpPr>
          <p:cNvPr id="26" name="Text 23"/>
          <p:cNvSpPr/>
          <p:nvPr/>
        </p:nvSpPr>
        <p:spPr>
          <a:xfrm>
            <a:off x="1564573" y="3840533"/>
            <a:ext cx="859032" cy="214313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64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463</a:t>
            </a:r>
            <a:endParaRPr lang="en-US" sz="864" dirty="0"/>
          </a:p>
        </p:txBody>
      </p:sp>
      <p:sp>
        <p:nvSpPr>
          <p:cNvPr id="27" name="Text 24"/>
          <p:cNvSpPr/>
          <p:nvPr/>
        </p:nvSpPr>
        <p:spPr>
          <a:xfrm>
            <a:off x="2361894" y="3840533"/>
            <a:ext cx="2118762" cy="214313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64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388</a:t>
            </a:r>
            <a:endParaRPr lang="en-US" sz="864" dirty="0"/>
          </a:p>
        </p:txBody>
      </p:sp>
      <p:sp>
        <p:nvSpPr>
          <p:cNvPr id="28" name="Text 25"/>
          <p:cNvSpPr/>
          <p:nvPr/>
        </p:nvSpPr>
        <p:spPr>
          <a:xfrm>
            <a:off x="4438773" y="3840533"/>
            <a:ext cx="1438005" cy="214313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64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165</a:t>
            </a:r>
            <a:endParaRPr lang="en-US" sz="864" dirty="0"/>
          </a:p>
        </p:txBody>
      </p:sp>
      <p:sp>
        <p:nvSpPr>
          <p:cNvPr id="29" name="Text 26"/>
          <p:cNvSpPr/>
          <p:nvPr/>
        </p:nvSpPr>
        <p:spPr>
          <a:xfrm>
            <a:off x="781030" y="1143000"/>
            <a:ext cx="427502" cy="2648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4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463</a:t>
            </a:r>
            <a:endParaRPr lang="en-US" sz="1740" dirty="0"/>
          </a:p>
        </p:txBody>
      </p:sp>
      <p:sp>
        <p:nvSpPr>
          <p:cNvPr id="30" name="Text 27"/>
          <p:cNvSpPr/>
          <p:nvPr/>
        </p:nvSpPr>
        <p:spPr>
          <a:xfrm>
            <a:off x="6440849" y="2354610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8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Ene</a:t>
            </a:r>
            <a:endParaRPr lang="en-US" sz="780" dirty="0"/>
          </a:p>
        </p:txBody>
      </p:sp>
      <p:sp>
        <p:nvSpPr>
          <p:cNvPr id="31" name="Text 28"/>
          <p:cNvSpPr/>
          <p:nvPr/>
        </p:nvSpPr>
        <p:spPr>
          <a:xfrm>
            <a:off x="6443373" y="2583210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8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Feb</a:t>
            </a:r>
            <a:endParaRPr lang="en-US" sz="780" dirty="0"/>
          </a:p>
        </p:txBody>
      </p:sp>
      <p:sp>
        <p:nvSpPr>
          <p:cNvPr id="32" name="Text 29"/>
          <p:cNvSpPr/>
          <p:nvPr/>
        </p:nvSpPr>
        <p:spPr>
          <a:xfrm>
            <a:off x="6438798" y="2811810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8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Mar</a:t>
            </a:r>
            <a:endParaRPr lang="en-US" sz="780" dirty="0"/>
          </a:p>
        </p:txBody>
      </p:sp>
      <p:sp>
        <p:nvSpPr>
          <p:cNvPr id="33" name="Text 30"/>
          <p:cNvSpPr/>
          <p:nvPr/>
        </p:nvSpPr>
        <p:spPr>
          <a:xfrm>
            <a:off x="11270632" y="2811810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8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148</a:t>
            </a:r>
            <a:endParaRPr lang="en-US" sz="780" dirty="0"/>
          </a:p>
        </p:txBody>
      </p:sp>
      <p:sp>
        <p:nvSpPr>
          <p:cNvPr id="34" name="Text 31"/>
          <p:cNvSpPr/>
          <p:nvPr/>
        </p:nvSpPr>
        <p:spPr>
          <a:xfrm>
            <a:off x="6452207" y="3040410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8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Abr</a:t>
            </a:r>
            <a:endParaRPr lang="en-US" sz="780" dirty="0"/>
          </a:p>
        </p:txBody>
      </p:sp>
      <p:sp>
        <p:nvSpPr>
          <p:cNvPr id="35" name="Text 32"/>
          <p:cNvSpPr/>
          <p:nvPr/>
        </p:nvSpPr>
        <p:spPr>
          <a:xfrm>
            <a:off x="6423811" y="3269010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8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May</a:t>
            </a:r>
            <a:endParaRPr lang="en-US" sz="780" dirty="0"/>
          </a:p>
        </p:txBody>
      </p:sp>
      <p:sp>
        <p:nvSpPr>
          <p:cNvPr id="36" name="Text 33"/>
          <p:cNvSpPr/>
          <p:nvPr/>
        </p:nvSpPr>
        <p:spPr>
          <a:xfrm>
            <a:off x="6450787" y="3497610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8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Jun</a:t>
            </a:r>
            <a:endParaRPr lang="en-US" sz="780" dirty="0"/>
          </a:p>
        </p:txBody>
      </p:sp>
      <p:sp>
        <p:nvSpPr>
          <p:cNvPr id="37" name="Text 34"/>
          <p:cNvSpPr/>
          <p:nvPr/>
        </p:nvSpPr>
        <p:spPr>
          <a:xfrm>
            <a:off x="1564573" y="2530845"/>
            <a:ext cx="859032" cy="214313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64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62</a:t>
            </a:r>
            <a:endParaRPr lang="en-US" sz="864" dirty="0"/>
          </a:p>
        </p:txBody>
      </p:sp>
      <p:sp>
        <p:nvSpPr>
          <p:cNvPr id="38" name="Text 35"/>
          <p:cNvSpPr/>
          <p:nvPr/>
        </p:nvSpPr>
        <p:spPr>
          <a:xfrm>
            <a:off x="2361894" y="2530845"/>
            <a:ext cx="2118762" cy="214313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64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53</a:t>
            </a:r>
            <a:endParaRPr lang="en-US" sz="864" dirty="0"/>
          </a:p>
        </p:txBody>
      </p:sp>
      <p:sp>
        <p:nvSpPr>
          <p:cNvPr id="39" name="Text 36"/>
          <p:cNvSpPr/>
          <p:nvPr/>
        </p:nvSpPr>
        <p:spPr>
          <a:xfrm>
            <a:off x="4438773" y="2530845"/>
            <a:ext cx="1438005" cy="214313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64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31</a:t>
            </a:r>
            <a:endParaRPr lang="en-US" sz="864" dirty="0"/>
          </a:p>
        </p:txBody>
      </p:sp>
      <p:sp>
        <p:nvSpPr>
          <p:cNvPr id="40" name="Text 37"/>
          <p:cNvSpPr/>
          <p:nvPr/>
        </p:nvSpPr>
        <p:spPr>
          <a:xfrm>
            <a:off x="1564573" y="2745158"/>
            <a:ext cx="859032" cy="219075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64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76</a:t>
            </a:r>
            <a:endParaRPr lang="en-US" sz="864" dirty="0"/>
          </a:p>
        </p:txBody>
      </p:sp>
      <p:sp>
        <p:nvSpPr>
          <p:cNvPr id="41" name="Text 38"/>
          <p:cNvSpPr/>
          <p:nvPr/>
        </p:nvSpPr>
        <p:spPr>
          <a:xfrm>
            <a:off x="2361894" y="2745158"/>
            <a:ext cx="2118762" cy="219075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64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67</a:t>
            </a:r>
            <a:endParaRPr lang="en-US" sz="864" dirty="0"/>
          </a:p>
        </p:txBody>
      </p:sp>
      <p:sp>
        <p:nvSpPr>
          <p:cNvPr id="42" name="Text 39"/>
          <p:cNvSpPr/>
          <p:nvPr/>
        </p:nvSpPr>
        <p:spPr>
          <a:xfrm>
            <a:off x="4438773" y="2745158"/>
            <a:ext cx="1438005" cy="219075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64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28</a:t>
            </a:r>
            <a:endParaRPr lang="en-US" sz="864" dirty="0"/>
          </a:p>
        </p:txBody>
      </p:sp>
      <p:sp>
        <p:nvSpPr>
          <p:cNvPr id="43" name="Text 40"/>
          <p:cNvSpPr/>
          <p:nvPr/>
        </p:nvSpPr>
        <p:spPr>
          <a:xfrm>
            <a:off x="2361894" y="2964233"/>
            <a:ext cx="2118762" cy="219075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64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93</a:t>
            </a:r>
            <a:endParaRPr lang="en-US" sz="864" dirty="0"/>
          </a:p>
        </p:txBody>
      </p:sp>
      <p:sp>
        <p:nvSpPr>
          <p:cNvPr id="44" name="Text 41"/>
          <p:cNvSpPr/>
          <p:nvPr/>
        </p:nvSpPr>
        <p:spPr>
          <a:xfrm>
            <a:off x="4438773" y="2964233"/>
            <a:ext cx="1438005" cy="219075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64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34</a:t>
            </a:r>
            <a:endParaRPr lang="en-US" sz="864" dirty="0"/>
          </a:p>
        </p:txBody>
      </p:sp>
      <p:sp>
        <p:nvSpPr>
          <p:cNvPr id="45" name="Text 42"/>
          <p:cNvSpPr/>
          <p:nvPr/>
        </p:nvSpPr>
        <p:spPr>
          <a:xfrm>
            <a:off x="1564573" y="3183308"/>
            <a:ext cx="859032" cy="219075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64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76</a:t>
            </a:r>
            <a:endParaRPr lang="en-US" sz="864" dirty="0"/>
          </a:p>
        </p:txBody>
      </p:sp>
      <p:sp>
        <p:nvSpPr>
          <p:cNvPr id="46" name="Text 43"/>
          <p:cNvSpPr/>
          <p:nvPr/>
        </p:nvSpPr>
        <p:spPr>
          <a:xfrm>
            <a:off x="2361894" y="3183308"/>
            <a:ext cx="2118762" cy="219075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64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76</a:t>
            </a:r>
            <a:endParaRPr lang="en-US" sz="864" dirty="0"/>
          </a:p>
        </p:txBody>
      </p:sp>
      <p:sp>
        <p:nvSpPr>
          <p:cNvPr id="47" name="Text 44"/>
          <p:cNvSpPr/>
          <p:nvPr/>
        </p:nvSpPr>
        <p:spPr>
          <a:xfrm>
            <a:off x="4438773" y="3183308"/>
            <a:ext cx="1438005" cy="219075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64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27</a:t>
            </a:r>
            <a:endParaRPr lang="en-US" sz="864" dirty="0"/>
          </a:p>
        </p:txBody>
      </p:sp>
      <p:sp>
        <p:nvSpPr>
          <p:cNvPr id="48" name="Text 45"/>
          <p:cNvSpPr/>
          <p:nvPr/>
        </p:nvSpPr>
        <p:spPr>
          <a:xfrm>
            <a:off x="1564573" y="3402383"/>
            <a:ext cx="859032" cy="219075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64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58</a:t>
            </a:r>
            <a:endParaRPr lang="en-US" sz="864" dirty="0"/>
          </a:p>
        </p:txBody>
      </p:sp>
      <p:sp>
        <p:nvSpPr>
          <p:cNvPr id="49" name="Text 46"/>
          <p:cNvSpPr/>
          <p:nvPr/>
        </p:nvSpPr>
        <p:spPr>
          <a:xfrm>
            <a:off x="2361894" y="3402383"/>
            <a:ext cx="2118762" cy="219075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64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57</a:t>
            </a:r>
            <a:endParaRPr lang="en-US" sz="864" dirty="0"/>
          </a:p>
        </p:txBody>
      </p:sp>
      <p:sp>
        <p:nvSpPr>
          <p:cNvPr id="50" name="Text 47"/>
          <p:cNvSpPr/>
          <p:nvPr/>
        </p:nvSpPr>
        <p:spPr>
          <a:xfrm>
            <a:off x="4438773" y="3402383"/>
            <a:ext cx="1438005" cy="219075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64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25</a:t>
            </a:r>
            <a:endParaRPr lang="en-US" sz="864" dirty="0"/>
          </a:p>
        </p:txBody>
      </p:sp>
      <p:sp>
        <p:nvSpPr>
          <p:cNvPr id="51" name="Text 48"/>
          <p:cNvSpPr/>
          <p:nvPr/>
        </p:nvSpPr>
        <p:spPr>
          <a:xfrm>
            <a:off x="1564573" y="3621458"/>
            <a:ext cx="859032" cy="219075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64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43</a:t>
            </a:r>
            <a:endParaRPr lang="en-US" sz="864" dirty="0"/>
          </a:p>
        </p:txBody>
      </p:sp>
      <p:sp>
        <p:nvSpPr>
          <p:cNvPr id="52" name="Text 49"/>
          <p:cNvSpPr/>
          <p:nvPr/>
        </p:nvSpPr>
        <p:spPr>
          <a:xfrm>
            <a:off x="2361894" y="3621458"/>
            <a:ext cx="2118762" cy="219075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64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42</a:t>
            </a:r>
            <a:endParaRPr lang="en-US" sz="864" dirty="0"/>
          </a:p>
        </p:txBody>
      </p:sp>
      <p:sp>
        <p:nvSpPr>
          <p:cNvPr id="53" name="Text 50"/>
          <p:cNvSpPr/>
          <p:nvPr/>
        </p:nvSpPr>
        <p:spPr>
          <a:xfrm>
            <a:off x="4438773" y="3621458"/>
            <a:ext cx="1438005" cy="219075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64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20</a:t>
            </a:r>
            <a:endParaRPr lang="en-US" sz="864" dirty="0"/>
          </a:p>
        </p:txBody>
      </p:sp>
      <p:sp>
        <p:nvSpPr>
          <p:cNvPr id="54" name="Text 51"/>
          <p:cNvSpPr/>
          <p:nvPr/>
        </p:nvSpPr>
        <p:spPr>
          <a:xfrm>
            <a:off x="11324742" y="2354610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8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62</a:t>
            </a:r>
            <a:endParaRPr lang="en-US" sz="780" dirty="0"/>
          </a:p>
        </p:txBody>
      </p:sp>
      <p:sp>
        <p:nvSpPr>
          <p:cNvPr id="55" name="Text 52"/>
          <p:cNvSpPr/>
          <p:nvPr/>
        </p:nvSpPr>
        <p:spPr>
          <a:xfrm>
            <a:off x="11325057" y="2583210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8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76</a:t>
            </a:r>
            <a:endParaRPr lang="en-US" sz="780" dirty="0"/>
          </a:p>
        </p:txBody>
      </p:sp>
      <p:sp>
        <p:nvSpPr>
          <p:cNvPr id="56" name="Text 53"/>
          <p:cNvSpPr/>
          <p:nvPr/>
        </p:nvSpPr>
        <p:spPr>
          <a:xfrm>
            <a:off x="11325057" y="3040410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8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76</a:t>
            </a:r>
            <a:endParaRPr lang="en-US" sz="780" dirty="0"/>
          </a:p>
        </p:txBody>
      </p:sp>
      <p:sp>
        <p:nvSpPr>
          <p:cNvPr id="57" name="Text 54"/>
          <p:cNvSpPr/>
          <p:nvPr/>
        </p:nvSpPr>
        <p:spPr>
          <a:xfrm>
            <a:off x="11327108" y="3269010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8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58</a:t>
            </a:r>
            <a:endParaRPr lang="en-US" sz="780" dirty="0"/>
          </a:p>
        </p:txBody>
      </p:sp>
      <p:sp>
        <p:nvSpPr>
          <p:cNvPr id="58" name="Text 55"/>
          <p:cNvSpPr/>
          <p:nvPr/>
        </p:nvSpPr>
        <p:spPr>
          <a:xfrm>
            <a:off x="11329001" y="3497610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8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43</a:t>
            </a:r>
            <a:endParaRPr lang="en-US" sz="78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01_Repositorios\13_Presentaciones\dash\tradicional\ppt_slides\sk_01_ma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04832" y="1238250"/>
            <a:ext cx="351143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6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Asesores que financiaron en conciliaciones vs capacitados (cruzados por cédula).</a:t>
            </a:r>
            <a:endParaRPr lang="en-US" sz="696" dirty="0"/>
          </a:p>
        </p:txBody>
      </p:sp>
      <p:sp>
        <p:nvSpPr>
          <p:cNvPr id="4" name="Text 1"/>
          <p:cNvSpPr/>
          <p:nvPr/>
        </p:nvSpPr>
        <p:spPr>
          <a:xfrm>
            <a:off x="571486" y="209550"/>
            <a:ext cx="5343743" cy="1962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6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Cobertura de Formación por Aliado y Distribución Geográfica</a:t>
            </a:r>
            <a:endParaRPr lang="en-US" sz="1260" dirty="0"/>
          </a:p>
        </p:txBody>
      </p:sp>
      <p:sp>
        <p:nvSpPr>
          <p:cNvPr id="5" name="Text 2"/>
          <p:cNvSpPr/>
          <p:nvPr/>
        </p:nvSpPr>
        <p:spPr>
          <a:xfrm>
            <a:off x="857229" y="1028700"/>
            <a:ext cx="2932002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Cobertura de Formación por Aliado (Ene-Jun 2026)</a:t>
            </a:r>
            <a:endParaRPr lang="en-US" sz="888" dirty="0"/>
          </a:p>
        </p:txBody>
      </p:sp>
      <p:sp>
        <p:nvSpPr>
          <p:cNvPr id="6" name="Text 3"/>
          <p:cNvSpPr/>
          <p:nvPr/>
        </p:nvSpPr>
        <p:spPr>
          <a:xfrm>
            <a:off x="7707616" y="1028700"/>
            <a:ext cx="1761468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Cobertura por Mes (Semestre)</a:t>
            </a:r>
            <a:endParaRPr lang="en-US" sz="888" dirty="0"/>
          </a:p>
        </p:txBody>
      </p:sp>
      <p:sp>
        <p:nvSpPr>
          <p:cNvPr id="7" name="Text 4"/>
          <p:cNvSpPr/>
          <p:nvPr/>
        </p:nvSpPr>
        <p:spPr>
          <a:xfrm>
            <a:off x="7707616" y="3505200"/>
            <a:ext cx="1446276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Municipios Visitados (1S)</a:t>
            </a:r>
            <a:endParaRPr lang="en-US" sz="888" dirty="0"/>
          </a:p>
        </p:txBody>
      </p:sp>
      <p:sp>
        <p:nvSpPr>
          <p:cNvPr id="8" name="Text 5"/>
          <p:cNvSpPr/>
          <p:nvPr/>
        </p:nvSpPr>
        <p:spPr>
          <a:xfrm>
            <a:off x="4006204" y="3384970"/>
            <a:ext cx="1556804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Motos De La Boyaca</a:t>
            </a:r>
            <a:endParaRPr lang="en-US" sz="720" dirty="0"/>
          </a:p>
        </p:txBody>
      </p:sp>
      <p:sp>
        <p:nvSpPr>
          <p:cNvPr id="9" name="Text 6"/>
          <p:cNvSpPr/>
          <p:nvPr/>
        </p:nvSpPr>
        <p:spPr>
          <a:xfrm>
            <a:off x="4006204" y="4127920"/>
            <a:ext cx="1556804" cy="242888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Motos Del Tropico</a:t>
            </a:r>
            <a:endParaRPr lang="en-US" sz="720" dirty="0"/>
          </a:p>
        </p:txBody>
      </p:sp>
      <p:sp>
        <p:nvSpPr>
          <p:cNvPr id="10" name="Text 7"/>
          <p:cNvSpPr/>
          <p:nvPr/>
        </p:nvSpPr>
        <p:spPr>
          <a:xfrm>
            <a:off x="7555220" y="3886223"/>
            <a:ext cx="1466977" cy="180975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l" indent="0" marL="0">
              <a:buNone/>
            </a:pPr>
            <a:r>
              <a:rPr lang="en-US" sz="67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Bogotá Occidente</a:t>
            </a:r>
            <a:endParaRPr lang="en-US" sz="672" dirty="0"/>
          </a:p>
        </p:txBody>
      </p:sp>
      <p:sp>
        <p:nvSpPr>
          <p:cNvPr id="11" name="Text 8"/>
          <p:cNvSpPr/>
          <p:nvPr/>
        </p:nvSpPr>
        <p:spPr>
          <a:xfrm>
            <a:off x="704832" y="2642020"/>
            <a:ext cx="1556804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M&amp;F Super Gas</a:t>
            </a:r>
            <a:endParaRPr lang="en-US" sz="720" dirty="0"/>
          </a:p>
        </p:txBody>
      </p:sp>
      <p:sp>
        <p:nvSpPr>
          <p:cNvPr id="12" name="Text 9"/>
          <p:cNvSpPr/>
          <p:nvPr/>
        </p:nvSpPr>
        <p:spPr>
          <a:xfrm>
            <a:off x="704832" y="3384970"/>
            <a:ext cx="1556804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Carrera Motos</a:t>
            </a:r>
            <a:endParaRPr lang="en-US" sz="720" dirty="0"/>
          </a:p>
        </p:txBody>
      </p:sp>
      <p:sp>
        <p:nvSpPr>
          <p:cNvPr id="13" name="Text 10"/>
          <p:cNvSpPr/>
          <p:nvPr/>
        </p:nvSpPr>
        <p:spPr>
          <a:xfrm>
            <a:off x="704832" y="4127920"/>
            <a:ext cx="1556804" cy="242888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Planeta Motos</a:t>
            </a:r>
            <a:endParaRPr lang="en-US" sz="720" dirty="0"/>
          </a:p>
        </p:txBody>
      </p:sp>
      <p:sp>
        <p:nvSpPr>
          <p:cNvPr id="14" name="Text 11"/>
          <p:cNvSpPr/>
          <p:nvPr/>
        </p:nvSpPr>
        <p:spPr>
          <a:xfrm>
            <a:off x="4006204" y="1899070"/>
            <a:ext cx="1556804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Motos Del Sur</a:t>
            </a:r>
            <a:endParaRPr lang="en-US" sz="720" dirty="0"/>
          </a:p>
        </p:txBody>
      </p:sp>
      <p:sp>
        <p:nvSpPr>
          <p:cNvPr id="15" name="Text 12"/>
          <p:cNvSpPr/>
          <p:nvPr/>
        </p:nvSpPr>
        <p:spPr>
          <a:xfrm>
            <a:off x="7555220" y="3710010"/>
            <a:ext cx="1466977" cy="176212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l" indent="0" marL="0">
              <a:buNone/>
            </a:pPr>
            <a:r>
              <a:rPr lang="en-US" sz="67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Bogotá Centro</a:t>
            </a:r>
            <a:endParaRPr lang="en-US" sz="672" dirty="0"/>
          </a:p>
        </p:txBody>
      </p:sp>
      <p:sp>
        <p:nvSpPr>
          <p:cNvPr id="16" name="Text 13"/>
          <p:cNvSpPr/>
          <p:nvPr/>
        </p:nvSpPr>
        <p:spPr>
          <a:xfrm>
            <a:off x="704832" y="1656182"/>
            <a:ext cx="1556804" cy="242888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Multintegral</a:t>
            </a:r>
            <a:endParaRPr lang="en-US" sz="720" dirty="0"/>
          </a:p>
        </p:txBody>
      </p:sp>
      <p:sp>
        <p:nvSpPr>
          <p:cNvPr id="17" name="Text 14"/>
          <p:cNvSpPr/>
          <p:nvPr/>
        </p:nvSpPr>
        <p:spPr>
          <a:xfrm>
            <a:off x="704832" y="2394370"/>
            <a:ext cx="1556804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Grupo Merpes</a:t>
            </a:r>
            <a:endParaRPr lang="en-US" sz="720" dirty="0"/>
          </a:p>
        </p:txBody>
      </p:sp>
      <p:sp>
        <p:nvSpPr>
          <p:cNvPr id="18" name="Text 15"/>
          <p:cNvSpPr/>
          <p:nvPr/>
        </p:nvSpPr>
        <p:spPr>
          <a:xfrm>
            <a:off x="704832" y="3137320"/>
            <a:ext cx="1556804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Electroferia</a:t>
            </a:r>
            <a:endParaRPr lang="en-US" sz="720" dirty="0"/>
          </a:p>
        </p:txBody>
      </p:sp>
      <p:sp>
        <p:nvSpPr>
          <p:cNvPr id="19" name="Text 16"/>
          <p:cNvSpPr/>
          <p:nvPr/>
        </p:nvSpPr>
        <p:spPr>
          <a:xfrm>
            <a:off x="4006204" y="3632620"/>
            <a:ext cx="1556804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Punto Center</a:t>
            </a:r>
            <a:endParaRPr lang="en-US" sz="720" dirty="0"/>
          </a:p>
        </p:txBody>
      </p:sp>
      <p:sp>
        <p:nvSpPr>
          <p:cNvPr id="20" name="Text 17"/>
          <p:cNvSpPr/>
          <p:nvPr/>
        </p:nvSpPr>
        <p:spPr>
          <a:xfrm>
            <a:off x="704832" y="2146720"/>
            <a:ext cx="1556804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Maximuebles</a:t>
            </a:r>
            <a:endParaRPr lang="en-US" sz="720" dirty="0"/>
          </a:p>
        </p:txBody>
      </p:sp>
      <p:sp>
        <p:nvSpPr>
          <p:cNvPr id="21" name="Text 18"/>
          <p:cNvSpPr/>
          <p:nvPr/>
        </p:nvSpPr>
        <p:spPr>
          <a:xfrm>
            <a:off x="4006204" y="2394370"/>
            <a:ext cx="1556804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Moto Market</a:t>
            </a:r>
            <a:endParaRPr lang="en-US" sz="720" dirty="0"/>
          </a:p>
        </p:txBody>
      </p:sp>
      <p:sp>
        <p:nvSpPr>
          <p:cNvPr id="22" name="Text 19"/>
          <p:cNvSpPr/>
          <p:nvPr/>
        </p:nvSpPr>
        <p:spPr>
          <a:xfrm>
            <a:off x="4006204" y="2889670"/>
            <a:ext cx="1556804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Distrimotos</a:t>
            </a:r>
            <a:endParaRPr lang="en-US" sz="720" dirty="0"/>
          </a:p>
        </p:txBody>
      </p:sp>
      <p:sp>
        <p:nvSpPr>
          <p:cNvPr id="23" name="Text 20"/>
          <p:cNvSpPr/>
          <p:nvPr/>
        </p:nvSpPr>
        <p:spPr>
          <a:xfrm>
            <a:off x="9587715" y="4248173"/>
            <a:ext cx="1466977" cy="180975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l" indent="0" marL="0">
              <a:buNone/>
            </a:pPr>
            <a:r>
              <a:rPr lang="en-US" sz="67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Bucaramanga</a:t>
            </a:r>
            <a:endParaRPr lang="en-US" sz="672" dirty="0"/>
          </a:p>
        </p:txBody>
      </p:sp>
      <p:sp>
        <p:nvSpPr>
          <p:cNvPr id="24" name="Text 21"/>
          <p:cNvSpPr/>
          <p:nvPr/>
        </p:nvSpPr>
        <p:spPr>
          <a:xfrm>
            <a:off x="704832" y="3632620"/>
            <a:ext cx="1556804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Casa Bajaj</a:t>
            </a:r>
            <a:endParaRPr lang="en-US" sz="720" dirty="0"/>
          </a:p>
        </p:txBody>
      </p:sp>
      <p:sp>
        <p:nvSpPr>
          <p:cNvPr id="25" name="Text 22"/>
          <p:cNvSpPr/>
          <p:nvPr/>
        </p:nvSpPr>
        <p:spPr>
          <a:xfrm>
            <a:off x="4006204" y="2146720"/>
            <a:ext cx="1556804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Distritodo</a:t>
            </a:r>
            <a:endParaRPr lang="en-US" sz="720" dirty="0"/>
          </a:p>
        </p:txBody>
      </p:sp>
      <p:sp>
        <p:nvSpPr>
          <p:cNvPr id="26" name="Text 23"/>
          <p:cNvSpPr/>
          <p:nvPr/>
        </p:nvSpPr>
        <p:spPr>
          <a:xfrm>
            <a:off x="4006204" y="2642020"/>
            <a:ext cx="1556804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Credimovil</a:t>
            </a:r>
            <a:endParaRPr lang="en-US" sz="720" dirty="0"/>
          </a:p>
        </p:txBody>
      </p:sp>
      <p:sp>
        <p:nvSpPr>
          <p:cNvPr id="27" name="Text 24"/>
          <p:cNvSpPr/>
          <p:nvPr/>
        </p:nvSpPr>
        <p:spPr>
          <a:xfrm>
            <a:off x="7555220" y="4067198"/>
            <a:ext cx="1466977" cy="180975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l" indent="0" marL="0">
              <a:buNone/>
            </a:pPr>
            <a:r>
              <a:rPr lang="en-US" sz="67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Bogotá Sur</a:t>
            </a:r>
            <a:endParaRPr lang="en-US" sz="672" dirty="0"/>
          </a:p>
        </p:txBody>
      </p:sp>
      <p:sp>
        <p:nvSpPr>
          <p:cNvPr id="28" name="Text 25"/>
          <p:cNvSpPr/>
          <p:nvPr/>
        </p:nvSpPr>
        <p:spPr>
          <a:xfrm>
            <a:off x="9587715" y="4067198"/>
            <a:ext cx="1466977" cy="180975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l" indent="0" marL="0">
              <a:buNone/>
            </a:pPr>
            <a:r>
              <a:rPr lang="en-US" sz="67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Facatativá</a:t>
            </a:r>
            <a:endParaRPr lang="en-US" sz="672" dirty="0"/>
          </a:p>
        </p:txBody>
      </p:sp>
      <p:sp>
        <p:nvSpPr>
          <p:cNvPr id="29" name="Text 26"/>
          <p:cNvSpPr/>
          <p:nvPr/>
        </p:nvSpPr>
        <p:spPr>
          <a:xfrm>
            <a:off x="4006204" y="3137320"/>
            <a:ext cx="1556804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Grupo Uma</a:t>
            </a:r>
            <a:endParaRPr lang="en-US" sz="720" dirty="0"/>
          </a:p>
        </p:txBody>
      </p:sp>
      <p:sp>
        <p:nvSpPr>
          <p:cNvPr id="30" name="Text 27"/>
          <p:cNvSpPr/>
          <p:nvPr/>
        </p:nvSpPr>
        <p:spPr>
          <a:xfrm>
            <a:off x="9587715" y="4429148"/>
            <a:ext cx="1466977" cy="180975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l" indent="0" marL="0">
              <a:buNone/>
            </a:pPr>
            <a:r>
              <a:rPr lang="en-US" sz="67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Zipaquirá</a:t>
            </a:r>
            <a:endParaRPr lang="en-US" sz="672" dirty="0"/>
          </a:p>
        </p:txBody>
      </p:sp>
      <p:sp>
        <p:nvSpPr>
          <p:cNvPr id="31" name="Text 28"/>
          <p:cNvSpPr/>
          <p:nvPr/>
        </p:nvSpPr>
        <p:spPr>
          <a:xfrm>
            <a:off x="704832" y="2889670"/>
            <a:ext cx="1556804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Tech Red</a:t>
            </a:r>
            <a:endParaRPr lang="en-US" sz="720" dirty="0"/>
          </a:p>
        </p:txBody>
      </p:sp>
      <p:sp>
        <p:nvSpPr>
          <p:cNvPr id="32" name="Text 29"/>
          <p:cNvSpPr/>
          <p:nvPr/>
        </p:nvSpPr>
        <p:spPr>
          <a:xfrm>
            <a:off x="704832" y="3880270"/>
            <a:ext cx="1556804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Dismerca</a:t>
            </a:r>
            <a:endParaRPr lang="en-US" sz="720" dirty="0"/>
          </a:p>
        </p:txBody>
      </p:sp>
      <p:sp>
        <p:nvSpPr>
          <p:cNvPr id="33" name="Text 30"/>
          <p:cNvSpPr/>
          <p:nvPr/>
        </p:nvSpPr>
        <p:spPr>
          <a:xfrm>
            <a:off x="4006204" y="3880270"/>
            <a:ext cx="1556804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Janmotor</a:t>
            </a:r>
            <a:endParaRPr lang="en-US" sz="720" dirty="0"/>
          </a:p>
        </p:txBody>
      </p:sp>
      <p:sp>
        <p:nvSpPr>
          <p:cNvPr id="34" name="Text 31"/>
          <p:cNvSpPr/>
          <p:nvPr/>
        </p:nvSpPr>
        <p:spPr>
          <a:xfrm>
            <a:off x="7555220" y="2924198"/>
            <a:ext cx="774570" cy="242888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Prom. 1S</a:t>
            </a:r>
            <a:endParaRPr lang="en-US" sz="720" dirty="0"/>
          </a:p>
        </p:txBody>
      </p:sp>
      <p:sp>
        <p:nvSpPr>
          <p:cNvPr id="35" name="Text 32"/>
          <p:cNvSpPr/>
          <p:nvPr/>
        </p:nvSpPr>
        <p:spPr>
          <a:xfrm>
            <a:off x="9587715" y="3710010"/>
            <a:ext cx="1466977" cy="176212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l" indent="0" marL="0">
              <a:buNone/>
            </a:pPr>
            <a:r>
              <a:rPr lang="en-US" sz="67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Sogamoso</a:t>
            </a:r>
            <a:endParaRPr lang="en-US" sz="672" dirty="0"/>
          </a:p>
        </p:txBody>
      </p:sp>
      <p:sp>
        <p:nvSpPr>
          <p:cNvPr id="36" name="Text 33"/>
          <p:cNvSpPr/>
          <p:nvPr/>
        </p:nvSpPr>
        <p:spPr>
          <a:xfrm>
            <a:off x="9587715" y="3886223"/>
            <a:ext cx="1466977" cy="180975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l" indent="0" marL="0">
              <a:buNone/>
            </a:pPr>
            <a:r>
              <a:rPr lang="en-US" sz="67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Mosquera</a:t>
            </a:r>
            <a:endParaRPr lang="en-US" sz="672" dirty="0"/>
          </a:p>
        </p:txBody>
      </p:sp>
      <p:sp>
        <p:nvSpPr>
          <p:cNvPr id="37" name="Text 34"/>
          <p:cNvSpPr/>
          <p:nvPr/>
        </p:nvSpPr>
        <p:spPr>
          <a:xfrm>
            <a:off x="704832" y="1899070"/>
            <a:ext cx="1556804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Diverxa</a:t>
            </a:r>
            <a:endParaRPr lang="en-US" sz="720" dirty="0"/>
          </a:p>
        </p:txBody>
      </p:sp>
      <p:sp>
        <p:nvSpPr>
          <p:cNvPr id="38" name="Text 35"/>
          <p:cNvSpPr/>
          <p:nvPr/>
        </p:nvSpPr>
        <p:spPr>
          <a:xfrm>
            <a:off x="8283129" y="1214460"/>
            <a:ext cx="827455" cy="228600"/>
          </a:xfrm>
          <a:prstGeom prst="rect">
            <a:avLst/>
          </a:prstGeom>
          <a:noFill/>
          <a:ln/>
        </p:spPr>
        <p:txBody>
          <a:bodyPr wrap="square" lIns="47625" tIns="114300" rIns="114300" bIns="47625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Financ.</a:t>
            </a:r>
            <a:endParaRPr lang="en-US" sz="888" dirty="0"/>
          </a:p>
        </p:txBody>
      </p:sp>
      <p:sp>
        <p:nvSpPr>
          <p:cNvPr id="39" name="Text 36"/>
          <p:cNvSpPr/>
          <p:nvPr/>
        </p:nvSpPr>
        <p:spPr>
          <a:xfrm>
            <a:off x="704832" y="1427582"/>
            <a:ext cx="1556804" cy="228600"/>
          </a:xfrm>
          <a:prstGeom prst="rect">
            <a:avLst/>
          </a:prstGeom>
          <a:noFill/>
          <a:ln/>
        </p:spPr>
        <p:txBody>
          <a:bodyPr wrap="square" lIns="47625" tIns="114300" rIns="114300" bIns="47625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Aliado</a:t>
            </a:r>
            <a:endParaRPr lang="en-US" sz="888" dirty="0"/>
          </a:p>
        </p:txBody>
      </p:sp>
      <p:sp>
        <p:nvSpPr>
          <p:cNvPr id="40" name="Text 37"/>
          <p:cNvSpPr/>
          <p:nvPr/>
        </p:nvSpPr>
        <p:spPr>
          <a:xfrm>
            <a:off x="4006204" y="1427582"/>
            <a:ext cx="1556804" cy="228600"/>
          </a:xfrm>
          <a:prstGeom prst="rect">
            <a:avLst/>
          </a:prstGeom>
          <a:noFill/>
          <a:ln/>
        </p:spPr>
        <p:txBody>
          <a:bodyPr wrap="square" lIns="47625" tIns="114300" rIns="114300" bIns="47625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Aliado</a:t>
            </a:r>
            <a:endParaRPr lang="en-US" sz="888" dirty="0"/>
          </a:p>
        </p:txBody>
      </p:sp>
      <p:sp>
        <p:nvSpPr>
          <p:cNvPr id="41" name="Text 38"/>
          <p:cNvSpPr/>
          <p:nvPr/>
        </p:nvSpPr>
        <p:spPr>
          <a:xfrm>
            <a:off x="9087287" y="1214460"/>
            <a:ext cx="799863" cy="228600"/>
          </a:xfrm>
          <a:prstGeom prst="rect">
            <a:avLst/>
          </a:prstGeom>
          <a:noFill/>
          <a:ln/>
        </p:spPr>
        <p:txBody>
          <a:bodyPr wrap="square" lIns="47625" tIns="114300" rIns="114300" bIns="47625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Capac.</a:t>
            </a:r>
            <a:endParaRPr lang="en-US" sz="888" dirty="0"/>
          </a:p>
        </p:txBody>
      </p:sp>
      <p:sp>
        <p:nvSpPr>
          <p:cNvPr id="42" name="Text 39"/>
          <p:cNvSpPr/>
          <p:nvPr/>
        </p:nvSpPr>
        <p:spPr>
          <a:xfrm>
            <a:off x="10643313" y="1214460"/>
            <a:ext cx="843550" cy="228600"/>
          </a:xfrm>
          <a:prstGeom prst="rect">
            <a:avLst/>
          </a:prstGeom>
          <a:noFill/>
          <a:ln/>
        </p:spPr>
        <p:txBody>
          <a:bodyPr wrap="square" lIns="47625" tIns="114300" rIns="114300" bIns="47625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Cob. %</a:t>
            </a:r>
            <a:endParaRPr lang="en-US" sz="888" dirty="0"/>
          </a:p>
        </p:txBody>
      </p:sp>
      <p:sp>
        <p:nvSpPr>
          <p:cNvPr id="43" name="Text 40"/>
          <p:cNvSpPr/>
          <p:nvPr/>
        </p:nvSpPr>
        <p:spPr>
          <a:xfrm>
            <a:off x="7555220" y="4429148"/>
            <a:ext cx="1466977" cy="180975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l" indent="0" marL="0">
              <a:buNone/>
            </a:pPr>
            <a:r>
              <a:rPr lang="en-US" sz="67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Soacha</a:t>
            </a:r>
            <a:endParaRPr lang="en-US" sz="672" dirty="0"/>
          </a:p>
        </p:txBody>
      </p:sp>
      <p:sp>
        <p:nvSpPr>
          <p:cNvPr id="44" name="Text 41"/>
          <p:cNvSpPr/>
          <p:nvPr/>
        </p:nvSpPr>
        <p:spPr>
          <a:xfrm>
            <a:off x="9587715" y="4610123"/>
            <a:ext cx="1466977" cy="176212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l" indent="0" marL="0">
              <a:buNone/>
            </a:pPr>
            <a:r>
              <a:rPr lang="en-US" sz="67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Madrid</a:t>
            </a:r>
            <a:endParaRPr lang="en-US" sz="672" dirty="0"/>
          </a:p>
        </p:txBody>
      </p:sp>
      <p:sp>
        <p:nvSpPr>
          <p:cNvPr id="45" name="Text 42"/>
          <p:cNvSpPr/>
          <p:nvPr/>
        </p:nvSpPr>
        <p:spPr>
          <a:xfrm>
            <a:off x="4006204" y="1656182"/>
            <a:ext cx="1556804" cy="242888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Asyco</a:t>
            </a:r>
            <a:endParaRPr lang="en-US" sz="720" dirty="0"/>
          </a:p>
        </p:txBody>
      </p:sp>
      <p:sp>
        <p:nvSpPr>
          <p:cNvPr id="46" name="Text 43"/>
          <p:cNvSpPr/>
          <p:nvPr/>
        </p:nvSpPr>
        <p:spPr>
          <a:xfrm>
            <a:off x="9863727" y="1214460"/>
            <a:ext cx="804155" cy="228600"/>
          </a:xfrm>
          <a:prstGeom prst="rect">
            <a:avLst/>
          </a:prstGeom>
          <a:noFill/>
          <a:ln/>
        </p:spPr>
        <p:txBody>
          <a:bodyPr wrap="square" lIns="47625" tIns="114300" rIns="114300" bIns="47625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Ambos</a:t>
            </a:r>
            <a:endParaRPr lang="en-US" sz="888" dirty="0"/>
          </a:p>
        </p:txBody>
      </p:sp>
      <p:sp>
        <p:nvSpPr>
          <p:cNvPr id="47" name="Text 44"/>
          <p:cNvSpPr/>
          <p:nvPr/>
        </p:nvSpPr>
        <p:spPr>
          <a:xfrm>
            <a:off x="10643313" y="1443060"/>
            <a:ext cx="843550" cy="242888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15,0%</a:t>
            </a:r>
            <a:endParaRPr lang="en-US" sz="816" dirty="0"/>
          </a:p>
        </p:txBody>
      </p:sp>
      <p:sp>
        <p:nvSpPr>
          <p:cNvPr id="48" name="Text 45"/>
          <p:cNvSpPr/>
          <p:nvPr/>
        </p:nvSpPr>
        <p:spPr>
          <a:xfrm>
            <a:off x="10643313" y="1933598"/>
            <a:ext cx="843550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18,6%</a:t>
            </a:r>
            <a:endParaRPr lang="en-US" sz="816" dirty="0"/>
          </a:p>
        </p:txBody>
      </p:sp>
      <p:sp>
        <p:nvSpPr>
          <p:cNvPr id="49" name="Text 46"/>
          <p:cNvSpPr/>
          <p:nvPr/>
        </p:nvSpPr>
        <p:spPr>
          <a:xfrm>
            <a:off x="10643313" y="2676548"/>
            <a:ext cx="843550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8A620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10,8%</a:t>
            </a:r>
            <a:endParaRPr lang="en-US" sz="816" dirty="0"/>
          </a:p>
        </p:txBody>
      </p:sp>
      <p:sp>
        <p:nvSpPr>
          <p:cNvPr id="50" name="Text 47"/>
          <p:cNvSpPr/>
          <p:nvPr/>
        </p:nvSpPr>
        <p:spPr>
          <a:xfrm>
            <a:off x="10643313" y="2924198"/>
            <a:ext cx="843550" cy="242888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8A620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10,8%</a:t>
            </a:r>
            <a:endParaRPr lang="en-US" sz="816" dirty="0"/>
          </a:p>
        </p:txBody>
      </p:sp>
      <p:sp>
        <p:nvSpPr>
          <p:cNvPr id="51" name="Text 48"/>
          <p:cNvSpPr/>
          <p:nvPr/>
        </p:nvSpPr>
        <p:spPr>
          <a:xfrm>
            <a:off x="7555220" y="4248173"/>
            <a:ext cx="1466977" cy="180975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l" indent="0" marL="0">
              <a:buNone/>
            </a:pPr>
            <a:r>
              <a:rPr lang="en-US" sz="67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Tunja</a:t>
            </a:r>
            <a:endParaRPr lang="en-US" sz="672" dirty="0"/>
          </a:p>
        </p:txBody>
      </p:sp>
      <p:sp>
        <p:nvSpPr>
          <p:cNvPr id="52" name="Text 49"/>
          <p:cNvSpPr/>
          <p:nvPr/>
        </p:nvSpPr>
        <p:spPr>
          <a:xfrm>
            <a:off x="2203068" y="1427582"/>
            <a:ext cx="454042" cy="228600"/>
          </a:xfrm>
          <a:prstGeom prst="rect">
            <a:avLst/>
          </a:prstGeom>
          <a:noFill/>
          <a:ln/>
        </p:spPr>
        <p:txBody>
          <a:bodyPr wrap="square" lIns="47625" tIns="114300" rIns="114300" bIns="47625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Fin.</a:t>
            </a:r>
            <a:endParaRPr lang="en-US" sz="888" dirty="0"/>
          </a:p>
        </p:txBody>
      </p:sp>
      <p:sp>
        <p:nvSpPr>
          <p:cNvPr id="53" name="Text 50"/>
          <p:cNvSpPr/>
          <p:nvPr/>
        </p:nvSpPr>
        <p:spPr>
          <a:xfrm>
            <a:off x="2643886" y="1427582"/>
            <a:ext cx="454042" cy="228600"/>
          </a:xfrm>
          <a:prstGeom prst="rect">
            <a:avLst/>
          </a:prstGeom>
          <a:noFill/>
          <a:ln/>
        </p:spPr>
        <p:txBody>
          <a:bodyPr wrap="square" lIns="47625" tIns="114300" rIns="114300" bIns="47625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Cap.</a:t>
            </a:r>
            <a:endParaRPr lang="en-US" sz="888" dirty="0"/>
          </a:p>
        </p:txBody>
      </p:sp>
      <p:sp>
        <p:nvSpPr>
          <p:cNvPr id="54" name="Text 51"/>
          <p:cNvSpPr/>
          <p:nvPr/>
        </p:nvSpPr>
        <p:spPr>
          <a:xfrm>
            <a:off x="3075252" y="1427582"/>
            <a:ext cx="778556" cy="228600"/>
          </a:xfrm>
          <a:prstGeom prst="rect">
            <a:avLst/>
          </a:prstGeom>
          <a:noFill/>
          <a:ln/>
        </p:spPr>
        <p:txBody>
          <a:bodyPr wrap="square" lIns="47625" tIns="114300" rIns="114300" bIns="47625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Cob.</a:t>
            </a:r>
            <a:endParaRPr lang="en-US" sz="888" dirty="0"/>
          </a:p>
        </p:txBody>
      </p:sp>
      <p:sp>
        <p:nvSpPr>
          <p:cNvPr id="55" name="Text 52"/>
          <p:cNvSpPr/>
          <p:nvPr/>
        </p:nvSpPr>
        <p:spPr>
          <a:xfrm>
            <a:off x="5504440" y="1427582"/>
            <a:ext cx="454042" cy="228600"/>
          </a:xfrm>
          <a:prstGeom prst="rect">
            <a:avLst/>
          </a:prstGeom>
          <a:noFill/>
          <a:ln/>
        </p:spPr>
        <p:txBody>
          <a:bodyPr wrap="square" lIns="47625" tIns="114300" rIns="114300" bIns="47625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Fin.</a:t>
            </a:r>
            <a:endParaRPr lang="en-US" sz="888" dirty="0"/>
          </a:p>
        </p:txBody>
      </p:sp>
      <p:sp>
        <p:nvSpPr>
          <p:cNvPr id="56" name="Text 53"/>
          <p:cNvSpPr/>
          <p:nvPr/>
        </p:nvSpPr>
        <p:spPr>
          <a:xfrm>
            <a:off x="5945258" y="1427582"/>
            <a:ext cx="454042" cy="228600"/>
          </a:xfrm>
          <a:prstGeom prst="rect">
            <a:avLst/>
          </a:prstGeom>
          <a:noFill/>
          <a:ln/>
        </p:spPr>
        <p:txBody>
          <a:bodyPr wrap="square" lIns="47625" tIns="114300" rIns="114300" bIns="47625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Cap.</a:t>
            </a:r>
            <a:endParaRPr lang="en-US" sz="888" dirty="0"/>
          </a:p>
        </p:txBody>
      </p:sp>
      <p:sp>
        <p:nvSpPr>
          <p:cNvPr id="57" name="Text 54"/>
          <p:cNvSpPr/>
          <p:nvPr/>
        </p:nvSpPr>
        <p:spPr>
          <a:xfrm>
            <a:off x="6376624" y="1427582"/>
            <a:ext cx="778556" cy="228600"/>
          </a:xfrm>
          <a:prstGeom prst="rect">
            <a:avLst/>
          </a:prstGeom>
          <a:noFill/>
          <a:ln/>
        </p:spPr>
        <p:txBody>
          <a:bodyPr wrap="square" lIns="47625" tIns="114300" rIns="114300" bIns="47625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Cob.</a:t>
            </a:r>
            <a:endParaRPr lang="en-US" sz="888" dirty="0"/>
          </a:p>
        </p:txBody>
      </p:sp>
      <p:sp>
        <p:nvSpPr>
          <p:cNvPr id="58" name="Text 55"/>
          <p:cNvSpPr/>
          <p:nvPr/>
        </p:nvSpPr>
        <p:spPr>
          <a:xfrm>
            <a:off x="6376624" y="2394370"/>
            <a:ext cx="778556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100%</a:t>
            </a:r>
            <a:endParaRPr lang="en-US" sz="816" dirty="0"/>
          </a:p>
        </p:txBody>
      </p:sp>
      <p:sp>
        <p:nvSpPr>
          <p:cNvPr id="59" name="Text 56"/>
          <p:cNvSpPr/>
          <p:nvPr/>
        </p:nvSpPr>
        <p:spPr>
          <a:xfrm>
            <a:off x="10643313" y="1685948"/>
            <a:ext cx="843550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C44A1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4,4%</a:t>
            </a:r>
            <a:endParaRPr lang="en-US" sz="816" dirty="0"/>
          </a:p>
        </p:txBody>
      </p:sp>
      <p:sp>
        <p:nvSpPr>
          <p:cNvPr id="60" name="Text 57"/>
          <p:cNvSpPr/>
          <p:nvPr/>
        </p:nvSpPr>
        <p:spPr>
          <a:xfrm>
            <a:off x="10643313" y="2181248"/>
            <a:ext cx="843550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8A620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7,9%</a:t>
            </a:r>
            <a:endParaRPr lang="en-US" sz="816" dirty="0"/>
          </a:p>
        </p:txBody>
      </p:sp>
      <p:sp>
        <p:nvSpPr>
          <p:cNvPr id="61" name="Text 58"/>
          <p:cNvSpPr/>
          <p:nvPr/>
        </p:nvSpPr>
        <p:spPr>
          <a:xfrm>
            <a:off x="10643313" y="2428898"/>
            <a:ext cx="843550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8A620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8,3%</a:t>
            </a:r>
            <a:endParaRPr lang="en-US" sz="816" dirty="0"/>
          </a:p>
        </p:txBody>
      </p:sp>
      <p:sp>
        <p:nvSpPr>
          <p:cNvPr id="62" name="Text 59"/>
          <p:cNvSpPr/>
          <p:nvPr/>
        </p:nvSpPr>
        <p:spPr>
          <a:xfrm>
            <a:off x="7555220" y="4610123"/>
            <a:ext cx="1466977" cy="176212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l" indent="0" marL="0">
              <a:buNone/>
            </a:pPr>
            <a:r>
              <a:rPr lang="en-US" sz="67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Chía</a:t>
            </a:r>
            <a:endParaRPr lang="en-US" sz="672" dirty="0"/>
          </a:p>
        </p:txBody>
      </p:sp>
      <p:sp>
        <p:nvSpPr>
          <p:cNvPr id="63" name="Text 60"/>
          <p:cNvSpPr/>
          <p:nvPr/>
        </p:nvSpPr>
        <p:spPr>
          <a:xfrm>
            <a:off x="3075252" y="1899070"/>
            <a:ext cx="778556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53%</a:t>
            </a:r>
            <a:endParaRPr lang="en-US" sz="816" dirty="0"/>
          </a:p>
        </p:txBody>
      </p:sp>
      <p:sp>
        <p:nvSpPr>
          <p:cNvPr id="64" name="Text 61"/>
          <p:cNvSpPr/>
          <p:nvPr/>
        </p:nvSpPr>
        <p:spPr>
          <a:xfrm>
            <a:off x="3075252" y="2146720"/>
            <a:ext cx="778556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33%</a:t>
            </a:r>
            <a:endParaRPr lang="en-US" sz="816" dirty="0"/>
          </a:p>
        </p:txBody>
      </p:sp>
      <p:sp>
        <p:nvSpPr>
          <p:cNvPr id="65" name="Text 62"/>
          <p:cNvSpPr/>
          <p:nvPr/>
        </p:nvSpPr>
        <p:spPr>
          <a:xfrm>
            <a:off x="3075252" y="2394370"/>
            <a:ext cx="778556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21%</a:t>
            </a:r>
            <a:endParaRPr lang="en-US" sz="816" dirty="0"/>
          </a:p>
        </p:txBody>
      </p:sp>
      <p:sp>
        <p:nvSpPr>
          <p:cNvPr id="66" name="Text 63"/>
          <p:cNvSpPr/>
          <p:nvPr/>
        </p:nvSpPr>
        <p:spPr>
          <a:xfrm>
            <a:off x="3075252" y="2642020"/>
            <a:ext cx="778556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69%</a:t>
            </a:r>
            <a:endParaRPr lang="en-US" sz="816" dirty="0"/>
          </a:p>
        </p:txBody>
      </p:sp>
      <p:sp>
        <p:nvSpPr>
          <p:cNvPr id="67" name="Text 64"/>
          <p:cNvSpPr/>
          <p:nvPr/>
        </p:nvSpPr>
        <p:spPr>
          <a:xfrm>
            <a:off x="3075252" y="3137320"/>
            <a:ext cx="778556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78%</a:t>
            </a:r>
            <a:endParaRPr lang="en-US" sz="816" dirty="0"/>
          </a:p>
        </p:txBody>
      </p:sp>
      <p:sp>
        <p:nvSpPr>
          <p:cNvPr id="68" name="Text 65"/>
          <p:cNvSpPr/>
          <p:nvPr/>
        </p:nvSpPr>
        <p:spPr>
          <a:xfrm>
            <a:off x="3075252" y="3384970"/>
            <a:ext cx="778556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43%</a:t>
            </a:r>
            <a:endParaRPr lang="en-US" sz="816" dirty="0"/>
          </a:p>
        </p:txBody>
      </p:sp>
      <p:sp>
        <p:nvSpPr>
          <p:cNvPr id="69" name="Text 66"/>
          <p:cNvSpPr/>
          <p:nvPr/>
        </p:nvSpPr>
        <p:spPr>
          <a:xfrm>
            <a:off x="3075252" y="3880270"/>
            <a:ext cx="778556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25%</a:t>
            </a:r>
            <a:endParaRPr lang="en-US" sz="816" dirty="0"/>
          </a:p>
        </p:txBody>
      </p:sp>
      <p:sp>
        <p:nvSpPr>
          <p:cNvPr id="70" name="Text 67"/>
          <p:cNvSpPr/>
          <p:nvPr/>
        </p:nvSpPr>
        <p:spPr>
          <a:xfrm>
            <a:off x="3075252" y="4127920"/>
            <a:ext cx="778556" cy="242888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25%</a:t>
            </a:r>
            <a:endParaRPr lang="en-US" sz="816" dirty="0"/>
          </a:p>
        </p:txBody>
      </p:sp>
      <p:sp>
        <p:nvSpPr>
          <p:cNvPr id="71" name="Text 68"/>
          <p:cNvSpPr/>
          <p:nvPr/>
        </p:nvSpPr>
        <p:spPr>
          <a:xfrm>
            <a:off x="6376624" y="1899070"/>
            <a:ext cx="778556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67%</a:t>
            </a:r>
            <a:endParaRPr lang="en-US" sz="816" dirty="0"/>
          </a:p>
        </p:txBody>
      </p:sp>
      <p:sp>
        <p:nvSpPr>
          <p:cNvPr id="72" name="Text 69"/>
          <p:cNvSpPr/>
          <p:nvPr/>
        </p:nvSpPr>
        <p:spPr>
          <a:xfrm>
            <a:off x="6376624" y="2146720"/>
            <a:ext cx="778556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50%</a:t>
            </a:r>
            <a:endParaRPr lang="en-US" sz="816" dirty="0"/>
          </a:p>
        </p:txBody>
      </p:sp>
      <p:sp>
        <p:nvSpPr>
          <p:cNvPr id="73" name="Text 70"/>
          <p:cNvSpPr/>
          <p:nvPr/>
        </p:nvSpPr>
        <p:spPr>
          <a:xfrm>
            <a:off x="6376624" y="3880270"/>
            <a:ext cx="778556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8A620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S/D</a:t>
            </a:r>
            <a:endParaRPr lang="en-US" sz="816" dirty="0"/>
          </a:p>
        </p:txBody>
      </p:sp>
      <p:sp>
        <p:nvSpPr>
          <p:cNvPr id="74" name="Text 71"/>
          <p:cNvSpPr/>
          <p:nvPr/>
        </p:nvSpPr>
        <p:spPr>
          <a:xfrm>
            <a:off x="6376624" y="4127920"/>
            <a:ext cx="778556" cy="242888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8A620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S/D</a:t>
            </a:r>
            <a:endParaRPr lang="en-US" sz="816" dirty="0"/>
          </a:p>
        </p:txBody>
      </p:sp>
      <p:sp>
        <p:nvSpPr>
          <p:cNvPr id="75" name="Text 72"/>
          <p:cNvSpPr/>
          <p:nvPr/>
        </p:nvSpPr>
        <p:spPr>
          <a:xfrm>
            <a:off x="7555220" y="1214460"/>
            <a:ext cx="774570" cy="228600"/>
          </a:xfrm>
          <a:prstGeom prst="rect">
            <a:avLst/>
          </a:prstGeom>
          <a:noFill/>
          <a:ln/>
        </p:spPr>
        <p:txBody>
          <a:bodyPr wrap="square" lIns="47625" tIns="114300" rIns="114300" bIns="47625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Mes</a:t>
            </a:r>
            <a:endParaRPr lang="en-US" sz="888" dirty="0"/>
          </a:p>
        </p:txBody>
      </p:sp>
      <p:sp>
        <p:nvSpPr>
          <p:cNvPr id="76" name="Text 73"/>
          <p:cNvSpPr/>
          <p:nvPr/>
        </p:nvSpPr>
        <p:spPr>
          <a:xfrm>
            <a:off x="7555220" y="1443060"/>
            <a:ext cx="774570" cy="242888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Ene</a:t>
            </a:r>
            <a:endParaRPr lang="en-US" sz="720" dirty="0"/>
          </a:p>
        </p:txBody>
      </p:sp>
      <p:sp>
        <p:nvSpPr>
          <p:cNvPr id="77" name="Text 74"/>
          <p:cNvSpPr/>
          <p:nvPr/>
        </p:nvSpPr>
        <p:spPr>
          <a:xfrm>
            <a:off x="7555220" y="1685948"/>
            <a:ext cx="774570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Feb</a:t>
            </a:r>
            <a:endParaRPr lang="en-US" sz="720" dirty="0"/>
          </a:p>
        </p:txBody>
      </p:sp>
      <p:sp>
        <p:nvSpPr>
          <p:cNvPr id="78" name="Text 75"/>
          <p:cNvSpPr/>
          <p:nvPr/>
        </p:nvSpPr>
        <p:spPr>
          <a:xfrm>
            <a:off x="7555220" y="1933598"/>
            <a:ext cx="774570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Mar</a:t>
            </a:r>
            <a:endParaRPr lang="en-US" sz="720" dirty="0"/>
          </a:p>
        </p:txBody>
      </p:sp>
      <p:sp>
        <p:nvSpPr>
          <p:cNvPr id="79" name="Text 76"/>
          <p:cNvSpPr/>
          <p:nvPr/>
        </p:nvSpPr>
        <p:spPr>
          <a:xfrm>
            <a:off x="7555220" y="2181248"/>
            <a:ext cx="774570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Abr</a:t>
            </a:r>
            <a:endParaRPr lang="en-US" sz="720" dirty="0"/>
          </a:p>
        </p:txBody>
      </p:sp>
      <p:sp>
        <p:nvSpPr>
          <p:cNvPr id="80" name="Text 77"/>
          <p:cNvSpPr/>
          <p:nvPr/>
        </p:nvSpPr>
        <p:spPr>
          <a:xfrm>
            <a:off x="7555220" y="2428898"/>
            <a:ext cx="774570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May</a:t>
            </a:r>
            <a:endParaRPr lang="en-US" sz="720" dirty="0"/>
          </a:p>
        </p:txBody>
      </p:sp>
      <p:sp>
        <p:nvSpPr>
          <p:cNvPr id="81" name="Text 78"/>
          <p:cNvSpPr/>
          <p:nvPr/>
        </p:nvSpPr>
        <p:spPr>
          <a:xfrm>
            <a:off x="7555220" y="2676548"/>
            <a:ext cx="774570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Jun</a:t>
            </a:r>
            <a:endParaRPr lang="en-US" sz="720" dirty="0"/>
          </a:p>
        </p:txBody>
      </p:sp>
      <p:sp>
        <p:nvSpPr>
          <p:cNvPr id="82" name="Text 79"/>
          <p:cNvSpPr/>
          <p:nvPr/>
        </p:nvSpPr>
        <p:spPr>
          <a:xfrm>
            <a:off x="8965222" y="3710010"/>
            <a:ext cx="489146" cy="176212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672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209</a:t>
            </a:r>
            <a:endParaRPr lang="en-US" sz="672" dirty="0"/>
          </a:p>
        </p:txBody>
      </p:sp>
      <p:sp>
        <p:nvSpPr>
          <p:cNvPr id="83" name="Text 80"/>
          <p:cNvSpPr/>
          <p:nvPr/>
        </p:nvSpPr>
        <p:spPr>
          <a:xfrm>
            <a:off x="8965222" y="3886223"/>
            <a:ext cx="489146" cy="180975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672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117</a:t>
            </a:r>
            <a:endParaRPr lang="en-US" sz="672" dirty="0"/>
          </a:p>
        </p:txBody>
      </p:sp>
      <p:sp>
        <p:nvSpPr>
          <p:cNvPr id="84" name="Text 81"/>
          <p:cNvSpPr/>
          <p:nvPr/>
        </p:nvSpPr>
        <p:spPr>
          <a:xfrm>
            <a:off x="2203068" y="1656182"/>
            <a:ext cx="454042" cy="242888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88</a:t>
            </a:r>
            <a:endParaRPr lang="en-US" sz="720" dirty="0"/>
          </a:p>
        </p:txBody>
      </p:sp>
      <p:sp>
        <p:nvSpPr>
          <p:cNvPr id="85" name="Text 82"/>
          <p:cNvSpPr/>
          <p:nvPr/>
        </p:nvSpPr>
        <p:spPr>
          <a:xfrm>
            <a:off x="2643886" y="1656182"/>
            <a:ext cx="454042" cy="242888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62</a:t>
            </a:r>
            <a:endParaRPr lang="en-US" sz="720" dirty="0"/>
          </a:p>
        </p:txBody>
      </p:sp>
      <p:sp>
        <p:nvSpPr>
          <p:cNvPr id="86" name="Text 83"/>
          <p:cNvSpPr/>
          <p:nvPr/>
        </p:nvSpPr>
        <p:spPr>
          <a:xfrm>
            <a:off x="3075252" y="1656182"/>
            <a:ext cx="778556" cy="242888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8A620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9%</a:t>
            </a:r>
            <a:endParaRPr lang="en-US" sz="816" dirty="0"/>
          </a:p>
        </p:txBody>
      </p:sp>
      <p:sp>
        <p:nvSpPr>
          <p:cNvPr id="87" name="Text 84"/>
          <p:cNvSpPr/>
          <p:nvPr/>
        </p:nvSpPr>
        <p:spPr>
          <a:xfrm>
            <a:off x="2203068" y="1899070"/>
            <a:ext cx="454042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15</a:t>
            </a:r>
            <a:endParaRPr lang="en-US" sz="720" dirty="0"/>
          </a:p>
        </p:txBody>
      </p:sp>
      <p:sp>
        <p:nvSpPr>
          <p:cNvPr id="88" name="Text 85"/>
          <p:cNvSpPr/>
          <p:nvPr/>
        </p:nvSpPr>
        <p:spPr>
          <a:xfrm>
            <a:off x="2643886" y="1899070"/>
            <a:ext cx="454042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53</a:t>
            </a:r>
            <a:endParaRPr lang="en-US" sz="720" dirty="0"/>
          </a:p>
        </p:txBody>
      </p:sp>
      <p:sp>
        <p:nvSpPr>
          <p:cNvPr id="89" name="Text 86"/>
          <p:cNvSpPr/>
          <p:nvPr/>
        </p:nvSpPr>
        <p:spPr>
          <a:xfrm>
            <a:off x="2203068" y="2146720"/>
            <a:ext cx="454042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15</a:t>
            </a:r>
            <a:endParaRPr lang="en-US" sz="720" dirty="0"/>
          </a:p>
        </p:txBody>
      </p:sp>
      <p:sp>
        <p:nvSpPr>
          <p:cNvPr id="90" name="Text 87"/>
          <p:cNvSpPr/>
          <p:nvPr/>
        </p:nvSpPr>
        <p:spPr>
          <a:xfrm>
            <a:off x="2643886" y="2146720"/>
            <a:ext cx="454042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12</a:t>
            </a:r>
            <a:endParaRPr lang="en-US" sz="720" dirty="0"/>
          </a:p>
        </p:txBody>
      </p:sp>
      <p:sp>
        <p:nvSpPr>
          <p:cNvPr id="91" name="Text 88"/>
          <p:cNvSpPr/>
          <p:nvPr/>
        </p:nvSpPr>
        <p:spPr>
          <a:xfrm>
            <a:off x="2203068" y="2394370"/>
            <a:ext cx="454042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</a:t>
            </a:r>
            <a:endParaRPr lang="en-US" sz="720" dirty="0"/>
          </a:p>
        </p:txBody>
      </p:sp>
      <p:sp>
        <p:nvSpPr>
          <p:cNvPr id="92" name="Text 89"/>
          <p:cNvSpPr/>
          <p:nvPr/>
        </p:nvSpPr>
        <p:spPr>
          <a:xfrm>
            <a:off x="2203068" y="2642020"/>
            <a:ext cx="454042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</a:t>
            </a:r>
            <a:endParaRPr lang="en-US" sz="720" dirty="0"/>
          </a:p>
        </p:txBody>
      </p:sp>
      <p:sp>
        <p:nvSpPr>
          <p:cNvPr id="93" name="Text 90"/>
          <p:cNvSpPr/>
          <p:nvPr/>
        </p:nvSpPr>
        <p:spPr>
          <a:xfrm>
            <a:off x="2643886" y="2642020"/>
            <a:ext cx="454042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</a:t>
            </a:r>
            <a:endParaRPr lang="en-US" sz="720" dirty="0"/>
          </a:p>
        </p:txBody>
      </p:sp>
      <p:sp>
        <p:nvSpPr>
          <p:cNvPr id="94" name="Text 91"/>
          <p:cNvSpPr/>
          <p:nvPr/>
        </p:nvSpPr>
        <p:spPr>
          <a:xfrm>
            <a:off x="2203068" y="2889670"/>
            <a:ext cx="454042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12</a:t>
            </a:r>
            <a:endParaRPr lang="en-US" sz="720" dirty="0"/>
          </a:p>
        </p:txBody>
      </p:sp>
      <p:sp>
        <p:nvSpPr>
          <p:cNvPr id="95" name="Text 92"/>
          <p:cNvSpPr/>
          <p:nvPr/>
        </p:nvSpPr>
        <p:spPr>
          <a:xfrm>
            <a:off x="2643886" y="2889670"/>
            <a:ext cx="454042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</a:t>
            </a:r>
            <a:endParaRPr lang="en-US" sz="720" dirty="0"/>
          </a:p>
        </p:txBody>
      </p:sp>
      <p:sp>
        <p:nvSpPr>
          <p:cNvPr id="96" name="Text 93"/>
          <p:cNvSpPr/>
          <p:nvPr/>
        </p:nvSpPr>
        <p:spPr>
          <a:xfrm>
            <a:off x="3075252" y="2889670"/>
            <a:ext cx="778556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C44A1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0%</a:t>
            </a:r>
            <a:endParaRPr lang="en-US" sz="816" dirty="0"/>
          </a:p>
        </p:txBody>
      </p:sp>
      <p:sp>
        <p:nvSpPr>
          <p:cNvPr id="97" name="Text 94"/>
          <p:cNvSpPr/>
          <p:nvPr/>
        </p:nvSpPr>
        <p:spPr>
          <a:xfrm>
            <a:off x="2643886" y="3137320"/>
            <a:ext cx="454042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33</a:t>
            </a:r>
            <a:endParaRPr lang="en-US" sz="720" dirty="0"/>
          </a:p>
        </p:txBody>
      </p:sp>
      <p:sp>
        <p:nvSpPr>
          <p:cNvPr id="98" name="Text 95"/>
          <p:cNvSpPr/>
          <p:nvPr/>
        </p:nvSpPr>
        <p:spPr>
          <a:xfrm>
            <a:off x="2643886" y="3384970"/>
            <a:ext cx="454042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21</a:t>
            </a:r>
            <a:endParaRPr lang="en-US" sz="720" dirty="0"/>
          </a:p>
        </p:txBody>
      </p:sp>
      <p:sp>
        <p:nvSpPr>
          <p:cNvPr id="99" name="Text 96"/>
          <p:cNvSpPr/>
          <p:nvPr/>
        </p:nvSpPr>
        <p:spPr>
          <a:xfrm>
            <a:off x="3075252" y="3632620"/>
            <a:ext cx="778556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C44A1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0%</a:t>
            </a:r>
            <a:endParaRPr lang="en-US" sz="816" dirty="0"/>
          </a:p>
        </p:txBody>
      </p:sp>
      <p:sp>
        <p:nvSpPr>
          <p:cNvPr id="100" name="Text 97"/>
          <p:cNvSpPr/>
          <p:nvPr/>
        </p:nvSpPr>
        <p:spPr>
          <a:xfrm>
            <a:off x="6376624" y="1656182"/>
            <a:ext cx="778556" cy="242888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C44A1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0%</a:t>
            </a:r>
            <a:endParaRPr lang="en-US" sz="816" dirty="0"/>
          </a:p>
        </p:txBody>
      </p:sp>
      <p:sp>
        <p:nvSpPr>
          <p:cNvPr id="101" name="Text 98"/>
          <p:cNvSpPr/>
          <p:nvPr/>
        </p:nvSpPr>
        <p:spPr>
          <a:xfrm>
            <a:off x="5945258" y="2394370"/>
            <a:ext cx="454042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</a:t>
            </a:r>
            <a:endParaRPr lang="en-US" sz="720" dirty="0"/>
          </a:p>
        </p:txBody>
      </p:sp>
      <p:sp>
        <p:nvSpPr>
          <p:cNvPr id="102" name="Text 99"/>
          <p:cNvSpPr/>
          <p:nvPr/>
        </p:nvSpPr>
        <p:spPr>
          <a:xfrm>
            <a:off x="5945258" y="2642020"/>
            <a:ext cx="454042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11</a:t>
            </a:r>
            <a:endParaRPr lang="en-US" sz="720" dirty="0"/>
          </a:p>
        </p:txBody>
      </p:sp>
      <p:sp>
        <p:nvSpPr>
          <p:cNvPr id="103" name="Text 100"/>
          <p:cNvSpPr/>
          <p:nvPr/>
        </p:nvSpPr>
        <p:spPr>
          <a:xfrm>
            <a:off x="6376624" y="2642020"/>
            <a:ext cx="778556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C44A1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0%</a:t>
            </a:r>
            <a:endParaRPr lang="en-US" sz="816" dirty="0"/>
          </a:p>
        </p:txBody>
      </p:sp>
      <p:sp>
        <p:nvSpPr>
          <p:cNvPr id="104" name="Text 101"/>
          <p:cNvSpPr/>
          <p:nvPr/>
        </p:nvSpPr>
        <p:spPr>
          <a:xfrm>
            <a:off x="6376624" y="2889670"/>
            <a:ext cx="778556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C44A1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0%</a:t>
            </a:r>
            <a:endParaRPr lang="en-US" sz="816" dirty="0"/>
          </a:p>
        </p:txBody>
      </p:sp>
      <p:sp>
        <p:nvSpPr>
          <p:cNvPr id="105" name="Text 102"/>
          <p:cNvSpPr/>
          <p:nvPr/>
        </p:nvSpPr>
        <p:spPr>
          <a:xfrm>
            <a:off x="5945258" y="3137320"/>
            <a:ext cx="454042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11</a:t>
            </a:r>
            <a:endParaRPr lang="en-US" sz="720" dirty="0"/>
          </a:p>
        </p:txBody>
      </p:sp>
      <p:sp>
        <p:nvSpPr>
          <p:cNvPr id="106" name="Text 103"/>
          <p:cNvSpPr/>
          <p:nvPr/>
        </p:nvSpPr>
        <p:spPr>
          <a:xfrm>
            <a:off x="6376624" y="3137320"/>
            <a:ext cx="778556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C44A1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0%</a:t>
            </a:r>
            <a:endParaRPr lang="en-US" sz="816" dirty="0"/>
          </a:p>
        </p:txBody>
      </p:sp>
      <p:sp>
        <p:nvSpPr>
          <p:cNvPr id="107" name="Text 104"/>
          <p:cNvSpPr/>
          <p:nvPr/>
        </p:nvSpPr>
        <p:spPr>
          <a:xfrm>
            <a:off x="6376624" y="3384970"/>
            <a:ext cx="778556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C44A1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0%</a:t>
            </a:r>
            <a:endParaRPr lang="en-US" sz="816" dirty="0"/>
          </a:p>
        </p:txBody>
      </p:sp>
      <p:sp>
        <p:nvSpPr>
          <p:cNvPr id="108" name="Text 105"/>
          <p:cNvSpPr/>
          <p:nvPr/>
        </p:nvSpPr>
        <p:spPr>
          <a:xfrm>
            <a:off x="6376624" y="3632620"/>
            <a:ext cx="778556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C44A1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0%</a:t>
            </a:r>
            <a:endParaRPr lang="en-US" sz="816" dirty="0"/>
          </a:p>
        </p:txBody>
      </p:sp>
      <p:sp>
        <p:nvSpPr>
          <p:cNvPr id="109" name="Text 106"/>
          <p:cNvSpPr/>
          <p:nvPr/>
        </p:nvSpPr>
        <p:spPr>
          <a:xfrm>
            <a:off x="8283129" y="1443060"/>
            <a:ext cx="827455" cy="242888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60</a:t>
            </a:r>
            <a:endParaRPr lang="en-US" sz="720" dirty="0"/>
          </a:p>
        </p:txBody>
      </p:sp>
      <p:sp>
        <p:nvSpPr>
          <p:cNvPr id="110" name="Text 107"/>
          <p:cNvSpPr/>
          <p:nvPr/>
        </p:nvSpPr>
        <p:spPr>
          <a:xfrm>
            <a:off x="9087287" y="1443060"/>
            <a:ext cx="799863" cy="242888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53</a:t>
            </a:r>
            <a:endParaRPr lang="en-US" sz="720" dirty="0"/>
          </a:p>
        </p:txBody>
      </p:sp>
      <p:sp>
        <p:nvSpPr>
          <p:cNvPr id="111" name="Text 108"/>
          <p:cNvSpPr/>
          <p:nvPr/>
        </p:nvSpPr>
        <p:spPr>
          <a:xfrm>
            <a:off x="8283129" y="1685948"/>
            <a:ext cx="827455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68</a:t>
            </a:r>
            <a:endParaRPr lang="en-US" sz="720" dirty="0"/>
          </a:p>
        </p:txBody>
      </p:sp>
      <p:sp>
        <p:nvSpPr>
          <p:cNvPr id="112" name="Text 109"/>
          <p:cNvSpPr/>
          <p:nvPr/>
        </p:nvSpPr>
        <p:spPr>
          <a:xfrm>
            <a:off x="9087287" y="1685948"/>
            <a:ext cx="799863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67</a:t>
            </a:r>
            <a:endParaRPr lang="en-US" sz="720" dirty="0"/>
          </a:p>
        </p:txBody>
      </p:sp>
      <p:sp>
        <p:nvSpPr>
          <p:cNvPr id="113" name="Text 110"/>
          <p:cNvSpPr/>
          <p:nvPr/>
        </p:nvSpPr>
        <p:spPr>
          <a:xfrm>
            <a:off x="8283129" y="1933598"/>
            <a:ext cx="827455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43</a:t>
            </a:r>
            <a:endParaRPr lang="en-US" sz="720" dirty="0"/>
          </a:p>
        </p:txBody>
      </p:sp>
      <p:sp>
        <p:nvSpPr>
          <p:cNvPr id="114" name="Text 111"/>
          <p:cNvSpPr/>
          <p:nvPr/>
        </p:nvSpPr>
        <p:spPr>
          <a:xfrm>
            <a:off x="9087287" y="1933598"/>
            <a:ext cx="799863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93</a:t>
            </a:r>
            <a:endParaRPr lang="en-US" sz="720" dirty="0"/>
          </a:p>
        </p:txBody>
      </p:sp>
      <p:sp>
        <p:nvSpPr>
          <p:cNvPr id="115" name="Text 112"/>
          <p:cNvSpPr/>
          <p:nvPr/>
        </p:nvSpPr>
        <p:spPr>
          <a:xfrm>
            <a:off x="8283129" y="2181248"/>
            <a:ext cx="827455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76</a:t>
            </a:r>
            <a:endParaRPr lang="en-US" sz="720" dirty="0"/>
          </a:p>
        </p:txBody>
      </p:sp>
      <p:sp>
        <p:nvSpPr>
          <p:cNvPr id="116" name="Text 113"/>
          <p:cNvSpPr/>
          <p:nvPr/>
        </p:nvSpPr>
        <p:spPr>
          <a:xfrm>
            <a:off x="9087287" y="2181248"/>
            <a:ext cx="799863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76</a:t>
            </a:r>
            <a:endParaRPr lang="en-US" sz="720" dirty="0"/>
          </a:p>
        </p:txBody>
      </p:sp>
      <p:sp>
        <p:nvSpPr>
          <p:cNvPr id="117" name="Text 114"/>
          <p:cNvSpPr/>
          <p:nvPr/>
        </p:nvSpPr>
        <p:spPr>
          <a:xfrm>
            <a:off x="8283129" y="2428898"/>
            <a:ext cx="827455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48</a:t>
            </a:r>
            <a:endParaRPr lang="en-US" sz="720" dirty="0"/>
          </a:p>
        </p:txBody>
      </p:sp>
      <p:sp>
        <p:nvSpPr>
          <p:cNvPr id="118" name="Text 115"/>
          <p:cNvSpPr/>
          <p:nvPr/>
        </p:nvSpPr>
        <p:spPr>
          <a:xfrm>
            <a:off x="9087287" y="2428898"/>
            <a:ext cx="799863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57</a:t>
            </a:r>
            <a:endParaRPr lang="en-US" sz="720" dirty="0"/>
          </a:p>
        </p:txBody>
      </p:sp>
      <p:sp>
        <p:nvSpPr>
          <p:cNvPr id="119" name="Text 116"/>
          <p:cNvSpPr/>
          <p:nvPr/>
        </p:nvSpPr>
        <p:spPr>
          <a:xfrm>
            <a:off x="8283129" y="2676548"/>
            <a:ext cx="827455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37</a:t>
            </a:r>
            <a:endParaRPr lang="en-US" sz="720" dirty="0"/>
          </a:p>
        </p:txBody>
      </p:sp>
      <p:sp>
        <p:nvSpPr>
          <p:cNvPr id="120" name="Text 117"/>
          <p:cNvSpPr/>
          <p:nvPr/>
        </p:nvSpPr>
        <p:spPr>
          <a:xfrm>
            <a:off x="9087287" y="2676548"/>
            <a:ext cx="799863" cy="24765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42</a:t>
            </a:r>
            <a:endParaRPr lang="en-US" sz="720" dirty="0"/>
          </a:p>
        </p:txBody>
      </p:sp>
      <p:sp>
        <p:nvSpPr>
          <p:cNvPr id="121" name="Text 118"/>
          <p:cNvSpPr/>
          <p:nvPr/>
        </p:nvSpPr>
        <p:spPr>
          <a:xfrm>
            <a:off x="8283129" y="2924198"/>
            <a:ext cx="827455" cy="242888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55</a:t>
            </a:r>
            <a:endParaRPr lang="en-US" sz="720" dirty="0"/>
          </a:p>
        </p:txBody>
      </p:sp>
      <p:sp>
        <p:nvSpPr>
          <p:cNvPr id="122" name="Text 119"/>
          <p:cNvSpPr/>
          <p:nvPr/>
        </p:nvSpPr>
        <p:spPr>
          <a:xfrm>
            <a:off x="9087287" y="2924198"/>
            <a:ext cx="799863" cy="242888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65</a:t>
            </a:r>
            <a:endParaRPr lang="en-US" sz="720" dirty="0"/>
          </a:p>
        </p:txBody>
      </p:sp>
      <p:sp>
        <p:nvSpPr>
          <p:cNvPr id="123" name="Text 120"/>
          <p:cNvSpPr/>
          <p:nvPr/>
        </p:nvSpPr>
        <p:spPr>
          <a:xfrm>
            <a:off x="8965222" y="4067198"/>
            <a:ext cx="489146" cy="180975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672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31</a:t>
            </a:r>
            <a:endParaRPr lang="en-US" sz="672" dirty="0"/>
          </a:p>
        </p:txBody>
      </p:sp>
      <p:sp>
        <p:nvSpPr>
          <p:cNvPr id="124" name="Text 121"/>
          <p:cNvSpPr/>
          <p:nvPr/>
        </p:nvSpPr>
        <p:spPr>
          <a:xfrm>
            <a:off x="8965222" y="4248173"/>
            <a:ext cx="489146" cy="180975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672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31</a:t>
            </a:r>
            <a:endParaRPr lang="en-US" sz="672" dirty="0"/>
          </a:p>
        </p:txBody>
      </p:sp>
      <p:sp>
        <p:nvSpPr>
          <p:cNvPr id="125" name="Text 122"/>
          <p:cNvSpPr/>
          <p:nvPr/>
        </p:nvSpPr>
        <p:spPr>
          <a:xfrm>
            <a:off x="8965222" y="4429148"/>
            <a:ext cx="489146" cy="180975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672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24</a:t>
            </a:r>
            <a:endParaRPr lang="en-US" sz="672" dirty="0"/>
          </a:p>
        </p:txBody>
      </p:sp>
      <p:sp>
        <p:nvSpPr>
          <p:cNvPr id="126" name="Text 123"/>
          <p:cNvSpPr/>
          <p:nvPr/>
        </p:nvSpPr>
        <p:spPr>
          <a:xfrm>
            <a:off x="8965222" y="4610123"/>
            <a:ext cx="489146" cy="176212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672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</a:t>
            </a:r>
            <a:endParaRPr lang="en-US" sz="672" dirty="0"/>
          </a:p>
        </p:txBody>
      </p:sp>
      <p:sp>
        <p:nvSpPr>
          <p:cNvPr id="127" name="Text 124"/>
          <p:cNvSpPr/>
          <p:nvPr/>
        </p:nvSpPr>
        <p:spPr>
          <a:xfrm>
            <a:off x="10997717" y="3710010"/>
            <a:ext cx="489146" cy="176212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672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</a:t>
            </a:r>
            <a:endParaRPr lang="en-US" sz="672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01_Repositorios\13_Presentaciones\dash\tradicional\ppt_slides\sk_02_ma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028674" y="6463308"/>
            <a:ext cx="10993698" cy="2768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1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Logro Comercial: el canal Tradicional cerró el semestre con 734 ventas positivas entre Cuota Protegida y Rueda Seguro, y junio marcó el mayor volumen de financiaciones del 1S (5.605 en CP y 1.395 en RS) con la red de aliados más amplia del semestre — una base sólida para acelerar la conversión en el 2S.</a:t>
            </a:r>
            <a:endParaRPr lang="en-US" sz="816" dirty="0"/>
          </a:p>
        </p:txBody>
      </p:sp>
      <p:sp>
        <p:nvSpPr>
          <p:cNvPr id="4" name="Text 1"/>
          <p:cNvSpPr/>
          <p:nvPr/>
        </p:nvSpPr>
        <p:spPr>
          <a:xfrm>
            <a:off x="571486" y="6006108"/>
            <a:ext cx="458557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6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* Aliados y Gestores en la fila de total corresponden al promedio mensual de la estructura activa del canal.</a:t>
            </a:r>
            <a:endParaRPr lang="en-US" sz="696" dirty="0"/>
          </a:p>
        </p:txBody>
      </p:sp>
      <p:sp>
        <p:nvSpPr>
          <p:cNvPr id="5" name="Text 2"/>
          <p:cNvSpPr/>
          <p:nvPr/>
        </p:nvSpPr>
        <p:spPr>
          <a:xfrm>
            <a:off x="6257769" y="5606058"/>
            <a:ext cx="376131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72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Junio muestra un repunte de financiaciones de motocicletas (1.395) con 25 aliados activos.</a:t>
            </a:r>
            <a:endParaRPr lang="en-US" sz="672" dirty="0"/>
          </a:p>
        </p:txBody>
      </p:sp>
      <p:sp>
        <p:nvSpPr>
          <p:cNvPr id="6" name="Text 3"/>
          <p:cNvSpPr/>
          <p:nvPr/>
        </p:nvSpPr>
        <p:spPr>
          <a:xfrm>
            <a:off x="685783" y="5606058"/>
            <a:ext cx="3548977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72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El cierre de junio registra un incremento en financiaciones (5.605) y 12 aliados activos.</a:t>
            </a:r>
            <a:endParaRPr lang="en-US" sz="672" dirty="0"/>
          </a:p>
        </p:txBody>
      </p:sp>
      <p:sp>
        <p:nvSpPr>
          <p:cNvPr id="7" name="Text 4"/>
          <p:cNvSpPr/>
          <p:nvPr/>
        </p:nvSpPr>
        <p:spPr>
          <a:xfrm>
            <a:off x="571486" y="209550"/>
            <a:ext cx="4462214" cy="1962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6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Ventas del Canal · Cuota Protegida y Rueda Seguro</a:t>
            </a:r>
            <a:endParaRPr lang="en-US" sz="1260" dirty="0"/>
          </a:p>
        </p:txBody>
      </p:sp>
      <p:sp>
        <p:nvSpPr>
          <p:cNvPr id="8" name="Text 5"/>
          <p:cNvSpPr/>
          <p:nvPr/>
        </p:nvSpPr>
        <p:spPr>
          <a:xfrm>
            <a:off x="838179" y="1786830"/>
            <a:ext cx="151048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1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Cuota Protegida Tradicional</a:t>
            </a:r>
            <a:endParaRPr lang="en-US" sz="816" dirty="0"/>
          </a:p>
        </p:txBody>
      </p:sp>
      <p:sp>
        <p:nvSpPr>
          <p:cNvPr id="9" name="Text 6"/>
          <p:cNvSpPr/>
          <p:nvPr/>
        </p:nvSpPr>
        <p:spPr>
          <a:xfrm>
            <a:off x="723882" y="1272480"/>
            <a:ext cx="104274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730 cantadas · 124,6% meta</a:t>
            </a:r>
            <a:endParaRPr lang="en-US" sz="600" dirty="0"/>
          </a:p>
        </p:txBody>
      </p:sp>
      <p:sp>
        <p:nvSpPr>
          <p:cNvPr id="10" name="Text 7"/>
          <p:cNvSpPr/>
          <p:nvPr/>
        </p:nvSpPr>
        <p:spPr>
          <a:xfrm>
            <a:off x="3505112" y="1272480"/>
            <a:ext cx="1000779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283 cantadas · 88,1% meta</a:t>
            </a:r>
            <a:endParaRPr lang="en-US" sz="600" dirty="0"/>
          </a:p>
        </p:txBody>
      </p:sp>
      <p:sp>
        <p:nvSpPr>
          <p:cNvPr id="11" name="Text 8"/>
          <p:cNvSpPr/>
          <p:nvPr/>
        </p:nvSpPr>
        <p:spPr>
          <a:xfrm>
            <a:off x="6410165" y="1786830"/>
            <a:ext cx="140037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1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Rueda Seguro Tradicional</a:t>
            </a:r>
            <a:endParaRPr lang="en-US" sz="816" dirty="0"/>
          </a:p>
        </p:txBody>
      </p:sp>
      <p:sp>
        <p:nvSpPr>
          <p:cNvPr id="12" name="Text 9"/>
          <p:cNvSpPr/>
          <p:nvPr/>
        </p:nvSpPr>
        <p:spPr>
          <a:xfrm>
            <a:off x="723882" y="962025"/>
            <a:ext cx="126817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6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Ventas CP positivas 1S</a:t>
            </a:r>
            <a:endParaRPr lang="en-US" sz="696" dirty="0"/>
          </a:p>
        </p:txBody>
      </p:sp>
      <p:sp>
        <p:nvSpPr>
          <p:cNvPr id="13" name="Text 10"/>
          <p:cNvSpPr/>
          <p:nvPr/>
        </p:nvSpPr>
        <p:spPr>
          <a:xfrm>
            <a:off x="3505112" y="962025"/>
            <a:ext cx="1267225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6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Ventas RS positivas 1S</a:t>
            </a:r>
            <a:endParaRPr lang="en-US" sz="696" dirty="0"/>
          </a:p>
        </p:txBody>
      </p:sp>
      <p:sp>
        <p:nvSpPr>
          <p:cNvPr id="14" name="Text 11"/>
          <p:cNvSpPr/>
          <p:nvPr/>
        </p:nvSpPr>
        <p:spPr>
          <a:xfrm>
            <a:off x="6286343" y="1272480"/>
            <a:ext cx="675017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12 aliados activos</a:t>
            </a:r>
            <a:endParaRPr lang="en-US" sz="600" dirty="0"/>
          </a:p>
        </p:txBody>
      </p:sp>
      <p:sp>
        <p:nvSpPr>
          <p:cNvPr id="15" name="Text 12"/>
          <p:cNvSpPr/>
          <p:nvPr/>
        </p:nvSpPr>
        <p:spPr>
          <a:xfrm>
            <a:off x="9067573" y="1272480"/>
            <a:ext cx="682905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25 aliados activos</a:t>
            </a:r>
            <a:endParaRPr lang="en-US" sz="600" dirty="0"/>
          </a:p>
        </p:txBody>
      </p:sp>
      <p:sp>
        <p:nvSpPr>
          <p:cNvPr id="16" name="Text 13"/>
          <p:cNvSpPr/>
          <p:nvPr/>
        </p:nvSpPr>
        <p:spPr>
          <a:xfrm>
            <a:off x="6286343" y="962025"/>
            <a:ext cx="1042111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6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Financiaciones CP</a:t>
            </a:r>
            <a:endParaRPr lang="en-US" sz="696" dirty="0"/>
          </a:p>
        </p:txBody>
      </p:sp>
      <p:sp>
        <p:nvSpPr>
          <p:cNvPr id="17" name="Text 14"/>
          <p:cNvSpPr/>
          <p:nvPr/>
        </p:nvSpPr>
        <p:spPr>
          <a:xfrm>
            <a:off x="9067573" y="962025"/>
            <a:ext cx="103895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6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Financiaciones RS</a:t>
            </a:r>
            <a:endParaRPr lang="en-US" sz="696" dirty="0"/>
          </a:p>
        </p:txBody>
      </p:sp>
      <p:sp>
        <p:nvSpPr>
          <p:cNvPr id="18" name="Text 15"/>
          <p:cNvSpPr/>
          <p:nvPr/>
        </p:nvSpPr>
        <p:spPr>
          <a:xfrm>
            <a:off x="4260697" y="1982116"/>
            <a:ext cx="837878" cy="228600"/>
          </a:xfrm>
          <a:prstGeom prst="rect">
            <a:avLst/>
          </a:prstGeom>
          <a:noFill/>
          <a:ln/>
        </p:spPr>
        <p:txBody>
          <a:bodyPr wrap="square" lIns="47625" tIns="114300" rIns="114300" bIns="47625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Positivas</a:t>
            </a:r>
            <a:endParaRPr lang="en-US" sz="888" dirty="0"/>
          </a:p>
        </p:txBody>
      </p:sp>
      <p:sp>
        <p:nvSpPr>
          <p:cNvPr id="19" name="Text 16"/>
          <p:cNvSpPr/>
          <p:nvPr/>
        </p:nvSpPr>
        <p:spPr>
          <a:xfrm>
            <a:off x="9832683" y="1982116"/>
            <a:ext cx="837878" cy="228600"/>
          </a:xfrm>
          <a:prstGeom prst="rect">
            <a:avLst/>
          </a:prstGeom>
          <a:noFill/>
          <a:ln/>
        </p:spPr>
        <p:txBody>
          <a:bodyPr wrap="square" lIns="47625" tIns="114300" rIns="114300" bIns="47625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Positivas</a:t>
            </a:r>
            <a:endParaRPr lang="en-US" sz="888" dirty="0"/>
          </a:p>
        </p:txBody>
      </p:sp>
      <p:sp>
        <p:nvSpPr>
          <p:cNvPr id="20" name="Text 17"/>
          <p:cNvSpPr/>
          <p:nvPr/>
        </p:nvSpPr>
        <p:spPr>
          <a:xfrm>
            <a:off x="1896428" y="1982116"/>
            <a:ext cx="839411" cy="228600"/>
          </a:xfrm>
          <a:prstGeom prst="rect">
            <a:avLst/>
          </a:prstGeom>
          <a:noFill/>
          <a:ln/>
        </p:spPr>
        <p:txBody>
          <a:bodyPr wrap="square" lIns="47625" tIns="114300" rIns="114300" bIns="47625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Gestores</a:t>
            </a:r>
            <a:endParaRPr lang="en-US" sz="888" dirty="0"/>
          </a:p>
        </p:txBody>
      </p:sp>
      <p:sp>
        <p:nvSpPr>
          <p:cNvPr id="21" name="Text 18"/>
          <p:cNvSpPr/>
          <p:nvPr/>
        </p:nvSpPr>
        <p:spPr>
          <a:xfrm>
            <a:off x="3413192" y="1982116"/>
            <a:ext cx="871909" cy="228600"/>
          </a:xfrm>
          <a:prstGeom prst="rect">
            <a:avLst/>
          </a:prstGeom>
          <a:noFill/>
          <a:ln/>
        </p:spPr>
        <p:txBody>
          <a:bodyPr wrap="square" lIns="47625" tIns="114300" rIns="114300" bIns="47625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Cantadas</a:t>
            </a:r>
            <a:endParaRPr lang="en-US" sz="888" dirty="0"/>
          </a:p>
        </p:txBody>
      </p:sp>
      <p:sp>
        <p:nvSpPr>
          <p:cNvPr id="22" name="Text 19"/>
          <p:cNvSpPr/>
          <p:nvPr/>
        </p:nvSpPr>
        <p:spPr>
          <a:xfrm>
            <a:off x="5073515" y="1982116"/>
            <a:ext cx="860412" cy="228600"/>
          </a:xfrm>
          <a:prstGeom prst="rect">
            <a:avLst/>
          </a:prstGeom>
          <a:noFill/>
          <a:ln/>
        </p:spPr>
        <p:txBody>
          <a:bodyPr wrap="square" lIns="47625" tIns="114300" rIns="114300" bIns="47625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% Cumpl.</a:t>
            </a:r>
            <a:endParaRPr lang="en-US" sz="888" dirty="0"/>
          </a:p>
        </p:txBody>
      </p:sp>
      <p:sp>
        <p:nvSpPr>
          <p:cNvPr id="23" name="Text 20"/>
          <p:cNvSpPr/>
          <p:nvPr/>
        </p:nvSpPr>
        <p:spPr>
          <a:xfrm>
            <a:off x="7468413" y="1982116"/>
            <a:ext cx="839411" cy="228600"/>
          </a:xfrm>
          <a:prstGeom prst="rect">
            <a:avLst/>
          </a:prstGeom>
          <a:noFill/>
          <a:ln/>
        </p:spPr>
        <p:txBody>
          <a:bodyPr wrap="square" lIns="47625" tIns="114300" rIns="114300" bIns="47625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Gestores</a:t>
            </a:r>
            <a:endParaRPr lang="en-US" sz="888" dirty="0"/>
          </a:p>
        </p:txBody>
      </p:sp>
      <p:sp>
        <p:nvSpPr>
          <p:cNvPr id="24" name="Text 21"/>
          <p:cNvSpPr/>
          <p:nvPr/>
        </p:nvSpPr>
        <p:spPr>
          <a:xfrm>
            <a:off x="8985178" y="1982116"/>
            <a:ext cx="871909" cy="228600"/>
          </a:xfrm>
          <a:prstGeom prst="rect">
            <a:avLst/>
          </a:prstGeom>
          <a:noFill/>
          <a:ln/>
        </p:spPr>
        <p:txBody>
          <a:bodyPr wrap="square" lIns="47625" tIns="114300" rIns="114300" bIns="47625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Cantadas</a:t>
            </a:r>
            <a:endParaRPr lang="en-US" sz="888" dirty="0"/>
          </a:p>
        </p:txBody>
      </p:sp>
      <p:sp>
        <p:nvSpPr>
          <p:cNvPr id="25" name="Text 22"/>
          <p:cNvSpPr/>
          <p:nvPr/>
        </p:nvSpPr>
        <p:spPr>
          <a:xfrm>
            <a:off x="10645500" y="1982116"/>
            <a:ext cx="860412" cy="228600"/>
          </a:xfrm>
          <a:prstGeom prst="rect">
            <a:avLst/>
          </a:prstGeom>
          <a:noFill/>
          <a:ln/>
        </p:spPr>
        <p:txBody>
          <a:bodyPr wrap="square" lIns="47625" tIns="114300" rIns="114300" bIns="47625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% Cumpl.</a:t>
            </a:r>
            <a:endParaRPr lang="en-US" sz="888" dirty="0"/>
          </a:p>
        </p:txBody>
      </p:sp>
      <p:sp>
        <p:nvSpPr>
          <p:cNvPr id="26" name="Text 23"/>
          <p:cNvSpPr/>
          <p:nvPr/>
        </p:nvSpPr>
        <p:spPr>
          <a:xfrm>
            <a:off x="1176964" y="1982116"/>
            <a:ext cx="743912" cy="228600"/>
          </a:xfrm>
          <a:prstGeom prst="rect">
            <a:avLst/>
          </a:prstGeom>
          <a:noFill/>
          <a:ln/>
        </p:spPr>
        <p:txBody>
          <a:bodyPr wrap="square" lIns="47625" tIns="114300" rIns="114300" bIns="47625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Aliados</a:t>
            </a:r>
            <a:endParaRPr lang="en-US" sz="888" dirty="0"/>
          </a:p>
        </p:txBody>
      </p:sp>
      <p:sp>
        <p:nvSpPr>
          <p:cNvPr id="27" name="Text 24"/>
          <p:cNvSpPr/>
          <p:nvPr/>
        </p:nvSpPr>
        <p:spPr>
          <a:xfrm>
            <a:off x="2714757" y="1982116"/>
            <a:ext cx="723831" cy="228600"/>
          </a:xfrm>
          <a:prstGeom prst="rect">
            <a:avLst/>
          </a:prstGeom>
          <a:noFill/>
          <a:ln/>
        </p:spPr>
        <p:txBody>
          <a:bodyPr wrap="square" lIns="47625" tIns="114300" rIns="114300" bIns="47625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Financ.</a:t>
            </a:r>
            <a:endParaRPr lang="en-US" sz="888" dirty="0"/>
          </a:p>
        </p:txBody>
      </p:sp>
      <p:sp>
        <p:nvSpPr>
          <p:cNvPr id="28" name="Text 25"/>
          <p:cNvSpPr/>
          <p:nvPr/>
        </p:nvSpPr>
        <p:spPr>
          <a:xfrm>
            <a:off x="6748950" y="1982116"/>
            <a:ext cx="743912" cy="228600"/>
          </a:xfrm>
          <a:prstGeom prst="rect">
            <a:avLst/>
          </a:prstGeom>
          <a:noFill/>
          <a:ln/>
        </p:spPr>
        <p:txBody>
          <a:bodyPr wrap="square" lIns="47625" tIns="114300" rIns="114300" bIns="47625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Aliados</a:t>
            </a:r>
            <a:endParaRPr lang="en-US" sz="888" dirty="0"/>
          </a:p>
        </p:txBody>
      </p:sp>
      <p:sp>
        <p:nvSpPr>
          <p:cNvPr id="29" name="Text 26"/>
          <p:cNvSpPr/>
          <p:nvPr/>
        </p:nvSpPr>
        <p:spPr>
          <a:xfrm>
            <a:off x="8286742" y="1982116"/>
            <a:ext cx="723831" cy="228600"/>
          </a:xfrm>
          <a:prstGeom prst="rect">
            <a:avLst/>
          </a:prstGeom>
          <a:noFill/>
          <a:ln/>
        </p:spPr>
        <p:txBody>
          <a:bodyPr wrap="square" lIns="47625" tIns="114300" rIns="114300" bIns="47625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Financ.</a:t>
            </a:r>
            <a:endParaRPr lang="en-US" sz="888" dirty="0"/>
          </a:p>
        </p:txBody>
      </p:sp>
      <p:sp>
        <p:nvSpPr>
          <p:cNvPr id="30" name="Text 27"/>
          <p:cNvSpPr/>
          <p:nvPr/>
        </p:nvSpPr>
        <p:spPr>
          <a:xfrm>
            <a:off x="5073515" y="2681608"/>
            <a:ext cx="860412" cy="48012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101,0%</a:t>
            </a:r>
            <a:endParaRPr lang="en-US" sz="816" dirty="0"/>
          </a:p>
        </p:txBody>
      </p:sp>
      <p:sp>
        <p:nvSpPr>
          <p:cNvPr id="31" name="Text 28"/>
          <p:cNvSpPr/>
          <p:nvPr/>
        </p:nvSpPr>
        <p:spPr>
          <a:xfrm>
            <a:off x="2714757" y="5082206"/>
            <a:ext cx="723831" cy="471488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79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19.280</a:t>
            </a:r>
            <a:endParaRPr lang="en-US" sz="792" dirty="0"/>
          </a:p>
        </p:txBody>
      </p:sp>
      <p:sp>
        <p:nvSpPr>
          <p:cNvPr id="32" name="Text 29"/>
          <p:cNvSpPr/>
          <p:nvPr/>
        </p:nvSpPr>
        <p:spPr>
          <a:xfrm>
            <a:off x="5073515" y="5082206"/>
            <a:ext cx="860412" cy="471488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124,6%</a:t>
            </a:r>
            <a:endParaRPr lang="en-US" sz="816" dirty="0"/>
          </a:p>
        </p:txBody>
      </p:sp>
      <p:sp>
        <p:nvSpPr>
          <p:cNvPr id="33" name="Text 30"/>
          <p:cNvSpPr/>
          <p:nvPr/>
        </p:nvSpPr>
        <p:spPr>
          <a:xfrm>
            <a:off x="6286343" y="1085850"/>
            <a:ext cx="450534" cy="156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2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19.280</a:t>
            </a:r>
            <a:endParaRPr lang="en-US" sz="1020" dirty="0"/>
          </a:p>
        </p:txBody>
      </p:sp>
      <p:sp>
        <p:nvSpPr>
          <p:cNvPr id="34" name="Text 31"/>
          <p:cNvSpPr/>
          <p:nvPr/>
        </p:nvSpPr>
        <p:spPr>
          <a:xfrm>
            <a:off x="2714757" y="2210716"/>
            <a:ext cx="723831" cy="470892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2.074</a:t>
            </a:r>
            <a:endParaRPr lang="en-US" sz="792" dirty="0"/>
          </a:p>
        </p:txBody>
      </p:sp>
      <p:sp>
        <p:nvSpPr>
          <p:cNvPr id="35" name="Text 32"/>
          <p:cNvSpPr/>
          <p:nvPr/>
        </p:nvSpPr>
        <p:spPr>
          <a:xfrm>
            <a:off x="5073515" y="2210716"/>
            <a:ext cx="860412" cy="470892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8A620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81,2%</a:t>
            </a:r>
            <a:endParaRPr lang="en-US" sz="816" dirty="0"/>
          </a:p>
        </p:txBody>
      </p:sp>
      <p:sp>
        <p:nvSpPr>
          <p:cNvPr id="36" name="Text 33"/>
          <p:cNvSpPr/>
          <p:nvPr/>
        </p:nvSpPr>
        <p:spPr>
          <a:xfrm>
            <a:off x="2714757" y="2681608"/>
            <a:ext cx="723831" cy="48012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2.999</a:t>
            </a:r>
            <a:endParaRPr lang="en-US" sz="792" dirty="0"/>
          </a:p>
        </p:txBody>
      </p:sp>
      <p:sp>
        <p:nvSpPr>
          <p:cNvPr id="37" name="Text 34"/>
          <p:cNvSpPr/>
          <p:nvPr/>
        </p:nvSpPr>
        <p:spPr>
          <a:xfrm>
            <a:off x="2714757" y="3161728"/>
            <a:ext cx="723831" cy="48012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3.127</a:t>
            </a:r>
            <a:endParaRPr lang="en-US" sz="792" dirty="0"/>
          </a:p>
        </p:txBody>
      </p:sp>
      <p:sp>
        <p:nvSpPr>
          <p:cNvPr id="38" name="Text 35"/>
          <p:cNvSpPr/>
          <p:nvPr/>
        </p:nvSpPr>
        <p:spPr>
          <a:xfrm>
            <a:off x="5073515" y="3161728"/>
            <a:ext cx="860412" cy="48012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8A620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74,4%</a:t>
            </a:r>
            <a:endParaRPr lang="en-US" sz="816" dirty="0"/>
          </a:p>
        </p:txBody>
      </p:sp>
      <p:sp>
        <p:nvSpPr>
          <p:cNvPr id="39" name="Text 36"/>
          <p:cNvSpPr/>
          <p:nvPr/>
        </p:nvSpPr>
        <p:spPr>
          <a:xfrm>
            <a:off x="2714757" y="3641847"/>
            <a:ext cx="723831" cy="48012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3.076</a:t>
            </a:r>
            <a:endParaRPr lang="en-US" sz="792" dirty="0"/>
          </a:p>
        </p:txBody>
      </p:sp>
      <p:sp>
        <p:nvSpPr>
          <p:cNvPr id="40" name="Text 37"/>
          <p:cNvSpPr/>
          <p:nvPr/>
        </p:nvSpPr>
        <p:spPr>
          <a:xfrm>
            <a:off x="5073515" y="3641847"/>
            <a:ext cx="860412" cy="48012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8A620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76,9%</a:t>
            </a:r>
            <a:endParaRPr lang="en-US" sz="816" dirty="0"/>
          </a:p>
        </p:txBody>
      </p:sp>
      <p:sp>
        <p:nvSpPr>
          <p:cNvPr id="41" name="Text 38"/>
          <p:cNvSpPr/>
          <p:nvPr/>
        </p:nvSpPr>
        <p:spPr>
          <a:xfrm>
            <a:off x="2714757" y="4121967"/>
            <a:ext cx="723831" cy="48012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2.399</a:t>
            </a:r>
            <a:endParaRPr lang="en-US" sz="792" dirty="0"/>
          </a:p>
        </p:txBody>
      </p:sp>
      <p:sp>
        <p:nvSpPr>
          <p:cNvPr id="42" name="Text 39"/>
          <p:cNvSpPr/>
          <p:nvPr/>
        </p:nvSpPr>
        <p:spPr>
          <a:xfrm>
            <a:off x="2714757" y="4602086"/>
            <a:ext cx="723831" cy="48012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5.605</a:t>
            </a:r>
            <a:endParaRPr lang="en-US" sz="792" dirty="0"/>
          </a:p>
        </p:txBody>
      </p:sp>
      <p:sp>
        <p:nvSpPr>
          <p:cNvPr id="43" name="Text 40"/>
          <p:cNvSpPr/>
          <p:nvPr/>
        </p:nvSpPr>
        <p:spPr>
          <a:xfrm>
            <a:off x="685783" y="5082206"/>
            <a:ext cx="528234" cy="471488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l" indent="0" marL="0">
              <a:buNone/>
            </a:pPr>
            <a:r>
              <a:rPr lang="en-US" sz="79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Total</a:t>
            </a:r>
            <a:endParaRPr lang="en-US" sz="792" dirty="0"/>
          </a:p>
        </p:txBody>
      </p:sp>
      <p:sp>
        <p:nvSpPr>
          <p:cNvPr id="44" name="Text 41"/>
          <p:cNvSpPr/>
          <p:nvPr/>
        </p:nvSpPr>
        <p:spPr>
          <a:xfrm>
            <a:off x="10645500" y="2210716"/>
            <a:ext cx="860412" cy="470892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C44A1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47,1%</a:t>
            </a:r>
            <a:endParaRPr lang="en-US" sz="816" dirty="0"/>
          </a:p>
        </p:txBody>
      </p:sp>
      <p:sp>
        <p:nvSpPr>
          <p:cNvPr id="45" name="Text 42"/>
          <p:cNvSpPr/>
          <p:nvPr/>
        </p:nvSpPr>
        <p:spPr>
          <a:xfrm>
            <a:off x="10645500" y="2681608"/>
            <a:ext cx="860412" cy="48012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C44A1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28,6%</a:t>
            </a:r>
            <a:endParaRPr lang="en-US" sz="816" dirty="0"/>
          </a:p>
        </p:txBody>
      </p:sp>
      <p:sp>
        <p:nvSpPr>
          <p:cNvPr id="46" name="Text 43"/>
          <p:cNvSpPr/>
          <p:nvPr/>
        </p:nvSpPr>
        <p:spPr>
          <a:xfrm>
            <a:off x="10645500" y="3161728"/>
            <a:ext cx="860412" cy="48012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C44A1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48,2%</a:t>
            </a:r>
            <a:endParaRPr lang="en-US" sz="816" dirty="0"/>
          </a:p>
        </p:txBody>
      </p:sp>
      <p:sp>
        <p:nvSpPr>
          <p:cNvPr id="47" name="Text 44"/>
          <p:cNvSpPr/>
          <p:nvPr/>
        </p:nvSpPr>
        <p:spPr>
          <a:xfrm>
            <a:off x="8286742" y="4602086"/>
            <a:ext cx="723831" cy="48012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1.395</a:t>
            </a:r>
            <a:endParaRPr lang="en-US" sz="792" dirty="0"/>
          </a:p>
        </p:txBody>
      </p:sp>
      <p:sp>
        <p:nvSpPr>
          <p:cNvPr id="48" name="Text 45"/>
          <p:cNvSpPr/>
          <p:nvPr/>
        </p:nvSpPr>
        <p:spPr>
          <a:xfrm>
            <a:off x="6257769" y="5082206"/>
            <a:ext cx="528234" cy="471488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l" indent="0" marL="0">
              <a:buNone/>
            </a:pPr>
            <a:r>
              <a:rPr lang="en-US" sz="79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Total</a:t>
            </a:r>
            <a:endParaRPr lang="en-US" sz="792" dirty="0"/>
          </a:p>
        </p:txBody>
      </p:sp>
      <p:sp>
        <p:nvSpPr>
          <p:cNvPr id="49" name="Text 46"/>
          <p:cNvSpPr/>
          <p:nvPr/>
        </p:nvSpPr>
        <p:spPr>
          <a:xfrm>
            <a:off x="8286742" y="5082206"/>
            <a:ext cx="723831" cy="471488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79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4.459</a:t>
            </a:r>
            <a:endParaRPr lang="en-US" sz="792" dirty="0"/>
          </a:p>
        </p:txBody>
      </p:sp>
      <p:sp>
        <p:nvSpPr>
          <p:cNvPr id="50" name="Text 47"/>
          <p:cNvSpPr/>
          <p:nvPr/>
        </p:nvSpPr>
        <p:spPr>
          <a:xfrm>
            <a:off x="10645500" y="5082206"/>
            <a:ext cx="860412" cy="471488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88,1%</a:t>
            </a:r>
            <a:endParaRPr lang="en-US" sz="816" dirty="0"/>
          </a:p>
        </p:txBody>
      </p:sp>
      <p:sp>
        <p:nvSpPr>
          <p:cNvPr id="51" name="Text 48"/>
          <p:cNvSpPr/>
          <p:nvPr/>
        </p:nvSpPr>
        <p:spPr>
          <a:xfrm>
            <a:off x="9067573" y="1085850"/>
            <a:ext cx="367397" cy="156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2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4.459</a:t>
            </a:r>
            <a:endParaRPr lang="en-US" sz="1020" dirty="0"/>
          </a:p>
        </p:txBody>
      </p:sp>
      <p:sp>
        <p:nvSpPr>
          <p:cNvPr id="52" name="Text 49"/>
          <p:cNvSpPr/>
          <p:nvPr/>
        </p:nvSpPr>
        <p:spPr>
          <a:xfrm>
            <a:off x="685783" y="1982116"/>
            <a:ext cx="528234" cy="228600"/>
          </a:xfrm>
          <a:prstGeom prst="rect">
            <a:avLst/>
          </a:prstGeom>
          <a:noFill/>
          <a:ln/>
        </p:spPr>
        <p:txBody>
          <a:bodyPr wrap="square" lIns="47625" tIns="114300" rIns="114300" bIns="47625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Mes</a:t>
            </a:r>
            <a:endParaRPr lang="en-US" sz="888" dirty="0"/>
          </a:p>
        </p:txBody>
      </p:sp>
      <p:sp>
        <p:nvSpPr>
          <p:cNvPr id="53" name="Text 50"/>
          <p:cNvSpPr/>
          <p:nvPr/>
        </p:nvSpPr>
        <p:spPr>
          <a:xfrm>
            <a:off x="685783" y="2210716"/>
            <a:ext cx="528234" cy="470892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l" indent="0" marL="0">
              <a:buNone/>
            </a:pPr>
            <a:r>
              <a:rPr lang="en-US" sz="79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Ene</a:t>
            </a:r>
            <a:endParaRPr lang="en-US" sz="792" dirty="0"/>
          </a:p>
        </p:txBody>
      </p:sp>
      <p:sp>
        <p:nvSpPr>
          <p:cNvPr id="54" name="Text 51"/>
          <p:cNvSpPr/>
          <p:nvPr/>
        </p:nvSpPr>
        <p:spPr>
          <a:xfrm>
            <a:off x="685783" y="2681608"/>
            <a:ext cx="528234" cy="48012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l" indent="0" marL="0">
              <a:buNone/>
            </a:pPr>
            <a:r>
              <a:rPr lang="en-US" sz="79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Feb</a:t>
            </a:r>
            <a:endParaRPr lang="en-US" sz="792" dirty="0"/>
          </a:p>
        </p:txBody>
      </p:sp>
      <p:sp>
        <p:nvSpPr>
          <p:cNvPr id="55" name="Text 52"/>
          <p:cNvSpPr/>
          <p:nvPr/>
        </p:nvSpPr>
        <p:spPr>
          <a:xfrm>
            <a:off x="3413192" y="2681608"/>
            <a:ext cx="871909" cy="48012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139</a:t>
            </a:r>
            <a:endParaRPr lang="en-US" sz="792" dirty="0"/>
          </a:p>
        </p:txBody>
      </p:sp>
      <p:sp>
        <p:nvSpPr>
          <p:cNvPr id="56" name="Text 53"/>
          <p:cNvSpPr/>
          <p:nvPr/>
        </p:nvSpPr>
        <p:spPr>
          <a:xfrm>
            <a:off x="4260697" y="2681608"/>
            <a:ext cx="837878" cy="48012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105</a:t>
            </a:r>
            <a:endParaRPr lang="en-US" sz="792" dirty="0"/>
          </a:p>
        </p:txBody>
      </p:sp>
      <p:sp>
        <p:nvSpPr>
          <p:cNvPr id="57" name="Text 54"/>
          <p:cNvSpPr/>
          <p:nvPr/>
        </p:nvSpPr>
        <p:spPr>
          <a:xfrm>
            <a:off x="685783" y="3161728"/>
            <a:ext cx="528234" cy="48012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l" indent="0" marL="0">
              <a:buNone/>
            </a:pPr>
            <a:r>
              <a:rPr lang="en-US" sz="79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Mar</a:t>
            </a:r>
            <a:endParaRPr lang="en-US" sz="792" dirty="0"/>
          </a:p>
        </p:txBody>
      </p:sp>
      <p:sp>
        <p:nvSpPr>
          <p:cNvPr id="58" name="Text 55"/>
          <p:cNvSpPr/>
          <p:nvPr/>
        </p:nvSpPr>
        <p:spPr>
          <a:xfrm>
            <a:off x="3413192" y="3161728"/>
            <a:ext cx="871909" cy="48012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135</a:t>
            </a:r>
            <a:endParaRPr lang="en-US" sz="792" dirty="0"/>
          </a:p>
        </p:txBody>
      </p:sp>
      <p:sp>
        <p:nvSpPr>
          <p:cNvPr id="59" name="Text 56"/>
          <p:cNvSpPr/>
          <p:nvPr/>
        </p:nvSpPr>
        <p:spPr>
          <a:xfrm>
            <a:off x="685783" y="3641847"/>
            <a:ext cx="528234" cy="48012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l" indent="0" marL="0">
              <a:buNone/>
            </a:pPr>
            <a:r>
              <a:rPr lang="en-US" sz="79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Abr</a:t>
            </a:r>
            <a:endParaRPr lang="en-US" sz="792" dirty="0"/>
          </a:p>
        </p:txBody>
      </p:sp>
      <p:sp>
        <p:nvSpPr>
          <p:cNvPr id="60" name="Text 57"/>
          <p:cNvSpPr/>
          <p:nvPr/>
        </p:nvSpPr>
        <p:spPr>
          <a:xfrm>
            <a:off x="3413192" y="3641847"/>
            <a:ext cx="871909" cy="48012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125</a:t>
            </a:r>
            <a:endParaRPr lang="en-US" sz="792" dirty="0"/>
          </a:p>
        </p:txBody>
      </p:sp>
      <p:sp>
        <p:nvSpPr>
          <p:cNvPr id="61" name="Text 58"/>
          <p:cNvSpPr/>
          <p:nvPr/>
        </p:nvSpPr>
        <p:spPr>
          <a:xfrm>
            <a:off x="4260697" y="3641847"/>
            <a:ext cx="837878" cy="48012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103</a:t>
            </a:r>
            <a:endParaRPr lang="en-US" sz="792" dirty="0"/>
          </a:p>
        </p:txBody>
      </p:sp>
      <p:sp>
        <p:nvSpPr>
          <p:cNvPr id="62" name="Text 59"/>
          <p:cNvSpPr/>
          <p:nvPr/>
        </p:nvSpPr>
        <p:spPr>
          <a:xfrm>
            <a:off x="685783" y="4121967"/>
            <a:ext cx="528234" cy="48012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l" indent="0" marL="0">
              <a:buNone/>
            </a:pPr>
            <a:r>
              <a:rPr lang="en-US" sz="79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May</a:t>
            </a:r>
            <a:endParaRPr lang="en-US" sz="792" dirty="0"/>
          </a:p>
        </p:txBody>
      </p:sp>
      <p:sp>
        <p:nvSpPr>
          <p:cNvPr id="63" name="Text 60"/>
          <p:cNvSpPr/>
          <p:nvPr/>
        </p:nvSpPr>
        <p:spPr>
          <a:xfrm>
            <a:off x="3413192" y="4121967"/>
            <a:ext cx="871909" cy="48012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112</a:t>
            </a:r>
            <a:endParaRPr lang="en-US" sz="792" dirty="0"/>
          </a:p>
        </p:txBody>
      </p:sp>
      <p:sp>
        <p:nvSpPr>
          <p:cNvPr id="64" name="Text 61"/>
          <p:cNvSpPr/>
          <p:nvPr/>
        </p:nvSpPr>
        <p:spPr>
          <a:xfrm>
            <a:off x="5073515" y="4121967"/>
            <a:ext cx="860412" cy="48012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8A620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S/D</a:t>
            </a:r>
            <a:endParaRPr lang="en-US" sz="816" dirty="0"/>
          </a:p>
        </p:txBody>
      </p:sp>
      <p:sp>
        <p:nvSpPr>
          <p:cNvPr id="65" name="Text 62"/>
          <p:cNvSpPr/>
          <p:nvPr/>
        </p:nvSpPr>
        <p:spPr>
          <a:xfrm>
            <a:off x="685783" y="4602086"/>
            <a:ext cx="528234" cy="48012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l" indent="0" marL="0">
              <a:buNone/>
            </a:pPr>
            <a:r>
              <a:rPr lang="en-US" sz="79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Jun</a:t>
            </a:r>
            <a:endParaRPr lang="en-US" sz="792" dirty="0"/>
          </a:p>
        </p:txBody>
      </p:sp>
      <p:sp>
        <p:nvSpPr>
          <p:cNvPr id="66" name="Text 63"/>
          <p:cNvSpPr/>
          <p:nvPr/>
        </p:nvSpPr>
        <p:spPr>
          <a:xfrm>
            <a:off x="3413192" y="4602086"/>
            <a:ext cx="871909" cy="48012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127</a:t>
            </a:r>
            <a:endParaRPr lang="en-US" sz="792" dirty="0"/>
          </a:p>
        </p:txBody>
      </p:sp>
      <p:sp>
        <p:nvSpPr>
          <p:cNvPr id="67" name="Text 64"/>
          <p:cNvSpPr/>
          <p:nvPr/>
        </p:nvSpPr>
        <p:spPr>
          <a:xfrm>
            <a:off x="5073515" y="4602086"/>
            <a:ext cx="860412" cy="48012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8A620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S/D</a:t>
            </a:r>
            <a:endParaRPr lang="en-US" sz="816" dirty="0"/>
          </a:p>
        </p:txBody>
      </p:sp>
      <p:sp>
        <p:nvSpPr>
          <p:cNvPr id="68" name="Text 65"/>
          <p:cNvSpPr/>
          <p:nvPr/>
        </p:nvSpPr>
        <p:spPr>
          <a:xfrm>
            <a:off x="1896428" y="5082206"/>
            <a:ext cx="839411" cy="471488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79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28*</a:t>
            </a:r>
            <a:endParaRPr lang="en-US" sz="792" dirty="0"/>
          </a:p>
        </p:txBody>
      </p:sp>
      <p:sp>
        <p:nvSpPr>
          <p:cNvPr id="69" name="Text 66"/>
          <p:cNvSpPr/>
          <p:nvPr/>
        </p:nvSpPr>
        <p:spPr>
          <a:xfrm>
            <a:off x="3413192" y="5082206"/>
            <a:ext cx="871909" cy="471488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79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730</a:t>
            </a:r>
            <a:endParaRPr lang="en-US" sz="792" dirty="0"/>
          </a:p>
        </p:txBody>
      </p:sp>
      <p:sp>
        <p:nvSpPr>
          <p:cNvPr id="70" name="Text 67"/>
          <p:cNvSpPr/>
          <p:nvPr/>
        </p:nvSpPr>
        <p:spPr>
          <a:xfrm>
            <a:off x="4260697" y="5082206"/>
            <a:ext cx="837878" cy="471488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79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563</a:t>
            </a:r>
            <a:endParaRPr lang="en-US" sz="792" dirty="0"/>
          </a:p>
        </p:txBody>
      </p:sp>
      <p:sp>
        <p:nvSpPr>
          <p:cNvPr id="71" name="Text 68"/>
          <p:cNvSpPr/>
          <p:nvPr/>
        </p:nvSpPr>
        <p:spPr>
          <a:xfrm>
            <a:off x="6257769" y="1982116"/>
            <a:ext cx="528234" cy="228600"/>
          </a:xfrm>
          <a:prstGeom prst="rect">
            <a:avLst/>
          </a:prstGeom>
          <a:noFill/>
          <a:ln/>
        </p:spPr>
        <p:txBody>
          <a:bodyPr wrap="square" lIns="47625" tIns="114300" rIns="114300" bIns="47625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Mes</a:t>
            </a:r>
            <a:endParaRPr lang="en-US" sz="888" dirty="0"/>
          </a:p>
        </p:txBody>
      </p:sp>
      <p:sp>
        <p:nvSpPr>
          <p:cNvPr id="72" name="Text 69"/>
          <p:cNvSpPr/>
          <p:nvPr/>
        </p:nvSpPr>
        <p:spPr>
          <a:xfrm>
            <a:off x="6257769" y="2210716"/>
            <a:ext cx="528234" cy="470892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l" indent="0" marL="0">
              <a:buNone/>
            </a:pPr>
            <a:r>
              <a:rPr lang="en-US" sz="79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Ene</a:t>
            </a:r>
            <a:endParaRPr lang="en-US" sz="792" dirty="0"/>
          </a:p>
        </p:txBody>
      </p:sp>
      <p:sp>
        <p:nvSpPr>
          <p:cNvPr id="73" name="Text 70"/>
          <p:cNvSpPr/>
          <p:nvPr/>
        </p:nvSpPr>
        <p:spPr>
          <a:xfrm>
            <a:off x="8286742" y="2210716"/>
            <a:ext cx="723831" cy="470892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783</a:t>
            </a:r>
            <a:endParaRPr lang="en-US" sz="792" dirty="0"/>
          </a:p>
        </p:txBody>
      </p:sp>
      <p:sp>
        <p:nvSpPr>
          <p:cNvPr id="74" name="Text 71"/>
          <p:cNvSpPr/>
          <p:nvPr/>
        </p:nvSpPr>
        <p:spPr>
          <a:xfrm>
            <a:off x="6257769" y="2681608"/>
            <a:ext cx="528234" cy="48012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l" indent="0" marL="0">
              <a:buNone/>
            </a:pPr>
            <a:r>
              <a:rPr lang="en-US" sz="79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Feb</a:t>
            </a:r>
            <a:endParaRPr lang="en-US" sz="792" dirty="0"/>
          </a:p>
        </p:txBody>
      </p:sp>
      <p:sp>
        <p:nvSpPr>
          <p:cNvPr id="75" name="Text 72"/>
          <p:cNvSpPr/>
          <p:nvPr/>
        </p:nvSpPr>
        <p:spPr>
          <a:xfrm>
            <a:off x="8286742" y="2681608"/>
            <a:ext cx="723831" cy="48012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743</a:t>
            </a:r>
            <a:endParaRPr lang="en-US" sz="792" dirty="0"/>
          </a:p>
        </p:txBody>
      </p:sp>
      <p:sp>
        <p:nvSpPr>
          <p:cNvPr id="76" name="Text 73"/>
          <p:cNvSpPr/>
          <p:nvPr/>
        </p:nvSpPr>
        <p:spPr>
          <a:xfrm>
            <a:off x="6257769" y="3161728"/>
            <a:ext cx="528234" cy="48012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l" indent="0" marL="0">
              <a:buNone/>
            </a:pPr>
            <a:r>
              <a:rPr lang="en-US" sz="79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Mar</a:t>
            </a:r>
            <a:endParaRPr lang="en-US" sz="792" dirty="0"/>
          </a:p>
        </p:txBody>
      </p:sp>
      <p:sp>
        <p:nvSpPr>
          <p:cNvPr id="77" name="Text 74"/>
          <p:cNvSpPr/>
          <p:nvPr/>
        </p:nvSpPr>
        <p:spPr>
          <a:xfrm>
            <a:off x="8286742" y="3161728"/>
            <a:ext cx="723831" cy="48012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391</a:t>
            </a:r>
            <a:endParaRPr lang="en-US" sz="792" dirty="0"/>
          </a:p>
        </p:txBody>
      </p:sp>
      <p:sp>
        <p:nvSpPr>
          <p:cNvPr id="78" name="Text 75"/>
          <p:cNvSpPr/>
          <p:nvPr/>
        </p:nvSpPr>
        <p:spPr>
          <a:xfrm>
            <a:off x="6257769" y="3641847"/>
            <a:ext cx="528234" cy="48012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l" indent="0" marL="0">
              <a:buNone/>
            </a:pPr>
            <a:r>
              <a:rPr lang="en-US" sz="79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Abr</a:t>
            </a:r>
            <a:endParaRPr lang="en-US" sz="792" dirty="0"/>
          </a:p>
        </p:txBody>
      </p:sp>
      <p:sp>
        <p:nvSpPr>
          <p:cNvPr id="79" name="Text 76"/>
          <p:cNvSpPr/>
          <p:nvPr/>
        </p:nvSpPr>
        <p:spPr>
          <a:xfrm>
            <a:off x="8286742" y="3641847"/>
            <a:ext cx="723831" cy="48012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329</a:t>
            </a:r>
            <a:endParaRPr lang="en-US" sz="792" dirty="0"/>
          </a:p>
        </p:txBody>
      </p:sp>
      <p:sp>
        <p:nvSpPr>
          <p:cNvPr id="80" name="Text 77"/>
          <p:cNvSpPr/>
          <p:nvPr/>
        </p:nvSpPr>
        <p:spPr>
          <a:xfrm>
            <a:off x="10645500" y="3641847"/>
            <a:ext cx="860412" cy="48012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8A620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S/D</a:t>
            </a:r>
            <a:endParaRPr lang="en-US" sz="816" dirty="0"/>
          </a:p>
        </p:txBody>
      </p:sp>
      <p:sp>
        <p:nvSpPr>
          <p:cNvPr id="81" name="Text 78"/>
          <p:cNvSpPr/>
          <p:nvPr/>
        </p:nvSpPr>
        <p:spPr>
          <a:xfrm>
            <a:off x="6257769" y="4121967"/>
            <a:ext cx="528234" cy="48012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l" indent="0" marL="0">
              <a:buNone/>
            </a:pPr>
            <a:r>
              <a:rPr lang="en-US" sz="79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May</a:t>
            </a:r>
            <a:endParaRPr lang="en-US" sz="792" dirty="0"/>
          </a:p>
        </p:txBody>
      </p:sp>
      <p:sp>
        <p:nvSpPr>
          <p:cNvPr id="82" name="Text 79"/>
          <p:cNvSpPr/>
          <p:nvPr/>
        </p:nvSpPr>
        <p:spPr>
          <a:xfrm>
            <a:off x="8286742" y="4121967"/>
            <a:ext cx="723831" cy="48012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818</a:t>
            </a:r>
            <a:endParaRPr lang="en-US" sz="792" dirty="0"/>
          </a:p>
        </p:txBody>
      </p:sp>
      <p:sp>
        <p:nvSpPr>
          <p:cNvPr id="83" name="Text 80"/>
          <p:cNvSpPr/>
          <p:nvPr/>
        </p:nvSpPr>
        <p:spPr>
          <a:xfrm>
            <a:off x="10645500" y="4121967"/>
            <a:ext cx="860412" cy="48012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8A620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S/D</a:t>
            </a:r>
            <a:endParaRPr lang="en-US" sz="816" dirty="0"/>
          </a:p>
        </p:txBody>
      </p:sp>
      <p:sp>
        <p:nvSpPr>
          <p:cNvPr id="84" name="Text 81"/>
          <p:cNvSpPr/>
          <p:nvPr/>
        </p:nvSpPr>
        <p:spPr>
          <a:xfrm>
            <a:off x="6257769" y="4602086"/>
            <a:ext cx="528234" cy="48012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l" indent="0" marL="0">
              <a:buNone/>
            </a:pPr>
            <a:r>
              <a:rPr lang="en-US" sz="79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Jun</a:t>
            </a:r>
            <a:endParaRPr lang="en-US" sz="792" dirty="0"/>
          </a:p>
        </p:txBody>
      </p:sp>
      <p:sp>
        <p:nvSpPr>
          <p:cNvPr id="85" name="Text 82"/>
          <p:cNvSpPr/>
          <p:nvPr/>
        </p:nvSpPr>
        <p:spPr>
          <a:xfrm>
            <a:off x="10645500" y="4602086"/>
            <a:ext cx="860412" cy="48012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8A620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S/D</a:t>
            </a:r>
            <a:endParaRPr lang="en-US" sz="816" dirty="0"/>
          </a:p>
        </p:txBody>
      </p:sp>
      <p:sp>
        <p:nvSpPr>
          <p:cNvPr id="86" name="Text 83"/>
          <p:cNvSpPr/>
          <p:nvPr/>
        </p:nvSpPr>
        <p:spPr>
          <a:xfrm>
            <a:off x="6748950" y="5082206"/>
            <a:ext cx="743912" cy="471488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79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13*</a:t>
            </a:r>
            <a:endParaRPr lang="en-US" sz="792" dirty="0"/>
          </a:p>
        </p:txBody>
      </p:sp>
      <p:sp>
        <p:nvSpPr>
          <p:cNvPr id="87" name="Text 84"/>
          <p:cNvSpPr/>
          <p:nvPr/>
        </p:nvSpPr>
        <p:spPr>
          <a:xfrm>
            <a:off x="7468413" y="5082206"/>
            <a:ext cx="839411" cy="471488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79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35*</a:t>
            </a:r>
            <a:endParaRPr lang="en-US" sz="792" dirty="0"/>
          </a:p>
        </p:txBody>
      </p:sp>
      <p:sp>
        <p:nvSpPr>
          <p:cNvPr id="88" name="Text 85"/>
          <p:cNvSpPr/>
          <p:nvPr/>
        </p:nvSpPr>
        <p:spPr>
          <a:xfrm>
            <a:off x="8985178" y="5082206"/>
            <a:ext cx="871909" cy="471488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79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283</a:t>
            </a:r>
            <a:endParaRPr lang="en-US" sz="792" dirty="0"/>
          </a:p>
        </p:txBody>
      </p:sp>
      <p:sp>
        <p:nvSpPr>
          <p:cNvPr id="89" name="Text 86"/>
          <p:cNvSpPr/>
          <p:nvPr/>
        </p:nvSpPr>
        <p:spPr>
          <a:xfrm>
            <a:off x="9832683" y="5082206"/>
            <a:ext cx="837878" cy="471488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79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171</a:t>
            </a:r>
            <a:endParaRPr lang="en-US" sz="792" dirty="0"/>
          </a:p>
        </p:txBody>
      </p:sp>
      <p:sp>
        <p:nvSpPr>
          <p:cNvPr id="90" name="Text 87"/>
          <p:cNvSpPr/>
          <p:nvPr/>
        </p:nvSpPr>
        <p:spPr>
          <a:xfrm>
            <a:off x="723882" y="1085850"/>
            <a:ext cx="274320" cy="156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20" b="1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563</a:t>
            </a:r>
            <a:endParaRPr lang="en-US" sz="1020" dirty="0"/>
          </a:p>
        </p:txBody>
      </p:sp>
      <p:sp>
        <p:nvSpPr>
          <p:cNvPr id="91" name="Text 88"/>
          <p:cNvSpPr/>
          <p:nvPr/>
        </p:nvSpPr>
        <p:spPr>
          <a:xfrm>
            <a:off x="3505112" y="1085850"/>
            <a:ext cx="274320" cy="156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20" b="1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171</a:t>
            </a:r>
            <a:endParaRPr lang="en-US" sz="1020" dirty="0"/>
          </a:p>
        </p:txBody>
      </p:sp>
      <p:sp>
        <p:nvSpPr>
          <p:cNvPr id="92" name="Text 89"/>
          <p:cNvSpPr/>
          <p:nvPr/>
        </p:nvSpPr>
        <p:spPr>
          <a:xfrm>
            <a:off x="1896428" y="2210716"/>
            <a:ext cx="839411" cy="470892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26</a:t>
            </a:r>
            <a:endParaRPr lang="en-US" sz="792" dirty="0"/>
          </a:p>
        </p:txBody>
      </p:sp>
      <p:sp>
        <p:nvSpPr>
          <p:cNvPr id="93" name="Text 90"/>
          <p:cNvSpPr/>
          <p:nvPr/>
        </p:nvSpPr>
        <p:spPr>
          <a:xfrm>
            <a:off x="3413192" y="2210716"/>
            <a:ext cx="871909" cy="470892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92</a:t>
            </a:r>
            <a:endParaRPr lang="en-US" sz="792" dirty="0"/>
          </a:p>
        </p:txBody>
      </p:sp>
      <p:sp>
        <p:nvSpPr>
          <p:cNvPr id="94" name="Text 91"/>
          <p:cNvSpPr/>
          <p:nvPr/>
        </p:nvSpPr>
        <p:spPr>
          <a:xfrm>
            <a:off x="4260697" y="2210716"/>
            <a:ext cx="837878" cy="470892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69</a:t>
            </a:r>
            <a:endParaRPr lang="en-US" sz="792" dirty="0"/>
          </a:p>
        </p:txBody>
      </p:sp>
      <p:sp>
        <p:nvSpPr>
          <p:cNvPr id="95" name="Text 92"/>
          <p:cNvSpPr/>
          <p:nvPr/>
        </p:nvSpPr>
        <p:spPr>
          <a:xfrm>
            <a:off x="1896428" y="2681608"/>
            <a:ext cx="839411" cy="48012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24</a:t>
            </a:r>
            <a:endParaRPr lang="en-US" sz="792" dirty="0"/>
          </a:p>
        </p:txBody>
      </p:sp>
      <p:sp>
        <p:nvSpPr>
          <p:cNvPr id="96" name="Text 93"/>
          <p:cNvSpPr/>
          <p:nvPr/>
        </p:nvSpPr>
        <p:spPr>
          <a:xfrm>
            <a:off x="1896428" y="3161728"/>
            <a:ext cx="839411" cy="48012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28</a:t>
            </a:r>
            <a:endParaRPr lang="en-US" sz="792" dirty="0"/>
          </a:p>
        </p:txBody>
      </p:sp>
      <p:sp>
        <p:nvSpPr>
          <p:cNvPr id="97" name="Text 94"/>
          <p:cNvSpPr/>
          <p:nvPr/>
        </p:nvSpPr>
        <p:spPr>
          <a:xfrm>
            <a:off x="4260697" y="3161728"/>
            <a:ext cx="837878" cy="48012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96</a:t>
            </a:r>
            <a:endParaRPr lang="en-US" sz="792" dirty="0"/>
          </a:p>
        </p:txBody>
      </p:sp>
      <p:sp>
        <p:nvSpPr>
          <p:cNvPr id="98" name="Text 95"/>
          <p:cNvSpPr/>
          <p:nvPr/>
        </p:nvSpPr>
        <p:spPr>
          <a:xfrm>
            <a:off x="1896428" y="3641847"/>
            <a:ext cx="839411" cy="48012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28</a:t>
            </a:r>
            <a:endParaRPr lang="en-US" sz="792" dirty="0"/>
          </a:p>
        </p:txBody>
      </p:sp>
      <p:sp>
        <p:nvSpPr>
          <p:cNvPr id="99" name="Text 96"/>
          <p:cNvSpPr/>
          <p:nvPr/>
        </p:nvSpPr>
        <p:spPr>
          <a:xfrm>
            <a:off x="1176964" y="4121967"/>
            <a:ext cx="743912" cy="48012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</a:t>
            </a:r>
            <a:endParaRPr lang="en-US" sz="792" dirty="0"/>
          </a:p>
        </p:txBody>
      </p:sp>
      <p:sp>
        <p:nvSpPr>
          <p:cNvPr id="100" name="Text 97"/>
          <p:cNvSpPr/>
          <p:nvPr/>
        </p:nvSpPr>
        <p:spPr>
          <a:xfrm>
            <a:off x="1896428" y="4121967"/>
            <a:ext cx="839411" cy="48012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28</a:t>
            </a:r>
            <a:endParaRPr lang="en-US" sz="792" dirty="0"/>
          </a:p>
        </p:txBody>
      </p:sp>
      <p:sp>
        <p:nvSpPr>
          <p:cNvPr id="101" name="Text 98"/>
          <p:cNvSpPr/>
          <p:nvPr/>
        </p:nvSpPr>
        <p:spPr>
          <a:xfrm>
            <a:off x="4260697" y="4121967"/>
            <a:ext cx="837878" cy="48012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94</a:t>
            </a:r>
            <a:endParaRPr lang="en-US" sz="792" dirty="0"/>
          </a:p>
        </p:txBody>
      </p:sp>
      <p:sp>
        <p:nvSpPr>
          <p:cNvPr id="102" name="Text 99"/>
          <p:cNvSpPr/>
          <p:nvPr/>
        </p:nvSpPr>
        <p:spPr>
          <a:xfrm>
            <a:off x="1176964" y="4602086"/>
            <a:ext cx="743912" cy="48012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12</a:t>
            </a:r>
            <a:endParaRPr lang="en-US" sz="792" dirty="0"/>
          </a:p>
        </p:txBody>
      </p:sp>
      <p:sp>
        <p:nvSpPr>
          <p:cNvPr id="103" name="Text 100"/>
          <p:cNvSpPr/>
          <p:nvPr/>
        </p:nvSpPr>
        <p:spPr>
          <a:xfrm>
            <a:off x="1896428" y="4602086"/>
            <a:ext cx="839411" cy="48012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31</a:t>
            </a:r>
            <a:endParaRPr lang="en-US" sz="792" dirty="0"/>
          </a:p>
        </p:txBody>
      </p:sp>
      <p:sp>
        <p:nvSpPr>
          <p:cNvPr id="104" name="Text 101"/>
          <p:cNvSpPr/>
          <p:nvPr/>
        </p:nvSpPr>
        <p:spPr>
          <a:xfrm>
            <a:off x="4260697" y="4602086"/>
            <a:ext cx="837878" cy="48012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96</a:t>
            </a:r>
            <a:endParaRPr lang="en-US" sz="792" dirty="0"/>
          </a:p>
        </p:txBody>
      </p:sp>
      <p:sp>
        <p:nvSpPr>
          <p:cNvPr id="105" name="Text 102"/>
          <p:cNvSpPr/>
          <p:nvPr/>
        </p:nvSpPr>
        <p:spPr>
          <a:xfrm>
            <a:off x="1176964" y="5082206"/>
            <a:ext cx="743912" cy="471488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79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8*</a:t>
            </a:r>
            <a:endParaRPr lang="en-US" sz="792" dirty="0"/>
          </a:p>
        </p:txBody>
      </p:sp>
      <p:sp>
        <p:nvSpPr>
          <p:cNvPr id="106" name="Text 103"/>
          <p:cNvSpPr/>
          <p:nvPr/>
        </p:nvSpPr>
        <p:spPr>
          <a:xfrm>
            <a:off x="7468413" y="2210716"/>
            <a:ext cx="839411" cy="470892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34</a:t>
            </a:r>
            <a:endParaRPr lang="en-US" sz="792" dirty="0"/>
          </a:p>
        </p:txBody>
      </p:sp>
      <p:sp>
        <p:nvSpPr>
          <p:cNvPr id="107" name="Text 104"/>
          <p:cNvSpPr/>
          <p:nvPr/>
        </p:nvSpPr>
        <p:spPr>
          <a:xfrm>
            <a:off x="8985178" y="2210716"/>
            <a:ext cx="871909" cy="470892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22</a:t>
            </a:r>
            <a:endParaRPr lang="en-US" sz="792" dirty="0"/>
          </a:p>
        </p:txBody>
      </p:sp>
      <p:sp>
        <p:nvSpPr>
          <p:cNvPr id="108" name="Text 105"/>
          <p:cNvSpPr/>
          <p:nvPr/>
        </p:nvSpPr>
        <p:spPr>
          <a:xfrm>
            <a:off x="9832683" y="2210716"/>
            <a:ext cx="837878" cy="470892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16</a:t>
            </a:r>
            <a:endParaRPr lang="en-US" sz="792" dirty="0"/>
          </a:p>
        </p:txBody>
      </p:sp>
      <p:sp>
        <p:nvSpPr>
          <p:cNvPr id="109" name="Text 106"/>
          <p:cNvSpPr/>
          <p:nvPr/>
        </p:nvSpPr>
        <p:spPr>
          <a:xfrm>
            <a:off x="7468413" y="2681608"/>
            <a:ext cx="839411" cy="48012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39</a:t>
            </a:r>
            <a:endParaRPr lang="en-US" sz="792" dirty="0"/>
          </a:p>
        </p:txBody>
      </p:sp>
      <p:sp>
        <p:nvSpPr>
          <p:cNvPr id="110" name="Text 107"/>
          <p:cNvSpPr/>
          <p:nvPr/>
        </p:nvSpPr>
        <p:spPr>
          <a:xfrm>
            <a:off x="8985178" y="2681608"/>
            <a:ext cx="871909" cy="48012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50</a:t>
            </a:r>
            <a:endParaRPr lang="en-US" sz="792" dirty="0"/>
          </a:p>
        </p:txBody>
      </p:sp>
      <p:sp>
        <p:nvSpPr>
          <p:cNvPr id="111" name="Text 108"/>
          <p:cNvSpPr/>
          <p:nvPr/>
        </p:nvSpPr>
        <p:spPr>
          <a:xfrm>
            <a:off x="9832683" y="2681608"/>
            <a:ext cx="837878" cy="48012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22</a:t>
            </a:r>
            <a:endParaRPr lang="en-US" sz="792" dirty="0"/>
          </a:p>
        </p:txBody>
      </p:sp>
      <p:sp>
        <p:nvSpPr>
          <p:cNvPr id="112" name="Text 109"/>
          <p:cNvSpPr/>
          <p:nvPr/>
        </p:nvSpPr>
        <p:spPr>
          <a:xfrm>
            <a:off x="7468413" y="3161728"/>
            <a:ext cx="839411" cy="48012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40</a:t>
            </a:r>
            <a:endParaRPr lang="en-US" sz="792" dirty="0"/>
          </a:p>
        </p:txBody>
      </p:sp>
      <p:sp>
        <p:nvSpPr>
          <p:cNvPr id="113" name="Text 110"/>
          <p:cNvSpPr/>
          <p:nvPr/>
        </p:nvSpPr>
        <p:spPr>
          <a:xfrm>
            <a:off x="8985178" y="3161728"/>
            <a:ext cx="871909" cy="48012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71</a:t>
            </a:r>
            <a:endParaRPr lang="en-US" sz="792" dirty="0"/>
          </a:p>
        </p:txBody>
      </p:sp>
      <p:sp>
        <p:nvSpPr>
          <p:cNvPr id="114" name="Text 111"/>
          <p:cNvSpPr/>
          <p:nvPr/>
        </p:nvSpPr>
        <p:spPr>
          <a:xfrm>
            <a:off x="9832683" y="3161728"/>
            <a:ext cx="837878" cy="48012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40</a:t>
            </a:r>
            <a:endParaRPr lang="en-US" sz="792" dirty="0"/>
          </a:p>
        </p:txBody>
      </p:sp>
      <p:sp>
        <p:nvSpPr>
          <p:cNvPr id="115" name="Text 112"/>
          <p:cNvSpPr/>
          <p:nvPr/>
        </p:nvSpPr>
        <p:spPr>
          <a:xfrm>
            <a:off x="7468413" y="3641847"/>
            <a:ext cx="839411" cy="48012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41</a:t>
            </a:r>
            <a:endParaRPr lang="en-US" sz="792" dirty="0"/>
          </a:p>
        </p:txBody>
      </p:sp>
      <p:sp>
        <p:nvSpPr>
          <p:cNvPr id="116" name="Text 113"/>
          <p:cNvSpPr/>
          <p:nvPr/>
        </p:nvSpPr>
        <p:spPr>
          <a:xfrm>
            <a:off x="8985178" y="3641847"/>
            <a:ext cx="871909" cy="48012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57</a:t>
            </a:r>
            <a:endParaRPr lang="en-US" sz="792" dirty="0"/>
          </a:p>
        </p:txBody>
      </p:sp>
      <p:sp>
        <p:nvSpPr>
          <p:cNvPr id="117" name="Text 114"/>
          <p:cNvSpPr/>
          <p:nvPr/>
        </p:nvSpPr>
        <p:spPr>
          <a:xfrm>
            <a:off x="9832683" y="3641847"/>
            <a:ext cx="837878" cy="48012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40</a:t>
            </a:r>
            <a:endParaRPr lang="en-US" sz="792" dirty="0"/>
          </a:p>
        </p:txBody>
      </p:sp>
      <p:sp>
        <p:nvSpPr>
          <p:cNvPr id="118" name="Text 115"/>
          <p:cNvSpPr/>
          <p:nvPr/>
        </p:nvSpPr>
        <p:spPr>
          <a:xfrm>
            <a:off x="6748950" y="4121967"/>
            <a:ext cx="743912" cy="48012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22</a:t>
            </a:r>
            <a:endParaRPr lang="en-US" sz="792" dirty="0"/>
          </a:p>
        </p:txBody>
      </p:sp>
      <p:sp>
        <p:nvSpPr>
          <p:cNvPr id="119" name="Text 116"/>
          <p:cNvSpPr/>
          <p:nvPr/>
        </p:nvSpPr>
        <p:spPr>
          <a:xfrm>
            <a:off x="8985178" y="4121967"/>
            <a:ext cx="871909" cy="48012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45</a:t>
            </a:r>
            <a:endParaRPr lang="en-US" sz="792" dirty="0"/>
          </a:p>
        </p:txBody>
      </p:sp>
      <p:sp>
        <p:nvSpPr>
          <p:cNvPr id="120" name="Text 117"/>
          <p:cNvSpPr/>
          <p:nvPr/>
        </p:nvSpPr>
        <p:spPr>
          <a:xfrm>
            <a:off x="9832683" y="4121967"/>
            <a:ext cx="837878" cy="48012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30</a:t>
            </a:r>
            <a:endParaRPr lang="en-US" sz="792" dirty="0"/>
          </a:p>
        </p:txBody>
      </p:sp>
      <p:sp>
        <p:nvSpPr>
          <p:cNvPr id="121" name="Text 118"/>
          <p:cNvSpPr/>
          <p:nvPr/>
        </p:nvSpPr>
        <p:spPr>
          <a:xfrm>
            <a:off x="6748950" y="4602086"/>
            <a:ext cx="743912" cy="48012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25</a:t>
            </a:r>
            <a:endParaRPr lang="en-US" sz="792" dirty="0"/>
          </a:p>
        </p:txBody>
      </p:sp>
      <p:sp>
        <p:nvSpPr>
          <p:cNvPr id="122" name="Text 119"/>
          <p:cNvSpPr/>
          <p:nvPr/>
        </p:nvSpPr>
        <p:spPr>
          <a:xfrm>
            <a:off x="7468413" y="4602086"/>
            <a:ext cx="839411" cy="48012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45</a:t>
            </a:r>
            <a:endParaRPr lang="en-US" sz="792" dirty="0"/>
          </a:p>
        </p:txBody>
      </p:sp>
      <p:sp>
        <p:nvSpPr>
          <p:cNvPr id="123" name="Text 120"/>
          <p:cNvSpPr/>
          <p:nvPr/>
        </p:nvSpPr>
        <p:spPr>
          <a:xfrm>
            <a:off x="8985178" y="4602086"/>
            <a:ext cx="871909" cy="48012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38</a:t>
            </a:r>
            <a:endParaRPr lang="en-US" sz="792" dirty="0"/>
          </a:p>
        </p:txBody>
      </p:sp>
      <p:sp>
        <p:nvSpPr>
          <p:cNvPr id="124" name="Text 121"/>
          <p:cNvSpPr/>
          <p:nvPr/>
        </p:nvSpPr>
        <p:spPr>
          <a:xfrm>
            <a:off x="9832683" y="4602086"/>
            <a:ext cx="837878" cy="480120"/>
          </a:xfrm>
          <a:prstGeom prst="rect">
            <a:avLst/>
          </a:prstGeom>
          <a:noFill/>
          <a:ln/>
        </p:spPr>
        <p:txBody>
          <a:bodyPr wrap="square" lIns="38100" tIns="114300" rIns="114300" bIns="38100" rtlCol="0" anchor="ctr"/>
          <a:lstStyle/>
          <a:p>
            <a:pPr algn="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23</a:t>
            </a:r>
            <a:endParaRPr lang="en-US" sz="792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2026-07-17T20:53:28Z</dcterms:created>
  <dcterms:modified xsi:type="dcterms:W3CDTF">2026-07-17T20:53:28Z</dcterms:modified>
</cp:coreProperties>
</file>