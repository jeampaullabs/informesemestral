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0_Form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6093916"/>
            <a:ext cx="11380185" cy="551548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Semestral: El canal Tradicional concentró un esfuerzo récord de formación en marzo (148 visitas y 93 asesores capacitados). Con la posterior consolidación y el empalme con Retail, el canal centró su capacidad y cobertura promedio del semestre alcanzó un 7,5%, identificando grandes oportunidades de crecimiento en los aliados de mayor volumen.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6314917" y="541779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en marzo estableció la base operativa del canal en el primer semestre.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723882" y="541779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Asesores únicos con al menos una visita registrada en el mes.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6362541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promedio del canal Tradicional en el semestre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781030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Jun 2026)</a:t>
            </a:r>
            <a:endParaRPr lang="en-US" sz="696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6915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1S 2026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723882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Visitas, asesores y PDV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314917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81030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1S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423605" y="2302245"/>
            <a:ext cx="211876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Capacitados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62541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PDV Activo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480656" y="2302245"/>
            <a:ext cx="14380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23882" y="3840533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1589593" y="2302245"/>
            <a:ext cx="8590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362541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1740" dirty="0"/>
          </a:p>
        </p:txBody>
      </p:sp>
      <p:sp>
        <p:nvSpPr>
          <p:cNvPr id="18" name="Text 15"/>
          <p:cNvSpPr/>
          <p:nvPr/>
        </p:nvSpPr>
        <p:spPr>
          <a:xfrm>
            <a:off x="723882" y="2302245"/>
            <a:ext cx="8916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23882" y="2530845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23882" y="27451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723882" y="296423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589593" y="296423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23882" y="318330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723882" y="340238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23882" y="36214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1589593" y="3840533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463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2423605" y="3840533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388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4480656" y="3840533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781030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463</a:t>
            </a:r>
            <a:endParaRPr lang="en-US" sz="1740" dirty="0"/>
          </a:p>
        </p:txBody>
      </p:sp>
      <p:sp>
        <p:nvSpPr>
          <p:cNvPr id="30" name="Text 27"/>
          <p:cNvSpPr/>
          <p:nvPr/>
        </p:nvSpPr>
        <p:spPr>
          <a:xfrm>
            <a:off x="6314917" y="2354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6314917" y="25832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6314917" y="28118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11010625" y="28118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6314917" y="30404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6314917" y="32690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6314917" y="3497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1589593" y="2530845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2423605" y="2530845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4480656" y="2530845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1589593" y="27451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2423605" y="27451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4480656" y="27451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2423605" y="296423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4480656" y="296423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64" dirty="0"/>
          </a:p>
        </p:txBody>
      </p:sp>
      <p:sp>
        <p:nvSpPr>
          <p:cNvPr id="45" name="Text 42"/>
          <p:cNvSpPr/>
          <p:nvPr/>
        </p:nvSpPr>
        <p:spPr>
          <a:xfrm>
            <a:off x="1589593" y="318330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6" name="Text 43"/>
          <p:cNvSpPr/>
          <p:nvPr/>
        </p:nvSpPr>
        <p:spPr>
          <a:xfrm>
            <a:off x="2423605" y="318330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7" name="Text 44"/>
          <p:cNvSpPr/>
          <p:nvPr/>
        </p:nvSpPr>
        <p:spPr>
          <a:xfrm>
            <a:off x="4480656" y="318330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864" dirty="0"/>
          </a:p>
        </p:txBody>
      </p:sp>
      <p:sp>
        <p:nvSpPr>
          <p:cNvPr id="48" name="Text 45"/>
          <p:cNvSpPr/>
          <p:nvPr/>
        </p:nvSpPr>
        <p:spPr>
          <a:xfrm>
            <a:off x="1589593" y="340238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864" dirty="0"/>
          </a:p>
        </p:txBody>
      </p:sp>
      <p:sp>
        <p:nvSpPr>
          <p:cNvPr id="49" name="Text 46"/>
          <p:cNvSpPr/>
          <p:nvPr/>
        </p:nvSpPr>
        <p:spPr>
          <a:xfrm>
            <a:off x="2423605" y="340238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64" dirty="0"/>
          </a:p>
        </p:txBody>
      </p:sp>
      <p:sp>
        <p:nvSpPr>
          <p:cNvPr id="50" name="Text 47"/>
          <p:cNvSpPr/>
          <p:nvPr/>
        </p:nvSpPr>
        <p:spPr>
          <a:xfrm>
            <a:off x="4480656" y="340238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51" name="Text 48"/>
          <p:cNvSpPr/>
          <p:nvPr/>
        </p:nvSpPr>
        <p:spPr>
          <a:xfrm>
            <a:off x="1589593" y="36214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64" dirty="0"/>
          </a:p>
        </p:txBody>
      </p:sp>
      <p:sp>
        <p:nvSpPr>
          <p:cNvPr id="52" name="Text 49"/>
          <p:cNvSpPr/>
          <p:nvPr/>
        </p:nvSpPr>
        <p:spPr>
          <a:xfrm>
            <a:off x="2423605" y="36214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864" dirty="0"/>
          </a:p>
        </p:txBody>
      </p:sp>
      <p:sp>
        <p:nvSpPr>
          <p:cNvPr id="53" name="Text 50"/>
          <p:cNvSpPr/>
          <p:nvPr/>
        </p:nvSpPr>
        <p:spPr>
          <a:xfrm>
            <a:off x="4480656" y="36214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11010625" y="2354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11010625" y="25832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11010625" y="30404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57" name="Text 54"/>
          <p:cNvSpPr/>
          <p:nvPr/>
        </p:nvSpPr>
        <p:spPr>
          <a:xfrm>
            <a:off x="11010625" y="32690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80" dirty="0"/>
          </a:p>
        </p:txBody>
      </p:sp>
      <p:sp>
        <p:nvSpPr>
          <p:cNvPr id="58" name="Text 55"/>
          <p:cNvSpPr/>
          <p:nvPr/>
        </p:nvSpPr>
        <p:spPr>
          <a:xfrm>
            <a:off x="11010625" y="3497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1_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1228725"/>
            <a:ext cx="6643858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que financiaron en conciliaciones vs capacitados (cruzados por cédula).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517473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y Distribución Geográfica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704832" y="1009650"/>
            <a:ext cx="6643858" cy="196215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(Ene-Jun 2026)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555220" y="1009650"/>
            <a:ext cx="4049592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por Mes (Semestre)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555220" y="3486150"/>
            <a:ext cx="4049592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Municipios Visitados (1S)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4006204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 La Boyaca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006204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Tropico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555220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704832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M&amp;F Super Gas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04832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Carrera Motos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704832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Planeta Motos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006204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Sur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555220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04832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Multintegral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04832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Merpes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04832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Electroferia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006204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 Center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04832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Maximuebles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006204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 Market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4006204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Distrimotos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587715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704832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Casa Bajaj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006204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Distritodo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4006204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Credimovil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555220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9587715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006204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Uma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9587715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704832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Red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704832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Dismerca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006204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Janmotor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7555220" y="2924198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1S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587715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9587715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37" name="Text 34"/>
          <p:cNvSpPr/>
          <p:nvPr/>
        </p:nvSpPr>
        <p:spPr>
          <a:xfrm>
            <a:off x="704832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Diverxa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307229" y="1214460"/>
            <a:ext cx="8274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704832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006204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110584" y="1214460"/>
            <a:ext cx="7998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667882" y="1214460"/>
            <a:ext cx="84355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555220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44" name="Text 41"/>
          <p:cNvSpPr/>
          <p:nvPr/>
        </p:nvSpPr>
        <p:spPr>
          <a:xfrm>
            <a:off x="9587715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Madrid</a:t>
            </a:r>
            <a:endParaRPr lang="en-US" sz="672" dirty="0"/>
          </a:p>
        </p:txBody>
      </p:sp>
      <p:sp>
        <p:nvSpPr>
          <p:cNvPr id="45" name="Text 42"/>
          <p:cNvSpPr/>
          <p:nvPr/>
        </p:nvSpPr>
        <p:spPr>
          <a:xfrm>
            <a:off x="4006204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Asyco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9887149" y="1214460"/>
            <a:ext cx="8041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Ambos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0667882" y="1443060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15,0%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10667882" y="1933598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18,6%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0667882" y="2676548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10667882" y="2924198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7555220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2216293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2657111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3097929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5517665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5958483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6399301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6399301" y="23943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0667882" y="1685948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10667882" y="2181248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7,9%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10667882" y="2428898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8,3%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7555220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3" name="Text 60"/>
          <p:cNvSpPr/>
          <p:nvPr/>
        </p:nvSpPr>
        <p:spPr>
          <a:xfrm>
            <a:off x="3097929" y="18990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3097929" y="21467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33%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3097929" y="23943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21%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097929" y="26420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69%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3097929" y="31373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3097929" y="33849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3097929" y="38802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720" dirty="0"/>
          </a:p>
        </p:txBody>
      </p:sp>
      <p:sp>
        <p:nvSpPr>
          <p:cNvPr id="70" name="Text 67"/>
          <p:cNvSpPr/>
          <p:nvPr/>
        </p:nvSpPr>
        <p:spPr>
          <a:xfrm>
            <a:off x="3097929" y="4127920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6399301" y="18990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67%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399301" y="21467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6399301" y="38802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6399301" y="4127920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7555220" y="1214460"/>
            <a:ext cx="77457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555220" y="1443060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7555220" y="16859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78" name="Text 75"/>
          <p:cNvSpPr/>
          <p:nvPr/>
        </p:nvSpPr>
        <p:spPr>
          <a:xfrm>
            <a:off x="7555220" y="19335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7555220" y="21812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7555220" y="24288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7555220" y="26765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8979469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209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8979469" y="388622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672" dirty="0"/>
          </a:p>
        </p:txBody>
      </p:sp>
      <p:sp>
        <p:nvSpPr>
          <p:cNvPr id="84" name="Text 81"/>
          <p:cNvSpPr/>
          <p:nvPr/>
        </p:nvSpPr>
        <p:spPr>
          <a:xfrm>
            <a:off x="2216293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2657111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3097929" y="1656182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216293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2657111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2216293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2657111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1" name="Text 88"/>
          <p:cNvSpPr/>
          <p:nvPr/>
        </p:nvSpPr>
        <p:spPr>
          <a:xfrm>
            <a:off x="2216293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2216293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3" name="Text 90"/>
          <p:cNvSpPr/>
          <p:nvPr/>
        </p:nvSpPr>
        <p:spPr>
          <a:xfrm>
            <a:off x="2657111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2216293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5" name="Text 92"/>
          <p:cNvSpPr/>
          <p:nvPr/>
        </p:nvSpPr>
        <p:spPr>
          <a:xfrm>
            <a:off x="2657111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3097929" y="28896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97" name="Text 94"/>
          <p:cNvSpPr/>
          <p:nvPr/>
        </p:nvSpPr>
        <p:spPr>
          <a:xfrm>
            <a:off x="2657111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2657111" y="33849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3097929" y="36326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6399301" y="1656182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5958483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958483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6399301" y="26420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6399301" y="28896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5958483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6399301" y="31373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6399301" y="338497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8" name="Text 105"/>
          <p:cNvSpPr/>
          <p:nvPr/>
        </p:nvSpPr>
        <p:spPr>
          <a:xfrm>
            <a:off x="6399301" y="3632620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9" name="Text 106"/>
          <p:cNvSpPr/>
          <p:nvPr/>
        </p:nvSpPr>
        <p:spPr>
          <a:xfrm>
            <a:off x="8307229" y="1443060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</a:t>
            </a:r>
            <a:endParaRPr lang="en-US" sz="720" dirty="0"/>
          </a:p>
        </p:txBody>
      </p:sp>
      <p:sp>
        <p:nvSpPr>
          <p:cNvPr id="110" name="Text 107"/>
          <p:cNvSpPr/>
          <p:nvPr/>
        </p:nvSpPr>
        <p:spPr>
          <a:xfrm>
            <a:off x="9110584" y="1443060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111" name="Text 108"/>
          <p:cNvSpPr/>
          <p:nvPr/>
        </p:nvSpPr>
        <p:spPr>
          <a:xfrm>
            <a:off x="8307229" y="16859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9110584" y="16859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20" dirty="0"/>
          </a:p>
        </p:txBody>
      </p:sp>
      <p:sp>
        <p:nvSpPr>
          <p:cNvPr id="113" name="Text 110"/>
          <p:cNvSpPr/>
          <p:nvPr/>
        </p:nvSpPr>
        <p:spPr>
          <a:xfrm>
            <a:off x="8307229" y="19335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114" name="Text 111"/>
          <p:cNvSpPr/>
          <p:nvPr/>
        </p:nvSpPr>
        <p:spPr>
          <a:xfrm>
            <a:off x="9110584" y="19335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20" dirty="0"/>
          </a:p>
        </p:txBody>
      </p:sp>
      <p:sp>
        <p:nvSpPr>
          <p:cNvPr id="115" name="Text 112"/>
          <p:cNvSpPr/>
          <p:nvPr/>
        </p:nvSpPr>
        <p:spPr>
          <a:xfrm>
            <a:off x="8307229" y="21812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6" name="Text 113"/>
          <p:cNvSpPr/>
          <p:nvPr/>
        </p:nvSpPr>
        <p:spPr>
          <a:xfrm>
            <a:off x="9110584" y="21812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8307229" y="24288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9110584" y="24288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8307229" y="26765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9110584" y="26765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8307229" y="2924198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9110584" y="2924198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720" dirty="0"/>
          </a:p>
        </p:txBody>
      </p:sp>
      <p:sp>
        <p:nvSpPr>
          <p:cNvPr id="123" name="Text 120"/>
          <p:cNvSpPr/>
          <p:nvPr/>
        </p:nvSpPr>
        <p:spPr>
          <a:xfrm>
            <a:off x="8979469" y="406719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8979469" y="424817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8979469" y="442914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8979469" y="4610123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27" name="Text 124"/>
          <p:cNvSpPr/>
          <p:nvPr/>
        </p:nvSpPr>
        <p:spPr>
          <a:xfrm>
            <a:off x="11011964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2_V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6339483"/>
            <a:ext cx="11380185" cy="534073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Tradicional cerró el semestre con 734 ventas positivas entre Cuota Protegida y Rueda Seguro, y junio marcó el mayor volumen de financiaciones del 1S (5.605 en CP y 1.395 en RS) con la red de aliados más amplia del semestre — una base sólida para acelerar la conversión en el 2S.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113801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Aliados y Gestores en la fila de total corresponden al promedio mensual de la estructura activa del canal.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257769" y="5606058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muestra un repunte de financiaciones de motocicletas (1.395) con 25 aliados activos.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85783" y="5606058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cierre de junio registra un incremento en financiaciones (5.605) y 12 aliados activos.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31815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85783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Tradicional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72388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 cantadas · 124,6% meta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50511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283 cantadas · 88,1% meta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57769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Tradicional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positivas 1S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positivas 1S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628634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aliados activos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 aliados activos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634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CP</a:t>
            </a:r>
            <a:endParaRPr lang="en-US" sz="696" dirty="0"/>
          </a:p>
        </p:txBody>
      </p:sp>
      <p:sp>
        <p:nvSpPr>
          <p:cNvPr id="17" name="Text 14"/>
          <p:cNvSpPr/>
          <p:nvPr/>
        </p:nvSpPr>
        <p:spPr>
          <a:xfrm>
            <a:off x="906757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RS</a:t>
            </a:r>
            <a:endParaRPr lang="en-US" sz="696" dirty="0"/>
          </a:p>
        </p:txBody>
      </p:sp>
      <p:sp>
        <p:nvSpPr>
          <p:cNvPr id="18" name="Text 15"/>
          <p:cNvSpPr/>
          <p:nvPr/>
        </p:nvSpPr>
        <p:spPr>
          <a:xfrm>
            <a:off x="4285101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857087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920877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438588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5098575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492862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9010574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10670561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1198632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2735839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770617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307825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5098575" y="268160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101,0%</a:t>
            </a:r>
            <a:endParaRPr lang="en-US" sz="792" dirty="0"/>
          </a:p>
        </p:txBody>
      </p:sp>
      <p:sp>
        <p:nvSpPr>
          <p:cNvPr id="31" name="Text 28"/>
          <p:cNvSpPr/>
          <p:nvPr/>
        </p:nvSpPr>
        <p:spPr>
          <a:xfrm>
            <a:off x="2735839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19.280</a:t>
            </a:r>
            <a:endParaRPr lang="en-US" sz="792" dirty="0"/>
          </a:p>
        </p:txBody>
      </p:sp>
      <p:sp>
        <p:nvSpPr>
          <p:cNvPr id="32" name="Text 29"/>
          <p:cNvSpPr/>
          <p:nvPr/>
        </p:nvSpPr>
        <p:spPr>
          <a:xfrm>
            <a:off x="5098575" y="5082206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124,6%</a:t>
            </a:r>
            <a:endParaRPr lang="en-US" sz="792" dirty="0"/>
          </a:p>
        </p:txBody>
      </p:sp>
      <p:sp>
        <p:nvSpPr>
          <p:cNvPr id="33" name="Text 30"/>
          <p:cNvSpPr/>
          <p:nvPr/>
        </p:nvSpPr>
        <p:spPr>
          <a:xfrm>
            <a:off x="628634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19.280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2735839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2.074</a:t>
            </a:r>
            <a:endParaRPr lang="en-US" sz="792" dirty="0"/>
          </a:p>
        </p:txBody>
      </p:sp>
      <p:sp>
        <p:nvSpPr>
          <p:cNvPr id="35" name="Text 32"/>
          <p:cNvSpPr/>
          <p:nvPr/>
        </p:nvSpPr>
        <p:spPr>
          <a:xfrm>
            <a:off x="5098575" y="2210716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81,2%</a:t>
            </a:r>
            <a:endParaRPr lang="en-US" sz="792" dirty="0"/>
          </a:p>
        </p:txBody>
      </p:sp>
      <p:sp>
        <p:nvSpPr>
          <p:cNvPr id="36" name="Text 33"/>
          <p:cNvSpPr/>
          <p:nvPr/>
        </p:nvSpPr>
        <p:spPr>
          <a:xfrm>
            <a:off x="2735839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2.999</a:t>
            </a:r>
            <a:endParaRPr lang="en-US" sz="792" dirty="0"/>
          </a:p>
        </p:txBody>
      </p:sp>
      <p:sp>
        <p:nvSpPr>
          <p:cNvPr id="37" name="Text 34"/>
          <p:cNvSpPr/>
          <p:nvPr/>
        </p:nvSpPr>
        <p:spPr>
          <a:xfrm>
            <a:off x="2735839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3.127</a:t>
            </a:r>
            <a:endParaRPr lang="en-US" sz="792" dirty="0"/>
          </a:p>
        </p:txBody>
      </p:sp>
      <p:sp>
        <p:nvSpPr>
          <p:cNvPr id="38" name="Text 35"/>
          <p:cNvSpPr/>
          <p:nvPr/>
        </p:nvSpPr>
        <p:spPr>
          <a:xfrm>
            <a:off x="5098575" y="316172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74,4%</a:t>
            </a:r>
            <a:endParaRPr lang="en-US" sz="792" dirty="0"/>
          </a:p>
        </p:txBody>
      </p:sp>
      <p:sp>
        <p:nvSpPr>
          <p:cNvPr id="39" name="Text 36"/>
          <p:cNvSpPr/>
          <p:nvPr/>
        </p:nvSpPr>
        <p:spPr>
          <a:xfrm>
            <a:off x="2735839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3.076</a:t>
            </a:r>
            <a:endParaRPr lang="en-US" sz="792" dirty="0"/>
          </a:p>
        </p:txBody>
      </p:sp>
      <p:sp>
        <p:nvSpPr>
          <p:cNvPr id="40" name="Text 37"/>
          <p:cNvSpPr/>
          <p:nvPr/>
        </p:nvSpPr>
        <p:spPr>
          <a:xfrm>
            <a:off x="5098575" y="3641847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76,9%</a:t>
            </a:r>
            <a:endParaRPr lang="en-US" sz="792" dirty="0"/>
          </a:p>
        </p:txBody>
      </p:sp>
      <p:sp>
        <p:nvSpPr>
          <p:cNvPr id="41" name="Text 38"/>
          <p:cNvSpPr/>
          <p:nvPr/>
        </p:nvSpPr>
        <p:spPr>
          <a:xfrm>
            <a:off x="2735839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2.399</a:t>
            </a:r>
            <a:endParaRPr lang="en-US" sz="792" dirty="0"/>
          </a:p>
        </p:txBody>
      </p:sp>
      <p:sp>
        <p:nvSpPr>
          <p:cNvPr id="42" name="Text 39"/>
          <p:cNvSpPr/>
          <p:nvPr/>
        </p:nvSpPr>
        <p:spPr>
          <a:xfrm>
            <a:off x="2735839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5.605</a:t>
            </a:r>
            <a:endParaRPr lang="en-US" sz="792" dirty="0"/>
          </a:p>
        </p:txBody>
      </p:sp>
      <p:sp>
        <p:nvSpPr>
          <p:cNvPr id="43" name="Text 40"/>
          <p:cNvSpPr/>
          <p:nvPr/>
        </p:nvSpPr>
        <p:spPr>
          <a:xfrm>
            <a:off x="685783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10670561" y="2210716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47,1%</a:t>
            </a:r>
            <a:endParaRPr lang="en-US" sz="792" dirty="0"/>
          </a:p>
        </p:txBody>
      </p:sp>
      <p:sp>
        <p:nvSpPr>
          <p:cNvPr id="45" name="Text 42"/>
          <p:cNvSpPr/>
          <p:nvPr/>
        </p:nvSpPr>
        <p:spPr>
          <a:xfrm>
            <a:off x="10670561" y="268160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28,6%</a:t>
            </a:r>
            <a:endParaRPr lang="en-US" sz="792" dirty="0"/>
          </a:p>
        </p:txBody>
      </p:sp>
      <p:sp>
        <p:nvSpPr>
          <p:cNvPr id="46" name="Text 43"/>
          <p:cNvSpPr/>
          <p:nvPr/>
        </p:nvSpPr>
        <p:spPr>
          <a:xfrm>
            <a:off x="10670561" y="316172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48,2%</a:t>
            </a:r>
            <a:endParaRPr lang="en-US" sz="792" dirty="0"/>
          </a:p>
        </p:txBody>
      </p:sp>
      <p:sp>
        <p:nvSpPr>
          <p:cNvPr id="47" name="Text 44"/>
          <p:cNvSpPr/>
          <p:nvPr/>
        </p:nvSpPr>
        <p:spPr>
          <a:xfrm>
            <a:off x="8307825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1.395</a:t>
            </a:r>
            <a:endParaRPr lang="en-US" sz="792" dirty="0"/>
          </a:p>
        </p:txBody>
      </p:sp>
      <p:sp>
        <p:nvSpPr>
          <p:cNvPr id="48" name="Text 45"/>
          <p:cNvSpPr/>
          <p:nvPr/>
        </p:nvSpPr>
        <p:spPr>
          <a:xfrm>
            <a:off x="6257769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49" name="Text 46"/>
          <p:cNvSpPr/>
          <p:nvPr/>
        </p:nvSpPr>
        <p:spPr>
          <a:xfrm>
            <a:off x="8307825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4.459</a:t>
            </a:r>
            <a:endParaRPr lang="en-US" sz="792" dirty="0"/>
          </a:p>
        </p:txBody>
      </p:sp>
      <p:sp>
        <p:nvSpPr>
          <p:cNvPr id="50" name="Text 47"/>
          <p:cNvSpPr/>
          <p:nvPr/>
        </p:nvSpPr>
        <p:spPr>
          <a:xfrm>
            <a:off x="10670561" y="5082206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88,1%</a:t>
            </a:r>
            <a:endParaRPr lang="en-US" sz="792" dirty="0"/>
          </a:p>
        </p:txBody>
      </p:sp>
      <p:sp>
        <p:nvSpPr>
          <p:cNvPr id="51" name="Text 48"/>
          <p:cNvSpPr/>
          <p:nvPr/>
        </p:nvSpPr>
        <p:spPr>
          <a:xfrm>
            <a:off x="906757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4.459</a:t>
            </a:r>
            <a:endParaRPr lang="en-US" sz="1020" dirty="0"/>
          </a:p>
        </p:txBody>
      </p:sp>
      <p:sp>
        <p:nvSpPr>
          <p:cNvPr id="52" name="Text 49"/>
          <p:cNvSpPr/>
          <p:nvPr/>
        </p:nvSpPr>
        <p:spPr>
          <a:xfrm>
            <a:off x="685783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85783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54" name="Text 51"/>
          <p:cNvSpPr/>
          <p:nvPr/>
        </p:nvSpPr>
        <p:spPr>
          <a:xfrm>
            <a:off x="685783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55" name="Text 52"/>
          <p:cNvSpPr/>
          <p:nvPr/>
        </p:nvSpPr>
        <p:spPr>
          <a:xfrm>
            <a:off x="3438588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792" dirty="0"/>
          </a:p>
        </p:txBody>
      </p:sp>
      <p:sp>
        <p:nvSpPr>
          <p:cNvPr id="56" name="Text 53"/>
          <p:cNvSpPr/>
          <p:nvPr/>
        </p:nvSpPr>
        <p:spPr>
          <a:xfrm>
            <a:off x="4285101" y="268160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792" dirty="0"/>
          </a:p>
        </p:txBody>
      </p:sp>
      <p:sp>
        <p:nvSpPr>
          <p:cNvPr id="57" name="Text 54"/>
          <p:cNvSpPr/>
          <p:nvPr/>
        </p:nvSpPr>
        <p:spPr>
          <a:xfrm>
            <a:off x="685783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58" name="Text 55"/>
          <p:cNvSpPr/>
          <p:nvPr/>
        </p:nvSpPr>
        <p:spPr>
          <a:xfrm>
            <a:off x="3438588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792" dirty="0"/>
          </a:p>
        </p:txBody>
      </p:sp>
      <p:sp>
        <p:nvSpPr>
          <p:cNvPr id="59" name="Text 56"/>
          <p:cNvSpPr/>
          <p:nvPr/>
        </p:nvSpPr>
        <p:spPr>
          <a:xfrm>
            <a:off x="685783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60" name="Text 57"/>
          <p:cNvSpPr/>
          <p:nvPr/>
        </p:nvSpPr>
        <p:spPr>
          <a:xfrm>
            <a:off x="3438588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792" dirty="0"/>
          </a:p>
        </p:txBody>
      </p:sp>
      <p:sp>
        <p:nvSpPr>
          <p:cNvPr id="61" name="Text 58"/>
          <p:cNvSpPr/>
          <p:nvPr/>
        </p:nvSpPr>
        <p:spPr>
          <a:xfrm>
            <a:off x="4285101" y="3641847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792" dirty="0"/>
          </a:p>
        </p:txBody>
      </p:sp>
      <p:sp>
        <p:nvSpPr>
          <p:cNvPr id="62" name="Text 59"/>
          <p:cNvSpPr/>
          <p:nvPr/>
        </p:nvSpPr>
        <p:spPr>
          <a:xfrm>
            <a:off x="685783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63" name="Text 60"/>
          <p:cNvSpPr/>
          <p:nvPr/>
        </p:nvSpPr>
        <p:spPr>
          <a:xfrm>
            <a:off x="3438588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</a:t>
            </a:r>
            <a:endParaRPr lang="en-US" sz="792" dirty="0"/>
          </a:p>
        </p:txBody>
      </p:sp>
      <p:sp>
        <p:nvSpPr>
          <p:cNvPr id="64" name="Text 61"/>
          <p:cNvSpPr/>
          <p:nvPr/>
        </p:nvSpPr>
        <p:spPr>
          <a:xfrm>
            <a:off x="5098575" y="4121967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65" name="Text 62"/>
          <p:cNvSpPr/>
          <p:nvPr/>
        </p:nvSpPr>
        <p:spPr>
          <a:xfrm>
            <a:off x="685783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66" name="Text 63"/>
          <p:cNvSpPr/>
          <p:nvPr/>
        </p:nvSpPr>
        <p:spPr>
          <a:xfrm>
            <a:off x="3438588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792" dirty="0"/>
          </a:p>
        </p:txBody>
      </p:sp>
      <p:sp>
        <p:nvSpPr>
          <p:cNvPr id="67" name="Text 64"/>
          <p:cNvSpPr/>
          <p:nvPr/>
        </p:nvSpPr>
        <p:spPr>
          <a:xfrm>
            <a:off x="5098575" y="460208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68" name="Text 65"/>
          <p:cNvSpPr/>
          <p:nvPr/>
        </p:nvSpPr>
        <p:spPr>
          <a:xfrm>
            <a:off x="1920877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28*</a:t>
            </a:r>
            <a:endParaRPr lang="en-US" sz="792" dirty="0"/>
          </a:p>
        </p:txBody>
      </p:sp>
      <p:sp>
        <p:nvSpPr>
          <p:cNvPr id="69" name="Text 66"/>
          <p:cNvSpPr/>
          <p:nvPr/>
        </p:nvSpPr>
        <p:spPr>
          <a:xfrm>
            <a:off x="3438588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</a:t>
            </a:r>
            <a:endParaRPr lang="en-US" sz="792" dirty="0"/>
          </a:p>
        </p:txBody>
      </p:sp>
      <p:sp>
        <p:nvSpPr>
          <p:cNvPr id="70" name="Text 67"/>
          <p:cNvSpPr/>
          <p:nvPr/>
        </p:nvSpPr>
        <p:spPr>
          <a:xfrm>
            <a:off x="4285101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563</a:t>
            </a:r>
            <a:endParaRPr lang="en-US" sz="792" dirty="0"/>
          </a:p>
        </p:txBody>
      </p:sp>
      <p:sp>
        <p:nvSpPr>
          <p:cNvPr id="71" name="Text 68"/>
          <p:cNvSpPr/>
          <p:nvPr/>
        </p:nvSpPr>
        <p:spPr>
          <a:xfrm>
            <a:off x="6257769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6257769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73" name="Text 70"/>
          <p:cNvSpPr/>
          <p:nvPr/>
        </p:nvSpPr>
        <p:spPr>
          <a:xfrm>
            <a:off x="8307825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783</a:t>
            </a:r>
            <a:endParaRPr lang="en-US" sz="792" dirty="0"/>
          </a:p>
        </p:txBody>
      </p:sp>
      <p:sp>
        <p:nvSpPr>
          <p:cNvPr id="74" name="Text 71"/>
          <p:cNvSpPr/>
          <p:nvPr/>
        </p:nvSpPr>
        <p:spPr>
          <a:xfrm>
            <a:off x="6257769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75" name="Text 72"/>
          <p:cNvSpPr/>
          <p:nvPr/>
        </p:nvSpPr>
        <p:spPr>
          <a:xfrm>
            <a:off x="8307825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743</a:t>
            </a:r>
            <a:endParaRPr lang="en-US" sz="792" dirty="0"/>
          </a:p>
        </p:txBody>
      </p:sp>
      <p:sp>
        <p:nvSpPr>
          <p:cNvPr id="76" name="Text 73"/>
          <p:cNvSpPr/>
          <p:nvPr/>
        </p:nvSpPr>
        <p:spPr>
          <a:xfrm>
            <a:off x="6257769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77" name="Text 74"/>
          <p:cNvSpPr/>
          <p:nvPr/>
        </p:nvSpPr>
        <p:spPr>
          <a:xfrm>
            <a:off x="8307825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391</a:t>
            </a:r>
            <a:endParaRPr lang="en-US" sz="792" dirty="0"/>
          </a:p>
        </p:txBody>
      </p:sp>
      <p:sp>
        <p:nvSpPr>
          <p:cNvPr id="78" name="Text 75"/>
          <p:cNvSpPr/>
          <p:nvPr/>
        </p:nvSpPr>
        <p:spPr>
          <a:xfrm>
            <a:off x="6257769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79" name="Text 76"/>
          <p:cNvSpPr/>
          <p:nvPr/>
        </p:nvSpPr>
        <p:spPr>
          <a:xfrm>
            <a:off x="8307825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329</a:t>
            </a:r>
            <a:endParaRPr lang="en-US" sz="792" dirty="0"/>
          </a:p>
        </p:txBody>
      </p:sp>
      <p:sp>
        <p:nvSpPr>
          <p:cNvPr id="80" name="Text 77"/>
          <p:cNvSpPr/>
          <p:nvPr/>
        </p:nvSpPr>
        <p:spPr>
          <a:xfrm>
            <a:off x="10670561" y="3641847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1" name="Text 78"/>
          <p:cNvSpPr/>
          <p:nvPr/>
        </p:nvSpPr>
        <p:spPr>
          <a:xfrm>
            <a:off x="6257769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82" name="Text 79"/>
          <p:cNvSpPr/>
          <p:nvPr/>
        </p:nvSpPr>
        <p:spPr>
          <a:xfrm>
            <a:off x="8307825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818</a:t>
            </a:r>
            <a:endParaRPr lang="en-US" sz="792" dirty="0"/>
          </a:p>
        </p:txBody>
      </p:sp>
      <p:sp>
        <p:nvSpPr>
          <p:cNvPr id="83" name="Text 80"/>
          <p:cNvSpPr/>
          <p:nvPr/>
        </p:nvSpPr>
        <p:spPr>
          <a:xfrm>
            <a:off x="10670561" y="4121967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4" name="Text 81"/>
          <p:cNvSpPr/>
          <p:nvPr/>
        </p:nvSpPr>
        <p:spPr>
          <a:xfrm>
            <a:off x="6257769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85" name="Text 82"/>
          <p:cNvSpPr/>
          <p:nvPr/>
        </p:nvSpPr>
        <p:spPr>
          <a:xfrm>
            <a:off x="10670561" y="460208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6" name="Text 83"/>
          <p:cNvSpPr/>
          <p:nvPr/>
        </p:nvSpPr>
        <p:spPr>
          <a:xfrm>
            <a:off x="6770617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13*</a:t>
            </a:r>
            <a:endParaRPr lang="en-US" sz="792" dirty="0"/>
          </a:p>
        </p:txBody>
      </p:sp>
      <p:sp>
        <p:nvSpPr>
          <p:cNvPr id="87" name="Text 84"/>
          <p:cNvSpPr/>
          <p:nvPr/>
        </p:nvSpPr>
        <p:spPr>
          <a:xfrm>
            <a:off x="7492862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35*</a:t>
            </a:r>
            <a:endParaRPr lang="en-US" sz="792" dirty="0"/>
          </a:p>
        </p:txBody>
      </p:sp>
      <p:sp>
        <p:nvSpPr>
          <p:cNvPr id="88" name="Text 85"/>
          <p:cNvSpPr/>
          <p:nvPr/>
        </p:nvSpPr>
        <p:spPr>
          <a:xfrm>
            <a:off x="9010574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283</a:t>
            </a:r>
            <a:endParaRPr lang="en-US" sz="792" dirty="0"/>
          </a:p>
        </p:txBody>
      </p:sp>
      <p:sp>
        <p:nvSpPr>
          <p:cNvPr id="89" name="Text 86"/>
          <p:cNvSpPr/>
          <p:nvPr/>
        </p:nvSpPr>
        <p:spPr>
          <a:xfrm>
            <a:off x="9857087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792" dirty="0"/>
          </a:p>
        </p:txBody>
      </p:sp>
      <p:sp>
        <p:nvSpPr>
          <p:cNvPr id="90" name="Text 87"/>
          <p:cNvSpPr/>
          <p:nvPr/>
        </p:nvSpPr>
        <p:spPr>
          <a:xfrm>
            <a:off x="72388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563</a:t>
            </a:r>
            <a:endParaRPr lang="en-US" sz="1020" dirty="0"/>
          </a:p>
        </p:txBody>
      </p:sp>
      <p:sp>
        <p:nvSpPr>
          <p:cNvPr id="91" name="Text 88"/>
          <p:cNvSpPr/>
          <p:nvPr/>
        </p:nvSpPr>
        <p:spPr>
          <a:xfrm>
            <a:off x="350511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1020" dirty="0"/>
          </a:p>
        </p:txBody>
      </p:sp>
      <p:sp>
        <p:nvSpPr>
          <p:cNvPr id="92" name="Text 89"/>
          <p:cNvSpPr/>
          <p:nvPr/>
        </p:nvSpPr>
        <p:spPr>
          <a:xfrm>
            <a:off x="1920877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792" dirty="0"/>
          </a:p>
        </p:txBody>
      </p:sp>
      <p:sp>
        <p:nvSpPr>
          <p:cNvPr id="93" name="Text 90"/>
          <p:cNvSpPr/>
          <p:nvPr/>
        </p:nvSpPr>
        <p:spPr>
          <a:xfrm>
            <a:off x="3438588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792" dirty="0"/>
          </a:p>
        </p:txBody>
      </p:sp>
      <p:sp>
        <p:nvSpPr>
          <p:cNvPr id="94" name="Text 91"/>
          <p:cNvSpPr/>
          <p:nvPr/>
        </p:nvSpPr>
        <p:spPr>
          <a:xfrm>
            <a:off x="4285101" y="2210716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792" dirty="0"/>
          </a:p>
        </p:txBody>
      </p:sp>
      <p:sp>
        <p:nvSpPr>
          <p:cNvPr id="95" name="Text 92"/>
          <p:cNvSpPr/>
          <p:nvPr/>
        </p:nvSpPr>
        <p:spPr>
          <a:xfrm>
            <a:off x="1920877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792" dirty="0"/>
          </a:p>
        </p:txBody>
      </p:sp>
      <p:sp>
        <p:nvSpPr>
          <p:cNvPr id="96" name="Text 93"/>
          <p:cNvSpPr/>
          <p:nvPr/>
        </p:nvSpPr>
        <p:spPr>
          <a:xfrm>
            <a:off x="1920877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97" name="Text 94"/>
          <p:cNvSpPr/>
          <p:nvPr/>
        </p:nvSpPr>
        <p:spPr>
          <a:xfrm>
            <a:off x="4285101" y="316172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98" name="Text 95"/>
          <p:cNvSpPr/>
          <p:nvPr/>
        </p:nvSpPr>
        <p:spPr>
          <a:xfrm>
            <a:off x="1920877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99" name="Text 96"/>
          <p:cNvSpPr/>
          <p:nvPr/>
        </p:nvSpPr>
        <p:spPr>
          <a:xfrm>
            <a:off x="1198632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92" dirty="0"/>
          </a:p>
        </p:txBody>
      </p:sp>
      <p:sp>
        <p:nvSpPr>
          <p:cNvPr id="100" name="Text 97"/>
          <p:cNvSpPr/>
          <p:nvPr/>
        </p:nvSpPr>
        <p:spPr>
          <a:xfrm>
            <a:off x="1920877" y="412196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101" name="Text 98"/>
          <p:cNvSpPr/>
          <p:nvPr/>
        </p:nvSpPr>
        <p:spPr>
          <a:xfrm>
            <a:off x="4285101" y="4121967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792" dirty="0"/>
          </a:p>
        </p:txBody>
      </p:sp>
      <p:sp>
        <p:nvSpPr>
          <p:cNvPr id="102" name="Text 99"/>
          <p:cNvSpPr/>
          <p:nvPr/>
        </p:nvSpPr>
        <p:spPr>
          <a:xfrm>
            <a:off x="1198632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92" dirty="0"/>
          </a:p>
        </p:txBody>
      </p:sp>
      <p:sp>
        <p:nvSpPr>
          <p:cNvPr id="103" name="Text 100"/>
          <p:cNvSpPr/>
          <p:nvPr/>
        </p:nvSpPr>
        <p:spPr>
          <a:xfrm>
            <a:off x="1920877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92" dirty="0"/>
          </a:p>
        </p:txBody>
      </p:sp>
      <p:sp>
        <p:nvSpPr>
          <p:cNvPr id="104" name="Text 101"/>
          <p:cNvSpPr/>
          <p:nvPr/>
        </p:nvSpPr>
        <p:spPr>
          <a:xfrm>
            <a:off x="4285101" y="460208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105" name="Text 102"/>
          <p:cNvSpPr/>
          <p:nvPr/>
        </p:nvSpPr>
        <p:spPr>
          <a:xfrm>
            <a:off x="1198632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8*</a:t>
            </a:r>
            <a:endParaRPr lang="en-US" sz="792" dirty="0"/>
          </a:p>
        </p:txBody>
      </p:sp>
      <p:sp>
        <p:nvSpPr>
          <p:cNvPr id="106" name="Text 103"/>
          <p:cNvSpPr/>
          <p:nvPr/>
        </p:nvSpPr>
        <p:spPr>
          <a:xfrm>
            <a:off x="7492862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792" dirty="0"/>
          </a:p>
        </p:txBody>
      </p:sp>
      <p:sp>
        <p:nvSpPr>
          <p:cNvPr id="107" name="Text 104"/>
          <p:cNvSpPr/>
          <p:nvPr/>
        </p:nvSpPr>
        <p:spPr>
          <a:xfrm>
            <a:off x="9010574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08" name="Text 105"/>
          <p:cNvSpPr/>
          <p:nvPr/>
        </p:nvSpPr>
        <p:spPr>
          <a:xfrm>
            <a:off x="9857087" y="2210716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92" dirty="0"/>
          </a:p>
        </p:txBody>
      </p:sp>
      <p:sp>
        <p:nvSpPr>
          <p:cNvPr id="109" name="Text 106"/>
          <p:cNvSpPr/>
          <p:nvPr/>
        </p:nvSpPr>
        <p:spPr>
          <a:xfrm>
            <a:off x="7492862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792" dirty="0"/>
          </a:p>
        </p:txBody>
      </p:sp>
      <p:sp>
        <p:nvSpPr>
          <p:cNvPr id="110" name="Text 107"/>
          <p:cNvSpPr/>
          <p:nvPr/>
        </p:nvSpPr>
        <p:spPr>
          <a:xfrm>
            <a:off x="9010574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792" dirty="0"/>
          </a:p>
        </p:txBody>
      </p:sp>
      <p:sp>
        <p:nvSpPr>
          <p:cNvPr id="111" name="Text 108"/>
          <p:cNvSpPr/>
          <p:nvPr/>
        </p:nvSpPr>
        <p:spPr>
          <a:xfrm>
            <a:off x="9857087" y="268160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12" name="Text 109"/>
          <p:cNvSpPr/>
          <p:nvPr/>
        </p:nvSpPr>
        <p:spPr>
          <a:xfrm>
            <a:off x="7492862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3" name="Text 110"/>
          <p:cNvSpPr/>
          <p:nvPr/>
        </p:nvSpPr>
        <p:spPr>
          <a:xfrm>
            <a:off x="9010574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92" dirty="0"/>
          </a:p>
        </p:txBody>
      </p:sp>
      <p:sp>
        <p:nvSpPr>
          <p:cNvPr id="114" name="Text 111"/>
          <p:cNvSpPr/>
          <p:nvPr/>
        </p:nvSpPr>
        <p:spPr>
          <a:xfrm>
            <a:off x="9857087" y="316172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5" name="Text 112"/>
          <p:cNvSpPr/>
          <p:nvPr/>
        </p:nvSpPr>
        <p:spPr>
          <a:xfrm>
            <a:off x="7492862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792" dirty="0"/>
          </a:p>
        </p:txBody>
      </p:sp>
      <p:sp>
        <p:nvSpPr>
          <p:cNvPr id="116" name="Text 113"/>
          <p:cNvSpPr/>
          <p:nvPr/>
        </p:nvSpPr>
        <p:spPr>
          <a:xfrm>
            <a:off x="9010574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92" dirty="0"/>
          </a:p>
        </p:txBody>
      </p:sp>
      <p:sp>
        <p:nvSpPr>
          <p:cNvPr id="117" name="Text 114"/>
          <p:cNvSpPr/>
          <p:nvPr/>
        </p:nvSpPr>
        <p:spPr>
          <a:xfrm>
            <a:off x="9857087" y="3641847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8" name="Text 115"/>
          <p:cNvSpPr/>
          <p:nvPr/>
        </p:nvSpPr>
        <p:spPr>
          <a:xfrm>
            <a:off x="6770617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19" name="Text 116"/>
          <p:cNvSpPr/>
          <p:nvPr/>
        </p:nvSpPr>
        <p:spPr>
          <a:xfrm>
            <a:off x="9010574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20" name="Text 117"/>
          <p:cNvSpPr/>
          <p:nvPr/>
        </p:nvSpPr>
        <p:spPr>
          <a:xfrm>
            <a:off x="9857087" y="4121967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92" dirty="0"/>
          </a:p>
        </p:txBody>
      </p:sp>
      <p:sp>
        <p:nvSpPr>
          <p:cNvPr id="121" name="Text 118"/>
          <p:cNvSpPr/>
          <p:nvPr/>
        </p:nvSpPr>
        <p:spPr>
          <a:xfrm>
            <a:off x="6770617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92" dirty="0"/>
          </a:p>
        </p:txBody>
      </p:sp>
      <p:sp>
        <p:nvSpPr>
          <p:cNvPr id="122" name="Text 119"/>
          <p:cNvSpPr/>
          <p:nvPr/>
        </p:nvSpPr>
        <p:spPr>
          <a:xfrm>
            <a:off x="7492862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23" name="Text 120"/>
          <p:cNvSpPr/>
          <p:nvPr/>
        </p:nvSpPr>
        <p:spPr>
          <a:xfrm>
            <a:off x="9010574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</a:t>
            </a:r>
            <a:endParaRPr lang="en-US" sz="792" dirty="0"/>
          </a:p>
        </p:txBody>
      </p:sp>
      <p:sp>
        <p:nvSpPr>
          <p:cNvPr id="124" name="Text 121"/>
          <p:cNvSpPr/>
          <p:nvPr/>
        </p:nvSpPr>
        <p:spPr>
          <a:xfrm>
            <a:off x="9857087" y="460208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79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2026-07-17T19:45:38Z</dcterms:created>
  <dcterms:modified xsi:type="dcterms:W3CDTF">2026-07-17T19:45:38Z</dcterms:modified>
</cp:coreProperties>
</file>