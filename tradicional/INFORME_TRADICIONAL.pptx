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54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2517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0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6217741"/>
            <a:ext cx="11174642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periodo: El canal Tradicional concentró un esfuerzo récord de formación en marzo (148 visitas y 93 asesores capacitados). Con la posterior consolidación y el empalme con Retail, el canal centró su capacidad; la cobertura promedio de Ene-Ago alcanzó un 9,7%, identificando grandes oportunidades de crecimiento en los aliados de mayor volumen.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6314917" y="5417790"/>
            <a:ext cx="4253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en marzo estableció la base operativa del canal en el primer semestre.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62541" y="1421160"/>
            <a:ext cx="32172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mensual Ene-Ago: capacitados que financiaron / financiadores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723882" y="5417790"/>
            <a:ext cx="27214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Asesores únicos con al menos una visita registrada en el mes.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3612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Ene-Ago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81030" y="1421160"/>
            <a:ext cx="20948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Ago 2026)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192001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Visitas, asesores y PDV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728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Ene-Ago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6362541" y="1009650"/>
            <a:ext cx="1607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2639713" y="232100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Capacitados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552513" y="232100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43358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905424" y="232100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362541" y="1143000"/>
            <a:ext cx="589673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1740" dirty="0"/>
          </a:p>
        </p:txBody>
      </p:sp>
      <p:sp>
        <p:nvSpPr>
          <p:cNvPr id="18" name="Text 15"/>
          <p:cNvSpPr/>
          <p:nvPr/>
        </p:nvSpPr>
        <p:spPr>
          <a:xfrm>
            <a:off x="723882" y="232100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23882" y="25832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80228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723882" y="302136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905424" y="302136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32404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23882" y="34595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367858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389766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723882" y="41167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905424" y="43358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596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2639713" y="43358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512</a:t>
            </a:r>
            <a:endParaRPr lang="en-US" sz="864" dirty="0"/>
          </a:p>
        </p:txBody>
      </p:sp>
      <p:sp>
        <p:nvSpPr>
          <p:cNvPr id="30" name="Text 27"/>
          <p:cNvSpPr/>
          <p:nvPr/>
        </p:nvSpPr>
        <p:spPr>
          <a:xfrm>
            <a:off x="4552513" y="43358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209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781030" y="1143000"/>
            <a:ext cx="429395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596</a:t>
            </a:r>
            <a:endParaRPr lang="en-US" sz="1740" dirty="0"/>
          </a:p>
        </p:txBody>
      </p:sp>
      <p:sp>
        <p:nvSpPr>
          <p:cNvPr id="32" name="Text 29"/>
          <p:cNvSpPr/>
          <p:nvPr/>
        </p:nvSpPr>
        <p:spPr>
          <a:xfrm>
            <a:off x="639639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39892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639434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11270632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64077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637936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640633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643646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6386303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1905424" y="25832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2639713" y="25832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4552513" y="25832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1905424" y="280228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5" name="Text 42"/>
          <p:cNvSpPr/>
          <p:nvPr/>
        </p:nvSpPr>
        <p:spPr>
          <a:xfrm>
            <a:off x="2639713" y="280228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4552513" y="280228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2639713" y="302136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4552513" y="302136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1905424" y="32404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2639713" y="32404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4552513" y="32404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1905424" y="34595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2639713" y="34595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4552513" y="34595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1905424" y="367858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2639713" y="367858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4552513" y="367858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1905424" y="389766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2639713" y="389766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60" name="Text 57"/>
          <p:cNvSpPr/>
          <p:nvPr/>
        </p:nvSpPr>
        <p:spPr>
          <a:xfrm>
            <a:off x="4552513" y="389766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864" dirty="0"/>
          </a:p>
        </p:txBody>
      </p:sp>
      <p:sp>
        <p:nvSpPr>
          <p:cNvPr id="61" name="Text 58"/>
          <p:cNvSpPr/>
          <p:nvPr/>
        </p:nvSpPr>
        <p:spPr>
          <a:xfrm>
            <a:off x="1905424" y="41167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62" name="Text 59"/>
          <p:cNvSpPr/>
          <p:nvPr/>
        </p:nvSpPr>
        <p:spPr>
          <a:xfrm>
            <a:off x="2639713" y="41167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64" dirty="0"/>
          </a:p>
        </p:txBody>
      </p:sp>
      <p:sp>
        <p:nvSpPr>
          <p:cNvPr id="63" name="Text 60"/>
          <p:cNvSpPr/>
          <p:nvPr/>
        </p:nvSpPr>
        <p:spPr>
          <a:xfrm>
            <a:off x="4552513" y="41167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64" name="Text 61"/>
          <p:cNvSpPr/>
          <p:nvPr/>
        </p:nvSpPr>
        <p:spPr>
          <a:xfrm>
            <a:off x="11324742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80" dirty="0"/>
          </a:p>
        </p:txBody>
      </p:sp>
      <p:sp>
        <p:nvSpPr>
          <p:cNvPr id="65" name="Text 62"/>
          <p:cNvSpPr/>
          <p:nvPr/>
        </p:nvSpPr>
        <p:spPr>
          <a:xfrm>
            <a:off x="11325057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6" name="Text 6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7" name="Text 64"/>
          <p:cNvSpPr/>
          <p:nvPr/>
        </p:nvSpPr>
        <p:spPr>
          <a:xfrm>
            <a:off x="11327108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80" dirty="0"/>
          </a:p>
        </p:txBody>
      </p:sp>
      <p:sp>
        <p:nvSpPr>
          <p:cNvPr id="68" name="Text 65"/>
          <p:cNvSpPr/>
          <p:nvPr/>
        </p:nvSpPr>
        <p:spPr>
          <a:xfrm>
            <a:off x="11329001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80" dirty="0"/>
          </a:p>
        </p:txBody>
      </p:sp>
      <p:sp>
        <p:nvSpPr>
          <p:cNvPr id="69" name="Text 66"/>
          <p:cNvSpPr/>
          <p:nvPr/>
        </p:nvSpPr>
        <p:spPr>
          <a:xfrm>
            <a:off x="1133136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70" name="Text 67"/>
          <p:cNvSpPr/>
          <p:nvPr/>
        </p:nvSpPr>
        <p:spPr>
          <a:xfrm>
            <a:off x="11329948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1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1238250"/>
            <a:ext cx="3511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que financiaron en conciliaciones vs capacitados (cruzados por cédula).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534374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y Distribución Geográfica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57229" y="1028700"/>
            <a:ext cx="29578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(Ene-Ago 2026)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707616" y="4000500"/>
            <a:ext cx="18034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(Ene-Ago)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7707616" y="1028700"/>
            <a:ext cx="17614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por Mes (Semestre)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4006204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 La Boyaca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4006204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Tropico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555220" y="44386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04832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M&amp;F Super Gas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04832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Carrera Motos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704832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Planeta Motos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4006204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Sur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55220" y="35052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Ene-Ago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555220" y="42576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17" name="Text 14"/>
          <p:cNvSpPr/>
          <p:nvPr/>
        </p:nvSpPr>
        <p:spPr>
          <a:xfrm>
            <a:off x="704832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Multintegral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04832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Merpes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704832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Electroferia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4006204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Punto Center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04832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Maximuebles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4006204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 Market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4006204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Distrimotos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9587715" y="49815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04832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Casa Bajaj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4006204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Credimovil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4006204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Distritodo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555220" y="46196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9587715" y="44386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4006204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Uma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9587715" y="48006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704832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Red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704832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Dismerca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4006204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Janmotor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9587715" y="42576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9587715" y="46196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37" name="Text 34"/>
          <p:cNvSpPr/>
          <p:nvPr/>
        </p:nvSpPr>
        <p:spPr>
          <a:xfrm>
            <a:off x="704832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Diverxa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8489374" y="1228725"/>
            <a:ext cx="7618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657207" y="1460897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3949054" y="1441847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229773" y="1228725"/>
            <a:ext cx="73640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662522" y="1228725"/>
            <a:ext cx="7767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555220" y="49815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587715" y="51625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Madrid</a:t>
            </a:r>
            <a:endParaRPr lang="en-US" sz="672" dirty="0"/>
          </a:p>
        </p:txBody>
      </p:sp>
      <p:sp>
        <p:nvSpPr>
          <p:cNvPr id="45" name="Text 42"/>
          <p:cNvSpPr/>
          <p:nvPr/>
        </p:nvSpPr>
        <p:spPr>
          <a:xfrm>
            <a:off x="4006204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Asyco</a:t>
            </a:r>
            <a:endParaRPr lang="en-US" sz="720" dirty="0"/>
          </a:p>
        </p:txBody>
      </p:sp>
      <p:sp>
        <p:nvSpPr>
          <p:cNvPr id="46" name="Text 43"/>
          <p:cNvSpPr/>
          <p:nvPr/>
        </p:nvSpPr>
        <p:spPr>
          <a:xfrm>
            <a:off x="9944605" y="1228725"/>
            <a:ext cx="74054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Ambos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0662522" y="146685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662522" y="196215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662522" y="270510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7555220" y="48006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51" name="Text 48"/>
          <p:cNvSpPr/>
          <p:nvPr/>
        </p:nvSpPr>
        <p:spPr>
          <a:xfrm>
            <a:off x="2155443" y="1460897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596261" y="1460897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3027627" y="1460897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5447290" y="1441847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5888108" y="1441847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6319474" y="1441847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6319474" y="19276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6319474" y="21752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6319474" y="31658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662522" y="171450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662522" y="220980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10662522" y="245745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10662522" y="295275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6,5%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10662522" y="320040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6,2%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10662522" y="3448050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7555220" y="51625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7" name="Text 64"/>
          <p:cNvSpPr/>
          <p:nvPr/>
        </p:nvSpPr>
        <p:spPr>
          <a:xfrm>
            <a:off x="220306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3027627" y="16990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027627" y="19466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027627" y="21943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56%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027627" y="24419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19%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3027627" y="29372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69%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027627" y="31849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3027627" y="34325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027627" y="36802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3027627" y="41755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319474" y="24229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319474" y="29182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50%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6319474" y="39088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0" name="Text 77"/>
          <p:cNvSpPr/>
          <p:nvPr/>
        </p:nvSpPr>
        <p:spPr>
          <a:xfrm>
            <a:off x="6319474" y="41564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1" name="Text 78"/>
          <p:cNvSpPr/>
          <p:nvPr/>
        </p:nvSpPr>
        <p:spPr>
          <a:xfrm>
            <a:off x="7507595" y="1228725"/>
            <a:ext cx="10340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555220" y="15240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7555220" y="17716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84" name="Text 81"/>
          <p:cNvSpPr/>
          <p:nvPr/>
        </p:nvSpPr>
        <p:spPr>
          <a:xfrm>
            <a:off x="7555220" y="20193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7555220" y="22669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7555220" y="25146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7555220" y="27622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7555220" y="30099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7555220" y="32575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8965222" y="42576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</a:t>
            </a:r>
            <a:endParaRPr lang="en-US" sz="672" dirty="0"/>
          </a:p>
        </p:txBody>
      </p:sp>
      <p:sp>
        <p:nvSpPr>
          <p:cNvPr id="91" name="Text 88"/>
          <p:cNvSpPr/>
          <p:nvPr/>
        </p:nvSpPr>
        <p:spPr>
          <a:xfrm>
            <a:off x="8965222" y="44386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72" dirty="0"/>
          </a:p>
        </p:txBody>
      </p:sp>
      <p:sp>
        <p:nvSpPr>
          <p:cNvPr id="92" name="Text 89"/>
          <p:cNvSpPr/>
          <p:nvPr/>
        </p:nvSpPr>
        <p:spPr>
          <a:xfrm>
            <a:off x="2643886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220306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2643886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220306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2643886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20" dirty="0"/>
          </a:p>
        </p:txBody>
      </p:sp>
      <p:sp>
        <p:nvSpPr>
          <p:cNvPr id="97" name="Text 94"/>
          <p:cNvSpPr/>
          <p:nvPr/>
        </p:nvSpPr>
        <p:spPr>
          <a:xfrm>
            <a:off x="220306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220306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2643886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3027627" y="26896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220306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2643886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2643886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720" dirty="0"/>
          </a:p>
        </p:txBody>
      </p:sp>
      <p:sp>
        <p:nvSpPr>
          <p:cNvPr id="104" name="Text 101"/>
          <p:cNvSpPr/>
          <p:nvPr/>
        </p:nvSpPr>
        <p:spPr>
          <a:xfrm>
            <a:off x="2643886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2643886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3027627" y="39278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319474" y="16799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594525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20" dirty="0"/>
          </a:p>
        </p:txBody>
      </p:sp>
      <p:sp>
        <p:nvSpPr>
          <p:cNvPr id="109" name="Text 106"/>
          <p:cNvSpPr/>
          <p:nvPr/>
        </p:nvSpPr>
        <p:spPr>
          <a:xfrm>
            <a:off x="594525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6319474" y="26705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1" name="Text 108"/>
          <p:cNvSpPr/>
          <p:nvPr/>
        </p:nvSpPr>
        <p:spPr>
          <a:xfrm>
            <a:off x="594525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6319474" y="341352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3" name="Text 110"/>
          <p:cNvSpPr/>
          <p:nvPr/>
        </p:nvSpPr>
        <p:spPr>
          <a:xfrm>
            <a:off x="6319474" y="3661172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4" name="Text 111"/>
          <p:cNvSpPr/>
          <p:nvPr/>
        </p:nvSpPr>
        <p:spPr>
          <a:xfrm>
            <a:off x="8536999" y="15240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</a:t>
            </a:r>
            <a:endParaRPr lang="en-US" sz="720" dirty="0"/>
          </a:p>
        </p:txBody>
      </p:sp>
      <p:sp>
        <p:nvSpPr>
          <p:cNvPr id="115" name="Text 112"/>
          <p:cNvSpPr/>
          <p:nvPr/>
        </p:nvSpPr>
        <p:spPr>
          <a:xfrm>
            <a:off x="9277398" y="15240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16" name="Text 113"/>
          <p:cNvSpPr/>
          <p:nvPr/>
        </p:nvSpPr>
        <p:spPr>
          <a:xfrm>
            <a:off x="8536999" y="17716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9277398" y="17716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8536999" y="20193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9277398" y="20193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8536999" y="22669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9277398" y="22669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8536999" y="25146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9277398" y="25146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20" dirty="0"/>
          </a:p>
        </p:txBody>
      </p:sp>
      <p:sp>
        <p:nvSpPr>
          <p:cNvPr id="124" name="Text 121"/>
          <p:cNvSpPr/>
          <p:nvPr/>
        </p:nvSpPr>
        <p:spPr>
          <a:xfrm>
            <a:off x="8536999" y="27622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20" dirty="0"/>
          </a:p>
        </p:txBody>
      </p:sp>
      <p:sp>
        <p:nvSpPr>
          <p:cNvPr id="125" name="Text 122"/>
          <p:cNvSpPr/>
          <p:nvPr/>
        </p:nvSpPr>
        <p:spPr>
          <a:xfrm>
            <a:off x="9277398" y="27622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720" dirty="0"/>
          </a:p>
        </p:txBody>
      </p:sp>
      <p:sp>
        <p:nvSpPr>
          <p:cNvPr id="126" name="Text 123"/>
          <p:cNvSpPr/>
          <p:nvPr/>
        </p:nvSpPr>
        <p:spPr>
          <a:xfrm>
            <a:off x="8536999" y="30099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20" dirty="0"/>
          </a:p>
        </p:txBody>
      </p:sp>
      <p:sp>
        <p:nvSpPr>
          <p:cNvPr id="127" name="Text 124"/>
          <p:cNvSpPr/>
          <p:nvPr/>
        </p:nvSpPr>
        <p:spPr>
          <a:xfrm>
            <a:off x="9277398" y="30099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8" name="Text 125"/>
          <p:cNvSpPr/>
          <p:nvPr/>
        </p:nvSpPr>
        <p:spPr>
          <a:xfrm>
            <a:off x="8536999" y="32575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720" dirty="0"/>
          </a:p>
        </p:txBody>
      </p:sp>
      <p:sp>
        <p:nvSpPr>
          <p:cNvPr id="129" name="Text 126"/>
          <p:cNvSpPr/>
          <p:nvPr/>
        </p:nvSpPr>
        <p:spPr>
          <a:xfrm>
            <a:off x="9277398" y="32575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30" name="Text 127"/>
          <p:cNvSpPr/>
          <p:nvPr/>
        </p:nvSpPr>
        <p:spPr>
          <a:xfrm>
            <a:off x="8536999" y="35052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31" name="Text 128"/>
          <p:cNvSpPr/>
          <p:nvPr/>
        </p:nvSpPr>
        <p:spPr>
          <a:xfrm>
            <a:off x="9277398" y="35052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132" name="Text 129"/>
          <p:cNvSpPr/>
          <p:nvPr/>
        </p:nvSpPr>
        <p:spPr>
          <a:xfrm>
            <a:off x="8965222" y="46196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672" dirty="0"/>
          </a:p>
        </p:txBody>
      </p:sp>
      <p:sp>
        <p:nvSpPr>
          <p:cNvPr id="133" name="Text 130"/>
          <p:cNvSpPr/>
          <p:nvPr/>
        </p:nvSpPr>
        <p:spPr>
          <a:xfrm>
            <a:off x="8965222" y="48006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34" name="Text 131"/>
          <p:cNvSpPr/>
          <p:nvPr/>
        </p:nvSpPr>
        <p:spPr>
          <a:xfrm>
            <a:off x="8965222" y="49815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35" name="Text 132"/>
          <p:cNvSpPr/>
          <p:nvPr/>
        </p:nvSpPr>
        <p:spPr>
          <a:xfrm>
            <a:off x="8965222" y="51625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10997717" y="42576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2643886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8" name="Text 135"/>
          <p:cNvSpPr/>
          <p:nvPr/>
        </p:nvSpPr>
        <p:spPr>
          <a:xfrm>
            <a:off x="220306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9" name="Text 136"/>
          <p:cNvSpPr/>
          <p:nvPr/>
        </p:nvSpPr>
        <p:spPr>
          <a:xfrm>
            <a:off x="220306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40" name="Text 137"/>
          <p:cNvSpPr/>
          <p:nvPr/>
        </p:nvSpPr>
        <p:spPr>
          <a:xfrm>
            <a:off x="220306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220306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2643886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220306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44" name="Text 141"/>
          <p:cNvSpPr/>
          <p:nvPr/>
        </p:nvSpPr>
        <p:spPr>
          <a:xfrm>
            <a:off x="2643886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45" name="Text 142"/>
          <p:cNvSpPr/>
          <p:nvPr/>
        </p:nvSpPr>
        <p:spPr>
          <a:xfrm>
            <a:off x="5504440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6" name="Text 143"/>
          <p:cNvSpPr/>
          <p:nvPr/>
        </p:nvSpPr>
        <p:spPr>
          <a:xfrm>
            <a:off x="594525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7" name="Text 144"/>
          <p:cNvSpPr/>
          <p:nvPr/>
        </p:nvSpPr>
        <p:spPr>
          <a:xfrm>
            <a:off x="5504440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8" name="Text 145"/>
          <p:cNvSpPr/>
          <p:nvPr/>
        </p:nvSpPr>
        <p:spPr>
          <a:xfrm>
            <a:off x="5504440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9" name="Text 146"/>
          <p:cNvSpPr/>
          <p:nvPr/>
        </p:nvSpPr>
        <p:spPr>
          <a:xfrm>
            <a:off x="5504440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50" name="Text 147"/>
          <p:cNvSpPr/>
          <p:nvPr/>
        </p:nvSpPr>
        <p:spPr>
          <a:xfrm>
            <a:off x="594525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51" name="Text 148"/>
          <p:cNvSpPr/>
          <p:nvPr/>
        </p:nvSpPr>
        <p:spPr>
          <a:xfrm>
            <a:off x="5504440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52" name="Text 149"/>
          <p:cNvSpPr/>
          <p:nvPr/>
        </p:nvSpPr>
        <p:spPr>
          <a:xfrm>
            <a:off x="594525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53" name="Text 150"/>
          <p:cNvSpPr/>
          <p:nvPr/>
        </p:nvSpPr>
        <p:spPr>
          <a:xfrm>
            <a:off x="5504440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54" name="Text 151"/>
          <p:cNvSpPr/>
          <p:nvPr/>
        </p:nvSpPr>
        <p:spPr>
          <a:xfrm>
            <a:off x="594525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5" name="Text 152"/>
          <p:cNvSpPr/>
          <p:nvPr/>
        </p:nvSpPr>
        <p:spPr>
          <a:xfrm>
            <a:off x="5504440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6" name="Text 153"/>
          <p:cNvSpPr/>
          <p:nvPr/>
        </p:nvSpPr>
        <p:spPr>
          <a:xfrm>
            <a:off x="5504440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7" name="Text 154"/>
          <p:cNvSpPr/>
          <p:nvPr/>
        </p:nvSpPr>
        <p:spPr>
          <a:xfrm>
            <a:off x="594525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8" name="Text 155"/>
          <p:cNvSpPr/>
          <p:nvPr/>
        </p:nvSpPr>
        <p:spPr>
          <a:xfrm>
            <a:off x="5504440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9" name="Text 156"/>
          <p:cNvSpPr/>
          <p:nvPr/>
        </p:nvSpPr>
        <p:spPr>
          <a:xfrm>
            <a:off x="594525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0" name="Text 157"/>
          <p:cNvSpPr/>
          <p:nvPr/>
        </p:nvSpPr>
        <p:spPr>
          <a:xfrm>
            <a:off x="5504440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1" name="Text 158"/>
          <p:cNvSpPr/>
          <p:nvPr/>
        </p:nvSpPr>
        <p:spPr>
          <a:xfrm>
            <a:off x="594525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62" name="Text 159"/>
          <p:cNvSpPr/>
          <p:nvPr/>
        </p:nvSpPr>
        <p:spPr>
          <a:xfrm>
            <a:off x="5504440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3" name="Text 160"/>
          <p:cNvSpPr/>
          <p:nvPr/>
        </p:nvSpPr>
        <p:spPr>
          <a:xfrm>
            <a:off x="594525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64" name="Text 161"/>
          <p:cNvSpPr/>
          <p:nvPr/>
        </p:nvSpPr>
        <p:spPr>
          <a:xfrm>
            <a:off x="9992230" y="15240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65" name="Text 162"/>
          <p:cNvSpPr/>
          <p:nvPr/>
        </p:nvSpPr>
        <p:spPr>
          <a:xfrm>
            <a:off x="9992230" y="17716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66" name="Text 163"/>
          <p:cNvSpPr/>
          <p:nvPr/>
        </p:nvSpPr>
        <p:spPr>
          <a:xfrm>
            <a:off x="9992230" y="20193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67" name="Text 164"/>
          <p:cNvSpPr/>
          <p:nvPr/>
        </p:nvSpPr>
        <p:spPr>
          <a:xfrm>
            <a:off x="9992230" y="22669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8" name="Text 165"/>
          <p:cNvSpPr/>
          <p:nvPr/>
        </p:nvSpPr>
        <p:spPr>
          <a:xfrm>
            <a:off x="9992230" y="25146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9" name="Text 166"/>
          <p:cNvSpPr/>
          <p:nvPr/>
        </p:nvSpPr>
        <p:spPr>
          <a:xfrm>
            <a:off x="9992230" y="27622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70" name="Text 167"/>
          <p:cNvSpPr/>
          <p:nvPr/>
        </p:nvSpPr>
        <p:spPr>
          <a:xfrm>
            <a:off x="9992230" y="30099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71" name="Text 168"/>
          <p:cNvSpPr/>
          <p:nvPr/>
        </p:nvSpPr>
        <p:spPr>
          <a:xfrm>
            <a:off x="9992230" y="32575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72" name="Text 169"/>
          <p:cNvSpPr/>
          <p:nvPr/>
        </p:nvSpPr>
        <p:spPr>
          <a:xfrm>
            <a:off x="9992230" y="35052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73" name="Text 170"/>
          <p:cNvSpPr/>
          <p:nvPr/>
        </p:nvSpPr>
        <p:spPr>
          <a:xfrm>
            <a:off x="10997717" y="44386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72" dirty="0"/>
          </a:p>
        </p:txBody>
      </p:sp>
      <p:sp>
        <p:nvSpPr>
          <p:cNvPr id="174" name="Text 171"/>
          <p:cNvSpPr/>
          <p:nvPr/>
        </p:nvSpPr>
        <p:spPr>
          <a:xfrm>
            <a:off x="10997717" y="46196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75" name="Text 172"/>
          <p:cNvSpPr/>
          <p:nvPr/>
        </p:nvSpPr>
        <p:spPr>
          <a:xfrm>
            <a:off x="10997717" y="48006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76" name="Text 173"/>
          <p:cNvSpPr/>
          <p:nvPr/>
        </p:nvSpPr>
        <p:spPr>
          <a:xfrm>
            <a:off x="10997717" y="49815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77" name="Text 174"/>
          <p:cNvSpPr/>
          <p:nvPr/>
        </p:nvSpPr>
        <p:spPr>
          <a:xfrm>
            <a:off x="10997717" y="51625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2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832158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Tradicional acumula a corte agosto 870 ventas positivas entre Cuota Protegida y Rueda Seguro; Jul marcó el mayor volumen de financiaciones en CP (6.949) y Jul en RS (1.686) — una base sólida para acelerar la conversión en lo que resta del año.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4585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Aliados y Gestores en la fila de total corresponden al promedio mensual de la estructura activa del canal.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257769" y="5606058"/>
            <a:ext cx="39597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 muestra el mayor volumen de financiaciones de motocicletas (1.686) con 25 aliados activos.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85783" y="5606058"/>
            <a:ext cx="32311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 registra el mayor volumen de financiaciones (6.949) con 12 aliados activos.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23882" y="962025"/>
            <a:ext cx="16177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positivas Ene-Ago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3505112" y="962025"/>
            <a:ext cx="16169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positivas Ene-Ago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838179" y="1786830"/>
            <a:ext cx="151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Tradicional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723882" y="1272480"/>
            <a:ext cx="105094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 cantadas · 150,2% meta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505112" y="1272480"/>
            <a:ext cx="9969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315 cantadas · 98,5% meta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410165" y="1786830"/>
            <a:ext cx="14003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Tradicional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86343" y="1272480"/>
            <a:ext cx="6750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aliados activos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829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 aliados activos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86343" y="962025"/>
            <a:ext cx="1042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CP</a:t>
            </a:r>
            <a:endParaRPr lang="en-US" sz="696" dirty="0"/>
          </a:p>
        </p:txBody>
      </p:sp>
      <p:sp>
        <p:nvSpPr>
          <p:cNvPr id="17" name="Text 14"/>
          <p:cNvSpPr/>
          <p:nvPr/>
        </p:nvSpPr>
        <p:spPr>
          <a:xfrm>
            <a:off x="9067573" y="962025"/>
            <a:ext cx="10389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RS</a:t>
            </a:r>
            <a:endParaRPr lang="en-US" sz="696" dirty="0"/>
          </a:p>
        </p:txBody>
      </p:sp>
      <p:sp>
        <p:nvSpPr>
          <p:cNvPr id="18" name="Text 15"/>
          <p:cNvSpPr/>
          <p:nvPr/>
        </p:nvSpPr>
        <p:spPr>
          <a:xfrm>
            <a:off x="4260697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832683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96428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413192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73515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468413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985178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645500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176964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2714757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748950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86742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5016365" y="265821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101,0%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2714757" y="53299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26.465</a:t>
            </a:r>
            <a:endParaRPr lang="en-US" sz="792" dirty="0"/>
          </a:p>
        </p:txBody>
      </p:sp>
      <p:sp>
        <p:nvSpPr>
          <p:cNvPr id="32" name="Text 29"/>
          <p:cNvSpPr/>
          <p:nvPr/>
        </p:nvSpPr>
        <p:spPr>
          <a:xfrm>
            <a:off x="5016365" y="526806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150,2%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286343" y="1085850"/>
            <a:ext cx="45384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26.465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2714757" y="2348359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2.074</a:t>
            </a:r>
            <a:endParaRPr lang="en-US" sz="792" dirty="0"/>
          </a:p>
        </p:txBody>
      </p:sp>
      <p:sp>
        <p:nvSpPr>
          <p:cNvPr id="35" name="Text 32"/>
          <p:cNvSpPr/>
          <p:nvPr/>
        </p:nvSpPr>
        <p:spPr>
          <a:xfrm>
            <a:off x="5016365" y="228644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81,2%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714757" y="272013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2.999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714757" y="30930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3.127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5016365" y="303118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74,4%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714757" y="346605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3.076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5016365" y="340414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76,9%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14757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2.399</a:t>
            </a:r>
            <a:endParaRPr lang="en-US" sz="792" dirty="0"/>
          </a:p>
        </p:txBody>
      </p:sp>
      <p:sp>
        <p:nvSpPr>
          <p:cNvPr id="42" name="Text 39"/>
          <p:cNvSpPr/>
          <p:nvPr/>
        </p:nvSpPr>
        <p:spPr>
          <a:xfrm>
            <a:off x="2714757" y="421198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5.605</a:t>
            </a:r>
            <a:endParaRPr lang="en-US" sz="792" dirty="0"/>
          </a:p>
        </p:txBody>
      </p:sp>
      <p:sp>
        <p:nvSpPr>
          <p:cNvPr id="43" name="Text 40"/>
          <p:cNvSpPr/>
          <p:nvPr/>
        </p:nvSpPr>
        <p:spPr>
          <a:xfrm>
            <a:off x="2714757" y="458494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6.949</a:t>
            </a:r>
            <a:endParaRPr lang="en-US" sz="792" dirty="0"/>
          </a:p>
        </p:txBody>
      </p:sp>
      <p:sp>
        <p:nvSpPr>
          <p:cNvPr id="44" name="Text 41"/>
          <p:cNvSpPr/>
          <p:nvPr/>
        </p:nvSpPr>
        <p:spPr>
          <a:xfrm>
            <a:off x="685783" y="53299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5" name="Text 42"/>
          <p:cNvSpPr/>
          <p:nvPr/>
        </p:nvSpPr>
        <p:spPr>
          <a:xfrm>
            <a:off x="10588350" y="228644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47,1%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588350" y="265821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10588350" y="303118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48,2%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8286742" y="421198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1.395</a:t>
            </a:r>
            <a:endParaRPr lang="en-US" sz="792" dirty="0"/>
          </a:p>
        </p:txBody>
      </p:sp>
      <p:sp>
        <p:nvSpPr>
          <p:cNvPr id="49" name="Text 46"/>
          <p:cNvSpPr/>
          <p:nvPr/>
        </p:nvSpPr>
        <p:spPr>
          <a:xfrm>
            <a:off x="8286742" y="458494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1.686</a:t>
            </a:r>
            <a:endParaRPr lang="en-US" sz="792" dirty="0"/>
          </a:p>
        </p:txBody>
      </p:sp>
      <p:sp>
        <p:nvSpPr>
          <p:cNvPr id="50" name="Text 47"/>
          <p:cNvSpPr/>
          <p:nvPr/>
        </p:nvSpPr>
        <p:spPr>
          <a:xfrm>
            <a:off x="6257769" y="53299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51" name="Text 48"/>
          <p:cNvSpPr/>
          <p:nvPr/>
        </p:nvSpPr>
        <p:spPr>
          <a:xfrm>
            <a:off x="8286742" y="53299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6.148</a:t>
            </a:r>
            <a:endParaRPr lang="en-US" sz="792" dirty="0"/>
          </a:p>
        </p:txBody>
      </p:sp>
      <p:sp>
        <p:nvSpPr>
          <p:cNvPr id="52" name="Text 49"/>
          <p:cNvSpPr/>
          <p:nvPr/>
        </p:nvSpPr>
        <p:spPr>
          <a:xfrm>
            <a:off x="10588350" y="526806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98,5%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067573" y="1085850"/>
            <a:ext cx="368502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6.148</a:t>
            </a:r>
            <a:endParaRPr lang="en-US" sz="1020" dirty="0"/>
          </a:p>
        </p:txBody>
      </p:sp>
      <p:sp>
        <p:nvSpPr>
          <p:cNvPr id="54" name="Text 51"/>
          <p:cNvSpPr/>
          <p:nvPr/>
        </p:nvSpPr>
        <p:spPr>
          <a:xfrm>
            <a:off x="685783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685783" y="2348359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56" name="Text 53"/>
          <p:cNvSpPr/>
          <p:nvPr/>
        </p:nvSpPr>
        <p:spPr>
          <a:xfrm>
            <a:off x="685783" y="272013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57" name="Text 54"/>
          <p:cNvSpPr/>
          <p:nvPr/>
        </p:nvSpPr>
        <p:spPr>
          <a:xfrm>
            <a:off x="3413192" y="272013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792" dirty="0"/>
          </a:p>
        </p:txBody>
      </p:sp>
      <p:sp>
        <p:nvSpPr>
          <p:cNvPr id="58" name="Text 55"/>
          <p:cNvSpPr/>
          <p:nvPr/>
        </p:nvSpPr>
        <p:spPr>
          <a:xfrm>
            <a:off x="4203547" y="263916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92" dirty="0"/>
          </a:p>
        </p:txBody>
      </p:sp>
      <p:sp>
        <p:nvSpPr>
          <p:cNvPr id="59" name="Text 56"/>
          <p:cNvSpPr/>
          <p:nvPr/>
        </p:nvSpPr>
        <p:spPr>
          <a:xfrm>
            <a:off x="685783" y="30930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60" name="Text 57"/>
          <p:cNvSpPr/>
          <p:nvPr/>
        </p:nvSpPr>
        <p:spPr>
          <a:xfrm>
            <a:off x="3413192" y="30930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792" dirty="0"/>
          </a:p>
        </p:txBody>
      </p:sp>
      <p:sp>
        <p:nvSpPr>
          <p:cNvPr id="61" name="Text 58"/>
          <p:cNvSpPr/>
          <p:nvPr/>
        </p:nvSpPr>
        <p:spPr>
          <a:xfrm>
            <a:off x="685783" y="346605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62" name="Text 59"/>
          <p:cNvSpPr/>
          <p:nvPr/>
        </p:nvSpPr>
        <p:spPr>
          <a:xfrm>
            <a:off x="3413192" y="346605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4203547" y="338509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685783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65" name="Text 62"/>
          <p:cNvSpPr/>
          <p:nvPr/>
        </p:nvSpPr>
        <p:spPr>
          <a:xfrm>
            <a:off x="3413192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792" dirty="0"/>
          </a:p>
        </p:txBody>
      </p:sp>
      <p:sp>
        <p:nvSpPr>
          <p:cNvPr id="66" name="Text 63"/>
          <p:cNvSpPr/>
          <p:nvPr/>
        </p:nvSpPr>
        <p:spPr>
          <a:xfrm>
            <a:off x="5016365" y="377710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685783" y="421198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68" name="Text 65"/>
          <p:cNvSpPr/>
          <p:nvPr/>
        </p:nvSpPr>
        <p:spPr>
          <a:xfrm>
            <a:off x="3413192" y="421198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792" dirty="0"/>
          </a:p>
        </p:txBody>
      </p:sp>
      <p:sp>
        <p:nvSpPr>
          <p:cNvPr id="69" name="Text 66"/>
          <p:cNvSpPr/>
          <p:nvPr/>
        </p:nvSpPr>
        <p:spPr>
          <a:xfrm>
            <a:off x="5016365" y="415007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685783" y="458494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92" dirty="0"/>
          </a:p>
        </p:txBody>
      </p:sp>
      <p:sp>
        <p:nvSpPr>
          <p:cNvPr id="71" name="Text 68"/>
          <p:cNvSpPr/>
          <p:nvPr/>
        </p:nvSpPr>
        <p:spPr>
          <a:xfrm>
            <a:off x="3413192" y="458494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792" dirty="0"/>
          </a:p>
        </p:txBody>
      </p:sp>
      <p:sp>
        <p:nvSpPr>
          <p:cNvPr id="72" name="Text 69"/>
          <p:cNvSpPr/>
          <p:nvPr/>
        </p:nvSpPr>
        <p:spPr>
          <a:xfrm>
            <a:off x="4203547" y="450398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</a:t>
            </a:r>
            <a:endParaRPr lang="en-US" sz="792" dirty="0"/>
          </a:p>
        </p:txBody>
      </p:sp>
      <p:sp>
        <p:nvSpPr>
          <p:cNvPr id="73" name="Text 70"/>
          <p:cNvSpPr/>
          <p:nvPr/>
        </p:nvSpPr>
        <p:spPr>
          <a:xfrm>
            <a:off x="5016365" y="452303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85783" y="495791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92" dirty="0"/>
          </a:p>
        </p:txBody>
      </p:sp>
      <p:sp>
        <p:nvSpPr>
          <p:cNvPr id="75" name="Text 72"/>
          <p:cNvSpPr/>
          <p:nvPr/>
        </p:nvSpPr>
        <p:spPr>
          <a:xfrm>
            <a:off x="2714757" y="495791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236</a:t>
            </a:r>
            <a:endParaRPr lang="en-US" sz="792" dirty="0"/>
          </a:p>
        </p:txBody>
      </p:sp>
      <p:sp>
        <p:nvSpPr>
          <p:cNvPr id="76" name="Text 73"/>
          <p:cNvSpPr/>
          <p:nvPr/>
        </p:nvSpPr>
        <p:spPr>
          <a:xfrm>
            <a:off x="5016365" y="489599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1896428" y="53299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28*</a:t>
            </a:r>
            <a:endParaRPr lang="en-US" sz="792" dirty="0"/>
          </a:p>
        </p:txBody>
      </p:sp>
      <p:sp>
        <p:nvSpPr>
          <p:cNvPr id="78" name="Text 75"/>
          <p:cNvSpPr/>
          <p:nvPr/>
        </p:nvSpPr>
        <p:spPr>
          <a:xfrm>
            <a:off x="3413192" y="53299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792" dirty="0"/>
          </a:p>
        </p:txBody>
      </p:sp>
      <p:sp>
        <p:nvSpPr>
          <p:cNvPr id="79" name="Text 76"/>
          <p:cNvSpPr/>
          <p:nvPr/>
        </p:nvSpPr>
        <p:spPr>
          <a:xfrm>
            <a:off x="4260697" y="53299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679</a:t>
            </a:r>
            <a:endParaRPr lang="en-US" sz="792" dirty="0"/>
          </a:p>
        </p:txBody>
      </p:sp>
      <p:sp>
        <p:nvSpPr>
          <p:cNvPr id="80" name="Text 77"/>
          <p:cNvSpPr/>
          <p:nvPr/>
        </p:nvSpPr>
        <p:spPr>
          <a:xfrm>
            <a:off x="6257769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57769" y="2348359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82" name="Text 79"/>
          <p:cNvSpPr/>
          <p:nvPr/>
        </p:nvSpPr>
        <p:spPr>
          <a:xfrm>
            <a:off x="8286742" y="2348359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783</a:t>
            </a:r>
            <a:endParaRPr lang="en-US" sz="792" dirty="0"/>
          </a:p>
        </p:txBody>
      </p:sp>
      <p:sp>
        <p:nvSpPr>
          <p:cNvPr id="83" name="Text 80"/>
          <p:cNvSpPr/>
          <p:nvPr/>
        </p:nvSpPr>
        <p:spPr>
          <a:xfrm>
            <a:off x="6257769" y="272013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84" name="Text 81"/>
          <p:cNvSpPr/>
          <p:nvPr/>
        </p:nvSpPr>
        <p:spPr>
          <a:xfrm>
            <a:off x="8286742" y="272013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743</a:t>
            </a:r>
            <a:endParaRPr lang="en-US" sz="792" dirty="0"/>
          </a:p>
        </p:txBody>
      </p:sp>
      <p:sp>
        <p:nvSpPr>
          <p:cNvPr id="85" name="Text 82"/>
          <p:cNvSpPr/>
          <p:nvPr/>
        </p:nvSpPr>
        <p:spPr>
          <a:xfrm>
            <a:off x="6257769" y="30930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86" name="Text 83"/>
          <p:cNvSpPr/>
          <p:nvPr/>
        </p:nvSpPr>
        <p:spPr>
          <a:xfrm>
            <a:off x="8286742" y="30930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391</a:t>
            </a:r>
            <a:endParaRPr lang="en-US" sz="792" dirty="0"/>
          </a:p>
        </p:txBody>
      </p:sp>
      <p:sp>
        <p:nvSpPr>
          <p:cNvPr id="87" name="Text 84"/>
          <p:cNvSpPr/>
          <p:nvPr/>
        </p:nvSpPr>
        <p:spPr>
          <a:xfrm>
            <a:off x="6257769" y="346605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88" name="Text 85"/>
          <p:cNvSpPr/>
          <p:nvPr/>
        </p:nvSpPr>
        <p:spPr>
          <a:xfrm>
            <a:off x="8286742" y="346605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329</a:t>
            </a:r>
            <a:endParaRPr lang="en-US" sz="792" dirty="0"/>
          </a:p>
        </p:txBody>
      </p:sp>
      <p:sp>
        <p:nvSpPr>
          <p:cNvPr id="89" name="Text 86"/>
          <p:cNvSpPr/>
          <p:nvPr/>
        </p:nvSpPr>
        <p:spPr>
          <a:xfrm>
            <a:off x="10588350" y="340414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6257769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91" name="Text 88"/>
          <p:cNvSpPr/>
          <p:nvPr/>
        </p:nvSpPr>
        <p:spPr>
          <a:xfrm>
            <a:off x="8286742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818</a:t>
            </a:r>
            <a:endParaRPr lang="en-US" sz="792" dirty="0"/>
          </a:p>
        </p:txBody>
      </p:sp>
      <p:sp>
        <p:nvSpPr>
          <p:cNvPr id="92" name="Text 89"/>
          <p:cNvSpPr/>
          <p:nvPr/>
        </p:nvSpPr>
        <p:spPr>
          <a:xfrm>
            <a:off x="10588350" y="377710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6257769" y="421198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94" name="Text 91"/>
          <p:cNvSpPr/>
          <p:nvPr/>
        </p:nvSpPr>
        <p:spPr>
          <a:xfrm>
            <a:off x="10588350" y="415007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57769" y="458494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92" dirty="0"/>
          </a:p>
        </p:txBody>
      </p:sp>
      <p:sp>
        <p:nvSpPr>
          <p:cNvPr id="96" name="Text 93"/>
          <p:cNvSpPr/>
          <p:nvPr/>
        </p:nvSpPr>
        <p:spPr>
          <a:xfrm>
            <a:off x="10588350" y="452303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6257769" y="495791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l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92" dirty="0"/>
          </a:p>
        </p:txBody>
      </p:sp>
      <p:sp>
        <p:nvSpPr>
          <p:cNvPr id="98" name="Text 95"/>
          <p:cNvSpPr/>
          <p:nvPr/>
        </p:nvSpPr>
        <p:spPr>
          <a:xfrm>
            <a:off x="10588350" y="489599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6748950" y="53299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16*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7468413" y="53299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37*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8985178" y="53299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315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9832683" y="53299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191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679</a:t>
            </a:r>
            <a:endParaRPr lang="en-US" sz="1020" dirty="0"/>
          </a:p>
        </p:txBody>
      </p:sp>
      <p:sp>
        <p:nvSpPr>
          <p:cNvPr id="104" name="Text 101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191</a:t>
            </a:r>
            <a:endParaRPr lang="en-US" sz="1020" dirty="0"/>
          </a:p>
        </p:txBody>
      </p:sp>
      <p:sp>
        <p:nvSpPr>
          <p:cNvPr id="105" name="Text 102"/>
          <p:cNvSpPr/>
          <p:nvPr/>
        </p:nvSpPr>
        <p:spPr>
          <a:xfrm>
            <a:off x="1896428" y="2348359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792" dirty="0"/>
          </a:p>
        </p:txBody>
      </p:sp>
      <p:sp>
        <p:nvSpPr>
          <p:cNvPr id="106" name="Text 103"/>
          <p:cNvSpPr/>
          <p:nvPr/>
        </p:nvSpPr>
        <p:spPr>
          <a:xfrm>
            <a:off x="3413192" y="2348359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792" dirty="0"/>
          </a:p>
        </p:txBody>
      </p:sp>
      <p:sp>
        <p:nvSpPr>
          <p:cNvPr id="107" name="Text 104"/>
          <p:cNvSpPr/>
          <p:nvPr/>
        </p:nvSpPr>
        <p:spPr>
          <a:xfrm>
            <a:off x="4203547" y="226739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92" dirty="0"/>
          </a:p>
        </p:txBody>
      </p:sp>
      <p:sp>
        <p:nvSpPr>
          <p:cNvPr id="108" name="Text 105"/>
          <p:cNvSpPr/>
          <p:nvPr/>
        </p:nvSpPr>
        <p:spPr>
          <a:xfrm>
            <a:off x="1896428" y="272013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792" dirty="0"/>
          </a:p>
        </p:txBody>
      </p:sp>
      <p:sp>
        <p:nvSpPr>
          <p:cNvPr id="109" name="Text 106"/>
          <p:cNvSpPr/>
          <p:nvPr/>
        </p:nvSpPr>
        <p:spPr>
          <a:xfrm>
            <a:off x="1896428" y="30930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0" name="Text 107"/>
          <p:cNvSpPr/>
          <p:nvPr/>
        </p:nvSpPr>
        <p:spPr>
          <a:xfrm>
            <a:off x="4203547" y="301213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11" name="Text 108"/>
          <p:cNvSpPr/>
          <p:nvPr/>
        </p:nvSpPr>
        <p:spPr>
          <a:xfrm>
            <a:off x="1896428" y="346605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2" name="Text 109"/>
          <p:cNvSpPr/>
          <p:nvPr/>
        </p:nvSpPr>
        <p:spPr>
          <a:xfrm>
            <a:off x="1176964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92" dirty="0"/>
          </a:p>
        </p:txBody>
      </p:sp>
      <p:sp>
        <p:nvSpPr>
          <p:cNvPr id="113" name="Text 110"/>
          <p:cNvSpPr/>
          <p:nvPr/>
        </p:nvSpPr>
        <p:spPr>
          <a:xfrm>
            <a:off x="1896428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4" name="Text 111"/>
          <p:cNvSpPr/>
          <p:nvPr/>
        </p:nvSpPr>
        <p:spPr>
          <a:xfrm>
            <a:off x="4203547" y="375805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792" dirty="0"/>
          </a:p>
        </p:txBody>
      </p:sp>
      <p:sp>
        <p:nvSpPr>
          <p:cNvPr id="115" name="Text 112"/>
          <p:cNvSpPr/>
          <p:nvPr/>
        </p:nvSpPr>
        <p:spPr>
          <a:xfrm>
            <a:off x="1176964" y="421198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16" name="Text 113"/>
          <p:cNvSpPr/>
          <p:nvPr/>
        </p:nvSpPr>
        <p:spPr>
          <a:xfrm>
            <a:off x="1896428" y="421198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17" name="Text 114"/>
          <p:cNvSpPr/>
          <p:nvPr/>
        </p:nvSpPr>
        <p:spPr>
          <a:xfrm>
            <a:off x="4203547" y="413102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18" name="Text 115"/>
          <p:cNvSpPr/>
          <p:nvPr/>
        </p:nvSpPr>
        <p:spPr>
          <a:xfrm>
            <a:off x="1176964" y="458494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1896428" y="458494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1176964" y="495791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1896428" y="495791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1176964" y="53299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9*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7468413" y="2348359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792" dirty="0"/>
          </a:p>
        </p:txBody>
      </p:sp>
      <p:sp>
        <p:nvSpPr>
          <p:cNvPr id="124" name="Text 121"/>
          <p:cNvSpPr/>
          <p:nvPr/>
        </p:nvSpPr>
        <p:spPr>
          <a:xfrm>
            <a:off x="8985178" y="2348359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25" name="Text 122"/>
          <p:cNvSpPr/>
          <p:nvPr/>
        </p:nvSpPr>
        <p:spPr>
          <a:xfrm>
            <a:off x="9775533" y="226739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92" dirty="0"/>
          </a:p>
        </p:txBody>
      </p:sp>
      <p:sp>
        <p:nvSpPr>
          <p:cNvPr id="126" name="Text 123"/>
          <p:cNvSpPr/>
          <p:nvPr/>
        </p:nvSpPr>
        <p:spPr>
          <a:xfrm>
            <a:off x="7468413" y="272013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792" dirty="0"/>
          </a:p>
        </p:txBody>
      </p:sp>
      <p:sp>
        <p:nvSpPr>
          <p:cNvPr id="127" name="Text 124"/>
          <p:cNvSpPr/>
          <p:nvPr/>
        </p:nvSpPr>
        <p:spPr>
          <a:xfrm>
            <a:off x="8985178" y="272013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792" dirty="0"/>
          </a:p>
        </p:txBody>
      </p:sp>
      <p:sp>
        <p:nvSpPr>
          <p:cNvPr id="128" name="Text 125"/>
          <p:cNvSpPr/>
          <p:nvPr/>
        </p:nvSpPr>
        <p:spPr>
          <a:xfrm>
            <a:off x="9775533" y="263916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29" name="Text 126"/>
          <p:cNvSpPr/>
          <p:nvPr/>
        </p:nvSpPr>
        <p:spPr>
          <a:xfrm>
            <a:off x="7468413" y="30930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0" name="Text 127"/>
          <p:cNvSpPr/>
          <p:nvPr/>
        </p:nvSpPr>
        <p:spPr>
          <a:xfrm>
            <a:off x="8985178" y="30930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792" dirty="0"/>
          </a:p>
        </p:txBody>
      </p:sp>
      <p:sp>
        <p:nvSpPr>
          <p:cNvPr id="131" name="Text 128"/>
          <p:cNvSpPr/>
          <p:nvPr/>
        </p:nvSpPr>
        <p:spPr>
          <a:xfrm>
            <a:off x="9775533" y="301213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2" name="Text 129"/>
          <p:cNvSpPr/>
          <p:nvPr/>
        </p:nvSpPr>
        <p:spPr>
          <a:xfrm>
            <a:off x="7468413" y="346605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792" dirty="0"/>
          </a:p>
        </p:txBody>
      </p:sp>
      <p:sp>
        <p:nvSpPr>
          <p:cNvPr id="133" name="Text 130"/>
          <p:cNvSpPr/>
          <p:nvPr/>
        </p:nvSpPr>
        <p:spPr>
          <a:xfrm>
            <a:off x="8985178" y="346605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92" dirty="0"/>
          </a:p>
        </p:txBody>
      </p:sp>
      <p:sp>
        <p:nvSpPr>
          <p:cNvPr id="134" name="Text 131"/>
          <p:cNvSpPr/>
          <p:nvPr/>
        </p:nvSpPr>
        <p:spPr>
          <a:xfrm>
            <a:off x="9775533" y="338509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5" name="Text 132"/>
          <p:cNvSpPr/>
          <p:nvPr/>
        </p:nvSpPr>
        <p:spPr>
          <a:xfrm>
            <a:off x="6748950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36" name="Text 133"/>
          <p:cNvSpPr/>
          <p:nvPr/>
        </p:nvSpPr>
        <p:spPr>
          <a:xfrm>
            <a:off x="8985178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37" name="Text 134"/>
          <p:cNvSpPr/>
          <p:nvPr/>
        </p:nvSpPr>
        <p:spPr>
          <a:xfrm>
            <a:off x="9775533" y="375805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92" dirty="0"/>
          </a:p>
        </p:txBody>
      </p:sp>
      <p:sp>
        <p:nvSpPr>
          <p:cNvPr id="138" name="Text 135"/>
          <p:cNvSpPr/>
          <p:nvPr/>
        </p:nvSpPr>
        <p:spPr>
          <a:xfrm>
            <a:off x="6748950" y="421198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39" name="Text 136"/>
          <p:cNvSpPr/>
          <p:nvPr/>
        </p:nvSpPr>
        <p:spPr>
          <a:xfrm>
            <a:off x="7468413" y="421198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0" name="Text 137"/>
          <p:cNvSpPr/>
          <p:nvPr/>
        </p:nvSpPr>
        <p:spPr>
          <a:xfrm>
            <a:off x="8985178" y="421198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792" dirty="0"/>
          </a:p>
        </p:txBody>
      </p:sp>
      <p:sp>
        <p:nvSpPr>
          <p:cNvPr id="141" name="Text 138"/>
          <p:cNvSpPr/>
          <p:nvPr/>
        </p:nvSpPr>
        <p:spPr>
          <a:xfrm>
            <a:off x="9775533" y="413102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792" dirty="0"/>
          </a:p>
        </p:txBody>
      </p:sp>
      <p:sp>
        <p:nvSpPr>
          <p:cNvPr id="142" name="Text 139"/>
          <p:cNvSpPr/>
          <p:nvPr/>
        </p:nvSpPr>
        <p:spPr>
          <a:xfrm>
            <a:off x="6748950" y="458494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43" name="Text 140"/>
          <p:cNvSpPr/>
          <p:nvPr/>
        </p:nvSpPr>
        <p:spPr>
          <a:xfrm>
            <a:off x="7468413" y="458494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4" name="Text 141"/>
          <p:cNvSpPr/>
          <p:nvPr/>
        </p:nvSpPr>
        <p:spPr>
          <a:xfrm>
            <a:off x="8985178" y="458494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792" dirty="0"/>
          </a:p>
        </p:txBody>
      </p:sp>
      <p:sp>
        <p:nvSpPr>
          <p:cNvPr id="145" name="Text 142"/>
          <p:cNvSpPr/>
          <p:nvPr/>
        </p:nvSpPr>
        <p:spPr>
          <a:xfrm>
            <a:off x="9775533" y="450398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92" dirty="0"/>
          </a:p>
        </p:txBody>
      </p:sp>
      <p:sp>
        <p:nvSpPr>
          <p:cNvPr id="146" name="Text 143"/>
          <p:cNvSpPr/>
          <p:nvPr/>
        </p:nvSpPr>
        <p:spPr>
          <a:xfrm>
            <a:off x="6748950" y="495791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47" name="Text 144"/>
          <p:cNvSpPr/>
          <p:nvPr/>
        </p:nvSpPr>
        <p:spPr>
          <a:xfrm>
            <a:off x="7468413" y="495791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8" name="Text 145"/>
          <p:cNvSpPr/>
          <p:nvPr/>
        </p:nvSpPr>
        <p:spPr>
          <a:xfrm>
            <a:off x="1176964" y="2348359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49" name="Text 146"/>
          <p:cNvSpPr/>
          <p:nvPr/>
        </p:nvSpPr>
        <p:spPr>
          <a:xfrm>
            <a:off x="1176964" y="272013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0" name="Text 147"/>
          <p:cNvSpPr/>
          <p:nvPr/>
        </p:nvSpPr>
        <p:spPr>
          <a:xfrm>
            <a:off x="1176964" y="30930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1" name="Text 148"/>
          <p:cNvSpPr/>
          <p:nvPr/>
        </p:nvSpPr>
        <p:spPr>
          <a:xfrm>
            <a:off x="1176964" y="346605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2" name="Text 149"/>
          <p:cNvSpPr/>
          <p:nvPr/>
        </p:nvSpPr>
        <p:spPr>
          <a:xfrm>
            <a:off x="3413192" y="495791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3" name="Text 150"/>
          <p:cNvSpPr/>
          <p:nvPr/>
        </p:nvSpPr>
        <p:spPr>
          <a:xfrm>
            <a:off x="4203547" y="487694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54" name="Text 151"/>
          <p:cNvSpPr/>
          <p:nvPr/>
        </p:nvSpPr>
        <p:spPr>
          <a:xfrm>
            <a:off x="6748950" y="2348359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55" name="Text 152"/>
          <p:cNvSpPr/>
          <p:nvPr/>
        </p:nvSpPr>
        <p:spPr>
          <a:xfrm>
            <a:off x="6748950" y="272013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6" name="Text 153"/>
          <p:cNvSpPr/>
          <p:nvPr/>
        </p:nvSpPr>
        <p:spPr>
          <a:xfrm>
            <a:off x="6748950" y="30930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7" name="Text 154"/>
          <p:cNvSpPr/>
          <p:nvPr/>
        </p:nvSpPr>
        <p:spPr>
          <a:xfrm>
            <a:off x="6748950" y="346605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8" name="Text 155"/>
          <p:cNvSpPr/>
          <p:nvPr/>
        </p:nvSpPr>
        <p:spPr>
          <a:xfrm>
            <a:off x="7468413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9" name="Text 156"/>
          <p:cNvSpPr/>
          <p:nvPr/>
        </p:nvSpPr>
        <p:spPr>
          <a:xfrm>
            <a:off x="8286742" y="495791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92" dirty="0"/>
          </a:p>
        </p:txBody>
      </p:sp>
      <p:sp>
        <p:nvSpPr>
          <p:cNvPr id="160" name="Text 157"/>
          <p:cNvSpPr/>
          <p:nvPr/>
        </p:nvSpPr>
        <p:spPr>
          <a:xfrm>
            <a:off x="8985178" y="495791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92" dirty="0"/>
          </a:p>
        </p:txBody>
      </p:sp>
      <p:sp>
        <p:nvSpPr>
          <p:cNvPr id="161" name="Text 158"/>
          <p:cNvSpPr/>
          <p:nvPr/>
        </p:nvSpPr>
        <p:spPr>
          <a:xfrm>
            <a:off x="9775533" y="487694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marL="0" indent="0" algn="r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9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809</Words>
  <Application>Microsoft Office PowerPoint</Application>
  <PresentationFormat>Widescreen</PresentationFormat>
  <Paragraphs>405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Raleway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Jean  Arcon Solano</cp:lastModifiedBy>
  <cp:revision>3</cp:revision>
  <dcterms:created xsi:type="dcterms:W3CDTF">2026-08-25T14:09:09Z</dcterms:created>
  <dcterms:modified xsi:type="dcterms:W3CDTF">2026-08-25T14:19:05Z</dcterms:modified>
</cp:coreProperties>
</file>