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522" r:id="rId2"/>
    <p:sldId id="526" r:id="rId3"/>
    <p:sldId id="256" r:id="rId4"/>
    <p:sldId id="257" r:id="rId5"/>
    <p:sldId id="258" r:id="rId6"/>
    <p:sldId id="527" r:id="rId7"/>
    <p:sldId id="528" r:id="rId8"/>
    <p:sldId id="529" r:id="rId9"/>
    <p:sldId id="530" r:id="rId10"/>
    <p:sldId id="518" r:id="rId11"/>
    <p:sldId id="531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847887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9">
          <a:extLst>
            <a:ext uri="{FF2B5EF4-FFF2-40B4-BE49-F238E27FC236}">
              <a16:creationId xmlns:a16="http://schemas.microsoft.com/office/drawing/2014/main" id="{B0010450-151F-D8A9-1BCE-FAE2EC568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g2f37eeadf47_0_0:notes">
            <a:extLst>
              <a:ext uri="{FF2B5EF4-FFF2-40B4-BE49-F238E27FC236}">
                <a16:creationId xmlns:a16="http://schemas.microsoft.com/office/drawing/2014/main" id="{117CEA47-DAB4-24AC-D00C-23BDDEA8893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1" name="Google Shape;651;g2f37eeadf47_0_0:notes">
            <a:extLst>
              <a:ext uri="{FF2B5EF4-FFF2-40B4-BE49-F238E27FC236}">
                <a16:creationId xmlns:a16="http://schemas.microsoft.com/office/drawing/2014/main" id="{D44AC288-38B3-7159-7E69-A9EA296AAD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194563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>
          <a:extLst>
            <a:ext uri="{FF2B5EF4-FFF2-40B4-BE49-F238E27FC236}">
              <a16:creationId xmlns:a16="http://schemas.microsoft.com/office/drawing/2014/main" id="{C45D1683-27BF-1E32-EEB1-6C7870048B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:notes">
            <a:extLst>
              <a:ext uri="{FF2B5EF4-FFF2-40B4-BE49-F238E27FC236}">
                <a16:creationId xmlns:a16="http://schemas.microsoft.com/office/drawing/2014/main" id="{38666AA6-1BDC-C64F-834C-7F0A09AF930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3:notes">
            <a:extLst>
              <a:ext uri="{FF2B5EF4-FFF2-40B4-BE49-F238E27FC236}">
                <a16:creationId xmlns:a16="http://schemas.microsoft.com/office/drawing/2014/main" id="{773CA000-94E8-345A-2360-6B6D3C6BC7C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050948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>
          <a:extLst>
            <a:ext uri="{FF2B5EF4-FFF2-40B4-BE49-F238E27FC236}">
              <a16:creationId xmlns:a16="http://schemas.microsoft.com/office/drawing/2014/main" id="{2102C0F8-9693-662A-2367-3AE7AD09CC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:notes">
            <a:extLst>
              <a:ext uri="{FF2B5EF4-FFF2-40B4-BE49-F238E27FC236}">
                <a16:creationId xmlns:a16="http://schemas.microsoft.com/office/drawing/2014/main" id="{E0F4A23D-49F2-E42B-6E9A-ED56BD1F6C5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3:notes">
            <a:extLst>
              <a:ext uri="{FF2B5EF4-FFF2-40B4-BE49-F238E27FC236}">
                <a16:creationId xmlns:a16="http://schemas.microsoft.com/office/drawing/2014/main" id="{26E14343-6852-DBA4-7CB6-38B8B5BA4F7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41702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9">
          <a:extLst>
            <a:ext uri="{FF2B5EF4-FFF2-40B4-BE49-F238E27FC236}">
              <a16:creationId xmlns:a16="http://schemas.microsoft.com/office/drawing/2014/main" id="{6EFAE527-A1C0-59B9-59E0-6FBF1C70B3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g2f37eeadf47_0_0:notes">
            <a:extLst>
              <a:ext uri="{FF2B5EF4-FFF2-40B4-BE49-F238E27FC236}">
                <a16:creationId xmlns:a16="http://schemas.microsoft.com/office/drawing/2014/main" id="{4396694B-ACD1-2021-F073-3C50573D317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1" name="Google Shape;651;g2f37eeadf47_0_0:notes">
            <a:extLst>
              <a:ext uri="{FF2B5EF4-FFF2-40B4-BE49-F238E27FC236}">
                <a16:creationId xmlns:a16="http://schemas.microsoft.com/office/drawing/2014/main" id="{45B4FD0F-6AA4-EF18-9A5E-F103CE68627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7351747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>
            <a:norm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" name="Google Shape;8;p1">
            <a:extLst>
              <a:ext uri="{FF2B5EF4-FFF2-40B4-BE49-F238E27FC236}">
                <a16:creationId xmlns:a16="http://schemas.microsoft.com/office/drawing/2014/main" id="{8D10F530-A3C0-9551-6A09-CF1E027883CD}"/>
              </a:ext>
            </a:extLst>
          </p:cNvPr>
          <p:cNvSpPr txBox="1">
            <a:spLocks noGrp="1" noChangeArrowheads="1"/>
          </p:cNvSpPr>
          <p:nvPr>
            <p:ph type="sldNum" idx="13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9D4300A-EF8C-4A2F-98C9-CE17D505CD2F}" type="slidenum">
              <a:rPr lang="es-419" altLang="es-CO"/>
              <a:pPr>
                <a:defRPr/>
              </a:pPr>
              <a:t>‹#›</a:t>
            </a:fld>
            <a:endParaRPr lang="es-CO" altLang="es-CO"/>
          </a:p>
        </p:txBody>
      </p:sp>
    </p:spTree>
    <p:extLst>
      <p:ext uri="{BB962C8B-B14F-4D97-AF65-F5344CB8AC3E}">
        <p14:creationId xmlns:p14="http://schemas.microsoft.com/office/powerpoint/2010/main" val="6192307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1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1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6113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2">
          <a:extLst>
            <a:ext uri="{FF2B5EF4-FFF2-40B4-BE49-F238E27FC236}">
              <a16:creationId xmlns:a16="http://schemas.microsoft.com/office/drawing/2014/main" id="{67186A01-35B6-A780-AA0A-3B1920A79C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3" name="Google Shape;653;p42">
            <a:extLst>
              <a:ext uri="{FF2B5EF4-FFF2-40B4-BE49-F238E27FC236}">
                <a16:creationId xmlns:a16="http://schemas.microsoft.com/office/drawing/2014/main" id="{FA6A819B-34B3-6869-09BE-8EE0E280508F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54" name="Google Shape;654;p42">
            <a:extLst>
              <a:ext uri="{FF2B5EF4-FFF2-40B4-BE49-F238E27FC236}">
                <a16:creationId xmlns:a16="http://schemas.microsoft.com/office/drawing/2014/main" id="{71C22FF6-083C-3838-E836-CA5E9B4EE6CF}"/>
              </a:ext>
            </a:extLst>
          </p:cNvPr>
          <p:cNvSpPr txBox="1"/>
          <p:nvPr/>
        </p:nvSpPr>
        <p:spPr>
          <a:xfrm>
            <a:off x="2025411" y="1089917"/>
            <a:ext cx="8141179" cy="4678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ctr"/>
            <a:r>
              <a:rPr lang="es-CO" sz="7200">
                <a:solidFill>
                  <a:schemeClr val="lt1"/>
                </a:solidFill>
                <a:latin typeface="Poppins Black"/>
                <a:ea typeface="Poppins Black"/>
                <a:cs typeface="Poppins Black"/>
              </a:rPr>
              <a:t>GRANDES SUPERFICIES</a:t>
            </a:r>
          </a:p>
          <a:p>
            <a:pPr algn="ctr"/>
            <a:r>
              <a:rPr lang="es-CO" sz="7200">
                <a:solidFill>
                  <a:schemeClr val="lt1"/>
                </a:solidFill>
                <a:latin typeface="Poppins Light" panose="00000400000000000000" pitchFamily="2" charset="0"/>
                <a:ea typeface="Poppins Black"/>
                <a:cs typeface="Poppins Light" panose="00000400000000000000" pitchFamily="2" charset="0"/>
              </a:rPr>
              <a:t>Análisis del 1er semestre</a:t>
            </a:r>
          </a:p>
        </p:txBody>
      </p:sp>
    </p:spTree>
    <p:extLst>
      <p:ext uri="{BB962C8B-B14F-4D97-AF65-F5344CB8AC3E}">
        <p14:creationId xmlns:p14="http://schemas.microsoft.com/office/powerpoint/2010/main" val="24748624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>
          <a:extLst>
            <a:ext uri="{FF2B5EF4-FFF2-40B4-BE49-F238E27FC236}">
              <a16:creationId xmlns:a16="http://schemas.microsoft.com/office/drawing/2014/main" id="{4B2B0AAD-E4A4-FB78-EC86-815822D520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119;p21">
            <a:extLst>
              <a:ext uri="{FF2B5EF4-FFF2-40B4-BE49-F238E27FC236}">
                <a16:creationId xmlns:a16="http://schemas.microsoft.com/office/drawing/2014/main" id="{BB536CB5-2664-CA9E-8EBB-CE89566B721D}"/>
              </a:ext>
            </a:extLst>
          </p:cNvPr>
          <p:cNvPicPr preferRelativeResize="0"/>
          <p:nvPr/>
        </p:nvPicPr>
        <p:blipFill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2917" b="96806" l="1953" r="96953">
                        <a14:foregroundMark x1="15781" y1="84722" x2="15781" y2="84722"/>
                        <a14:foregroundMark x1="22656" y1="96389" x2="22656" y2="96389"/>
                        <a14:foregroundMark x1="5156" y1="89583" x2="5156" y2="89583"/>
                        <a14:foregroundMark x1="2109" y1="96806" x2="2109" y2="96806"/>
                        <a14:foregroundMark x1="93750" y1="12083" x2="93750" y2="12083"/>
                        <a14:foregroundMark x1="96953" y1="2917" x2="96953" y2="2917"/>
                        <a14:backgroundMark x1="26094" y1="25278" x2="26094" y2="25278"/>
                        <a14:backgroundMark x1="28906" y1="25972" x2="28906" y2="25972"/>
                        <a14:backgroundMark x1="11563" y1="11528" x2="11563" y2="11528"/>
                        <a14:backgroundMark x1="7500" y1="6389" x2="28750" y2="25972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flipH="1">
            <a:off x="0" y="-13302"/>
            <a:ext cx="12192000" cy="6871303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113;p18" descr="xumainsurtech.com">
            <a:extLst>
              <a:ext uri="{FF2B5EF4-FFF2-40B4-BE49-F238E27FC236}">
                <a16:creationId xmlns:a16="http://schemas.microsoft.com/office/drawing/2014/main" id="{1554E7AC-E000-95F2-3885-B681F017EE58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462801" y="6377010"/>
            <a:ext cx="1274328" cy="36361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654;p42">
            <a:extLst>
              <a:ext uri="{FF2B5EF4-FFF2-40B4-BE49-F238E27FC236}">
                <a16:creationId xmlns:a16="http://schemas.microsoft.com/office/drawing/2014/main" id="{04944152-AFE9-27DC-BCB0-1AA2D965622A}"/>
              </a:ext>
            </a:extLst>
          </p:cNvPr>
          <p:cNvSpPr txBox="1"/>
          <p:nvPr/>
        </p:nvSpPr>
        <p:spPr>
          <a:xfrm>
            <a:off x="461627" y="2270103"/>
            <a:ext cx="11268747" cy="2051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ctr"/>
            <a:r>
              <a:rPr lang="es-CO" sz="11733" dirty="0">
                <a:solidFill>
                  <a:srgbClr val="120180"/>
                </a:solidFill>
                <a:latin typeface="Poppins Black"/>
                <a:ea typeface="Poppins Black"/>
                <a:cs typeface="Poppins Black"/>
              </a:rPr>
              <a:t>RETAIL</a:t>
            </a:r>
            <a:endParaRPr lang="es-CO" sz="11733" dirty="0">
              <a:solidFill>
                <a:srgbClr val="120180"/>
              </a:solidFill>
              <a:latin typeface="Poppins Light" panose="00000400000000000000" pitchFamily="2" charset="0"/>
              <a:ea typeface="Poppins Black"/>
              <a:cs typeface="Poppins Light" panose="000004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7928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Image 0" descr="C:\01_Repositorios\13_Presentaciones\dash\retail\ppt_slides\sk_00_main.png">
            <a:extLst>
              <a:ext uri="{FF2B5EF4-FFF2-40B4-BE49-F238E27FC236}">
                <a16:creationId xmlns:a16="http://schemas.microsoft.com/office/drawing/2014/main" id="{FAD9AE33-8D2F-2E83-7DFF-B5D64A2EB7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76279" y="5931991"/>
            <a:ext cx="10596854" cy="295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64" b="1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Logro Semestral: La reestructuración estratégica de zonas y canales de Retail (empalme con Tradicional) concentró la operación en puntos de mayor valor. Como resultado, a pesar del menor número de visitas, las ventas efectivas por PDV subieron +137% (de 17,5 a 41,5 pólizas/PDV entre ene y jun), demostrando una alta eficiencia comercial y un canal más enfocado y productivo.</a:t>
            </a:r>
            <a:endParaRPr lang="en-US" sz="864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723882" y="5132039"/>
            <a:ext cx="5227338" cy="1141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96" dirty="0">
                <a:solidFill>
                  <a:srgbClr val="9098B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* Planta = gestores comerciales con actividad transaccional registrados en el "Como vamos" (cierres mensuales).</a:t>
            </a:r>
            <a:endParaRPr lang="en-US" sz="69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6314916" y="5132040"/>
            <a:ext cx="3469163" cy="1141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96" dirty="0">
                <a:solidFill>
                  <a:srgbClr val="9098B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La concentración de visitas potencia la efectividad del canal.</a:t>
            </a:r>
            <a:endParaRPr lang="en-US" sz="69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781030" y="1421160"/>
            <a:ext cx="2438420" cy="1219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96" dirty="0">
                <a:solidFill>
                  <a:srgbClr val="9098B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Total de formación acumulada (Ene - Jun 2026)</a:t>
            </a:r>
            <a:endParaRPr lang="en-US" sz="69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571486" y="209550"/>
            <a:ext cx="3817317" cy="196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60" b="1" dirty="0">
                <a:solidFill>
                  <a:srgbClr val="FFFFFF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EJECUCIÓN DE VISITAS DE FORMACIÓN · 1S 2026</a:t>
            </a:r>
            <a:endParaRPr lang="en-US" sz="126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6362541" y="1421160"/>
            <a:ext cx="1590621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96" dirty="0">
                <a:solidFill>
                  <a:srgbClr val="9098B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De 17.7 a 42.0 pólizas por PDV activo</a:t>
            </a:r>
            <a:endParaRPr lang="en-US" sz="69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876277" y="2049810"/>
            <a:ext cx="2867047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36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Planta activa vs. formaciones por mes</a:t>
            </a:r>
            <a:endParaRPr lang="en-US" sz="93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6467313" y="2049810"/>
            <a:ext cx="1750583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36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Evolución de visitas por mes</a:t>
            </a:r>
            <a:endParaRPr lang="en-US" sz="93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6362541" y="1009650"/>
            <a:ext cx="161507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80" b="1" dirty="0">
                <a:solidFill>
                  <a:srgbClr val="9098B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Eficiencia por PDV Activo</a:t>
            </a:r>
            <a:endParaRPr lang="en-US" sz="78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781030" y="1009650"/>
            <a:ext cx="13372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80" b="1" dirty="0">
                <a:solidFill>
                  <a:srgbClr val="9098B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Visitas Realizadas 1S</a:t>
            </a:r>
            <a:endParaRPr lang="en-US" sz="78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1363517" y="2302245"/>
            <a:ext cx="1262489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Planta Gestores</a:t>
            </a:r>
            <a:endParaRPr lang="en-US" sz="888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3606634" y="2302245"/>
            <a:ext cx="1123303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PDV Visitados</a:t>
            </a:r>
            <a:endParaRPr lang="en-US" sz="888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4695532" y="2302245"/>
            <a:ext cx="1181246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% Capacitados</a:t>
            </a:r>
            <a:endParaRPr lang="en-US" sz="888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2595606" y="2302245"/>
            <a:ext cx="1043746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Capacitados</a:t>
            </a:r>
            <a:endParaRPr lang="en-US" sz="888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723882" y="4011983"/>
            <a:ext cx="696699" cy="214313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864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Total 1S</a:t>
            </a:r>
            <a:endParaRPr lang="en-US" sz="864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6362541" y="1143000"/>
            <a:ext cx="752948" cy="264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40" b="1" dirty="0">
                <a:solidFill>
                  <a:srgbClr val="00CD9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+137 %</a:t>
            </a:r>
            <a:endParaRPr lang="en-US" sz="174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723882" y="2302245"/>
            <a:ext cx="696699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marL="0" indent="0" algn="l">
              <a:buNone/>
            </a:pPr>
            <a:r>
              <a:rPr lang="en-US" sz="888" b="1" dirty="0">
                <a:solidFill>
                  <a:srgbClr val="FFFFFF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Mes</a:t>
            </a:r>
            <a:endParaRPr lang="en-US" sz="888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723882" y="2530845"/>
            <a:ext cx="696699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864" b="1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Ene</a:t>
            </a:r>
            <a:endParaRPr lang="en-US" sz="864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1363517" y="2530845"/>
            <a:ext cx="1262489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64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147</a:t>
            </a:r>
            <a:endParaRPr lang="en-US" sz="864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4643776" y="2513593"/>
            <a:ext cx="1181246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b="1" dirty="0">
                <a:solidFill>
                  <a:srgbClr val="00806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48%</a:t>
            </a:r>
            <a:endParaRPr lang="en-US" sz="81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723882" y="2773733"/>
            <a:ext cx="696699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864" b="1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Feb</a:t>
            </a:r>
            <a:endParaRPr lang="en-US" sz="864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1363517" y="2773733"/>
            <a:ext cx="1262489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64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146</a:t>
            </a:r>
            <a:endParaRPr lang="en-US" sz="864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4643776" y="2756481"/>
            <a:ext cx="1181246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b="1" dirty="0">
                <a:solidFill>
                  <a:srgbClr val="8A620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45%</a:t>
            </a:r>
            <a:endParaRPr lang="en-US" sz="81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6" name="Text 23"/>
          <p:cNvSpPr/>
          <p:nvPr/>
        </p:nvSpPr>
        <p:spPr>
          <a:xfrm>
            <a:off x="723882" y="3021383"/>
            <a:ext cx="696699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864" b="1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Mar</a:t>
            </a:r>
            <a:endParaRPr lang="en-US" sz="864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7" name="Text 24"/>
          <p:cNvSpPr/>
          <p:nvPr/>
        </p:nvSpPr>
        <p:spPr>
          <a:xfrm>
            <a:off x="1363517" y="3021383"/>
            <a:ext cx="1262489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64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135</a:t>
            </a:r>
            <a:endParaRPr lang="en-US" sz="864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8" name="Text 25"/>
          <p:cNvSpPr/>
          <p:nvPr/>
        </p:nvSpPr>
        <p:spPr>
          <a:xfrm>
            <a:off x="4643776" y="3004131"/>
            <a:ext cx="1181246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b="1" dirty="0">
                <a:solidFill>
                  <a:srgbClr val="00806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53%</a:t>
            </a:r>
            <a:endParaRPr lang="en-US" sz="81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9" name="Text 26"/>
          <p:cNvSpPr/>
          <p:nvPr/>
        </p:nvSpPr>
        <p:spPr>
          <a:xfrm>
            <a:off x="723882" y="3269033"/>
            <a:ext cx="696699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864" b="1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Abr</a:t>
            </a:r>
            <a:endParaRPr lang="en-US" sz="864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0" name="Text 27"/>
          <p:cNvSpPr/>
          <p:nvPr/>
        </p:nvSpPr>
        <p:spPr>
          <a:xfrm>
            <a:off x="1363517" y="3269033"/>
            <a:ext cx="1262489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64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118</a:t>
            </a:r>
            <a:endParaRPr lang="en-US" sz="864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1" name="Text 28"/>
          <p:cNvSpPr/>
          <p:nvPr/>
        </p:nvSpPr>
        <p:spPr>
          <a:xfrm>
            <a:off x="4643776" y="3251781"/>
            <a:ext cx="1181246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b="1" dirty="0">
                <a:solidFill>
                  <a:srgbClr val="00806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52%</a:t>
            </a:r>
            <a:endParaRPr lang="en-US" sz="81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2" name="Text 29"/>
          <p:cNvSpPr/>
          <p:nvPr/>
        </p:nvSpPr>
        <p:spPr>
          <a:xfrm>
            <a:off x="723882" y="3516683"/>
            <a:ext cx="696699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864" b="1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May</a:t>
            </a:r>
            <a:endParaRPr lang="en-US" sz="864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3" name="Text 30"/>
          <p:cNvSpPr/>
          <p:nvPr/>
        </p:nvSpPr>
        <p:spPr>
          <a:xfrm>
            <a:off x="4643776" y="3499431"/>
            <a:ext cx="1181246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b="1" dirty="0">
                <a:solidFill>
                  <a:srgbClr val="8A620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35%</a:t>
            </a:r>
            <a:endParaRPr lang="en-US" sz="81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4" name="Text 31"/>
          <p:cNvSpPr/>
          <p:nvPr/>
        </p:nvSpPr>
        <p:spPr>
          <a:xfrm>
            <a:off x="723882" y="3764333"/>
            <a:ext cx="696699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864" b="1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Jun</a:t>
            </a:r>
            <a:endParaRPr lang="en-US" sz="864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5" name="Text 32"/>
          <p:cNvSpPr/>
          <p:nvPr/>
        </p:nvSpPr>
        <p:spPr>
          <a:xfrm>
            <a:off x="4643776" y="3747081"/>
            <a:ext cx="1181246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b="1" dirty="0">
                <a:solidFill>
                  <a:srgbClr val="C44A1A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26%</a:t>
            </a:r>
            <a:endParaRPr lang="en-US" sz="81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6" name="Text 33"/>
          <p:cNvSpPr/>
          <p:nvPr/>
        </p:nvSpPr>
        <p:spPr>
          <a:xfrm>
            <a:off x="2595606" y="4011983"/>
            <a:ext cx="1043746" cy="214313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64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326</a:t>
            </a:r>
            <a:endParaRPr lang="en-US" sz="864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7" name="Text 34"/>
          <p:cNvSpPr/>
          <p:nvPr/>
        </p:nvSpPr>
        <p:spPr>
          <a:xfrm>
            <a:off x="3606634" y="4011983"/>
            <a:ext cx="1123303" cy="214313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64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222</a:t>
            </a:r>
            <a:endParaRPr lang="en-US" sz="864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8" name="Text 35"/>
          <p:cNvSpPr/>
          <p:nvPr/>
        </p:nvSpPr>
        <p:spPr>
          <a:xfrm>
            <a:off x="781030" y="1143000"/>
            <a:ext cx="419772" cy="264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40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373</a:t>
            </a:r>
            <a:endParaRPr lang="en-US" sz="174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9" name="Text 36"/>
          <p:cNvSpPr/>
          <p:nvPr/>
        </p:nvSpPr>
        <p:spPr>
          <a:xfrm>
            <a:off x="6440849" y="2354610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80" b="1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Ene</a:t>
            </a:r>
            <a:endParaRPr lang="en-US" sz="78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0" name="Text 37"/>
          <p:cNvSpPr/>
          <p:nvPr/>
        </p:nvSpPr>
        <p:spPr>
          <a:xfrm>
            <a:off x="6443373" y="2583210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80" b="1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Feb</a:t>
            </a:r>
            <a:endParaRPr lang="en-US" sz="78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1" name="Text 38"/>
          <p:cNvSpPr/>
          <p:nvPr/>
        </p:nvSpPr>
        <p:spPr>
          <a:xfrm>
            <a:off x="6438798" y="2811810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80" b="1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Mar</a:t>
            </a:r>
            <a:endParaRPr lang="en-US" sz="78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2" name="Text 39"/>
          <p:cNvSpPr/>
          <p:nvPr/>
        </p:nvSpPr>
        <p:spPr>
          <a:xfrm>
            <a:off x="6452207" y="3040410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80" b="1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Abr</a:t>
            </a:r>
            <a:endParaRPr lang="en-US" sz="78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3" name="Text 40"/>
          <p:cNvSpPr/>
          <p:nvPr/>
        </p:nvSpPr>
        <p:spPr>
          <a:xfrm>
            <a:off x="6423811" y="3269010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80" b="1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May</a:t>
            </a:r>
            <a:endParaRPr lang="en-US" sz="78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4" name="Text 41"/>
          <p:cNvSpPr/>
          <p:nvPr/>
        </p:nvSpPr>
        <p:spPr>
          <a:xfrm>
            <a:off x="6450787" y="3497610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80" b="1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Jun</a:t>
            </a:r>
            <a:endParaRPr lang="en-US" sz="78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5" name="Text 42"/>
          <p:cNvSpPr/>
          <p:nvPr/>
        </p:nvSpPr>
        <p:spPr>
          <a:xfrm>
            <a:off x="2595606" y="2530845"/>
            <a:ext cx="1043746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64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71</a:t>
            </a:r>
            <a:endParaRPr lang="en-US" sz="864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6" name="Text 43"/>
          <p:cNvSpPr/>
          <p:nvPr/>
        </p:nvSpPr>
        <p:spPr>
          <a:xfrm>
            <a:off x="3606634" y="2530845"/>
            <a:ext cx="1123303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64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56</a:t>
            </a:r>
            <a:endParaRPr lang="en-US" sz="864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7" name="Text 44"/>
          <p:cNvSpPr/>
          <p:nvPr/>
        </p:nvSpPr>
        <p:spPr>
          <a:xfrm>
            <a:off x="2595606" y="2773733"/>
            <a:ext cx="1043746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64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65</a:t>
            </a:r>
            <a:endParaRPr lang="en-US" sz="864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8" name="Text 45"/>
          <p:cNvSpPr/>
          <p:nvPr/>
        </p:nvSpPr>
        <p:spPr>
          <a:xfrm>
            <a:off x="3606634" y="2773733"/>
            <a:ext cx="1123303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64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52</a:t>
            </a:r>
            <a:endParaRPr lang="en-US" sz="864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9" name="Text 46"/>
          <p:cNvSpPr/>
          <p:nvPr/>
        </p:nvSpPr>
        <p:spPr>
          <a:xfrm>
            <a:off x="2595606" y="3021383"/>
            <a:ext cx="1043746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64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71</a:t>
            </a:r>
            <a:endParaRPr lang="en-US" sz="864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0" name="Text 47"/>
          <p:cNvSpPr/>
          <p:nvPr/>
        </p:nvSpPr>
        <p:spPr>
          <a:xfrm>
            <a:off x="3606634" y="3021383"/>
            <a:ext cx="1123303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64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45</a:t>
            </a:r>
            <a:endParaRPr lang="en-US" sz="864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1" name="Text 48"/>
          <p:cNvSpPr/>
          <p:nvPr/>
        </p:nvSpPr>
        <p:spPr>
          <a:xfrm>
            <a:off x="2595606" y="3269033"/>
            <a:ext cx="1043746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64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61</a:t>
            </a:r>
            <a:endParaRPr lang="en-US" sz="864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2" name="Text 49"/>
          <p:cNvSpPr/>
          <p:nvPr/>
        </p:nvSpPr>
        <p:spPr>
          <a:xfrm>
            <a:off x="3606634" y="3269033"/>
            <a:ext cx="1123303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64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36</a:t>
            </a:r>
            <a:endParaRPr lang="en-US" sz="864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3" name="Text 50"/>
          <p:cNvSpPr/>
          <p:nvPr/>
        </p:nvSpPr>
        <p:spPr>
          <a:xfrm>
            <a:off x="1363517" y="3516683"/>
            <a:ext cx="1262489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64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93</a:t>
            </a:r>
            <a:endParaRPr lang="en-US" sz="864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4" name="Text 51"/>
          <p:cNvSpPr/>
          <p:nvPr/>
        </p:nvSpPr>
        <p:spPr>
          <a:xfrm>
            <a:off x="2595606" y="3516683"/>
            <a:ext cx="1043746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64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33</a:t>
            </a:r>
            <a:endParaRPr lang="en-US" sz="864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5" name="Text 52"/>
          <p:cNvSpPr/>
          <p:nvPr/>
        </p:nvSpPr>
        <p:spPr>
          <a:xfrm>
            <a:off x="3606634" y="3516683"/>
            <a:ext cx="1123303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64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19</a:t>
            </a:r>
            <a:endParaRPr lang="en-US" sz="864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6" name="Text 53"/>
          <p:cNvSpPr/>
          <p:nvPr/>
        </p:nvSpPr>
        <p:spPr>
          <a:xfrm>
            <a:off x="1363517" y="3764333"/>
            <a:ext cx="1262489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64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96</a:t>
            </a:r>
            <a:endParaRPr lang="en-US" sz="864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7" name="Text 54"/>
          <p:cNvSpPr/>
          <p:nvPr/>
        </p:nvSpPr>
        <p:spPr>
          <a:xfrm>
            <a:off x="2595606" y="3764333"/>
            <a:ext cx="1043746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64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25</a:t>
            </a:r>
            <a:endParaRPr lang="en-US" sz="864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8" name="Text 55"/>
          <p:cNvSpPr/>
          <p:nvPr/>
        </p:nvSpPr>
        <p:spPr>
          <a:xfrm>
            <a:off x="3606634" y="3764333"/>
            <a:ext cx="1123303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64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14</a:t>
            </a:r>
            <a:endParaRPr lang="en-US" sz="864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9" name="Text 56"/>
          <p:cNvSpPr/>
          <p:nvPr/>
        </p:nvSpPr>
        <p:spPr>
          <a:xfrm>
            <a:off x="10934552" y="2354610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80" b="1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81</a:t>
            </a:r>
            <a:endParaRPr lang="en-US" sz="78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0" name="Text 57"/>
          <p:cNvSpPr/>
          <p:nvPr/>
        </p:nvSpPr>
        <p:spPr>
          <a:xfrm>
            <a:off x="10935025" y="2583210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80" b="1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74</a:t>
            </a:r>
            <a:endParaRPr lang="en-US" sz="78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1" name="Text 58"/>
          <p:cNvSpPr/>
          <p:nvPr/>
        </p:nvSpPr>
        <p:spPr>
          <a:xfrm>
            <a:off x="10935025" y="2811810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80" b="1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75</a:t>
            </a:r>
            <a:endParaRPr lang="en-US" sz="78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2" name="Text 59"/>
          <p:cNvSpPr/>
          <p:nvPr/>
        </p:nvSpPr>
        <p:spPr>
          <a:xfrm>
            <a:off x="10928241" y="3040410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80" b="1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76</a:t>
            </a:r>
            <a:endParaRPr lang="en-US" sz="78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3" name="Text 60"/>
          <p:cNvSpPr/>
          <p:nvPr/>
        </p:nvSpPr>
        <p:spPr>
          <a:xfrm>
            <a:off x="10932343" y="3269010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80" b="1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37</a:t>
            </a:r>
            <a:endParaRPr lang="en-US" sz="78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4" name="Text 61"/>
          <p:cNvSpPr/>
          <p:nvPr/>
        </p:nvSpPr>
        <p:spPr>
          <a:xfrm>
            <a:off x="10928399" y="3497610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80" b="1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30</a:t>
            </a:r>
            <a:endParaRPr lang="en-US" sz="78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70" name="Picture 69">
            <a:extLst>
              <a:ext uri="{FF2B5EF4-FFF2-40B4-BE49-F238E27FC236}">
                <a16:creationId xmlns:a16="http://schemas.microsoft.com/office/drawing/2014/main" id="{08C4B603-8E14-A12E-A367-2AAD9A8D69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34650" y="78120"/>
            <a:ext cx="1530523" cy="459157"/>
          </a:xfrm>
          <a:prstGeom prst="rect">
            <a:avLst/>
          </a:prstGeom>
        </p:spPr>
      </p:pic>
      <p:sp>
        <p:nvSpPr>
          <p:cNvPr id="74" name="Text 33">
            <a:extLst>
              <a:ext uri="{FF2B5EF4-FFF2-40B4-BE49-F238E27FC236}">
                <a16:creationId xmlns:a16="http://schemas.microsoft.com/office/drawing/2014/main" id="{9E0DCF01-351D-2B62-CDFE-AC71C3A09BCC}"/>
              </a:ext>
            </a:extLst>
          </p:cNvPr>
          <p:cNvSpPr/>
          <p:nvPr/>
        </p:nvSpPr>
        <p:spPr>
          <a:xfrm>
            <a:off x="1605679" y="3994731"/>
            <a:ext cx="1043746" cy="214313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64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123</a:t>
            </a:r>
            <a:endParaRPr lang="en-US" sz="864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76" name="Text 33">
            <a:extLst>
              <a:ext uri="{FF2B5EF4-FFF2-40B4-BE49-F238E27FC236}">
                <a16:creationId xmlns:a16="http://schemas.microsoft.com/office/drawing/2014/main" id="{55766A55-57EC-5A6E-22D4-3370396F8398}"/>
              </a:ext>
            </a:extLst>
          </p:cNvPr>
          <p:cNvSpPr/>
          <p:nvPr/>
        </p:nvSpPr>
        <p:spPr>
          <a:xfrm>
            <a:off x="4757409" y="4025478"/>
            <a:ext cx="1043746" cy="214313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64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44%</a:t>
            </a:r>
            <a:endParaRPr lang="en-US" sz="864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Image 0" descr="C:\01_Repositorios\13_Presentaciones\dash\retail\ppt_slides\sk_01_main.png">
            <a:extLst>
              <a:ext uri="{FF2B5EF4-FFF2-40B4-BE49-F238E27FC236}">
                <a16:creationId xmlns:a16="http://schemas.microsoft.com/office/drawing/2014/main" id="{03EDE852-A070-DCE5-7AE4-339948B854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95868" y="3766542"/>
            <a:ext cx="5191300" cy="4316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20" dirty="0">
                <a:solidFill>
                  <a:srgbClr val="9098B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* Universo = PDV físicos distintos observados en los 26 cortes semanales "Como vamos" del semestre. Coberturas &gt;100 % indican PDV que Formación visitó con nombre distinto al registrado en Como </a:t>
            </a:r>
            <a:r>
              <a:rPr lang="en-US" sz="800" dirty="0">
                <a:solidFill>
                  <a:srgbClr val="9098B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vamos</a:t>
            </a:r>
            <a:r>
              <a:rPr lang="en-US" sz="720" dirty="0">
                <a:solidFill>
                  <a:srgbClr val="9098B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 ese corte, o puntos sin gestión comercial activa ese mes. </a:t>
            </a:r>
            <a:r>
              <a:rPr lang="en-US" sz="720" b="1" dirty="0">
                <a:solidFill>
                  <a:srgbClr val="9098B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Gestores del canal:</a:t>
            </a:r>
            <a:r>
              <a:rPr lang="en-US" sz="720" dirty="0">
                <a:solidFill>
                  <a:srgbClr val="9098B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 147 (ene) → 96 (jun), promedio 123; los cortes "Como vamos" no desagregan gestores por aliado.</a:t>
            </a:r>
            <a:endParaRPr lang="en-US" sz="72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5470636" y="4744641"/>
            <a:ext cx="6104144" cy="244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Sobre "Serdán" (90 visitas):</a:t>
            </a:r>
            <a:r>
              <a:rPr lang="en-US" sz="720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 empresa que provee promotores a ambos canales, no un aliado. De las 90: 33 puras Retail+Tradicional, 33 sedes/roles internos (no PDV) y 14 con cédula activa en ambos canales </a:t>
            </a:r>
            <a:r>
              <a:rPr lang="en-US" sz="720" b="1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(contadas en los dos)</a:t>
            </a:r>
            <a:r>
              <a:rPr lang="en-US" sz="720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. Total atribuido: </a:t>
            </a:r>
            <a:r>
              <a:rPr lang="en-US" sz="720" b="1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24 a Retail</a:t>
            </a:r>
            <a:r>
              <a:rPr lang="en-US" sz="720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 y </a:t>
            </a:r>
            <a:r>
              <a:rPr lang="en-US" sz="720" b="1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47 a Tradicional</a:t>
            </a:r>
            <a:r>
              <a:rPr lang="en-US" sz="720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.</a:t>
            </a:r>
            <a:endParaRPr lang="en-US" sz="72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704832" y="1805880"/>
            <a:ext cx="5391168" cy="1131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9098B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PDV visitados por Formación vs. PDV con gestión comercial activa en Cuota Protegida cada mes (cortes "Como vamos").</a:t>
            </a:r>
            <a:endParaRPr lang="en-US" sz="6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5470636" y="5765602"/>
            <a:ext cx="5563124" cy="743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96" dirty="0">
                <a:solidFill>
                  <a:srgbClr val="9098B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Solo el 41 % fue a un PDV físico; el resto es actividad real de formación que no suma a cobertura de PDV.</a:t>
            </a:r>
            <a:endParaRPr lang="en-US" sz="69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704832" y="4623791"/>
            <a:ext cx="4248168" cy="1607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72" dirty="0">
                <a:solidFill>
                  <a:srgbClr val="9098B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Zonas y municipios con al menos una visita de formación registrada en el semestre.</a:t>
            </a:r>
            <a:endParaRPr lang="en-US" sz="67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571486" y="209550"/>
            <a:ext cx="5776138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60" b="1" dirty="0">
                <a:solidFill>
                  <a:srgbClr val="FFFFFF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COBERTURA DE PUNTOS DE VENTA Y MUNICIPIOS VISITADOS</a:t>
            </a:r>
            <a:endParaRPr lang="en-US" sz="126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6448264" y="1567755"/>
            <a:ext cx="3171788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Universo de PDV y cobertura real por aliado (1S)</a:t>
            </a:r>
            <a:endParaRPr lang="en-US" sz="102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857229" y="1596330"/>
            <a:ext cx="2921274" cy="1131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16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Cobertura de formación en Puntos de Venta (PDV)</a:t>
            </a:r>
            <a:endParaRPr lang="en-US" sz="81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5594458" y="4433292"/>
            <a:ext cx="24295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TIPO DE PUNTO VISITADO EN LAS 90 "SERDÁN"</a:t>
            </a:r>
            <a:endParaRPr lang="en-US" sz="72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6295868" y="2029741"/>
            <a:ext cx="1675757" cy="347663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888" b="1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Colombiana de Comercio</a:t>
            </a:r>
            <a:r>
              <a:rPr lang="en-US" sz="888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 (Alkosto/Ktronix)</a:t>
            </a:r>
            <a:endParaRPr lang="en-US" sz="888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6295868" y="3051290"/>
            <a:ext cx="1675757" cy="36596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888" b="1" dirty="0" err="1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Olímpica</a:t>
            </a:r>
            <a:endParaRPr lang="en-US" sz="888" b="1" dirty="0">
              <a:solidFill>
                <a:srgbClr val="333333"/>
              </a:solidFill>
              <a:latin typeface="Poppins" panose="00000500000000000000" pitchFamily="2" charset="0"/>
              <a:ea typeface="Raleway" pitchFamily="34" charset="-122"/>
              <a:cs typeface="Poppins" panose="00000500000000000000" pitchFamily="2" charset="0"/>
            </a:endParaRPr>
          </a:p>
          <a:p>
            <a:pPr marL="0" indent="0" algn="l">
              <a:buNone/>
            </a:pPr>
            <a:r>
              <a:rPr lang="en-US" sz="888" b="1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       </a:t>
            </a:r>
            <a:r>
              <a:rPr lang="en-US" sz="696" b="1" dirty="0">
                <a:solidFill>
                  <a:srgbClr val="C44A1A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solo ene · aliado retirado</a:t>
            </a:r>
            <a:endParaRPr lang="en-US" sz="888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9067573" y="1272480"/>
            <a:ext cx="1519395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9098B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Con al menos una visita registrada</a:t>
            </a:r>
            <a:endParaRPr lang="en-US" sz="6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6347624" y="2351946"/>
            <a:ext cx="1675757" cy="36596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888" b="1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Almacenes </a:t>
            </a:r>
            <a:r>
              <a:rPr lang="en-US" sz="888" b="1" dirty="0" err="1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Éxito</a:t>
            </a:r>
            <a:r>
              <a:rPr lang="en-US" sz="888" b="1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 </a:t>
            </a:r>
          </a:p>
          <a:p>
            <a:pPr marL="0" indent="0" algn="l">
              <a:buNone/>
            </a:pPr>
            <a:r>
              <a:rPr lang="en-US" sz="696" b="1" dirty="0">
                <a:solidFill>
                  <a:srgbClr val="C44A1A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      </a:t>
            </a:r>
            <a:r>
              <a:rPr lang="en-US" sz="696" b="1" dirty="0" err="1">
                <a:solidFill>
                  <a:srgbClr val="C44A1A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aliado</a:t>
            </a:r>
            <a:r>
              <a:rPr lang="en-US" sz="696" b="1" dirty="0">
                <a:solidFill>
                  <a:srgbClr val="C44A1A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 retirado</a:t>
            </a:r>
            <a:endParaRPr lang="en-US" sz="888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3505112" y="1272480"/>
            <a:ext cx="11422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9098B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14 de 52 PDV activos visitados</a:t>
            </a:r>
            <a:endParaRPr lang="en-US" sz="6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6286343" y="1272480"/>
            <a:ext cx="1519395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9098B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Capacitando asesores de venta</a:t>
            </a:r>
            <a:endParaRPr lang="en-US" sz="6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6295868" y="2743372"/>
            <a:ext cx="1675757" cy="352425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888" b="1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Cencosud</a:t>
            </a:r>
            <a:r>
              <a:rPr lang="en-US" sz="888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 (Jumbo/Metro/Easy)</a:t>
            </a:r>
            <a:endParaRPr lang="en-US" sz="888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857229" y="4433292"/>
            <a:ext cx="1369134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40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Municipios Visitados (1S)</a:t>
            </a:r>
            <a:endParaRPr lang="en-US" sz="84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723882" y="962025"/>
            <a:ext cx="1509851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96" b="1" dirty="0">
                <a:solidFill>
                  <a:srgbClr val="9098B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PDV con gestión promedio</a:t>
            </a:r>
            <a:endParaRPr lang="en-US" sz="69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723882" y="1272480"/>
            <a:ext cx="9077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9098B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Total PDV activos en CP</a:t>
            </a:r>
            <a:endParaRPr lang="en-US" sz="6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6286343" y="962025"/>
            <a:ext cx="1344525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96" b="1" dirty="0">
                <a:solidFill>
                  <a:srgbClr val="9098B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Visitas de formación 1S</a:t>
            </a:r>
            <a:endParaRPr lang="en-US" sz="69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9067573" y="962025"/>
            <a:ext cx="1097955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96" b="1" dirty="0">
                <a:solidFill>
                  <a:srgbClr val="9098B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Zonas / municipios</a:t>
            </a:r>
            <a:endParaRPr lang="en-US" sz="69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704832" y="5146499"/>
            <a:ext cx="1645712" cy="180975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672" b="1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Bogotá Occidente</a:t>
            </a:r>
            <a:endParaRPr lang="en-US" sz="67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2544372" y="1976163"/>
            <a:ext cx="1234131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PDV con Gestión</a:t>
            </a:r>
            <a:endParaRPr lang="en-US" sz="888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6" name="Text 23"/>
          <p:cNvSpPr/>
          <p:nvPr/>
        </p:nvSpPr>
        <p:spPr>
          <a:xfrm>
            <a:off x="3505112" y="962025"/>
            <a:ext cx="972541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96" b="1" dirty="0">
                <a:solidFill>
                  <a:srgbClr val="9098B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Cobertura Junio</a:t>
            </a:r>
            <a:endParaRPr lang="en-US" sz="69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7" name="Text 24"/>
          <p:cNvSpPr/>
          <p:nvPr/>
        </p:nvSpPr>
        <p:spPr>
          <a:xfrm>
            <a:off x="3745683" y="1976163"/>
            <a:ext cx="1126828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PDV Visitados</a:t>
            </a:r>
            <a:endParaRPr lang="en-US" sz="888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8" name="Text 25"/>
          <p:cNvSpPr/>
          <p:nvPr/>
        </p:nvSpPr>
        <p:spPr>
          <a:xfrm>
            <a:off x="7890764" y="1801141"/>
            <a:ext cx="1100463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Universo PDV*</a:t>
            </a:r>
            <a:endParaRPr lang="en-US" sz="888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9" name="Text 26"/>
          <p:cNvSpPr/>
          <p:nvPr/>
        </p:nvSpPr>
        <p:spPr>
          <a:xfrm>
            <a:off x="8960429" y="1801141"/>
            <a:ext cx="1057388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PDV visitados</a:t>
            </a:r>
            <a:endParaRPr lang="en-US" sz="888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0" name="Text 27"/>
          <p:cNvSpPr/>
          <p:nvPr/>
        </p:nvSpPr>
        <p:spPr>
          <a:xfrm>
            <a:off x="704832" y="4789312"/>
            <a:ext cx="1645712" cy="176212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672" b="1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Bogotá Centro</a:t>
            </a:r>
            <a:endParaRPr lang="en-US" sz="67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1" name="Text 28"/>
          <p:cNvSpPr/>
          <p:nvPr/>
        </p:nvSpPr>
        <p:spPr>
          <a:xfrm>
            <a:off x="2968600" y="4789312"/>
            <a:ext cx="1645865" cy="176212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672" b="1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Bogotá Norte</a:t>
            </a:r>
            <a:endParaRPr lang="en-US" sz="67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2" name="Text 29"/>
          <p:cNvSpPr/>
          <p:nvPr/>
        </p:nvSpPr>
        <p:spPr>
          <a:xfrm>
            <a:off x="4841240" y="1976163"/>
            <a:ext cx="1073637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Cobertura %</a:t>
            </a:r>
            <a:endParaRPr lang="en-US" sz="888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3" name="Text 30"/>
          <p:cNvSpPr/>
          <p:nvPr/>
        </p:nvSpPr>
        <p:spPr>
          <a:xfrm>
            <a:off x="6295868" y="3461765"/>
            <a:ext cx="1675757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888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Total canal</a:t>
            </a:r>
            <a:endParaRPr lang="en-US" sz="888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4" name="Text 31"/>
          <p:cNvSpPr/>
          <p:nvPr/>
        </p:nvSpPr>
        <p:spPr>
          <a:xfrm>
            <a:off x="704832" y="5508449"/>
            <a:ext cx="1645712" cy="180975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672" b="1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Bucaramanga</a:t>
            </a:r>
            <a:endParaRPr lang="en-US" sz="67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5" name="Text 32"/>
          <p:cNvSpPr/>
          <p:nvPr/>
        </p:nvSpPr>
        <p:spPr>
          <a:xfrm>
            <a:off x="6969851" y="5416153"/>
            <a:ext cx="5748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96" dirty="0">
                <a:solidFill>
                  <a:srgbClr val="9098B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Sede Serdán</a:t>
            </a:r>
            <a:endParaRPr lang="en-US" sz="69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6" name="Text 33"/>
          <p:cNvSpPr/>
          <p:nvPr/>
        </p:nvSpPr>
        <p:spPr>
          <a:xfrm>
            <a:off x="10645646" y="5416153"/>
            <a:ext cx="52294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96" dirty="0">
                <a:solidFill>
                  <a:srgbClr val="9098B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Supervisión</a:t>
            </a:r>
            <a:endParaRPr lang="en-US" sz="69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7" name="Text 34"/>
          <p:cNvSpPr/>
          <p:nvPr/>
        </p:nvSpPr>
        <p:spPr>
          <a:xfrm>
            <a:off x="704832" y="4965524"/>
            <a:ext cx="1645712" cy="180975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672" b="1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Bogotá Sur</a:t>
            </a:r>
            <a:endParaRPr lang="en-US" sz="67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8" name="Text 35"/>
          <p:cNvSpPr/>
          <p:nvPr/>
        </p:nvSpPr>
        <p:spPr>
          <a:xfrm>
            <a:off x="2968600" y="5508449"/>
            <a:ext cx="1645865" cy="180975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672" b="1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Facatativá</a:t>
            </a:r>
            <a:endParaRPr lang="en-US" sz="67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9" name="Text 36"/>
          <p:cNvSpPr/>
          <p:nvPr/>
        </p:nvSpPr>
        <p:spPr>
          <a:xfrm>
            <a:off x="5816147" y="5416153"/>
            <a:ext cx="4492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96" dirty="0">
                <a:solidFill>
                  <a:srgbClr val="9098B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PDV físico</a:t>
            </a:r>
            <a:endParaRPr lang="en-US" sz="69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0" name="Text 37"/>
          <p:cNvSpPr/>
          <p:nvPr/>
        </p:nvSpPr>
        <p:spPr>
          <a:xfrm>
            <a:off x="8260797" y="5416153"/>
            <a:ext cx="474364" cy="92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96" dirty="0">
                <a:solidFill>
                  <a:srgbClr val="9098B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Itinerante</a:t>
            </a:r>
            <a:endParaRPr lang="en-US" sz="69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1" name="Text 38"/>
          <p:cNvSpPr/>
          <p:nvPr/>
        </p:nvSpPr>
        <p:spPr>
          <a:xfrm>
            <a:off x="9992957" y="1801141"/>
            <a:ext cx="853514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Cobertura</a:t>
            </a:r>
            <a:endParaRPr lang="en-US" sz="888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2" name="Text 39"/>
          <p:cNvSpPr/>
          <p:nvPr/>
        </p:nvSpPr>
        <p:spPr>
          <a:xfrm>
            <a:off x="2968600" y="5689424"/>
            <a:ext cx="1645865" cy="176212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672" b="1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Zipaquirá</a:t>
            </a:r>
            <a:endParaRPr lang="en-US" sz="67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3" name="Text 40"/>
          <p:cNvSpPr/>
          <p:nvPr/>
        </p:nvSpPr>
        <p:spPr>
          <a:xfrm>
            <a:off x="9485487" y="5416153"/>
            <a:ext cx="40983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96" dirty="0">
                <a:solidFill>
                  <a:srgbClr val="9098B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Ofic. SAC</a:t>
            </a:r>
            <a:endParaRPr lang="en-US" sz="69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4" name="Text 41"/>
          <p:cNvSpPr/>
          <p:nvPr/>
        </p:nvSpPr>
        <p:spPr>
          <a:xfrm>
            <a:off x="1507140" y="1976163"/>
            <a:ext cx="1073177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Gestores</a:t>
            </a:r>
            <a:endParaRPr lang="en-US" sz="888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5" name="Text 42"/>
          <p:cNvSpPr/>
          <p:nvPr/>
        </p:nvSpPr>
        <p:spPr>
          <a:xfrm>
            <a:off x="704832" y="3685900"/>
            <a:ext cx="858572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888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Prom. 1S</a:t>
            </a:r>
            <a:endParaRPr lang="en-US" sz="888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6" name="Text 43"/>
          <p:cNvSpPr/>
          <p:nvPr/>
        </p:nvSpPr>
        <p:spPr>
          <a:xfrm>
            <a:off x="2968600" y="4965524"/>
            <a:ext cx="1645865" cy="180975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672" b="1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Sogamoso</a:t>
            </a:r>
            <a:endParaRPr lang="en-US" sz="67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7" name="Text 44"/>
          <p:cNvSpPr/>
          <p:nvPr/>
        </p:nvSpPr>
        <p:spPr>
          <a:xfrm>
            <a:off x="2968600" y="5327474"/>
            <a:ext cx="1645865" cy="180975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672" b="1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Mosquera</a:t>
            </a:r>
            <a:endParaRPr lang="en-US" sz="67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8" name="Text 45"/>
          <p:cNvSpPr/>
          <p:nvPr/>
        </p:nvSpPr>
        <p:spPr>
          <a:xfrm>
            <a:off x="10827831" y="1801141"/>
            <a:ext cx="639982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Visitas</a:t>
            </a:r>
            <a:endParaRPr lang="en-US" sz="888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9" name="Text 46"/>
          <p:cNvSpPr/>
          <p:nvPr/>
        </p:nvSpPr>
        <p:spPr>
          <a:xfrm>
            <a:off x="9954857" y="3436365"/>
            <a:ext cx="853514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b="1" dirty="0">
                <a:solidFill>
                  <a:srgbClr val="00806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102,9 %</a:t>
            </a:r>
            <a:endParaRPr lang="en-US" sz="81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0" name="Text 47"/>
          <p:cNvSpPr/>
          <p:nvPr/>
        </p:nvSpPr>
        <p:spPr>
          <a:xfrm>
            <a:off x="6295868" y="1801141"/>
            <a:ext cx="1675757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marL="0" indent="0" algn="l">
              <a:buNone/>
            </a:pPr>
            <a:r>
              <a:rPr lang="en-US" sz="888" b="1" dirty="0">
                <a:solidFill>
                  <a:srgbClr val="FFFFFF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Aliado</a:t>
            </a:r>
            <a:endParaRPr lang="en-US" sz="888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1" name="Text 48"/>
          <p:cNvSpPr/>
          <p:nvPr/>
        </p:nvSpPr>
        <p:spPr>
          <a:xfrm>
            <a:off x="9954857" y="2004341"/>
            <a:ext cx="853514" cy="347663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b="1" dirty="0">
                <a:solidFill>
                  <a:srgbClr val="00806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90,5 %</a:t>
            </a:r>
            <a:endParaRPr lang="en-US" sz="81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2" name="Text 49"/>
          <p:cNvSpPr/>
          <p:nvPr/>
        </p:nvSpPr>
        <p:spPr>
          <a:xfrm>
            <a:off x="704832" y="5689424"/>
            <a:ext cx="1645712" cy="176212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672" b="1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Soacha</a:t>
            </a:r>
            <a:endParaRPr lang="en-US" sz="67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3" name="Text 50"/>
          <p:cNvSpPr/>
          <p:nvPr/>
        </p:nvSpPr>
        <p:spPr>
          <a:xfrm>
            <a:off x="3505112" y="1085850"/>
            <a:ext cx="439806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FF6B35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26,9 %</a:t>
            </a:r>
            <a:endParaRPr lang="en-US" sz="102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4" name="Text 51"/>
          <p:cNvSpPr/>
          <p:nvPr/>
        </p:nvSpPr>
        <p:spPr>
          <a:xfrm>
            <a:off x="4809490" y="2179363"/>
            <a:ext cx="1073637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b="1" dirty="0">
                <a:solidFill>
                  <a:srgbClr val="00806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60,9%</a:t>
            </a:r>
            <a:endParaRPr lang="en-US" sz="81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5" name="Text 52"/>
          <p:cNvSpPr/>
          <p:nvPr/>
        </p:nvSpPr>
        <p:spPr>
          <a:xfrm>
            <a:off x="4809490" y="2422250"/>
            <a:ext cx="1073637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b="1" dirty="0">
                <a:solidFill>
                  <a:srgbClr val="00806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57,1%</a:t>
            </a:r>
            <a:endParaRPr lang="en-US" sz="81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6" name="Text 53"/>
          <p:cNvSpPr/>
          <p:nvPr/>
        </p:nvSpPr>
        <p:spPr>
          <a:xfrm>
            <a:off x="4809490" y="2669900"/>
            <a:ext cx="1073637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b="1" dirty="0">
                <a:solidFill>
                  <a:srgbClr val="8A620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54,9%</a:t>
            </a:r>
            <a:endParaRPr lang="en-US" sz="81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7" name="Text 54"/>
          <p:cNvSpPr/>
          <p:nvPr/>
        </p:nvSpPr>
        <p:spPr>
          <a:xfrm>
            <a:off x="4809490" y="2917550"/>
            <a:ext cx="1073637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b="1" dirty="0">
                <a:solidFill>
                  <a:srgbClr val="8A620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50,0%</a:t>
            </a:r>
            <a:endParaRPr lang="en-US" sz="81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8" name="Text 55"/>
          <p:cNvSpPr/>
          <p:nvPr/>
        </p:nvSpPr>
        <p:spPr>
          <a:xfrm>
            <a:off x="4809490" y="3165200"/>
            <a:ext cx="1073637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b="1" dirty="0">
                <a:solidFill>
                  <a:srgbClr val="C44A1A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33,3%</a:t>
            </a:r>
            <a:endParaRPr lang="en-US" sz="81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9" name="Text 56"/>
          <p:cNvSpPr/>
          <p:nvPr/>
        </p:nvSpPr>
        <p:spPr>
          <a:xfrm>
            <a:off x="4809490" y="3412850"/>
            <a:ext cx="1073637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b="1" dirty="0">
                <a:solidFill>
                  <a:srgbClr val="C44A1A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26,9%</a:t>
            </a:r>
            <a:endParaRPr lang="en-US" sz="81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0" name="Text 57"/>
          <p:cNvSpPr/>
          <p:nvPr/>
        </p:nvSpPr>
        <p:spPr>
          <a:xfrm>
            <a:off x="4809490" y="3660500"/>
            <a:ext cx="1073637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b="1" dirty="0">
                <a:solidFill>
                  <a:srgbClr val="8A620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47,2%</a:t>
            </a:r>
            <a:endParaRPr lang="en-US" sz="81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1" name="Text 58"/>
          <p:cNvSpPr/>
          <p:nvPr/>
        </p:nvSpPr>
        <p:spPr>
          <a:xfrm>
            <a:off x="9954857" y="2352003"/>
            <a:ext cx="853514" cy="36596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b="1" dirty="0">
                <a:solidFill>
                  <a:srgbClr val="00806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116 %</a:t>
            </a:r>
            <a:endParaRPr lang="en-US" sz="81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2" name="Text 59"/>
          <p:cNvSpPr/>
          <p:nvPr/>
        </p:nvSpPr>
        <p:spPr>
          <a:xfrm>
            <a:off x="9954857" y="2717972"/>
            <a:ext cx="853514" cy="352425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b="1" dirty="0">
                <a:solidFill>
                  <a:srgbClr val="00806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119 %</a:t>
            </a:r>
            <a:endParaRPr lang="en-US" sz="81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3" name="Text 60"/>
          <p:cNvSpPr/>
          <p:nvPr/>
        </p:nvSpPr>
        <p:spPr>
          <a:xfrm>
            <a:off x="704832" y="5327474"/>
            <a:ext cx="1645712" cy="180975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672" b="1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Tunja</a:t>
            </a:r>
            <a:endParaRPr lang="en-US" sz="67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4" name="Text 61"/>
          <p:cNvSpPr/>
          <p:nvPr/>
        </p:nvSpPr>
        <p:spPr>
          <a:xfrm>
            <a:off x="9954857" y="3070397"/>
            <a:ext cx="853514" cy="36596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b="1" dirty="0">
                <a:solidFill>
                  <a:srgbClr val="8A620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50 %</a:t>
            </a:r>
            <a:endParaRPr lang="en-US" sz="81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5" name="Text 62"/>
          <p:cNvSpPr/>
          <p:nvPr/>
        </p:nvSpPr>
        <p:spPr>
          <a:xfrm>
            <a:off x="2968600" y="5146499"/>
            <a:ext cx="1645865" cy="180975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672" b="1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Chía</a:t>
            </a:r>
            <a:endParaRPr lang="en-US" sz="67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6" name="Text 63"/>
          <p:cNvSpPr/>
          <p:nvPr/>
        </p:nvSpPr>
        <p:spPr>
          <a:xfrm>
            <a:off x="704832" y="1976163"/>
            <a:ext cx="858572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marL="0" indent="0" algn="l">
              <a:buNone/>
            </a:pPr>
            <a:r>
              <a:rPr lang="en-US" sz="888" b="1" dirty="0">
                <a:solidFill>
                  <a:srgbClr val="FFFFFF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Mes</a:t>
            </a:r>
            <a:endParaRPr lang="en-US" sz="888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7" name="Text 64"/>
          <p:cNvSpPr/>
          <p:nvPr/>
        </p:nvSpPr>
        <p:spPr>
          <a:xfrm>
            <a:off x="704832" y="2204763"/>
            <a:ext cx="858572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888" b="1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Ene</a:t>
            </a:r>
            <a:endParaRPr lang="en-US" sz="888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8" name="Text 65"/>
          <p:cNvSpPr/>
          <p:nvPr/>
        </p:nvSpPr>
        <p:spPr>
          <a:xfrm>
            <a:off x="1507140" y="2204763"/>
            <a:ext cx="1073177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88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147</a:t>
            </a:r>
            <a:endParaRPr lang="en-US" sz="888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9" name="Text 66"/>
          <p:cNvSpPr/>
          <p:nvPr/>
        </p:nvSpPr>
        <p:spPr>
          <a:xfrm>
            <a:off x="704832" y="2447650"/>
            <a:ext cx="858572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888" b="1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Feb</a:t>
            </a:r>
            <a:endParaRPr lang="en-US" sz="888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70" name="Text 67"/>
          <p:cNvSpPr/>
          <p:nvPr/>
        </p:nvSpPr>
        <p:spPr>
          <a:xfrm>
            <a:off x="1507140" y="2447650"/>
            <a:ext cx="1073177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88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146</a:t>
            </a:r>
            <a:endParaRPr lang="en-US" sz="888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71" name="Text 68"/>
          <p:cNvSpPr/>
          <p:nvPr/>
        </p:nvSpPr>
        <p:spPr>
          <a:xfrm>
            <a:off x="704832" y="2695300"/>
            <a:ext cx="858572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888" b="1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Mar</a:t>
            </a:r>
            <a:endParaRPr lang="en-US" sz="888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72" name="Text 69"/>
          <p:cNvSpPr/>
          <p:nvPr/>
        </p:nvSpPr>
        <p:spPr>
          <a:xfrm>
            <a:off x="1507140" y="2695300"/>
            <a:ext cx="1073177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88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135</a:t>
            </a:r>
            <a:endParaRPr lang="en-US" sz="888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73" name="Text 70"/>
          <p:cNvSpPr/>
          <p:nvPr/>
        </p:nvSpPr>
        <p:spPr>
          <a:xfrm>
            <a:off x="704832" y="2942950"/>
            <a:ext cx="858572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888" b="1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Abr</a:t>
            </a:r>
            <a:endParaRPr lang="en-US" sz="888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74" name="Text 71"/>
          <p:cNvSpPr/>
          <p:nvPr/>
        </p:nvSpPr>
        <p:spPr>
          <a:xfrm>
            <a:off x="1507140" y="2942950"/>
            <a:ext cx="1073177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88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118</a:t>
            </a:r>
            <a:endParaRPr lang="en-US" sz="888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75" name="Text 72"/>
          <p:cNvSpPr/>
          <p:nvPr/>
        </p:nvSpPr>
        <p:spPr>
          <a:xfrm>
            <a:off x="704832" y="3190600"/>
            <a:ext cx="858572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888" b="1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May</a:t>
            </a:r>
            <a:endParaRPr lang="en-US" sz="888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76" name="Text 73"/>
          <p:cNvSpPr/>
          <p:nvPr/>
        </p:nvSpPr>
        <p:spPr>
          <a:xfrm>
            <a:off x="704832" y="3438250"/>
            <a:ext cx="858572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888" b="1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Jun</a:t>
            </a:r>
            <a:endParaRPr lang="en-US" sz="888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77" name="Text 74"/>
          <p:cNvSpPr/>
          <p:nvPr/>
        </p:nvSpPr>
        <p:spPr>
          <a:xfrm>
            <a:off x="1507140" y="3685900"/>
            <a:ext cx="1073177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123</a:t>
            </a:r>
            <a:endParaRPr lang="en-US" sz="888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78" name="Text 75"/>
          <p:cNvSpPr/>
          <p:nvPr/>
        </p:nvSpPr>
        <p:spPr>
          <a:xfrm>
            <a:off x="10827831" y="2029741"/>
            <a:ext cx="639982" cy="347663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88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184</a:t>
            </a:r>
            <a:endParaRPr lang="en-US" sz="888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79" name="Text 76"/>
          <p:cNvSpPr/>
          <p:nvPr/>
        </p:nvSpPr>
        <p:spPr>
          <a:xfrm>
            <a:off x="7890764" y="3461765"/>
            <a:ext cx="1100463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105</a:t>
            </a:r>
            <a:endParaRPr lang="en-US" sz="888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0" name="Text 77"/>
          <p:cNvSpPr/>
          <p:nvPr/>
        </p:nvSpPr>
        <p:spPr>
          <a:xfrm>
            <a:off x="8960429" y="3461765"/>
            <a:ext cx="1057388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108</a:t>
            </a:r>
            <a:endParaRPr lang="en-US" sz="888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1" name="Text 78"/>
          <p:cNvSpPr/>
          <p:nvPr/>
        </p:nvSpPr>
        <p:spPr>
          <a:xfrm>
            <a:off x="10827831" y="3461765"/>
            <a:ext cx="639982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373</a:t>
            </a:r>
            <a:endParaRPr lang="en-US" sz="888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2" name="Text 79"/>
          <p:cNvSpPr/>
          <p:nvPr/>
        </p:nvSpPr>
        <p:spPr>
          <a:xfrm>
            <a:off x="2286632" y="4789312"/>
            <a:ext cx="548622" cy="176212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672" dirty="0">
                <a:solidFill>
                  <a:srgbClr val="00CD9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111</a:t>
            </a:r>
            <a:endParaRPr lang="en-US" sz="67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3" name="Text 80"/>
          <p:cNvSpPr/>
          <p:nvPr/>
        </p:nvSpPr>
        <p:spPr>
          <a:xfrm>
            <a:off x="6286343" y="1085850"/>
            <a:ext cx="274320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373</a:t>
            </a:r>
            <a:endParaRPr lang="en-US" sz="102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4" name="Text 81"/>
          <p:cNvSpPr/>
          <p:nvPr/>
        </p:nvSpPr>
        <p:spPr>
          <a:xfrm>
            <a:off x="2544372" y="2204763"/>
            <a:ext cx="1234131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88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92</a:t>
            </a:r>
            <a:endParaRPr lang="en-US" sz="888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5" name="Text 82"/>
          <p:cNvSpPr/>
          <p:nvPr/>
        </p:nvSpPr>
        <p:spPr>
          <a:xfrm>
            <a:off x="3745683" y="2204763"/>
            <a:ext cx="1126828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88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56</a:t>
            </a:r>
            <a:endParaRPr lang="en-US" sz="888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6" name="Text 83"/>
          <p:cNvSpPr/>
          <p:nvPr/>
        </p:nvSpPr>
        <p:spPr>
          <a:xfrm>
            <a:off x="2544372" y="2447650"/>
            <a:ext cx="1234131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88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91</a:t>
            </a:r>
            <a:endParaRPr lang="en-US" sz="888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7" name="Text 84"/>
          <p:cNvSpPr/>
          <p:nvPr/>
        </p:nvSpPr>
        <p:spPr>
          <a:xfrm>
            <a:off x="3745683" y="2447650"/>
            <a:ext cx="1126828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88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52</a:t>
            </a:r>
            <a:endParaRPr lang="en-US" sz="888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8" name="Text 85"/>
          <p:cNvSpPr/>
          <p:nvPr/>
        </p:nvSpPr>
        <p:spPr>
          <a:xfrm>
            <a:off x="2544372" y="2695300"/>
            <a:ext cx="1234131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88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82</a:t>
            </a:r>
            <a:endParaRPr lang="en-US" sz="888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9" name="Text 86"/>
          <p:cNvSpPr/>
          <p:nvPr/>
        </p:nvSpPr>
        <p:spPr>
          <a:xfrm>
            <a:off x="3745683" y="2695300"/>
            <a:ext cx="1126828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88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45</a:t>
            </a:r>
            <a:endParaRPr lang="en-US" sz="888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0" name="Text 87"/>
          <p:cNvSpPr/>
          <p:nvPr/>
        </p:nvSpPr>
        <p:spPr>
          <a:xfrm>
            <a:off x="2544372" y="2942950"/>
            <a:ext cx="1234131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88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72</a:t>
            </a:r>
            <a:endParaRPr lang="en-US" sz="888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1" name="Text 88"/>
          <p:cNvSpPr/>
          <p:nvPr/>
        </p:nvSpPr>
        <p:spPr>
          <a:xfrm>
            <a:off x="3745683" y="2942950"/>
            <a:ext cx="1126828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88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36</a:t>
            </a:r>
            <a:endParaRPr lang="en-US" sz="888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2" name="Text 89"/>
          <p:cNvSpPr/>
          <p:nvPr/>
        </p:nvSpPr>
        <p:spPr>
          <a:xfrm>
            <a:off x="1507140" y="3190600"/>
            <a:ext cx="1073177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88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93</a:t>
            </a:r>
            <a:endParaRPr lang="en-US" sz="888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3" name="Text 90"/>
          <p:cNvSpPr/>
          <p:nvPr/>
        </p:nvSpPr>
        <p:spPr>
          <a:xfrm>
            <a:off x="2544372" y="3190600"/>
            <a:ext cx="1234131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88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57</a:t>
            </a:r>
            <a:endParaRPr lang="en-US" sz="888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4" name="Text 91"/>
          <p:cNvSpPr/>
          <p:nvPr/>
        </p:nvSpPr>
        <p:spPr>
          <a:xfrm>
            <a:off x="3745683" y="3190600"/>
            <a:ext cx="1126828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88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19</a:t>
            </a:r>
            <a:endParaRPr lang="en-US" sz="888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5" name="Text 92"/>
          <p:cNvSpPr/>
          <p:nvPr/>
        </p:nvSpPr>
        <p:spPr>
          <a:xfrm>
            <a:off x="1507140" y="3438250"/>
            <a:ext cx="1073177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88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96</a:t>
            </a:r>
            <a:endParaRPr lang="en-US" sz="888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6" name="Text 93"/>
          <p:cNvSpPr/>
          <p:nvPr/>
        </p:nvSpPr>
        <p:spPr>
          <a:xfrm>
            <a:off x="2544372" y="3438250"/>
            <a:ext cx="1234131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88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52</a:t>
            </a:r>
            <a:endParaRPr lang="en-US" sz="888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7" name="Text 94"/>
          <p:cNvSpPr/>
          <p:nvPr/>
        </p:nvSpPr>
        <p:spPr>
          <a:xfrm>
            <a:off x="3745683" y="3438250"/>
            <a:ext cx="1126828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88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14</a:t>
            </a:r>
            <a:endParaRPr lang="en-US" sz="888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8" name="Text 95"/>
          <p:cNvSpPr/>
          <p:nvPr/>
        </p:nvSpPr>
        <p:spPr>
          <a:xfrm>
            <a:off x="2544372" y="3685900"/>
            <a:ext cx="1234131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74</a:t>
            </a:r>
            <a:endParaRPr lang="en-US" sz="888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9" name="Text 96"/>
          <p:cNvSpPr/>
          <p:nvPr/>
        </p:nvSpPr>
        <p:spPr>
          <a:xfrm>
            <a:off x="3745683" y="3685900"/>
            <a:ext cx="1126828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37</a:t>
            </a:r>
            <a:endParaRPr lang="en-US" sz="888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00" name="Text 97"/>
          <p:cNvSpPr/>
          <p:nvPr/>
        </p:nvSpPr>
        <p:spPr>
          <a:xfrm>
            <a:off x="7890764" y="2029741"/>
            <a:ext cx="1100463" cy="347663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88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42</a:t>
            </a:r>
            <a:endParaRPr lang="en-US" sz="888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01" name="Text 98"/>
          <p:cNvSpPr/>
          <p:nvPr/>
        </p:nvSpPr>
        <p:spPr>
          <a:xfrm>
            <a:off x="8960429" y="2029741"/>
            <a:ext cx="1057388" cy="347663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88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38</a:t>
            </a:r>
            <a:endParaRPr lang="en-US" sz="888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02" name="Text 99"/>
          <p:cNvSpPr/>
          <p:nvPr/>
        </p:nvSpPr>
        <p:spPr>
          <a:xfrm>
            <a:off x="7890764" y="2377403"/>
            <a:ext cx="1100463" cy="36596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88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31</a:t>
            </a:r>
            <a:endParaRPr lang="en-US" sz="888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03" name="Text 100"/>
          <p:cNvSpPr/>
          <p:nvPr/>
        </p:nvSpPr>
        <p:spPr>
          <a:xfrm>
            <a:off x="8960429" y="2377403"/>
            <a:ext cx="1057388" cy="36596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88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36</a:t>
            </a:r>
            <a:endParaRPr lang="en-US" sz="888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04" name="Text 101"/>
          <p:cNvSpPr/>
          <p:nvPr/>
        </p:nvSpPr>
        <p:spPr>
          <a:xfrm>
            <a:off x="10827831" y="2377403"/>
            <a:ext cx="639982" cy="36596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88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99</a:t>
            </a:r>
            <a:endParaRPr lang="en-US" sz="888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05" name="Text 102"/>
          <p:cNvSpPr/>
          <p:nvPr/>
        </p:nvSpPr>
        <p:spPr>
          <a:xfrm>
            <a:off x="7890764" y="2743372"/>
            <a:ext cx="1100463" cy="352425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88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26</a:t>
            </a:r>
            <a:endParaRPr lang="en-US" sz="888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06" name="Text 103"/>
          <p:cNvSpPr/>
          <p:nvPr/>
        </p:nvSpPr>
        <p:spPr>
          <a:xfrm>
            <a:off x="8960429" y="2743372"/>
            <a:ext cx="1057388" cy="352425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88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31</a:t>
            </a:r>
            <a:endParaRPr lang="en-US" sz="888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07" name="Text 104"/>
          <p:cNvSpPr/>
          <p:nvPr/>
        </p:nvSpPr>
        <p:spPr>
          <a:xfrm>
            <a:off x="10827831" y="2743372"/>
            <a:ext cx="639982" cy="352425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88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90</a:t>
            </a:r>
            <a:endParaRPr lang="en-US" sz="888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08" name="Text 105"/>
          <p:cNvSpPr/>
          <p:nvPr/>
        </p:nvSpPr>
        <p:spPr>
          <a:xfrm>
            <a:off x="2286632" y="4965524"/>
            <a:ext cx="548622" cy="180975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672" dirty="0">
                <a:solidFill>
                  <a:srgbClr val="00CD9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74</a:t>
            </a:r>
            <a:endParaRPr lang="en-US" sz="67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09" name="Text 106"/>
          <p:cNvSpPr/>
          <p:nvPr/>
        </p:nvSpPr>
        <p:spPr>
          <a:xfrm>
            <a:off x="2286632" y="5146499"/>
            <a:ext cx="548622" cy="180975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672" dirty="0">
                <a:solidFill>
                  <a:srgbClr val="00CD9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44</a:t>
            </a:r>
            <a:endParaRPr lang="en-US" sz="67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10" name="Text 107"/>
          <p:cNvSpPr/>
          <p:nvPr/>
        </p:nvSpPr>
        <p:spPr>
          <a:xfrm>
            <a:off x="2286632" y="5327474"/>
            <a:ext cx="548622" cy="180975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672" dirty="0">
                <a:solidFill>
                  <a:srgbClr val="00CD9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33</a:t>
            </a:r>
            <a:endParaRPr lang="en-US" sz="67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11" name="Text 108"/>
          <p:cNvSpPr/>
          <p:nvPr/>
        </p:nvSpPr>
        <p:spPr>
          <a:xfrm>
            <a:off x="2286632" y="5508449"/>
            <a:ext cx="548622" cy="180975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672" dirty="0">
                <a:solidFill>
                  <a:srgbClr val="00CD9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25</a:t>
            </a:r>
            <a:endParaRPr lang="en-US" sz="67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12" name="Text 109"/>
          <p:cNvSpPr/>
          <p:nvPr/>
        </p:nvSpPr>
        <p:spPr>
          <a:xfrm>
            <a:off x="2286632" y="5689424"/>
            <a:ext cx="548622" cy="176212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672" dirty="0">
                <a:solidFill>
                  <a:srgbClr val="00CD9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24</a:t>
            </a:r>
            <a:endParaRPr lang="en-US" sz="67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13" name="Text 110"/>
          <p:cNvSpPr/>
          <p:nvPr/>
        </p:nvSpPr>
        <p:spPr>
          <a:xfrm>
            <a:off x="4550549" y="4789312"/>
            <a:ext cx="548622" cy="176212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672" dirty="0">
                <a:solidFill>
                  <a:srgbClr val="00CD9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19</a:t>
            </a:r>
            <a:endParaRPr lang="en-US" sz="67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14" name="Text 111"/>
          <p:cNvSpPr/>
          <p:nvPr/>
        </p:nvSpPr>
        <p:spPr>
          <a:xfrm>
            <a:off x="4550549" y="4965524"/>
            <a:ext cx="548622" cy="180975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672" dirty="0">
                <a:solidFill>
                  <a:srgbClr val="00CD9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15</a:t>
            </a:r>
            <a:endParaRPr lang="en-US" sz="67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15" name="Text 112"/>
          <p:cNvSpPr/>
          <p:nvPr/>
        </p:nvSpPr>
        <p:spPr>
          <a:xfrm>
            <a:off x="723882" y="1085850"/>
            <a:ext cx="274320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74</a:t>
            </a:r>
            <a:endParaRPr lang="en-US" sz="102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16" name="Text 113"/>
          <p:cNvSpPr/>
          <p:nvPr/>
        </p:nvSpPr>
        <p:spPr>
          <a:xfrm>
            <a:off x="9067573" y="1085850"/>
            <a:ext cx="274320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12</a:t>
            </a:r>
            <a:endParaRPr lang="en-US" sz="102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17" name="Text 114"/>
          <p:cNvSpPr/>
          <p:nvPr/>
        </p:nvSpPr>
        <p:spPr>
          <a:xfrm>
            <a:off x="5948345" y="5254228"/>
            <a:ext cx="274320" cy="166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00CD9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37</a:t>
            </a:r>
            <a:endParaRPr lang="en-US" sz="108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18" name="Text 115"/>
          <p:cNvSpPr/>
          <p:nvPr/>
        </p:nvSpPr>
        <p:spPr>
          <a:xfrm>
            <a:off x="7164673" y="5254228"/>
            <a:ext cx="274320" cy="166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80" b="1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23</a:t>
            </a:r>
            <a:endParaRPr lang="en-US" sz="108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19" name="Text 116"/>
          <p:cNvSpPr/>
          <p:nvPr/>
        </p:nvSpPr>
        <p:spPr>
          <a:xfrm>
            <a:off x="8377851" y="5254228"/>
            <a:ext cx="274320" cy="166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FF6B35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20</a:t>
            </a:r>
            <a:endParaRPr lang="en-US" sz="108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21" name="Text 102">
            <a:extLst>
              <a:ext uri="{FF2B5EF4-FFF2-40B4-BE49-F238E27FC236}">
                <a16:creationId xmlns:a16="http://schemas.microsoft.com/office/drawing/2014/main" id="{B309A14C-9848-6B26-DBD7-3E351903CDC2}"/>
              </a:ext>
            </a:extLst>
          </p:cNvPr>
          <p:cNvSpPr/>
          <p:nvPr/>
        </p:nvSpPr>
        <p:spPr>
          <a:xfrm>
            <a:off x="7890764" y="3113584"/>
            <a:ext cx="1100463" cy="352425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88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26</a:t>
            </a:r>
            <a:endParaRPr lang="en-US" sz="888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23" name="Text 103">
            <a:extLst>
              <a:ext uri="{FF2B5EF4-FFF2-40B4-BE49-F238E27FC236}">
                <a16:creationId xmlns:a16="http://schemas.microsoft.com/office/drawing/2014/main" id="{073C81F3-9FFA-37C8-7232-84ED493F3F9F}"/>
              </a:ext>
            </a:extLst>
          </p:cNvPr>
          <p:cNvSpPr/>
          <p:nvPr/>
        </p:nvSpPr>
        <p:spPr>
          <a:xfrm>
            <a:off x="8960429" y="3113584"/>
            <a:ext cx="1057388" cy="352425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88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31</a:t>
            </a:r>
            <a:endParaRPr lang="en-US" sz="888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125" name="Picture 124">
            <a:extLst>
              <a:ext uri="{FF2B5EF4-FFF2-40B4-BE49-F238E27FC236}">
                <a16:creationId xmlns:a16="http://schemas.microsoft.com/office/drawing/2014/main" id="{E08C081D-A525-8512-9A86-7346000915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34650" y="78120"/>
            <a:ext cx="1530523" cy="459157"/>
          </a:xfrm>
          <a:prstGeom prst="rect">
            <a:avLst/>
          </a:prstGeom>
        </p:spPr>
      </p:pic>
      <p:sp>
        <p:nvSpPr>
          <p:cNvPr id="127" name="Text 104">
            <a:extLst>
              <a:ext uri="{FF2B5EF4-FFF2-40B4-BE49-F238E27FC236}">
                <a16:creationId xmlns:a16="http://schemas.microsoft.com/office/drawing/2014/main" id="{D9A9D554-629E-7788-5638-94F6DA4411D0}"/>
              </a:ext>
            </a:extLst>
          </p:cNvPr>
          <p:cNvSpPr/>
          <p:nvPr/>
        </p:nvSpPr>
        <p:spPr>
          <a:xfrm>
            <a:off x="10827831" y="3107406"/>
            <a:ext cx="639982" cy="352425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88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4</a:t>
            </a:r>
            <a:endParaRPr lang="en-US" sz="888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F3E9EFED-5CFB-182F-A41D-BD4D4DBE860D}"/>
              </a:ext>
            </a:extLst>
          </p:cNvPr>
          <p:cNvSpPr txBox="1"/>
          <p:nvPr/>
        </p:nvSpPr>
        <p:spPr>
          <a:xfrm>
            <a:off x="9576347" y="5209921"/>
            <a:ext cx="694135" cy="2585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1080" b="1" i="0">
                <a:solidFill>
                  <a:srgbClr val="120180"/>
                </a:solidFill>
                <a:effectLst/>
                <a:latin typeface="Raleway" pitchFamily="2" charset="0"/>
              </a:rPr>
              <a:t>6</a:t>
            </a:r>
            <a:endParaRPr lang="es-CO" dirty="0"/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4BB74456-0638-630A-9D79-6715D08CCB67}"/>
              </a:ext>
            </a:extLst>
          </p:cNvPr>
          <p:cNvSpPr txBox="1"/>
          <p:nvPr/>
        </p:nvSpPr>
        <p:spPr>
          <a:xfrm>
            <a:off x="10747375" y="5221629"/>
            <a:ext cx="720438" cy="2585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O" sz="1080" b="1" i="0" dirty="0">
                <a:solidFill>
                  <a:srgbClr val="9098B0"/>
                </a:solidFill>
                <a:effectLst/>
                <a:latin typeface="Raleway" pitchFamily="2" charset="0"/>
              </a:rPr>
              <a:t>4</a:t>
            </a:r>
            <a:endParaRPr lang="es-CO" dirty="0"/>
          </a:p>
        </p:txBody>
      </p:sp>
      <p:sp>
        <p:nvSpPr>
          <p:cNvPr id="155" name="Text 111">
            <a:extLst>
              <a:ext uri="{FF2B5EF4-FFF2-40B4-BE49-F238E27FC236}">
                <a16:creationId xmlns:a16="http://schemas.microsoft.com/office/drawing/2014/main" id="{16B4971A-E46D-C44E-BD5F-913BDDF343A3}"/>
              </a:ext>
            </a:extLst>
          </p:cNvPr>
          <p:cNvSpPr/>
          <p:nvPr/>
        </p:nvSpPr>
        <p:spPr>
          <a:xfrm>
            <a:off x="4566528" y="5130448"/>
            <a:ext cx="548622" cy="180975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672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</a:t>
            </a:r>
            <a:endParaRPr lang="en-US" sz="672" dirty="0"/>
          </a:p>
        </p:txBody>
      </p:sp>
      <p:sp>
        <p:nvSpPr>
          <p:cNvPr id="157" name="Text 111">
            <a:extLst>
              <a:ext uri="{FF2B5EF4-FFF2-40B4-BE49-F238E27FC236}">
                <a16:creationId xmlns:a16="http://schemas.microsoft.com/office/drawing/2014/main" id="{9CD86258-D105-496F-A3CD-3786F707EAF5}"/>
              </a:ext>
            </a:extLst>
          </p:cNvPr>
          <p:cNvSpPr/>
          <p:nvPr/>
        </p:nvSpPr>
        <p:spPr>
          <a:xfrm>
            <a:off x="4566528" y="5302315"/>
            <a:ext cx="548622" cy="180975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672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</a:t>
            </a:r>
            <a:endParaRPr lang="en-US" sz="672" dirty="0"/>
          </a:p>
        </p:txBody>
      </p:sp>
      <p:sp>
        <p:nvSpPr>
          <p:cNvPr id="159" name="Text 111">
            <a:extLst>
              <a:ext uri="{FF2B5EF4-FFF2-40B4-BE49-F238E27FC236}">
                <a16:creationId xmlns:a16="http://schemas.microsoft.com/office/drawing/2014/main" id="{D3AECD8F-C5FB-B184-6492-C1B334594F94}"/>
              </a:ext>
            </a:extLst>
          </p:cNvPr>
          <p:cNvSpPr/>
          <p:nvPr/>
        </p:nvSpPr>
        <p:spPr>
          <a:xfrm>
            <a:off x="4566528" y="5495638"/>
            <a:ext cx="548622" cy="180975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672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</a:t>
            </a:r>
            <a:endParaRPr lang="en-US" sz="672" dirty="0"/>
          </a:p>
        </p:txBody>
      </p:sp>
      <p:sp>
        <p:nvSpPr>
          <p:cNvPr id="161" name="Text 111">
            <a:extLst>
              <a:ext uri="{FF2B5EF4-FFF2-40B4-BE49-F238E27FC236}">
                <a16:creationId xmlns:a16="http://schemas.microsoft.com/office/drawing/2014/main" id="{1DFCDAD5-F5A4-71C3-368D-C0D0A2B84668}"/>
              </a:ext>
            </a:extLst>
          </p:cNvPr>
          <p:cNvSpPr/>
          <p:nvPr/>
        </p:nvSpPr>
        <p:spPr>
          <a:xfrm>
            <a:off x="4566528" y="5662612"/>
            <a:ext cx="548622" cy="180975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672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</a:t>
            </a:r>
            <a:endParaRPr lang="en-US" sz="672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Image 0" descr="C:\01_Repositorios\13_Presentaciones\dash\retail\ppt_slides\sk_02_main.png">
            <a:extLst>
              <a:ext uri="{FF2B5EF4-FFF2-40B4-BE49-F238E27FC236}">
                <a16:creationId xmlns:a16="http://schemas.microsoft.com/office/drawing/2014/main" id="{EE3495F2-5AAC-8396-3987-A2B8D6396E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28674" y="6463308"/>
            <a:ext cx="10683081" cy="2768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1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Logro Comercial: el canal Retail cerró el semestre con 13.155 ventas efectivas entre Cuota Protegida y Rueda Seguro, sosteniendo una efectividad promedio superior al 69 % durante todo el semestre — un desempeño comercial consistente que valida el enfoque del canal en los puntos de mayor valor.</a:t>
            </a:r>
            <a:endParaRPr lang="en-US" sz="816" dirty="0"/>
          </a:p>
        </p:txBody>
      </p:sp>
      <p:sp>
        <p:nvSpPr>
          <p:cNvPr id="4" name="Text 1"/>
          <p:cNvSpPr/>
          <p:nvPr/>
        </p:nvSpPr>
        <p:spPr>
          <a:xfrm>
            <a:off x="571486" y="6006108"/>
            <a:ext cx="724830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96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* Gestores y PDV en la fila de total corresponden al promedio mensual de la estructura activa del canal (los mismos gestores atienden Cuota Protegida y Rueda Seguro).</a:t>
            </a:r>
            <a:endParaRPr lang="en-US" sz="696" dirty="0"/>
          </a:p>
        </p:txBody>
      </p:sp>
      <p:sp>
        <p:nvSpPr>
          <p:cNvPr id="5" name="Text 2"/>
          <p:cNvSpPr/>
          <p:nvPr/>
        </p:nvSpPr>
        <p:spPr>
          <a:xfrm>
            <a:off x="571485" y="209550"/>
            <a:ext cx="5216839" cy="1708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6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VENTAS DEL CANAL · CUOTA PROTEGIDA Y RUEDA SEGURO</a:t>
            </a:r>
            <a:endParaRPr lang="en-US" sz="1260" dirty="0"/>
          </a:p>
        </p:txBody>
      </p:sp>
      <p:sp>
        <p:nvSpPr>
          <p:cNvPr id="6" name="Text 3"/>
          <p:cNvSpPr/>
          <p:nvPr/>
        </p:nvSpPr>
        <p:spPr>
          <a:xfrm>
            <a:off x="838179" y="1786830"/>
            <a:ext cx="199873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Cuota Protegida Retail (Como vamos)</a:t>
            </a:r>
            <a:endParaRPr lang="en-US" sz="816" dirty="0"/>
          </a:p>
        </p:txBody>
      </p:sp>
      <p:sp>
        <p:nvSpPr>
          <p:cNvPr id="7" name="Text 4"/>
          <p:cNvSpPr/>
          <p:nvPr/>
        </p:nvSpPr>
        <p:spPr>
          <a:xfrm>
            <a:off x="723882" y="1272480"/>
            <a:ext cx="1231415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 de 16.062 cantadas (79,0%)</a:t>
            </a:r>
            <a:endParaRPr lang="en-US" sz="600" dirty="0"/>
          </a:p>
        </p:txBody>
      </p:sp>
      <p:sp>
        <p:nvSpPr>
          <p:cNvPr id="8" name="Text 5"/>
          <p:cNvSpPr/>
          <p:nvPr/>
        </p:nvSpPr>
        <p:spPr>
          <a:xfrm>
            <a:off x="6410165" y="1786830"/>
            <a:ext cx="188861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Rueda Seguro Retail (Como vamos)</a:t>
            </a:r>
            <a:endParaRPr lang="en-US" sz="816" dirty="0"/>
          </a:p>
        </p:txBody>
      </p:sp>
      <p:sp>
        <p:nvSpPr>
          <p:cNvPr id="9" name="Text 6"/>
          <p:cNvSpPr/>
          <p:nvPr/>
        </p:nvSpPr>
        <p:spPr>
          <a:xfrm>
            <a:off x="3505112" y="1272480"/>
            <a:ext cx="11217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 de 675 cantadas (69,2%)</a:t>
            </a:r>
            <a:endParaRPr lang="en-US" sz="600" dirty="0"/>
          </a:p>
        </p:txBody>
      </p:sp>
      <p:sp>
        <p:nvSpPr>
          <p:cNvPr id="10" name="Text 7"/>
          <p:cNvSpPr/>
          <p:nvPr/>
        </p:nvSpPr>
        <p:spPr>
          <a:xfrm>
            <a:off x="9067573" y="1272480"/>
            <a:ext cx="1149541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Reales consolidadas de cierre</a:t>
            </a:r>
            <a:endParaRPr lang="en-US" sz="600" dirty="0"/>
          </a:p>
        </p:txBody>
      </p:sp>
      <p:sp>
        <p:nvSpPr>
          <p:cNvPr id="11" name="Text 8"/>
          <p:cNvSpPr/>
          <p:nvPr/>
        </p:nvSpPr>
        <p:spPr>
          <a:xfrm>
            <a:off x="6286343" y="1272480"/>
            <a:ext cx="106798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Marzo · 135 gestores activos</a:t>
            </a:r>
            <a:endParaRPr lang="en-US" sz="600" dirty="0"/>
          </a:p>
        </p:txBody>
      </p:sp>
      <p:sp>
        <p:nvSpPr>
          <p:cNvPr id="12" name="Text 9"/>
          <p:cNvSpPr/>
          <p:nvPr/>
        </p:nvSpPr>
        <p:spPr>
          <a:xfrm>
            <a:off x="723882" y="962025"/>
            <a:ext cx="1353517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96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Ventas CP 1S (Efectivas)</a:t>
            </a:r>
            <a:endParaRPr lang="en-US" sz="696" dirty="0"/>
          </a:p>
        </p:txBody>
      </p:sp>
      <p:sp>
        <p:nvSpPr>
          <p:cNvPr id="13" name="Text 10"/>
          <p:cNvSpPr/>
          <p:nvPr/>
        </p:nvSpPr>
        <p:spPr>
          <a:xfrm>
            <a:off x="3505112" y="962025"/>
            <a:ext cx="135257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96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Ventas RS 1S (Efectivas)</a:t>
            </a:r>
            <a:endParaRPr lang="en-US" sz="696" dirty="0"/>
          </a:p>
        </p:txBody>
      </p:sp>
      <p:sp>
        <p:nvSpPr>
          <p:cNvPr id="14" name="Text 11"/>
          <p:cNvSpPr/>
          <p:nvPr/>
        </p:nvSpPr>
        <p:spPr>
          <a:xfrm>
            <a:off x="9067573" y="962025"/>
            <a:ext cx="1303509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96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Ventas CP Mayo + Junio</a:t>
            </a:r>
            <a:endParaRPr lang="en-US" sz="696" dirty="0"/>
          </a:p>
        </p:txBody>
      </p:sp>
      <p:sp>
        <p:nvSpPr>
          <p:cNvPr id="15" name="Text 12"/>
          <p:cNvSpPr/>
          <p:nvPr/>
        </p:nvSpPr>
        <p:spPr>
          <a:xfrm>
            <a:off x="6286343" y="962025"/>
            <a:ext cx="97727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96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Pico CP Semestre</a:t>
            </a:r>
            <a:endParaRPr lang="en-US" sz="696" dirty="0"/>
          </a:p>
        </p:txBody>
      </p:sp>
      <p:sp>
        <p:nvSpPr>
          <p:cNvPr id="16" name="Text 13"/>
          <p:cNvSpPr/>
          <p:nvPr/>
        </p:nvSpPr>
        <p:spPr>
          <a:xfrm>
            <a:off x="4040834" y="1982116"/>
            <a:ext cx="1008183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Efectivas</a:t>
            </a:r>
            <a:endParaRPr lang="en-US" sz="888" dirty="0"/>
          </a:p>
        </p:txBody>
      </p:sp>
      <p:sp>
        <p:nvSpPr>
          <p:cNvPr id="17" name="Text 14"/>
          <p:cNvSpPr/>
          <p:nvPr/>
        </p:nvSpPr>
        <p:spPr>
          <a:xfrm>
            <a:off x="9370044" y="1982116"/>
            <a:ext cx="1137405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Efectivas</a:t>
            </a:r>
            <a:endParaRPr lang="en-US" sz="888" dirty="0"/>
          </a:p>
        </p:txBody>
      </p:sp>
      <p:sp>
        <p:nvSpPr>
          <p:cNvPr id="18" name="Text 15"/>
          <p:cNvSpPr/>
          <p:nvPr/>
        </p:nvSpPr>
        <p:spPr>
          <a:xfrm>
            <a:off x="1490284" y="1982116"/>
            <a:ext cx="987642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Gestores</a:t>
            </a:r>
            <a:endParaRPr lang="en-US" sz="888" dirty="0"/>
          </a:p>
        </p:txBody>
      </p:sp>
      <p:sp>
        <p:nvSpPr>
          <p:cNvPr id="19" name="Text 16"/>
          <p:cNvSpPr/>
          <p:nvPr/>
        </p:nvSpPr>
        <p:spPr>
          <a:xfrm>
            <a:off x="3044234" y="1982116"/>
            <a:ext cx="1025964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Cantadas</a:t>
            </a:r>
            <a:endParaRPr lang="en-US" sz="888" dirty="0"/>
          </a:p>
        </p:txBody>
      </p:sp>
      <p:sp>
        <p:nvSpPr>
          <p:cNvPr id="20" name="Text 17"/>
          <p:cNvSpPr/>
          <p:nvPr/>
        </p:nvSpPr>
        <p:spPr>
          <a:xfrm>
            <a:off x="5022469" y="1982116"/>
            <a:ext cx="911457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% Efect.</a:t>
            </a:r>
            <a:endParaRPr lang="en-US" sz="888" dirty="0"/>
          </a:p>
        </p:txBody>
      </p:sp>
      <p:sp>
        <p:nvSpPr>
          <p:cNvPr id="21" name="Text 18"/>
          <p:cNvSpPr/>
          <p:nvPr/>
        </p:nvSpPr>
        <p:spPr>
          <a:xfrm>
            <a:off x="685783" y="5227164"/>
            <a:ext cx="858266" cy="459879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88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 1S</a:t>
            </a:r>
            <a:endParaRPr lang="en-US" sz="888" dirty="0"/>
          </a:p>
        </p:txBody>
      </p:sp>
      <p:sp>
        <p:nvSpPr>
          <p:cNvPr id="22" name="Text 19"/>
          <p:cNvSpPr/>
          <p:nvPr/>
        </p:nvSpPr>
        <p:spPr>
          <a:xfrm>
            <a:off x="7165294" y="1982116"/>
            <a:ext cx="1114105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Gestores</a:t>
            </a:r>
            <a:endParaRPr lang="en-US" sz="888" dirty="0"/>
          </a:p>
        </p:txBody>
      </p:sp>
      <p:sp>
        <p:nvSpPr>
          <p:cNvPr id="23" name="Text 20"/>
          <p:cNvSpPr/>
          <p:nvPr/>
        </p:nvSpPr>
        <p:spPr>
          <a:xfrm>
            <a:off x="8245686" y="1982116"/>
            <a:ext cx="1157486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Cantadas</a:t>
            </a:r>
            <a:endParaRPr lang="en-US" sz="888" dirty="0"/>
          </a:p>
        </p:txBody>
      </p:sp>
      <p:sp>
        <p:nvSpPr>
          <p:cNvPr id="24" name="Text 21"/>
          <p:cNvSpPr/>
          <p:nvPr/>
        </p:nvSpPr>
        <p:spPr>
          <a:xfrm>
            <a:off x="10477496" y="1982116"/>
            <a:ext cx="1028417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% Efect.</a:t>
            </a:r>
            <a:endParaRPr lang="en-US" sz="888" dirty="0"/>
          </a:p>
        </p:txBody>
      </p:sp>
      <p:sp>
        <p:nvSpPr>
          <p:cNvPr id="25" name="Text 22"/>
          <p:cNvSpPr/>
          <p:nvPr/>
        </p:nvSpPr>
        <p:spPr>
          <a:xfrm>
            <a:off x="6257769" y="5227164"/>
            <a:ext cx="968174" cy="459879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88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 1S</a:t>
            </a:r>
            <a:endParaRPr lang="en-US" sz="888" dirty="0"/>
          </a:p>
        </p:txBody>
      </p:sp>
      <p:sp>
        <p:nvSpPr>
          <p:cNvPr id="26" name="Text 23"/>
          <p:cNvSpPr/>
          <p:nvPr/>
        </p:nvSpPr>
        <p:spPr>
          <a:xfrm>
            <a:off x="3044234" y="5227164"/>
            <a:ext cx="1025964" cy="459879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16.062</a:t>
            </a:r>
            <a:endParaRPr lang="en-US" sz="888" dirty="0"/>
          </a:p>
        </p:txBody>
      </p:sp>
      <p:sp>
        <p:nvSpPr>
          <p:cNvPr id="27" name="Text 24"/>
          <p:cNvSpPr/>
          <p:nvPr/>
        </p:nvSpPr>
        <p:spPr>
          <a:xfrm>
            <a:off x="4040834" y="5227164"/>
            <a:ext cx="1008183" cy="459879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12.688</a:t>
            </a:r>
            <a:endParaRPr lang="en-US" sz="888" dirty="0"/>
          </a:p>
        </p:txBody>
      </p:sp>
      <p:sp>
        <p:nvSpPr>
          <p:cNvPr id="28" name="Text 25"/>
          <p:cNvSpPr/>
          <p:nvPr/>
        </p:nvSpPr>
        <p:spPr>
          <a:xfrm>
            <a:off x="723882" y="1085850"/>
            <a:ext cx="452111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12.688</a:t>
            </a:r>
            <a:endParaRPr lang="en-US" sz="1020" dirty="0"/>
          </a:p>
        </p:txBody>
      </p:sp>
      <p:sp>
        <p:nvSpPr>
          <p:cNvPr id="29" name="Text 26"/>
          <p:cNvSpPr/>
          <p:nvPr/>
        </p:nvSpPr>
        <p:spPr>
          <a:xfrm>
            <a:off x="3044234" y="2210716"/>
            <a:ext cx="1025964" cy="49530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1.953</a:t>
            </a:r>
            <a:endParaRPr lang="en-US" sz="888" dirty="0"/>
          </a:p>
        </p:txBody>
      </p:sp>
      <p:sp>
        <p:nvSpPr>
          <p:cNvPr id="30" name="Text 27"/>
          <p:cNvSpPr/>
          <p:nvPr/>
        </p:nvSpPr>
        <p:spPr>
          <a:xfrm>
            <a:off x="4040834" y="2172616"/>
            <a:ext cx="1008183" cy="49530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1.614</a:t>
            </a:r>
            <a:endParaRPr lang="en-US" sz="888" dirty="0"/>
          </a:p>
        </p:txBody>
      </p:sp>
      <p:sp>
        <p:nvSpPr>
          <p:cNvPr id="31" name="Text 28"/>
          <p:cNvSpPr/>
          <p:nvPr/>
        </p:nvSpPr>
        <p:spPr>
          <a:xfrm>
            <a:off x="4976749" y="2187856"/>
            <a:ext cx="911457" cy="49530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82,6%</a:t>
            </a:r>
            <a:endParaRPr lang="en-US" sz="816" dirty="0"/>
          </a:p>
        </p:txBody>
      </p:sp>
      <p:sp>
        <p:nvSpPr>
          <p:cNvPr id="32" name="Text 29"/>
          <p:cNvSpPr/>
          <p:nvPr/>
        </p:nvSpPr>
        <p:spPr>
          <a:xfrm>
            <a:off x="3044234" y="2706016"/>
            <a:ext cx="1025964" cy="50423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2.298</a:t>
            </a:r>
            <a:endParaRPr lang="en-US" sz="888" dirty="0"/>
          </a:p>
        </p:txBody>
      </p:sp>
      <p:sp>
        <p:nvSpPr>
          <p:cNvPr id="33" name="Text 30"/>
          <p:cNvSpPr/>
          <p:nvPr/>
        </p:nvSpPr>
        <p:spPr>
          <a:xfrm>
            <a:off x="4040834" y="2667916"/>
            <a:ext cx="1008183" cy="50423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1.798</a:t>
            </a:r>
            <a:endParaRPr lang="en-US" sz="888" dirty="0"/>
          </a:p>
        </p:txBody>
      </p:sp>
      <p:sp>
        <p:nvSpPr>
          <p:cNvPr id="34" name="Text 31"/>
          <p:cNvSpPr/>
          <p:nvPr/>
        </p:nvSpPr>
        <p:spPr>
          <a:xfrm>
            <a:off x="4976749" y="2683156"/>
            <a:ext cx="911457" cy="50423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b="1" dirty="0">
                <a:solidFill>
                  <a:srgbClr val="8A62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78,2%</a:t>
            </a:r>
            <a:endParaRPr lang="en-US" sz="816" dirty="0"/>
          </a:p>
        </p:txBody>
      </p:sp>
      <p:sp>
        <p:nvSpPr>
          <p:cNvPr id="35" name="Text 32"/>
          <p:cNvSpPr/>
          <p:nvPr/>
        </p:nvSpPr>
        <p:spPr>
          <a:xfrm>
            <a:off x="3044234" y="3210246"/>
            <a:ext cx="1025964" cy="50423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3.344</a:t>
            </a:r>
            <a:endParaRPr lang="en-US" sz="888" dirty="0"/>
          </a:p>
        </p:txBody>
      </p:sp>
      <p:sp>
        <p:nvSpPr>
          <p:cNvPr id="36" name="Text 33"/>
          <p:cNvSpPr/>
          <p:nvPr/>
        </p:nvSpPr>
        <p:spPr>
          <a:xfrm>
            <a:off x="4040834" y="3172146"/>
            <a:ext cx="1008183" cy="50423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2.474</a:t>
            </a:r>
            <a:endParaRPr lang="en-US" sz="888" dirty="0"/>
          </a:p>
        </p:txBody>
      </p:sp>
      <p:sp>
        <p:nvSpPr>
          <p:cNvPr id="37" name="Text 34"/>
          <p:cNvSpPr/>
          <p:nvPr/>
        </p:nvSpPr>
        <p:spPr>
          <a:xfrm>
            <a:off x="4976749" y="3187386"/>
            <a:ext cx="911457" cy="50423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b="1" dirty="0">
                <a:solidFill>
                  <a:srgbClr val="8A62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74,0%</a:t>
            </a:r>
            <a:endParaRPr lang="en-US" sz="816" dirty="0"/>
          </a:p>
        </p:txBody>
      </p:sp>
      <p:sp>
        <p:nvSpPr>
          <p:cNvPr id="38" name="Text 35"/>
          <p:cNvSpPr/>
          <p:nvPr/>
        </p:nvSpPr>
        <p:spPr>
          <a:xfrm>
            <a:off x="3044234" y="3714475"/>
            <a:ext cx="1025964" cy="50423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2.731</a:t>
            </a:r>
            <a:endParaRPr lang="en-US" sz="888" dirty="0"/>
          </a:p>
        </p:txBody>
      </p:sp>
      <p:sp>
        <p:nvSpPr>
          <p:cNvPr id="39" name="Text 36"/>
          <p:cNvSpPr/>
          <p:nvPr/>
        </p:nvSpPr>
        <p:spPr>
          <a:xfrm>
            <a:off x="4040834" y="3676375"/>
            <a:ext cx="1008183" cy="50423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2.177</a:t>
            </a:r>
            <a:endParaRPr lang="en-US" sz="888" dirty="0"/>
          </a:p>
        </p:txBody>
      </p:sp>
      <p:sp>
        <p:nvSpPr>
          <p:cNvPr id="40" name="Text 37"/>
          <p:cNvSpPr/>
          <p:nvPr/>
        </p:nvSpPr>
        <p:spPr>
          <a:xfrm>
            <a:off x="4976749" y="3691615"/>
            <a:ext cx="911457" cy="50423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b="1" dirty="0">
                <a:solidFill>
                  <a:srgbClr val="8A62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79,7%</a:t>
            </a:r>
            <a:endParaRPr lang="en-US" sz="816" dirty="0"/>
          </a:p>
        </p:txBody>
      </p:sp>
      <p:sp>
        <p:nvSpPr>
          <p:cNvPr id="41" name="Text 38"/>
          <p:cNvSpPr/>
          <p:nvPr/>
        </p:nvSpPr>
        <p:spPr>
          <a:xfrm>
            <a:off x="3044234" y="4218705"/>
            <a:ext cx="1025964" cy="50423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3.116</a:t>
            </a:r>
            <a:endParaRPr lang="en-US" sz="888" dirty="0"/>
          </a:p>
        </p:txBody>
      </p:sp>
      <p:sp>
        <p:nvSpPr>
          <p:cNvPr id="42" name="Text 39"/>
          <p:cNvSpPr/>
          <p:nvPr/>
        </p:nvSpPr>
        <p:spPr>
          <a:xfrm>
            <a:off x="4040834" y="4180605"/>
            <a:ext cx="1008183" cy="50423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2.443</a:t>
            </a:r>
            <a:endParaRPr lang="en-US" sz="888" dirty="0"/>
          </a:p>
        </p:txBody>
      </p:sp>
      <p:sp>
        <p:nvSpPr>
          <p:cNvPr id="43" name="Text 40"/>
          <p:cNvSpPr/>
          <p:nvPr/>
        </p:nvSpPr>
        <p:spPr>
          <a:xfrm>
            <a:off x="4976749" y="4195845"/>
            <a:ext cx="911457" cy="50423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b="1" dirty="0">
                <a:solidFill>
                  <a:srgbClr val="8A62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78,4%</a:t>
            </a:r>
            <a:endParaRPr lang="en-US" sz="816" dirty="0"/>
          </a:p>
        </p:txBody>
      </p:sp>
      <p:sp>
        <p:nvSpPr>
          <p:cNvPr id="44" name="Text 41"/>
          <p:cNvSpPr/>
          <p:nvPr/>
        </p:nvSpPr>
        <p:spPr>
          <a:xfrm>
            <a:off x="3044234" y="4722935"/>
            <a:ext cx="1025964" cy="50423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2.620</a:t>
            </a:r>
            <a:endParaRPr lang="en-US" sz="888" dirty="0"/>
          </a:p>
        </p:txBody>
      </p:sp>
      <p:sp>
        <p:nvSpPr>
          <p:cNvPr id="45" name="Text 42"/>
          <p:cNvSpPr/>
          <p:nvPr/>
        </p:nvSpPr>
        <p:spPr>
          <a:xfrm>
            <a:off x="4040834" y="4684835"/>
            <a:ext cx="1008183" cy="50423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2.182</a:t>
            </a:r>
            <a:endParaRPr lang="en-US" sz="888" dirty="0"/>
          </a:p>
        </p:txBody>
      </p:sp>
      <p:sp>
        <p:nvSpPr>
          <p:cNvPr id="46" name="Text 43"/>
          <p:cNvSpPr/>
          <p:nvPr/>
        </p:nvSpPr>
        <p:spPr>
          <a:xfrm>
            <a:off x="4976749" y="4700075"/>
            <a:ext cx="911457" cy="50423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83,3%</a:t>
            </a:r>
            <a:endParaRPr lang="en-US" sz="816" dirty="0"/>
          </a:p>
        </p:txBody>
      </p:sp>
      <p:sp>
        <p:nvSpPr>
          <p:cNvPr id="47" name="Text 44"/>
          <p:cNvSpPr/>
          <p:nvPr/>
        </p:nvSpPr>
        <p:spPr>
          <a:xfrm>
            <a:off x="4976749" y="5204304"/>
            <a:ext cx="911457" cy="459879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79,0%</a:t>
            </a:r>
            <a:endParaRPr lang="en-US" sz="816" dirty="0"/>
          </a:p>
        </p:txBody>
      </p:sp>
      <p:sp>
        <p:nvSpPr>
          <p:cNvPr id="48" name="Text 45"/>
          <p:cNvSpPr/>
          <p:nvPr/>
        </p:nvSpPr>
        <p:spPr>
          <a:xfrm>
            <a:off x="10416536" y="2180236"/>
            <a:ext cx="1028417" cy="49530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b="1" dirty="0">
                <a:solidFill>
                  <a:srgbClr val="8A62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54,0%</a:t>
            </a:r>
            <a:endParaRPr lang="en-US" sz="816" dirty="0"/>
          </a:p>
        </p:txBody>
      </p:sp>
      <p:sp>
        <p:nvSpPr>
          <p:cNvPr id="49" name="Text 46"/>
          <p:cNvSpPr/>
          <p:nvPr/>
        </p:nvSpPr>
        <p:spPr>
          <a:xfrm>
            <a:off x="10416536" y="2675536"/>
            <a:ext cx="1028417" cy="50423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b="1" dirty="0">
                <a:solidFill>
                  <a:srgbClr val="8A62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54,2%</a:t>
            </a:r>
            <a:endParaRPr lang="en-US" sz="816" dirty="0"/>
          </a:p>
        </p:txBody>
      </p:sp>
      <p:sp>
        <p:nvSpPr>
          <p:cNvPr id="50" name="Text 47"/>
          <p:cNvSpPr/>
          <p:nvPr/>
        </p:nvSpPr>
        <p:spPr>
          <a:xfrm>
            <a:off x="10416536" y="3179766"/>
            <a:ext cx="1028417" cy="50423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72,2%</a:t>
            </a:r>
            <a:endParaRPr lang="en-US" sz="816" dirty="0"/>
          </a:p>
        </p:txBody>
      </p:sp>
      <p:sp>
        <p:nvSpPr>
          <p:cNvPr id="51" name="Text 48"/>
          <p:cNvSpPr/>
          <p:nvPr/>
        </p:nvSpPr>
        <p:spPr>
          <a:xfrm>
            <a:off x="10416536" y="3683995"/>
            <a:ext cx="1028417" cy="50423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75,8%</a:t>
            </a:r>
            <a:endParaRPr lang="en-US" sz="816" dirty="0"/>
          </a:p>
        </p:txBody>
      </p:sp>
      <p:sp>
        <p:nvSpPr>
          <p:cNvPr id="52" name="Text 49"/>
          <p:cNvSpPr/>
          <p:nvPr/>
        </p:nvSpPr>
        <p:spPr>
          <a:xfrm>
            <a:off x="10416536" y="4188225"/>
            <a:ext cx="1028417" cy="50423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68,0%</a:t>
            </a:r>
            <a:endParaRPr lang="en-US" sz="816" dirty="0"/>
          </a:p>
        </p:txBody>
      </p:sp>
      <p:sp>
        <p:nvSpPr>
          <p:cNvPr id="53" name="Text 50"/>
          <p:cNvSpPr/>
          <p:nvPr/>
        </p:nvSpPr>
        <p:spPr>
          <a:xfrm>
            <a:off x="10416536" y="4692455"/>
            <a:ext cx="1028417" cy="50423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85,0%</a:t>
            </a:r>
            <a:endParaRPr lang="en-US" sz="816" dirty="0"/>
          </a:p>
        </p:txBody>
      </p:sp>
      <p:sp>
        <p:nvSpPr>
          <p:cNvPr id="54" name="Text 51"/>
          <p:cNvSpPr/>
          <p:nvPr/>
        </p:nvSpPr>
        <p:spPr>
          <a:xfrm>
            <a:off x="10416536" y="5196684"/>
            <a:ext cx="1028417" cy="459879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69,2%</a:t>
            </a:r>
            <a:endParaRPr lang="en-US" sz="816" dirty="0"/>
          </a:p>
        </p:txBody>
      </p:sp>
      <p:sp>
        <p:nvSpPr>
          <p:cNvPr id="55" name="Text 52"/>
          <p:cNvSpPr/>
          <p:nvPr/>
        </p:nvSpPr>
        <p:spPr>
          <a:xfrm>
            <a:off x="6286343" y="1085850"/>
            <a:ext cx="363927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2.474</a:t>
            </a:r>
            <a:endParaRPr lang="en-US" sz="1020" dirty="0"/>
          </a:p>
        </p:txBody>
      </p:sp>
      <p:sp>
        <p:nvSpPr>
          <p:cNvPr id="56" name="Text 53"/>
          <p:cNvSpPr/>
          <p:nvPr/>
        </p:nvSpPr>
        <p:spPr>
          <a:xfrm>
            <a:off x="9067573" y="1085850"/>
            <a:ext cx="370237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FF6B35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4.625</a:t>
            </a:r>
            <a:endParaRPr lang="en-US" sz="1020" dirty="0"/>
          </a:p>
        </p:txBody>
      </p:sp>
      <p:sp>
        <p:nvSpPr>
          <p:cNvPr id="57" name="Text 54"/>
          <p:cNvSpPr/>
          <p:nvPr/>
        </p:nvSpPr>
        <p:spPr>
          <a:xfrm>
            <a:off x="1490284" y="5227164"/>
            <a:ext cx="987642" cy="459879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123*</a:t>
            </a:r>
            <a:endParaRPr lang="en-US" sz="888" dirty="0"/>
          </a:p>
        </p:txBody>
      </p:sp>
      <p:sp>
        <p:nvSpPr>
          <p:cNvPr id="58" name="Text 55"/>
          <p:cNvSpPr/>
          <p:nvPr/>
        </p:nvSpPr>
        <p:spPr>
          <a:xfrm>
            <a:off x="7165294" y="5227164"/>
            <a:ext cx="1114105" cy="459879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122*</a:t>
            </a:r>
            <a:endParaRPr lang="en-US" sz="888" dirty="0"/>
          </a:p>
        </p:txBody>
      </p:sp>
      <p:sp>
        <p:nvSpPr>
          <p:cNvPr id="59" name="Text 56"/>
          <p:cNvSpPr/>
          <p:nvPr/>
        </p:nvSpPr>
        <p:spPr>
          <a:xfrm>
            <a:off x="685783" y="1982116"/>
            <a:ext cx="858266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marL="0" indent="0" algn="l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Mes</a:t>
            </a:r>
            <a:endParaRPr lang="en-US" sz="888" dirty="0"/>
          </a:p>
        </p:txBody>
      </p:sp>
      <p:sp>
        <p:nvSpPr>
          <p:cNvPr id="60" name="Text 57"/>
          <p:cNvSpPr/>
          <p:nvPr/>
        </p:nvSpPr>
        <p:spPr>
          <a:xfrm>
            <a:off x="2460041" y="1982116"/>
            <a:ext cx="614076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PDV</a:t>
            </a:r>
            <a:endParaRPr lang="en-US" sz="888" dirty="0"/>
          </a:p>
        </p:txBody>
      </p:sp>
      <p:sp>
        <p:nvSpPr>
          <p:cNvPr id="61" name="Text 58"/>
          <p:cNvSpPr/>
          <p:nvPr/>
        </p:nvSpPr>
        <p:spPr>
          <a:xfrm>
            <a:off x="685783" y="2210716"/>
            <a:ext cx="858266" cy="49530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88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</a:t>
            </a:r>
            <a:endParaRPr lang="en-US" sz="888" dirty="0"/>
          </a:p>
        </p:txBody>
      </p:sp>
      <p:sp>
        <p:nvSpPr>
          <p:cNvPr id="62" name="Text 59"/>
          <p:cNvSpPr/>
          <p:nvPr/>
        </p:nvSpPr>
        <p:spPr>
          <a:xfrm>
            <a:off x="1490284" y="2210716"/>
            <a:ext cx="987642" cy="49530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147</a:t>
            </a:r>
            <a:endParaRPr lang="en-US" sz="888" dirty="0"/>
          </a:p>
        </p:txBody>
      </p:sp>
      <p:sp>
        <p:nvSpPr>
          <p:cNvPr id="63" name="Text 60"/>
          <p:cNvSpPr/>
          <p:nvPr/>
        </p:nvSpPr>
        <p:spPr>
          <a:xfrm>
            <a:off x="685783" y="2706016"/>
            <a:ext cx="858266" cy="50423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88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</a:t>
            </a:r>
            <a:endParaRPr lang="en-US" sz="888" dirty="0"/>
          </a:p>
        </p:txBody>
      </p:sp>
      <p:sp>
        <p:nvSpPr>
          <p:cNvPr id="64" name="Text 61"/>
          <p:cNvSpPr/>
          <p:nvPr/>
        </p:nvSpPr>
        <p:spPr>
          <a:xfrm>
            <a:off x="1490284" y="2706016"/>
            <a:ext cx="987642" cy="50423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146</a:t>
            </a:r>
            <a:endParaRPr lang="en-US" sz="888" dirty="0"/>
          </a:p>
        </p:txBody>
      </p:sp>
      <p:sp>
        <p:nvSpPr>
          <p:cNvPr id="65" name="Text 62"/>
          <p:cNvSpPr/>
          <p:nvPr/>
        </p:nvSpPr>
        <p:spPr>
          <a:xfrm>
            <a:off x="685783" y="3210246"/>
            <a:ext cx="858266" cy="50423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88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</a:t>
            </a:r>
            <a:endParaRPr lang="en-US" sz="888" dirty="0"/>
          </a:p>
        </p:txBody>
      </p:sp>
      <p:sp>
        <p:nvSpPr>
          <p:cNvPr id="66" name="Text 63"/>
          <p:cNvSpPr/>
          <p:nvPr/>
        </p:nvSpPr>
        <p:spPr>
          <a:xfrm>
            <a:off x="1490284" y="3210246"/>
            <a:ext cx="987642" cy="50423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135</a:t>
            </a:r>
            <a:endParaRPr lang="en-US" sz="888" dirty="0"/>
          </a:p>
        </p:txBody>
      </p:sp>
      <p:sp>
        <p:nvSpPr>
          <p:cNvPr id="67" name="Text 64"/>
          <p:cNvSpPr/>
          <p:nvPr/>
        </p:nvSpPr>
        <p:spPr>
          <a:xfrm>
            <a:off x="685783" y="3714475"/>
            <a:ext cx="858266" cy="50423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88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</a:t>
            </a:r>
            <a:endParaRPr lang="en-US" sz="888" dirty="0"/>
          </a:p>
        </p:txBody>
      </p:sp>
      <p:sp>
        <p:nvSpPr>
          <p:cNvPr id="68" name="Text 65"/>
          <p:cNvSpPr/>
          <p:nvPr/>
        </p:nvSpPr>
        <p:spPr>
          <a:xfrm>
            <a:off x="1490284" y="3714475"/>
            <a:ext cx="987642" cy="50423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118</a:t>
            </a:r>
            <a:endParaRPr lang="en-US" sz="888" dirty="0"/>
          </a:p>
        </p:txBody>
      </p:sp>
      <p:sp>
        <p:nvSpPr>
          <p:cNvPr id="69" name="Text 66"/>
          <p:cNvSpPr/>
          <p:nvPr/>
        </p:nvSpPr>
        <p:spPr>
          <a:xfrm>
            <a:off x="685783" y="4218705"/>
            <a:ext cx="858266" cy="50423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88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</a:t>
            </a:r>
            <a:endParaRPr lang="en-US" sz="888" dirty="0"/>
          </a:p>
        </p:txBody>
      </p:sp>
      <p:sp>
        <p:nvSpPr>
          <p:cNvPr id="70" name="Text 67"/>
          <p:cNvSpPr/>
          <p:nvPr/>
        </p:nvSpPr>
        <p:spPr>
          <a:xfrm>
            <a:off x="685783" y="4722935"/>
            <a:ext cx="858266" cy="50423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88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</a:t>
            </a:r>
            <a:endParaRPr lang="en-US" sz="888" dirty="0"/>
          </a:p>
        </p:txBody>
      </p:sp>
      <p:sp>
        <p:nvSpPr>
          <p:cNvPr id="71" name="Text 68"/>
          <p:cNvSpPr/>
          <p:nvPr/>
        </p:nvSpPr>
        <p:spPr>
          <a:xfrm>
            <a:off x="2460041" y="5227164"/>
            <a:ext cx="614076" cy="459879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74*</a:t>
            </a:r>
            <a:endParaRPr lang="en-US" sz="888" dirty="0"/>
          </a:p>
        </p:txBody>
      </p:sp>
      <p:sp>
        <p:nvSpPr>
          <p:cNvPr id="72" name="Text 69"/>
          <p:cNvSpPr/>
          <p:nvPr/>
        </p:nvSpPr>
        <p:spPr>
          <a:xfrm>
            <a:off x="6257769" y="1982116"/>
            <a:ext cx="968174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marL="0" indent="0" algn="l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Mes</a:t>
            </a:r>
            <a:endParaRPr lang="en-US" sz="888" dirty="0"/>
          </a:p>
        </p:txBody>
      </p:sp>
      <p:sp>
        <p:nvSpPr>
          <p:cNvPr id="73" name="Text 70"/>
          <p:cNvSpPr/>
          <p:nvPr/>
        </p:nvSpPr>
        <p:spPr>
          <a:xfrm>
            <a:off x="6257769" y="2210716"/>
            <a:ext cx="968174" cy="49530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88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</a:t>
            </a:r>
            <a:endParaRPr lang="en-US" sz="888" dirty="0"/>
          </a:p>
        </p:txBody>
      </p:sp>
      <p:sp>
        <p:nvSpPr>
          <p:cNvPr id="74" name="Text 71"/>
          <p:cNvSpPr/>
          <p:nvPr/>
        </p:nvSpPr>
        <p:spPr>
          <a:xfrm>
            <a:off x="7165294" y="2210716"/>
            <a:ext cx="1114105" cy="49530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148</a:t>
            </a:r>
            <a:endParaRPr lang="en-US" sz="888" dirty="0"/>
          </a:p>
        </p:txBody>
      </p:sp>
      <p:sp>
        <p:nvSpPr>
          <p:cNvPr id="75" name="Text 72"/>
          <p:cNvSpPr/>
          <p:nvPr/>
        </p:nvSpPr>
        <p:spPr>
          <a:xfrm>
            <a:off x="6257769" y="2706016"/>
            <a:ext cx="968174" cy="50423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88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</a:t>
            </a:r>
            <a:endParaRPr lang="en-US" sz="888" dirty="0"/>
          </a:p>
        </p:txBody>
      </p:sp>
      <p:sp>
        <p:nvSpPr>
          <p:cNvPr id="76" name="Text 73"/>
          <p:cNvSpPr/>
          <p:nvPr/>
        </p:nvSpPr>
        <p:spPr>
          <a:xfrm>
            <a:off x="7165294" y="2706016"/>
            <a:ext cx="1114105" cy="50423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139</a:t>
            </a:r>
            <a:endParaRPr lang="en-US" sz="888" dirty="0"/>
          </a:p>
        </p:txBody>
      </p:sp>
      <p:sp>
        <p:nvSpPr>
          <p:cNvPr id="77" name="Text 74"/>
          <p:cNvSpPr/>
          <p:nvPr/>
        </p:nvSpPr>
        <p:spPr>
          <a:xfrm>
            <a:off x="8245686" y="2706016"/>
            <a:ext cx="1157486" cy="50423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120</a:t>
            </a:r>
            <a:endParaRPr lang="en-US" sz="888" dirty="0"/>
          </a:p>
        </p:txBody>
      </p:sp>
      <p:sp>
        <p:nvSpPr>
          <p:cNvPr id="78" name="Text 75"/>
          <p:cNvSpPr/>
          <p:nvPr/>
        </p:nvSpPr>
        <p:spPr>
          <a:xfrm>
            <a:off x="6257769" y="3210246"/>
            <a:ext cx="968174" cy="50423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88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</a:t>
            </a:r>
            <a:endParaRPr lang="en-US" sz="888" dirty="0"/>
          </a:p>
        </p:txBody>
      </p:sp>
      <p:sp>
        <p:nvSpPr>
          <p:cNvPr id="79" name="Text 76"/>
          <p:cNvSpPr/>
          <p:nvPr/>
        </p:nvSpPr>
        <p:spPr>
          <a:xfrm>
            <a:off x="7165294" y="3210246"/>
            <a:ext cx="1114105" cy="50423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135</a:t>
            </a:r>
            <a:endParaRPr lang="en-US" sz="888" dirty="0"/>
          </a:p>
        </p:txBody>
      </p:sp>
      <p:sp>
        <p:nvSpPr>
          <p:cNvPr id="80" name="Text 77"/>
          <p:cNvSpPr/>
          <p:nvPr/>
        </p:nvSpPr>
        <p:spPr>
          <a:xfrm>
            <a:off x="8245686" y="3210246"/>
            <a:ext cx="1157486" cy="50423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169</a:t>
            </a:r>
            <a:endParaRPr lang="en-US" sz="888" dirty="0"/>
          </a:p>
        </p:txBody>
      </p:sp>
      <p:sp>
        <p:nvSpPr>
          <p:cNvPr id="81" name="Text 78"/>
          <p:cNvSpPr/>
          <p:nvPr/>
        </p:nvSpPr>
        <p:spPr>
          <a:xfrm>
            <a:off x="9309084" y="3179766"/>
            <a:ext cx="1137405" cy="50423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122</a:t>
            </a:r>
            <a:endParaRPr lang="en-US" sz="888" dirty="0"/>
          </a:p>
        </p:txBody>
      </p:sp>
      <p:sp>
        <p:nvSpPr>
          <p:cNvPr id="82" name="Text 79"/>
          <p:cNvSpPr/>
          <p:nvPr/>
        </p:nvSpPr>
        <p:spPr>
          <a:xfrm>
            <a:off x="6257769" y="3714475"/>
            <a:ext cx="968174" cy="50423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88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</a:t>
            </a:r>
            <a:endParaRPr lang="en-US" sz="888" dirty="0"/>
          </a:p>
        </p:txBody>
      </p:sp>
      <p:sp>
        <p:nvSpPr>
          <p:cNvPr id="83" name="Text 80"/>
          <p:cNvSpPr/>
          <p:nvPr/>
        </p:nvSpPr>
        <p:spPr>
          <a:xfrm>
            <a:off x="7165294" y="3714475"/>
            <a:ext cx="1114105" cy="50423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118</a:t>
            </a:r>
            <a:endParaRPr lang="en-US" sz="888" dirty="0"/>
          </a:p>
        </p:txBody>
      </p:sp>
      <p:sp>
        <p:nvSpPr>
          <p:cNvPr id="84" name="Text 81"/>
          <p:cNvSpPr/>
          <p:nvPr/>
        </p:nvSpPr>
        <p:spPr>
          <a:xfrm>
            <a:off x="8245686" y="3714475"/>
            <a:ext cx="1157486" cy="50423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120</a:t>
            </a:r>
            <a:endParaRPr lang="en-US" sz="888" dirty="0"/>
          </a:p>
        </p:txBody>
      </p:sp>
      <p:sp>
        <p:nvSpPr>
          <p:cNvPr id="85" name="Text 82"/>
          <p:cNvSpPr/>
          <p:nvPr/>
        </p:nvSpPr>
        <p:spPr>
          <a:xfrm>
            <a:off x="6257769" y="4218705"/>
            <a:ext cx="968174" cy="50423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88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</a:t>
            </a:r>
            <a:endParaRPr lang="en-US" sz="888" dirty="0"/>
          </a:p>
        </p:txBody>
      </p:sp>
      <p:sp>
        <p:nvSpPr>
          <p:cNvPr id="86" name="Text 83"/>
          <p:cNvSpPr/>
          <p:nvPr/>
        </p:nvSpPr>
        <p:spPr>
          <a:xfrm>
            <a:off x="8245686" y="4218705"/>
            <a:ext cx="1157486" cy="50423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103</a:t>
            </a:r>
            <a:endParaRPr lang="en-US" sz="888" dirty="0"/>
          </a:p>
        </p:txBody>
      </p:sp>
      <p:sp>
        <p:nvSpPr>
          <p:cNvPr id="87" name="Text 84"/>
          <p:cNvSpPr/>
          <p:nvPr/>
        </p:nvSpPr>
        <p:spPr>
          <a:xfrm>
            <a:off x="6257769" y="4722935"/>
            <a:ext cx="968174" cy="50423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88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</a:t>
            </a:r>
            <a:endParaRPr lang="en-US" sz="888" dirty="0"/>
          </a:p>
        </p:txBody>
      </p:sp>
      <p:sp>
        <p:nvSpPr>
          <p:cNvPr id="88" name="Text 85"/>
          <p:cNvSpPr/>
          <p:nvPr/>
        </p:nvSpPr>
        <p:spPr>
          <a:xfrm>
            <a:off x="8245686" y="4722935"/>
            <a:ext cx="1157486" cy="50423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100</a:t>
            </a:r>
            <a:endParaRPr lang="en-US" sz="888" dirty="0"/>
          </a:p>
        </p:txBody>
      </p:sp>
      <p:sp>
        <p:nvSpPr>
          <p:cNvPr id="89" name="Text 86"/>
          <p:cNvSpPr/>
          <p:nvPr/>
        </p:nvSpPr>
        <p:spPr>
          <a:xfrm>
            <a:off x="8245686" y="5227164"/>
            <a:ext cx="1157486" cy="459879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675</a:t>
            </a:r>
            <a:endParaRPr lang="en-US" sz="888" dirty="0"/>
          </a:p>
        </p:txBody>
      </p:sp>
      <p:sp>
        <p:nvSpPr>
          <p:cNvPr id="90" name="Text 87"/>
          <p:cNvSpPr/>
          <p:nvPr/>
        </p:nvSpPr>
        <p:spPr>
          <a:xfrm>
            <a:off x="9370044" y="5227164"/>
            <a:ext cx="1137405" cy="459879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467</a:t>
            </a:r>
            <a:endParaRPr lang="en-US" sz="888" dirty="0"/>
          </a:p>
        </p:txBody>
      </p:sp>
      <p:sp>
        <p:nvSpPr>
          <p:cNvPr id="91" name="Text 88"/>
          <p:cNvSpPr/>
          <p:nvPr/>
        </p:nvSpPr>
        <p:spPr>
          <a:xfrm>
            <a:off x="3505112" y="1085850"/>
            <a:ext cx="274320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467</a:t>
            </a:r>
            <a:endParaRPr lang="en-US" sz="1020" dirty="0"/>
          </a:p>
        </p:txBody>
      </p:sp>
      <p:sp>
        <p:nvSpPr>
          <p:cNvPr id="92" name="Text 89"/>
          <p:cNvSpPr/>
          <p:nvPr/>
        </p:nvSpPr>
        <p:spPr>
          <a:xfrm>
            <a:off x="2460041" y="2210716"/>
            <a:ext cx="614076" cy="49530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91</a:t>
            </a:r>
            <a:endParaRPr lang="en-US" sz="888" dirty="0"/>
          </a:p>
        </p:txBody>
      </p:sp>
      <p:sp>
        <p:nvSpPr>
          <p:cNvPr id="93" name="Text 90"/>
          <p:cNvSpPr/>
          <p:nvPr/>
        </p:nvSpPr>
        <p:spPr>
          <a:xfrm>
            <a:off x="2460041" y="2706016"/>
            <a:ext cx="614076" cy="50423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90</a:t>
            </a:r>
            <a:endParaRPr lang="en-US" sz="888" dirty="0"/>
          </a:p>
        </p:txBody>
      </p:sp>
      <p:sp>
        <p:nvSpPr>
          <p:cNvPr id="94" name="Text 91"/>
          <p:cNvSpPr/>
          <p:nvPr/>
        </p:nvSpPr>
        <p:spPr>
          <a:xfrm>
            <a:off x="2460041" y="3210246"/>
            <a:ext cx="614076" cy="50423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82</a:t>
            </a:r>
            <a:endParaRPr lang="en-US" sz="888" dirty="0"/>
          </a:p>
        </p:txBody>
      </p:sp>
      <p:sp>
        <p:nvSpPr>
          <p:cNvPr id="95" name="Text 92"/>
          <p:cNvSpPr/>
          <p:nvPr/>
        </p:nvSpPr>
        <p:spPr>
          <a:xfrm>
            <a:off x="2460041" y="3714475"/>
            <a:ext cx="614076" cy="50423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72</a:t>
            </a:r>
            <a:endParaRPr lang="en-US" sz="888" dirty="0"/>
          </a:p>
        </p:txBody>
      </p:sp>
      <p:sp>
        <p:nvSpPr>
          <p:cNvPr id="96" name="Text 93"/>
          <p:cNvSpPr/>
          <p:nvPr/>
        </p:nvSpPr>
        <p:spPr>
          <a:xfrm>
            <a:off x="1490284" y="4218705"/>
            <a:ext cx="987642" cy="50423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93</a:t>
            </a:r>
            <a:endParaRPr lang="en-US" sz="888" dirty="0"/>
          </a:p>
        </p:txBody>
      </p:sp>
      <p:sp>
        <p:nvSpPr>
          <p:cNvPr id="97" name="Text 94"/>
          <p:cNvSpPr/>
          <p:nvPr/>
        </p:nvSpPr>
        <p:spPr>
          <a:xfrm>
            <a:off x="2460041" y="4218705"/>
            <a:ext cx="614076" cy="50423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57</a:t>
            </a:r>
            <a:endParaRPr lang="en-US" sz="888" dirty="0"/>
          </a:p>
        </p:txBody>
      </p:sp>
      <p:sp>
        <p:nvSpPr>
          <p:cNvPr id="98" name="Text 95"/>
          <p:cNvSpPr/>
          <p:nvPr/>
        </p:nvSpPr>
        <p:spPr>
          <a:xfrm>
            <a:off x="1490284" y="4722935"/>
            <a:ext cx="987642" cy="50423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96</a:t>
            </a:r>
            <a:endParaRPr lang="en-US" sz="888" dirty="0"/>
          </a:p>
        </p:txBody>
      </p:sp>
      <p:sp>
        <p:nvSpPr>
          <p:cNvPr id="99" name="Text 96"/>
          <p:cNvSpPr/>
          <p:nvPr/>
        </p:nvSpPr>
        <p:spPr>
          <a:xfrm>
            <a:off x="2460041" y="4722935"/>
            <a:ext cx="614076" cy="50423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52</a:t>
            </a:r>
            <a:endParaRPr lang="en-US" sz="888" dirty="0"/>
          </a:p>
        </p:txBody>
      </p:sp>
      <p:sp>
        <p:nvSpPr>
          <p:cNvPr id="100" name="Text 97"/>
          <p:cNvSpPr/>
          <p:nvPr/>
        </p:nvSpPr>
        <p:spPr>
          <a:xfrm>
            <a:off x="8245686" y="2210716"/>
            <a:ext cx="1157486" cy="49530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63</a:t>
            </a:r>
            <a:endParaRPr lang="en-US" sz="888" dirty="0"/>
          </a:p>
        </p:txBody>
      </p:sp>
      <p:sp>
        <p:nvSpPr>
          <p:cNvPr id="101" name="Text 98"/>
          <p:cNvSpPr/>
          <p:nvPr/>
        </p:nvSpPr>
        <p:spPr>
          <a:xfrm>
            <a:off x="9309084" y="2180236"/>
            <a:ext cx="1137405" cy="49530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34</a:t>
            </a:r>
            <a:endParaRPr lang="en-US" sz="888" dirty="0"/>
          </a:p>
        </p:txBody>
      </p:sp>
      <p:sp>
        <p:nvSpPr>
          <p:cNvPr id="102" name="Text 99"/>
          <p:cNvSpPr/>
          <p:nvPr/>
        </p:nvSpPr>
        <p:spPr>
          <a:xfrm>
            <a:off x="9309084" y="2675536"/>
            <a:ext cx="1137405" cy="50423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65</a:t>
            </a:r>
            <a:endParaRPr lang="en-US" sz="888" dirty="0"/>
          </a:p>
        </p:txBody>
      </p:sp>
      <p:sp>
        <p:nvSpPr>
          <p:cNvPr id="103" name="Text 100"/>
          <p:cNvSpPr/>
          <p:nvPr/>
        </p:nvSpPr>
        <p:spPr>
          <a:xfrm>
            <a:off x="9309084" y="3683995"/>
            <a:ext cx="1137405" cy="50423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91</a:t>
            </a:r>
            <a:endParaRPr lang="en-US" sz="888" dirty="0"/>
          </a:p>
        </p:txBody>
      </p:sp>
      <p:sp>
        <p:nvSpPr>
          <p:cNvPr id="104" name="Text 101"/>
          <p:cNvSpPr/>
          <p:nvPr/>
        </p:nvSpPr>
        <p:spPr>
          <a:xfrm>
            <a:off x="7165294" y="4218705"/>
            <a:ext cx="1114105" cy="50423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93</a:t>
            </a:r>
            <a:endParaRPr lang="en-US" sz="888" dirty="0"/>
          </a:p>
        </p:txBody>
      </p:sp>
      <p:sp>
        <p:nvSpPr>
          <p:cNvPr id="105" name="Text 102"/>
          <p:cNvSpPr/>
          <p:nvPr/>
        </p:nvSpPr>
        <p:spPr>
          <a:xfrm>
            <a:off x="9309084" y="4188225"/>
            <a:ext cx="1137405" cy="50423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70</a:t>
            </a:r>
            <a:endParaRPr lang="en-US" sz="888" dirty="0"/>
          </a:p>
        </p:txBody>
      </p:sp>
      <p:sp>
        <p:nvSpPr>
          <p:cNvPr id="106" name="Text 103"/>
          <p:cNvSpPr/>
          <p:nvPr/>
        </p:nvSpPr>
        <p:spPr>
          <a:xfrm>
            <a:off x="7165294" y="4722935"/>
            <a:ext cx="1114105" cy="50423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96</a:t>
            </a:r>
            <a:endParaRPr lang="en-US" sz="888" dirty="0"/>
          </a:p>
        </p:txBody>
      </p:sp>
      <p:sp>
        <p:nvSpPr>
          <p:cNvPr id="107" name="Text 104"/>
          <p:cNvSpPr/>
          <p:nvPr/>
        </p:nvSpPr>
        <p:spPr>
          <a:xfrm>
            <a:off x="9309084" y="4692455"/>
            <a:ext cx="1137405" cy="50423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85</a:t>
            </a:r>
            <a:endParaRPr lang="en-US" sz="888" dirty="0"/>
          </a:p>
        </p:txBody>
      </p:sp>
      <p:pic>
        <p:nvPicPr>
          <p:cNvPr id="109" name="Picture 108">
            <a:extLst>
              <a:ext uri="{FF2B5EF4-FFF2-40B4-BE49-F238E27FC236}">
                <a16:creationId xmlns:a16="http://schemas.microsoft.com/office/drawing/2014/main" id="{BC2B4BDA-4A06-33B9-5DEB-DA001EED14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34650" y="78120"/>
            <a:ext cx="1530523" cy="45915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>
          <a:extLst>
            <a:ext uri="{FF2B5EF4-FFF2-40B4-BE49-F238E27FC236}">
              <a16:creationId xmlns:a16="http://schemas.microsoft.com/office/drawing/2014/main" id="{740AAD45-2AC5-47C3-2C8D-5864310ED2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119;p21">
            <a:extLst>
              <a:ext uri="{FF2B5EF4-FFF2-40B4-BE49-F238E27FC236}">
                <a16:creationId xmlns:a16="http://schemas.microsoft.com/office/drawing/2014/main" id="{4E492F53-2B4C-7E39-0391-9E055B817B7B}"/>
              </a:ext>
            </a:extLst>
          </p:cNvPr>
          <p:cNvPicPr preferRelativeResize="0"/>
          <p:nvPr/>
        </p:nvPicPr>
        <p:blipFill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2917" b="96806" l="1953" r="96953">
                        <a14:foregroundMark x1="15781" y1="84722" x2="15781" y2="84722"/>
                        <a14:foregroundMark x1="22656" y1="96389" x2="22656" y2="96389"/>
                        <a14:foregroundMark x1="5156" y1="89583" x2="5156" y2="89583"/>
                        <a14:foregroundMark x1="2109" y1="96806" x2="2109" y2="96806"/>
                        <a14:foregroundMark x1="93750" y1="12083" x2="93750" y2="12083"/>
                        <a14:foregroundMark x1="96953" y1="2917" x2="96953" y2="2917"/>
                        <a14:backgroundMark x1="26094" y1="25278" x2="26094" y2="25278"/>
                        <a14:backgroundMark x1="28906" y1="25972" x2="28906" y2="25972"/>
                        <a14:backgroundMark x1="11563" y1="11528" x2="11563" y2="11528"/>
                        <a14:backgroundMark x1="7500" y1="6389" x2="28750" y2="25972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flipH="1">
            <a:off x="0" y="-13302"/>
            <a:ext cx="12192000" cy="6871303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113;p18" descr="xumainsurtech.com">
            <a:extLst>
              <a:ext uri="{FF2B5EF4-FFF2-40B4-BE49-F238E27FC236}">
                <a16:creationId xmlns:a16="http://schemas.microsoft.com/office/drawing/2014/main" id="{07C5EC89-D2B7-A305-5F4D-52334CE9D5A7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462801" y="6377010"/>
            <a:ext cx="1274328" cy="36361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654;p42">
            <a:extLst>
              <a:ext uri="{FF2B5EF4-FFF2-40B4-BE49-F238E27FC236}">
                <a16:creationId xmlns:a16="http://schemas.microsoft.com/office/drawing/2014/main" id="{D3544C8A-93F1-4C6E-3193-3635D6F2053C}"/>
              </a:ext>
            </a:extLst>
          </p:cNvPr>
          <p:cNvSpPr txBox="1"/>
          <p:nvPr/>
        </p:nvSpPr>
        <p:spPr>
          <a:xfrm>
            <a:off x="461627" y="2270103"/>
            <a:ext cx="11268747" cy="2051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ctr"/>
            <a:r>
              <a:rPr lang="es-CO" sz="11733" dirty="0">
                <a:solidFill>
                  <a:srgbClr val="120180"/>
                </a:solidFill>
                <a:latin typeface="Poppins Black"/>
                <a:ea typeface="Poppins Black"/>
                <a:cs typeface="Poppins Black"/>
              </a:rPr>
              <a:t>TRADICIONAL</a:t>
            </a:r>
            <a:endParaRPr lang="es-CO" sz="11733" dirty="0">
              <a:solidFill>
                <a:srgbClr val="120180"/>
              </a:solidFill>
              <a:latin typeface="Poppins Light" panose="00000400000000000000" pitchFamily="2" charset="0"/>
              <a:ea typeface="Poppins Black"/>
              <a:cs typeface="Poppins Light" panose="000004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74075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Image 0" descr="C:\01_Repositorios\13_Presentaciones\dash\tradicional\ppt_slides\sk_00_main.png">
            <a:extLst>
              <a:ext uri="{FF2B5EF4-FFF2-40B4-BE49-F238E27FC236}">
                <a16:creationId xmlns:a16="http://schemas.microsoft.com/office/drawing/2014/main" id="{C22D9048-3C56-649F-7584-9B8B2D8B6E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76279" y="6217741"/>
            <a:ext cx="10605480" cy="2953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64" b="1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Logro Semestral: El canal Tradicional concentró un esfuerzo récord de formación en marzo (148 visitas y 93 asesores capacitados). Con la posterior consolidación y el empalme con Retail, el canal centró su capacidad y cobertura promedio del semestre alcanzó un 7,5%, identificando grandes oportunidades de crecimiento en los aliados de mayor volumen.</a:t>
            </a:r>
            <a:endParaRPr lang="en-US" sz="864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6314917" y="5417790"/>
            <a:ext cx="4679485" cy="1521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96" dirty="0">
                <a:solidFill>
                  <a:srgbClr val="9098B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La concentración de visitas en marzo estableció la base operativa del canal en el primer semestre.</a:t>
            </a:r>
            <a:endParaRPr lang="en-US" sz="69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723882" y="5417790"/>
            <a:ext cx="30976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96" dirty="0">
                <a:solidFill>
                  <a:srgbClr val="9098B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* Asesores únicos con al menos una visita registrada en el mes.</a:t>
            </a:r>
            <a:endParaRPr lang="en-US" sz="69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6362541" y="1421160"/>
            <a:ext cx="31696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96" dirty="0">
                <a:solidFill>
                  <a:srgbClr val="9098B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Cobertura promedio del canal Tradicional en el semestre</a:t>
            </a:r>
            <a:endParaRPr lang="en-US" sz="69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781030" y="1421160"/>
            <a:ext cx="250070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96" dirty="0">
                <a:solidFill>
                  <a:srgbClr val="9098B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Total de formación acumulada (Ene - Jun 2026)</a:t>
            </a:r>
            <a:endParaRPr lang="en-US" sz="69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571486" y="209550"/>
            <a:ext cx="3817317" cy="196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60" b="1" dirty="0">
                <a:solidFill>
                  <a:srgbClr val="FFFFFF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Ejecución de Visitas de Formación · 1S 2026</a:t>
            </a:r>
            <a:endParaRPr lang="en-US" sz="126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876278" y="2049810"/>
            <a:ext cx="1920011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36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Visitas, asesores y PDV por mes</a:t>
            </a:r>
            <a:endParaRPr lang="en-US" sz="93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6467313" y="2049810"/>
            <a:ext cx="1750583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36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Evolución de visitas por mes</a:t>
            </a:r>
            <a:endParaRPr lang="en-US" sz="93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781030" y="1009650"/>
            <a:ext cx="13372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80" b="1" dirty="0">
                <a:solidFill>
                  <a:srgbClr val="9098B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Visitas Realizadas 1S</a:t>
            </a:r>
            <a:endParaRPr lang="en-US" sz="78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2361894" y="2302245"/>
            <a:ext cx="2118762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Asesores Capacitados</a:t>
            </a:r>
            <a:endParaRPr lang="en-US" sz="888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6362541" y="1009650"/>
            <a:ext cx="1412359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80" b="1" dirty="0">
                <a:solidFill>
                  <a:srgbClr val="9098B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Cobertura PDV Activo</a:t>
            </a:r>
            <a:endParaRPr lang="en-US" sz="78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4438773" y="2302245"/>
            <a:ext cx="1438005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PDV Visitados</a:t>
            </a:r>
            <a:endParaRPr lang="en-US" sz="888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723882" y="3840533"/>
            <a:ext cx="891683" cy="214313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864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Total 1S</a:t>
            </a:r>
            <a:endParaRPr lang="en-US" sz="864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1564573" y="2302245"/>
            <a:ext cx="859032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Visitas</a:t>
            </a:r>
            <a:endParaRPr lang="en-US" sz="888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6362541" y="1143000"/>
            <a:ext cx="574686" cy="264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40" b="1" dirty="0">
                <a:solidFill>
                  <a:srgbClr val="00CD9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7,5 %</a:t>
            </a:r>
            <a:endParaRPr lang="en-US" sz="174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723882" y="2302245"/>
            <a:ext cx="891683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marL="0" indent="0" algn="l">
              <a:buNone/>
            </a:pPr>
            <a:r>
              <a:rPr lang="en-US" sz="888" b="1" dirty="0">
                <a:solidFill>
                  <a:srgbClr val="FFFFFF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Mes</a:t>
            </a:r>
            <a:endParaRPr lang="en-US" sz="888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723882" y="2530845"/>
            <a:ext cx="891683" cy="214313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864" b="1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Ene</a:t>
            </a:r>
            <a:endParaRPr lang="en-US" sz="864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723882" y="2745158"/>
            <a:ext cx="891683" cy="219075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864" b="1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Feb</a:t>
            </a:r>
            <a:endParaRPr lang="en-US" sz="864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723882" y="2964233"/>
            <a:ext cx="891683" cy="219075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864" b="1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Mar</a:t>
            </a:r>
            <a:endParaRPr lang="en-US" sz="864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1564573" y="2964233"/>
            <a:ext cx="859032" cy="219075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64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148</a:t>
            </a:r>
            <a:endParaRPr lang="en-US" sz="864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723882" y="3183308"/>
            <a:ext cx="891683" cy="219075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864" b="1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Abr</a:t>
            </a:r>
            <a:endParaRPr lang="en-US" sz="864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723882" y="3402383"/>
            <a:ext cx="891683" cy="219075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864" b="1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May</a:t>
            </a:r>
            <a:endParaRPr lang="en-US" sz="864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723882" y="3621458"/>
            <a:ext cx="891683" cy="219075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864" b="1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Jun</a:t>
            </a:r>
            <a:endParaRPr lang="en-US" sz="864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6" name="Text 23"/>
          <p:cNvSpPr/>
          <p:nvPr/>
        </p:nvSpPr>
        <p:spPr>
          <a:xfrm>
            <a:off x="1564573" y="3840533"/>
            <a:ext cx="859032" cy="214313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64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463</a:t>
            </a:r>
            <a:endParaRPr lang="en-US" sz="864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7" name="Text 24"/>
          <p:cNvSpPr/>
          <p:nvPr/>
        </p:nvSpPr>
        <p:spPr>
          <a:xfrm>
            <a:off x="2361894" y="3840533"/>
            <a:ext cx="2118762" cy="214313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64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388</a:t>
            </a:r>
            <a:endParaRPr lang="en-US" sz="864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8" name="Text 25"/>
          <p:cNvSpPr/>
          <p:nvPr/>
        </p:nvSpPr>
        <p:spPr>
          <a:xfrm>
            <a:off x="4438773" y="3840533"/>
            <a:ext cx="1438005" cy="214313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64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165</a:t>
            </a:r>
            <a:endParaRPr lang="en-US" sz="864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9" name="Text 26"/>
          <p:cNvSpPr/>
          <p:nvPr/>
        </p:nvSpPr>
        <p:spPr>
          <a:xfrm>
            <a:off x="781030" y="1143000"/>
            <a:ext cx="427502" cy="264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40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463</a:t>
            </a:r>
            <a:endParaRPr lang="en-US" sz="174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0" name="Text 27"/>
          <p:cNvSpPr/>
          <p:nvPr/>
        </p:nvSpPr>
        <p:spPr>
          <a:xfrm>
            <a:off x="6440849" y="2354610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80" b="1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Ene</a:t>
            </a:r>
            <a:endParaRPr lang="en-US" sz="78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1" name="Text 28"/>
          <p:cNvSpPr/>
          <p:nvPr/>
        </p:nvSpPr>
        <p:spPr>
          <a:xfrm>
            <a:off x="6443373" y="2583210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80" b="1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Feb</a:t>
            </a:r>
            <a:endParaRPr lang="en-US" sz="78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2" name="Text 29"/>
          <p:cNvSpPr/>
          <p:nvPr/>
        </p:nvSpPr>
        <p:spPr>
          <a:xfrm>
            <a:off x="6438798" y="2811810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80" b="1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Mar</a:t>
            </a:r>
            <a:endParaRPr lang="en-US" sz="78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3" name="Text 30"/>
          <p:cNvSpPr/>
          <p:nvPr/>
        </p:nvSpPr>
        <p:spPr>
          <a:xfrm>
            <a:off x="10994402" y="2811810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80" b="1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148</a:t>
            </a:r>
            <a:endParaRPr lang="en-US" sz="78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4" name="Text 31"/>
          <p:cNvSpPr/>
          <p:nvPr/>
        </p:nvSpPr>
        <p:spPr>
          <a:xfrm>
            <a:off x="6452207" y="3040410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80" b="1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Abr</a:t>
            </a:r>
            <a:endParaRPr lang="en-US" sz="78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5" name="Text 32"/>
          <p:cNvSpPr/>
          <p:nvPr/>
        </p:nvSpPr>
        <p:spPr>
          <a:xfrm>
            <a:off x="6423811" y="3269010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80" b="1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May</a:t>
            </a:r>
            <a:endParaRPr lang="en-US" sz="78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6" name="Text 33"/>
          <p:cNvSpPr/>
          <p:nvPr/>
        </p:nvSpPr>
        <p:spPr>
          <a:xfrm>
            <a:off x="6450787" y="3497610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80" b="1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Jun</a:t>
            </a:r>
            <a:endParaRPr lang="en-US" sz="78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7" name="Text 34"/>
          <p:cNvSpPr/>
          <p:nvPr/>
        </p:nvSpPr>
        <p:spPr>
          <a:xfrm>
            <a:off x="1564573" y="2530845"/>
            <a:ext cx="859032" cy="214313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64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62</a:t>
            </a:r>
            <a:endParaRPr lang="en-US" sz="864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8" name="Text 35"/>
          <p:cNvSpPr/>
          <p:nvPr/>
        </p:nvSpPr>
        <p:spPr>
          <a:xfrm>
            <a:off x="2361894" y="2530845"/>
            <a:ext cx="2118762" cy="214313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64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53</a:t>
            </a:r>
            <a:endParaRPr lang="en-US" sz="864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9" name="Text 36"/>
          <p:cNvSpPr/>
          <p:nvPr/>
        </p:nvSpPr>
        <p:spPr>
          <a:xfrm>
            <a:off x="4438773" y="2530845"/>
            <a:ext cx="1438005" cy="214313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64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31</a:t>
            </a:r>
            <a:endParaRPr lang="en-US" sz="864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0" name="Text 37"/>
          <p:cNvSpPr/>
          <p:nvPr/>
        </p:nvSpPr>
        <p:spPr>
          <a:xfrm>
            <a:off x="1564573" y="2745158"/>
            <a:ext cx="859032" cy="219075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64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76</a:t>
            </a:r>
            <a:endParaRPr lang="en-US" sz="864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1" name="Text 38"/>
          <p:cNvSpPr/>
          <p:nvPr/>
        </p:nvSpPr>
        <p:spPr>
          <a:xfrm>
            <a:off x="2361894" y="2745158"/>
            <a:ext cx="2118762" cy="219075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64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67</a:t>
            </a:r>
            <a:endParaRPr lang="en-US" sz="864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2" name="Text 39"/>
          <p:cNvSpPr/>
          <p:nvPr/>
        </p:nvSpPr>
        <p:spPr>
          <a:xfrm>
            <a:off x="4438773" y="2745158"/>
            <a:ext cx="1438005" cy="219075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64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28</a:t>
            </a:r>
            <a:endParaRPr lang="en-US" sz="864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3" name="Text 40"/>
          <p:cNvSpPr/>
          <p:nvPr/>
        </p:nvSpPr>
        <p:spPr>
          <a:xfrm>
            <a:off x="2361894" y="2964233"/>
            <a:ext cx="2118762" cy="219075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64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93</a:t>
            </a:r>
            <a:endParaRPr lang="en-US" sz="864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4" name="Text 41"/>
          <p:cNvSpPr/>
          <p:nvPr/>
        </p:nvSpPr>
        <p:spPr>
          <a:xfrm>
            <a:off x="4438773" y="2964233"/>
            <a:ext cx="1438005" cy="219075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64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34</a:t>
            </a:r>
            <a:endParaRPr lang="en-US" sz="864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5" name="Text 42"/>
          <p:cNvSpPr/>
          <p:nvPr/>
        </p:nvSpPr>
        <p:spPr>
          <a:xfrm>
            <a:off x="1564573" y="3183308"/>
            <a:ext cx="859032" cy="219075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64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76</a:t>
            </a:r>
            <a:endParaRPr lang="en-US" sz="864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6" name="Text 43"/>
          <p:cNvSpPr/>
          <p:nvPr/>
        </p:nvSpPr>
        <p:spPr>
          <a:xfrm>
            <a:off x="2361894" y="3183308"/>
            <a:ext cx="2118762" cy="219075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64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76</a:t>
            </a:r>
            <a:endParaRPr lang="en-US" sz="864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7" name="Text 44"/>
          <p:cNvSpPr/>
          <p:nvPr/>
        </p:nvSpPr>
        <p:spPr>
          <a:xfrm>
            <a:off x="4438773" y="3183308"/>
            <a:ext cx="1438005" cy="219075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64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27</a:t>
            </a:r>
            <a:endParaRPr lang="en-US" sz="864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8" name="Text 45"/>
          <p:cNvSpPr/>
          <p:nvPr/>
        </p:nvSpPr>
        <p:spPr>
          <a:xfrm>
            <a:off x="1564573" y="3402383"/>
            <a:ext cx="859032" cy="219075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64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58</a:t>
            </a:r>
            <a:endParaRPr lang="en-US" sz="864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9" name="Text 46"/>
          <p:cNvSpPr/>
          <p:nvPr/>
        </p:nvSpPr>
        <p:spPr>
          <a:xfrm>
            <a:off x="2361894" y="3402383"/>
            <a:ext cx="2118762" cy="219075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64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57</a:t>
            </a:r>
            <a:endParaRPr lang="en-US" sz="864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0" name="Text 47"/>
          <p:cNvSpPr/>
          <p:nvPr/>
        </p:nvSpPr>
        <p:spPr>
          <a:xfrm>
            <a:off x="4438773" y="3402383"/>
            <a:ext cx="1438005" cy="219075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64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25</a:t>
            </a:r>
            <a:endParaRPr lang="en-US" sz="864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1" name="Text 48"/>
          <p:cNvSpPr/>
          <p:nvPr/>
        </p:nvSpPr>
        <p:spPr>
          <a:xfrm>
            <a:off x="1564573" y="3621458"/>
            <a:ext cx="859032" cy="219075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64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43</a:t>
            </a:r>
            <a:endParaRPr lang="en-US" sz="864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2" name="Text 49"/>
          <p:cNvSpPr/>
          <p:nvPr/>
        </p:nvSpPr>
        <p:spPr>
          <a:xfrm>
            <a:off x="2361894" y="3621458"/>
            <a:ext cx="2118762" cy="219075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64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42</a:t>
            </a:r>
            <a:endParaRPr lang="en-US" sz="864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3" name="Text 50"/>
          <p:cNvSpPr/>
          <p:nvPr/>
        </p:nvSpPr>
        <p:spPr>
          <a:xfrm>
            <a:off x="4438773" y="3621458"/>
            <a:ext cx="1438005" cy="219075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64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20</a:t>
            </a:r>
            <a:endParaRPr lang="en-US" sz="864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4" name="Text 51"/>
          <p:cNvSpPr/>
          <p:nvPr/>
        </p:nvSpPr>
        <p:spPr>
          <a:xfrm>
            <a:off x="10986596" y="2354610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80" b="1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62</a:t>
            </a:r>
            <a:endParaRPr lang="en-US" sz="78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5" name="Text 52"/>
          <p:cNvSpPr/>
          <p:nvPr/>
        </p:nvSpPr>
        <p:spPr>
          <a:xfrm>
            <a:off x="10986911" y="2583210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80" b="1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76</a:t>
            </a:r>
            <a:endParaRPr lang="en-US" sz="78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6" name="Text 53"/>
          <p:cNvSpPr/>
          <p:nvPr/>
        </p:nvSpPr>
        <p:spPr>
          <a:xfrm>
            <a:off x="10986911" y="3040410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80" b="1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76</a:t>
            </a:r>
            <a:endParaRPr lang="en-US" sz="78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7" name="Text 54"/>
          <p:cNvSpPr/>
          <p:nvPr/>
        </p:nvSpPr>
        <p:spPr>
          <a:xfrm>
            <a:off x="10988962" y="3269010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80" b="1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58</a:t>
            </a:r>
            <a:endParaRPr lang="en-US" sz="78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8" name="Text 55"/>
          <p:cNvSpPr/>
          <p:nvPr/>
        </p:nvSpPr>
        <p:spPr>
          <a:xfrm>
            <a:off x="10990855" y="3497610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780" b="1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43</a:t>
            </a:r>
            <a:endParaRPr lang="en-US" sz="78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60" name="Picture 59">
            <a:extLst>
              <a:ext uri="{FF2B5EF4-FFF2-40B4-BE49-F238E27FC236}">
                <a16:creationId xmlns:a16="http://schemas.microsoft.com/office/drawing/2014/main" id="{5A669B62-1F17-A112-7EB4-D537EB8E6C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34650" y="78120"/>
            <a:ext cx="1530523" cy="45915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Image 0" descr="C:\01_Repositorios\13_Presentaciones\dash\tradicional\ppt_slides\sk_01_main.png">
            <a:extLst>
              <a:ext uri="{FF2B5EF4-FFF2-40B4-BE49-F238E27FC236}">
                <a16:creationId xmlns:a16="http://schemas.microsoft.com/office/drawing/2014/main" id="{B68E5860-A517-E11B-8484-DCDB1A7910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04832" y="1238250"/>
            <a:ext cx="35114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96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Asesores que financiaron en conciliaciones vs capacitados (cruzados por cédula).</a:t>
            </a:r>
            <a:endParaRPr lang="en-US" sz="696" dirty="0"/>
          </a:p>
        </p:txBody>
      </p:sp>
      <p:sp>
        <p:nvSpPr>
          <p:cNvPr id="4" name="Text 1"/>
          <p:cNvSpPr/>
          <p:nvPr/>
        </p:nvSpPr>
        <p:spPr>
          <a:xfrm>
            <a:off x="571486" y="209550"/>
            <a:ext cx="6019095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6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COBERTURA DE FORMACIÓN POR ALIADO Y DISTRIBUCIÓN GEOGRÁFICA</a:t>
            </a:r>
            <a:endParaRPr lang="en-US" sz="1260" dirty="0"/>
          </a:p>
        </p:txBody>
      </p:sp>
      <p:sp>
        <p:nvSpPr>
          <p:cNvPr id="5" name="Text 2"/>
          <p:cNvSpPr/>
          <p:nvPr/>
        </p:nvSpPr>
        <p:spPr>
          <a:xfrm>
            <a:off x="857229" y="1028700"/>
            <a:ext cx="2932002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8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Cobertura de Formación por Aliado (Ene-Jun 2026)</a:t>
            </a:r>
            <a:endParaRPr lang="en-US" sz="888" dirty="0"/>
          </a:p>
        </p:txBody>
      </p:sp>
      <p:sp>
        <p:nvSpPr>
          <p:cNvPr id="6" name="Text 3"/>
          <p:cNvSpPr/>
          <p:nvPr/>
        </p:nvSpPr>
        <p:spPr>
          <a:xfrm>
            <a:off x="7707616" y="1028700"/>
            <a:ext cx="1761468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8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Cobertura por Mes (Semestre)</a:t>
            </a:r>
            <a:endParaRPr lang="en-US" sz="888" dirty="0"/>
          </a:p>
        </p:txBody>
      </p:sp>
      <p:sp>
        <p:nvSpPr>
          <p:cNvPr id="7" name="Text 4"/>
          <p:cNvSpPr/>
          <p:nvPr/>
        </p:nvSpPr>
        <p:spPr>
          <a:xfrm>
            <a:off x="7707616" y="3505200"/>
            <a:ext cx="1446276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8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Municipios Visitados (1S)</a:t>
            </a:r>
            <a:endParaRPr lang="en-US" sz="888" dirty="0"/>
          </a:p>
        </p:txBody>
      </p:sp>
      <p:sp>
        <p:nvSpPr>
          <p:cNvPr id="8" name="Text 5"/>
          <p:cNvSpPr/>
          <p:nvPr/>
        </p:nvSpPr>
        <p:spPr>
          <a:xfrm>
            <a:off x="4006204" y="3384970"/>
            <a:ext cx="1556804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Motos De La Boyaca</a:t>
            </a:r>
            <a:endParaRPr lang="en-US" sz="720" dirty="0"/>
          </a:p>
        </p:txBody>
      </p:sp>
      <p:sp>
        <p:nvSpPr>
          <p:cNvPr id="9" name="Text 6"/>
          <p:cNvSpPr/>
          <p:nvPr/>
        </p:nvSpPr>
        <p:spPr>
          <a:xfrm>
            <a:off x="4006204" y="4127920"/>
            <a:ext cx="1556804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Motos Del Tropico</a:t>
            </a:r>
            <a:endParaRPr lang="en-US" sz="720" dirty="0"/>
          </a:p>
        </p:txBody>
      </p:sp>
      <p:sp>
        <p:nvSpPr>
          <p:cNvPr id="10" name="Text 7"/>
          <p:cNvSpPr/>
          <p:nvPr/>
        </p:nvSpPr>
        <p:spPr>
          <a:xfrm>
            <a:off x="7555220" y="3886223"/>
            <a:ext cx="1466977" cy="180975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67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Bogotá Occidente</a:t>
            </a:r>
            <a:endParaRPr lang="en-US" sz="672" dirty="0"/>
          </a:p>
        </p:txBody>
      </p:sp>
      <p:sp>
        <p:nvSpPr>
          <p:cNvPr id="11" name="Text 8"/>
          <p:cNvSpPr/>
          <p:nvPr/>
        </p:nvSpPr>
        <p:spPr>
          <a:xfrm>
            <a:off x="704832" y="2642020"/>
            <a:ext cx="1556804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M&amp;F Super Gas</a:t>
            </a:r>
            <a:endParaRPr lang="en-US" sz="720" dirty="0"/>
          </a:p>
        </p:txBody>
      </p:sp>
      <p:sp>
        <p:nvSpPr>
          <p:cNvPr id="12" name="Text 9"/>
          <p:cNvSpPr/>
          <p:nvPr/>
        </p:nvSpPr>
        <p:spPr>
          <a:xfrm>
            <a:off x="704832" y="3384970"/>
            <a:ext cx="1556804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Carrera Motos</a:t>
            </a:r>
            <a:endParaRPr lang="en-US" sz="720" dirty="0"/>
          </a:p>
        </p:txBody>
      </p:sp>
      <p:sp>
        <p:nvSpPr>
          <p:cNvPr id="13" name="Text 10"/>
          <p:cNvSpPr/>
          <p:nvPr/>
        </p:nvSpPr>
        <p:spPr>
          <a:xfrm>
            <a:off x="704832" y="4127920"/>
            <a:ext cx="1556804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Planeta Motos</a:t>
            </a:r>
            <a:endParaRPr lang="en-US" sz="720" dirty="0"/>
          </a:p>
        </p:txBody>
      </p:sp>
      <p:sp>
        <p:nvSpPr>
          <p:cNvPr id="14" name="Text 11"/>
          <p:cNvSpPr/>
          <p:nvPr/>
        </p:nvSpPr>
        <p:spPr>
          <a:xfrm>
            <a:off x="4006204" y="1899070"/>
            <a:ext cx="1556804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Motos Del Sur</a:t>
            </a:r>
            <a:endParaRPr lang="en-US" sz="720" dirty="0"/>
          </a:p>
        </p:txBody>
      </p:sp>
      <p:sp>
        <p:nvSpPr>
          <p:cNvPr id="15" name="Text 12"/>
          <p:cNvSpPr/>
          <p:nvPr/>
        </p:nvSpPr>
        <p:spPr>
          <a:xfrm>
            <a:off x="7555220" y="3710010"/>
            <a:ext cx="1466977" cy="176212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67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Bogotá Centro</a:t>
            </a:r>
            <a:endParaRPr lang="en-US" sz="672" dirty="0"/>
          </a:p>
        </p:txBody>
      </p:sp>
      <p:sp>
        <p:nvSpPr>
          <p:cNvPr id="16" name="Text 13"/>
          <p:cNvSpPr/>
          <p:nvPr/>
        </p:nvSpPr>
        <p:spPr>
          <a:xfrm>
            <a:off x="704832" y="1656182"/>
            <a:ext cx="1556804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Multintegral</a:t>
            </a:r>
            <a:endParaRPr lang="en-US" sz="720" dirty="0"/>
          </a:p>
        </p:txBody>
      </p:sp>
      <p:sp>
        <p:nvSpPr>
          <p:cNvPr id="17" name="Text 14"/>
          <p:cNvSpPr/>
          <p:nvPr/>
        </p:nvSpPr>
        <p:spPr>
          <a:xfrm>
            <a:off x="704832" y="2394370"/>
            <a:ext cx="1556804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Grupo Merpes</a:t>
            </a:r>
            <a:endParaRPr lang="en-US" sz="720" dirty="0"/>
          </a:p>
        </p:txBody>
      </p:sp>
      <p:sp>
        <p:nvSpPr>
          <p:cNvPr id="18" name="Text 15"/>
          <p:cNvSpPr/>
          <p:nvPr/>
        </p:nvSpPr>
        <p:spPr>
          <a:xfrm>
            <a:off x="704832" y="3137320"/>
            <a:ext cx="1556804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Electroferia</a:t>
            </a:r>
            <a:endParaRPr lang="en-US" sz="720" dirty="0"/>
          </a:p>
        </p:txBody>
      </p:sp>
      <p:sp>
        <p:nvSpPr>
          <p:cNvPr id="19" name="Text 16"/>
          <p:cNvSpPr/>
          <p:nvPr/>
        </p:nvSpPr>
        <p:spPr>
          <a:xfrm>
            <a:off x="4006204" y="3632620"/>
            <a:ext cx="1556804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Punto Center</a:t>
            </a:r>
            <a:endParaRPr lang="en-US" sz="720" dirty="0"/>
          </a:p>
        </p:txBody>
      </p:sp>
      <p:sp>
        <p:nvSpPr>
          <p:cNvPr id="20" name="Text 17"/>
          <p:cNvSpPr/>
          <p:nvPr/>
        </p:nvSpPr>
        <p:spPr>
          <a:xfrm>
            <a:off x="704832" y="2146720"/>
            <a:ext cx="1556804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Maximuebles</a:t>
            </a:r>
            <a:endParaRPr lang="en-US" sz="720" dirty="0"/>
          </a:p>
        </p:txBody>
      </p:sp>
      <p:sp>
        <p:nvSpPr>
          <p:cNvPr id="21" name="Text 18"/>
          <p:cNvSpPr/>
          <p:nvPr/>
        </p:nvSpPr>
        <p:spPr>
          <a:xfrm>
            <a:off x="4006204" y="2394370"/>
            <a:ext cx="1556804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Moto Market</a:t>
            </a:r>
            <a:endParaRPr lang="en-US" sz="720" dirty="0"/>
          </a:p>
        </p:txBody>
      </p:sp>
      <p:sp>
        <p:nvSpPr>
          <p:cNvPr id="22" name="Text 19"/>
          <p:cNvSpPr/>
          <p:nvPr/>
        </p:nvSpPr>
        <p:spPr>
          <a:xfrm>
            <a:off x="4006204" y="2889670"/>
            <a:ext cx="1556804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Distrimotos</a:t>
            </a:r>
            <a:endParaRPr lang="en-US" sz="720" dirty="0"/>
          </a:p>
        </p:txBody>
      </p:sp>
      <p:sp>
        <p:nvSpPr>
          <p:cNvPr id="23" name="Text 20"/>
          <p:cNvSpPr/>
          <p:nvPr/>
        </p:nvSpPr>
        <p:spPr>
          <a:xfrm>
            <a:off x="9587715" y="4248173"/>
            <a:ext cx="1466977" cy="180975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67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Bucaramanga</a:t>
            </a:r>
            <a:endParaRPr lang="en-US" sz="672" dirty="0"/>
          </a:p>
        </p:txBody>
      </p:sp>
      <p:sp>
        <p:nvSpPr>
          <p:cNvPr id="24" name="Text 21"/>
          <p:cNvSpPr/>
          <p:nvPr/>
        </p:nvSpPr>
        <p:spPr>
          <a:xfrm>
            <a:off x="704832" y="3632620"/>
            <a:ext cx="1556804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Casa Bajaj</a:t>
            </a:r>
            <a:endParaRPr lang="en-US" sz="720" dirty="0"/>
          </a:p>
        </p:txBody>
      </p:sp>
      <p:sp>
        <p:nvSpPr>
          <p:cNvPr id="25" name="Text 22"/>
          <p:cNvSpPr/>
          <p:nvPr/>
        </p:nvSpPr>
        <p:spPr>
          <a:xfrm>
            <a:off x="4006204" y="2146720"/>
            <a:ext cx="1556804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Distritodo</a:t>
            </a:r>
            <a:endParaRPr lang="en-US" sz="720" dirty="0"/>
          </a:p>
        </p:txBody>
      </p:sp>
      <p:sp>
        <p:nvSpPr>
          <p:cNvPr id="26" name="Text 23"/>
          <p:cNvSpPr/>
          <p:nvPr/>
        </p:nvSpPr>
        <p:spPr>
          <a:xfrm>
            <a:off x="4006204" y="2642020"/>
            <a:ext cx="1556804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Credimovil</a:t>
            </a:r>
            <a:endParaRPr lang="en-US" sz="720" dirty="0"/>
          </a:p>
        </p:txBody>
      </p:sp>
      <p:sp>
        <p:nvSpPr>
          <p:cNvPr id="27" name="Text 24"/>
          <p:cNvSpPr/>
          <p:nvPr/>
        </p:nvSpPr>
        <p:spPr>
          <a:xfrm>
            <a:off x="7555220" y="4067198"/>
            <a:ext cx="1466977" cy="180975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67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Bogotá Sur</a:t>
            </a:r>
            <a:endParaRPr lang="en-US" sz="672" dirty="0"/>
          </a:p>
        </p:txBody>
      </p:sp>
      <p:sp>
        <p:nvSpPr>
          <p:cNvPr id="28" name="Text 25"/>
          <p:cNvSpPr/>
          <p:nvPr/>
        </p:nvSpPr>
        <p:spPr>
          <a:xfrm>
            <a:off x="9587715" y="4067198"/>
            <a:ext cx="1466977" cy="180975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67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Facatativá</a:t>
            </a:r>
            <a:endParaRPr lang="en-US" sz="672" dirty="0"/>
          </a:p>
        </p:txBody>
      </p:sp>
      <p:sp>
        <p:nvSpPr>
          <p:cNvPr id="29" name="Text 26"/>
          <p:cNvSpPr/>
          <p:nvPr/>
        </p:nvSpPr>
        <p:spPr>
          <a:xfrm>
            <a:off x="4006204" y="3137320"/>
            <a:ext cx="1556804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Grupo Uma</a:t>
            </a:r>
            <a:endParaRPr lang="en-US" sz="720" dirty="0"/>
          </a:p>
        </p:txBody>
      </p:sp>
      <p:sp>
        <p:nvSpPr>
          <p:cNvPr id="30" name="Text 27"/>
          <p:cNvSpPr/>
          <p:nvPr/>
        </p:nvSpPr>
        <p:spPr>
          <a:xfrm>
            <a:off x="9587715" y="4429148"/>
            <a:ext cx="1466977" cy="180975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67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Zipaquirá</a:t>
            </a:r>
            <a:endParaRPr lang="en-US" sz="672" dirty="0"/>
          </a:p>
        </p:txBody>
      </p:sp>
      <p:sp>
        <p:nvSpPr>
          <p:cNvPr id="31" name="Text 28"/>
          <p:cNvSpPr/>
          <p:nvPr/>
        </p:nvSpPr>
        <p:spPr>
          <a:xfrm>
            <a:off x="704832" y="2889670"/>
            <a:ext cx="1556804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Tech Red</a:t>
            </a:r>
            <a:endParaRPr lang="en-US" sz="720" dirty="0"/>
          </a:p>
        </p:txBody>
      </p:sp>
      <p:sp>
        <p:nvSpPr>
          <p:cNvPr id="32" name="Text 29"/>
          <p:cNvSpPr/>
          <p:nvPr/>
        </p:nvSpPr>
        <p:spPr>
          <a:xfrm>
            <a:off x="704832" y="3880270"/>
            <a:ext cx="1556804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Dismerca</a:t>
            </a:r>
            <a:endParaRPr lang="en-US" sz="720" dirty="0"/>
          </a:p>
        </p:txBody>
      </p:sp>
      <p:sp>
        <p:nvSpPr>
          <p:cNvPr id="33" name="Text 30"/>
          <p:cNvSpPr/>
          <p:nvPr/>
        </p:nvSpPr>
        <p:spPr>
          <a:xfrm>
            <a:off x="4006204" y="3880270"/>
            <a:ext cx="1556804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Janmotor</a:t>
            </a:r>
            <a:endParaRPr lang="en-US" sz="720" dirty="0"/>
          </a:p>
        </p:txBody>
      </p:sp>
      <p:sp>
        <p:nvSpPr>
          <p:cNvPr id="34" name="Text 31"/>
          <p:cNvSpPr/>
          <p:nvPr/>
        </p:nvSpPr>
        <p:spPr>
          <a:xfrm>
            <a:off x="7555220" y="2924198"/>
            <a:ext cx="774570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Prom. 1S</a:t>
            </a:r>
            <a:endParaRPr lang="en-US" sz="720" dirty="0"/>
          </a:p>
        </p:txBody>
      </p:sp>
      <p:sp>
        <p:nvSpPr>
          <p:cNvPr id="35" name="Text 32"/>
          <p:cNvSpPr/>
          <p:nvPr/>
        </p:nvSpPr>
        <p:spPr>
          <a:xfrm>
            <a:off x="9587715" y="3710010"/>
            <a:ext cx="1466977" cy="176212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67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Sogamoso</a:t>
            </a:r>
            <a:endParaRPr lang="en-US" sz="672" dirty="0"/>
          </a:p>
        </p:txBody>
      </p:sp>
      <p:sp>
        <p:nvSpPr>
          <p:cNvPr id="36" name="Text 33"/>
          <p:cNvSpPr/>
          <p:nvPr/>
        </p:nvSpPr>
        <p:spPr>
          <a:xfrm>
            <a:off x="9587715" y="3886223"/>
            <a:ext cx="1466977" cy="180975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67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Mosquera</a:t>
            </a:r>
            <a:endParaRPr lang="en-US" sz="672" dirty="0"/>
          </a:p>
        </p:txBody>
      </p:sp>
      <p:sp>
        <p:nvSpPr>
          <p:cNvPr id="37" name="Text 34"/>
          <p:cNvSpPr/>
          <p:nvPr/>
        </p:nvSpPr>
        <p:spPr>
          <a:xfrm>
            <a:off x="704832" y="1899070"/>
            <a:ext cx="1556804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Diverxa</a:t>
            </a:r>
            <a:endParaRPr lang="en-US" sz="720" dirty="0"/>
          </a:p>
        </p:txBody>
      </p:sp>
      <p:sp>
        <p:nvSpPr>
          <p:cNvPr id="38" name="Text 35"/>
          <p:cNvSpPr/>
          <p:nvPr/>
        </p:nvSpPr>
        <p:spPr>
          <a:xfrm>
            <a:off x="8283129" y="1214460"/>
            <a:ext cx="827455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Financ.</a:t>
            </a:r>
            <a:endParaRPr lang="en-US" sz="888" dirty="0"/>
          </a:p>
        </p:txBody>
      </p:sp>
      <p:sp>
        <p:nvSpPr>
          <p:cNvPr id="39" name="Text 36"/>
          <p:cNvSpPr/>
          <p:nvPr/>
        </p:nvSpPr>
        <p:spPr>
          <a:xfrm>
            <a:off x="704832" y="1427582"/>
            <a:ext cx="1556804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marL="0" indent="0" algn="l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Aliado</a:t>
            </a:r>
            <a:endParaRPr lang="en-US" sz="888" dirty="0"/>
          </a:p>
        </p:txBody>
      </p:sp>
      <p:sp>
        <p:nvSpPr>
          <p:cNvPr id="40" name="Text 37"/>
          <p:cNvSpPr/>
          <p:nvPr/>
        </p:nvSpPr>
        <p:spPr>
          <a:xfrm>
            <a:off x="4006204" y="1427582"/>
            <a:ext cx="1556804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marL="0" indent="0" algn="l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Aliado</a:t>
            </a:r>
            <a:endParaRPr lang="en-US" sz="888" dirty="0"/>
          </a:p>
        </p:txBody>
      </p:sp>
      <p:sp>
        <p:nvSpPr>
          <p:cNvPr id="41" name="Text 38"/>
          <p:cNvSpPr/>
          <p:nvPr/>
        </p:nvSpPr>
        <p:spPr>
          <a:xfrm>
            <a:off x="9087287" y="1214460"/>
            <a:ext cx="799863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Capac.</a:t>
            </a:r>
            <a:endParaRPr lang="en-US" sz="888" dirty="0"/>
          </a:p>
        </p:txBody>
      </p:sp>
      <p:sp>
        <p:nvSpPr>
          <p:cNvPr id="42" name="Text 39"/>
          <p:cNvSpPr/>
          <p:nvPr/>
        </p:nvSpPr>
        <p:spPr>
          <a:xfrm>
            <a:off x="10643313" y="1214460"/>
            <a:ext cx="843550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Cob. %</a:t>
            </a:r>
            <a:endParaRPr lang="en-US" sz="888" dirty="0"/>
          </a:p>
        </p:txBody>
      </p:sp>
      <p:sp>
        <p:nvSpPr>
          <p:cNvPr id="43" name="Text 40"/>
          <p:cNvSpPr/>
          <p:nvPr/>
        </p:nvSpPr>
        <p:spPr>
          <a:xfrm>
            <a:off x="7555220" y="4429148"/>
            <a:ext cx="1466977" cy="180975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67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Soacha</a:t>
            </a:r>
            <a:endParaRPr lang="en-US" sz="672" dirty="0"/>
          </a:p>
        </p:txBody>
      </p:sp>
      <p:sp>
        <p:nvSpPr>
          <p:cNvPr id="44" name="Text 41"/>
          <p:cNvSpPr/>
          <p:nvPr/>
        </p:nvSpPr>
        <p:spPr>
          <a:xfrm>
            <a:off x="9587715" y="4610123"/>
            <a:ext cx="1466977" cy="176212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67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Madrid</a:t>
            </a:r>
            <a:endParaRPr lang="en-US" sz="672" dirty="0"/>
          </a:p>
        </p:txBody>
      </p:sp>
      <p:sp>
        <p:nvSpPr>
          <p:cNvPr id="45" name="Text 42"/>
          <p:cNvSpPr/>
          <p:nvPr/>
        </p:nvSpPr>
        <p:spPr>
          <a:xfrm>
            <a:off x="4006204" y="1656182"/>
            <a:ext cx="1556804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Asyco</a:t>
            </a:r>
            <a:endParaRPr lang="en-US" sz="720" dirty="0"/>
          </a:p>
        </p:txBody>
      </p:sp>
      <p:sp>
        <p:nvSpPr>
          <p:cNvPr id="46" name="Text 43"/>
          <p:cNvSpPr/>
          <p:nvPr/>
        </p:nvSpPr>
        <p:spPr>
          <a:xfrm>
            <a:off x="9863727" y="1214460"/>
            <a:ext cx="804155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Ambos</a:t>
            </a:r>
            <a:endParaRPr lang="en-US" sz="888" dirty="0"/>
          </a:p>
        </p:txBody>
      </p:sp>
      <p:sp>
        <p:nvSpPr>
          <p:cNvPr id="47" name="Text 44"/>
          <p:cNvSpPr/>
          <p:nvPr/>
        </p:nvSpPr>
        <p:spPr>
          <a:xfrm>
            <a:off x="10582931" y="1408556"/>
            <a:ext cx="843550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15,0%</a:t>
            </a:r>
            <a:endParaRPr lang="en-US" sz="816" dirty="0"/>
          </a:p>
        </p:txBody>
      </p:sp>
      <p:sp>
        <p:nvSpPr>
          <p:cNvPr id="48" name="Text 45"/>
          <p:cNvSpPr/>
          <p:nvPr/>
        </p:nvSpPr>
        <p:spPr>
          <a:xfrm>
            <a:off x="10582931" y="1899094"/>
            <a:ext cx="843550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18,6%</a:t>
            </a:r>
            <a:endParaRPr lang="en-US" sz="816" dirty="0"/>
          </a:p>
        </p:txBody>
      </p:sp>
      <p:sp>
        <p:nvSpPr>
          <p:cNvPr id="49" name="Text 46"/>
          <p:cNvSpPr/>
          <p:nvPr/>
        </p:nvSpPr>
        <p:spPr>
          <a:xfrm>
            <a:off x="10582931" y="2642044"/>
            <a:ext cx="843550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b="1" dirty="0">
                <a:solidFill>
                  <a:srgbClr val="8A62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10,8%</a:t>
            </a:r>
            <a:endParaRPr lang="en-US" sz="816" dirty="0"/>
          </a:p>
        </p:txBody>
      </p:sp>
      <p:sp>
        <p:nvSpPr>
          <p:cNvPr id="50" name="Text 47"/>
          <p:cNvSpPr/>
          <p:nvPr/>
        </p:nvSpPr>
        <p:spPr>
          <a:xfrm>
            <a:off x="10582931" y="2889694"/>
            <a:ext cx="843550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b="1" dirty="0">
                <a:solidFill>
                  <a:srgbClr val="8A62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10,8%</a:t>
            </a:r>
            <a:endParaRPr lang="en-US" sz="816" dirty="0"/>
          </a:p>
        </p:txBody>
      </p:sp>
      <p:sp>
        <p:nvSpPr>
          <p:cNvPr id="51" name="Text 48"/>
          <p:cNvSpPr/>
          <p:nvPr/>
        </p:nvSpPr>
        <p:spPr>
          <a:xfrm>
            <a:off x="7555220" y="4248173"/>
            <a:ext cx="1466977" cy="180975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67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Tunja</a:t>
            </a:r>
            <a:endParaRPr lang="en-US" sz="672" dirty="0"/>
          </a:p>
        </p:txBody>
      </p:sp>
      <p:sp>
        <p:nvSpPr>
          <p:cNvPr id="52" name="Text 49"/>
          <p:cNvSpPr/>
          <p:nvPr/>
        </p:nvSpPr>
        <p:spPr>
          <a:xfrm>
            <a:off x="2203068" y="1427582"/>
            <a:ext cx="454042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Fin.</a:t>
            </a:r>
            <a:endParaRPr lang="en-US" sz="888" dirty="0"/>
          </a:p>
        </p:txBody>
      </p:sp>
      <p:sp>
        <p:nvSpPr>
          <p:cNvPr id="53" name="Text 50"/>
          <p:cNvSpPr/>
          <p:nvPr/>
        </p:nvSpPr>
        <p:spPr>
          <a:xfrm>
            <a:off x="2643886" y="1427582"/>
            <a:ext cx="454042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Cap.</a:t>
            </a:r>
            <a:endParaRPr lang="en-US" sz="888" dirty="0"/>
          </a:p>
        </p:txBody>
      </p:sp>
      <p:sp>
        <p:nvSpPr>
          <p:cNvPr id="54" name="Text 51"/>
          <p:cNvSpPr/>
          <p:nvPr/>
        </p:nvSpPr>
        <p:spPr>
          <a:xfrm>
            <a:off x="3075252" y="1427582"/>
            <a:ext cx="778556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Cob.</a:t>
            </a:r>
            <a:endParaRPr lang="en-US" sz="888" dirty="0"/>
          </a:p>
        </p:txBody>
      </p:sp>
      <p:sp>
        <p:nvSpPr>
          <p:cNvPr id="55" name="Text 52"/>
          <p:cNvSpPr/>
          <p:nvPr/>
        </p:nvSpPr>
        <p:spPr>
          <a:xfrm>
            <a:off x="5504440" y="1427582"/>
            <a:ext cx="454042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Fin.</a:t>
            </a:r>
            <a:endParaRPr lang="en-US" sz="888" dirty="0"/>
          </a:p>
        </p:txBody>
      </p:sp>
      <p:sp>
        <p:nvSpPr>
          <p:cNvPr id="56" name="Text 53"/>
          <p:cNvSpPr/>
          <p:nvPr/>
        </p:nvSpPr>
        <p:spPr>
          <a:xfrm>
            <a:off x="5945258" y="1427582"/>
            <a:ext cx="454042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Cap.</a:t>
            </a:r>
            <a:endParaRPr lang="en-US" sz="888" dirty="0"/>
          </a:p>
        </p:txBody>
      </p:sp>
      <p:sp>
        <p:nvSpPr>
          <p:cNvPr id="57" name="Text 54"/>
          <p:cNvSpPr/>
          <p:nvPr/>
        </p:nvSpPr>
        <p:spPr>
          <a:xfrm>
            <a:off x="6376624" y="1427582"/>
            <a:ext cx="778556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Cob.</a:t>
            </a:r>
            <a:endParaRPr lang="en-US" sz="888" dirty="0"/>
          </a:p>
        </p:txBody>
      </p:sp>
      <p:sp>
        <p:nvSpPr>
          <p:cNvPr id="58" name="Text 55"/>
          <p:cNvSpPr/>
          <p:nvPr/>
        </p:nvSpPr>
        <p:spPr>
          <a:xfrm>
            <a:off x="6316242" y="2368492"/>
            <a:ext cx="778556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100%</a:t>
            </a:r>
            <a:endParaRPr lang="en-US" sz="816" dirty="0"/>
          </a:p>
        </p:txBody>
      </p:sp>
      <p:sp>
        <p:nvSpPr>
          <p:cNvPr id="59" name="Text 56"/>
          <p:cNvSpPr/>
          <p:nvPr/>
        </p:nvSpPr>
        <p:spPr>
          <a:xfrm>
            <a:off x="10582931" y="1651444"/>
            <a:ext cx="843550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b="1" dirty="0">
                <a:solidFill>
                  <a:srgbClr val="C44A1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4,4%</a:t>
            </a:r>
            <a:endParaRPr lang="en-US" sz="816" dirty="0"/>
          </a:p>
        </p:txBody>
      </p:sp>
      <p:sp>
        <p:nvSpPr>
          <p:cNvPr id="60" name="Text 57"/>
          <p:cNvSpPr/>
          <p:nvPr/>
        </p:nvSpPr>
        <p:spPr>
          <a:xfrm>
            <a:off x="10582931" y="2146744"/>
            <a:ext cx="843550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b="1" dirty="0">
                <a:solidFill>
                  <a:srgbClr val="8A62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7,9%</a:t>
            </a:r>
            <a:endParaRPr lang="en-US" sz="816" dirty="0"/>
          </a:p>
        </p:txBody>
      </p:sp>
      <p:sp>
        <p:nvSpPr>
          <p:cNvPr id="61" name="Text 58"/>
          <p:cNvSpPr/>
          <p:nvPr/>
        </p:nvSpPr>
        <p:spPr>
          <a:xfrm>
            <a:off x="10582931" y="2394394"/>
            <a:ext cx="843550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b="1" dirty="0">
                <a:solidFill>
                  <a:srgbClr val="8A62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8,3%</a:t>
            </a:r>
            <a:endParaRPr lang="en-US" sz="816" dirty="0"/>
          </a:p>
        </p:txBody>
      </p:sp>
      <p:sp>
        <p:nvSpPr>
          <p:cNvPr id="62" name="Text 59"/>
          <p:cNvSpPr/>
          <p:nvPr/>
        </p:nvSpPr>
        <p:spPr>
          <a:xfrm>
            <a:off x="7555220" y="4610123"/>
            <a:ext cx="1466977" cy="176212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67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Chía</a:t>
            </a:r>
            <a:endParaRPr lang="en-US" sz="672" dirty="0"/>
          </a:p>
        </p:txBody>
      </p:sp>
      <p:sp>
        <p:nvSpPr>
          <p:cNvPr id="63" name="Text 60"/>
          <p:cNvSpPr/>
          <p:nvPr/>
        </p:nvSpPr>
        <p:spPr>
          <a:xfrm>
            <a:off x="3014870" y="1873192"/>
            <a:ext cx="778556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53%</a:t>
            </a:r>
            <a:endParaRPr lang="en-US" sz="816" dirty="0"/>
          </a:p>
        </p:txBody>
      </p:sp>
      <p:sp>
        <p:nvSpPr>
          <p:cNvPr id="64" name="Text 61"/>
          <p:cNvSpPr/>
          <p:nvPr/>
        </p:nvSpPr>
        <p:spPr>
          <a:xfrm>
            <a:off x="3014870" y="2120842"/>
            <a:ext cx="778556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33%</a:t>
            </a:r>
            <a:endParaRPr lang="en-US" sz="816" dirty="0"/>
          </a:p>
        </p:txBody>
      </p:sp>
      <p:sp>
        <p:nvSpPr>
          <p:cNvPr id="65" name="Text 62"/>
          <p:cNvSpPr/>
          <p:nvPr/>
        </p:nvSpPr>
        <p:spPr>
          <a:xfrm>
            <a:off x="3014870" y="2368492"/>
            <a:ext cx="778556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21%</a:t>
            </a:r>
            <a:endParaRPr lang="en-US" sz="816" dirty="0"/>
          </a:p>
        </p:txBody>
      </p:sp>
      <p:sp>
        <p:nvSpPr>
          <p:cNvPr id="66" name="Text 63"/>
          <p:cNvSpPr/>
          <p:nvPr/>
        </p:nvSpPr>
        <p:spPr>
          <a:xfrm>
            <a:off x="3014870" y="2616142"/>
            <a:ext cx="778556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69%</a:t>
            </a:r>
            <a:endParaRPr lang="en-US" sz="816" dirty="0"/>
          </a:p>
        </p:txBody>
      </p:sp>
      <p:sp>
        <p:nvSpPr>
          <p:cNvPr id="67" name="Text 64"/>
          <p:cNvSpPr/>
          <p:nvPr/>
        </p:nvSpPr>
        <p:spPr>
          <a:xfrm>
            <a:off x="3014870" y="3111442"/>
            <a:ext cx="778556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78%</a:t>
            </a:r>
            <a:endParaRPr lang="en-US" sz="816" dirty="0"/>
          </a:p>
        </p:txBody>
      </p:sp>
      <p:sp>
        <p:nvSpPr>
          <p:cNvPr id="68" name="Text 65"/>
          <p:cNvSpPr/>
          <p:nvPr/>
        </p:nvSpPr>
        <p:spPr>
          <a:xfrm>
            <a:off x="3014870" y="3359092"/>
            <a:ext cx="778556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43%</a:t>
            </a:r>
            <a:endParaRPr lang="en-US" sz="816" dirty="0"/>
          </a:p>
        </p:txBody>
      </p:sp>
      <p:sp>
        <p:nvSpPr>
          <p:cNvPr id="69" name="Text 66"/>
          <p:cNvSpPr/>
          <p:nvPr/>
        </p:nvSpPr>
        <p:spPr>
          <a:xfrm>
            <a:off x="3014870" y="3854392"/>
            <a:ext cx="778556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25%</a:t>
            </a:r>
            <a:endParaRPr lang="en-US" sz="816" dirty="0"/>
          </a:p>
        </p:txBody>
      </p:sp>
      <p:sp>
        <p:nvSpPr>
          <p:cNvPr id="70" name="Text 67"/>
          <p:cNvSpPr/>
          <p:nvPr/>
        </p:nvSpPr>
        <p:spPr>
          <a:xfrm>
            <a:off x="3014870" y="4102042"/>
            <a:ext cx="778556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25%</a:t>
            </a:r>
            <a:endParaRPr lang="en-US" sz="816" dirty="0"/>
          </a:p>
        </p:txBody>
      </p:sp>
      <p:sp>
        <p:nvSpPr>
          <p:cNvPr id="71" name="Text 68"/>
          <p:cNvSpPr/>
          <p:nvPr/>
        </p:nvSpPr>
        <p:spPr>
          <a:xfrm>
            <a:off x="6316242" y="1873192"/>
            <a:ext cx="778556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67%</a:t>
            </a:r>
            <a:endParaRPr lang="en-US" sz="816" dirty="0"/>
          </a:p>
        </p:txBody>
      </p:sp>
      <p:sp>
        <p:nvSpPr>
          <p:cNvPr id="72" name="Text 69"/>
          <p:cNvSpPr/>
          <p:nvPr/>
        </p:nvSpPr>
        <p:spPr>
          <a:xfrm>
            <a:off x="6316242" y="2120842"/>
            <a:ext cx="778556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50%</a:t>
            </a:r>
            <a:endParaRPr lang="en-US" sz="816" dirty="0"/>
          </a:p>
        </p:txBody>
      </p:sp>
      <p:sp>
        <p:nvSpPr>
          <p:cNvPr id="73" name="Text 70"/>
          <p:cNvSpPr/>
          <p:nvPr/>
        </p:nvSpPr>
        <p:spPr>
          <a:xfrm>
            <a:off x="6316242" y="3854392"/>
            <a:ext cx="778556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b="1" dirty="0">
                <a:solidFill>
                  <a:srgbClr val="8A62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S/D</a:t>
            </a:r>
            <a:endParaRPr lang="en-US" sz="816" dirty="0"/>
          </a:p>
        </p:txBody>
      </p:sp>
      <p:sp>
        <p:nvSpPr>
          <p:cNvPr id="74" name="Text 71"/>
          <p:cNvSpPr/>
          <p:nvPr/>
        </p:nvSpPr>
        <p:spPr>
          <a:xfrm>
            <a:off x="6316242" y="4102042"/>
            <a:ext cx="778556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b="1" dirty="0">
                <a:solidFill>
                  <a:srgbClr val="8A62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S/D</a:t>
            </a:r>
            <a:endParaRPr lang="en-US" sz="816" dirty="0"/>
          </a:p>
        </p:txBody>
      </p:sp>
      <p:sp>
        <p:nvSpPr>
          <p:cNvPr id="75" name="Text 72"/>
          <p:cNvSpPr/>
          <p:nvPr/>
        </p:nvSpPr>
        <p:spPr>
          <a:xfrm>
            <a:off x="7555220" y="1214460"/>
            <a:ext cx="774570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marL="0" indent="0" algn="l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Mes</a:t>
            </a:r>
            <a:endParaRPr lang="en-US" sz="888" dirty="0"/>
          </a:p>
        </p:txBody>
      </p:sp>
      <p:sp>
        <p:nvSpPr>
          <p:cNvPr id="76" name="Text 73"/>
          <p:cNvSpPr/>
          <p:nvPr/>
        </p:nvSpPr>
        <p:spPr>
          <a:xfrm>
            <a:off x="7555220" y="1443060"/>
            <a:ext cx="774570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</a:t>
            </a:r>
            <a:endParaRPr lang="en-US" sz="720" dirty="0"/>
          </a:p>
        </p:txBody>
      </p:sp>
      <p:sp>
        <p:nvSpPr>
          <p:cNvPr id="77" name="Text 74"/>
          <p:cNvSpPr/>
          <p:nvPr/>
        </p:nvSpPr>
        <p:spPr>
          <a:xfrm>
            <a:off x="7555220" y="1685948"/>
            <a:ext cx="774570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</a:t>
            </a:r>
            <a:endParaRPr lang="en-US" sz="720" dirty="0"/>
          </a:p>
        </p:txBody>
      </p:sp>
      <p:sp>
        <p:nvSpPr>
          <p:cNvPr id="78" name="Text 75"/>
          <p:cNvSpPr/>
          <p:nvPr/>
        </p:nvSpPr>
        <p:spPr>
          <a:xfrm>
            <a:off x="7555220" y="1933598"/>
            <a:ext cx="774570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</a:t>
            </a:r>
            <a:endParaRPr lang="en-US" sz="720" dirty="0"/>
          </a:p>
        </p:txBody>
      </p:sp>
      <p:sp>
        <p:nvSpPr>
          <p:cNvPr id="79" name="Text 76"/>
          <p:cNvSpPr/>
          <p:nvPr/>
        </p:nvSpPr>
        <p:spPr>
          <a:xfrm>
            <a:off x="7555220" y="2181248"/>
            <a:ext cx="774570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</a:t>
            </a:r>
            <a:endParaRPr lang="en-US" sz="720" dirty="0"/>
          </a:p>
        </p:txBody>
      </p:sp>
      <p:sp>
        <p:nvSpPr>
          <p:cNvPr id="80" name="Text 77"/>
          <p:cNvSpPr/>
          <p:nvPr/>
        </p:nvSpPr>
        <p:spPr>
          <a:xfrm>
            <a:off x="7555220" y="2428898"/>
            <a:ext cx="774570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</a:t>
            </a:r>
            <a:endParaRPr lang="en-US" sz="720" dirty="0"/>
          </a:p>
        </p:txBody>
      </p:sp>
      <p:sp>
        <p:nvSpPr>
          <p:cNvPr id="81" name="Text 78"/>
          <p:cNvSpPr/>
          <p:nvPr/>
        </p:nvSpPr>
        <p:spPr>
          <a:xfrm>
            <a:off x="7555220" y="2676548"/>
            <a:ext cx="774570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</a:t>
            </a:r>
            <a:endParaRPr lang="en-US" sz="720" dirty="0"/>
          </a:p>
        </p:txBody>
      </p:sp>
      <p:sp>
        <p:nvSpPr>
          <p:cNvPr id="82" name="Text 79"/>
          <p:cNvSpPr/>
          <p:nvPr/>
        </p:nvSpPr>
        <p:spPr>
          <a:xfrm>
            <a:off x="8965222" y="3710010"/>
            <a:ext cx="489146" cy="176212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672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209</a:t>
            </a:r>
            <a:endParaRPr lang="en-US" sz="672" dirty="0"/>
          </a:p>
        </p:txBody>
      </p:sp>
      <p:sp>
        <p:nvSpPr>
          <p:cNvPr id="83" name="Text 80"/>
          <p:cNvSpPr/>
          <p:nvPr/>
        </p:nvSpPr>
        <p:spPr>
          <a:xfrm>
            <a:off x="8965222" y="3886223"/>
            <a:ext cx="489146" cy="180975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672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117</a:t>
            </a:r>
            <a:endParaRPr lang="en-US" sz="672" dirty="0"/>
          </a:p>
        </p:txBody>
      </p:sp>
      <p:sp>
        <p:nvSpPr>
          <p:cNvPr id="84" name="Text 81"/>
          <p:cNvSpPr/>
          <p:nvPr/>
        </p:nvSpPr>
        <p:spPr>
          <a:xfrm>
            <a:off x="2203068" y="1656182"/>
            <a:ext cx="454042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88</a:t>
            </a:r>
            <a:endParaRPr lang="en-US" sz="720" dirty="0"/>
          </a:p>
        </p:txBody>
      </p:sp>
      <p:sp>
        <p:nvSpPr>
          <p:cNvPr id="85" name="Text 82"/>
          <p:cNvSpPr/>
          <p:nvPr/>
        </p:nvSpPr>
        <p:spPr>
          <a:xfrm>
            <a:off x="2643886" y="1656182"/>
            <a:ext cx="454042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62</a:t>
            </a:r>
            <a:endParaRPr lang="en-US" sz="720" dirty="0"/>
          </a:p>
        </p:txBody>
      </p:sp>
      <p:sp>
        <p:nvSpPr>
          <p:cNvPr id="86" name="Text 83"/>
          <p:cNvSpPr/>
          <p:nvPr/>
        </p:nvSpPr>
        <p:spPr>
          <a:xfrm>
            <a:off x="3014870" y="1630304"/>
            <a:ext cx="778556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b="1" dirty="0">
                <a:solidFill>
                  <a:srgbClr val="8A62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9%</a:t>
            </a:r>
            <a:endParaRPr lang="en-US" sz="816" dirty="0"/>
          </a:p>
        </p:txBody>
      </p:sp>
      <p:sp>
        <p:nvSpPr>
          <p:cNvPr id="87" name="Text 84"/>
          <p:cNvSpPr/>
          <p:nvPr/>
        </p:nvSpPr>
        <p:spPr>
          <a:xfrm>
            <a:off x="2203068" y="1899070"/>
            <a:ext cx="454042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</a:t>
            </a:r>
            <a:endParaRPr lang="en-US" sz="720" dirty="0"/>
          </a:p>
        </p:txBody>
      </p:sp>
      <p:sp>
        <p:nvSpPr>
          <p:cNvPr id="88" name="Text 85"/>
          <p:cNvSpPr/>
          <p:nvPr/>
        </p:nvSpPr>
        <p:spPr>
          <a:xfrm>
            <a:off x="2643886" y="1899070"/>
            <a:ext cx="454042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53</a:t>
            </a:r>
            <a:endParaRPr lang="en-US" sz="720" dirty="0"/>
          </a:p>
        </p:txBody>
      </p:sp>
      <p:sp>
        <p:nvSpPr>
          <p:cNvPr id="89" name="Text 86"/>
          <p:cNvSpPr/>
          <p:nvPr/>
        </p:nvSpPr>
        <p:spPr>
          <a:xfrm>
            <a:off x="2203068" y="2146720"/>
            <a:ext cx="454042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</a:t>
            </a:r>
            <a:endParaRPr lang="en-US" sz="720" dirty="0"/>
          </a:p>
        </p:txBody>
      </p:sp>
      <p:sp>
        <p:nvSpPr>
          <p:cNvPr id="90" name="Text 87"/>
          <p:cNvSpPr/>
          <p:nvPr/>
        </p:nvSpPr>
        <p:spPr>
          <a:xfrm>
            <a:off x="2643886" y="2146720"/>
            <a:ext cx="454042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</a:t>
            </a:r>
            <a:endParaRPr lang="en-US" sz="720" dirty="0"/>
          </a:p>
        </p:txBody>
      </p:sp>
      <p:sp>
        <p:nvSpPr>
          <p:cNvPr id="91" name="Text 88"/>
          <p:cNvSpPr/>
          <p:nvPr/>
        </p:nvSpPr>
        <p:spPr>
          <a:xfrm>
            <a:off x="2203068" y="2394370"/>
            <a:ext cx="454042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</a:t>
            </a:r>
            <a:endParaRPr lang="en-US" sz="720" dirty="0"/>
          </a:p>
        </p:txBody>
      </p:sp>
      <p:sp>
        <p:nvSpPr>
          <p:cNvPr id="92" name="Text 89"/>
          <p:cNvSpPr/>
          <p:nvPr/>
        </p:nvSpPr>
        <p:spPr>
          <a:xfrm>
            <a:off x="2203068" y="2642020"/>
            <a:ext cx="454042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</a:t>
            </a:r>
            <a:endParaRPr lang="en-US" sz="720" dirty="0"/>
          </a:p>
        </p:txBody>
      </p:sp>
      <p:sp>
        <p:nvSpPr>
          <p:cNvPr id="93" name="Text 90"/>
          <p:cNvSpPr/>
          <p:nvPr/>
        </p:nvSpPr>
        <p:spPr>
          <a:xfrm>
            <a:off x="2643886" y="2642020"/>
            <a:ext cx="454042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</a:t>
            </a:r>
            <a:endParaRPr lang="en-US" sz="720" dirty="0"/>
          </a:p>
        </p:txBody>
      </p:sp>
      <p:sp>
        <p:nvSpPr>
          <p:cNvPr id="94" name="Text 91"/>
          <p:cNvSpPr/>
          <p:nvPr/>
        </p:nvSpPr>
        <p:spPr>
          <a:xfrm>
            <a:off x="2203068" y="2889670"/>
            <a:ext cx="454042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</a:t>
            </a:r>
            <a:endParaRPr lang="en-US" sz="720" dirty="0"/>
          </a:p>
        </p:txBody>
      </p:sp>
      <p:sp>
        <p:nvSpPr>
          <p:cNvPr id="95" name="Text 92"/>
          <p:cNvSpPr/>
          <p:nvPr/>
        </p:nvSpPr>
        <p:spPr>
          <a:xfrm>
            <a:off x="2643886" y="2889670"/>
            <a:ext cx="454042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</a:t>
            </a:r>
            <a:endParaRPr lang="en-US" sz="720" dirty="0"/>
          </a:p>
        </p:txBody>
      </p:sp>
      <p:sp>
        <p:nvSpPr>
          <p:cNvPr id="96" name="Text 93"/>
          <p:cNvSpPr/>
          <p:nvPr/>
        </p:nvSpPr>
        <p:spPr>
          <a:xfrm>
            <a:off x="3014870" y="2863792"/>
            <a:ext cx="778556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b="1" dirty="0">
                <a:solidFill>
                  <a:srgbClr val="C44A1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0%</a:t>
            </a:r>
            <a:endParaRPr lang="en-US" sz="816" dirty="0"/>
          </a:p>
        </p:txBody>
      </p:sp>
      <p:sp>
        <p:nvSpPr>
          <p:cNvPr id="97" name="Text 94"/>
          <p:cNvSpPr/>
          <p:nvPr/>
        </p:nvSpPr>
        <p:spPr>
          <a:xfrm>
            <a:off x="2643886" y="3137320"/>
            <a:ext cx="454042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33</a:t>
            </a:r>
            <a:endParaRPr lang="en-US" sz="720" dirty="0"/>
          </a:p>
        </p:txBody>
      </p:sp>
      <p:sp>
        <p:nvSpPr>
          <p:cNvPr id="98" name="Text 95"/>
          <p:cNvSpPr/>
          <p:nvPr/>
        </p:nvSpPr>
        <p:spPr>
          <a:xfrm>
            <a:off x="2643886" y="3384970"/>
            <a:ext cx="454042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21</a:t>
            </a:r>
            <a:endParaRPr lang="en-US" sz="720" dirty="0"/>
          </a:p>
        </p:txBody>
      </p:sp>
      <p:sp>
        <p:nvSpPr>
          <p:cNvPr id="99" name="Text 96"/>
          <p:cNvSpPr/>
          <p:nvPr/>
        </p:nvSpPr>
        <p:spPr>
          <a:xfrm>
            <a:off x="3014870" y="3606742"/>
            <a:ext cx="778556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b="1" dirty="0">
                <a:solidFill>
                  <a:srgbClr val="C44A1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0%</a:t>
            </a:r>
            <a:endParaRPr lang="en-US" sz="816" dirty="0"/>
          </a:p>
        </p:txBody>
      </p:sp>
      <p:sp>
        <p:nvSpPr>
          <p:cNvPr id="100" name="Text 97"/>
          <p:cNvSpPr/>
          <p:nvPr/>
        </p:nvSpPr>
        <p:spPr>
          <a:xfrm>
            <a:off x="6316242" y="1630304"/>
            <a:ext cx="778556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b="1" dirty="0">
                <a:solidFill>
                  <a:srgbClr val="C44A1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0%</a:t>
            </a:r>
            <a:endParaRPr lang="en-US" sz="816" dirty="0"/>
          </a:p>
        </p:txBody>
      </p:sp>
      <p:sp>
        <p:nvSpPr>
          <p:cNvPr id="101" name="Text 98"/>
          <p:cNvSpPr/>
          <p:nvPr/>
        </p:nvSpPr>
        <p:spPr>
          <a:xfrm>
            <a:off x="5945258" y="2394370"/>
            <a:ext cx="454042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</a:t>
            </a:r>
            <a:endParaRPr lang="en-US" sz="720" dirty="0"/>
          </a:p>
        </p:txBody>
      </p:sp>
      <p:sp>
        <p:nvSpPr>
          <p:cNvPr id="102" name="Text 99"/>
          <p:cNvSpPr/>
          <p:nvPr/>
        </p:nvSpPr>
        <p:spPr>
          <a:xfrm>
            <a:off x="5945258" y="2642020"/>
            <a:ext cx="454042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</a:t>
            </a:r>
            <a:endParaRPr lang="en-US" sz="720" dirty="0"/>
          </a:p>
        </p:txBody>
      </p:sp>
      <p:sp>
        <p:nvSpPr>
          <p:cNvPr id="103" name="Text 100"/>
          <p:cNvSpPr/>
          <p:nvPr/>
        </p:nvSpPr>
        <p:spPr>
          <a:xfrm>
            <a:off x="6316242" y="2616142"/>
            <a:ext cx="778556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b="1" dirty="0">
                <a:solidFill>
                  <a:srgbClr val="C44A1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0%</a:t>
            </a:r>
            <a:endParaRPr lang="en-US" sz="816" dirty="0"/>
          </a:p>
        </p:txBody>
      </p:sp>
      <p:sp>
        <p:nvSpPr>
          <p:cNvPr id="104" name="Text 101"/>
          <p:cNvSpPr/>
          <p:nvPr/>
        </p:nvSpPr>
        <p:spPr>
          <a:xfrm>
            <a:off x="6316242" y="2863792"/>
            <a:ext cx="778556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b="1" dirty="0">
                <a:solidFill>
                  <a:srgbClr val="C44A1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0%</a:t>
            </a:r>
            <a:endParaRPr lang="en-US" sz="816" dirty="0"/>
          </a:p>
        </p:txBody>
      </p:sp>
      <p:sp>
        <p:nvSpPr>
          <p:cNvPr id="105" name="Text 102"/>
          <p:cNvSpPr/>
          <p:nvPr/>
        </p:nvSpPr>
        <p:spPr>
          <a:xfrm>
            <a:off x="5945258" y="3137320"/>
            <a:ext cx="454042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</a:t>
            </a:r>
            <a:endParaRPr lang="en-US" sz="720" dirty="0"/>
          </a:p>
        </p:txBody>
      </p:sp>
      <p:sp>
        <p:nvSpPr>
          <p:cNvPr id="106" name="Text 103"/>
          <p:cNvSpPr/>
          <p:nvPr/>
        </p:nvSpPr>
        <p:spPr>
          <a:xfrm>
            <a:off x="6316242" y="3111442"/>
            <a:ext cx="778556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b="1" dirty="0">
                <a:solidFill>
                  <a:srgbClr val="C44A1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0%</a:t>
            </a:r>
            <a:endParaRPr lang="en-US" sz="816" dirty="0"/>
          </a:p>
        </p:txBody>
      </p:sp>
      <p:sp>
        <p:nvSpPr>
          <p:cNvPr id="107" name="Text 104"/>
          <p:cNvSpPr/>
          <p:nvPr/>
        </p:nvSpPr>
        <p:spPr>
          <a:xfrm>
            <a:off x="6316242" y="3359092"/>
            <a:ext cx="778556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b="1" dirty="0">
                <a:solidFill>
                  <a:srgbClr val="C44A1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0%</a:t>
            </a:r>
            <a:endParaRPr lang="en-US" sz="816" dirty="0"/>
          </a:p>
        </p:txBody>
      </p:sp>
      <p:sp>
        <p:nvSpPr>
          <p:cNvPr id="108" name="Text 105"/>
          <p:cNvSpPr/>
          <p:nvPr/>
        </p:nvSpPr>
        <p:spPr>
          <a:xfrm>
            <a:off x="6316242" y="3606742"/>
            <a:ext cx="778556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b="1" dirty="0">
                <a:solidFill>
                  <a:srgbClr val="C44A1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0%</a:t>
            </a:r>
            <a:endParaRPr lang="en-US" sz="816" dirty="0"/>
          </a:p>
        </p:txBody>
      </p:sp>
      <p:sp>
        <p:nvSpPr>
          <p:cNvPr id="109" name="Text 106"/>
          <p:cNvSpPr/>
          <p:nvPr/>
        </p:nvSpPr>
        <p:spPr>
          <a:xfrm>
            <a:off x="8283129" y="1443060"/>
            <a:ext cx="827455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60</a:t>
            </a:r>
            <a:endParaRPr lang="en-US" sz="720" dirty="0"/>
          </a:p>
        </p:txBody>
      </p:sp>
      <p:sp>
        <p:nvSpPr>
          <p:cNvPr id="110" name="Text 107"/>
          <p:cNvSpPr/>
          <p:nvPr/>
        </p:nvSpPr>
        <p:spPr>
          <a:xfrm>
            <a:off x="9087287" y="1443060"/>
            <a:ext cx="799863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53</a:t>
            </a:r>
            <a:endParaRPr lang="en-US" sz="720" dirty="0"/>
          </a:p>
        </p:txBody>
      </p:sp>
      <p:sp>
        <p:nvSpPr>
          <p:cNvPr id="111" name="Text 108"/>
          <p:cNvSpPr/>
          <p:nvPr/>
        </p:nvSpPr>
        <p:spPr>
          <a:xfrm>
            <a:off x="8283129" y="1685948"/>
            <a:ext cx="827455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68</a:t>
            </a:r>
            <a:endParaRPr lang="en-US" sz="720" dirty="0"/>
          </a:p>
        </p:txBody>
      </p:sp>
      <p:sp>
        <p:nvSpPr>
          <p:cNvPr id="112" name="Text 109"/>
          <p:cNvSpPr/>
          <p:nvPr/>
        </p:nvSpPr>
        <p:spPr>
          <a:xfrm>
            <a:off x="9087287" y="1685948"/>
            <a:ext cx="799863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67</a:t>
            </a:r>
            <a:endParaRPr lang="en-US" sz="720" dirty="0"/>
          </a:p>
        </p:txBody>
      </p:sp>
      <p:sp>
        <p:nvSpPr>
          <p:cNvPr id="113" name="Text 110"/>
          <p:cNvSpPr/>
          <p:nvPr/>
        </p:nvSpPr>
        <p:spPr>
          <a:xfrm>
            <a:off x="8283129" y="1933598"/>
            <a:ext cx="827455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43</a:t>
            </a:r>
            <a:endParaRPr lang="en-US" sz="720" dirty="0"/>
          </a:p>
        </p:txBody>
      </p:sp>
      <p:sp>
        <p:nvSpPr>
          <p:cNvPr id="114" name="Text 111"/>
          <p:cNvSpPr/>
          <p:nvPr/>
        </p:nvSpPr>
        <p:spPr>
          <a:xfrm>
            <a:off x="9087287" y="1933598"/>
            <a:ext cx="799863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93</a:t>
            </a:r>
            <a:endParaRPr lang="en-US" sz="720" dirty="0"/>
          </a:p>
        </p:txBody>
      </p:sp>
      <p:sp>
        <p:nvSpPr>
          <p:cNvPr id="115" name="Text 112"/>
          <p:cNvSpPr/>
          <p:nvPr/>
        </p:nvSpPr>
        <p:spPr>
          <a:xfrm>
            <a:off x="8283129" y="2181248"/>
            <a:ext cx="827455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76</a:t>
            </a:r>
            <a:endParaRPr lang="en-US" sz="720" dirty="0"/>
          </a:p>
        </p:txBody>
      </p:sp>
      <p:sp>
        <p:nvSpPr>
          <p:cNvPr id="116" name="Text 113"/>
          <p:cNvSpPr/>
          <p:nvPr/>
        </p:nvSpPr>
        <p:spPr>
          <a:xfrm>
            <a:off x="9087287" y="2181248"/>
            <a:ext cx="799863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76</a:t>
            </a:r>
            <a:endParaRPr lang="en-US" sz="720" dirty="0"/>
          </a:p>
        </p:txBody>
      </p:sp>
      <p:sp>
        <p:nvSpPr>
          <p:cNvPr id="117" name="Text 114"/>
          <p:cNvSpPr/>
          <p:nvPr/>
        </p:nvSpPr>
        <p:spPr>
          <a:xfrm>
            <a:off x="8283129" y="2428898"/>
            <a:ext cx="827455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48</a:t>
            </a:r>
            <a:endParaRPr lang="en-US" sz="720" dirty="0"/>
          </a:p>
        </p:txBody>
      </p:sp>
      <p:sp>
        <p:nvSpPr>
          <p:cNvPr id="118" name="Text 115"/>
          <p:cNvSpPr/>
          <p:nvPr/>
        </p:nvSpPr>
        <p:spPr>
          <a:xfrm>
            <a:off x="9087287" y="2428898"/>
            <a:ext cx="799863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57</a:t>
            </a:r>
            <a:endParaRPr lang="en-US" sz="720" dirty="0"/>
          </a:p>
        </p:txBody>
      </p:sp>
      <p:sp>
        <p:nvSpPr>
          <p:cNvPr id="119" name="Text 116"/>
          <p:cNvSpPr/>
          <p:nvPr/>
        </p:nvSpPr>
        <p:spPr>
          <a:xfrm>
            <a:off x="8283129" y="2676548"/>
            <a:ext cx="827455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37</a:t>
            </a:r>
            <a:endParaRPr lang="en-US" sz="720" dirty="0"/>
          </a:p>
        </p:txBody>
      </p:sp>
      <p:sp>
        <p:nvSpPr>
          <p:cNvPr id="120" name="Text 117"/>
          <p:cNvSpPr/>
          <p:nvPr/>
        </p:nvSpPr>
        <p:spPr>
          <a:xfrm>
            <a:off x="9087287" y="2676548"/>
            <a:ext cx="799863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42</a:t>
            </a:r>
            <a:endParaRPr lang="en-US" sz="720" dirty="0"/>
          </a:p>
        </p:txBody>
      </p:sp>
      <p:sp>
        <p:nvSpPr>
          <p:cNvPr id="121" name="Text 118"/>
          <p:cNvSpPr/>
          <p:nvPr/>
        </p:nvSpPr>
        <p:spPr>
          <a:xfrm>
            <a:off x="8283129" y="2924198"/>
            <a:ext cx="827455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55</a:t>
            </a:r>
            <a:endParaRPr lang="en-US" sz="720" dirty="0"/>
          </a:p>
        </p:txBody>
      </p:sp>
      <p:sp>
        <p:nvSpPr>
          <p:cNvPr id="122" name="Text 119"/>
          <p:cNvSpPr/>
          <p:nvPr/>
        </p:nvSpPr>
        <p:spPr>
          <a:xfrm>
            <a:off x="9087287" y="2924198"/>
            <a:ext cx="799863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65</a:t>
            </a:r>
            <a:endParaRPr lang="en-US" sz="720" dirty="0"/>
          </a:p>
        </p:txBody>
      </p:sp>
      <p:sp>
        <p:nvSpPr>
          <p:cNvPr id="123" name="Text 120"/>
          <p:cNvSpPr/>
          <p:nvPr/>
        </p:nvSpPr>
        <p:spPr>
          <a:xfrm>
            <a:off x="8965222" y="4067198"/>
            <a:ext cx="489146" cy="180975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672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31</a:t>
            </a:r>
            <a:endParaRPr lang="en-US" sz="672" dirty="0"/>
          </a:p>
        </p:txBody>
      </p:sp>
      <p:sp>
        <p:nvSpPr>
          <p:cNvPr id="124" name="Text 121"/>
          <p:cNvSpPr/>
          <p:nvPr/>
        </p:nvSpPr>
        <p:spPr>
          <a:xfrm>
            <a:off x="8965222" y="4248173"/>
            <a:ext cx="489146" cy="180975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672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31</a:t>
            </a:r>
            <a:endParaRPr lang="en-US" sz="672" dirty="0"/>
          </a:p>
        </p:txBody>
      </p:sp>
      <p:sp>
        <p:nvSpPr>
          <p:cNvPr id="125" name="Text 122"/>
          <p:cNvSpPr/>
          <p:nvPr/>
        </p:nvSpPr>
        <p:spPr>
          <a:xfrm>
            <a:off x="8965222" y="4429148"/>
            <a:ext cx="489146" cy="180975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672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24</a:t>
            </a:r>
            <a:endParaRPr lang="en-US" sz="672" dirty="0"/>
          </a:p>
        </p:txBody>
      </p:sp>
      <p:sp>
        <p:nvSpPr>
          <p:cNvPr id="126" name="Text 123"/>
          <p:cNvSpPr/>
          <p:nvPr/>
        </p:nvSpPr>
        <p:spPr>
          <a:xfrm>
            <a:off x="8965222" y="4610123"/>
            <a:ext cx="489146" cy="176212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672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</a:t>
            </a:r>
            <a:endParaRPr lang="en-US" sz="672" dirty="0"/>
          </a:p>
        </p:txBody>
      </p:sp>
      <p:sp>
        <p:nvSpPr>
          <p:cNvPr id="127" name="Text 124"/>
          <p:cNvSpPr/>
          <p:nvPr/>
        </p:nvSpPr>
        <p:spPr>
          <a:xfrm>
            <a:off x="10997717" y="3710010"/>
            <a:ext cx="489146" cy="176212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672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</a:t>
            </a:r>
            <a:endParaRPr lang="en-US" sz="672" dirty="0"/>
          </a:p>
        </p:txBody>
      </p:sp>
      <p:sp>
        <p:nvSpPr>
          <p:cNvPr id="129" name="Text 124">
            <a:extLst>
              <a:ext uri="{FF2B5EF4-FFF2-40B4-BE49-F238E27FC236}">
                <a16:creationId xmlns:a16="http://schemas.microsoft.com/office/drawing/2014/main" id="{2A8A151F-844A-B7AE-7D30-1B2846627765}"/>
              </a:ext>
            </a:extLst>
          </p:cNvPr>
          <p:cNvSpPr/>
          <p:nvPr/>
        </p:nvSpPr>
        <p:spPr>
          <a:xfrm>
            <a:off x="11008038" y="3871924"/>
            <a:ext cx="489146" cy="176212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672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</a:t>
            </a:r>
            <a:endParaRPr lang="en-US" sz="672" dirty="0"/>
          </a:p>
        </p:txBody>
      </p:sp>
      <p:sp>
        <p:nvSpPr>
          <p:cNvPr id="131" name="Text 124">
            <a:extLst>
              <a:ext uri="{FF2B5EF4-FFF2-40B4-BE49-F238E27FC236}">
                <a16:creationId xmlns:a16="http://schemas.microsoft.com/office/drawing/2014/main" id="{47185B68-2919-B07B-423D-53B31E631B9B}"/>
              </a:ext>
            </a:extLst>
          </p:cNvPr>
          <p:cNvSpPr/>
          <p:nvPr/>
        </p:nvSpPr>
        <p:spPr>
          <a:xfrm>
            <a:off x="11008038" y="4048136"/>
            <a:ext cx="489146" cy="176212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672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</a:t>
            </a:r>
            <a:endParaRPr lang="en-US" sz="672" dirty="0"/>
          </a:p>
        </p:txBody>
      </p:sp>
      <p:sp>
        <p:nvSpPr>
          <p:cNvPr id="133" name="Text 124">
            <a:extLst>
              <a:ext uri="{FF2B5EF4-FFF2-40B4-BE49-F238E27FC236}">
                <a16:creationId xmlns:a16="http://schemas.microsoft.com/office/drawing/2014/main" id="{DCE806F7-D29A-D955-CBA6-9F584C6469D5}"/>
              </a:ext>
            </a:extLst>
          </p:cNvPr>
          <p:cNvSpPr/>
          <p:nvPr/>
        </p:nvSpPr>
        <p:spPr>
          <a:xfrm>
            <a:off x="11014409" y="4219596"/>
            <a:ext cx="489146" cy="176212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672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</a:t>
            </a:r>
            <a:endParaRPr lang="en-US" sz="672" dirty="0"/>
          </a:p>
        </p:txBody>
      </p:sp>
      <p:sp>
        <p:nvSpPr>
          <p:cNvPr id="135" name="Text 124">
            <a:extLst>
              <a:ext uri="{FF2B5EF4-FFF2-40B4-BE49-F238E27FC236}">
                <a16:creationId xmlns:a16="http://schemas.microsoft.com/office/drawing/2014/main" id="{E20BFFEA-E334-C3BF-6434-0D3553BBD57C}"/>
              </a:ext>
            </a:extLst>
          </p:cNvPr>
          <p:cNvSpPr/>
          <p:nvPr/>
        </p:nvSpPr>
        <p:spPr>
          <a:xfrm>
            <a:off x="11016526" y="4395819"/>
            <a:ext cx="489146" cy="176212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672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</a:t>
            </a:r>
            <a:endParaRPr lang="en-US" sz="672" dirty="0"/>
          </a:p>
        </p:txBody>
      </p:sp>
      <p:sp>
        <p:nvSpPr>
          <p:cNvPr id="137" name="Text 124">
            <a:extLst>
              <a:ext uri="{FF2B5EF4-FFF2-40B4-BE49-F238E27FC236}">
                <a16:creationId xmlns:a16="http://schemas.microsoft.com/office/drawing/2014/main" id="{F06BE3D1-26D1-8AAE-FC64-8FAF278AA0D4}"/>
              </a:ext>
            </a:extLst>
          </p:cNvPr>
          <p:cNvSpPr/>
          <p:nvPr/>
        </p:nvSpPr>
        <p:spPr>
          <a:xfrm>
            <a:off x="11016767" y="4605371"/>
            <a:ext cx="489146" cy="176212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672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672" dirty="0"/>
          </a:p>
        </p:txBody>
      </p:sp>
      <p:sp>
        <p:nvSpPr>
          <p:cNvPr id="139" name="Text 107">
            <a:extLst>
              <a:ext uri="{FF2B5EF4-FFF2-40B4-BE49-F238E27FC236}">
                <a16:creationId xmlns:a16="http://schemas.microsoft.com/office/drawing/2014/main" id="{3EF76265-37BE-372C-B5D2-337AAA224BE2}"/>
              </a:ext>
            </a:extLst>
          </p:cNvPr>
          <p:cNvSpPr/>
          <p:nvPr/>
        </p:nvSpPr>
        <p:spPr>
          <a:xfrm>
            <a:off x="9798797" y="1430570"/>
            <a:ext cx="799863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</a:t>
            </a:r>
            <a:endParaRPr lang="en-US" sz="720" dirty="0"/>
          </a:p>
        </p:txBody>
      </p:sp>
      <p:sp>
        <p:nvSpPr>
          <p:cNvPr id="141" name="Text 107">
            <a:extLst>
              <a:ext uri="{FF2B5EF4-FFF2-40B4-BE49-F238E27FC236}">
                <a16:creationId xmlns:a16="http://schemas.microsoft.com/office/drawing/2014/main" id="{E46C6A0B-FD08-6F7B-EF0B-B7D5FA9BBB67}"/>
              </a:ext>
            </a:extLst>
          </p:cNvPr>
          <p:cNvSpPr/>
          <p:nvPr/>
        </p:nvSpPr>
        <p:spPr>
          <a:xfrm>
            <a:off x="9798797" y="1677793"/>
            <a:ext cx="799863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720" dirty="0"/>
          </a:p>
        </p:txBody>
      </p:sp>
      <p:sp>
        <p:nvSpPr>
          <p:cNvPr id="143" name="Text 107">
            <a:extLst>
              <a:ext uri="{FF2B5EF4-FFF2-40B4-BE49-F238E27FC236}">
                <a16:creationId xmlns:a16="http://schemas.microsoft.com/office/drawing/2014/main" id="{F8E37844-34ED-EEDB-B928-72079DA31A2D}"/>
              </a:ext>
            </a:extLst>
          </p:cNvPr>
          <p:cNvSpPr/>
          <p:nvPr/>
        </p:nvSpPr>
        <p:spPr>
          <a:xfrm>
            <a:off x="9783068" y="1923489"/>
            <a:ext cx="799863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</a:t>
            </a:r>
            <a:endParaRPr lang="en-US" sz="720" dirty="0"/>
          </a:p>
        </p:txBody>
      </p:sp>
      <p:sp>
        <p:nvSpPr>
          <p:cNvPr id="145" name="Text 107">
            <a:extLst>
              <a:ext uri="{FF2B5EF4-FFF2-40B4-BE49-F238E27FC236}">
                <a16:creationId xmlns:a16="http://schemas.microsoft.com/office/drawing/2014/main" id="{C22D4FFC-F16F-6627-C27B-FCBC93007D0D}"/>
              </a:ext>
            </a:extLst>
          </p:cNvPr>
          <p:cNvSpPr/>
          <p:nvPr/>
        </p:nvSpPr>
        <p:spPr>
          <a:xfrm>
            <a:off x="9783068" y="2183360"/>
            <a:ext cx="799863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</a:t>
            </a:r>
            <a:endParaRPr lang="en-US" sz="720" dirty="0"/>
          </a:p>
        </p:txBody>
      </p:sp>
      <p:sp>
        <p:nvSpPr>
          <p:cNvPr id="147" name="Text 107">
            <a:extLst>
              <a:ext uri="{FF2B5EF4-FFF2-40B4-BE49-F238E27FC236}">
                <a16:creationId xmlns:a16="http://schemas.microsoft.com/office/drawing/2014/main" id="{5B2B1AB5-F706-E180-1684-148C640C78AD}"/>
              </a:ext>
            </a:extLst>
          </p:cNvPr>
          <p:cNvSpPr/>
          <p:nvPr/>
        </p:nvSpPr>
        <p:spPr>
          <a:xfrm>
            <a:off x="9783068" y="2399156"/>
            <a:ext cx="799863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</a:t>
            </a:r>
            <a:endParaRPr lang="en-US" sz="720" dirty="0"/>
          </a:p>
        </p:txBody>
      </p:sp>
      <p:sp>
        <p:nvSpPr>
          <p:cNvPr id="149" name="Text 107">
            <a:extLst>
              <a:ext uri="{FF2B5EF4-FFF2-40B4-BE49-F238E27FC236}">
                <a16:creationId xmlns:a16="http://schemas.microsoft.com/office/drawing/2014/main" id="{75DF079B-9192-57E1-2EAD-3AF36FE6258A}"/>
              </a:ext>
            </a:extLst>
          </p:cNvPr>
          <p:cNvSpPr/>
          <p:nvPr/>
        </p:nvSpPr>
        <p:spPr>
          <a:xfrm>
            <a:off x="9783068" y="2675875"/>
            <a:ext cx="799863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</a:t>
            </a:r>
            <a:endParaRPr lang="en-US" sz="720" dirty="0"/>
          </a:p>
        </p:txBody>
      </p:sp>
      <p:sp>
        <p:nvSpPr>
          <p:cNvPr id="151" name="Text 119">
            <a:extLst>
              <a:ext uri="{FF2B5EF4-FFF2-40B4-BE49-F238E27FC236}">
                <a16:creationId xmlns:a16="http://schemas.microsoft.com/office/drawing/2014/main" id="{58652029-C66D-7CEA-7606-F1EBDD1310D6}"/>
              </a:ext>
            </a:extLst>
          </p:cNvPr>
          <p:cNvSpPr/>
          <p:nvPr/>
        </p:nvSpPr>
        <p:spPr>
          <a:xfrm>
            <a:off x="9783068" y="2921233"/>
            <a:ext cx="799863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</a:t>
            </a:r>
            <a:endParaRPr lang="en-US" sz="720" dirty="0"/>
          </a:p>
        </p:txBody>
      </p:sp>
      <p:sp>
        <p:nvSpPr>
          <p:cNvPr id="153" name="Text 87">
            <a:extLst>
              <a:ext uri="{FF2B5EF4-FFF2-40B4-BE49-F238E27FC236}">
                <a16:creationId xmlns:a16="http://schemas.microsoft.com/office/drawing/2014/main" id="{5FFBF24E-39F1-0695-84F5-07EDD592A9BE}"/>
              </a:ext>
            </a:extLst>
          </p:cNvPr>
          <p:cNvSpPr/>
          <p:nvPr/>
        </p:nvSpPr>
        <p:spPr>
          <a:xfrm>
            <a:off x="2643886" y="2383812"/>
            <a:ext cx="454042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</a:t>
            </a:r>
            <a:endParaRPr lang="en-US" sz="720" dirty="0"/>
          </a:p>
        </p:txBody>
      </p:sp>
      <p:sp>
        <p:nvSpPr>
          <p:cNvPr id="155" name="Text 94">
            <a:extLst>
              <a:ext uri="{FF2B5EF4-FFF2-40B4-BE49-F238E27FC236}">
                <a16:creationId xmlns:a16="http://schemas.microsoft.com/office/drawing/2014/main" id="{CF25DDD8-DDE1-0A9A-742C-FB7F931D8CBB}"/>
              </a:ext>
            </a:extLst>
          </p:cNvPr>
          <p:cNvSpPr/>
          <p:nvPr/>
        </p:nvSpPr>
        <p:spPr>
          <a:xfrm>
            <a:off x="2211210" y="3125998"/>
            <a:ext cx="454042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</a:t>
            </a:r>
            <a:endParaRPr lang="en-US" sz="720" dirty="0"/>
          </a:p>
        </p:txBody>
      </p:sp>
      <p:sp>
        <p:nvSpPr>
          <p:cNvPr id="157" name="Text 94">
            <a:extLst>
              <a:ext uri="{FF2B5EF4-FFF2-40B4-BE49-F238E27FC236}">
                <a16:creationId xmlns:a16="http://schemas.microsoft.com/office/drawing/2014/main" id="{B0468632-0C76-3686-6664-2D1DE1D7107E}"/>
              </a:ext>
            </a:extLst>
          </p:cNvPr>
          <p:cNvSpPr/>
          <p:nvPr/>
        </p:nvSpPr>
        <p:spPr>
          <a:xfrm>
            <a:off x="2211210" y="3359092"/>
            <a:ext cx="454042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</a:t>
            </a:r>
            <a:endParaRPr lang="en-US" sz="720" dirty="0"/>
          </a:p>
        </p:txBody>
      </p:sp>
      <p:sp>
        <p:nvSpPr>
          <p:cNvPr id="159" name="Text 95">
            <a:extLst>
              <a:ext uri="{FF2B5EF4-FFF2-40B4-BE49-F238E27FC236}">
                <a16:creationId xmlns:a16="http://schemas.microsoft.com/office/drawing/2014/main" id="{710B762B-C98C-1689-04B7-9BF048B1EA32}"/>
              </a:ext>
            </a:extLst>
          </p:cNvPr>
          <p:cNvSpPr/>
          <p:nvPr/>
        </p:nvSpPr>
        <p:spPr>
          <a:xfrm>
            <a:off x="2625881" y="3641785"/>
            <a:ext cx="454042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</a:rPr>
              <a:t>1</a:t>
            </a:r>
            <a:endParaRPr lang="en-US" sz="720" dirty="0"/>
          </a:p>
        </p:txBody>
      </p:sp>
      <p:sp>
        <p:nvSpPr>
          <p:cNvPr id="161" name="Text 94">
            <a:extLst>
              <a:ext uri="{FF2B5EF4-FFF2-40B4-BE49-F238E27FC236}">
                <a16:creationId xmlns:a16="http://schemas.microsoft.com/office/drawing/2014/main" id="{4912B5D3-3462-3806-A47E-0657A56FFBE7}"/>
              </a:ext>
            </a:extLst>
          </p:cNvPr>
          <p:cNvSpPr/>
          <p:nvPr/>
        </p:nvSpPr>
        <p:spPr>
          <a:xfrm>
            <a:off x="2193205" y="3615907"/>
            <a:ext cx="454042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</a:t>
            </a:r>
            <a:endParaRPr lang="en-US" sz="720" dirty="0"/>
          </a:p>
        </p:txBody>
      </p:sp>
      <p:sp>
        <p:nvSpPr>
          <p:cNvPr id="169" name="Text 95">
            <a:extLst>
              <a:ext uri="{FF2B5EF4-FFF2-40B4-BE49-F238E27FC236}">
                <a16:creationId xmlns:a16="http://schemas.microsoft.com/office/drawing/2014/main" id="{4445CF89-9F74-2C84-E755-280095CD79C0}"/>
              </a:ext>
            </a:extLst>
          </p:cNvPr>
          <p:cNvSpPr/>
          <p:nvPr/>
        </p:nvSpPr>
        <p:spPr>
          <a:xfrm>
            <a:off x="2610693" y="3889435"/>
            <a:ext cx="454042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</a:rPr>
              <a:t>9</a:t>
            </a:r>
            <a:endParaRPr lang="en-US" sz="720" dirty="0"/>
          </a:p>
        </p:txBody>
      </p:sp>
      <p:sp>
        <p:nvSpPr>
          <p:cNvPr id="171" name="Text 94">
            <a:extLst>
              <a:ext uri="{FF2B5EF4-FFF2-40B4-BE49-F238E27FC236}">
                <a16:creationId xmlns:a16="http://schemas.microsoft.com/office/drawing/2014/main" id="{36DA5E37-848C-4EF1-1CBF-3863EEBFBB99}"/>
              </a:ext>
            </a:extLst>
          </p:cNvPr>
          <p:cNvSpPr/>
          <p:nvPr/>
        </p:nvSpPr>
        <p:spPr>
          <a:xfrm>
            <a:off x="2178017" y="3863557"/>
            <a:ext cx="454042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</a:t>
            </a:r>
            <a:endParaRPr lang="en-US" sz="720" dirty="0"/>
          </a:p>
        </p:txBody>
      </p:sp>
      <p:sp>
        <p:nvSpPr>
          <p:cNvPr id="173" name="Text 95">
            <a:extLst>
              <a:ext uri="{FF2B5EF4-FFF2-40B4-BE49-F238E27FC236}">
                <a16:creationId xmlns:a16="http://schemas.microsoft.com/office/drawing/2014/main" id="{AFA22E21-83CA-3B14-36C2-22B633DA7803}"/>
              </a:ext>
            </a:extLst>
          </p:cNvPr>
          <p:cNvSpPr/>
          <p:nvPr/>
        </p:nvSpPr>
        <p:spPr>
          <a:xfrm>
            <a:off x="2612273" y="4121649"/>
            <a:ext cx="454042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</a:rPr>
              <a:t>8</a:t>
            </a:r>
            <a:endParaRPr lang="en-US" sz="720" dirty="0"/>
          </a:p>
        </p:txBody>
      </p:sp>
      <p:sp>
        <p:nvSpPr>
          <p:cNvPr id="175" name="Text 94">
            <a:extLst>
              <a:ext uri="{FF2B5EF4-FFF2-40B4-BE49-F238E27FC236}">
                <a16:creationId xmlns:a16="http://schemas.microsoft.com/office/drawing/2014/main" id="{D777A108-C9B7-0069-619E-BFB95B681E29}"/>
              </a:ext>
            </a:extLst>
          </p:cNvPr>
          <p:cNvSpPr/>
          <p:nvPr/>
        </p:nvSpPr>
        <p:spPr>
          <a:xfrm>
            <a:off x="2179597" y="4095771"/>
            <a:ext cx="454042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</a:t>
            </a:r>
            <a:endParaRPr lang="en-US" sz="720" dirty="0"/>
          </a:p>
        </p:txBody>
      </p:sp>
      <p:sp>
        <p:nvSpPr>
          <p:cNvPr id="177" name="Text 95">
            <a:extLst>
              <a:ext uri="{FF2B5EF4-FFF2-40B4-BE49-F238E27FC236}">
                <a16:creationId xmlns:a16="http://schemas.microsoft.com/office/drawing/2014/main" id="{4BE5E859-E308-CF94-A141-F583D8B517C0}"/>
              </a:ext>
            </a:extLst>
          </p:cNvPr>
          <p:cNvSpPr/>
          <p:nvPr/>
        </p:nvSpPr>
        <p:spPr>
          <a:xfrm>
            <a:off x="5935426" y="1638481"/>
            <a:ext cx="454042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</a:rPr>
              <a:t>2</a:t>
            </a:r>
            <a:endParaRPr lang="en-US" sz="720" dirty="0"/>
          </a:p>
        </p:txBody>
      </p:sp>
      <p:sp>
        <p:nvSpPr>
          <p:cNvPr id="179" name="Text 94">
            <a:extLst>
              <a:ext uri="{FF2B5EF4-FFF2-40B4-BE49-F238E27FC236}">
                <a16:creationId xmlns:a16="http://schemas.microsoft.com/office/drawing/2014/main" id="{BDABBAA8-C1BB-2F61-B3E4-4AE2CCBC4C48}"/>
              </a:ext>
            </a:extLst>
          </p:cNvPr>
          <p:cNvSpPr/>
          <p:nvPr/>
        </p:nvSpPr>
        <p:spPr>
          <a:xfrm>
            <a:off x="5502750" y="1638481"/>
            <a:ext cx="454042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720" dirty="0"/>
          </a:p>
        </p:txBody>
      </p:sp>
      <p:sp>
        <p:nvSpPr>
          <p:cNvPr id="181" name="Text 95">
            <a:extLst>
              <a:ext uri="{FF2B5EF4-FFF2-40B4-BE49-F238E27FC236}">
                <a16:creationId xmlns:a16="http://schemas.microsoft.com/office/drawing/2014/main" id="{4365FA08-CDDE-FC51-43E8-A4305DC1EAEE}"/>
              </a:ext>
            </a:extLst>
          </p:cNvPr>
          <p:cNvSpPr/>
          <p:nvPr/>
        </p:nvSpPr>
        <p:spPr>
          <a:xfrm>
            <a:off x="5935775" y="1894308"/>
            <a:ext cx="454042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</a:rPr>
              <a:t>6</a:t>
            </a:r>
            <a:endParaRPr lang="en-US" sz="720" dirty="0"/>
          </a:p>
        </p:txBody>
      </p:sp>
      <p:sp>
        <p:nvSpPr>
          <p:cNvPr id="183" name="Text 94">
            <a:extLst>
              <a:ext uri="{FF2B5EF4-FFF2-40B4-BE49-F238E27FC236}">
                <a16:creationId xmlns:a16="http://schemas.microsoft.com/office/drawing/2014/main" id="{AF8758E8-86B4-8834-A3B1-C49B1880B347}"/>
              </a:ext>
            </a:extLst>
          </p:cNvPr>
          <p:cNvSpPr/>
          <p:nvPr/>
        </p:nvSpPr>
        <p:spPr>
          <a:xfrm>
            <a:off x="5503099" y="1894308"/>
            <a:ext cx="454042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720" dirty="0"/>
          </a:p>
        </p:txBody>
      </p:sp>
      <p:sp>
        <p:nvSpPr>
          <p:cNvPr id="185" name="Text 95">
            <a:extLst>
              <a:ext uri="{FF2B5EF4-FFF2-40B4-BE49-F238E27FC236}">
                <a16:creationId xmlns:a16="http://schemas.microsoft.com/office/drawing/2014/main" id="{54F51E4E-B8D0-8DA3-D543-E4059D672F9C}"/>
              </a:ext>
            </a:extLst>
          </p:cNvPr>
          <p:cNvSpPr/>
          <p:nvPr/>
        </p:nvSpPr>
        <p:spPr>
          <a:xfrm>
            <a:off x="5931661" y="2141958"/>
            <a:ext cx="454042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</a:rPr>
              <a:t>1</a:t>
            </a:r>
            <a:endParaRPr lang="en-US" sz="720" dirty="0"/>
          </a:p>
        </p:txBody>
      </p:sp>
      <p:sp>
        <p:nvSpPr>
          <p:cNvPr id="187" name="Text 94">
            <a:extLst>
              <a:ext uri="{FF2B5EF4-FFF2-40B4-BE49-F238E27FC236}">
                <a16:creationId xmlns:a16="http://schemas.microsoft.com/office/drawing/2014/main" id="{49A3B3CF-E5CF-AA8D-CBB4-ABDB39C81288}"/>
              </a:ext>
            </a:extLst>
          </p:cNvPr>
          <p:cNvSpPr/>
          <p:nvPr/>
        </p:nvSpPr>
        <p:spPr>
          <a:xfrm>
            <a:off x="5498985" y="2141958"/>
            <a:ext cx="454042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720" dirty="0"/>
          </a:p>
        </p:txBody>
      </p:sp>
      <p:sp>
        <p:nvSpPr>
          <p:cNvPr id="189" name="Text 94">
            <a:extLst>
              <a:ext uri="{FF2B5EF4-FFF2-40B4-BE49-F238E27FC236}">
                <a16:creationId xmlns:a16="http://schemas.microsoft.com/office/drawing/2014/main" id="{123B9CE0-6EB3-7B2D-568B-E6D03C4FF8E9}"/>
              </a:ext>
            </a:extLst>
          </p:cNvPr>
          <p:cNvSpPr/>
          <p:nvPr/>
        </p:nvSpPr>
        <p:spPr>
          <a:xfrm>
            <a:off x="5491627" y="2383676"/>
            <a:ext cx="454042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720" dirty="0"/>
          </a:p>
        </p:txBody>
      </p:sp>
      <p:sp>
        <p:nvSpPr>
          <p:cNvPr id="191" name="Text 94">
            <a:extLst>
              <a:ext uri="{FF2B5EF4-FFF2-40B4-BE49-F238E27FC236}">
                <a16:creationId xmlns:a16="http://schemas.microsoft.com/office/drawing/2014/main" id="{904DBD98-61E5-69E8-F0D5-D6441E305DE3}"/>
              </a:ext>
            </a:extLst>
          </p:cNvPr>
          <p:cNvSpPr/>
          <p:nvPr/>
        </p:nvSpPr>
        <p:spPr>
          <a:xfrm>
            <a:off x="5491216" y="2631236"/>
            <a:ext cx="454042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720" dirty="0"/>
          </a:p>
        </p:txBody>
      </p:sp>
      <p:sp>
        <p:nvSpPr>
          <p:cNvPr id="193" name="Text 99">
            <a:extLst>
              <a:ext uri="{FF2B5EF4-FFF2-40B4-BE49-F238E27FC236}">
                <a16:creationId xmlns:a16="http://schemas.microsoft.com/office/drawing/2014/main" id="{8DA248F2-DFB3-F69F-B504-69B2C5B630F7}"/>
              </a:ext>
            </a:extLst>
          </p:cNvPr>
          <p:cNvSpPr/>
          <p:nvPr/>
        </p:nvSpPr>
        <p:spPr>
          <a:xfrm>
            <a:off x="5953027" y="2874038"/>
            <a:ext cx="454042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</a:t>
            </a:r>
            <a:endParaRPr lang="en-US" sz="720" dirty="0"/>
          </a:p>
        </p:txBody>
      </p:sp>
      <p:sp>
        <p:nvSpPr>
          <p:cNvPr id="195" name="Text 94">
            <a:extLst>
              <a:ext uri="{FF2B5EF4-FFF2-40B4-BE49-F238E27FC236}">
                <a16:creationId xmlns:a16="http://schemas.microsoft.com/office/drawing/2014/main" id="{DFEA6D75-3E56-6AE5-9F4E-79364F7DBD40}"/>
              </a:ext>
            </a:extLst>
          </p:cNvPr>
          <p:cNvSpPr/>
          <p:nvPr/>
        </p:nvSpPr>
        <p:spPr>
          <a:xfrm>
            <a:off x="5498985" y="2863254"/>
            <a:ext cx="454042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720" dirty="0"/>
          </a:p>
        </p:txBody>
      </p:sp>
      <p:sp>
        <p:nvSpPr>
          <p:cNvPr id="201" name="Text 99">
            <a:extLst>
              <a:ext uri="{FF2B5EF4-FFF2-40B4-BE49-F238E27FC236}">
                <a16:creationId xmlns:a16="http://schemas.microsoft.com/office/drawing/2014/main" id="{FA79BDD5-E4DC-29B1-AC55-01DC339036A2}"/>
              </a:ext>
            </a:extLst>
          </p:cNvPr>
          <p:cNvSpPr/>
          <p:nvPr/>
        </p:nvSpPr>
        <p:spPr>
          <a:xfrm>
            <a:off x="5944401" y="3379578"/>
            <a:ext cx="454042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</a:t>
            </a:r>
            <a:endParaRPr lang="en-US" sz="720" dirty="0"/>
          </a:p>
        </p:txBody>
      </p:sp>
      <p:sp>
        <p:nvSpPr>
          <p:cNvPr id="203" name="Text 94">
            <a:extLst>
              <a:ext uri="{FF2B5EF4-FFF2-40B4-BE49-F238E27FC236}">
                <a16:creationId xmlns:a16="http://schemas.microsoft.com/office/drawing/2014/main" id="{4B84FC4C-2C7E-1D10-040E-192AE5196349}"/>
              </a:ext>
            </a:extLst>
          </p:cNvPr>
          <p:cNvSpPr/>
          <p:nvPr/>
        </p:nvSpPr>
        <p:spPr>
          <a:xfrm>
            <a:off x="5490359" y="3368794"/>
            <a:ext cx="454042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720" dirty="0"/>
          </a:p>
        </p:txBody>
      </p:sp>
      <p:sp>
        <p:nvSpPr>
          <p:cNvPr id="205" name="Text 99">
            <a:extLst>
              <a:ext uri="{FF2B5EF4-FFF2-40B4-BE49-F238E27FC236}">
                <a16:creationId xmlns:a16="http://schemas.microsoft.com/office/drawing/2014/main" id="{2AA4629C-BD29-06D4-18F8-018EEE07E5E2}"/>
              </a:ext>
            </a:extLst>
          </p:cNvPr>
          <p:cNvSpPr/>
          <p:nvPr/>
        </p:nvSpPr>
        <p:spPr>
          <a:xfrm>
            <a:off x="5958482" y="3621299"/>
            <a:ext cx="454042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</a:t>
            </a:r>
            <a:endParaRPr lang="en-US" sz="720" dirty="0"/>
          </a:p>
        </p:txBody>
      </p:sp>
      <p:sp>
        <p:nvSpPr>
          <p:cNvPr id="207" name="Text 94">
            <a:extLst>
              <a:ext uri="{FF2B5EF4-FFF2-40B4-BE49-F238E27FC236}">
                <a16:creationId xmlns:a16="http://schemas.microsoft.com/office/drawing/2014/main" id="{471AC457-9E74-333A-90E9-69F9D08D2602}"/>
              </a:ext>
            </a:extLst>
          </p:cNvPr>
          <p:cNvSpPr/>
          <p:nvPr/>
        </p:nvSpPr>
        <p:spPr>
          <a:xfrm>
            <a:off x="5504440" y="3610515"/>
            <a:ext cx="454042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720" dirty="0"/>
          </a:p>
        </p:txBody>
      </p:sp>
      <p:sp>
        <p:nvSpPr>
          <p:cNvPr id="209" name="Text 99">
            <a:extLst>
              <a:ext uri="{FF2B5EF4-FFF2-40B4-BE49-F238E27FC236}">
                <a16:creationId xmlns:a16="http://schemas.microsoft.com/office/drawing/2014/main" id="{5E25ED17-589B-195D-ECD2-26D2FDFAEF49}"/>
              </a:ext>
            </a:extLst>
          </p:cNvPr>
          <p:cNvSpPr/>
          <p:nvPr/>
        </p:nvSpPr>
        <p:spPr>
          <a:xfrm>
            <a:off x="5956792" y="3849721"/>
            <a:ext cx="454042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</a:t>
            </a:r>
            <a:endParaRPr lang="en-US" sz="720" dirty="0"/>
          </a:p>
        </p:txBody>
      </p:sp>
      <p:sp>
        <p:nvSpPr>
          <p:cNvPr id="211" name="Text 94">
            <a:extLst>
              <a:ext uri="{FF2B5EF4-FFF2-40B4-BE49-F238E27FC236}">
                <a16:creationId xmlns:a16="http://schemas.microsoft.com/office/drawing/2014/main" id="{E1C27482-6330-9C3F-638B-44A4A8BD1A3A}"/>
              </a:ext>
            </a:extLst>
          </p:cNvPr>
          <p:cNvSpPr/>
          <p:nvPr/>
        </p:nvSpPr>
        <p:spPr>
          <a:xfrm>
            <a:off x="5502750" y="3838937"/>
            <a:ext cx="454042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</a:t>
            </a:r>
            <a:endParaRPr lang="en-US" sz="720" dirty="0"/>
          </a:p>
        </p:txBody>
      </p:sp>
      <p:sp>
        <p:nvSpPr>
          <p:cNvPr id="213" name="Text 99">
            <a:extLst>
              <a:ext uri="{FF2B5EF4-FFF2-40B4-BE49-F238E27FC236}">
                <a16:creationId xmlns:a16="http://schemas.microsoft.com/office/drawing/2014/main" id="{3F54FE49-13F7-91B6-2B18-EBF4C3964E70}"/>
              </a:ext>
            </a:extLst>
          </p:cNvPr>
          <p:cNvSpPr/>
          <p:nvPr/>
        </p:nvSpPr>
        <p:spPr>
          <a:xfrm>
            <a:off x="5953027" y="4106019"/>
            <a:ext cx="454042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</a:t>
            </a:r>
            <a:endParaRPr lang="en-US" sz="720" dirty="0"/>
          </a:p>
        </p:txBody>
      </p:sp>
      <p:sp>
        <p:nvSpPr>
          <p:cNvPr id="215" name="Text 94">
            <a:extLst>
              <a:ext uri="{FF2B5EF4-FFF2-40B4-BE49-F238E27FC236}">
                <a16:creationId xmlns:a16="http://schemas.microsoft.com/office/drawing/2014/main" id="{2B543AA7-A18D-916B-85EC-6A113539621D}"/>
              </a:ext>
            </a:extLst>
          </p:cNvPr>
          <p:cNvSpPr/>
          <p:nvPr/>
        </p:nvSpPr>
        <p:spPr>
          <a:xfrm>
            <a:off x="5498985" y="4095235"/>
            <a:ext cx="454042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</a:rPr>
              <a:t>0</a:t>
            </a:r>
            <a:endParaRPr lang="en-US" sz="720" dirty="0"/>
          </a:p>
        </p:txBody>
      </p:sp>
      <p:sp>
        <p:nvSpPr>
          <p:cNvPr id="217" name="Text 94">
            <a:extLst>
              <a:ext uri="{FF2B5EF4-FFF2-40B4-BE49-F238E27FC236}">
                <a16:creationId xmlns:a16="http://schemas.microsoft.com/office/drawing/2014/main" id="{19192AA8-CD81-B290-9467-C3C2DF539FA7}"/>
              </a:ext>
            </a:extLst>
          </p:cNvPr>
          <p:cNvSpPr/>
          <p:nvPr/>
        </p:nvSpPr>
        <p:spPr>
          <a:xfrm>
            <a:off x="5497357" y="3125998"/>
            <a:ext cx="454042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7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Image 0" descr="C:\01_Repositorios\13_Presentaciones\dash\tradicional\ppt_slides\sk_02_main.png">
            <a:extLst>
              <a:ext uri="{FF2B5EF4-FFF2-40B4-BE49-F238E27FC236}">
                <a16:creationId xmlns:a16="http://schemas.microsoft.com/office/drawing/2014/main" id="{BA12DCC4-352E-A74B-A8C6-5B0D1BD648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28674" y="6463308"/>
            <a:ext cx="10477238" cy="2768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16" b="1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Logro Comercial: el canal Tradicional cerró el semestre con 734 ventas positivas entre Cuota Protegida y Rueda Seguro, y junio marcó el mayor volumen de financiaciones del 1S (5.605 en CP y 1.395 en RS) con la red de aliados más amplia del semestre — una base sólida para acelerar la conversión en el 2S.</a:t>
            </a:r>
            <a:endParaRPr lang="en-US" sz="81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571485" y="6006108"/>
            <a:ext cx="5216839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96" dirty="0">
                <a:solidFill>
                  <a:srgbClr val="9098B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* Aliados y Gestores en la fila de total corresponden al promedio mensual de la estructura activa del canal.</a:t>
            </a:r>
            <a:endParaRPr lang="en-US" sz="69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6257769" y="5606058"/>
            <a:ext cx="44127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72" dirty="0">
                <a:solidFill>
                  <a:srgbClr val="9098B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Junio muestra un repunte de financiaciones de motocicletas (1.395) con 25 aliados activos.</a:t>
            </a:r>
            <a:endParaRPr lang="en-US" sz="67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685783" y="5606058"/>
            <a:ext cx="5102541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72" dirty="0">
                <a:solidFill>
                  <a:srgbClr val="9098B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El cierre de junio registra un incremento en financiaciones (5.605) y 12 aliados activos.</a:t>
            </a:r>
            <a:endParaRPr lang="en-US" sz="67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571486" y="209550"/>
            <a:ext cx="5216838" cy="196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60" b="1" dirty="0">
                <a:solidFill>
                  <a:srgbClr val="FFFFFF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VENTAS DEL CANAL · CUOTA PROTEGIDA Y RUEDA SEGURO</a:t>
            </a:r>
            <a:endParaRPr lang="en-US" sz="126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838179" y="1786830"/>
            <a:ext cx="151048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16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Cuota Protegida Tradicional</a:t>
            </a:r>
            <a:endParaRPr lang="en-US" sz="81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723882" y="1272480"/>
            <a:ext cx="104274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9098B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730 cantadas · 124,6% meta</a:t>
            </a:r>
            <a:endParaRPr lang="en-US" sz="6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3505112" y="1272480"/>
            <a:ext cx="1000779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9098B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283 cantadas · 88,1% meta</a:t>
            </a:r>
            <a:endParaRPr lang="en-US" sz="6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6410165" y="1786830"/>
            <a:ext cx="140037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16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Rueda Seguro Tradicional</a:t>
            </a:r>
            <a:endParaRPr lang="en-US" sz="81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723882" y="962025"/>
            <a:ext cx="12681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96" b="1" dirty="0">
                <a:solidFill>
                  <a:srgbClr val="9098B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Ventas CP positivas 1S</a:t>
            </a:r>
            <a:endParaRPr lang="en-US" sz="69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3505112" y="962025"/>
            <a:ext cx="1267225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96" b="1" dirty="0">
                <a:solidFill>
                  <a:srgbClr val="9098B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Ventas RS positivas 1S</a:t>
            </a:r>
            <a:endParaRPr lang="en-US" sz="69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6286343" y="1272480"/>
            <a:ext cx="675017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9098B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12 aliados activos</a:t>
            </a:r>
            <a:endParaRPr lang="en-US" sz="6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9067573" y="1272480"/>
            <a:ext cx="10389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9098B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25 aliados activos</a:t>
            </a:r>
            <a:endParaRPr lang="en-US" sz="6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6286343" y="962025"/>
            <a:ext cx="1042111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96" b="1" dirty="0">
                <a:solidFill>
                  <a:srgbClr val="9098B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Financiaciones CP</a:t>
            </a:r>
            <a:endParaRPr lang="en-US" sz="69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9067573" y="962025"/>
            <a:ext cx="10389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96" b="1" dirty="0">
                <a:solidFill>
                  <a:srgbClr val="9098B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Financiaciones RS</a:t>
            </a:r>
            <a:endParaRPr lang="en-US" sz="69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4260697" y="1982116"/>
            <a:ext cx="837878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Positivas</a:t>
            </a:r>
            <a:endParaRPr lang="en-US" sz="888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9832683" y="1982116"/>
            <a:ext cx="837878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Positivas</a:t>
            </a:r>
            <a:endParaRPr lang="en-US" sz="888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1896428" y="1982116"/>
            <a:ext cx="839411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Gestores</a:t>
            </a:r>
            <a:endParaRPr lang="en-US" sz="888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3413192" y="1982116"/>
            <a:ext cx="871909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Cantadas</a:t>
            </a:r>
            <a:endParaRPr lang="en-US" sz="888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5073515" y="1982116"/>
            <a:ext cx="860412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% Cumpl.</a:t>
            </a:r>
            <a:endParaRPr lang="en-US" sz="888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7468413" y="1982116"/>
            <a:ext cx="839411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Gestores</a:t>
            </a:r>
            <a:endParaRPr lang="en-US" sz="888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8985178" y="1982116"/>
            <a:ext cx="871909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Cantadas</a:t>
            </a:r>
            <a:endParaRPr lang="en-US" sz="888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10645500" y="1982116"/>
            <a:ext cx="860412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% Cumpl.</a:t>
            </a:r>
            <a:endParaRPr lang="en-US" sz="888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6" name="Text 23"/>
          <p:cNvSpPr/>
          <p:nvPr/>
        </p:nvSpPr>
        <p:spPr>
          <a:xfrm>
            <a:off x="1176964" y="1982116"/>
            <a:ext cx="743912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Aliados</a:t>
            </a:r>
            <a:endParaRPr lang="en-US" sz="888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7" name="Text 24"/>
          <p:cNvSpPr/>
          <p:nvPr/>
        </p:nvSpPr>
        <p:spPr>
          <a:xfrm>
            <a:off x="2714757" y="1982116"/>
            <a:ext cx="723831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Financ.</a:t>
            </a:r>
            <a:endParaRPr lang="en-US" sz="888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8" name="Text 25"/>
          <p:cNvSpPr/>
          <p:nvPr/>
        </p:nvSpPr>
        <p:spPr>
          <a:xfrm>
            <a:off x="6748950" y="1982116"/>
            <a:ext cx="743912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Aliados</a:t>
            </a:r>
            <a:endParaRPr lang="en-US" sz="888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9" name="Text 26"/>
          <p:cNvSpPr/>
          <p:nvPr/>
        </p:nvSpPr>
        <p:spPr>
          <a:xfrm>
            <a:off x="8286742" y="1982116"/>
            <a:ext cx="723831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Financ.</a:t>
            </a:r>
            <a:endParaRPr lang="en-US" sz="888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0" name="Text 27"/>
          <p:cNvSpPr/>
          <p:nvPr/>
        </p:nvSpPr>
        <p:spPr>
          <a:xfrm>
            <a:off x="5004506" y="2664356"/>
            <a:ext cx="860412" cy="48012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b="1" dirty="0">
                <a:solidFill>
                  <a:srgbClr val="00806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101,0%</a:t>
            </a:r>
            <a:endParaRPr lang="en-US" sz="81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1" name="Text 28"/>
          <p:cNvSpPr/>
          <p:nvPr/>
        </p:nvSpPr>
        <p:spPr>
          <a:xfrm>
            <a:off x="2714757" y="5082206"/>
            <a:ext cx="723831" cy="4714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92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19.280</a:t>
            </a:r>
            <a:endParaRPr lang="en-US" sz="79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2" name="Text 29"/>
          <p:cNvSpPr/>
          <p:nvPr/>
        </p:nvSpPr>
        <p:spPr>
          <a:xfrm>
            <a:off x="5021759" y="5064954"/>
            <a:ext cx="860412" cy="4714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b="1" dirty="0">
                <a:solidFill>
                  <a:srgbClr val="00806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124,6%</a:t>
            </a:r>
            <a:endParaRPr lang="en-US" sz="81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3" name="Text 30"/>
          <p:cNvSpPr/>
          <p:nvPr/>
        </p:nvSpPr>
        <p:spPr>
          <a:xfrm>
            <a:off x="6286343" y="1085850"/>
            <a:ext cx="450534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19.280</a:t>
            </a:r>
            <a:endParaRPr lang="en-US" sz="102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4" name="Text 31"/>
          <p:cNvSpPr/>
          <p:nvPr/>
        </p:nvSpPr>
        <p:spPr>
          <a:xfrm>
            <a:off x="2714757" y="2210716"/>
            <a:ext cx="723831" cy="470892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9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2.074</a:t>
            </a:r>
            <a:endParaRPr lang="en-US" sz="79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5" name="Text 32"/>
          <p:cNvSpPr/>
          <p:nvPr/>
        </p:nvSpPr>
        <p:spPr>
          <a:xfrm>
            <a:off x="5004506" y="2193464"/>
            <a:ext cx="860412" cy="470892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b="1" dirty="0">
                <a:solidFill>
                  <a:srgbClr val="8A620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81,2%</a:t>
            </a:r>
            <a:endParaRPr lang="en-US" sz="81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6" name="Text 33"/>
          <p:cNvSpPr/>
          <p:nvPr/>
        </p:nvSpPr>
        <p:spPr>
          <a:xfrm>
            <a:off x="2714757" y="2681608"/>
            <a:ext cx="723831" cy="48012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9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2.999</a:t>
            </a:r>
            <a:endParaRPr lang="en-US" sz="79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7" name="Text 34"/>
          <p:cNvSpPr/>
          <p:nvPr/>
        </p:nvSpPr>
        <p:spPr>
          <a:xfrm>
            <a:off x="2714757" y="3161728"/>
            <a:ext cx="723831" cy="48012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9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3.127</a:t>
            </a:r>
            <a:endParaRPr lang="en-US" sz="79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8" name="Text 35"/>
          <p:cNvSpPr/>
          <p:nvPr/>
        </p:nvSpPr>
        <p:spPr>
          <a:xfrm>
            <a:off x="5004506" y="3144476"/>
            <a:ext cx="860412" cy="48012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b="1" dirty="0">
                <a:solidFill>
                  <a:srgbClr val="8A620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74,4%</a:t>
            </a:r>
            <a:endParaRPr lang="en-US" sz="81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9" name="Text 36"/>
          <p:cNvSpPr/>
          <p:nvPr/>
        </p:nvSpPr>
        <p:spPr>
          <a:xfrm>
            <a:off x="2714757" y="3641847"/>
            <a:ext cx="723831" cy="48012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9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3.076</a:t>
            </a:r>
            <a:endParaRPr lang="en-US" sz="79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0" name="Text 37"/>
          <p:cNvSpPr/>
          <p:nvPr/>
        </p:nvSpPr>
        <p:spPr>
          <a:xfrm>
            <a:off x="5004506" y="3624595"/>
            <a:ext cx="860412" cy="48012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b="1" dirty="0">
                <a:solidFill>
                  <a:srgbClr val="8A620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76,9%</a:t>
            </a:r>
            <a:endParaRPr lang="en-US" sz="81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1" name="Text 38"/>
          <p:cNvSpPr/>
          <p:nvPr/>
        </p:nvSpPr>
        <p:spPr>
          <a:xfrm>
            <a:off x="2714757" y="4121967"/>
            <a:ext cx="723831" cy="48012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9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2.399</a:t>
            </a:r>
            <a:endParaRPr lang="en-US" sz="79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2" name="Text 39"/>
          <p:cNvSpPr/>
          <p:nvPr/>
        </p:nvSpPr>
        <p:spPr>
          <a:xfrm>
            <a:off x="2714757" y="4602086"/>
            <a:ext cx="723831" cy="48012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9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5.605</a:t>
            </a:r>
            <a:endParaRPr lang="en-US" sz="79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3" name="Text 40"/>
          <p:cNvSpPr/>
          <p:nvPr/>
        </p:nvSpPr>
        <p:spPr>
          <a:xfrm>
            <a:off x="685783" y="5082206"/>
            <a:ext cx="528234" cy="4714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792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Total</a:t>
            </a:r>
            <a:endParaRPr lang="en-US" sz="79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4" name="Text 41"/>
          <p:cNvSpPr/>
          <p:nvPr/>
        </p:nvSpPr>
        <p:spPr>
          <a:xfrm>
            <a:off x="10576491" y="2193464"/>
            <a:ext cx="860412" cy="470892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b="1" dirty="0">
                <a:solidFill>
                  <a:srgbClr val="C44A1A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47,1%</a:t>
            </a:r>
            <a:endParaRPr lang="en-US" sz="81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5" name="Text 42"/>
          <p:cNvSpPr/>
          <p:nvPr/>
        </p:nvSpPr>
        <p:spPr>
          <a:xfrm>
            <a:off x="10576491" y="2664356"/>
            <a:ext cx="860412" cy="48012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b="1" dirty="0">
                <a:solidFill>
                  <a:srgbClr val="C44A1A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28,6%</a:t>
            </a:r>
            <a:endParaRPr lang="en-US" sz="81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6" name="Text 43"/>
          <p:cNvSpPr/>
          <p:nvPr/>
        </p:nvSpPr>
        <p:spPr>
          <a:xfrm>
            <a:off x="10576491" y="3144476"/>
            <a:ext cx="860412" cy="48012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b="1" dirty="0">
                <a:solidFill>
                  <a:srgbClr val="C44A1A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48,2%</a:t>
            </a:r>
            <a:endParaRPr lang="en-US" sz="81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7" name="Text 44"/>
          <p:cNvSpPr/>
          <p:nvPr/>
        </p:nvSpPr>
        <p:spPr>
          <a:xfrm>
            <a:off x="8286742" y="4602086"/>
            <a:ext cx="723831" cy="48012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9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1.395</a:t>
            </a:r>
            <a:endParaRPr lang="en-US" sz="79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8" name="Text 45"/>
          <p:cNvSpPr/>
          <p:nvPr/>
        </p:nvSpPr>
        <p:spPr>
          <a:xfrm>
            <a:off x="6257769" y="5082206"/>
            <a:ext cx="528234" cy="4714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792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Total</a:t>
            </a:r>
            <a:endParaRPr lang="en-US" sz="79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9" name="Text 46"/>
          <p:cNvSpPr/>
          <p:nvPr/>
        </p:nvSpPr>
        <p:spPr>
          <a:xfrm>
            <a:off x="8286742" y="5082206"/>
            <a:ext cx="723831" cy="4714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92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4.459</a:t>
            </a:r>
            <a:endParaRPr lang="en-US" sz="79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0" name="Text 47"/>
          <p:cNvSpPr/>
          <p:nvPr/>
        </p:nvSpPr>
        <p:spPr>
          <a:xfrm>
            <a:off x="10576491" y="5064954"/>
            <a:ext cx="860412" cy="4714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b="1" dirty="0">
                <a:solidFill>
                  <a:srgbClr val="00806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88,1%</a:t>
            </a:r>
            <a:endParaRPr lang="en-US" sz="81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1" name="Text 48"/>
          <p:cNvSpPr/>
          <p:nvPr/>
        </p:nvSpPr>
        <p:spPr>
          <a:xfrm>
            <a:off x="9067573" y="1085850"/>
            <a:ext cx="765110" cy="687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4.459</a:t>
            </a:r>
            <a:endParaRPr lang="en-US" sz="102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2" name="Text 49"/>
          <p:cNvSpPr/>
          <p:nvPr/>
        </p:nvSpPr>
        <p:spPr>
          <a:xfrm>
            <a:off x="685783" y="1982116"/>
            <a:ext cx="528234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marL="0" indent="0" algn="l">
              <a:buNone/>
            </a:pPr>
            <a:r>
              <a:rPr lang="en-US" sz="888" b="1" dirty="0">
                <a:solidFill>
                  <a:srgbClr val="FFFFFF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Mes</a:t>
            </a:r>
            <a:endParaRPr lang="en-US" sz="888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3" name="Text 50"/>
          <p:cNvSpPr/>
          <p:nvPr/>
        </p:nvSpPr>
        <p:spPr>
          <a:xfrm>
            <a:off x="685783" y="2210716"/>
            <a:ext cx="528234" cy="470892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792" b="1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Ene</a:t>
            </a:r>
            <a:endParaRPr lang="en-US" sz="79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4" name="Text 51"/>
          <p:cNvSpPr/>
          <p:nvPr/>
        </p:nvSpPr>
        <p:spPr>
          <a:xfrm>
            <a:off x="685783" y="2681608"/>
            <a:ext cx="528234" cy="48012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792" b="1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Feb</a:t>
            </a:r>
            <a:endParaRPr lang="en-US" sz="79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5" name="Text 52"/>
          <p:cNvSpPr/>
          <p:nvPr/>
        </p:nvSpPr>
        <p:spPr>
          <a:xfrm>
            <a:off x="3413192" y="2681608"/>
            <a:ext cx="871909" cy="48012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9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139</a:t>
            </a:r>
            <a:endParaRPr lang="en-US" sz="79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6" name="Text 53"/>
          <p:cNvSpPr/>
          <p:nvPr/>
        </p:nvSpPr>
        <p:spPr>
          <a:xfrm>
            <a:off x="4191688" y="2664356"/>
            <a:ext cx="837878" cy="48012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9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105</a:t>
            </a:r>
            <a:endParaRPr lang="en-US" sz="79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7" name="Text 54"/>
          <p:cNvSpPr/>
          <p:nvPr/>
        </p:nvSpPr>
        <p:spPr>
          <a:xfrm>
            <a:off x="685783" y="3161728"/>
            <a:ext cx="528234" cy="48012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792" b="1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Mar</a:t>
            </a:r>
            <a:endParaRPr lang="en-US" sz="79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8" name="Text 55"/>
          <p:cNvSpPr/>
          <p:nvPr/>
        </p:nvSpPr>
        <p:spPr>
          <a:xfrm>
            <a:off x="3413192" y="3161728"/>
            <a:ext cx="871909" cy="48012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9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135</a:t>
            </a:r>
            <a:endParaRPr lang="en-US" sz="79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9" name="Text 56"/>
          <p:cNvSpPr/>
          <p:nvPr/>
        </p:nvSpPr>
        <p:spPr>
          <a:xfrm>
            <a:off x="685783" y="3641847"/>
            <a:ext cx="528234" cy="48012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792" b="1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Abr</a:t>
            </a:r>
            <a:endParaRPr lang="en-US" sz="79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0" name="Text 57"/>
          <p:cNvSpPr/>
          <p:nvPr/>
        </p:nvSpPr>
        <p:spPr>
          <a:xfrm>
            <a:off x="3413192" y="3641847"/>
            <a:ext cx="871909" cy="48012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9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125</a:t>
            </a:r>
            <a:endParaRPr lang="en-US" sz="79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1" name="Text 58"/>
          <p:cNvSpPr/>
          <p:nvPr/>
        </p:nvSpPr>
        <p:spPr>
          <a:xfrm>
            <a:off x="4191688" y="3624595"/>
            <a:ext cx="837878" cy="48012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9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103</a:t>
            </a:r>
            <a:endParaRPr lang="en-US" sz="79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2" name="Text 59"/>
          <p:cNvSpPr/>
          <p:nvPr/>
        </p:nvSpPr>
        <p:spPr>
          <a:xfrm>
            <a:off x="685783" y="4121967"/>
            <a:ext cx="528234" cy="48012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792" b="1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May</a:t>
            </a:r>
            <a:endParaRPr lang="en-US" sz="79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3" name="Text 60"/>
          <p:cNvSpPr/>
          <p:nvPr/>
        </p:nvSpPr>
        <p:spPr>
          <a:xfrm>
            <a:off x="3413192" y="4121967"/>
            <a:ext cx="871909" cy="48012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9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112</a:t>
            </a:r>
            <a:endParaRPr lang="en-US" sz="79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4" name="Text 61"/>
          <p:cNvSpPr/>
          <p:nvPr/>
        </p:nvSpPr>
        <p:spPr>
          <a:xfrm>
            <a:off x="5004506" y="4104715"/>
            <a:ext cx="860412" cy="48012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b="1" dirty="0">
                <a:solidFill>
                  <a:srgbClr val="8A620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S/D</a:t>
            </a:r>
            <a:endParaRPr lang="en-US" sz="81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5" name="Text 62"/>
          <p:cNvSpPr/>
          <p:nvPr/>
        </p:nvSpPr>
        <p:spPr>
          <a:xfrm>
            <a:off x="685783" y="4602086"/>
            <a:ext cx="528234" cy="48012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792" b="1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Jun</a:t>
            </a:r>
            <a:endParaRPr lang="en-US" sz="79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6" name="Text 63"/>
          <p:cNvSpPr/>
          <p:nvPr/>
        </p:nvSpPr>
        <p:spPr>
          <a:xfrm>
            <a:off x="3413192" y="4602086"/>
            <a:ext cx="871909" cy="48012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9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127</a:t>
            </a:r>
            <a:endParaRPr lang="en-US" sz="79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7" name="Text 64"/>
          <p:cNvSpPr/>
          <p:nvPr/>
        </p:nvSpPr>
        <p:spPr>
          <a:xfrm>
            <a:off x="5004506" y="4584834"/>
            <a:ext cx="860412" cy="48012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b="1" dirty="0">
                <a:solidFill>
                  <a:srgbClr val="8A620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S/D</a:t>
            </a:r>
            <a:endParaRPr lang="en-US" sz="81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8" name="Text 65"/>
          <p:cNvSpPr/>
          <p:nvPr/>
        </p:nvSpPr>
        <p:spPr>
          <a:xfrm>
            <a:off x="1896428" y="5082206"/>
            <a:ext cx="839411" cy="4714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92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28*</a:t>
            </a:r>
            <a:endParaRPr lang="en-US" sz="79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9" name="Text 66"/>
          <p:cNvSpPr/>
          <p:nvPr/>
        </p:nvSpPr>
        <p:spPr>
          <a:xfrm>
            <a:off x="3413192" y="5082206"/>
            <a:ext cx="871909" cy="4714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92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730</a:t>
            </a:r>
            <a:endParaRPr lang="en-US" sz="79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70" name="Text 67"/>
          <p:cNvSpPr/>
          <p:nvPr/>
        </p:nvSpPr>
        <p:spPr>
          <a:xfrm>
            <a:off x="4260697" y="5082206"/>
            <a:ext cx="837878" cy="4714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92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563</a:t>
            </a:r>
            <a:endParaRPr lang="en-US" sz="79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71" name="Text 68"/>
          <p:cNvSpPr/>
          <p:nvPr/>
        </p:nvSpPr>
        <p:spPr>
          <a:xfrm>
            <a:off x="6257769" y="1982116"/>
            <a:ext cx="528234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marL="0" indent="0" algn="l">
              <a:buNone/>
            </a:pPr>
            <a:r>
              <a:rPr lang="en-US" sz="888" b="1" dirty="0">
                <a:solidFill>
                  <a:srgbClr val="FFFFFF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Mes</a:t>
            </a:r>
            <a:endParaRPr lang="en-US" sz="888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72" name="Text 69"/>
          <p:cNvSpPr/>
          <p:nvPr/>
        </p:nvSpPr>
        <p:spPr>
          <a:xfrm>
            <a:off x="6257769" y="2210716"/>
            <a:ext cx="528234" cy="470892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792" b="1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Ene</a:t>
            </a:r>
            <a:endParaRPr lang="en-US" sz="79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73" name="Text 70"/>
          <p:cNvSpPr/>
          <p:nvPr/>
        </p:nvSpPr>
        <p:spPr>
          <a:xfrm>
            <a:off x="8286742" y="2210716"/>
            <a:ext cx="723831" cy="470892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9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783</a:t>
            </a:r>
            <a:endParaRPr lang="en-US" sz="79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74" name="Text 71"/>
          <p:cNvSpPr/>
          <p:nvPr/>
        </p:nvSpPr>
        <p:spPr>
          <a:xfrm>
            <a:off x="6257769" y="2681608"/>
            <a:ext cx="528234" cy="48012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792" b="1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Feb</a:t>
            </a:r>
            <a:endParaRPr lang="en-US" sz="79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75" name="Text 72"/>
          <p:cNvSpPr/>
          <p:nvPr/>
        </p:nvSpPr>
        <p:spPr>
          <a:xfrm>
            <a:off x="8286742" y="2681608"/>
            <a:ext cx="723831" cy="48012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9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743</a:t>
            </a:r>
            <a:endParaRPr lang="en-US" sz="79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76" name="Text 73"/>
          <p:cNvSpPr/>
          <p:nvPr/>
        </p:nvSpPr>
        <p:spPr>
          <a:xfrm>
            <a:off x="6257769" y="3161728"/>
            <a:ext cx="528234" cy="48012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792" b="1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Mar</a:t>
            </a:r>
            <a:endParaRPr lang="en-US" sz="79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77" name="Text 74"/>
          <p:cNvSpPr/>
          <p:nvPr/>
        </p:nvSpPr>
        <p:spPr>
          <a:xfrm>
            <a:off x="8286742" y="3161728"/>
            <a:ext cx="723831" cy="48012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9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391</a:t>
            </a:r>
            <a:endParaRPr lang="en-US" sz="79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78" name="Text 75"/>
          <p:cNvSpPr/>
          <p:nvPr/>
        </p:nvSpPr>
        <p:spPr>
          <a:xfrm>
            <a:off x="6257769" y="3641847"/>
            <a:ext cx="528234" cy="48012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792" b="1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Abr</a:t>
            </a:r>
            <a:endParaRPr lang="en-US" sz="79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79" name="Text 76"/>
          <p:cNvSpPr/>
          <p:nvPr/>
        </p:nvSpPr>
        <p:spPr>
          <a:xfrm>
            <a:off x="8286742" y="3641847"/>
            <a:ext cx="723831" cy="48012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9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329</a:t>
            </a:r>
            <a:endParaRPr lang="en-US" sz="79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0" name="Text 77"/>
          <p:cNvSpPr/>
          <p:nvPr/>
        </p:nvSpPr>
        <p:spPr>
          <a:xfrm>
            <a:off x="10576491" y="3624595"/>
            <a:ext cx="860412" cy="48012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b="1" dirty="0">
                <a:solidFill>
                  <a:srgbClr val="8A620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S/D</a:t>
            </a:r>
            <a:endParaRPr lang="en-US" sz="81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1" name="Text 78"/>
          <p:cNvSpPr/>
          <p:nvPr/>
        </p:nvSpPr>
        <p:spPr>
          <a:xfrm>
            <a:off x="6257769" y="4121967"/>
            <a:ext cx="528234" cy="48012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792" b="1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May</a:t>
            </a:r>
            <a:endParaRPr lang="en-US" sz="79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2" name="Text 79"/>
          <p:cNvSpPr/>
          <p:nvPr/>
        </p:nvSpPr>
        <p:spPr>
          <a:xfrm>
            <a:off x="8286742" y="4121967"/>
            <a:ext cx="723831" cy="48012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9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818</a:t>
            </a:r>
            <a:endParaRPr lang="en-US" sz="79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3" name="Text 80"/>
          <p:cNvSpPr/>
          <p:nvPr/>
        </p:nvSpPr>
        <p:spPr>
          <a:xfrm>
            <a:off x="10576491" y="4104715"/>
            <a:ext cx="860412" cy="48012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b="1" dirty="0">
                <a:solidFill>
                  <a:srgbClr val="8A620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S/D</a:t>
            </a:r>
            <a:endParaRPr lang="en-US" sz="81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4" name="Text 81"/>
          <p:cNvSpPr/>
          <p:nvPr/>
        </p:nvSpPr>
        <p:spPr>
          <a:xfrm>
            <a:off x="6257769" y="4602086"/>
            <a:ext cx="528234" cy="48012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792" b="1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Jun</a:t>
            </a:r>
            <a:endParaRPr lang="en-US" sz="79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5" name="Text 82"/>
          <p:cNvSpPr/>
          <p:nvPr/>
        </p:nvSpPr>
        <p:spPr>
          <a:xfrm>
            <a:off x="10576491" y="4584834"/>
            <a:ext cx="860412" cy="48012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b="1" dirty="0">
                <a:solidFill>
                  <a:srgbClr val="8A620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S/D</a:t>
            </a:r>
            <a:endParaRPr lang="en-US" sz="81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6" name="Text 83"/>
          <p:cNvSpPr/>
          <p:nvPr/>
        </p:nvSpPr>
        <p:spPr>
          <a:xfrm>
            <a:off x="6748950" y="5082206"/>
            <a:ext cx="743912" cy="4714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92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13*</a:t>
            </a:r>
            <a:endParaRPr lang="en-US" sz="79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7" name="Text 84"/>
          <p:cNvSpPr/>
          <p:nvPr/>
        </p:nvSpPr>
        <p:spPr>
          <a:xfrm>
            <a:off x="7468413" y="5082206"/>
            <a:ext cx="839411" cy="4714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92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35*</a:t>
            </a:r>
            <a:endParaRPr lang="en-US" sz="79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8" name="Text 85"/>
          <p:cNvSpPr/>
          <p:nvPr/>
        </p:nvSpPr>
        <p:spPr>
          <a:xfrm>
            <a:off x="8985178" y="5082206"/>
            <a:ext cx="871909" cy="4714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92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283</a:t>
            </a:r>
            <a:endParaRPr lang="en-US" sz="79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9" name="Text 86"/>
          <p:cNvSpPr/>
          <p:nvPr/>
        </p:nvSpPr>
        <p:spPr>
          <a:xfrm>
            <a:off x="9832683" y="5082206"/>
            <a:ext cx="837878" cy="4714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92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171</a:t>
            </a:r>
            <a:endParaRPr lang="en-US" sz="79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0" name="Text 87"/>
          <p:cNvSpPr/>
          <p:nvPr/>
        </p:nvSpPr>
        <p:spPr>
          <a:xfrm>
            <a:off x="723882" y="1085850"/>
            <a:ext cx="274320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00CD9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563</a:t>
            </a:r>
            <a:endParaRPr lang="en-US" sz="102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1" name="Text 88"/>
          <p:cNvSpPr/>
          <p:nvPr/>
        </p:nvSpPr>
        <p:spPr>
          <a:xfrm>
            <a:off x="3505112" y="1085850"/>
            <a:ext cx="274320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00CD9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171</a:t>
            </a:r>
            <a:endParaRPr lang="en-US" sz="102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2" name="Text 89"/>
          <p:cNvSpPr/>
          <p:nvPr/>
        </p:nvSpPr>
        <p:spPr>
          <a:xfrm>
            <a:off x="1896428" y="2210716"/>
            <a:ext cx="839411" cy="470892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9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26</a:t>
            </a:r>
            <a:endParaRPr lang="en-US" sz="79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3" name="Text 90"/>
          <p:cNvSpPr/>
          <p:nvPr/>
        </p:nvSpPr>
        <p:spPr>
          <a:xfrm>
            <a:off x="3413192" y="2210716"/>
            <a:ext cx="871909" cy="470892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9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92</a:t>
            </a:r>
            <a:endParaRPr lang="en-US" sz="79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4" name="Text 91"/>
          <p:cNvSpPr/>
          <p:nvPr/>
        </p:nvSpPr>
        <p:spPr>
          <a:xfrm>
            <a:off x="4191688" y="2193464"/>
            <a:ext cx="837878" cy="470892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9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69</a:t>
            </a:r>
            <a:endParaRPr lang="en-US" sz="79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5" name="Text 92"/>
          <p:cNvSpPr/>
          <p:nvPr/>
        </p:nvSpPr>
        <p:spPr>
          <a:xfrm>
            <a:off x="1896428" y="2681608"/>
            <a:ext cx="839411" cy="48012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9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24</a:t>
            </a:r>
            <a:endParaRPr lang="en-US" sz="79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6" name="Text 93"/>
          <p:cNvSpPr/>
          <p:nvPr/>
        </p:nvSpPr>
        <p:spPr>
          <a:xfrm>
            <a:off x="1896428" y="3161728"/>
            <a:ext cx="839411" cy="48012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9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28</a:t>
            </a:r>
            <a:endParaRPr lang="en-US" sz="79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7" name="Text 94"/>
          <p:cNvSpPr/>
          <p:nvPr/>
        </p:nvSpPr>
        <p:spPr>
          <a:xfrm>
            <a:off x="4191688" y="3144476"/>
            <a:ext cx="837878" cy="48012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9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96</a:t>
            </a:r>
            <a:endParaRPr lang="en-US" sz="79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8" name="Text 95"/>
          <p:cNvSpPr/>
          <p:nvPr/>
        </p:nvSpPr>
        <p:spPr>
          <a:xfrm>
            <a:off x="1896428" y="3641847"/>
            <a:ext cx="839411" cy="48012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9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28</a:t>
            </a:r>
            <a:endParaRPr lang="en-US" sz="79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9" name="Text 96"/>
          <p:cNvSpPr/>
          <p:nvPr/>
        </p:nvSpPr>
        <p:spPr>
          <a:xfrm>
            <a:off x="1176964" y="4121967"/>
            <a:ext cx="743912" cy="48012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9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10</a:t>
            </a:r>
            <a:endParaRPr lang="en-US" sz="79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00" name="Text 97"/>
          <p:cNvSpPr/>
          <p:nvPr/>
        </p:nvSpPr>
        <p:spPr>
          <a:xfrm>
            <a:off x="1896428" y="4121967"/>
            <a:ext cx="839411" cy="48012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9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28</a:t>
            </a:r>
            <a:endParaRPr lang="en-US" sz="79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01" name="Text 98"/>
          <p:cNvSpPr/>
          <p:nvPr/>
        </p:nvSpPr>
        <p:spPr>
          <a:xfrm>
            <a:off x="4191688" y="4104715"/>
            <a:ext cx="837878" cy="48012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9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94</a:t>
            </a:r>
            <a:endParaRPr lang="en-US" sz="79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02" name="Text 99"/>
          <p:cNvSpPr/>
          <p:nvPr/>
        </p:nvSpPr>
        <p:spPr>
          <a:xfrm>
            <a:off x="1176964" y="4602086"/>
            <a:ext cx="743912" cy="48012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9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12</a:t>
            </a:r>
            <a:endParaRPr lang="en-US" sz="79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03" name="Text 100"/>
          <p:cNvSpPr/>
          <p:nvPr/>
        </p:nvSpPr>
        <p:spPr>
          <a:xfrm>
            <a:off x="1896428" y="4602086"/>
            <a:ext cx="839411" cy="48012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9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31</a:t>
            </a:r>
            <a:endParaRPr lang="en-US" sz="79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04" name="Text 101"/>
          <p:cNvSpPr/>
          <p:nvPr/>
        </p:nvSpPr>
        <p:spPr>
          <a:xfrm>
            <a:off x="4191688" y="4584834"/>
            <a:ext cx="837878" cy="48012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9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96</a:t>
            </a:r>
            <a:endParaRPr lang="en-US" sz="79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05" name="Text 102"/>
          <p:cNvSpPr/>
          <p:nvPr/>
        </p:nvSpPr>
        <p:spPr>
          <a:xfrm>
            <a:off x="1176964" y="5082206"/>
            <a:ext cx="743912" cy="4714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92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8*</a:t>
            </a:r>
            <a:endParaRPr lang="en-US" sz="79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06" name="Text 103"/>
          <p:cNvSpPr/>
          <p:nvPr/>
        </p:nvSpPr>
        <p:spPr>
          <a:xfrm>
            <a:off x="7468413" y="2210716"/>
            <a:ext cx="839411" cy="470892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9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34</a:t>
            </a:r>
            <a:endParaRPr lang="en-US" sz="79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07" name="Text 104"/>
          <p:cNvSpPr/>
          <p:nvPr/>
        </p:nvSpPr>
        <p:spPr>
          <a:xfrm>
            <a:off x="8985178" y="2210716"/>
            <a:ext cx="871909" cy="470892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9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22</a:t>
            </a:r>
            <a:endParaRPr lang="en-US" sz="79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08" name="Text 105"/>
          <p:cNvSpPr/>
          <p:nvPr/>
        </p:nvSpPr>
        <p:spPr>
          <a:xfrm>
            <a:off x="9763674" y="2193464"/>
            <a:ext cx="837878" cy="470892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9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16</a:t>
            </a:r>
            <a:endParaRPr lang="en-US" sz="79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09" name="Text 106"/>
          <p:cNvSpPr/>
          <p:nvPr/>
        </p:nvSpPr>
        <p:spPr>
          <a:xfrm>
            <a:off x="7468413" y="2681608"/>
            <a:ext cx="839411" cy="48012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9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39</a:t>
            </a:r>
            <a:endParaRPr lang="en-US" sz="79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10" name="Text 107"/>
          <p:cNvSpPr/>
          <p:nvPr/>
        </p:nvSpPr>
        <p:spPr>
          <a:xfrm>
            <a:off x="8985178" y="2681608"/>
            <a:ext cx="871909" cy="48012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9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50</a:t>
            </a:r>
            <a:endParaRPr lang="en-US" sz="79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11" name="Text 108"/>
          <p:cNvSpPr/>
          <p:nvPr/>
        </p:nvSpPr>
        <p:spPr>
          <a:xfrm>
            <a:off x="9763674" y="2664356"/>
            <a:ext cx="837878" cy="48012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9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22</a:t>
            </a:r>
            <a:endParaRPr lang="en-US" sz="79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12" name="Text 109"/>
          <p:cNvSpPr/>
          <p:nvPr/>
        </p:nvSpPr>
        <p:spPr>
          <a:xfrm>
            <a:off x="7468413" y="3161728"/>
            <a:ext cx="839411" cy="48012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9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40</a:t>
            </a:r>
            <a:endParaRPr lang="en-US" sz="79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13" name="Text 110"/>
          <p:cNvSpPr/>
          <p:nvPr/>
        </p:nvSpPr>
        <p:spPr>
          <a:xfrm>
            <a:off x="8985178" y="3161728"/>
            <a:ext cx="871909" cy="48012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9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71</a:t>
            </a:r>
            <a:endParaRPr lang="en-US" sz="79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14" name="Text 111"/>
          <p:cNvSpPr/>
          <p:nvPr/>
        </p:nvSpPr>
        <p:spPr>
          <a:xfrm>
            <a:off x="9763674" y="3144476"/>
            <a:ext cx="837878" cy="48012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9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40</a:t>
            </a:r>
            <a:endParaRPr lang="en-US" sz="79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15" name="Text 112"/>
          <p:cNvSpPr/>
          <p:nvPr/>
        </p:nvSpPr>
        <p:spPr>
          <a:xfrm>
            <a:off x="7468413" y="3641847"/>
            <a:ext cx="839411" cy="48012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9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41</a:t>
            </a:r>
            <a:endParaRPr lang="en-US" sz="79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16" name="Text 113"/>
          <p:cNvSpPr/>
          <p:nvPr/>
        </p:nvSpPr>
        <p:spPr>
          <a:xfrm>
            <a:off x="8985178" y="3641847"/>
            <a:ext cx="871909" cy="48012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9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57</a:t>
            </a:r>
            <a:endParaRPr lang="en-US" sz="79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17" name="Text 114"/>
          <p:cNvSpPr/>
          <p:nvPr/>
        </p:nvSpPr>
        <p:spPr>
          <a:xfrm>
            <a:off x="9763674" y="3624595"/>
            <a:ext cx="837878" cy="48012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9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40</a:t>
            </a:r>
            <a:endParaRPr lang="en-US" sz="79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18" name="Text 115"/>
          <p:cNvSpPr/>
          <p:nvPr/>
        </p:nvSpPr>
        <p:spPr>
          <a:xfrm>
            <a:off x="6748950" y="4121967"/>
            <a:ext cx="743912" cy="48012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9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22</a:t>
            </a:r>
            <a:endParaRPr lang="en-US" sz="79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19" name="Text 116"/>
          <p:cNvSpPr/>
          <p:nvPr/>
        </p:nvSpPr>
        <p:spPr>
          <a:xfrm>
            <a:off x="8985178" y="4121967"/>
            <a:ext cx="871909" cy="48012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9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45</a:t>
            </a:r>
            <a:endParaRPr lang="en-US" sz="79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20" name="Text 117"/>
          <p:cNvSpPr/>
          <p:nvPr/>
        </p:nvSpPr>
        <p:spPr>
          <a:xfrm>
            <a:off x="9763674" y="4104715"/>
            <a:ext cx="837878" cy="48012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9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30</a:t>
            </a:r>
            <a:endParaRPr lang="en-US" sz="79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21" name="Text 118"/>
          <p:cNvSpPr/>
          <p:nvPr/>
        </p:nvSpPr>
        <p:spPr>
          <a:xfrm>
            <a:off x="6748950" y="4602086"/>
            <a:ext cx="743912" cy="48012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9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25</a:t>
            </a:r>
            <a:endParaRPr lang="en-US" sz="79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22" name="Text 119"/>
          <p:cNvSpPr/>
          <p:nvPr/>
        </p:nvSpPr>
        <p:spPr>
          <a:xfrm>
            <a:off x="7468413" y="4602086"/>
            <a:ext cx="839411" cy="48012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9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45</a:t>
            </a:r>
            <a:endParaRPr lang="en-US" sz="79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23" name="Text 120"/>
          <p:cNvSpPr/>
          <p:nvPr/>
        </p:nvSpPr>
        <p:spPr>
          <a:xfrm>
            <a:off x="8985178" y="4602086"/>
            <a:ext cx="871909" cy="48012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9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38</a:t>
            </a:r>
            <a:endParaRPr lang="en-US" sz="79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24" name="Text 121"/>
          <p:cNvSpPr/>
          <p:nvPr/>
        </p:nvSpPr>
        <p:spPr>
          <a:xfrm>
            <a:off x="9763674" y="4584834"/>
            <a:ext cx="837878" cy="48012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9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23</a:t>
            </a:r>
            <a:endParaRPr lang="en-US" sz="79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26" name="Text 96">
            <a:extLst>
              <a:ext uri="{FF2B5EF4-FFF2-40B4-BE49-F238E27FC236}">
                <a16:creationId xmlns:a16="http://schemas.microsoft.com/office/drawing/2014/main" id="{111D0232-820C-81A8-9754-E5E76A49E717}"/>
              </a:ext>
            </a:extLst>
          </p:cNvPr>
          <p:cNvSpPr/>
          <p:nvPr/>
        </p:nvSpPr>
        <p:spPr>
          <a:xfrm>
            <a:off x="1174352" y="3660016"/>
            <a:ext cx="743912" cy="48012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9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7</a:t>
            </a:r>
            <a:endParaRPr lang="en-US" sz="79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28" name="Text 96">
            <a:extLst>
              <a:ext uri="{FF2B5EF4-FFF2-40B4-BE49-F238E27FC236}">
                <a16:creationId xmlns:a16="http://schemas.microsoft.com/office/drawing/2014/main" id="{361CF499-10A0-AB1A-B1D6-7D53833E18E5}"/>
              </a:ext>
            </a:extLst>
          </p:cNvPr>
          <p:cNvSpPr/>
          <p:nvPr/>
        </p:nvSpPr>
        <p:spPr>
          <a:xfrm>
            <a:off x="1186909" y="3185052"/>
            <a:ext cx="743912" cy="48012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9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7</a:t>
            </a:r>
            <a:endParaRPr lang="en-US" sz="79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30" name="Text 96">
            <a:extLst>
              <a:ext uri="{FF2B5EF4-FFF2-40B4-BE49-F238E27FC236}">
                <a16:creationId xmlns:a16="http://schemas.microsoft.com/office/drawing/2014/main" id="{98E3A9FB-E4EA-F157-22B8-9D517656D456}"/>
              </a:ext>
            </a:extLst>
          </p:cNvPr>
          <p:cNvSpPr/>
          <p:nvPr/>
        </p:nvSpPr>
        <p:spPr>
          <a:xfrm>
            <a:off x="1180164" y="2690239"/>
            <a:ext cx="743912" cy="48012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9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7</a:t>
            </a:r>
            <a:endParaRPr lang="en-US" sz="79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32" name="Text 96">
            <a:extLst>
              <a:ext uri="{FF2B5EF4-FFF2-40B4-BE49-F238E27FC236}">
                <a16:creationId xmlns:a16="http://schemas.microsoft.com/office/drawing/2014/main" id="{1EFEAF22-5499-32E9-4972-1A4BF27C3882}"/>
              </a:ext>
            </a:extLst>
          </p:cNvPr>
          <p:cNvSpPr/>
          <p:nvPr/>
        </p:nvSpPr>
        <p:spPr>
          <a:xfrm>
            <a:off x="1189509" y="2266986"/>
            <a:ext cx="743912" cy="48012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9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7</a:t>
            </a:r>
            <a:endParaRPr lang="en-US" sz="79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34" name="Text 115">
            <a:extLst>
              <a:ext uri="{FF2B5EF4-FFF2-40B4-BE49-F238E27FC236}">
                <a16:creationId xmlns:a16="http://schemas.microsoft.com/office/drawing/2014/main" id="{7281C728-BB0D-2148-2F3A-1EA731AD9256}"/>
              </a:ext>
            </a:extLst>
          </p:cNvPr>
          <p:cNvSpPr/>
          <p:nvPr/>
        </p:nvSpPr>
        <p:spPr>
          <a:xfrm>
            <a:off x="6736877" y="3619981"/>
            <a:ext cx="743912" cy="48012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9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9</a:t>
            </a:r>
            <a:endParaRPr lang="en-US" sz="79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36" name="Text 115">
            <a:extLst>
              <a:ext uri="{FF2B5EF4-FFF2-40B4-BE49-F238E27FC236}">
                <a16:creationId xmlns:a16="http://schemas.microsoft.com/office/drawing/2014/main" id="{39181154-AF0E-EA11-64CA-FEFF2B259033}"/>
              </a:ext>
            </a:extLst>
          </p:cNvPr>
          <p:cNvSpPr/>
          <p:nvPr/>
        </p:nvSpPr>
        <p:spPr>
          <a:xfrm>
            <a:off x="6724501" y="3191356"/>
            <a:ext cx="743912" cy="48012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9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9</a:t>
            </a:r>
            <a:endParaRPr lang="en-US" sz="79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38" name="Text 115">
            <a:extLst>
              <a:ext uri="{FF2B5EF4-FFF2-40B4-BE49-F238E27FC236}">
                <a16:creationId xmlns:a16="http://schemas.microsoft.com/office/drawing/2014/main" id="{1F501C71-A021-9281-C298-11460F579160}"/>
              </a:ext>
            </a:extLst>
          </p:cNvPr>
          <p:cNvSpPr/>
          <p:nvPr/>
        </p:nvSpPr>
        <p:spPr>
          <a:xfrm>
            <a:off x="6711567" y="2694444"/>
            <a:ext cx="743912" cy="48012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9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9</a:t>
            </a:r>
            <a:endParaRPr lang="en-US" sz="79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40" name="Text 115">
            <a:extLst>
              <a:ext uri="{FF2B5EF4-FFF2-40B4-BE49-F238E27FC236}">
                <a16:creationId xmlns:a16="http://schemas.microsoft.com/office/drawing/2014/main" id="{BAA72C34-0A36-EA4C-C27B-9535AB9E61BF}"/>
              </a:ext>
            </a:extLst>
          </p:cNvPr>
          <p:cNvSpPr/>
          <p:nvPr/>
        </p:nvSpPr>
        <p:spPr>
          <a:xfrm>
            <a:off x="6708074" y="2198447"/>
            <a:ext cx="743912" cy="48012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9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9</a:t>
            </a:r>
            <a:endParaRPr lang="en-US" sz="79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42" name="Text 115">
            <a:extLst>
              <a:ext uri="{FF2B5EF4-FFF2-40B4-BE49-F238E27FC236}">
                <a16:creationId xmlns:a16="http://schemas.microsoft.com/office/drawing/2014/main" id="{EF222215-D251-97A9-6251-501BC84AD611}"/>
              </a:ext>
            </a:extLst>
          </p:cNvPr>
          <p:cNvSpPr/>
          <p:nvPr/>
        </p:nvSpPr>
        <p:spPr>
          <a:xfrm>
            <a:off x="7551793" y="4131022"/>
            <a:ext cx="743912" cy="48012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9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9</a:t>
            </a:r>
            <a:endParaRPr lang="en-US" sz="79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144" name="Picture 143">
            <a:extLst>
              <a:ext uri="{FF2B5EF4-FFF2-40B4-BE49-F238E27FC236}">
                <a16:creationId xmlns:a16="http://schemas.microsoft.com/office/drawing/2014/main" id="{EEABE9E9-F6DB-F27E-93B2-B1C0A985FC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34650" y="78120"/>
            <a:ext cx="1530523" cy="45915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2">
          <a:extLst>
            <a:ext uri="{FF2B5EF4-FFF2-40B4-BE49-F238E27FC236}">
              <a16:creationId xmlns:a16="http://schemas.microsoft.com/office/drawing/2014/main" id="{80E67286-10D8-964E-03AC-AF614EBC14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3" name="Google Shape;653;p42">
            <a:extLst>
              <a:ext uri="{FF2B5EF4-FFF2-40B4-BE49-F238E27FC236}">
                <a16:creationId xmlns:a16="http://schemas.microsoft.com/office/drawing/2014/main" id="{BBB3A3EC-4E8F-88EF-C467-E597B92006E1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60386"/>
            <a:ext cx="12192000" cy="6918385"/>
          </a:xfrm>
          <a:prstGeom prst="rect">
            <a:avLst/>
          </a:prstGeom>
          <a:noFill/>
          <a:ln>
            <a:noFill/>
          </a:ln>
        </p:spPr>
      </p:pic>
      <p:sp>
        <p:nvSpPr>
          <p:cNvPr id="654" name="Google Shape;654;p42">
            <a:extLst>
              <a:ext uri="{FF2B5EF4-FFF2-40B4-BE49-F238E27FC236}">
                <a16:creationId xmlns:a16="http://schemas.microsoft.com/office/drawing/2014/main" id="{2776D5EA-7C08-FE29-DE5B-AEED11AB07F1}"/>
              </a:ext>
            </a:extLst>
          </p:cNvPr>
          <p:cNvSpPr txBox="1"/>
          <p:nvPr/>
        </p:nvSpPr>
        <p:spPr>
          <a:xfrm>
            <a:off x="2025411" y="2197914"/>
            <a:ext cx="8141179" cy="3570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ctr"/>
            <a:r>
              <a:rPr lang="es-CO" sz="7200" dirty="0">
                <a:solidFill>
                  <a:schemeClr val="lt1"/>
                </a:solidFill>
                <a:latin typeface="Poppins Black"/>
                <a:ea typeface="Poppins Black"/>
                <a:cs typeface="Poppins Black"/>
              </a:rPr>
              <a:t>TELEVENTAS</a:t>
            </a:r>
          </a:p>
          <a:p>
            <a:pPr algn="ctr"/>
            <a:r>
              <a:rPr lang="es-CO" sz="7200" dirty="0">
                <a:solidFill>
                  <a:schemeClr val="lt1"/>
                </a:solidFill>
                <a:latin typeface="Poppins Light" panose="00000400000000000000" pitchFamily="2" charset="0"/>
                <a:ea typeface="Poppins Black"/>
                <a:cs typeface="Poppins Light" panose="00000400000000000000" pitchFamily="2" charset="0"/>
              </a:rPr>
              <a:t>Análisis del 1er semestre</a:t>
            </a:r>
          </a:p>
        </p:txBody>
      </p:sp>
      <p:pic>
        <p:nvPicPr>
          <p:cNvPr id="3" name="Google Shape;113;p18" descr="xumainsurtech.com">
            <a:extLst>
              <a:ext uri="{FF2B5EF4-FFF2-40B4-BE49-F238E27FC236}">
                <a16:creationId xmlns:a16="http://schemas.microsoft.com/office/drawing/2014/main" id="{D4C8226B-5865-3A3F-D4EE-07B93EEF5B3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844426" y="6391320"/>
            <a:ext cx="1274328" cy="36361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599301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13_Presentaciones\dash\televentas\ppt_slides\sk_02_Vant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62021" y="5952487"/>
            <a:ext cx="6927907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84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Meta superada al 147 % — 13.917 pólizas vendidas vs 9.444 de meta. CP 10.534 (145 %) · VOL 3.383 (154 %).</a:t>
            </a:r>
            <a:endParaRPr lang="en-US" sz="984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571486" y="209550"/>
            <a:ext cx="3973809" cy="196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60" b="1" dirty="0">
                <a:solidFill>
                  <a:srgbClr val="FFFFFF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RESULTADOS DE VENTAS · PRIMER SEMESTRE 2026</a:t>
            </a:r>
            <a:endParaRPr lang="en-US" sz="126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800080" y="1009650"/>
            <a:ext cx="26781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16" b="1" dirty="0">
                <a:solidFill>
                  <a:srgbClr val="9098B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Pólizas liquidadas · Semestre completo</a:t>
            </a:r>
            <a:endParaRPr lang="en-US" sz="81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800079" y="1514475"/>
            <a:ext cx="1948275" cy="1206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64" dirty="0">
                <a:solidFill>
                  <a:srgbClr val="9098B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Cifra oficial liquidación ene–jun</a:t>
            </a:r>
            <a:endParaRPr lang="en-US" sz="864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981050" y="4553557"/>
            <a:ext cx="2064075" cy="125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36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Crecimiento Cuota Protegida</a:t>
            </a:r>
            <a:endParaRPr lang="en-US" sz="93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876278" y="2033587"/>
            <a:ext cx="1713353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Pólizas vendidas vs. meta</a:t>
            </a:r>
            <a:endParaRPr lang="en-US" sz="102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6410164" y="4562966"/>
            <a:ext cx="1831879" cy="1301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36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Crecimiento Combo Vida</a:t>
            </a:r>
            <a:endParaRPr lang="en-US" sz="93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2413470" y="2243160"/>
            <a:ext cx="3097514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marL="0" indent="0" algn="ctr">
              <a:buNone/>
            </a:pPr>
            <a:r>
              <a:rPr lang="en-US" sz="888" b="1" dirty="0">
                <a:solidFill>
                  <a:srgbClr val="FFFFFF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Cuota Protegida (CP)</a:t>
            </a:r>
            <a:endParaRPr lang="en-US" sz="888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5420764" y="2243160"/>
            <a:ext cx="3097514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marL="0" indent="0" algn="ctr">
              <a:buNone/>
            </a:pPr>
            <a:r>
              <a:rPr lang="en-US" sz="888" b="1" dirty="0">
                <a:solidFill>
                  <a:srgbClr val="FFFFFF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Combo Vida (VOL)</a:t>
            </a:r>
            <a:endParaRPr lang="en-US" sz="888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4520988" y="1009650"/>
            <a:ext cx="112619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16" b="1" dirty="0">
                <a:solidFill>
                  <a:srgbClr val="9098B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Cuota Protegida</a:t>
            </a:r>
            <a:endParaRPr lang="en-US" sz="81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4520988" y="1423095"/>
            <a:ext cx="743798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64" dirty="0">
                <a:solidFill>
                  <a:srgbClr val="9098B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76 % del total</a:t>
            </a:r>
            <a:endParaRPr lang="en-US" sz="864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8242044" y="1423095"/>
            <a:ext cx="738277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64" dirty="0">
                <a:solidFill>
                  <a:srgbClr val="9098B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24 % del total</a:t>
            </a:r>
            <a:endParaRPr lang="en-US" sz="864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3936355" y="2471760"/>
            <a:ext cx="1529519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Cumplimiento</a:t>
            </a:r>
            <a:endParaRPr lang="en-US" sz="888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6943650" y="2471760"/>
            <a:ext cx="1529519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Cumplimiento</a:t>
            </a:r>
            <a:endParaRPr lang="en-US" sz="888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9951324" y="2471760"/>
            <a:ext cx="1516489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Cumplimiento</a:t>
            </a:r>
            <a:endParaRPr lang="en-US" sz="888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8242044" y="1009650"/>
            <a:ext cx="771089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16" b="1" dirty="0">
                <a:solidFill>
                  <a:srgbClr val="9098B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Combo Vida</a:t>
            </a:r>
            <a:endParaRPr lang="en-US" sz="81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10502241" y="2047875"/>
            <a:ext cx="9105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16" b="1" dirty="0">
                <a:solidFill>
                  <a:srgbClr val="FFFFFF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Vanti</a:t>
            </a:r>
            <a:endParaRPr lang="en-US" sz="81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1359649" y="2243160"/>
            <a:ext cx="1098930" cy="4572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Asesores</a:t>
            </a:r>
            <a:endParaRPr lang="en-US" sz="888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8428249" y="2243160"/>
            <a:ext cx="3084484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marL="0" indent="0" algn="ctr">
              <a:buNone/>
            </a:pPr>
            <a:r>
              <a:rPr lang="en-US" sz="888" b="1" dirty="0">
                <a:solidFill>
                  <a:srgbClr val="FFFFFF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General</a:t>
            </a:r>
            <a:endParaRPr lang="en-US" sz="888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3875973" y="2674482"/>
            <a:ext cx="1529519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b="1" dirty="0">
                <a:solidFill>
                  <a:srgbClr val="00806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141,0 %</a:t>
            </a:r>
            <a:endParaRPr lang="en-US" sz="81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6883268" y="2674482"/>
            <a:ext cx="1529519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b="1" dirty="0">
                <a:solidFill>
                  <a:srgbClr val="00806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112,0 %</a:t>
            </a:r>
            <a:endParaRPr lang="en-US" sz="81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9890942" y="2674482"/>
            <a:ext cx="1516489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b="1" dirty="0">
                <a:solidFill>
                  <a:srgbClr val="00806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132,0 %</a:t>
            </a:r>
            <a:endParaRPr lang="en-US" sz="81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3875973" y="2917370"/>
            <a:ext cx="1529519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b="1" dirty="0">
                <a:solidFill>
                  <a:srgbClr val="00806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152,0 %</a:t>
            </a:r>
            <a:endParaRPr lang="en-US" sz="81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6" name="Text 23"/>
          <p:cNvSpPr/>
          <p:nvPr/>
        </p:nvSpPr>
        <p:spPr>
          <a:xfrm>
            <a:off x="6883268" y="2917370"/>
            <a:ext cx="1529519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b="1" dirty="0">
                <a:solidFill>
                  <a:srgbClr val="00806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286,0 %</a:t>
            </a:r>
            <a:endParaRPr lang="en-US" sz="81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7" name="Text 24"/>
          <p:cNvSpPr/>
          <p:nvPr/>
        </p:nvSpPr>
        <p:spPr>
          <a:xfrm>
            <a:off x="9890942" y="2917370"/>
            <a:ext cx="1516489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b="1" dirty="0">
                <a:solidFill>
                  <a:srgbClr val="00806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171,0 %</a:t>
            </a:r>
            <a:endParaRPr lang="en-US" sz="81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8" name="Text 25"/>
          <p:cNvSpPr/>
          <p:nvPr/>
        </p:nvSpPr>
        <p:spPr>
          <a:xfrm>
            <a:off x="3875973" y="3165020"/>
            <a:ext cx="1529519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b="1" dirty="0">
                <a:solidFill>
                  <a:srgbClr val="00806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159,0 %</a:t>
            </a:r>
            <a:endParaRPr lang="en-US" sz="81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9" name="Text 26"/>
          <p:cNvSpPr/>
          <p:nvPr/>
        </p:nvSpPr>
        <p:spPr>
          <a:xfrm>
            <a:off x="6883268" y="3165020"/>
            <a:ext cx="1529519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b="1" dirty="0">
                <a:solidFill>
                  <a:srgbClr val="00806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143,0 %</a:t>
            </a:r>
            <a:endParaRPr lang="en-US" sz="81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0" name="Text 27"/>
          <p:cNvSpPr/>
          <p:nvPr/>
        </p:nvSpPr>
        <p:spPr>
          <a:xfrm>
            <a:off x="9890942" y="3165020"/>
            <a:ext cx="1516489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b="1" dirty="0">
                <a:solidFill>
                  <a:srgbClr val="00806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155,0 %</a:t>
            </a:r>
            <a:endParaRPr lang="en-US" sz="81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1" name="Text 28"/>
          <p:cNvSpPr/>
          <p:nvPr/>
        </p:nvSpPr>
        <p:spPr>
          <a:xfrm>
            <a:off x="3875973" y="3412670"/>
            <a:ext cx="1529519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b="1" dirty="0">
                <a:solidFill>
                  <a:srgbClr val="00806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152,0 %</a:t>
            </a:r>
            <a:endParaRPr lang="en-US" sz="81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2" name="Text 29"/>
          <p:cNvSpPr/>
          <p:nvPr/>
        </p:nvSpPr>
        <p:spPr>
          <a:xfrm>
            <a:off x="9890942" y="3412670"/>
            <a:ext cx="1516489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b="1" dirty="0">
                <a:solidFill>
                  <a:srgbClr val="00806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130,0 %</a:t>
            </a:r>
            <a:endParaRPr lang="en-US" sz="81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3" name="Text 30"/>
          <p:cNvSpPr/>
          <p:nvPr/>
        </p:nvSpPr>
        <p:spPr>
          <a:xfrm>
            <a:off x="3875973" y="3660320"/>
            <a:ext cx="1529519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b="1" dirty="0">
                <a:solidFill>
                  <a:srgbClr val="00806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127,0 %</a:t>
            </a:r>
            <a:endParaRPr lang="en-US" sz="81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4" name="Text 31"/>
          <p:cNvSpPr/>
          <p:nvPr/>
        </p:nvSpPr>
        <p:spPr>
          <a:xfrm>
            <a:off x="6883268" y="3660320"/>
            <a:ext cx="1529519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b="1" dirty="0">
                <a:solidFill>
                  <a:srgbClr val="00806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280,0 %</a:t>
            </a:r>
            <a:endParaRPr lang="en-US" sz="81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5" name="Text 32"/>
          <p:cNvSpPr/>
          <p:nvPr/>
        </p:nvSpPr>
        <p:spPr>
          <a:xfrm>
            <a:off x="9890942" y="3660320"/>
            <a:ext cx="1516489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b="1" dirty="0">
                <a:solidFill>
                  <a:srgbClr val="00806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151,0 %</a:t>
            </a:r>
            <a:endParaRPr lang="en-US" sz="81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6" name="Text 33"/>
          <p:cNvSpPr/>
          <p:nvPr/>
        </p:nvSpPr>
        <p:spPr>
          <a:xfrm>
            <a:off x="3875973" y="3907970"/>
            <a:ext cx="1529519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b="1" dirty="0">
                <a:solidFill>
                  <a:srgbClr val="00806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141,0 %</a:t>
            </a:r>
            <a:endParaRPr lang="en-US" sz="81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7" name="Text 34"/>
          <p:cNvSpPr/>
          <p:nvPr/>
        </p:nvSpPr>
        <p:spPr>
          <a:xfrm>
            <a:off x="6883268" y="3907970"/>
            <a:ext cx="1529519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b="1" dirty="0">
                <a:solidFill>
                  <a:srgbClr val="00806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198,0 %</a:t>
            </a:r>
            <a:endParaRPr lang="en-US" sz="81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8" name="Text 35"/>
          <p:cNvSpPr/>
          <p:nvPr/>
        </p:nvSpPr>
        <p:spPr>
          <a:xfrm>
            <a:off x="9890942" y="3907970"/>
            <a:ext cx="1516489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b="1" dirty="0">
                <a:solidFill>
                  <a:srgbClr val="00806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152,0 %</a:t>
            </a:r>
            <a:endParaRPr lang="en-US" sz="81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9" name="Text 36"/>
          <p:cNvSpPr/>
          <p:nvPr/>
        </p:nvSpPr>
        <p:spPr>
          <a:xfrm>
            <a:off x="3875973" y="4155620"/>
            <a:ext cx="1529519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b="1" dirty="0">
                <a:solidFill>
                  <a:srgbClr val="00806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145,0 %</a:t>
            </a:r>
            <a:endParaRPr lang="en-US" sz="81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0" name="Text 37"/>
          <p:cNvSpPr/>
          <p:nvPr/>
        </p:nvSpPr>
        <p:spPr>
          <a:xfrm>
            <a:off x="6883268" y="4155620"/>
            <a:ext cx="1529519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b="1" dirty="0">
                <a:solidFill>
                  <a:srgbClr val="00806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154,0 %</a:t>
            </a:r>
            <a:endParaRPr lang="en-US" sz="81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1" name="Text 38"/>
          <p:cNvSpPr/>
          <p:nvPr/>
        </p:nvSpPr>
        <p:spPr>
          <a:xfrm>
            <a:off x="9890942" y="4155620"/>
            <a:ext cx="1516489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b="1" dirty="0">
                <a:solidFill>
                  <a:srgbClr val="00806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147,0 %</a:t>
            </a:r>
            <a:endParaRPr lang="en-US" sz="81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2" name="Text 39"/>
          <p:cNvSpPr/>
          <p:nvPr/>
        </p:nvSpPr>
        <p:spPr>
          <a:xfrm>
            <a:off x="6883268" y="3412670"/>
            <a:ext cx="1529519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b="1" dirty="0">
                <a:solidFill>
                  <a:srgbClr val="8A620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89,0 %</a:t>
            </a:r>
            <a:endParaRPr lang="en-US" sz="81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3" name="Text 40"/>
          <p:cNvSpPr/>
          <p:nvPr/>
        </p:nvSpPr>
        <p:spPr>
          <a:xfrm>
            <a:off x="2434590" y="4181498"/>
            <a:ext cx="823623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10.534</a:t>
            </a:r>
            <a:endParaRPr lang="en-US" sz="81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4" name="Text 41"/>
          <p:cNvSpPr/>
          <p:nvPr/>
        </p:nvSpPr>
        <p:spPr>
          <a:xfrm>
            <a:off x="8449180" y="4181498"/>
            <a:ext cx="823623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13.917</a:t>
            </a:r>
            <a:endParaRPr lang="en-US" sz="81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5" name="Text 42"/>
          <p:cNvSpPr/>
          <p:nvPr/>
        </p:nvSpPr>
        <p:spPr>
          <a:xfrm>
            <a:off x="800080" y="1143000"/>
            <a:ext cx="990525" cy="362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00CD9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13.917</a:t>
            </a:r>
            <a:endParaRPr lang="en-US" sz="24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6" name="Text 43"/>
          <p:cNvSpPr/>
          <p:nvPr/>
        </p:nvSpPr>
        <p:spPr>
          <a:xfrm>
            <a:off x="4520988" y="1152525"/>
            <a:ext cx="713983" cy="25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80" b="1" dirty="0">
                <a:solidFill>
                  <a:srgbClr val="00CD9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10.534</a:t>
            </a:r>
            <a:endParaRPr lang="en-US" sz="168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7" name="Text 44"/>
          <p:cNvSpPr/>
          <p:nvPr/>
        </p:nvSpPr>
        <p:spPr>
          <a:xfrm>
            <a:off x="2434590" y="2471760"/>
            <a:ext cx="823623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Venta</a:t>
            </a:r>
            <a:endParaRPr lang="en-US" sz="888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8" name="Text 45"/>
          <p:cNvSpPr/>
          <p:nvPr/>
        </p:nvSpPr>
        <p:spPr>
          <a:xfrm>
            <a:off x="5441885" y="2471760"/>
            <a:ext cx="823623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Venta</a:t>
            </a:r>
            <a:endParaRPr lang="en-US" sz="888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9" name="Text 46"/>
          <p:cNvSpPr/>
          <p:nvPr/>
        </p:nvSpPr>
        <p:spPr>
          <a:xfrm>
            <a:off x="8449180" y="2471760"/>
            <a:ext cx="823623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Venta</a:t>
            </a:r>
            <a:endParaRPr lang="en-US" sz="888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0" name="Text 47"/>
          <p:cNvSpPr/>
          <p:nvPr/>
        </p:nvSpPr>
        <p:spPr>
          <a:xfrm>
            <a:off x="2434590" y="2700360"/>
            <a:ext cx="823623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1.689</a:t>
            </a:r>
            <a:endParaRPr lang="en-US" sz="81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1" name="Text 48"/>
          <p:cNvSpPr/>
          <p:nvPr/>
        </p:nvSpPr>
        <p:spPr>
          <a:xfrm>
            <a:off x="3236532" y="2700360"/>
            <a:ext cx="744372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1.197</a:t>
            </a:r>
            <a:endParaRPr lang="en-US" sz="81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2" name="Text 49"/>
          <p:cNvSpPr/>
          <p:nvPr/>
        </p:nvSpPr>
        <p:spPr>
          <a:xfrm>
            <a:off x="8449180" y="2700360"/>
            <a:ext cx="823623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2.245</a:t>
            </a:r>
            <a:endParaRPr lang="en-US" sz="81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3" name="Text 50"/>
          <p:cNvSpPr/>
          <p:nvPr/>
        </p:nvSpPr>
        <p:spPr>
          <a:xfrm>
            <a:off x="9251121" y="2700360"/>
            <a:ext cx="744372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1.695</a:t>
            </a:r>
            <a:endParaRPr lang="en-US" sz="81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4" name="Text 51"/>
          <p:cNvSpPr/>
          <p:nvPr/>
        </p:nvSpPr>
        <p:spPr>
          <a:xfrm>
            <a:off x="2434590" y="2943248"/>
            <a:ext cx="823623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1.819</a:t>
            </a:r>
            <a:endParaRPr lang="en-US" sz="81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5" name="Text 52"/>
          <p:cNvSpPr/>
          <p:nvPr/>
        </p:nvSpPr>
        <p:spPr>
          <a:xfrm>
            <a:off x="3236532" y="2943248"/>
            <a:ext cx="744372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1.197</a:t>
            </a:r>
            <a:endParaRPr lang="en-US" sz="81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6" name="Text 53"/>
          <p:cNvSpPr/>
          <p:nvPr/>
        </p:nvSpPr>
        <p:spPr>
          <a:xfrm>
            <a:off x="8449180" y="2943248"/>
            <a:ext cx="823623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2.374</a:t>
            </a:r>
            <a:endParaRPr lang="en-US" sz="81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7" name="Text 54"/>
          <p:cNvSpPr/>
          <p:nvPr/>
        </p:nvSpPr>
        <p:spPr>
          <a:xfrm>
            <a:off x="9251121" y="2943248"/>
            <a:ext cx="744372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1.391</a:t>
            </a:r>
            <a:endParaRPr lang="en-US" sz="81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8" name="Text 55"/>
          <p:cNvSpPr/>
          <p:nvPr/>
        </p:nvSpPr>
        <p:spPr>
          <a:xfrm>
            <a:off x="2434590" y="3190898"/>
            <a:ext cx="823623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1.901</a:t>
            </a:r>
            <a:endParaRPr lang="en-US" sz="81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9" name="Text 56"/>
          <p:cNvSpPr/>
          <p:nvPr/>
        </p:nvSpPr>
        <p:spPr>
          <a:xfrm>
            <a:off x="3236532" y="3190898"/>
            <a:ext cx="744372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1.197</a:t>
            </a:r>
            <a:endParaRPr lang="en-US" sz="81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0" name="Text 57"/>
          <p:cNvSpPr/>
          <p:nvPr/>
        </p:nvSpPr>
        <p:spPr>
          <a:xfrm>
            <a:off x="8449180" y="3190898"/>
            <a:ext cx="823623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2.431</a:t>
            </a:r>
            <a:endParaRPr lang="en-US" sz="81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1" name="Text 58"/>
          <p:cNvSpPr/>
          <p:nvPr/>
        </p:nvSpPr>
        <p:spPr>
          <a:xfrm>
            <a:off x="9251121" y="3190898"/>
            <a:ext cx="744372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1.568</a:t>
            </a:r>
            <a:endParaRPr lang="en-US" sz="81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2" name="Text 59"/>
          <p:cNvSpPr/>
          <p:nvPr/>
        </p:nvSpPr>
        <p:spPr>
          <a:xfrm>
            <a:off x="2434590" y="3438548"/>
            <a:ext cx="823623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1.816</a:t>
            </a:r>
            <a:endParaRPr lang="en-US" sz="81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3" name="Text 60"/>
          <p:cNvSpPr/>
          <p:nvPr/>
        </p:nvSpPr>
        <p:spPr>
          <a:xfrm>
            <a:off x="3236532" y="3438548"/>
            <a:ext cx="744372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1.197</a:t>
            </a:r>
            <a:endParaRPr lang="en-US" sz="81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4" name="Text 61"/>
          <p:cNvSpPr/>
          <p:nvPr/>
        </p:nvSpPr>
        <p:spPr>
          <a:xfrm>
            <a:off x="8449180" y="3438548"/>
            <a:ext cx="823623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2.367</a:t>
            </a:r>
            <a:endParaRPr lang="en-US" sz="81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5" name="Text 62"/>
          <p:cNvSpPr/>
          <p:nvPr/>
        </p:nvSpPr>
        <p:spPr>
          <a:xfrm>
            <a:off x="9251121" y="3438548"/>
            <a:ext cx="744372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1.818</a:t>
            </a:r>
            <a:endParaRPr lang="en-US" sz="81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6" name="Text 63"/>
          <p:cNvSpPr/>
          <p:nvPr/>
        </p:nvSpPr>
        <p:spPr>
          <a:xfrm>
            <a:off x="2434590" y="3686198"/>
            <a:ext cx="823623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1.568</a:t>
            </a:r>
            <a:endParaRPr lang="en-US" sz="81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7" name="Text 64"/>
          <p:cNvSpPr/>
          <p:nvPr/>
        </p:nvSpPr>
        <p:spPr>
          <a:xfrm>
            <a:off x="3236532" y="3686198"/>
            <a:ext cx="744372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1.231</a:t>
            </a:r>
            <a:endParaRPr lang="en-US" sz="81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8" name="Text 65"/>
          <p:cNvSpPr/>
          <p:nvPr/>
        </p:nvSpPr>
        <p:spPr>
          <a:xfrm>
            <a:off x="8449180" y="3686198"/>
            <a:ext cx="823623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2.186</a:t>
            </a:r>
            <a:endParaRPr lang="en-US" sz="81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9" name="Text 66"/>
          <p:cNvSpPr/>
          <p:nvPr/>
        </p:nvSpPr>
        <p:spPr>
          <a:xfrm>
            <a:off x="9251121" y="3686198"/>
            <a:ext cx="744372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1.452</a:t>
            </a:r>
            <a:endParaRPr lang="en-US" sz="81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70" name="Text 67"/>
          <p:cNvSpPr/>
          <p:nvPr/>
        </p:nvSpPr>
        <p:spPr>
          <a:xfrm>
            <a:off x="2434590" y="3933848"/>
            <a:ext cx="823623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1.741</a:t>
            </a:r>
            <a:endParaRPr lang="en-US" sz="81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71" name="Text 68"/>
          <p:cNvSpPr/>
          <p:nvPr/>
        </p:nvSpPr>
        <p:spPr>
          <a:xfrm>
            <a:off x="3236532" y="3933848"/>
            <a:ext cx="744372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1.231</a:t>
            </a:r>
            <a:endParaRPr lang="en-US" sz="81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72" name="Text 69"/>
          <p:cNvSpPr/>
          <p:nvPr/>
        </p:nvSpPr>
        <p:spPr>
          <a:xfrm>
            <a:off x="8449180" y="3933848"/>
            <a:ext cx="823623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2.314</a:t>
            </a:r>
            <a:endParaRPr lang="en-US" sz="81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73" name="Text 70"/>
          <p:cNvSpPr/>
          <p:nvPr/>
        </p:nvSpPr>
        <p:spPr>
          <a:xfrm>
            <a:off x="9251121" y="3933848"/>
            <a:ext cx="744372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1.520</a:t>
            </a:r>
            <a:endParaRPr lang="en-US" sz="81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74" name="Text 71"/>
          <p:cNvSpPr/>
          <p:nvPr/>
        </p:nvSpPr>
        <p:spPr>
          <a:xfrm>
            <a:off x="723882" y="4181498"/>
            <a:ext cx="687808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816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Total</a:t>
            </a:r>
            <a:endParaRPr lang="en-US" sz="81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75" name="Text 72"/>
          <p:cNvSpPr/>
          <p:nvPr/>
        </p:nvSpPr>
        <p:spPr>
          <a:xfrm>
            <a:off x="3236532" y="4181498"/>
            <a:ext cx="744372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7.250</a:t>
            </a:r>
            <a:endParaRPr lang="en-US" sz="81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76" name="Text 73"/>
          <p:cNvSpPr/>
          <p:nvPr/>
        </p:nvSpPr>
        <p:spPr>
          <a:xfrm>
            <a:off x="5441885" y="4181498"/>
            <a:ext cx="823623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3.383</a:t>
            </a:r>
            <a:endParaRPr lang="en-US" sz="81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77" name="Text 74"/>
          <p:cNvSpPr/>
          <p:nvPr/>
        </p:nvSpPr>
        <p:spPr>
          <a:xfrm>
            <a:off x="6243827" y="4181498"/>
            <a:ext cx="744372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2.194</a:t>
            </a:r>
            <a:endParaRPr lang="en-US" sz="81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78" name="Text 75"/>
          <p:cNvSpPr/>
          <p:nvPr/>
        </p:nvSpPr>
        <p:spPr>
          <a:xfrm>
            <a:off x="9251121" y="4181498"/>
            <a:ext cx="744372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9.444</a:t>
            </a:r>
            <a:endParaRPr lang="en-US" sz="81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79" name="Text 76"/>
          <p:cNvSpPr/>
          <p:nvPr/>
        </p:nvSpPr>
        <p:spPr>
          <a:xfrm>
            <a:off x="8242044" y="1152525"/>
            <a:ext cx="595667" cy="25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80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3.383</a:t>
            </a:r>
            <a:endParaRPr lang="en-US" sz="168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0" name="Text 77"/>
          <p:cNvSpPr/>
          <p:nvPr/>
        </p:nvSpPr>
        <p:spPr>
          <a:xfrm>
            <a:off x="3236532" y="2471760"/>
            <a:ext cx="744372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Meta</a:t>
            </a:r>
            <a:endParaRPr lang="en-US" sz="888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1" name="Text 78"/>
          <p:cNvSpPr/>
          <p:nvPr/>
        </p:nvSpPr>
        <p:spPr>
          <a:xfrm>
            <a:off x="6243827" y="2471760"/>
            <a:ext cx="744372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Meta</a:t>
            </a:r>
            <a:endParaRPr lang="en-US" sz="888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2" name="Text 79"/>
          <p:cNvSpPr/>
          <p:nvPr/>
        </p:nvSpPr>
        <p:spPr>
          <a:xfrm>
            <a:off x="9251121" y="2471760"/>
            <a:ext cx="744372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Meta</a:t>
            </a:r>
            <a:endParaRPr lang="en-US" sz="888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3" name="Text 80"/>
          <p:cNvSpPr/>
          <p:nvPr/>
        </p:nvSpPr>
        <p:spPr>
          <a:xfrm>
            <a:off x="723882" y="2243160"/>
            <a:ext cx="687808" cy="4572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marL="0" indent="0" algn="l">
              <a:buNone/>
            </a:pPr>
            <a:r>
              <a:rPr lang="en-US" sz="888" b="1" dirty="0">
                <a:solidFill>
                  <a:srgbClr val="FFFFFF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Mes</a:t>
            </a:r>
            <a:endParaRPr lang="en-US" sz="888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4" name="Text 81"/>
          <p:cNvSpPr/>
          <p:nvPr/>
        </p:nvSpPr>
        <p:spPr>
          <a:xfrm>
            <a:off x="723882" y="2700360"/>
            <a:ext cx="687808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816" b="1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Ene</a:t>
            </a:r>
            <a:endParaRPr lang="en-US" sz="81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5" name="Text 82"/>
          <p:cNvSpPr/>
          <p:nvPr/>
        </p:nvSpPr>
        <p:spPr>
          <a:xfrm>
            <a:off x="5441885" y="2700360"/>
            <a:ext cx="823623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556</a:t>
            </a:r>
            <a:endParaRPr lang="en-US" sz="81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6" name="Text 83"/>
          <p:cNvSpPr/>
          <p:nvPr/>
        </p:nvSpPr>
        <p:spPr>
          <a:xfrm>
            <a:off x="6243827" y="2700360"/>
            <a:ext cx="744372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498</a:t>
            </a:r>
            <a:endParaRPr lang="en-US" sz="81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7" name="Text 84"/>
          <p:cNvSpPr/>
          <p:nvPr/>
        </p:nvSpPr>
        <p:spPr>
          <a:xfrm>
            <a:off x="723882" y="2943248"/>
            <a:ext cx="687808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816" b="1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Feb</a:t>
            </a:r>
            <a:endParaRPr lang="en-US" sz="81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8" name="Text 85"/>
          <p:cNvSpPr/>
          <p:nvPr/>
        </p:nvSpPr>
        <p:spPr>
          <a:xfrm>
            <a:off x="5441885" y="2943248"/>
            <a:ext cx="823623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555</a:t>
            </a:r>
            <a:endParaRPr lang="en-US" sz="81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9" name="Text 86"/>
          <p:cNvSpPr/>
          <p:nvPr/>
        </p:nvSpPr>
        <p:spPr>
          <a:xfrm>
            <a:off x="6243827" y="2943248"/>
            <a:ext cx="744372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194</a:t>
            </a:r>
            <a:endParaRPr lang="en-US" sz="81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0" name="Text 87"/>
          <p:cNvSpPr/>
          <p:nvPr/>
        </p:nvSpPr>
        <p:spPr>
          <a:xfrm>
            <a:off x="723882" y="3190898"/>
            <a:ext cx="687808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816" b="1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Mar</a:t>
            </a:r>
            <a:endParaRPr lang="en-US" sz="81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1" name="Text 88"/>
          <p:cNvSpPr/>
          <p:nvPr/>
        </p:nvSpPr>
        <p:spPr>
          <a:xfrm>
            <a:off x="5441885" y="3190898"/>
            <a:ext cx="823623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530</a:t>
            </a:r>
            <a:endParaRPr lang="en-US" sz="81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2" name="Text 89"/>
          <p:cNvSpPr/>
          <p:nvPr/>
        </p:nvSpPr>
        <p:spPr>
          <a:xfrm>
            <a:off x="6243827" y="3190898"/>
            <a:ext cx="744372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371</a:t>
            </a:r>
            <a:endParaRPr lang="en-US" sz="81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3" name="Text 90"/>
          <p:cNvSpPr/>
          <p:nvPr/>
        </p:nvSpPr>
        <p:spPr>
          <a:xfrm>
            <a:off x="723882" y="3438548"/>
            <a:ext cx="687808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816" b="1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Abr</a:t>
            </a:r>
            <a:endParaRPr lang="en-US" sz="81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4" name="Text 91"/>
          <p:cNvSpPr/>
          <p:nvPr/>
        </p:nvSpPr>
        <p:spPr>
          <a:xfrm>
            <a:off x="5441885" y="3438548"/>
            <a:ext cx="823623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551</a:t>
            </a:r>
            <a:endParaRPr lang="en-US" sz="81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5" name="Text 92"/>
          <p:cNvSpPr/>
          <p:nvPr/>
        </p:nvSpPr>
        <p:spPr>
          <a:xfrm>
            <a:off x="6243827" y="3438548"/>
            <a:ext cx="744372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621</a:t>
            </a:r>
            <a:endParaRPr lang="en-US" sz="81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6" name="Text 93"/>
          <p:cNvSpPr/>
          <p:nvPr/>
        </p:nvSpPr>
        <p:spPr>
          <a:xfrm>
            <a:off x="723882" y="3686198"/>
            <a:ext cx="687808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816" b="1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May</a:t>
            </a:r>
            <a:endParaRPr lang="en-US" sz="81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7" name="Text 94"/>
          <p:cNvSpPr/>
          <p:nvPr/>
        </p:nvSpPr>
        <p:spPr>
          <a:xfrm>
            <a:off x="5441885" y="3686198"/>
            <a:ext cx="823623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618</a:t>
            </a:r>
            <a:endParaRPr lang="en-US" sz="81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8" name="Text 95"/>
          <p:cNvSpPr/>
          <p:nvPr/>
        </p:nvSpPr>
        <p:spPr>
          <a:xfrm>
            <a:off x="6243827" y="3686198"/>
            <a:ext cx="744372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221</a:t>
            </a:r>
            <a:endParaRPr lang="en-US" sz="81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9" name="Text 96"/>
          <p:cNvSpPr/>
          <p:nvPr/>
        </p:nvSpPr>
        <p:spPr>
          <a:xfrm>
            <a:off x="723882" y="3933848"/>
            <a:ext cx="687808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816" b="1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Jun</a:t>
            </a:r>
            <a:endParaRPr lang="en-US" sz="81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00" name="Text 97"/>
          <p:cNvSpPr/>
          <p:nvPr/>
        </p:nvSpPr>
        <p:spPr>
          <a:xfrm>
            <a:off x="5441885" y="3933848"/>
            <a:ext cx="823623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573</a:t>
            </a:r>
            <a:endParaRPr lang="en-US" sz="81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01" name="Text 98"/>
          <p:cNvSpPr/>
          <p:nvPr/>
        </p:nvSpPr>
        <p:spPr>
          <a:xfrm>
            <a:off x="6243827" y="3933848"/>
            <a:ext cx="744372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289</a:t>
            </a:r>
            <a:endParaRPr lang="en-US" sz="81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02" name="Text 99"/>
          <p:cNvSpPr/>
          <p:nvPr/>
        </p:nvSpPr>
        <p:spPr>
          <a:xfrm>
            <a:off x="1359649" y="2700360"/>
            <a:ext cx="1098930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15</a:t>
            </a:r>
            <a:endParaRPr lang="en-US" sz="81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03" name="Text 100"/>
          <p:cNvSpPr/>
          <p:nvPr/>
        </p:nvSpPr>
        <p:spPr>
          <a:xfrm>
            <a:off x="1359649" y="2943248"/>
            <a:ext cx="1098930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17</a:t>
            </a:r>
            <a:endParaRPr lang="en-US" sz="81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04" name="Text 101"/>
          <p:cNvSpPr/>
          <p:nvPr/>
        </p:nvSpPr>
        <p:spPr>
          <a:xfrm>
            <a:off x="1359649" y="3190898"/>
            <a:ext cx="1098930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18</a:t>
            </a:r>
            <a:endParaRPr lang="en-US" sz="81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05" name="Text 102"/>
          <p:cNvSpPr/>
          <p:nvPr/>
        </p:nvSpPr>
        <p:spPr>
          <a:xfrm>
            <a:off x="1359649" y="3438548"/>
            <a:ext cx="1098930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20</a:t>
            </a:r>
            <a:endParaRPr lang="en-US" sz="81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06" name="Text 103"/>
          <p:cNvSpPr/>
          <p:nvPr/>
        </p:nvSpPr>
        <p:spPr>
          <a:xfrm>
            <a:off x="1359649" y="3686198"/>
            <a:ext cx="1098930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20</a:t>
            </a:r>
            <a:endParaRPr lang="en-US" sz="81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07" name="Text 104"/>
          <p:cNvSpPr/>
          <p:nvPr/>
        </p:nvSpPr>
        <p:spPr>
          <a:xfrm>
            <a:off x="1359649" y="3933848"/>
            <a:ext cx="1098930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21</a:t>
            </a:r>
            <a:endParaRPr lang="en-US" sz="81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08" name="Text 105"/>
          <p:cNvSpPr/>
          <p:nvPr/>
        </p:nvSpPr>
        <p:spPr>
          <a:xfrm>
            <a:off x="1359649" y="4181498"/>
            <a:ext cx="1098930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19</a:t>
            </a:r>
            <a:endParaRPr lang="en-US" sz="81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110" name="Picture 109">
            <a:extLst>
              <a:ext uri="{FF2B5EF4-FFF2-40B4-BE49-F238E27FC236}">
                <a16:creationId xmlns:a16="http://schemas.microsoft.com/office/drawing/2014/main" id="{83E8115F-25CD-D02C-F8C6-2943E9633D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34650" y="78120"/>
            <a:ext cx="1530523" cy="45915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13_Presentaciones\dash\televentas\ppt_slides\sk_03_m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28674" y="6412853"/>
            <a:ext cx="8900889" cy="19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Oportunidad identificada : el 78 % del descarte son, registros recibidos anteriormente y el 49 % y clientes con el producto activo es el 29 %</a:t>
            </a:r>
            <a:endParaRPr lang="en-US" sz="9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7166751" y="5977979"/>
            <a:ext cx="3430031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24" dirty="0">
                <a:solidFill>
                  <a:srgbClr val="9098B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Ancho del embudo en escala visual (no lineal) — los valores y porcentajes son los reales.</a:t>
            </a:r>
            <a:endParaRPr lang="en-US" sz="624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6429214" y="1832670"/>
            <a:ext cx="3655619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Embudo de la gestión · de la base a la venta (semestre)</a:t>
            </a:r>
            <a:endParaRPr lang="en-US" sz="102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9100909" y="1470720"/>
            <a:ext cx="2348159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64" dirty="0">
                <a:solidFill>
                  <a:srgbClr val="9098B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 venta por cada 66 registros recibidos</a:t>
            </a:r>
            <a:endParaRPr lang="en-US" sz="864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571486" y="209550"/>
            <a:ext cx="3067513" cy="196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60" b="1" dirty="0">
                <a:solidFill>
                  <a:srgbClr val="FFFFFF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CONSOLIDADO DE LAS BASES · 1S 2026</a:t>
            </a:r>
            <a:endParaRPr lang="en-US" sz="126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857229" y="1832670"/>
            <a:ext cx="2376551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Volumen y calidad de base por mes</a:t>
            </a:r>
            <a:endParaRPr lang="en-US" sz="102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742931" y="971550"/>
            <a:ext cx="212162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64" b="1" dirty="0">
                <a:solidFill>
                  <a:srgbClr val="9098B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Registros recibidos (ene–jun)</a:t>
            </a:r>
            <a:endParaRPr lang="en-US" sz="864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742931" y="1470720"/>
            <a:ext cx="159914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64" dirty="0">
                <a:solidFill>
                  <a:srgbClr val="9098B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Fuente: dashboards Power BI</a:t>
            </a:r>
            <a:endParaRPr lang="en-US" sz="864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3528924" y="1470720"/>
            <a:ext cx="1826061" cy="820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64" dirty="0">
                <a:solidFill>
                  <a:srgbClr val="9098B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Solo 40 % apto para gestión</a:t>
            </a:r>
            <a:endParaRPr lang="en-US" sz="864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6763137" y="5587007"/>
            <a:ext cx="1070979" cy="2171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72" dirty="0">
                <a:solidFill>
                  <a:srgbClr val="9098B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Cifra oficial liquidación</a:t>
            </a:r>
            <a:endParaRPr lang="en-US" sz="67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9929564" y="2467124"/>
            <a:ext cx="111830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44" dirty="0">
                <a:solidFill>
                  <a:srgbClr val="9098B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100 % · punto de partida</a:t>
            </a:r>
            <a:endParaRPr lang="en-US" sz="744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9929564" y="3231505"/>
            <a:ext cx="1302028" cy="123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44" b="1" dirty="0">
                <a:solidFill>
                  <a:srgbClr val="00CD9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40 %</a:t>
            </a:r>
            <a:r>
              <a:rPr lang="en-US" sz="744" dirty="0">
                <a:solidFill>
                  <a:srgbClr val="9098B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 del paso anterior</a:t>
            </a:r>
            <a:endParaRPr lang="en-US" sz="744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9929564" y="3995737"/>
            <a:ext cx="1302028" cy="952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44" b="1" dirty="0">
                <a:solidFill>
                  <a:srgbClr val="00CD9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98 %</a:t>
            </a:r>
            <a:r>
              <a:rPr lang="en-US" sz="744" dirty="0">
                <a:solidFill>
                  <a:srgbClr val="9098B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 del paso anterior</a:t>
            </a:r>
            <a:endParaRPr lang="en-US" sz="744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9929564" y="4760119"/>
            <a:ext cx="1431425" cy="67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44" b="1" dirty="0">
                <a:solidFill>
                  <a:srgbClr val="00CD9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42 %</a:t>
            </a:r>
            <a:r>
              <a:rPr lang="en-US" sz="744" dirty="0">
                <a:solidFill>
                  <a:srgbClr val="9098B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 del paso anterior</a:t>
            </a:r>
            <a:endParaRPr lang="en-US" sz="744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9929563" y="5524350"/>
            <a:ext cx="1302027" cy="1906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44" b="1" dirty="0">
                <a:solidFill>
                  <a:srgbClr val="00CD9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9 %</a:t>
            </a:r>
            <a:r>
              <a:rPr lang="en-US" sz="744" dirty="0">
                <a:solidFill>
                  <a:srgbClr val="9098B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 del paso anterior</a:t>
            </a:r>
            <a:endParaRPr lang="en-US" sz="744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6314917" y="971550"/>
            <a:ext cx="150291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64" b="1" dirty="0">
                <a:solidFill>
                  <a:srgbClr val="9098B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Aptos (gestionables)</a:t>
            </a:r>
            <a:endParaRPr lang="en-US" sz="864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6314917" y="1470720"/>
            <a:ext cx="114118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64" dirty="0">
                <a:solidFill>
                  <a:srgbClr val="9098B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De 921.480 recibidos</a:t>
            </a:r>
            <a:endParaRPr lang="en-US" sz="864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6763137" y="2397621"/>
            <a:ext cx="107098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40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Registros recibidos</a:t>
            </a:r>
            <a:endParaRPr lang="en-US" sz="84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6785538" y="3161854"/>
            <a:ext cx="1048579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40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Aptos para gestión</a:t>
            </a:r>
            <a:endParaRPr lang="en-US" sz="84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6785538" y="4058394"/>
            <a:ext cx="1048579" cy="122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72" dirty="0">
                <a:solidFill>
                  <a:srgbClr val="9098B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Registros marcados</a:t>
            </a:r>
            <a:endParaRPr lang="en-US" sz="67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6785538" y="4822626"/>
            <a:ext cx="1048578" cy="2171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72" dirty="0">
                <a:solidFill>
                  <a:srgbClr val="9098B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Contacto efectivo</a:t>
            </a:r>
            <a:endParaRPr lang="en-US" sz="67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3528924" y="971550"/>
            <a:ext cx="1318022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64" b="1" dirty="0">
                <a:solidFill>
                  <a:srgbClr val="9098B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Rechazo promedio</a:t>
            </a:r>
            <a:endParaRPr lang="en-US" sz="864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6646785" y="3294013"/>
            <a:ext cx="1187332" cy="122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72" dirty="0">
                <a:solidFill>
                  <a:srgbClr val="9098B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Tras depuración</a:t>
            </a:r>
            <a:endParaRPr lang="en-US" sz="67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6" name="Text 23"/>
          <p:cNvSpPr/>
          <p:nvPr/>
        </p:nvSpPr>
        <p:spPr>
          <a:xfrm>
            <a:off x="7129442" y="3926235"/>
            <a:ext cx="704675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40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Gestionados</a:t>
            </a:r>
            <a:endParaRPr lang="en-US" sz="84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7" name="Text 24"/>
          <p:cNvSpPr/>
          <p:nvPr/>
        </p:nvSpPr>
        <p:spPr>
          <a:xfrm>
            <a:off x="7113351" y="4690467"/>
            <a:ext cx="720766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40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Contactados</a:t>
            </a:r>
            <a:endParaRPr lang="en-US" sz="84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8" name="Text 25"/>
          <p:cNvSpPr/>
          <p:nvPr/>
        </p:nvSpPr>
        <p:spPr>
          <a:xfrm>
            <a:off x="2233619" y="2066055"/>
            <a:ext cx="1162851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Rechazados</a:t>
            </a:r>
            <a:endParaRPr lang="en-US" sz="888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9" name="Text 26"/>
          <p:cNvSpPr/>
          <p:nvPr/>
        </p:nvSpPr>
        <p:spPr>
          <a:xfrm>
            <a:off x="7381059" y="2529780"/>
            <a:ext cx="45305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72" dirty="0">
                <a:solidFill>
                  <a:srgbClr val="9098B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Base Vanti</a:t>
            </a:r>
            <a:endParaRPr lang="en-US" sz="67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0" name="Text 27"/>
          <p:cNvSpPr/>
          <p:nvPr/>
        </p:nvSpPr>
        <p:spPr>
          <a:xfrm>
            <a:off x="1265284" y="2066055"/>
            <a:ext cx="1002204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Recibidos</a:t>
            </a:r>
            <a:endParaRPr lang="en-US" sz="888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1" name="Text 28"/>
          <p:cNvSpPr/>
          <p:nvPr/>
        </p:nvSpPr>
        <p:spPr>
          <a:xfrm>
            <a:off x="3365633" y="2066055"/>
            <a:ext cx="1058768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% Rechazo</a:t>
            </a:r>
            <a:endParaRPr lang="en-US" sz="888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2" name="Text 29"/>
          <p:cNvSpPr/>
          <p:nvPr/>
        </p:nvSpPr>
        <p:spPr>
          <a:xfrm>
            <a:off x="9100910" y="971550"/>
            <a:ext cx="686376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64" b="1" dirty="0">
                <a:solidFill>
                  <a:srgbClr val="9098B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Ventas 1S</a:t>
            </a:r>
            <a:endParaRPr lang="en-US" sz="864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3" name="Text 30"/>
          <p:cNvSpPr/>
          <p:nvPr/>
        </p:nvSpPr>
        <p:spPr>
          <a:xfrm>
            <a:off x="1265284" y="2294655"/>
            <a:ext cx="1002204" cy="539204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40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202.777</a:t>
            </a:r>
            <a:endParaRPr lang="en-US" sz="84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4" name="Text 31"/>
          <p:cNvSpPr/>
          <p:nvPr/>
        </p:nvSpPr>
        <p:spPr>
          <a:xfrm>
            <a:off x="4402421" y="2294655"/>
            <a:ext cx="754642" cy="539204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40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103.536</a:t>
            </a:r>
            <a:endParaRPr lang="en-US" sz="84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5" name="Text 32"/>
          <p:cNvSpPr/>
          <p:nvPr/>
        </p:nvSpPr>
        <p:spPr>
          <a:xfrm>
            <a:off x="1265284" y="3383630"/>
            <a:ext cx="1002204" cy="549771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40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136.044</a:t>
            </a:r>
            <a:endParaRPr lang="en-US" sz="84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6" name="Text 33"/>
          <p:cNvSpPr/>
          <p:nvPr/>
        </p:nvSpPr>
        <p:spPr>
          <a:xfrm>
            <a:off x="1265284" y="3933401"/>
            <a:ext cx="1002204" cy="549771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40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154.848</a:t>
            </a:r>
            <a:endParaRPr lang="en-US" sz="84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7" name="Text 34"/>
          <p:cNvSpPr/>
          <p:nvPr/>
        </p:nvSpPr>
        <p:spPr>
          <a:xfrm>
            <a:off x="2233619" y="3933401"/>
            <a:ext cx="1162851" cy="549771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40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114.123</a:t>
            </a:r>
            <a:endParaRPr lang="en-US" sz="84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8" name="Text 35"/>
          <p:cNvSpPr/>
          <p:nvPr/>
        </p:nvSpPr>
        <p:spPr>
          <a:xfrm>
            <a:off x="1265284" y="4483172"/>
            <a:ext cx="1002204" cy="549771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40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156.200</a:t>
            </a:r>
            <a:endParaRPr lang="en-US" sz="84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9" name="Text 36"/>
          <p:cNvSpPr/>
          <p:nvPr/>
        </p:nvSpPr>
        <p:spPr>
          <a:xfrm>
            <a:off x="2233619" y="4483172"/>
            <a:ext cx="1162851" cy="549771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40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116.691</a:t>
            </a:r>
            <a:endParaRPr lang="en-US" sz="84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0" name="Text 37"/>
          <p:cNvSpPr/>
          <p:nvPr/>
        </p:nvSpPr>
        <p:spPr>
          <a:xfrm>
            <a:off x="1265284" y="5032944"/>
            <a:ext cx="1002204" cy="549771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40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175.118</a:t>
            </a:r>
            <a:endParaRPr lang="en-US" sz="84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1" name="Text 38"/>
          <p:cNvSpPr/>
          <p:nvPr/>
        </p:nvSpPr>
        <p:spPr>
          <a:xfrm>
            <a:off x="2233619" y="5032944"/>
            <a:ext cx="1162851" cy="549771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40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109.130</a:t>
            </a:r>
            <a:endParaRPr lang="en-US" sz="84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2" name="Text 39"/>
          <p:cNvSpPr/>
          <p:nvPr/>
        </p:nvSpPr>
        <p:spPr>
          <a:xfrm>
            <a:off x="1265284" y="5582715"/>
            <a:ext cx="1002204" cy="4762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40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921.480</a:t>
            </a:r>
            <a:endParaRPr lang="en-US" sz="84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3" name="Text 40"/>
          <p:cNvSpPr/>
          <p:nvPr/>
        </p:nvSpPr>
        <p:spPr>
          <a:xfrm>
            <a:off x="2233619" y="5582715"/>
            <a:ext cx="1162851" cy="4762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40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548.368</a:t>
            </a:r>
            <a:endParaRPr lang="en-US" sz="84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4" name="Text 41"/>
          <p:cNvSpPr/>
          <p:nvPr/>
        </p:nvSpPr>
        <p:spPr>
          <a:xfrm>
            <a:off x="4402421" y="5582715"/>
            <a:ext cx="754642" cy="4762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40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373.112</a:t>
            </a:r>
            <a:endParaRPr lang="en-US" sz="84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5" name="Text 42"/>
          <p:cNvSpPr/>
          <p:nvPr/>
        </p:nvSpPr>
        <p:spPr>
          <a:xfrm>
            <a:off x="742931" y="1114425"/>
            <a:ext cx="1161688" cy="3531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80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921.480</a:t>
            </a:r>
            <a:endParaRPr lang="en-US" sz="228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6" name="Text 43"/>
          <p:cNvSpPr/>
          <p:nvPr/>
        </p:nvSpPr>
        <p:spPr>
          <a:xfrm>
            <a:off x="6314917" y="1114425"/>
            <a:ext cx="1113731" cy="3531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80" b="1" dirty="0">
                <a:solidFill>
                  <a:srgbClr val="00CD9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373.112</a:t>
            </a:r>
            <a:endParaRPr lang="en-US" sz="228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7" name="Text 44"/>
          <p:cNvSpPr/>
          <p:nvPr/>
        </p:nvSpPr>
        <p:spPr>
          <a:xfrm>
            <a:off x="8643958" y="2452836"/>
            <a:ext cx="475616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12" b="1" dirty="0">
                <a:solidFill>
                  <a:srgbClr val="FFFFFF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921.480</a:t>
            </a:r>
            <a:endParaRPr lang="en-US" sz="91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8" name="Text 45"/>
          <p:cNvSpPr/>
          <p:nvPr/>
        </p:nvSpPr>
        <p:spPr>
          <a:xfrm>
            <a:off x="8653576" y="3217218"/>
            <a:ext cx="456528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12" b="1" dirty="0">
                <a:solidFill>
                  <a:srgbClr val="FFFFFF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373.112</a:t>
            </a:r>
            <a:endParaRPr lang="en-US" sz="91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9" name="Text 46"/>
          <p:cNvSpPr/>
          <p:nvPr/>
        </p:nvSpPr>
        <p:spPr>
          <a:xfrm>
            <a:off x="8639856" y="3981450"/>
            <a:ext cx="48382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12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365.090</a:t>
            </a:r>
            <a:endParaRPr lang="en-US" sz="91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0" name="Text 47"/>
          <p:cNvSpPr/>
          <p:nvPr/>
        </p:nvSpPr>
        <p:spPr>
          <a:xfrm>
            <a:off x="8646955" y="4745831"/>
            <a:ext cx="469622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12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154.838</a:t>
            </a:r>
            <a:endParaRPr lang="en-US" sz="91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1" name="Text 48"/>
          <p:cNvSpPr/>
          <p:nvPr/>
        </p:nvSpPr>
        <p:spPr>
          <a:xfrm>
            <a:off x="5134329" y="2066055"/>
            <a:ext cx="780548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Ventas</a:t>
            </a:r>
            <a:endParaRPr lang="en-US" sz="888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2" name="Text 49"/>
          <p:cNvSpPr/>
          <p:nvPr/>
        </p:nvSpPr>
        <p:spPr>
          <a:xfrm>
            <a:off x="2233619" y="2294655"/>
            <a:ext cx="1162851" cy="539204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40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99.241</a:t>
            </a:r>
            <a:endParaRPr lang="en-US" sz="84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3" name="Text 50"/>
          <p:cNvSpPr/>
          <p:nvPr/>
        </p:nvSpPr>
        <p:spPr>
          <a:xfrm>
            <a:off x="1265284" y="2833859"/>
            <a:ext cx="1002204" cy="549771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40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96.493</a:t>
            </a:r>
            <a:endParaRPr lang="en-US" sz="84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4" name="Text 51"/>
          <p:cNvSpPr/>
          <p:nvPr/>
        </p:nvSpPr>
        <p:spPr>
          <a:xfrm>
            <a:off x="2233619" y="2833859"/>
            <a:ext cx="1162851" cy="549771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40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48.185</a:t>
            </a:r>
            <a:endParaRPr lang="en-US" sz="84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5" name="Text 52"/>
          <p:cNvSpPr/>
          <p:nvPr/>
        </p:nvSpPr>
        <p:spPr>
          <a:xfrm>
            <a:off x="4402421" y="2833859"/>
            <a:ext cx="754642" cy="549771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40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48.308</a:t>
            </a:r>
            <a:endParaRPr lang="en-US" sz="84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6" name="Text 53"/>
          <p:cNvSpPr/>
          <p:nvPr/>
        </p:nvSpPr>
        <p:spPr>
          <a:xfrm>
            <a:off x="2233619" y="3383630"/>
            <a:ext cx="1162851" cy="549771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40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60.998</a:t>
            </a:r>
            <a:endParaRPr lang="en-US" sz="84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7" name="Text 54"/>
          <p:cNvSpPr/>
          <p:nvPr/>
        </p:nvSpPr>
        <p:spPr>
          <a:xfrm>
            <a:off x="4402421" y="3383630"/>
            <a:ext cx="754642" cy="549771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40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75.046</a:t>
            </a:r>
            <a:endParaRPr lang="en-US" sz="84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8" name="Text 55"/>
          <p:cNvSpPr/>
          <p:nvPr/>
        </p:nvSpPr>
        <p:spPr>
          <a:xfrm>
            <a:off x="4402421" y="3933401"/>
            <a:ext cx="754642" cy="549771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40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40.725</a:t>
            </a:r>
            <a:endParaRPr lang="en-US" sz="84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9" name="Text 56"/>
          <p:cNvSpPr/>
          <p:nvPr/>
        </p:nvSpPr>
        <p:spPr>
          <a:xfrm>
            <a:off x="4402421" y="4483172"/>
            <a:ext cx="754642" cy="549771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40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39.509</a:t>
            </a:r>
            <a:endParaRPr lang="en-US" sz="84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0" name="Text 57"/>
          <p:cNvSpPr/>
          <p:nvPr/>
        </p:nvSpPr>
        <p:spPr>
          <a:xfrm>
            <a:off x="4402421" y="5032944"/>
            <a:ext cx="754642" cy="549771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40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65.988</a:t>
            </a:r>
            <a:endParaRPr lang="en-US" sz="84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1" name="Text 58"/>
          <p:cNvSpPr/>
          <p:nvPr/>
        </p:nvSpPr>
        <p:spPr>
          <a:xfrm>
            <a:off x="5134329" y="5582715"/>
            <a:ext cx="780548" cy="4762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40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13.917</a:t>
            </a:r>
            <a:endParaRPr lang="en-US" sz="84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2" name="Text 59"/>
          <p:cNvSpPr/>
          <p:nvPr/>
        </p:nvSpPr>
        <p:spPr>
          <a:xfrm>
            <a:off x="9100910" y="1114425"/>
            <a:ext cx="941937" cy="3531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80" b="1" dirty="0">
                <a:solidFill>
                  <a:srgbClr val="00CD9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13.917</a:t>
            </a:r>
            <a:endParaRPr lang="en-US" sz="228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3" name="Text 60"/>
          <p:cNvSpPr/>
          <p:nvPr/>
        </p:nvSpPr>
        <p:spPr>
          <a:xfrm>
            <a:off x="7442110" y="5454848"/>
            <a:ext cx="392007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840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Ventas</a:t>
            </a:r>
            <a:endParaRPr lang="en-US" sz="84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4" name="Text 61"/>
          <p:cNvSpPr/>
          <p:nvPr/>
        </p:nvSpPr>
        <p:spPr>
          <a:xfrm>
            <a:off x="8687967" y="5510064"/>
            <a:ext cx="387748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12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13.917</a:t>
            </a:r>
            <a:endParaRPr lang="en-US" sz="91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5" name="Text 62"/>
          <p:cNvSpPr/>
          <p:nvPr/>
        </p:nvSpPr>
        <p:spPr>
          <a:xfrm>
            <a:off x="4402421" y="2066055"/>
            <a:ext cx="754642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Aptos</a:t>
            </a:r>
            <a:endParaRPr lang="en-US" sz="888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6" name="Text 63"/>
          <p:cNvSpPr/>
          <p:nvPr/>
        </p:nvSpPr>
        <p:spPr>
          <a:xfrm>
            <a:off x="5134329" y="2294655"/>
            <a:ext cx="780548" cy="539204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40" b="1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2.245</a:t>
            </a:r>
            <a:endParaRPr lang="en-US" sz="84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7" name="Text 64"/>
          <p:cNvSpPr/>
          <p:nvPr/>
        </p:nvSpPr>
        <p:spPr>
          <a:xfrm>
            <a:off x="5134329" y="2833859"/>
            <a:ext cx="780548" cy="549771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40" b="1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2.374</a:t>
            </a:r>
            <a:endParaRPr lang="en-US" sz="84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8" name="Text 65"/>
          <p:cNvSpPr/>
          <p:nvPr/>
        </p:nvSpPr>
        <p:spPr>
          <a:xfrm>
            <a:off x="5134329" y="3383630"/>
            <a:ext cx="780548" cy="549771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40" b="1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2.431</a:t>
            </a:r>
            <a:endParaRPr lang="en-US" sz="84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9" name="Text 66"/>
          <p:cNvSpPr/>
          <p:nvPr/>
        </p:nvSpPr>
        <p:spPr>
          <a:xfrm>
            <a:off x="5134329" y="3933401"/>
            <a:ext cx="780548" cy="549771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40" b="1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2.367</a:t>
            </a:r>
            <a:endParaRPr lang="en-US" sz="84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70" name="Text 67"/>
          <p:cNvSpPr/>
          <p:nvPr/>
        </p:nvSpPr>
        <p:spPr>
          <a:xfrm>
            <a:off x="5134329" y="4483172"/>
            <a:ext cx="780548" cy="549771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40" b="1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2.186</a:t>
            </a:r>
            <a:endParaRPr lang="en-US" sz="84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71" name="Text 68"/>
          <p:cNvSpPr/>
          <p:nvPr/>
        </p:nvSpPr>
        <p:spPr>
          <a:xfrm>
            <a:off x="5134329" y="5032944"/>
            <a:ext cx="780548" cy="549771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40" b="1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2.314</a:t>
            </a:r>
            <a:endParaRPr lang="en-US" sz="84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72" name="Text 69"/>
          <p:cNvSpPr/>
          <p:nvPr/>
        </p:nvSpPr>
        <p:spPr>
          <a:xfrm>
            <a:off x="704832" y="5582715"/>
            <a:ext cx="607332" cy="4762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840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Total</a:t>
            </a:r>
            <a:endParaRPr lang="en-US" sz="84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73" name="Text 70"/>
          <p:cNvSpPr/>
          <p:nvPr/>
        </p:nvSpPr>
        <p:spPr>
          <a:xfrm>
            <a:off x="3305251" y="2268777"/>
            <a:ext cx="1058768" cy="539204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b="1" dirty="0">
                <a:solidFill>
                  <a:srgbClr val="00806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49 %</a:t>
            </a:r>
            <a:endParaRPr lang="en-US" sz="81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74" name="Text 71"/>
          <p:cNvSpPr/>
          <p:nvPr/>
        </p:nvSpPr>
        <p:spPr>
          <a:xfrm>
            <a:off x="3305251" y="2807981"/>
            <a:ext cx="1058768" cy="549771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b="1" dirty="0">
                <a:solidFill>
                  <a:srgbClr val="00806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50 %</a:t>
            </a:r>
            <a:endParaRPr lang="en-US" sz="81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75" name="Text 72"/>
          <p:cNvSpPr/>
          <p:nvPr/>
        </p:nvSpPr>
        <p:spPr>
          <a:xfrm>
            <a:off x="3305251" y="3357752"/>
            <a:ext cx="1058768" cy="549771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b="1" dirty="0">
                <a:solidFill>
                  <a:srgbClr val="00806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45 %</a:t>
            </a:r>
            <a:endParaRPr lang="en-US" sz="81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76" name="Text 73"/>
          <p:cNvSpPr/>
          <p:nvPr/>
        </p:nvSpPr>
        <p:spPr>
          <a:xfrm>
            <a:off x="3305251" y="3907523"/>
            <a:ext cx="1058768" cy="549771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b="1" dirty="0">
                <a:solidFill>
                  <a:srgbClr val="C44A1A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74 %</a:t>
            </a:r>
            <a:endParaRPr lang="en-US" sz="81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77" name="Text 74"/>
          <p:cNvSpPr/>
          <p:nvPr/>
        </p:nvSpPr>
        <p:spPr>
          <a:xfrm>
            <a:off x="3305251" y="4457294"/>
            <a:ext cx="1058768" cy="549771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b="1" dirty="0">
                <a:solidFill>
                  <a:srgbClr val="C44A1A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75 %</a:t>
            </a:r>
            <a:endParaRPr lang="en-US" sz="81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78" name="Text 75"/>
          <p:cNvSpPr/>
          <p:nvPr/>
        </p:nvSpPr>
        <p:spPr>
          <a:xfrm>
            <a:off x="3305251" y="5007066"/>
            <a:ext cx="1058768" cy="549771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b="1" dirty="0">
                <a:solidFill>
                  <a:srgbClr val="8A620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62 %</a:t>
            </a:r>
            <a:endParaRPr lang="en-US" sz="81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79" name="Text 76"/>
          <p:cNvSpPr/>
          <p:nvPr/>
        </p:nvSpPr>
        <p:spPr>
          <a:xfrm>
            <a:off x="3365633" y="5582715"/>
            <a:ext cx="1058768" cy="4762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40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60 %</a:t>
            </a:r>
            <a:endParaRPr lang="en-US" sz="84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0" name="Text 77"/>
          <p:cNvSpPr/>
          <p:nvPr/>
        </p:nvSpPr>
        <p:spPr>
          <a:xfrm>
            <a:off x="3528924" y="1114425"/>
            <a:ext cx="715402" cy="3531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80" b="1" dirty="0">
                <a:solidFill>
                  <a:srgbClr val="FF6B35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60 %</a:t>
            </a:r>
            <a:endParaRPr lang="en-US" sz="228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1" name="Text 78"/>
          <p:cNvSpPr/>
          <p:nvPr/>
        </p:nvSpPr>
        <p:spPr>
          <a:xfrm>
            <a:off x="704832" y="2066055"/>
            <a:ext cx="607332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marL="0" indent="0" algn="l">
              <a:buNone/>
            </a:pPr>
            <a:r>
              <a:rPr lang="en-US" sz="888" b="1" dirty="0">
                <a:solidFill>
                  <a:srgbClr val="FFFFFF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Mes</a:t>
            </a:r>
            <a:endParaRPr lang="en-US" sz="888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2" name="Text 79"/>
          <p:cNvSpPr/>
          <p:nvPr/>
        </p:nvSpPr>
        <p:spPr>
          <a:xfrm>
            <a:off x="704832" y="2294655"/>
            <a:ext cx="607332" cy="539204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840" b="1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Ene</a:t>
            </a:r>
            <a:endParaRPr lang="en-US" sz="84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3" name="Text 80"/>
          <p:cNvSpPr/>
          <p:nvPr/>
        </p:nvSpPr>
        <p:spPr>
          <a:xfrm>
            <a:off x="704832" y="2833859"/>
            <a:ext cx="607332" cy="549771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840" b="1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Feb</a:t>
            </a:r>
            <a:endParaRPr lang="en-US" sz="84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4" name="Text 81"/>
          <p:cNvSpPr/>
          <p:nvPr/>
        </p:nvSpPr>
        <p:spPr>
          <a:xfrm>
            <a:off x="704832" y="3383630"/>
            <a:ext cx="607332" cy="549771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840" b="1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Mar</a:t>
            </a:r>
            <a:endParaRPr lang="en-US" sz="84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5" name="Text 82"/>
          <p:cNvSpPr/>
          <p:nvPr/>
        </p:nvSpPr>
        <p:spPr>
          <a:xfrm>
            <a:off x="704832" y="3933401"/>
            <a:ext cx="607332" cy="549771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840" b="1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Abr</a:t>
            </a:r>
            <a:endParaRPr lang="en-US" sz="84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6" name="Text 83"/>
          <p:cNvSpPr/>
          <p:nvPr/>
        </p:nvSpPr>
        <p:spPr>
          <a:xfrm>
            <a:off x="704832" y="4483172"/>
            <a:ext cx="607332" cy="549771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840" b="1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May</a:t>
            </a:r>
            <a:endParaRPr lang="en-US" sz="84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7" name="Text 84"/>
          <p:cNvSpPr/>
          <p:nvPr/>
        </p:nvSpPr>
        <p:spPr>
          <a:xfrm>
            <a:off x="704832" y="5032944"/>
            <a:ext cx="607332" cy="549771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840" b="1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Jun</a:t>
            </a:r>
            <a:endParaRPr lang="en-US" sz="84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89" name="Picture 88">
            <a:extLst>
              <a:ext uri="{FF2B5EF4-FFF2-40B4-BE49-F238E27FC236}">
                <a16:creationId xmlns:a16="http://schemas.microsoft.com/office/drawing/2014/main" id="{F6C20AF5-B6DF-7F6D-0E76-8714D9CBC3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34650" y="78120"/>
            <a:ext cx="1530523" cy="459157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13_Presentaciones\dash\televentas\ppt_slides\sk_04_m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28673" y="6368504"/>
            <a:ext cx="10592593" cy="2772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¿Por qué la gestión no llega al 100 %? El semestre cerró en 97,9 %: la base de junio no llegó a tiempo — ingresó sobre el cierre del mes y ~8.000 registros quedaron sin tiempo de marcación.</a:t>
            </a:r>
            <a:endParaRPr lang="en-US" sz="9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704832" y="3658493"/>
            <a:ext cx="5395486" cy="196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9098B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* Campañas puntuales solo de enero (no recurrentes). Base apta = registros que quedaron tras la depuración; el total (373.112) es la cifra oficial del semestre e incluye Microseguro.</a:t>
            </a:r>
            <a:endParaRPr lang="en-US" sz="6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7901796" y="5882729"/>
            <a:ext cx="3585067" cy="196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48" dirty="0">
                <a:solidFill>
                  <a:srgbClr val="9098B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548.368 registros descartados (60 % de la base recibida). </a:t>
            </a:r>
          </a:p>
          <a:p>
            <a:pPr marL="0" indent="0" algn="r">
              <a:buNone/>
            </a:pPr>
            <a:r>
              <a:rPr lang="en-US" sz="648" dirty="0">
                <a:solidFill>
                  <a:srgbClr val="9098B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El detalle mensual del rechazo está en la slide anterior (Consolidado de las Bases).</a:t>
            </a:r>
            <a:endParaRPr lang="en-US" sz="648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6286342" y="1262954"/>
            <a:ext cx="2814525" cy="196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9098B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Conversión más alta del portafolio · 2,9× el promedio del canal</a:t>
            </a:r>
            <a:endParaRPr lang="en-US" sz="7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723882" y="1262955"/>
            <a:ext cx="2571768" cy="1279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00" dirty="0">
                <a:solidFill>
                  <a:srgbClr val="9098B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50 % de las ventas del semestre · 19,6 % de conversión</a:t>
            </a:r>
            <a:endParaRPr lang="en-US" sz="7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3798522" y="5987504"/>
            <a:ext cx="21068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76" dirty="0">
                <a:solidFill>
                  <a:srgbClr val="9098B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Cada mes: aptos → gestión → contacto → ventas</a:t>
            </a:r>
            <a:endParaRPr lang="en-US" sz="57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6286343" y="1567755"/>
            <a:ext cx="2452215" cy="15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40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Tipificación de rechazo (semestre)</a:t>
            </a:r>
            <a:endParaRPr lang="en-US" sz="84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857229" y="1586805"/>
            <a:ext cx="2524326" cy="155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40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Rendimiento por campaña (ene–jun)</a:t>
            </a:r>
            <a:endParaRPr lang="en-US" sz="84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6381575" y="2198787"/>
            <a:ext cx="133348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72" dirty="0">
                <a:solidFill>
                  <a:srgbClr val="9098B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Registro enviado anteriormente</a:t>
            </a:r>
            <a:endParaRPr lang="en-US" sz="67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857229" y="3944243"/>
            <a:ext cx="1626431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40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Tipificación de aptos por mes</a:t>
            </a:r>
            <a:endParaRPr lang="en-US" sz="84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6286343" y="2725043"/>
            <a:ext cx="142871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72" dirty="0">
                <a:solidFill>
                  <a:srgbClr val="9098B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Producto ya activo (CP / MS)</a:t>
            </a:r>
            <a:endParaRPr lang="en-US" sz="67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6558575" y="3251299"/>
            <a:ext cx="115648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72" dirty="0">
                <a:solidFill>
                  <a:srgbClr val="9098B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Dirección repetida/errónea</a:t>
            </a:r>
            <a:endParaRPr lang="en-US" sz="67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6286344" y="3777555"/>
            <a:ext cx="1428714" cy="1962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72" dirty="0">
                <a:solidFill>
                  <a:srgbClr val="9098B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Contrato / cédula repetida</a:t>
            </a:r>
            <a:endParaRPr lang="en-US" sz="67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816974" y="3227825"/>
            <a:ext cx="1563396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816" b="1" dirty="0">
                <a:solidFill>
                  <a:srgbClr val="C44A1A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Volunt. Cancelaciones*</a:t>
            </a:r>
            <a:endParaRPr lang="en-US" sz="81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571486" y="209550"/>
            <a:ext cx="2270382" cy="196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60" b="1" dirty="0">
                <a:solidFill>
                  <a:srgbClr val="FFFFFF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DESEMPEÑO POR CAMPAÑA</a:t>
            </a:r>
            <a:endParaRPr lang="en-US" sz="126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816974" y="2980175"/>
            <a:ext cx="1563396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816" b="1" dirty="0">
                <a:solidFill>
                  <a:srgbClr val="C44A1A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CP Clientes Satisf.*</a:t>
            </a:r>
            <a:endParaRPr lang="en-US" sz="81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816974" y="2732525"/>
            <a:ext cx="1563396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816" b="1" dirty="0">
                <a:solidFill>
                  <a:srgbClr val="C44A1A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Masiva Voluntarios</a:t>
            </a:r>
            <a:endParaRPr lang="en-US" sz="81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7033730" y="4830217"/>
            <a:ext cx="6813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72" dirty="0">
                <a:solidFill>
                  <a:srgbClr val="9098B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Teléfono errado</a:t>
            </a:r>
            <a:endParaRPr lang="en-US" sz="67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4602548" y="1791616"/>
            <a:ext cx="1302804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Conv./contacto</a:t>
            </a:r>
            <a:endParaRPr lang="en-US" sz="888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816974" y="1994338"/>
            <a:ext cx="1563396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816" b="1" dirty="0">
                <a:solidFill>
                  <a:srgbClr val="00806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Bienvenidas CP</a:t>
            </a:r>
            <a:endParaRPr lang="en-US" sz="81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723882" y="952500"/>
            <a:ext cx="890509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9098B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Bienvenidas CP</a:t>
            </a:r>
            <a:endParaRPr lang="en-US" sz="8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723882" y="1076324"/>
            <a:ext cx="1343043" cy="2069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0CD9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6.912 </a:t>
            </a:r>
            <a:r>
              <a:rPr lang="en-US" sz="700" dirty="0">
                <a:solidFill>
                  <a:srgbClr val="9098B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ventas</a:t>
            </a:r>
            <a:endParaRPr lang="en-US" sz="105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816974" y="2237225"/>
            <a:ext cx="1563396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816" b="1" dirty="0">
                <a:solidFill>
                  <a:srgbClr val="00806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Autogestión</a:t>
            </a:r>
            <a:endParaRPr lang="en-US" sz="81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6" name="Text 23"/>
          <p:cNvSpPr/>
          <p:nvPr/>
        </p:nvSpPr>
        <p:spPr>
          <a:xfrm>
            <a:off x="6286343" y="952500"/>
            <a:ext cx="76935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9098B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Autogestión</a:t>
            </a:r>
            <a:endParaRPr lang="en-US" sz="8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7" name="Text 24"/>
          <p:cNvSpPr/>
          <p:nvPr/>
        </p:nvSpPr>
        <p:spPr>
          <a:xfrm>
            <a:off x="7160248" y="4303961"/>
            <a:ext cx="554809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72" dirty="0">
                <a:solidFill>
                  <a:srgbClr val="9098B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Supera edad</a:t>
            </a:r>
            <a:endParaRPr lang="en-US" sz="67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8" name="Text 25"/>
          <p:cNvSpPr/>
          <p:nvPr/>
        </p:nvSpPr>
        <p:spPr>
          <a:xfrm>
            <a:off x="3704357" y="1791616"/>
            <a:ext cx="936137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Contactab.</a:t>
            </a:r>
            <a:endParaRPr lang="en-US" sz="888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9" name="Text 26"/>
          <p:cNvSpPr/>
          <p:nvPr/>
        </p:nvSpPr>
        <p:spPr>
          <a:xfrm>
            <a:off x="2197962" y="1791616"/>
            <a:ext cx="849069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Base apta</a:t>
            </a:r>
            <a:endParaRPr lang="en-US" sz="888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0" name="Text 27"/>
          <p:cNvSpPr/>
          <p:nvPr/>
        </p:nvSpPr>
        <p:spPr>
          <a:xfrm>
            <a:off x="816974" y="2484875"/>
            <a:ext cx="1563396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816" b="1" dirty="0">
                <a:solidFill>
                  <a:srgbClr val="8A620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CP Stock</a:t>
            </a:r>
            <a:endParaRPr lang="en-US" sz="81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1" name="Text 28"/>
          <p:cNvSpPr/>
          <p:nvPr/>
        </p:nvSpPr>
        <p:spPr>
          <a:xfrm>
            <a:off x="3050281" y="4130003"/>
            <a:ext cx="854127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Contacto</a:t>
            </a:r>
            <a:endParaRPr lang="en-US" sz="888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2" name="Text 29"/>
          <p:cNvSpPr/>
          <p:nvPr/>
        </p:nvSpPr>
        <p:spPr>
          <a:xfrm>
            <a:off x="704832" y="1791616"/>
            <a:ext cx="1563396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marL="0" indent="0" algn="l">
              <a:buNone/>
            </a:pPr>
            <a:r>
              <a:rPr lang="en-US" sz="888" b="1" dirty="0">
                <a:solidFill>
                  <a:srgbClr val="FFFFFF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Campaña</a:t>
            </a:r>
            <a:endParaRPr lang="en-US" sz="888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3" name="Text 30"/>
          <p:cNvSpPr/>
          <p:nvPr/>
        </p:nvSpPr>
        <p:spPr>
          <a:xfrm>
            <a:off x="2197962" y="2510753"/>
            <a:ext cx="849069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158.941</a:t>
            </a:r>
            <a:endParaRPr lang="en-US" sz="72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4" name="Text 31"/>
          <p:cNvSpPr/>
          <p:nvPr/>
        </p:nvSpPr>
        <p:spPr>
          <a:xfrm>
            <a:off x="2197962" y="2758403"/>
            <a:ext cx="849069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119.828</a:t>
            </a:r>
            <a:endParaRPr lang="en-US" sz="72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5" name="Text 32"/>
          <p:cNvSpPr/>
          <p:nvPr/>
        </p:nvSpPr>
        <p:spPr>
          <a:xfrm>
            <a:off x="2189336" y="3449597"/>
            <a:ext cx="849069" cy="18573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373.112</a:t>
            </a:r>
            <a:endParaRPr lang="en-US" sz="72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6" name="Text 33"/>
          <p:cNvSpPr/>
          <p:nvPr/>
        </p:nvSpPr>
        <p:spPr>
          <a:xfrm>
            <a:off x="1665010" y="4130003"/>
            <a:ext cx="731956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Gestión</a:t>
            </a:r>
            <a:endParaRPr lang="en-US" sz="888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7" name="Text 34"/>
          <p:cNvSpPr/>
          <p:nvPr/>
        </p:nvSpPr>
        <p:spPr>
          <a:xfrm>
            <a:off x="2376620" y="4130003"/>
            <a:ext cx="698539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% Gest.</a:t>
            </a:r>
            <a:endParaRPr lang="en-US" sz="888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8" name="Text 35"/>
          <p:cNvSpPr/>
          <p:nvPr/>
        </p:nvSpPr>
        <p:spPr>
          <a:xfrm>
            <a:off x="3884781" y="4130003"/>
            <a:ext cx="673859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% Ctto.</a:t>
            </a:r>
            <a:endParaRPr lang="en-US" sz="888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9" name="Text 36"/>
          <p:cNvSpPr/>
          <p:nvPr/>
        </p:nvSpPr>
        <p:spPr>
          <a:xfrm>
            <a:off x="5179375" y="4130003"/>
            <a:ext cx="725977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% Conv.</a:t>
            </a:r>
            <a:endParaRPr lang="en-US" sz="888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0" name="Text 37"/>
          <p:cNvSpPr/>
          <p:nvPr/>
        </p:nvSpPr>
        <p:spPr>
          <a:xfrm>
            <a:off x="1108429" y="4301453"/>
            <a:ext cx="577900" cy="232172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60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103.536</a:t>
            </a:r>
            <a:endParaRPr lang="en-US" sz="66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1" name="Text 38"/>
          <p:cNvSpPr/>
          <p:nvPr/>
        </p:nvSpPr>
        <p:spPr>
          <a:xfrm>
            <a:off x="1665010" y="4301453"/>
            <a:ext cx="731956" cy="232172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60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103.531</a:t>
            </a:r>
            <a:endParaRPr lang="en-US" sz="66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2" name="Text 39"/>
          <p:cNvSpPr/>
          <p:nvPr/>
        </p:nvSpPr>
        <p:spPr>
          <a:xfrm>
            <a:off x="1108429" y="5721274"/>
            <a:ext cx="577900" cy="232916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24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373.112</a:t>
            </a:r>
            <a:endParaRPr lang="en-US" sz="624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3" name="Text 40"/>
          <p:cNvSpPr/>
          <p:nvPr/>
        </p:nvSpPr>
        <p:spPr>
          <a:xfrm>
            <a:off x="1665010" y="5721274"/>
            <a:ext cx="731956" cy="232916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24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365.090</a:t>
            </a:r>
            <a:endParaRPr lang="en-US" sz="624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4" name="Text 41"/>
          <p:cNvSpPr/>
          <p:nvPr/>
        </p:nvSpPr>
        <p:spPr>
          <a:xfrm>
            <a:off x="3050281" y="5721274"/>
            <a:ext cx="854127" cy="232916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24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154.838</a:t>
            </a:r>
            <a:endParaRPr lang="en-US" sz="624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5" name="Text 42"/>
          <p:cNvSpPr/>
          <p:nvPr/>
        </p:nvSpPr>
        <p:spPr>
          <a:xfrm>
            <a:off x="3026493" y="1791616"/>
            <a:ext cx="705130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Ventas</a:t>
            </a:r>
            <a:endParaRPr lang="en-US" sz="888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6" name="Text 43"/>
          <p:cNvSpPr/>
          <p:nvPr/>
        </p:nvSpPr>
        <p:spPr>
          <a:xfrm>
            <a:off x="2197962" y="2020216"/>
            <a:ext cx="849069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44.428</a:t>
            </a:r>
            <a:endParaRPr lang="en-US" sz="72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7" name="Text 44"/>
          <p:cNvSpPr/>
          <p:nvPr/>
        </p:nvSpPr>
        <p:spPr>
          <a:xfrm>
            <a:off x="4550792" y="1994337"/>
            <a:ext cx="1302804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b="1" dirty="0">
                <a:solidFill>
                  <a:srgbClr val="00806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19,6 %</a:t>
            </a:r>
            <a:endParaRPr lang="en-US" sz="81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8" name="Text 45"/>
          <p:cNvSpPr/>
          <p:nvPr/>
        </p:nvSpPr>
        <p:spPr>
          <a:xfrm>
            <a:off x="4550792" y="2237224"/>
            <a:ext cx="1302804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b="1" dirty="0">
                <a:solidFill>
                  <a:srgbClr val="00806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26,3 %</a:t>
            </a:r>
            <a:endParaRPr lang="en-US" sz="81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9" name="Text 46"/>
          <p:cNvSpPr/>
          <p:nvPr/>
        </p:nvSpPr>
        <p:spPr>
          <a:xfrm>
            <a:off x="2197962" y="3006053"/>
            <a:ext cx="849069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35.228</a:t>
            </a:r>
            <a:endParaRPr lang="en-US" sz="72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0" name="Text 47"/>
          <p:cNvSpPr/>
          <p:nvPr/>
        </p:nvSpPr>
        <p:spPr>
          <a:xfrm>
            <a:off x="3017867" y="3449597"/>
            <a:ext cx="705130" cy="18573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10.967</a:t>
            </a:r>
            <a:endParaRPr lang="en-US" sz="72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1" name="Text 48"/>
          <p:cNvSpPr/>
          <p:nvPr/>
        </p:nvSpPr>
        <p:spPr>
          <a:xfrm>
            <a:off x="4539384" y="4130003"/>
            <a:ext cx="661136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Ventas</a:t>
            </a:r>
            <a:endParaRPr lang="en-US" sz="888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2" name="Text 49"/>
          <p:cNvSpPr/>
          <p:nvPr/>
        </p:nvSpPr>
        <p:spPr>
          <a:xfrm>
            <a:off x="3050281" y="4301453"/>
            <a:ext cx="854127" cy="232172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60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22.402</a:t>
            </a:r>
            <a:endParaRPr lang="en-US" sz="66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3" name="Text 50"/>
          <p:cNvSpPr/>
          <p:nvPr/>
        </p:nvSpPr>
        <p:spPr>
          <a:xfrm>
            <a:off x="1108429" y="4533625"/>
            <a:ext cx="577900" cy="23753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60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48.308</a:t>
            </a:r>
            <a:endParaRPr lang="en-US" sz="66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4" name="Text 51"/>
          <p:cNvSpPr/>
          <p:nvPr/>
        </p:nvSpPr>
        <p:spPr>
          <a:xfrm>
            <a:off x="1665010" y="4533625"/>
            <a:ext cx="731956" cy="23753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60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47.997</a:t>
            </a:r>
            <a:endParaRPr lang="en-US" sz="66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5" name="Text 52"/>
          <p:cNvSpPr/>
          <p:nvPr/>
        </p:nvSpPr>
        <p:spPr>
          <a:xfrm>
            <a:off x="3050281" y="4533625"/>
            <a:ext cx="854127" cy="23753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60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21.171</a:t>
            </a:r>
            <a:endParaRPr lang="en-US" sz="66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6" name="Text 53"/>
          <p:cNvSpPr/>
          <p:nvPr/>
        </p:nvSpPr>
        <p:spPr>
          <a:xfrm>
            <a:off x="1108429" y="4771155"/>
            <a:ext cx="577900" cy="23753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60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75.046</a:t>
            </a:r>
            <a:endParaRPr lang="en-US" sz="66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7" name="Text 54"/>
          <p:cNvSpPr/>
          <p:nvPr/>
        </p:nvSpPr>
        <p:spPr>
          <a:xfrm>
            <a:off x="1665010" y="4771155"/>
            <a:ext cx="731956" cy="23753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60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71.926</a:t>
            </a:r>
            <a:endParaRPr lang="en-US" sz="66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8" name="Text 55"/>
          <p:cNvSpPr/>
          <p:nvPr/>
        </p:nvSpPr>
        <p:spPr>
          <a:xfrm>
            <a:off x="3050281" y="4771155"/>
            <a:ext cx="854127" cy="23753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60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32.546</a:t>
            </a:r>
            <a:endParaRPr lang="en-US" sz="66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9" name="Text 56"/>
          <p:cNvSpPr/>
          <p:nvPr/>
        </p:nvSpPr>
        <p:spPr>
          <a:xfrm>
            <a:off x="1108429" y="5008685"/>
            <a:ext cx="577900" cy="23753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60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40.725</a:t>
            </a:r>
            <a:endParaRPr lang="en-US" sz="66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0" name="Text 57"/>
          <p:cNvSpPr/>
          <p:nvPr/>
        </p:nvSpPr>
        <p:spPr>
          <a:xfrm>
            <a:off x="1665010" y="5008685"/>
            <a:ext cx="731956" cy="23753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60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40.682</a:t>
            </a:r>
            <a:endParaRPr lang="en-US" sz="66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1" name="Text 58"/>
          <p:cNvSpPr/>
          <p:nvPr/>
        </p:nvSpPr>
        <p:spPr>
          <a:xfrm>
            <a:off x="3050281" y="5008685"/>
            <a:ext cx="854127" cy="23753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60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24.520</a:t>
            </a:r>
            <a:endParaRPr lang="en-US" sz="66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2" name="Text 59"/>
          <p:cNvSpPr/>
          <p:nvPr/>
        </p:nvSpPr>
        <p:spPr>
          <a:xfrm>
            <a:off x="1108429" y="5246214"/>
            <a:ext cx="577900" cy="23753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60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39.509</a:t>
            </a:r>
            <a:endParaRPr lang="en-US" sz="66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3" name="Text 60"/>
          <p:cNvSpPr/>
          <p:nvPr/>
        </p:nvSpPr>
        <p:spPr>
          <a:xfrm>
            <a:off x="1665010" y="5246214"/>
            <a:ext cx="731956" cy="23753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60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39.504</a:t>
            </a:r>
            <a:endParaRPr lang="en-US" sz="66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4" name="Text 61"/>
          <p:cNvSpPr/>
          <p:nvPr/>
        </p:nvSpPr>
        <p:spPr>
          <a:xfrm>
            <a:off x="3050281" y="5246214"/>
            <a:ext cx="854127" cy="23753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60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25.647</a:t>
            </a:r>
            <a:endParaRPr lang="en-US" sz="66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5" name="Text 62"/>
          <p:cNvSpPr/>
          <p:nvPr/>
        </p:nvSpPr>
        <p:spPr>
          <a:xfrm>
            <a:off x="1108429" y="5483744"/>
            <a:ext cx="577900" cy="23753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60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65.988</a:t>
            </a:r>
            <a:endParaRPr lang="en-US" sz="66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6" name="Text 63"/>
          <p:cNvSpPr/>
          <p:nvPr/>
        </p:nvSpPr>
        <p:spPr>
          <a:xfrm>
            <a:off x="1665010" y="5483744"/>
            <a:ext cx="731956" cy="23753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60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61.450</a:t>
            </a:r>
            <a:endParaRPr lang="en-US" sz="66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7" name="Text 64"/>
          <p:cNvSpPr/>
          <p:nvPr/>
        </p:nvSpPr>
        <p:spPr>
          <a:xfrm>
            <a:off x="3050281" y="5483744"/>
            <a:ext cx="854127" cy="23753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60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28.552</a:t>
            </a:r>
            <a:endParaRPr lang="en-US" sz="66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8" name="Text 65"/>
          <p:cNvSpPr/>
          <p:nvPr/>
        </p:nvSpPr>
        <p:spPr>
          <a:xfrm>
            <a:off x="4539384" y="5721274"/>
            <a:ext cx="661136" cy="232916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24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13.917</a:t>
            </a:r>
            <a:endParaRPr lang="en-US" sz="624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9" name="Text 66"/>
          <p:cNvSpPr/>
          <p:nvPr/>
        </p:nvSpPr>
        <p:spPr>
          <a:xfrm>
            <a:off x="6286343" y="1076325"/>
            <a:ext cx="1047907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00CD9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26,3 %</a:t>
            </a:r>
            <a:endParaRPr lang="en-US" sz="105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70" name="Text 67"/>
          <p:cNvSpPr/>
          <p:nvPr/>
        </p:nvSpPr>
        <p:spPr>
          <a:xfrm>
            <a:off x="3026493" y="2020216"/>
            <a:ext cx="705130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6.912</a:t>
            </a:r>
            <a:endParaRPr lang="en-US" sz="72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71" name="Text 68"/>
          <p:cNvSpPr/>
          <p:nvPr/>
        </p:nvSpPr>
        <p:spPr>
          <a:xfrm>
            <a:off x="2197962" y="2263103"/>
            <a:ext cx="849069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4.225</a:t>
            </a:r>
            <a:endParaRPr lang="en-US" sz="72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72" name="Text 69"/>
          <p:cNvSpPr/>
          <p:nvPr/>
        </p:nvSpPr>
        <p:spPr>
          <a:xfrm>
            <a:off x="3026493" y="2510753"/>
            <a:ext cx="705130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2.845</a:t>
            </a:r>
            <a:endParaRPr lang="en-US" sz="72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73" name="Text 70"/>
          <p:cNvSpPr/>
          <p:nvPr/>
        </p:nvSpPr>
        <p:spPr>
          <a:xfrm>
            <a:off x="4550792" y="2484874"/>
            <a:ext cx="1302804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b="1" dirty="0">
                <a:solidFill>
                  <a:srgbClr val="8A620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3,6 %</a:t>
            </a:r>
            <a:endParaRPr lang="en-US" sz="81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74" name="Text 71"/>
          <p:cNvSpPr/>
          <p:nvPr/>
        </p:nvSpPr>
        <p:spPr>
          <a:xfrm>
            <a:off x="4550792" y="2732524"/>
            <a:ext cx="1302804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b="1" dirty="0">
                <a:solidFill>
                  <a:srgbClr val="C44A1A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1,5 %</a:t>
            </a:r>
            <a:endParaRPr lang="en-US" sz="81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75" name="Text 72"/>
          <p:cNvSpPr/>
          <p:nvPr/>
        </p:nvSpPr>
        <p:spPr>
          <a:xfrm>
            <a:off x="4550792" y="2980174"/>
            <a:ext cx="1302804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b="1" dirty="0">
                <a:solidFill>
                  <a:srgbClr val="C44A1A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1,2 %</a:t>
            </a:r>
            <a:endParaRPr lang="en-US" sz="81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76" name="Text 73"/>
          <p:cNvSpPr/>
          <p:nvPr/>
        </p:nvSpPr>
        <p:spPr>
          <a:xfrm>
            <a:off x="2197962" y="3253703"/>
            <a:ext cx="849069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1.065</a:t>
            </a:r>
            <a:endParaRPr lang="en-US" sz="72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77" name="Text 74"/>
          <p:cNvSpPr/>
          <p:nvPr/>
        </p:nvSpPr>
        <p:spPr>
          <a:xfrm>
            <a:off x="4550792" y="3227824"/>
            <a:ext cx="1302804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b="1" dirty="0">
                <a:solidFill>
                  <a:srgbClr val="C44A1A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0,7 %</a:t>
            </a:r>
            <a:endParaRPr lang="en-US" sz="81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78" name="Text 75"/>
          <p:cNvSpPr/>
          <p:nvPr/>
        </p:nvSpPr>
        <p:spPr>
          <a:xfrm>
            <a:off x="696206" y="3449597"/>
            <a:ext cx="1563396" cy="18573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Total</a:t>
            </a:r>
            <a:endParaRPr lang="en-US" sz="72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79" name="Text 76"/>
          <p:cNvSpPr/>
          <p:nvPr/>
        </p:nvSpPr>
        <p:spPr>
          <a:xfrm>
            <a:off x="4593922" y="3449597"/>
            <a:ext cx="1302804" cy="18573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7,4 %</a:t>
            </a:r>
            <a:endParaRPr lang="en-US" sz="72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0" name="Text 77"/>
          <p:cNvSpPr/>
          <p:nvPr/>
        </p:nvSpPr>
        <p:spPr>
          <a:xfrm>
            <a:off x="1108429" y="4130003"/>
            <a:ext cx="577900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Aptos</a:t>
            </a:r>
            <a:endParaRPr lang="en-US" sz="888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1" name="Text 78"/>
          <p:cNvSpPr/>
          <p:nvPr/>
        </p:nvSpPr>
        <p:spPr>
          <a:xfrm>
            <a:off x="4539384" y="4301453"/>
            <a:ext cx="661136" cy="232172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60" b="1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2.245</a:t>
            </a:r>
            <a:endParaRPr lang="en-US" sz="66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2" name="Text 79"/>
          <p:cNvSpPr/>
          <p:nvPr/>
        </p:nvSpPr>
        <p:spPr>
          <a:xfrm>
            <a:off x="4539384" y="4533625"/>
            <a:ext cx="661136" cy="23753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60" b="1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2.374</a:t>
            </a:r>
            <a:endParaRPr lang="en-US" sz="66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3" name="Text 80"/>
          <p:cNvSpPr/>
          <p:nvPr/>
        </p:nvSpPr>
        <p:spPr>
          <a:xfrm>
            <a:off x="4539384" y="4771155"/>
            <a:ext cx="661136" cy="23753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60" b="1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2.431</a:t>
            </a:r>
            <a:endParaRPr lang="en-US" sz="66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4" name="Text 81"/>
          <p:cNvSpPr/>
          <p:nvPr/>
        </p:nvSpPr>
        <p:spPr>
          <a:xfrm>
            <a:off x="4539384" y="5008685"/>
            <a:ext cx="661136" cy="23753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60" b="1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2.367</a:t>
            </a:r>
            <a:endParaRPr lang="en-US" sz="66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5" name="Text 82"/>
          <p:cNvSpPr/>
          <p:nvPr/>
        </p:nvSpPr>
        <p:spPr>
          <a:xfrm>
            <a:off x="4539384" y="5246214"/>
            <a:ext cx="661136" cy="23753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60" b="1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2.186</a:t>
            </a:r>
            <a:endParaRPr lang="en-US" sz="66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6" name="Text 83"/>
          <p:cNvSpPr/>
          <p:nvPr/>
        </p:nvSpPr>
        <p:spPr>
          <a:xfrm>
            <a:off x="4539384" y="5483744"/>
            <a:ext cx="661136" cy="23753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60" b="1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2.314</a:t>
            </a:r>
            <a:endParaRPr lang="en-US" sz="66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7" name="Text 84"/>
          <p:cNvSpPr/>
          <p:nvPr/>
        </p:nvSpPr>
        <p:spPr>
          <a:xfrm>
            <a:off x="704832" y="5721274"/>
            <a:ext cx="433042" cy="232916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624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Total</a:t>
            </a:r>
            <a:endParaRPr lang="en-US" sz="624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8" name="Text 85"/>
          <p:cNvSpPr/>
          <p:nvPr/>
        </p:nvSpPr>
        <p:spPr>
          <a:xfrm>
            <a:off x="7470708" y="5356473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72" dirty="0">
                <a:solidFill>
                  <a:srgbClr val="9098B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Otros</a:t>
            </a:r>
            <a:endParaRPr lang="en-US" sz="67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9" name="Text 86"/>
          <p:cNvSpPr/>
          <p:nvPr/>
        </p:nvSpPr>
        <p:spPr>
          <a:xfrm>
            <a:off x="3652601" y="1994337"/>
            <a:ext cx="936137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b="1" dirty="0">
                <a:solidFill>
                  <a:srgbClr val="00806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79 %</a:t>
            </a:r>
            <a:endParaRPr lang="en-US" sz="81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0" name="Text 87"/>
          <p:cNvSpPr/>
          <p:nvPr/>
        </p:nvSpPr>
        <p:spPr>
          <a:xfrm>
            <a:off x="3652601" y="2237224"/>
            <a:ext cx="936137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b="1" dirty="0">
                <a:solidFill>
                  <a:srgbClr val="00806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73 %</a:t>
            </a:r>
            <a:endParaRPr lang="en-US" sz="81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1" name="Text 88"/>
          <p:cNvSpPr/>
          <p:nvPr/>
        </p:nvSpPr>
        <p:spPr>
          <a:xfrm>
            <a:off x="3652601" y="2484874"/>
            <a:ext cx="936137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b="1" dirty="0">
                <a:solidFill>
                  <a:srgbClr val="8A620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52 %</a:t>
            </a:r>
            <a:endParaRPr lang="en-US" sz="81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2" name="Text 89"/>
          <p:cNvSpPr/>
          <p:nvPr/>
        </p:nvSpPr>
        <p:spPr>
          <a:xfrm>
            <a:off x="3652601" y="2732524"/>
            <a:ext cx="936137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b="1" dirty="0">
                <a:solidFill>
                  <a:srgbClr val="C44A1A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19 %</a:t>
            </a:r>
            <a:endParaRPr lang="en-US" sz="81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3" name="Text 90"/>
          <p:cNvSpPr/>
          <p:nvPr/>
        </p:nvSpPr>
        <p:spPr>
          <a:xfrm>
            <a:off x="3652601" y="2980174"/>
            <a:ext cx="936137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b="1" dirty="0">
                <a:solidFill>
                  <a:srgbClr val="C44A1A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19 %</a:t>
            </a:r>
            <a:endParaRPr lang="en-US" sz="81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4" name="Text 91"/>
          <p:cNvSpPr/>
          <p:nvPr/>
        </p:nvSpPr>
        <p:spPr>
          <a:xfrm>
            <a:off x="3652601" y="3227824"/>
            <a:ext cx="936137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b="1" dirty="0">
                <a:solidFill>
                  <a:srgbClr val="C44A1A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53 %</a:t>
            </a:r>
            <a:endParaRPr lang="en-US" sz="81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5" name="Text 92"/>
          <p:cNvSpPr/>
          <p:nvPr/>
        </p:nvSpPr>
        <p:spPr>
          <a:xfrm>
            <a:off x="3695731" y="3449597"/>
            <a:ext cx="936137" cy="18573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41 %</a:t>
            </a:r>
            <a:endParaRPr lang="en-US" sz="72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6" name="Text 93"/>
          <p:cNvSpPr/>
          <p:nvPr/>
        </p:nvSpPr>
        <p:spPr>
          <a:xfrm>
            <a:off x="2290360" y="4301453"/>
            <a:ext cx="698539" cy="232172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16" b="1" dirty="0">
                <a:solidFill>
                  <a:srgbClr val="00806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100%</a:t>
            </a:r>
            <a:endParaRPr lang="en-US" sz="81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7" name="Text 94"/>
          <p:cNvSpPr/>
          <p:nvPr/>
        </p:nvSpPr>
        <p:spPr>
          <a:xfrm>
            <a:off x="2290360" y="5008685"/>
            <a:ext cx="698539" cy="23753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16" b="1" dirty="0">
                <a:solidFill>
                  <a:srgbClr val="00806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100%</a:t>
            </a:r>
            <a:endParaRPr lang="en-US" sz="81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8" name="Text 95"/>
          <p:cNvSpPr/>
          <p:nvPr/>
        </p:nvSpPr>
        <p:spPr>
          <a:xfrm>
            <a:off x="2290360" y="5246214"/>
            <a:ext cx="698539" cy="23753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16" b="1" dirty="0">
                <a:solidFill>
                  <a:srgbClr val="00806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100%</a:t>
            </a:r>
            <a:endParaRPr lang="en-US" sz="81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9" name="Text 96"/>
          <p:cNvSpPr/>
          <p:nvPr/>
        </p:nvSpPr>
        <p:spPr>
          <a:xfrm>
            <a:off x="3026493" y="2263103"/>
            <a:ext cx="705130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803</a:t>
            </a:r>
            <a:endParaRPr lang="en-US" sz="72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00" name="Text 97"/>
          <p:cNvSpPr/>
          <p:nvPr/>
        </p:nvSpPr>
        <p:spPr>
          <a:xfrm>
            <a:off x="3026493" y="2758403"/>
            <a:ext cx="705130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324</a:t>
            </a:r>
            <a:endParaRPr lang="en-US" sz="72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01" name="Text 98"/>
          <p:cNvSpPr/>
          <p:nvPr/>
        </p:nvSpPr>
        <p:spPr>
          <a:xfrm>
            <a:off x="704832" y="4130003"/>
            <a:ext cx="433042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888" b="1" dirty="0">
                <a:solidFill>
                  <a:srgbClr val="FFFFFF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Mes</a:t>
            </a:r>
            <a:endParaRPr lang="en-US" sz="888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02" name="Text 99"/>
          <p:cNvSpPr/>
          <p:nvPr/>
        </p:nvSpPr>
        <p:spPr>
          <a:xfrm>
            <a:off x="704832" y="4301453"/>
            <a:ext cx="433042" cy="232172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660" b="1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Ene</a:t>
            </a:r>
            <a:endParaRPr lang="en-US" sz="66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03" name="Text 100"/>
          <p:cNvSpPr/>
          <p:nvPr/>
        </p:nvSpPr>
        <p:spPr>
          <a:xfrm>
            <a:off x="3798521" y="4301453"/>
            <a:ext cx="673859" cy="232172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16" b="1" dirty="0">
                <a:solidFill>
                  <a:srgbClr val="8A620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22%</a:t>
            </a:r>
            <a:endParaRPr lang="en-US" sz="81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04" name="Text 101"/>
          <p:cNvSpPr/>
          <p:nvPr/>
        </p:nvSpPr>
        <p:spPr>
          <a:xfrm>
            <a:off x="5093115" y="4301453"/>
            <a:ext cx="725977" cy="232172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16" b="1" dirty="0">
                <a:solidFill>
                  <a:srgbClr val="00806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10%</a:t>
            </a:r>
            <a:endParaRPr lang="en-US" sz="81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05" name="Text 102"/>
          <p:cNvSpPr/>
          <p:nvPr/>
        </p:nvSpPr>
        <p:spPr>
          <a:xfrm>
            <a:off x="704832" y="4533625"/>
            <a:ext cx="433042" cy="23753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660" b="1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Feb</a:t>
            </a:r>
            <a:endParaRPr lang="en-US" sz="66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06" name="Text 103"/>
          <p:cNvSpPr/>
          <p:nvPr/>
        </p:nvSpPr>
        <p:spPr>
          <a:xfrm>
            <a:off x="2290360" y="4533625"/>
            <a:ext cx="698539" cy="23753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16" b="1" dirty="0">
                <a:solidFill>
                  <a:srgbClr val="00806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99%</a:t>
            </a:r>
            <a:endParaRPr lang="en-US" sz="81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07" name="Text 104"/>
          <p:cNvSpPr/>
          <p:nvPr/>
        </p:nvSpPr>
        <p:spPr>
          <a:xfrm>
            <a:off x="3798521" y="4533625"/>
            <a:ext cx="673859" cy="23753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16" b="1" dirty="0">
                <a:solidFill>
                  <a:srgbClr val="8A620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44%</a:t>
            </a:r>
            <a:endParaRPr lang="en-US" sz="81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08" name="Text 105"/>
          <p:cNvSpPr/>
          <p:nvPr/>
        </p:nvSpPr>
        <p:spPr>
          <a:xfrm>
            <a:off x="5093115" y="4533625"/>
            <a:ext cx="725977" cy="23753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16" b="1" dirty="0">
                <a:solidFill>
                  <a:srgbClr val="00806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11%</a:t>
            </a:r>
            <a:endParaRPr lang="en-US" sz="81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09" name="Text 106"/>
          <p:cNvSpPr/>
          <p:nvPr/>
        </p:nvSpPr>
        <p:spPr>
          <a:xfrm>
            <a:off x="704832" y="4771155"/>
            <a:ext cx="433042" cy="23753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660" b="1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Mar</a:t>
            </a:r>
            <a:endParaRPr lang="en-US" sz="66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10" name="Text 107"/>
          <p:cNvSpPr/>
          <p:nvPr/>
        </p:nvSpPr>
        <p:spPr>
          <a:xfrm>
            <a:off x="2290360" y="4771155"/>
            <a:ext cx="698539" cy="23753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16" b="1" dirty="0">
                <a:solidFill>
                  <a:srgbClr val="00806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96%</a:t>
            </a:r>
            <a:endParaRPr lang="en-US" sz="81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11" name="Text 108"/>
          <p:cNvSpPr/>
          <p:nvPr/>
        </p:nvSpPr>
        <p:spPr>
          <a:xfrm>
            <a:off x="3798521" y="4771155"/>
            <a:ext cx="673859" cy="23753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16" b="1" dirty="0">
                <a:solidFill>
                  <a:srgbClr val="8A620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45%</a:t>
            </a:r>
            <a:endParaRPr lang="en-US" sz="81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12" name="Text 109"/>
          <p:cNvSpPr/>
          <p:nvPr/>
        </p:nvSpPr>
        <p:spPr>
          <a:xfrm>
            <a:off x="704832" y="5008685"/>
            <a:ext cx="433042" cy="23753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660" b="1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Abr</a:t>
            </a:r>
            <a:endParaRPr lang="en-US" sz="66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13" name="Text 110"/>
          <p:cNvSpPr/>
          <p:nvPr/>
        </p:nvSpPr>
        <p:spPr>
          <a:xfrm>
            <a:off x="3798521" y="5008685"/>
            <a:ext cx="673859" cy="23753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16" b="1" dirty="0">
                <a:solidFill>
                  <a:srgbClr val="00806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60%</a:t>
            </a:r>
            <a:endParaRPr lang="en-US" sz="81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14" name="Text 111"/>
          <p:cNvSpPr/>
          <p:nvPr/>
        </p:nvSpPr>
        <p:spPr>
          <a:xfrm>
            <a:off x="5093115" y="5008685"/>
            <a:ext cx="725977" cy="23753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16" b="1" dirty="0">
                <a:solidFill>
                  <a:srgbClr val="00806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10%</a:t>
            </a:r>
            <a:endParaRPr lang="en-US" sz="81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15" name="Text 112"/>
          <p:cNvSpPr/>
          <p:nvPr/>
        </p:nvSpPr>
        <p:spPr>
          <a:xfrm>
            <a:off x="704832" y="5246214"/>
            <a:ext cx="433042" cy="23753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660" b="1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May</a:t>
            </a:r>
            <a:endParaRPr lang="en-US" sz="66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16" name="Text 113"/>
          <p:cNvSpPr/>
          <p:nvPr/>
        </p:nvSpPr>
        <p:spPr>
          <a:xfrm>
            <a:off x="3798521" y="5246214"/>
            <a:ext cx="673859" cy="23753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16" b="1" dirty="0">
                <a:solidFill>
                  <a:srgbClr val="00806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65%</a:t>
            </a:r>
            <a:endParaRPr lang="en-US" sz="81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17" name="Text 114"/>
          <p:cNvSpPr/>
          <p:nvPr/>
        </p:nvSpPr>
        <p:spPr>
          <a:xfrm>
            <a:off x="704832" y="5483744"/>
            <a:ext cx="433042" cy="23753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660" b="1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Jun</a:t>
            </a:r>
            <a:endParaRPr lang="en-US" sz="66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18" name="Text 115"/>
          <p:cNvSpPr/>
          <p:nvPr/>
        </p:nvSpPr>
        <p:spPr>
          <a:xfrm>
            <a:off x="2290360" y="5483744"/>
            <a:ext cx="698539" cy="23753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16" b="1" dirty="0">
                <a:solidFill>
                  <a:srgbClr val="00806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93%</a:t>
            </a:r>
            <a:endParaRPr lang="en-US" sz="81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19" name="Text 116"/>
          <p:cNvSpPr/>
          <p:nvPr/>
        </p:nvSpPr>
        <p:spPr>
          <a:xfrm>
            <a:off x="3798521" y="5483744"/>
            <a:ext cx="673859" cy="23753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16" b="1" dirty="0">
                <a:solidFill>
                  <a:srgbClr val="8A620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46%</a:t>
            </a:r>
            <a:endParaRPr lang="en-US" sz="81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20" name="Text 117"/>
          <p:cNvSpPr/>
          <p:nvPr/>
        </p:nvSpPr>
        <p:spPr>
          <a:xfrm>
            <a:off x="2290360" y="5721274"/>
            <a:ext cx="698539" cy="232916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16" b="1" dirty="0">
                <a:solidFill>
                  <a:srgbClr val="00806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98%</a:t>
            </a:r>
            <a:endParaRPr lang="en-US" sz="81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21" name="Text 118"/>
          <p:cNvSpPr/>
          <p:nvPr/>
        </p:nvSpPr>
        <p:spPr>
          <a:xfrm>
            <a:off x="3798521" y="5721274"/>
            <a:ext cx="673859" cy="232916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16" b="1" dirty="0">
                <a:solidFill>
                  <a:srgbClr val="8A620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42%</a:t>
            </a:r>
            <a:endParaRPr lang="en-US" sz="81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22" name="Text 119"/>
          <p:cNvSpPr/>
          <p:nvPr/>
        </p:nvSpPr>
        <p:spPr>
          <a:xfrm>
            <a:off x="11292522" y="2198787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72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49%</a:t>
            </a:r>
            <a:endParaRPr lang="en-US" sz="67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23" name="Text 120"/>
          <p:cNvSpPr/>
          <p:nvPr/>
        </p:nvSpPr>
        <p:spPr>
          <a:xfrm>
            <a:off x="11293153" y="2725043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72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29%</a:t>
            </a:r>
            <a:endParaRPr lang="en-US" sz="67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24" name="Text 121"/>
          <p:cNvSpPr/>
          <p:nvPr/>
        </p:nvSpPr>
        <p:spPr>
          <a:xfrm>
            <a:off x="3026493" y="3006053"/>
            <a:ext cx="705130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79</a:t>
            </a:r>
            <a:endParaRPr lang="en-US" sz="72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25" name="Text 122"/>
          <p:cNvSpPr/>
          <p:nvPr/>
        </p:nvSpPr>
        <p:spPr>
          <a:xfrm>
            <a:off x="5093115" y="4771155"/>
            <a:ext cx="725977" cy="23753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16" b="1" dirty="0">
                <a:solidFill>
                  <a:srgbClr val="8A620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7%</a:t>
            </a:r>
            <a:endParaRPr lang="en-US" sz="81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26" name="Text 123"/>
          <p:cNvSpPr/>
          <p:nvPr/>
        </p:nvSpPr>
        <p:spPr>
          <a:xfrm>
            <a:off x="5093115" y="5246214"/>
            <a:ext cx="725977" cy="23753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16" b="1" dirty="0">
                <a:solidFill>
                  <a:srgbClr val="8A620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9%</a:t>
            </a:r>
            <a:endParaRPr lang="en-US" sz="81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27" name="Text 124"/>
          <p:cNvSpPr/>
          <p:nvPr/>
        </p:nvSpPr>
        <p:spPr>
          <a:xfrm>
            <a:off x="5093115" y="5483744"/>
            <a:ext cx="725977" cy="23753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16" b="1" dirty="0">
                <a:solidFill>
                  <a:srgbClr val="8A620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8%</a:t>
            </a:r>
            <a:endParaRPr lang="en-US" sz="81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28" name="Text 125"/>
          <p:cNvSpPr/>
          <p:nvPr/>
        </p:nvSpPr>
        <p:spPr>
          <a:xfrm>
            <a:off x="5093115" y="5721274"/>
            <a:ext cx="725977" cy="232916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16" b="1" dirty="0">
                <a:solidFill>
                  <a:srgbClr val="8A620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9%</a:t>
            </a:r>
            <a:endParaRPr lang="en-US" sz="81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29" name="Text 126"/>
          <p:cNvSpPr/>
          <p:nvPr/>
        </p:nvSpPr>
        <p:spPr>
          <a:xfrm>
            <a:off x="11345685" y="3251299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72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4%</a:t>
            </a:r>
            <a:endParaRPr lang="en-US" sz="67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30" name="Text 127"/>
          <p:cNvSpPr/>
          <p:nvPr/>
        </p:nvSpPr>
        <p:spPr>
          <a:xfrm>
            <a:off x="11345685" y="3777555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72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4%</a:t>
            </a:r>
            <a:endParaRPr lang="en-US" sz="67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31" name="Text 128"/>
          <p:cNvSpPr/>
          <p:nvPr/>
        </p:nvSpPr>
        <p:spPr>
          <a:xfrm>
            <a:off x="11346947" y="4303961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72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3%</a:t>
            </a:r>
            <a:endParaRPr lang="en-US" sz="67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32" name="Text 129"/>
          <p:cNvSpPr/>
          <p:nvPr/>
        </p:nvSpPr>
        <p:spPr>
          <a:xfrm>
            <a:off x="11346947" y="4830217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72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3%</a:t>
            </a:r>
            <a:endParaRPr lang="en-US" sz="67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33" name="Text 130"/>
          <p:cNvSpPr/>
          <p:nvPr/>
        </p:nvSpPr>
        <p:spPr>
          <a:xfrm>
            <a:off x="11342687" y="5356473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672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8%</a:t>
            </a:r>
            <a:endParaRPr lang="en-US" sz="67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135" name="Picture 134">
            <a:extLst>
              <a:ext uri="{FF2B5EF4-FFF2-40B4-BE49-F238E27FC236}">
                <a16:creationId xmlns:a16="http://schemas.microsoft.com/office/drawing/2014/main" id="{B917BD48-AE73-4B12-C18E-C31EDD8680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34650" y="78120"/>
            <a:ext cx="1530523" cy="459157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13_Presentaciones\dash\televentas\ppt_slides\sk_05_m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42950" y="6573289"/>
            <a:ext cx="5974593" cy="1809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La estrategia de cabinas dedicadas logró una tasa de crecimiento de (+553%)</a:t>
            </a:r>
            <a:endParaRPr lang="en-US" sz="10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9512894" y="5585520"/>
            <a:ext cx="19930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40" dirty="0">
                <a:solidFill>
                  <a:srgbClr val="9098B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63,8 % de la base total · 7.460 registros descartados</a:t>
            </a:r>
            <a:endParaRPr lang="en-US" sz="54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6257769" y="3619500"/>
            <a:ext cx="27819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16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¿Por qué se descartaron? (tipificación rechazos)</a:t>
            </a:r>
            <a:endParaRPr lang="en-US" sz="81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571486" y="209551"/>
            <a:ext cx="4802771" cy="175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60" b="1" dirty="0">
                <a:solidFill>
                  <a:srgbClr val="FFFFFF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CAMPAÑA AUTOGESTIÓN · HISTÓRICO Y ANÁLISIS</a:t>
            </a:r>
            <a:endParaRPr lang="en-US" sz="126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723882" y="1272480"/>
            <a:ext cx="1881140" cy="941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9098B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Solicitudes de financiación autogestionada</a:t>
            </a:r>
            <a:endParaRPr lang="en-US" sz="6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6173608" y="4160937"/>
            <a:ext cx="118203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76" dirty="0">
                <a:solidFill>
                  <a:srgbClr val="9098B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Registro Recibido Anteriormente</a:t>
            </a:r>
            <a:endParaRPr lang="en-US" sz="57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9067573" y="962025"/>
            <a:ext cx="183103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96" b="1" dirty="0">
                <a:solidFill>
                  <a:srgbClr val="9098B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Vs. promedio general del canal</a:t>
            </a:r>
            <a:endParaRPr lang="en-US" sz="69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6198527" y="4635847"/>
            <a:ext cx="1154589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76" dirty="0">
                <a:solidFill>
                  <a:srgbClr val="9098B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Registro Enviado Anteriormente</a:t>
            </a:r>
            <a:endParaRPr lang="en-US" sz="57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809604" y="3977580"/>
            <a:ext cx="1968101" cy="112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16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Ventas Autogestión por asesor</a:t>
            </a:r>
            <a:endParaRPr lang="en-US" sz="81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6381590" y="1548705"/>
            <a:ext cx="1701837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16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Crecimiento mensual de ventas</a:t>
            </a:r>
            <a:endParaRPr lang="en-US" sz="81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6286343" y="1272480"/>
            <a:ext cx="1054889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9098B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7.460 registros descartados</a:t>
            </a:r>
            <a:endParaRPr lang="en-US" sz="6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9067573" y="1272480"/>
            <a:ext cx="9861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9098B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Convierte 3.2 veces mejor</a:t>
            </a:r>
            <a:endParaRPr lang="en-US" sz="6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3505112" y="1272480"/>
            <a:ext cx="97553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9098B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26,3 % sobre contactados</a:t>
            </a:r>
            <a:endParaRPr lang="en-US" sz="6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6381590" y="5737920"/>
            <a:ext cx="146662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20" b="1" dirty="0">
                <a:solidFill>
                  <a:srgbClr val="9098B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Qué cambió en la gestión</a:t>
            </a:r>
            <a:endParaRPr lang="en-US" sz="72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6519556" y="3923556"/>
            <a:ext cx="833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76" dirty="0">
                <a:solidFill>
                  <a:srgbClr val="9098B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Cuota Protegida Activa</a:t>
            </a:r>
            <a:endParaRPr lang="en-US" sz="57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694409" y="4969102"/>
            <a:ext cx="1418538" cy="20344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696" b="1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Joelis J. Barros   </a:t>
            </a:r>
            <a:r>
              <a:rPr lang="en-US" sz="540" b="1" dirty="0">
                <a:solidFill>
                  <a:srgbClr val="04003A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4ª</a:t>
            </a:r>
            <a:endParaRPr lang="en-US" sz="69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6646075" y="5110609"/>
            <a:ext cx="707041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76" dirty="0">
                <a:solidFill>
                  <a:srgbClr val="9098B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Microseguro Activo</a:t>
            </a:r>
            <a:endParaRPr lang="en-US" sz="57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9039753" y="6137970"/>
            <a:ext cx="1018295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96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Sobremarcación OCM</a:t>
            </a:r>
            <a:endParaRPr lang="en-US" sz="69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685783" y="4577678"/>
            <a:ext cx="1418538" cy="200025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696" b="1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Melissa P. Orozco</a:t>
            </a:r>
            <a:endParaRPr lang="en-US" sz="69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838179" y="1577280"/>
            <a:ext cx="995889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16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Histórico mensual</a:t>
            </a:r>
            <a:endParaRPr lang="en-US" sz="81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6679361" y="4398466"/>
            <a:ext cx="673755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76" dirty="0">
                <a:solidFill>
                  <a:srgbClr val="9098B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Contrato Repetido</a:t>
            </a:r>
            <a:endParaRPr lang="en-US" sz="57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6683778" y="4873228"/>
            <a:ext cx="66933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76" dirty="0">
                <a:solidFill>
                  <a:srgbClr val="9098B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Localidad Errónea</a:t>
            </a:r>
            <a:endParaRPr lang="en-US" sz="57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685783" y="5181176"/>
            <a:ext cx="1418538" cy="18573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672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Total 4 asesores</a:t>
            </a:r>
            <a:endParaRPr lang="en-US" sz="67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6" name="Text 23"/>
          <p:cNvSpPr/>
          <p:nvPr/>
        </p:nvSpPr>
        <p:spPr>
          <a:xfrm>
            <a:off x="6286343" y="962025"/>
            <a:ext cx="10653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96" b="1" dirty="0">
                <a:solidFill>
                  <a:srgbClr val="9098B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Rechazo promedio</a:t>
            </a:r>
            <a:endParaRPr lang="en-US" sz="69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7" name="Text 24"/>
          <p:cNvSpPr/>
          <p:nvPr/>
        </p:nvSpPr>
        <p:spPr>
          <a:xfrm>
            <a:off x="7826951" y="6137970"/>
            <a:ext cx="7529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96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Foco: 3 asesores</a:t>
            </a:r>
            <a:endParaRPr lang="en-US" sz="69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8" name="Text 25"/>
          <p:cNvSpPr/>
          <p:nvPr/>
        </p:nvSpPr>
        <p:spPr>
          <a:xfrm>
            <a:off x="685783" y="4382416"/>
            <a:ext cx="1418538" cy="195263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696" b="1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Jesús D. Cortés</a:t>
            </a:r>
            <a:endParaRPr lang="en-US" sz="69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9" name="Text 26"/>
          <p:cNvSpPr/>
          <p:nvPr/>
        </p:nvSpPr>
        <p:spPr>
          <a:xfrm>
            <a:off x="6798307" y="5348139"/>
            <a:ext cx="554809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76" dirty="0">
                <a:solidFill>
                  <a:srgbClr val="9098B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Otros (&lt;1% c/u)</a:t>
            </a:r>
            <a:endParaRPr lang="en-US" sz="57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0" name="Text 27"/>
          <p:cNvSpPr/>
          <p:nvPr/>
        </p:nvSpPr>
        <p:spPr>
          <a:xfrm>
            <a:off x="685783" y="4777703"/>
            <a:ext cx="1418538" cy="200025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696" b="1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Luisa L. Percy</a:t>
            </a:r>
            <a:endParaRPr lang="en-US" sz="69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1" name="Text 28"/>
          <p:cNvSpPr/>
          <p:nvPr/>
        </p:nvSpPr>
        <p:spPr>
          <a:xfrm>
            <a:off x="723882" y="962025"/>
            <a:ext cx="791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96" b="1" dirty="0">
                <a:solidFill>
                  <a:srgbClr val="9098B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Registros (1S)</a:t>
            </a:r>
            <a:endParaRPr lang="en-US" sz="69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2" name="Text 29"/>
          <p:cNvSpPr/>
          <p:nvPr/>
        </p:nvSpPr>
        <p:spPr>
          <a:xfrm>
            <a:off x="6563513" y="6137970"/>
            <a:ext cx="566009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96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Sin focalizar</a:t>
            </a:r>
            <a:endParaRPr lang="en-US" sz="69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3" name="Text 30"/>
          <p:cNvSpPr/>
          <p:nvPr/>
        </p:nvSpPr>
        <p:spPr>
          <a:xfrm>
            <a:off x="10615338" y="6137970"/>
            <a:ext cx="68166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96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+1 asesor (4)</a:t>
            </a:r>
            <a:endParaRPr lang="en-US" sz="69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4" name="Text 31"/>
          <p:cNvSpPr/>
          <p:nvPr/>
        </p:nvSpPr>
        <p:spPr>
          <a:xfrm>
            <a:off x="3505112" y="962025"/>
            <a:ext cx="62311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96" b="1" dirty="0">
                <a:solidFill>
                  <a:srgbClr val="9098B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Ventas (1S)</a:t>
            </a:r>
            <a:endParaRPr lang="en-US" sz="69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5" name="Text 32"/>
          <p:cNvSpPr/>
          <p:nvPr/>
        </p:nvSpPr>
        <p:spPr>
          <a:xfrm>
            <a:off x="4288732" y="1772566"/>
            <a:ext cx="856837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Contactab.</a:t>
            </a:r>
            <a:endParaRPr lang="en-US" sz="888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6" name="Text 33"/>
          <p:cNvSpPr/>
          <p:nvPr/>
        </p:nvSpPr>
        <p:spPr>
          <a:xfrm>
            <a:off x="5068609" y="1772566"/>
            <a:ext cx="865317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Conversión</a:t>
            </a:r>
            <a:endParaRPr lang="en-US" sz="888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7" name="Text 34"/>
          <p:cNvSpPr/>
          <p:nvPr/>
        </p:nvSpPr>
        <p:spPr>
          <a:xfrm>
            <a:off x="1240608" y="1772566"/>
            <a:ext cx="809597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Registros</a:t>
            </a:r>
            <a:endParaRPr lang="en-US" sz="888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8" name="Text 35"/>
          <p:cNvSpPr/>
          <p:nvPr/>
        </p:nvSpPr>
        <p:spPr>
          <a:xfrm>
            <a:off x="1950002" y="1772566"/>
            <a:ext cx="677493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Rechazo</a:t>
            </a:r>
            <a:endParaRPr lang="en-US" sz="888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9" name="Text 36"/>
          <p:cNvSpPr/>
          <p:nvPr/>
        </p:nvSpPr>
        <p:spPr>
          <a:xfrm>
            <a:off x="2561798" y="1772566"/>
            <a:ext cx="624956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% Rech.</a:t>
            </a:r>
            <a:endParaRPr lang="en-US" sz="888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0" name="Text 37"/>
          <p:cNvSpPr/>
          <p:nvPr/>
        </p:nvSpPr>
        <p:spPr>
          <a:xfrm>
            <a:off x="6660527" y="6052245"/>
            <a:ext cx="37213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24" b="1" dirty="0">
                <a:solidFill>
                  <a:srgbClr val="9098B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Ene–Feb</a:t>
            </a:r>
            <a:endParaRPr lang="en-US" sz="624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1" name="Text 38"/>
          <p:cNvSpPr/>
          <p:nvPr/>
        </p:nvSpPr>
        <p:spPr>
          <a:xfrm>
            <a:off x="9283617" y="6052245"/>
            <a:ext cx="554019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24" b="1" dirty="0">
                <a:solidFill>
                  <a:srgbClr val="9098B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Abr–May</a:t>
            </a:r>
            <a:endParaRPr lang="en-US" sz="624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2" name="Text 39"/>
          <p:cNvSpPr/>
          <p:nvPr/>
        </p:nvSpPr>
        <p:spPr>
          <a:xfrm>
            <a:off x="3745153" y="1772566"/>
            <a:ext cx="648566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Ventas</a:t>
            </a:r>
            <a:endParaRPr lang="en-US" sz="888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3" name="Text 40"/>
          <p:cNvSpPr/>
          <p:nvPr/>
        </p:nvSpPr>
        <p:spPr>
          <a:xfrm>
            <a:off x="2611752" y="2001166"/>
            <a:ext cx="540497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41,2 %</a:t>
            </a:r>
            <a:endParaRPr lang="en-US" sz="72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4" name="Text 41"/>
          <p:cNvSpPr/>
          <p:nvPr/>
        </p:nvSpPr>
        <p:spPr>
          <a:xfrm>
            <a:off x="4337178" y="2001166"/>
            <a:ext cx="756635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80,9 %</a:t>
            </a:r>
            <a:endParaRPr lang="en-US" sz="72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5" name="Text 42"/>
          <p:cNvSpPr/>
          <p:nvPr/>
        </p:nvSpPr>
        <p:spPr>
          <a:xfrm>
            <a:off x="5008226" y="1983914"/>
            <a:ext cx="865317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b="1" dirty="0">
                <a:solidFill>
                  <a:srgbClr val="00806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30,7 %</a:t>
            </a:r>
            <a:endParaRPr lang="en-US" sz="81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6" name="Text 43"/>
          <p:cNvSpPr/>
          <p:nvPr/>
        </p:nvSpPr>
        <p:spPr>
          <a:xfrm>
            <a:off x="2611752" y="2244053"/>
            <a:ext cx="540497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57,9 %</a:t>
            </a:r>
            <a:endParaRPr lang="en-US" sz="72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7" name="Text 44"/>
          <p:cNvSpPr/>
          <p:nvPr/>
        </p:nvSpPr>
        <p:spPr>
          <a:xfrm>
            <a:off x="4337178" y="2244053"/>
            <a:ext cx="756635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81,3 %</a:t>
            </a:r>
            <a:endParaRPr lang="en-US" sz="72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8" name="Text 45"/>
          <p:cNvSpPr/>
          <p:nvPr/>
        </p:nvSpPr>
        <p:spPr>
          <a:xfrm>
            <a:off x="5008226" y="2226801"/>
            <a:ext cx="865317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b="1" dirty="0">
                <a:solidFill>
                  <a:srgbClr val="00806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32,4 %</a:t>
            </a:r>
            <a:endParaRPr lang="en-US" sz="81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9" name="Text 46"/>
          <p:cNvSpPr/>
          <p:nvPr/>
        </p:nvSpPr>
        <p:spPr>
          <a:xfrm>
            <a:off x="2611752" y="2491703"/>
            <a:ext cx="540497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63,8 %</a:t>
            </a:r>
            <a:endParaRPr lang="en-US" sz="72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0" name="Text 47"/>
          <p:cNvSpPr/>
          <p:nvPr/>
        </p:nvSpPr>
        <p:spPr>
          <a:xfrm>
            <a:off x="4337178" y="2491703"/>
            <a:ext cx="756635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76,3 %</a:t>
            </a:r>
            <a:endParaRPr lang="en-US" sz="72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1" name="Text 48"/>
          <p:cNvSpPr/>
          <p:nvPr/>
        </p:nvSpPr>
        <p:spPr>
          <a:xfrm>
            <a:off x="5008226" y="2474451"/>
            <a:ext cx="865317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b="1" dirty="0">
                <a:solidFill>
                  <a:srgbClr val="8A620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18,4 %</a:t>
            </a:r>
            <a:endParaRPr lang="en-US" sz="81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2" name="Text 49"/>
          <p:cNvSpPr/>
          <p:nvPr/>
        </p:nvSpPr>
        <p:spPr>
          <a:xfrm>
            <a:off x="2611752" y="2739353"/>
            <a:ext cx="540497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58,3 %</a:t>
            </a:r>
            <a:endParaRPr lang="en-US" sz="72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3" name="Text 50"/>
          <p:cNvSpPr/>
          <p:nvPr/>
        </p:nvSpPr>
        <p:spPr>
          <a:xfrm>
            <a:off x="4337178" y="2739353"/>
            <a:ext cx="756635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71,0 %</a:t>
            </a:r>
            <a:endParaRPr lang="en-US" sz="72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4" name="Text 51"/>
          <p:cNvSpPr/>
          <p:nvPr/>
        </p:nvSpPr>
        <p:spPr>
          <a:xfrm>
            <a:off x="5008226" y="2722101"/>
            <a:ext cx="865317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b="1" dirty="0">
                <a:solidFill>
                  <a:srgbClr val="00806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20,4 %</a:t>
            </a:r>
            <a:endParaRPr lang="en-US" sz="81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5" name="Text 52"/>
          <p:cNvSpPr/>
          <p:nvPr/>
        </p:nvSpPr>
        <p:spPr>
          <a:xfrm>
            <a:off x="2611752" y="2987003"/>
            <a:ext cx="540497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60,4 %</a:t>
            </a:r>
            <a:endParaRPr lang="en-US" sz="72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6" name="Text 53"/>
          <p:cNvSpPr/>
          <p:nvPr/>
        </p:nvSpPr>
        <p:spPr>
          <a:xfrm>
            <a:off x="4337178" y="2987003"/>
            <a:ext cx="756635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75,8 %</a:t>
            </a:r>
            <a:endParaRPr lang="en-US" sz="72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7" name="Text 54"/>
          <p:cNvSpPr/>
          <p:nvPr/>
        </p:nvSpPr>
        <p:spPr>
          <a:xfrm>
            <a:off x="5008226" y="2969751"/>
            <a:ext cx="865317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b="1" dirty="0">
                <a:solidFill>
                  <a:srgbClr val="00806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33,0 %</a:t>
            </a:r>
            <a:endParaRPr lang="en-US" sz="81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8" name="Text 55"/>
          <p:cNvSpPr/>
          <p:nvPr/>
        </p:nvSpPr>
        <p:spPr>
          <a:xfrm>
            <a:off x="2611752" y="3234653"/>
            <a:ext cx="540497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69,4 %</a:t>
            </a:r>
            <a:endParaRPr lang="en-US" sz="72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9" name="Text 56"/>
          <p:cNvSpPr/>
          <p:nvPr/>
        </p:nvSpPr>
        <p:spPr>
          <a:xfrm>
            <a:off x="4337178" y="3234653"/>
            <a:ext cx="756635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68,4 %</a:t>
            </a:r>
            <a:endParaRPr lang="en-US" sz="72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0" name="Text 57"/>
          <p:cNvSpPr/>
          <p:nvPr/>
        </p:nvSpPr>
        <p:spPr>
          <a:xfrm>
            <a:off x="5008226" y="3217401"/>
            <a:ext cx="865317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b="1" dirty="0">
                <a:solidFill>
                  <a:srgbClr val="00806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27,6 %</a:t>
            </a:r>
            <a:endParaRPr lang="en-US" sz="81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1" name="Text 58"/>
          <p:cNvSpPr/>
          <p:nvPr/>
        </p:nvSpPr>
        <p:spPr>
          <a:xfrm>
            <a:off x="1347528" y="3482303"/>
            <a:ext cx="702677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11.685</a:t>
            </a:r>
            <a:endParaRPr lang="en-US" sz="72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2" name="Text 59"/>
          <p:cNvSpPr/>
          <p:nvPr/>
        </p:nvSpPr>
        <p:spPr>
          <a:xfrm>
            <a:off x="2611752" y="3482303"/>
            <a:ext cx="540497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63,8 %</a:t>
            </a:r>
            <a:endParaRPr lang="en-US" sz="72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3" name="Text 60"/>
          <p:cNvSpPr/>
          <p:nvPr/>
        </p:nvSpPr>
        <p:spPr>
          <a:xfrm>
            <a:off x="4337178" y="3482303"/>
            <a:ext cx="756635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72,4 %</a:t>
            </a:r>
            <a:endParaRPr lang="en-US" sz="72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4" name="Text 61"/>
          <p:cNvSpPr/>
          <p:nvPr/>
        </p:nvSpPr>
        <p:spPr>
          <a:xfrm>
            <a:off x="5008226" y="3465051"/>
            <a:ext cx="865317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816" b="1" dirty="0">
                <a:solidFill>
                  <a:srgbClr val="00806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26,3 %</a:t>
            </a:r>
            <a:endParaRPr lang="en-US" sz="81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5" name="Text 62"/>
          <p:cNvSpPr/>
          <p:nvPr/>
        </p:nvSpPr>
        <p:spPr>
          <a:xfrm>
            <a:off x="685783" y="4153816"/>
            <a:ext cx="1418538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marL="0" indent="0" algn="l">
              <a:buNone/>
            </a:pPr>
            <a:r>
              <a:rPr lang="en-US" sz="888" b="1" dirty="0">
                <a:solidFill>
                  <a:srgbClr val="FFFFFF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Asesor</a:t>
            </a:r>
            <a:endParaRPr lang="en-US" sz="888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6" name="Text 63"/>
          <p:cNvSpPr/>
          <p:nvPr/>
        </p:nvSpPr>
        <p:spPr>
          <a:xfrm>
            <a:off x="723882" y="1085850"/>
            <a:ext cx="436809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11.685</a:t>
            </a:r>
            <a:endParaRPr lang="en-US" sz="102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7" name="Text 64"/>
          <p:cNvSpPr/>
          <p:nvPr/>
        </p:nvSpPr>
        <p:spPr>
          <a:xfrm>
            <a:off x="6286343" y="1085850"/>
            <a:ext cx="439491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63,8 %</a:t>
            </a:r>
            <a:endParaRPr lang="en-US" sz="102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8" name="Text 65"/>
          <p:cNvSpPr/>
          <p:nvPr/>
        </p:nvSpPr>
        <p:spPr>
          <a:xfrm>
            <a:off x="3169435" y="1772566"/>
            <a:ext cx="594609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Aptos</a:t>
            </a:r>
            <a:endParaRPr lang="en-US" sz="888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9" name="Text 66"/>
          <p:cNvSpPr/>
          <p:nvPr/>
        </p:nvSpPr>
        <p:spPr>
          <a:xfrm>
            <a:off x="1347528" y="2491703"/>
            <a:ext cx="702677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1.864</a:t>
            </a:r>
            <a:endParaRPr lang="en-US" sz="72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70" name="Text 67"/>
          <p:cNvSpPr/>
          <p:nvPr/>
        </p:nvSpPr>
        <p:spPr>
          <a:xfrm>
            <a:off x="2032886" y="2491703"/>
            <a:ext cx="594609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1.189</a:t>
            </a:r>
            <a:endParaRPr lang="en-US" sz="72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71" name="Text 68"/>
          <p:cNvSpPr/>
          <p:nvPr/>
        </p:nvSpPr>
        <p:spPr>
          <a:xfrm>
            <a:off x="1347528" y="2739353"/>
            <a:ext cx="702677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1.950</a:t>
            </a:r>
            <a:endParaRPr lang="en-US" sz="72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72" name="Text 69"/>
          <p:cNvSpPr/>
          <p:nvPr/>
        </p:nvSpPr>
        <p:spPr>
          <a:xfrm>
            <a:off x="2032886" y="2739353"/>
            <a:ext cx="594609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1.137</a:t>
            </a:r>
            <a:endParaRPr lang="en-US" sz="72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73" name="Text 70"/>
          <p:cNvSpPr/>
          <p:nvPr/>
        </p:nvSpPr>
        <p:spPr>
          <a:xfrm>
            <a:off x="1347528" y="2987003"/>
            <a:ext cx="702677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2.203</a:t>
            </a:r>
            <a:endParaRPr lang="en-US" sz="72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74" name="Text 71"/>
          <p:cNvSpPr/>
          <p:nvPr/>
        </p:nvSpPr>
        <p:spPr>
          <a:xfrm>
            <a:off x="2032886" y="2987003"/>
            <a:ext cx="594609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1.331</a:t>
            </a:r>
            <a:endParaRPr lang="en-US" sz="72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75" name="Text 72"/>
          <p:cNvSpPr/>
          <p:nvPr/>
        </p:nvSpPr>
        <p:spPr>
          <a:xfrm>
            <a:off x="1347528" y="3234653"/>
            <a:ext cx="702677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4.968</a:t>
            </a:r>
            <a:endParaRPr lang="en-US" sz="72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76" name="Text 73"/>
          <p:cNvSpPr/>
          <p:nvPr/>
        </p:nvSpPr>
        <p:spPr>
          <a:xfrm>
            <a:off x="2032886" y="3234653"/>
            <a:ext cx="594609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3.447</a:t>
            </a:r>
            <a:endParaRPr lang="en-US" sz="72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77" name="Text 74"/>
          <p:cNvSpPr/>
          <p:nvPr/>
        </p:nvSpPr>
        <p:spPr>
          <a:xfrm>
            <a:off x="3134931" y="3234653"/>
            <a:ext cx="594609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1.521</a:t>
            </a:r>
            <a:endParaRPr lang="en-US" sz="72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78" name="Text 75"/>
          <p:cNvSpPr/>
          <p:nvPr/>
        </p:nvSpPr>
        <p:spPr>
          <a:xfrm>
            <a:off x="685783" y="3482303"/>
            <a:ext cx="702677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744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Total</a:t>
            </a:r>
            <a:endParaRPr lang="en-US" sz="744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79" name="Text 76"/>
          <p:cNvSpPr/>
          <p:nvPr/>
        </p:nvSpPr>
        <p:spPr>
          <a:xfrm>
            <a:off x="2032886" y="3482303"/>
            <a:ext cx="594609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7.460</a:t>
            </a:r>
            <a:endParaRPr lang="en-US" sz="72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0" name="Text 77"/>
          <p:cNvSpPr/>
          <p:nvPr/>
        </p:nvSpPr>
        <p:spPr>
          <a:xfrm>
            <a:off x="3134931" y="3482303"/>
            <a:ext cx="594609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4.225</a:t>
            </a:r>
            <a:endParaRPr lang="en-US" sz="72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1" name="Text 78"/>
          <p:cNvSpPr/>
          <p:nvPr/>
        </p:nvSpPr>
        <p:spPr>
          <a:xfrm>
            <a:off x="5291185" y="4153816"/>
            <a:ext cx="642741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marL="0" indent="0" algn="r">
              <a:buNone/>
            </a:pPr>
            <a:r>
              <a:rPr lang="en-US" sz="672" b="1" dirty="0">
                <a:solidFill>
                  <a:srgbClr val="FFFFFF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Total</a:t>
            </a:r>
            <a:endParaRPr lang="en-US" sz="67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2" name="Text 79"/>
          <p:cNvSpPr/>
          <p:nvPr/>
        </p:nvSpPr>
        <p:spPr>
          <a:xfrm>
            <a:off x="8343394" y="2700338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24" b="1" dirty="0">
                <a:solidFill>
                  <a:srgbClr val="00CD9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+111%</a:t>
            </a:r>
            <a:endParaRPr lang="en-US" sz="624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3" name="Text 80"/>
          <p:cNvSpPr/>
          <p:nvPr/>
        </p:nvSpPr>
        <p:spPr>
          <a:xfrm>
            <a:off x="11275130" y="3923556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76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62.3%</a:t>
            </a:r>
            <a:endParaRPr lang="en-US" sz="57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4" name="Text 81"/>
          <p:cNvSpPr/>
          <p:nvPr/>
        </p:nvSpPr>
        <p:spPr>
          <a:xfrm>
            <a:off x="11282860" y="4160937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76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14.2%</a:t>
            </a:r>
            <a:endParaRPr lang="en-US" sz="57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5" name="Text 82"/>
          <p:cNvSpPr/>
          <p:nvPr/>
        </p:nvSpPr>
        <p:spPr>
          <a:xfrm>
            <a:off x="9067573" y="1085850"/>
            <a:ext cx="275427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00CD9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3.2×</a:t>
            </a:r>
            <a:endParaRPr lang="en-US" sz="102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6" name="Text 83"/>
          <p:cNvSpPr/>
          <p:nvPr/>
        </p:nvSpPr>
        <p:spPr>
          <a:xfrm>
            <a:off x="9223988" y="2575917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24" b="1" dirty="0">
                <a:solidFill>
                  <a:srgbClr val="00CD9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+21%</a:t>
            </a:r>
            <a:endParaRPr lang="en-US" sz="624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7" name="Text 84"/>
          <p:cNvSpPr/>
          <p:nvPr/>
        </p:nvSpPr>
        <p:spPr>
          <a:xfrm>
            <a:off x="10081514" y="1936849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24" b="1" dirty="0">
                <a:solidFill>
                  <a:srgbClr val="00CD9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+90%</a:t>
            </a:r>
            <a:endParaRPr lang="en-US" sz="624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8" name="Text 85"/>
          <p:cNvSpPr/>
          <p:nvPr/>
        </p:nvSpPr>
        <p:spPr>
          <a:xfrm>
            <a:off x="10948714" y="1852761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24" b="1" dirty="0">
                <a:solidFill>
                  <a:srgbClr val="00CD9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+32%</a:t>
            </a:r>
            <a:endParaRPr lang="en-US" sz="624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9" name="Text 86"/>
          <p:cNvSpPr/>
          <p:nvPr/>
        </p:nvSpPr>
        <p:spPr>
          <a:xfrm>
            <a:off x="11318512" y="4398466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76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8.2%</a:t>
            </a:r>
            <a:endParaRPr lang="en-US" sz="57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0" name="Text 87"/>
          <p:cNvSpPr/>
          <p:nvPr/>
        </p:nvSpPr>
        <p:spPr>
          <a:xfrm>
            <a:off x="11318354" y="4635847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76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6.2%</a:t>
            </a:r>
            <a:endParaRPr lang="en-US" sz="57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1" name="Text 88"/>
          <p:cNvSpPr/>
          <p:nvPr/>
        </p:nvSpPr>
        <p:spPr>
          <a:xfrm>
            <a:off x="11317881" y="4873228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76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4.6%</a:t>
            </a:r>
            <a:endParaRPr lang="en-US" sz="57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2" name="Text 89"/>
          <p:cNvSpPr/>
          <p:nvPr/>
        </p:nvSpPr>
        <p:spPr>
          <a:xfrm>
            <a:off x="11332552" y="5110609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76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1.1%</a:t>
            </a:r>
            <a:endParaRPr lang="en-US" sz="57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3" name="Text 90"/>
          <p:cNvSpPr/>
          <p:nvPr/>
        </p:nvSpPr>
        <p:spPr>
          <a:xfrm>
            <a:off x="11321667" y="5348139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576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3.4%</a:t>
            </a:r>
            <a:endParaRPr lang="en-US" sz="57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4" name="Text 91"/>
          <p:cNvSpPr/>
          <p:nvPr/>
        </p:nvSpPr>
        <p:spPr>
          <a:xfrm>
            <a:off x="685783" y="1772566"/>
            <a:ext cx="702677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marL="0" indent="0" algn="l">
              <a:buNone/>
            </a:pPr>
            <a:r>
              <a:rPr lang="en-US" sz="888" b="1" dirty="0">
                <a:solidFill>
                  <a:srgbClr val="FFFFFF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Mes</a:t>
            </a:r>
            <a:endParaRPr lang="en-US" sz="888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5" name="Text 92"/>
          <p:cNvSpPr/>
          <p:nvPr/>
        </p:nvSpPr>
        <p:spPr>
          <a:xfrm>
            <a:off x="685783" y="2001166"/>
            <a:ext cx="702677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744" b="1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Ene</a:t>
            </a:r>
            <a:endParaRPr lang="en-US" sz="744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6" name="Text 93"/>
          <p:cNvSpPr/>
          <p:nvPr/>
        </p:nvSpPr>
        <p:spPr>
          <a:xfrm>
            <a:off x="1347528" y="2001166"/>
            <a:ext cx="702677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294</a:t>
            </a:r>
            <a:endParaRPr lang="en-US" sz="72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7" name="Text 94"/>
          <p:cNvSpPr/>
          <p:nvPr/>
        </p:nvSpPr>
        <p:spPr>
          <a:xfrm>
            <a:off x="2032886" y="2001166"/>
            <a:ext cx="594609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121</a:t>
            </a:r>
            <a:endParaRPr lang="en-US" sz="72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8" name="Text 95"/>
          <p:cNvSpPr/>
          <p:nvPr/>
        </p:nvSpPr>
        <p:spPr>
          <a:xfrm>
            <a:off x="3134931" y="2001166"/>
            <a:ext cx="594609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173</a:t>
            </a:r>
            <a:endParaRPr lang="en-US" sz="72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9" name="Text 96"/>
          <p:cNvSpPr/>
          <p:nvPr/>
        </p:nvSpPr>
        <p:spPr>
          <a:xfrm>
            <a:off x="685783" y="2244053"/>
            <a:ext cx="702677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744" b="1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Feb</a:t>
            </a:r>
            <a:endParaRPr lang="en-US" sz="744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00" name="Text 97"/>
          <p:cNvSpPr/>
          <p:nvPr/>
        </p:nvSpPr>
        <p:spPr>
          <a:xfrm>
            <a:off x="1347528" y="2244053"/>
            <a:ext cx="702677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406</a:t>
            </a:r>
            <a:endParaRPr lang="en-US" sz="72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01" name="Text 98"/>
          <p:cNvSpPr/>
          <p:nvPr/>
        </p:nvSpPr>
        <p:spPr>
          <a:xfrm>
            <a:off x="2032886" y="2244053"/>
            <a:ext cx="594609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235</a:t>
            </a:r>
            <a:endParaRPr lang="en-US" sz="72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02" name="Text 99"/>
          <p:cNvSpPr/>
          <p:nvPr/>
        </p:nvSpPr>
        <p:spPr>
          <a:xfrm>
            <a:off x="3134931" y="2244053"/>
            <a:ext cx="594609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171</a:t>
            </a:r>
            <a:endParaRPr lang="en-US" sz="72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03" name="Text 100"/>
          <p:cNvSpPr/>
          <p:nvPr/>
        </p:nvSpPr>
        <p:spPr>
          <a:xfrm>
            <a:off x="685783" y="2491703"/>
            <a:ext cx="702677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744" b="1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Mar</a:t>
            </a:r>
            <a:endParaRPr lang="en-US" sz="744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04" name="Text 101"/>
          <p:cNvSpPr/>
          <p:nvPr/>
        </p:nvSpPr>
        <p:spPr>
          <a:xfrm>
            <a:off x="3134931" y="2491703"/>
            <a:ext cx="594609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675</a:t>
            </a:r>
            <a:endParaRPr lang="en-US" sz="72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05" name="Text 102"/>
          <p:cNvSpPr/>
          <p:nvPr/>
        </p:nvSpPr>
        <p:spPr>
          <a:xfrm>
            <a:off x="685783" y="2739353"/>
            <a:ext cx="702677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744" b="1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Abr</a:t>
            </a:r>
            <a:endParaRPr lang="en-US" sz="744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06" name="Text 103"/>
          <p:cNvSpPr/>
          <p:nvPr/>
        </p:nvSpPr>
        <p:spPr>
          <a:xfrm>
            <a:off x="3134931" y="2739353"/>
            <a:ext cx="594609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813</a:t>
            </a:r>
            <a:endParaRPr lang="en-US" sz="72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07" name="Text 104"/>
          <p:cNvSpPr/>
          <p:nvPr/>
        </p:nvSpPr>
        <p:spPr>
          <a:xfrm>
            <a:off x="3710649" y="2739353"/>
            <a:ext cx="648566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00CD9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115</a:t>
            </a:r>
            <a:endParaRPr lang="en-US" sz="72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08" name="Text 105"/>
          <p:cNvSpPr/>
          <p:nvPr/>
        </p:nvSpPr>
        <p:spPr>
          <a:xfrm>
            <a:off x="685783" y="2987003"/>
            <a:ext cx="702677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744" b="1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May</a:t>
            </a:r>
            <a:endParaRPr lang="en-US" sz="744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09" name="Text 106"/>
          <p:cNvSpPr/>
          <p:nvPr/>
        </p:nvSpPr>
        <p:spPr>
          <a:xfrm>
            <a:off x="3134931" y="2987003"/>
            <a:ext cx="594609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20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872</a:t>
            </a:r>
            <a:endParaRPr lang="en-US" sz="72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10" name="Text 107"/>
          <p:cNvSpPr/>
          <p:nvPr/>
        </p:nvSpPr>
        <p:spPr>
          <a:xfrm>
            <a:off x="3710649" y="2987003"/>
            <a:ext cx="648566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00CD9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218</a:t>
            </a:r>
            <a:endParaRPr lang="en-US" sz="72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11" name="Text 108"/>
          <p:cNvSpPr/>
          <p:nvPr/>
        </p:nvSpPr>
        <p:spPr>
          <a:xfrm>
            <a:off x="685783" y="3234653"/>
            <a:ext cx="702677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l">
              <a:buNone/>
            </a:pPr>
            <a:r>
              <a:rPr lang="en-US" sz="744" b="1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Jun</a:t>
            </a:r>
            <a:endParaRPr lang="en-US" sz="744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12" name="Text 109"/>
          <p:cNvSpPr/>
          <p:nvPr/>
        </p:nvSpPr>
        <p:spPr>
          <a:xfrm>
            <a:off x="3710649" y="3234653"/>
            <a:ext cx="648566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00CD9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287</a:t>
            </a:r>
            <a:endParaRPr lang="en-US" sz="72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13" name="Text 110"/>
          <p:cNvSpPr/>
          <p:nvPr/>
        </p:nvSpPr>
        <p:spPr>
          <a:xfrm>
            <a:off x="3710649" y="3482303"/>
            <a:ext cx="648566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00CD9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803</a:t>
            </a:r>
            <a:endParaRPr lang="en-US" sz="72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14" name="Text 111"/>
          <p:cNvSpPr/>
          <p:nvPr/>
        </p:nvSpPr>
        <p:spPr>
          <a:xfrm>
            <a:off x="2046743" y="4153816"/>
            <a:ext cx="558279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marL="0" indent="0" algn="r">
              <a:buNone/>
            </a:pPr>
            <a:r>
              <a:rPr lang="en-US" sz="672" b="1" dirty="0">
                <a:solidFill>
                  <a:srgbClr val="FFFFFF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Ene</a:t>
            </a:r>
            <a:endParaRPr lang="en-US" sz="67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15" name="Text 112"/>
          <p:cNvSpPr/>
          <p:nvPr/>
        </p:nvSpPr>
        <p:spPr>
          <a:xfrm>
            <a:off x="2588847" y="4153816"/>
            <a:ext cx="555367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marL="0" indent="0" algn="r">
              <a:buNone/>
            </a:pPr>
            <a:r>
              <a:rPr lang="en-US" sz="672" b="1" dirty="0">
                <a:solidFill>
                  <a:srgbClr val="FFFFFF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Feb</a:t>
            </a:r>
            <a:endParaRPr lang="en-US" sz="67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16" name="Text 113"/>
          <p:cNvSpPr/>
          <p:nvPr/>
        </p:nvSpPr>
        <p:spPr>
          <a:xfrm>
            <a:off x="3127886" y="4153816"/>
            <a:ext cx="560578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marL="0" indent="0" algn="r">
              <a:buNone/>
            </a:pPr>
            <a:r>
              <a:rPr lang="en-US" sz="672" b="1" dirty="0">
                <a:solidFill>
                  <a:srgbClr val="FFFFFF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Mar</a:t>
            </a:r>
            <a:endParaRPr lang="en-US" sz="67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17" name="Text 114"/>
          <p:cNvSpPr/>
          <p:nvPr/>
        </p:nvSpPr>
        <p:spPr>
          <a:xfrm>
            <a:off x="3672583" y="4153816"/>
            <a:ext cx="545249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marL="0" indent="0" algn="r">
              <a:buNone/>
            </a:pPr>
            <a:r>
              <a:rPr lang="en-US" sz="672" b="1" dirty="0">
                <a:solidFill>
                  <a:srgbClr val="FFFFFF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Abr</a:t>
            </a:r>
            <a:endParaRPr lang="en-US" sz="67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18" name="Text 115"/>
          <p:cNvSpPr/>
          <p:nvPr/>
        </p:nvSpPr>
        <p:spPr>
          <a:xfrm>
            <a:off x="4201000" y="4153816"/>
            <a:ext cx="577900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marL="0" indent="0" algn="r">
              <a:buNone/>
            </a:pPr>
            <a:r>
              <a:rPr lang="en-US" sz="672" b="1" dirty="0">
                <a:solidFill>
                  <a:srgbClr val="FFFFFF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May</a:t>
            </a:r>
            <a:endParaRPr lang="en-US" sz="67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19" name="Text 116"/>
          <p:cNvSpPr/>
          <p:nvPr/>
        </p:nvSpPr>
        <p:spPr>
          <a:xfrm>
            <a:off x="4762970" y="4153816"/>
            <a:ext cx="546936" cy="228600"/>
          </a:xfrm>
          <a:prstGeom prst="rect">
            <a:avLst/>
          </a:prstGeom>
          <a:noFill/>
          <a:ln/>
        </p:spPr>
        <p:txBody>
          <a:bodyPr wrap="square" lIns="47625" tIns="114300" rIns="114300" bIns="47625" rtlCol="0" anchor="ctr"/>
          <a:lstStyle/>
          <a:p>
            <a:pPr marL="0" indent="0" algn="r">
              <a:buNone/>
            </a:pPr>
            <a:r>
              <a:rPr lang="en-US" sz="672" b="1" dirty="0">
                <a:solidFill>
                  <a:srgbClr val="FFFFFF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Jun</a:t>
            </a:r>
            <a:endParaRPr lang="en-US" sz="67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20" name="Text 117"/>
          <p:cNvSpPr/>
          <p:nvPr/>
        </p:nvSpPr>
        <p:spPr>
          <a:xfrm>
            <a:off x="4201000" y="4382416"/>
            <a:ext cx="577900" cy="195263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67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101</a:t>
            </a:r>
            <a:endParaRPr lang="en-US" sz="67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21" name="Text 118"/>
          <p:cNvSpPr/>
          <p:nvPr/>
        </p:nvSpPr>
        <p:spPr>
          <a:xfrm>
            <a:off x="5291185" y="4382416"/>
            <a:ext cx="642741" cy="195263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696" b="1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255</a:t>
            </a:r>
            <a:endParaRPr lang="en-US" sz="69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22" name="Text 119"/>
          <p:cNvSpPr/>
          <p:nvPr/>
        </p:nvSpPr>
        <p:spPr>
          <a:xfrm>
            <a:off x="5291185" y="4577678"/>
            <a:ext cx="642741" cy="200025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696" b="1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165</a:t>
            </a:r>
            <a:endParaRPr lang="en-US" sz="69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23" name="Text 120"/>
          <p:cNvSpPr/>
          <p:nvPr/>
        </p:nvSpPr>
        <p:spPr>
          <a:xfrm>
            <a:off x="5291185" y="4777703"/>
            <a:ext cx="642741" cy="200025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696" b="1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138</a:t>
            </a:r>
            <a:endParaRPr lang="en-US" sz="69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24" name="Text 121"/>
          <p:cNvSpPr/>
          <p:nvPr/>
        </p:nvSpPr>
        <p:spPr>
          <a:xfrm>
            <a:off x="4201000" y="5181176"/>
            <a:ext cx="577900" cy="18573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672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204</a:t>
            </a:r>
            <a:endParaRPr lang="en-US" sz="67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25" name="Text 122"/>
          <p:cNvSpPr/>
          <p:nvPr/>
        </p:nvSpPr>
        <p:spPr>
          <a:xfrm>
            <a:off x="4762970" y="5181176"/>
            <a:ext cx="546936" cy="18573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672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266</a:t>
            </a:r>
            <a:endParaRPr lang="en-US" sz="67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26" name="Text 123"/>
          <p:cNvSpPr/>
          <p:nvPr/>
        </p:nvSpPr>
        <p:spPr>
          <a:xfrm>
            <a:off x="5291185" y="5181176"/>
            <a:ext cx="642741" cy="18573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696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605</a:t>
            </a:r>
            <a:endParaRPr lang="en-US" sz="69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27" name="Text 124"/>
          <p:cNvSpPr/>
          <p:nvPr/>
        </p:nvSpPr>
        <p:spPr>
          <a:xfrm>
            <a:off x="3505112" y="1085850"/>
            <a:ext cx="274320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00CD9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803</a:t>
            </a:r>
            <a:endParaRPr lang="en-US" sz="102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28" name="Text 125"/>
          <p:cNvSpPr/>
          <p:nvPr/>
        </p:nvSpPr>
        <p:spPr>
          <a:xfrm>
            <a:off x="6643224" y="3419475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96" b="1" dirty="0">
                <a:solidFill>
                  <a:srgbClr val="9098B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Ene</a:t>
            </a:r>
            <a:endParaRPr lang="en-US" sz="69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29" name="Text 126"/>
          <p:cNvSpPr/>
          <p:nvPr/>
        </p:nvSpPr>
        <p:spPr>
          <a:xfrm>
            <a:off x="7516525" y="3002161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24" b="1" dirty="0">
                <a:solidFill>
                  <a:srgbClr val="00CD9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+5%</a:t>
            </a:r>
            <a:endParaRPr lang="en-US" sz="624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30" name="Text 127"/>
          <p:cNvSpPr/>
          <p:nvPr/>
        </p:nvSpPr>
        <p:spPr>
          <a:xfrm>
            <a:off x="7507745" y="3419475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96" b="1" dirty="0">
                <a:solidFill>
                  <a:srgbClr val="9098B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Feb</a:t>
            </a:r>
            <a:endParaRPr lang="en-US" sz="69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31" name="Text 128"/>
          <p:cNvSpPr/>
          <p:nvPr/>
        </p:nvSpPr>
        <p:spPr>
          <a:xfrm>
            <a:off x="8369438" y="3419475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96" b="1" dirty="0">
                <a:solidFill>
                  <a:srgbClr val="9098B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Mar</a:t>
            </a:r>
            <a:endParaRPr lang="en-US" sz="69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32" name="Text 129"/>
          <p:cNvSpPr/>
          <p:nvPr/>
        </p:nvSpPr>
        <p:spPr>
          <a:xfrm>
            <a:off x="9238126" y="2462361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44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115</a:t>
            </a:r>
            <a:endParaRPr lang="en-US" sz="744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33" name="Text 130"/>
          <p:cNvSpPr/>
          <p:nvPr/>
        </p:nvSpPr>
        <p:spPr>
          <a:xfrm>
            <a:off x="9238573" y="3419475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96" b="1" dirty="0">
                <a:solidFill>
                  <a:srgbClr val="9098B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Abr</a:t>
            </a:r>
            <a:endParaRPr lang="en-US" sz="69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34" name="Text 131"/>
          <p:cNvSpPr/>
          <p:nvPr/>
        </p:nvSpPr>
        <p:spPr>
          <a:xfrm>
            <a:off x="10096545" y="1823293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44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218</a:t>
            </a:r>
            <a:endParaRPr lang="en-US" sz="744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35" name="Text 132"/>
          <p:cNvSpPr/>
          <p:nvPr/>
        </p:nvSpPr>
        <p:spPr>
          <a:xfrm>
            <a:off x="10090295" y="3419475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96" b="1" dirty="0">
                <a:solidFill>
                  <a:srgbClr val="9098B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May</a:t>
            </a:r>
            <a:endParaRPr lang="en-US" sz="69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36" name="Text 133"/>
          <p:cNvSpPr/>
          <p:nvPr/>
        </p:nvSpPr>
        <p:spPr>
          <a:xfrm>
            <a:off x="10957346" y="1739205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44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287</a:t>
            </a:r>
            <a:endParaRPr lang="en-US" sz="744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37" name="Text 134"/>
          <p:cNvSpPr/>
          <p:nvPr/>
        </p:nvSpPr>
        <p:spPr>
          <a:xfrm>
            <a:off x="10965382" y="3419475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96" b="1" dirty="0">
                <a:solidFill>
                  <a:srgbClr val="9098B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Jun</a:t>
            </a:r>
            <a:endParaRPr lang="en-US" sz="69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38" name="Text 135"/>
          <p:cNvSpPr/>
          <p:nvPr/>
        </p:nvSpPr>
        <p:spPr>
          <a:xfrm>
            <a:off x="8083427" y="6052245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24" b="1" dirty="0">
                <a:solidFill>
                  <a:srgbClr val="9098B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Mar</a:t>
            </a:r>
            <a:endParaRPr lang="en-US" sz="624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39" name="Text 136"/>
          <p:cNvSpPr/>
          <p:nvPr/>
        </p:nvSpPr>
        <p:spPr>
          <a:xfrm>
            <a:off x="10761766" y="6052245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24" b="1" dirty="0">
                <a:solidFill>
                  <a:srgbClr val="9098B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Jun</a:t>
            </a:r>
            <a:endParaRPr lang="en-US" sz="624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40" name="Text 137"/>
          <p:cNvSpPr/>
          <p:nvPr/>
        </p:nvSpPr>
        <p:spPr>
          <a:xfrm>
            <a:off x="3710649" y="2001166"/>
            <a:ext cx="648566" cy="24288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00CD9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43</a:t>
            </a:r>
            <a:endParaRPr lang="en-US" sz="72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41" name="Text 138"/>
          <p:cNvSpPr/>
          <p:nvPr/>
        </p:nvSpPr>
        <p:spPr>
          <a:xfrm>
            <a:off x="3710649" y="2244053"/>
            <a:ext cx="648566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00CD9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45</a:t>
            </a:r>
            <a:endParaRPr lang="en-US" sz="72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42" name="Text 139"/>
          <p:cNvSpPr/>
          <p:nvPr/>
        </p:nvSpPr>
        <p:spPr>
          <a:xfrm>
            <a:off x="3710649" y="2491703"/>
            <a:ext cx="648566" cy="247650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720" b="1" dirty="0">
                <a:solidFill>
                  <a:srgbClr val="00CD9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95</a:t>
            </a:r>
            <a:endParaRPr lang="en-US" sz="72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43" name="Text 140"/>
          <p:cNvSpPr/>
          <p:nvPr/>
        </p:nvSpPr>
        <p:spPr>
          <a:xfrm>
            <a:off x="3127886" y="4382416"/>
            <a:ext cx="560578" cy="195263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67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13</a:t>
            </a:r>
            <a:endParaRPr lang="en-US" sz="67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44" name="Text 141"/>
          <p:cNvSpPr/>
          <p:nvPr/>
        </p:nvSpPr>
        <p:spPr>
          <a:xfrm>
            <a:off x="3672583" y="4382416"/>
            <a:ext cx="545249" cy="195263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67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36</a:t>
            </a:r>
            <a:endParaRPr lang="en-US" sz="67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45" name="Text 142"/>
          <p:cNvSpPr/>
          <p:nvPr/>
        </p:nvSpPr>
        <p:spPr>
          <a:xfrm>
            <a:off x="4762970" y="4382416"/>
            <a:ext cx="546936" cy="195263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67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97</a:t>
            </a:r>
            <a:endParaRPr lang="en-US" sz="67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46" name="Text 143"/>
          <p:cNvSpPr/>
          <p:nvPr/>
        </p:nvSpPr>
        <p:spPr>
          <a:xfrm>
            <a:off x="3672583" y="4577678"/>
            <a:ext cx="545249" cy="200025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67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18</a:t>
            </a:r>
            <a:endParaRPr lang="en-US" sz="67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47" name="Text 144"/>
          <p:cNvSpPr/>
          <p:nvPr/>
        </p:nvSpPr>
        <p:spPr>
          <a:xfrm>
            <a:off x="4201000" y="4577678"/>
            <a:ext cx="577900" cy="200025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67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58</a:t>
            </a:r>
            <a:endParaRPr lang="en-US" sz="67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48" name="Text 145"/>
          <p:cNvSpPr/>
          <p:nvPr/>
        </p:nvSpPr>
        <p:spPr>
          <a:xfrm>
            <a:off x="4762970" y="4577678"/>
            <a:ext cx="546936" cy="200025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67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74</a:t>
            </a:r>
            <a:endParaRPr lang="en-US" sz="67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49" name="Text 146"/>
          <p:cNvSpPr/>
          <p:nvPr/>
        </p:nvSpPr>
        <p:spPr>
          <a:xfrm>
            <a:off x="3672583" y="4777703"/>
            <a:ext cx="545249" cy="200025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67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18</a:t>
            </a:r>
            <a:endParaRPr lang="en-US" sz="67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50" name="Text 147"/>
          <p:cNvSpPr/>
          <p:nvPr/>
        </p:nvSpPr>
        <p:spPr>
          <a:xfrm>
            <a:off x="4201000" y="4777703"/>
            <a:ext cx="577900" cy="200025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67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45</a:t>
            </a:r>
            <a:endParaRPr lang="en-US" sz="67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51" name="Text 148"/>
          <p:cNvSpPr/>
          <p:nvPr/>
        </p:nvSpPr>
        <p:spPr>
          <a:xfrm>
            <a:off x="4762970" y="4777703"/>
            <a:ext cx="546936" cy="200025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67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64</a:t>
            </a:r>
            <a:endParaRPr lang="en-US" sz="67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52" name="Text 149"/>
          <p:cNvSpPr/>
          <p:nvPr/>
        </p:nvSpPr>
        <p:spPr>
          <a:xfrm>
            <a:off x="4762970" y="4977728"/>
            <a:ext cx="546936" cy="20344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67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31</a:t>
            </a:r>
            <a:endParaRPr lang="en-US" sz="67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53" name="Text 150"/>
          <p:cNvSpPr/>
          <p:nvPr/>
        </p:nvSpPr>
        <p:spPr>
          <a:xfrm>
            <a:off x="5291185" y="4977728"/>
            <a:ext cx="642741" cy="20344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696" b="1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47</a:t>
            </a:r>
            <a:endParaRPr lang="en-US" sz="69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54" name="Text 151"/>
          <p:cNvSpPr/>
          <p:nvPr/>
        </p:nvSpPr>
        <p:spPr>
          <a:xfrm>
            <a:off x="2046743" y="5181176"/>
            <a:ext cx="558279" cy="18573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672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14</a:t>
            </a:r>
            <a:endParaRPr lang="en-US" sz="67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55" name="Text 152"/>
          <p:cNvSpPr/>
          <p:nvPr/>
        </p:nvSpPr>
        <p:spPr>
          <a:xfrm>
            <a:off x="2588847" y="5181176"/>
            <a:ext cx="555367" cy="18573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672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15</a:t>
            </a:r>
            <a:endParaRPr lang="en-US" sz="67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56" name="Text 153"/>
          <p:cNvSpPr/>
          <p:nvPr/>
        </p:nvSpPr>
        <p:spPr>
          <a:xfrm>
            <a:off x="3127886" y="5181176"/>
            <a:ext cx="560578" cy="18573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672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31</a:t>
            </a:r>
            <a:endParaRPr lang="en-US" sz="67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57" name="Text 154"/>
          <p:cNvSpPr/>
          <p:nvPr/>
        </p:nvSpPr>
        <p:spPr>
          <a:xfrm>
            <a:off x="3672583" y="5181176"/>
            <a:ext cx="545249" cy="185738"/>
          </a:xfrm>
          <a:prstGeom prst="rect">
            <a:avLst/>
          </a:prstGeom>
          <a:noFill/>
          <a:ln/>
        </p:spPr>
        <p:txBody>
          <a:bodyPr wrap="square" lIns="38100" tIns="114300" rIns="114300" bIns="38100" rtlCol="0" anchor="ctr"/>
          <a:lstStyle/>
          <a:p>
            <a:pPr marL="0" indent="0" algn="r">
              <a:buNone/>
            </a:pPr>
            <a:r>
              <a:rPr lang="en-US" sz="672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75</a:t>
            </a:r>
            <a:endParaRPr lang="en-US" sz="67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58" name="Text 155"/>
          <p:cNvSpPr/>
          <p:nvPr/>
        </p:nvSpPr>
        <p:spPr>
          <a:xfrm>
            <a:off x="6668524" y="2906316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44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43</a:t>
            </a:r>
            <a:endParaRPr lang="en-US" sz="744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59" name="Text 156"/>
          <p:cNvSpPr/>
          <p:nvPr/>
        </p:nvSpPr>
        <p:spPr>
          <a:xfrm>
            <a:off x="7532598" y="2888605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44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45</a:t>
            </a:r>
            <a:endParaRPr lang="en-US" sz="744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60" name="Text 157"/>
          <p:cNvSpPr/>
          <p:nvPr/>
        </p:nvSpPr>
        <p:spPr>
          <a:xfrm>
            <a:off x="8395631" y="2586782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44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95</a:t>
            </a:r>
            <a:endParaRPr lang="en-US" sz="744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162" name="Picture 161">
            <a:extLst>
              <a:ext uri="{FF2B5EF4-FFF2-40B4-BE49-F238E27FC236}">
                <a16:creationId xmlns:a16="http://schemas.microsoft.com/office/drawing/2014/main" id="{DEC2AC4F-1AC1-BD9D-9346-50F2E2B083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34650" y="78120"/>
            <a:ext cx="1530523" cy="459157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13_Presentaciones\dash\televentas\ppt_slides\sk_06_m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783" y="6393656"/>
            <a:ext cx="10302816" cy="101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744" b="1" dirty="0" err="1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Registros</a:t>
            </a:r>
            <a:r>
              <a:rPr lang="en-US" sz="744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 </a:t>
            </a:r>
            <a:r>
              <a:rPr lang="en-US" sz="744" b="1" dirty="0" err="1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enviados</a:t>
            </a:r>
            <a:r>
              <a:rPr lang="en-US" sz="744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 </a:t>
            </a:r>
            <a:r>
              <a:rPr lang="en-US" sz="744" b="1" dirty="0" err="1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anteriormente</a:t>
            </a:r>
            <a:r>
              <a:rPr lang="en-US" sz="744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: </a:t>
            </a:r>
            <a:r>
              <a:rPr lang="en-US" sz="744" b="1" dirty="0" err="1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cada</a:t>
            </a:r>
            <a:r>
              <a:rPr lang="en-US" sz="744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 </a:t>
            </a:r>
            <a:r>
              <a:rPr lang="en-US" sz="744" b="1" dirty="0" err="1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vez</a:t>
            </a:r>
            <a:r>
              <a:rPr lang="en-US" sz="744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 hay </a:t>
            </a:r>
            <a:r>
              <a:rPr lang="en-US" sz="744" b="1" dirty="0" err="1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menos</a:t>
            </a:r>
            <a:r>
              <a:rPr lang="en-US" sz="744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 </a:t>
            </a:r>
            <a:r>
              <a:rPr lang="en-US" sz="744" b="1" dirty="0" err="1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clientes</a:t>
            </a:r>
            <a:r>
              <a:rPr lang="en-US" sz="744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 </a:t>
            </a:r>
            <a:r>
              <a:rPr lang="en-US" sz="744" b="1" dirty="0" err="1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nuevos</a:t>
            </a:r>
            <a:r>
              <a:rPr lang="en-US" sz="744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 </a:t>
            </a:r>
            <a:r>
              <a:rPr lang="en-US" sz="744" b="1" dirty="0" err="1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en</a:t>
            </a:r>
            <a:r>
              <a:rPr lang="en-US" sz="744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 la base — hay </a:t>
            </a:r>
            <a:r>
              <a:rPr lang="en-US" sz="744" b="1" dirty="0" err="1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mucho</a:t>
            </a:r>
            <a:r>
              <a:rPr lang="en-US" sz="744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 </a:t>
            </a:r>
            <a:r>
              <a:rPr lang="en-US" sz="744" b="1" dirty="0" err="1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cliente</a:t>
            </a:r>
            <a:r>
              <a:rPr lang="en-US" sz="744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 </a:t>
            </a:r>
            <a:r>
              <a:rPr lang="en-US" sz="744" b="1" dirty="0" err="1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que</a:t>
            </a:r>
            <a:r>
              <a:rPr lang="en-US" sz="744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 </a:t>
            </a:r>
            <a:r>
              <a:rPr lang="en-US" sz="744" b="1" dirty="0" err="1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ya</a:t>
            </a:r>
            <a:r>
              <a:rPr lang="en-US" sz="744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 </a:t>
            </a:r>
            <a:r>
              <a:rPr lang="en-US" sz="744" b="1" dirty="0" err="1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gestionamos</a:t>
            </a:r>
            <a:r>
              <a:rPr lang="en-US" sz="744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 </a:t>
            </a:r>
            <a:r>
              <a:rPr lang="en-US" sz="744" b="1" dirty="0" err="1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en</a:t>
            </a:r>
            <a:r>
              <a:rPr lang="en-US" sz="744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 </a:t>
            </a:r>
            <a:r>
              <a:rPr lang="en-US" sz="744" b="1" dirty="0" err="1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algún</a:t>
            </a:r>
            <a:r>
              <a:rPr lang="en-US" sz="744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 </a:t>
            </a:r>
            <a:r>
              <a:rPr lang="en-US" sz="744" b="1" dirty="0" err="1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momento</a:t>
            </a:r>
            <a:r>
              <a:rPr lang="en-US" sz="744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 (</a:t>
            </a:r>
            <a:r>
              <a:rPr lang="en-US" sz="744" b="1" dirty="0" err="1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los</a:t>
            </a:r>
            <a:r>
              <a:rPr lang="en-US" sz="744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 re-</a:t>
            </a:r>
            <a:r>
              <a:rPr lang="en-US" sz="744" b="1" dirty="0" err="1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envíos</a:t>
            </a:r>
            <a:r>
              <a:rPr lang="en-US" sz="744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 suman el 16,6 % del </a:t>
            </a:r>
            <a:r>
              <a:rPr lang="en-US" sz="744" b="1" dirty="0" err="1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descarte</a:t>
            </a:r>
            <a:r>
              <a:rPr lang="en-US" sz="744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).</a:t>
            </a:r>
            <a:endParaRPr lang="en-US" sz="744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685782" y="6247209"/>
            <a:ext cx="8740773" cy="1202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744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El </a:t>
            </a:r>
            <a:r>
              <a:rPr lang="en-US" sz="744" b="1" dirty="0" err="1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descarte</a:t>
            </a:r>
            <a:r>
              <a:rPr lang="en-US" sz="744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 principal es </a:t>
            </a:r>
            <a:r>
              <a:rPr lang="en-US" sz="744" b="1" dirty="0" err="1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Cuota</a:t>
            </a:r>
            <a:r>
              <a:rPr lang="en-US" sz="744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 </a:t>
            </a:r>
            <a:r>
              <a:rPr lang="en-US" sz="744" b="1" dirty="0" err="1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Protegida</a:t>
            </a:r>
            <a:r>
              <a:rPr lang="en-US" sz="744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 Activa (50,9 %), lo </a:t>
            </a:r>
            <a:r>
              <a:rPr lang="en-US" sz="744" b="1" dirty="0" err="1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que</a:t>
            </a:r>
            <a:r>
              <a:rPr lang="en-US" sz="744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 indica </a:t>
            </a:r>
            <a:r>
              <a:rPr lang="en-US" sz="744" b="1" dirty="0" err="1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que</a:t>
            </a:r>
            <a:r>
              <a:rPr lang="en-US" sz="744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 el 1S se </a:t>
            </a:r>
            <a:r>
              <a:rPr lang="en-US" sz="744" b="1" dirty="0" err="1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depuró</a:t>
            </a:r>
            <a:r>
              <a:rPr lang="en-US" sz="744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 </a:t>
            </a:r>
            <a:r>
              <a:rPr lang="en-US" sz="744" b="1" dirty="0" err="1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correctamente</a:t>
            </a:r>
            <a:r>
              <a:rPr lang="en-US" sz="744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 contra </a:t>
            </a:r>
            <a:r>
              <a:rPr lang="en-US" sz="744" b="1" dirty="0" err="1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clientes</a:t>
            </a:r>
            <a:r>
              <a:rPr lang="en-US" sz="744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 </a:t>
            </a:r>
            <a:r>
              <a:rPr lang="en-US" sz="744" b="1" dirty="0" err="1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vigentes</a:t>
            </a:r>
            <a:r>
              <a:rPr lang="en-US" sz="744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 antes de </a:t>
            </a:r>
            <a:r>
              <a:rPr lang="en-US" sz="744" b="1" dirty="0" err="1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lanzar</a:t>
            </a:r>
            <a:r>
              <a:rPr lang="en-US" sz="744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 el </a:t>
            </a:r>
            <a:r>
              <a:rPr lang="en-US" sz="744" b="1" dirty="0" err="1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marcador</a:t>
            </a:r>
            <a:r>
              <a:rPr lang="en-US" sz="744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.</a:t>
            </a:r>
            <a:endParaRPr lang="en-US" sz="744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685783" y="6540102"/>
            <a:ext cx="6692223" cy="1631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744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Venta </a:t>
            </a:r>
            <a:r>
              <a:rPr lang="en-US" sz="744" b="1" dirty="0" err="1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Exitosa</a:t>
            </a:r>
            <a:r>
              <a:rPr lang="en-US" sz="744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 </a:t>
            </a:r>
            <a:r>
              <a:rPr lang="en-US" sz="744" b="1" dirty="0" err="1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representa</a:t>
            </a:r>
            <a:r>
              <a:rPr lang="en-US" sz="744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 el 15,9 % de la </a:t>
            </a:r>
            <a:r>
              <a:rPr lang="en-US" sz="744" b="1" dirty="0" err="1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gestión</a:t>
            </a:r>
            <a:r>
              <a:rPr lang="en-US" sz="744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 de leads </a:t>
            </a:r>
            <a:r>
              <a:rPr lang="en-US" sz="744" b="1" dirty="0" err="1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aptos</a:t>
            </a:r>
            <a:r>
              <a:rPr lang="en-US" sz="744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, </a:t>
            </a:r>
            <a:r>
              <a:rPr lang="en-US" sz="744" b="1" dirty="0" err="1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convirtiéndose</a:t>
            </a:r>
            <a:r>
              <a:rPr lang="en-US" sz="744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 </a:t>
            </a:r>
            <a:r>
              <a:rPr lang="en-US" sz="744" b="1" dirty="0" err="1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en</a:t>
            </a:r>
            <a:r>
              <a:rPr lang="en-US" sz="744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 el motor de </a:t>
            </a:r>
            <a:r>
              <a:rPr lang="en-US" sz="744" b="1" dirty="0" err="1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ventas</a:t>
            </a:r>
            <a:r>
              <a:rPr lang="en-US" sz="744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 del canal.</a:t>
            </a:r>
            <a:endParaRPr lang="en-US" sz="744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685783" y="6100763"/>
            <a:ext cx="6232602" cy="110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744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Esta base </a:t>
            </a:r>
            <a:r>
              <a:rPr lang="en-US" sz="744" b="1" dirty="0" err="1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tiene</a:t>
            </a:r>
            <a:r>
              <a:rPr lang="en-US" sz="744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 la mayor </a:t>
            </a:r>
            <a:r>
              <a:rPr lang="en-US" sz="744" b="1" dirty="0" err="1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contactabilidad</a:t>
            </a:r>
            <a:r>
              <a:rPr lang="en-US" sz="744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 del canal (79,0 % </a:t>
            </a:r>
            <a:r>
              <a:rPr lang="en-US" sz="744" b="1" dirty="0" err="1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Semestre</a:t>
            </a:r>
            <a:r>
              <a:rPr lang="en-US" sz="744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) y </a:t>
            </a:r>
            <a:r>
              <a:rPr lang="en-US" sz="744" b="1" dirty="0" err="1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una</a:t>
            </a:r>
            <a:r>
              <a:rPr lang="en-US" sz="744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 </a:t>
            </a:r>
            <a:r>
              <a:rPr lang="en-US" sz="744" b="1" dirty="0" err="1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efectividad</a:t>
            </a:r>
            <a:r>
              <a:rPr lang="en-US" sz="744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 </a:t>
            </a:r>
            <a:r>
              <a:rPr lang="en-US" sz="744" b="1" dirty="0" err="1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sobresaliente</a:t>
            </a:r>
            <a:r>
              <a:rPr lang="en-US" sz="744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.</a:t>
            </a:r>
            <a:endParaRPr lang="en-US" sz="744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571486" y="209550"/>
            <a:ext cx="3923801" cy="196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60" b="1" dirty="0">
                <a:solidFill>
                  <a:srgbClr val="FFFFFF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DETALLE OPERATIVO · CAMPAÑA BIENVENIDAS CP</a:t>
            </a:r>
            <a:endParaRPr lang="en-US" sz="126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8216594" y="1200894"/>
            <a:ext cx="2037537" cy="104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48" dirty="0">
                <a:solidFill>
                  <a:srgbClr val="9098B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Alta </a:t>
            </a:r>
            <a:r>
              <a:rPr lang="en-US" sz="648" dirty="0" err="1">
                <a:solidFill>
                  <a:srgbClr val="9098B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efectividad</a:t>
            </a:r>
            <a:r>
              <a:rPr lang="en-US" sz="648" dirty="0">
                <a:solidFill>
                  <a:srgbClr val="9098B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 </a:t>
            </a:r>
            <a:r>
              <a:rPr lang="en-US" sz="648" dirty="0" err="1">
                <a:solidFill>
                  <a:srgbClr val="9098B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comercial</a:t>
            </a:r>
            <a:r>
              <a:rPr lang="en-US" sz="648" dirty="0">
                <a:solidFill>
                  <a:srgbClr val="9098B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 </a:t>
            </a:r>
            <a:r>
              <a:rPr lang="en-US" sz="648" dirty="0" err="1">
                <a:solidFill>
                  <a:srgbClr val="9098B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sobre</a:t>
            </a:r>
            <a:r>
              <a:rPr lang="en-US" sz="648" dirty="0">
                <a:solidFill>
                  <a:srgbClr val="9098B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 </a:t>
            </a:r>
            <a:r>
              <a:rPr lang="en-US" sz="648" dirty="0" err="1">
                <a:solidFill>
                  <a:srgbClr val="9098B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contacto</a:t>
            </a:r>
            <a:endParaRPr lang="en-US" sz="648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6372066" y="2915394"/>
            <a:ext cx="203753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16" b="1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4. Tipificación de Leads Aptos por Mes</a:t>
            </a:r>
            <a:endParaRPr lang="en-US" sz="81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609585" y="1486644"/>
            <a:ext cx="205678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16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1. Calidad de Base y </a:t>
            </a:r>
            <a:r>
              <a:rPr lang="en-US" sz="816" b="1" dirty="0" err="1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Descarte</a:t>
            </a:r>
            <a:r>
              <a:rPr lang="en-US" sz="816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 </a:t>
            </a:r>
            <a:r>
              <a:rPr lang="en-US" sz="816" b="1" dirty="0" err="1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Mensual</a:t>
            </a:r>
            <a:endParaRPr lang="en-US" sz="81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6267293" y="488709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52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Teléfono apagado / fuera de servicio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533387" y="1200894"/>
            <a:ext cx="1722512" cy="1135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48" dirty="0" err="1">
                <a:solidFill>
                  <a:srgbClr val="9098B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Líder</a:t>
            </a:r>
            <a:r>
              <a:rPr lang="en-US" sz="648" dirty="0">
                <a:solidFill>
                  <a:srgbClr val="9098B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 </a:t>
            </a:r>
            <a:r>
              <a:rPr lang="en-US" sz="648" dirty="0" err="1">
                <a:solidFill>
                  <a:srgbClr val="9098B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en</a:t>
            </a:r>
            <a:r>
              <a:rPr lang="en-US" sz="648" dirty="0">
                <a:solidFill>
                  <a:srgbClr val="9098B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 </a:t>
            </a:r>
            <a:r>
              <a:rPr lang="en-US" sz="648" dirty="0" err="1">
                <a:solidFill>
                  <a:srgbClr val="9098B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contactabilidad</a:t>
            </a:r>
            <a:r>
              <a:rPr lang="en-US" sz="648" dirty="0">
                <a:solidFill>
                  <a:srgbClr val="9098B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 del canal</a:t>
            </a:r>
            <a:endParaRPr lang="en-US" sz="648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6372066" y="1486644"/>
            <a:ext cx="267090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16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3. </a:t>
            </a:r>
            <a:r>
              <a:rPr lang="en-US" sz="816" b="1" dirty="0" err="1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Insumo</a:t>
            </a:r>
            <a:r>
              <a:rPr lang="en-US" sz="816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 </a:t>
            </a:r>
            <a:r>
              <a:rPr lang="en-US" sz="816" b="1" dirty="0" err="1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Apto</a:t>
            </a:r>
            <a:r>
              <a:rPr lang="en-US" sz="816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, Contacto y Ventas</a:t>
            </a:r>
            <a:endParaRPr lang="en-US" sz="81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504812" y="422034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76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Excede límite de edad (&gt;80 años)</a:t>
            </a:r>
            <a:endParaRPr lang="en-US" sz="57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504812" y="382029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76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Registro Recibido Anteriormente</a:t>
            </a:r>
            <a:endParaRPr lang="en-US" sz="57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714357" y="5944791"/>
            <a:ext cx="2434285" cy="110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44" b="1" dirty="0" err="1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Observaciones</a:t>
            </a:r>
            <a:r>
              <a:rPr lang="en-US" sz="744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 Clave de la Base:</a:t>
            </a:r>
            <a:endParaRPr lang="en-US" sz="744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504812" y="355359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76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Registro Enviado Anteriormente</a:t>
            </a:r>
            <a:endParaRPr lang="en-US" sz="57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504812" y="395364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76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Registro con Localidad Errónea</a:t>
            </a:r>
            <a:endParaRPr lang="en-US" sz="57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495288" y="2915394"/>
            <a:ext cx="164662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16" b="1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2. Motivos de Descarte por Mes</a:t>
            </a:r>
            <a:endParaRPr lang="en-US" sz="81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6267293" y="355359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52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No interesado por el producto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6267293" y="382029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52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Agendado / llamada posterior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6267293" y="408699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52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Datos errados / experiencia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6267293" y="422034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52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No interesado por el precio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6267293" y="395364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52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No es responsable del pago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4374990" y="1200894"/>
            <a:ext cx="1663369" cy="1135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48" dirty="0">
                <a:solidFill>
                  <a:srgbClr val="9098B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Motor de </a:t>
            </a:r>
            <a:r>
              <a:rPr lang="en-US" sz="648" dirty="0" err="1">
                <a:solidFill>
                  <a:srgbClr val="9098B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ventas</a:t>
            </a:r>
            <a:r>
              <a:rPr lang="en-US" sz="648" dirty="0">
                <a:solidFill>
                  <a:srgbClr val="9098B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 del canal</a:t>
            </a:r>
            <a:endParaRPr lang="en-US" sz="648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6" name="Text 23"/>
          <p:cNvSpPr/>
          <p:nvPr/>
        </p:nvSpPr>
        <p:spPr>
          <a:xfrm>
            <a:off x="504812" y="408699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76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Cédula/Teléfono Repetido</a:t>
            </a:r>
            <a:endParaRPr lang="en-US" sz="57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7" name="Text 24"/>
          <p:cNvSpPr/>
          <p:nvPr/>
        </p:nvSpPr>
        <p:spPr>
          <a:xfrm>
            <a:off x="533387" y="809625"/>
            <a:ext cx="1476565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72" b="1">
                <a:solidFill>
                  <a:srgbClr val="9098B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CONTACTABILIDAD PROMEDIO</a:t>
            </a:r>
            <a:endParaRPr lang="en-US" sz="67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8" name="Text 25"/>
          <p:cNvSpPr/>
          <p:nvPr/>
        </p:nvSpPr>
        <p:spPr>
          <a:xfrm>
            <a:off x="504812" y="3291655"/>
            <a:ext cx="1879325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76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Cuota Protegida Activa</a:t>
            </a:r>
            <a:endParaRPr lang="en-US" sz="57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9" name="Text 26"/>
          <p:cNvSpPr/>
          <p:nvPr/>
        </p:nvSpPr>
        <p:spPr>
          <a:xfrm>
            <a:off x="6267293" y="462039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52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Contestador automático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0" name="Text 27"/>
          <p:cNvSpPr/>
          <p:nvPr/>
        </p:nvSpPr>
        <p:spPr>
          <a:xfrm>
            <a:off x="504812" y="435369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76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Otros motivos menores</a:t>
            </a:r>
            <a:endParaRPr lang="en-US" sz="57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1" name="Text 28"/>
          <p:cNvSpPr/>
          <p:nvPr/>
        </p:nvSpPr>
        <p:spPr>
          <a:xfrm>
            <a:off x="6267293" y="435369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52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Otros motivos menores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2" name="Text 29"/>
          <p:cNvSpPr/>
          <p:nvPr/>
        </p:nvSpPr>
        <p:spPr>
          <a:xfrm>
            <a:off x="8216595" y="809625"/>
            <a:ext cx="1209961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72" b="1">
                <a:solidFill>
                  <a:srgbClr val="9098B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CONVERSIÓN PROMEDIO</a:t>
            </a:r>
            <a:endParaRPr lang="en-US" sz="67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3" name="Text 30"/>
          <p:cNvSpPr/>
          <p:nvPr/>
        </p:nvSpPr>
        <p:spPr>
          <a:xfrm>
            <a:off x="504812" y="368694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76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Microseguro Activo</a:t>
            </a:r>
            <a:endParaRPr lang="en-US" sz="57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4" name="Text 31"/>
          <p:cNvSpPr/>
          <p:nvPr/>
        </p:nvSpPr>
        <p:spPr>
          <a:xfrm>
            <a:off x="504812" y="342024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76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Contrato Repetido</a:t>
            </a:r>
            <a:endParaRPr lang="en-US" sz="57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5" name="Text 32"/>
          <p:cNvSpPr/>
          <p:nvPr/>
        </p:nvSpPr>
        <p:spPr>
          <a:xfrm>
            <a:off x="6267293" y="3291655"/>
            <a:ext cx="1879325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52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CONTACTO EFECTIVO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6" name="Text 33"/>
          <p:cNvSpPr/>
          <p:nvPr/>
        </p:nvSpPr>
        <p:spPr>
          <a:xfrm>
            <a:off x="6267293" y="368694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52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Cuelga la llamada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7" name="Text 34"/>
          <p:cNvSpPr/>
          <p:nvPr/>
        </p:nvSpPr>
        <p:spPr>
          <a:xfrm>
            <a:off x="6267293" y="502044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52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Otros no contacto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8" name="Text 35"/>
          <p:cNvSpPr/>
          <p:nvPr/>
        </p:nvSpPr>
        <p:spPr>
          <a:xfrm>
            <a:off x="6267293" y="5153792"/>
            <a:ext cx="1879325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52" b="1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Total gestionado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9" name="Text 36"/>
          <p:cNvSpPr/>
          <p:nvPr/>
        </p:nvSpPr>
        <p:spPr>
          <a:xfrm>
            <a:off x="4374991" y="809625"/>
            <a:ext cx="85817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72" b="1">
                <a:solidFill>
                  <a:srgbClr val="9098B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VENTAS TOTALES</a:t>
            </a:r>
            <a:endParaRPr lang="en-US" sz="67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0" name="Text 37"/>
          <p:cNvSpPr/>
          <p:nvPr/>
        </p:nvSpPr>
        <p:spPr>
          <a:xfrm>
            <a:off x="10239394" y="1681930"/>
            <a:ext cx="1457013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>
                <a:solidFill>
                  <a:srgbClr val="FFFFFF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Conv. / Ctto.</a:t>
            </a:r>
            <a:endParaRPr lang="en-US" sz="888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1" name="Text 38"/>
          <p:cNvSpPr/>
          <p:nvPr/>
        </p:nvSpPr>
        <p:spPr>
          <a:xfrm>
            <a:off x="6267293" y="342024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52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Venta exitosa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2" name="Text 39"/>
          <p:cNvSpPr/>
          <p:nvPr/>
        </p:nvSpPr>
        <p:spPr>
          <a:xfrm>
            <a:off x="6267293" y="3120205"/>
            <a:ext cx="1879325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888" b="1">
                <a:solidFill>
                  <a:srgbClr val="FFFFFF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Tipificación</a:t>
            </a:r>
            <a:endParaRPr lang="en-US" sz="888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3" name="Text 40"/>
          <p:cNvSpPr/>
          <p:nvPr/>
        </p:nvSpPr>
        <p:spPr>
          <a:xfrm>
            <a:off x="6267293" y="448704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52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NO CONTACTO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4" name="Text 41"/>
          <p:cNvSpPr/>
          <p:nvPr/>
        </p:nvSpPr>
        <p:spPr>
          <a:xfrm>
            <a:off x="6267293" y="475374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52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No contesta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5" name="Text 42"/>
          <p:cNvSpPr/>
          <p:nvPr/>
        </p:nvSpPr>
        <p:spPr>
          <a:xfrm>
            <a:off x="2951194" y="1681930"/>
            <a:ext cx="1568454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>
                <a:solidFill>
                  <a:srgbClr val="FFFFFF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Rechazados</a:t>
            </a:r>
            <a:endParaRPr lang="en-US" sz="888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6" name="Text 43"/>
          <p:cNvSpPr/>
          <p:nvPr/>
        </p:nvSpPr>
        <p:spPr>
          <a:xfrm>
            <a:off x="8294831" y="1681930"/>
            <a:ext cx="1008183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>
                <a:solidFill>
                  <a:srgbClr val="FFFFFF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Contactab.</a:t>
            </a:r>
            <a:endParaRPr lang="en-US" sz="888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7" name="Text 44"/>
          <p:cNvSpPr/>
          <p:nvPr/>
        </p:nvSpPr>
        <p:spPr>
          <a:xfrm>
            <a:off x="1540477" y="1681930"/>
            <a:ext cx="1456400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>
                <a:solidFill>
                  <a:srgbClr val="FFFFFF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Recibidos</a:t>
            </a:r>
            <a:endParaRPr lang="en-US" sz="888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8" name="Text 45"/>
          <p:cNvSpPr/>
          <p:nvPr/>
        </p:nvSpPr>
        <p:spPr>
          <a:xfrm>
            <a:off x="4477220" y="1681930"/>
            <a:ext cx="1456707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>
                <a:solidFill>
                  <a:srgbClr val="FFFFFF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% Rechazo</a:t>
            </a:r>
            <a:endParaRPr lang="en-US" sz="888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9" name="Text 46"/>
          <p:cNvSpPr/>
          <p:nvPr/>
        </p:nvSpPr>
        <p:spPr>
          <a:xfrm>
            <a:off x="495288" y="1991492"/>
            <a:ext cx="1120237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636" b="1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Febrero</a:t>
            </a:r>
            <a:endParaRPr lang="en-US" sz="63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0" name="Text 47"/>
          <p:cNvSpPr/>
          <p:nvPr/>
        </p:nvSpPr>
        <p:spPr>
          <a:xfrm>
            <a:off x="1540477" y="2705867"/>
            <a:ext cx="1456400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b="1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114.694</a:t>
            </a:r>
            <a:endParaRPr lang="en-US" sz="63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1" name="Text 48"/>
          <p:cNvSpPr/>
          <p:nvPr/>
        </p:nvSpPr>
        <p:spPr>
          <a:xfrm>
            <a:off x="6257769" y="1991492"/>
            <a:ext cx="1120237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636" b="1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Febrero</a:t>
            </a:r>
            <a:endParaRPr lang="en-US" sz="63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2" name="Text 49"/>
          <p:cNvSpPr/>
          <p:nvPr/>
        </p:nvSpPr>
        <p:spPr>
          <a:xfrm>
            <a:off x="1540477" y="1853380"/>
            <a:ext cx="1456400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14.772</a:t>
            </a:r>
            <a:endParaRPr lang="en-US" sz="63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3" name="Text 50"/>
          <p:cNvSpPr/>
          <p:nvPr/>
        </p:nvSpPr>
        <p:spPr>
          <a:xfrm>
            <a:off x="4477220" y="1853380"/>
            <a:ext cx="1456707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57,4 %</a:t>
            </a:r>
            <a:endParaRPr lang="en-US" sz="63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4" name="Text 51"/>
          <p:cNvSpPr/>
          <p:nvPr/>
        </p:nvSpPr>
        <p:spPr>
          <a:xfrm>
            <a:off x="1540477" y="1991492"/>
            <a:ext cx="1456400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19.573</a:t>
            </a:r>
            <a:endParaRPr lang="en-US" sz="63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5" name="Text 52"/>
          <p:cNvSpPr/>
          <p:nvPr/>
        </p:nvSpPr>
        <p:spPr>
          <a:xfrm>
            <a:off x="2951194" y="1991492"/>
            <a:ext cx="1568454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11.134</a:t>
            </a:r>
            <a:endParaRPr lang="en-US" sz="63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6" name="Text 53"/>
          <p:cNvSpPr/>
          <p:nvPr/>
        </p:nvSpPr>
        <p:spPr>
          <a:xfrm>
            <a:off x="4477220" y="1991492"/>
            <a:ext cx="1456707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56,9 %</a:t>
            </a:r>
            <a:endParaRPr lang="en-US" sz="63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7" name="Text 54"/>
          <p:cNvSpPr/>
          <p:nvPr/>
        </p:nvSpPr>
        <p:spPr>
          <a:xfrm>
            <a:off x="1540477" y="2134367"/>
            <a:ext cx="1456400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21.419</a:t>
            </a:r>
            <a:endParaRPr lang="en-US" sz="63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8" name="Text 55"/>
          <p:cNvSpPr/>
          <p:nvPr/>
        </p:nvSpPr>
        <p:spPr>
          <a:xfrm>
            <a:off x="2951194" y="2134367"/>
            <a:ext cx="1568454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13.486</a:t>
            </a:r>
            <a:endParaRPr lang="en-US" sz="63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9" name="Text 56"/>
          <p:cNvSpPr/>
          <p:nvPr/>
        </p:nvSpPr>
        <p:spPr>
          <a:xfrm>
            <a:off x="4477220" y="2134367"/>
            <a:ext cx="1456707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63,0 %</a:t>
            </a:r>
            <a:endParaRPr lang="en-US" sz="63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0" name="Text 57"/>
          <p:cNvSpPr/>
          <p:nvPr/>
        </p:nvSpPr>
        <p:spPr>
          <a:xfrm>
            <a:off x="1540477" y="2277242"/>
            <a:ext cx="1456400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19.096</a:t>
            </a:r>
            <a:endParaRPr lang="en-US" sz="63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1" name="Text 58"/>
          <p:cNvSpPr/>
          <p:nvPr/>
        </p:nvSpPr>
        <p:spPr>
          <a:xfrm>
            <a:off x="2951194" y="2277242"/>
            <a:ext cx="1568454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10.792</a:t>
            </a:r>
            <a:endParaRPr lang="en-US" sz="63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2" name="Text 59"/>
          <p:cNvSpPr/>
          <p:nvPr/>
        </p:nvSpPr>
        <p:spPr>
          <a:xfrm>
            <a:off x="4477220" y="2277242"/>
            <a:ext cx="1456707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56,5 %</a:t>
            </a:r>
            <a:endParaRPr lang="en-US" sz="63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3" name="Text 60"/>
          <p:cNvSpPr/>
          <p:nvPr/>
        </p:nvSpPr>
        <p:spPr>
          <a:xfrm>
            <a:off x="1540477" y="2420117"/>
            <a:ext cx="1456400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20.067</a:t>
            </a:r>
            <a:endParaRPr lang="en-US" sz="63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4" name="Text 61"/>
          <p:cNvSpPr/>
          <p:nvPr/>
        </p:nvSpPr>
        <p:spPr>
          <a:xfrm>
            <a:off x="2951194" y="2420117"/>
            <a:ext cx="1568454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13.166</a:t>
            </a:r>
            <a:endParaRPr lang="en-US" sz="63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5" name="Text 62"/>
          <p:cNvSpPr/>
          <p:nvPr/>
        </p:nvSpPr>
        <p:spPr>
          <a:xfrm>
            <a:off x="4477220" y="2420117"/>
            <a:ext cx="1456707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65,6 %</a:t>
            </a:r>
            <a:endParaRPr lang="en-US" sz="63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6" name="Text 63"/>
          <p:cNvSpPr/>
          <p:nvPr/>
        </p:nvSpPr>
        <p:spPr>
          <a:xfrm>
            <a:off x="1540477" y="2562992"/>
            <a:ext cx="1456400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19.767</a:t>
            </a:r>
            <a:endParaRPr lang="en-US" sz="63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7" name="Text 64"/>
          <p:cNvSpPr/>
          <p:nvPr/>
        </p:nvSpPr>
        <p:spPr>
          <a:xfrm>
            <a:off x="2951194" y="2562992"/>
            <a:ext cx="1568454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13.203</a:t>
            </a:r>
            <a:endParaRPr lang="en-US" sz="63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8" name="Text 65"/>
          <p:cNvSpPr/>
          <p:nvPr/>
        </p:nvSpPr>
        <p:spPr>
          <a:xfrm>
            <a:off x="4477220" y="2562992"/>
            <a:ext cx="1456707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66,8 %</a:t>
            </a:r>
            <a:endParaRPr lang="en-US" sz="63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9" name="Text 66"/>
          <p:cNvSpPr/>
          <p:nvPr/>
        </p:nvSpPr>
        <p:spPr>
          <a:xfrm>
            <a:off x="2951194" y="2705867"/>
            <a:ext cx="1568454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b="1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70.266</a:t>
            </a:r>
            <a:endParaRPr lang="en-US" sz="63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70" name="Text 67"/>
          <p:cNvSpPr/>
          <p:nvPr/>
        </p:nvSpPr>
        <p:spPr>
          <a:xfrm>
            <a:off x="4477220" y="2705867"/>
            <a:ext cx="1456707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b="1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61,3 %</a:t>
            </a:r>
            <a:endParaRPr lang="en-US" sz="63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71" name="Text 68"/>
          <p:cNvSpPr/>
          <p:nvPr/>
        </p:nvSpPr>
        <p:spPr>
          <a:xfrm>
            <a:off x="504812" y="3120205"/>
            <a:ext cx="1879325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888" b="1">
                <a:solidFill>
                  <a:srgbClr val="FFFFFF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Motivo</a:t>
            </a:r>
            <a:endParaRPr lang="en-US" sz="888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72" name="Text 69"/>
          <p:cNvSpPr/>
          <p:nvPr/>
        </p:nvSpPr>
        <p:spPr>
          <a:xfrm>
            <a:off x="5205169" y="3291655"/>
            <a:ext cx="719233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b="1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35.758</a:t>
            </a:r>
            <a:endParaRPr lang="en-US" sz="57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73" name="Text 70"/>
          <p:cNvSpPr/>
          <p:nvPr/>
        </p:nvSpPr>
        <p:spPr>
          <a:xfrm>
            <a:off x="5205169" y="342024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b="1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12.760</a:t>
            </a:r>
            <a:endParaRPr lang="en-US" sz="57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74" name="Text 71"/>
          <p:cNvSpPr/>
          <p:nvPr/>
        </p:nvSpPr>
        <p:spPr>
          <a:xfrm>
            <a:off x="2797702" y="4487042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b="1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11.134</a:t>
            </a:r>
            <a:endParaRPr lang="en-US" sz="57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75" name="Text 72"/>
          <p:cNvSpPr/>
          <p:nvPr/>
        </p:nvSpPr>
        <p:spPr>
          <a:xfrm>
            <a:off x="3280489" y="4487042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b="1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13.486</a:t>
            </a:r>
            <a:endParaRPr lang="en-US" sz="57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76" name="Text 73"/>
          <p:cNvSpPr/>
          <p:nvPr/>
        </p:nvSpPr>
        <p:spPr>
          <a:xfrm>
            <a:off x="3763275" y="4487042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b="1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10.792</a:t>
            </a:r>
            <a:endParaRPr lang="en-US" sz="57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77" name="Text 74"/>
          <p:cNvSpPr/>
          <p:nvPr/>
        </p:nvSpPr>
        <p:spPr>
          <a:xfrm>
            <a:off x="4246061" y="4487042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b="1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13.166</a:t>
            </a:r>
            <a:endParaRPr lang="en-US" sz="57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78" name="Text 75"/>
          <p:cNvSpPr/>
          <p:nvPr/>
        </p:nvSpPr>
        <p:spPr>
          <a:xfrm>
            <a:off x="4728848" y="4487042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b="1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13.203</a:t>
            </a:r>
            <a:endParaRPr lang="en-US" sz="57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79" name="Text 76"/>
          <p:cNvSpPr/>
          <p:nvPr/>
        </p:nvSpPr>
        <p:spPr>
          <a:xfrm>
            <a:off x="5205169" y="4487042"/>
            <a:ext cx="719233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b="1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70.266</a:t>
            </a:r>
            <a:endParaRPr lang="en-US" sz="57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0" name="Text 77"/>
          <p:cNvSpPr/>
          <p:nvPr/>
        </p:nvSpPr>
        <p:spPr>
          <a:xfrm>
            <a:off x="9273649" y="1681930"/>
            <a:ext cx="1008183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>
                <a:solidFill>
                  <a:srgbClr val="FFFFFF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Ventas</a:t>
            </a:r>
            <a:endParaRPr lang="en-US" sz="888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1" name="Text 78"/>
          <p:cNvSpPr/>
          <p:nvPr/>
        </p:nvSpPr>
        <p:spPr>
          <a:xfrm>
            <a:off x="8294831" y="1853380"/>
            <a:ext cx="1008183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81,5 %</a:t>
            </a:r>
            <a:endParaRPr lang="en-US" sz="63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2" name="Text 79"/>
          <p:cNvSpPr/>
          <p:nvPr/>
        </p:nvSpPr>
        <p:spPr>
          <a:xfrm>
            <a:off x="10239394" y="1853380"/>
            <a:ext cx="1457013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23,8 %</a:t>
            </a:r>
            <a:endParaRPr lang="en-US" sz="63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3" name="Text 80"/>
          <p:cNvSpPr/>
          <p:nvPr/>
        </p:nvSpPr>
        <p:spPr>
          <a:xfrm>
            <a:off x="8294831" y="1991492"/>
            <a:ext cx="100818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79,1 %</a:t>
            </a:r>
            <a:endParaRPr lang="en-US" sz="63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4" name="Text 81"/>
          <p:cNvSpPr/>
          <p:nvPr/>
        </p:nvSpPr>
        <p:spPr>
          <a:xfrm>
            <a:off x="10239394" y="1991492"/>
            <a:ext cx="145701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21,7 %</a:t>
            </a:r>
            <a:endParaRPr lang="en-US" sz="63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5" name="Text 82"/>
          <p:cNvSpPr/>
          <p:nvPr/>
        </p:nvSpPr>
        <p:spPr>
          <a:xfrm>
            <a:off x="8294831" y="2134367"/>
            <a:ext cx="100818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78,5 %</a:t>
            </a:r>
            <a:endParaRPr lang="en-US" sz="63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6" name="Text 83"/>
          <p:cNvSpPr/>
          <p:nvPr/>
        </p:nvSpPr>
        <p:spPr>
          <a:xfrm>
            <a:off x="10239394" y="2134367"/>
            <a:ext cx="145701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18,7 %</a:t>
            </a:r>
            <a:endParaRPr lang="en-US" sz="63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7" name="Text 84"/>
          <p:cNvSpPr/>
          <p:nvPr/>
        </p:nvSpPr>
        <p:spPr>
          <a:xfrm>
            <a:off x="8294831" y="2277242"/>
            <a:ext cx="100818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75,6 %</a:t>
            </a:r>
            <a:endParaRPr lang="en-US" sz="63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8" name="Text 85"/>
          <p:cNvSpPr/>
          <p:nvPr/>
        </p:nvSpPr>
        <p:spPr>
          <a:xfrm>
            <a:off x="10239394" y="2277242"/>
            <a:ext cx="145701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17,2 %</a:t>
            </a:r>
            <a:endParaRPr lang="en-US" sz="63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9" name="Text 86"/>
          <p:cNvSpPr/>
          <p:nvPr/>
        </p:nvSpPr>
        <p:spPr>
          <a:xfrm>
            <a:off x="8294831" y="2420117"/>
            <a:ext cx="100818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82,3 %</a:t>
            </a:r>
            <a:endParaRPr lang="en-US" sz="63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0" name="Text 87"/>
          <p:cNvSpPr/>
          <p:nvPr/>
        </p:nvSpPr>
        <p:spPr>
          <a:xfrm>
            <a:off x="10239394" y="2420117"/>
            <a:ext cx="145701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20,1 %</a:t>
            </a:r>
            <a:endParaRPr lang="en-US" sz="63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1" name="Text 88"/>
          <p:cNvSpPr/>
          <p:nvPr/>
        </p:nvSpPr>
        <p:spPr>
          <a:xfrm>
            <a:off x="8294831" y="2562992"/>
            <a:ext cx="100818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77,9 %</a:t>
            </a:r>
            <a:endParaRPr lang="en-US" sz="63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2" name="Text 89"/>
          <p:cNvSpPr/>
          <p:nvPr/>
        </p:nvSpPr>
        <p:spPr>
          <a:xfrm>
            <a:off x="10239394" y="2562992"/>
            <a:ext cx="145701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19,9 %</a:t>
            </a:r>
            <a:endParaRPr lang="en-US" sz="63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3" name="Text 90"/>
          <p:cNvSpPr/>
          <p:nvPr/>
        </p:nvSpPr>
        <p:spPr>
          <a:xfrm>
            <a:off x="7316013" y="2705867"/>
            <a:ext cx="1008183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b="1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44.428</a:t>
            </a:r>
            <a:endParaRPr lang="en-US" sz="63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4" name="Text 91"/>
          <p:cNvSpPr/>
          <p:nvPr/>
        </p:nvSpPr>
        <p:spPr>
          <a:xfrm>
            <a:off x="8294831" y="2705867"/>
            <a:ext cx="1008183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b="1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79,0 %</a:t>
            </a:r>
            <a:endParaRPr lang="en-US" sz="63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5" name="Text 92"/>
          <p:cNvSpPr/>
          <p:nvPr/>
        </p:nvSpPr>
        <p:spPr>
          <a:xfrm>
            <a:off x="10239394" y="2705867"/>
            <a:ext cx="1457013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b="1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22,0 %</a:t>
            </a:r>
            <a:endParaRPr lang="en-US" sz="63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6" name="Text 93"/>
          <p:cNvSpPr/>
          <p:nvPr/>
        </p:nvSpPr>
        <p:spPr>
          <a:xfrm>
            <a:off x="8077397" y="3291655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81,5 %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7" name="Text 94"/>
          <p:cNvSpPr/>
          <p:nvPr/>
        </p:nvSpPr>
        <p:spPr>
          <a:xfrm>
            <a:off x="8560183" y="3291655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79,1 %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8" name="Text 95"/>
          <p:cNvSpPr/>
          <p:nvPr/>
        </p:nvSpPr>
        <p:spPr>
          <a:xfrm>
            <a:off x="9042970" y="3291655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78,5 %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9" name="Text 96"/>
          <p:cNvSpPr/>
          <p:nvPr/>
        </p:nvSpPr>
        <p:spPr>
          <a:xfrm>
            <a:off x="9525756" y="3291655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75,6 %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00" name="Text 97"/>
          <p:cNvSpPr/>
          <p:nvPr/>
        </p:nvSpPr>
        <p:spPr>
          <a:xfrm>
            <a:off x="10008542" y="3291655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82,3 %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01" name="Text 98"/>
          <p:cNvSpPr/>
          <p:nvPr/>
        </p:nvSpPr>
        <p:spPr>
          <a:xfrm>
            <a:off x="10491329" y="3291655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77,9 %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02" name="Text 99"/>
          <p:cNvSpPr/>
          <p:nvPr/>
        </p:nvSpPr>
        <p:spPr>
          <a:xfrm>
            <a:off x="10967650" y="3291655"/>
            <a:ext cx="719233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79,0 %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03" name="Text 100"/>
          <p:cNvSpPr/>
          <p:nvPr/>
        </p:nvSpPr>
        <p:spPr>
          <a:xfrm>
            <a:off x="8077397" y="34202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19,9 %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04" name="Text 101"/>
          <p:cNvSpPr/>
          <p:nvPr/>
        </p:nvSpPr>
        <p:spPr>
          <a:xfrm>
            <a:off x="8560183" y="34202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17,5 %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05" name="Text 102"/>
          <p:cNvSpPr/>
          <p:nvPr/>
        </p:nvSpPr>
        <p:spPr>
          <a:xfrm>
            <a:off x="9042970" y="34202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15,9 %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06" name="Text 103"/>
          <p:cNvSpPr/>
          <p:nvPr/>
        </p:nvSpPr>
        <p:spPr>
          <a:xfrm>
            <a:off x="9525756" y="34202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14,2 %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07" name="Text 104"/>
          <p:cNvSpPr/>
          <p:nvPr/>
        </p:nvSpPr>
        <p:spPr>
          <a:xfrm>
            <a:off x="10008542" y="34202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18,6 %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08" name="Text 105"/>
          <p:cNvSpPr/>
          <p:nvPr/>
        </p:nvSpPr>
        <p:spPr>
          <a:xfrm>
            <a:off x="10491329" y="34202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19,1 %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09" name="Text 106"/>
          <p:cNvSpPr/>
          <p:nvPr/>
        </p:nvSpPr>
        <p:spPr>
          <a:xfrm>
            <a:off x="10967650" y="342024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15,9 %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10" name="Text 107"/>
          <p:cNvSpPr/>
          <p:nvPr/>
        </p:nvSpPr>
        <p:spPr>
          <a:xfrm>
            <a:off x="8077397" y="35535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31,6 %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11" name="Text 108"/>
          <p:cNvSpPr/>
          <p:nvPr/>
        </p:nvSpPr>
        <p:spPr>
          <a:xfrm>
            <a:off x="8560183" y="35535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30,7 %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12" name="Text 109"/>
          <p:cNvSpPr/>
          <p:nvPr/>
        </p:nvSpPr>
        <p:spPr>
          <a:xfrm>
            <a:off x="9042970" y="35535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30,4 %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13" name="Text 110"/>
          <p:cNvSpPr/>
          <p:nvPr/>
        </p:nvSpPr>
        <p:spPr>
          <a:xfrm>
            <a:off x="9525756" y="35535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29,3 %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14" name="Text 111"/>
          <p:cNvSpPr/>
          <p:nvPr/>
        </p:nvSpPr>
        <p:spPr>
          <a:xfrm>
            <a:off x="10008542" y="35535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31,9 %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15" name="Text 112"/>
          <p:cNvSpPr/>
          <p:nvPr/>
        </p:nvSpPr>
        <p:spPr>
          <a:xfrm>
            <a:off x="10491329" y="35535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30,2 %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16" name="Text 113"/>
          <p:cNvSpPr/>
          <p:nvPr/>
        </p:nvSpPr>
        <p:spPr>
          <a:xfrm>
            <a:off x="10967650" y="355359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30,6 %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17" name="Text 114"/>
          <p:cNvSpPr/>
          <p:nvPr/>
        </p:nvSpPr>
        <p:spPr>
          <a:xfrm>
            <a:off x="8077397" y="36869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10,3 %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18" name="Text 115"/>
          <p:cNvSpPr/>
          <p:nvPr/>
        </p:nvSpPr>
        <p:spPr>
          <a:xfrm>
            <a:off x="8560183" y="36869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10,0 %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19" name="Text 116"/>
          <p:cNvSpPr/>
          <p:nvPr/>
        </p:nvSpPr>
        <p:spPr>
          <a:xfrm>
            <a:off x="10008542" y="36869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10,4 %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20" name="Text 117"/>
          <p:cNvSpPr/>
          <p:nvPr/>
        </p:nvSpPr>
        <p:spPr>
          <a:xfrm>
            <a:off x="10967650" y="368694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10,0 %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21" name="Text 118"/>
          <p:cNvSpPr/>
          <p:nvPr/>
        </p:nvSpPr>
        <p:spPr>
          <a:xfrm>
            <a:off x="8077397" y="44870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18,5 %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22" name="Text 119"/>
          <p:cNvSpPr/>
          <p:nvPr/>
        </p:nvSpPr>
        <p:spPr>
          <a:xfrm>
            <a:off x="8560183" y="44870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20,9 %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23" name="Text 120"/>
          <p:cNvSpPr/>
          <p:nvPr/>
        </p:nvSpPr>
        <p:spPr>
          <a:xfrm>
            <a:off x="9042970" y="44870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21,5 %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24" name="Text 121"/>
          <p:cNvSpPr/>
          <p:nvPr/>
        </p:nvSpPr>
        <p:spPr>
          <a:xfrm>
            <a:off x="9525756" y="44870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24,4 %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25" name="Text 122"/>
          <p:cNvSpPr/>
          <p:nvPr/>
        </p:nvSpPr>
        <p:spPr>
          <a:xfrm>
            <a:off x="10008542" y="44870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17,7 %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26" name="Text 123"/>
          <p:cNvSpPr/>
          <p:nvPr/>
        </p:nvSpPr>
        <p:spPr>
          <a:xfrm>
            <a:off x="10491329" y="44870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22,1 %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27" name="Text 124"/>
          <p:cNvSpPr/>
          <p:nvPr/>
        </p:nvSpPr>
        <p:spPr>
          <a:xfrm>
            <a:off x="10967650" y="448704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21,0 %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28" name="Text 125"/>
          <p:cNvSpPr/>
          <p:nvPr/>
        </p:nvSpPr>
        <p:spPr>
          <a:xfrm>
            <a:off x="8077397" y="46203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12,1 %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29" name="Text 126"/>
          <p:cNvSpPr/>
          <p:nvPr/>
        </p:nvSpPr>
        <p:spPr>
          <a:xfrm>
            <a:off x="8560183" y="46203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13,7 %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30" name="Text 127"/>
          <p:cNvSpPr/>
          <p:nvPr/>
        </p:nvSpPr>
        <p:spPr>
          <a:xfrm>
            <a:off x="9042970" y="46203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14,1 %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31" name="Text 128"/>
          <p:cNvSpPr/>
          <p:nvPr/>
        </p:nvSpPr>
        <p:spPr>
          <a:xfrm>
            <a:off x="9525756" y="46203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16,0 %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32" name="Text 129"/>
          <p:cNvSpPr/>
          <p:nvPr/>
        </p:nvSpPr>
        <p:spPr>
          <a:xfrm>
            <a:off x="10008542" y="46203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11,6 %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33" name="Text 130"/>
          <p:cNvSpPr/>
          <p:nvPr/>
        </p:nvSpPr>
        <p:spPr>
          <a:xfrm>
            <a:off x="10491329" y="46203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14,5 %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34" name="Text 131"/>
          <p:cNvSpPr/>
          <p:nvPr/>
        </p:nvSpPr>
        <p:spPr>
          <a:xfrm>
            <a:off x="10967650" y="462039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13,8 %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35" name="Text 132"/>
          <p:cNvSpPr/>
          <p:nvPr/>
        </p:nvSpPr>
        <p:spPr>
          <a:xfrm>
            <a:off x="8216595" y="952500"/>
            <a:ext cx="562697" cy="2060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80" b="1">
                <a:solidFill>
                  <a:srgbClr val="5AE2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20,1 %</a:t>
            </a:r>
            <a:endParaRPr lang="en-US" sz="138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36" name="Text 133"/>
          <p:cNvSpPr/>
          <p:nvPr/>
        </p:nvSpPr>
        <p:spPr>
          <a:xfrm>
            <a:off x="495288" y="1853380"/>
            <a:ext cx="1120237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636" b="1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Enero</a:t>
            </a:r>
            <a:endParaRPr lang="en-US" sz="63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37" name="Text 134"/>
          <p:cNvSpPr/>
          <p:nvPr/>
        </p:nvSpPr>
        <p:spPr>
          <a:xfrm>
            <a:off x="2951194" y="1853380"/>
            <a:ext cx="1568454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8.485</a:t>
            </a:r>
            <a:endParaRPr lang="en-US" sz="63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38" name="Text 135"/>
          <p:cNvSpPr/>
          <p:nvPr/>
        </p:nvSpPr>
        <p:spPr>
          <a:xfrm>
            <a:off x="495288" y="2134367"/>
            <a:ext cx="1120237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636" b="1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Marzo</a:t>
            </a:r>
            <a:endParaRPr lang="en-US" sz="63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39" name="Text 136"/>
          <p:cNvSpPr/>
          <p:nvPr/>
        </p:nvSpPr>
        <p:spPr>
          <a:xfrm>
            <a:off x="495288" y="2277242"/>
            <a:ext cx="1120237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636" b="1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Abril</a:t>
            </a:r>
            <a:endParaRPr lang="en-US" sz="63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40" name="Text 137"/>
          <p:cNvSpPr/>
          <p:nvPr/>
        </p:nvSpPr>
        <p:spPr>
          <a:xfrm>
            <a:off x="495288" y="2562992"/>
            <a:ext cx="1120237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636" b="1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Junio</a:t>
            </a:r>
            <a:endParaRPr lang="en-US" sz="63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41" name="Text 138"/>
          <p:cNvSpPr/>
          <p:nvPr/>
        </p:nvSpPr>
        <p:spPr>
          <a:xfrm>
            <a:off x="495288" y="2705867"/>
            <a:ext cx="1120237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636" b="1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Total</a:t>
            </a:r>
            <a:endParaRPr lang="en-US" sz="63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42" name="Text 139"/>
          <p:cNvSpPr/>
          <p:nvPr/>
        </p:nvSpPr>
        <p:spPr>
          <a:xfrm>
            <a:off x="5205169" y="3120205"/>
            <a:ext cx="719233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>
                <a:solidFill>
                  <a:srgbClr val="FFFFFF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Total</a:t>
            </a:r>
            <a:endParaRPr lang="en-US" sz="888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43" name="Text 140"/>
          <p:cNvSpPr/>
          <p:nvPr/>
        </p:nvSpPr>
        <p:spPr>
          <a:xfrm>
            <a:off x="2314916" y="3291655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4.318</a:t>
            </a:r>
            <a:endParaRPr lang="en-US" sz="57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44" name="Text 141"/>
          <p:cNvSpPr/>
          <p:nvPr/>
        </p:nvSpPr>
        <p:spPr>
          <a:xfrm>
            <a:off x="2797702" y="3291655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5.666</a:t>
            </a:r>
            <a:endParaRPr lang="en-US" sz="57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45" name="Text 142"/>
          <p:cNvSpPr/>
          <p:nvPr/>
        </p:nvSpPr>
        <p:spPr>
          <a:xfrm>
            <a:off x="3280489" y="3291655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6.863</a:t>
            </a:r>
            <a:endParaRPr lang="en-US" sz="57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46" name="Text 143"/>
          <p:cNvSpPr/>
          <p:nvPr/>
        </p:nvSpPr>
        <p:spPr>
          <a:xfrm>
            <a:off x="3763275" y="3291655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5.492</a:t>
            </a:r>
            <a:endParaRPr lang="en-US" sz="57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47" name="Text 144"/>
          <p:cNvSpPr/>
          <p:nvPr/>
        </p:nvSpPr>
        <p:spPr>
          <a:xfrm>
            <a:off x="4246061" y="3291655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6.700</a:t>
            </a:r>
            <a:endParaRPr lang="en-US" sz="57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48" name="Text 145"/>
          <p:cNvSpPr/>
          <p:nvPr/>
        </p:nvSpPr>
        <p:spPr>
          <a:xfrm>
            <a:off x="4728848" y="3291655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6.719</a:t>
            </a:r>
            <a:endParaRPr lang="en-US" sz="57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49" name="Text 146"/>
          <p:cNvSpPr/>
          <p:nvPr/>
        </p:nvSpPr>
        <p:spPr>
          <a:xfrm>
            <a:off x="2314916" y="34202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1.541</a:t>
            </a:r>
            <a:endParaRPr lang="en-US" sz="57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50" name="Text 147"/>
          <p:cNvSpPr/>
          <p:nvPr/>
        </p:nvSpPr>
        <p:spPr>
          <a:xfrm>
            <a:off x="2797702" y="34202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2.022</a:t>
            </a:r>
            <a:endParaRPr lang="en-US" sz="57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51" name="Text 148"/>
          <p:cNvSpPr/>
          <p:nvPr/>
        </p:nvSpPr>
        <p:spPr>
          <a:xfrm>
            <a:off x="3280489" y="34202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2.448</a:t>
            </a:r>
            <a:endParaRPr lang="en-US" sz="57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52" name="Text 149"/>
          <p:cNvSpPr/>
          <p:nvPr/>
        </p:nvSpPr>
        <p:spPr>
          <a:xfrm>
            <a:off x="3763275" y="34202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1.960</a:t>
            </a:r>
            <a:endParaRPr lang="en-US" sz="57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53" name="Text 150"/>
          <p:cNvSpPr/>
          <p:nvPr/>
        </p:nvSpPr>
        <p:spPr>
          <a:xfrm>
            <a:off x="4246061" y="34202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2.391</a:t>
            </a:r>
            <a:endParaRPr lang="en-US" sz="57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54" name="Text 151"/>
          <p:cNvSpPr/>
          <p:nvPr/>
        </p:nvSpPr>
        <p:spPr>
          <a:xfrm>
            <a:off x="4728848" y="34202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2.398</a:t>
            </a:r>
            <a:endParaRPr lang="en-US" sz="57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55" name="Text 152"/>
          <p:cNvSpPr/>
          <p:nvPr/>
        </p:nvSpPr>
        <p:spPr>
          <a:xfrm>
            <a:off x="2797702" y="35535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1.113</a:t>
            </a:r>
            <a:endParaRPr lang="en-US" sz="57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56" name="Text 153"/>
          <p:cNvSpPr/>
          <p:nvPr/>
        </p:nvSpPr>
        <p:spPr>
          <a:xfrm>
            <a:off x="3280489" y="35535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1.349</a:t>
            </a:r>
            <a:endParaRPr lang="en-US" sz="57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57" name="Text 154"/>
          <p:cNvSpPr/>
          <p:nvPr/>
        </p:nvSpPr>
        <p:spPr>
          <a:xfrm>
            <a:off x="3763275" y="35535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1.079</a:t>
            </a:r>
            <a:endParaRPr lang="en-US" sz="57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58" name="Text 155"/>
          <p:cNvSpPr/>
          <p:nvPr/>
        </p:nvSpPr>
        <p:spPr>
          <a:xfrm>
            <a:off x="4246061" y="35535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1.317</a:t>
            </a:r>
            <a:endParaRPr lang="en-US" sz="57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59" name="Text 156"/>
          <p:cNvSpPr/>
          <p:nvPr/>
        </p:nvSpPr>
        <p:spPr>
          <a:xfrm>
            <a:off x="4728848" y="35535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1.320</a:t>
            </a:r>
            <a:endParaRPr lang="en-US" sz="57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60" name="Text 157"/>
          <p:cNvSpPr/>
          <p:nvPr/>
        </p:nvSpPr>
        <p:spPr>
          <a:xfrm>
            <a:off x="5205169" y="355359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b="1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7.027</a:t>
            </a:r>
            <a:endParaRPr lang="en-US" sz="57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61" name="Text 158"/>
          <p:cNvSpPr/>
          <p:nvPr/>
        </p:nvSpPr>
        <p:spPr>
          <a:xfrm>
            <a:off x="3280489" y="36869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1.135</a:t>
            </a:r>
            <a:endParaRPr lang="en-US" sz="57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62" name="Text 159"/>
          <p:cNvSpPr/>
          <p:nvPr/>
        </p:nvSpPr>
        <p:spPr>
          <a:xfrm>
            <a:off x="4246061" y="36869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1.109</a:t>
            </a:r>
            <a:endParaRPr lang="en-US" sz="57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63" name="Text 160"/>
          <p:cNvSpPr/>
          <p:nvPr/>
        </p:nvSpPr>
        <p:spPr>
          <a:xfrm>
            <a:off x="4728848" y="36869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1.112</a:t>
            </a:r>
            <a:endParaRPr lang="en-US" sz="57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64" name="Text 161"/>
          <p:cNvSpPr/>
          <p:nvPr/>
        </p:nvSpPr>
        <p:spPr>
          <a:xfrm>
            <a:off x="5205169" y="368694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b="1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5.916</a:t>
            </a:r>
            <a:endParaRPr lang="en-US" sz="57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65" name="Text 162"/>
          <p:cNvSpPr/>
          <p:nvPr/>
        </p:nvSpPr>
        <p:spPr>
          <a:xfrm>
            <a:off x="5205169" y="382029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b="1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4.624</a:t>
            </a:r>
            <a:endParaRPr lang="en-US" sz="57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66" name="Text 163"/>
          <p:cNvSpPr/>
          <p:nvPr/>
        </p:nvSpPr>
        <p:spPr>
          <a:xfrm>
            <a:off x="5205169" y="395364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b="1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1.912</a:t>
            </a:r>
            <a:endParaRPr lang="en-US" sz="57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67" name="Text 164"/>
          <p:cNvSpPr/>
          <p:nvPr/>
        </p:nvSpPr>
        <p:spPr>
          <a:xfrm>
            <a:off x="5205169" y="408699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b="1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1.070</a:t>
            </a:r>
            <a:endParaRPr lang="en-US" sz="57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68" name="Text 165"/>
          <p:cNvSpPr/>
          <p:nvPr/>
        </p:nvSpPr>
        <p:spPr>
          <a:xfrm>
            <a:off x="504812" y="4487042"/>
            <a:ext cx="1879325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76" b="1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Total</a:t>
            </a:r>
            <a:endParaRPr lang="en-US" sz="57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69" name="Text 166"/>
          <p:cNvSpPr/>
          <p:nvPr/>
        </p:nvSpPr>
        <p:spPr>
          <a:xfrm>
            <a:off x="2314916" y="4487042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b="1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8.485</a:t>
            </a:r>
            <a:endParaRPr lang="en-US" sz="57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70" name="Text 167"/>
          <p:cNvSpPr/>
          <p:nvPr/>
        </p:nvSpPr>
        <p:spPr>
          <a:xfrm>
            <a:off x="7316013" y="1681930"/>
            <a:ext cx="1008183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>
                <a:solidFill>
                  <a:srgbClr val="FFFFFF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Aptos</a:t>
            </a:r>
            <a:endParaRPr lang="en-US" sz="888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71" name="Text 168"/>
          <p:cNvSpPr/>
          <p:nvPr/>
        </p:nvSpPr>
        <p:spPr>
          <a:xfrm>
            <a:off x="6257769" y="1853380"/>
            <a:ext cx="1120237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636" b="1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Enero</a:t>
            </a:r>
            <a:endParaRPr lang="en-US" sz="63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72" name="Text 169"/>
          <p:cNvSpPr/>
          <p:nvPr/>
        </p:nvSpPr>
        <p:spPr>
          <a:xfrm>
            <a:off x="7316013" y="1853380"/>
            <a:ext cx="1008183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6.287</a:t>
            </a:r>
            <a:endParaRPr lang="en-US" sz="63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73" name="Text 170"/>
          <p:cNvSpPr/>
          <p:nvPr/>
        </p:nvSpPr>
        <p:spPr>
          <a:xfrm>
            <a:off x="9273649" y="1853380"/>
            <a:ext cx="1008183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b="1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1.251</a:t>
            </a:r>
            <a:endParaRPr lang="en-US" sz="63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74" name="Text 171"/>
          <p:cNvSpPr/>
          <p:nvPr/>
        </p:nvSpPr>
        <p:spPr>
          <a:xfrm>
            <a:off x="7316013" y="1991492"/>
            <a:ext cx="100818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8.439</a:t>
            </a:r>
            <a:endParaRPr lang="en-US" sz="63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75" name="Text 172"/>
          <p:cNvSpPr/>
          <p:nvPr/>
        </p:nvSpPr>
        <p:spPr>
          <a:xfrm>
            <a:off x="9273649" y="1991492"/>
            <a:ext cx="100818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b="1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1.480</a:t>
            </a:r>
            <a:endParaRPr lang="en-US" sz="63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76" name="Text 173"/>
          <p:cNvSpPr/>
          <p:nvPr/>
        </p:nvSpPr>
        <p:spPr>
          <a:xfrm>
            <a:off x="6257769" y="2134367"/>
            <a:ext cx="1120237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636" b="1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Marzo</a:t>
            </a:r>
            <a:endParaRPr lang="en-US" sz="63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77" name="Text 174"/>
          <p:cNvSpPr/>
          <p:nvPr/>
        </p:nvSpPr>
        <p:spPr>
          <a:xfrm>
            <a:off x="7316013" y="2134367"/>
            <a:ext cx="100818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7.933</a:t>
            </a:r>
            <a:endParaRPr lang="en-US" sz="63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78" name="Text 175"/>
          <p:cNvSpPr/>
          <p:nvPr/>
        </p:nvSpPr>
        <p:spPr>
          <a:xfrm>
            <a:off x="9273649" y="2134367"/>
            <a:ext cx="100818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b="1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1.265</a:t>
            </a:r>
            <a:endParaRPr lang="en-US" sz="63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79" name="Text 176"/>
          <p:cNvSpPr/>
          <p:nvPr/>
        </p:nvSpPr>
        <p:spPr>
          <a:xfrm>
            <a:off x="6257769" y="2277242"/>
            <a:ext cx="1120237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636" b="1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Abril</a:t>
            </a:r>
            <a:endParaRPr lang="en-US" sz="63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80" name="Text 177"/>
          <p:cNvSpPr/>
          <p:nvPr/>
        </p:nvSpPr>
        <p:spPr>
          <a:xfrm>
            <a:off x="7316013" y="2277242"/>
            <a:ext cx="100818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8.304</a:t>
            </a:r>
            <a:endParaRPr lang="en-US" sz="63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81" name="Text 178"/>
          <p:cNvSpPr/>
          <p:nvPr/>
        </p:nvSpPr>
        <p:spPr>
          <a:xfrm>
            <a:off x="9273649" y="2277242"/>
            <a:ext cx="100818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b="1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1.180</a:t>
            </a:r>
            <a:endParaRPr lang="en-US" sz="63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82" name="Text 179"/>
          <p:cNvSpPr/>
          <p:nvPr/>
        </p:nvSpPr>
        <p:spPr>
          <a:xfrm>
            <a:off x="7316013" y="2420117"/>
            <a:ext cx="100818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6.901</a:t>
            </a:r>
            <a:endParaRPr lang="en-US" sz="63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83" name="Text 180"/>
          <p:cNvSpPr/>
          <p:nvPr/>
        </p:nvSpPr>
        <p:spPr>
          <a:xfrm>
            <a:off x="9273649" y="2420117"/>
            <a:ext cx="100818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b="1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1.286</a:t>
            </a:r>
            <a:endParaRPr lang="en-US" sz="63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84" name="Text 181"/>
          <p:cNvSpPr/>
          <p:nvPr/>
        </p:nvSpPr>
        <p:spPr>
          <a:xfrm>
            <a:off x="6257769" y="2562992"/>
            <a:ext cx="1120237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636" b="1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Junio</a:t>
            </a:r>
            <a:endParaRPr lang="en-US" sz="63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85" name="Text 182"/>
          <p:cNvSpPr/>
          <p:nvPr/>
        </p:nvSpPr>
        <p:spPr>
          <a:xfrm>
            <a:off x="7316013" y="2562992"/>
            <a:ext cx="100818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6.564</a:t>
            </a:r>
            <a:endParaRPr lang="en-US" sz="63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86" name="Text 183"/>
          <p:cNvSpPr/>
          <p:nvPr/>
        </p:nvSpPr>
        <p:spPr>
          <a:xfrm>
            <a:off x="9273649" y="2562992"/>
            <a:ext cx="100818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b="1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1.253</a:t>
            </a:r>
            <a:endParaRPr lang="en-US" sz="63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87" name="Text 184"/>
          <p:cNvSpPr/>
          <p:nvPr/>
        </p:nvSpPr>
        <p:spPr>
          <a:xfrm>
            <a:off x="6257769" y="2705867"/>
            <a:ext cx="1120237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636" b="1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Total</a:t>
            </a:r>
            <a:endParaRPr lang="en-US" sz="63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88" name="Text 185"/>
          <p:cNvSpPr/>
          <p:nvPr/>
        </p:nvSpPr>
        <p:spPr>
          <a:xfrm>
            <a:off x="9273649" y="2705867"/>
            <a:ext cx="1008183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b="1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7.715</a:t>
            </a:r>
            <a:endParaRPr lang="en-US" sz="63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89" name="Text 186"/>
          <p:cNvSpPr/>
          <p:nvPr/>
        </p:nvSpPr>
        <p:spPr>
          <a:xfrm>
            <a:off x="10967650" y="3120205"/>
            <a:ext cx="719233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>
                <a:solidFill>
                  <a:srgbClr val="FFFFFF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Total</a:t>
            </a:r>
            <a:endParaRPr lang="en-US" sz="888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90" name="Text 187"/>
          <p:cNvSpPr/>
          <p:nvPr/>
        </p:nvSpPr>
        <p:spPr>
          <a:xfrm>
            <a:off x="9042970" y="36869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9,9 %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91" name="Text 188"/>
          <p:cNvSpPr/>
          <p:nvPr/>
        </p:nvSpPr>
        <p:spPr>
          <a:xfrm>
            <a:off x="9525756" y="36869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9,5 %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92" name="Text 189"/>
          <p:cNvSpPr/>
          <p:nvPr/>
        </p:nvSpPr>
        <p:spPr>
          <a:xfrm>
            <a:off x="10491329" y="36869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9,8 %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93" name="Text 190"/>
          <p:cNvSpPr/>
          <p:nvPr/>
        </p:nvSpPr>
        <p:spPr>
          <a:xfrm>
            <a:off x="8077397" y="38202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6,3 %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94" name="Text 191"/>
          <p:cNvSpPr/>
          <p:nvPr/>
        </p:nvSpPr>
        <p:spPr>
          <a:xfrm>
            <a:off x="8560183" y="38202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6,1 %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95" name="Text 192"/>
          <p:cNvSpPr/>
          <p:nvPr/>
        </p:nvSpPr>
        <p:spPr>
          <a:xfrm>
            <a:off x="9042970" y="38202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6,0 %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96" name="Text 193"/>
          <p:cNvSpPr/>
          <p:nvPr/>
        </p:nvSpPr>
        <p:spPr>
          <a:xfrm>
            <a:off x="9525756" y="38202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5,8 %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97" name="Text 194"/>
          <p:cNvSpPr/>
          <p:nvPr/>
        </p:nvSpPr>
        <p:spPr>
          <a:xfrm>
            <a:off x="10008542" y="38202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6,3 %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98" name="Text 195"/>
          <p:cNvSpPr/>
          <p:nvPr/>
        </p:nvSpPr>
        <p:spPr>
          <a:xfrm>
            <a:off x="10491329" y="38202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6,0 %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99" name="Text 196"/>
          <p:cNvSpPr/>
          <p:nvPr/>
        </p:nvSpPr>
        <p:spPr>
          <a:xfrm>
            <a:off x="10967650" y="382029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6,1 %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00" name="Text 197"/>
          <p:cNvSpPr/>
          <p:nvPr/>
        </p:nvSpPr>
        <p:spPr>
          <a:xfrm>
            <a:off x="8077397" y="39536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5,3 %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01" name="Text 198"/>
          <p:cNvSpPr/>
          <p:nvPr/>
        </p:nvSpPr>
        <p:spPr>
          <a:xfrm>
            <a:off x="8560183" y="39536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5,2 %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02" name="Text 199"/>
          <p:cNvSpPr/>
          <p:nvPr/>
        </p:nvSpPr>
        <p:spPr>
          <a:xfrm>
            <a:off x="9042970" y="39536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5,1 %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03" name="Text 200"/>
          <p:cNvSpPr/>
          <p:nvPr/>
        </p:nvSpPr>
        <p:spPr>
          <a:xfrm>
            <a:off x="9525756" y="39536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5,0 %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04" name="Text 201"/>
          <p:cNvSpPr/>
          <p:nvPr/>
        </p:nvSpPr>
        <p:spPr>
          <a:xfrm>
            <a:off x="10008542" y="39536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5,4 %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05" name="Text 202"/>
          <p:cNvSpPr/>
          <p:nvPr/>
        </p:nvSpPr>
        <p:spPr>
          <a:xfrm>
            <a:off x="10491329" y="39536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5,1 %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06" name="Text 203"/>
          <p:cNvSpPr/>
          <p:nvPr/>
        </p:nvSpPr>
        <p:spPr>
          <a:xfrm>
            <a:off x="10967650" y="395364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5,2 %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07" name="Text 204"/>
          <p:cNvSpPr/>
          <p:nvPr/>
        </p:nvSpPr>
        <p:spPr>
          <a:xfrm>
            <a:off x="8077397" y="40869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3,9 %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08" name="Text 205"/>
          <p:cNvSpPr/>
          <p:nvPr/>
        </p:nvSpPr>
        <p:spPr>
          <a:xfrm>
            <a:off x="8560183" y="40869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3,8 %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09" name="Text 206"/>
          <p:cNvSpPr/>
          <p:nvPr/>
        </p:nvSpPr>
        <p:spPr>
          <a:xfrm>
            <a:off x="9042970" y="40869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3,8 %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10" name="Text 207"/>
          <p:cNvSpPr/>
          <p:nvPr/>
        </p:nvSpPr>
        <p:spPr>
          <a:xfrm>
            <a:off x="9525756" y="40869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3,7 %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11" name="Text 208"/>
          <p:cNvSpPr/>
          <p:nvPr/>
        </p:nvSpPr>
        <p:spPr>
          <a:xfrm>
            <a:off x="10008542" y="40869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4,0 %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12" name="Text 209"/>
          <p:cNvSpPr/>
          <p:nvPr/>
        </p:nvSpPr>
        <p:spPr>
          <a:xfrm>
            <a:off x="10491329" y="40869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3,8 %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13" name="Text 210"/>
          <p:cNvSpPr/>
          <p:nvPr/>
        </p:nvSpPr>
        <p:spPr>
          <a:xfrm>
            <a:off x="10967650" y="408699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3,8 %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14" name="Text 211"/>
          <p:cNvSpPr/>
          <p:nvPr/>
        </p:nvSpPr>
        <p:spPr>
          <a:xfrm>
            <a:off x="8077397" y="42203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2,6 %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15" name="Text 212"/>
          <p:cNvSpPr/>
          <p:nvPr/>
        </p:nvSpPr>
        <p:spPr>
          <a:xfrm>
            <a:off x="8560183" y="42203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2,5 %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16" name="Text 213"/>
          <p:cNvSpPr/>
          <p:nvPr/>
        </p:nvSpPr>
        <p:spPr>
          <a:xfrm>
            <a:off x="9042970" y="42203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2,5 %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17" name="Text 214"/>
          <p:cNvSpPr/>
          <p:nvPr/>
        </p:nvSpPr>
        <p:spPr>
          <a:xfrm>
            <a:off x="9525756" y="42203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2,4 %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18" name="Text 215"/>
          <p:cNvSpPr/>
          <p:nvPr/>
        </p:nvSpPr>
        <p:spPr>
          <a:xfrm>
            <a:off x="10008542" y="42203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2,6 %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19" name="Text 216"/>
          <p:cNvSpPr/>
          <p:nvPr/>
        </p:nvSpPr>
        <p:spPr>
          <a:xfrm>
            <a:off x="10491329" y="42203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2,5 %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20" name="Text 217"/>
          <p:cNvSpPr/>
          <p:nvPr/>
        </p:nvSpPr>
        <p:spPr>
          <a:xfrm>
            <a:off x="10967650" y="422034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2,5 %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21" name="Text 218"/>
          <p:cNvSpPr/>
          <p:nvPr/>
        </p:nvSpPr>
        <p:spPr>
          <a:xfrm>
            <a:off x="8077397" y="43536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5,1 %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22" name="Text 219"/>
          <p:cNvSpPr/>
          <p:nvPr/>
        </p:nvSpPr>
        <p:spPr>
          <a:xfrm>
            <a:off x="8560183" y="43536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5,0 %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23" name="Text 220"/>
          <p:cNvSpPr/>
          <p:nvPr/>
        </p:nvSpPr>
        <p:spPr>
          <a:xfrm>
            <a:off x="9042970" y="43536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4,9 %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24" name="Text 221"/>
          <p:cNvSpPr/>
          <p:nvPr/>
        </p:nvSpPr>
        <p:spPr>
          <a:xfrm>
            <a:off x="9525756" y="43536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4,8 %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25" name="Text 222"/>
          <p:cNvSpPr/>
          <p:nvPr/>
        </p:nvSpPr>
        <p:spPr>
          <a:xfrm>
            <a:off x="10008542" y="43536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5,2 %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26" name="Text 223"/>
          <p:cNvSpPr/>
          <p:nvPr/>
        </p:nvSpPr>
        <p:spPr>
          <a:xfrm>
            <a:off x="10491329" y="43536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4,9 %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27" name="Text 224"/>
          <p:cNvSpPr/>
          <p:nvPr/>
        </p:nvSpPr>
        <p:spPr>
          <a:xfrm>
            <a:off x="10967650" y="435369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5,0 %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28" name="Text 225"/>
          <p:cNvSpPr/>
          <p:nvPr/>
        </p:nvSpPr>
        <p:spPr>
          <a:xfrm>
            <a:off x="8077397" y="47537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4,4 %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29" name="Text 226"/>
          <p:cNvSpPr/>
          <p:nvPr/>
        </p:nvSpPr>
        <p:spPr>
          <a:xfrm>
            <a:off x="8560183" y="47537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5,0 %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30" name="Text 227"/>
          <p:cNvSpPr/>
          <p:nvPr/>
        </p:nvSpPr>
        <p:spPr>
          <a:xfrm>
            <a:off x="9042970" y="47537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5,1 %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31" name="Text 228"/>
          <p:cNvSpPr/>
          <p:nvPr/>
        </p:nvSpPr>
        <p:spPr>
          <a:xfrm>
            <a:off x="9525756" y="47537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5,8 %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32" name="Text 229"/>
          <p:cNvSpPr/>
          <p:nvPr/>
        </p:nvSpPr>
        <p:spPr>
          <a:xfrm>
            <a:off x="10008542" y="47537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4,2 %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33" name="Text 230"/>
          <p:cNvSpPr/>
          <p:nvPr/>
        </p:nvSpPr>
        <p:spPr>
          <a:xfrm>
            <a:off x="10491329" y="47537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5,3 %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34" name="Text 231"/>
          <p:cNvSpPr/>
          <p:nvPr/>
        </p:nvSpPr>
        <p:spPr>
          <a:xfrm>
            <a:off x="10967650" y="475374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5,0 %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35" name="Text 232"/>
          <p:cNvSpPr/>
          <p:nvPr/>
        </p:nvSpPr>
        <p:spPr>
          <a:xfrm>
            <a:off x="8077397" y="48870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1,9 %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36" name="Text 233"/>
          <p:cNvSpPr/>
          <p:nvPr/>
        </p:nvSpPr>
        <p:spPr>
          <a:xfrm>
            <a:off x="8560183" y="48870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2,1 %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37" name="Text 234"/>
          <p:cNvSpPr/>
          <p:nvPr/>
        </p:nvSpPr>
        <p:spPr>
          <a:xfrm>
            <a:off x="9042970" y="48870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2,2 %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38" name="Text 235"/>
          <p:cNvSpPr/>
          <p:nvPr/>
        </p:nvSpPr>
        <p:spPr>
          <a:xfrm>
            <a:off x="9525756" y="48870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2,5 %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39" name="Text 236"/>
          <p:cNvSpPr/>
          <p:nvPr/>
        </p:nvSpPr>
        <p:spPr>
          <a:xfrm>
            <a:off x="10008542" y="48870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1,8 %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40" name="Text 237"/>
          <p:cNvSpPr/>
          <p:nvPr/>
        </p:nvSpPr>
        <p:spPr>
          <a:xfrm>
            <a:off x="10491329" y="48870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2,2 %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41" name="Text 238"/>
          <p:cNvSpPr/>
          <p:nvPr/>
        </p:nvSpPr>
        <p:spPr>
          <a:xfrm>
            <a:off x="10967650" y="488709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2,1 %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42" name="Text 239"/>
          <p:cNvSpPr/>
          <p:nvPr/>
        </p:nvSpPr>
        <p:spPr>
          <a:xfrm>
            <a:off x="8077397" y="50204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0,1 %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43" name="Text 240"/>
          <p:cNvSpPr/>
          <p:nvPr/>
        </p:nvSpPr>
        <p:spPr>
          <a:xfrm>
            <a:off x="8560183" y="50204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0,1 %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44" name="Text 241"/>
          <p:cNvSpPr/>
          <p:nvPr/>
        </p:nvSpPr>
        <p:spPr>
          <a:xfrm>
            <a:off x="9042970" y="50204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0,1 %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45" name="Text 242"/>
          <p:cNvSpPr/>
          <p:nvPr/>
        </p:nvSpPr>
        <p:spPr>
          <a:xfrm>
            <a:off x="9525756" y="50204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0,1 %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46" name="Text 243"/>
          <p:cNvSpPr/>
          <p:nvPr/>
        </p:nvSpPr>
        <p:spPr>
          <a:xfrm>
            <a:off x="10008542" y="50204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0,1 %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47" name="Text 244"/>
          <p:cNvSpPr/>
          <p:nvPr/>
        </p:nvSpPr>
        <p:spPr>
          <a:xfrm>
            <a:off x="10491329" y="50204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0,1 %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48" name="Text 245"/>
          <p:cNvSpPr/>
          <p:nvPr/>
        </p:nvSpPr>
        <p:spPr>
          <a:xfrm>
            <a:off x="10967650" y="502044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0,1 %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49" name="Text 246"/>
          <p:cNvSpPr/>
          <p:nvPr/>
        </p:nvSpPr>
        <p:spPr>
          <a:xfrm>
            <a:off x="8077397" y="5153792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100 %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50" name="Text 247"/>
          <p:cNvSpPr/>
          <p:nvPr/>
        </p:nvSpPr>
        <p:spPr>
          <a:xfrm>
            <a:off x="8560183" y="5153792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100 %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51" name="Text 248"/>
          <p:cNvSpPr/>
          <p:nvPr/>
        </p:nvSpPr>
        <p:spPr>
          <a:xfrm>
            <a:off x="9042970" y="5153792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100 %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52" name="Text 249"/>
          <p:cNvSpPr/>
          <p:nvPr/>
        </p:nvSpPr>
        <p:spPr>
          <a:xfrm>
            <a:off x="9525756" y="5153792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100 %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53" name="Text 250"/>
          <p:cNvSpPr/>
          <p:nvPr/>
        </p:nvSpPr>
        <p:spPr>
          <a:xfrm>
            <a:off x="10008542" y="5153792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100 %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54" name="Text 251"/>
          <p:cNvSpPr/>
          <p:nvPr/>
        </p:nvSpPr>
        <p:spPr>
          <a:xfrm>
            <a:off x="10491329" y="5153792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100 %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55" name="Text 252"/>
          <p:cNvSpPr/>
          <p:nvPr/>
        </p:nvSpPr>
        <p:spPr>
          <a:xfrm>
            <a:off x="10967650" y="5153792"/>
            <a:ext cx="719233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100 %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56" name="Text 253"/>
          <p:cNvSpPr/>
          <p:nvPr/>
        </p:nvSpPr>
        <p:spPr>
          <a:xfrm>
            <a:off x="4374991" y="952500"/>
            <a:ext cx="449272" cy="2060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80" b="1">
                <a:solidFill>
                  <a:srgbClr val="5AE2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7.715</a:t>
            </a:r>
            <a:endParaRPr lang="en-US" sz="138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57" name="Text 254"/>
          <p:cNvSpPr/>
          <p:nvPr/>
        </p:nvSpPr>
        <p:spPr>
          <a:xfrm>
            <a:off x="495288" y="2420117"/>
            <a:ext cx="1120237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636" b="1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Mayo</a:t>
            </a:r>
            <a:endParaRPr lang="en-US" sz="63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58" name="Text 255"/>
          <p:cNvSpPr/>
          <p:nvPr/>
        </p:nvSpPr>
        <p:spPr>
          <a:xfrm>
            <a:off x="6257769" y="2420117"/>
            <a:ext cx="1120237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636" b="1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Mayo</a:t>
            </a:r>
            <a:endParaRPr lang="en-US" sz="63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59" name="Text 256"/>
          <p:cNvSpPr/>
          <p:nvPr/>
        </p:nvSpPr>
        <p:spPr>
          <a:xfrm>
            <a:off x="533387" y="952500"/>
            <a:ext cx="422611" cy="2060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80" b="1">
                <a:solidFill>
                  <a:srgbClr val="5AE2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79 %</a:t>
            </a:r>
            <a:endParaRPr lang="en-US" sz="138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60" name="Text 257"/>
          <p:cNvSpPr/>
          <p:nvPr/>
        </p:nvSpPr>
        <p:spPr>
          <a:xfrm>
            <a:off x="495288" y="1681930"/>
            <a:ext cx="1120237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888" b="1">
                <a:solidFill>
                  <a:srgbClr val="FFFFFF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Mes</a:t>
            </a:r>
            <a:endParaRPr lang="en-US" sz="888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61" name="Text 258"/>
          <p:cNvSpPr/>
          <p:nvPr/>
        </p:nvSpPr>
        <p:spPr>
          <a:xfrm>
            <a:off x="2314916" y="3120205"/>
            <a:ext cx="497270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>
                <a:solidFill>
                  <a:srgbClr val="FFFFFF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Ene</a:t>
            </a:r>
            <a:endParaRPr lang="en-US" sz="888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62" name="Text 259"/>
          <p:cNvSpPr/>
          <p:nvPr/>
        </p:nvSpPr>
        <p:spPr>
          <a:xfrm>
            <a:off x="2797702" y="3120205"/>
            <a:ext cx="497270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>
                <a:solidFill>
                  <a:srgbClr val="FFFFFF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Feb</a:t>
            </a:r>
            <a:endParaRPr lang="en-US" sz="888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63" name="Text 260"/>
          <p:cNvSpPr/>
          <p:nvPr/>
        </p:nvSpPr>
        <p:spPr>
          <a:xfrm>
            <a:off x="3280489" y="3120205"/>
            <a:ext cx="497270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>
                <a:solidFill>
                  <a:srgbClr val="FFFFFF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Mar</a:t>
            </a:r>
            <a:endParaRPr lang="en-US" sz="888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64" name="Text 261"/>
          <p:cNvSpPr/>
          <p:nvPr/>
        </p:nvSpPr>
        <p:spPr>
          <a:xfrm>
            <a:off x="3763275" y="3120205"/>
            <a:ext cx="497270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>
                <a:solidFill>
                  <a:srgbClr val="FFFFFF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Abr</a:t>
            </a:r>
            <a:endParaRPr lang="en-US" sz="888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65" name="Text 262"/>
          <p:cNvSpPr/>
          <p:nvPr/>
        </p:nvSpPr>
        <p:spPr>
          <a:xfrm>
            <a:off x="4246061" y="3120205"/>
            <a:ext cx="497270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>
                <a:solidFill>
                  <a:srgbClr val="FFFFFF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May</a:t>
            </a:r>
            <a:endParaRPr lang="en-US" sz="888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66" name="Text 263"/>
          <p:cNvSpPr/>
          <p:nvPr/>
        </p:nvSpPr>
        <p:spPr>
          <a:xfrm>
            <a:off x="4728848" y="3120205"/>
            <a:ext cx="497270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>
                <a:solidFill>
                  <a:srgbClr val="FFFFFF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Jun</a:t>
            </a:r>
            <a:endParaRPr lang="en-US" sz="888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67" name="Text 264"/>
          <p:cNvSpPr/>
          <p:nvPr/>
        </p:nvSpPr>
        <p:spPr>
          <a:xfrm>
            <a:off x="2314916" y="35535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849</a:t>
            </a:r>
            <a:endParaRPr lang="en-US" sz="57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68" name="Text 265"/>
          <p:cNvSpPr/>
          <p:nvPr/>
        </p:nvSpPr>
        <p:spPr>
          <a:xfrm>
            <a:off x="2314916" y="36869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714</a:t>
            </a:r>
            <a:endParaRPr lang="en-US" sz="57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69" name="Text 266"/>
          <p:cNvSpPr/>
          <p:nvPr/>
        </p:nvSpPr>
        <p:spPr>
          <a:xfrm>
            <a:off x="2797702" y="36869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937</a:t>
            </a:r>
            <a:endParaRPr lang="en-US" sz="57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70" name="Text 267"/>
          <p:cNvSpPr/>
          <p:nvPr/>
        </p:nvSpPr>
        <p:spPr>
          <a:xfrm>
            <a:off x="3763275" y="36869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909</a:t>
            </a:r>
            <a:endParaRPr lang="en-US" sz="57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71" name="Text 268"/>
          <p:cNvSpPr/>
          <p:nvPr/>
        </p:nvSpPr>
        <p:spPr>
          <a:xfrm>
            <a:off x="2314916" y="38202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558</a:t>
            </a:r>
            <a:endParaRPr lang="en-US" sz="57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72" name="Text 269"/>
          <p:cNvSpPr/>
          <p:nvPr/>
        </p:nvSpPr>
        <p:spPr>
          <a:xfrm>
            <a:off x="2797702" y="38202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733</a:t>
            </a:r>
            <a:endParaRPr lang="en-US" sz="57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73" name="Text 270"/>
          <p:cNvSpPr/>
          <p:nvPr/>
        </p:nvSpPr>
        <p:spPr>
          <a:xfrm>
            <a:off x="3280489" y="38202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888</a:t>
            </a:r>
            <a:endParaRPr lang="en-US" sz="57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74" name="Text 271"/>
          <p:cNvSpPr/>
          <p:nvPr/>
        </p:nvSpPr>
        <p:spPr>
          <a:xfrm>
            <a:off x="3763275" y="38202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710</a:t>
            </a:r>
            <a:endParaRPr lang="en-US" sz="57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75" name="Text 272"/>
          <p:cNvSpPr/>
          <p:nvPr/>
        </p:nvSpPr>
        <p:spPr>
          <a:xfrm>
            <a:off x="4246061" y="38202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866</a:t>
            </a:r>
            <a:endParaRPr lang="en-US" sz="57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76" name="Text 273"/>
          <p:cNvSpPr/>
          <p:nvPr/>
        </p:nvSpPr>
        <p:spPr>
          <a:xfrm>
            <a:off x="4728848" y="38202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869</a:t>
            </a:r>
            <a:endParaRPr lang="en-US" sz="57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77" name="Text 274"/>
          <p:cNvSpPr/>
          <p:nvPr/>
        </p:nvSpPr>
        <p:spPr>
          <a:xfrm>
            <a:off x="2314916" y="39536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231</a:t>
            </a:r>
            <a:endParaRPr lang="en-US" sz="57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78" name="Text 275"/>
          <p:cNvSpPr/>
          <p:nvPr/>
        </p:nvSpPr>
        <p:spPr>
          <a:xfrm>
            <a:off x="2797702" y="39536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303</a:t>
            </a:r>
            <a:endParaRPr lang="en-US" sz="57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79" name="Text 276"/>
          <p:cNvSpPr/>
          <p:nvPr/>
        </p:nvSpPr>
        <p:spPr>
          <a:xfrm>
            <a:off x="3280489" y="39536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367</a:t>
            </a:r>
            <a:endParaRPr lang="en-US" sz="57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80" name="Text 277"/>
          <p:cNvSpPr/>
          <p:nvPr/>
        </p:nvSpPr>
        <p:spPr>
          <a:xfrm>
            <a:off x="3763275" y="39536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294</a:t>
            </a:r>
            <a:endParaRPr lang="en-US" sz="57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81" name="Text 278"/>
          <p:cNvSpPr/>
          <p:nvPr/>
        </p:nvSpPr>
        <p:spPr>
          <a:xfrm>
            <a:off x="4246061" y="39536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358</a:t>
            </a:r>
            <a:endParaRPr lang="en-US" sz="57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82" name="Text 279"/>
          <p:cNvSpPr/>
          <p:nvPr/>
        </p:nvSpPr>
        <p:spPr>
          <a:xfrm>
            <a:off x="4728848" y="39536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359</a:t>
            </a:r>
            <a:endParaRPr lang="en-US" sz="57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83" name="Text 280"/>
          <p:cNvSpPr/>
          <p:nvPr/>
        </p:nvSpPr>
        <p:spPr>
          <a:xfrm>
            <a:off x="2314916" y="40869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129</a:t>
            </a:r>
            <a:endParaRPr lang="en-US" sz="57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84" name="Text 281"/>
          <p:cNvSpPr/>
          <p:nvPr/>
        </p:nvSpPr>
        <p:spPr>
          <a:xfrm>
            <a:off x="2797702" y="40869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170</a:t>
            </a:r>
            <a:endParaRPr lang="en-US" sz="57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85" name="Text 282"/>
          <p:cNvSpPr/>
          <p:nvPr/>
        </p:nvSpPr>
        <p:spPr>
          <a:xfrm>
            <a:off x="3280489" y="40869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206</a:t>
            </a:r>
            <a:endParaRPr lang="en-US" sz="57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86" name="Text 283"/>
          <p:cNvSpPr/>
          <p:nvPr/>
        </p:nvSpPr>
        <p:spPr>
          <a:xfrm>
            <a:off x="3763275" y="40869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164</a:t>
            </a:r>
            <a:endParaRPr lang="en-US" sz="57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87" name="Text 284"/>
          <p:cNvSpPr/>
          <p:nvPr/>
        </p:nvSpPr>
        <p:spPr>
          <a:xfrm>
            <a:off x="4246061" y="40869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200</a:t>
            </a:r>
            <a:endParaRPr lang="en-US" sz="57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88" name="Text 285"/>
          <p:cNvSpPr/>
          <p:nvPr/>
        </p:nvSpPr>
        <p:spPr>
          <a:xfrm>
            <a:off x="4728848" y="40869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201</a:t>
            </a:r>
            <a:endParaRPr lang="en-US" sz="57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89" name="Text 286"/>
          <p:cNvSpPr/>
          <p:nvPr/>
        </p:nvSpPr>
        <p:spPr>
          <a:xfrm>
            <a:off x="5205169" y="422034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b="1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420</a:t>
            </a:r>
            <a:endParaRPr lang="en-US" sz="57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90" name="Text 287"/>
          <p:cNvSpPr/>
          <p:nvPr/>
        </p:nvSpPr>
        <p:spPr>
          <a:xfrm>
            <a:off x="2797702" y="43536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123</a:t>
            </a:r>
            <a:endParaRPr lang="en-US" sz="57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91" name="Text 288"/>
          <p:cNvSpPr/>
          <p:nvPr/>
        </p:nvSpPr>
        <p:spPr>
          <a:xfrm>
            <a:off x="3280489" y="43536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150</a:t>
            </a:r>
            <a:endParaRPr lang="en-US" sz="57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92" name="Text 289"/>
          <p:cNvSpPr/>
          <p:nvPr/>
        </p:nvSpPr>
        <p:spPr>
          <a:xfrm>
            <a:off x="3763275" y="43536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120</a:t>
            </a:r>
            <a:endParaRPr lang="en-US" sz="57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93" name="Text 290"/>
          <p:cNvSpPr/>
          <p:nvPr/>
        </p:nvSpPr>
        <p:spPr>
          <a:xfrm>
            <a:off x="4246061" y="43536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146</a:t>
            </a:r>
            <a:endParaRPr lang="en-US" sz="57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94" name="Text 291"/>
          <p:cNvSpPr/>
          <p:nvPr/>
        </p:nvSpPr>
        <p:spPr>
          <a:xfrm>
            <a:off x="4728848" y="43536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146</a:t>
            </a:r>
            <a:endParaRPr lang="en-US" sz="57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95" name="Text 292"/>
          <p:cNvSpPr/>
          <p:nvPr/>
        </p:nvSpPr>
        <p:spPr>
          <a:xfrm>
            <a:off x="5205169" y="435369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b="1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779</a:t>
            </a:r>
            <a:endParaRPr lang="en-US" sz="57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96" name="Text 293"/>
          <p:cNvSpPr/>
          <p:nvPr/>
        </p:nvSpPr>
        <p:spPr>
          <a:xfrm>
            <a:off x="6257769" y="1681930"/>
            <a:ext cx="1120237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888" b="1">
                <a:solidFill>
                  <a:srgbClr val="FFFFFF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Mes</a:t>
            </a:r>
            <a:endParaRPr lang="en-US" sz="888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97" name="Text 294"/>
          <p:cNvSpPr/>
          <p:nvPr/>
        </p:nvSpPr>
        <p:spPr>
          <a:xfrm>
            <a:off x="8077397" y="3120205"/>
            <a:ext cx="497270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>
                <a:solidFill>
                  <a:srgbClr val="FFFFFF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Ene</a:t>
            </a:r>
            <a:endParaRPr lang="en-US" sz="888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98" name="Text 295"/>
          <p:cNvSpPr/>
          <p:nvPr/>
        </p:nvSpPr>
        <p:spPr>
          <a:xfrm>
            <a:off x="8560183" y="3120205"/>
            <a:ext cx="497270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>
                <a:solidFill>
                  <a:srgbClr val="FFFFFF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Feb</a:t>
            </a:r>
            <a:endParaRPr lang="en-US" sz="888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99" name="Text 296"/>
          <p:cNvSpPr/>
          <p:nvPr/>
        </p:nvSpPr>
        <p:spPr>
          <a:xfrm>
            <a:off x="9042970" y="3120205"/>
            <a:ext cx="497270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>
                <a:solidFill>
                  <a:srgbClr val="FFFFFF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Mar</a:t>
            </a:r>
            <a:endParaRPr lang="en-US" sz="888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00" name="Text 297"/>
          <p:cNvSpPr/>
          <p:nvPr/>
        </p:nvSpPr>
        <p:spPr>
          <a:xfrm>
            <a:off x="9525756" y="3120205"/>
            <a:ext cx="497270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>
                <a:solidFill>
                  <a:srgbClr val="FFFFFF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Abr</a:t>
            </a:r>
            <a:endParaRPr lang="en-US" sz="888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01" name="Text 298"/>
          <p:cNvSpPr/>
          <p:nvPr/>
        </p:nvSpPr>
        <p:spPr>
          <a:xfrm>
            <a:off x="10008542" y="3120205"/>
            <a:ext cx="497270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>
                <a:solidFill>
                  <a:srgbClr val="FFFFFF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May</a:t>
            </a:r>
            <a:endParaRPr lang="en-US" sz="888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02" name="Text 299"/>
          <p:cNvSpPr/>
          <p:nvPr/>
        </p:nvSpPr>
        <p:spPr>
          <a:xfrm>
            <a:off x="10491329" y="3120205"/>
            <a:ext cx="497270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>
                <a:solidFill>
                  <a:srgbClr val="FFFFFF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Jun</a:t>
            </a:r>
            <a:endParaRPr lang="en-US" sz="888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03" name="Text 300"/>
          <p:cNvSpPr/>
          <p:nvPr/>
        </p:nvSpPr>
        <p:spPr>
          <a:xfrm>
            <a:off x="2314916" y="42203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51</a:t>
            </a:r>
            <a:endParaRPr lang="en-US" sz="57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04" name="Text 301"/>
          <p:cNvSpPr/>
          <p:nvPr/>
        </p:nvSpPr>
        <p:spPr>
          <a:xfrm>
            <a:off x="2797702" y="42203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67</a:t>
            </a:r>
            <a:endParaRPr lang="en-US" sz="57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05" name="Text 302"/>
          <p:cNvSpPr/>
          <p:nvPr/>
        </p:nvSpPr>
        <p:spPr>
          <a:xfrm>
            <a:off x="3280489" y="42203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79</a:t>
            </a:r>
            <a:endParaRPr lang="en-US" sz="57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06" name="Text 303"/>
          <p:cNvSpPr/>
          <p:nvPr/>
        </p:nvSpPr>
        <p:spPr>
          <a:xfrm>
            <a:off x="3763275" y="42203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65</a:t>
            </a:r>
            <a:endParaRPr lang="en-US" sz="57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07" name="Text 304"/>
          <p:cNvSpPr/>
          <p:nvPr/>
        </p:nvSpPr>
        <p:spPr>
          <a:xfrm>
            <a:off x="4246061" y="42203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79</a:t>
            </a:r>
            <a:endParaRPr lang="en-US" sz="57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08" name="Text 305"/>
          <p:cNvSpPr/>
          <p:nvPr/>
        </p:nvSpPr>
        <p:spPr>
          <a:xfrm>
            <a:off x="4728848" y="42203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79</a:t>
            </a:r>
            <a:endParaRPr lang="en-US" sz="57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09" name="Text 306"/>
          <p:cNvSpPr/>
          <p:nvPr/>
        </p:nvSpPr>
        <p:spPr>
          <a:xfrm>
            <a:off x="2314916" y="43536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94</a:t>
            </a:r>
            <a:endParaRPr lang="en-US" sz="57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311" name="Picture 310">
            <a:extLst>
              <a:ext uri="{FF2B5EF4-FFF2-40B4-BE49-F238E27FC236}">
                <a16:creationId xmlns:a16="http://schemas.microsoft.com/office/drawing/2014/main" id="{746FFBDE-459C-62D5-F620-4C0B220BCB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34650" y="78120"/>
            <a:ext cx="1530523" cy="459157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13_Presentaciones\dash\televentas\ppt_slides\sk_07_m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783" y="6393656"/>
            <a:ext cx="8357187" cy="1202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744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El descarte estructural de Registro Enviado Anteriormente (36,8 %) y Cuota Activa (32,7 %) suma el 69,5 % del rechazo, confirmando el agotamiento de la base.</a:t>
            </a:r>
            <a:endParaRPr lang="en-US" sz="744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685783" y="6540103"/>
            <a:ext cx="7060738" cy="1083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744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El no contacto es muy alto (48,3 %), impulsado por contestadores automáticos (38,6 %), lo que exige depuración telefónica en 2S.</a:t>
            </a:r>
            <a:endParaRPr lang="en-US" sz="744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685783" y="6247209"/>
            <a:ext cx="4884182" cy="1125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744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CP Stock es la base de mayor volumen (420.641 registros recibidos) en el semestre.</a:t>
            </a:r>
            <a:endParaRPr lang="en-US" sz="744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8216594" y="1200894"/>
            <a:ext cx="2022799" cy="61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48" dirty="0">
                <a:solidFill>
                  <a:srgbClr val="9098B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Sobre contacto (4,6 % sobre contacto apto)</a:t>
            </a:r>
            <a:endParaRPr lang="en-US" sz="648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6372066" y="2915394"/>
            <a:ext cx="203753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16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4. Tipificación de Leads Aptos por Mes</a:t>
            </a:r>
            <a:endParaRPr lang="en-US" sz="81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609585" y="1486644"/>
            <a:ext cx="205678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16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1. Calidad de Base y Descarte Mensual</a:t>
            </a:r>
            <a:endParaRPr lang="en-US" sz="81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6267293" y="488709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5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Teléfono apagado / fuera de servicio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571486" y="209551"/>
            <a:ext cx="4154362" cy="164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60" b="1" dirty="0">
                <a:solidFill>
                  <a:srgbClr val="FFFFFF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DETALLE OPERATIVO · CAMPAÑA CP STOCK</a:t>
            </a:r>
            <a:endParaRPr lang="en-US" sz="126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4374991" y="1200894"/>
            <a:ext cx="2124952" cy="51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48" dirty="0">
                <a:solidFill>
                  <a:srgbClr val="9098B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Segundo mayor aportante de ventas</a:t>
            </a:r>
            <a:endParaRPr lang="en-US" sz="648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6372066" y="1486644"/>
            <a:ext cx="2124953" cy="105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16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3. Insumo Apto, Contacto y Ventas</a:t>
            </a:r>
            <a:endParaRPr lang="en-US" sz="81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504812" y="422034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7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Excede límite de edad (&gt;80 años)</a:t>
            </a:r>
            <a:endParaRPr lang="en-US" sz="57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504812" y="355359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7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Registro Recibido Anteriormente</a:t>
            </a:r>
            <a:endParaRPr lang="en-US" sz="57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714357" y="6091238"/>
            <a:ext cx="2083345" cy="1125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44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Observaciones Clave de la Base:</a:t>
            </a:r>
            <a:endParaRPr lang="en-US" sz="744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504812" y="3291655"/>
            <a:ext cx="1879325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7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Registro Enviado Anteriormente</a:t>
            </a:r>
            <a:endParaRPr lang="en-US" sz="57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533387" y="1200894"/>
            <a:ext cx="1749663" cy="159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48" dirty="0">
                <a:solidFill>
                  <a:srgbClr val="9098B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Base de mayor dimensionamiento</a:t>
            </a:r>
            <a:endParaRPr lang="en-US" sz="648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495288" y="2915394"/>
            <a:ext cx="164662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16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2. Motivos de Descarte por Mes</a:t>
            </a:r>
            <a:endParaRPr lang="en-US" sz="81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6267293" y="355359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5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No interesado por el producto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6267293" y="422034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5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Agendado / llamada posterior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6267293" y="395364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5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Datos errados / experiencia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6267293" y="408699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5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No interesado por el precio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6267293" y="382029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5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No es responsable del pago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504812" y="342024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7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Cuota Protegida Activa</a:t>
            </a:r>
            <a:endParaRPr lang="en-US" sz="57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6267293" y="462039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5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Contestador automático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6" name="Text 23"/>
          <p:cNvSpPr/>
          <p:nvPr/>
        </p:nvSpPr>
        <p:spPr>
          <a:xfrm>
            <a:off x="504812" y="435369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7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Otros motivos menores</a:t>
            </a:r>
            <a:endParaRPr lang="en-US" sz="57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7" name="Text 24"/>
          <p:cNvSpPr/>
          <p:nvPr/>
        </p:nvSpPr>
        <p:spPr>
          <a:xfrm>
            <a:off x="6267293" y="435369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5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Otros motivos menores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8" name="Text 25"/>
          <p:cNvSpPr/>
          <p:nvPr/>
        </p:nvSpPr>
        <p:spPr>
          <a:xfrm>
            <a:off x="533387" y="809625"/>
            <a:ext cx="123599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72" b="1" dirty="0">
                <a:solidFill>
                  <a:srgbClr val="9098B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VOLUMEN DE REGISTROS</a:t>
            </a:r>
            <a:endParaRPr lang="en-US" sz="67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9" name="Text 26"/>
          <p:cNvSpPr/>
          <p:nvPr/>
        </p:nvSpPr>
        <p:spPr>
          <a:xfrm>
            <a:off x="4374991" y="809625"/>
            <a:ext cx="119497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72" b="1" dirty="0">
                <a:solidFill>
                  <a:srgbClr val="9098B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VENTAS CONSOLIDADAS</a:t>
            </a:r>
            <a:endParaRPr lang="en-US" sz="67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0" name="Text 27"/>
          <p:cNvSpPr/>
          <p:nvPr/>
        </p:nvSpPr>
        <p:spPr>
          <a:xfrm>
            <a:off x="8216595" y="809625"/>
            <a:ext cx="1209961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72" b="1" dirty="0">
                <a:solidFill>
                  <a:srgbClr val="9098B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CONVERSIÓN PROMEDIO</a:t>
            </a:r>
            <a:endParaRPr lang="en-US" sz="67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1" name="Text 28"/>
          <p:cNvSpPr/>
          <p:nvPr/>
        </p:nvSpPr>
        <p:spPr>
          <a:xfrm>
            <a:off x="504812" y="368694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7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Dirección Repetida</a:t>
            </a:r>
            <a:endParaRPr lang="en-US" sz="57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2" name="Text 29"/>
          <p:cNvSpPr/>
          <p:nvPr/>
        </p:nvSpPr>
        <p:spPr>
          <a:xfrm>
            <a:off x="504812" y="382029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7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Microseguro Activo</a:t>
            </a:r>
            <a:endParaRPr lang="en-US" sz="57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3" name="Text 30"/>
          <p:cNvSpPr/>
          <p:nvPr/>
        </p:nvSpPr>
        <p:spPr>
          <a:xfrm>
            <a:off x="504812" y="395364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7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Teléfono Repetido</a:t>
            </a:r>
            <a:endParaRPr lang="en-US" sz="57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4" name="Text 31"/>
          <p:cNvSpPr/>
          <p:nvPr/>
        </p:nvSpPr>
        <p:spPr>
          <a:xfrm>
            <a:off x="6267293" y="3291655"/>
            <a:ext cx="1879325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52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CONTACTO EFECTIVO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5" name="Text 32"/>
          <p:cNvSpPr/>
          <p:nvPr/>
        </p:nvSpPr>
        <p:spPr>
          <a:xfrm>
            <a:off x="6267293" y="368694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5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Cuelga la llamada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6" name="Text 33"/>
          <p:cNvSpPr/>
          <p:nvPr/>
        </p:nvSpPr>
        <p:spPr>
          <a:xfrm>
            <a:off x="6267293" y="502044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5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Otros no contacto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7" name="Text 34"/>
          <p:cNvSpPr/>
          <p:nvPr/>
        </p:nvSpPr>
        <p:spPr>
          <a:xfrm>
            <a:off x="6267293" y="5153792"/>
            <a:ext cx="1879325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52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Total gestionado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8" name="Text 35"/>
          <p:cNvSpPr/>
          <p:nvPr/>
        </p:nvSpPr>
        <p:spPr>
          <a:xfrm>
            <a:off x="504812" y="408699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7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Cédula Repetida</a:t>
            </a:r>
            <a:endParaRPr lang="en-US" sz="57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9" name="Text 36"/>
          <p:cNvSpPr/>
          <p:nvPr/>
        </p:nvSpPr>
        <p:spPr>
          <a:xfrm>
            <a:off x="10239394" y="1681930"/>
            <a:ext cx="1457013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Conv. / Ctto.</a:t>
            </a:r>
            <a:endParaRPr lang="en-US" sz="888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0" name="Text 37"/>
          <p:cNvSpPr/>
          <p:nvPr/>
        </p:nvSpPr>
        <p:spPr>
          <a:xfrm>
            <a:off x="6267293" y="342024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5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Venta exitosa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1" name="Text 38"/>
          <p:cNvSpPr/>
          <p:nvPr/>
        </p:nvSpPr>
        <p:spPr>
          <a:xfrm>
            <a:off x="6267293" y="3120205"/>
            <a:ext cx="1879325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888" b="1" dirty="0">
                <a:solidFill>
                  <a:srgbClr val="FFFFFF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Tipificación</a:t>
            </a:r>
            <a:endParaRPr lang="en-US" sz="888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2" name="Text 39"/>
          <p:cNvSpPr/>
          <p:nvPr/>
        </p:nvSpPr>
        <p:spPr>
          <a:xfrm>
            <a:off x="6267293" y="448704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52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NO CONTACTO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3" name="Text 40"/>
          <p:cNvSpPr/>
          <p:nvPr/>
        </p:nvSpPr>
        <p:spPr>
          <a:xfrm>
            <a:off x="6267293" y="475374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5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No contesta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4" name="Text 41"/>
          <p:cNvSpPr/>
          <p:nvPr/>
        </p:nvSpPr>
        <p:spPr>
          <a:xfrm>
            <a:off x="2951194" y="1681930"/>
            <a:ext cx="1568454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Rechazados</a:t>
            </a:r>
            <a:endParaRPr lang="en-US" sz="888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5" name="Text 42"/>
          <p:cNvSpPr/>
          <p:nvPr/>
        </p:nvSpPr>
        <p:spPr>
          <a:xfrm>
            <a:off x="8294831" y="1681930"/>
            <a:ext cx="1008183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Contactab.</a:t>
            </a:r>
            <a:endParaRPr lang="en-US" sz="888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6" name="Text 43"/>
          <p:cNvSpPr/>
          <p:nvPr/>
        </p:nvSpPr>
        <p:spPr>
          <a:xfrm>
            <a:off x="1540477" y="1681930"/>
            <a:ext cx="1456400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Recibidos</a:t>
            </a:r>
            <a:endParaRPr lang="en-US" sz="888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7" name="Text 44"/>
          <p:cNvSpPr/>
          <p:nvPr/>
        </p:nvSpPr>
        <p:spPr>
          <a:xfrm>
            <a:off x="4477220" y="1681930"/>
            <a:ext cx="1456707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% Rechazo</a:t>
            </a:r>
            <a:endParaRPr lang="en-US" sz="888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8" name="Text 45"/>
          <p:cNvSpPr/>
          <p:nvPr/>
        </p:nvSpPr>
        <p:spPr>
          <a:xfrm>
            <a:off x="495288" y="1991492"/>
            <a:ext cx="1120237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636" b="1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Febrero</a:t>
            </a:r>
            <a:endParaRPr lang="en-US" sz="63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9" name="Text 46"/>
          <p:cNvSpPr/>
          <p:nvPr/>
        </p:nvSpPr>
        <p:spPr>
          <a:xfrm>
            <a:off x="1540477" y="2562992"/>
            <a:ext cx="1456400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114.104</a:t>
            </a:r>
            <a:endParaRPr lang="en-US" sz="63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0" name="Text 47"/>
          <p:cNvSpPr/>
          <p:nvPr/>
        </p:nvSpPr>
        <p:spPr>
          <a:xfrm>
            <a:off x="1540477" y="2705867"/>
            <a:ext cx="1456400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420.641</a:t>
            </a:r>
            <a:endParaRPr lang="en-US" sz="63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1" name="Text 48"/>
          <p:cNvSpPr/>
          <p:nvPr/>
        </p:nvSpPr>
        <p:spPr>
          <a:xfrm>
            <a:off x="2951194" y="2705867"/>
            <a:ext cx="1568454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261.700</a:t>
            </a:r>
            <a:endParaRPr lang="en-US" sz="63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2" name="Text 49"/>
          <p:cNvSpPr/>
          <p:nvPr/>
        </p:nvSpPr>
        <p:spPr>
          <a:xfrm>
            <a:off x="5205169" y="4487042"/>
            <a:ext cx="719233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261.700</a:t>
            </a:r>
            <a:endParaRPr lang="en-US" sz="57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3" name="Text 50"/>
          <p:cNvSpPr/>
          <p:nvPr/>
        </p:nvSpPr>
        <p:spPr>
          <a:xfrm>
            <a:off x="6257769" y="1991492"/>
            <a:ext cx="1120237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636" b="1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Febrero</a:t>
            </a:r>
            <a:endParaRPr lang="en-US" sz="63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4" name="Text 51"/>
          <p:cNvSpPr/>
          <p:nvPr/>
        </p:nvSpPr>
        <p:spPr>
          <a:xfrm>
            <a:off x="7316013" y="2705867"/>
            <a:ext cx="1008183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158.941</a:t>
            </a:r>
            <a:endParaRPr lang="en-US" sz="63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5" name="Text 52"/>
          <p:cNvSpPr/>
          <p:nvPr/>
        </p:nvSpPr>
        <p:spPr>
          <a:xfrm>
            <a:off x="533387" y="952500"/>
            <a:ext cx="695683" cy="2060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80" b="1" dirty="0">
                <a:solidFill>
                  <a:srgbClr val="5AE2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420.641</a:t>
            </a:r>
            <a:endParaRPr lang="en-US" sz="138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6" name="Text 53"/>
          <p:cNvSpPr/>
          <p:nvPr/>
        </p:nvSpPr>
        <p:spPr>
          <a:xfrm>
            <a:off x="1540477" y="1853380"/>
            <a:ext cx="1456400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20.864</a:t>
            </a:r>
            <a:endParaRPr lang="en-US" sz="63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7" name="Text 54"/>
          <p:cNvSpPr/>
          <p:nvPr/>
        </p:nvSpPr>
        <p:spPr>
          <a:xfrm>
            <a:off x="2951194" y="1853380"/>
            <a:ext cx="1568454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12.781</a:t>
            </a:r>
            <a:endParaRPr lang="en-US" sz="63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8" name="Text 55"/>
          <p:cNvSpPr/>
          <p:nvPr/>
        </p:nvSpPr>
        <p:spPr>
          <a:xfrm>
            <a:off x="4477220" y="1853380"/>
            <a:ext cx="1456707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61,3 %</a:t>
            </a:r>
            <a:endParaRPr lang="en-US" sz="63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9" name="Text 56"/>
          <p:cNvSpPr/>
          <p:nvPr/>
        </p:nvSpPr>
        <p:spPr>
          <a:xfrm>
            <a:off x="1540477" y="1991492"/>
            <a:ext cx="1456400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50.266</a:t>
            </a:r>
            <a:endParaRPr lang="en-US" sz="63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0" name="Text 57"/>
          <p:cNvSpPr/>
          <p:nvPr/>
        </p:nvSpPr>
        <p:spPr>
          <a:xfrm>
            <a:off x="2951194" y="1991492"/>
            <a:ext cx="1568454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25.419</a:t>
            </a:r>
            <a:endParaRPr lang="en-US" sz="63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1" name="Text 58"/>
          <p:cNvSpPr/>
          <p:nvPr/>
        </p:nvSpPr>
        <p:spPr>
          <a:xfrm>
            <a:off x="4477220" y="1991492"/>
            <a:ext cx="1456707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50,6 %</a:t>
            </a:r>
            <a:endParaRPr lang="en-US" sz="63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2" name="Text 59"/>
          <p:cNvSpPr/>
          <p:nvPr/>
        </p:nvSpPr>
        <p:spPr>
          <a:xfrm>
            <a:off x="1540477" y="2134367"/>
            <a:ext cx="1456400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69.741</a:t>
            </a:r>
            <a:endParaRPr lang="en-US" sz="63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3" name="Text 60"/>
          <p:cNvSpPr/>
          <p:nvPr/>
        </p:nvSpPr>
        <p:spPr>
          <a:xfrm>
            <a:off x="2951194" y="2134367"/>
            <a:ext cx="1568454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41.761</a:t>
            </a:r>
            <a:endParaRPr lang="en-US" sz="63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4" name="Text 61"/>
          <p:cNvSpPr/>
          <p:nvPr/>
        </p:nvSpPr>
        <p:spPr>
          <a:xfrm>
            <a:off x="4477220" y="2134367"/>
            <a:ext cx="1456707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59,9 %</a:t>
            </a:r>
            <a:endParaRPr lang="en-US" sz="63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5" name="Text 62"/>
          <p:cNvSpPr/>
          <p:nvPr/>
        </p:nvSpPr>
        <p:spPr>
          <a:xfrm>
            <a:off x="1540477" y="2277242"/>
            <a:ext cx="1456400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82.833</a:t>
            </a:r>
            <a:endParaRPr lang="en-US" sz="63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6" name="Text 63"/>
          <p:cNvSpPr/>
          <p:nvPr/>
        </p:nvSpPr>
        <p:spPr>
          <a:xfrm>
            <a:off x="2951194" y="2277242"/>
            <a:ext cx="1568454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53.460</a:t>
            </a:r>
            <a:endParaRPr lang="en-US" sz="63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7" name="Text 64"/>
          <p:cNvSpPr/>
          <p:nvPr/>
        </p:nvSpPr>
        <p:spPr>
          <a:xfrm>
            <a:off x="4477220" y="2277242"/>
            <a:ext cx="1456707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64,5 %</a:t>
            </a:r>
            <a:endParaRPr lang="en-US" sz="63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8" name="Text 65"/>
          <p:cNvSpPr/>
          <p:nvPr/>
        </p:nvSpPr>
        <p:spPr>
          <a:xfrm>
            <a:off x="1540477" y="2420117"/>
            <a:ext cx="1456400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82.833</a:t>
            </a:r>
            <a:endParaRPr lang="en-US" sz="63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9" name="Text 66"/>
          <p:cNvSpPr/>
          <p:nvPr/>
        </p:nvSpPr>
        <p:spPr>
          <a:xfrm>
            <a:off x="2951194" y="2420117"/>
            <a:ext cx="1568454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53.460</a:t>
            </a:r>
            <a:endParaRPr lang="en-US" sz="63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70" name="Text 67"/>
          <p:cNvSpPr/>
          <p:nvPr/>
        </p:nvSpPr>
        <p:spPr>
          <a:xfrm>
            <a:off x="4477220" y="2420117"/>
            <a:ext cx="1456707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64,5 %</a:t>
            </a:r>
            <a:endParaRPr lang="en-US" sz="63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71" name="Text 68"/>
          <p:cNvSpPr/>
          <p:nvPr/>
        </p:nvSpPr>
        <p:spPr>
          <a:xfrm>
            <a:off x="2951194" y="2562992"/>
            <a:ext cx="1568454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74.819</a:t>
            </a:r>
            <a:endParaRPr lang="en-US" sz="63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72" name="Text 69"/>
          <p:cNvSpPr/>
          <p:nvPr/>
        </p:nvSpPr>
        <p:spPr>
          <a:xfrm>
            <a:off x="4477220" y="2562992"/>
            <a:ext cx="1456707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65,6 %</a:t>
            </a:r>
            <a:endParaRPr lang="en-US" sz="63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73" name="Text 70"/>
          <p:cNvSpPr/>
          <p:nvPr/>
        </p:nvSpPr>
        <p:spPr>
          <a:xfrm>
            <a:off x="4477220" y="2705867"/>
            <a:ext cx="1456707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62,2 %</a:t>
            </a:r>
            <a:endParaRPr lang="en-US" sz="63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74" name="Text 71"/>
          <p:cNvSpPr/>
          <p:nvPr/>
        </p:nvSpPr>
        <p:spPr>
          <a:xfrm>
            <a:off x="504812" y="3120205"/>
            <a:ext cx="1879325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888" b="1" dirty="0">
                <a:solidFill>
                  <a:srgbClr val="FFFFFF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Motivo</a:t>
            </a:r>
            <a:endParaRPr lang="en-US" sz="888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75" name="Text 72"/>
          <p:cNvSpPr/>
          <p:nvPr/>
        </p:nvSpPr>
        <p:spPr>
          <a:xfrm>
            <a:off x="3280489" y="3291655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15.354</a:t>
            </a:r>
            <a:endParaRPr lang="en-US" sz="57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76" name="Text 73"/>
          <p:cNvSpPr/>
          <p:nvPr/>
        </p:nvSpPr>
        <p:spPr>
          <a:xfrm>
            <a:off x="3763275" y="3291655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19.655</a:t>
            </a:r>
            <a:endParaRPr lang="en-US" sz="57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77" name="Text 74"/>
          <p:cNvSpPr/>
          <p:nvPr/>
        </p:nvSpPr>
        <p:spPr>
          <a:xfrm>
            <a:off x="4246061" y="3291655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19.655</a:t>
            </a:r>
            <a:endParaRPr lang="en-US" sz="57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78" name="Text 75"/>
          <p:cNvSpPr/>
          <p:nvPr/>
        </p:nvSpPr>
        <p:spPr>
          <a:xfrm>
            <a:off x="4728848" y="3291655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27.509</a:t>
            </a:r>
            <a:endParaRPr lang="en-US" sz="57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79" name="Text 76"/>
          <p:cNvSpPr/>
          <p:nvPr/>
        </p:nvSpPr>
        <p:spPr>
          <a:xfrm>
            <a:off x="5205169" y="3291655"/>
            <a:ext cx="719233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b="1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96.218</a:t>
            </a:r>
            <a:endParaRPr lang="en-US" sz="57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0" name="Text 77"/>
          <p:cNvSpPr/>
          <p:nvPr/>
        </p:nvSpPr>
        <p:spPr>
          <a:xfrm>
            <a:off x="3280489" y="34202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13.637</a:t>
            </a:r>
            <a:endParaRPr lang="en-US" sz="57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1" name="Text 78"/>
          <p:cNvSpPr/>
          <p:nvPr/>
        </p:nvSpPr>
        <p:spPr>
          <a:xfrm>
            <a:off x="3763275" y="34202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17.457</a:t>
            </a:r>
            <a:endParaRPr lang="en-US" sz="57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2" name="Text 79"/>
          <p:cNvSpPr/>
          <p:nvPr/>
        </p:nvSpPr>
        <p:spPr>
          <a:xfrm>
            <a:off x="4246061" y="34202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17.457</a:t>
            </a:r>
            <a:endParaRPr lang="en-US" sz="57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3" name="Text 80"/>
          <p:cNvSpPr/>
          <p:nvPr/>
        </p:nvSpPr>
        <p:spPr>
          <a:xfrm>
            <a:off x="4728848" y="34202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24.431</a:t>
            </a:r>
            <a:endParaRPr lang="en-US" sz="57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4" name="Text 81"/>
          <p:cNvSpPr/>
          <p:nvPr/>
        </p:nvSpPr>
        <p:spPr>
          <a:xfrm>
            <a:off x="5205169" y="342024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b="1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85.455</a:t>
            </a:r>
            <a:endParaRPr lang="en-US" sz="57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5" name="Text 82"/>
          <p:cNvSpPr/>
          <p:nvPr/>
        </p:nvSpPr>
        <p:spPr>
          <a:xfrm>
            <a:off x="5205169" y="355359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b="1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21.047</a:t>
            </a:r>
            <a:endParaRPr lang="en-US" sz="57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6" name="Text 83"/>
          <p:cNvSpPr/>
          <p:nvPr/>
        </p:nvSpPr>
        <p:spPr>
          <a:xfrm>
            <a:off x="5205169" y="368694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b="1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19.533</a:t>
            </a:r>
            <a:endParaRPr lang="en-US" sz="57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7" name="Text 84"/>
          <p:cNvSpPr/>
          <p:nvPr/>
        </p:nvSpPr>
        <p:spPr>
          <a:xfrm>
            <a:off x="5205169" y="382029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b="1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13.637</a:t>
            </a:r>
            <a:endParaRPr lang="en-US" sz="57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8" name="Text 85"/>
          <p:cNvSpPr/>
          <p:nvPr/>
        </p:nvSpPr>
        <p:spPr>
          <a:xfrm>
            <a:off x="2314916" y="4487042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12.781</a:t>
            </a:r>
            <a:endParaRPr lang="en-US" sz="57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9" name="Text 86"/>
          <p:cNvSpPr/>
          <p:nvPr/>
        </p:nvSpPr>
        <p:spPr>
          <a:xfrm>
            <a:off x="2797702" y="4487042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25.419</a:t>
            </a:r>
            <a:endParaRPr lang="en-US" sz="57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0" name="Text 87"/>
          <p:cNvSpPr/>
          <p:nvPr/>
        </p:nvSpPr>
        <p:spPr>
          <a:xfrm>
            <a:off x="3280489" y="4487042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41.761</a:t>
            </a:r>
            <a:endParaRPr lang="en-US" sz="57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1" name="Text 88"/>
          <p:cNvSpPr/>
          <p:nvPr/>
        </p:nvSpPr>
        <p:spPr>
          <a:xfrm>
            <a:off x="3763275" y="4487042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53.460</a:t>
            </a:r>
            <a:endParaRPr lang="en-US" sz="57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2" name="Text 89"/>
          <p:cNvSpPr/>
          <p:nvPr/>
        </p:nvSpPr>
        <p:spPr>
          <a:xfrm>
            <a:off x="4246061" y="4487042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53.460</a:t>
            </a:r>
            <a:endParaRPr lang="en-US" sz="57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3" name="Text 90"/>
          <p:cNvSpPr/>
          <p:nvPr/>
        </p:nvSpPr>
        <p:spPr>
          <a:xfrm>
            <a:off x="4728848" y="4487042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74.819</a:t>
            </a:r>
            <a:endParaRPr lang="en-US" sz="57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4" name="Text 91"/>
          <p:cNvSpPr/>
          <p:nvPr/>
        </p:nvSpPr>
        <p:spPr>
          <a:xfrm>
            <a:off x="9273649" y="1681930"/>
            <a:ext cx="1008183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Ventas</a:t>
            </a:r>
            <a:endParaRPr lang="en-US" sz="888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5" name="Text 92"/>
          <p:cNvSpPr/>
          <p:nvPr/>
        </p:nvSpPr>
        <p:spPr>
          <a:xfrm>
            <a:off x="8294831" y="1853380"/>
            <a:ext cx="1008183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51,1 %</a:t>
            </a:r>
            <a:endParaRPr lang="en-US" sz="63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6" name="Text 93"/>
          <p:cNvSpPr/>
          <p:nvPr/>
        </p:nvSpPr>
        <p:spPr>
          <a:xfrm>
            <a:off x="7316013" y="1991492"/>
            <a:ext cx="100818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24.847</a:t>
            </a:r>
            <a:endParaRPr lang="en-US" sz="63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7" name="Text 94"/>
          <p:cNvSpPr/>
          <p:nvPr/>
        </p:nvSpPr>
        <p:spPr>
          <a:xfrm>
            <a:off x="8294831" y="1991492"/>
            <a:ext cx="100818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36,8 %</a:t>
            </a:r>
            <a:endParaRPr lang="en-US" sz="63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8" name="Text 95"/>
          <p:cNvSpPr/>
          <p:nvPr/>
        </p:nvSpPr>
        <p:spPr>
          <a:xfrm>
            <a:off x="7316013" y="2134367"/>
            <a:ext cx="100818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27.980</a:t>
            </a:r>
            <a:endParaRPr lang="en-US" sz="63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9" name="Text 96"/>
          <p:cNvSpPr/>
          <p:nvPr/>
        </p:nvSpPr>
        <p:spPr>
          <a:xfrm>
            <a:off x="8294831" y="2134367"/>
            <a:ext cx="100818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59,2 %</a:t>
            </a:r>
            <a:endParaRPr lang="en-US" sz="63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00" name="Text 97"/>
          <p:cNvSpPr/>
          <p:nvPr/>
        </p:nvSpPr>
        <p:spPr>
          <a:xfrm>
            <a:off x="7316013" y="2277242"/>
            <a:ext cx="100818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29.373</a:t>
            </a:r>
            <a:endParaRPr lang="en-US" sz="63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01" name="Text 98"/>
          <p:cNvSpPr/>
          <p:nvPr/>
        </p:nvSpPr>
        <p:spPr>
          <a:xfrm>
            <a:off x="8294831" y="2277242"/>
            <a:ext cx="100818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56,4 %</a:t>
            </a:r>
            <a:endParaRPr lang="en-US" sz="63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02" name="Text 99"/>
          <p:cNvSpPr/>
          <p:nvPr/>
        </p:nvSpPr>
        <p:spPr>
          <a:xfrm>
            <a:off x="7316013" y="2420117"/>
            <a:ext cx="100818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29.373</a:t>
            </a:r>
            <a:endParaRPr lang="en-US" sz="63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03" name="Text 100"/>
          <p:cNvSpPr/>
          <p:nvPr/>
        </p:nvSpPr>
        <p:spPr>
          <a:xfrm>
            <a:off x="8294831" y="2420117"/>
            <a:ext cx="100818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59,3 %</a:t>
            </a:r>
            <a:endParaRPr lang="en-US" sz="63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04" name="Text 101"/>
          <p:cNvSpPr/>
          <p:nvPr/>
        </p:nvSpPr>
        <p:spPr>
          <a:xfrm>
            <a:off x="7316013" y="2562992"/>
            <a:ext cx="100818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39.285</a:t>
            </a:r>
            <a:endParaRPr lang="en-US" sz="63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05" name="Text 102"/>
          <p:cNvSpPr/>
          <p:nvPr/>
        </p:nvSpPr>
        <p:spPr>
          <a:xfrm>
            <a:off x="8294831" y="2562992"/>
            <a:ext cx="100818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46,2 %</a:t>
            </a:r>
            <a:endParaRPr lang="en-US" sz="63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06" name="Text 103"/>
          <p:cNvSpPr/>
          <p:nvPr/>
        </p:nvSpPr>
        <p:spPr>
          <a:xfrm>
            <a:off x="8294831" y="2705867"/>
            <a:ext cx="1008183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51,6 %</a:t>
            </a:r>
            <a:endParaRPr lang="en-US" sz="63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07" name="Text 104"/>
          <p:cNvSpPr/>
          <p:nvPr/>
        </p:nvSpPr>
        <p:spPr>
          <a:xfrm>
            <a:off x="8077397" y="3291655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51,1 %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08" name="Text 105"/>
          <p:cNvSpPr/>
          <p:nvPr/>
        </p:nvSpPr>
        <p:spPr>
          <a:xfrm>
            <a:off x="8560183" y="3291655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36,8 %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09" name="Text 106"/>
          <p:cNvSpPr/>
          <p:nvPr/>
        </p:nvSpPr>
        <p:spPr>
          <a:xfrm>
            <a:off x="9042970" y="3291655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59,2 %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10" name="Text 107"/>
          <p:cNvSpPr/>
          <p:nvPr/>
        </p:nvSpPr>
        <p:spPr>
          <a:xfrm>
            <a:off x="9525756" y="3291655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56,4 %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11" name="Text 108"/>
          <p:cNvSpPr/>
          <p:nvPr/>
        </p:nvSpPr>
        <p:spPr>
          <a:xfrm>
            <a:off x="10008542" y="3291655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59,3 %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12" name="Text 109"/>
          <p:cNvSpPr/>
          <p:nvPr/>
        </p:nvSpPr>
        <p:spPr>
          <a:xfrm>
            <a:off x="10491329" y="3291655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46,2 %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13" name="Text 110"/>
          <p:cNvSpPr/>
          <p:nvPr/>
        </p:nvSpPr>
        <p:spPr>
          <a:xfrm>
            <a:off x="10967650" y="3291655"/>
            <a:ext cx="719233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51,7 %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14" name="Text 111"/>
          <p:cNvSpPr/>
          <p:nvPr/>
        </p:nvSpPr>
        <p:spPr>
          <a:xfrm>
            <a:off x="8077397" y="35535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19,1 %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15" name="Text 112"/>
          <p:cNvSpPr/>
          <p:nvPr/>
        </p:nvSpPr>
        <p:spPr>
          <a:xfrm>
            <a:off x="8560183" y="35535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13,8 %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16" name="Text 113"/>
          <p:cNvSpPr/>
          <p:nvPr/>
        </p:nvSpPr>
        <p:spPr>
          <a:xfrm>
            <a:off x="9042970" y="35535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22,2 %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17" name="Text 114"/>
          <p:cNvSpPr/>
          <p:nvPr/>
        </p:nvSpPr>
        <p:spPr>
          <a:xfrm>
            <a:off x="9525756" y="35535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21,1 %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18" name="Text 115"/>
          <p:cNvSpPr/>
          <p:nvPr/>
        </p:nvSpPr>
        <p:spPr>
          <a:xfrm>
            <a:off x="10008542" y="35535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22,2 %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19" name="Text 116"/>
          <p:cNvSpPr/>
          <p:nvPr/>
        </p:nvSpPr>
        <p:spPr>
          <a:xfrm>
            <a:off x="10491329" y="35535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17,3 %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20" name="Text 117"/>
          <p:cNvSpPr/>
          <p:nvPr/>
        </p:nvSpPr>
        <p:spPr>
          <a:xfrm>
            <a:off x="10967650" y="355359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19,4 %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21" name="Text 118"/>
          <p:cNvSpPr/>
          <p:nvPr/>
        </p:nvSpPr>
        <p:spPr>
          <a:xfrm>
            <a:off x="8077397" y="36869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11,0 %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22" name="Text 119"/>
          <p:cNvSpPr/>
          <p:nvPr/>
        </p:nvSpPr>
        <p:spPr>
          <a:xfrm>
            <a:off x="9042970" y="36869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12,7 %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23" name="Text 120"/>
          <p:cNvSpPr/>
          <p:nvPr/>
        </p:nvSpPr>
        <p:spPr>
          <a:xfrm>
            <a:off x="9525756" y="36869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12,1 %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24" name="Text 121"/>
          <p:cNvSpPr/>
          <p:nvPr/>
        </p:nvSpPr>
        <p:spPr>
          <a:xfrm>
            <a:off x="10008542" y="36869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12,7 %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25" name="Text 122"/>
          <p:cNvSpPr/>
          <p:nvPr/>
        </p:nvSpPr>
        <p:spPr>
          <a:xfrm>
            <a:off x="10967650" y="368694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11,1 %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26" name="Text 123"/>
          <p:cNvSpPr/>
          <p:nvPr/>
        </p:nvSpPr>
        <p:spPr>
          <a:xfrm>
            <a:off x="8077397" y="44870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48,9 %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27" name="Text 124"/>
          <p:cNvSpPr/>
          <p:nvPr/>
        </p:nvSpPr>
        <p:spPr>
          <a:xfrm>
            <a:off x="8560183" y="44870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63,2 %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28" name="Text 125"/>
          <p:cNvSpPr/>
          <p:nvPr/>
        </p:nvSpPr>
        <p:spPr>
          <a:xfrm>
            <a:off x="9042970" y="44870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40,8 %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29" name="Text 126"/>
          <p:cNvSpPr/>
          <p:nvPr/>
        </p:nvSpPr>
        <p:spPr>
          <a:xfrm>
            <a:off x="9525756" y="44870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43,6 %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30" name="Text 127"/>
          <p:cNvSpPr/>
          <p:nvPr/>
        </p:nvSpPr>
        <p:spPr>
          <a:xfrm>
            <a:off x="10008542" y="44870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40,7 %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31" name="Text 128"/>
          <p:cNvSpPr/>
          <p:nvPr/>
        </p:nvSpPr>
        <p:spPr>
          <a:xfrm>
            <a:off x="10491329" y="44870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53,8 %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32" name="Text 129"/>
          <p:cNvSpPr/>
          <p:nvPr/>
        </p:nvSpPr>
        <p:spPr>
          <a:xfrm>
            <a:off x="10967650" y="448704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48,3 %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33" name="Text 130"/>
          <p:cNvSpPr/>
          <p:nvPr/>
        </p:nvSpPr>
        <p:spPr>
          <a:xfrm>
            <a:off x="8077397" y="46203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39,1 %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34" name="Text 131"/>
          <p:cNvSpPr/>
          <p:nvPr/>
        </p:nvSpPr>
        <p:spPr>
          <a:xfrm>
            <a:off x="8560183" y="46203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50,5 %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35" name="Text 132"/>
          <p:cNvSpPr/>
          <p:nvPr/>
        </p:nvSpPr>
        <p:spPr>
          <a:xfrm>
            <a:off x="9042970" y="46203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32,6 %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36" name="Text 133"/>
          <p:cNvSpPr/>
          <p:nvPr/>
        </p:nvSpPr>
        <p:spPr>
          <a:xfrm>
            <a:off x="9525756" y="46203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34,9 %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37" name="Text 134"/>
          <p:cNvSpPr/>
          <p:nvPr/>
        </p:nvSpPr>
        <p:spPr>
          <a:xfrm>
            <a:off x="10008542" y="46203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32,5 %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38" name="Text 135"/>
          <p:cNvSpPr/>
          <p:nvPr/>
        </p:nvSpPr>
        <p:spPr>
          <a:xfrm>
            <a:off x="10491329" y="46203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43,0 %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39" name="Text 136"/>
          <p:cNvSpPr/>
          <p:nvPr/>
        </p:nvSpPr>
        <p:spPr>
          <a:xfrm>
            <a:off x="10967650" y="462039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38,6 %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40" name="Text 137"/>
          <p:cNvSpPr/>
          <p:nvPr/>
        </p:nvSpPr>
        <p:spPr>
          <a:xfrm>
            <a:off x="495288" y="1853380"/>
            <a:ext cx="1120237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636" b="1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Enero</a:t>
            </a:r>
            <a:endParaRPr lang="en-US" sz="63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41" name="Text 138"/>
          <p:cNvSpPr/>
          <p:nvPr/>
        </p:nvSpPr>
        <p:spPr>
          <a:xfrm>
            <a:off x="495288" y="2134367"/>
            <a:ext cx="1120237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636" b="1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Marzo</a:t>
            </a:r>
            <a:endParaRPr lang="en-US" sz="63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42" name="Text 139"/>
          <p:cNvSpPr/>
          <p:nvPr/>
        </p:nvSpPr>
        <p:spPr>
          <a:xfrm>
            <a:off x="495288" y="2277242"/>
            <a:ext cx="1120237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636" b="1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Abril</a:t>
            </a:r>
            <a:endParaRPr lang="en-US" sz="63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43" name="Text 140"/>
          <p:cNvSpPr/>
          <p:nvPr/>
        </p:nvSpPr>
        <p:spPr>
          <a:xfrm>
            <a:off x="495288" y="2562992"/>
            <a:ext cx="1120237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636" b="1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Junio</a:t>
            </a:r>
            <a:endParaRPr lang="en-US" sz="63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44" name="Text 141"/>
          <p:cNvSpPr/>
          <p:nvPr/>
        </p:nvSpPr>
        <p:spPr>
          <a:xfrm>
            <a:off x="495288" y="2705867"/>
            <a:ext cx="1120237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636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Total</a:t>
            </a:r>
            <a:endParaRPr lang="en-US" sz="63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45" name="Text 142"/>
          <p:cNvSpPr/>
          <p:nvPr/>
        </p:nvSpPr>
        <p:spPr>
          <a:xfrm>
            <a:off x="5205169" y="3120205"/>
            <a:ext cx="719233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Total</a:t>
            </a:r>
            <a:endParaRPr lang="en-US" sz="888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46" name="Text 143"/>
          <p:cNvSpPr/>
          <p:nvPr/>
        </p:nvSpPr>
        <p:spPr>
          <a:xfrm>
            <a:off x="2314916" y="3291655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4.699</a:t>
            </a:r>
            <a:endParaRPr lang="en-US" sz="57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47" name="Text 144"/>
          <p:cNvSpPr/>
          <p:nvPr/>
        </p:nvSpPr>
        <p:spPr>
          <a:xfrm>
            <a:off x="2797702" y="3291655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9.346</a:t>
            </a:r>
            <a:endParaRPr lang="en-US" sz="57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48" name="Text 145"/>
          <p:cNvSpPr/>
          <p:nvPr/>
        </p:nvSpPr>
        <p:spPr>
          <a:xfrm>
            <a:off x="2314916" y="34202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4.173</a:t>
            </a:r>
            <a:endParaRPr lang="en-US" sz="57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49" name="Text 146"/>
          <p:cNvSpPr/>
          <p:nvPr/>
        </p:nvSpPr>
        <p:spPr>
          <a:xfrm>
            <a:off x="2797702" y="34202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8.300</a:t>
            </a:r>
            <a:endParaRPr lang="en-US" sz="57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50" name="Text 147"/>
          <p:cNvSpPr/>
          <p:nvPr/>
        </p:nvSpPr>
        <p:spPr>
          <a:xfrm>
            <a:off x="2314916" y="35535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1.028</a:t>
            </a:r>
            <a:endParaRPr lang="en-US" sz="57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51" name="Text 148"/>
          <p:cNvSpPr/>
          <p:nvPr/>
        </p:nvSpPr>
        <p:spPr>
          <a:xfrm>
            <a:off x="2797702" y="35535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2.044</a:t>
            </a:r>
            <a:endParaRPr lang="en-US" sz="57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52" name="Text 149"/>
          <p:cNvSpPr/>
          <p:nvPr/>
        </p:nvSpPr>
        <p:spPr>
          <a:xfrm>
            <a:off x="3280489" y="35535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3.359</a:t>
            </a:r>
            <a:endParaRPr lang="en-US" sz="57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53" name="Text 150"/>
          <p:cNvSpPr/>
          <p:nvPr/>
        </p:nvSpPr>
        <p:spPr>
          <a:xfrm>
            <a:off x="3763275" y="35535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4.299</a:t>
            </a:r>
            <a:endParaRPr lang="en-US" sz="57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54" name="Text 151"/>
          <p:cNvSpPr/>
          <p:nvPr/>
        </p:nvSpPr>
        <p:spPr>
          <a:xfrm>
            <a:off x="4246061" y="35535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4.299</a:t>
            </a:r>
            <a:endParaRPr lang="en-US" sz="57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55" name="Text 152"/>
          <p:cNvSpPr/>
          <p:nvPr/>
        </p:nvSpPr>
        <p:spPr>
          <a:xfrm>
            <a:off x="4728848" y="35535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6.018</a:t>
            </a:r>
            <a:endParaRPr lang="en-US" sz="57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56" name="Text 153"/>
          <p:cNvSpPr/>
          <p:nvPr/>
        </p:nvSpPr>
        <p:spPr>
          <a:xfrm>
            <a:off x="2797702" y="36869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1.897</a:t>
            </a:r>
            <a:endParaRPr lang="en-US" sz="57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57" name="Text 154"/>
          <p:cNvSpPr/>
          <p:nvPr/>
        </p:nvSpPr>
        <p:spPr>
          <a:xfrm>
            <a:off x="3280489" y="36869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3.117</a:t>
            </a:r>
            <a:endParaRPr lang="en-US" sz="57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58" name="Text 155"/>
          <p:cNvSpPr/>
          <p:nvPr/>
        </p:nvSpPr>
        <p:spPr>
          <a:xfrm>
            <a:off x="3763275" y="36869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3.990</a:t>
            </a:r>
            <a:endParaRPr lang="en-US" sz="57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59" name="Text 156"/>
          <p:cNvSpPr/>
          <p:nvPr/>
        </p:nvSpPr>
        <p:spPr>
          <a:xfrm>
            <a:off x="4246061" y="36869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3.990</a:t>
            </a:r>
            <a:endParaRPr lang="en-US" sz="57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60" name="Text 157"/>
          <p:cNvSpPr/>
          <p:nvPr/>
        </p:nvSpPr>
        <p:spPr>
          <a:xfrm>
            <a:off x="4728848" y="36869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5.585</a:t>
            </a:r>
            <a:endParaRPr lang="en-US" sz="57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61" name="Text 158"/>
          <p:cNvSpPr/>
          <p:nvPr/>
        </p:nvSpPr>
        <p:spPr>
          <a:xfrm>
            <a:off x="2797702" y="38202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1.325</a:t>
            </a:r>
            <a:endParaRPr lang="en-US" sz="57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62" name="Text 159"/>
          <p:cNvSpPr/>
          <p:nvPr/>
        </p:nvSpPr>
        <p:spPr>
          <a:xfrm>
            <a:off x="3280489" y="38202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2.176</a:t>
            </a:r>
            <a:endParaRPr lang="en-US" sz="57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63" name="Text 160"/>
          <p:cNvSpPr/>
          <p:nvPr/>
        </p:nvSpPr>
        <p:spPr>
          <a:xfrm>
            <a:off x="3763275" y="38202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2.786</a:t>
            </a:r>
            <a:endParaRPr lang="en-US" sz="57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64" name="Text 161"/>
          <p:cNvSpPr/>
          <p:nvPr/>
        </p:nvSpPr>
        <p:spPr>
          <a:xfrm>
            <a:off x="4246061" y="38202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2.786</a:t>
            </a:r>
            <a:endParaRPr lang="en-US" sz="57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65" name="Text 162"/>
          <p:cNvSpPr/>
          <p:nvPr/>
        </p:nvSpPr>
        <p:spPr>
          <a:xfrm>
            <a:off x="4728848" y="38202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3.898</a:t>
            </a:r>
            <a:endParaRPr lang="en-US" sz="57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66" name="Text 163"/>
          <p:cNvSpPr/>
          <p:nvPr/>
        </p:nvSpPr>
        <p:spPr>
          <a:xfrm>
            <a:off x="3280489" y="39536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1.126</a:t>
            </a:r>
            <a:endParaRPr lang="en-US" sz="57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67" name="Text 164"/>
          <p:cNvSpPr/>
          <p:nvPr/>
        </p:nvSpPr>
        <p:spPr>
          <a:xfrm>
            <a:off x="3763275" y="39536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1.442</a:t>
            </a:r>
            <a:endParaRPr lang="en-US" sz="57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68" name="Text 165"/>
          <p:cNvSpPr/>
          <p:nvPr/>
        </p:nvSpPr>
        <p:spPr>
          <a:xfrm>
            <a:off x="4246061" y="39536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1.442</a:t>
            </a:r>
            <a:endParaRPr lang="en-US" sz="57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69" name="Text 166"/>
          <p:cNvSpPr/>
          <p:nvPr/>
        </p:nvSpPr>
        <p:spPr>
          <a:xfrm>
            <a:off x="4728848" y="39536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2.018</a:t>
            </a:r>
            <a:endParaRPr lang="en-US" sz="57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70" name="Text 167"/>
          <p:cNvSpPr/>
          <p:nvPr/>
        </p:nvSpPr>
        <p:spPr>
          <a:xfrm>
            <a:off x="5205169" y="395364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b="1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7.059</a:t>
            </a:r>
            <a:endParaRPr lang="en-US" sz="57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71" name="Text 168"/>
          <p:cNvSpPr/>
          <p:nvPr/>
        </p:nvSpPr>
        <p:spPr>
          <a:xfrm>
            <a:off x="3763275" y="40869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1.032</a:t>
            </a:r>
            <a:endParaRPr lang="en-US" sz="57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72" name="Text 169"/>
          <p:cNvSpPr/>
          <p:nvPr/>
        </p:nvSpPr>
        <p:spPr>
          <a:xfrm>
            <a:off x="4246061" y="40869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1.032</a:t>
            </a:r>
            <a:endParaRPr lang="en-US" sz="57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73" name="Text 170"/>
          <p:cNvSpPr/>
          <p:nvPr/>
        </p:nvSpPr>
        <p:spPr>
          <a:xfrm>
            <a:off x="4728848" y="40869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1.445</a:t>
            </a:r>
            <a:endParaRPr lang="en-US" sz="57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74" name="Text 171"/>
          <p:cNvSpPr/>
          <p:nvPr/>
        </p:nvSpPr>
        <p:spPr>
          <a:xfrm>
            <a:off x="5205169" y="408699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b="1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5.053</a:t>
            </a:r>
            <a:endParaRPr lang="en-US" sz="57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75" name="Text 172"/>
          <p:cNvSpPr/>
          <p:nvPr/>
        </p:nvSpPr>
        <p:spPr>
          <a:xfrm>
            <a:off x="4728848" y="42203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1.300</a:t>
            </a:r>
            <a:endParaRPr lang="en-US" sz="57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76" name="Text 173"/>
          <p:cNvSpPr/>
          <p:nvPr/>
        </p:nvSpPr>
        <p:spPr>
          <a:xfrm>
            <a:off x="5205169" y="422034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b="1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4.544</a:t>
            </a:r>
            <a:endParaRPr lang="en-US" sz="57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77" name="Text 174"/>
          <p:cNvSpPr/>
          <p:nvPr/>
        </p:nvSpPr>
        <p:spPr>
          <a:xfrm>
            <a:off x="3280489" y="43536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1.461</a:t>
            </a:r>
            <a:endParaRPr lang="en-US" sz="57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78" name="Text 175"/>
          <p:cNvSpPr/>
          <p:nvPr/>
        </p:nvSpPr>
        <p:spPr>
          <a:xfrm>
            <a:off x="3763275" y="43536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1.870</a:t>
            </a:r>
            <a:endParaRPr lang="en-US" sz="57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79" name="Text 176"/>
          <p:cNvSpPr/>
          <p:nvPr/>
        </p:nvSpPr>
        <p:spPr>
          <a:xfrm>
            <a:off x="4246061" y="43536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1.870</a:t>
            </a:r>
            <a:endParaRPr lang="en-US" sz="57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80" name="Text 177"/>
          <p:cNvSpPr/>
          <p:nvPr/>
        </p:nvSpPr>
        <p:spPr>
          <a:xfrm>
            <a:off x="4728848" y="43536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2.617</a:t>
            </a:r>
            <a:endParaRPr lang="en-US" sz="57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81" name="Text 178"/>
          <p:cNvSpPr/>
          <p:nvPr/>
        </p:nvSpPr>
        <p:spPr>
          <a:xfrm>
            <a:off x="5205169" y="435369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b="1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9.154</a:t>
            </a:r>
            <a:endParaRPr lang="en-US" sz="57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82" name="Text 179"/>
          <p:cNvSpPr/>
          <p:nvPr/>
        </p:nvSpPr>
        <p:spPr>
          <a:xfrm>
            <a:off x="504812" y="4487042"/>
            <a:ext cx="1879325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76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Total</a:t>
            </a:r>
            <a:endParaRPr lang="en-US" sz="57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83" name="Text 180"/>
          <p:cNvSpPr/>
          <p:nvPr/>
        </p:nvSpPr>
        <p:spPr>
          <a:xfrm>
            <a:off x="7316013" y="1681930"/>
            <a:ext cx="1008183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Aptos</a:t>
            </a:r>
            <a:endParaRPr lang="en-US" sz="888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84" name="Text 181"/>
          <p:cNvSpPr/>
          <p:nvPr/>
        </p:nvSpPr>
        <p:spPr>
          <a:xfrm>
            <a:off x="6257769" y="1853380"/>
            <a:ext cx="1120237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636" b="1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Enero</a:t>
            </a:r>
            <a:endParaRPr lang="en-US" sz="63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85" name="Text 182"/>
          <p:cNvSpPr/>
          <p:nvPr/>
        </p:nvSpPr>
        <p:spPr>
          <a:xfrm>
            <a:off x="7316013" y="1853380"/>
            <a:ext cx="1008183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8.083</a:t>
            </a:r>
            <a:endParaRPr lang="en-US" sz="63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86" name="Text 183"/>
          <p:cNvSpPr/>
          <p:nvPr/>
        </p:nvSpPr>
        <p:spPr>
          <a:xfrm>
            <a:off x="10239394" y="1853380"/>
            <a:ext cx="1457013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7,8 %</a:t>
            </a:r>
            <a:endParaRPr lang="en-US" sz="63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87" name="Text 184"/>
          <p:cNvSpPr/>
          <p:nvPr/>
        </p:nvSpPr>
        <p:spPr>
          <a:xfrm>
            <a:off x="10239394" y="1991492"/>
            <a:ext cx="145701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4,8 %</a:t>
            </a:r>
            <a:endParaRPr lang="en-US" sz="63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88" name="Text 185"/>
          <p:cNvSpPr/>
          <p:nvPr/>
        </p:nvSpPr>
        <p:spPr>
          <a:xfrm>
            <a:off x="6257769" y="2134367"/>
            <a:ext cx="1120237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636" b="1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Marzo</a:t>
            </a:r>
            <a:endParaRPr lang="en-US" sz="63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89" name="Text 186"/>
          <p:cNvSpPr/>
          <p:nvPr/>
        </p:nvSpPr>
        <p:spPr>
          <a:xfrm>
            <a:off x="10239394" y="2134367"/>
            <a:ext cx="145701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3,8 %</a:t>
            </a:r>
            <a:endParaRPr lang="en-US" sz="63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90" name="Text 187"/>
          <p:cNvSpPr/>
          <p:nvPr/>
        </p:nvSpPr>
        <p:spPr>
          <a:xfrm>
            <a:off x="6257769" y="2277242"/>
            <a:ext cx="1120237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636" b="1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Abril</a:t>
            </a:r>
            <a:endParaRPr lang="en-US" sz="63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91" name="Text 188"/>
          <p:cNvSpPr/>
          <p:nvPr/>
        </p:nvSpPr>
        <p:spPr>
          <a:xfrm>
            <a:off x="10239394" y="2277242"/>
            <a:ext cx="145701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0,5 %</a:t>
            </a:r>
            <a:endParaRPr lang="en-US" sz="63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92" name="Text 189"/>
          <p:cNvSpPr/>
          <p:nvPr/>
        </p:nvSpPr>
        <p:spPr>
          <a:xfrm>
            <a:off x="10239394" y="2420117"/>
            <a:ext cx="145701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4,3 %</a:t>
            </a:r>
            <a:endParaRPr lang="en-US" sz="63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93" name="Text 190"/>
          <p:cNvSpPr/>
          <p:nvPr/>
        </p:nvSpPr>
        <p:spPr>
          <a:xfrm>
            <a:off x="6257769" y="2562992"/>
            <a:ext cx="1120237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636" b="1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Junio</a:t>
            </a:r>
            <a:endParaRPr lang="en-US" sz="63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94" name="Text 191"/>
          <p:cNvSpPr/>
          <p:nvPr/>
        </p:nvSpPr>
        <p:spPr>
          <a:xfrm>
            <a:off x="10239394" y="2562992"/>
            <a:ext cx="145701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3,9 %</a:t>
            </a:r>
            <a:endParaRPr lang="en-US" sz="63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95" name="Text 192"/>
          <p:cNvSpPr/>
          <p:nvPr/>
        </p:nvSpPr>
        <p:spPr>
          <a:xfrm>
            <a:off x="6257769" y="2705867"/>
            <a:ext cx="1120237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636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Total</a:t>
            </a:r>
            <a:endParaRPr lang="en-US" sz="63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96" name="Text 193"/>
          <p:cNvSpPr/>
          <p:nvPr/>
        </p:nvSpPr>
        <p:spPr>
          <a:xfrm>
            <a:off x="9273649" y="2705867"/>
            <a:ext cx="1008183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2.845</a:t>
            </a:r>
            <a:endParaRPr lang="en-US" sz="63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97" name="Text 194"/>
          <p:cNvSpPr/>
          <p:nvPr/>
        </p:nvSpPr>
        <p:spPr>
          <a:xfrm>
            <a:off x="10239394" y="2705867"/>
            <a:ext cx="1457013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3,5 %</a:t>
            </a:r>
            <a:endParaRPr lang="en-US" sz="63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98" name="Text 195"/>
          <p:cNvSpPr/>
          <p:nvPr/>
        </p:nvSpPr>
        <p:spPr>
          <a:xfrm>
            <a:off x="10967650" y="3120205"/>
            <a:ext cx="719233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Total</a:t>
            </a:r>
            <a:endParaRPr lang="en-US" sz="888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99" name="Text 196"/>
          <p:cNvSpPr/>
          <p:nvPr/>
        </p:nvSpPr>
        <p:spPr>
          <a:xfrm>
            <a:off x="8077397" y="34202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4,0 %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00" name="Text 197"/>
          <p:cNvSpPr/>
          <p:nvPr/>
        </p:nvSpPr>
        <p:spPr>
          <a:xfrm>
            <a:off x="8560183" y="34202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1,8 %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01" name="Text 198"/>
          <p:cNvSpPr/>
          <p:nvPr/>
        </p:nvSpPr>
        <p:spPr>
          <a:xfrm>
            <a:off x="9042970" y="34202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2,2 %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02" name="Text 199"/>
          <p:cNvSpPr/>
          <p:nvPr/>
        </p:nvSpPr>
        <p:spPr>
          <a:xfrm>
            <a:off x="9525756" y="34202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0,3 %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03" name="Text 200"/>
          <p:cNvSpPr/>
          <p:nvPr/>
        </p:nvSpPr>
        <p:spPr>
          <a:xfrm>
            <a:off x="10008542" y="34202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2,6 %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04" name="Text 201"/>
          <p:cNvSpPr/>
          <p:nvPr/>
        </p:nvSpPr>
        <p:spPr>
          <a:xfrm>
            <a:off x="10491329" y="34202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1,6 %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05" name="Text 202"/>
          <p:cNvSpPr/>
          <p:nvPr/>
        </p:nvSpPr>
        <p:spPr>
          <a:xfrm>
            <a:off x="10967650" y="342024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1,8 %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06" name="Text 203"/>
          <p:cNvSpPr/>
          <p:nvPr/>
        </p:nvSpPr>
        <p:spPr>
          <a:xfrm>
            <a:off x="8560183" y="36869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7,9 %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07" name="Text 204"/>
          <p:cNvSpPr/>
          <p:nvPr/>
        </p:nvSpPr>
        <p:spPr>
          <a:xfrm>
            <a:off x="10491329" y="36869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9,9 %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08" name="Text 205"/>
          <p:cNvSpPr/>
          <p:nvPr/>
        </p:nvSpPr>
        <p:spPr>
          <a:xfrm>
            <a:off x="8077397" y="38202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4,5 %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09" name="Text 206"/>
          <p:cNvSpPr/>
          <p:nvPr/>
        </p:nvSpPr>
        <p:spPr>
          <a:xfrm>
            <a:off x="8560183" y="38202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3,2 %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10" name="Text 207"/>
          <p:cNvSpPr/>
          <p:nvPr/>
        </p:nvSpPr>
        <p:spPr>
          <a:xfrm>
            <a:off x="9042970" y="38202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5,2 %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11" name="Text 208"/>
          <p:cNvSpPr/>
          <p:nvPr/>
        </p:nvSpPr>
        <p:spPr>
          <a:xfrm>
            <a:off x="9525756" y="38202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4,9 %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12" name="Text 209"/>
          <p:cNvSpPr/>
          <p:nvPr/>
        </p:nvSpPr>
        <p:spPr>
          <a:xfrm>
            <a:off x="10008542" y="38202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5,2 %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13" name="Text 210"/>
          <p:cNvSpPr/>
          <p:nvPr/>
        </p:nvSpPr>
        <p:spPr>
          <a:xfrm>
            <a:off x="10491329" y="38202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4,0 %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14" name="Text 211"/>
          <p:cNvSpPr/>
          <p:nvPr/>
        </p:nvSpPr>
        <p:spPr>
          <a:xfrm>
            <a:off x="10967650" y="382029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4,5 %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15" name="Text 212"/>
          <p:cNvSpPr/>
          <p:nvPr/>
        </p:nvSpPr>
        <p:spPr>
          <a:xfrm>
            <a:off x="8077397" y="39536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5,3 %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16" name="Text 213"/>
          <p:cNvSpPr/>
          <p:nvPr/>
        </p:nvSpPr>
        <p:spPr>
          <a:xfrm>
            <a:off x="8560183" y="39536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3,8 %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17" name="Text 214"/>
          <p:cNvSpPr/>
          <p:nvPr/>
        </p:nvSpPr>
        <p:spPr>
          <a:xfrm>
            <a:off x="9042970" y="39536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6,1 %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18" name="Text 215"/>
          <p:cNvSpPr/>
          <p:nvPr/>
        </p:nvSpPr>
        <p:spPr>
          <a:xfrm>
            <a:off x="9525756" y="39536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5,8 %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19" name="Text 216"/>
          <p:cNvSpPr/>
          <p:nvPr/>
        </p:nvSpPr>
        <p:spPr>
          <a:xfrm>
            <a:off x="10008542" y="39536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6,1 %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20" name="Text 217"/>
          <p:cNvSpPr/>
          <p:nvPr/>
        </p:nvSpPr>
        <p:spPr>
          <a:xfrm>
            <a:off x="10491329" y="39536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4,8 %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21" name="Text 218"/>
          <p:cNvSpPr/>
          <p:nvPr/>
        </p:nvSpPr>
        <p:spPr>
          <a:xfrm>
            <a:off x="10967650" y="395364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5,4 %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22" name="Text 219"/>
          <p:cNvSpPr/>
          <p:nvPr/>
        </p:nvSpPr>
        <p:spPr>
          <a:xfrm>
            <a:off x="8077397" y="40869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2,7 %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23" name="Text 220"/>
          <p:cNvSpPr/>
          <p:nvPr/>
        </p:nvSpPr>
        <p:spPr>
          <a:xfrm>
            <a:off x="8560183" y="40869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1,9 %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24" name="Text 221"/>
          <p:cNvSpPr/>
          <p:nvPr/>
        </p:nvSpPr>
        <p:spPr>
          <a:xfrm>
            <a:off x="9042970" y="40869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3,1 %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25" name="Text 222"/>
          <p:cNvSpPr/>
          <p:nvPr/>
        </p:nvSpPr>
        <p:spPr>
          <a:xfrm>
            <a:off x="9525756" y="40869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2,9 %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26" name="Text 223"/>
          <p:cNvSpPr/>
          <p:nvPr/>
        </p:nvSpPr>
        <p:spPr>
          <a:xfrm>
            <a:off x="10008542" y="40869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3,1 %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27" name="Text 224"/>
          <p:cNvSpPr/>
          <p:nvPr/>
        </p:nvSpPr>
        <p:spPr>
          <a:xfrm>
            <a:off x="10491329" y="40869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2,4 %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28" name="Text 225"/>
          <p:cNvSpPr/>
          <p:nvPr/>
        </p:nvSpPr>
        <p:spPr>
          <a:xfrm>
            <a:off x="10967650" y="408699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2,7 %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29" name="Text 226"/>
          <p:cNvSpPr/>
          <p:nvPr/>
        </p:nvSpPr>
        <p:spPr>
          <a:xfrm>
            <a:off x="8077397" y="42203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2,1 %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30" name="Text 227"/>
          <p:cNvSpPr/>
          <p:nvPr/>
        </p:nvSpPr>
        <p:spPr>
          <a:xfrm>
            <a:off x="8560183" y="42203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1,5 %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31" name="Text 228"/>
          <p:cNvSpPr/>
          <p:nvPr/>
        </p:nvSpPr>
        <p:spPr>
          <a:xfrm>
            <a:off x="9042970" y="42203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2,5 %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32" name="Text 229"/>
          <p:cNvSpPr/>
          <p:nvPr/>
        </p:nvSpPr>
        <p:spPr>
          <a:xfrm>
            <a:off x="9525756" y="42203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2,4 %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33" name="Text 230"/>
          <p:cNvSpPr/>
          <p:nvPr/>
        </p:nvSpPr>
        <p:spPr>
          <a:xfrm>
            <a:off x="10008542" y="42203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2,5 %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34" name="Text 231"/>
          <p:cNvSpPr/>
          <p:nvPr/>
        </p:nvSpPr>
        <p:spPr>
          <a:xfrm>
            <a:off x="10491329" y="42203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1,9 %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35" name="Text 232"/>
          <p:cNvSpPr/>
          <p:nvPr/>
        </p:nvSpPr>
        <p:spPr>
          <a:xfrm>
            <a:off x="10967650" y="422034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2,2 %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36" name="Text 233"/>
          <p:cNvSpPr/>
          <p:nvPr/>
        </p:nvSpPr>
        <p:spPr>
          <a:xfrm>
            <a:off x="8077397" y="43536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4,6 %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37" name="Text 234"/>
          <p:cNvSpPr/>
          <p:nvPr/>
        </p:nvSpPr>
        <p:spPr>
          <a:xfrm>
            <a:off x="8560183" y="43536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3,3 %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38" name="Text 235"/>
          <p:cNvSpPr/>
          <p:nvPr/>
        </p:nvSpPr>
        <p:spPr>
          <a:xfrm>
            <a:off x="9042970" y="43536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5,3 %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39" name="Text 236"/>
          <p:cNvSpPr/>
          <p:nvPr/>
        </p:nvSpPr>
        <p:spPr>
          <a:xfrm>
            <a:off x="9525756" y="43536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5,1 %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40" name="Text 237"/>
          <p:cNvSpPr/>
          <p:nvPr/>
        </p:nvSpPr>
        <p:spPr>
          <a:xfrm>
            <a:off x="10008542" y="43536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5,3 %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41" name="Text 238"/>
          <p:cNvSpPr/>
          <p:nvPr/>
        </p:nvSpPr>
        <p:spPr>
          <a:xfrm>
            <a:off x="10491329" y="43536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4,1 %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42" name="Text 239"/>
          <p:cNvSpPr/>
          <p:nvPr/>
        </p:nvSpPr>
        <p:spPr>
          <a:xfrm>
            <a:off x="10967650" y="435369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4,6 %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43" name="Text 240"/>
          <p:cNvSpPr/>
          <p:nvPr/>
        </p:nvSpPr>
        <p:spPr>
          <a:xfrm>
            <a:off x="8077397" y="47537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6,8 %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44" name="Text 241"/>
          <p:cNvSpPr/>
          <p:nvPr/>
        </p:nvSpPr>
        <p:spPr>
          <a:xfrm>
            <a:off x="8560183" y="47537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8,7 %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45" name="Text 242"/>
          <p:cNvSpPr/>
          <p:nvPr/>
        </p:nvSpPr>
        <p:spPr>
          <a:xfrm>
            <a:off x="9042970" y="47537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5,6 %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46" name="Text 243"/>
          <p:cNvSpPr/>
          <p:nvPr/>
        </p:nvSpPr>
        <p:spPr>
          <a:xfrm>
            <a:off x="9525756" y="47537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6,0 %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47" name="Text 244"/>
          <p:cNvSpPr/>
          <p:nvPr/>
        </p:nvSpPr>
        <p:spPr>
          <a:xfrm>
            <a:off x="10008542" y="47537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5,6 %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48" name="Text 245"/>
          <p:cNvSpPr/>
          <p:nvPr/>
        </p:nvSpPr>
        <p:spPr>
          <a:xfrm>
            <a:off x="10491329" y="47537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7,4 %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49" name="Text 246"/>
          <p:cNvSpPr/>
          <p:nvPr/>
        </p:nvSpPr>
        <p:spPr>
          <a:xfrm>
            <a:off x="10967650" y="475374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6,7 %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50" name="Text 247"/>
          <p:cNvSpPr/>
          <p:nvPr/>
        </p:nvSpPr>
        <p:spPr>
          <a:xfrm>
            <a:off x="8077397" y="48870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2,8 %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51" name="Text 248"/>
          <p:cNvSpPr/>
          <p:nvPr/>
        </p:nvSpPr>
        <p:spPr>
          <a:xfrm>
            <a:off x="8560183" y="48870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3,6 %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52" name="Text 249"/>
          <p:cNvSpPr/>
          <p:nvPr/>
        </p:nvSpPr>
        <p:spPr>
          <a:xfrm>
            <a:off x="9042970" y="48870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2,3 %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53" name="Text 250"/>
          <p:cNvSpPr/>
          <p:nvPr/>
        </p:nvSpPr>
        <p:spPr>
          <a:xfrm>
            <a:off x="9525756" y="48870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2,5 %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54" name="Text 251"/>
          <p:cNvSpPr/>
          <p:nvPr/>
        </p:nvSpPr>
        <p:spPr>
          <a:xfrm>
            <a:off x="10008542" y="48870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2,3 %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55" name="Text 252"/>
          <p:cNvSpPr/>
          <p:nvPr/>
        </p:nvSpPr>
        <p:spPr>
          <a:xfrm>
            <a:off x="10491329" y="48870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3,1 %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56" name="Text 253"/>
          <p:cNvSpPr/>
          <p:nvPr/>
        </p:nvSpPr>
        <p:spPr>
          <a:xfrm>
            <a:off x="10967650" y="488709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2,8 %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57" name="Text 254"/>
          <p:cNvSpPr/>
          <p:nvPr/>
        </p:nvSpPr>
        <p:spPr>
          <a:xfrm>
            <a:off x="8077397" y="50204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0,3 %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58" name="Text 255"/>
          <p:cNvSpPr/>
          <p:nvPr/>
        </p:nvSpPr>
        <p:spPr>
          <a:xfrm>
            <a:off x="8560183" y="50204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0,3 %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59" name="Text 256"/>
          <p:cNvSpPr/>
          <p:nvPr/>
        </p:nvSpPr>
        <p:spPr>
          <a:xfrm>
            <a:off x="9042970" y="50204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0,2 %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60" name="Text 257"/>
          <p:cNvSpPr/>
          <p:nvPr/>
        </p:nvSpPr>
        <p:spPr>
          <a:xfrm>
            <a:off x="9525756" y="50204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0,2 %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61" name="Text 258"/>
          <p:cNvSpPr/>
          <p:nvPr/>
        </p:nvSpPr>
        <p:spPr>
          <a:xfrm>
            <a:off x="10008542" y="50204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0,2 %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62" name="Text 259"/>
          <p:cNvSpPr/>
          <p:nvPr/>
        </p:nvSpPr>
        <p:spPr>
          <a:xfrm>
            <a:off x="10491329" y="50204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0,3 %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63" name="Text 260"/>
          <p:cNvSpPr/>
          <p:nvPr/>
        </p:nvSpPr>
        <p:spPr>
          <a:xfrm>
            <a:off x="10967650" y="502044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0,2 %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64" name="Text 261"/>
          <p:cNvSpPr/>
          <p:nvPr/>
        </p:nvSpPr>
        <p:spPr>
          <a:xfrm>
            <a:off x="8077397" y="5153792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100 %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65" name="Text 262"/>
          <p:cNvSpPr/>
          <p:nvPr/>
        </p:nvSpPr>
        <p:spPr>
          <a:xfrm>
            <a:off x="8560183" y="5153792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100 %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66" name="Text 263"/>
          <p:cNvSpPr/>
          <p:nvPr/>
        </p:nvSpPr>
        <p:spPr>
          <a:xfrm>
            <a:off x="9042970" y="5153792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100 %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67" name="Text 264"/>
          <p:cNvSpPr/>
          <p:nvPr/>
        </p:nvSpPr>
        <p:spPr>
          <a:xfrm>
            <a:off x="9525756" y="5153792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100 %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68" name="Text 265"/>
          <p:cNvSpPr/>
          <p:nvPr/>
        </p:nvSpPr>
        <p:spPr>
          <a:xfrm>
            <a:off x="10008542" y="5153792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100 %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69" name="Text 266"/>
          <p:cNvSpPr/>
          <p:nvPr/>
        </p:nvSpPr>
        <p:spPr>
          <a:xfrm>
            <a:off x="10491329" y="5153792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100 %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70" name="Text 267"/>
          <p:cNvSpPr/>
          <p:nvPr/>
        </p:nvSpPr>
        <p:spPr>
          <a:xfrm>
            <a:off x="10967650" y="5153792"/>
            <a:ext cx="719233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100 %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71" name="Text 268"/>
          <p:cNvSpPr/>
          <p:nvPr/>
        </p:nvSpPr>
        <p:spPr>
          <a:xfrm>
            <a:off x="4374990" y="952500"/>
            <a:ext cx="1318443" cy="2060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80" b="1" dirty="0">
                <a:solidFill>
                  <a:srgbClr val="5AE2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2.845</a:t>
            </a:r>
            <a:endParaRPr lang="en-US" sz="138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72" name="Text 269"/>
          <p:cNvSpPr/>
          <p:nvPr/>
        </p:nvSpPr>
        <p:spPr>
          <a:xfrm>
            <a:off x="8216595" y="952500"/>
            <a:ext cx="468518" cy="2060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80" b="1" dirty="0">
                <a:solidFill>
                  <a:srgbClr val="5AE2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3,6 %</a:t>
            </a:r>
            <a:endParaRPr lang="en-US" sz="138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73" name="Text 270"/>
          <p:cNvSpPr/>
          <p:nvPr/>
        </p:nvSpPr>
        <p:spPr>
          <a:xfrm>
            <a:off x="495288" y="2420117"/>
            <a:ext cx="1120237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636" b="1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Mayo</a:t>
            </a:r>
            <a:endParaRPr lang="en-US" sz="63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74" name="Text 271"/>
          <p:cNvSpPr/>
          <p:nvPr/>
        </p:nvSpPr>
        <p:spPr>
          <a:xfrm>
            <a:off x="6257769" y="2420117"/>
            <a:ext cx="1120237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636" b="1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Mayo</a:t>
            </a:r>
            <a:endParaRPr lang="en-US" sz="63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75" name="Text 272"/>
          <p:cNvSpPr/>
          <p:nvPr/>
        </p:nvSpPr>
        <p:spPr>
          <a:xfrm>
            <a:off x="495288" y="1681930"/>
            <a:ext cx="1120237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888" b="1" dirty="0">
                <a:solidFill>
                  <a:srgbClr val="FFFFFF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Mes</a:t>
            </a:r>
            <a:endParaRPr lang="en-US" sz="888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76" name="Text 273"/>
          <p:cNvSpPr/>
          <p:nvPr/>
        </p:nvSpPr>
        <p:spPr>
          <a:xfrm>
            <a:off x="2314916" y="3120205"/>
            <a:ext cx="497270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Ene</a:t>
            </a:r>
            <a:endParaRPr lang="en-US" sz="888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77" name="Text 274"/>
          <p:cNvSpPr/>
          <p:nvPr/>
        </p:nvSpPr>
        <p:spPr>
          <a:xfrm>
            <a:off x="2797702" y="3120205"/>
            <a:ext cx="497270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Feb</a:t>
            </a:r>
            <a:endParaRPr lang="en-US" sz="888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78" name="Text 275"/>
          <p:cNvSpPr/>
          <p:nvPr/>
        </p:nvSpPr>
        <p:spPr>
          <a:xfrm>
            <a:off x="3280489" y="3120205"/>
            <a:ext cx="497270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Mar</a:t>
            </a:r>
            <a:endParaRPr lang="en-US" sz="888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79" name="Text 276"/>
          <p:cNvSpPr/>
          <p:nvPr/>
        </p:nvSpPr>
        <p:spPr>
          <a:xfrm>
            <a:off x="3763275" y="3120205"/>
            <a:ext cx="497270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Abr</a:t>
            </a:r>
            <a:endParaRPr lang="en-US" sz="888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80" name="Text 277"/>
          <p:cNvSpPr/>
          <p:nvPr/>
        </p:nvSpPr>
        <p:spPr>
          <a:xfrm>
            <a:off x="4246061" y="3120205"/>
            <a:ext cx="497270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May</a:t>
            </a:r>
            <a:endParaRPr lang="en-US" sz="888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81" name="Text 278"/>
          <p:cNvSpPr/>
          <p:nvPr/>
        </p:nvSpPr>
        <p:spPr>
          <a:xfrm>
            <a:off x="4728848" y="3120205"/>
            <a:ext cx="497270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Jun</a:t>
            </a:r>
            <a:endParaRPr lang="en-US" sz="888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82" name="Text 279"/>
          <p:cNvSpPr/>
          <p:nvPr/>
        </p:nvSpPr>
        <p:spPr>
          <a:xfrm>
            <a:off x="2314916" y="36869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954</a:t>
            </a:r>
            <a:endParaRPr lang="en-US" sz="57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83" name="Text 280"/>
          <p:cNvSpPr/>
          <p:nvPr/>
        </p:nvSpPr>
        <p:spPr>
          <a:xfrm>
            <a:off x="2314916" y="38202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666</a:t>
            </a:r>
            <a:endParaRPr lang="en-US" sz="57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84" name="Text 281"/>
          <p:cNvSpPr/>
          <p:nvPr/>
        </p:nvSpPr>
        <p:spPr>
          <a:xfrm>
            <a:off x="2314916" y="39536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345</a:t>
            </a:r>
            <a:endParaRPr lang="en-US" sz="57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85" name="Text 282"/>
          <p:cNvSpPr/>
          <p:nvPr/>
        </p:nvSpPr>
        <p:spPr>
          <a:xfrm>
            <a:off x="2797702" y="39536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686</a:t>
            </a:r>
            <a:endParaRPr lang="en-US" sz="57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86" name="Text 283"/>
          <p:cNvSpPr/>
          <p:nvPr/>
        </p:nvSpPr>
        <p:spPr>
          <a:xfrm>
            <a:off x="2314916" y="40869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247</a:t>
            </a:r>
            <a:endParaRPr lang="en-US" sz="57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87" name="Text 284"/>
          <p:cNvSpPr/>
          <p:nvPr/>
        </p:nvSpPr>
        <p:spPr>
          <a:xfrm>
            <a:off x="2797702" y="40869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491</a:t>
            </a:r>
            <a:endParaRPr lang="en-US" sz="57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88" name="Text 285"/>
          <p:cNvSpPr/>
          <p:nvPr/>
        </p:nvSpPr>
        <p:spPr>
          <a:xfrm>
            <a:off x="3280489" y="40869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806</a:t>
            </a:r>
            <a:endParaRPr lang="en-US" sz="57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89" name="Text 286"/>
          <p:cNvSpPr/>
          <p:nvPr/>
        </p:nvSpPr>
        <p:spPr>
          <a:xfrm>
            <a:off x="2314916" y="42203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222</a:t>
            </a:r>
            <a:endParaRPr lang="en-US" sz="57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90" name="Text 287"/>
          <p:cNvSpPr/>
          <p:nvPr/>
        </p:nvSpPr>
        <p:spPr>
          <a:xfrm>
            <a:off x="2797702" y="42203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441</a:t>
            </a:r>
            <a:endParaRPr lang="en-US" sz="57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91" name="Text 288"/>
          <p:cNvSpPr/>
          <p:nvPr/>
        </p:nvSpPr>
        <p:spPr>
          <a:xfrm>
            <a:off x="3280489" y="42203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725</a:t>
            </a:r>
            <a:endParaRPr lang="en-US" sz="57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92" name="Text 289"/>
          <p:cNvSpPr/>
          <p:nvPr/>
        </p:nvSpPr>
        <p:spPr>
          <a:xfrm>
            <a:off x="3763275" y="42203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928</a:t>
            </a:r>
            <a:endParaRPr lang="en-US" sz="57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93" name="Text 290"/>
          <p:cNvSpPr/>
          <p:nvPr/>
        </p:nvSpPr>
        <p:spPr>
          <a:xfrm>
            <a:off x="4246061" y="42203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928</a:t>
            </a:r>
            <a:endParaRPr lang="en-US" sz="57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94" name="Text 291"/>
          <p:cNvSpPr/>
          <p:nvPr/>
        </p:nvSpPr>
        <p:spPr>
          <a:xfrm>
            <a:off x="2314916" y="43536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447</a:t>
            </a:r>
            <a:endParaRPr lang="en-US" sz="57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95" name="Text 292"/>
          <p:cNvSpPr/>
          <p:nvPr/>
        </p:nvSpPr>
        <p:spPr>
          <a:xfrm>
            <a:off x="2797702" y="43536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889</a:t>
            </a:r>
            <a:endParaRPr lang="en-US" sz="57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96" name="Text 293"/>
          <p:cNvSpPr/>
          <p:nvPr/>
        </p:nvSpPr>
        <p:spPr>
          <a:xfrm>
            <a:off x="6257769" y="1681930"/>
            <a:ext cx="1120237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888" b="1" dirty="0">
                <a:solidFill>
                  <a:srgbClr val="FFFFFF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Mes</a:t>
            </a:r>
            <a:endParaRPr lang="en-US" sz="888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97" name="Text 294"/>
          <p:cNvSpPr/>
          <p:nvPr/>
        </p:nvSpPr>
        <p:spPr>
          <a:xfrm>
            <a:off x="9273649" y="1853380"/>
            <a:ext cx="1008183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b="1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322</a:t>
            </a:r>
            <a:endParaRPr lang="en-US" sz="63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98" name="Text 295"/>
          <p:cNvSpPr/>
          <p:nvPr/>
        </p:nvSpPr>
        <p:spPr>
          <a:xfrm>
            <a:off x="9273649" y="1991492"/>
            <a:ext cx="100818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b="1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441</a:t>
            </a:r>
            <a:endParaRPr lang="en-US" sz="63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99" name="Text 296"/>
          <p:cNvSpPr/>
          <p:nvPr/>
        </p:nvSpPr>
        <p:spPr>
          <a:xfrm>
            <a:off x="9273649" y="2134367"/>
            <a:ext cx="100818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b="1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626</a:t>
            </a:r>
            <a:endParaRPr lang="en-US" sz="63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00" name="Text 297"/>
          <p:cNvSpPr/>
          <p:nvPr/>
        </p:nvSpPr>
        <p:spPr>
          <a:xfrm>
            <a:off x="9273649" y="2420117"/>
            <a:ext cx="100818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b="1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750</a:t>
            </a:r>
            <a:endParaRPr lang="en-US" sz="63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01" name="Text 298"/>
          <p:cNvSpPr/>
          <p:nvPr/>
        </p:nvSpPr>
        <p:spPr>
          <a:xfrm>
            <a:off x="9273649" y="2562992"/>
            <a:ext cx="100818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b="1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629</a:t>
            </a:r>
            <a:endParaRPr lang="en-US" sz="63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02" name="Text 299"/>
          <p:cNvSpPr/>
          <p:nvPr/>
        </p:nvSpPr>
        <p:spPr>
          <a:xfrm>
            <a:off x="8077397" y="3120205"/>
            <a:ext cx="497270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Ene</a:t>
            </a:r>
            <a:endParaRPr lang="en-US" sz="888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03" name="Text 300"/>
          <p:cNvSpPr/>
          <p:nvPr/>
        </p:nvSpPr>
        <p:spPr>
          <a:xfrm>
            <a:off x="8560183" y="3120205"/>
            <a:ext cx="497270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Feb</a:t>
            </a:r>
            <a:endParaRPr lang="en-US" sz="888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04" name="Text 301"/>
          <p:cNvSpPr/>
          <p:nvPr/>
        </p:nvSpPr>
        <p:spPr>
          <a:xfrm>
            <a:off x="9042970" y="3120205"/>
            <a:ext cx="497270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Mar</a:t>
            </a:r>
            <a:endParaRPr lang="en-US" sz="888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05" name="Text 302"/>
          <p:cNvSpPr/>
          <p:nvPr/>
        </p:nvSpPr>
        <p:spPr>
          <a:xfrm>
            <a:off x="9525756" y="3120205"/>
            <a:ext cx="497270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Abr</a:t>
            </a:r>
            <a:endParaRPr lang="en-US" sz="888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06" name="Text 303"/>
          <p:cNvSpPr/>
          <p:nvPr/>
        </p:nvSpPr>
        <p:spPr>
          <a:xfrm>
            <a:off x="10008542" y="3120205"/>
            <a:ext cx="497270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May</a:t>
            </a:r>
            <a:endParaRPr lang="en-US" sz="888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07" name="Text 304"/>
          <p:cNvSpPr/>
          <p:nvPr/>
        </p:nvSpPr>
        <p:spPr>
          <a:xfrm>
            <a:off x="10491329" y="3120205"/>
            <a:ext cx="497270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Jun</a:t>
            </a:r>
            <a:endParaRPr lang="en-US" sz="888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08" name="Text 305"/>
          <p:cNvSpPr/>
          <p:nvPr/>
        </p:nvSpPr>
        <p:spPr>
          <a:xfrm>
            <a:off x="9273649" y="2277242"/>
            <a:ext cx="100818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b="1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77</a:t>
            </a:r>
            <a:endParaRPr lang="en-US" sz="63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310" name="Picture 309">
            <a:extLst>
              <a:ext uri="{FF2B5EF4-FFF2-40B4-BE49-F238E27FC236}">
                <a16:creationId xmlns:a16="http://schemas.microsoft.com/office/drawing/2014/main" id="{BCF57742-3495-B442-D0FE-D3F3B44FA6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34650" y="78120"/>
            <a:ext cx="1530523" cy="459157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13_Presentaciones\dash\televentas\ppt_slides\sk_08_m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783" y="6540103"/>
            <a:ext cx="10847734" cy="14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744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Junio: A corte, la base presenta un saludable porcentaje de conversión cercano al 5 %, impulsado principalmente por la calidad de los registros y la integridad de la información suministrada en la base de datos.</a:t>
            </a:r>
            <a:endParaRPr lang="en-US" sz="744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685783" y="6393656"/>
            <a:ext cx="5145674" cy="14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744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Febrero: Cabinas exclusivas, actualmente no se encuentran activas.</a:t>
            </a:r>
            <a:endParaRPr lang="en-US" sz="744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571485" y="209550"/>
            <a:ext cx="4947525" cy="2103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60" b="1" dirty="0">
                <a:solidFill>
                  <a:srgbClr val="FFFFFF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DETALLE OPERATIVO · CAMPAÑA MASIVA VOLUNTARIOS</a:t>
            </a:r>
            <a:endParaRPr lang="en-US" sz="126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4374991" y="1200894"/>
            <a:ext cx="2241469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48" dirty="0">
                <a:solidFill>
                  <a:srgbClr val="9098B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Importante repunte tras actualización de base</a:t>
            </a:r>
            <a:endParaRPr lang="en-US" sz="648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504812" y="355359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7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Supera edad para Microseguro (69 años)</a:t>
            </a:r>
            <a:endParaRPr lang="en-US" sz="57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6372066" y="2915394"/>
            <a:ext cx="203753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16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4. Tipificación de Leads Aptos por Mes</a:t>
            </a:r>
            <a:endParaRPr lang="en-US" sz="81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533387" y="1200894"/>
            <a:ext cx="189666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48" dirty="0">
                <a:solidFill>
                  <a:srgbClr val="9098B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Base masiva para gestión del marcador</a:t>
            </a:r>
            <a:endParaRPr lang="en-US" sz="648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609585" y="1486644"/>
            <a:ext cx="205678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16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1. Calidad de Base y Descarte Mensual</a:t>
            </a:r>
            <a:endParaRPr lang="en-US" sz="81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6267293" y="475374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5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Teléfono apagado / fuera de servicio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6267293" y="395364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5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No interesado por el precio / datos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6372066" y="1486644"/>
            <a:ext cx="2241469" cy="105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16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3. Insumo Apto, Contacto y Ventas</a:t>
            </a:r>
            <a:endParaRPr lang="en-US" sz="81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504812" y="368694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7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Excede límite de edad (&gt;69 años)</a:t>
            </a:r>
            <a:endParaRPr lang="en-US" sz="57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685783" y="6100763"/>
            <a:ext cx="276478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744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Menor oportunidad de conversión.</a:t>
            </a:r>
            <a:endParaRPr lang="en-US" sz="744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504812" y="342024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7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Registro Recibido Anteriormente</a:t>
            </a:r>
            <a:endParaRPr lang="en-US" sz="57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714357" y="5944790"/>
            <a:ext cx="2580615" cy="1476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44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Observaciones Clave de la Base:</a:t>
            </a:r>
            <a:endParaRPr lang="en-US" sz="744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504812" y="3291655"/>
            <a:ext cx="1879325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7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Registro Enviado Anteriormente</a:t>
            </a:r>
            <a:endParaRPr lang="en-US" sz="57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495288" y="2915394"/>
            <a:ext cx="164662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16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2. Motivos de Descarte por Mes</a:t>
            </a:r>
            <a:endParaRPr lang="en-US" sz="81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6267293" y="355359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5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No interesado por el producto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685783" y="6247209"/>
            <a:ext cx="2764782" cy="14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744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Densa y baja contactabilidad.</a:t>
            </a:r>
            <a:endParaRPr lang="en-US" sz="744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6267293" y="408699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5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Agendado / llamada posterior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8216595" y="1200894"/>
            <a:ext cx="1233939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48" dirty="0">
                <a:solidFill>
                  <a:srgbClr val="9098B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Aporte incremental constante</a:t>
            </a:r>
            <a:endParaRPr lang="en-US" sz="648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6267293" y="382029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5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No es responsable del pago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504812" y="382029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7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Seguro Voluntario Activo</a:t>
            </a:r>
            <a:endParaRPr lang="en-US" sz="57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6" name="Text 23"/>
          <p:cNvSpPr/>
          <p:nvPr/>
        </p:nvSpPr>
        <p:spPr>
          <a:xfrm>
            <a:off x="6267293" y="448704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5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Contestador automático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7" name="Text 24"/>
          <p:cNvSpPr/>
          <p:nvPr/>
        </p:nvSpPr>
        <p:spPr>
          <a:xfrm>
            <a:off x="504812" y="422034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7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Otros motivos menores</a:t>
            </a:r>
            <a:endParaRPr lang="en-US" sz="57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8" name="Text 25"/>
          <p:cNvSpPr/>
          <p:nvPr/>
        </p:nvSpPr>
        <p:spPr>
          <a:xfrm>
            <a:off x="6267293" y="422034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5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Otros motivos menores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9" name="Text 26"/>
          <p:cNvSpPr/>
          <p:nvPr/>
        </p:nvSpPr>
        <p:spPr>
          <a:xfrm>
            <a:off x="4374991" y="809625"/>
            <a:ext cx="11440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72" b="1" dirty="0">
                <a:solidFill>
                  <a:srgbClr val="9098B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EFECTIVIDAD EN JUNIO</a:t>
            </a:r>
            <a:endParaRPr lang="en-US" sz="67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0" name="Text 27"/>
          <p:cNvSpPr/>
          <p:nvPr/>
        </p:nvSpPr>
        <p:spPr>
          <a:xfrm>
            <a:off x="504812" y="408699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7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Microseguro Activo</a:t>
            </a:r>
            <a:endParaRPr lang="en-US" sz="57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1" name="Text 28"/>
          <p:cNvSpPr/>
          <p:nvPr/>
        </p:nvSpPr>
        <p:spPr>
          <a:xfrm>
            <a:off x="8216595" y="809625"/>
            <a:ext cx="1131557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72" b="1" dirty="0">
                <a:solidFill>
                  <a:srgbClr val="9098B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VENTAS CONSEGUIDAS</a:t>
            </a:r>
            <a:endParaRPr lang="en-US" sz="67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2" name="Text 29"/>
          <p:cNvSpPr/>
          <p:nvPr/>
        </p:nvSpPr>
        <p:spPr>
          <a:xfrm>
            <a:off x="6267293" y="3291655"/>
            <a:ext cx="1879325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52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CONTACTO EFECTIVO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3" name="Text 30"/>
          <p:cNvSpPr/>
          <p:nvPr/>
        </p:nvSpPr>
        <p:spPr>
          <a:xfrm>
            <a:off x="6267293" y="368694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5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Cuelga la llamada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4" name="Text 31"/>
          <p:cNvSpPr/>
          <p:nvPr/>
        </p:nvSpPr>
        <p:spPr>
          <a:xfrm>
            <a:off x="6267293" y="488709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5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Otros no contacto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5" name="Text 32"/>
          <p:cNvSpPr/>
          <p:nvPr/>
        </p:nvSpPr>
        <p:spPr>
          <a:xfrm>
            <a:off x="533387" y="809625"/>
            <a:ext cx="10372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72" b="1" dirty="0">
                <a:solidFill>
                  <a:srgbClr val="9098B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INSUMO APTO TOTAL</a:t>
            </a:r>
            <a:endParaRPr lang="en-US" sz="67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6" name="Text 33"/>
          <p:cNvSpPr/>
          <p:nvPr/>
        </p:nvSpPr>
        <p:spPr>
          <a:xfrm>
            <a:off x="6267293" y="5020442"/>
            <a:ext cx="1879325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52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Total gestionado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7" name="Text 34"/>
          <p:cNvSpPr/>
          <p:nvPr/>
        </p:nvSpPr>
        <p:spPr>
          <a:xfrm>
            <a:off x="504812" y="395364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7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Teléfono Vacío</a:t>
            </a:r>
            <a:endParaRPr lang="en-US" sz="57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8" name="Text 35"/>
          <p:cNvSpPr/>
          <p:nvPr/>
        </p:nvSpPr>
        <p:spPr>
          <a:xfrm>
            <a:off x="10239394" y="1681930"/>
            <a:ext cx="1457013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Conv. / Ctto.</a:t>
            </a:r>
            <a:endParaRPr lang="en-US" sz="888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9" name="Text 36"/>
          <p:cNvSpPr/>
          <p:nvPr/>
        </p:nvSpPr>
        <p:spPr>
          <a:xfrm>
            <a:off x="6267293" y="342024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5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Venta exitosa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0" name="Text 37"/>
          <p:cNvSpPr/>
          <p:nvPr/>
        </p:nvSpPr>
        <p:spPr>
          <a:xfrm>
            <a:off x="6267293" y="3120205"/>
            <a:ext cx="1879325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888" b="1" dirty="0">
                <a:solidFill>
                  <a:srgbClr val="FFFFFF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Tipificación</a:t>
            </a:r>
            <a:endParaRPr lang="en-US" sz="888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1" name="Text 38"/>
          <p:cNvSpPr/>
          <p:nvPr/>
        </p:nvSpPr>
        <p:spPr>
          <a:xfrm>
            <a:off x="6267293" y="435369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52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NO CONTACTO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2" name="Text 39"/>
          <p:cNvSpPr/>
          <p:nvPr/>
        </p:nvSpPr>
        <p:spPr>
          <a:xfrm>
            <a:off x="6267293" y="462039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5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No contesta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3" name="Text 40"/>
          <p:cNvSpPr/>
          <p:nvPr/>
        </p:nvSpPr>
        <p:spPr>
          <a:xfrm>
            <a:off x="2951194" y="1681930"/>
            <a:ext cx="1568454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Rechazados</a:t>
            </a:r>
            <a:endParaRPr lang="en-US" sz="888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4" name="Text 41"/>
          <p:cNvSpPr/>
          <p:nvPr/>
        </p:nvSpPr>
        <p:spPr>
          <a:xfrm>
            <a:off x="8294831" y="1681930"/>
            <a:ext cx="1008183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Contactab.</a:t>
            </a:r>
            <a:endParaRPr lang="en-US" sz="888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5" name="Text 42"/>
          <p:cNvSpPr/>
          <p:nvPr/>
        </p:nvSpPr>
        <p:spPr>
          <a:xfrm>
            <a:off x="1540477" y="1681930"/>
            <a:ext cx="1456400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Recibidos</a:t>
            </a:r>
            <a:endParaRPr lang="en-US" sz="888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6" name="Text 43"/>
          <p:cNvSpPr/>
          <p:nvPr/>
        </p:nvSpPr>
        <p:spPr>
          <a:xfrm>
            <a:off x="4477220" y="1681930"/>
            <a:ext cx="1456707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% Rechazo</a:t>
            </a:r>
            <a:endParaRPr lang="en-US" sz="888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7" name="Text 44"/>
          <p:cNvSpPr/>
          <p:nvPr/>
        </p:nvSpPr>
        <p:spPr>
          <a:xfrm>
            <a:off x="495288" y="1991492"/>
            <a:ext cx="1120237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636" b="1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Febrero</a:t>
            </a:r>
            <a:endParaRPr lang="en-US" sz="63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8" name="Text 45"/>
          <p:cNvSpPr/>
          <p:nvPr/>
        </p:nvSpPr>
        <p:spPr>
          <a:xfrm>
            <a:off x="1540477" y="2705867"/>
            <a:ext cx="1456400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255.141</a:t>
            </a:r>
            <a:endParaRPr lang="en-US" sz="63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9" name="Text 46"/>
          <p:cNvSpPr/>
          <p:nvPr/>
        </p:nvSpPr>
        <p:spPr>
          <a:xfrm>
            <a:off x="2951194" y="2705867"/>
            <a:ext cx="1568454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135.313</a:t>
            </a:r>
            <a:endParaRPr lang="en-US" sz="63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0" name="Text 47"/>
          <p:cNvSpPr/>
          <p:nvPr/>
        </p:nvSpPr>
        <p:spPr>
          <a:xfrm>
            <a:off x="5205169" y="3291655"/>
            <a:ext cx="719233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b="1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103.678</a:t>
            </a:r>
            <a:endParaRPr lang="en-US" sz="57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1" name="Text 48"/>
          <p:cNvSpPr/>
          <p:nvPr/>
        </p:nvSpPr>
        <p:spPr>
          <a:xfrm>
            <a:off x="5205169" y="4353692"/>
            <a:ext cx="719233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135.313</a:t>
            </a:r>
            <a:endParaRPr lang="en-US" sz="57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2" name="Text 49"/>
          <p:cNvSpPr/>
          <p:nvPr/>
        </p:nvSpPr>
        <p:spPr>
          <a:xfrm>
            <a:off x="6257769" y="1991492"/>
            <a:ext cx="1120237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636" b="1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Febrero</a:t>
            </a:r>
            <a:endParaRPr lang="en-US" sz="63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3" name="Text 50"/>
          <p:cNvSpPr/>
          <p:nvPr/>
        </p:nvSpPr>
        <p:spPr>
          <a:xfrm>
            <a:off x="7316013" y="2705867"/>
            <a:ext cx="1008183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119.828</a:t>
            </a:r>
            <a:endParaRPr lang="en-US" sz="63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4" name="Text 51"/>
          <p:cNvSpPr/>
          <p:nvPr/>
        </p:nvSpPr>
        <p:spPr>
          <a:xfrm>
            <a:off x="533387" y="952500"/>
            <a:ext cx="682274" cy="2060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80" b="1" dirty="0">
                <a:solidFill>
                  <a:srgbClr val="5AE2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119.828</a:t>
            </a:r>
            <a:endParaRPr lang="en-US" sz="138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5" name="Text 52"/>
          <p:cNvSpPr/>
          <p:nvPr/>
        </p:nvSpPr>
        <p:spPr>
          <a:xfrm>
            <a:off x="1540477" y="1853380"/>
            <a:ext cx="1456400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55.557</a:t>
            </a:r>
            <a:endParaRPr lang="en-US" sz="63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6" name="Text 53"/>
          <p:cNvSpPr/>
          <p:nvPr/>
        </p:nvSpPr>
        <p:spPr>
          <a:xfrm>
            <a:off x="1540477" y="1991492"/>
            <a:ext cx="1456400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24.673</a:t>
            </a:r>
            <a:endParaRPr lang="en-US" sz="63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7" name="Text 54"/>
          <p:cNvSpPr/>
          <p:nvPr/>
        </p:nvSpPr>
        <p:spPr>
          <a:xfrm>
            <a:off x="2951194" y="1991492"/>
            <a:ext cx="1568454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11.397</a:t>
            </a:r>
            <a:endParaRPr lang="en-US" sz="63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8" name="Text 55"/>
          <p:cNvSpPr/>
          <p:nvPr/>
        </p:nvSpPr>
        <p:spPr>
          <a:xfrm>
            <a:off x="4477220" y="1991492"/>
            <a:ext cx="1456707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46,2 %</a:t>
            </a:r>
            <a:endParaRPr lang="en-US" sz="63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9" name="Text 56"/>
          <p:cNvSpPr/>
          <p:nvPr/>
        </p:nvSpPr>
        <p:spPr>
          <a:xfrm>
            <a:off x="1540477" y="2134367"/>
            <a:ext cx="1456400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41.873</a:t>
            </a:r>
            <a:endParaRPr lang="en-US" sz="63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0" name="Text 57"/>
          <p:cNvSpPr/>
          <p:nvPr/>
        </p:nvSpPr>
        <p:spPr>
          <a:xfrm>
            <a:off x="4477220" y="2134367"/>
            <a:ext cx="1456707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10,9 %</a:t>
            </a:r>
            <a:endParaRPr lang="en-US" sz="63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1" name="Text 58"/>
          <p:cNvSpPr/>
          <p:nvPr/>
        </p:nvSpPr>
        <p:spPr>
          <a:xfrm>
            <a:off x="1540477" y="2277242"/>
            <a:ext cx="1456400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49.232</a:t>
            </a:r>
            <a:endParaRPr lang="en-US" sz="63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2" name="Text 59"/>
          <p:cNvSpPr/>
          <p:nvPr/>
        </p:nvSpPr>
        <p:spPr>
          <a:xfrm>
            <a:off x="2951194" y="2277242"/>
            <a:ext cx="1568454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48.734</a:t>
            </a:r>
            <a:endParaRPr lang="en-US" sz="63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3" name="Text 60"/>
          <p:cNvSpPr/>
          <p:nvPr/>
        </p:nvSpPr>
        <p:spPr>
          <a:xfrm>
            <a:off x="4477220" y="2277242"/>
            <a:ext cx="1456707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99,0 %</a:t>
            </a:r>
            <a:endParaRPr lang="en-US" sz="63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4" name="Text 61"/>
          <p:cNvSpPr/>
          <p:nvPr/>
        </p:nvSpPr>
        <p:spPr>
          <a:xfrm>
            <a:off x="1540477" y="2420117"/>
            <a:ext cx="1456400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49.232</a:t>
            </a:r>
            <a:endParaRPr lang="en-US" sz="63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5" name="Text 62"/>
          <p:cNvSpPr/>
          <p:nvPr/>
        </p:nvSpPr>
        <p:spPr>
          <a:xfrm>
            <a:off x="2951194" y="2420117"/>
            <a:ext cx="1568454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48.734</a:t>
            </a:r>
            <a:endParaRPr lang="en-US" sz="63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6" name="Text 63"/>
          <p:cNvSpPr/>
          <p:nvPr/>
        </p:nvSpPr>
        <p:spPr>
          <a:xfrm>
            <a:off x="4477220" y="2420117"/>
            <a:ext cx="1456707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99,0 %</a:t>
            </a:r>
            <a:endParaRPr lang="en-US" sz="63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7" name="Text 64"/>
          <p:cNvSpPr/>
          <p:nvPr/>
        </p:nvSpPr>
        <p:spPr>
          <a:xfrm>
            <a:off x="1540477" y="2562992"/>
            <a:ext cx="1456400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34.574</a:t>
            </a:r>
            <a:endParaRPr lang="en-US" sz="63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8" name="Text 65"/>
          <p:cNvSpPr/>
          <p:nvPr/>
        </p:nvSpPr>
        <p:spPr>
          <a:xfrm>
            <a:off x="2951194" y="2562992"/>
            <a:ext cx="1568454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17.661</a:t>
            </a:r>
            <a:endParaRPr lang="en-US" sz="63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9" name="Text 66"/>
          <p:cNvSpPr/>
          <p:nvPr/>
        </p:nvSpPr>
        <p:spPr>
          <a:xfrm>
            <a:off x="4477220" y="2562992"/>
            <a:ext cx="1456707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51,1 %</a:t>
            </a:r>
            <a:endParaRPr lang="en-US" sz="63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70" name="Text 67"/>
          <p:cNvSpPr/>
          <p:nvPr/>
        </p:nvSpPr>
        <p:spPr>
          <a:xfrm>
            <a:off x="4477220" y="2705867"/>
            <a:ext cx="1456707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53,0 %</a:t>
            </a:r>
            <a:endParaRPr lang="en-US" sz="63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71" name="Text 68"/>
          <p:cNvSpPr/>
          <p:nvPr/>
        </p:nvSpPr>
        <p:spPr>
          <a:xfrm>
            <a:off x="504812" y="3120205"/>
            <a:ext cx="1879325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888" b="1" dirty="0">
                <a:solidFill>
                  <a:srgbClr val="FFFFFF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Motivo</a:t>
            </a:r>
            <a:endParaRPr lang="en-US" sz="888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72" name="Text 69"/>
          <p:cNvSpPr/>
          <p:nvPr/>
        </p:nvSpPr>
        <p:spPr>
          <a:xfrm>
            <a:off x="3763275" y="3291655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37.342</a:t>
            </a:r>
            <a:endParaRPr lang="en-US" sz="57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73" name="Text 70"/>
          <p:cNvSpPr/>
          <p:nvPr/>
        </p:nvSpPr>
        <p:spPr>
          <a:xfrm>
            <a:off x="4246061" y="3291655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37.340</a:t>
            </a:r>
            <a:endParaRPr lang="en-US" sz="57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74" name="Text 71"/>
          <p:cNvSpPr/>
          <p:nvPr/>
        </p:nvSpPr>
        <p:spPr>
          <a:xfrm>
            <a:off x="4728848" y="3291655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13.532</a:t>
            </a:r>
            <a:endParaRPr lang="en-US" sz="57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75" name="Text 72"/>
          <p:cNvSpPr/>
          <p:nvPr/>
        </p:nvSpPr>
        <p:spPr>
          <a:xfrm>
            <a:off x="5205169" y="342024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b="1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11.261</a:t>
            </a:r>
            <a:endParaRPr lang="en-US" sz="57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76" name="Text 73"/>
          <p:cNvSpPr/>
          <p:nvPr/>
        </p:nvSpPr>
        <p:spPr>
          <a:xfrm>
            <a:off x="2797702" y="4353692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11.397</a:t>
            </a:r>
            <a:endParaRPr lang="en-US" sz="57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77" name="Text 74"/>
          <p:cNvSpPr/>
          <p:nvPr/>
        </p:nvSpPr>
        <p:spPr>
          <a:xfrm>
            <a:off x="3763275" y="4353692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48.734</a:t>
            </a:r>
            <a:endParaRPr lang="en-US" sz="57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78" name="Text 75"/>
          <p:cNvSpPr/>
          <p:nvPr/>
        </p:nvSpPr>
        <p:spPr>
          <a:xfrm>
            <a:off x="4246061" y="4353692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48.734</a:t>
            </a:r>
            <a:endParaRPr lang="en-US" sz="57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79" name="Text 76"/>
          <p:cNvSpPr/>
          <p:nvPr/>
        </p:nvSpPr>
        <p:spPr>
          <a:xfrm>
            <a:off x="4728848" y="4353692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17.661</a:t>
            </a:r>
            <a:endParaRPr lang="en-US" sz="57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0" name="Text 77"/>
          <p:cNvSpPr/>
          <p:nvPr/>
        </p:nvSpPr>
        <p:spPr>
          <a:xfrm>
            <a:off x="9273649" y="1681930"/>
            <a:ext cx="1008183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Ventas</a:t>
            </a:r>
            <a:endParaRPr lang="en-US" sz="888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1" name="Text 78"/>
          <p:cNvSpPr/>
          <p:nvPr/>
        </p:nvSpPr>
        <p:spPr>
          <a:xfrm>
            <a:off x="7316013" y="1853380"/>
            <a:ext cx="1008183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51.332</a:t>
            </a:r>
            <a:endParaRPr lang="en-US" sz="63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2" name="Text 79"/>
          <p:cNvSpPr/>
          <p:nvPr/>
        </p:nvSpPr>
        <p:spPr>
          <a:xfrm>
            <a:off x="7316013" y="1991492"/>
            <a:ext cx="100818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13.276</a:t>
            </a:r>
            <a:endParaRPr lang="en-US" sz="63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3" name="Text 80"/>
          <p:cNvSpPr/>
          <p:nvPr/>
        </p:nvSpPr>
        <p:spPr>
          <a:xfrm>
            <a:off x="8294831" y="1991492"/>
            <a:ext cx="100818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30,0 %</a:t>
            </a:r>
            <a:endParaRPr lang="en-US" sz="63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4" name="Text 81"/>
          <p:cNvSpPr/>
          <p:nvPr/>
        </p:nvSpPr>
        <p:spPr>
          <a:xfrm>
            <a:off x="7316013" y="2134367"/>
            <a:ext cx="100818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37.311</a:t>
            </a:r>
            <a:endParaRPr lang="en-US" sz="63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5" name="Text 82"/>
          <p:cNvSpPr/>
          <p:nvPr/>
        </p:nvSpPr>
        <p:spPr>
          <a:xfrm>
            <a:off x="8294831" y="2134367"/>
            <a:ext cx="100818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24,5 %</a:t>
            </a:r>
            <a:endParaRPr lang="en-US" sz="63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6" name="Text 83"/>
          <p:cNvSpPr/>
          <p:nvPr/>
        </p:nvSpPr>
        <p:spPr>
          <a:xfrm>
            <a:off x="8294831" y="2277242"/>
            <a:ext cx="100818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42,6 %</a:t>
            </a:r>
            <a:endParaRPr lang="en-US" sz="63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7" name="Text 84"/>
          <p:cNvSpPr/>
          <p:nvPr/>
        </p:nvSpPr>
        <p:spPr>
          <a:xfrm>
            <a:off x="8294831" y="2420117"/>
            <a:ext cx="100818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43,2 %</a:t>
            </a:r>
            <a:endParaRPr lang="en-US" sz="63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8" name="Text 85"/>
          <p:cNvSpPr/>
          <p:nvPr/>
        </p:nvSpPr>
        <p:spPr>
          <a:xfrm>
            <a:off x="7316013" y="2562992"/>
            <a:ext cx="100818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16.913</a:t>
            </a:r>
            <a:endParaRPr lang="en-US" sz="63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9" name="Text 86"/>
          <p:cNvSpPr/>
          <p:nvPr/>
        </p:nvSpPr>
        <p:spPr>
          <a:xfrm>
            <a:off x="8294831" y="2562992"/>
            <a:ext cx="100818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27,7 %</a:t>
            </a:r>
            <a:endParaRPr lang="en-US" sz="63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0" name="Text 87"/>
          <p:cNvSpPr/>
          <p:nvPr/>
        </p:nvSpPr>
        <p:spPr>
          <a:xfrm>
            <a:off x="8294831" y="2705867"/>
            <a:ext cx="1008183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19,2 %</a:t>
            </a:r>
            <a:endParaRPr lang="en-US" sz="63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1" name="Text 88"/>
          <p:cNvSpPr/>
          <p:nvPr/>
        </p:nvSpPr>
        <p:spPr>
          <a:xfrm>
            <a:off x="8560183" y="3291655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30,0 %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2" name="Text 89"/>
          <p:cNvSpPr/>
          <p:nvPr/>
        </p:nvSpPr>
        <p:spPr>
          <a:xfrm>
            <a:off x="9042970" y="3291655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24,5 %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3" name="Text 90"/>
          <p:cNvSpPr/>
          <p:nvPr/>
        </p:nvSpPr>
        <p:spPr>
          <a:xfrm>
            <a:off x="9525756" y="3291655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42,6 %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4" name="Text 91"/>
          <p:cNvSpPr/>
          <p:nvPr/>
        </p:nvSpPr>
        <p:spPr>
          <a:xfrm>
            <a:off x="10008542" y="3291655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43,2 %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5" name="Text 92"/>
          <p:cNvSpPr/>
          <p:nvPr/>
        </p:nvSpPr>
        <p:spPr>
          <a:xfrm>
            <a:off x="10491329" y="3291655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27,7 %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6" name="Text 93"/>
          <p:cNvSpPr/>
          <p:nvPr/>
        </p:nvSpPr>
        <p:spPr>
          <a:xfrm>
            <a:off x="10967650" y="3291655"/>
            <a:ext cx="719233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18,9 %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7" name="Text 94"/>
          <p:cNvSpPr/>
          <p:nvPr/>
        </p:nvSpPr>
        <p:spPr>
          <a:xfrm>
            <a:off x="8560183" y="35535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11,1 %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8" name="Text 95"/>
          <p:cNvSpPr/>
          <p:nvPr/>
        </p:nvSpPr>
        <p:spPr>
          <a:xfrm>
            <a:off x="9525756" y="35535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15,7 %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9" name="Text 96"/>
          <p:cNvSpPr/>
          <p:nvPr/>
        </p:nvSpPr>
        <p:spPr>
          <a:xfrm>
            <a:off x="10008542" y="35535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16,0 %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00" name="Text 97"/>
          <p:cNvSpPr/>
          <p:nvPr/>
        </p:nvSpPr>
        <p:spPr>
          <a:xfrm>
            <a:off x="10491329" y="35535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10,2 %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01" name="Text 98"/>
          <p:cNvSpPr/>
          <p:nvPr/>
        </p:nvSpPr>
        <p:spPr>
          <a:xfrm>
            <a:off x="10008542" y="36869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10,0 %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02" name="Text 99"/>
          <p:cNvSpPr/>
          <p:nvPr/>
        </p:nvSpPr>
        <p:spPr>
          <a:xfrm>
            <a:off x="8077397" y="43536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90,8 %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03" name="Text 100"/>
          <p:cNvSpPr/>
          <p:nvPr/>
        </p:nvSpPr>
        <p:spPr>
          <a:xfrm>
            <a:off x="8560183" y="43536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70,0 %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04" name="Text 101"/>
          <p:cNvSpPr/>
          <p:nvPr/>
        </p:nvSpPr>
        <p:spPr>
          <a:xfrm>
            <a:off x="9042970" y="43536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75,5 %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05" name="Text 102"/>
          <p:cNvSpPr/>
          <p:nvPr/>
        </p:nvSpPr>
        <p:spPr>
          <a:xfrm>
            <a:off x="9525756" y="43536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57,4 %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06" name="Text 103"/>
          <p:cNvSpPr/>
          <p:nvPr/>
        </p:nvSpPr>
        <p:spPr>
          <a:xfrm>
            <a:off x="10008542" y="43536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56,8 %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07" name="Text 104"/>
          <p:cNvSpPr/>
          <p:nvPr/>
        </p:nvSpPr>
        <p:spPr>
          <a:xfrm>
            <a:off x="10491329" y="43536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72,3 %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08" name="Text 105"/>
          <p:cNvSpPr/>
          <p:nvPr/>
        </p:nvSpPr>
        <p:spPr>
          <a:xfrm>
            <a:off x="10967650" y="435369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81,1 %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09" name="Text 106"/>
          <p:cNvSpPr/>
          <p:nvPr/>
        </p:nvSpPr>
        <p:spPr>
          <a:xfrm>
            <a:off x="8077397" y="44870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88,1 %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10" name="Text 107"/>
          <p:cNvSpPr/>
          <p:nvPr/>
        </p:nvSpPr>
        <p:spPr>
          <a:xfrm>
            <a:off x="8560183" y="44870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67,9 %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11" name="Text 108"/>
          <p:cNvSpPr/>
          <p:nvPr/>
        </p:nvSpPr>
        <p:spPr>
          <a:xfrm>
            <a:off x="9042970" y="44870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73,2 %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12" name="Text 109"/>
          <p:cNvSpPr/>
          <p:nvPr/>
        </p:nvSpPr>
        <p:spPr>
          <a:xfrm>
            <a:off x="9525756" y="44870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55,7 %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13" name="Text 110"/>
          <p:cNvSpPr/>
          <p:nvPr/>
        </p:nvSpPr>
        <p:spPr>
          <a:xfrm>
            <a:off x="10008542" y="44870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55,1 %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14" name="Text 111"/>
          <p:cNvSpPr/>
          <p:nvPr/>
        </p:nvSpPr>
        <p:spPr>
          <a:xfrm>
            <a:off x="10491329" y="44870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70,1 %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15" name="Text 112"/>
          <p:cNvSpPr/>
          <p:nvPr/>
        </p:nvSpPr>
        <p:spPr>
          <a:xfrm>
            <a:off x="10967650" y="448704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78,6 %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16" name="Text 113"/>
          <p:cNvSpPr/>
          <p:nvPr/>
        </p:nvSpPr>
        <p:spPr>
          <a:xfrm>
            <a:off x="495288" y="1853380"/>
            <a:ext cx="1120237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636" b="1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Enero</a:t>
            </a:r>
            <a:endParaRPr lang="en-US" sz="63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17" name="Text 114"/>
          <p:cNvSpPr/>
          <p:nvPr/>
        </p:nvSpPr>
        <p:spPr>
          <a:xfrm>
            <a:off x="2951194" y="1853380"/>
            <a:ext cx="1568454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4.225</a:t>
            </a:r>
            <a:endParaRPr lang="en-US" sz="63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18" name="Text 115"/>
          <p:cNvSpPr/>
          <p:nvPr/>
        </p:nvSpPr>
        <p:spPr>
          <a:xfrm>
            <a:off x="4477220" y="1853380"/>
            <a:ext cx="1456707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7,6 %</a:t>
            </a:r>
            <a:endParaRPr lang="en-US" sz="63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19" name="Text 116"/>
          <p:cNvSpPr/>
          <p:nvPr/>
        </p:nvSpPr>
        <p:spPr>
          <a:xfrm>
            <a:off x="495288" y="2134367"/>
            <a:ext cx="1120237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636" b="1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Marzo</a:t>
            </a:r>
            <a:endParaRPr lang="en-US" sz="63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20" name="Text 117"/>
          <p:cNvSpPr/>
          <p:nvPr/>
        </p:nvSpPr>
        <p:spPr>
          <a:xfrm>
            <a:off x="2951194" y="2134367"/>
            <a:ext cx="1568454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4.562</a:t>
            </a:r>
            <a:endParaRPr lang="en-US" sz="63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21" name="Text 118"/>
          <p:cNvSpPr/>
          <p:nvPr/>
        </p:nvSpPr>
        <p:spPr>
          <a:xfrm>
            <a:off x="495288" y="2277242"/>
            <a:ext cx="1120237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636" b="1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Abril</a:t>
            </a:r>
            <a:endParaRPr lang="en-US" sz="63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22" name="Text 119"/>
          <p:cNvSpPr/>
          <p:nvPr/>
        </p:nvSpPr>
        <p:spPr>
          <a:xfrm>
            <a:off x="495288" y="2562992"/>
            <a:ext cx="1120237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636" b="1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Junio</a:t>
            </a:r>
            <a:endParaRPr lang="en-US" sz="63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23" name="Text 120"/>
          <p:cNvSpPr/>
          <p:nvPr/>
        </p:nvSpPr>
        <p:spPr>
          <a:xfrm>
            <a:off x="495288" y="2705867"/>
            <a:ext cx="1120237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636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Total</a:t>
            </a:r>
            <a:endParaRPr lang="en-US" sz="63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24" name="Text 121"/>
          <p:cNvSpPr/>
          <p:nvPr/>
        </p:nvSpPr>
        <p:spPr>
          <a:xfrm>
            <a:off x="5205169" y="3120205"/>
            <a:ext cx="719233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Total</a:t>
            </a:r>
            <a:endParaRPr lang="en-US" sz="888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25" name="Text 122"/>
          <p:cNvSpPr/>
          <p:nvPr/>
        </p:nvSpPr>
        <p:spPr>
          <a:xfrm>
            <a:off x="2314916" y="3291655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3.237</a:t>
            </a:r>
            <a:endParaRPr lang="en-US" sz="57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26" name="Text 123"/>
          <p:cNvSpPr/>
          <p:nvPr/>
        </p:nvSpPr>
        <p:spPr>
          <a:xfrm>
            <a:off x="2797702" y="3291655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8.732</a:t>
            </a:r>
            <a:endParaRPr lang="en-US" sz="57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27" name="Text 124"/>
          <p:cNvSpPr/>
          <p:nvPr/>
        </p:nvSpPr>
        <p:spPr>
          <a:xfrm>
            <a:off x="3280489" y="3291655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3.495</a:t>
            </a:r>
            <a:endParaRPr lang="en-US" sz="57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28" name="Text 125"/>
          <p:cNvSpPr/>
          <p:nvPr/>
        </p:nvSpPr>
        <p:spPr>
          <a:xfrm>
            <a:off x="3763275" y="34202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4.055</a:t>
            </a:r>
            <a:endParaRPr lang="en-US" sz="57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29" name="Text 126"/>
          <p:cNvSpPr/>
          <p:nvPr/>
        </p:nvSpPr>
        <p:spPr>
          <a:xfrm>
            <a:off x="4246061" y="34202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4.056</a:t>
            </a:r>
            <a:endParaRPr lang="en-US" sz="57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30" name="Text 127"/>
          <p:cNvSpPr/>
          <p:nvPr/>
        </p:nvSpPr>
        <p:spPr>
          <a:xfrm>
            <a:off x="4728848" y="34202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1.470</a:t>
            </a:r>
            <a:endParaRPr lang="en-US" sz="57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31" name="Text 128"/>
          <p:cNvSpPr/>
          <p:nvPr/>
        </p:nvSpPr>
        <p:spPr>
          <a:xfrm>
            <a:off x="3763275" y="35535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2.142</a:t>
            </a:r>
            <a:endParaRPr lang="en-US" sz="57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32" name="Text 129"/>
          <p:cNvSpPr/>
          <p:nvPr/>
        </p:nvSpPr>
        <p:spPr>
          <a:xfrm>
            <a:off x="4246061" y="35535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2.142</a:t>
            </a:r>
            <a:endParaRPr lang="en-US" sz="57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33" name="Text 130"/>
          <p:cNvSpPr/>
          <p:nvPr/>
        </p:nvSpPr>
        <p:spPr>
          <a:xfrm>
            <a:off x="5205169" y="355359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b="1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5.948</a:t>
            </a:r>
            <a:endParaRPr lang="en-US" sz="57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34" name="Text 131"/>
          <p:cNvSpPr/>
          <p:nvPr/>
        </p:nvSpPr>
        <p:spPr>
          <a:xfrm>
            <a:off x="3763275" y="36869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1.618</a:t>
            </a:r>
            <a:endParaRPr lang="en-US" sz="57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35" name="Text 132"/>
          <p:cNvSpPr/>
          <p:nvPr/>
        </p:nvSpPr>
        <p:spPr>
          <a:xfrm>
            <a:off x="4246061" y="36869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1.619</a:t>
            </a:r>
            <a:endParaRPr lang="en-US" sz="57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36" name="Text 133"/>
          <p:cNvSpPr/>
          <p:nvPr/>
        </p:nvSpPr>
        <p:spPr>
          <a:xfrm>
            <a:off x="5205169" y="368694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b="1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4.495</a:t>
            </a:r>
            <a:endParaRPr lang="en-US" sz="57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37" name="Text 134"/>
          <p:cNvSpPr/>
          <p:nvPr/>
        </p:nvSpPr>
        <p:spPr>
          <a:xfrm>
            <a:off x="5205169" y="382029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b="1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2.330</a:t>
            </a:r>
            <a:endParaRPr lang="en-US" sz="57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38" name="Text 135"/>
          <p:cNvSpPr/>
          <p:nvPr/>
        </p:nvSpPr>
        <p:spPr>
          <a:xfrm>
            <a:off x="5205169" y="395364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b="1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2.145</a:t>
            </a:r>
            <a:endParaRPr lang="en-US" sz="57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39" name="Text 136"/>
          <p:cNvSpPr/>
          <p:nvPr/>
        </p:nvSpPr>
        <p:spPr>
          <a:xfrm>
            <a:off x="3763275" y="42203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1.632</a:t>
            </a:r>
            <a:endParaRPr lang="en-US" sz="57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40" name="Text 137"/>
          <p:cNvSpPr/>
          <p:nvPr/>
        </p:nvSpPr>
        <p:spPr>
          <a:xfrm>
            <a:off x="4246061" y="42203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1.633</a:t>
            </a:r>
            <a:endParaRPr lang="en-US" sz="57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41" name="Text 138"/>
          <p:cNvSpPr/>
          <p:nvPr/>
        </p:nvSpPr>
        <p:spPr>
          <a:xfrm>
            <a:off x="5205169" y="422034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b="1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4.534</a:t>
            </a:r>
            <a:endParaRPr lang="en-US" sz="57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42" name="Text 139"/>
          <p:cNvSpPr/>
          <p:nvPr/>
        </p:nvSpPr>
        <p:spPr>
          <a:xfrm>
            <a:off x="504812" y="4353692"/>
            <a:ext cx="1879325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76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Total</a:t>
            </a:r>
            <a:endParaRPr lang="en-US" sz="57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43" name="Text 140"/>
          <p:cNvSpPr/>
          <p:nvPr/>
        </p:nvSpPr>
        <p:spPr>
          <a:xfrm>
            <a:off x="2314916" y="4353692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4.225</a:t>
            </a:r>
            <a:endParaRPr lang="en-US" sz="57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44" name="Text 141"/>
          <p:cNvSpPr/>
          <p:nvPr/>
        </p:nvSpPr>
        <p:spPr>
          <a:xfrm>
            <a:off x="3280489" y="4353692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4.562</a:t>
            </a:r>
            <a:endParaRPr lang="en-US" sz="57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45" name="Text 142"/>
          <p:cNvSpPr/>
          <p:nvPr/>
        </p:nvSpPr>
        <p:spPr>
          <a:xfrm>
            <a:off x="7316013" y="1681930"/>
            <a:ext cx="1008183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Aptos</a:t>
            </a:r>
            <a:endParaRPr lang="en-US" sz="888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46" name="Text 143"/>
          <p:cNvSpPr/>
          <p:nvPr/>
        </p:nvSpPr>
        <p:spPr>
          <a:xfrm>
            <a:off x="6257769" y="1853380"/>
            <a:ext cx="1120237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636" b="1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Enero</a:t>
            </a:r>
            <a:endParaRPr lang="en-US" sz="63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47" name="Text 144"/>
          <p:cNvSpPr/>
          <p:nvPr/>
        </p:nvSpPr>
        <p:spPr>
          <a:xfrm>
            <a:off x="8294831" y="1853380"/>
            <a:ext cx="1008183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9,2 %</a:t>
            </a:r>
            <a:endParaRPr lang="en-US" sz="63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48" name="Text 145"/>
          <p:cNvSpPr/>
          <p:nvPr/>
        </p:nvSpPr>
        <p:spPr>
          <a:xfrm>
            <a:off x="10239394" y="1853380"/>
            <a:ext cx="1457013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0,7 %</a:t>
            </a:r>
            <a:endParaRPr lang="en-US" sz="63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49" name="Text 146"/>
          <p:cNvSpPr/>
          <p:nvPr/>
        </p:nvSpPr>
        <p:spPr>
          <a:xfrm>
            <a:off x="10239394" y="1991492"/>
            <a:ext cx="145701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3,2 %</a:t>
            </a:r>
            <a:endParaRPr lang="en-US" sz="63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50" name="Text 147"/>
          <p:cNvSpPr/>
          <p:nvPr/>
        </p:nvSpPr>
        <p:spPr>
          <a:xfrm>
            <a:off x="6257769" y="2134367"/>
            <a:ext cx="1120237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636" b="1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Marzo</a:t>
            </a:r>
            <a:endParaRPr lang="en-US" sz="63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51" name="Text 148"/>
          <p:cNvSpPr/>
          <p:nvPr/>
        </p:nvSpPr>
        <p:spPr>
          <a:xfrm>
            <a:off x="10239394" y="2134367"/>
            <a:ext cx="145701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0,3 %</a:t>
            </a:r>
            <a:endParaRPr lang="en-US" sz="63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52" name="Text 149"/>
          <p:cNvSpPr/>
          <p:nvPr/>
        </p:nvSpPr>
        <p:spPr>
          <a:xfrm>
            <a:off x="6257769" y="2277242"/>
            <a:ext cx="1120237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636" b="1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Abril</a:t>
            </a:r>
            <a:endParaRPr lang="en-US" sz="63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53" name="Text 150"/>
          <p:cNvSpPr/>
          <p:nvPr/>
        </p:nvSpPr>
        <p:spPr>
          <a:xfrm>
            <a:off x="10239394" y="2277242"/>
            <a:ext cx="145701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0,0 %</a:t>
            </a:r>
            <a:endParaRPr lang="en-US" sz="63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54" name="Text 151"/>
          <p:cNvSpPr/>
          <p:nvPr/>
        </p:nvSpPr>
        <p:spPr>
          <a:xfrm>
            <a:off x="10239394" y="2420117"/>
            <a:ext cx="145701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2,3 %</a:t>
            </a:r>
            <a:endParaRPr lang="en-US" sz="63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55" name="Text 152"/>
          <p:cNvSpPr/>
          <p:nvPr/>
        </p:nvSpPr>
        <p:spPr>
          <a:xfrm>
            <a:off x="6257769" y="2562992"/>
            <a:ext cx="1120237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636" b="1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Junio</a:t>
            </a:r>
            <a:endParaRPr lang="en-US" sz="63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56" name="Text 153"/>
          <p:cNvSpPr/>
          <p:nvPr/>
        </p:nvSpPr>
        <p:spPr>
          <a:xfrm>
            <a:off x="10239394" y="2562992"/>
            <a:ext cx="145701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3,1 %</a:t>
            </a:r>
            <a:endParaRPr lang="en-US" sz="63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57" name="Text 154"/>
          <p:cNvSpPr/>
          <p:nvPr/>
        </p:nvSpPr>
        <p:spPr>
          <a:xfrm>
            <a:off x="6257769" y="2705867"/>
            <a:ext cx="1120237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636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Total</a:t>
            </a:r>
            <a:endParaRPr lang="en-US" sz="63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58" name="Text 155"/>
          <p:cNvSpPr/>
          <p:nvPr/>
        </p:nvSpPr>
        <p:spPr>
          <a:xfrm>
            <a:off x="10239394" y="2705867"/>
            <a:ext cx="1457013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1,4 %</a:t>
            </a:r>
            <a:endParaRPr lang="en-US" sz="63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59" name="Text 156"/>
          <p:cNvSpPr/>
          <p:nvPr/>
        </p:nvSpPr>
        <p:spPr>
          <a:xfrm>
            <a:off x="10967650" y="3120205"/>
            <a:ext cx="719233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Total</a:t>
            </a:r>
            <a:endParaRPr lang="en-US" sz="888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60" name="Text 157"/>
          <p:cNvSpPr/>
          <p:nvPr/>
        </p:nvSpPr>
        <p:spPr>
          <a:xfrm>
            <a:off x="8077397" y="3291655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9,2 %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61" name="Text 158"/>
          <p:cNvSpPr/>
          <p:nvPr/>
        </p:nvSpPr>
        <p:spPr>
          <a:xfrm>
            <a:off x="8077397" y="34202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0,1 %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62" name="Text 159"/>
          <p:cNvSpPr/>
          <p:nvPr/>
        </p:nvSpPr>
        <p:spPr>
          <a:xfrm>
            <a:off x="8560183" y="34202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0,9 %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63" name="Text 160"/>
          <p:cNvSpPr/>
          <p:nvPr/>
        </p:nvSpPr>
        <p:spPr>
          <a:xfrm>
            <a:off x="9042970" y="34202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0,1 %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64" name="Text 161"/>
          <p:cNvSpPr/>
          <p:nvPr/>
        </p:nvSpPr>
        <p:spPr>
          <a:xfrm>
            <a:off x="9525756" y="34202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0,0 %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65" name="Text 162"/>
          <p:cNvSpPr/>
          <p:nvPr/>
        </p:nvSpPr>
        <p:spPr>
          <a:xfrm>
            <a:off x="10008542" y="34202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1,0 %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66" name="Text 163"/>
          <p:cNvSpPr/>
          <p:nvPr/>
        </p:nvSpPr>
        <p:spPr>
          <a:xfrm>
            <a:off x="10491329" y="34202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0,8 %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67" name="Text 164"/>
          <p:cNvSpPr/>
          <p:nvPr/>
        </p:nvSpPr>
        <p:spPr>
          <a:xfrm>
            <a:off x="10967650" y="342024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0,3 %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68" name="Text 165"/>
          <p:cNvSpPr/>
          <p:nvPr/>
        </p:nvSpPr>
        <p:spPr>
          <a:xfrm>
            <a:off x="8077397" y="35535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3,4 %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69" name="Text 166"/>
          <p:cNvSpPr/>
          <p:nvPr/>
        </p:nvSpPr>
        <p:spPr>
          <a:xfrm>
            <a:off x="9042970" y="35535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9,1 %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70" name="Text 167"/>
          <p:cNvSpPr/>
          <p:nvPr/>
        </p:nvSpPr>
        <p:spPr>
          <a:xfrm>
            <a:off x="10967650" y="355359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7,0 %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71" name="Text 168"/>
          <p:cNvSpPr/>
          <p:nvPr/>
        </p:nvSpPr>
        <p:spPr>
          <a:xfrm>
            <a:off x="8077397" y="36869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2,1 %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72" name="Text 169"/>
          <p:cNvSpPr/>
          <p:nvPr/>
        </p:nvSpPr>
        <p:spPr>
          <a:xfrm>
            <a:off x="8560183" y="36869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6,9 %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73" name="Text 170"/>
          <p:cNvSpPr/>
          <p:nvPr/>
        </p:nvSpPr>
        <p:spPr>
          <a:xfrm>
            <a:off x="9042970" y="36869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5,7 %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74" name="Text 171"/>
          <p:cNvSpPr/>
          <p:nvPr/>
        </p:nvSpPr>
        <p:spPr>
          <a:xfrm>
            <a:off x="9525756" y="36869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9,9 %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75" name="Text 172"/>
          <p:cNvSpPr/>
          <p:nvPr/>
        </p:nvSpPr>
        <p:spPr>
          <a:xfrm>
            <a:off x="10491329" y="36869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6,4 %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76" name="Text 173"/>
          <p:cNvSpPr/>
          <p:nvPr/>
        </p:nvSpPr>
        <p:spPr>
          <a:xfrm>
            <a:off x="10967650" y="368694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4,4 %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77" name="Text 174"/>
          <p:cNvSpPr/>
          <p:nvPr/>
        </p:nvSpPr>
        <p:spPr>
          <a:xfrm>
            <a:off x="8077397" y="38202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0,9 %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78" name="Text 175"/>
          <p:cNvSpPr/>
          <p:nvPr/>
        </p:nvSpPr>
        <p:spPr>
          <a:xfrm>
            <a:off x="8560183" y="38202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3,0 %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79" name="Text 176"/>
          <p:cNvSpPr/>
          <p:nvPr/>
        </p:nvSpPr>
        <p:spPr>
          <a:xfrm>
            <a:off x="9042970" y="38202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2,4 %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80" name="Text 177"/>
          <p:cNvSpPr/>
          <p:nvPr/>
        </p:nvSpPr>
        <p:spPr>
          <a:xfrm>
            <a:off x="9525756" y="38202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4,3 %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81" name="Text 178"/>
          <p:cNvSpPr/>
          <p:nvPr/>
        </p:nvSpPr>
        <p:spPr>
          <a:xfrm>
            <a:off x="10008542" y="38202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4,3 %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82" name="Text 179"/>
          <p:cNvSpPr/>
          <p:nvPr/>
        </p:nvSpPr>
        <p:spPr>
          <a:xfrm>
            <a:off x="10491329" y="38202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2,8 %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83" name="Text 180"/>
          <p:cNvSpPr/>
          <p:nvPr/>
        </p:nvSpPr>
        <p:spPr>
          <a:xfrm>
            <a:off x="10967650" y="382029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1,9 %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84" name="Text 181"/>
          <p:cNvSpPr/>
          <p:nvPr/>
        </p:nvSpPr>
        <p:spPr>
          <a:xfrm>
            <a:off x="8077397" y="39536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1,5 %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85" name="Text 182"/>
          <p:cNvSpPr/>
          <p:nvPr/>
        </p:nvSpPr>
        <p:spPr>
          <a:xfrm>
            <a:off x="8560183" y="39536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4,7 %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86" name="Text 183"/>
          <p:cNvSpPr/>
          <p:nvPr/>
        </p:nvSpPr>
        <p:spPr>
          <a:xfrm>
            <a:off x="9042970" y="39536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3,9 %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87" name="Text 184"/>
          <p:cNvSpPr/>
          <p:nvPr/>
        </p:nvSpPr>
        <p:spPr>
          <a:xfrm>
            <a:off x="9525756" y="39536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6,7 %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88" name="Text 185"/>
          <p:cNvSpPr/>
          <p:nvPr/>
        </p:nvSpPr>
        <p:spPr>
          <a:xfrm>
            <a:off x="10008542" y="39536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6,8 %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89" name="Text 186"/>
          <p:cNvSpPr/>
          <p:nvPr/>
        </p:nvSpPr>
        <p:spPr>
          <a:xfrm>
            <a:off x="10491329" y="39536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4,4 %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90" name="Text 187"/>
          <p:cNvSpPr/>
          <p:nvPr/>
        </p:nvSpPr>
        <p:spPr>
          <a:xfrm>
            <a:off x="10967650" y="395364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3,0 %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91" name="Text 188"/>
          <p:cNvSpPr/>
          <p:nvPr/>
        </p:nvSpPr>
        <p:spPr>
          <a:xfrm>
            <a:off x="8077397" y="40869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0,3 %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92" name="Text 189"/>
          <p:cNvSpPr/>
          <p:nvPr/>
        </p:nvSpPr>
        <p:spPr>
          <a:xfrm>
            <a:off x="8560183" y="40869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1,0 %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93" name="Text 190"/>
          <p:cNvSpPr/>
          <p:nvPr/>
        </p:nvSpPr>
        <p:spPr>
          <a:xfrm>
            <a:off x="9042970" y="40869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0,8 %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94" name="Text 191"/>
          <p:cNvSpPr/>
          <p:nvPr/>
        </p:nvSpPr>
        <p:spPr>
          <a:xfrm>
            <a:off x="9525756" y="40869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1,4 %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95" name="Text 192"/>
          <p:cNvSpPr/>
          <p:nvPr/>
        </p:nvSpPr>
        <p:spPr>
          <a:xfrm>
            <a:off x="10008542" y="40869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1,4 %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96" name="Text 193"/>
          <p:cNvSpPr/>
          <p:nvPr/>
        </p:nvSpPr>
        <p:spPr>
          <a:xfrm>
            <a:off x="10491329" y="40869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0,9 %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97" name="Text 194"/>
          <p:cNvSpPr/>
          <p:nvPr/>
        </p:nvSpPr>
        <p:spPr>
          <a:xfrm>
            <a:off x="10967650" y="408699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0,6 %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98" name="Text 195"/>
          <p:cNvSpPr/>
          <p:nvPr/>
        </p:nvSpPr>
        <p:spPr>
          <a:xfrm>
            <a:off x="8077397" y="42203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0,9 %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99" name="Text 196"/>
          <p:cNvSpPr/>
          <p:nvPr/>
        </p:nvSpPr>
        <p:spPr>
          <a:xfrm>
            <a:off x="8560183" y="42203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2,8 %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00" name="Text 197"/>
          <p:cNvSpPr/>
          <p:nvPr/>
        </p:nvSpPr>
        <p:spPr>
          <a:xfrm>
            <a:off x="9042970" y="42203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2,3 %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01" name="Text 198"/>
          <p:cNvSpPr/>
          <p:nvPr/>
        </p:nvSpPr>
        <p:spPr>
          <a:xfrm>
            <a:off x="9525756" y="42203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4,0 %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02" name="Text 199"/>
          <p:cNvSpPr/>
          <p:nvPr/>
        </p:nvSpPr>
        <p:spPr>
          <a:xfrm>
            <a:off x="10008542" y="42203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4,0 %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03" name="Text 200"/>
          <p:cNvSpPr/>
          <p:nvPr/>
        </p:nvSpPr>
        <p:spPr>
          <a:xfrm>
            <a:off x="10491329" y="42203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2,6 %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04" name="Text 201"/>
          <p:cNvSpPr/>
          <p:nvPr/>
        </p:nvSpPr>
        <p:spPr>
          <a:xfrm>
            <a:off x="10967650" y="422034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1,8 %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05" name="Text 202"/>
          <p:cNvSpPr/>
          <p:nvPr/>
        </p:nvSpPr>
        <p:spPr>
          <a:xfrm>
            <a:off x="8077397" y="46203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1,9 %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06" name="Text 203"/>
          <p:cNvSpPr/>
          <p:nvPr/>
        </p:nvSpPr>
        <p:spPr>
          <a:xfrm>
            <a:off x="8560183" y="46203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1,4 %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07" name="Text 204"/>
          <p:cNvSpPr/>
          <p:nvPr/>
        </p:nvSpPr>
        <p:spPr>
          <a:xfrm>
            <a:off x="9042970" y="46203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1,6 %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08" name="Text 205"/>
          <p:cNvSpPr/>
          <p:nvPr/>
        </p:nvSpPr>
        <p:spPr>
          <a:xfrm>
            <a:off x="9525756" y="46203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1,2 %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09" name="Text 206"/>
          <p:cNvSpPr/>
          <p:nvPr/>
        </p:nvSpPr>
        <p:spPr>
          <a:xfrm>
            <a:off x="10008542" y="46203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1,2 %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10" name="Text 207"/>
          <p:cNvSpPr/>
          <p:nvPr/>
        </p:nvSpPr>
        <p:spPr>
          <a:xfrm>
            <a:off x="10491329" y="46203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1,5 %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11" name="Text 208"/>
          <p:cNvSpPr/>
          <p:nvPr/>
        </p:nvSpPr>
        <p:spPr>
          <a:xfrm>
            <a:off x="10967650" y="462039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1,7 %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12" name="Text 209"/>
          <p:cNvSpPr/>
          <p:nvPr/>
        </p:nvSpPr>
        <p:spPr>
          <a:xfrm>
            <a:off x="8077397" y="47537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0,6 %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13" name="Text 210"/>
          <p:cNvSpPr/>
          <p:nvPr/>
        </p:nvSpPr>
        <p:spPr>
          <a:xfrm>
            <a:off x="8560183" y="47537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0,5 %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14" name="Text 211"/>
          <p:cNvSpPr/>
          <p:nvPr/>
        </p:nvSpPr>
        <p:spPr>
          <a:xfrm>
            <a:off x="9042970" y="47537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0,5 %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15" name="Text 212"/>
          <p:cNvSpPr/>
          <p:nvPr/>
        </p:nvSpPr>
        <p:spPr>
          <a:xfrm>
            <a:off x="9525756" y="47537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0,4 %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16" name="Text 213"/>
          <p:cNvSpPr/>
          <p:nvPr/>
        </p:nvSpPr>
        <p:spPr>
          <a:xfrm>
            <a:off x="10008542" y="47537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0,4 %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17" name="Text 214"/>
          <p:cNvSpPr/>
          <p:nvPr/>
        </p:nvSpPr>
        <p:spPr>
          <a:xfrm>
            <a:off x="10491329" y="47537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0,5 %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18" name="Text 215"/>
          <p:cNvSpPr/>
          <p:nvPr/>
        </p:nvSpPr>
        <p:spPr>
          <a:xfrm>
            <a:off x="10967650" y="475374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0,6 %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19" name="Text 216"/>
          <p:cNvSpPr/>
          <p:nvPr/>
        </p:nvSpPr>
        <p:spPr>
          <a:xfrm>
            <a:off x="8077397" y="48870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0,2 %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20" name="Text 217"/>
          <p:cNvSpPr/>
          <p:nvPr/>
        </p:nvSpPr>
        <p:spPr>
          <a:xfrm>
            <a:off x="8560183" y="48870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0,2 %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21" name="Text 218"/>
          <p:cNvSpPr/>
          <p:nvPr/>
        </p:nvSpPr>
        <p:spPr>
          <a:xfrm>
            <a:off x="9042970" y="48870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0,2 %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22" name="Text 219"/>
          <p:cNvSpPr/>
          <p:nvPr/>
        </p:nvSpPr>
        <p:spPr>
          <a:xfrm>
            <a:off x="9525756" y="48870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0,2 %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23" name="Text 220"/>
          <p:cNvSpPr/>
          <p:nvPr/>
        </p:nvSpPr>
        <p:spPr>
          <a:xfrm>
            <a:off x="10008542" y="48870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0,2 %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24" name="Text 221"/>
          <p:cNvSpPr/>
          <p:nvPr/>
        </p:nvSpPr>
        <p:spPr>
          <a:xfrm>
            <a:off x="10491329" y="48870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0,2 %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25" name="Text 222"/>
          <p:cNvSpPr/>
          <p:nvPr/>
        </p:nvSpPr>
        <p:spPr>
          <a:xfrm>
            <a:off x="10967650" y="488709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0,2 %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26" name="Text 223"/>
          <p:cNvSpPr/>
          <p:nvPr/>
        </p:nvSpPr>
        <p:spPr>
          <a:xfrm>
            <a:off x="8077397" y="5020442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100 %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27" name="Text 224"/>
          <p:cNvSpPr/>
          <p:nvPr/>
        </p:nvSpPr>
        <p:spPr>
          <a:xfrm>
            <a:off x="8560183" y="5020442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100 %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28" name="Text 225"/>
          <p:cNvSpPr/>
          <p:nvPr/>
        </p:nvSpPr>
        <p:spPr>
          <a:xfrm>
            <a:off x="9042970" y="5020442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100 %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29" name="Text 226"/>
          <p:cNvSpPr/>
          <p:nvPr/>
        </p:nvSpPr>
        <p:spPr>
          <a:xfrm>
            <a:off x="9525756" y="5020442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100 %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30" name="Text 227"/>
          <p:cNvSpPr/>
          <p:nvPr/>
        </p:nvSpPr>
        <p:spPr>
          <a:xfrm>
            <a:off x="10008542" y="5020442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100 %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31" name="Text 228"/>
          <p:cNvSpPr/>
          <p:nvPr/>
        </p:nvSpPr>
        <p:spPr>
          <a:xfrm>
            <a:off x="10491329" y="5020442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100 %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32" name="Text 229"/>
          <p:cNvSpPr/>
          <p:nvPr/>
        </p:nvSpPr>
        <p:spPr>
          <a:xfrm>
            <a:off x="10967650" y="5020442"/>
            <a:ext cx="719233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100 %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33" name="Text 230"/>
          <p:cNvSpPr/>
          <p:nvPr/>
        </p:nvSpPr>
        <p:spPr>
          <a:xfrm>
            <a:off x="4374991" y="952500"/>
            <a:ext cx="447536" cy="2060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80" b="1" dirty="0">
                <a:solidFill>
                  <a:srgbClr val="5AE2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3,1 %</a:t>
            </a:r>
            <a:endParaRPr lang="en-US" sz="138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34" name="Text 231"/>
          <p:cNvSpPr/>
          <p:nvPr/>
        </p:nvSpPr>
        <p:spPr>
          <a:xfrm>
            <a:off x="495288" y="2420117"/>
            <a:ext cx="1120237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636" b="1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Mayo</a:t>
            </a:r>
            <a:endParaRPr lang="en-US" sz="63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35" name="Text 232"/>
          <p:cNvSpPr/>
          <p:nvPr/>
        </p:nvSpPr>
        <p:spPr>
          <a:xfrm>
            <a:off x="6257769" y="2420117"/>
            <a:ext cx="1120237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636" b="1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Mayo</a:t>
            </a:r>
            <a:endParaRPr lang="en-US" sz="63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36" name="Text 233"/>
          <p:cNvSpPr/>
          <p:nvPr/>
        </p:nvSpPr>
        <p:spPr>
          <a:xfrm>
            <a:off x="495288" y="1681930"/>
            <a:ext cx="1120237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888" b="1" dirty="0">
                <a:solidFill>
                  <a:srgbClr val="FFFFFF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Mes</a:t>
            </a:r>
            <a:endParaRPr lang="en-US" sz="888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37" name="Text 234"/>
          <p:cNvSpPr/>
          <p:nvPr/>
        </p:nvSpPr>
        <p:spPr>
          <a:xfrm>
            <a:off x="2314916" y="3120205"/>
            <a:ext cx="497270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Ene</a:t>
            </a:r>
            <a:endParaRPr lang="en-US" sz="888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38" name="Text 235"/>
          <p:cNvSpPr/>
          <p:nvPr/>
        </p:nvSpPr>
        <p:spPr>
          <a:xfrm>
            <a:off x="2797702" y="3120205"/>
            <a:ext cx="497270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Feb</a:t>
            </a:r>
            <a:endParaRPr lang="en-US" sz="888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39" name="Text 236"/>
          <p:cNvSpPr/>
          <p:nvPr/>
        </p:nvSpPr>
        <p:spPr>
          <a:xfrm>
            <a:off x="3280489" y="3120205"/>
            <a:ext cx="497270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Mar</a:t>
            </a:r>
            <a:endParaRPr lang="en-US" sz="888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40" name="Text 237"/>
          <p:cNvSpPr/>
          <p:nvPr/>
        </p:nvSpPr>
        <p:spPr>
          <a:xfrm>
            <a:off x="3763275" y="3120205"/>
            <a:ext cx="497270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Abr</a:t>
            </a:r>
            <a:endParaRPr lang="en-US" sz="888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41" name="Text 238"/>
          <p:cNvSpPr/>
          <p:nvPr/>
        </p:nvSpPr>
        <p:spPr>
          <a:xfrm>
            <a:off x="4246061" y="3120205"/>
            <a:ext cx="497270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May</a:t>
            </a:r>
            <a:endParaRPr lang="en-US" sz="888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42" name="Text 239"/>
          <p:cNvSpPr/>
          <p:nvPr/>
        </p:nvSpPr>
        <p:spPr>
          <a:xfrm>
            <a:off x="4728848" y="3120205"/>
            <a:ext cx="497270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Jun</a:t>
            </a:r>
            <a:endParaRPr lang="en-US" sz="888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43" name="Text 240"/>
          <p:cNvSpPr/>
          <p:nvPr/>
        </p:nvSpPr>
        <p:spPr>
          <a:xfrm>
            <a:off x="2314916" y="34202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352</a:t>
            </a:r>
            <a:endParaRPr lang="en-US" sz="57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44" name="Text 241"/>
          <p:cNvSpPr/>
          <p:nvPr/>
        </p:nvSpPr>
        <p:spPr>
          <a:xfrm>
            <a:off x="2797702" y="34202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948</a:t>
            </a:r>
            <a:endParaRPr lang="en-US" sz="57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45" name="Text 242"/>
          <p:cNvSpPr/>
          <p:nvPr/>
        </p:nvSpPr>
        <p:spPr>
          <a:xfrm>
            <a:off x="3280489" y="34202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380</a:t>
            </a:r>
            <a:endParaRPr lang="en-US" sz="57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46" name="Text 243"/>
          <p:cNvSpPr/>
          <p:nvPr/>
        </p:nvSpPr>
        <p:spPr>
          <a:xfrm>
            <a:off x="2314916" y="35535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186</a:t>
            </a:r>
            <a:endParaRPr lang="en-US" sz="57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47" name="Text 244"/>
          <p:cNvSpPr/>
          <p:nvPr/>
        </p:nvSpPr>
        <p:spPr>
          <a:xfrm>
            <a:off x="2797702" y="35535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501</a:t>
            </a:r>
            <a:endParaRPr lang="en-US" sz="57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48" name="Text 245"/>
          <p:cNvSpPr/>
          <p:nvPr/>
        </p:nvSpPr>
        <p:spPr>
          <a:xfrm>
            <a:off x="3280489" y="35535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201</a:t>
            </a:r>
            <a:endParaRPr lang="en-US" sz="57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49" name="Text 246"/>
          <p:cNvSpPr/>
          <p:nvPr/>
        </p:nvSpPr>
        <p:spPr>
          <a:xfrm>
            <a:off x="4728848" y="35535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776</a:t>
            </a:r>
            <a:endParaRPr lang="en-US" sz="57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50" name="Text 247"/>
          <p:cNvSpPr/>
          <p:nvPr/>
        </p:nvSpPr>
        <p:spPr>
          <a:xfrm>
            <a:off x="2314916" y="36869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140</a:t>
            </a:r>
            <a:endParaRPr lang="en-US" sz="57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51" name="Text 248"/>
          <p:cNvSpPr/>
          <p:nvPr/>
        </p:nvSpPr>
        <p:spPr>
          <a:xfrm>
            <a:off x="2797702" y="36869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379</a:t>
            </a:r>
            <a:endParaRPr lang="en-US" sz="57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52" name="Text 249"/>
          <p:cNvSpPr/>
          <p:nvPr/>
        </p:nvSpPr>
        <p:spPr>
          <a:xfrm>
            <a:off x="3280489" y="36869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152</a:t>
            </a:r>
            <a:endParaRPr lang="en-US" sz="57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53" name="Text 250"/>
          <p:cNvSpPr/>
          <p:nvPr/>
        </p:nvSpPr>
        <p:spPr>
          <a:xfrm>
            <a:off x="4728848" y="36869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587</a:t>
            </a:r>
            <a:endParaRPr lang="en-US" sz="57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54" name="Text 251"/>
          <p:cNvSpPr/>
          <p:nvPr/>
        </p:nvSpPr>
        <p:spPr>
          <a:xfrm>
            <a:off x="2797702" y="38202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196</a:t>
            </a:r>
            <a:endParaRPr lang="en-US" sz="57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55" name="Text 252"/>
          <p:cNvSpPr/>
          <p:nvPr/>
        </p:nvSpPr>
        <p:spPr>
          <a:xfrm>
            <a:off x="3763275" y="38202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839</a:t>
            </a:r>
            <a:endParaRPr lang="en-US" sz="57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56" name="Text 253"/>
          <p:cNvSpPr/>
          <p:nvPr/>
        </p:nvSpPr>
        <p:spPr>
          <a:xfrm>
            <a:off x="4246061" y="38202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839</a:t>
            </a:r>
            <a:endParaRPr lang="en-US" sz="57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57" name="Text 254"/>
          <p:cNvSpPr/>
          <p:nvPr/>
        </p:nvSpPr>
        <p:spPr>
          <a:xfrm>
            <a:off x="4728848" y="38202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304</a:t>
            </a:r>
            <a:endParaRPr lang="en-US" sz="57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58" name="Text 255"/>
          <p:cNvSpPr/>
          <p:nvPr/>
        </p:nvSpPr>
        <p:spPr>
          <a:xfrm>
            <a:off x="2797702" y="39536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181</a:t>
            </a:r>
            <a:endParaRPr lang="en-US" sz="57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59" name="Text 256"/>
          <p:cNvSpPr/>
          <p:nvPr/>
        </p:nvSpPr>
        <p:spPr>
          <a:xfrm>
            <a:off x="3763275" y="39536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772</a:t>
            </a:r>
            <a:endParaRPr lang="en-US" sz="57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60" name="Text 257"/>
          <p:cNvSpPr/>
          <p:nvPr/>
        </p:nvSpPr>
        <p:spPr>
          <a:xfrm>
            <a:off x="4246061" y="39536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773</a:t>
            </a:r>
            <a:endParaRPr lang="en-US" sz="57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61" name="Text 258"/>
          <p:cNvSpPr/>
          <p:nvPr/>
        </p:nvSpPr>
        <p:spPr>
          <a:xfrm>
            <a:off x="4728848" y="39536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280</a:t>
            </a:r>
            <a:endParaRPr lang="en-US" sz="57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62" name="Text 259"/>
          <p:cNvSpPr/>
          <p:nvPr/>
        </p:nvSpPr>
        <p:spPr>
          <a:xfrm>
            <a:off x="3763275" y="40869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332</a:t>
            </a:r>
            <a:endParaRPr lang="en-US" sz="57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63" name="Text 260"/>
          <p:cNvSpPr/>
          <p:nvPr/>
        </p:nvSpPr>
        <p:spPr>
          <a:xfrm>
            <a:off x="4246061" y="40869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332</a:t>
            </a:r>
            <a:endParaRPr lang="en-US" sz="57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64" name="Text 261"/>
          <p:cNvSpPr/>
          <p:nvPr/>
        </p:nvSpPr>
        <p:spPr>
          <a:xfrm>
            <a:off x="4728848" y="40869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120</a:t>
            </a:r>
            <a:endParaRPr lang="en-US" sz="57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65" name="Text 262"/>
          <p:cNvSpPr/>
          <p:nvPr/>
        </p:nvSpPr>
        <p:spPr>
          <a:xfrm>
            <a:off x="5205169" y="408699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b="1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922</a:t>
            </a:r>
            <a:endParaRPr lang="en-US" sz="57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66" name="Text 263"/>
          <p:cNvSpPr/>
          <p:nvPr/>
        </p:nvSpPr>
        <p:spPr>
          <a:xfrm>
            <a:off x="2314916" y="42203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142</a:t>
            </a:r>
            <a:endParaRPr lang="en-US" sz="57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67" name="Text 264"/>
          <p:cNvSpPr/>
          <p:nvPr/>
        </p:nvSpPr>
        <p:spPr>
          <a:xfrm>
            <a:off x="2797702" y="42203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382</a:t>
            </a:r>
            <a:endParaRPr lang="en-US" sz="57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68" name="Text 265"/>
          <p:cNvSpPr/>
          <p:nvPr/>
        </p:nvSpPr>
        <p:spPr>
          <a:xfrm>
            <a:off x="3280489" y="42203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153</a:t>
            </a:r>
            <a:endParaRPr lang="en-US" sz="57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69" name="Text 266"/>
          <p:cNvSpPr/>
          <p:nvPr/>
        </p:nvSpPr>
        <p:spPr>
          <a:xfrm>
            <a:off x="4728848" y="42203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592</a:t>
            </a:r>
            <a:endParaRPr lang="en-US" sz="57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70" name="Text 267"/>
          <p:cNvSpPr/>
          <p:nvPr/>
        </p:nvSpPr>
        <p:spPr>
          <a:xfrm>
            <a:off x="6257769" y="1681930"/>
            <a:ext cx="1120237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888" b="1" dirty="0">
                <a:solidFill>
                  <a:srgbClr val="FFFFFF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Mes</a:t>
            </a:r>
            <a:endParaRPr lang="en-US" sz="888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71" name="Text 268"/>
          <p:cNvSpPr/>
          <p:nvPr/>
        </p:nvSpPr>
        <p:spPr>
          <a:xfrm>
            <a:off x="9273649" y="1991492"/>
            <a:ext cx="100818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b="1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123</a:t>
            </a:r>
            <a:endParaRPr lang="en-US" sz="63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72" name="Text 269"/>
          <p:cNvSpPr/>
          <p:nvPr/>
        </p:nvSpPr>
        <p:spPr>
          <a:xfrm>
            <a:off x="7316013" y="2277242"/>
            <a:ext cx="100818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498</a:t>
            </a:r>
            <a:endParaRPr lang="en-US" sz="63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73" name="Text 270"/>
          <p:cNvSpPr/>
          <p:nvPr/>
        </p:nvSpPr>
        <p:spPr>
          <a:xfrm>
            <a:off x="7316013" y="2420117"/>
            <a:ext cx="100818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498</a:t>
            </a:r>
            <a:endParaRPr lang="en-US" sz="63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74" name="Text 271"/>
          <p:cNvSpPr/>
          <p:nvPr/>
        </p:nvSpPr>
        <p:spPr>
          <a:xfrm>
            <a:off x="9273649" y="2562992"/>
            <a:ext cx="100818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b="1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143</a:t>
            </a:r>
            <a:endParaRPr lang="en-US" sz="63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75" name="Text 272"/>
          <p:cNvSpPr/>
          <p:nvPr/>
        </p:nvSpPr>
        <p:spPr>
          <a:xfrm>
            <a:off x="9273649" y="2705867"/>
            <a:ext cx="1008183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324</a:t>
            </a:r>
            <a:endParaRPr lang="en-US" sz="63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76" name="Text 273"/>
          <p:cNvSpPr/>
          <p:nvPr/>
        </p:nvSpPr>
        <p:spPr>
          <a:xfrm>
            <a:off x="8077397" y="3120205"/>
            <a:ext cx="497270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Ene</a:t>
            </a:r>
            <a:endParaRPr lang="en-US" sz="888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77" name="Text 274"/>
          <p:cNvSpPr/>
          <p:nvPr/>
        </p:nvSpPr>
        <p:spPr>
          <a:xfrm>
            <a:off x="8560183" y="3120205"/>
            <a:ext cx="497270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Feb</a:t>
            </a:r>
            <a:endParaRPr lang="en-US" sz="888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78" name="Text 275"/>
          <p:cNvSpPr/>
          <p:nvPr/>
        </p:nvSpPr>
        <p:spPr>
          <a:xfrm>
            <a:off x="9042970" y="3120205"/>
            <a:ext cx="497270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Mar</a:t>
            </a:r>
            <a:endParaRPr lang="en-US" sz="888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79" name="Text 276"/>
          <p:cNvSpPr/>
          <p:nvPr/>
        </p:nvSpPr>
        <p:spPr>
          <a:xfrm>
            <a:off x="9525756" y="3120205"/>
            <a:ext cx="497270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Abr</a:t>
            </a:r>
            <a:endParaRPr lang="en-US" sz="888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80" name="Text 277"/>
          <p:cNvSpPr/>
          <p:nvPr/>
        </p:nvSpPr>
        <p:spPr>
          <a:xfrm>
            <a:off x="10008542" y="3120205"/>
            <a:ext cx="497270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May</a:t>
            </a:r>
            <a:endParaRPr lang="en-US" sz="888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81" name="Text 278"/>
          <p:cNvSpPr/>
          <p:nvPr/>
        </p:nvSpPr>
        <p:spPr>
          <a:xfrm>
            <a:off x="10491329" y="3120205"/>
            <a:ext cx="497270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Jun</a:t>
            </a:r>
            <a:endParaRPr lang="en-US" sz="888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82" name="Text 279"/>
          <p:cNvSpPr/>
          <p:nvPr/>
        </p:nvSpPr>
        <p:spPr>
          <a:xfrm>
            <a:off x="8216595" y="952500"/>
            <a:ext cx="332849" cy="2060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80" b="1" dirty="0">
                <a:solidFill>
                  <a:srgbClr val="5AE2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324</a:t>
            </a:r>
            <a:endParaRPr lang="en-US" sz="138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83" name="Text 280"/>
          <p:cNvSpPr/>
          <p:nvPr/>
        </p:nvSpPr>
        <p:spPr>
          <a:xfrm>
            <a:off x="2314916" y="38202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73</a:t>
            </a:r>
            <a:endParaRPr lang="en-US" sz="57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84" name="Text 281"/>
          <p:cNvSpPr/>
          <p:nvPr/>
        </p:nvSpPr>
        <p:spPr>
          <a:xfrm>
            <a:off x="3280489" y="38202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79</a:t>
            </a:r>
            <a:endParaRPr lang="en-US" sz="57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85" name="Text 282"/>
          <p:cNvSpPr/>
          <p:nvPr/>
        </p:nvSpPr>
        <p:spPr>
          <a:xfrm>
            <a:off x="2314916" y="39536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67</a:t>
            </a:r>
            <a:endParaRPr lang="en-US" sz="57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86" name="Text 283"/>
          <p:cNvSpPr/>
          <p:nvPr/>
        </p:nvSpPr>
        <p:spPr>
          <a:xfrm>
            <a:off x="3280489" y="39536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72</a:t>
            </a:r>
            <a:endParaRPr lang="en-US" sz="57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87" name="Text 284"/>
          <p:cNvSpPr/>
          <p:nvPr/>
        </p:nvSpPr>
        <p:spPr>
          <a:xfrm>
            <a:off x="2314916" y="40869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29</a:t>
            </a:r>
            <a:endParaRPr lang="en-US" sz="57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88" name="Text 285"/>
          <p:cNvSpPr/>
          <p:nvPr/>
        </p:nvSpPr>
        <p:spPr>
          <a:xfrm>
            <a:off x="2797702" y="40869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78</a:t>
            </a:r>
            <a:endParaRPr lang="en-US" sz="57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89" name="Text 286"/>
          <p:cNvSpPr/>
          <p:nvPr/>
        </p:nvSpPr>
        <p:spPr>
          <a:xfrm>
            <a:off x="3280489" y="40869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31</a:t>
            </a:r>
            <a:endParaRPr lang="en-US" sz="57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90" name="Text 287"/>
          <p:cNvSpPr/>
          <p:nvPr/>
        </p:nvSpPr>
        <p:spPr>
          <a:xfrm>
            <a:off x="9273649" y="1853380"/>
            <a:ext cx="1008183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b="1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31</a:t>
            </a:r>
            <a:endParaRPr lang="en-US" sz="63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91" name="Text 288"/>
          <p:cNvSpPr/>
          <p:nvPr/>
        </p:nvSpPr>
        <p:spPr>
          <a:xfrm>
            <a:off x="9273649" y="2134367"/>
            <a:ext cx="100818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b="1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22</a:t>
            </a:r>
            <a:endParaRPr lang="en-US" sz="63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93" name="Text 288">
            <a:extLst>
              <a:ext uri="{FF2B5EF4-FFF2-40B4-BE49-F238E27FC236}">
                <a16:creationId xmlns:a16="http://schemas.microsoft.com/office/drawing/2014/main" id="{495685B1-F689-1DED-8958-3AE9BC3C7392}"/>
              </a:ext>
            </a:extLst>
          </p:cNvPr>
          <p:cNvSpPr/>
          <p:nvPr/>
        </p:nvSpPr>
        <p:spPr>
          <a:xfrm>
            <a:off x="9273649" y="2286767"/>
            <a:ext cx="100818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b="1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0</a:t>
            </a:r>
            <a:endParaRPr lang="en-US" sz="63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95" name="Text 288">
            <a:extLst>
              <a:ext uri="{FF2B5EF4-FFF2-40B4-BE49-F238E27FC236}">
                <a16:creationId xmlns:a16="http://schemas.microsoft.com/office/drawing/2014/main" id="{E20E1407-1B1C-A851-328E-742F74C32EF1}"/>
              </a:ext>
            </a:extLst>
          </p:cNvPr>
          <p:cNvSpPr/>
          <p:nvPr/>
        </p:nvSpPr>
        <p:spPr>
          <a:xfrm>
            <a:off x="9273649" y="2429642"/>
            <a:ext cx="100818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b="1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5</a:t>
            </a:r>
            <a:endParaRPr lang="en-US" sz="63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297" name="Picture 296">
            <a:extLst>
              <a:ext uri="{FF2B5EF4-FFF2-40B4-BE49-F238E27FC236}">
                <a16:creationId xmlns:a16="http://schemas.microsoft.com/office/drawing/2014/main" id="{20CBAE4D-92E6-0D4C-DAF5-FE060A066C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34650" y="78120"/>
            <a:ext cx="1530523" cy="459157"/>
          </a:xfrm>
          <a:prstGeom prst="rect">
            <a:avLst/>
          </a:prstGeom>
        </p:spPr>
      </p:pic>
      <p:pic>
        <p:nvPicPr>
          <p:cNvPr id="299" name="Picture 298">
            <a:extLst>
              <a:ext uri="{FF2B5EF4-FFF2-40B4-BE49-F238E27FC236}">
                <a16:creationId xmlns:a16="http://schemas.microsoft.com/office/drawing/2014/main" id="{2436BBD2-689E-169C-2A63-7F1B3A9C6F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87050" y="230520"/>
            <a:ext cx="1530523" cy="459157"/>
          </a:xfrm>
          <a:prstGeom prst="rect">
            <a:avLst/>
          </a:prstGeom>
        </p:spPr>
      </p:pic>
      <p:pic>
        <p:nvPicPr>
          <p:cNvPr id="301" name="Picture 300">
            <a:extLst>
              <a:ext uri="{FF2B5EF4-FFF2-40B4-BE49-F238E27FC236}">
                <a16:creationId xmlns:a16="http://schemas.microsoft.com/office/drawing/2014/main" id="{0EDD9713-1D3E-115F-E635-0E23ADE147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39450" y="382920"/>
            <a:ext cx="1530523" cy="459157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13_Presentaciones\dash\televentas\ppt_slides\sk_09_m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783" y="6393656"/>
            <a:ext cx="7888884" cy="928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744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Mostró un descarte muy alto (67,58 %) y una bajísima efectividad sobre contacto (1,21 %), lo que justifica que se haya pausado a partir de febrero.</a:t>
            </a:r>
            <a:endParaRPr lang="en-US" sz="744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685783" y="6247209"/>
            <a:ext cx="7043485" cy="45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744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Esta base sólo estuvo activa en enero de 2026 (campaña táctica sobre base histórica de clientes satisfechos).</a:t>
            </a:r>
            <a:endParaRPr lang="en-US" sz="744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685782" y="6540103"/>
            <a:ext cx="5686283" cy="127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744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El contestador fue el gran bloqueador en enero, consumiendo el 62,7 % de los registros aptos gestionados.</a:t>
            </a:r>
            <a:endParaRPr lang="en-US" sz="744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571486" y="209550"/>
            <a:ext cx="5346508" cy="196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60" b="1" dirty="0">
                <a:solidFill>
                  <a:srgbClr val="FFFFFF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DETALLE OPERATIVO · CAMPAÑA CP CLIENTES SATISFECHOS</a:t>
            </a:r>
            <a:endParaRPr lang="en-US" sz="126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8216595" y="1200894"/>
            <a:ext cx="2471533" cy="1190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48" dirty="0">
                <a:solidFill>
                  <a:srgbClr val="9098B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Base focalizada y depurada de forma express</a:t>
            </a:r>
            <a:endParaRPr lang="en-US" sz="648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504812" y="342024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7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Cuota Protegida Activa / Producto Activo</a:t>
            </a:r>
            <a:endParaRPr lang="en-US" sz="57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533387" y="1200894"/>
            <a:ext cx="205678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48" dirty="0">
                <a:solidFill>
                  <a:srgbClr val="9098B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Interacción ágil con clientes históricos</a:t>
            </a:r>
            <a:endParaRPr lang="en-US" sz="648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4374991" y="1200894"/>
            <a:ext cx="2202601" cy="144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48" dirty="0">
                <a:solidFill>
                  <a:srgbClr val="9098B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Aporte táctico masivo al inicio del año</a:t>
            </a:r>
            <a:endParaRPr lang="en-US" sz="648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6372066" y="2915394"/>
            <a:ext cx="203753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16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4. Tipificación de Leads Aptos por Mes</a:t>
            </a:r>
            <a:endParaRPr lang="en-US" sz="81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609585" y="1486644"/>
            <a:ext cx="205678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16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1. Calidad de Base y Descarte Mensual</a:t>
            </a:r>
            <a:endParaRPr lang="en-US" sz="81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6372066" y="1486643"/>
            <a:ext cx="2202601" cy="1653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16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3. Insumo Apto, Contacto y Ventas</a:t>
            </a:r>
            <a:endParaRPr lang="en-US" sz="81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6267293" y="368694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5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Cuelga la llamada / experiencia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714357" y="6091238"/>
            <a:ext cx="2408405" cy="45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44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Observaciones Clave de la Base:</a:t>
            </a:r>
            <a:endParaRPr lang="en-US" sz="744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504812" y="3291655"/>
            <a:ext cx="1879325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7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Registro Enviado Anteriormente</a:t>
            </a:r>
            <a:endParaRPr lang="en-US" sz="57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504812" y="355359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7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Teléfono Errado / Sin Teléfono</a:t>
            </a:r>
            <a:endParaRPr lang="en-US" sz="57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495288" y="2915394"/>
            <a:ext cx="164662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16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2. Motivos de Descarte por Mes</a:t>
            </a:r>
            <a:endParaRPr lang="en-US" sz="81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6267293" y="355359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5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No interesado por el producto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533387" y="809625"/>
            <a:ext cx="157673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72" b="1" dirty="0">
                <a:solidFill>
                  <a:srgbClr val="9098B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CONTACTO EFECTIVO EN ENERO</a:t>
            </a:r>
            <a:endParaRPr lang="en-US" sz="67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504812" y="368694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7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NIT de empresa / No apto</a:t>
            </a:r>
            <a:endParaRPr lang="en-US" sz="57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6267293" y="408699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5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Contestador automático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504812" y="382029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7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Otros motivos menores</a:t>
            </a:r>
            <a:endParaRPr lang="en-US" sz="57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6267293" y="382029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5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Otros motivos menores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6267293" y="422034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5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No contesta / apagado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6" name="Text 23"/>
          <p:cNvSpPr/>
          <p:nvPr/>
        </p:nvSpPr>
        <p:spPr>
          <a:xfrm>
            <a:off x="8216595" y="809625"/>
            <a:ext cx="130950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72" b="1" dirty="0">
                <a:solidFill>
                  <a:srgbClr val="9098B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LEADS APTOS GENERADOS</a:t>
            </a:r>
            <a:endParaRPr lang="en-US" sz="67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7" name="Text 24"/>
          <p:cNvSpPr/>
          <p:nvPr/>
        </p:nvSpPr>
        <p:spPr>
          <a:xfrm>
            <a:off x="4374991" y="809625"/>
            <a:ext cx="1245929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72" b="1" dirty="0">
                <a:solidFill>
                  <a:srgbClr val="9098B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VENTAS INCREMENTALES</a:t>
            </a:r>
            <a:endParaRPr lang="en-US" sz="67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8" name="Text 25"/>
          <p:cNvSpPr/>
          <p:nvPr/>
        </p:nvSpPr>
        <p:spPr>
          <a:xfrm>
            <a:off x="6267293" y="3291655"/>
            <a:ext cx="1879325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52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CONTACTO EFECTIVO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9" name="Text 26"/>
          <p:cNvSpPr/>
          <p:nvPr/>
        </p:nvSpPr>
        <p:spPr>
          <a:xfrm>
            <a:off x="6267293" y="4353692"/>
            <a:ext cx="1879325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52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Total gestionado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0" name="Text 27"/>
          <p:cNvSpPr/>
          <p:nvPr/>
        </p:nvSpPr>
        <p:spPr>
          <a:xfrm>
            <a:off x="10239394" y="1681930"/>
            <a:ext cx="1457013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Conv. / Ctto.</a:t>
            </a:r>
            <a:endParaRPr lang="en-US" sz="888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1" name="Text 28"/>
          <p:cNvSpPr/>
          <p:nvPr/>
        </p:nvSpPr>
        <p:spPr>
          <a:xfrm>
            <a:off x="6267293" y="342024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5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Venta exitosa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2" name="Text 29"/>
          <p:cNvSpPr/>
          <p:nvPr/>
        </p:nvSpPr>
        <p:spPr>
          <a:xfrm>
            <a:off x="6267293" y="3120205"/>
            <a:ext cx="1879325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888" b="1" dirty="0">
                <a:solidFill>
                  <a:srgbClr val="FFFFFF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Tipificación</a:t>
            </a:r>
            <a:endParaRPr lang="en-US" sz="888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3" name="Text 30"/>
          <p:cNvSpPr/>
          <p:nvPr/>
        </p:nvSpPr>
        <p:spPr>
          <a:xfrm>
            <a:off x="6267293" y="395364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52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NO CONTACTO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4" name="Text 31"/>
          <p:cNvSpPr/>
          <p:nvPr/>
        </p:nvSpPr>
        <p:spPr>
          <a:xfrm>
            <a:off x="2951194" y="1681930"/>
            <a:ext cx="1568454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Rechazados</a:t>
            </a:r>
            <a:endParaRPr lang="en-US" sz="888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5" name="Text 32"/>
          <p:cNvSpPr/>
          <p:nvPr/>
        </p:nvSpPr>
        <p:spPr>
          <a:xfrm>
            <a:off x="8294831" y="1681930"/>
            <a:ext cx="1008183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Contactab.</a:t>
            </a:r>
            <a:endParaRPr lang="en-US" sz="888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6" name="Text 33"/>
          <p:cNvSpPr/>
          <p:nvPr/>
        </p:nvSpPr>
        <p:spPr>
          <a:xfrm>
            <a:off x="1540477" y="1681930"/>
            <a:ext cx="1456400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Recibidos</a:t>
            </a:r>
            <a:endParaRPr lang="en-US" sz="888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7" name="Text 34"/>
          <p:cNvSpPr/>
          <p:nvPr/>
        </p:nvSpPr>
        <p:spPr>
          <a:xfrm>
            <a:off x="4477220" y="1681930"/>
            <a:ext cx="1456707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% Rechazo</a:t>
            </a:r>
            <a:endParaRPr lang="en-US" sz="888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8" name="Text 35"/>
          <p:cNvSpPr/>
          <p:nvPr/>
        </p:nvSpPr>
        <p:spPr>
          <a:xfrm>
            <a:off x="1540477" y="1853380"/>
            <a:ext cx="1456400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108.659</a:t>
            </a:r>
            <a:endParaRPr lang="en-US" sz="63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9" name="Text 36"/>
          <p:cNvSpPr/>
          <p:nvPr/>
        </p:nvSpPr>
        <p:spPr>
          <a:xfrm>
            <a:off x="495288" y="1991492"/>
            <a:ext cx="1120237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636" b="1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Febrero</a:t>
            </a:r>
            <a:endParaRPr lang="en-US" sz="63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0" name="Text 37"/>
          <p:cNvSpPr/>
          <p:nvPr/>
        </p:nvSpPr>
        <p:spPr>
          <a:xfrm>
            <a:off x="1540477" y="2705867"/>
            <a:ext cx="1456400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108.659</a:t>
            </a:r>
            <a:endParaRPr lang="en-US" sz="63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1" name="Text 38"/>
          <p:cNvSpPr/>
          <p:nvPr/>
        </p:nvSpPr>
        <p:spPr>
          <a:xfrm>
            <a:off x="6257769" y="1991492"/>
            <a:ext cx="1120237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636" b="1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Febrero</a:t>
            </a:r>
            <a:endParaRPr lang="en-US" sz="63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2" name="Text 39"/>
          <p:cNvSpPr/>
          <p:nvPr/>
        </p:nvSpPr>
        <p:spPr>
          <a:xfrm>
            <a:off x="2951194" y="1853380"/>
            <a:ext cx="1568454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73.431</a:t>
            </a:r>
            <a:endParaRPr lang="en-US" sz="63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3" name="Text 40"/>
          <p:cNvSpPr/>
          <p:nvPr/>
        </p:nvSpPr>
        <p:spPr>
          <a:xfrm>
            <a:off x="4477220" y="1853380"/>
            <a:ext cx="1456707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67,6 %</a:t>
            </a:r>
            <a:endParaRPr lang="en-US" sz="63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4" name="Text 41"/>
          <p:cNvSpPr/>
          <p:nvPr/>
        </p:nvSpPr>
        <p:spPr>
          <a:xfrm>
            <a:off x="2951194" y="2705867"/>
            <a:ext cx="1568454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73.431</a:t>
            </a:r>
            <a:endParaRPr lang="en-US" sz="63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5" name="Text 42"/>
          <p:cNvSpPr/>
          <p:nvPr/>
        </p:nvSpPr>
        <p:spPr>
          <a:xfrm>
            <a:off x="4477220" y="2705867"/>
            <a:ext cx="1456707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67,6 %</a:t>
            </a:r>
            <a:endParaRPr lang="en-US" sz="63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6" name="Text 43"/>
          <p:cNvSpPr/>
          <p:nvPr/>
        </p:nvSpPr>
        <p:spPr>
          <a:xfrm>
            <a:off x="504812" y="3120205"/>
            <a:ext cx="1879325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888" b="1" dirty="0">
                <a:solidFill>
                  <a:srgbClr val="FFFFFF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Motivo</a:t>
            </a:r>
            <a:endParaRPr lang="en-US" sz="888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7" name="Text 44"/>
          <p:cNvSpPr/>
          <p:nvPr/>
        </p:nvSpPr>
        <p:spPr>
          <a:xfrm>
            <a:off x="2314916" y="3291655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43.210</a:t>
            </a:r>
            <a:endParaRPr lang="en-US" sz="57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8" name="Text 45"/>
          <p:cNvSpPr/>
          <p:nvPr/>
        </p:nvSpPr>
        <p:spPr>
          <a:xfrm>
            <a:off x="5205169" y="3291655"/>
            <a:ext cx="719233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b="1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43.210</a:t>
            </a:r>
            <a:endParaRPr lang="en-US" sz="57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9" name="Text 46"/>
          <p:cNvSpPr/>
          <p:nvPr/>
        </p:nvSpPr>
        <p:spPr>
          <a:xfrm>
            <a:off x="2314916" y="34202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22.105</a:t>
            </a:r>
            <a:endParaRPr lang="en-US" sz="57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0" name="Text 47"/>
          <p:cNvSpPr/>
          <p:nvPr/>
        </p:nvSpPr>
        <p:spPr>
          <a:xfrm>
            <a:off x="5205169" y="342024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b="1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22.105</a:t>
            </a:r>
            <a:endParaRPr lang="en-US" sz="57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1" name="Text 48"/>
          <p:cNvSpPr/>
          <p:nvPr/>
        </p:nvSpPr>
        <p:spPr>
          <a:xfrm>
            <a:off x="2314916" y="3953642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73.431</a:t>
            </a:r>
            <a:endParaRPr lang="en-US" sz="57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2" name="Text 49"/>
          <p:cNvSpPr/>
          <p:nvPr/>
        </p:nvSpPr>
        <p:spPr>
          <a:xfrm>
            <a:off x="5205169" y="3953642"/>
            <a:ext cx="719233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73.431</a:t>
            </a:r>
            <a:endParaRPr lang="en-US" sz="57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3" name="Text 50"/>
          <p:cNvSpPr/>
          <p:nvPr/>
        </p:nvSpPr>
        <p:spPr>
          <a:xfrm>
            <a:off x="9273649" y="1681930"/>
            <a:ext cx="1008183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Ventas</a:t>
            </a:r>
            <a:endParaRPr lang="en-US" sz="888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4" name="Text 51"/>
          <p:cNvSpPr/>
          <p:nvPr/>
        </p:nvSpPr>
        <p:spPr>
          <a:xfrm>
            <a:off x="7316013" y="1853380"/>
            <a:ext cx="1008183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35.228</a:t>
            </a:r>
            <a:endParaRPr lang="en-US" sz="63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5" name="Text 52"/>
          <p:cNvSpPr/>
          <p:nvPr/>
        </p:nvSpPr>
        <p:spPr>
          <a:xfrm>
            <a:off x="8294831" y="1853380"/>
            <a:ext cx="1008183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18,6 %</a:t>
            </a:r>
            <a:endParaRPr lang="en-US" sz="63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6" name="Text 53"/>
          <p:cNvSpPr/>
          <p:nvPr/>
        </p:nvSpPr>
        <p:spPr>
          <a:xfrm>
            <a:off x="7316013" y="2705867"/>
            <a:ext cx="1008183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35.228</a:t>
            </a:r>
            <a:endParaRPr lang="en-US" sz="63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7" name="Text 54"/>
          <p:cNvSpPr/>
          <p:nvPr/>
        </p:nvSpPr>
        <p:spPr>
          <a:xfrm>
            <a:off x="8294831" y="2705867"/>
            <a:ext cx="1008183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18,6 %</a:t>
            </a:r>
            <a:endParaRPr lang="en-US" sz="63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8" name="Text 55"/>
          <p:cNvSpPr/>
          <p:nvPr/>
        </p:nvSpPr>
        <p:spPr>
          <a:xfrm>
            <a:off x="8077397" y="3291655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18,6 %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9" name="Text 56"/>
          <p:cNvSpPr/>
          <p:nvPr/>
        </p:nvSpPr>
        <p:spPr>
          <a:xfrm>
            <a:off x="10967650" y="3291655"/>
            <a:ext cx="719233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18,6 %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0" name="Text 57"/>
          <p:cNvSpPr/>
          <p:nvPr/>
        </p:nvSpPr>
        <p:spPr>
          <a:xfrm>
            <a:off x="8077397" y="39536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81,4 %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1" name="Text 58"/>
          <p:cNvSpPr/>
          <p:nvPr/>
        </p:nvSpPr>
        <p:spPr>
          <a:xfrm>
            <a:off x="10967650" y="395364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81,4 %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2" name="Text 59"/>
          <p:cNvSpPr/>
          <p:nvPr/>
        </p:nvSpPr>
        <p:spPr>
          <a:xfrm>
            <a:off x="8077397" y="40869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62,7 %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3" name="Text 60"/>
          <p:cNvSpPr/>
          <p:nvPr/>
        </p:nvSpPr>
        <p:spPr>
          <a:xfrm>
            <a:off x="10967650" y="408699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62,7 %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4" name="Text 61"/>
          <p:cNvSpPr/>
          <p:nvPr/>
        </p:nvSpPr>
        <p:spPr>
          <a:xfrm>
            <a:off x="8077397" y="42203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18,7 %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5" name="Text 62"/>
          <p:cNvSpPr/>
          <p:nvPr/>
        </p:nvSpPr>
        <p:spPr>
          <a:xfrm>
            <a:off x="10967650" y="422034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18,7 %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6" name="Text 63"/>
          <p:cNvSpPr/>
          <p:nvPr/>
        </p:nvSpPr>
        <p:spPr>
          <a:xfrm>
            <a:off x="533387" y="952500"/>
            <a:ext cx="568849" cy="2060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80" b="1" dirty="0">
                <a:solidFill>
                  <a:srgbClr val="5AE2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18,6 %</a:t>
            </a:r>
            <a:endParaRPr lang="en-US" sz="138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7" name="Text 64"/>
          <p:cNvSpPr/>
          <p:nvPr/>
        </p:nvSpPr>
        <p:spPr>
          <a:xfrm>
            <a:off x="8216595" y="952500"/>
            <a:ext cx="588568" cy="2060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80" b="1" dirty="0">
                <a:solidFill>
                  <a:srgbClr val="5AE2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35.228</a:t>
            </a:r>
            <a:endParaRPr lang="en-US" sz="138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8" name="Text 65"/>
          <p:cNvSpPr/>
          <p:nvPr/>
        </p:nvSpPr>
        <p:spPr>
          <a:xfrm>
            <a:off x="495288" y="1853380"/>
            <a:ext cx="1120237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636" b="1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Enero</a:t>
            </a:r>
            <a:endParaRPr lang="en-US" sz="63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9" name="Text 66"/>
          <p:cNvSpPr/>
          <p:nvPr/>
        </p:nvSpPr>
        <p:spPr>
          <a:xfrm>
            <a:off x="495288" y="2134367"/>
            <a:ext cx="1120237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636" b="1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Marzo</a:t>
            </a:r>
            <a:endParaRPr lang="en-US" sz="63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70" name="Text 67"/>
          <p:cNvSpPr/>
          <p:nvPr/>
        </p:nvSpPr>
        <p:spPr>
          <a:xfrm>
            <a:off x="495288" y="2277242"/>
            <a:ext cx="1120237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636" b="1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Abril</a:t>
            </a:r>
            <a:endParaRPr lang="en-US" sz="63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71" name="Text 68"/>
          <p:cNvSpPr/>
          <p:nvPr/>
        </p:nvSpPr>
        <p:spPr>
          <a:xfrm>
            <a:off x="495288" y="2562992"/>
            <a:ext cx="1120237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636" b="1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Junio</a:t>
            </a:r>
            <a:endParaRPr lang="en-US" sz="63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72" name="Text 69"/>
          <p:cNvSpPr/>
          <p:nvPr/>
        </p:nvSpPr>
        <p:spPr>
          <a:xfrm>
            <a:off x="495288" y="2705867"/>
            <a:ext cx="1120237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636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Total</a:t>
            </a:r>
            <a:endParaRPr lang="en-US" sz="63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73" name="Text 70"/>
          <p:cNvSpPr/>
          <p:nvPr/>
        </p:nvSpPr>
        <p:spPr>
          <a:xfrm>
            <a:off x="5205169" y="3120205"/>
            <a:ext cx="719233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Total</a:t>
            </a:r>
            <a:endParaRPr lang="en-US" sz="888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74" name="Text 71"/>
          <p:cNvSpPr/>
          <p:nvPr/>
        </p:nvSpPr>
        <p:spPr>
          <a:xfrm>
            <a:off x="2314916" y="35535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4.120</a:t>
            </a:r>
            <a:endParaRPr lang="en-US" sz="57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75" name="Text 72"/>
          <p:cNvSpPr/>
          <p:nvPr/>
        </p:nvSpPr>
        <p:spPr>
          <a:xfrm>
            <a:off x="5205169" y="355359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b="1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4.120</a:t>
            </a:r>
            <a:endParaRPr lang="en-US" sz="57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76" name="Text 73"/>
          <p:cNvSpPr/>
          <p:nvPr/>
        </p:nvSpPr>
        <p:spPr>
          <a:xfrm>
            <a:off x="2314916" y="36869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2.980</a:t>
            </a:r>
            <a:endParaRPr lang="en-US" sz="57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77" name="Text 74"/>
          <p:cNvSpPr/>
          <p:nvPr/>
        </p:nvSpPr>
        <p:spPr>
          <a:xfrm>
            <a:off x="5205169" y="368694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b="1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2.980</a:t>
            </a:r>
            <a:endParaRPr lang="en-US" sz="57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78" name="Text 75"/>
          <p:cNvSpPr/>
          <p:nvPr/>
        </p:nvSpPr>
        <p:spPr>
          <a:xfrm>
            <a:off x="2314916" y="38202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1.016</a:t>
            </a:r>
            <a:endParaRPr lang="en-US" sz="57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79" name="Text 76"/>
          <p:cNvSpPr/>
          <p:nvPr/>
        </p:nvSpPr>
        <p:spPr>
          <a:xfrm>
            <a:off x="5205169" y="382029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b="1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1.016</a:t>
            </a:r>
            <a:endParaRPr lang="en-US" sz="57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0" name="Text 77"/>
          <p:cNvSpPr/>
          <p:nvPr/>
        </p:nvSpPr>
        <p:spPr>
          <a:xfrm>
            <a:off x="504812" y="3953642"/>
            <a:ext cx="1879325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76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Total</a:t>
            </a:r>
            <a:endParaRPr lang="en-US" sz="57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1" name="Text 78"/>
          <p:cNvSpPr/>
          <p:nvPr/>
        </p:nvSpPr>
        <p:spPr>
          <a:xfrm>
            <a:off x="7316013" y="1681930"/>
            <a:ext cx="1008183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Aptos</a:t>
            </a:r>
            <a:endParaRPr lang="en-US" sz="888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2" name="Text 79"/>
          <p:cNvSpPr/>
          <p:nvPr/>
        </p:nvSpPr>
        <p:spPr>
          <a:xfrm>
            <a:off x="6257769" y="1853380"/>
            <a:ext cx="1120237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636" b="1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Enero</a:t>
            </a:r>
            <a:endParaRPr lang="en-US" sz="63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3" name="Text 80"/>
          <p:cNvSpPr/>
          <p:nvPr/>
        </p:nvSpPr>
        <p:spPr>
          <a:xfrm>
            <a:off x="10239394" y="1853380"/>
            <a:ext cx="1457013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1,2 %</a:t>
            </a:r>
            <a:endParaRPr lang="en-US" sz="63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4" name="Text 81"/>
          <p:cNvSpPr/>
          <p:nvPr/>
        </p:nvSpPr>
        <p:spPr>
          <a:xfrm>
            <a:off x="6257769" y="2134367"/>
            <a:ext cx="1120237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636" b="1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Marzo</a:t>
            </a:r>
            <a:endParaRPr lang="en-US" sz="63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5" name="Text 82"/>
          <p:cNvSpPr/>
          <p:nvPr/>
        </p:nvSpPr>
        <p:spPr>
          <a:xfrm>
            <a:off x="6257769" y="2277242"/>
            <a:ext cx="1120237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636" b="1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Abril</a:t>
            </a:r>
            <a:endParaRPr lang="en-US" sz="63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6" name="Text 83"/>
          <p:cNvSpPr/>
          <p:nvPr/>
        </p:nvSpPr>
        <p:spPr>
          <a:xfrm>
            <a:off x="6257769" y="2562992"/>
            <a:ext cx="1120237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636" b="1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Junio</a:t>
            </a:r>
            <a:endParaRPr lang="en-US" sz="63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7" name="Text 84"/>
          <p:cNvSpPr/>
          <p:nvPr/>
        </p:nvSpPr>
        <p:spPr>
          <a:xfrm>
            <a:off x="6257769" y="2705867"/>
            <a:ext cx="1120237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636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Total</a:t>
            </a:r>
            <a:endParaRPr lang="en-US" sz="63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8" name="Text 85"/>
          <p:cNvSpPr/>
          <p:nvPr/>
        </p:nvSpPr>
        <p:spPr>
          <a:xfrm>
            <a:off x="10239394" y="2705867"/>
            <a:ext cx="1457013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1,2 %</a:t>
            </a:r>
            <a:endParaRPr lang="en-US" sz="63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9" name="Text 86"/>
          <p:cNvSpPr/>
          <p:nvPr/>
        </p:nvSpPr>
        <p:spPr>
          <a:xfrm>
            <a:off x="10967650" y="3120205"/>
            <a:ext cx="719233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Total</a:t>
            </a:r>
            <a:endParaRPr lang="en-US" sz="888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0" name="Text 87"/>
          <p:cNvSpPr/>
          <p:nvPr/>
        </p:nvSpPr>
        <p:spPr>
          <a:xfrm>
            <a:off x="8077397" y="34202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0,2 %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1" name="Text 88"/>
          <p:cNvSpPr/>
          <p:nvPr/>
        </p:nvSpPr>
        <p:spPr>
          <a:xfrm>
            <a:off x="10967650" y="342024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0,2 %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2" name="Text 89"/>
          <p:cNvSpPr/>
          <p:nvPr/>
        </p:nvSpPr>
        <p:spPr>
          <a:xfrm>
            <a:off x="8077397" y="35535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9,1 %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3" name="Text 90"/>
          <p:cNvSpPr/>
          <p:nvPr/>
        </p:nvSpPr>
        <p:spPr>
          <a:xfrm>
            <a:off x="10967650" y="355359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9,1 %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4" name="Text 91"/>
          <p:cNvSpPr/>
          <p:nvPr/>
        </p:nvSpPr>
        <p:spPr>
          <a:xfrm>
            <a:off x="8077397" y="36869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5,3 %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5" name="Text 92"/>
          <p:cNvSpPr/>
          <p:nvPr/>
        </p:nvSpPr>
        <p:spPr>
          <a:xfrm>
            <a:off x="10967650" y="368694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5,2 %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6" name="Text 93"/>
          <p:cNvSpPr/>
          <p:nvPr/>
        </p:nvSpPr>
        <p:spPr>
          <a:xfrm>
            <a:off x="8077397" y="38202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4,0 %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7" name="Text 94"/>
          <p:cNvSpPr/>
          <p:nvPr/>
        </p:nvSpPr>
        <p:spPr>
          <a:xfrm>
            <a:off x="10967650" y="382029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4,0 %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8" name="Text 95"/>
          <p:cNvSpPr/>
          <p:nvPr/>
        </p:nvSpPr>
        <p:spPr>
          <a:xfrm>
            <a:off x="8077397" y="4353692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100 %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9" name="Text 96"/>
          <p:cNvSpPr/>
          <p:nvPr/>
        </p:nvSpPr>
        <p:spPr>
          <a:xfrm>
            <a:off x="10967650" y="4353692"/>
            <a:ext cx="719233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100 %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00" name="Text 97"/>
          <p:cNvSpPr/>
          <p:nvPr/>
        </p:nvSpPr>
        <p:spPr>
          <a:xfrm>
            <a:off x="495288" y="2420117"/>
            <a:ext cx="1120237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636" b="1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Mayo</a:t>
            </a:r>
            <a:endParaRPr lang="en-US" sz="63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01" name="Text 98"/>
          <p:cNvSpPr/>
          <p:nvPr/>
        </p:nvSpPr>
        <p:spPr>
          <a:xfrm>
            <a:off x="6257769" y="2420117"/>
            <a:ext cx="1120237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636" b="1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Mayo</a:t>
            </a:r>
            <a:endParaRPr lang="en-US" sz="63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02" name="Text 99"/>
          <p:cNvSpPr/>
          <p:nvPr/>
        </p:nvSpPr>
        <p:spPr>
          <a:xfrm>
            <a:off x="495288" y="1681930"/>
            <a:ext cx="1120237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888" b="1" dirty="0">
                <a:solidFill>
                  <a:srgbClr val="FFFFFF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Mes</a:t>
            </a:r>
            <a:endParaRPr lang="en-US" sz="888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03" name="Text 100"/>
          <p:cNvSpPr/>
          <p:nvPr/>
        </p:nvSpPr>
        <p:spPr>
          <a:xfrm>
            <a:off x="2314916" y="3120205"/>
            <a:ext cx="497270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Ene</a:t>
            </a:r>
            <a:endParaRPr lang="en-US" sz="888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04" name="Text 101"/>
          <p:cNvSpPr/>
          <p:nvPr/>
        </p:nvSpPr>
        <p:spPr>
          <a:xfrm>
            <a:off x="2797702" y="3120205"/>
            <a:ext cx="497270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Feb</a:t>
            </a:r>
            <a:endParaRPr lang="en-US" sz="888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05" name="Text 102"/>
          <p:cNvSpPr/>
          <p:nvPr/>
        </p:nvSpPr>
        <p:spPr>
          <a:xfrm>
            <a:off x="3280489" y="3120205"/>
            <a:ext cx="497270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Mar</a:t>
            </a:r>
            <a:endParaRPr lang="en-US" sz="888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06" name="Text 103"/>
          <p:cNvSpPr/>
          <p:nvPr/>
        </p:nvSpPr>
        <p:spPr>
          <a:xfrm>
            <a:off x="3763275" y="3120205"/>
            <a:ext cx="497270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Abr</a:t>
            </a:r>
            <a:endParaRPr lang="en-US" sz="888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07" name="Text 104"/>
          <p:cNvSpPr/>
          <p:nvPr/>
        </p:nvSpPr>
        <p:spPr>
          <a:xfrm>
            <a:off x="4246061" y="3120205"/>
            <a:ext cx="497270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May</a:t>
            </a:r>
            <a:endParaRPr lang="en-US" sz="888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08" name="Text 105"/>
          <p:cNvSpPr/>
          <p:nvPr/>
        </p:nvSpPr>
        <p:spPr>
          <a:xfrm>
            <a:off x="4728848" y="3120205"/>
            <a:ext cx="497270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Jun</a:t>
            </a:r>
            <a:endParaRPr lang="en-US" sz="888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09" name="Text 106"/>
          <p:cNvSpPr/>
          <p:nvPr/>
        </p:nvSpPr>
        <p:spPr>
          <a:xfrm>
            <a:off x="6257769" y="1681930"/>
            <a:ext cx="1120237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888" b="1" dirty="0">
                <a:solidFill>
                  <a:srgbClr val="FFFFFF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Mes</a:t>
            </a:r>
            <a:endParaRPr lang="en-US" sz="888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10" name="Text 107"/>
          <p:cNvSpPr/>
          <p:nvPr/>
        </p:nvSpPr>
        <p:spPr>
          <a:xfrm>
            <a:off x="8077397" y="3120205"/>
            <a:ext cx="497270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Ene</a:t>
            </a:r>
            <a:endParaRPr lang="en-US" sz="888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11" name="Text 108"/>
          <p:cNvSpPr/>
          <p:nvPr/>
        </p:nvSpPr>
        <p:spPr>
          <a:xfrm>
            <a:off x="8560183" y="3120205"/>
            <a:ext cx="497270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Feb</a:t>
            </a:r>
            <a:endParaRPr lang="en-US" sz="888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12" name="Text 109"/>
          <p:cNvSpPr/>
          <p:nvPr/>
        </p:nvSpPr>
        <p:spPr>
          <a:xfrm>
            <a:off x="9042970" y="3120205"/>
            <a:ext cx="497270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Mar</a:t>
            </a:r>
            <a:endParaRPr lang="en-US" sz="888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13" name="Text 110"/>
          <p:cNvSpPr/>
          <p:nvPr/>
        </p:nvSpPr>
        <p:spPr>
          <a:xfrm>
            <a:off x="9525756" y="3120205"/>
            <a:ext cx="497270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Abr</a:t>
            </a:r>
            <a:endParaRPr lang="en-US" sz="888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14" name="Text 111"/>
          <p:cNvSpPr/>
          <p:nvPr/>
        </p:nvSpPr>
        <p:spPr>
          <a:xfrm>
            <a:off x="10008542" y="3120205"/>
            <a:ext cx="497270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May</a:t>
            </a:r>
            <a:endParaRPr lang="en-US" sz="888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15" name="Text 112"/>
          <p:cNvSpPr/>
          <p:nvPr/>
        </p:nvSpPr>
        <p:spPr>
          <a:xfrm>
            <a:off x="10491329" y="3120205"/>
            <a:ext cx="497270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Jun</a:t>
            </a:r>
            <a:endParaRPr lang="en-US" sz="888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16" name="Text 113"/>
          <p:cNvSpPr/>
          <p:nvPr/>
        </p:nvSpPr>
        <p:spPr>
          <a:xfrm>
            <a:off x="9273649" y="1853380"/>
            <a:ext cx="1008183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b="1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79</a:t>
            </a:r>
            <a:endParaRPr lang="en-US" sz="63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17" name="Text 114"/>
          <p:cNvSpPr/>
          <p:nvPr/>
        </p:nvSpPr>
        <p:spPr>
          <a:xfrm>
            <a:off x="9273649" y="2705867"/>
            <a:ext cx="1008183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79</a:t>
            </a:r>
            <a:endParaRPr lang="en-US" sz="63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18" name="Text 115"/>
          <p:cNvSpPr/>
          <p:nvPr/>
        </p:nvSpPr>
        <p:spPr>
          <a:xfrm>
            <a:off x="4374991" y="952500"/>
            <a:ext cx="274320" cy="2060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80" b="1" dirty="0">
                <a:solidFill>
                  <a:srgbClr val="5AE2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79</a:t>
            </a:r>
            <a:endParaRPr lang="en-US" sz="138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120" name="Picture 119">
            <a:extLst>
              <a:ext uri="{FF2B5EF4-FFF2-40B4-BE49-F238E27FC236}">
                <a16:creationId xmlns:a16="http://schemas.microsoft.com/office/drawing/2014/main" id="{A6F1D94B-BA73-0F5A-BDF6-880F26E0AC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34650" y="78120"/>
            <a:ext cx="1530523" cy="459157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13_Presentaciones\dash\televentas\ppt_slides\sk_10_m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95328" y="3020169"/>
            <a:ext cx="4924607" cy="2441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44" b="1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Base sin descarte: el insumo se fabrica directamente desde Xuma con registros ya validados, por lo que el 100 % de la base recibida es apta para gestión — no existe rechazo en esta campaña.</a:t>
            </a:r>
            <a:endParaRPr lang="en-US" sz="744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685783" y="6393656"/>
            <a:ext cx="3334126" cy="1125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744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Alto porcentaje de contactabilidad = mayor efectividad.</a:t>
            </a:r>
            <a:endParaRPr lang="en-US" sz="744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4374991" y="1200894"/>
            <a:ext cx="237086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48" dirty="0">
                <a:solidFill>
                  <a:srgbClr val="9098B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Alta tasa de efectividad comercial en portafolio</a:t>
            </a:r>
            <a:endParaRPr lang="en-US" sz="648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685782" y="6540103"/>
            <a:ext cx="3092587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744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Base soporte efectiva para Masiva Voluntarios.</a:t>
            </a:r>
            <a:endParaRPr lang="en-US" sz="744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533387" y="1200894"/>
            <a:ext cx="2240626" cy="57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48" dirty="0">
                <a:solidFill>
                  <a:srgbClr val="9098B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Excelente respuesta de llamada y atención</a:t>
            </a:r>
            <a:endParaRPr lang="en-US" sz="648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571486" y="209551"/>
            <a:ext cx="4802771" cy="1055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60" b="1" dirty="0">
                <a:solidFill>
                  <a:srgbClr val="FFFFFF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DETALLE OPERATIVO · CAMPAÑA MICROSEGURO</a:t>
            </a:r>
            <a:endParaRPr lang="en-US" sz="126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6267293" y="382029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5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No cumple requisito de edad (&gt;69 años)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6372066" y="2915394"/>
            <a:ext cx="203753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16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4. Tipificación de Leads Aptos por Mes</a:t>
            </a:r>
            <a:endParaRPr lang="en-US" sz="81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6267293" y="475374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5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Teléfono apagado / fuera de servicio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8216595" y="1200894"/>
            <a:ext cx="2143730" cy="138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48" dirty="0">
                <a:solidFill>
                  <a:srgbClr val="9098B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Campaña estable y altamente rentable</a:t>
            </a:r>
            <a:endParaRPr lang="en-US" sz="648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6372066" y="1486644"/>
            <a:ext cx="232361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16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3. Insumo Apto, Contacto y Ventas</a:t>
            </a:r>
            <a:endParaRPr lang="en-US" sz="81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714357" y="5944791"/>
            <a:ext cx="2021558" cy="1125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44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Observaciones Clave de la Base:</a:t>
            </a:r>
            <a:endParaRPr lang="en-US" sz="744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6267293" y="355359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5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No interesado por el producto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6267293" y="395364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5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Agendado / llamada posterior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685782" y="6247209"/>
            <a:ext cx="2050131" cy="1280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744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Mayor oportunidad de venta.</a:t>
            </a:r>
            <a:endParaRPr lang="en-US" sz="744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6267293" y="408699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5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No es responsable del pago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609585" y="1486644"/>
            <a:ext cx="1470255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16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1. Insumo Recibido por Mes</a:t>
            </a:r>
            <a:endParaRPr lang="en-US" sz="81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533387" y="809625"/>
            <a:ext cx="1476565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72" b="1" dirty="0">
                <a:solidFill>
                  <a:srgbClr val="9098B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CONTACTABILIDAD PROMEDIO</a:t>
            </a:r>
            <a:endParaRPr lang="en-US" sz="67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685783" y="6100763"/>
            <a:ext cx="2050132" cy="1280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744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Fabricación desde Xuma.</a:t>
            </a:r>
            <a:endParaRPr lang="en-US" sz="744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6267293" y="448704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5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Contestador automático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6267293" y="422034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5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Otros motivos menores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2572756" y="1681930"/>
            <a:ext cx="3361171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Registros recibidos</a:t>
            </a:r>
            <a:endParaRPr lang="en-US" sz="888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4374991" y="809625"/>
            <a:ext cx="1209961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72" b="1" dirty="0">
                <a:solidFill>
                  <a:srgbClr val="9098B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CONVERSIÓN PROMEDIO</a:t>
            </a:r>
            <a:endParaRPr lang="en-US" sz="67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6" name="Text 23"/>
          <p:cNvSpPr/>
          <p:nvPr/>
        </p:nvSpPr>
        <p:spPr>
          <a:xfrm>
            <a:off x="8216595" y="809625"/>
            <a:ext cx="119497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72" b="1" dirty="0">
                <a:solidFill>
                  <a:srgbClr val="9098B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VENTAS CONSOLIDADAS</a:t>
            </a:r>
            <a:endParaRPr lang="en-US" sz="67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7" name="Text 24"/>
          <p:cNvSpPr/>
          <p:nvPr/>
        </p:nvSpPr>
        <p:spPr>
          <a:xfrm>
            <a:off x="6267293" y="3291655"/>
            <a:ext cx="1879325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52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CONTACTO EFECTIVO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8" name="Text 25"/>
          <p:cNvSpPr/>
          <p:nvPr/>
        </p:nvSpPr>
        <p:spPr>
          <a:xfrm>
            <a:off x="6267293" y="368694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5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Cuelga la llamada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9" name="Text 26"/>
          <p:cNvSpPr/>
          <p:nvPr/>
        </p:nvSpPr>
        <p:spPr>
          <a:xfrm>
            <a:off x="6267293" y="488709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5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Otros no contacto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0" name="Text 27"/>
          <p:cNvSpPr/>
          <p:nvPr/>
        </p:nvSpPr>
        <p:spPr>
          <a:xfrm>
            <a:off x="6267293" y="5020442"/>
            <a:ext cx="1879325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52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Total gestionado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1" name="Text 28"/>
          <p:cNvSpPr/>
          <p:nvPr/>
        </p:nvSpPr>
        <p:spPr>
          <a:xfrm>
            <a:off x="10239394" y="1681930"/>
            <a:ext cx="1457013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Conv. / Ctto.</a:t>
            </a:r>
            <a:endParaRPr lang="en-US" sz="888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2" name="Text 29"/>
          <p:cNvSpPr/>
          <p:nvPr/>
        </p:nvSpPr>
        <p:spPr>
          <a:xfrm>
            <a:off x="6267293" y="342024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5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Venta exitosa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3" name="Text 30"/>
          <p:cNvSpPr/>
          <p:nvPr/>
        </p:nvSpPr>
        <p:spPr>
          <a:xfrm>
            <a:off x="6267293" y="3120205"/>
            <a:ext cx="1879325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888" b="1" dirty="0">
                <a:solidFill>
                  <a:srgbClr val="FFFFFF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Tipificación</a:t>
            </a:r>
            <a:endParaRPr lang="en-US" sz="888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4" name="Text 31"/>
          <p:cNvSpPr/>
          <p:nvPr/>
        </p:nvSpPr>
        <p:spPr>
          <a:xfrm>
            <a:off x="6267293" y="435369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52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NO CONTACTO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5" name="Text 32"/>
          <p:cNvSpPr/>
          <p:nvPr/>
        </p:nvSpPr>
        <p:spPr>
          <a:xfrm>
            <a:off x="6267293" y="462039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5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No contesta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6" name="Text 33"/>
          <p:cNvSpPr/>
          <p:nvPr/>
        </p:nvSpPr>
        <p:spPr>
          <a:xfrm>
            <a:off x="8294831" y="1681930"/>
            <a:ext cx="1008183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Contactab.</a:t>
            </a:r>
            <a:endParaRPr lang="en-US" sz="888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7" name="Text 34"/>
          <p:cNvSpPr/>
          <p:nvPr/>
        </p:nvSpPr>
        <p:spPr>
          <a:xfrm>
            <a:off x="495288" y="1991492"/>
            <a:ext cx="2240627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636" b="1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Febrero</a:t>
            </a:r>
            <a:endParaRPr lang="en-US" sz="63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8" name="Text 35"/>
          <p:cNvSpPr/>
          <p:nvPr/>
        </p:nvSpPr>
        <p:spPr>
          <a:xfrm>
            <a:off x="6257769" y="1991492"/>
            <a:ext cx="1120237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636" b="1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Febrero</a:t>
            </a:r>
            <a:endParaRPr lang="en-US" sz="63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9" name="Text 36"/>
          <p:cNvSpPr/>
          <p:nvPr/>
        </p:nvSpPr>
        <p:spPr>
          <a:xfrm>
            <a:off x="9273649" y="1681930"/>
            <a:ext cx="1008183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Ventas</a:t>
            </a:r>
            <a:endParaRPr lang="en-US" sz="888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0" name="Text 37"/>
          <p:cNvSpPr/>
          <p:nvPr/>
        </p:nvSpPr>
        <p:spPr>
          <a:xfrm>
            <a:off x="8294831" y="1853380"/>
            <a:ext cx="1008183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87,9 %</a:t>
            </a:r>
            <a:endParaRPr lang="en-US" sz="63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1" name="Text 38"/>
          <p:cNvSpPr/>
          <p:nvPr/>
        </p:nvSpPr>
        <p:spPr>
          <a:xfrm>
            <a:off x="10239394" y="1853380"/>
            <a:ext cx="1457013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22,0 %</a:t>
            </a:r>
            <a:endParaRPr lang="en-US" sz="63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2" name="Text 39"/>
          <p:cNvSpPr/>
          <p:nvPr/>
        </p:nvSpPr>
        <p:spPr>
          <a:xfrm>
            <a:off x="8294831" y="1991492"/>
            <a:ext cx="100818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85,2 %</a:t>
            </a:r>
            <a:endParaRPr lang="en-US" sz="63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3" name="Text 40"/>
          <p:cNvSpPr/>
          <p:nvPr/>
        </p:nvSpPr>
        <p:spPr>
          <a:xfrm>
            <a:off x="10239394" y="1991492"/>
            <a:ext cx="145701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19,0 %</a:t>
            </a:r>
            <a:endParaRPr lang="en-US" sz="63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4" name="Text 41"/>
          <p:cNvSpPr/>
          <p:nvPr/>
        </p:nvSpPr>
        <p:spPr>
          <a:xfrm>
            <a:off x="8294831" y="2134367"/>
            <a:ext cx="100818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78,9 %</a:t>
            </a:r>
            <a:endParaRPr lang="en-US" sz="63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5" name="Text 42"/>
          <p:cNvSpPr/>
          <p:nvPr/>
        </p:nvSpPr>
        <p:spPr>
          <a:xfrm>
            <a:off x="10239394" y="2134367"/>
            <a:ext cx="145701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17,5 %</a:t>
            </a:r>
            <a:endParaRPr lang="en-US" sz="63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6" name="Text 43"/>
          <p:cNvSpPr/>
          <p:nvPr/>
        </p:nvSpPr>
        <p:spPr>
          <a:xfrm>
            <a:off x="8294831" y="2277242"/>
            <a:ext cx="100818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50,0 %</a:t>
            </a:r>
            <a:endParaRPr lang="en-US" sz="63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7" name="Text 44"/>
          <p:cNvSpPr/>
          <p:nvPr/>
        </p:nvSpPr>
        <p:spPr>
          <a:xfrm>
            <a:off x="10239394" y="2277242"/>
            <a:ext cx="145701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15,6 %</a:t>
            </a:r>
            <a:endParaRPr lang="en-US" sz="63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8" name="Text 45"/>
          <p:cNvSpPr/>
          <p:nvPr/>
        </p:nvSpPr>
        <p:spPr>
          <a:xfrm>
            <a:off x="8294831" y="2420117"/>
            <a:ext cx="100818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86,8 %</a:t>
            </a:r>
            <a:endParaRPr lang="en-US" sz="63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9" name="Text 46"/>
          <p:cNvSpPr/>
          <p:nvPr/>
        </p:nvSpPr>
        <p:spPr>
          <a:xfrm>
            <a:off x="10239394" y="2420117"/>
            <a:ext cx="145701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17,8 %</a:t>
            </a:r>
            <a:endParaRPr lang="en-US" sz="63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0" name="Text 47"/>
          <p:cNvSpPr/>
          <p:nvPr/>
        </p:nvSpPr>
        <p:spPr>
          <a:xfrm>
            <a:off x="8294831" y="2562992"/>
            <a:ext cx="100818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86,7 %</a:t>
            </a:r>
            <a:endParaRPr lang="en-US" sz="63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1" name="Text 48"/>
          <p:cNvSpPr/>
          <p:nvPr/>
        </p:nvSpPr>
        <p:spPr>
          <a:xfrm>
            <a:off x="10239394" y="2562992"/>
            <a:ext cx="145701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14,3 %</a:t>
            </a:r>
            <a:endParaRPr lang="en-US" sz="63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2" name="Text 49"/>
          <p:cNvSpPr/>
          <p:nvPr/>
        </p:nvSpPr>
        <p:spPr>
          <a:xfrm>
            <a:off x="8294831" y="2705867"/>
            <a:ext cx="1008183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78,9 %</a:t>
            </a:r>
            <a:endParaRPr lang="en-US" sz="63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3" name="Text 50"/>
          <p:cNvSpPr/>
          <p:nvPr/>
        </p:nvSpPr>
        <p:spPr>
          <a:xfrm>
            <a:off x="10239394" y="2705867"/>
            <a:ext cx="1457013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17,7 %</a:t>
            </a:r>
            <a:endParaRPr lang="en-US" sz="63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4" name="Text 51"/>
          <p:cNvSpPr/>
          <p:nvPr/>
        </p:nvSpPr>
        <p:spPr>
          <a:xfrm>
            <a:off x="8077397" y="3291655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87,9 %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5" name="Text 52"/>
          <p:cNvSpPr/>
          <p:nvPr/>
        </p:nvSpPr>
        <p:spPr>
          <a:xfrm>
            <a:off x="8560183" y="3291655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85,2 %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6" name="Text 53"/>
          <p:cNvSpPr/>
          <p:nvPr/>
        </p:nvSpPr>
        <p:spPr>
          <a:xfrm>
            <a:off x="9042970" y="3291655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78,9 %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7" name="Text 54"/>
          <p:cNvSpPr/>
          <p:nvPr/>
        </p:nvSpPr>
        <p:spPr>
          <a:xfrm>
            <a:off x="9525756" y="3291655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50,0 %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8" name="Text 55"/>
          <p:cNvSpPr/>
          <p:nvPr/>
        </p:nvSpPr>
        <p:spPr>
          <a:xfrm>
            <a:off x="10008542" y="3291655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86,8 %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9" name="Text 56"/>
          <p:cNvSpPr/>
          <p:nvPr/>
        </p:nvSpPr>
        <p:spPr>
          <a:xfrm>
            <a:off x="10491329" y="3291655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86,7 %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0" name="Text 57"/>
          <p:cNvSpPr/>
          <p:nvPr/>
        </p:nvSpPr>
        <p:spPr>
          <a:xfrm>
            <a:off x="10967650" y="3291655"/>
            <a:ext cx="719233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78,9 %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1" name="Text 58"/>
          <p:cNvSpPr/>
          <p:nvPr/>
        </p:nvSpPr>
        <p:spPr>
          <a:xfrm>
            <a:off x="8077397" y="34202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19,3 %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2" name="Text 59"/>
          <p:cNvSpPr/>
          <p:nvPr/>
        </p:nvSpPr>
        <p:spPr>
          <a:xfrm>
            <a:off x="8560183" y="34202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16,1 %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3" name="Text 60"/>
          <p:cNvSpPr/>
          <p:nvPr/>
        </p:nvSpPr>
        <p:spPr>
          <a:xfrm>
            <a:off x="9042970" y="34202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13,8 %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4" name="Text 61"/>
          <p:cNvSpPr/>
          <p:nvPr/>
        </p:nvSpPr>
        <p:spPr>
          <a:xfrm>
            <a:off x="10008542" y="34202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15,4 %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5" name="Text 62"/>
          <p:cNvSpPr/>
          <p:nvPr/>
        </p:nvSpPr>
        <p:spPr>
          <a:xfrm>
            <a:off x="10491329" y="34202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12,4 %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6" name="Text 63"/>
          <p:cNvSpPr/>
          <p:nvPr/>
        </p:nvSpPr>
        <p:spPr>
          <a:xfrm>
            <a:off x="10967650" y="342024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14,0 %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7" name="Text 64"/>
          <p:cNvSpPr/>
          <p:nvPr/>
        </p:nvSpPr>
        <p:spPr>
          <a:xfrm>
            <a:off x="8077397" y="35535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29,5 %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8" name="Text 65"/>
          <p:cNvSpPr/>
          <p:nvPr/>
        </p:nvSpPr>
        <p:spPr>
          <a:xfrm>
            <a:off x="8560183" y="35535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28,6 %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9" name="Text 66"/>
          <p:cNvSpPr/>
          <p:nvPr/>
        </p:nvSpPr>
        <p:spPr>
          <a:xfrm>
            <a:off x="9042970" y="35535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26,4 %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70" name="Text 67"/>
          <p:cNvSpPr/>
          <p:nvPr/>
        </p:nvSpPr>
        <p:spPr>
          <a:xfrm>
            <a:off x="9525756" y="35535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16,8 %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71" name="Text 68"/>
          <p:cNvSpPr/>
          <p:nvPr/>
        </p:nvSpPr>
        <p:spPr>
          <a:xfrm>
            <a:off x="10008542" y="35535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29,1 %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72" name="Text 69"/>
          <p:cNvSpPr/>
          <p:nvPr/>
        </p:nvSpPr>
        <p:spPr>
          <a:xfrm>
            <a:off x="10491329" y="35535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29,1 %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73" name="Text 70"/>
          <p:cNvSpPr/>
          <p:nvPr/>
        </p:nvSpPr>
        <p:spPr>
          <a:xfrm>
            <a:off x="10967650" y="355359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26,4 %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74" name="Text 71"/>
          <p:cNvSpPr/>
          <p:nvPr/>
        </p:nvSpPr>
        <p:spPr>
          <a:xfrm>
            <a:off x="8077397" y="36869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11,2 %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75" name="Text 72"/>
          <p:cNvSpPr/>
          <p:nvPr/>
        </p:nvSpPr>
        <p:spPr>
          <a:xfrm>
            <a:off x="8560183" y="36869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10,8 %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76" name="Text 73"/>
          <p:cNvSpPr/>
          <p:nvPr/>
        </p:nvSpPr>
        <p:spPr>
          <a:xfrm>
            <a:off x="9042970" y="36869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10,0 %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77" name="Text 74"/>
          <p:cNvSpPr/>
          <p:nvPr/>
        </p:nvSpPr>
        <p:spPr>
          <a:xfrm>
            <a:off x="10008542" y="36869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11,0 %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78" name="Text 75"/>
          <p:cNvSpPr/>
          <p:nvPr/>
        </p:nvSpPr>
        <p:spPr>
          <a:xfrm>
            <a:off x="10491329" y="36869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11,0 %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79" name="Text 76"/>
          <p:cNvSpPr/>
          <p:nvPr/>
        </p:nvSpPr>
        <p:spPr>
          <a:xfrm>
            <a:off x="10967650" y="368694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10,0 %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0" name="Text 77"/>
          <p:cNvSpPr/>
          <p:nvPr/>
        </p:nvSpPr>
        <p:spPr>
          <a:xfrm>
            <a:off x="8077397" y="42203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12,3 %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1" name="Text 78"/>
          <p:cNvSpPr/>
          <p:nvPr/>
        </p:nvSpPr>
        <p:spPr>
          <a:xfrm>
            <a:off x="8560183" y="42203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11,9 %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2" name="Text 79"/>
          <p:cNvSpPr/>
          <p:nvPr/>
        </p:nvSpPr>
        <p:spPr>
          <a:xfrm>
            <a:off x="9042970" y="42203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11,0 %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3" name="Text 80"/>
          <p:cNvSpPr/>
          <p:nvPr/>
        </p:nvSpPr>
        <p:spPr>
          <a:xfrm>
            <a:off x="10008542" y="42203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12,1 %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4" name="Text 81"/>
          <p:cNvSpPr/>
          <p:nvPr/>
        </p:nvSpPr>
        <p:spPr>
          <a:xfrm>
            <a:off x="10491329" y="42203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12,1 %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5" name="Text 82"/>
          <p:cNvSpPr/>
          <p:nvPr/>
        </p:nvSpPr>
        <p:spPr>
          <a:xfrm>
            <a:off x="10967650" y="422034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11,0 %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6" name="Text 83"/>
          <p:cNvSpPr/>
          <p:nvPr/>
        </p:nvSpPr>
        <p:spPr>
          <a:xfrm>
            <a:off x="8077397" y="43536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12,1 %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7" name="Text 84"/>
          <p:cNvSpPr/>
          <p:nvPr/>
        </p:nvSpPr>
        <p:spPr>
          <a:xfrm>
            <a:off x="8560183" y="43536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14,8 %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8" name="Text 85"/>
          <p:cNvSpPr/>
          <p:nvPr/>
        </p:nvSpPr>
        <p:spPr>
          <a:xfrm>
            <a:off x="9042970" y="43536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21,1 %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9" name="Text 86"/>
          <p:cNvSpPr/>
          <p:nvPr/>
        </p:nvSpPr>
        <p:spPr>
          <a:xfrm>
            <a:off x="9525756" y="43536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50,0 %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0" name="Text 87"/>
          <p:cNvSpPr/>
          <p:nvPr/>
        </p:nvSpPr>
        <p:spPr>
          <a:xfrm>
            <a:off x="10008542" y="43536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13,2 %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1" name="Text 88"/>
          <p:cNvSpPr/>
          <p:nvPr/>
        </p:nvSpPr>
        <p:spPr>
          <a:xfrm>
            <a:off x="10491329" y="43536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13,3 %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2" name="Text 89"/>
          <p:cNvSpPr/>
          <p:nvPr/>
        </p:nvSpPr>
        <p:spPr>
          <a:xfrm>
            <a:off x="10967650" y="435369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21,1 %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3" name="Text 90"/>
          <p:cNvSpPr/>
          <p:nvPr/>
        </p:nvSpPr>
        <p:spPr>
          <a:xfrm>
            <a:off x="9042970" y="44870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13,3 %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4" name="Text 91"/>
          <p:cNvSpPr/>
          <p:nvPr/>
        </p:nvSpPr>
        <p:spPr>
          <a:xfrm>
            <a:off x="9525756" y="44870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31,5 %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5" name="Text 92"/>
          <p:cNvSpPr/>
          <p:nvPr/>
        </p:nvSpPr>
        <p:spPr>
          <a:xfrm>
            <a:off x="10967650" y="448704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13,3 %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6" name="Text 93"/>
          <p:cNvSpPr/>
          <p:nvPr/>
        </p:nvSpPr>
        <p:spPr>
          <a:xfrm>
            <a:off x="9525756" y="46203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14,0 %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7" name="Text 94"/>
          <p:cNvSpPr/>
          <p:nvPr/>
        </p:nvSpPr>
        <p:spPr>
          <a:xfrm>
            <a:off x="533387" y="952500"/>
            <a:ext cx="577841" cy="2060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80" b="1" dirty="0">
                <a:solidFill>
                  <a:srgbClr val="5AE2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78,9 %</a:t>
            </a:r>
            <a:endParaRPr lang="en-US" sz="138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8" name="Text 95"/>
          <p:cNvSpPr/>
          <p:nvPr/>
        </p:nvSpPr>
        <p:spPr>
          <a:xfrm>
            <a:off x="4374991" y="952500"/>
            <a:ext cx="538245" cy="2060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80" b="1" dirty="0">
                <a:solidFill>
                  <a:srgbClr val="5AE2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17,7 %</a:t>
            </a:r>
            <a:endParaRPr lang="en-US" sz="138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9" name="Text 96"/>
          <p:cNvSpPr/>
          <p:nvPr/>
        </p:nvSpPr>
        <p:spPr>
          <a:xfrm>
            <a:off x="495288" y="1853380"/>
            <a:ext cx="2240627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636" b="1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Enero</a:t>
            </a:r>
            <a:endParaRPr lang="en-US" sz="63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00" name="Text 97"/>
          <p:cNvSpPr/>
          <p:nvPr/>
        </p:nvSpPr>
        <p:spPr>
          <a:xfrm>
            <a:off x="2572756" y="1853380"/>
            <a:ext cx="3361171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1.368</a:t>
            </a:r>
            <a:endParaRPr lang="en-US" sz="63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01" name="Text 98"/>
          <p:cNvSpPr/>
          <p:nvPr/>
        </p:nvSpPr>
        <p:spPr>
          <a:xfrm>
            <a:off x="2572756" y="1991492"/>
            <a:ext cx="3361171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1.575</a:t>
            </a:r>
            <a:endParaRPr lang="en-US" sz="63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02" name="Text 99"/>
          <p:cNvSpPr/>
          <p:nvPr/>
        </p:nvSpPr>
        <p:spPr>
          <a:xfrm>
            <a:off x="495288" y="2134367"/>
            <a:ext cx="2240627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636" b="1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Marzo</a:t>
            </a:r>
            <a:endParaRPr lang="en-US" sz="63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03" name="Text 100"/>
          <p:cNvSpPr/>
          <p:nvPr/>
        </p:nvSpPr>
        <p:spPr>
          <a:xfrm>
            <a:off x="2572756" y="2134367"/>
            <a:ext cx="3361171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1.147</a:t>
            </a:r>
            <a:endParaRPr lang="en-US" sz="63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04" name="Text 101"/>
          <p:cNvSpPr/>
          <p:nvPr/>
        </p:nvSpPr>
        <p:spPr>
          <a:xfrm>
            <a:off x="495288" y="2277242"/>
            <a:ext cx="2240627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636" b="1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Abril</a:t>
            </a:r>
            <a:endParaRPr lang="en-US" sz="63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05" name="Text 102"/>
          <p:cNvSpPr/>
          <p:nvPr/>
        </p:nvSpPr>
        <p:spPr>
          <a:xfrm>
            <a:off x="2572756" y="2277242"/>
            <a:ext cx="3361171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1.737</a:t>
            </a:r>
            <a:endParaRPr lang="en-US" sz="63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06" name="Text 103"/>
          <p:cNvSpPr/>
          <p:nvPr/>
        </p:nvSpPr>
        <p:spPr>
          <a:xfrm>
            <a:off x="2572756" y="2420117"/>
            <a:ext cx="3361171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1.865</a:t>
            </a:r>
            <a:endParaRPr lang="en-US" sz="63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07" name="Text 104"/>
          <p:cNvSpPr/>
          <p:nvPr/>
        </p:nvSpPr>
        <p:spPr>
          <a:xfrm>
            <a:off x="495288" y="2562992"/>
            <a:ext cx="2240627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636" b="1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Junio</a:t>
            </a:r>
            <a:endParaRPr lang="en-US" sz="63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08" name="Text 105"/>
          <p:cNvSpPr/>
          <p:nvPr/>
        </p:nvSpPr>
        <p:spPr>
          <a:xfrm>
            <a:off x="2572756" y="2562992"/>
            <a:ext cx="3361171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1.705</a:t>
            </a:r>
            <a:endParaRPr lang="en-US" sz="63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09" name="Text 106"/>
          <p:cNvSpPr/>
          <p:nvPr/>
        </p:nvSpPr>
        <p:spPr>
          <a:xfrm>
            <a:off x="495288" y="2705867"/>
            <a:ext cx="2240627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636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Total</a:t>
            </a:r>
            <a:endParaRPr lang="en-US" sz="63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10" name="Text 107"/>
          <p:cNvSpPr/>
          <p:nvPr/>
        </p:nvSpPr>
        <p:spPr>
          <a:xfrm>
            <a:off x="2572756" y="2705867"/>
            <a:ext cx="3361171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9.397</a:t>
            </a:r>
            <a:endParaRPr lang="en-US" sz="63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11" name="Text 108"/>
          <p:cNvSpPr/>
          <p:nvPr/>
        </p:nvSpPr>
        <p:spPr>
          <a:xfrm>
            <a:off x="7316013" y="1681930"/>
            <a:ext cx="1008183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Aptos</a:t>
            </a:r>
            <a:endParaRPr lang="en-US" sz="888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12" name="Text 109"/>
          <p:cNvSpPr/>
          <p:nvPr/>
        </p:nvSpPr>
        <p:spPr>
          <a:xfrm>
            <a:off x="6257769" y="1853380"/>
            <a:ext cx="1120237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636" b="1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Enero</a:t>
            </a:r>
            <a:endParaRPr lang="en-US" sz="63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13" name="Text 110"/>
          <p:cNvSpPr/>
          <p:nvPr/>
        </p:nvSpPr>
        <p:spPr>
          <a:xfrm>
            <a:off x="7316013" y="1853380"/>
            <a:ext cx="1008183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1.368</a:t>
            </a:r>
            <a:endParaRPr lang="en-US" sz="63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14" name="Text 111"/>
          <p:cNvSpPr/>
          <p:nvPr/>
        </p:nvSpPr>
        <p:spPr>
          <a:xfrm>
            <a:off x="7316013" y="1991492"/>
            <a:ext cx="100818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1.575</a:t>
            </a:r>
            <a:endParaRPr lang="en-US" sz="63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15" name="Text 112"/>
          <p:cNvSpPr/>
          <p:nvPr/>
        </p:nvSpPr>
        <p:spPr>
          <a:xfrm>
            <a:off x="6257769" y="2134367"/>
            <a:ext cx="1120237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636" b="1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Marzo</a:t>
            </a:r>
            <a:endParaRPr lang="en-US" sz="63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16" name="Text 113"/>
          <p:cNvSpPr/>
          <p:nvPr/>
        </p:nvSpPr>
        <p:spPr>
          <a:xfrm>
            <a:off x="7316013" y="2134367"/>
            <a:ext cx="100818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1.147</a:t>
            </a:r>
            <a:endParaRPr lang="en-US" sz="63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17" name="Text 114"/>
          <p:cNvSpPr/>
          <p:nvPr/>
        </p:nvSpPr>
        <p:spPr>
          <a:xfrm>
            <a:off x="6257769" y="2277242"/>
            <a:ext cx="1120237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636" b="1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Abril</a:t>
            </a:r>
            <a:endParaRPr lang="en-US" sz="63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18" name="Text 115"/>
          <p:cNvSpPr/>
          <p:nvPr/>
        </p:nvSpPr>
        <p:spPr>
          <a:xfrm>
            <a:off x="7316013" y="2277242"/>
            <a:ext cx="100818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1.737</a:t>
            </a:r>
            <a:endParaRPr lang="en-US" sz="63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19" name="Text 116"/>
          <p:cNvSpPr/>
          <p:nvPr/>
        </p:nvSpPr>
        <p:spPr>
          <a:xfrm>
            <a:off x="7316013" y="2420117"/>
            <a:ext cx="100818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1.865</a:t>
            </a:r>
            <a:endParaRPr lang="en-US" sz="63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20" name="Text 117"/>
          <p:cNvSpPr/>
          <p:nvPr/>
        </p:nvSpPr>
        <p:spPr>
          <a:xfrm>
            <a:off x="6257769" y="2562992"/>
            <a:ext cx="1120237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636" b="1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Junio</a:t>
            </a:r>
            <a:endParaRPr lang="en-US" sz="63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21" name="Text 118"/>
          <p:cNvSpPr/>
          <p:nvPr/>
        </p:nvSpPr>
        <p:spPr>
          <a:xfrm>
            <a:off x="7316013" y="2562992"/>
            <a:ext cx="100818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1.705</a:t>
            </a:r>
            <a:endParaRPr lang="en-US" sz="63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22" name="Text 119"/>
          <p:cNvSpPr/>
          <p:nvPr/>
        </p:nvSpPr>
        <p:spPr>
          <a:xfrm>
            <a:off x="6257769" y="2705867"/>
            <a:ext cx="1120237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636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Total</a:t>
            </a:r>
            <a:endParaRPr lang="en-US" sz="63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23" name="Text 120"/>
          <p:cNvSpPr/>
          <p:nvPr/>
        </p:nvSpPr>
        <p:spPr>
          <a:xfrm>
            <a:off x="7316013" y="2705867"/>
            <a:ext cx="1008183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9.397</a:t>
            </a:r>
            <a:endParaRPr lang="en-US" sz="63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24" name="Text 121"/>
          <p:cNvSpPr/>
          <p:nvPr/>
        </p:nvSpPr>
        <p:spPr>
          <a:xfrm>
            <a:off x="9273649" y="2705867"/>
            <a:ext cx="1008183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1.309</a:t>
            </a:r>
            <a:endParaRPr lang="en-US" sz="63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25" name="Text 122"/>
          <p:cNvSpPr/>
          <p:nvPr/>
        </p:nvSpPr>
        <p:spPr>
          <a:xfrm>
            <a:off x="10967650" y="3120205"/>
            <a:ext cx="719233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Total</a:t>
            </a:r>
            <a:endParaRPr lang="en-US" sz="888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26" name="Text 123"/>
          <p:cNvSpPr/>
          <p:nvPr/>
        </p:nvSpPr>
        <p:spPr>
          <a:xfrm>
            <a:off x="9525756" y="34202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7,8 %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27" name="Text 124"/>
          <p:cNvSpPr/>
          <p:nvPr/>
        </p:nvSpPr>
        <p:spPr>
          <a:xfrm>
            <a:off x="9525756" y="36869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6,3 %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28" name="Text 125"/>
          <p:cNvSpPr/>
          <p:nvPr/>
        </p:nvSpPr>
        <p:spPr>
          <a:xfrm>
            <a:off x="8077397" y="38202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8,9 %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29" name="Text 126"/>
          <p:cNvSpPr/>
          <p:nvPr/>
        </p:nvSpPr>
        <p:spPr>
          <a:xfrm>
            <a:off x="8560183" y="38202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8,6 %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30" name="Text 127"/>
          <p:cNvSpPr/>
          <p:nvPr/>
        </p:nvSpPr>
        <p:spPr>
          <a:xfrm>
            <a:off x="9042970" y="38202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8,0 %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31" name="Text 128"/>
          <p:cNvSpPr/>
          <p:nvPr/>
        </p:nvSpPr>
        <p:spPr>
          <a:xfrm>
            <a:off x="9525756" y="38202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5,0 %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32" name="Text 129"/>
          <p:cNvSpPr/>
          <p:nvPr/>
        </p:nvSpPr>
        <p:spPr>
          <a:xfrm>
            <a:off x="10008542" y="38202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8,8 %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33" name="Text 130"/>
          <p:cNvSpPr/>
          <p:nvPr/>
        </p:nvSpPr>
        <p:spPr>
          <a:xfrm>
            <a:off x="10491329" y="38202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8,7 %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34" name="Text 131"/>
          <p:cNvSpPr/>
          <p:nvPr/>
        </p:nvSpPr>
        <p:spPr>
          <a:xfrm>
            <a:off x="10967650" y="382029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8,0 %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35" name="Text 132"/>
          <p:cNvSpPr/>
          <p:nvPr/>
        </p:nvSpPr>
        <p:spPr>
          <a:xfrm>
            <a:off x="8077397" y="39536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6,0 %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36" name="Text 133"/>
          <p:cNvSpPr/>
          <p:nvPr/>
        </p:nvSpPr>
        <p:spPr>
          <a:xfrm>
            <a:off x="8560183" y="39536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5,8 %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37" name="Text 134"/>
          <p:cNvSpPr/>
          <p:nvPr/>
        </p:nvSpPr>
        <p:spPr>
          <a:xfrm>
            <a:off x="9042970" y="39536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5,4 %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38" name="Text 135"/>
          <p:cNvSpPr/>
          <p:nvPr/>
        </p:nvSpPr>
        <p:spPr>
          <a:xfrm>
            <a:off x="9525756" y="39536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3,4 %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39" name="Text 136"/>
          <p:cNvSpPr/>
          <p:nvPr/>
        </p:nvSpPr>
        <p:spPr>
          <a:xfrm>
            <a:off x="10008542" y="39536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5,9 %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40" name="Text 137"/>
          <p:cNvSpPr/>
          <p:nvPr/>
        </p:nvSpPr>
        <p:spPr>
          <a:xfrm>
            <a:off x="10491329" y="39536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5,9 %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41" name="Text 138"/>
          <p:cNvSpPr/>
          <p:nvPr/>
        </p:nvSpPr>
        <p:spPr>
          <a:xfrm>
            <a:off x="10967650" y="395364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5,4 %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42" name="Text 139"/>
          <p:cNvSpPr/>
          <p:nvPr/>
        </p:nvSpPr>
        <p:spPr>
          <a:xfrm>
            <a:off x="8077397" y="40869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4,6 %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43" name="Text 140"/>
          <p:cNvSpPr/>
          <p:nvPr/>
        </p:nvSpPr>
        <p:spPr>
          <a:xfrm>
            <a:off x="8560183" y="40869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4,4 %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44" name="Text 141"/>
          <p:cNvSpPr/>
          <p:nvPr/>
        </p:nvSpPr>
        <p:spPr>
          <a:xfrm>
            <a:off x="9042970" y="40869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4,1 %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45" name="Text 142"/>
          <p:cNvSpPr/>
          <p:nvPr/>
        </p:nvSpPr>
        <p:spPr>
          <a:xfrm>
            <a:off x="9525756" y="40869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2,6 %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46" name="Text 143"/>
          <p:cNvSpPr/>
          <p:nvPr/>
        </p:nvSpPr>
        <p:spPr>
          <a:xfrm>
            <a:off x="10008542" y="40869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4,5 %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47" name="Text 144"/>
          <p:cNvSpPr/>
          <p:nvPr/>
        </p:nvSpPr>
        <p:spPr>
          <a:xfrm>
            <a:off x="10491329" y="40869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4,5 %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48" name="Text 145"/>
          <p:cNvSpPr/>
          <p:nvPr/>
        </p:nvSpPr>
        <p:spPr>
          <a:xfrm>
            <a:off x="10967650" y="408699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4,1 %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49" name="Text 146"/>
          <p:cNvSpPr/>
          <p:nvPr/>
        </p:nvSpPr>
        <p:spPr>
          <a:xfrm>
            <a:off x="9525756" y="42203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7,0 %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50" name="Text 147"/>
          <p:cNvSpPr/>
          <p:nvPr/>
        </p:nvSpPr>
        <p:spPr>
          <a:xfrm>
            <a:off x="8077397" y="44870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7,6 %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51" name="Text 148"/>
          <p:cNvSpPr/>
          <p:nvPr/>
        </p:nvSpPr>
        <p:spPr>
          <a:xfrm>
            <a:off x="8560183" y="44870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9,3 %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52" name="Text 149"/>
          <p:cNvSpPr/>
          <p:nvPr/>
        </p:nvSpPr>
        <p:spPr>
          <a:xfrm>
            <a:off x="10008542" y="44870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8,3 %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53" name="Text 150"/>
          <p:cNvSpPr/>
          <p:nvPr/>
        </p:nvSpPr>
        <p:spPr>
          <a:xfrm>
            <a:off x="10491329" y="44870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8,4 %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54" name="Text 151"/>
          <p:cNvSpPr/>
          <p:nvPr/>
        </p:nvSpPr>
        <p:spPr>
          <a:xfrm>
            <a:off x="8077397" y="46203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3,4 %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55" name="Text 152"/>
          <p:cNvSpPr/>
          <p:nvPr/>
        </p:nvSpPr>
        <p:spPr>
          <a:xfrm>
            <a:off x="8560183" y="46203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4,2 %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56" name="Text 153"/>
          <p:cNvSpPr/>
          <p:nvPr/>
        </p:nvSpPr>
        <p:spPr>
          <a:xfrm>
            <a:off x="9042970" y="46203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5,9 %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57" name="Text 154"/>
          <p:cNvSpPr/>
          <p:nvPr/>
        </p:nvSpPr>
        <p:spPr>
          <a:xfrm>
            <a:off x="10008542" y="46203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3,7 %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58" name="Text 155"/>
          <p:cNvSpPr/>
          <p:nvPr/>
        </p:nvSpPr>
        <p:spPr>
          <a:xfrm>
            <a:off x="10491329" y="46203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3,7 %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59" name="Text 156"/>
          <p:cNvSpPr/>
          <p:nvPr/>
        </p:nvSpPr>
        <p:spPr>
          <a:xfrm>
            <a:off x="10967650" y="462039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5,9 %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60" name="Text 157"/>
          <p:cNvSpPr/>
          <p:nvPr/>
        </p:nvSpPr>
        <p:spPr>
          <a:xfrm>
            <a:off x="8077397" y="47537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1,0 %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61" name="Text 158"/>
          <p:cNvSpPr/>
          <p:nvPr/>
        </p:nvSpPr>
        <p:spPr>
          <a:xfrm>
            <a:off x="8560183" y="47537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1,2 %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62" name="Text 159"/>
          <p:cNvSpPr/>
          <p:nvPr/>
        </p:nvSpPr>
        <p:spPr>
          <a:xfrm>
            <a:off x="9042970" y="47537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1,7 %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63" name="Text 160"/>
          <p:cNvSpPr/>
          <p:nvPr/>
        </p:nvSpPr>
        <p:spPr>
          <a:xfrm>
            <a:off x="9525756" y="47537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4,1 %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64" name="Text 161"/>
          <p:cNvSpPr/>
          <p:nvPr/>
        </p:nvSpPr>
        <p:spPr>
          <a:xfrm>
            <a:off x="10008542" y="47537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1,1 %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65" name="Text 162"/>
          <p:cNvSpPr/>
          <p:nvPr/>
        </p:nvSpPr>
        <p:spPr>
          <a:xfrm>
            <a:off x="10491329" y="47537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1,1 %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66" name="Text 163"/>
          <p:cNvSpPr/>
          <p:nvPr/>
        </p:nvSpPr>
        <p:spPr>
          <a:xfrm>
            <a:off x="10967650" y="475374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1,7 %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67" name="Text 164"/>
          <p:cNvSpPr/>
          <p:nvPr/>
        </p:nvSpPr>
        <p:spPr>
          <a:xfrm>
            <a:off x="8077397" y="48870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0,1 %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68" name="Text 165"/>
          <p:cNvSpPr/>
          <p:nvPr/>
        </p:nvSpPr>
        <p:spPr>
          <a:xfrm>
            <a:off x="8560183" y="48870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0,1 %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69" name="Text 166"/>
          <p:cNvSpPr/>
          <p:nvPr/>
        </p:nvSpPr>
        <p:spPr>
          <a:xfrm>
            <a:off x="9042970" y="48870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0,2 %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70" name="Text 167"/>
          <p:cNvSpPr/>
          <p:nvPr/>
        </p:nvSpPr>
        <p:spPr>
          <a:xfrm>
            <a:off x="9525756" y="48870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0,4 %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71" name="Text 168"/>
          <p:cNvSpPr/>
          <p:nvPr/>
        </p:nvSpPr>
        <p:spPr>
          <a:xfrm>
            <a:off x="10008542" y="48870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0,1 %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72" name="Text 169"/>
          <p:cNvSpPr/>
          <p:nvPr/>
        </p:nvSpPr>
        <p:spPr>
          <a:xfrm>
            <a:off x="10491329" y="48870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0,1 %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73" name="Text 170"/>
          <p:cNvSpPr/>
          <p:nvPr/>
        </p:nvSpPr>
        <p:spPr>
          <a:xfrm>
            <a:off x="10967650" y="488709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0,2 %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74" name="Text 171"/>
          <p:cNvSpPr/>
          <p:nvPr/>
        </p:nvSpPr>
        <p:spPr>
          <a:xfrm>
            <a:off x="8077397" y="5020442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100 %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75" name="Text 172"/>
          <p:cNvSpPr/>
          <p:nvPr/>
        </p:nvSpPr>
        <p:spPr>
          <a:xfrm>
            <a:off x="8560183" y="5020442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100 %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76" name="Text 173"/>
          <p:cNvSpPr/>
          <p:nvPr/>
        </p:nvSpPr>
        <p:spPr>
          <a:xfrm>
            <a:off x="9042970" y="5020442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100 %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77" name="Text 174"/>
          <p:cNvSpPr/>
          <p:nvPr/>
        </p:nvSpPr>
        <p:spPr>
          <a:xfrm>
            <a:off x="9525756" y="5020442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100 %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78" name="Text 175"/>
          <p:cNvSpPr/>
          <p:nvPr/>
        </p:nvSpPr>
        <p:spPr>
          <a:xfrm>
            <a:off x="10008542" y="5020442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100 %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79" name="Text 176"/>
          <p:cNvSpPr/>
          <p:nvPr/>
        </p:nvSpPr>
        <p:spPr>
          <a:xfrm>
            <a:off x="10491329" y="5020442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100 %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80" name="Text 177"/>
          <p:cNvSpPr/>
          <p:nvPr/>
        </p:nvSpPr>
        <p:spPr>
          <a:xfrm>
            <a:off x="10967650" y="5020442"/>
            <a:ext cx="719233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100 %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81" name="Text 178"/>
          <p:cNvSpPr/>
          <p:nvPr/>
        </p:nvSpPr>
        <p:spPr>
          <a:xfrm>
            <a:off x="8216595" y="952500"/>
            <a:ext cx="479087" cy="2060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80" b="1" dirty="0">
                <a:solidFill>
                  <a:srgbClr val="5AE2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1.309</a:t>
            </a:r>
            <a:endParaRPr lang="en-US" sz="138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82" name="Text 179"/>
          <p:cNvSpPr/>
          <p:nvPr/>
        </p:nvSpPr>
        <p:spPr>
          <a:xfrm>
            <a:off x="495288" y="2420117"/>
            <a:ext cx="2240627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636" b="1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Mayo</a:t>
            </a:r>
            <a:endParaRPr lang="en-US" sz="63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83" name="Text 180"/>
          <p:cNvSpPr/>
          <p:nvPr/>
        </p:nvSpPr>
        <p:spPr>
          <a:xfrm>
            <a:off x="6257769" y="2420117"/>
            <a:ext cx="1120237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636" b="1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Mayo</a:t>
            </a:r>
            <a:endParaRPr lang="en-US" sz="63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84" name="Text 181"/>
          <p:cNvSpPr/>
          <p:nvPr/>
        </p:nvSpPr>
        <p:spPr>
          <a:xfrm>
            <a:off x="495288" y="1681930"/>
            <a:ext cx="2240627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888" b="1" dirty="0">
                <a:solidFill>
                  <a:srgbClr val="FFFFFF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Mes</a:t>
            </a:r>
            <a:endParaRPr lang="en-US" sz="888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85" name="Text 182"/>
          <p:cNvSpPr/>
          <p:nvPr/>
        </p:nvSpPr>
        <p:spPr>
          <a:xfrm>
            <a:off x="6257769" y="1681930"/>
            <a:ext cx="1120237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888" b="1" dirty="0">
                <a:solidFill>
                  <a:srgbClr val="FFFFFF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Mes</a:t>
            </a:r>
            <a:endParaRPr lang="en-US" sz="888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86" name="Text 183"/>
          <p:cNvSpPr/>
          <p:nvPr/>
        </p:nvSpPr>
        <p:spPr>
          <a:xfrm>
            <a:off x="9273649" y="1853380"/>
            <a:ext cx="1008183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b="1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264</a:t>
            </a:r>
            <a:endParaRPr lang="en-US" sz="63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87" name="Text 184"/>
          <p:cNvSpPr/>
          <p:nvPr/>
        </p:nvSpPr>
        <p:spPr>
          <a:xfrm>
            <a:off x="9273649" y="1991492"/>
            <a:ext cx="100818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b="1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254</a:t>
            </a:r>
            <a:endParaRPr lang="en-US" sz="63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88" name="Text 185"/>
          <p:cNvSpPr/>
          <p:nvPr/>
        </p:nvSpPr>
        <p:spPr>
          <a:xfrm>
            <a:off x="9273649" y="2134367"/>
            <a:ext cx="100818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b="1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158</a:t>
            </a:r>
            <a:endParaRPr lang="en-US" sz="63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89" name="Text 186"/>
          <p:cNvSpPr/>
          <p:nvPr/>
        </p:nvSpPr>
        <p:spPr>
          <a:xfrm>
            <a:off x="9273649" y="2277242"/>
            <a:ext cx="100818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b="1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135</a:t>
            </a:r>
            <a:endParaRPr lang="en-US" sz="63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90" name="Text 187"/>
          <p:cNvSpPr/>
          <p:nvPr/>
        </p:nvSpPr>
        <p:spPr>
          <a:xfrm>
            <a:off x="9273649" y="2420117"/>
            <a:ext cx="100818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b="1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287</a:t>
            </a:r>
            <a:endParaRPr lang="en-US" sz="63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91" name="Text 188"/>
          <p:cNvSpPr/>
          <p:nvPr/>
        </p:nvSpPr>
        <p:spPr>
          <a:xfrm>
            <a:off x="9273649" y="2562992"/>
            <a:ext cx="1008183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b="1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211</a:t>
            </a:r>
            <a:endParaRPr lang="en-US" sz="63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92" name="Text 189"/>
          <p:cNvSpPr/>
          <p:nvPr/>
        </p:nvSpPr>
        <p:spPr>
          <a:xfrm>
            <a:off x="8077397" y="3120205"/>
            <a:ext cx="497270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Ene</a:t>
            </a:r>
            <a:endParaRPr lang="en-US" sz="888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93" name="Text 190"/>
          <p:cNvSpPr/>
          <p:nvPr/>
        </p:nvSpPr>
        <p:spPr>
          <a:xfrm>
            <a:off x="8560183" y="3120205"/>
            <a:ext cx="497270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Feb</a:t>
            </a:r>
            <a:endParaRPr lang="en-US" sz="888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94" name="Text 191"/>
          <p:cNvSpPr/>
          <p:nvPr/>
        </p:nvSpPr>
        <p:spPr>
          <a:xfrm>
            <a:off x="9042970" y="3120205"/>
            <a:ext cx="497270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Mar</a:t>
            </a:r>
            <a:endParaRPr lang="en-US" sz="888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95" name="Text 192"/>
          <p:cNvSpPr/>
          <p:nvPr/>
        </p:nvSpPr>
        <p:spPr>
          <a:xfrm>
            <a:off x="9525756" y="3120205"/>
            <a:ext cx="497270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Abr</a:t>
            </a:r>
            <a:endParaRPr lang="en-US" sz="888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96" name="Text 193"/>
          <p:cNvSpPr/>
          <p:nvPr/>
        </p:nvSpPr>
        <p:spPr>
          <a:xfrm>
            <a:off x="10008542" y="3120205"/>
            <a:ext cx="497270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May</a:t>
            </a:r>
            <a:endParaRPr lang="en-US" sz="888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97" name="Text 194"/>
          <p:cNvSpPr/>
          <p:nvPr/>
        </p:nvSpPr>
        <p:spPr>
          <a:xfrm>
            <a:off x="10491329" y="3120205"/>
            <a:ext cx="497270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Jun</a:t>
            </a:r>
            <a:endParaRPr lang="en-US" sz="888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199" name="Picture 198">
            <a:extLst>
              <a:ext uri="{FF2B5EF4-FFF2-40B4-BE49-F238E27FC236}">
                <a16:creationId xmlns:a16="http://schemas.microsoft.com/office/drawing/2014/main" id="{7DC9EE4F-50F5-DA1A-E17B-CF136F54E9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34650" y="78120"/>
            <a:ext cx="1530523" cy="459157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13_Presentaciones\dash\televentas\ppt_slides\sk_11_m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783" y="6393656"/>
            <a:ext cx="649139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744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Mostró una efectividad extremadamente baja (4 ventas totales, 0,38 % del apto), lo que sustentó su suspensión inmediata.</a:t>
            </a:r>
            <a:endParaRPr lang="en-US" sz="744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685783" y="6247209"/>
            <a:ext cx="6060074" cy="110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744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Esta base sólo estuvo activa en enero de 2026 (campaña táctica sobre solicitudes de cancelaciones previas).</a:t>
            </a:r>
            <a:endParaRPr lang="en-US" sz="744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685783" y="6540103"/>
            <a:ext cx="5326828" cy="1023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744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El descarte principal se concentró en Microseguro Activo (33,8 %) y NIT de Empresa (33,3 %).</a:t>
            </a:r>
            <a:endParaRPr lang="en-US" sz="744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571486" y="209550"/>
            <a:ext cx="5213182" cy="196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60" b="1" dirty="0">
                <a:solidFill>
                  <a:srgbClr val="FFFFFF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DETALLE OPERATIVO · CAMPAÑA VOLUNTARIOS CANCELACIONES</a:t>
            </a:r>
            <a:endParaRPr lang="en-US" sz="126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533387" y="1200894"/>
            <a:ext cx="2132981" cy="144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48" dirty="0">
                <a:solidFill>
                  <a:srgbClr val="9098B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Buen nivel de interacción telefónica express</a:t>
            </a:r>
            <a:endParaRPr lang="en-US" sz="648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4374991" y="1200894"/>
            <a:ext cx="2147043" cy="69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48" dirty="0">
                <a:solidFill>
                  <a:srgbClr val="9098B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Base focalizada en cancelaciones previas</a:t>
            </a:r>
            <a:endParaRPr lang="en-US" sz="648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6372066" y="2915394"/>
            <a:ext cx="203753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16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4. Tipificación de Leads Aptos por Mes</a:t>
            </a:r>
            <a:endParaRPr lang="en-US" sz="81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609585" y="1486644"/>
            <a:ext cx="205678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16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1. Calidad de Base y Descarte Mensual</a:t>
            </a:r>
            <a:endParaRPr lang="en-US" sz="81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6372066" y="1486644"/>
            <a:ext cx="2326140" cy="775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16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3. Insumo Apto, Contacto y Ventas</a:t>
            </a:r>
            <a:endParaRPr lang="en-US" sz="81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8216595" y="1200894"/>
            <a:ext cx="1806431" cy="115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48" dirty="0">
                <a:solidFill>
                  <a:srgbClr val="9098B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Aporte de campaña piloto express</a:t>
            </a:r>
            <a:endParaRPr lang="en-US" sz="648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714357" y="6091238"/>
            <a:ext cx="21062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44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Observaciones Clave de la Base:</a:t>
            </a:r>
            <a:endParaRPr lang="en-US" sz="744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504812" y="355359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7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Registro Enviado Anteriormente</a:t>
            </a:r>
            <a:endParaRPr lang="en-US" sz="57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495288" y="2915394"/>
            <a:ext cx="164662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16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2. Motivos de Descarte por Mes</a:t>
            </a:r>
            <a:endParaRPr lang="en-US" sz="81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6267293" y="355359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5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No interesado por el producto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6267293" y="368694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5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Datos errados / experiencia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6267293" y="395364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5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No es responsable del pago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533387" y="809625"/>
            <a:ext cx="13153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72" b="1" dirty="0">
                <a:solidFill>
                  <a:srgbClr val="9098B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CONTACTABILIDAD INICIAL</a:t>
            </a:r>
            <a:endParaRPr lang="en-US" sz="67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4374991" y="809625"/>
            <a:ext cx="1409677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72" b="1" dirty="0">
                <a:solidFill>
                  <a:srgbClr val="9098B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LEADS APTOS GESTIONADOS</a:t>
            </a:r>
            <a:endParaRPr lang="en-US" sz="67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6267293" y="435369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5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Contestador automático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6267293" y="408699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5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Otros motivos menores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6267293" y="448704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5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No contesta / apagado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504812" y="3291655"/>
            <a:ext cx="1879325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7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Microseguro Activo</a:t>
            </a:r>
            <a:endParaRPr lang="en-US" sz="57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6267293" y="3291655"/>
            <a:ext cx="1879325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52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CONTACTO EFECTIVO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6" name="Text 23"/>
          <p:cNvSpPr/>
          <p:nvPr/>
        </p:nvSpPr>
        <p:spPr>
          <a:xfrm>
            <a:off x="6267293" y="382029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5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Cuelga la llamada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7" name="Text 24"/>
          <p:cNvSpPr/>
          <p:nvPr/>
        </p:nvSpPr>
        <p:spPr>
          <a:xfrm>
            <a:off x="6267293" y="4620392"/>
            <a:ext cx="1879325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52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Total gestionado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8" name="Text 25"/>
          <p:cNvSpPr/>
          <p:nvPr/>
        </p:nvSpPr>
        <p:spPr>
          <a:xfrm>
            <a:off x="8216595" y="809625"/>
            <a:ext cx="1020341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72" b="1" dirty="0">
                <a:solidFill>
                  <a:srgbClr val="9098B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VENTAS GENERADAS</a:t>
            </a:r>
            <a:endParaRPr lang="en-US" sz="67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9" name="Text 26"/>
          <p:cNvSpPr/>
          <p:nvPr/>
        </p:nvSpPr>
        <p:spPr>
          <a:xfrm>
            <a:off x="504812" y="342024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7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NIT de empresa</a:t>
            </a:r>
            <a:endParaRPr lang="en-US" sz="57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0" name="Text 27"/>
          <p:cNvSpPr/>
          <p:nvPr/>
        </p:nvSpPr>
        <p:spPr>
          <a:xfrm>
            <a:off x="504812" y="368694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7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Cédula Errada</a:t>
            </a:r>
            <a:endParaRPr lang="en-US" sz="57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1" name="Text 28"/>
          <p:cNvSpPr/>
          <p:nvPr/>
        </p:nvSpPr>
        <p:spPr>
          <a:xfrm>
            <a:off x="10239394" y="1681930"/>
            <a:ext cx="1457013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Conv. / Ctto.</a:t>
            </a:r>
            <a:endParaRPr lang="en-US" sz="888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2" name="Text 29"/>
          <p:cNvSpPr/>
          <p:nvPr/>
        </p:nvSpPr>
        <p:spPr>
          <a:xfrm>
            <a:off x="6267293" y="342024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5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Venta exitosa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3" name="Text 30"/>
          <p:cNvSpPr/>
          <p:nvPr/>
        </p:nvSpPr>
        <p:spPr>
          <a:xfrm>
            <a:off x="504812" y="382029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7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Nombre Vacío</a:t>
            </a:r>
            <a:endParaRPr lang="en-US" sz="57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4" name="Text 31"/>
          <p:cNvSpPr/>
          <p:nvPr/>
        </p:nvSpPr>
        <p:spPr>
          <a:xfrm>
            <a:off x="6267293" y="3120205"/>
            <a:ext cx="1879325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888" b="1" dirty="0">
                <a:solidFill>
                  <a:srgbClr val="FFFFFF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Tipificación</a:t>
            </a:r>
            <a:endParaRPr lang="en-US" sz="888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5" name="Text 32"/>
          <p:cNvSpPr/>
          <p:nvPr/>
        </p:nvSpPr>
        <p:spPr>
          <a:xfrm>
            <a:off x="6267293" y="4220342"/>
            <a:ext cx="1879325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52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NO CONTACTO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6" name="Text 33"/>
          <p:cNvSpPr/>
          <p:nvPr/>
        </p:nvSpPr>
        <p:spPr>
          <a:xfrm>
            <a:off x="2951194" y="1681930"/>
            <a:ext cx="1568454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Rechazados</a:t>
            </a:r>
            <a:endParaRPr lang="en-US" sz="888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7" name="Text 34"/>
          <p:cNvSpPr/>
          <p:nvPr/>
        </p:nvSpPr>
        <p:spPr>
          <a:xfrm>
            <a:off x="8294831" y="1681930"/>
            <a:ext cx="1008183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Contactab.</a:t>
            </a:r>
            <a:endParaRPr lang="en-US" sz="888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8" name="Text 35"/>
          <p:cNvSpPr/>
          <p:nvPr/>
        </p:nvSpPr>
        <p:spPr>
          <a:xfrm>
            <a:off x="1540477" y="1681930"/>
            <a:ext cx="1456400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Recibidos</a:t>
            </a:r>
            <a:endParaRPr lang="en-US" sz="888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9" name="Text 36"/>
          <p:cNvSpPr/>
          <p:nvPr/>
        </p:nvSpPr>
        <p:spPr>
          <a:xfrm>
            <a:off x="4477220" y="1681930"/>
            <a:ext cx="1456707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% Rechazo</a:t>
            </a:r>
            <a:endParaRPr lang="en-US" sz="888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0" name="Text 37"/>
          <p:cNvSpPr/>
          <p:nvPr/>
        </p:nvSpPr>
        <p:spPr>
          <a:xfrm>
            <a:off x="495288" y="1991492"/>
            <a:ext cx="1120237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636" b="1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Febrero</a:t>
            </a:r>
            <a:endParaRPr lang="en-US" sz="63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1" name="Text 38"/>
          <p:cNvSpPr/>
          <p:nvPr/>
        </p:nvSpPr>
        <p:spPr>
          <a:xfrm>
            <a:off x="6257769" y="1991492"/>
            <a:ext cx="1120237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636" b="1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Febrero</a:t>
            </a:r>
            <a:endParaRPr lang="en-US" sz="63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2" name="Text 39"/>
          <p:cNvSpPr/>
          <p:nvPr/>
        </p:nvSpPr>
        <p:spPr>
          <a:xfrm>
            <a:off x="4477220" y="1853380"/>
            <a:ext cx="1456707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15,7 %</a:t>
            </a:r>
            <a:endParaRPr lang="en-US" sz="63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3" name="Text 40"/>
          <p:cNvSpPr/>
          <p:nvPr/>
        </p:nvSpPr>
        <p:spPr>
          <a:xfrm>
            <a:off x="4477220" y="2705867"/>
            <a:ext cx="1456707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15,7 %</a:t>
            </a:r>
            <a:endParaRPr lang="en-US" sz="63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4" name="Text 41"/>
          <p:cNvSpPr/>
          <p:nvPr/>
        </p:nvSpPr>
        <p:spPr>
          <a:xfrm>
            <a:off x="504812" y="3120205"/>
            <a:ext cx="1879325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888" b="1" dirty="0">
                <a:solidFill>
                  <a:srgbClr val="FFFFFF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Motivo</a:t>
            </a:r>
            <a:endParaRPr lang="en-US" sz="888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5" name="Text 42"/>
          <p:cNvSpPr/>
          <p:nvPr/>
        </p:nvSpPr>
        <p:spPr>
          <a:xfrm>
            <a:off x="9273649" y="1681930"/>
            <a:ext cx="1008183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Ventas</a:t>
            </a:r>
            <a:endParaRPr lang="en-US" sz="888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6" name="Text 43"/>
          <p:cNvSpPr/>
          <p:nvPr/>
        </p:nvSpPr>
        <p:spPr>
          <a:xfrm>
            <a:off x="8294831" y="1853380"/>
            <a:ext cx="1008183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53,0 %</a:t>
            </a:r>
            <a:endParaRPr lang="en-US" sz="63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7" name="Text 44"/>
          <p:cNvSpPr/>
          <p:nvPr/>
        </p:nvSpPr>
        <p:spPr>
          <a:xfrm>
            <a:off x="8294831" y="2705867"/>
            <a:ext cx="1008183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53,0 %</a:t>
            </a:r>
            <a:endParaRPr lang="en-US" sz="63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8" name="Text 45"/>
          <p:cNvSpPr/>
          <p:nvPr/>
        </p:nvSpPr>
        <p:spPr>
          <a:xfrm>
            <a:off x="8077397" y="3291655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53,0 %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9" name="Text 46"/>
          <p:cNvSpPr/>
          <p:nvPr/>
        </p:nvSpPr>
        <p:spPr>
          <a:xfrm>
            <a:off x="10967650" y="3291655"/>
            <a:ext cx="719233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53,0 %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0" name="Text 47"/>
          <p:cNvSpPr/>
          <p:nvPr/>
        </p:nvSpPr>
        <p:spPr>
          <a:xfrm>
            <a:off x="8077397" y="35535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13,4 %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1" name="Text 48"/>
          <p:cNvSpPr/>
          <p:nvPr/>
        </p:nvSpPr>
        <p:spPr>
          <a:xfrm>
            <a:off x="10967650" y="355359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13,4 %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2" name="Text 49"/>
          <p:cNvSpPr/>
          <p:nvPr/>
        </p:nvSpPr>
        <p:spPr>
          <a:xfrm>
            <a:off x="8077397" y="36869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17,7 %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3" name="Text 50"/>
          <p:cNvSpPr/>
          <p:nvPr/>
        </p:nvSpPr>
        <p:spPr>
          <a:xfrm>
            <a:off x="10967650" y="368694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17,7 %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4" name="Text 51"/>
          <p:cNvSpPr/>
          <p:nvPr/>
        </p:nvSpPr>
        <p:spPr>
          <a:xfrm>
            <a:off x="8077397" y="42203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47,0 %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5" name="Text 52"/>
          <p:cNvSpPr/>
          <p:nvPr/>
        </p:nvSpPr>
        <p:spPr>
          <a:xfrm>
            <a:off x="10967650" y="422034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47,0 %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6" name="Text 53"/>
          <p:cNvSpPr/>
          <p:nvPr/>
        </p:nvSpPr>
        <p:spPr>
          <a:xfrm>
            <a:off x="8077397" y="43536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42,7 %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7" name="Text 54"/>
          <p:cNvSpPr/>
          <p:nvPr/>
        </p:nvSpPr>
        <p:spPr>
          <a:xfrm>
            <a:off x="10967650" y="435369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42,7 %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8" name="Text 55"/>
          <p:cNvSpPr/>
          <p:nvPr/>
        </p:nvSpPr>
        <p:spPr>
          <a:xfrm>
            <a:off x="533387" y="952499"/>
            <a:ext cx="1315340" cy="2483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80" b="1" dirty="0">
                <a:solidFill>
                  <a:srgbClr val="5AE2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53,0 %</a:t>
            </a:r>
            <a:endParaRPr lang="en-US" sz="138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9" name="Text 56"/>
          <p:cNvSpPr/>
          <p:nvPr/>
        </p:nvSpPr>
        <p:spPr>
          <a:xfrm>
            <a:off x="495288" y="1853380"/>
            <a:ext cx="1120237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636" b="1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Enero</a:t>
            </a:r>
            <a:endParaRPr lang="en-US" sz="63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0" name="Text 57"/>
          <p:cNvSpPr/>
          <p:nvPr/>
        </p:nvSpPr>
        <p:spPr>
          <a:xfrm>
            <a:off x="1540477" y="1853380"/>
            <a:ext cx="1456400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1.263</a:t>
            </a:r>
            <a:endParaRPr lang="en-US" sz="63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1" name="Text 58"/>
          <p:cNvSpPr/>
          <p:nvPr/>
        </p:nvSpPr>
        <p:spPr>
          <a:xfrm>
            <a:off x="495288" y="2134367"/>
            <a:ext cx="1120237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636" b="1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Marzo</a:t>
            </a:r>
            <a:endParaRPr lang="en-US" sz="63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2" name="Text 59"/>
          <p:cNvSpPr/>
          <p:nvPr/>
        </p:nvSpPr>
        <p:spPr>
          <a:xfrm>
            <a:off x="495288" y="2277242"/>
            <a:ext cx="1120237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636" b="1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Abril</a:t>
            </a:r>
            <a:endParaRPr lang="en-US" sz="63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3" name="Text 60"/>
          <p:cNvSpPr/>
          <p:nvPr/>
        </p:nvSpPr>
        <p:spPr>
          <a:xfrm>
            <a:off x="495288" y="2562992"/>
            <a:ext cx="1120237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636" b="1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Junio</a:t>
            </a:r>
            <a:endParaRPr lang="en-US" sz="63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4" name="Text 61"/>
          <p:cNvSpPr/>
          <p:nvPr/>
        </p:nvSpPr>
        <p:spPr>
          <a:xfrm>
            <a:off x="495288" y="2705867"/>
            <a:ext cx="1120237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636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Total</a:t>
            </a:r>
            <a:endParaRPr lang="en-US" sz="63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5" name="Text 62"/>
          <p:cNvSpPr/>
          <p:nvPr/>
        </p:nvSpPr>
        <p:spPr>
          <a:xfrm>
            <a:off x="1540477" y="2705867"/>
            <a:ext cx="1456400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1.263</a:t>
            </a:r>
            <a:endParaRPr lang="en-US" sz="63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6" name="Text 63"/>
          <p:cNvSpPr/>
          <p:nvPr/>
        </p:nvSpPr>
        <p:spPr>
          <a:xfrm>
            <a:off x="5205169" y="3120205"/>
            <a:ext cx="719233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Total</a:t>
            </a:r>
            <a:endParaRPr lang="en-US" sz="888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7" name="Text 64"/>
          <p:cNvSpPr/>
          <p:nvPr/>
        </p:nvSpPr>
        <p:spPr>
          <a:xfrm>
            <a:off x="504812" y="3953642"/>
            <a:ext cx="1879325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576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Total</a:t>
            </a:r>
            <a:endParaRPr lang="en-US" sz="57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8" name="Text 65"/>
          <p:cNvSpPr/>
          <p:nvPr/>
        </p:nvSpPr>
        <p:spPr>
          <a:xfrm>
            <a:off x="7316013" y="1681930"/>
            <a:ext cx="1008183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Aptos</a:t>
            </a:r>
            <a:endParaRPr lang="en-US" sz="888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9" name="Text 66"/>
          <p:cNvSpPr/>
          <p:nvPr/>
        </p:nvSpPr>
        <p:spPr>
          <a:xfrm>
            <a:off x="6257769" y="1853380"/>
            <a:ext cx="1120237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636" b="1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Enero</a:t>
            </a:r>
            <a:endParaRPr lang="en-US" sz="63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70" name="Text 67"/>
          <p:cNvSpPr/>
          <p:nvPr/>
        </p:nvSpPr>
        <p:spPr>
          <a:xfrm>
            <a:off x="7316013" y="1853380"/>
            <a:ext cx="1008183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1.065</a:t>
            </a:r>
            <a:endParaRPr lang="en-US" sz="63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71" name="Text 68"/>
          <p:cNvSpPr/>
          <p:nvPr/>
        </p:nvSpPr>
        <p:spPr>
          <a:xfrm>
            <a:off x="10239394" y="1853380"/>
            <a:ext cx="1457013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0,7 %</a:t>
            </a:r>
            <a:endParaRPr lang="en-US" sz="63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72" name="Text 69"/>
          <p:cNvSpPr/>
          <p:nvPr/>
        </p:nvSpPr>
        <p:spPr>
          <a:xfrm>
            <a:off x="6257769" y="2134367"/>
            <a:ext cx="1120237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636" b="1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Marzo</a:t>
            </a:r>
            <a:endParaRPr lang="en-US" sz="63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73" name="Text 70"/>
          <p:cNvSpPr/>
          <p:nvPr/>
        </p:nvSpPr>
        <p:spPr>
          <a:xfrm>
            <a:off x="6257769" y="2277242"/>
            <a:ext cx="1120237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636" b="1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Abril</a:t>
            </a:r>
            <a:endParaRPr lang="en-US" sz="63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74" name="Text 71"/>
          <p:cNvSpPr/>
          <p:nvPr/>
        </p:nvSpPr>
        <p:spPr>
          <a:xfrm>
            <a:off x="6257769" y="2562992"/>
            <a:ext cx="1120237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636" b="1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Junio</a:t>
            </a:r>
            <a:endParaRPr lang="en-US" sz="63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75" name="Text 72"/>
          <p:cNvSpPr/>
          <p:nvPr/>
        </p:nvSpPr>
        <p:spPr>
          <a:xfrm>
            <a:off x="6257769" y="2705867"/>
            <a:ext cx="1120237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636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Total</a:t>
            </a:r>
            <a:endParaRPr lang="en-US" sz="63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76" name="Text 73"/>
          <p:cNvSpPr/>
          <p:nvPr/>
        </p:nvSpPr>
        <p:spPr>
          <a:xfrm>
            <a:off x="7316013" y="2705867"/>
            <a:ext cx="1008183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1.065</a:t>
            </a:r>
            <a:endParaRPr lang="en-US" sz="63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77" name="Text 74"/>
          <p:cNvSpPr/>
          <p:nvPr/>
        </p:nvSpPr>
        <p:spPr>
          <a:xfrm>
            <a:off x="10239394" y="2705867"/>
            <a:ext cx="1457013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0,7 %</a:t>
            </a:r>
            <a:endParaRPr lang="en-US" sz="63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78" name="Text 75"/>
          <p:cNvSpPr/>
          <p:nvPr/>
        </p:nvSpPr>
        <p:spPr>
          <a:xfrm>
            <a:off x="10967650" y="3120205"/>
            <a:ext cx="719233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Total</a:t>
            </a:r>
            <a:endParaRPr lang="en-US" sz="888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79" name="Text 76"/>
          <p:cNvSpPr/>
          <p:nvPr/>
        </p:nvSpPr>
        <p:spPr>
          <a:xfrm>
            <a:off x="8077397" y="34202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0,4 %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0" name="Text 77"/>
          <p:cNvSpPr/>
          <p:nvPr/>
        </p:nvSpPr>
        <p:spPr>
          <a:xfrm>
            <a:off x="10967650" y="342024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0,4 %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1" name="Text 78"/>
          <p:cNvSpPr/>
          <p:nvPr/>
        </p:nvSpPr>
        <p:spPr>
          <a:xfrm>
            <a:off x="8077397" y="38202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8,5 %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2" name="Text 79"/>
          <p:cNvSpPr/>
          <p:nvPr/>
        </p:nvSpPr>
        <p:spPr>
          <a:xfrm>
            <a:off x="10967650" y="382029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8,5 %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3" name="Text 80"/>
          <p:cNvSpPr/>
          <p:nvPr/>
        </p:nvSpPr>
        <p:spPr>
          <a:xfrm>
            <a:off x="8077397" y="39536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6,4 %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4" name="Text 81"/>
          <p:cNvSpPr/>
          <p:nvPr/>
        </p:nvSpPr>
        <p:spPr>
          <a:xfrm>
            <a:off x="10967650" y="395364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6,4 %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5" name="Text 82"/>
          <p:cNvSpPr/>
          <p:nvPr/>
        </p:nvSpPr>
        <p:spPr>
          <a:xfrm>
            <a:off x="8077397" y="40869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6,7 %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6" name="Text 83"/>
          <p:cNvSpPr/>
          <p:nvPr/>
        </p:nvSpPr>
        <p:spPr>
          <a:xfrm>
            <a:off x="10967650" y="408699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6,7 %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7" name="Text 84"/>
          <p:cNvSpPr/>
          <p:nvPr/>
        </p:nvSpPr>
        <p:spPr>
          <a:xfrm>
            <a:off x="8077397" y="44870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4,3 %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8" name="Text 85"/>
          <p:cNvSpPr/>
          <p:nvPr/>
        </p:nvSpPr>
        <p:spPr>
          <a:xfrm>
            <a:off x="10967650" y="448704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4,3 %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9" name="Text 86"/>
          <p:cNvSpPr/>
          <p:nvPr/>
        </p:nvSpPr>
        <p:spPr>
          <a:xfrm>
            <a:off x="8077397" y="4620392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100 %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0" name="Text 87"/>
          <p:cNvSpPr/>
          <p:nvPr/>
        </p:nvSpPr>
        <p:spPr>
          <a:xfrm>
            <a:off x="10967650" y="4620392"/>
            <a:ext cx="719233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52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100 %</a:t>
            </a:r>
            <a:endParaRPr lang="en-US" sz="55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1" name="Text 88"/>
          <p:cNvSpPr/>
          <p:nvPr/>
        </p:nvSpPr>
        <p:spPr>
          <a:xfrm>
            <a:off x="4374991" y="952500"/>
            <a:ext cx="481611" cy="2060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80" b="1" dirty="0">
                <a:solidFill>
                  <a:srgbClr val="5AE2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1.065</a:t>
            </a:r>
            <a:endParaRPr lang="en-US" sz="138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2" name="Text 89"/>
          <p:cNvSpPr/>
          <p:nvPr/>
        </p:nvSpPr>
        <p:spPr>
          <a:xfrm>
            <a:off x="495288" y="2420117"/>
            <a:ext cx="1120237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636" b="1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Mayo</a:t>
            </a:r>
            <a:endParaRPr lang="en-US" sz="63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3" name="Text 90"/>
          <p:cNvSpPr/>
          <p:nvPr/>
        </p:nvSpPr>
        <p:spPr>
          <a:xfrm>
            <a:off x="6257769" y="2420117"/>
            <a:ext cx="1120237" cy="142875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636" b="1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Mayo</a:t>
            </a:r>
            <a:endParaRPr lang="en-US" sz="63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4" name="Text 91"/>
          <p:cNvSpPr/>
          <p:nvPr/>
        </p:nvSpPr>
        <p:spPr>
          <a:xfrm>
            <a:off x="495288" y="1681930"/>
            <a:ext cx="1120237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888" b="1" dirty="0">
                <a:solidFill>
                  <a:srgbClr val="FFFFFF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Mes</a:t>
            </a:r>
            <a:endParaRPr lang="en-US" sz="888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5" name="Text 92"/>
          <p:cNvSpPr/>
          <p:nvPr/>
        </p:nvSpPr>
        <p:spPr>
          <a:xfrm>
            <a:off x="2951194" y="1853380"/>
            <a:ext cx="1568454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198</a:t>
            </a:r>
            <a:endParaRPr lang="en-US" sz="63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6" name="Text 93"/>
          <p:cNvSpPr/>
          <p:nvPr/>
        </p:nvSpPr>
        <p:spPr>
          <a:xfrm>
            <a:off x="2951194" y="2705867"/>
            <a:ext cx="1568454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198</a:t>
            </a:r>
            <a:endParaRPr lang="en-US" sz="63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7" name="Text 94"/>
          <p:cNvSpPr/>
          <p:nvPr/>
        </p:nvSpPr>
        <p:spPr>
          <a:xfrm>
            <a:off x="2314916" y="3120205"/>
            <a:ext cx="497270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Ene</a:t>
            </a:r>
            <a:endParaRPr lang="en-US" sz="888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8" name="Text 95"/>
          <p:cNvSpPr/>
          <p:nvPr/>
        </p:nvSpPr>
        <p:spPr>
          <a:xfrm>
            <a:off x="2797702" y="3120205"/>
            <a:ext cx="497270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Feb</a:t>
            </a:r>
            <a:endParaRPr lang="en-US" sz="888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9" name="Text 96"/>
          <p:cNvSpPr/>
          <p:nvPr/>
        </p:nvSpPr>
        <p:spPr>
          <a:xfrm>
            <a:off x="3280489" y="3120205"/>
            <a:ext cx="497270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Mar</a:t>
            </a:r>
            <a:endParaRPr lang="en-US" sz="888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00" name="Text 97"/>
          <p:cNvSpPr/>
          <p:nvPr/>
        </p:nvSpPr>
        <p:spPr>
          <a:xfrm>
            <a:off x="3763275" y="3120205"/>
            <a:ext cx="497270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Abr</a:t>
            </a:r>
            <a:endParaRPr lang="en-US" sz="888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01" name="Text 98"/>
          <p:cNvSpPr/>
          <p:nvPr/>
        </p:nvSpPr>
        <p:spPr>
          <a:xfrm>
            <a:off x="4246061" y="3120205"/>
            <a:ext cx="497270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May</a:t>
            </a:r>
            <a:endParaRPr lang="en-US" sz="888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02" name="Text 99"/>
          <p:cNvSpPr/>
          <p:nvPr/>
        </p:nvSpPr>
        <p:spPr>
          <a:xfrm>
            <a:off x="4728848" y="3120205"/>
            <a:ext cx="497270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Jun</a:t>
            </a:r>
            <a:endParaRPr lang="en-US" sz="888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03" name="Text 100"/>
          <p:cNvSpPr/>
          <p:nvPr/>
        </p:nvSpPr>
        <p:spPr>
          <a:xfrm>
            <a:off x="2314916" y="3953642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198</a:t>
            </a:r>
            <a:endParaRPr lang="en-US" sz="57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04" name="Text 101"/>
          <p:cNvSpPr/>
          <p:nvPr/>
        </p:nvSpPr>
        <p:spPr>
          <a:xfrm>
            <a:off x="5205169" y="3953642"/>
            <a:ext cx="719233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198</a:t>
            </a:r>
            <a:endParaRPr lang="en-US" sz="57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05" name="Text 102"/>
          <p:cNvSpPr/>
          <p:nvPr/>
        </p:nvSpPr>
        <p:spPr>
          <a:xfrm>
            <a:off x="6257769" y="1681930"/>
            <a:ext cx="1120237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l">
              <a:buNone/>
            </a:pPr>
            <a:r>
              <a:rPr lang="en-US" sz="888" b="1" dirty="0">
                <a:solidFill>
                  <a:srgbClr val="FFFFFF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Mes</a:t>
            </a:r>
            <a:endParaRPr lang="en-US" sz="888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06" name="Text 103"/>
          <p:cNvSpPr/>
          <p:nvPr/>
        </p:nvSpPr>
        <p:spPr>
          <a:xfrm>
            <a:off x="8077397" y="3120205"/>
            <a:ext cx="497270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Ene</a:t>
            </a:r>
            <a:endParaRPr lang="en-US" sz="888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07" name="Text 104"/>
          <p:cNvSpPr/>
          <p:nvPr/>
        </p:nvSpPr>
        <p:spPr>
          <a:xfrm>
            <a:off x="8560183" y="3120205"/>
            <a:ext cx="497270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Feb</a:t>
            </a:r>
            <a:endParaRPr lang="en-US" sz="888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08" name="Text 105"/>
          <p:cNvSpPr/>
          <p:nvPr/>
        </p:nvSpPr>
        <p:spPr>
          <a:xfrm>
            <a:off x="9042970" y="3120205"/>
            <a:ext cx="497270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Mar</a:t>
            </a:r>
            <a:endParaRPr lang="en-US" sz="888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09" name="Text 106"/>
          <p:cNvSpPr/>
          <p:nvPr/>
        </p:nvSpPr>
        <p:spPr>
          <a:xfrm>
            <a:off x="9525756" y="3120205"/>
            <a:ext cx="497270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Abr</a:t>
            </a:r>
            <a:endParaRPr lang="en-US" sz="888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10" name="Text 107"/>
          <p:cNvSpPr/>
          <p:nvPr/>
        </p:nvSpPr>
        <p:spPr>
          <a:xfrm>
            <a:off x="10008542" y="3120205"/>
            <a:ext cx="497270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May</a:t>
            </a:r>
            <a:endParaRPr lang="en-US" sz="888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11" name="Text 108"/>
          <p:cNvSpPr/>
          <p:nvPr/>
        </p:nvSpPr>
        <p:spPr>
          <a:xfrm>
            <a:off x="10491329" y="3120205"/>
            <a:ext cx="497270" cy="1714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Jun</a:t>
            </a:r>
            <a:endParaRPr lang="en-US" sz="888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12" name="Text 109"/>
          <p:cNvSpPr/>
          <p:nvPr/>
        </p:nvSpPr>
        <p:spPr>
          <a:xfrm>
            <a:off x="2314916" y="3291655"/>
            <a:ext cx="497270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67</a:t>
            </a:r>
            <a:endParaRPr lang="en-US" sz="57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13" name="Text 110"/>
          <p:cNvSpPr/>
          <p:nvPr/>
        </p:nvSpPr>
        <p:spPr>
          <a:xfrm>
            <a:off x="5205169" y="3291655"/>
            <a:ext cx="719233" cy="128588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b="1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67</a:t>
            </a:r>
            <a:endParaRPr lang="en-US" sz="57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14" name="Text 111"/>
          <p:cNvSpPr/>
          <p:nvPr/>
        </p:nvSpPr>
        <p:spPr>
          <a:xfrm>
            <a:off x="2314916" y="342024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66</a:t>
            </a:r>
            <a:endParaRPr lang="en-US" sz="57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15" name="Text 112"/>
          <p:cNvSpPr/>
          <p:nvPr/>
        </p:nvSpPr>
        <p:spPr>
          <a:xfrm>
            <a:off x="5205169" y="342024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b="1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66</a:t>
            </a:r>
            <a:endParaRPr lang="en-US" sz="57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16" name="Text 113"/>
          <p:cNvSpPr/>
          <p:nvPr/>
        </p:nvSpPr>
        <p:spPr>
          <a:xfrm>
            <a:off x="2314916" y="3553592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58</a:t>
            </a:r>
            <a:endParaRPr lang="en-US" sz="57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17" name="Text 114"/>
          <p:cNvSpPr/>
          <p:nvPr/>
        </p:nvSpPr>
        <p:spPr>
          <a:xfrm>
            <a:off x="5205169" y="3553592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b="1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58</a:t>
            </a:r>
            <a:endParaRPr lang="en-US" sz="57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19" name="Text 113">
            <a:extLst>
              <a:ext uri="{FF2B5EF4-FFF2-40B4-BE49-F238E27FC236}">
                <a16:creationId xmlns:a16="http://schemas.microsoft.com/office/drawing/2014/main" id="{04D09A97-0E69-01FA-3B9E-D4C13FAE5787}"/>
              </a:ext>
            </a:extLst>
          </p:cNvPr>
          <p:cNvSpPr/>
          <p:nvPr/>
        </p:nvSpPr>
        <p:spPr>
          <a:xfrm>
            <a:off x="2323375" y="3688024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6</a:t>
            </a:r>
            <a:endParaRPr lang="en-US" sz="57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21" name="Text 113">
            <a:extLst>
              <a:ext uri="{FF2B5EF4-FFF2-40B4-BE49-F238E27FC236}">
                <a16:creationId xmlns:a16="http://schemas.microsoft.com/office/drawing/2014/main" id="{1360C7E4-7C9D-424A-3C7E-B40CA3B636F3}"/>
              </a:ext>
            </a:extLst>
          </p:cNvPr>
          <p:cNvSpPr/>
          <p:nvPr/>
        </p:nvSpPr>
        <p:spPr>
          <a:xfrm>
            <a:off x="2323375" y="3840424"/>
            <a:ext cx="497270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</a:t>
            </a:r>
            <a:endParaRPr lang="en-US" sz="57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23" name="Text 114">
            <a:extLst>
              <a:ext uri="{FF2B5EF4-FFF2-40B4-BE49-F238E27FC236}">
                <a16:creationId xmlns:a16="http://schemas.microsoft.com/office/drawing/2014/main" id="{88C748C5-E009-3D7D-9FEC-BA376024D842}"/>
              </a:ext>
            </a:extLst>
          </p:cNvPr>
          <p:cNvSpPr/>
          <p:nvPr/>
        </p:nvSpPr>
        <p:spPr>
          <a:xfrm>
            <a:off x="5214694" y="3688024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b="1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6</a:t>
            </a:r>
            <a:endParaRPr lang="en-US" sz="57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25" name="Text 114">
            <a:extLst>
              <a:ext uri="{FF2B5EF4-FFF2-40B4-BE49-F238E27FC236}">
                <a16:creationId xmlns:a16="http://schemas.microsoft.com/office/drawing/2014/main" id="{E6E6576E-5113-FBC3-91B2-3B20B8ECFCAF}"/>
              </a:ext>
            </a:extLst>
          </p:cNvPr>
          <p:cNvSpPr/>
          <p:nvPr/>
        </p:nvSpPr>
        <p:spPr>
          <a:xfrm>
            <a:off x="5205168" y="3818008"/>
            <a:ext cx="719233" cy="133350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576" b="1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</a:t>
            </a:r>
            <a:endParaRPr lang="en-US" sz="57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29" name="Text 43">
            <a:extLst>
              <a:ext uri="{FF2B5EF4-FFF2-40B4-BE49-F238E27FC236}">
                <a16:creationId xmlns:a16="http://schemas.microsoft.com/office/drawing/2014/main" id="{7A02E520-E1CD-F61D-F549-472A30D1B6A1}"/>
              </a:ext>
            </a:extLst>
          </p:cNvPr>
          <p:cNvSpPr/>
          <p:nvPr/>
        </p:nvSpPr>
        <p:spPr>
          <a:xfrm>
            <a:off x="9231211" y="1857832"/>
            <a:ext cx="1008183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4</a:t>
            </a:r>
            <a:endParaRPr lang="en-US" sz="63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31" name="Text 44">
            <a:extLst>
              <a:ext uri="{FF2B5EF4-FFF2-40B4-BE49-F238E27FC236}">
                <a16:creationId xmlns:a16="http://schemas.microsoft.com/office/drawing/2014/main" id="{78C5445B-15DB-1C35-6873-7D4F07E9CC29}"/>
              </a:ext>
            </a:extLst>
          </p:cNvPr>
          <p:cNvSpPr/>
          <p:nvPr/>
        </p:nvSpPr>
        <p:spPr>
          <a:xfrm>
            <a:off x="9231211" y="2710319"/>
            <a:ext cx="1008183" cy="138113"/>
          </a:xfrm>
          <a:prstGeom prst="rect">
            <a:avLst/>
          </a:prstGeom>
          <a:noFill/>
          <a:ln/>
        </p:spPr>
        <p:txBody>
          <a:bodyPr wrap="square" lIns="19050" tIns="38100" rIns="38100" bIns="19050" rtlCol="0" anchor="ctr"/>
          <a:lstStyle/>
          <a:p>
            <a:pPr marL="0" indent="0" algn="r">
              <a:buNone/>
            </a:pPr>
            <a:r>
              <a:rPr lang="en-US" sz="636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4</a:t>
            </a:r>
            <a:endParaRPr lang="en-US" sz="63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33" name="Text 88">
            <a:extLst>
              <a:ext uri="{FF2B5EF4-FFF2-40B4-BE49-F238E27FC236}">
                <a16:creationId xmlns:a16="http://schemas.microsoft.com/office/drawing/2014/main" id="{FAB6CA7D-8889-507E-7980-8FE94347A7E7}"/>
              </a:ext>
            </a:extLst>
          </p:cNvPr>
          <p:cNvSpPr/>
          <p:nvPr/>
        </p:nvSpPr>
        <p:spPr>
          <a:xfrm>
            <a:off x="8216595" y="967977"/>
            <a:ext cx="481611" cy="2060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80" b="1" dirty="0">
                <a:solidFill>
                  <a:srgbClr val="5AE2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4</a:t>
            </a:r>
            <a:endParaRPr lang="en-US" sz="138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120" name="Picture 119">
            <a:extLst>
              <a:ext uri="{FF2B5EF4-FFF2-40B4-BE49-F238E27FC236}">
                <a16:creationId xmlns:a16="http://schemas.microsoft.com/office/drawing/2014/main" id="{80D1432C-9ADD-C063-59B4-1433CB7C69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34650" y="78120"/>
            <a:ext cx="1530523" cy="459157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13_Presentaciones\dash\televentas\ppt_slides\sk_12_m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518092" y="6101581"/>
            <a:ext cx="5968771" cy="466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40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Un equipo que rinde: el equipo creció de 15 a 21 asesores (+40 %), pero la productividad media bajó de 150 a 110 pólizas/asesor. El top 5 concentra el 37 % de las ventas (4.279 pólizas): el reto del 2S no es sumar gente, es nivelar al resto hacia ese estándar.</a:t>
            </a:r>
            <a:endParaRPr lang="en-US" sz="84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857228" y="1028700"/>
            <a:ext cx="3550869" cy="1229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64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Equipo activo a junio (21 asesores) · histórico ene–jun</a:t>
            </a:r>
            <a:endParaRPr lang="en-US" sz="864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809605" y="6534150"/>
            <a:ext cx="2227315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20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El top 5 aporta </a:t>
            </a:r>
            <a:r>
              <a:rPr lang="en-US" sz="720" b="1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4.279 pólizas (37 %)</a:t>
            </a:r>
            <a:r>
              <a:rPr lang="en-US" sz="720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 del semestre.</a:t>
            </a:r>
            <a:endParaRPr lang="en-US" sz="72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857229" y="5943600"/>
            <a:ext cx="218314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16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Lectura del equipo </a:t>
            </a:r>
            <a:r>
              <a:rPr lang="en-US" sz="672" b="1" dirty="0">
                <a:solidFill>
                  <a:srgbClr val="9098B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· asesores activos por mes</a:t>
            </a:r>
            <a:endParaRPr lang="en-US" sz="81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571486" y="209550"/>
            <a:ext cx="3325913" cy="196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60" b="1" dirty="0">
                <a:solidFill>
                  <a:srgbClr val="FFFFFF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DESEMPEÑO DEL EQUIPO · TOP ASESORES</a:t>
            </a:r>
            <a:endParaRPr lang="en-US" sz="126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1240749" y="3079574"/>
            <a:ext cx="3963904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l">
              <a:buNone/>
            </a:pPr>
            <a:r>
              <a:rPr lang="en-US" sz="660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Julithza Milagros Padilla MejíA</a:t>
            </a:r>
            <a:endParaRPr lang="en-US" sz="66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1240749" y="4752551"/>
            <a:ext cx="3963904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l">
              <a:buNone/>
            </a:pPr>
            <a:r>
              <a:rPr lang="en-US" sz="660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Karina Yisell Marquez Hernandez</a:t>
            </a:r>
            <a:endParaRPr lang="en-US" sz="66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1240749" y="1975865"/>
            <a:ext cx="3963904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l">
              <a:buNone/>
            </a:pPr>
            <a:r>
              <a:rPr lang="en-US" sz="660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⭐ Dayana D. Guerrero HernáNdez</a:t>
            </a:r>
            <a:endParaRPr lang="en-US" sz="66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1240749" y="2161751"/>
            <a:ext cx="3963904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l">
              <a:buNone/>
            </a:pPr>
            <a:r>
              <a:rPr lang="en-US" sz="660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⭐ Anderson Monterrosa Castilla</a:t>
            </a:r>
            <a:endParaRPr lang="en-US" sz="66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1240749" y="1604092"/>
            <a:ext cx="3963904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l">
              <a:buNone/>
            </a:pPr>
            <a:r>
              <a:rPr lang="en-US" sz="660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⭐ Melissa Paola Orozco Jinete</a:t>
            </a:r>
            <a:endParaRPr lang="en-US" sz="66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1240749" y="3451347"/>
            <a:ext cx="3963904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l">
              <a:buNone/>
            </a:pPr>
            <a:r>
              <a:rPr lang="en-US" sz="660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Isabella SofíA Rueda Caserta</a:t>
            </a:r>
            <a:endParaRPr lang="en-US" sz="66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1240749" y="1424010"/>
            <a:ext cx="3963904" cy="180082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l">
              <a:buNone/>
            </a:pPr>
            <a:r>
              <a:rPr lang="en-US" sz="660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⭐ JesúS David CortéS Ortega</a:t>
            </a:r>
            <a:endParaRPr lang="en-US" sz="66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1240749" y="2893688"/>
            <a:ext cx="3963904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l">
              <a:buNone/>
            </a:pPr>
            <a:r>
              <a:rPr lang="en-US" sz="660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Santiago Elí CháVez Carmona</a:t>
            </a:r>
            <a:endParaRPr lang="en-US" sz="66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1240749" y="3265461"/>
            <a:ext cx="3963904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l">
              <a:buNone/>
            </a:pPr>
            <a:r>
              <a:rPr lang="en-US" sz="660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Nohelia H. Salas Monterrosa</a:t>
            </a:r>
            <a:endParaRPr lang="en-US" sz="66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1240749" y="2707802"/>
            <a:ext cx="3963904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l">
              <a:buNone/>
            </a:pPr>
            <a:r>
              <a:rPr lang="en-US" sz="660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Alan José HernáNdez Loaiza</a:t>
            </a:r>
            <a:endParaRPr lang="en-US" sz="66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1240749" y="4009006"/>
            <a:ext cx="3963904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l">
              <a:buNone/>
            </a:pPr>
            <a:r>
              <a:rPr lang="en-US" sz="660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Rhoymar HernáNdez AlbarráN</a:t>
            </a:r>
            <a:endParaRPr lang="en-US" sz="66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1240749" y="3637233"/>
            <a:ext cx="3963904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l">
              <a:buNone/>
            </a:pPr>
            <a:r>
              <a:rPr lang="en-US" sz="660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Laura L. Herrera Palomino</a:t>
            </a:r>
            <a:endParaRPr lang="en-US" sz="66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1240749" y="1789979"/>
            <a:ext cx="3963904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l">
              <a:buNone/>
            </a:pPr>
            <a:r>
              <a:rPr lang="en-US" sz="660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⭐ Luisa L. Percy Jaraba</a:t>
            </a:r>
            <a:endParaRPr lang="en-US" sz="66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1240749" y="5124324"/>
            <a:ext cx="3963904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l">
              <a:buNone/>
            </a:pPr>
            <a:r>
              <a:rPr lang="en-US" sz="660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Rosalinda Rivera Senior</a:t>
            </a:r>
            <a:endParaRPr lang="en-US" sz="66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1240749" y="4194892"/>
            <a:ext cx="3963904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l">
              <a:buNone/>
            </a:pPr>
            <a:r>
              <a:rPr lang="en-US" sz="660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CéSar Barrera PáJaro</a:t>
            </a:r>
            <a:endParaRPr lang="en-US" sz="66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1240749" y="4566665"/>
            <a:ext cx="3963904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l">
              <a:buNone/>
            </a:pPr>
            <a:r>
              <a:rPr lang="en-US" sz="660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Yannecce MejíA GóMez</a:t>
            </a:r>
            <a:endParaRPr lang="en-US" sz="66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1240749" y="2347638"/>
            <a:ext cx="3963904" cy="174278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l">
              <a:buNone/>
            </a:pPr>
            <a:r>
              <a:rPr lang="en-US" sz="660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Joelis J. Barros B.</a:t>
            </a:r>
            <a:endParaRPr lang="en-US" sz="66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1240749" y="4938438"/>
            <a:ext cx="3963904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l">
              <a:buNone/>
            </a:pPr>
            <a:r>
              <a:rPr lang="en-US" sz="660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Ruddy Olmos Simanca</a:t>
            </a:r>
            <a:endParaRPr lang="en-US" sz="66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6" name="Text 23"/>
          <p:cNvSpPr/>
          <p:nvPr/>
        </p:nvSpPr>
        <p:spPr>
          <a:xfrm>
            <a:off x="1240749" y="3823120"/>
            <a:ext cx="3963904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l">
              <a:buNone/>
            </a:pPr>
            <a:r>
              <a:rPr lang="en-US" sz="660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Valentina Orozco</a:t>
            </a:r>
            <a:endParaRPr lang="en-US" sz="66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7" name="Text 24"/>
          <p:cNvSpPr/>
          <p:nvPr/>
        </p:nvSpPr>
        <p:spPr>
          <a:xfrm>
            <a:off x="1240749" y="2521915"/>
            <a:ext cx="3963904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l">
              <a:buNone/>
            </a:pPr>
            <a:r>
              <a:rPr lang="en-US" sz="660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Yulieth Pacheco</a:t>
            </a:r>
            <a:endParaRPr lang="en-US" sz="66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8" name="Text 25"/>
          <p:cNvSpPr/>
          <p:nvPr/>
        </p:nvSpPr>
        <p:spPr>
          <a:xfrm>
            <a:off x="1240749" y="4380779"/>
            <a:ext cx="3963904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l">
              <a:buNone/>
            </a:pPr>
            <a:r>
              <a:rPr lang="en-US" sz="660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Jean J. GuzmáN</a:t>
            </a:r>
            <a:endParaRPr lang="en-US" sz="66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9" name="Text 26"/>
          <p:cNvSpPr/>
          <p:nvPr/>
        </p:nvSpPr>
        <p:spPr>
          <a:xfrm>
            <a:off x="1240749" y="1233510"/>
            <a:ext cx="3963904" cy="190500"/>
          </a:xfrm>
          <a:prstGeom prst="rect">
            <a:avLst/>
          </a:prstGeom>
          <a:noFill/>
          <a:ln/>
        </p:spPr>
        <p:txBody>
          <a:bodyPr wrap="square" lIns="28575" tIns="57150" rIns="57150" bIns="28575" rtlCol="0" anchor="ctr"/>
          <a:lstStyle/>
          <a:p>
            <a:pPr marL="0" indent="0" algn="l">
              <a:buNone/>
            </a:pPr>
            <a:r>
              <a:rPr lang="en-US" sz="888" b="1" dirty="0">
                <a:solidFill>
                  <a:srgbClr val="FFFFFF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Asesor</a:t>
            </a:r>
            <a:endParaRPr lang="en-US" sz="888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0" name="Text 27"/>
          <p:cNvSpPr/>
          <p:nvPr/>
        </p:nvSpPr>
        <p:spPr>
          <a:xfrm>
            <a:off x="10377663" y="5310210"/>
            <a:ext cx="1109200" cy="180975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96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13.499</a:t>
            </a:r>
            <a:endParaRPr lang="en-US" sz="69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1" name="Text 28"/>
          <p:cNvSpPr/>
          <p:nvPr/>
        </p:nvSpPr>
        <p:spPr>
          <a:xfrm>
            <a:off x="10377663" y="1233510"/>
            <a:ext cx="1109200" cy="190500"/>
          </a:xfrm>
          <a:prstGeom prst="rect">
            <a:avLst/>
          </a:prstGeom>
          <a:noFill/>
          <a:ln/>
        </p:spPr>
        <p:txBody>
          <a:bodyPr wrap="square" lIns="28575" tIns="57150" rIns="57150" bIns="28575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Total</a:t>
            </a:r>
            <a:endParaRPr lang="en-US" sz="888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2" name="Text 29"/>
          <p:cNvSpPr/>
          <p:nvPr/>
        </p:nvSpPr>
        <p:spPr>
          <a:xfrm>
            <a:off x="10377663" y="1424010"/>
            <a:ext cx="1109200" cy="180082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60" b="1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1.276</a:t>
            </a:r>
            <a:endParaRPr lang="en-US" sz="66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3" name="Text 30"/>
          <p:cNvSpPr/>
          <p:nvPr/>
        </p:nvSpPr>
        <p:spPr>
          <a:xfrm>
            <a:off x="10377663" y="1604092"/>
            <a:ext cx="1109200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60" b="1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1.021</a:t>
            </a:r>
            <a:endParaRPr lang="en-US" sz="66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4" name="Text 31"/>
          <p:cNvSpPr/>
          <p:nvPr/>
        </p:nvSpPr>
        <p:spPr>
          <a:xfrm>
            <a:off x="1240749" y="5310210"/>
            <a:ext cx="3963904" cy="180975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l">
              <a:buNone/>
            </a:pPr>
            <a:r>
              <a:rPr lang="en-US" sz="696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Total</a:t>
            </a:r>
            <a:endParaRPr lang="en-US" sz="69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5" name="Text 32"/>
          <p:cNvSpPr/>
          <p:nvPr/>
        </p:nvSpPr>
        <p:spPr>
          <a:xfrm>
            <a:off x="5062670" y="5310210"/>
            <a:ext cx="910844" cy="180975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96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2.109</a:t>
            </a:r>
            <a:endParaRPr lang="en-US" sz="69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6" name="Text 33"/>
          <p:cNvSpPr/>
          <p:nvPr/>
        </p:nvSpPr>
        <p:spPr>
          <a:xfrm>
            <a:off x="5946958" y="5310210"/>
            <a:ext cx="911764" cy="180975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96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2.344</a:t>
            </a:r>
            <a:endParaRPr lang="en-US" sz="69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7" name="Text 34"/>
          <p:cNvSpPr/>
          <p:nvPr/>
        </p:nvSpPr>
        <p:spPr>
          <a:xfrm>
            <a:off x="6832375" y="5310210"/>
            <a:ext cx="904559" cy="180975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96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2.313</a:t>
            </a:r>
            <a:endParaRPr lang="en-US" sz="69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8" name="Text 35"/>
          <p:cNvSpPr/>
          <p:nvPr/>
        </p:nvSpPr>
        <p:spPr>
          <a:xfrm>
            <a:off x="7710494" y="5310210"/>
            <a:ext cx="907778" cy="180975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96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2.235</a:t>
            </a:r>
            <a:endParaRPr lang="en-US" sz="69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9" name="Text 36"/>
          <p:cNvSpPr/>
          <p:nvPr/>
        </p:nvSpPr>
        <p:spPr>
          <a:xfrm>
            <a:off x="8590667" y="5310210"/>
            <a:ext cx="947787" cy="180975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96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2.184</a:t>
            </a:r>
            <a:endParaRPr lang="en-US" sz="69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0" name="Text 37"/>
          <p:cNvSpPr/>
          <p:nvPr/>
        </p:nvSpPr>
        <p:spPr>
          <a:xfrm>
            <a:off x="9512308" y="5310210"/>
            <a:ext cx="897661" cy="180975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96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2.314</a:t>
            </a:r>
            <a:endParaRPr lang="en-US" sz="69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1" name="Text 38"/>
          <p:cNvSpPr/>
          <p:nvPr/>
        </p:nvSpPr>
        <p:spPr>
          <a:xfrm>
            <a:off x="809605" y="5543550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48" dirty="0">
                <a:solidFill>
                  <a:srgbClr val="9098B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Top 5</a:t>
            </a:r>
            <a:endParaRPr lang="en-US" sz="648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2" name="Text 39"/>
          <p:cNvSpPr/>
          <p:nvPr/>
        </p:nvSpPr>
        <p:spPr>
          <a:xfrm>
            <a:off x="5062670" y="1233510"/>
            <a:ext cx="910844" cy="190500"/>
          </a:xfrm>
          <a:prstGeom prst="rect">
            <a:avLst/>
          </a:prstGeom>
          <a:noFill/>
          <a:ln/>
        </p:spPr>
        <p:txBody>
          <a:bodyPr wrap="square" lIns="28575" tIns="57150" rIns="57150" bIns="28575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Ene</a:t>
            </a:r>
            <a:endParaRPr lang="en-US" sz="888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3" name="Text 40"/>
          <p:cNvSpPr/>
          <p:nvPr/>
        </p:nvSpPr>
        <p:spPr>
          <a:xfrm>
            <a:off x="5946958" y="1233510"/>
            <a:ext cx="911764" cy="190500"/>
          </a:xfrm>
          <a:prstGeom prst="rect">
            <a:avLst/>
          </a:prstGeom>
          <a:noFill/>
          <a:ln/>
        </p:spPr>
        <p:txBody>
          <a:bodyPr wrap="square" lIns="28575" tIns="57150" rIns="57150" bIns="28575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Feb</a:t>
            </a:r>
            <a:endParaRPr lang="en-US" sz="888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4" name="Text 41"/>
          <p:cNvSpPr/>
          <p:nvPr/>
        </p:nvSpPr>
        <p:spPr>
          <a:xfrm>
            <a:off x="6832375" y="1233510"/>
            <a:ext cx="904559" cy="190500"/>
          </a:xfrm>
          <a:prstGeom prst="rect">
            <a:avLst/>
          </a:prstGeom>
          <a:noFill/>
          <a:ln/>
        </p:spPr>
        <p:txBody>
          <a:bodyPr wrap="square" lIns="28575" tIns="57150" rIns="57150" bIns="28575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Mar</a:t>
            </a:r>
            <a:endParaRPr lang="en-US" sz="888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5" name="Text 42"/>
          <p:cNvSpPr/>
          <p:nvPr/>
        </p:nvSpPr>
        <p:spPr>
          <a:xfrm>
            <a:off x="7710494" y="1233510"/>
            <a:ext cx="907778" cy="190500"/>
          </a:xfrm>
          <a:prstGeom prst="rect">
            <a:avLst/>
          </a:prstGeom>
          <a:noFill/>
          <a:ln/>
        </p:spPr>
        <p:txBody>
          <a:bodyPr wrap="square" lIns="28575" tIns="57150" rIns="57150" bIns="28575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Abr</a:t>
            </a:r>
            <a:endParaRPr lang="en-US" sz="888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6" name="Text 43"/>
          <p:cNvSpPr/>
          <p:nvPr/>
        </p:nvSpPr>
        <p:spPr>
          <a:xfrm>
            <a:off x="8590667" y="1233510"/>
            <a:ext cx="947787" cy="190500"/>
          </a:xfrm>
          <a:prstGeom prst="rect">
            <a:avLst/>
          </a:prstGeom>
          <a:noFill/>
          <a:ln/>
        </p:spPr>
        <p:txBody>
          <a:bodyPr wrap="square" lIns="28575" tIns="57150" rIns="57150" bIns="28575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May</a:t>
            </a:r>
            <a:endParaRPr lang="en-US" sz="888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7" name="Text 44"/>
          <p:cNvSpPr/>
          <p:nvPr/>
        </p:nvSpPr>
        <p:spPr>
          <a:xfrm>
            <a:off x="9512308" y="1233510"/>
            <a:ext cx="897661" cy="190500"/>
          </a:xfrm>
          <a:prstGeom prst="rect">
            <a:avLst/>
          </a:prstGeom>
          <a:noFill/>
          <a:ln/>
        </p:spPr>
        <p:txBody>
          <a:bodyPr wrap="square" lIns="28575" tIns="57150" rIns="57150" bIns="28575" rtlCol="0" anchor="ctr"/>
          <a:lstStyle/>
          <a:p>
            <a:pPr marL="0" indent="0" algn="r">
              <a:buNone/>
            </a:pPr>
            <a:r>
              <a:rPr lang="en-US" sz="888" b="1" dirty="0">
                <a:solidFill>
                  <a:srgbClr val="FFFFFF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Jun</a:t>
            </a:r>
            <a:endParaRPr lang="en-US" sz="888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8" name="Text 45"/>
          <p:cNvSpPr/>
          <p:nvPr/>
        </p:nvSpPr>
        <p:spPr>
          <a:xfrm>
            <a:off x="5062670" y="1424010"/>
            <a:ext cx="910844" cy="180082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60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205</a:t>
            </a:r>
            <a:endParaRPr lang="en-US" sz="66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9" name="Text 46"/>
          <p:cNvSpPr/>
          <p:nvPr/>
        </p:nvSpPr>
        <p:spPr>
          <a:xfrm>
            <a:off x="5946958" y="1424010"/>
            <a:ext cx="911764" cy="180082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60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234</a:t>
            </a:r>
            <a:endParaRPr lang="en-US" sz="66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0" name="Text 47"/>
          <p:cNvSpPr/>
          <p:nvPr/>
        </p:nvSpPr>
        <p:spPr>
          <a:xfrm>
            <a:off x="6832375" y="1424010"/>
            <a:ext cx="904559" cy="180082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60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208</a:t>
            </a:r>
            <a:endParaRPr lang="en-US" sz="66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1" name="Text 48"/>
          <p:cNvSpPr/>
          <p:nvPr/>
        </p:nvSpPr>
        <p:spPr>
          <a:xfrm>
            <a:off x="7710494" y="1424010"/>
            <a:ext cx="907778" cy="180082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60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197</a:t>
            </a:r>
            <a:endParaRPr lang="en-US" sz="66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2" name="Text 49"/>
          <p:cNvSpPr/>
          <p:nvPr/>
        </p:nvSpPr>
        <p:spPr>
          <a:xfrm>
            <a:off x="8590667" y="1424010"/>
            <a:ext cx="947787" cy="180082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60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210</a:t>
            </a:r>
            <a:endParaRPr lang="en-US" sz="66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3" name="Text 50"/>
          <p:cNvSpPr/>
          <p:nvPr/>
        </p:nvSpPr>
        <p:spPr>
          <a:xfrm>
            <a:off x="9512308" y="1424010"/>
            <a:ext cx="897661" cy="180082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60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222</a:t>
            </a:r>
            <a:endParaRPr lang="en-US" sz="66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4" name="Text 51"/>
          <p:cNvSpPr/>
          <p:nvPr/>
        </p:nvSpPr>
        <p:spPr>
          <a:xfrm>
            <a:off x="5062670" y="1604092"/>
            <a:ext cx="910844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60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144</a:t>
            </a:r>
            <a:endParaRPr lang="en-US" sz="66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5" name="Text 52"/>
          <p:cNvSpPr/>
          <p:nvPr/>
        </p:nvSpPr>
        <p:spPr>
          <a:xfrm>
            <a:off x="5946958" y="1604092"/>
            <a:ext cx="911764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60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195</a:t>
            </a:r>
            <a:endParaRPr lang="en-US" sz="66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6" name="Text 53"/>
          <p:cNvSpPr/>
          <p:nvPr/>
        </p:nvSpPr>
        <p:spPr>
          <a:xfrm>
            <a:off x="6832375" y="1604092"/>
            <a:ext cx="904559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60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189</a:t>
            </a:r>
            <a:endParaRPr lang="en-US" sz="66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7" name="Text 54"/>
          <p:cNvSpPr/>
          <p:nvPr/>
        </p:nvSpPr>
        <p:spPr>
          <a:xfrm>
            <a:off x="7710494" y="1604092"/>
            <a:ext cx="907778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60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157</a:t>
            </a:r>
            <a:endParaRPr lang="en-US" sz="66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8" name="Text 55"/>
          <p:cNvSpPr/>
          <p:nvPr/>
        </p:nvSpPr>
        <p:spPr>
          <a:xfrm>
            <a:off x="8590667" y="1604092"/>
            <a:ext cx="947787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60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161</a:t>
            </a:r>
            <a:endParaRPr lang="en-US" sz="66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9" name="Text 56"/>
          <p:cNvSpPr/>
          <p:nvPr/>
        </p:nvSpPr>
        <p:spPr>
          <a:xfrm>
            <a:off x="9512308" y="1604092"/>
            <a:ext cx="897661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60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175</a:t>
            </a:r>
            <a:endParaRPr lang="en-US" sz="66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0" name="Text 57"/>
          <p:cNvSpPr/>
          <p:nvPr/>
        </p:nvSpPr>
        <p:spPr>
          <a:xfrm>
            <a:off x="5062670" y="1789979"/>
            <a:ext cx="910844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60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155</a:t>
            </a:r>
            <a:endParaRPr lang="en-US" sz="66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1" name="Text 58"/>
          <p:cNvSpPr/>
          <p:nvPr/>
        </p:nvSpPr>
        <p:spPr>
          <a:xfrm>
            <a:off x="5946958" y="1789979"/>
            <a:ext cx="911764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60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175</a:t>
            </a:r>
            <a:endParaRPr lang="en-US" sz="66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2" name="Text 59"/>
          <p:cNvSpPr/>
          <p:nvPr/>
        </p:nvSpPr>
        <p:spPr>
          <a:xfrm>
            <a:off x="6832375" y="1789979"/>
            <a:ext cx="904559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60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178</a:t>
            </a:r>
            <a:endParaRPr lang="en-US" sz="66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3" name="Text 60"/>
          <p:cNvSpPr/>
          <p:nvPr/>
        </p:nvSpPr>
        <p:spPr>
          <a:xfrm>
            <a:off x="7710494" y="1789979"/>
            <a:ext cx="907778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60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147</a:t>
            </a:r>
            <a:endParaRPr lang="en-US" sz="66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4" name="Text 61"/>
          <p:cNvSpPr/>
          <p:nvPr/>
        </p:nvSpPr>
        <p:spPr>
          <a:xfrm>
            <a:off x="8590667" y="1789979"/>
            <a:ext cx="947787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60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144</a:t>
            </a:r>
            <a:endParaRPr lang="en-US" sz="66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5" name="Text 62"/>
          <p:cNvSpPr/>
          <p:nvPr/>
        </p:nvSpPr>
        <p:spPr>
          <a:xfrm>
            <a:off x="9512308" y="1789979"/>
            <a:ext cx="897661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60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153</a:t>
            </a:r>
            <a:endParaRPr lang="en-US" sz="66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6" name="Text 63"/>
          <p:cNvSpPr/>
          <p:nvPr/>
        </p:nvSpPr>
        <p:spPr>
          <a:xfrm>
            <a:off x="10377663" y="1789979"/>
            <a:ext cx="1109200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60" b="1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952</a:t>
            </a:r>
            <a:endParaRPr lang="en-US" sz="66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7" name="Text 64"/>
          <p:cNvSpPr/>
          <p:nvPr/>
        </p:nvSpPr>
        <p:spPr>
          <a:xfrm>
            <a:off x="5062670" y="1975865"/>
            <a:ext cx="910844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60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151</a:t>
            </a:r>
            <a:endParaRPr lang="en-US" sz="66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8" name="Text 65"/>
          <p:cNvSpPr/>
          <p:nvPr/>
        </p:nvSpPr>
        <p:spPr>
          <a:xfrm>
            <a:off x="5946958" y="1975865"/>
            <a:ext cx="911764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60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188</a:t>
            </a:r>
            <a:endParaRPr lang="en-US" sz="66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9" name="Text 66"/>
          <p:cNvSpPr/>
          <p:nvPr/>
        </p:nvSpPr>
        <p:spPr>
          <a:xfrm>
            <a:off x="6832375" y="1975865"/>
            <a:ext cx="904559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60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169</a:t>
            </a:r>
            <a:endParaRPr lang="en-US" sz="66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70" name="Text 67"/>
          <p:cNvSpPr/>
          <p:nvPr/>
        </p:nvSpPr>
        <p:spPr>
          <a:xfrm>
            <a:off x="7710494" y="1975865"/>
            <a:ext cx="907778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60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148</a:t>
            </a:r>
            <a:endParaRPr lang="en-US" sz="66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71" name="Text 68"/>
          <p:cNvSpPr/>
          <p:nvPr/>
        </p:nvSpPr>
        <p:spPr>
          <a:xfrm>
            <a:off x="8590667" y="1975865"/>
            <a:ext cx="947787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60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144</a:t>
            </a:r>
            <a:endParaRPr lang="en-US" sz="66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72" name="Text 69"/>
          <p:cNvSpPr/>
          <p:nvPr/>
        </p:nvSpPr>
        <p:spPr>
          <a:xfrm>
            <a:off x="9512308" y="1975865"/>
            <a:ext cx="897661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60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135</a:t>
            </a:r>
            <a:endParaRPr lang="en-US" sz="66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73" name="Text 70"/>
          <p:cNvSpPr/>
          <p:nvPr/>
        </p:nvSpPr>
        <p:spPr>
          <a:xfrm>
            <a:off x="10377663" y="1975865"/>
            <a:ext cx="1109200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60" b="1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935</a:t>
            </a:r>
            <a:endParaRPr lang="en-US" sz="66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74" name="Text 71"/>
          <p:cNvSpPr/>
          <p:nvPr/>
        </p:nvSpPr>
        <p:spPr>
          <a:xfrm>
            <a:off x="5062670" y="2161751"/>
            <a:ext cx="910844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60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167</a:t>
            </a:r>
            <a:endParaRPr lang="en-US" sz="66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75" name="Text 72"/>
          <p:cNvSpPr/>
          <p:nvPr/>
        </p:nvSpPr>
        <p:spPr>
          <a:xfrm>
            <a:off x="5946958" y="2161751"/>
            <a:ext cx="911764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60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149</a:t>
            </a:r>
            <a:endParaRPr lang="en-US" sz="66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76" name="Text 73"/>
          <p:cNvSpPr/>
          <p:nvPr/>
        </p:nvSpPr>
        <p:spPr>
          <a:xfrm>
            <a:off x="6832375" y="2161751"/>
            <a:ext cx="904559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60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169</a:t>
            </a:r>
            <a:endParaRPr lang="en-US" sz="66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77" name="Text 74"/>
          <p:cNvSpPr/>
          <p:nvPr/>
        </p:nvSpPr>
        <p:spPr>
          <a:xfrm>
            <a:off x="7710494" y="2161751"/>
            <a:ext cx="907778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60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146</a:t>
            </a:r>
            <a:endParaRPr lang="en-US" sz="66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78" name="Text 75"/>
          <p:cNvSpPr/>
          <p:nvPr/>
        </p:nvSpPr>
        <p:spPr>
          <a:xfrm>
            <a:off x="8590667" y="2161751"/>
            <a:ext cx="947787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60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149</a:t>
            </a:r>
            <a:endParaRPr lang="en-US" sz="66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79" name="Text 76"/>
          <p:cNvSpPr/>
          <p:nvPr/>
        </p:nvSpPr>
        <p:spPr>
          <a:xfrm>
            <a:off x="9512308" y="2161751"/>
            <a:ext cx="897661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60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145</a:t>
            </a:r>
            <a:endParaRPr lang="en-US" sz="66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0" name="Text 77"/>
          <p:cNvSpPr/>
          <p:nvPr/>
        </p:nvSpPr>
        <p:spPr>
          <a:xfrm>
            <a:off x="10377663" y="2161751"/>
            <a:ext cx="1109200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60" b="1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925</a:t>
            </a:r>
            <a:endParaRPr lang="en-US" sz="66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1" name="Text 78"/>
          <p:cNvSpPr/>
          <p:nvPr/>
        </p:nvSpPr>
        <p:spPr>
          <a:xfrm>
            <a:off x="5062670" y="2347638"/>
            <a:ext cx="910844" cy="174278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60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154</a:t>
            </a:r>
            <a:endParaRPr lang="en-US" sz="66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2" name="Text 79"/>
          <p:cNvSpPr/>
          <p:nvPr/>
        </p:nvSpPr>
        <p:spPr>
          <a:xfrm>
            <a:off x="5946958" y="2347638"/>
            <a:ext cx="911764" cy="174278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60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180</a:t>
            </a:r>
            <a:endParaRPr lang="en-US" sz="66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3" name="Text 80"/>
          <p:cNvSpPr/>
          <p:nvPr/>
        </p:nvSpPr>
        <p:spPr>
          <a:xfrm>
            <a:off x="6832375" y="2347638"/>
            <a:ext cx="904559" cy="174278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60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168</a:t>
            </a:r>
            <a:endParaRPr lang="en-US" sz="66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4" name="Text 81"/>
          <p:cNvSpPr/>
          <p:nvPr/>
        </p:nvSpPr>
        <p:spPr>
          <a:xfrm>
            <a:off x="7710494" y="2347638"/>
            <a:ext cx="907778" cy="174278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60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136</a:t>
            </a:r>
            <a:endParaRPr lang="en-US" sz="66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5" name="Text 82"/>
          <p:cNvSpPr/>
          <p:nvPr/>
        </p:nvSpPr>
        <p:spPr>
          <a:xfrm>
            <a:off x="9512308" y="2347638"/>
            <a:ext cx="897661" cy="174278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60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167</a:t>
            </a:r>
            <a:endParaRPr lang="en-US" sz="66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6" name="Text 83"/>
          <p:cNvSpPr/>
          <p:nvPr/>
        </p:nvSpPr>
        <p:spPr>
          <a:xfrm>
            <a:off x="10377663" y="2347638"/>
            <a:ext cx="1109200" cy="174278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60" b="1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886</a:t>
            </a:r>
            <a:endParaRPr lang="en-US" sz="66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7" name="Text 84"/>
          <p:cNvSpPr/>
          <p:nvPr/>
        </p:nvSpPr>
        <p:spPr>
          <a:xfrm>
            <a:off x="5062670" y="2521915"/>
            <a:ext cx="910844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60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163</a:t>
            </a:r>
            <a:endParaRPr lang="en-US" sz="66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8" name="Text 85"/>
          <p:cNvSpPr/>
          <p:nvPr/>
        </p:nvSpPr>
        <p:spPr>
          <a:xfrm>
            <a:off x="5946958" y="2521915"/>
            <a:ext cx="911764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60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176</a:t>
            </a:r>
            <a:endParaRPr lang="en-US" sz="66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9" name="Text 86"/>
          <p:cNvSpPr/>
          <p:nvPr/>
        </p:nvSpPr>
        <p:spPr>
          <a:xfrm>
            <a:off x="6832375" y="2521915"/>
            <a:ext cx="904559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60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149</a:t>
            </a:r>
            <a:endParaRPr lang="en-US" sz="66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0" name="Text 87"/>
          <p:cNvSpPr/>
          <p:nvPr/>
        </p:nvSpPr>
        <p:spPr>
          <a:xfrm>
            <a:off x="7710494" y="2521915"/>
            <a:ext cx="907778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60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145</a:t>
            </a:r>
            <a:endParaRPr lang="en-US" sz="66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1" name="Text 88"/>
          <p:cNvSpPr/>
          <p:nvPr/>
        </p:nvSpPr>
        <p:spPr>
          <a:xfrm>
            <a:off x="8590667" y="2521915"/>
            <a:ext cx="947787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9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123</a:t>
            </a:r>
            <a:endParaRPr lang="en-US" sz="69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2" name="Text 89"/>
          <p:cNvSpPr/>
          <p:nvPr/>
        </p:nvSpPr>
        <p:spPr>
          <a:xfrm>
            <a:off x="9512308" y="2521915"/>
            <a:ext cx="897661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9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129</a:t>
            </a:r>
            <a:endParaRPr lang="en-US" sz="69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3" name="Text 90"/>
          <p:cNvSpPr/>
          <p:nvPr/>
        </p:nvSpPr>
        <p:spPr>
          <a:xfrm>
            <a:off x="10377663" y="2521915"/>
            <a:ext cx="1109200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60" b="1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885</a:t>
            </a:r>
            <a:endParaRPr lang="en-US" sz="66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4" name="Text 91"/>
          <p:cNvSpPr/>
          <p:nvPr/>
        </p:nvSpPr>
        <p:spPr>
          <a:xfrm>
            <a:off x="5062670" y="2707802"/>
            <a:ext cx="910844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60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163</a:t>
            </a:r>
            <a:endParaRPr lang="en-US" sz="66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5" name="Text 92"/>
          <p:cNvSpPr/>
          <p:nvPr/>
        </p:nvSpPr>
        <p:spPr>
          <a:xfrm>
            <a:off x="5946958" y="2707802"/>
            <a:ext cx="911764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60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137</a:t>
            </a:r>
            <a:endParaRPr lang="en-US" sz="66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6" name="Text 93"/>
          <p:cNvSpPr/>
          <p:nvPr/>
        </p:nvSpPr>
        <p:spPr>
          <a:xfrm>
            <a:off x="6832375" y="2707802"/>
            <a:ext cx="904559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60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152</a:t>
            </a:r>
            <a:endParaRPr lang="en-US" sz="66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7" name="Text 94"/>
          <p:cNvSpPr/>
          <p:nvPr/>
        </p:nvSpPr>
        <p:spPr>
          <a:xfrm>
            <a:off x="7710494" y="2707802"/>
            <a:ext cx="907778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60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141</a:t>
            </a:r>
            <a:endParaRPr lang="en-US" sz="66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8" name="Text 95"/>
          <p:cNvSpPr/>
          <p:nvPr/>
        </p:nvSpPr>
        <p:spPr>
          <a:xfrm>
            <a:off x="8590667" y="2707802"/>
            <a:ext cx="947787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60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140</a:t>
            </a:r>
            <a:endParaRPr lang="en-US" sz="66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9" name="Text 96"/>
          <p:cNvSpPr/>
          <p:nvPr/>
        </p:nvSpPr>
        <p:spPr>
          <a:xfrm>
            <a:off x="9512308" y="2707802"/>
            <a:ext cx="897661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9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132</a:t>
            </a:r>
            <a:endParaRPr lang="en-US" sz="69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00" name="Text 97"/>
          <p:cNvSpPr/>
          <p:nvPr/>
        </p:nvSpPr>
        <p:spPr>
          <a:xfrm>
            <a:off x="10377663" y="2707802"/>
            <a:ext cx="1109200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60" b="1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865</a:t>
            </a:r>
            <a:endParaRPr lang="en-US" sz="66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01" name="Text 98"/>
          <p:cNvSpPr/>
          <p:nvPr/>
        </p:nvSpPr>
        <p:spPr>
          <a:xfrm>
            <a:off x="5062670" y="2893688"/>
            <a:ext cx="910844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60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136</a:t>
            </a:r>
            <a:endParaRPr lang="en-US" sz="66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02" name="Text 99"/>
          <p:cNvSpPr/>
          <p:nvPr/>
        </p:nvSpPr>
        <p:spPr>
          <a:xfrm>
            <a:off x="5946958" y="2893688"/>
            <a:ext cx="911764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60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136</a:t>
            </a:r>
            <a:endParaRPr lang="en-US" sz="66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03" name="Text 100"/>
          <p:cNvSpPr/>
          <p:nvPr/>
        </p:nvSpPr>
        <p:spPr>
          <a:xfrm>
            <a:off x="6832375" y="2893688"/>
            <a:ext cx="904559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60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156</a:t>
            </a:r>
            <a:endParaRPr lang="en-US" sz="66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04" name="Text 101"/>
          <p:cNvSpPr/>
          <p:nvPr/>
        </p:nvSpPr>
        <p:spPr>
          <a:xfrm>
            <a:off x="7710494" y="2893688"/>
            <a:ext cx="907778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9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138</a:t>
            </a:r>
            <a:endParaRPr lang="en-US" sz="69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05" name="Text 102"/>
          <p:cNvSpPr/>
          <p:nvPr/>
        </p:nvSpPr>
        <p:spPr>
          <a:xfrm>
            <a:off x="8590667" y="2893688"/>
            <a:ext cx="947787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60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140</a:t>
            </a:r>
            <a:endParaRPr lang="en-US" sz="66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06" name="Text 103"/>
          <p:cNvSpPr/>
          <p:nvPr/>
        </p:nvSpPr>
        <p:spPr>
          <a:xfrm>
            <a:off x="9512308" y="2893688"/>
            <a:ext cx="897661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9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123</a:t>
            </a:r>
            <a:endParaRPr lang="en-US" sz="69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07" name="Text 104"/>
          <p:cNvSpPr/>
          <p:nvPr/>
        </p:nvSpPr>
        <p:spPr>
          <a:xfrm>
            <a:off x="10377663" y="2893688"/>
            <a:ext cx="1109200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60" b="1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829</a:t>
            </a:r>
            <a:endParaRPr lang="en-US" sz="66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08" name="Text 105"/>
          <p:cNvSpPr/>
          <p:nvPr/>
        </p:nvSpPr>
        <p:spPr>
          <a:xfrm>
            <a:off x="5062670" y="3079574"/>
            <a:ext cx="910844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60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138</a:t>
            </a:r>
            <a:endParaRPr lang="en-US" sz="66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09" name="Text 106"/>
          <p:cNvSpPr/>
          <p:nvPr/>
        </p:nvSpPr>
        <p:spPr>
          <a:xfrm>
            <a:off x="5946958" y="3079574"/>
            <a:ext cx="911764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60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140</a:t>
            </a:r>
            <a:endParaRPr lang="en-US" sz="66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10" name="Text 107"/>
          <p:cNvSpPr/>
          <p:nvPr/>
        </p:nvSpPr>
        <p:spPr>
          <a:xfrm>
            <a:off x="6832375" y="3079574"/>
            <a:ext cx="904559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60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148</a:t>
            </a:r>
            <a:endParaRPr lang="en-US" sz="66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11" name="Text 108"/>
          <p:cNvSpPr/>
          <p:nvPr/>
        </p:nvSpPr>
        <p:spPr>
          <a:xfrm>
            <a:off x="7710494" y="3079574"/>
            <a:ext cx="907778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60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143</a:t>
            </a:r>
            <a:endParaRPr lang="en-US" sz="66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12" name="Text 109"/>
          <p:cNvSpPr/>
          <p:nvPr/>
        </p:nvSpPr>
        <p:spPr>
          <a:xfrm>
            <a:off x="8590667" y="3079574"/>
            <a:ext cx="947787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9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119</a:t>
            </a:r>
            <a:endParaRPr lang="en-US" sz="69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13" name="Text 110"/>
          <p:cNvSpPr/>
          <p:nvPr/>
        </p:nvSpPr>
        <p:spPr>
          <a:xfrm>
            <a:off x="10377663" y="3079574"/>
            <a:ext cx="1109200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60" b="1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769</a:t>
            </a:r>
            <a:endParaRPr lang="en-US" sz="66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14" name="Text 111"/>
          <p:cNvSpPr/>
          <p:nvPr/>
        </p:nvSpPr>
        <p:spPr>
          <a:xfrm>
            <a:off x="5062670" y="3265461"/>
            <a:ext cx="910844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9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131</a:t>
            </a:r>
            <a:endParaRPr lang="en-US" sz="69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15" name="Text 112"/>
          <p:cNvSpPr/>
          <p:nvPr/>
        </p:nvSpPr>
        <p:spPr>
          <a:xfrm>
            <a:off x="5946958" y="3265461"/>
            <a:ext cx="911764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60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142</a:t>
            </a:r>
            <a:endParaRPr lang="en-US" sz="66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16" name="Text 113"/>
          <p:cNvSpPr/>
          <p:nvPr/>
        </p:nvSpPr>
        <p:spPr>
          <a:xfrm>
            <a:off x="6832375" y="3265461"/>
            <a:ext cx="904559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60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142</a:t>
            </a:r>
            <a:endParaRPr lang="en-US" sz="66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17" name="Text 114"/>
          <p:cNvSpPr/>
          <p:nvPr/>
        </p:nvSpPr>
        <p:spPr>
          <a:xfrm>
            <a:off x="7710494" y="3265461"/>
            <a:ext cx="907778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60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141</a:t>
            </a:r>
            <a:endParaRPr lang="en-US" sz="66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18" name="Text 115"/>
          <p:cNvSpPr/>
          <p:nvPr/>
        </p:nvSpPr>
        <p:spPr>
          <a:xfrm>
            <a:off x="8590667" y="3265461"/>
            <a:ext cx="947787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9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100</a:t>
            </a:r>
            <a:endParaRPr lang="en-US" sz="69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19" name="Text 116"/>
          <p:cNvSpPr/>
          <p:nvPr/>
        </p:nvSpPr>
        <p:spPr>
          <a:xfrm>
            <a:off x="10377663" y="3265461"/>
            <a:ext cx="1109200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60" b="1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732</a:t>
            </a:r>
            <a:endParaRPr lang="en-US" sz="66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20" name="Text 117"/>
          <p:cNvSpPr/>
          <p:nvPr/>
        </p:nvSpPr>
        <p:spPr>
          <a:xfrm>
            <a:off x="5062670" y="3451347"/>
            <a:ext cx="910844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60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135</a:t>
            </a:r>
            <a:endParaRPr lang="en-US" sz="66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21" name="Text 118"/>
          <p:cNvSpPr/>
          <p:nvPr/>
        </p:nvSpPr>
        <p:spPr>
          <a:xfrm>
            <a:off x="5946958" y="3451347"/>
            <a:ext cx="911764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9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129</a:t>
            </a:r>
            <a:endParaRPr lang="en-US" sz="69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22" name="Text 119"/>
          <p:cNvSpPr/>
          <p:nvPr/>
        </p:nvSpPr>
        <p:spPr>
          <a:xfrm>
            <a:off x="7710494" y="3451347"/>
            <a:ext cx="907778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9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135</a:t>
            </a:r>
            <a:endParaRPr lang="en-US" sz="69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23" name="Text 120"/>
          <p:cNvSpPr/>
          <p:nvPr/>
        </p:nvSpPr>
        <p:spPr>
          <a:xfrm>
            <a:off x="9512308" y="3451347"/>
            <a:ext cx="897661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9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122</a:t>
            </a:r>
            <a:endParaRPr lang="en-US" sz="69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24" name="Text 121"/>
          <p:cNvSpPr/>
          <p:nvPr/>
        </p:nvSpPr>
        <p:spPr>
          <a:xfrm>
            <a:off x="10377663" y="3451347"/>
            <a:ext cx="1109200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60" b="1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647</a:t>
            </a:r>
            <a:endParaRPr lang="en-US" sz="66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25" name="Text 122"/>
          <p:cNvSpPr/>
          <p:nvPr/>
        </p:nvSpPr>
        <p:spPr>
          <a:xfrm>
            <a:off x="5062670" y="3637233"/>
            <a:ext cx="910844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60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140</a:t>
            </a:r>
            <a:endParaRPr lang="en-US" sz="66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26" name="Text 123"/>
          <p:cNvSpPr/>
          <p:nvPr/>
        </p:nvSpPr>
        <p:spPr>
          <a:xfrm>
            <a:off x="5946958" y="3637233"/>
            <a:ext cx="911764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60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149</a:t>
            </a:r>
            <a:endParaRPr lang="en-US" sz="66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27" name="Text 124"/>
          <p:cNvSpPr/>
          <p:nvPr/>
        </p:nvSpPr>
        <p:spPr>
          <a:xfrm>
            <a:off x="6832375" y="3637233"/>
            <a:ext cx="904559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60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147</a:t>
            </a:r>
            <a:endParaRPr lang="en-US" sz="66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28" name="Text 125"/>
          <p:cNvSpPr/>
          <p:nvPr/>
        </p:nvSpPr>
        <p:spPr>
          <a:xfrm>
            <a:off x="10377663" y="3637233"/>
            <a:ext cx="1109200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60" b="1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633</a:t>
            </a:r>
            <a:endParaRPr lang="en-US" sz="66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29" name="Text 126"/>
          <p:cNvSpPr/>
          <p:nvPr/>
        </p:nvSpPr>
        <p:spPr>
          <a:xfrm>
            <a:off x="5062670" y="3823120"/>
            <a:ext cx="910844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9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127</a:t>
            </a:r>
            <a:endParaRPr lang="en-US" sz="69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30" name="Text 127"/>
          <p:cNvSpPr/>
          <p:nvPr/>
        </p:nvSpPr>
        <p:spPr>
          <a:xfrm>
            <a:off x="5946958" y="3823120"/>
            <a:ext cx="911764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60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142</a:t>
            </a:r>
            <a:endParaRPr lang="en-US" sz="66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31" name="Text 128"/>
          <p:cNvSpPr/>
          <p:nvPr/>
        </p:nvSpPr>
        <p:spPr>
          <a:xfrm>
            <a:off x="7710494" y="3823120"/>
            <a:ext cx="907778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9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139</a:t>
            </a:r>
            <a:endParaRPr lang="en-US" sz="69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32" name="Text 129"/>
          <p:cNvSpPr/>
          <p:nvPr/>
        </p:nvSpPr>
        <p:spPr>
          <a:xfrm>
            <a:off x="10377663" y="3823120"/>
            <a:ext cx="1109200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60" b="1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622</a:t>
            </a:r>
            <a:endParaRPr lang="en-US" sz="66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33" name="Text 130"/>
          <p:cNvSpPr/>
          <p:nvPr/>
        </p:nvSpPr>
        <p:spPr>
          <a:xfrm>
            <a:off x="6832375" y="4009006"/>
            <a:ext cx="904559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60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157</a:t>
            </a:r>
            <a:endParaRPr lang="en-US" sz="66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34" name="Text 131"/>
          <p:cNvSpPr/>
          <p:nvPr/>
        </p:nvSpPr>
        <p:spPr>
          <a:xfrm>
            <a:off x="7710494" y="4009006"/>
            <a:ext cx="907778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60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140</a:t>
            </a:r>
            <a:endParaRPr lang="en-US" sz="66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35" name="Text 132"/>
          <p:cNvSpPr/>
          <p:nvPr/>
        </p:nvSpPr>
        <p:spPr>
          <a:xfrm>
            <a:off x="8590667" y="4009006"/>
            <a:ext cx="947787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9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129</a:t>
            </a:r>
            <a:endParaRPr lang="en-US" sz="69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36" name="Text 133"/>
          <p:cNvSpPr/>
          <p:nvPr/>
        </p:nvSpPr>
        <p:spPr>
          <a:xfrm>
            <a:off x="9512308" y="4009006"/>
            <a:ext cx="897661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9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137</a:t>
            </a:r>
            <a:endParaRPr lang="en-US" sz="69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37" name="Text 134"/>
          <p:cNvSpPr/>
          <p:nvPr/>
        </p:nvSpPr>
        <p:spPr>
          <a:xfrm>
            <a:off x="10377663" y="4009006"/>
            <a:ext cx="1109200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60" b="1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602</a:t>
            </a:r>
            <a:endParaRPr lang="en-US" sz="66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38" name="Text 135"/>
          <p:cNvSpPr/>
          <p:nvPr/>
        </p:nvSpPr>
        <p:spPr>
          <a:xfrm>
            <a:off x="6832375" y="4194892"/>
            <a:ext cx="904559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9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134</a:t>
            </a:r>
            <a:endParaRPr lang="en-US" sz="69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39" name="Text 136"/>
          <p:cNvSpPr/>
          <p:nvPr/>
        </p:nvSpPr>
        <p:spPr>
          <a:xfrm>
            <a:off x="8590667" y="4194892"/>
            <a:ext cx="947787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9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104</a:t>
            </a:r>
            <a:endParaRPr lang="en-US" sz="69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40" name="Text 137"/>
          <p:cNvSpPr/>
          <p:nvPr/>
        </p:nvSpPr>
        <p:spPr>
          <a:xfrm>
            <a:off x="9512308" y="4194892"/>
            <a:ext cx="897661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9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105</a:t>
            </a:r>
            <a:endParaRPr lang="en-US" sz="69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41" name="Text 138"/>
          <p:cNvSpPr/>
          <p:nvPr/>
        </p:nvSpPr>
        <p:spPr>
          <a:xfrm>
            <a:off x="10377663" y="4194892"/>
            <a:ext cx="1109200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60" b="1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451</a:t>
            </a:r>
            <a:endParaRPr lang="en-US" sz="66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42" name="Text 139"/>
          <p:cNvSpPr/>
          <p:nvPr/>
        </p:nvSpPr>
        <p:spPr>
          <a:xfrm>
            <a:off x="8590667" y="4380779"/>
            <a:ext cx="947787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9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101</a:t>
            </a:r>
            <a:endParaRPr lang="en-US" sz="69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43" name="Text 140"/>
          <p:cNvSpPr/>
          <p:nvPr/>
        </p:nvSpPr>
        <p:spPr>
          <a:xfrm>
            <a:off x="9512308" y="4380779"/>
            <a:ext cx="897661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9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119</a:t>
            </a:r>
            <a:endParaRPr lang="en-US" sz="69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44" name="Text 141"/>
          <p:cNvSpPr/>
          <p:nvPr/>
        </p:nvSpPr>
        <p:spPr>
          <a:xfrm>
            <a:off x="10377663" y="4380779"/>
            <a:ext cx="1109200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60" b="1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220</a:t>
            </a:r>
            <a:endParaRPr lang="en-US" sz="66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45" name="Text 142"/>
          <p:cNvSpPr/>
          <p:nvPr/>
        </p:nvSpPr>
        <p:spPr>
          <a:xfrm>
            <a:off x="10377663" y="4566665"/>
            <a:ext cx="1109200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60" b="1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140</a:t>
            </a:r>
            <a:endParaRPr lang="en-US" sz="66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46" name="Text 143"/>
          <p:cNvSpPr/>
          <p:nvPr/>
        </p:nvSpPr>
        <p:spPr>
          <a:xfrm>
            <a:off x="734737" y="6391275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24" b="1" dirty="0">
                <a:solidFill>
                  <a:srgbClr val="9098B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Ene</a:t>
            </a:r>
            <a:endParaRPr lang="en-US" sz="624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47" name="Text 144"/>
          <p:cNvSpPr/>
          <p:nvPr/>
        </p:nvSpPr>
        <p:spPr>
          <a:xfrm>
            <a:off x="1040323" y="6391275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24" b="1" dirty="0">
                <a:solidFill>
                  <a:srgbClr val="9098B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Feb</a:t>
            </a:r>
            <a:endParaRPr lang="en-US" sz="624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48" name="Text 145"/>
          <p:cNvSpPr/>
          <p:nvPr/>
        </p:nvSpPr>
        <p:spPr>
          <a:xfrm>
            <a:off x="1343848" y="6391275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24" b="1" dirty="0">
                <a:solidFill>
                  <a:srgbClr val="9098B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Mar</a:t>
            </a:r>
            <a:endParaRPr lang="en-US" sz="624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49" name="Text 146"/>
          <p:cNvSpPr/>
          <p:nvPr/>
        </p:nvSpPr>
        <p:spPr>
          <a:xfrm>
            <a:off x="1653851" y="6391275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24" b="1" dirty="0">
                <a:solidFill>
                  <a:srgbClr val="9098B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Abr</a:t>
            </a:r>
            <a:endParaRPr lang="en-US" sz="624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50" name="Text 147"/>
          <p:cNvSpPr/>
          <p:nvPr/>
        </p:nvSpPr>
        <p:spPr>
          <a:xfrm>
            <a:off x="1946965" y="6391275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24" b="1" dirty="0">
                <a:solidFill>
                  <a:srgbClr val="9098B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May</a:t>
            </a:r>
            <a:endParaRPr lang="en-US" sz="624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51" name="Text 148"/>
          <p:cNvSpPr/>
          <p:nvPr/>
        </p:nvSpPr>
        <p:spPr>
          <a:xfrm>
            <a:off x="2262963" y="6391275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24" b="1" dirty="0">
                <a:solidFill>
                  <a:srgbClr val="9098B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Jun</a:t>
            </a:r>
            <a:endParaRPr lang="en-US" sz="624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52" name="Text 149"/>
          <p:cNvSpPr/>
          <p:nvPr/>
        </p:nvSpPr>
        <p:spPr>
          <a:xfrm>
            <a:off x="8590667" y="2347638"/>
            <a:ext cx="947787" cy="174278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60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81</a:t>
            </a:r>
            <a:endParaRPr lang="en-US" sz="66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54" name="Text 151"/>
          <p:cNvSpPr/>
          <p:nvPr/>
        </p:nvSpPr>
        <p:spPr>
          <a:xfrm>
            <a:off x="9512308" y="3079574"/>
            <a:ext cx="897661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9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81</a:t>
            </a:r>
            <a:endParaRPr lang="en-US" sz="69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56" name="Text 153"/>
          <p:cNvSpPr/>
          <p:nvPr/>
        </p:nvSpPr>
        <p:spPr>
          <a:xfrm>
            <a:off x="9512308" y="3265461"/>
            <a:ext cx="897661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60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76</a:t>
            </a:r>
            <a:endParaRPr lang="en-US" sz="66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58" name="Text 155"/>
          <p:cNvSpPr/>
          <p:nvPr/>
        </p:nvSpPr>
        <p:spPr>
          <a:xfrm>
            <a:off x="6832375" y="3451347"/>
            <a:ext cx="904559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9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27</a:t>
            </a:r>
            <a:endParaRPr lang="en-US" sz="69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59" name="Text 156"/>
          <p:cNvSpPr/>
          <p:nvPr/>
        </p:nvSpPr>
        <p:spPr>
          <a:xfrm>
            <a:off x="8590667" y="3451347"/>
            <a:ext cx="947787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9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99</a:t>
            </a:r>
            <a:endParaRPr lang="en-US" sz="69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61" name="Text 158"/>
          <p:cNvSpPr/>
          <p:nvPr/>
        </p:nvSpPr>
        <p:spPr>
          <a:xfrm>
            <a:off x="7710494" y="3637233"/>
            <a:ext cx="907778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9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85</a:t>
            </a:r>
            <a:endParaRPr lang="en-US" sz="69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62" name="Text 159"/>
          <p:cNvSpPr/>
          <p:nvPr/>
        </p:nvSpPr>
        <p:spPr>
          <a:xfrm>
            <a:off x="8590667" y="3637233"/>
            <a:ext cx="947787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9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78</a:t>
            </a:r>
            <a:endParaRPr lang="en-US" sz="69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63" name="Text 160"/>
          <p:cNvSpPr/>
          <p:nvPr/>
        </p:nvSpPr>
        <p:spPr>
          <a:xfrm>
            <a:off x="9512308" y="3637233"/>
            <a:ext cx="897661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9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34</a:t>
            </a:r>
            <a:endParaRPr lang="en-US" sz="69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65" name="Text 162"/>
          <p:cNvSpPr/>
          <p:nvPr/>
        </p:nvSpPr>
        <p:spPr>
          <a:xfrm>
            <a:off x="6832375" y="3823120"/>
            <a:ext cx="904559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9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20</a:t>
            </a:r>
            <a:endParaRPr lang="en-US" sz="69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66" name="Text 163"/>
          <p:cNvSpPr/>
          <p:nvPr/>
        </p:nvSpPr>
        <p:spPr>
          <a:xfrm>
            <a:off x="8590667" y="3823120"/>
            <a:ext cx="947787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9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99</a:t>
            </a:r>
            <a:endParaRPr lang="en-US" sz="69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67" name="Text 164"/>
          <p:cNvSpPr/>
          <p:nvPr/>
        </p:nvSpPr>
        <p:spPr>
          <a:xfrm>
            <a:off x="9512308" y="3823120"/>
            <a:ext cx="897661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9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95</a:t>
            </a:r>
            <a:endParaRPr lang="en-US" sz="69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69" name="Text 166"/>
          <p:cNvSpPr/>
          <p:nvPr/>
        </p:nvSpPr>
        <p:spPr>
          <a:xfrm>
            <a:off x="5946958" y="4009006"/>
            <a:ext cx="911764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9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39</a:t>
            </a:r>
            <a:endParaRPr lang="en-US" sz="69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71" name="Text 168"/>
          <p:cNvSpPr/>
          <p:nvPr/>
        </p:nvSpPr>
        <p:spPr>
          <a:xfrm>
            <a:off x="5946958" y="4194892"/>
            <a:ext cx="911764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9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33</a:t>
            </a:r>
            <a:endParaRPr lang="en-US" sz="69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72" name="Text 169"/>
          <p:cNvSpPr/>
          <p:nvPr/>
        </p:nvSpPr>
        <p:spPr>
          <a:xfrm>
            <a:off x="7710494" y="4194892"/>
            <a:ext cx="907778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9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75</a:t>
            </a:r>
            <a:endParaRPr lang="en-US" sz="69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75" name="Text 172"/>
          <p:cNvSpPr/>
          <p:nvPr/>
        </p:nvSpPr>
        <p:spPr>
          <a:xfrm>
            <a:off x="7710494" y="4566665"/>
            <a:ext cx="907778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9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19</a:t>
            </a:r>
            <a:endParaRPr lang="en-US" sz="69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76" name="Text 173"/>
          <p:cNvSpPr/>
          <p:nvPr/>
        </p:nvSpPr>
        <p:spPr>
          <a:xfrm>
            <a:off x="8590667" y="4566665"/>
            <a:ext cx="947787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9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45</a:t>
            </a:r>
            <a:endParaRPr lang="en-US" sz="69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77" name="Text 174"/>
          <p:cNvSpPr/>
          <p:nvPr/>
        </p:nvSpPr>
        <p:spPr>
          <a:xfrm>
            <a:off x="9512308" y="4566665"/>
            <a:ext cx="897661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9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76</a:t>
            </a:r>
            <a:endParaRPr lang="en-US" sz="69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79" name="Text 176"/>
          <p:cNvSpPr/>
          <p:nvPr/>
        </p:nvSpPr>
        <p:spPr>
          <a:xfrm>
            <a:off x="9512308" y="4752551"/>
            <a:ext cx="897661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9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54</a:t>
            </a:r>
            <a:endParaRPr lang="en-US" sz="69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80" name="Text 177"/>
          <p:cNvSpPr/>
          <p:nvPr/>
        </p:nvSpPr>
        <p:spPr>
          <a:xfrm>
            <a:off x="10377663" y="4752551"/>
            <a:ext cx="1109200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60" b="1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54</a:t>
            </a:r>
            <a:endParaRPr lang="en-US" sz="66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82" name="Text 179"/>
          <p:cNvSpPr/>
          <p:nvPr/>
        </p:nvSpPr>
        <p:spPr>
          <a:xfrm>
            <a:off x="8590667" y="4938438"/>
            <a:ext cx="947787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9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18</a:t>
            </a:r>
            <a:endParaRPr lang="en-US" sz="69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83" name="Text 180"/>
          <p:cNvSpPr/>
          <p:nvPr/>
        </p:nvSpPr>
        <p:spPr>
          <a:xfrm>
            <a:off x="9512308" y="4938438"/>
            <a:ext cx="897661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9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13</a:t>
            </a:r>
            <a:endParaRPr lang="en-US" sz="69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84" name="Text 181"/>
          <p:cNvSpPr/>
          <p:nvPr/>
        </p:nvSpPr>
        <p:spPr>
          <a:xfrm>
            <a:off x="10377663" y="4938438"/>
            <a:ext cx="1109200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60" b="1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34</a:t>
            </a:r>
            <a:endParaRPr lang="en-US" sz="66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86" name="Text 183"/>
          <p:cNvSpPr/>
          <p:nvPr/>
        </p:nvSpPr>
        <p:spPr>
          <a:xfrm>
            <a:off x="9512308" y="5124324"/>
            <a:ext cx="897661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9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21</a:t>
            </a:r>
            <a:endParaRPr lang="en-US" sz="69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87" name="Text 184"/>
          <p:cNvSpPr/>
          <p:nvPr/>
        </p:nvSpPr>
        <p:spPr>
          <a:xfrm>
            <a:off x="10377663" y="5124324"/>
            <a:ext cx="1109200" cy="185886"/>
          </a:xfrm>
          <a:prstGeom prst="rect">
            <a:avLst/>
          </a:prstGeom>
          <a:noFill/>
          <a:ln/>
        </p:spPr>
        <p:txBody>
          <a:bodyPr wrap="square" lIns="19050" tIns="57150" rIns="57150" bIns="19050" rtlCol="0" anchor="ctr"/>
          <a:lstStyle/>
          <a:p>
            <a:pPr marL="0" indent="0" algn="r">
              <a:buNone/>
            </a:pPr>
            <a:r>
              <a:rPr lang="en-US" sz="660" b="1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21</a:t>
            </a:r>
            <a:endParaRPr lang="en-US" sz="66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88" name="Text 185"/>
          <p:cNvSpPr/>
          <p:nvPr/>
        </p:nvSpPr>
        <p:spPr>
          <a:xfrm>
            <a:off x="685290" y="6200775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68" b="1" dirty="0">
                <a:solidFill>
                  <a:srgbClr val="FFFFFF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15</a:t>
            </a:r>
            <a:endParaRPr lang="en-US" sz="768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89" name="Text 186"/>
          <p:cNvSpPr/>
          <p:nvPr/>
        </p:nvSpPr>
        <p:spPr>
          <a:xfrm>
            <a:off x="989141" y="6200775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68" b="1" dirty="0">
                <a:solidFill>
                  <a:srgbClr val="FFFFFF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17</a:t>
            </a:r>
            <a:endParaRPr lang="en-US" sz="768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90" name="Text 187"/>
          <p:cNvSpPr/>
          <p:nvPr/>
        </p:nvSpPr>
        <p:spPr>
          <a:xfrm>
            <a:off x="1292351" y="6200775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68" b="1" dirty="0">
                <a:solidFill>
                  <a:srgbClr val="FFFFFF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18</a:t>
            </a:r>
            <a:endParaRPr lang="en-US" sz="768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91" name="Text 188"/>
          <p:cNvSpPr/>
          <p:nvPr/>
        </p:nvSpPr>
        <p:spPr>
          <a:xfrm>
            <a:off x="1593520" y="6200775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68" b="1" dirty="0">
                <a:solidFill>
                  <a:srgbClr val="FFFFFF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20</a:t>
            </a:r>
            <a:endParaRPr lang="en-US" sz="768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92" name="Text 189"/>
          <p:cNvSpPr/>
          <p:nvPr/>
        </p:nvSpPr>
        <p:spPr>
          <a:xfrm>
            <a:off x="1898312" y="6200775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68" b="1" dirty="0">
                <a:solidFill>
                  <a:srgbClr val="FFFFFF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20</a:t>
            </a:r>
            <a:endParaRPr lang="en-US" sz="768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93" name="Text 190"/>
          <p:cNvSpPr/>
          <p:nvPr/>
        </p:nvSpPr>
        <p:spPr>
          <a:xfrm>
            <a:off x="2208148" y="6200775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68" b="1" dirty="0">
                <a:solidFill>
                  <a:srgbClr val="FFFFFF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21</a:t>
            </a:r>
            <a:endParaRPr lang="en-US" sz="768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155" name="Picture 154">
            <a:extLst>
              <a:ext uri="{FF2B5EF4-FFF2-40B4-BE49-F238E27FC236}">
                <a16:creationId xmlns:a16="http://schemas.microsoft.com/office/drawing/2014/main" id="{9F7E90E4-623D-5FC6-B927-0B5C8F8420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34650" y="78120"/>
            <a:ext cx="1530523" cy="459157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13_Presentaciones\dash\televentas\ppt_slides\sk_13_m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935329" y="1133475"/>
            <a:ext cx="2627764" cy="118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16" b="1" dirty="0">
                <a:solidFill>
                  <a:srgbClr val="00CD9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10.509 ventas</a:t>
            </a:r>
            <a:r>
              <a:rPr lang="en-US" sz="816" dirty="0">
                <a:solidFill>
                  <a:srgbClr val="9098B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 en 8 iniciativas · </a:t>
            </a:r>
            <a:r>
              <a:rPr lang="en-US" sz="816" b="1" dirty="0">
                <a:solidFill>
                  <a:srgbClr val="C98908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3 Vanti</a:t>
            </a:r>
            <a:r>
              <a:rPr lang="en-US" sz="816" dirty="0">
                <a:solidFill>
                  <a:srgbClr val="9098B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 · </a:t>
            </a:r>
            <a:r>
              <a:rPr lang="en-US" sz="816" b="1" dirty="0">
                <a:solidFill>
                  <a:srgbClr val="009A7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5 Xuma</a:t>
            </a:r>
            <a:endParaRPr lang="en-US" sz="81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571486" y="209550"/>
            <a:ext cx="2856280" cy="196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60" b="1" dirty="0">
                <a:solidFill>
                  <a:srgbClr val="FFFFFF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INICIATIVAS COMERCIALES · 1S 2026</a:t>
            </a:r>
            <a:endParaRPr lang="en-US" sz="126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933427" y="1104900"/>
            <a:ext cx="1451009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20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Lo ejecutado en el 1S</a:t>
            </a:r>
            <a:endParaRPr lang="en-US" sz="102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3571498" y="3448050"/>
            <a:ext cx="10094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92" b="1" dirty="0">
                <a:solidFill>
                  <a:srgbClr val="00CD9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4.798 </a:t>
            </a:r>
            <a:r>
              <a:rPr lang="en-US" sz="672" dirty="0">
                <a:solidFill>
                  <a:srgbClr val="9098B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/ 4.200    </a:t>
            </a:r>
            <a:r>
              <a:rPr lang="en-US" sz="816" b="1" dirty="0">
                <a:solidFill>
                  <a:srgbClr val="00806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114 %</a:t>
            </a:r>
            <a:endParaRPr lang="en-US" sz="79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10182924" y="4697760"/>
            <a:ext cx="997151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92" b="1" dirty="0">
                <a:solidFill>
                  <a:srgbClr val="00CD9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1.520 </a:t>
            </a:r>
            <a:r>
              <a:rPr lang="en-US" sz="672" dirty="0">
                <a:solidFill>
                  <a:srgbClr val="9098B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/ 1.200   </a:t>
            </a:r>
            <a:r>
              <a:rPr lang="en-US" sz="816" b="1" dirty="0">
                <a:solidFill>
                  <a:srgbClr val="00806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127 %</a:t>
            </a:r>
            <a:endParaRPr lang="en-US" sz="79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666048" y="3295811"/>
            <a:ext cx="1611502" cy="163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88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Semanas Ganadoras</a:t>
            </a:r>
            <a:endParaRPr lang="en-US" sz="888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961780" y="3448050"/>
            <a:ext cx="9439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92" b="1" dirty="0">
                <a:solidFill>
                  <a:srgbClr val="00CD9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1.292 </a:t>
            </a:r>
            <a:r>
              <a:rPr lang="en-US" sz="672" dirty="0">
                <a:solidFill>
                  <a:srgbClr val="9098B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/ 950    </a:t>
            </a:r>
            <a:r>
              <a:rPr lang="en-US" sz="816" b="1" dirty="0">
                <a:solidFill>
                  <a:srgbClr val="00806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136 %</a:t>
            </a:r>
            <a:endParaRPr lang="en-US" sz="79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10212816" y="4533900"/>
            <a:ext cx="1013715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88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Feria Mundialista</a:t>
            </a:r>
            <a:endParaRPr lang="en-US" sz="888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2319011" y="4697760"/>
            <a:ext cx="8720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92" b="1" dirty="0">
                <a:solidFill>
                  <a:srgbClr val="00CD9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659 </a:t>
            </a:r>
            <a:r>
              <a:rPr lang="en-US" sz="672" dirty="0">
                <a:solidFill>
                  <a:srgbClr val="9098B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/ 600    </a:t>
            </a:r>
            <a:r>
              <a:rPr lang="en-US" sz="816" b="1" dirty="0">
                <a:solidFill>
                  <a:srgbClr val="00806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110 %</a:t>
            </a:r>
            <a:endParaRPr lang="en-US" sz="79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3667493" y="3179415"/>
            <a:ext cx="8936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72" b="1" dirty="0">
                <a:solidFill>
                  <a:srgbClr val="C98908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Mar–Abr · Vanti</a:t>
            </a:r>
            <a:endParaRPr lang="en-US" sz="67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4959802" y="4697760"/>
            <a:ext cx="87552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92" b="1" dirty="0">
                <a:solidFill>
                  <a:srgbClr val="00CD9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607 </a:t>
            </a:r>
            <a:r>
              <a:rPr lang="en-US" sz="672" dirty="0">
                <a:solidFill>
                  <a:srgbClr val="9098B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/ 600   </a:t>
            </a:r>
            <a:r>
              <a:rPr lang="en-US" sz="816" b="1" dirty="0">
                <a:solidFill>
                  <a:srgbClr val="00806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101 %</a:t>
            </a:r>
            <a:endParaRPr lang="en-US" sz="79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6288384" y="3448050"/>
            <a:ext cx="858801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92" b="1" dirty="0">
                <a:solidFill>
                  <a:srgbClr val="00CD9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517 </a:t>
            </a:r>
            <a:r>
              <a:rPr lang="en-US" sz="672" dirty="0">
                <a:solidFill>
                  <a:srgbClr val="9098B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/ 500    </a:t>
            </a:r>
            <a:r>
              <a:rPr lang="en-US" sz="816" b="1" dirty="0">
                <a:solidFill>
                  <a:srgbClr val="00806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103 %</a:t>
            </a:r>
            <a:endParaRPr lang="en-US" sz="79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7578966" y="4533900"/>
            <a:ext cx="996362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88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Acelerador Mayo</a:t>
            </a:r>
            <a:endParaRPr lang="en-US" sz="888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8935328" y="3448050"/>
            <a:ext cx="84996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92" b="1" dirty="0">
                <a:solidFill>
                  <a:srgbClr val="00CD9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556 </a:t>
            </a:r>
            <a:r>
              <a:rPr lang="en-US" sz="672" dirty="0">
                <a:solidFill>
                  <a:srgbClr val="9098B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/ 500    </a:t>
            </a:r>
            <a:r>
              <a:rPr lang="en-US" sz="816" b="1" dirty="0">
                <a:solidFill>
                  <a:srgbClr val="00806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111 %</a:t>
            </a:r>
            <a:endParaRPr lang="en-US" sz="79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2363894" y="4429125"/>
            <a:ext cx="858485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72" b="1" dirty="0">
                <a:solidFill>
                  <a:srgbClr val="009A7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Febrero · Xuma</a:t>
            </a:r>
            <a:endParaRPr lang="en-US" sz="67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3655977" y="3284190"/>
            <a:ext cx="916696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88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La Gran Jugada</a:t>
            </a:r>
            <a:endParaRPr lang="en-US" sz="888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7626212" y="4697760"/>
            <a:ext cx="8256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792" b="1" dirty="0">
                <a:solidFill>
                  <a:srgbClr val="00CD9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560 </a:t>
            </a:r>
            <a:r>
              <a:rPr lang="en-US" sz="672" dirty="0">
                <a:solidFill>
                  <a:srgbClr val="9098B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/ 650   </a:t>
            </a:r>
            <a:r>
              <a:rPr lang="en-US" sz="816" b="1" dirty="0">
                <a:solidFill>
                  <a:srgbClr val="8A620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86 %</a:t>
            </a:r>
            <a:endParaRPr lang="en-US" sz="79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1098165" y="3179415"/>
            <a:ext cx="747269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72" b="1" dirty="0">
                <a:solidFill>
                  <a:srgbClr val="C98908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Enero · Vanti</a:t>
            </a:r>
            <a:endParaRPr lang="en-US" sz="67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2334398" y="4533900"/>
            <a:ext cx="917327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88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Semana Burger</a:t>
            </a:r>
            <a:endParaRPr lang="en-US" sz="888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4976924" y="4533900"/>
            <a:ext cx="917327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88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Semana Burger</a:t>
            </a:r>
            <a:endParaRPr lang="en-US" sz="888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5088925" y="4429125"/>
            <a:ext cx="693475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72" b="1" dirty="0">
                <a:solidFill>
                  <a:srgbClr val="009A7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Abril · Xuma</a:t>
            </a:r>
            <a:endParaRPr lang="en-US" sz="67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6409147" y="3179415"/>
            <a:ext cx="693475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72" b="1" dirty="0">
                <a:solidFill>
                  <a:srgbClr val="009A7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Abril · Xuma</a:t>
            </a:r>
            <a:endParaRPr lang="en-US" sz="67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7731834" y="4429125"/>
            <a:ext cx="690477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72" b="1" dirty="0">
                <a:solidFill>
                  <a:srgbClr val="C98908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Mayo · Vanti</a:t>
            </a:r>
            <a:endParaRPr lang="en-US" sz="67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6" name="Text 23"/>
          <p:cNvSpPr/>
          <p:nvPr/>
        </p:nvSpPr>
        <p:spPr>
          <a:xfrm>
            <a:off x="10364737" y="4429125"/>
            <a:ext cx="709723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72" b="1" dirty="0">
                <a:solidFill>
                  <a:srgbClr val="009A7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Junio · Xuma</a:t>
            </a:r>
            <a:endParaRPr lang="en-US" sz="67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7" name="Text 24"/>
          <p:cNvSpPr/>
          <p:nvPr/>
        </p:nvSpPr>
        <p:spPr>
          <a:xfrm>
            <a:off x="6259436" y="3289985"/>
            <a:ext cx="916696" cy="12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88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Feria Vanti</a:t>
            </a:r>
            <a:endParaRPr lang="en-US" sz="888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8" name="Text 25"/>
          <p:cNvSpPr/>
          <p:nvPr/>
        </p:nvSpPr>
        <p:spPr>
          <a:xfrm>
            <a:off x="9057356" y="3179415"/>
            <a:ext cx="681959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672" b="1" dirty="0">
                <a:solidFill>
                  <a:srgbClr val="009A7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Mayo · Xuma</a:t>
            </a:r>
            <a:endParaRPr lang="en-US" sz="67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9" name="Text 26"/>
          <p:cNvSpPr/>
          <p:nvPr/>
        </p:nvSpPr>
        <p:spPr>
          <a:xfrm>
            <a:off x="8935328" y="3293337"/>
            <a:ext cx="916695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88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Feria Vanti</a:t>
            </a:r>
            <a:endParaRPr lang="en-US" sz="888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D6EDC9DE-284C-95C6-41B1-34CAD95AAF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34650" y="78120"/>
            <a:ext cx="1530523" cy="459157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13_Presentaciones\dash\televentas\ppt_slides\sk_14_m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04831" y="6629400"/>
            <a:ext cx="3599749" cy="9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72" b="1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xuma_televentas</a:t>
            </a:r>
            <a:r>
              <a:rPr lang="en-US" sz="67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 Parte de La Gran Jugada · 114% meta </a:t>
            </a:r>
            <a:r>
              <a:rPr lang="en-US" sz="672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#FeriaVanti</a:t>
            </a:r>
            <a:endParaRPr lang="en-US" sz="67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6238719" y="6629400"/>
            <a:ext cx="3698911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72" b="1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xuma_televentas</a:t>
            </a:r>
            <a:r>
              <a:rPr lang="en-US" sz="67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 1.520 ventas en dos semanas </a:t>
            </a:r>
            <a:r>
              <a:rPr lang="en-US" sz="672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#FeriaMundialista</a:t>
            </a:r>
            <a:endParaRPr lang="en-US" sz="67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704832" y="3648075"/>
            <a:ext cx="34962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72" b="1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xuma_televentas</a:t>
            </a:r>
            <a:r>
              <a:rPr lang="en-US" sz="67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 1.292 ventas logradas </a:t>
            </a:r>
            <a:r>
              <a:rPr lang="en-US" sz="672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#SemanasGanadoras</a:t>
            </a:r>
            <a:endParaRPr lang="en-US" sz="67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6238719" y="3648075"/>
            <a:ext cx="3051930" cy="937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72" b="1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xuma_televentas</a:t>
            </a:r>
            <a:r>
              <a:rPr lang="en-US" sz="672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 1.266 ventas logradas </a:t>
            </a:r>
            <a:r>
              <a:rPr lang="en-US" sz="672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#SemanaBurger</a:t>
            </a:r>
            <a:endParaRPr lang="en-US" sz="672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571485" y="209551"/>
            <a:ext cx="5009805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60" b="1" dirty="0">
                <a:solidFill>
                  <a:srgbClr val="FFFFFF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EVIDENCIAS · INICIATIVAS EJECUTADAS 1S 2026</a:t>
            </a:r>
            <a:endParaRPr lang="en-US" sz="126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6514937" y="1058317"/>
            <a:ext cx="2387523" cy="937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9098B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Semana Burger &amp; Feria Vanti · Abril 2026</a:t>
            </a:r>
            <a:endParaRPr lang="en-US" sz="6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981050" y="1058317"/>
            <a:ext cx="1908799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9098B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Semanas Ganadoras · Enero 2026</a:t>
            </a:r>
            <a:endParaRPr lang="en-US" sz="6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6514937" y="4039642"/>
            <a:ext cx="156801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9098B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Feria Mundialista · Junio 2026</a:t>
            </a:r>
            <a:endParaRPr lang="en-US" sz="6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981050" y="4039642"/>
            <a:ext cx="1425143" cy="9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" dirty="0">
                <a:solidFill>
                  <a:srgbClr val="9098B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Feria Vanti · Mayo 2026</a:t>
            </a:r>
            <a:endParaRPr lang="en-US" sz="6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981050" y="959197"/>
            <a:ext cx="1425143" cy="9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44" b="1" dirty="0">
                <a:solidFill>
                  <a:srgbClr val="262626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xuma_televentas</a:t>
            </a:r>
            <a:endParaRPr lang="en-US" sz="744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6514937" y="959197"/>
            <a:ext cx="1473123" cy="9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44" b="1" dirty="0">
                <a:solidFill>
                  <a:srgbClr val="262626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xuma_televentas</a:t>
            </a:r>
            <a:endParaRPr lang="en-US" sz="744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981050" y="3940522"/>
            <a:ext cx="1279071" cy="9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44" b="1" dirty="0">
                <a:solidFill>
                  <a:srgbClr val="262626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xuma_televentas</a:t>
            </a:r>
            <a:endParaRPr lang="en-US" sz="744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6514937" y="3940522"/>
            <a:ext cx="1386859" cy="9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744" b="1" dirty="0">
                <a:solidFill>
                  <a:srgbClr val="262626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xuma_televentas</a:t>
            </a:r>
            <a:endParaRPr lang="en-US" sz="744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704832" y="3514725"/>
            <a:ext cx="6388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1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❤️ 💬 ✈️</a:t>
            </a:r>
            <a:endParaRPr lang="en-US" sz="81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6238719" y="3514725"/>
            <a:ext cx="6388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1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❤️ 💬 ✈️</a:t>
            </a:r>
            <a:endParaRPr lang="en-US" sz="81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704832" y="6496050"/>
            <a:ext cx="6388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1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❤️ 💬 ✈️</a:t>
            </a:r>
            <a:endParaRPr lang="en-US" sz="81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6238719" y="6496050"/>
            <a:ext cx="6388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16" dirty="0">
                <a:solidFill>
                  <a:srgbClr val="33333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❤️ 💬 ✈️</a:t>
            </a:r>
            <a:endParaRPr lang="en-US" sz="81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5815165" y="995362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16" dirty="0">
                <a:solidFill>
                  <a:srgbClr val="9098B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•••</a:t>
            </a:r>
            <a:endParaRPr lang="en-US" sz="81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11349051" y="995362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16" dirty="0">
                <a:solidFill>
                  <a:srgbClr val="9098B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•••</a:t>
            </a:r>
            <a:endParaRPr lang="en-US" sz="81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5815165" y="3976687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16" dirty="0">
                <a:solidFill>
                  <a:srgbClr val="9098B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•••</a:t>
            </a:r>
            <a:endParaRPr lang="en-US" sz="81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11349051" y="3976687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16" dirty="0">
                <a:solidFill>
                  <a:srgbClr val="9098B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•••</a:t>
            </a:r>
            <a:endParaRPr lang="en-US" sz="816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D55F150A-03CE-C559-9587-2F1D765C1B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34650" y="78120"/>
            <a:ext cx="1530523" cy="459157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13_Presentaciones\dash\televentas\ppt_slides\sk_15_m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772106" y="6399609"/>
            <a:ext cx="4933939" cy="1482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Fortalecimiento del Cumplimiento de Lineamientos Operativos y de Calidad</a:t>
            </a:r>
            <a:endParaRPr lang="en-US" sz="9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1019150" y="5701754"/>
            <a:ext cx="4795054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Lineamientos para la Aplicación del Guion y Control de Modificaciones</a:t>
            </a:r>
            <a:endParaRPr lang="en-US" sz="10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6772106" y="4432399"/>
            <a:ext cx="4640641" cy="1482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Implementación de Herramientas de Apoyo para la Gestión Comercial</a:t>
            </a:r>
            <a:endParaRPr lang="en-US" sz="10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4567007" y="1012180"/>
            <a:ext cx="4571630" cy="161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10 capacitaciones ejecutadas por Xuma — al menos una por mes.</a:t>
            </a:r>
            <a:endParaRPr lang="en-US" sz="105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1019149" y="1767185"/>
            <a:ext cx="4622525" cy="1348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Socialización y Alineación de Estándares de Calidad Comercial</a:t>
            </a:r>
            <a:endParaRPr lang="en-US" sz="10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6772106" y="2808089"/>
            <a:ext cx="4640641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Fortalecimiento de Conocimientos del Producto Cuota Protegida</a:t>
            </a:r>
            <a:endParaRPr lang="en-US" sz="10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1019150" y="3620244"/>
            <a:ext cx="4622524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Aplicación Correcta de la Cláusula de Cobro y Autorizaciones</a:t>
            </a:r>
            <a:endParaRPr lang="en-US" sz="10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1019149" y="5473154"/>
            <a:ext cx="4700163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Técnicas Efectivas para el Manejo de Objeciones Comerciales</a:t>
            </a:r>
            <a:endParaRPr lang="en-US" sz="10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1019150" y="5244554"/>
            <a:ext cx="4493129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Actualización Comercial del Producto Plan Combo Vida</a:t>
            </a:r>
            <a:endParaRPr lang="en-US" sz="10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6772106" y="2579489"/>
            <a:ext cx="4571630" cy="161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Estandarización del Protocolo de Cierre Comercial</a:t>
            </a:r>
            <a:endParaRPr lang="en-US" sz="10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571486" y="209550"/>
            <a:ext cx="5777556" cy="3101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CAPACITACIONES DEL SEMESTRE · LÍNEA DE TIEMPO</a:t>
            </a:r>
            <a:endParaRPr lang="en-US" sz="16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6772105" y="4660999"/>
            <a:ext cx="4640641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Estandarización del Guion Comercial Aprobado</a:t>
            </a:r>
            <a:endParaRPr lang="en-US" sz="10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6543510" y="2422178"/>
            <a:ext cx="2022519" cy="906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5A62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Feb </a:t>
            </a:r>
            <a:r>
              <a:rPr lang="en-US" sz="800" dirty="0">
                <a:solidFill>
                  <a:srgbClr val="F5A62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· </a:t>
            </a:r>
            <a:r>
              <a:rPr lang="en-US" sz="800" dirty="0">
                <a:solidFill>
                  <a:srgbClr val="9098B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2 sesiónes</a:t>
            </a:r>
            <a:endParaRPr lang="en-US" sz="9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6543511" y="4275088"/>
            <a:ext cx="1660210" cy="1280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5AE2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Abr </a:t>
            </a:r>
            <a:r>
              <a:rPr lang="en-US" sz="800" dirty="0">
                <a:solidFill>
                  <a:srgbClr val="5AE2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· </a:t>
            </a:r>
            <a:r>
              <a:rPr lang="en-US" sz="800" dirty="0">
                <a:solidFill>
                  <a:srgbClr val="9098B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2 sesiónes</a:t>
            </a:r>
            <a:endParaRPr lang="en-US" sz="9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790555" y="5087243"/>
            <a:ext cx="1573083" cy="2192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CD9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May </a:t>
            </a:r>
            <a:r>
              <a:rPr lang="en-US" sz="800" dirty="0">
                <a:solidFill>
                  <a:srgbClr val="00CD9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· </a:t>
            </a:r>
            <a:r>
              <a:rPr lang="en-US" sz="800" dirty="0">
                <a:solidFill>
                  <a:srgbClr val="9098B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3 sesiónes</a:t>
            </a:r>
            <a:endParaRPr lang="en-US" sz="9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790554" y="1609874"/>
            <a:ext cx="1366049" cy="125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6B35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Ene </a:t>
            </a:r>
            <a:r>
              <a:rPr lang="en-US" sz="800" dirty="0">
                <a:solidFill>
                  <a:srgbClr val="FF6B35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· </a:t>
            </a:r>
            <a:r>
              <a:rPr lang="en-US" sz="800" dirty="0">
                <a:solidFill>
                  <a:srgbClr val="9098B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 sesión</a:t>
            </a:r>
            <a:endParaRPr lang="en-US" sz="9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790554" y="3462932"/>
            <a:ext cx="1918139" cy="1573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7C948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Mar </a:t>
            </a:r>
            <a:r>
              <a:rPr lang="en-US" sz="800" dirty="0">
                <a:solidFill>
                  <a:srgbClr val="F7C948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· </a:t>
            </a:r>
            <a:r>
              <a:rPr lang="en-US" sz="800" dirty="0">
                <a:solidFill>
                  <a:srgbClr val="9098B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 sesión</a:t>
            </a:r>
            <a:endParaRPr lang="en-US" sz="9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6543511" y="6242297"/>
            <a:ext cx="1453176" cy="2188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5B8DEF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Jun </a:t>
            </a:r>
            <a:r>
              <a:rPr lang="en-US" sz="800" dirty="0">
                <a:solidFill>
                  <a:srgbClr val="5B8DEF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· </a:t>
            </a:r>
            <a:r>
              <a:rPr lang="en-US" sz="800" dirty="0">
                <a:solidFill>
                  <a:srgbClr val="9098B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1 sesión</a:t>
            </a:r>
            <a:endParaRPr lang="en-US" sz="9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42811AB8-A473-E775-E84B-7313B71F6B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34650" y="78120"/>
            <a:ext cx="1530523" cy="459157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13_Presentaciones\dash\televentas\ppt_slides\sk_16_m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743531" y="6051500"/>
            <a:ext cx="4410424" cy="2297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0A3D35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Cargues priorizados según mayor presencia de ventas por localidad o edad, y barrido de contactos sin respuesta más cambio de DID si el número marca como spam.</a:t>
            </a:r>
            <a:endParaRPr lang="en-US" sz="8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6743531" y="1922412"/>
            <a:ext cx="4458808" cy="2708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0A3D35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Se ajustaron las exclusiones dando más beneficios y menor tiempo de carencia, con el guion actualizado para incorporar la nueva asistencia.</a:t>
            </a:r>
            <a:endParaRPr lang="en-US" sz="8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6743532" y="4675138"/>
            <a:ext cx="4410424" cy="2297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0A3D35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Cuando el usuario cree que es solo información, el asesor debe aclarar que se está ofreciendo un seguro, para una venta más transparente.</a:t>
            </a:r>
            <a:endParaRPr lang="en-US" sz="8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6743532" y="3298775"/>
            <a:ext cx="4410424" cy="2297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0A3D35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Bienvenida exclusiva para clientes que obtuvieron el crédito por autogestión, conociendo cómo perciben esta nueva forma de crédito.</a:t>
            </a:r>
            <a:endParaRPr lang="en-US" sz="8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1200120" y="3298775"/>
            <a:ext cx="4701843" cy="2297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2A2A5A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Auditorías puntuales en algunos meses para verificar que la tipificación registrada coincida con lo que pasó en la llamada.</a:t>
            </a:r>
            <a:endParaRPr lang="en-US" sz="8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1200120" y="4675138"/>
            <a:ext cx="4716987" cy="2297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2A2A5A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Se revisan las llamadas tipificadas "no interesado" para nutrir un manual de objeciones que guía al asesor hacia el cierre.</a:t>
            </a:r>
            <a:endParaRPr lang="en-US" sz="8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1200120" y="1986259"/>
            <a:ext cx="4458808" cy="4146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2A2A5A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Se revisa en vivo cómo el asesor debate objeciones, si tipifica correctamente y se corrigen errores al momento.</a:t>
            </a:r>
            <a:endParaRPr lang="en-US" sz="8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1200120" y="6115348"/>
            <a:ext cx="3906921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2A2A5A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Seguimiento individual: cómo va cada asesor, a qué % se proyecta y qué le falta para su meta.</a:t>
            </a:r>
            <a:endParaRPr lang="en-US" sz="8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1200120" y="1852909"/>
            <a:ext cx="2785284" cy="196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4A4A8A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Objeciones, tipificación y corrección inmediata</a:t>
            </a:r>
            <a:endParaRPr lang="en-US" sz="8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6743531" y="3165425"/>
            <a:ext cx="2728273" cy="127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A7A6A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Trato preferencial y medición de experiencia</a:t>
            </a:r>
            <a:endParaRPr lang="en-US" sz="8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1200119" y="3165425"/>
            <a:ext cx="306995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4A4A8A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Contrastan tipificación vs. la llamada real</a:t>
            </a:r>
            <a:endParaRPr lang="en-US" sz="8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1200119" y="4541788"/>
            <a:ext cx="2638635" cy="127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4A4A8A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Manual de objeciones desde "no interesado"</a:t>
            </a:r>
            <a:endParaRPr lang="en-US" sz="8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6743531" y="4541788"/>
            <a:ext cx="2797284" cy="1229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A7A6A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El asesor deja explícito que es un seguro</a:t>
            </a:r>
            <a:endParaRPr lang="en-US" sz="8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571486" y="209550"/>
            <a:ext cx="4216174" cy="196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MONITOREO Y CAMBIOS DE PROCESO · 1S 2026</a:t>
            </a:r>
            <a:endParaRPr lang="en-US" sz="14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6743531" y="5918150"/>
            <a:ext cx="295256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A7A6A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Por localidad/edad + control de spam/DID</a:t>
            </a:r>
            <a:endParaRPr lang="en-US" sz="8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6743531" y="1789063"/>
            <a:ext cx="2443601" cy="869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A7A6A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Menor carencia + coberturas adicionales</a:t>
            </a:r>
            <a:endParaRPr lang="en-US" sz="8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1200120" y="5981998"/>
            <a:ext cx="1437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4A4A8A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Avance, proyección y KPI faltante</a:t>
            </a:r>
            <a:endParaRPr lang="en-US" sz="8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6743531" y="4398912"/>
            <a:ext cx="234008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5F4E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Frase de aclaración obligatoria</a:t>
            </a:r>
            <a:endParaRPr lang="en-US" sz="9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6743531" y="5775274"/>
            <a:ext cx="272827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5F4E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Segmentación y contactabilidad</a:t>
            </a:r>
            <a:endParaRPr lang="en-US" sz="9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1200120" y="5839123"/>
            <a:ext cx="1593145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Revisión semanal por asesor</a:t>
            </a:r>
            <a:endParaRPr lang="en-US" sz="9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895328" y="1019175"/>
            <a:ext cx="2220544" cy="96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Monitoreo y acompañamiento</a:t>
            </a:r>
            <a:endParaRPr lang="en-US" sz="10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1200119" y="1710035"/>
            <a:ext cx="2103797" cy="96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Monitoreo semanal en vivo</a:t>
            </a:r>
            <a:endParaRPr lang="en-US" sz="9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6438739" y="1019175"/>
            <a:ext cx="2317072" cy="967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CD93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Cambios de proceso (Xuma)</a:t>
            </a:r>
            <a:endParaRPr lang="en-US" sz="10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6" name="Text 23"/>
          <p:cNvSpPr/>
          <p:nvPr/>
        </p:nvSpPr>
        <p:spPr>
          <a:xfrm>
            <a:off x="1200120" y="3022549"/>
            <a:ext cx="2560997" cy="165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Monitoreos ocasionales</a:t>
            </a:r>
            <a:endParaRPr lang="en-US" sz="9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7" name="Text 24"/>
          <p:cNvSpPr/>
          <p:nvPr/>
        </p:nvSpPr>
        <p:spPr>
          <a:xfrm>
            <a:off x="6743531" y="1646188"/>
            <a:ext cx="1822677" cy="14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5F4E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Exclusiones del seguro</a:t>
            </a:r>
            <a:endParaRPr lang="en-US" sz="9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8" name="Text 25"/>
          <p:cNvSpPr/>
          <p:nvPr/>
        </p:nvSpPr>
        <p:spPr>
          <a:xfrm>
            <a:off x="6743531" y="3022549"/>
            <a:ext cx="201228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5F4E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Bienvenida autogestión</a:t>
            </a:r>
            <a:endParaRPr lang="en-US" sz="9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9" name="Text 26"/>
          <p:cNvSpPr/>
          <p:nvPr/>
        </p:nvSpPr>
        <p:spPr>
          <a:xfrm>
            <a:off x="1200119" y="4398913"/>
            <a:ext cx="1739067" cy="638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20180"/>
                </a:solidFill>
                <a:latin typeface="Poppins" panose="00000500000000000000" pitchFamily="2" charset="0"/>
                <a:ea typeface="Raleway" pitchFamily="34" charset="-122"/>
                <a:cs typeface="Poppins" panose="00000500000000000000" pitchFamily="2" charset="0"/>
              </a:rPr>
              <a:t>Kit de emergencia</a:t>
            </a:r>
            <a:endParaRPr lang="en-US" sz="900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58BB60C1-C977-49A4-D5F4-1A33A02CC4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34650" y="78120"/>
            <a:ext cx="1530523" cy="45915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</TotalTime>
  <Words>6635</Words>
  <Application>Microsoft Office PowerPoint</Application>
  <PresentationFormat>Widescreen</PresentationFormat>
  <Paragraphs>2766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1" baseType="lpstr">
      <vt:lpstr>Arial</vt:lpstr>
      <vt:lpstr>Poppins</vt:lpstr>
      <vt:lpstr>Poppins Black</vt:lpstr>
      <vt:lpstr>Poppins Light</vt:lpstr>
      <vt:lpstr>Raleway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Jean  Arcon Solano</cp:lastModifiedBy>
  <cp:revision>5</cp:revision>
  <dcterms:created xsi:type="dcterms:W3CDTF">2026-07-17T20:53:32Z</dcterms:created>
  <dcterms:modified xsi:type="dcterms:W3CDTF">2026-07-17T23:25:17Z</dcterms:modified>
</cp:coreProperties>
</file>